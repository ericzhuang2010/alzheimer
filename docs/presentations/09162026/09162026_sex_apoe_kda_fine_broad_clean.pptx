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xlsx" ContentType="application/vnd.openxmlformats-officedocument.spreadsheetml.sheet"/>
  <Default Extension="png" ContentType="image/png"/>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s>
</file>

<file path=ppt/presentation.xml><?xml version="1.0" encoding="utf-8"?>
<!--Generated by Aspose.Slides for .NET 25.9-->
<p:presentation xmlns:r="http://schemas.openxmlformats.org/officeDocument/2006/relationships" xmlns:a="http://schemas.openxmlformats.org/drawingml/2006/main" xmlns:p="http://schemas.openxmlformats.org/presentationml/2006/main">
  <p:sldMasterIdLst>
    <p:sldMasterId id="2147483648" r:id="rId1"/>
  </p:sldMasterIdLst>
  <p:notesMasterIdLst>
    <p:notesMasterId r:id="rId2"/>
  </p:notesMasterIdLst>
  <p:sldIdLst>
    <p:sldId id="256" r:id="rId3"/>
    <p:sldId id="417" r:id="rId4"/>
    <p:sldId id="435" r:id="rId5"/>
    <p:sldId id="418" r:id="rId6"/>
    <p:sldId id="261" r:id="rId7"/>
    <p:sldId id="262" r:id="rId8"/>
    <p:sldId id="263" r:id="rId9"/>
    <p:sldId id="258" r:id="rId10"/>
    <p:sldId id="271" r:id="rId11"/>
    <p:sldId id="419" r:id="rId12"/>
    <p:sldId id="257" r:id="rId13"/>
    <p:sldId id="259" r:id="rId14"/>
    <p:sldId id="260" r:id="rId15"/>
    <p:sldId id="420" r:id="rId16"/>
    <p:sldId id="264" r:id="rId17"/>
    <p:sldId id="266" r:id="rId18"/>
    <p:sldId id="267" r:id="rId19"/>
    <p:sldId id="268" r:id="rId20"/>
    <p:sldId id="269" r:id="rId21"/>
    <p:sldId id="270"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421" r:id="rId42"/>
    <p:sldId id="422" r:id="rId43"/>
    <p:sldId id="423" r:id="rId44"/>
    <p:sldId id="427" r:id="rId45"/>
    <p:sldId id="428" r:id="rId46"/>
    <p:sldId id="429" r:id="rId47"/>
    <p:sldId id="291" r:id="rId48"/>
    <p:sldId id="292" r:id="rId49"/>
    <p:sldId id="293" r:id="rId50"/>
    <p:sldId id="294" r:id="rId51"/>
    <p:sldId id="295" r:id="rId52"/>
    <p:sldId id="296" r:id="rId53"/>
    <p:sldId id="297" r:id="rId54"/>
    <p:sldId id="430" r:id="rId55"/>
    <p:sldId id="431" r:id="rId56"/>
    <p:sldId id="432" r:id="rId57"/>
    <p:sldId id="433" r:id="rId58"/>
    <p:sldId id="434" r:id="rId59"/>
    <p:sldId id="298" r:id="rId60"/>
    <p:sldId id="299" r:id="rId61"/>
    <p:sldId id="300" r:id="rId62"/>
    <p:sldId id="301" r:id="rId63"/>
    <p:sldId id="302" r:id="rId64"/>
    <p:sldId id="303" r:id="rId65"/>
    <p:sldId id="304" r:id="rId66"/>
    <p:sldId id="305" r:id="rId67"/>
    <p:sldId id="306" r:id="rId68"/>
    <p:sldId id="307" r:id="rId69"/>
    <p:sldId id="308" r:id="rId70"/>
    <p:sldId id="309" r:id="rId71"/>
    <p:sldId id="310" r:id="rId72"/>
    <p:sldId id="311" r:id="rId73"/>
    <p:sldId id="312" r:id="rId74"/>
    <p:sldId id="313" r:id="rId75"/>
    <p:sldId id="314" r:id="rId76"/>
    <p:sldId id="315" r:id="rId77"/>
    <p:sldId id="317" r:id="rId78"/>
    <p:sldId id="318" r:id="rId79"/>
    <p:sldId id="319" r:id="rId80"/>
    <p:sldId id="320" r:id="rId81"/>
    <p:sldId id="321" r:id="rId82"/>
    <p:sldId id="322" r:id="rId83"/>
    <p:sldId id="324" r:id="rId84"/>
    <p:sldId id="325" r:id="rId85"/>
    <p:sldId id="326" r:id="rId86"/>
    <p:sldId id="327" r:id="rId87"/>
    <p:sldId id="328" r:id="rId88"/>
    <p:sldId id="329" r:id="rId89"/>
    <p:sldId id="331" r:id="rId90"/>
    <p:sldId id="332" r:id="rId91"/>
    <p:sldId id="333" r:id="rId92"/>
    <p:sldId id="334" r:id="rId93"/>
    <p:sldId id="335" r:id="rId94"/>
    <p:sldId id="336" r:id="rId95"/>
    <p:sldId id="338" r:id="rId96"/>
    <p:sldId id="339" r:id="rId97"/>
    <p:sldId id="340" r:id="rId98"/>
    <p:sldId id="341" r:id="rId99"/>
    <p:sldId id="342" r:id="rId100"/>
    <p:sldId id="343" r:id="rId101"/>
    <p:sldId id="345" r:id="rId102"/>
    <p:sldId id="346" r:id="rId103"/>
    <p:sldId id="347" r:id="rId104"/>
    <p:sldId id="348" r:id="rId105"/>
    <p:sldId id="349" r:id="rId106"/>
    <p:sldId id="350" r:id="rId107"/>
    <p:sldId id="352" r:id="rId108"/>
    <p:sldId id="353" r:id="rId109"/>
    <p:sldId id="354" r:id="rId110"/>
    <p:sldId id="355" r:id="rId111"/>
    <p:sldId id="356" r:id="rId112"/>
    <p:sldId id="357" r:id="rId113"/>
    <p:sldId id="359" r:id="rId114"/>
    <p:sldId id="360" r:id="rId115"/>
    <p:sldId id="361" r:id="rId116"/>
    <p:sldId id="362" r:id="rId117"/>
    <p:sldId id="363" r:id="rId118"/>
    <p:sldId id="364" r:id="rId119"/>
    <p:sldId id="366" r:id="rId120"/>
    <p:sldId id="367" r:id="rId121"/>
    <p:sldId id="368" r:id="rId122"/>
    <p:sldId id="369" r:id="rId123"/>
    <p:sldId id="370" r:id="rId124"/>
    <p:sldId id="371" r:id="rId125"/>
    <p:sldId id="373" r:id="rId126"/>
    <p:sldId id="374" r:id="rId127"/>
    <p:sldId id="375" r:id="rId128"/>
    <p:sldId id="376" r:id="rId129"/>
    <p:sldId id="377" r:id="rId130"/>
    <p:sldId id="378" r:id="rId131"/>
    <p:sldId id="380" r:id="rId132"/>
    <p:sldId id="381" r:id="rId133"/>
    <p:sldId id="382" r:id="rId134"/>
    <p:sldId id="383" r:id="rId135"/>
    <p:sldId id="384" r:id="rId136"/>
    <p:sldId id="385" r:id="rId137"/>
    <p:sldId id="387" r:id="rId138"/>
    <p:sldId id="388" r:id="rId139"/>
    <p:sldId id="389" r:id="rId140"/>
    <p:sldId id="390" r:id="rId141"/>
    <p:sldId id="391" r:id="rId142"/>
    <p:sldId id="392" r:id="rId143"/>
    <p:sldId id="394" r:id="rId144"/>
    <p:sldId id="395" r:id="rId145"/>
    <p:sldId id="396" r:id="rId146"/>
    <p:sldId id="397" r:id="rId147"/>
    <p:sldId id="398" r:id="rId148"/>
    <p:sldId id="399" r:id="rId149"/>
    <p:sldId id="401" r:id="rId150"/>
    <p:sldId id="402" r:id="rId151"/>
    <p:sldId id="403" r:id="rId152"/>
    <p:sldId id="404" r:id="rId153"/>
    <p:sldId id="405" r:id="rId154"/>
    <p:sldId id="406" r:id="rId155"/>
    <p:sldId id="408" r:id="rId156"/>
  </p:sldIdLst>
  <p:sldSz cx="12192000" cy="6858000"/>
  <p:notesSz cx="6858000" cy="9144000"/>
  <p:custDataLst>
    <p:tags r:id="rId15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r="http://schemas.openxmlformats.org/officeDocument/2006/relationships" xmlns:a="http://schemas.openxmlformats.org/drawingml/2006/main" xmlns:p="http://schemas.openxmlformats.org/presentationml/2006/main">
  <p:showPr showNarration="1">
    <p:present/>
    <p:extLs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fill>
          <a:solidFill>
            <a:schemeClr val="accent1">
              <a:tint val="40000"/>
            </a:schemeClr>
          </a:solidFill>
        </a:fill>
      </a:tcStyle>
    </a:band1H>
    <a:band1V>
      <a:tcStyle>
        <a:fill>
          <a:solidFill>
            <a:schemeClr val="accent1">
              <a:tint val="40000"/>
            </a:schemeClr>
          </a:solidFill>
        </a:fill>
      </a:tcStyle>
    </a:band1V>
    <a:lastCol>
      <a:tcTxStyle b="on">
        <a:fontRef idx="minor">
          <a:prstClr val="black"/>
        </a:fontRef>
        <a:schemeClr val="lt1"/>
      </a:tcTxStyle>
      <a:tcStyle>
        <a:fill>
          <a:solidFill>
            <a:schemeClr val="accent1"/>
          </a:solidFill>
        </a:fill>
      </a:tcStyle>
    </a:lastCol>
    <a:firstCol>
      <a:tcTxStyle b="on">
        <a:fontRef idx="minor">
          <a:prstClr val="black"/>
        </a:fontRef>
        <a:schemeClr val="lt1"/>
      </a:tcTxStyle>
      <a:tcStyle>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70"/>
    <p:restoredTop sz="93495"/>
  </p:normalViewPr>
  <p:slideViewPr>
    <p:cSldViewPr snapToGrid="0" snapToObjects="1">
      <p:cViewPr varScale="1">
        <p:scale>
          <a:sx n="146" d="100"/>
          <a:sy n="146" d="100"/>
        </p:scale>
        <p:origin x="200" y="240"/>
      </p:cViewPr>
      <p:guideLst/>
    </p:cSldViewPr>
  </p:slideViewPr>
  <p:notesTextViewPr>
    <p:cViewPr>
      <p:scale>
        <a:sx n="1" d="1"/>
        <a:sy n="1" d="1"/>
      </p:scale>
      <p:origin x="0" y="0"/>
    </p:cViewPr>
  </p:notesTextViewPr>
  <p:notesViewPr>
    <p:cSldViewPr>
      <p:cViewPr>
        <p:scale>
          <a:sx n="1" d="100"/>
          <a:sy n="1" d="100"/>
        </p:scale>
        <p:origin x="0" y="0"/>
      </p:cViewPr>
      <p:guideLst/>
    </p:cSldViewPr>
  </p:notesViewPr>
  <p:gridSpacing cx="76200" cy="76200"/>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8.xml" /><Relationship Id="rId100" Type="http://schemas.openxmlformats.org/officeDocument/2006/relationships/slide" Target="slides/slide98.xml" /><Relationship Id="rId101" Type="http://schemas.openxmlformats.org/officeDocument/2006/relationships/slide" Target="slides/slide99.xml" /><Relationship Id="rId102" Type="http://schemas.openxmlformats.org/officeDocument/2006/relationships/slide" Target="slides/slide100.xml" /><Relationship Id="rId103" Type="http://schemas.openxmlformats.org/officeDocument/2006/relationships/slide" Target="slides/slide101.xml" /><Relationship Id="rId104" Type="http://schemas.openxmlformats.org/officeDocument/2006/relationships/slide" Target="slides/slide102.xml" /><Relationship Id="rId105" Type="http://schemas.openxmlformats.org/officeDocument/2006/relationships/slide" Target="slides/slide103.xml" /><Relationship Id="rId106" Type="http://schemas.openxmlformats.org/officeDocument/2006/relationships/slide" Target="slides/slide104.xml" /><Relationship Id="rId107" Type="http://schemas.openxmlformats.org/officeDocument/2006/relationships/slide" Target="slides/slide105.xml" /><Relationship Id="rId108" Type="http://schemas.openxmlformats.org/officeDocument/2006/relationships/slide" Target="slides/slide106.xml" /><Relationship Id="rId109" Type="http://schemas.openxmlformats.org/officeDocument/2006/relationships/slide" Target="slides/slide107.xml" /><Relationship Id="rId11" Type="http://schemas.openxmlformats.org/officeDocument/2006/relationships/slide" Target="slides/slide9.xml" /><Relationship Id="rId110" Type="http://schemas.openxmlformats.org/officeDocument/2006/relationships/slide" Target="slides/slide108.xml" /><Relationship Id="rId111" Type="http://schemas.openxmlformats.org/officeDocument/2006/relationships/slide" Target="slides/slide109.xml" /><Relationship Id="rId112" Type="http://schemas.openxmlformats.org/officeDocument/2006/relationships/slide" Target="slides/slide110.xml" /><Relationship Id="rId113" Type="http://schemas.openxmlformats.org/officeDocument/2006/relationships/slide" Target="slides/slide111.xml" /><Relationship Id="rId114" Type="http://schemas.openxmlformats.org/officeDocument/2006/relationships/slide" Target="slides/slide112.xml" /><Relationship Id="rId115" Type="http://schemas.openxmlformats.org/officeDocument/2006/relationships/slide" Target="slides/slide113.xml" /><Relationship Id="rId116" Type="http://schemas.openxmlformats.org/officeDocument/2006/relationships/slide" Target="slides/slide114.xml" /><Relationship Id="rId117" Type="http://schemas.openxmlformats.org/officeDocument/2006/relationships/slide" Target="slides/slide115.xml" /><Relationship Id="rId118" Type="http://schemas.openxmlformats.org/officeDocument/2006/relationships/slide" Target="slides/slide116.xml" /><Relationship Id="rId119" Type="http://schemas.openxmlformats.org/officeDocument/2006/relationships/slide" Target="slides/slide117.xml" /><Relationship Id="rId12" Type="http://schemas.openxmlformats.org/officeDocument/2006/relationships/slide" Target="slides/slide10.xml" /><Relationship Id="rId120" Type="http://schemas.openxmlformats.org/officeDocument/2006/relationships/slide" Target="slides/slide118.xml" /><Relationship Id="rId121" Type="http://schemas.openxmlformats.org/officeDocument/2006/relationships/slide" Target="slides/slide119.xml" /><Relationship Id="rId122" Type="http://schemas.openxmlformats.org/officeDocument/2006/relationships/slide" Target="slides/slide120.xml" /><Relationship Id="rId123" Type="http://schemas.openxmlformats.org/officeDocument/2006/relationships/slide" Target="slides/slide121.xml" /><Relationship Id="rId124" Type="http://schemas.openxmlformats.org/officeDocument/2006/relationships/slide" Target="slides/slide122.xml" /><Relationship Id="rId125" Type="http://schemas.openxmlformats.org/officeDocument/2006/relationships/slide" Target="slides/slide123.xml" /><Relationship Id="rId126" Type="http://schemas.openxmlformats.org/officeDocument/2006/relationships/slide" Target="slides/slide124.xml" /><Relationship Id="rId127" Type="http://schemas.openxmlformats.org/officeDocument/2006/relationships/slide" Target="slides/slide125.xml" /><Relationship Id="rId128" Type="http://schemas.openxmlformats.org/officeDocument/2006/relationships/slide" Target="slides/slide126.xml" /><Relationship Id="rId129" Type="http://schemas.openxmlformats.org/officeDocument/2006/relationships/slide" Target="slides/slide127.xml" /><Relationship Id="rId13" Type="http://schemas.openxmlformats.org/officeDocument/2006/relationships/slide" Target="slides/slide11.xml" /><Relationship Id="rId130" Type="http://schemas.openxmlformats.org/officeDocument/2006/relationships/slide" Target="slides/slide128.xml" /><Relationship Id="rId131" Type="http://schemas.openxmlformats.org/officeDocument/2006/relationships/slide" Target="slides/slide129.xml" /><Relationship Id="rId132" Type="http://schemas.openxmlformats.org/officeDocument/2006/relationships/slide" Target="slides/slide130.xml" /><Relationship Id="rId133" Type="http://schemas.openxmlformats.org/officeDocument/2006/relationships/slide" Target="slides/slide131.xml" /><Relationship Id="rId134" Type="http://schemas.openxmlformats.org/officeDocument/2006/relationships/slide" Target="slides/slide132.xml" /><Relationship Id="rId135" Type="http://schemas.openxmlformats.org/officeDocument/2006/relationships/slide" Target="slides/slide133.xml" /><Relationship Id="rId136" Type="http://schemas.openxmlformats.org/officeDocument/2006/relationships/slide" Target="slides/slide134.xml" /><Relationship Id="rId137" Type="http://schemas.openxmlformats.org/officeDocument/2006/relationships/slide" Target="slides/slide135.xml" /><Relationship Id="rId138" Type="http://schemas.openxmlformats.org/officeDocument/2006/relationships/slide" Target="slides/slide136.xml" /><Relationship Id="rId139" Type="http://schemas.openxmlformats.org/officeDocument/2006/relationships/slide" Target="slides/slide137.xml" /><Relationship Id="rId14" Type="http://schemas.openxmlformats.org/officeDocument/2006/relationships/slide" Target="slides/slide12.xml" /><Relationship Id="rId140" Type="http://schemas.openxmlformats.org/officeDocument/2006/relationships/slide" Target="slides/slide138.xml" /><Relationship Id="rId141" Type="http://schemas.openxmlformats.org/officeDocument/2006/relationships/slide" Target="slides/slide139.xml" /><Relationship Id="rId142" Type="http://schemas.openxmlformats.org/officeDocument/2006/relationships/slide" Target="slides/slide140.xml" /><Relationship Id="rId143" Type="http://schemas.openxmlformats.org/officeDocument/2006/relationships/slide" Target="slides/slide141.xml" /><Relationship Id="rId144" Type="http://schemas.openxmlformats.org/officeDocument/2006/relationships/slide" Target="slides/slide142.xml" /><Relationship Id="rId145" Type="http://schemas.openxmlformats.org/officeDocument/2006/relationships/slide" Target="slides/slide143.xml" /><Relationship Id="rId146" Type="http://schemas.openxmlformats.org/officeDocument/2006/relationships/slide" Target="slides/slide144.xml" /><Relationship Id="rId147" Type="http://schemas.openxmlformats.org/officeDocument/2006/relationships/slide" Target="slides/slide145.xml" /><Relationship Id="rId148" Type="http://schemas.openxmlformats.org/officeDocument/2006/relationships/slide" Target="slides/slide146.xml" /><Relationship Id="rId149" Type="http://schemas.openxmlformats.org/officeDocument/2006/relationships/slide" Target="slides/slide147.xml" /><Relationship Id="rId15" Type="http://schemas.openxmlformats.org/officeDocument/2006/relationships/slide" Target="slides/slide13.xml" /><Relationship Id="rId150" Type="http://schemas.openxmlformats.org/officeDocument/2006/relationships/slide" Target="slides/slide148.xml" /><Relationship Id="rId151" Type="http://schemas.openxmlformats.org/officeDocument/2006/relationships/slide" Target="slides/slide149.xml" /><Relationship Id="rId152" Type="http://schemas.openxmlformats.org/officeDocument/2006/relationships/slide" Target="slides/slide150.xml" /><Relationship Id="rId153" Type="http://schemas.openxmlformats.org/officeDocument/2006/relationships/slide" Target="slides/slide151.xml" /><Relationship Id="rId154" Type="http://schemas.openxmlformats.org/officeDocument/2006/relationships/slide" Target="slides/slide152.xml" /><Relationship Id="rId155" Type="http://schemas.openxmlformats.org/officeDocument/2006/relationships/slide" Target="slides/slide153.xml" /><Relationship Id="rId156" Type="http://schemas.openxmlformats.org/officeDocument/2006/relationships/slide" Target="slides/slide154.xml" /><Relationship Id="rId157" Type="http://schemas.openxmlformats.org/officeDocument/2006/relationships/tags" Target="tags/tag1.xml" /><Relationship Id="rId158" Type="http://schemas.openxmlformats.org/officeDocument/2006/relationships/presProps" Target="presProps.xml" /><Relationship Id="rId159" Type="http://schemas.openxmlformats.org/officeDocument/2006/relationships/viewProps" Target="viewProps.xml" /><Relationship Id="rId16" Type="http://schemas.openxmlformats.org/officeDocument/2006/relationships/slide" Target="slides/slide14.xml" /><Relationship Id="rId160" Type="http://schemas.openxmlformats.org/officeDocument/2006/relationships/theme" Target="theme/theme1.xml" /><Relationship Id="rId161" Type="http://schemas.openxmlformats.org/officeDocument/2006/relationships/tableStyles" Target="tableStyles.xml" /><Relationship Id="rId17" Type="http://schemas.openxmlformats.org/officeDocument/2006/relationships/slide" Target="slides/slide15.xml" /><Relationship Id="rId18" Type="http://schemas.openxmlformats.org/officeDocument/2006/relationships/slide" Target="slides/slide16.xml" /><Relationship Id="rId19" Type="http://schemas.openxmlformats.org/officeDocument/2006/relationships/slide" Target="slides/slide17.xml" /><Relationship Id="rId2" Type="http://schemas.openxmlformats.org/officeDocument/2006/relationships/notesMaster" Target="notesMasters/notesMaster1.xml" /><Relationship Id="rId20" Type="http://schemas.openxmlformats.org/officeDocument/2006/relationships/slide" Target="slides/slide18.xml" /><Relationship Id="rId21" Type="http://schemas.openxmlformats.org/officeDocument/2006/relationships/slide" Target="slides/slide19.xml" /><Relationship Id="rId22" Type="http://schemas.openxmlformats.org/officeDocument/2006/relationships/slide" Target="slides/slide20.xml" /><Relationship Id="rId23" Type="http://schemas.openxmlformats.org/officeDocument/2006/relationships/slide" Target="slides/slide21.xml" /><Relationship Id="rId24" Type="http://schemas.openxmlformats.org/officeDocument/2006/relationships/slide" Target="slides/slide22.xml" /><Relationship Id="rId25" Type="http://schemas.openxmlformats.org/officeDocument/2006/relationships/slide" Target="slides/slide23.xml" /><Relationship Id="rId26" Type="http://schemas.openxmlformats.org/officeDocument/2006/relationships/slide" Target="slides/slide24.xml" /><Relationship Id="rId27" Type="http://schemas.openxmlformats.org/officeDocument/2006/relationships/slide" Target="slides/slide25.xml" /><Relationship Id="rId28" Type="http://schemas.openxmlformats.org/officeDocument/2006/relationships/slide" Target="slides/slide26.xml" /><Relationship Id="rId29" Type="http://schemas.openxmlformats.org/officeDocument/2006/relationships/slide" Target="slides/slide27.xml" /><Relationship Id="rId3" Type="http://schemas.openxmlformats.org/officeDocument/2006/relationships/slide" Target="slides/slide1.xml" /><Relationship Id="rId30" Type="http://schemas.openxmlformats.org/officeDocument/2006/relationships/slide" Target="slides/slide28.xml" /><Relationship Id="rId31" Type="http://schemas.openxmlformats.org/officeDocument/2006/relationships/slide" Target="slides/slide29.xml" /><Relationship Id="rId32" Type="http://schemas.openxmlformats.org/officeDocument/2006/relationships/slide" Target="slides/slide30.xml" /><Relationship Id="rId33" Type="http://schemas.openxmlformats.org/officeDocument/2006/relationships/slide" Target="slides/slide31.xml" /><Relationship Id="rId34" Type="http://schemas.openxmlformats.org/officeDocument/2006/relationships/slide" Target="slides/slide32.xml" /><Relationship Id="rId35" Type="http://schemas.openxmlformats.org/officeDocument/2006/relationships/slide" Target="slides/slide33.xml" /><Relationship Id="rId36" Type="http://schemas.openxmlformats.org/officeDocument/2006/relationships/slide" Target="slides/slide34.xml" /><Relationship Id="rId37" Type="http://schemas.openxmlformats.org/officeDocument/2006/relationships/slide" Target="slides/slide35.xml" /><Relationship Id="rId38" Type="http://schemas.openxmlformats.org/officeDocument/2006/relationships/slide" Target="slides/slide36.xml" /><Relationship Id="rId39" Type="http://schemas.openxmlformats.org/officeDocument/2006/relationships/slide" Target="slides/slide37.xml" /><Relationship Id="rId4" Type="http://schemas.openxmlformats.org/officeDocument/2006/relationships/slide" Target="slides/slide2.xml" /><Relationship Id="rId40" Type="http://schemas.openxmlformats.org/officeDocument/2006/relationships/slide" Target="slides/slide38.xml" /><Relationship Id="rId41" Type="http://schemas.openxmlformats.org/officeDocument/2006/relationships/slide" Target="slides/slide39.xml" /><Relationship Id="rId42" Type="http://schemas.openxmlformats.org/officeDocument/2006/relationships/slide" Target="slides/slide40.xml" /><Relationship Id="rId43" Type="http://schemas.openxmlformats.org/officeDocument/2006/relationships/slide" Target="slides/slide41.xml" /><Relationship Id="rId44" Type="http://schemas.openxmlformats.org/officeDocument/2006/relationships/slide" Target="slides/slide42.xml" /><Relationship Id="rId45" Type="http://schemas.openxmlformats.org/officeDocument/2006/relationships/slide" Target="slides/slide43.xml" /><Relationship Id="rId46" Type="http://schemas.openxmlformats.org/officeDocument/2006/relationships/slide" Target="slides/slide44.xml" /><Relationship Id="rId47" Type="http://schemas.openxmlformats.org/officeDocument/2006/relationships/slide" Target="slides/slide45.xml" /><Relationship Id="rId48" Type="http://schemas.openxmlformats.org/officeDocument/2006/relationships/slide" Target="slides/slide46.xml" /><Relationship Id="rId49" Type="http://schemas.openxmlformats.org/officeDocument/2006/relationships/slide" Target="slides/slide47.xml" /><Relationship Id="rId5" Type="http://schemas.openxmlformats.org/officeDocument/2006/relationships/slide" Target="slides/slide3.xml" /><Relationship Id="rId50" Type="http://schemas.openxmlformats.org/officeDocument/2006/relationships/slide" Target="slides/slide48.xml" /><Relationship Id="rId51" Type="http://schemas.openxmlformats.org/officeDocument/2006/relationships/slide" Target="slides/slide49.xml" /><Relationship Id="rId52" Type="http://schemas.openxmlformats.org/officeDocument/2006/relationships/slide" Target="slides/slide50.xml" /><Relationship Id="rId53" Type="http://schemas.openxmlformats.org/officeDocument/2006/relationships/slide" Target="slides/slide51.xml" /><Relationship Id="rId54" Type="http://schemas.openxmlformats.org/officeDocument/2006/relationships/slide" Target="slides/slide52.xml" /><Relationship Id="rId55" Type="http://schemas.openxmlformats.org/officeDocument/2006/relationships/slide" Target="slides/slide53.xml" /><Relationship Id="rId56" Type="http://schemas.openxmlformats.org/officeDocument/2006/relationships/slide" Target="slides/slide54.xml" /><Relationship Id="rId57" Type="http://schemas.openxmlformats.org/officeDocument/2006/relationships/slide" Target="slides/slide55.xml" /><Relationship Id="rId58" Type="http://schemas.openxmlformats.org/officeDocument/2006/relationships/slide" Target="slides/slide56.xml" /><Relationship Id="rId59" Type="http://schemas.openxmlformats.org/officeDocument/2006/relationships/slide" Target="slides/slide57.xml" /><Relationship Id="rId6" Type="http://schemas.openxmlformats.org/officeDocument/2006/relationships/slide" Target="slides/slide4.xml" /><Relationship Id="rId60" Type="http://schemas.openxmlformats.org/officeDocument/2006/relationships/slide" Target="slides/slide58.xml" /><Relationship Id="rId61" Type="http://schemas.openxmlformats.org/officeDocument/2006/relationships/slide" Target="slides/slide59.xml" /><Relationship Id="rId62" Type="http://schemas.openxmlformats.org/officeDocument/2006/relationships/slide" Target="slides/slide60.xml" /><Relationship Id="rId63" Type="http://schemas.openxmlformats.org/officeDocument/2006/relationships/slide" Target="slides/slide61.xml" /><Relationship Id="rId64" Type="http://schemas.openxmlformats.org/officeDocument/2006/relationships/slide" Target="slides/slide62.xml" /><Relationship Id="rId65" Type="http://schemas.openxmlformats.org/officeDocument/2006/relationships/slide" Target="slides/slide63.xml" /><Relationship Id="rId66" Type="http://schemas.openxmlformats.org/officeDocument/2006/relationships/slide" Target="slides/slide64.xml" /><Relationship Id="rId67" Type="http://schemas.openxmlformats.org/officeDocument/2006/relationships/slide" Target="slides/slide65.xml" /><Relationship Id="rId68" Type="http://schemas.openxmlformats.org/officeDocument/2006/relationships/slide" Target="slides/slide66.xml" /><Relationship Id="rId69" Type="http://schemas.openxmlformats.org/officeDocument/2006/relationships/slide" Target="slides/slide67.xml" /><Relationship Id="rId7" Type="http://schemas.openxmlformats.org/officeDocument/2006/relationships/slide" Target="slides/slide5.xml" /><Relationship Id="rId70" Type="http://schemas.openxmlformats.org/officeDocument/2006/relationships/slide" Target="slides/slide68.xml" /><Relationship Id="rId71" Type="http://schemas.openxmlformats.org/officeDocument/2006/relationships/slide" Target="slides/slide69.xml" /><Relationship Id="rId72" Type="http://schemas.openxmlformats.org/officeDocument/2006/relationships/slide" Target="slides/slide70.xml" /><Relationship Id="rId73" Type="http://schemas.openxmlformats.org/officeDocument/2006/relationships/slide" Target="slides/slide71.xml" /><Relationship Id="rId74" Type="http://schemas.openxmlformats.org/officeDocument/2006/relationships/slide" Target="slides/slide72.xml" /><Relationship Id="rId75" Type="http://schemas.openxmlformats.org/officeDocument/2006/relationships/slide" Target="slides/slide73.xml" /><Relationship Id="rId76" Type="http://schemas.openxmlformats.org/officeDocument/2006/relationships/slide" Target="slides/slide74.xml" /><Relationship Id="rId77" Type="http://schemas.openxmlformats.org/officeDocument/2006/relationships/slide" Target="slides/slide75.xml" /><Relationship Id="rId78" Type="http://schemas.openxmlformats.org/officeDocument/2006/relationships/slide" Target="slides/slide76.xml" /><Relationship Id="rId79" Type="http://schemas.openxmlformats.org/officeDocument/2006/relationships/slide" Target="slides/slide77.xml" /><Relationship Id="rId8" Type="http://schemas.openxmlformats.org/officeDocument/2006/relationships/slide" Target="slides/slide6.xml" /><Relationship Id="rId80" Type="http://schemas.openxmlformats.org/officeDocument/2006/relationships/slide" Target="slides/slide78.xml" /><Relationship Id="rId81" Type="http://schemas.openxmlformats.org/officeDocument/2006/relationships/slide" Target="slides/slide79.xml" /><Relationship Id="rId82" Type="http://schemas.openxmlformats.org/officeDocument/2006/relationships/slide" Target="slides/slide80.xml" /><Relationship Id="rId83" Type="http://schemas.openxmlformats.org/officeDocument/2006/relationships/slide" Target="slides/slide81.xml" /><Relationship Id="rId84" Type="http://schemas.openxmlformats.org/officeDocument/2006/relationships/slide" Target="slides/slide82.xml" /><Relationship Id="rId85" Type="http://schemas.openxmlformats.org/officeDocument/2006/relationships/slide" Target="slides/slide83.xml" /><Relationship Id="rId86" Type="http://schemas.openxmlformats.org/officeDocument/2006/relationships/slide" Target="slides/slide84.xml" /><Relationship Id="rId87" Type="http://schemas.openxmlformats.org/officeDocument/2006/relationships/slide" Target="slides/slide85.xml" /><Relationship Id="rId88" Type="http://schemas.openxmlformats.org/officeDocument/2006/relationships/slide" Target="slides/slide86.xml" /><Relationship Id="rId89" Type="http://schemas.openxmlformats.org/officeDocument/2006/relationships/slide" Target="slides/slide87.xml" /><Relationship Id="rId9" Type="http://schemas.openxmlformats.org/officeDocument/2006/relationships/slide" Target="slides/slide7.xml" /><Relationship Id="rId90" Type="http://schemas.openxmlformats.org/officeDocument/2006/relationships/slide" Target="slides/slide88.xml" /><Relationship Id="rId91" Type="http://schemas.openxmlformats.org/officeDocument/2006/relationships/slide" Target="slides/slide89.xml" /><Relationship Id="rId92" Type="http://schemas.openxmlformats.org/officeDocument/2006/relationships/slide" Target="slides/slide90.xml" /><Relationship Id="rId93" Type="http://schemas.openxmlformats.org/officeDocument/2006/relationships/slide" Target="slides/slide91.xml" /><Relationship Id="rId94" Type="http://schemas.openxmlformats.org/officeDocument/2006/relationships/slide" Target="slides/slide92.xml" /><Relationship Id="rId95" Type="http://schemas.openxmlformats.org/officeDocument/2006/relationships/slide" Target="slides/slide93.xml" /><Relationship Id="rId96" Type="http://schemas.openxmlformats.org/officeDocument/2006/relationships/slide" Target="slides/slide94.xml" /><Relationship Id="rId97" Type="http://schemas.openxmlformats.org/officeDocument/2006/relationships/slide" Target="slides/slide95.xml" /><Relationship Id="rId98" Type="http://schemas.openxmlformats.org/officeDocument/2006/relationships/slide" Target="slides/slide96.xml" /><Relationship Id="rId99" Type="http://schemas.openxmlformats.org/officeDocument/2006/relationships/slide" Target="slides/slide97.xml" /></Relationships>
</file>

<file path=ppt/charts/_rels/chart1.xml.rels>&#65279;<?xml version="1.0" encoding="utf-8" standalone="yes"?><Relationships xmlns="http://schemas.openxmlformats.org/package/2006/relationships"><Relationship Id="rId1" Type="http://schemas.openxmlformats.org/officeDocument/2006/relationships/package" Target="../embeddings/Microsoft_Excel_Worksheet1.xlsx" /></Relationships>
</file>

<file path=ppt/charts/chart1.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1"/>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8737082034349442"/>
          <c:y val="0.13000066578388214"/>
          <c:w val="0.8996497988700867"/>
          <c:h val="0.7714831829071045"/>
        </c:manualLayout>
      </c:layout>
      <c:barChart>
        <c:barDir val="col"/>
        <c:grouping val="clustered"/>
        <c:varyColors val="0"/>
        <c:ser>
          <c:idx val="0"/>
          <c:order val="0"/>
          <c:tx>
            <c:v>Core MT genes (13)</c:v>
          </c:tx>
          <c:spPr>
            <a:solidFill>
              <a:srgbClr val="0072B2"/>
            </a:solidFill>
            <a:ln w="9525">
              <a:solidFill>
                <a:srgbClr val="0072B2"/>
              </a:solidFill>
              <a:prstDash val="solid"/>
            </a:ln>
          </c:spPr>
          <c:invertIfNegative val="0"/>
          <c:dLbls>
            <c:dLbl>
              <c:idx val="0"/>
              <c:tx>
                <c:rich>
                  <a:bodyPr/>
                  <a:lstStyle/>
                  <a:p>
                    <a:pPr>
                      <a:defRPr/>
                    </a:pPr>
                    <a:r>
                      <a:rPr lang="en-US" sz="1125" b="1">
                        <a:solidFill>
                          <a:srgbClr val="FFFFFF"/>
                        </a:solidFill>
                        <a:latin typeface="Arial"/>
                        <a:ea typeface="Arial"/>
                        <a:cs typeface="Arial"/>
                      </a:rPr>
                      <a:t>99%</a:t>
                    </a:r>
                  </a:p>
                </c:rich>
              </c:tx>
              <c:spPr/>
              <c:dLblPos val="inEnd"/>
              <c:showLegendKey val="0"/>
              <c:showVal val="0"/>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9E9D-094B-8C10-6055E5D992BE}"/>
                </c:ext>
              </c:extLst>
            </c:dLbl>
            <c:dLbl>
              <c:idx val="1"/>
              <c:tx>
                <c:rich>
                  <a:bodyPr/>
                  <a:lstStyle/>
                  <a:p>
                    <a:pPr>
                      <a:defRPr/>
                    </a:pPr>
                    <a:r>
                      <a:rPr lang="en-US" sz="1125" b="1">
                        <a:solidFill>
                          <a:srgbClr val="FFFFFF"/>
                        </a:solidFill>
                        <a:latin typeface="Arial"/>
                        <a:ea typeface="Arial"/>
                        <a:cs typeface="Arial"/>
                      </a:rPr>
                      <a:t>100%</a:t>
                    </a:r>
                  </a:p>
                </c:rich>
              </c:tx>
              <c:spPr/>
              <c:dLblPos val="inEnd"/>
              <c:showLegendKey val="0"/>
              <c:showVal val="0"/>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E9D-094B-8C10-6055E5D992BE}"/>
                </c:ext>
              </c:extLst>
            </c:dLbl>
            <c:dLbl>
              <c:idx val="2"/>
              <c:tx>
                <c:rich>
                  <a:bodyPr/>
                  <a:lstStyle/>
                  <a:p>
                    <a:pPr>
                      <a:defRPr/>
                    </a:pPr>
                    <a:r>
                      <a:rPr lang="en-US" sz="1125" b="1">
                        <a:solidFill>
                          <a:srgbClr val="0072B2"/>
                        </a:solidFill>
                        <a:latin typeface="Arial"/>
                        <a:ea typeface="Arial"/>
                        <a:cs typeface="Arial"/>
                      </a:rPr>
                      <a:t>41%</a:t>
                    </a:r>
                  </a:p>
                </c:rich>
              </c:tx>
              <c:spPr/>
              <c:dLblPos val="outEnd"/>
              <c:showLegendKey val="0"/>
              <c:showVal val="0"/>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9E9D-094B-8C10-6055E5D992BE}"/>
                </c:ext>
              </c:extLst>
            </c:dLbl>
            <c:dLbl>
              <c:idx val="3"/>
              <c:tx>
                <c:rich>
                  <a:bodyPr/>
                  <a:lstStyle/>
                  <a:p>
                    <a:pPr>
                      <a:defRPr/>
                    </a:pPr>
                    <a:r>
                      <a:rPr lang="en-US" sz="1125" b="1">
                        <a:solidFill>
                          <a:srgbClr val="0072B2"/>
                        </a:solidFill>
                        <a:latin typeface="Arial"/>
                        <a:ea typeface="Arial"/>
                        <a:cs typeface="Arial"/>
                      </a:rPr>
                      <a:t>10%</a:t>
                    </a:r>
                  </a:p>
                </c:rich>
              </c:tx>
              <c:spPr/>
              <c:dLblPos val="outEnd"/>
              <c:showLegendKey val="0"/>
              <c:showVal val="0"/>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9E9D-094B-8C10-6055E5D992BE}"/>
                </c:ext>
              </c:extLst>
            </c:dLbl>
            <c:dLbl>
              <c:idx val="4"/>
              <c:tx>
                <c:rich>
                  <a:bodyPr/>
                  <a:lstStyle/>
                  <a:p>
                    <a:pPr>
                      <a:defRPr/>
                    </a:pPr>
                    <a:r>
                      <a:rPr lang="en-US" sz="1125" b="1">
                        <a:solidFill>
                          <a:srgbClr val="FFFFFF"/>
                        </a:solidFill>
                        <a:latin typeface="Arial"/>
                        <a:ea typeface="Arial"/>
                        <a:cs typeface="Arial"/>
                      </a:rPr>
                      <a:t>86%</a:t>
                    </a:r>
                  </a:p>
                </c:rich>
              </c:tx>
              <c:spPr/>
              <c:dLblPos val="inEnd"/>
              <c:showLegendKey val="0"/>
              <c:showVal val="0"/>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9E9D-094B-8C10-6055E5D992BE}"/>
                </c:ext>
              </c:extLst>
            </c:dLbl>
            <c:dLbl>
              <c:idx val="5"/>
              <c:tx>
                <c:rich>
                  <a:bodyPr/>
                  <a:lstStyle/>
                  <a:p>
                    <a:pPr>
                      <a:defRPr/>
                    </a:pPr>
                    <a:r>
                      <a:rPr lang="en-US" sz="1125" b="1">
                        <a:solidFill>
                          <a:srgbClr val="FFFFFF"/>
                        </a:solidFill>
                        <a:latin typeface="Arial"/>
                        <a:ea typeface="Arial"/>
                        <a:cs typeface="Arial"/>
                      </a:rPr>
                      <a:t>79%</a:t>
                    </a:r>
                  </a:p>
                </c:rich>
              </c:tx>
              <c:spPr/>
              <c:dLblPos val="inEnd"/>
              <c:showLegendKey val="0"/>
              <c:showVal val="0"/>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9E9D-094B-8C10-6055E5D992BE}"/>
                </c:ext>
              </c:extLst>
            </c:dLbl>
            <c:spPr>
              <a:noFill/>
              <a:ln>
                <a:noFill/>
              </a:ln>
              <a:effectLst/>
            </c:spPr>
            <c:dLblPos val="inEnd"/>
            <c:showLegendKey val="1"/>
            <c:showVal val="1"/>
            <c:showCatName val="1"/>
            <c:showSerName val="1"/>
            <c:showPercent val="1"/>
            <c:showBubbleSize val="1"/>
            <c:showLeaderLines val="0"/>
            <c:extLst/>
          </c:dLbls>
          <c:cat>
            <c:strRef>
              <c:f>'Chart Data'!$C$2:$C$7</c:f>
              <c:strCache>
                <c:ptCount val="6"/>
                <c:pt idx="0">
                  <c:v>Female ε2</c:v>
                </c:pt>
                <c:pt idx="1">
                  <c:v>Female ε3/ε3</c:v>
                </c:pt>
                <c:pt idx="2">
                  <c:v>Female ε4</c:v>
                </c:pt>
                <c:pt idx="3">
                  <c:v>Male ε2</c:v>
                </c:pt>
                <c:pt idx="4">
                  <c:v>Male ε3/ε3</c:v>
                </c:pt>
                <c:pt idx="5">
                  <c:v>Male ε4</c:v>
                </c:pt>
              </c:strCache>
            </c:strRef>
          </c:cat>
          <c:val>
            <c:numRef>
              <c:f>'Chart Data'!$B$2:$B$7</c:f>
              <c:numCache>
                <c:formatCode>0" pp"</c:formatCode>
                <c:ptCount val="6"/>
                <c:pt idx="0">
                  <c:v>49</c:v>
                </c:pt>
                <c:pt idx="1">
                  <c:v>50</c:v>
                </c:pt>
                <c:pt idx="2">
                  <c:v>-9</c:v>
                </c:pt>
                <c:pt idx="3">
                  <c:v>-40</c:v>
                </c:pt>
                <c:pt idx="4">
                  <c:v>36</c:v>
                </c:pt>
                <c:pt idx="5">
                  <c:v>29</c:v>
                </c:pt>
              </c:numCache>
            </c:numRef>
          </c:val>
          <c:extLst>
            <c:ext xmlns:c16="http://schemas.microsoft.com/office/drawing/2014/chart" uri="{C3380CC4-5D6E-409C-BE32-E72D297353CC}">
              <c16:uniqueId val="{00000006-9E9D-094B-8C10-6055E5D992BE}"/>
            </c:ext>
          </c:extLst>
        </c:ser>
        <c:ser>
          <c:idx val="1"/>
          <c:order val="1"/>
          <c:tx>
            <c:v>Nuclear-encoded OXPHOS genes (86)</c:v>
          </c:tx>
          <c:spPr>
            <a:solidFill>
              <a:srgbClr val="D55E00"/>
            </a:solidFill>
            <a:ln w="9525">
              <a:solidFill>
                <a:srgbClr val="D55E00"/>
              </a:solidFill>
              <a:prstDash val="solid"/>
            </a:ln>
          </c:spPr>
          <c:invertIfNegative val="0"/>
          <c:dLbls>
            <c:dLbl>
              <c:idx val="0"/>
              <c:tx>
                <c:rich>
                  <a:bodyPr/>
                  <a:lstStyle/>
                  <a:p>
                    <a:pPr>
                      <a:defRPr/>
                    </a:pPr>
                    <a:r>
                      <a:rPr lang="en-US" sz="1125" b="1">
                        <a:solidFill>
                          <a:srgbClr val="FFFFFF"/>
                        </a:solidFill>
                        <a:latin typeface="Arial"/>
                        <a:ea typeface="Arial"/>
                        <a:cs typeface="Arial"/>
                      </a:rPr>
                      <a:t>98%</a:t>
                    </a:r>
                  </a:p>
                </c:rich>
              </c:tx>
              <c:spPr/>
              <c:dLblPos val="inEnd"/>
              <c:showLegendKey val="0"/>
              <c:showVal val="0"/>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9E9D-094B-8C10-6055E5D992BE}"/>
                </c:ext>
              </c:extLst>
            </c:dLbl>
            <c:dLbl>
              <c:idx val="1"/>
              <c:tx>
                <c:rich>
                  <a:bodyPr/>
                  <a:lstStyle/>
                  <a:p>
                    <a:pPr>
                      <a:defRPr/>
                    </a:pPr>
                    <a:r>
                      <a:rPr lang="en-US" sz="1125" b="1">
                        <a:solidFill>
                          <a:srgbClr val="FFFFFF"/>
                        </a:solidFill>
                        <a:latin typeface="Arial"/>
                        <a:ea typeface="Arial"/>
                        <a:cs typeface="Arial"/>
                      </a:rPr>
                      <a:t>85%</a:t>
                    </a:r>
                  </a:p>
                </c:rich>
              </c:tx>
              <c:spPr/>
              <c:dLblPos val="inEnd"/>
              <c:showLegendKey val="0"/>
              <c:showVal val="0"/>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9E9D-094B-8C10-6055E5D992BE}"/>
                </c:ext>
              </c:extLst>
            </c:dLbl>
            <c:dLbl>
              <c:idx val="2"/>
              <c:tx>
                <c:rich>
                  <a:bodyPr/>
                  <a:lstStyle/>
                  <a:p>
                    <a:pPr>
                      <a:defRPr/>
                    </a:pPr>
                    <a:r>
                      <a:rPr lang="en-US" sz="1125" b="1">
                        <a:solidFill>
                          <a:srgbClr val="D55E00"/>
                        </a:solidFill>
                        <a:latin typeface="Arial"/>
                        <a:ea typeface="Arial"/>
                        <a:cs typeface="Arial"/>
                      </a:rPr>
                      <a:t>5%</a:t>
                    </a:r>
                  </a:p>
                </c:rich>
              </c:tx>
              <c:spPr/>
              <c:dLblPos val="outEnd"/>
              <c:showLegendKey val="0"/>
              <c:showVal val="0"/>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9E9D-094B-8C10-6055E5D992BE}"/>
                </c:ext>
              </c:extLst>
            </c:dLbl>
            <c:dLbl>
              <c:idx val="3"/>
              <c:tx>
                <c:rich>
                  <a:bodyPr/>
                  <a:lstStyle/>
                  <a:p>
                    <a:pPr>
                      <a:defRPr/>
                    </a:pPr>
                    <a:r>
                      <a:rPr lang="en-US" sz="1125" b="1">
                        <a:solidFill>
                          <a:srgbClr val="D55E00"/>
                        </a:solidFill>
                        <a:latin typeface="Arial"/>
                        <a:ea typeface="Arial"/>
                        <a:cs typeface="Arial"/>
                      </a:rPr>
                      <a:t>13%</a:t>
                    </a:r>
                  </a:p>
                </c:rich>
              </c:tx>
              <c:spPr/>
              <c:dLblPos val="outEnd"/>
              <c:showLegendKey val="0"/>
              <c:showVal val="0"/>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9E9D-094B-8C10-6055E5D992BE}"/>
                </c:ext>
              </c:extLst>
            </c:dLbl>
            <c:dLbl>
              <c:idx val="4"/>
              <c:tx>
                <c:rich>
                  <a:bodyPr/>
                  <a:lstStyle/>
                  <a:p>
                    <a:pPr>
                      <a:defRPr/>
                    </a:pPr>
                    <a:r>
                      <a:rPr lang="en-US" sz="1125" b="1">
                        <a:solidFill>
                          <a:srgbClr val="D55E00"/>
                        </a:solidFill>
                        <a:latin typeface="Arial"/>
                        <a:ea typeface="Arial"/>
                        <a:cs typeface="Arial"/>
                      </a:rPr>
                      <a:t>12%</a:t>
                    </a:r>
                  </a:p>
                </c:rich>
              </c:tx>
              <c:spPr/>
              <c:dLblPos val="outEnd"/>
              <c:showLegendKey val="0"/>
              <c:showVal val="0"/>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9E9D-094B-8C10-6055E5D992BE}"/>
                </c:ext>
              </c:extLst>
            </c:dLbl>
            <c:dLbl>
              <c:idx val="5"/>
              <c:tx>
                <c:rich>
                  <a:bodyPr/>
                  <a:lstStyle/>
                  <a:p>
                    <a:pPr>
                      <a:defRPr/>
                    </a:pPr>
                    <a:r>
                      <a:rPr lang="en-US" sz="1125" b="1">
                        <a:solidFill>
                          <a:srgbClr val="D55E00"/>
                        </a:solidFill>
                        <a:latin typeface="Arial"/>
                        <a:ea typeface="Arial"/>
                        <a:cs typeface="Arial"/>
                      </a:rPr>
                      <a:t>38%</a:t>
                    </a:r>
                  </a:p>
                </c:rich>
              </c:tx>
              <c:spPr/>
              <c:dLblPos val="outEnd"/>
              <c:showLegendKey val="0"/>
              <c:showVal val="0"/>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9E9D-094B-8C10-6055E5D992BE}"/>
                </c:ext>
              </c:extLst>
            </c:dLbl>
            <c:spPr>
              <a:noFill/>
              <a:ln>
                <a:noFill/>
              </a:ln>
              <a:effectLst/>
            </c:spPr>
            <c:dLblPos val="inEnd"/>
            <c:showLegendKey val="1"/>
            <c:showVal val="1"/>
            <c:showCatName val="1"/>
            <c:showSerName val="1"/>
            <c:showPercent val="1"/>
            <c:showBubbleSize val="1"/>
            <c:showLeaderLines val="0"/>
            <c:extLst/>
          </c:dLbls>
          <c:cat>
            <c:strRef>
              <c:f>'Chart Data'!$C$2:$C$7</c:f>
              <c:strCache>
                <c:ptCount val="6"/>
                <c:pt idx="0">
                  <c:v>Female ε2</c:v>
                </c:pt>
                <c:pt idx="1">
                  <c:v>Female ε3/ε3</c:v>
                </c:pt>
                <c:pt idx="2">
                  <c:v>Female ε4</c:v>
                </c:pt>
                <c:pt idx="3">
                  <c:v>Male ε2</c:v>
                </c:pt>
                <c:pt idx="4">
                  <c:v>Male ε3/ε3</c:v>
                </c:pt>
                <c:pt idx="5">
                  <c:v>Male ε4</c:v>
                </c:pt>
              </c:strCache>
            </c:strRef>
          </c:cat>
          <c:val>
            <c:numRef>
              <c:f>'Chart Data'!$D$2:$D$7</c:f>
              <c:numCache>
                <c:formatCode>0" pp"</c:formatCode>
                <c:ptCount val="6"/>
                <c:pt idx="0">
                  <c:v>48</c:v>
                </c:pt>
                <c:pt idx="1">
                  <c:v>35</c:v>
                </c:pt>
                <c:pt idx="2">
                  <c:v>-45</c:v>
                </c:pt>
                <c:pt idx="3">
                  <c:v>-37</c:v>
                </c:pt>
                <c:pt idx="4">
                  <c:v>-38</c:v>
                </c:pt>
                <c:pt idx="5">
                  <c:v>-12</c:v>
                </c:pt>
              </c:numCache>
            </c:numRef>
          </c:val>
          <c:extLst>
            <c:ext xmlns:c16="http://schemas.microsoft.com/office/drawing/2014/chart" uri="{C3380CC4-5D6E-409C-BE32-E72D297353CC}">
              <c16:uniqueId val="{0000000D-9E9D-094B-8C10-6055E5D992BE}"/>
            </c:ext>
          </c:extLst>
        </c:ser>
        <c:dLbls>
          <c:showLegendKey val="0"/>
          <c:showVal val="0"/>
          <c:showCatName val="0"/>
          <c:showSerName val="0"/>
          <c:showPercent val="0"/>
          <c:showBubbleSize val="0"/>
          <c:showLeaderLines val="0"/>
        </c:dLbls>
        <c:gapWidth val="55"/>
        <c:overlap/>
        <c:axId val="48650112"/>
        <c:axId val="48672768"/>
      </c:barChart>
      <c:catAx>
        <c:axId val="48650112"/>
        <c:scaling>
          <c:orientation/>
        </c:scaling>
        <c:delete val="0"/>
        <c:axPos val="b"/>
        <c:numFmt formatCode="General" sourceLinked="1"/>
        <c:majorTickMark val="none"/>
        <c:minorTickMark val="none"/>
        <c:tickLblPos val="low"/>
        <c:spPr>
          <a:ln w="9525">
            <a:solidFill>
              <a:srgbClr val="667788"/>
            </a:solidFill>
            <a:prstDash val="solid"/>
          </a:ln>
        </c:spPr>
        <c:txPr>
          <a:bodyPr anchorCtr="1"/>
          <a:p>
            <a:pPr>
              <a:defRPr sz="1125" b="1" smtId="4294967295">
                <a:solidFill>
                  <a:srgbClr val="1F2730"/>
                </a:solidFill>
                <a:latin typeface="Arial"/>
                <a:ea typeface="Arial"/>
                <a:cs typeface="Arial"/>
              </a:defRPr>
            </a:pPr>
            <a:endParaRPr lang="en-US"/>
          </a:p>
        </c:txPr>
        <c:crossAx val="48672768"/>
        <c:crosses val="autoZero"/>
        <c:auto val="0"/>
        <c:lblAlgn val="ctr"/>
        <c:lblOffset/>
        <c:noMultiLvlLbl val="1"/>
      </c:catAx>
      <c:valAx>
        <c:axId val="48672768"/>
        <c:scaling>
          <c:orientation/>
          <c:max val="50"/>
          <c:min val="-50"/>
        </c:scaling>
        <c:delete val="0"/>
        <c:axPos val="l"/>
        <c:majorGridlines>
          <c:spPr>
            <a:ln w="9525">
              <a:solidFill>
                <a:srgbClr val="D5DDE6"/>
              </a:solidFill>
              <a:prstDash val="solid"/>
            </a:ln>
          </c:spPr>
        </c:majorGridlines>
        <c:title>
          <c:tx>
            <c:rich>
              <a:bodyPr/>
              <a:lstStyle/>
              <a:p>
                <a:pPr>
                  <a:defRPr/>
                </a:pPr>
                <a:r>
                  <a:rPr lang="en-US" sz="1050">
                    <a:solidFill>
                      <a:srgbClr val="1F2730"/>
                    </a:solidFill>
                    <a:latin typeface="Arial"/>
                    <a:ea typeface="Arial"/>
                    <a:cs typeface="Arial"/>
                  </a:rPr>
                  <a:t>Difference from 50% (percentage points)</a:t>
                </a:r>
              </a:p>
            </c:rich>
          </c:tx>
          <c:layout>
            <c:manualLayout>
              <c:xMode val="edge"/>
              <c:yMode val="edge"/>
              <c:x val="0"/>
              <c:y val="0.16067162156105042"/>
            </c:manualLayout>
          </c:layout>
          <c:overlay val="0"/>
        </c:title>
        <c:numFmt formatCode="\+0&quot; pp&quot;;\-0&quot; pp&quot;;&quot;50% equal&quot;" sourceLinked="0"/>
        <c:majorTickMark val="none"/>
        <c:minorTickMark val="none"/>
        <c:spPr>
          <a:ln w="9525">
            <a:solidFill>
              <a:srgbClr val="667788"/>
            </a:solidFill>
            <a:prstDash val="solid"/>
          </a:ln>
        </c:spPr>
        <c:txPr>
          <a:bodyPr anchorCtr="1"/>
          <a:p>
            <a:pPr>
              <a:defRPr sz="975" smtId="4294967295">
                <a:solidFill>
                  <a:srgbClr val="1F2730"/>
                </a:solidFill>
                <a:latin typeface="Arial"/>
                <a:ea typeface="Arial"/>
                <a:cs typeface="Arial"/>
              </a:defRPr>
            </a:pPr>
            <a:endParaRPr lang="en-US"/>
          </a:p>
        </c:txPr>
        <c:crossAx val="48650112"/>
        <c:crosses val="autoZero"/>
        <c:crossBetween val="between"/>
        <c:majorUnit val="25"/>
      </c:valAx>
      <c:spPr>
        <a:solidFill>
          <a:srgbClr val="FFFFFF"/>
        </a:solidFill>
        <a:ln w="0">
          <a:noFill/>
          <a:prstDash val="solid"/>
        </a:ln>
      </c:spPr>
    </c:plotArea>
    <c:legend>
      <c:legendPos val="t"/>
      <c:overlay val="0"/>
      <c:txPr>
        <a:bodyPr anchorCtr="1"/>
        <a:p>
          <a:pPr>
            <a:defRPr sz="1050" smtId="4294967295">
              <a:solidFill>
                <a:srgbClr val="1F2730"/>
              </a:solidFill>
              <a:latin typeface="Arial"/>
              <a:ea typeface="Arial"/>
              <a:cs typeface="Arial"/>
            </a:defRPr>
          </a:pPr>
          <a:endParaRPr lang="en-US"/>
        </a:p>
      </c:txPr>
    </c:legend>
    <c:plotVisOnly val="1"/>
    <c:dispBlanksAs/>
    <c:showDLblsOverMax val="1"/>
  </c:chart>
  <c:spPr>
    <a:solidFill>
      <a:srgbClr val="FFFFFF"/>
    </a:solidFill>
    <a:ln w="0">
      <a:noFill/>
      <a:prstDash val="solid"/>
    </a:ln>
  </c:spPr>
  <c:externalData r:id="rId1">
    <c:autoUpdate val="0"/>
  </c:externalData>
</c:chartSpace>
</file>

<file path=ppt/notesMasters/_rels/notesMaster1.xml.rels>&#65279;<?xml version="1.0" encoding="utf-8" standalone="yes"?><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bg>
      <p:bgRef idx="1001">
        <a:schemeClr val="bg1"/>
      </p:bgRef>
    </p:bg>
    <p:spTree>
      <p:nvGrpSpPr>
        <p:cNvPr id="1" name=""/>
        <p:cNvGrpSpPr/>
        <p:nvPr/>
      </p:nvGrpSpPr>
      <p:grpSpPr>
        <a:xfrm>
          <a:off x="0" y="0"/>
          <a: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&#65279;<?xml version="1.0" encoding="utf-8" standalone="yes"?><Relationships xmlns="http://schemas.openxmlformats.org/package/2006/relationships"><Relationship Id="rId1" Type="http://schemas.openxmlformats.org/officeDocument/2006/relationships/slide" Target="../slides/slide1.xml" /><Relationship Id="rId2" Type="http://schemas.openxmlformats.org/officeDocument/2006/relationships/notesMaster" Target="../notesMasters/notesMaster1.xml" /></Relationships>
</file>

<file path=ppt/notesSlides/_rels/notesSlide2.xml.rels>&#65279;<?xml version="1.0" encoding="utf-8" standalone="yes"?><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3.xml.rels>&#65279;<?xml version="1.0" encoding="utf-8" standalone="yes"?><Relationships xmlns="http://schemas.openxmlformats.org/package/2006/relationships"><Relationship Id="rId1" Type="http://schemas.openxmlformats.org/officeDocument/2006/relationships/slide" Target="../slides/slide3.xml" /><Relationship Id="rId2" Type="http://schemas.openxmlformats.org/officeDocument/2006/relationships/notesMaster" Target="../notesMasters/notesMaster1.xml" /></Relationships>
</file>

<file path=ppt/notesSlides/_rels/notesSlide4.xml.rels>&#65279;<?xml version="1.0" encoding="utf-8" standalone="yes"?><Relationships xmlns="http://schemas.openxmlformats.org/package/2006/relationships"><Relationship Id="rId1" Type="http://schemas.openxmlformats.org/officeDocument/2006/relationships/slide" Target="../slides/slide4.xml" /><Relationship Id="rId2" Type="http://schemas.openxmlformats.org/officeDocument/2006/relationships/notesMaster" Target="../notesMasters/notesMaster1.xml" /></Relationships>
</file>

<file path=ppt/notesSlides/_rels/notesSlide5.xml.rels>&#65279;<?xml version="1.0" encoding="utf-8" standalone="yes"?><Relationships xmlns="http://schemas.openxmlformats.org/package/2006/relationships"><Relationship Id="rId1" Type="http://schemas.openxmlformats.org/officeDocument/2006/relationships/slide" Target="../slides/slide5.xml" /><Relationship Id="rId2" Type="http://schemas.openxmlformats.org/officeDocument/2006/relationships/notesMaster" Target="../notesMasters/notesMaster1.xml" /></Relationships>
</file>

<file path=ppt/notesSlides/_rels/notesSlide6.xml.rels>&#65279;<?xml version="1.0" encoding="utf-8" standalone="yes"?><Relationships xmlns="http://schemas.openxmlformats.org/package/2006/relationships"><Relationship Id="rId1" Type="http://schemas.openxmlformats.org/officeDocument/2006/relationships/slide" Target="../slides/slide6.xml" /><Relationship Id="rId2" Type="http://schemas.openxmlformats.org/officeDocument/2006/relationships/notesMaster" Target="../notesMasters/notesMaster1.xml" /></Relationships>
</file>

<file path=ppt/notesSlides/_rels/notesSlide7.xml.rels>&#65279;<?xml version="1.0" encoding="utf-8" standalone="yes"?><Relationships xmlns="http://schemas.openxmlformats.org/package/2006/relationships"><Relationship Id="rId1" Type="http://schemas.openxmlformats.org/officeDocument/2006/relationships/slide" Target="../slides/slide7.xml" /><Relationship Id="rId2" Type="http://schemas.openxmlformats.org/officeDocument/2006/relationships/notesMaster" Target="../notesMasters/notesMaster1.xml" /></Relationships>
</file>

<file path=ppt/notesSlides/_rels/notesSlide8.xml.rels>&#65279;<?xml version="1.0" encoding="utf-8" standalone="yes"?><Relationships xmlns="http://schemas.openxmlformats.org/package/2006/relationships"><Relationship Id="rId1" Type="http://schemas.openxmlformats.org/officeDocument/2006/relationships/slide" Target="../slides/slide8.xml" /><Relationship Id="rId2" Type="http://schemas.openxmlformats.org/officeDocument/2006/relationships/notesMaster" Target="../notesMasters/notesMaster1.xml" /></Relationships>
</file>

<file path=ppt/notesSlides/_rels/notesSlide9.xml.rels>&#65279;<?xml version="1.0" encoding="utf-8" standalone="yes"?><Relationships xmlns="http://schemas.openxmlformats.org/package/2006/relationships"><Relationship Id="rId1" Type="http://schemas.openxmlformats.org/officeDocument/2006/relationships/slide" Target="../slides/slide9.xml" /><Relationship Id="rId2" Type="http://schemas.openxmlformats.org/officeDocument/2006/relationships/notesMaster" Target="../notesMasters/notesMaster1.xml" /></Relationships>
</file>

<file path=ppt/notesSlides/_rels/notesSlide10.xml.rels>&#65279;<?xml version="1.0" encoding="utf-8" standalone="yes"?><Relationships xmlns="http://schemas.openxmlformats.org/package/2006/relationships"><Relationship Id="rId1" Type="http://schemas.openxmlformats.org/officeDocument/2006/relationships/slide" Target="../slides/slide10.xml" /><Relationship Id="rId2" Type="http://schemas.openxmlformats.org/officeDocument/2006/relationships/notesMaster" Target="../notesMasters/notesMaster1.xml" /></Relationships>
</file>

<file path=ppt/notesSlides/_rels/notesSlide11.xml.rels>&#65279;<?xml version="1.0" encoding="utf-8" standalone="yes"?><Relationships xmlns="http://schemas.openxmlformats.org/package/2006/relationships"><Relationship Id="rId1" Type="http://schemas.openxmlformats.org/officeDocument/2006/relationships/slide" Target="../slides/slide11.xml" /><Relationship Id="rId2" Type="http://schemas.openxmlformats.org/officeDocument/2006/relationships/notesMaster" Target="../notesMasters/notesMaster1.xml" /></Relationships>
</file>

<file path=ppt/notesSlides/_rels/notesSlide12.xml.rels>&#65279;<?xml version="1.0" encoding="utf-8" standalone="yes"?><Relationships xmlns="http://schemas.openxmlformats.org/package/2006/relationships"><Relationship Id="rId1" Type="http://schemas.openxmlformats.org/officeDocument/2006/relationships/slide" Target="../slides/slide12.xml" /><Relationship Id="rId2" Type="http://schemas.openxmlformats.org/officeDocument/2006/relationships/notesMaster" Target="../notesMasters/notesMaster1.xml" /></Relationships>
</file>

<file path=ppt/notesSlides/_rels/notesSlide13.xml.rels>&#65279;<?xml version="1.0" encoding="utf-8" standalone="yes"?><Relationships xmlns="http://schemas.openxmlformats.org/package/2006/relationships"><Relationship Id="rId1" Type="http://schemas.openxmlformats.org/officeDocument/2006/relationships/slide" Target="../slides/slide13.xml" /><Relationship Id="rId2" Type="http://schemas.openxmlformats.org/officeDocument/2006/relationships/notesMaster" Target="../notesMasters/notesMaster1.xml" /></Relationships>
</file>

<file path=ppt/notesSlides/_rels/notesSlide14.xml.rels>&#65279;<?xml version="1.0" encoding="utf-8" standalone="yes"?><Relationships xmlns="http://schemas.openxmlformats.org/package/2006/relationships"><Relationship Id="rId1" Type="http://schemas.openxmlformats.org/officeDocument/2006/relationships/slide" Target="../slides/slide14.xml" /><Relationship Id="rId2" Type="http://schemas.openxmlformats.org/officeDocument/2006/relationships/notesMaster" Target="../notesMasters/notesMaster1.xml" /></Relationships>
</file>

<file path=ppt/notesSlides/_rels/notesSlide15.xml.rels>&#65279;<?xml version="1.0" encoding="utf-8" standalone="yes"?><Relationships xmlns="http://schemas.openxmlformats.org/package/2006/relationships"><Relationship Id="rId1" Type="http://schemas.openxmlformats.org/officeDocument/2006/relationships/slide" Target="../slides/slide15.xml" /><Relationship Id="rId2" Type="http://schemas.openxmlformats.org/officeDocument/2006/relationships/notesMaster" Target="../notesMasters/notesMaster1.xml" /></Relationships>
</file>

<file path=ppt/notesSlides/_rels/notesSlide16.xml.rels>&#65279;<?xml version="1.0" encoding="utf-8" standalone="yes"?><Relationships xmlns="http://schemas.openxmlformats.org/package/2006/relationships"><Relationship Id="rId1" Type="http://schemas.openxmlformats.org/officeDocument/2006/relationships/slide" Target="../slides/slide16.xml" /><Relationship Id="rId2" Type="http://schemas.openxmlformats.org/officeDocument/2006/relationships/notesMaster" Target="../notesMasters/notesMaster1.xml" /></Relationships>
</file>

<file path=ppt/notesSlides/_rels/notesSlide17.xml.rels>&#65279;<?xml version="1.0" encoding="utf-8" standalone="yes"?><Relationships xmlns="http://schemas.openxmlformats.org/package/2006/relationships"><Relationship Id="rId1" Type="http://schemas.openxmlformats.org/officeDocument/2006/relationships/slide" Target="../slides/slide17.xml" /><Relationship Id="rId2" Type="http://schemas.openxmlformats.org/officeDocument/2006/relationships/notesMaster" Target="../notesMasters/notesMaster1.xml" /></Relationships>
</file>

<file path=ppt/notesSlides/_rels/notesSlide18.xml.rels>&#65279;<?xml version="1.0" encoding="utf-8" standalone="yes"?><Relationships xmlns="http://schemas.openxmlformats.org/package/2006/relationships"><Relationship Id="rId1" Type="http://schemas.openxmlformats.org/officeDocument/2006/relationships/slide" Target="../slides/slide18.xml" /><Relationship Id="rId2" Type="http://schemas.openxmlformats.org/officeDocument/2006/relationships/notesMaster" Target="../notesMasters/notesMaster1.xml" /></Relationships>
</file>

<file path=ppt/notesSlides/_rels/notesSlide19.xml.rels>&#65279;<?xml version="1.0" encoding="utf-8" standalone="yes"?><Relationships xmlns="http://schemas.openxmlformats.org/package/2006/relationships"><Relationship Id="rId1" Type="http://schemas.openxmlformats.org/officeDocument/2006/relationships/slide" Target="../slides/slide19.xml" /><Relationship Id="rId2" Type="http://schemas.openxmlformats.org/officeDocument/2006/relationships/notesMaster" Target="../notesMasters/notesMaster1.xml" /></Relationships>
</file>

<file path=ppt/notesSlides/_rels/notesSlide20.xml.rels>&#65279;<?xml version="1.0" encoding="utf-8" standalone="yes"?><Relationships xmlns="http://schemas.openxmlformats.org/package/2006/relationships"><Relationship Id="rId1" Type="http://schemas.openxmlformats.org/officeDocument/2006/relationships/slide" Target="../slides/slide20.xml" /><Relationship Id="rId2" Type="http://schemas.openxmlformats.org/officeDocument/2006/relationships/notesMaster" Target="../notesMasters/notesMaster1.xml" /></Relationships>
</file>

<file path=ppt/notesSlides/_rels/notesSlide21.xml.rels>&#65279;<?xml version="1.0" encoding="utf-8" standalone="yes"?><Relationships xmlns="http://schemas.openxmlformats.org/package/2006/relationships"><Relationship Id="rId1" Type="http://schemas.openxmlformats.org/officeDocument/2006/relationships/slide" Target="../slides/slide21.xml" /><Relationship Id="rId2" Type="http://schemas.openxmlformats.org/officeDocument/2006/relationships/notesMaster" Target="../notesMasters/notesMaster1.xml" /></Relationships>
</file>

<file path=ppt/notesSlides/_rels/notesSlide22.xml.rels>&#65279;<?xml version="1.0" encoding="utf-8" standalone="yes"?><Relationships xmlns="http://schemas.openxmlformats.org/package/2006/relationships"><Relationship Id="rId1" Type="http://schemas.openxmlformats.org/officeDocument/2006/relationships/slide" Target="../slides/slide22.xml" /><Relationship Id="rId2" Type="http://schemas.openxmlformats.org/officeDocument/2006/relationships/notesMaster" Target="../notesMasters/notesMaster1.xml" /></Relationships>
</file>

<file path=ppt/notesSlides/_rels/notesSlide23.xml.rels>&#65279;<?xml version="1.0" encoding="utf-8" standalone="yes"?><Relationships xmlns="http://schemas.openxmlformats.org/package/2006/relationships"><Relationship Id="rId1" Type="http://schemas.openxmlformats.org/officeDocument/2006/relationships/slide" Target="../slides/slide23.xml" /><Relationship Id="rId2" Type="http://schemas.openxmlformats.org/officeDocument/2006/relationships/notesMaster" Target="../notesMasters/notesMaster1.xml" /></Relationships>
</file>

<file path=ppt/notesSlides/_rels/notesSlide24.xml.rels>&#65279;<?xml version="1.0" encoding="utf-8" standalone="yes"?><Relationships xmlns="http://schemas.openxmlformats.org/package/2006/relationships"><Relationship Id="rId1" Type="http://schemas.openxmlformats.org/officeDocument/2006/relationships/slide" Target="../slides/slide24.xml" /><Relationship Id="rId2" Type="http://schemas.openxmlformats.org/officeDocument/2006/relationships/notesMaster" Target="../notesMasters/notesMaster1.xml" /></Relationships>
</file>

<file path=ppt/notesSlides/_rels/notesSlide25.xml.rels>&#65279;<?xml version="1.0" encoding="utf-8" standalone="yes"?><Relationships xmlns="http://schemas.openxmlformats.org/package/2006/relationships"><Relationship Id="rId1" Type="http://schemas.openxmlformats.org/officeDocument/2006/relationships/slide" Target="../slides/slide25.xml" /><Relationship Id="rId2" Type="http://schemas.openxmlformats.org/officeDocument/2006/relationships/notesMaster" Target="../notesMasters/notesMaster1.xml" /></Relationships>
</file>

<file path=ppt/notesSlides/_rels/notesSlide26.xml.rels>&#65279;<?xml version="1.0" encoding="utf-8" standalone="yes"?><Relationships xmlns="http://schemas.openxmlformats.org/package/2006/relationships"><Relationship Id="rId1" Type="http://schemas.openxmlformats.org/officeDocument/2006/relationships/slide" Target="../slides/slide26.xml" /><Relationship Id="rId2" Type="http://schemas.openxmlformats.org/officeDocument/2006/relationships/notesMaster" Target="../notesMasters/notesMaster1.xml" /></Relationships>
</file>

<file path=ppt/notesSlides/_rels/notesSlide27.xml.rels>&#65279;<?xml version="1.0" encoding="utf-8" standalone="yes"?><Relationships xmlns="http://schemas.openxmlformats.org/package/2006/relationships"><Relationship Id="rId1" Type="http://schemas.openxmlformats.org/officeDocument/2006/relationships/slide" Target="../slides/slide27.xml" /><Relationship Id="rId2" Type="http://schemas.openxmlformats.org/officeDocument/2006/relationships/notesMaster" Target="../notesMasters/notesMaster1.xml" /></Relationships>
</file>

<file path=ppt/notesSlides/_rels/notesSlide28.xml.rels>&#65279;<?xml version="1.0" encoding="utf-8" standalone="yes"?><Relationships xmlns="http://schemas.openxmlformats.org/package/2006/relationships"><Relationship Id="rId1" Type="http://schemas.openxmlformats.org/officeDocument/2006/relationships/slide" Target="../slides/slide28.xml" /><Relationship Id="rId2" Type="http://schemas.openxmlformats.org/officeDocument/2006/relationships/notesMaster" Target="../notesMasters/notesMaster1.xml" /></Relationships>
</file>

<file path=ppt/notesSlides/_rels/notesSlide29.xml.rels>&#65279;<?xml version="1.0" encoding="utf-8" standalone="yes"?><Relationships xmlns="http://schemas.openxmlformats.org/package/2006/relationships"><Relationship Id="rId1" Type="http://schemas.openxmlformats.org/officeDocument/2006/relationships/slide" Target="../slides/slide29.xml" /><Relationship Id="rId2" Type="http://schemas.openxmlformats.org/officeDocument/2006/relationships/notesMaster" Target="../notesMasters/notesMaster1.xml" /></Relationships>
</file>

<file path=ppt/notesSlides/_rels/notesSlide30.xml.rels>&#65279;<?xml version="1.0" encoding="utf-8" standalone="yes"?><Relationships xmlns="http://schemas.openxmlformats.org/package/2006/relationships"><Relationship Id="rId1" Type="http://schemas.openxmlformats.org/officeDocument/2006/relationships/slide" Target="../slides/slide30.xml" /><Relationship Id="rId2" Type="http://schemas.openxmlformats.org/officeDocument/2006/relationships/notesMaster" Target="../notesMasters/notesMaster1.xml" /></Relationships>
</file>

<file path=ppt/notesSlides/_rels/notesSlide31.xml.rels>&#65279;<?xml version="1.0" encoding="utf-8" standalone="yes"?><Relationships xmlns="http://schemas.openxmlformats.org/package/2006/relationships"><Relationship Id="rId1" Type="http://schemas.openxmlformats.org/officeDocument/2006/relationships/slide" Target="../slides/slide31.xml" /><Relationship Id="rId2" Type="http://schemas.openxmlformats.org/officeDocument/2006/relationships/notesMaster" Target="../notesMasters/notesMaster1.xml" /></Relationships>
</file>

<file path=ppt/notesSlides/_rels/notesSlide32.xml.rels>&#65279;<?xml version="1.0" encoding="utf-8" standalone="yes"?><Relationships xmlns="http://schemas.openxmlformats.org/package/2006/relationships"><Relationship Id="rId1" Type="http://schemas.openxmlformats.org/officeDocument/2006/relationships/slide" Target="../slides/slide32.xml" /><Relationship Id="rId2" Type="http://schemas.openxmlformats.org/officeDocument/2006/relationships/notesMaster" Target="../notesMasters/notesMaster1.xml" /></Relationships>
</file>

<file path=ppt/notesSlides/_rels/notesSlide33.xml.rels>&#65279;<?xml version="1.0" encoding="utf-8" standalone="yes"?><Relationships xmlns="http://schemas.openxmlformats.org/package/2006/relationships"><Relationship Id="rId1" Type="http://schemas.openxmlformats.org/officeDocument/2006/relationships/slide" Target="../slides/slide33.xml" /><Relationship Id="rId2" Type="http://schemas.openxmlformats.org/officeDocument/2006/relationships/notesMaster" Target="../notesMasters/notesMaster1.xml" /></Relationships>
</file>

<file path=ppt/notesSlides/_rels/notesSlide34.xml.rels>&#65279;<?xml version="1.0" encoding="utf-8" standalone="yes"?><Relationships xmlns="http://schemas.openxmlformats.org/package/2006/relationships"><Relationship Id="rId1" Type="http://schemas.openxmlformats.org/officeDocument/2006/relationships/slide" Target="../slides/slide34.xml" /><Relationship Id="rId2" Type="http://schemas.openxmlformats.org/officeDocument/2006/relationships/notesMaster" Target="../notesMasters/notesMaster1.xml" /></Relationships>
</file>

<file path=ppt/notesSlides/_rels/notesSlide35.xml.rels>&#65279;<?xml version="1.0" encoding="utf-8" standalone="yes"?><Relationships xmlns="http://schemas.openxmlformats.org/package/2006/relationships"><Relationship Id="rId1" Type="http://schemas.openxmlformats.org/officeDocument/2006/relationships/slide" Target="../slides/slide35.xml" /><Relationship Id="rId2" Type="http://schemas.openxmlformats.org/officeDocument/2006/relationships/notesMaster" Target="../notesMasters/notesMaster1.xml" /></Relationships>
</file>

<file path=ppt/notesSlides/_rels/notesSlide36.xml.rels>&#65279;<?xml version="1.0" encoding="utf-8" standalone="yes"?><Relationships xmlns="http://schemas.openxmlformats.org/package/2006/relationships"><Relationship Id="rId1" Type="http://schemas.openxmlformats.org/officeDocument/2006/relationships/slide" Target="../slides/slide36.xml" /><Relationship Id="rId2" Type="http://schemas.openxmlformats.org/officeDocument/2006/relationships/notesMaster" Target="../notesMasters/notesMaster1.xml" /></Relationships>
</file>

<file path=ppt/notesSlides/_rels/notesSlide37.xml.rels>&#65279;<?xml version="1.0" encoding="utf-8" standalone="yes"?><Relationships xmlns="http://schemas.openxmlformats.org/package/2006/relationships"><Relationship Id="rId1" Type="http://schemas.openxmlformats.org/officeDocument/2006/relationships/slide" Target="../slides/slide37.xml" /><Relationship Id="rId2" Type="http://schemas.openxmlformats.org/officeDocument/2006/relationships/notesMaster" Target="../notesMasters/notesMaster1.xml" /></Relationships>
</file>

<file path=ppt/notesSlides/_rels/notesSlide38.xml.rels>&#65279;<?xml version="1.0" encoding="utf-8" standalone="yes"?><Relationships xmlns="http://schemas.openxmlformats.org/package/2006/relationships"><Relationship Id="rId1" Type="http://schemas.openxmlformats.org/officeDocument/2006/relationships/slide" Target="../slides/slide38.xml" /><Relationship Id="rId2" Type="http://schemas.openxmlformats.org/officeDocument/2006/relationships/notesMaster" Target="../notesMasters/notesMaster1.xml" /></Relationships>
</file>

<file path=ppt/notesSlides/_rels/notesSlide39.xml.rels>&#65279;<?xml version="1.0" encoding="utf-8" standalone="yes"?><Relationships xmlns="http://schemas.openxmlformats.org/package/2006/relationships"><Relationship Id="rId1" Type="http://schemas.openxmlformats.org/officeDocument/2006/relationships/slide" Target="../slides/slide39.xml" /><Relationship Id="rId2" Type="http://schemas.openxmlformats.org/officeDocument/2006/relationships/notesMaster" Target="../notesMasters/notesMaster1.xml" /></Relationships>
</file>

<file path=ppt/notesSlides/_rels/notesSlide40.xml.rels>&#65279;<?xml version="1.0" encoding="utf-8" standalone="yes"?><Relationships xmlns="http://schemas.openxmlformats.org/package/2006/relationships"><Relationship Id="rId1" Type="http://schemas.openxmlformats.org/officeDocument/2006/relationships/slide" Target="../slides/slide40.xml" /><Relationship Id="rId2" Type="http://schemas.openxmlformats.org/officeDocument/2006/relationships/notesMaster" Target="../notesMasters/notesMaster1.xml" /></Relationships>
</file>

<file path=ppt/notesSlides/_rels/notesSlide41.xml.rels>&#65279;<?xml version="1.0" encoding="utf-8" standalone="yes"?><Relationships xmlns="http://schemas.openxmlformats.org/package/2006/relationships"><Relationship Id="rId1" Type="http://schemas.openxmlformats.org/officeDocument/2006/relationships/slide" Target="../slides/slide41.xml" /><Relationship Id="rId2" Type="http://schemas.openxmlformats.org/officeDocument/2006/relationships/notesMaster" Target="../notesMasters/notesMaster1.xml" /></Relationships>
</file>

<file path=ppt/notesSlides/_rels/notesSlide42.xml.rels>&#65279;<?xml version="1.0" encoding="utf-8" standalone="yes"?><Relationships xmlns="http://schemas.openxmlformats.org/package/2006/relationships"><Relationship Id="rId1" Type="http://schemas.openxmlformats.org/officeDocument/2006/relationships/slide" Target="../slides/slide42.xml" /><Relationship Id="rId2" Type="http://schemas.openxmlformats.org/officeDocument/2006/relationships/notesMaster" Target="../notesMasters/notesMaster1.xml" /></Relationships>
</file>

<file path=ppt/notesSlides/_rels/notesSlide43.xml.rels>&#65279;<?xml version="1.0" encoding="utf-8" standalone="yes"?><Relationships xmlns="http://schemas.openxmlformats.org/package/2006/relationships"><Relationship Id="rId1" Type="http://schemas.openxmlformats.org/officeDocument/2006/relationships/slide" Target="../slides/slide43.xml" /><Relationship Id="rId2" Type="http://schemas.openxmlformats.org/officeDocument/2006/relationships/notesMaster" Target="../notesMasters/notesMaster1.xml" /></Relationships>
</file>

<file path=ppt/notesSlides/_rels/notesSlide44.xml.rels>&#65279;<?xml version="1.0" encoding="utf-8" standalone="yes"?><Relationships xmlns="http://schemas.openxmlformats.org/package/2006/relationships"><Relationship Id="rId1" Type="http://schemas.openxmlformats.org/officeDocument/2006/relationships/slide" Target="../slides/slide44.xml" /><Relationship Id="rId2" Type="http://schemas.openxmlformats.org/officeDocument/2006/relationships/notesMaster" Target="../notesMasters/notesMaster1.xml" /></Relationships>
</file>

<file path=ppt/notesSlides/_rels/notesSlide45.xml.rels>&#65279;<?xml version="1.0" encoding="utf-8" standalone="yes"?><Relationships xmlns="http://schemas.openxmlformats.org/package/2006/relationships"><Relationship Id="rId1" Type="http://schemas.openxmlformats.org/officeDocument/2006/relationships/slide" Target="../slides/slide45.xml" /><Relationship Id="rId2" Type="http://schemas.openxmlformats.org/officeDocument/2006/relationships/notesMaster" Target="../notesMasters/notesMaster1.xml" /></Relationships>
</file>

<file path=ppt/notesSlides/_rels/notesSlide46.xml.rels>&#65279;<?xml version="1.0" encoding="utf-8" standalone="yes"?><Relationships xmlns="http://schemas.openxmlformats.org/package/2006/relationships"><Relationship Id="rId1" Type="http://schemas.openxmlformats.org/officeDocument/2006/relationships/slide" Target="../slides/slide46.xml" /><Relationship Id="rId2" Type="http://schemas.openxmlformats.org/officeDocument/2006/relationships/notesMaster" Target="../notesMasters/notesMaster1.xml" /></Relationships>
</file>

<file path=ppt/notesSlides/_rels/notesSlide47.xml.rels>&#65279;<?xml version="1.0" encoding="utf-8" standalone="yes"?><Relationships xmlns="http://schemas.openxmlformats.org/package/2006/relationships"><Relationship Id="rId1" Type="http://schemas.openxmlformats.org/officeDocument/2006/relationships/slide" Target="../slides/slide47.xml" /><Relationship Id="rId2" Type="http://schemas.openxmlformats.org/officeDocument/2006/relationships/notesMaster" Target="../notesMasters/notesMaster1.xml" /></Relationships>
</file>

<file path=ppt/notesSlides/_rels/notesSlide48.xml.rels>&#65279;<?xml version="1.0" encoding="utf-8" standalone="yes"?><Relationships xmlns="http://schemas.openxmlformats.org/package/2006/relationships"><Relationship Id="rId1" Type="http://schemas.openxmlformats.org/officeDocument/2006/relationships/slide" Target="../slides/slide48.xml" /><Relationship Id="rId2" Type="http://schemas.openxmlformats.org/officeDocument/2006/relationships/notesMaster" Target="../notesMasters/notesMaster1.xml" /></Relationships>
</file>

<file path=ppt/notesSlides/_rels/notesSlide49.xml.rels>&#65279;<?xml version="1.0" encoding="utf-8" standalone="yes"?><Relationships xmlns="http://schemas.openxmlformats.org/package/2006/relationships"><Relationship Id="rId1" Type="http://schemas.openxmlformats.org/officeDocument/2006/relationships/slide" Target="../slides/slide49.xml" /><Relationship Id="rId2" Type="http://schemas.openxmlformats.org/officeDocument/2006/relationships/notesMaster" Target="../notesMasters/notesMaster1.xml" /></Relationships>
</file>

<file path=ppt/notesSlides/_rels/notesSlide50.xml.rels>&#65279;<?xml version="1.0" encoding="utf-8" standalone="yes"?><Relationships xmlns="http://schemas.openxmlformats.org/package/2006/relationships"><Relationship Id="rId1" Type="http://schemas.openxmlformats.org/officeDocument/2006/relationships/slide" Target="../slides/slide50.xml" /><Relationship Id="rId2" Type="http://schemas.openxmlformats.org/officeDocument/2006/relationships/notesMaster" Target="../notesMasters/notesMaster1.xml" /></Relationships>
</file>

<file path=ppt/notesSlides/_rels/notesSlide51.xml.rels>&#65279;<?xml version="1.0" encoding="utf-8" standalone="yes"?><Relationships xmlns="http://schemas.openxmlformats.org/package/2006/relationships"><Relationship Id="rId1" Type="http://schemas.openxmlformats.org/officeDocument/2006/relationships/slide" Target="../slides/slide51.xml" /><Relationship Id="rId2" Type="http://schemas.openxmlformats.org/officeDocument/2006/relationships/notesMaster" Target="../notesMasters/notesMaster1.xml" /></Relationships>
</file>

<file path=ppt/notesSlides/_rels/notesSlide52.xml.rels>&#65279;<?xml version="1.0" encoding="utf-8" standalone="yes"?><Relationships xmlns="http://schemas.openxmlformats.org/package/2006/relationships"><Relationship Id="rId1" Type="http://schemas.openxmlformats.org/officeDocument/2006/relationships/slide" Target="../slides/slide52.xml" /><Relationship Id="rId2" Type="http://schemas.openxmlformats.org/officeDocument/2006/relationships/notesMaster" Target="../notesMasters/notesMaster1.xml" /></Relationships>
</file>

<file path=ppt/notesSlides/_rels/notesSlide53.xml.rels>&#65279;<?xml version="1.0" encoding="utf-8" standalone="yes"?><Relationships xmlns="http://schemas.openxmlformats.org/package/2006/relationships"><Relationship Id="rId1" Type="http://schemas.openxmlformats.org/officeDocument/2006/relationships/slide" Target="../slides/slide53.xml" /><Relationship Id="rId2" Type="http://schemas.openxmlformats.org/officeDocument/2006/relationships/notesMaster" Target="../notesMasters/notesMaster1.xml" /></Relationships>
</file>

<file path=ppt/notesSlides/_rels/notesSlide54.xml.rels>&#65279;<?xml version="1.0" encoding="utf-8" standalone="yes"?><Relationships xmlns="http://schemas.openxmlformats.org/package/2006/relationships"><Relationship Id="rId1" Type="http://schemas.openxmlformats.org/officeDocument/2006/relationships/slide" Target="../slides/slide54.xml" /><Relationship Id="rId2" Type="http://schemas.openxmlformats.org/officeDocument/2006/relationships/notesMaster" Target="../notesMasters/notesMaster1.xml" /></Relationships>
</file>

<file path=ppt/notesSlides/_rels/notesSlide55.xml.rels>&#65279;<?xml version="1.0" encoding="utf-8" standalone="yes"?><Relationships xmlns="http://schemas.openxmlformats.org/package/2006/relationships"><Relationship Id="rId1" Type="http://schemas.openxmlformats.org/officeDocument/2006/relationships/slide" Target="../slides/slide55.xml" /><Relationship Id="rId2" Type="http://schemas.openxmlformats.org/officeDocument/2006/relationships/notesMaster" Target="../notesMasters/notesMaster1.xml" /></Relationships>
</file>

<file path=ppt/notesSlides/_rels/notesSlide56.xml.rels>&#65279;<?xml version="1.0" encoding="utf-8" standalone="yes"?><Relationships xmlns="http://schemas.openxmlformats.org/package/2006/relationships"><Relationship Id="rId1" Type="http://schemas.openxmlformats.org/officeDocument/2006/relationships/slide" Target="../slides/slide56.xml" /><Relationship Id="rId2" Type="http://schemas.openxmlformats.org/officeDocument/2006/relationships/notesMaster" Target="../notesMasters/notesMaster1.xml" /></Relationships>
</file>

<file path=ppt/notesSlides/_rels/notesSlide57.xml.rels>&#65279;<?xml version="1.0" encoding="utf-8" standalone="yes"?><Relationships xmlns="http://schemas.openxmlformats.org/package/2006/relationships"><Relationship Id="rId1" Type="http://schemas.openxmlformats.org/officeDocument/2006/relationships/slide" Target="../slides/slide57.xml" /><Relationship Id="rId2" Type="http://schemas.openxmlformats.org/officeDocument/2006/relationships/notesMaster" Target="../notesMasters/notesMaster1.xml" /></Relationships>
</file>

<file path=ppt/notesSlides/_rels/notesSlide58.xml.rels>&#65279;<?xml version="1.0" encoding="utf-8" standalone="yes"?><Relationships xmlns="http://schemas.openxmlformats.org/package/2006/relationships"><Relationship Id="rId1" Type="http://schemas.openxmlformats.org/officeDocument/2006/relationships/slide" Target="../slides/slide58.xml" /><Relationship Id="rId2" Type="http://schemas.openxmlformats.org/officeDocument/2006/relationships/notesMaster" Target="../notesMasters/notesMaster1.xml" /></Relationships>
</file>

<file path=ppt/notesSlides/_rels/notesSlide59.xml.rels>&#65279;<?xml version="1.0" encoding="utf-8" standalone="yes"?><Relationships xmlns="http://schemas.openxmlformats.org/package/2006/relationships"><Relationship Id="rId1" Type="http://schemas.openxmlformats.org/officeDocument/2006/relationships/slide" Target="../slides/slide59.xml" /><Relationship Id="rId2" Type="http://schemas.openxmlformats.org/officeDocument/2006/relationships/notesMaster" Target="../notesMasters/notesMaster1.xml" /></Relationships>
</file>

<file path=ppt/notesSlides/_rels/notesSlide60.xml.rels>&#65279;<?xml version="1.0" encoding="utf-8" standalone="yes"?><Relationships xmlns="http://schemas.openxmlformats.org/package/2006/relationships"><Relationship Id="rId1" Type="http://schemas.openxmlformats.org/officeDocument/2006/relationships/slide" Target="../slides/slide60.xml" /><Relationship Id="rId2" Type="http://schemas.openxmlformats.org/officeDocument/2006/relationships/notesMaster" Target="../notesMasters/notesMaster1.xml" /></Relationships>
</file>

<file path=ppt/notesSlides/_rels/notesSlide61.xml.rels>&#65279;<?xml version="1.0" encoding="utf-8" standalone="yes"?><Relationships xmlns="http://schemas.openxmlformats.org/package/2006/relationships"><Relationship Id="rId1" Type="http://schemas.openxmlformats.org/officeDocument/2006/relationships/slide" Target="../slides/slide61.xml" /><Relationship Id="rId2" Type="http://schemas.openxmlformats.org/officeDocument/2006/relationships/notesMaster" Target="../notesMasters/notesMaster1.xml" /></Relationships>
</file>

<file path=ppt/notesSlides/_rels/notesSlide62.xml.rels>&#65279;<?xml version="1.0" encoding="utf-8" standalone="yes"?><Relationships xmlns="http://schemas.openxmlformats.org/package/2006/relationships"><Relationship Id="rId1" Type="http://schemas.openxmlformats.org/officeDocument/2006/relationships/slide" Target="../slides/slide62.xml" /><Relationship Id="rId2" Type="http://schemas.openxmlformats.org/officeDocument/2006/relationships/notesMaster" Target="../notesMasters/notesMaster1.xml" /></Relationships>
</file>

<file path=ppt/notesSlides/_rels/notesSlide63.xml.rels>&#65279;<?xml version="1.0" encoding="utf-8" standalone="yes"?><Relationships xmlns="http://schemas.openxmlformats.org/package/2006/relationships"><Relationship Id="rId1" Type="http://schemas.openxmlformats.org/officeDocument/2006/relationships/slide" Target="../slides/slide63.xml" /><Relationship Id="rId2" Type="http://schemas.openxmlformats.org/officeDocument/2006/relationships/notesMaster" Target="../notesMasters/notesMaster1.xml" /></Relationships>
</file>

<file path=ppt/notesSlides/_rels/notesSlide64.xml.rels>&#65279;<?xml version="1.0" encoding="utf-8" standalone="yes"?><Relationships xmlns="http://schemas.openxmlformats.org/package/2006/relationships"><Relationship Id="rId1" Type="http://schemas.openxmlformats.org/officeDocument/2006/relationships/slide" Target="../slides/slide64.xml" /><Relationship Id="rId2" Type="http://schemas.openxmlformats.org/officeDocument/2006/relationships/notesMaster" Target="../notesMasters/notesMaster1.xml" /></Relationships>
</file>

<file path=ppt/notesSlides/_rels/notesSlide65.xml.rels>&#65279;<?xml version="1.0" encoding="utf-8" standalone="yes"?><Relationships xmlns="http://schemas.openxmlformats.org/package/2006/relationships"><Relationship Id="rId1" Type="http://schemas.openxmlformats.org/officeDocument/2006/relationships/slide" Target="../slides/slide65.xml" /><Relationship Id="rId2" Type="http://schemas.openxmlformats.org/officeDocument/2006/relationships/notesMaster" Target="../notesMasters/notesMaster1.xml" /></Relationships>
</file>

<file path=ppt/notesSlides/_rels/notesSlide66.xml.rels>&#65279;<?xml version="1.0" encoding="utf-8" standalone="yes"?><Relationships xmlns="http://schemas.openxmlformats.org/package/2006/relationships"><Relationship Id="rId1" Type="http://schemas.openxmlformats.org/officeDocument/2006/relationships/slide" Target="../slides/slide66.xml" /><Relationship Id="rId2" Type="http://schemas.openxmlformats.org/officeDocument/2006/relationships/notesMaster" Target="../notesMasters/notesMaster1.xml" /></Relationships>
</file>

<file path=ppt/notesSlides/_rels/notesSlide67.xml.rels>&#65279;<?xml version="1.0" encoding="utf-8" standalone="yes"?><Relationships xmlns="http://schemas.openxmlformats.org/package/2006/relationships"><Relationship Id="rId1" Type="http://schemas.openxmlformats.org/officeDocument/2006/relationships/slide" Target="../slides/slide67.xml" /><Relationship Id="rId2" Type="http://schemas.openxmlformats.org/officeDocument/2006/relationships/notesMaster" Target="../notesMasters/notesMaster1.xml" /></Relationships>
</file>

<file path=ppt/notesSlides/_rels/notesSlide68.xml.rels>&#65279;<?xml version="1.0" encoding="utf-8" standalone="yes"?><Relationships xmlns="http://schemas.openxmlformats.org/package/2006/relationships"><Relationship Id="rId1" Type="http://schemas.openxmlformats.org/officeDocument/2006/relationships/slide" Target="../slides/slide68.xml" /><Relationship Id="rId2" Type="http://schemas.openxmlformats.org/officeDocument/2006/relationships/notesMaster" Target="../notesMasters/notesMaster1.xml" /></Relationships>
</file>

<file path=ppt/notesSlides/_rels/notesSlide69.xml.rels>&#65279;<?xml version="1.0" encoding="utf-8" standalone="yes"?><Relationships xmlns="http://schemas.openxmlformats.org/package/2006/relationships"><Relationship Id="rId1" Type="http://schemas.openxmlformats.org/officeDocument/2006/relationships/slide" Target="../slides/slide69.xml" /><Relationship Id="rId2" Type="http://schemas.openxmlformats.org/officeDocument/2006/relationships/notesMaster" Target="../notesMasters/notesMaster1.xml" /></Relationships>
</file>

<file path=ppt/notesSlides/_rels/notesSlide70.xml.rels>&#65279;<?xml version="1.0" encoding="utf-8" standalone="yes"?><Relationships xmlns="http://schemas.openxmlformats.org/package/2006/relationships"><Relationship Id="rId1" Type="http://schemas.openxmlformats.org/officeDocument/2006/relationships/slide" Target="../slides/slide70.xml" /><Relationship Id="rId2" Type="http://schemas.openxmlformats.org/officeDocument/2006/relationships/notesMaster" Target="../notesMasters/notesMaster1.xml" /></Relationships>
</file>

<file path=ppt/notesSlides/_rels/notesSlide71.xml.rels>&#65279;<?xml version="1.0" encoding="utf-8" standalone="yes"?><Relationships xmlns="http://schemas.openxmlformats.org/package/2006/relationships"><Relationship Id="rId1" Type="http://schemas.openxmlformats.org/officeDocument/2006/relationships/slide" Target="../slides/slide71.xml" /><Relationship Id="rId2" Type="http://schemas.openxmlformats.org/officeDocument/2006/relationships/notesMaster" Target="../notesMasters/notesMaster1.xml" /></Relationships>
</file>

<file path=ppt/notesSlides/_rels/notesSlide72.xml.rels>&#65279;<?xml version="1.0" encoding="utf-8" standalone="yes"?><Relationships xmlns="http://schemas.openxmlformats.org/package/2006/relationships"><Relationship Id="rId1" Type="http://schemas.openxmlformats.org/officeDocument/2006/relationships/slide" Target="../slides/slide72.xml" /><Relationship Id="rId2" Type="http://schemas.openxmlformats.org/officeDocument/2006/relationships/notesMaster" Target="../notesMasters/notesMaster1.xml" /></Relationships>
</file>

<file path=ppt/notesSlides/_rels/notesSlide73.xml.rels>&#65279;<?xml version="1.0" encoding="utf-8" standalone="yes"?><Relationships xmlns="http://schemas.openxmlformats.org/package/2006/relationships"><Relationship Id="rId1" Type="http://schemas.openxmlformats.org/officeDocument/2006/relationships/slide" Target="../slides/slide73.xml" /><Relationship Id="rId2" Type="http://schemas.openxmlformats.org/officeDocument/2006/relationships/notesMaster" Target="../notesMasters/notesMaster1.xml" /></Relationships>
</file>

<file path=ppt/notesSlides/_rels/notesSlide74.xml.rels>&#65279;<?xml version="1.0" encoding="utf-8" standalone="yes"?><Relationships xmlns="http://schemas.openxmlformats.org/package/2006/relationships"><Relationship Id="rId1" Type="http://schemas.openxmlformats.org/officeDocument/2006/relationships/slide" Target="../slides/slide74.xml" /><Relationship Id="rId2" Type="http://schemas.openxmlformats.org/officeDocument/2006/relationships/notesMaster" Target="../notesMasters/notesMaster1.xml" /></Relationships>
</file>

<file path=ppt/notesSlides/_rels/notesSlide75.xml.rels>&#65279;<?xml version="1.0" encoding="utf-8" standalone="yes"?><Relationships xmlns="http://schemas.openxmlformats.org/package/2006/relationships"><Relationship Id="rId1" Type="http://schemas.openxmlformats.org/officeDocument/2006/relationships/slide" Target="../slides/slide75.xml" /><Relationship Id="rId2" Type="http://schemas.openxmlformats.org/officeDocument/2006/relationships/notesMaster" Target="../notesMasters/notesMaster1.xml" /></Relationships>
</file>

<file path=ppt/notesSlides/_rels/notesSlide76.xml.rels>&#65279;<?xml version="1.0" encoding="utf-8" standalone="yes"?><Relationships xmlns="http://schemas.openxmlformats.org/package/2006/relationships"><Relationship Id="rId1" Type="http://schemas.openxmlformats.org/officeDocument/2006/relationships/slide" Target="../slides/slide76.xml" /><Relationship Id="rId2" Type="http://schemas.openxmlformats.org/officeDocument/2006/relationships/notesMaster" Target="../notesMasters/notesMaster1.xml" /></Relationships>
</file>

<file path=ppt/notesSlides/_rels/notesSlide77.xml.rels>&#65279;<?xml version="1.0" encoding="utf-8" standalone="yes"?><Relationships xmlns="http://schemas.openxmlformats.org/package/2006/relationships"><Relationship Id="rId1" Type="http://schemas.openxmlformats.org/officeDocument/2006/relationships/slide" Target="../slides/slide77.xml" /><Relationship Id="rId2" Type="http://schemas.openxmlformats.org/officeDocument/2006/relationships/notesMaster" Target="../notesMasters/notesMaster1.xml" /></Relationships>
</file>

<file path=ppt/notesSlides/_rels/notesSlide78.xml.rels>&#65279;<?xml version="1.0" encoding="utf-8" standalone="yes"?><Relationships xmlns="http://schemas.openxmlformats.org/package/2006/relationships"><Relationship Id="rId1" Type="http://schemas.openxmlformats.org/officeDocument/2006/relationships/slide" Target="../slides/slide78.xml" /><Relationship Id="rId2" Type="http://schemas.openxmlformats.org/officeDocument/2006/relationships/notesMaster" Target="../notesMasters/notesMaster1.xml" /></Relationships>
</file>

<file path=ppt/notesSlides/_rels/notesSlide79.xml.rels>&#65279;<?xml version="1.0" encoding="utf-8" standalone="yes"?><Relationships xmlns="http://schemas.openxmlformats.org/package/2006/relationships"><Relationship Id="rId1" Type="http://schemas.openxmlformats.org/officeDocument/2006/relationships/slide" Target="../slides/slide79.xml" /><Relationship Id="rId2" Type="http://schemas.openxmlformats.org/officeDocument/2006/relationships/notesMaster" Target="../notesMasters/notesMaster1.xml" /></Relationships>
</file>

<file path=ppt/notesSlides/_rels/notesSlide80.xml.rels>&#65279;<?xml version="1.0" encoding="utf-8" standalone="yes"?><Relationships xmlns="http://schemas.openxmlformats.org/package/2006/relationships"><Relationship Id="rId1" Type="http://schemas.openxmlformats.org/officeDocument/2006/relationships/slide" Target="../slides/slide80.xml" /><Relationship Id="rId2" Type="http://schemas.openxmlformats.org/officeDocument/2006/relationships/notesMaster" Target="../notesMasters/notesMaster1.xml" /></Relationships>
</file>

<file path=ppt/notesSlides/_rels/notesSlide81.xml.rels>&#65279;<?xml version="1.0" encoding="utf-8" standalone="yes"?><Relationships xmlns="http://schemas.openxmlformats.org/package/2006/relationships"><Relationship Id="rId1" Type="http://schemas.openxmlformats.org/officeDocument/2006/relationships/slide" Target="../slides/slide81.xml" /><Relationship Id="rId2" Type="http://schemas.openxmlformats.org/officeDocument/2006/relationships/notesMaster" Target="../notesMasters/notesMaster1.xml" /></Relationships>
</file>

<file path=ppt/notesSlides/_rels/notesSlide82.xml.rels>&#65279;<?xml version="1.0" encoding="utf-8" standalone="yes"?><Relationships xmlns="http://schemas.openxmlformats.org/package/2006/relationships"><Relationship Id="rId1" Type="http://schemas.openxmlformats.org/officeDocument/2006/relationships/slide" Target="../slides/slide82.xml" /><Relationship Id="rId2" Type="http://schemas.openxmlformats.org/officeDocument/2006/relationships/notesMaster" Target="../notesMasters/notesMaster1.xml" /></Relationships>
</file>

<file path=ppt/notesSlides/_rels/notesSlide83.xml.rels>&#65279;<?xml version="1.0" encoding="utf-8" standalone="yes"?><Relationships xmlns="http://schemas.openxmlformats.org/package/2006/relationships"><Relationship Id="rId1" Type="http://schemas.openxmlformats.org/officeDocument/2006/relationships/slide" Target="../slides/slide83.xml" /><Relationship Id="rId2" Type="http://schemas.openxmlformats.org/officeDocument/2006/relationships/notesMaster" Target="../notesMasters/notesMaster1.xml" /></Relationships>
</file>

<file path=ppt/notesSlides/_rels/notesSlide84.xml.rels>&#65279;<?xml version="1.0" encoding="utf-8" standalone="yes"?><Relationships xmlns="http://schemas.openxmlformats.org/package/2006/relationships"><Relationship Id="rId1" Type="http://schemas.openxmlformats.org/officeDocument/2006/relationships/slide" Target="../slides/slide84.xml" /><Relationship Id="rId2" Type="http://schemas.openxmlformats.org/officeDocument/2006/relationships/notesMaster" Target="../notesMasters/notesMaster1.xml" /></Relationships>
</file>

<file path=ppt/notesSlides/_rels/notesSlide85.xml.rels>&#65279;<?xml version="1.0" encoding="utf-8" standalone="yes"?><Relationships xmlns="http://schemas.openxmlformats.org/package/2006/relationships"><Relationship Id="rId1" Type="http://schemas.openxmlformats.org/officeDocument/2006/relationships/slide" Target="../slides/slide85.xml" /><Relationship Id="rId2" Type="http://schemas.openxmlformats.org/officeDocument/2006/relationships/notesMaster" Target="../notesMasters/notesMaster1.xml" /></Relationships>
</file>

<file path=ppt/notesSlides/_rels/notesSlide86.xml.rels>&#65279;<?xml version="1.0" encoding="utf-8" standalone="yes"?><Relationships xmlns="http://schemas.openxmlformats.org/package/2006/relationships"><Relationship Id="rId1" Type="http://schemas.openxmlformats.org/officeDocument/2006/relationships/slide" Target="../slides/slide86.xml" /><Relationship Id="rId2" Type="http://schemas.openxmlformats.org/officeDocument/2006/relationships/notesMaster" Target="../notesMasters/notesMaster1.xml" /></Relationships>
</file>

<file path=ppt/notesSlides/_rels/notesSlide87.xml.rels>&#65279;<?xml version="1.0" encoding="utf-8" standalone="yes"?><Relationships xmlns="http://schemas.openxmlformats.org/package/2006/relationships"><Relationship Id="rId1" Type="http://schemas.openxmlformats.org/officeDocument/2006/relationships/slide" Target="../slides/slide87.xml" /><Relationship Id="rId2" Type="http://schemas.openxmlformats.org/officeDocument/2006/relationships/notesMaster" Target="../notesMasters/notesMaster1.xml" /></Relationships>
</file>

<file path=ppt/notesSlides/_rels/notesSlide88.xml.rels>&#65279;<?xml version="1.0" encoding="utf-8" standalone="yes"?><Relationships xmlns="http://schemas.openxmlformats.org/package/2006/relationships"><Relationship Id="rId1" Type="http://schemas.openxmlformats.org/officeDocument/2006/relationships/slide" Target="../slides/slide88.xml" /><Relationship Id="rId2" Type="http://schemas.openxmlformats.org/officeDocument/2006/relationships/notesMaster" Target="../notesMasters/notesMaster1.xml" /></Relationships>
</file>

<file path=ppt/notesSlides/_rels/notesSlide89.xml.rels>&#65279;<?xml version="1.0" encoding="utf-8" standalone="yes"?><Relationships xmlns="http://schemas.openxmlformats.org/package/2006/relationships"><Relationship Id="rId1" Type="http://schemas.openxmlformats.org/officeDocument/2006/relationships/slide" Target="../slides/slide89.xml" /><Relationship Id="rId2" Type="http://schemas.openxmlformats.org/officeDocument/2006/relationships/notesMaster" Target="../notesMasters/notesMaster1.xml" /></Relationships>
</file>

<file path=ppt/notesSlides/_rels/notesSlide90.xml.rels>&#65279;<?xml version="1.0" encoding="utf-8" standalone="yes"?><Relationships xmlns="http://schemas.openxmlformats.org/package/2006/relationships"><Relationship Id="rId1" Type="http://schemas.openxmlformats.org/officeDocument/2006/relationships/slide" Target="../slides/slide90.xml" /><Relationship Id="rId2" Type="http://schemas.openxmlformats.org/officeDocument/2006/relationships/notesMaster" Target="../notesMasters/notesMaster1.xml" /></Relationships>
</file>

<file path=ppt/notesSlides/_rels/notesSlide91.xml.rels>&#65279;<?xml version="1.0" encoding="utf-8" standalone="yes"?><Relationships xmlns="http://schemas.openxmlformats.org/package/2006/relationships"><Relationship Id="rId1" Type="http://schemas.openxmlformats.org/officeDocument/2006/relationships/slide" Target="../slides/slide91.xml" /><Relationship Id="rId2" Type="http://schemas.openxmlformats.org/officeDocument/2006/relationships/notesMaster" Target="../notesMasters/notesMaster1.xml" /></Relationships>
</file>

<file path=ppt/notesSlides/_rels/notesSlide92.xml.rels>&#65279;<?xml version="1.0" encoding="utf-8" standalone="yes"?><Relationships xmlns="http://schemas.openxmlformats.org/package/2006/relationships"><Relationship Id="rId1" Type="http://schemas.openxmlformats.org/officeDocument/2006/relationships/slide" Target="../slides/slide92.xml" /><Relationship Id="rId2" Type="http://schemas.openxmlformats.org/officeDocument/2006/relationships/notesMaster" Target="../notesMasters/notesMaster1.xml" /></Relationships>
</file>

<file path=ppt/notesSlides/_rels/notesSlide93.xml.rels>&#65279;<?xml version="1.0" encoding="utf-8" standalone="yes"?><Relationships xmlns="http://schemas.openxmlformats.org/package/2006/relationships"><Relationship Id="rId1" Type="http://schemas.openxmlformats.org/officeDocument/2006/relationships/slide" Target="../slides/slide93.xml" /><Relationship Id="rId2" Type="http://schemas.openxmlformats.org/officeDocument/2006/relationships/notesMaster" Target="../notesMasters/notesMaster1.xml" /></Relationships>
</file>

<file path=ppt/notesSlides/_rels/notesSlide94.xml.rels>&#65279;<?xml version="1.0" encoding="utf-8" standalone="yes"?><Relationships xmlns="http://schemas.openxmlformats.org/package/2006/relationships"><Relationship Id="rId1" Type="http://schemas.openxmlformats.org/officeDocument/2006/relationships/slide" Target="../slides/slide94.xml" /><Relationship Id="rId2" Type="http://schemas.openxmlformats.org/officeDocument/2006/relationships/notesMaster" Target="../notesMasters/notesMaster1.xml" /></Relationships>
</file>

<file path=ppt/notesSlides/_rels/notesSlide95.xml.rels>&#65279;<?xml version="1.0" encoding="utf-8" standalone="yes"?><Relationships xmlns="http://schemas.openxmlformats.org/package/2006/relationships"><Relationship Id="rId1" Type="http://schemas.openxmlformats.org/officeDocument/2006/relationships/slide" Target="../slides/slide95.xml" /><Relationship Id="rId2" Type="http://schemas.openxmlformats.org/officeDocument/2006/relationships/notesMaster" Target="../notesMasters/notesMaster1.xml" /></Relationships>
</file>

<file path=ppt/notesSlides/_rels/notesSlide96.xml.rels>&#65279;<?xml version="1.0" encoding="utf-8" standalone="yes"?><Relationships xmlns="http://schemas.openxmlformats.org/package/2006/relationships"><Relationship Id="rId1" Type="http://schemas.openxmlformats.org/officeDocument/2006/relationships/slide" Target="../slides/slide96.xml" /><Relationship Id="rId2" Type="http://schemas.openxmlformats.org/officeDocument/2006/relationships/notesMaster" Target="../notesMasters/notesMaster1.xml" /></Relationships>
</file>

<file path=ppt/notesSlides/_rels/notesSlide97.xml.rels>&#65279;<?xml version="1.0" encoding="utf-8" standalone="yes"?><Relationships xmlns="http://schemas.openxmlformats.org/package/2006/relationships"><Relationship Id="rId1" Type="http://schemas.openxmlformats.org/officeDocument/2006/relationships/slide" Target="../slides/slide97.xml" /><Relationship Id="rId2" Type="http://schemas.openxmlformats.org/officeDocument/2006/relationships/notesMaster" Target="../notesMasters/notesMaster1.xml" /></Relationships>
</file>

<file path=ppt/notesSlides/_rels/notesSlide98.xml.rels>&#65279;<?xml version="1.0" encoding="utf-8" standalone="yes"?><Relationships xmlns="http://schemas.openxmlformats.org/package/2006/relationships"><Relationship Id="rId1" Type="http://schemas.openxmlformats.org/officeDocument/2006/relationships/slide" Target="../slides/slide98.xml" /><Relationship Id="rId2" Type="http://schemas.openxmlformats.org/officeDocument/2006/relationships/notesMaster" Target="../notesMasters/notesMaster1.xml" /></Relationships>
</file>

<file path=ppt/notesSlides/_rels/notesSlide99.xml.rels>&#65279;<?xml version="1.0" encoding="utf-8" standalone="yes"?><Relationships xmlns="http://schemas.openxmlformats.org/package/2006/relationships"><Relationship Id="rId1" Type="http://schemas.openxmlformats.org/officeDocument/2006/relationships/slide" Target="../slides/slide99.xml" /><Relationship Id="rId2" Type="http://schemas.openxmlformats.org/officeDocument/2006/relationships/notesMaster" Target="../notesMasters/notesMaster1.xml" /></Relationships>
</file>

<file path=ppt/notesSlides/_rels/notesSlide100.xml.rels>&#65279;<?xml version="1.0" encoding="utf-8" standalone="yes"?><Relationships xmlns="http://schemas.openxmlformats.org/package/2006/relationships"><Relationship Id="rId1" Type="http://schemas.openxmlformats.org/officeDocument/2006/relationships/slide" Target="../slides/slide100.xml" /><Relationship Id="rId2" Type="http://schemas.openxmlformats.org/officeDocument/2006/relationships/notesMaster" Target="../notesMasters/notesMaster1.xml" /></Relationships>
</file>

<file path=ppt/notesSlides/_rels/notesSlide101.xml.rels>&#65279;<?xml version="1.0" encoding="utf-8" standalone="yes"?><Relationships xmlns="http://schemas.openxmlformats.org/package/2006/relationships"><Relationship Id="rId1" Type="http://schemas.openxmlformats.org/officeDocument/2006/relationships/slide" Target="../slides/slide101.xml" /><Relationship Id="rId2" Type="http://schemas.openxmlformats.org/officeDocument/2006/relationships/notesMaster" Target="../notesMasters/notesMaster1.xml" /></Relationships>
</file>

<file path=ppt/notesSlides/_rels/notesSlide102.xml.rels>&#65279;<?xml version="1.0" encoding="utf-8" standalone="yes"?><Relationships xmlns="http://schemas.openxmlformats.org/package/2006/relationships"><Relationship Id="rId1" Type="http://schemas.openxmlformats.org/officeDocument/2006/relationships/slide" Target="../slides/slide102.xml" /><Relationship Id="rId2" Type="http://schemas.openxmlformats.org/officeDocument/2006/relationships/notesMaster" Target="../notesMasters/notesMaster1.xml" /></Relationships>
</file>

<file path=ppt/notesSlides/_rels/notesSlide103.xml.rels>&#65279;<?xml version="1.0" encoding="utf-8" standalone="yes"?><Relationships xmlns="http://schemas.openxmlformats.org/package/2006/relationships"><Relationship Id="rId1" Type="http://schemas.openxmlformats.org/officeDocument/2006/relationships/slide" Target="../slides/slide103.xml" /><Relationship Id="rId2" Type="http://schemas.openxmlformats.org/officeDocument/2006/relationships/notesMaster" Target="../notesMasters/notesMaster1.xml" /></Relationships>
</file>

<file path=ppt/notesSlides/_rels/notesSlide104.xml.rels>&#65279;<?xml version="1.0" encoding="utf-8" standalone="yes"?><Relationships xmlns="http://schemas.openxmlformats.org/package/2006/relationships"><Relationship Id="rId1" Type="http://schemas.openxmlformats.org/officeDocument/2006/relationships/slide" Target="../slides/slide104.xml" /><Relationship Id="rId2" Type="http://schemas.openxmlformats.org/officeDocument/2006/relationships/notesMaster" Target="../notesMasters/notesMaster1.xml" /></Relationships>
</file>

<file path=ppt/notesSlides/_rels/notesSlide105.xml.rels>&#65279;<?xml version="1.0" encoding="utf-8" standalone="yes"?><Relationships xmlns="http://schemas.openxmlformats.org/package/2006/relationships"><Relationship Id="rId1" Type="http://schemas.openxmlformats.org/officeDocument/2006/relationships/slide" Target="../slides/slide105.xml" /><Relationship Id="rId2" Type="http://schemas.openxmlformats.org/officeDocument/2006/relationships/notesMaster" Target="../notesMasters/notesMaster1.xml" /></Relationships>
</file>

<file path=ppt/notesSlides/_rels/notesSlide106.xml.rels>&#65279;<?xml version="1.0" encoding="utf-8" standalone="yes"?><Relationships xmlns="http://schemas.openxmlformats.org/package/2006/relationships"><Relationship Id="rId1" Type="http://schemas.openxmlformats.org/officeDocument/2006/relationships/slide" Target="../slides/slide106.xml" /><Relationship Id="rId2" Type="http://schemas.openxmlformats.org/officeDocument/2006/relationships/notesMaster" Target="../notesMasters/notesMaster1.xml" /></Relationships>
</file>

<file path=ppt/notesSlides/_rels/notesSlide107.xml.rels>&#65279;<?xml version="1.0" encoding="utf-8" standalone="yes"?><Relationships xmlns="http://schemas.openxmlformats.org/package/2006/relationships"><Relationship Id="rId1" Type="http://schemas.openxmlformats.org/officeDocument/2006/relationships/slide" Target="../slides/slide107.xml" /><Relationship Id="rId2" Type="http://schemas.openxmlformats.org/officeDocument/2006/relationships/notesMaster" Target="../notesMasters/notesMaster1.xml" /></Relationships>
</file>

<file path=ppt/notesSlides/_rels/notesSlide108.xml.rels>&#65279;<?xml version="1.0" encoding="utf-8" standalone="yes"?><Relationships xmlns="http://schemas.openxmlformats.org/package/2006/relationships"><Relationship Id="rId1" Type="http://schemas.openxmlformats.org/officeDocument/2006/relationships/slide" Target="../slides/slide108.xml" /><Relationship Id="rId2" Type="http://schemas.openxmlformats.org/officeDocument/2006/relationships/notesMaster" Target="../notesMasters/notesMaster1.xml" /></Relationships>
</file>

<file path=ppt/notesSlides/_rels/notesSlide109.xml.rels>&#65279;<?xml version="1.0" encoding="utf-8" standalone="yes"?><Relationships xmlns="http://schemas.openxmlformats.org/package/2006/relationships"><Relationship Id="rId1" Type="http://schemas.openxmlformats.org/officeDocument/2006/relationships/slide" Target="../slides/slide109.xml" /><Relationship Id="rId2" Type="http://schemas.openxmlformats.org/officeDocument/2006/relationships/notesMaster" Target="../notesMasters/notesMaster1.xml" /></Relationships>
</file>

<file path=ppt/notesSlides/_rels/notesSlide110.xml.rels>&#65279;<?xml version="1.0" encoding="utf-8" standalone="yes"?><Relationships xmlns="http://schemas.openxmlformats.org/package/2006/relationships"><Relationship Id="rId1" Type="http://schemas.openxmlformats.org/officeDocument/2006/relationships/slide" Target="../slides/slide110.xml" /><Relationship Id="rId2" Type="http://schemas.openxmlformats.org/officeDocument/2006/relationships/notesMaster" Target="../notesMasters/notesMaster1.xml" /></Relationships>
</file>

<file path=ppt/notesSlides/_rels/notesSlide111.xml.rels>&#65279;<?xml version="1.0" encoding="utf-8" standalone="yes"?><Relationships xmlns="http://schemas.openxmlformats.org/package/2006/relationships"><Relationship Id="rId1" Type="http://schemas.openxmlformats.org/officeDocument/2006/relationships/slide" Target="../slides/slide111.xml" /><Relationship Id="rId2" Type="http://schemas.openxmlformats.org/officeDocument/2006/relationships/notesMaster" Target="../notesMasters/notesMaster1.xml" /></Relationships>
</file>

<file path=ppt/notesSlides/_rels/notesSlide112.xml.rels>&#65279;<?xml version="1.0" encoding="utf-8" standalone="yes"?><Relationships xmlns="http://schemas.openxmlformats.org/package/2006/relationships"><Relationship Id="rId1" Type="http://schemas.openxmlformats.org/officeDocument/2006/relationships/slide" Target="../slides/slide112.xml" /><Relationship Id="rId2" Type="http://schemas.openxmlformats.org/officeDocument/2006/relationships/notesMaster" Target="../notesMasters/notesMaster1.xml" /></Relationships>
</file>

<file path=ppt/notesSlides/_rels/notesSlide113.xml.rels>&#65279;<?xml version="1.0" encoding="utf-8" standalone="yes"?><Relationships xmlns="http://schemas.openxmlformats.org/package/2006/relationships"><Relationship Id="rId1" Type="http://schemas.openxmlformats.org/officeDocument/2006/relationships/slide" Target="../slides/slide113.xml" /><Relationship Id="rId2" Type="http://schemas.openxmlformats.org/officeDocument/2006/relationships/notesMaster" Target="../notesMasters/notesMaster1.xml" /></Relationships>
</file>

<file path=ppt/notesSlides/_rels/notesSlide114.xml.rels>&#65279;<?xml version="1.0" encoding="utf-8" standalone="yes"?><Relationships xmlns="http://schemas.openxmlformats.org/package/2006/relationships"><Relationship Id="rId1" Type="http://schemas.openxmlformats.org/officeDocument/2006/relationships/slide" Target="../slides/slide114.xml" /><Relationship Id="rId2" Type="http://schemas.openxmlformats.org/officeDocument/2006/relationships/notesMaster" Target="../notesMasters/notesMaster1.xml" /></Relationships>
</file>

<file path=ppt/notesSlides/_rels/notesSlide115.xml.rels>&#65279;<?xml version="1.0" encoding="utf-8" standalone="yes"?><Relationships xmlns="http://schemas.openxmlformats.org/package/2006/relationships"><Relationship Id="rId1" Type="http://schemas.openxmlformats.org/officeDocument/2006/relationships/slide" Target="../slides/slide115.xml" /><Relationship Id="rId2" Type="http://schemas.openxmlformats.org/officeDocument/2006/relationships/notesMaster" Target="../notesMasters/notesMaster1.xml" /></Relationships>
</file>

<file path=ppt/notesSlides/_rels/notesSlide116.xml.rels>&#65279;<?xml version="1.0" encoding="utf-8" standalone="yes"?><Relationships xmlns="http://schemas.openxmlformats.org/package/2006/relationships"><Relationship Id="rId1" Type="http://schemas.openxmlformats.org/officeDocument/2006/relationships/slide" Target="../slides/slide116.xml" /><Relationship Id="rId2" Type="http://schemas.openxmlformats.org/officeDocument/2006/relationships/notesMaster" Target="../notesMasters/notesMaster1.xml" /></Relationships>
</file>

<file path=ppt/notesSlides/_rels/notesSlide117.xml.rels>&#65279;<?xml version="1.0" encoding="utf-8" standalone="yes"?><Relationships xmlns="http://schemas.openxmlformats.org/package/2006/relationships"><Relationship Id="rId1" Type="http://schemas.openxmlformats.org/officeDocument/2006/relationships/slide" Target="../slides/slide117.xml" /><Relationship Id="rId2" Type="http://schemas.openxmlformats.org/officeDocument/2006/relationships/notesMaster" Target="../notesMasters/notesMaster1.xml" /></Relationships>
</file>

<file path=ppt/notesSlides/_rels/notesSlide118.xml.rels>&#65279;<?xml version="1.0" encoding="utf-8" standalone="yes"?><Relationships xmlns="http://schemas.openxmlformats.org/package/2006/relationships"><Relationship Id="rId1" Type="http://schemas.openxmlformats.org/officeDocument/2006/relationships/slide" Target="../slides/slide118.xml" /><Relationship Id="rId2" Type="http://schemas.openxmlformats.org/officeDocument/2006/relationships/notesMaster" Target="../notesMasters/notesMaster1.xml" /></Relationships>
</file>

<file path=ppt/notesSlides/_rels/notesSlide119.xml.rels>&#65279;<?xml version="1.0" encoding="utf-8" standalone="yes"?><Relationships xmlns="http://schemas.openxmlformats.org/package/2006/relationships"><Relationship Id="rId1" Type="http://schemas.openxmlformats.org/officeDocument/2006/relationships/slide" Target="../slides/slide119.xml" /><Relationship Id="rId2" Type="http://schemas.openxmlformats.org/officeDocument/2006/relationships/notesMaster" Target="../notesMasters/notesMaster1.xml" /></Relationships>
</file>

<file path=ppt/notesSlides/_rels/notesSlide120.xml.rels>&#65279;<?xml version="1.0" encoding="utf-8" standalone="yes"?><Relationships xmlns="http://schemas.openxmlformats.org/package/2006/relationships"><Relationship Id="rId1" Type="http://schemas.openxmlformats.org/officeDocument/2006/relationships/slide" Target="../slides/slide120.xml" /><Relationship Id="rId2" Type="http://schemas.openxmlformats.org/officeDocument/2006/relationships/notesMaster" Target="../notesMasters/notesMaster1.xml" /></Relationships>
</file>

<file path=ppt/notesSlides/_rels/notesSlide121.xml.rels>&#65279;<?xml version="1.0" encoding="utf-8" standalone="yes"?><Relationships xmlns="http://schemas.openxmlformats.org/package/2006/relationships"><Relationship Id="rId1" Type="http://schemas.openxmlformats.org/officeDocument/2006/relationships/slide" Target="../slides/slide121.xml" /><Relationship Id="rId2" Type="http://schemas.openxmlformats.org/officeDocument/2006/relationships/notesMaster" Target="../notesMasters/notesMaster1.xml" /></Relationships>
</file>

<file path=ppt/notesSlides/_rels/notesSlide122.xml.rels>&#65279;<?xml version="1.0" encoding="utf-8" standalone="yes"?><Relationships xmlns="http://schemas.openxmlformats.org/package/2006/relationships"><Relationship Id="rId1" Type="http://schemas.openxmlformats.org/officeDocument/2006/relationships/slide" Target="../slides/slide122.xml" /><Relationship Id="rId2" Type="http://schemas.openxmlformats.org/officeDocument/2006/relationships/notesMaster" Target="../notesMasters/notesMaster1.xml" /></Relationships>
</file>

<file path=ppt/notesSlides/_rels/notesSlide123.xml.rels>&#65279;<?xml version="1.0" encoding="utf-8" standalone="yes"?><Relationships xmlns="http://schemas.openxmlformats.org/package/2006/relationships"><Relationship Id="rId1" Type="http://schemas.openxmlformats.org/officeDocument/2006/relationships/slide" Target="../slides/slide123.xml" /><Relationship Id="rId2" Type="http://schemas.openxmlformats.org/officeDocument/2006/relationships/notesMaster" Target="../notesMasters/notesMaster1.xml" /></Relationships>
</file>

<file path=ppt/notesSlides/_rels/notesSlide124.xml.rels>&#65279;<?xml version="1.0" encoding="utf-8" standalone="yes"?><Relationships xmlns="http://schemas.openxmlformats.org/package/2006/relationships"><Relationship Id="rId1" Type="http://schemas.openxmlformats.org/officeDocument/2006/relationships/slide" Target="../slides/slide124.xml" /><Relationship Id="rId2" Type="http://schemas.openxmlformats.org/officeDocument/2006/relationships/notesMaster" Target="../notesMasters/notesMaster1.xml" /></Relationships>
</file>

<file path=ppt/notesSlides/_rels/notesSlide125.xml.rels>&#65279;<?xml version="1.0" encoding="utf-8" standalone="yes"?><Relationships xmlns="http://schemas.openxmlformats.org/package/2006/relationships"><Relationship Id="rId1" Type="http://schemas.openxmlformats.org/officeDocument/2006/relationships/slide" Target="../slides/slide125.xml" /><Relationship Id="rId2" Type="http://schemas.openxmlformats.org/officeDocument/2006/relationships/notesMaster" Target="../notesMasters/notesMaster1.xml" /></Relationships>
</file>

<file path=ppt/notesSlides/_rels/notesSlide126.xml.rels>&#65279;<?xml version="1.0" encoding="utf-8" standalone="yes"?><Relationships xmlns="http://schemas.openxmlformats.org/package/2006/relationships"><Relationship Id="rId1" Type="http://schemas.openxmlformats.org/officeDocument/2006/relationships/slide" Target="../slides/slide126.xml" /><Relationship Id="rId2" Type="http://schemas.openxmlformats.org/officeDocument/2006/relationships/notesMaster" Target="../notesMasters/notesMaster1.xml" /></Relationships>
</file>

<file path=ppt/notesSlides/_rels/notesSlide127.xml.rels>&#65279;<?xml version="1.0" encoding="utf-8" standalone="yes"?><Relationships xmlns="http://schemas.openxmlformats.org/package/2006/relationships"><Relationship Id="rId1" Type="http://schemas.openxmlformats.org/officeDocument/2006/relationships/slide" Target="../slides/slide127.xml" /><Relationship Id="rId2" Type="http://schemas.openxmlformats.org/officeDocument/2006/relationships/notesMaster" Target="../notesMasters/notesMaster1.xml" /></Relationships>
</file>

<file path=ppt/notesSlides/_rels/notesSlide128.xml.rels>&#65279;<?xml version="1.0" encoding="utf-8" standalone="yes"?><Relationships xmlns="http://schemas.openxmlformats.org/package/2006/relationships"><Relationship Id="rId1" Type="http://schemas.openxmlformats.org/officeDocument/2006/relationships/slide" Target="../slides/slide128.xml" /><Relationship Id="rId2" Type="http://schemas.openxmlformats.org/officeDocument/2006/relationships/notesMaster" Target="../notesMasters/notesMaster1.xml" /></Relationships>
</file>

<file path=ppt/notesSlides/_rels/notesSlide129.xml.rels>&#65279;<?xml version="1.0" encoding="utf-8" standalone="yes"?><Relationships xmlns="http://schemas.openxmlformats.org/package/2006/relationships"><Relationship Id="rId1" Type="http://schemas.openxmlformats.org/officeDocument/2006/relationships/slide" Target="../slides/slide129.xml" /><Relationship Id="rId2" Type="http://schemas.openxmlformats.org/officeDocument/2006/relationships/notesMaster" Target="../notesMasters/notesMaster1.xml" /></Relationships>
</file>

<file path=ppt/notesSlides/_rels/notesSlide130.xml.rels>&#65279;<?xml version="1.0" encoding="utf-8" standalone="yes"?><Relationships xmlns="http://schemas.openxmlformats.org/package/2006/relationships"><Relationship Id="rId1" Type="http://schemas.openxmlformats.org/officeDocument/2006/relationships/slide" Target="../slides/slide130.xml" /><Relationship Id="rId2" Type="http://schemas.openxmlformats.org/officeDocument/2006/relationships/notesMaster" Target="../notesMasters/notesMaster1.xml" /></Relationships>
</file>

<file path=ppt/notesSlides/_rels/notesSlide131.xml.rels>&#65279;<?xml version="1.0" encoding="utf-8" standalone="yes"?><Relationships xmlns="http://schemas.openxmlformats.org/package/2006/relationships"><Relationship Id="rId1" Type="http://schemas.openxmlformats.org/officeDocument/2006/relationships/slide" Target="../slides/slide131.xml" /><Relationship Id="rId2" Type="http://schemas.openxmlformats.org/officeDocument/2006/relationships/notesMaster" Target="../notesMasters/notesMaster1.xml" /></Relationships>
</file>

<file path=ppt/notesSlides/_rels/notesSlide132.xml.rels>&#65279;<?xml version="1.0" encoding="utf-8" standalone="yes"?><Relationships xmlns="http://schemas.openxmlformats.org/package/2006/relationships"><Relationship Id="rId1" Type="http://schemas.openxmlformats.org/officeDocument/2006/relationships/slide" Target="../slides/slide132.xml" /><Relationship Id="rId2" Type="http://schemas.openxmlformats.org/officeDocument/2006/relationships/notesMaster" Target="../notesMasters/notesMaster1.xml" /></Relationships>
</file>

<file path=ppt/notesSlides/_rels/notesSlide133.xml.rels>&#65279;<?xml version="1.0" encoding="utf-8" standalone="yes"?><Relationships xmlns="http://schemas.openxmlformats.org/package/2006/relationships"><Relationship Id="rId1" Type="http://schemas.openxmlformats.org/officeDocument/2006/relationships/slide" Target="../slides/slide133.xml" /><Relationship Id="rId2" Type="http://schemas.openxmlformats.org/officeDocument/2006/relationships/notesMaster" Target="../notesMasters/notesMaster1.xml" /></Relationships>
</file>

<file path=ppt/notesSlides/_rels/notesSlide134.xml.rels>&#65279;<?xml version="1.0" encoding="utf-8" standalone="yes"?><Relationships xmlns="http://schemas.openxmlformats.org/package/2006/relationships"><Relationship Id="rId1" Type="http://schemas.openxmlformats.org/officeDocument/2006/relationships/slide" Target="../slides/slide134.xml" /><Relationship Id="rId2" Type="http://schemas.openxmlformats.org/officeDocument/2006/relationships/notesMaster" Target="../notesMasters/notesMaster1.xml" /></Relationships>
</file>

<file path=ppt/notesSlides/_rels/notesSlide135.xml.rels>&#65279;<?xml version="1.0" encoding="utf-8" standalone="yes"?><Relationships xmlns="http://schemas.openxmlformats.org/package/2006/relationships"><Relationship Id="rId1" Type="http://schemas.openxmlformats.org/officeDocument/2006/relationships/slide" Target="../slides/slide135.xml" /><Relationship Id="rId2" Type="http://schemas.openxmlformats.org/officeDocument/2006/relationships/notesMaster" Target="../notesMasters/notesMaster1.xml" /></Relationships>
</file>

<file path=ppt/notesSlides/_rels/notesSlide136.xml.rels>&#65279;<?xml version="1.0" encoding="utf-8" standalone="yes"?><Relationships xmlns="http://schemas.openxmlformats.org/package/2006/relationships"><Relationship Id="rId1" Type="http://schemas.openxmlformats.org/officeDocument/2006/relationships/slide" Target="../slides/slide136.xml" /><Relationship Id="rId2" Type="http://schemas.openxmlformats.org/officeDocument/2006/relationships/notesMaster" Target="../notesMasters/notesMaster1.xml" /></Relationships>
</file>

<file path=ppt/notesSlides/_rels/notesSlide137.xml.rels>&#65279;<?xml version="1.0" encoding="utf-8" standalone="yes"?><Relationships xmlns="http://schemas.openxmlformats.org/package/2006/relationships"><Relationship Id="rId1" Type="http://schemas.openxmlformats.org/officeDocument/2006/relationships/slide" Target="../slides/slide137.xml" /><Relationship Id="rId2" Type="http://schemas.openxmlformats.org/officeDocument/2006/relationships/notesMaster" Target="../notesMasters/notesMaster1.xml" /></Relationships>
</file>

<file path=ppt/notesSlides/_rels/notesSlide138.xml.rels>&#65279;<?xml version="1.0" encoding="utf-8" standalone="yes"?><Relationships xmlns="http://schemas.openxmlformats.org/package/2006/relationships"><Relationship Id="rId1" Type="http://schemas.openxmlformats.org/officeDocument/2006/relationships/slide" Target="../slides/slide138.xml" /><Relationship Id="rId2" Type="http://schemas.openxmlformats.org/officeDocument/2006/relationships/notesMaster" Target="../notesMasters/notesMaster1.xml" /></Relationships>
</file>

<file path=ppt/notesSlides/_rels/notesSlide139.xml.rels>&#65279;<?xml version="1.0" encoding="utf-8" standalone="yes"?><Relationships xmlns="http://schemas.openxmlformats.org/package/2006/relationships"><Relationship Id="rId1" Type="http://schemas.openxmlformats.org/officeDocument/2006/relationships/slide" Target="../slides/slide139.xml" /><Relationship Id="rId2" Type="http://schemas.openxmlformats.org/officeDocument/2006/relationships/notesMaster" Target="../notesMasters/notesMaster1.xml" /></Relationships>
</file>

<file path=ppt/notesSlides/_rels/notesSlide140.xml.rels>&#65279;<?xml version="1.0" encoding="utf-8" standalone="yes"?><Relationships xmlns="http://schemas.openxmlformats.org/package/2006/relationships"><Relationship Id="rId1" Type="http://schemas.openxmlformats.org/officeDocument/2006/relationships/slide" Target="../slides/slide140.xml" /><Relationship Id="rId2" Type="http://schemas.openxmlformats.org/officeDocument/2006/relationships/notesMaster" Target="../notesMasters/notesMaster1.xml" /></Relationships>
</file>

<file path=ppt/notesSlides/_rels/notesSlide141.xml.rels>&#65279;<?xml version="1.0" encoding="utf-8" standalone="yes"?><Relationships xmlns="http://schemas.openxmlformats.org/package/2006/relationships"><Relationship Id="rId1" Type="http://schemas.openxmlformats.org/officeDocument/2006/relationships/slide" Target="../slides/slide141.xml" /><Relationship Id="rId2" Type="http://schemas.openxmlformats.org/officeDocument/2006/relationships/notesMaster" Target="../notesMasters/notesMaster1.xml" /></Relationships>
</file>

<file path=ppt/notesSlides/_rels/notesSlide142.xml.rels>&#65279;<?xml version="1.0" encoding="utf-8" standalone="yes"?><Relationships xmlns="http://schemas.openxmlformats.org/package/2006/relationships"><Relationship Id="rId1" Type="http://schemas.openxmlformats.org/officeDocument/2006/relationships/slide" Target="../slides/slide142.xml" /><Relationship Id="rId2" Type="http://schemas.openxmlformats.org/officeDocument/2006/relationships/notesMaster" Target="../notesMasters/notesMaster1.xml" /></Relationships>
</file>

<file path=ppt/notesSlides/_rels/notesSlide143.xml.rels>&#65279;<?xml version="1.0" encoding="utf-8" standalone="yes"?><Relationships xmlns="http://schemas.openxmlformats.org/package/2006/relationships"><Relationship Id="rId1" Type="http://schemas.openxmlformats.org/officeDocument/2006/relationships/slide" Target="../slides/slide143.xml" /><Relationship Id="rId2" Type="http://schemas.openxmlformats.org/officeDocument/2006/relationships/notesMaster" Target="../notesMasters/notesMaster1.xml" /></Relationships>
</file>

<file path=ppt/notesSlides/_rels/notesSlide144.xml.rels>&#65279;<?xml version="1.0" encoding="utf-8" standalone="yes"?><Relationships xmlns="http://schemas.openxmlformats.org/package/2006/relationships"><Relationship Id="rId1" Type="http://schemas.openxmlformats.org/officeDocument/2006/relationships/slide" Target="../slides/slide144.xml" /><Relationship Id="rId2" Type="http://schemas.openxmlformats.org/officeDocument/2006/relationships/notesMaster" Target="../notesMasters/notesMaster1.xml" /></Relationships>
</file>

<file path=ppt/notesSlides/_rels/notesSlide145.xml.rels>&#65279;<?xml version="1.0" encoding="utf-8" standalone="yes"?><Relationships xmlns="http://schemas.openxmlformats.org/package/2006/relationships"><Relationship Id="rId1" Type="http://schemas.openxmlformats.org/officeDocument/2006/relationships/slide" Target="../slides/slide145.xml" /><Relationship Id="rId2" Type="http://schemas.openxmlformats.org/officeDocument/2006/relationships/notesMaster" Target="../notesMasters/notesMaster1.xml" /></Relationships>
</file>

<file path=ppt/notesSlides/_rels/notesSlide146.xml.rels>&#65279;<?xml version="1.0" encoding="utf-8" standalone="yes"?><Relationships xmlns="http://schemas.openxmlformats.org/package/2006/relationships"><Relationship Id="rId1" Type="http://schemas.openxmlformats.org/officeDocument/2006/relationships/slide" Target="../slides/slide146.xml" /><Relationship Id="rId2" Type="http://schemas.openxmlformats.org/officeDocument/2006/relationships/notesMaster" Target="../notesMasters/notesMaster1.xml" /></Relationships>
</file>

<file path=ppt/notesSlides/_rels/notesSlide147.xml.rels>&#65279;<?xml version="1.0" encoding="utf-8" standalone="yes"?><Relationships xmlns="http://schemas.openxmlformats.org/package/2006/relationships"><Relationship Id="rId1" Type="http://schemas.openxmlformats.org/officeDocument/2006/relationships/slide" Target="../slides/slide147.xml" /><Relationship Id="rId2" Type="http://schemas.openxmlformats.org/officeDocument/2006/relationships/notesMaster" Target="../notesMasters/notesMaster1.xml" /></Relationships>
</file>

<file path=ppt/notesSlides/_rels/notesSlide148.xml.rels>&#65279;<?xml version="1.0" encoding="utf-8" standalone="yes"?><Relationships xmlns="http://schemas.openxmlformats.org/package/2006/relationships"><Relationship Id="rId1" Type="http://schemas.openxmlformats.org/officeDocument/2006/relationships/slide" Target="../slides/slide148.xml" /><Relationship Id="rId2" Type="http://schemas.openxmlformats.org/officeDocument/2006/relationships/notesMaster" Target="../notesMasters/notesMaster1.xml" /></Relationships>
</file>

<file path=ppt/notesSlides/_rels/notesSlide149.xml.rels>&#65279;<?xml version="1.0" encoding="utf-8" standalone="yes"?><Relationships xmlns="http://schemas.openxmlformats.org/package/2006/relationships"><Relationship Id="rId1" Type="http://schemas.openxmlformats.org/officeDocument/2006/relationships/slide" Target="../slides/slide149.xml" /><Relationship Id="rId2" Type="http://schemas.openxmlformats.org/officeDocument/2006/relationships/notesMaster" Target="../notesMasters/notesMaster1.xml" /></Relationships>
</file>

<file path=ppt/notesSlides/_rels/notesSlide150.xml.rels>&#65279;<?xml version="1.0" encoding="utf-8" standalone="yes"?><Relationships xmlns="http://schemas.openxmlformats.org/package/2006/relationships"><Relationship Id="rId1" Type="http://schemas.openxmlformats.org/officeDocument/2006/relationships/slide" Target="../slides/slide150.xml" /><Relationship Id="rId2" Type="http://schemas.openxmlformats.org/officeDocument/2006/relationships/notesMaster" Target="../notesMasters/notesMaster1.xml" /></Relationships>
</file>

<file path=ppt/notesSlides/_rels/notesSlide151.xml.rels>&#65279;<?xml version="1.0" encoding="utf-8" standalone="yes"?><Relationships xmlns="http://schemas.openxmlformats.org/package/2006/relationships"><Relationship Id="rId1" Type="http://schemas.openxmlformats.org/officeDocument/2006/relationships/slide" Target="../slides/slide151.xml" /><Relationship Id="rId2" Type="http://schemas.openxmlformats.org/officeDocument/2006/relationships/notesMaster" Target="../notesMasters/notesMaster1.xml" /></Relationships>
</file>

<file path=ppt/notesSlides/_rels/notesSlide152.xml.rels>&#65279;<?xml version="1.0" encoding="utf-8" standalone="yes"?><Relationships xmlns="http://schemas.openxmlformats.org/package/2006/relationships"><Relationship Id="rId1" Type="http://schemas.openxmlformats.org/officeDocument/2006/relationships/slide" Target="../slides/slide152.xml" /><Relationship Id="rId2" Type="http://schemas.openxmlformats.org/officeDocument/2006/relationships/notesMaster" Target="../notesMasters/notesMaster1.xml" /></Relationships>
</file>

<file path=ppt/notesSlides/_rels/notesSlide153.xml.rels>&#65279;<?xml version="1.0" encoding="utf-8" standalone="yes"?><Relationships xmlns="http://schemas.openxmlformats.org/package/2006/relationships"><Relationship Id="rId1" Type="http://schemas.openxmlformats.org/officeDocument/2006/relationships/slide" Target="../slides/slide153.xml" /><Relationship Id="rId2" Type="http://schemas.openxmlformats.org/officeDocument/2006/relationships/notesMaster" Target="../notesMasters/notesMaster1.xml" /></Relationships>
</file>

<file path=ppt/notesSlides/_rels/notesSlide154.xml.rels>&#65279;<?xml version="1.0" encoding="utf-8" standalone="yes"?><Relationships xmlns="http://schemas.openxmlformats.org/package/2006/relationships"><Relationship Id="rId1" Type="http://schemas.openxmlformats.org/officeDocument/2006/relationships/slide" Target="../slides/slide154.xml" /><Relationship Id="rId2"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Teaching goal: Introduce the research question and the scope of the presentation.</a:t>
            </a:r>
          </a:p>
          <a:p>
            <a:endParaRPr/>
          </a:p>
          <a:p>
            <a:r>
              <a:t>Walk through: This study asks how sex, APOE genotype, and brain cell type shape mitochondrial gene-expression changes in Alzheimer’s disease. The analysis uses cell-level differential expression, pathway analysis, and KDA. ROSMAP provides the primary results, while SEA-AD provides supplemental human validation. The presentation develops 16 biological findings. Mouse experiments remain a possible future validation step.</a:t>
            </a:r>
          </a:p>
          <a:p>
            <a:endParaRPr/>
          </a:p>
          <a:p>
            <a:r>
              <a:t>Scientific boundary: The evidence is transcriptomic and exploratory. Separate results within sex and APOE groups do not establish a statistical interaction, and RNA abundance does not directly measure mitochondrial function.</a:t>
            </a:r>
          </a:p>
          <a:p>
            <a:endParaRPr/>
          </a:p>
          <a:p>
            <a:r>
              <a:t>Transition: Begin Part 1 with the study overview and the concepts needed to interpret the results.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Part 1, study overview and key concepts.</a:t>
            </a:r>
          </a:p>
          <a:p>
            <a:endParaRPr/>
          </a:p>
          <a:p>
            <a:r>
              <a:t>Walk through: Part 1 presents the overall workflow and the roles of the two human cohorts. It then introduces the mitochondrial gene sets and MitoCarta pathway hierarchy. The section closes by defining contrast, category, and DEG occurrence, the analysis units used later in the presentation.</a:t>
            </a:r>
          </a:p>
          <a:p>
            <a:endParaRPr/>
          </a:p>
          <a:p>
            <a:r>
              <a:t>Scientific boundary: This section defines the study design and analysis inputs. It does not yet present the main biological findings.</a:t>
            </a:r>
          </a:p>
          <a:p>
            <a:endParaRPr/>
          </a:p>
          <a:p>
            <a:r>
              <a:t>Transition: Begin with the overall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Teaching goal: Show how the study moves from cell-level gene expression to human validation.</a:t>
            </a:r>
          </a:p>
          <a:p>
            <a:endParaRPr/>
          </a:p>
          <a:p>
            <a:r>
              <a:t>Walk through: First, DEG analysis identifies genes with higher or lower RNA abundance in Alzheimer’s disease within fine cell types and sex and APOE groups. Second, pathway analysis summarizes the mitochondrial processes represented among the DEGs. Third, KDA uses gene networks to nominate genes connected to MitoCarta MT DEGs. Fourth, human validation compares the ROSMAP results with SEA-AD and direct broad-cell analyses. Mouse validation would test selected candidates and mitochondrial function in targeted models.</a:t>
            </a:r>
          </a:p>
          <a:p>
            <a:endParaRPr/>
          </a:p>
          <a:p>
            <a:r>
              <a:t>Scientific boundary: The first four stages summarize analyses presented in this deck. Mouse validation is a proposed next step and does not contribute evidence to the current findings.</a:t>
            </a:r>
          </a:p>
          <a:p>
            <a:endParaRPr/>
          </a:p>
          <a:p>
            <a:r>
              <a:t>Transition: Introduce ROSMAP as the primary cohort and SEA-AD as the supplemental human validation cohort.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roles and scales of ROSMAP and SEA-AD before presenting the analyses.</a:t>
            </a:r>
          </a:p>
          <a:p>
            <a:endParaRPr/>
          </a:p>
          <a:p>
            <a:r>
              <a:t>Walk through: ROSMAP is the primary discovery cohort, with 54 fine cell types and 324 planned comparisons across sex and APOE groups. SEA-AD provides supplemental human validation, with 129 fine cell categories called supertypes and 774 planned comparisons. ROSMAP supplies the primary differential-expression, pathway, and KDA findings. SEA-AD tests whether gene-set patterns and KDA candidates recur in another human cohort.</a:t>
            </a:r>
          </a:p>
          <a:p>
            <a:endParaRPr/>
          </a:p>
          <a:p>
            <a:r>
              <a:t>Scientific boundary: Planned comparisons describe the study design. They are not counts of estimable comparisons or completed KDA calls. The cohorts also use cohort-specific network backgrounds, and SEA-AD coverage is uneven across sex and APOE groups.</a:t>
            </a:r>
          </a:p>
          <a:p>
            <a:endParaRPr/>
          </a:p>
          <a:p>
            <a:r>
              <a:t>Transition: Next, define the mitochondrial gene sets used throughout the study.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two mitochondrial protein-gene sets used throughout the study.</a:t>
            </a:r>
          </a:p>
          <a:p>
            <a:endParaRPr/>
          </a:p>
          <a:p>
            <a:r>
              <a:t>Walk through: Start with core MT genes. In this study, that term means the 13 protein-coding genes in mitochondrial DNA. All 13 encode structural subunits of oxidative phosphorylation, or OXPHOS. The broader MitoCarta MT inventory contains 1,136 protein-coding genes associated with mitochondria. It includes the same 13 core MT genes and 1,123 genes encoded by nuclear DNA. We use MitoCarta MT genes to define the mitochondrial pathways and to build the DEG input queries used when we make KDA calls.</a:t>
            </a:r>
          </a:p>
          <a:p>
            <a:endParaRPr/>
          </a:p>
          <a:p>
            <a:r>
              <a:t>Scientific boundary: Mitochondrial DNA contains 37 genes in total. The other 24 encode 22 transfer RNAs and two ribosomal RNAs, so they are not included in the protein-gene sets analyzed here. In this study, core MT genes and mtDNA-encoded structural OXPHOS genes refer to the same 13 genes. Expression of these genes does not measure mtDNA copy number, OXPHOS protein abundance, or mitochondrial function.</a:t>
            </a:r>
          </a:p>
          <a:p>
            <a:endParaRPr/>
          </a:p>
          <a:p>
            <a:r>
              <a:t>Transition: The next slide shows how the 13 core MT genes and the nuclear-encoded OXPHOS genes fit inside MitoCarta.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the structural OXPHOS gene set is contained within the MitoCarta MT inventory.</a:t>
            </a:r>
          </a:p>
          <a:p>
            <a:endParaRPr/>
          </a:p>
          <a:p>
            <a:r>
              <a:t>Walk through: The green outer circle contains all 1,136 MitoCarta MT genes. The gold inner circle sits fully inside it because all 99 structural OXPHOS genes used here are in MitoCarta. The vertical split separates the 13 core MT genes, encoded by mitochondrial DNA, from 86 OXPHOS genes encoded by nuclear DNA. Together, the two groups account for the 99 structural OXPHOS genes. The remaining 1,037 MitoCarta MT genes fall outside the structural OXPHOS set.</a:t>
            </a:r>
          </a:p>
          <a:p>
            <a:endParaRPr/>
          </a:p>
          <a:p>
            <a:r>
              <a:t>Scientific boundary: The circles show gene-set membership only. Nuclear-encoded tells us that the gene is located in nuclear DNA. Its protein still functions in mitochondria. The diagram does not show expression direction, pathway enrichment, protein abundance, or mitochondrial function. Circle area does not represent gene count.</a:t>
            </a:r>
          </a:p>
          <a:p>
            <a:endParaRPr/>
          </a:p>
          <a:p>
            <a:r>
              <a:t>Transition: Next, introduce the three levels used to organize MitoCarta pathways.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three MitoCarta pathway levels used in the analysis.</a:t>
            </a:r>
          </a:p>
          <a:p>
            <a:endParaRPr/>
          </a:p>
          <a:p>
            <a:r>
              <a:t>Walk through: MitoCarta organizes its 1,136 MT genes into a nested hierarchy. Level 1 contains seven broad mitochondrial systems. Level 2 contains 39 pathways within those systems. Level 3 adds 103 more detailed subpathways. For example, oxidative phosphorylation is a Level 1 system, Complex I is a Level 2 pathway within it, and Complex I subunits form a Level 3 pathway. Levels 1 and 2 therefore contain 46 pathways, while the complete hierarchy contains 149.</a:t>
            </a:r>
          </a:p>
          <a:p>
            <a:endParaRPr/>
          </a:p>
          <a:p>
            <a:r>
              <a:t>Scientific boundary: The levels describe biological specificity, not statistical strength. Because the hierarchy is nested, broad and detailed pathways can share genes and can produce related enrichment results. Counts come from the Phase 11 MitoCarta pathway manifest in results/minerva_production/11_pathway_deg_fine.</a:t>
            </a:r>
          </a:p>
          <a:p>
            <a:endParaRPr/>
          </a:p>
          <a:p>
            <a:r>
              <a:t>Transition: With the mitochondrial gene sets and pathway hierarchy defined, next define a contrast.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contrast unit from the KDA call it may generate.</a:t>
            </a:r>
          </a:p>
          <a:p>
            <a:endParaRPr/>
          </a:p>
          <a:p>
            <a:r>
              <a:t>Walk through: A contrast is one AD-versus-NCI comparison within one fine cell type and one sex/APOE group. Therefore, N fine cell types create six N planned contrasts; in ROSMAP, 54 fine types create 324. Source-invalid contrasts are removed, and a valid contrast leads to a KDA call only when its mapped MitoCarta MT query contains at least three genes. One completed KDA call can return a list of genes, with each gene appearing at most once in that KDA call.</a:t>
            </a:r>
          </a:p>
          <a:p>
            <a:endParaRPr/>
          </a:p>
          <a:p>
            <a:r>
              <a:t>Scientific boundary: A planned contrast is a comparison opportunity, not a completed KDA call or an independent biological replication. A skipped contrast is unavailable rather than a completed null result.</a:t>
            </a:r>
          </a:p>
          <a:p>
            <a:endParaRPr/>
          </a:p>
          <a:p>
            <a:r>
              <a:t>Transition: With the contrast defined, next define the category used to summarize fine-cell KDA results.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val="3608473481"/>
      </p:ext>
    </p:extLst>
  </p:cSld>
  <p:clrMapOvr>
    <a:masterClrMapping/>
  </p:clrMapOvr>
</p:notes>
</file>

<file path=ppt/notesSlides/notesSlide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category unit and the fine-cell-to-broad aggregation.</a:t>
            </a:r>
          </a:p>
          <a:p>
            <a:endParaRPr/>
          </a:p>
          <a:p>
            <a:r>
              <a:t>Walk through: Two sexes crossed with three APOE groups create six sex/APOE groups. Crossing each group with seven frozen broad cell types creates 42 possible categories; M_e33 by excitatory neurons is one example. Contrasts outnumber categories because several fine cell types can map to the same broad cell type. When the same driver returns from multiple fine-cell KDA calls in one category, the returned within each KDA call adjusted P values are combined by equal-weight ACAT into one gene-by-category score.</a:t>
            </a:r>
          </a:p>
          <a:p>
            <a:endParaRPr/>
          </a:p>
          <a:p>
            <a:r>
              <a:t>Scientific boundary: Forty-two is the structural design space, not 42 observed negative or positive results. A category may lack an eligible KDA call or a returned non-MitoCarta driver. The ACAT is returned-only: a KDA call in which the gene was not returned does not contribute P equals one.</a:t>
            </a:r>
          </a:p>
          <a:p>
            <a:endParaRPr/>
          </a:p>
          <a:p>
            <a:r>
              <a:t>Transition: With contrast and category defined, next explain what counts as one DEG occurrence.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val="409478808"/>
      </p:ext>
    </p:extLst>
  </p:cSld>
  <p:clrMapOvr>
    <a:masterClrMapping/>
  </p:clrMapOvr>
</p:notes>
</file>

<file path=ppt/notesSlides/notesSlide10.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 DEG and a DEG occurrence before showing DEG counts and direction percentages.</a:t>
            </a:r>
          </a:p>
          <a:p>
            <a:endParaRPr/>
          </a:p>
          <a:p>
            <a:r>
              <a:t>Walk through: Within one fine-cell contrast, a gene is called a DEG when its BH-adjusted P value is below 0.05 and its absolute log2 fold change is greater than log2 of 1.3, approximately 0.38. Positive fold change means upregulated in AD, and negative fold change means downregulated in AD. One DEG in one fine-cell contrast contributes one DEG occurrence. If the same gene is a DEG in three contrasts, it contributes three DEG occurrences but remains one unique gene.</a:t>
            </a:r>
          </a:p>
          <a:p>
            <a:endParaRPr/>
          </a:p>
          <a:p>
            <a:r>
              <a:t>Scientific boundary: The DEG criteria are evaluated separately within each contrast. A DEG occurrence is a repeated DEG result, not a unique gene, participant, or independent replication. Meeting the DEG criteria does not establish causation.</a:t>
            </a:r>
          </a:p>
          <a:p>
            <a:endParaRPr/>
          </a:p>
          <a:p>
            <a:r>
              <a:t>Transition: With the Part 1 concepts established, begin Part 2 with the overall DEG counts.</a:t>
            </a:r>
          </a:p>
          <a:p>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val="4044192832"/>
      </p:ext>
    </p:extLst>
  </p:cSld>
  <p:clrMapOvr>
    <a:masterClrMapping/>
  </p:clrMapOvr>
</p:notes>
</file>

<file path=ppt/notesSlides/notesSlide1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differential-expression layer.</a:t>
            </a:r>
          </a:p>
          <a:p>
            <a:endParaRPr/>
          </a:p>
          <a:p>
            <a:r>
              <a:t>Walk through: DEG analysis compares disease with the cohort-specific comparison group inside each fine cell type and sex/APOE stratum. These contrast-level results provide the mitochondrial gene lists used for pathway analysis and for the KDA queries.</a:t>
            </a:r>
          </a:p>
          <a:p>
            <a:endParaRPr/>
          </a:p>
          <a:p>
            <a:r>
              <a:t>Scientific boundary: A DEG is an RNA-abundance difference, not proof of causal regulation, protein change, or altered mitochondrial function. ROSMAP uses AD versus NCI, whereas SEA-AD uses dementia versus no dementia.</a:t>
            </a:r>
          </a:p>
          <a:p>
            <a:endParaRPr/>
          </a:p>
          <a:p>
            <a:r>
              <a:t>Transition: Start with the overall DEG counts across sex and 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complete fine-cell DEG results before pathway analysis.</a:t>
            </a:r>
          </a:p>
          <a:p>
            <a:endParaRPr/>
          </a:p>
          <a:p>
            <a:r>
              <a:t>Walk through: ROSMAP contained 324 planned AD-versus-NCI contrasts: 54 fine cell types crossed with six sex/APOE groups. Three male epsilon-2 contrasts did not have enough cells for the planned DEG model, leaving 321 analyzed contrasts; 277 of those had at least one DEG. Across all genes, there were 118,297 DEG occurrences representing 14,840 distinct genes. The bars divide these occurrences into higher expression in AD and lower expression in AD. Female epsilon-2 had 10,952 occurrences, 65 percent higher in AD. Female epsilon-3 homozygous had 11,236, 47 percent higher. Female epsilon-4 had 20,942, with 76 percent lower in AD. Male epsilon-2 had the largest count, 45,781, with 56 percent higher. Male epsilon-3 homozygous had 13,120, and male epsilon-4 had 16,266; both were close to evenly split.</a:t>
            </a:r>
          </a:p>
          <a:p>
            <a:endParaRPr/>
          </a:p>
          <a:p>
            <a:r>
              <a:t>Scientific boundary: A DEG met the prespecified within-contrast criteria: BH FDR below 0.05, absolute fold change above 1.3, and detection in at least 10 percent of cells in either group. Counts repeat a gene when it is a DEG in another fine-cell comparison. They are descriptive and can reflect sample size, power, and the number of genes tested; they are not donor counts, independent replications, or a formal disease-by-sex/APOE interaction test.</a:t>
            </a:r>
          </a:p>
          <a:p>
            <a:endParaRPr/>
          </a:p>
          <a:p>
            <a:r>
              <a:t>Transition: Move from the all-gene DEG counts to pathway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Position pathway analysis between DEG testing and network analysis.</a:t>
            </a:r>
          </a:p>
          <a:p>
            <a:endParaRPr/>
          </a:p>
          <a:p>
            <a:r>
              <a:t>Walk through: Pathway analysis asks whether mitochondrial DEG results are concentrated in predefined pathways, including the core MT gene set, nuclear-encoded OXPHOS genes, mitochondrial translation, and MICOS or inner-membrane organization. It therefore describes pathway-level signal before network-based driver nomination.</a:t>
            </a:r>
          </a:p>
          <a:p>
            <a:endParaRPr/>
          </a:p>
          <a:p>
            <a:r>
              <a:t>Scientific boundary: Pathway enrichment describes the composition or ranking of gene-level results. It does not identify an upstream driver or prove that a pathway is more or less functional.</a:t>
            </a:r>
          </a:p>
          <a:p>
            <a:endParaRPr/>
          </a:p>
          <a:p>
            <a:r>
              <a:t>Transition: First, define what counts as a significant pathway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Formally define one significant pathway result before presenting pathway-level summary counts.</a:t>
            </a:r>
          </a:p>
          <a:p>
            <a:endParaRPr/>
          </a:p>
          <a:p>
            <a:r>
              <a:t>Walk through: One result tests one pathway in one DEG list from one fine-cell sex/APOE contrast. N is the number of detectable MitoCarta MT genes in that contrast. M is the number of those detectable genes assigned to the pathway. n is the number of DEGs in the selected list, and k is the number of those DEGs assigned to the pathway. Fold enrichment compares the pathway share among the DEGs, k divided by n, with the pathway share among detectable genes, M divided by N. A value above 1 indicates enrichment. Enrichment describes the observed over-representation. Statistical significance is determined separately: the one-sided hypergeometric test calculates the probability of observing k or more pathway genes under random sampling from the detectable-gene background, and Benjamini-Hochberg correction is applied across all testable pathways in the same pathway collection for the same contrast and DEG list. The primary local result is significant when its BH-adjusted P value, also called the local false-discovery rate, is below 0.05.</a:t>
            </a:r>
          </a:p>
          <a:p>
            <a:endParaRPr/>
          </a:p>
          <a:p>
            <a:r>
              <a:t>Scientific boundary: This result supports pathway over-representation within one specific test. It does not establish altered pathway activity, causation, or a disease-by-sex-by-APOE interaction. Study-wide BH FDR is reported separately as a sensitivity measure.</a:t>
            </a:r>
          </a:p>
          <a:p>
            <a:endParaRPr/>
          </a:p>
          <a:p>
            <a:r>
              <a:t>Transition: Next, review how the pathway analysis tests each fine-cell contrast and summarizes significant 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Teaching goal: Explain the two-stage pathway analysis and summarize how many pathways had at least one significant result.</a:t>
            </a:r>
          </a:p>
          <a:p>
            <a:r>
              <a:rPr lang="en-US"/>
              <a:t>Walk through: Each estimable fine-cell sex/APOE contrast was analyzed separately. For each contrast, the analysis created three mitochondrial DEG lists: all DEGs, genes upregulated in AD, and genes downregulated in AD. It then tested each pathway using the enrichment and significance definition on the previous slide. Twelve of the 46 Level 1 and Level 2 pathways and 18 of the 149 complete pathways had at least one significant result across the tested contrasts and DEG lists. Most significant results involved overlapping OXPHOS pathways. Non-OXPHOS signals were fewer and more localized. The next slide defines a separate descriptive overlap percentage used to summarize four recurring pathway sets across sex/APOE groups.</a:t>
            </a:r>
          </a:p>
          <a:p>
            <a:r>
              <a:rPr lang="en-US"/>
              <a:t>Scientific boundary: The complete 149-pathway collection contains the 46 Level 1 and Level 2 pathways, so the two reported scopes overlap. At least one significant result means enrichment in at least one fine-cell, sex/APOE, and DEG direction list. It does not mean significance in every group or prove altered pathway activity.</a:t>
            </a:r>
          </a:p>
          <a:p>
            <a:r>
              <a:rPr lang="en-US"/>
              <a:t>Transition: Next, define the descriptive pathway-overlap percentage before reading the heatmap.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overlap formula, its worked example, and how descriptive overlap differs from a significant pathway result.</a:t>
            </a:r>
          </a:p>
          <a:p>
            <a:endParaRPr/>
          </a:p>
          <a:p>
            <a:r>
              <a:t>Walk through: This percentage summarizes one pathway within one sex/APOE group. The numerator is the number of unique pathway genes that were DEGs in at least one fine-cell comparison in that group. The denominator is the total number of genes in the pathway. Multiplying by 100 converts the ratio to a percentage. In the male epsilon-2 mitochondrial-translation example, 130 of the 155 pathway genes appeared as DEGs. Therefore, 130 divided by 155 times 100 equals 84 percent. This pooled overlap starts from the same pathway-gene and DEG membership used in enrichment analysis, but it combines fine cell types and does not perform a statistical test. A significant pathway result instead evaluates one fine-cell contrast against its detectable-gene background and must pass the adjusted P-value threshold.</a:t>
            </a:r>
          </a:p>
          <a:p>
            <a:endParaRPr/>
          </a:p>
          <a:p>
            <a:r>
              <a:t>Scientific boundary: Each gene counts once, regardless of how many fine cell types contain it. The percentage does not show the percentage of fine cell types, the direction of change, recurrence across cell types, or pathway enrichment.</a:t>
            </a:r>
          </a:p>
          <a:p>
            <a:endParaRPr/>
          </a:p>
          <a:p>
            <a:r>
              <a:t>Transition: Apply this overlap calculation to the four pathway sets across the six sex/APOE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four pathway sets through the heatmap and show the breadth of their overlap with the fine-cell DEG results.</a:t>
            </a:r>
          </a:p>
          <a:p>
            <a:endParaRPr/>
          </a:p>
          <a:p>
            <a:r>
              <a:t>Walk through: The four rows summarize the 13 core MT genes, 86 nuclear-encoded structural OXPHOS genes, 155 mitochondrial-translation genes, and 19 inner-membrane-organization genes. For each sex/APOE group, a pathway gene is counted once if it was a DEG in at least one fine-cell comparison. The denominator is the fixed pathway size shown in the corresponding row label. Twelve of the 13 core MT genes appeared in every group. Male epsilon-2 had the broadest overlap in the other three pathways: 67 of 86 nuclear-encoded OXPHOS genes, 130 of 155 mitochondrial-translation genes, and 17 of 19 inner-membrane genes. Female epsilon-3 homozygous had narrower overlap in mitochondrial translation and inner-membrane organization.</a:t>
            </a:r>
          </a:p>
          <a:p>
            <a:endParaRPr/>
          </a:p>
          <a:p>
            <a:r>
              <a:t>Scientific boundary: This heatmap collapses across fine cell types and records presence, not direction, recurrence, effect size, or statistical enrichment. Groups with more overall DEGs will tend to overlap more pathway genes. Formal over-representation analysis instead uses the detectable-gene background within each comparison and controls the false-discovery rate.</a:t>
            </a:r>
          </a:p>
          <a:p>
            <a:endParaRPr/>
          </a:p>
          <a:p>
            <a:r>
              <a:t>Transition: Define how the OXPHOS direction percentage is calculated.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 DEG occurrence and show how the upregulated OXPHOS occurrence percentage is calculated.</a:t>
            </a:r>
          </a:p>
          <a:p>
            <a:endParaRPr/>
          </a:p>
          <a:p>
            <a:r>
              <a:t>Walk through: Start with the red definition. One occurrence means that one pathway gene is a DEG in one fine-cell comparison. If the same gene is a DEG in another fine cell type, it contributes another occurrence. Calculate the percentage separately for each sex/APOE group and each OXPHOS gene set. Divide the upregulated occurrences by all upregulated plus downregulated occurrences, then multiply by 100. In the male epsilon-3 homozygous core MT genes example, 70 occurrences were upregulated and 11 were downregulated. Seventy divided by 81 equals 86 percent upregulated. A value of 50 percent means that upregulated and downregulated occurrences are equally common. Values above 50 percent favor upregulation, while values below 50 percent favor downregulation.</a:t>
            </a:r>
          </a:p>
          <a:p>
            <a:endParaRPr/>
          </a:p>
          <a:p>
            <a:r>
              <a:t>Scientific boundary: This occurrence-based summary gives more weight to genes that recur across fine-cell comparisons. It is not a fold change, a percentage of unique genes, cells, donors, or fine cell types, an enrichment result, or a measure of OXPHOS activity. Repeated occurrences are not independent biological replications.</a:t>
            </a:r>
          </a:p>
          <a:p>
            <a:endParaRPr/>
          </a:p>
          <a:p>
            <a:r>
              <a:t>Transition: Compare the upregulated occurrence percentage across the six sex/APOE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OXPHOS DEG direction across sex/APOE groups and highlight the contrasting epsilon-3 homozygous patterns.</a:t>
            </a:r>
          </a:p>
          <a:p>
            <a:endParaRPr/>
          </a:p>
          <a:p>
            <a:r>
              <a:t>Walk through: OXPHOS, or oxidative phosphorylation, is the mitochondrial process that produces most cellular ATP. Blue bars summarize the 13 core MT genes, and orange bars summarize 86 nuclear-encoded OXPHOS genes. Every bar starts at the 50 percent line, where upregulated and downregulated occurrences are equally common. Bars extend upward when more than half of the occurrences are upregulated and downward when fewer than half are upregulated. The label at the end of each bar gives the actual upregulated percentage, while bar length shows its percentage-point distance from 50 percent. The key contrast is shown in the callout. In female epsilon-3 homozygous, both gene sets are predominantly upregulated: 100 percent for the core MT gene set and 85 percent for the nuclear-encoded OXPHOS gene set. In male epsilon-3 homozygous, the two sets diverge: 86 percent of core MT gene occurrences are upregulated, but only 12 percent of nuclear-encoded OXPHOS gene occurrences are upregulated, which means 88 percent are downregulated. The broader pattern is that female epsilon-2 is predominantly upregulated in both sets, female epsilon-4 and male epsilon-2 are predominantly downregulated in both, and male epsilon-4 shows a weaker version of the male epsilon-3 homozygous split.</a:t>
            </a:r>
          </a:p>
          <a:p>
            <a:endParaRPr/>
          </a:p>
          <a:p>
            <a:r>
              <a:t>Scientific boundary: The bars show the share of repeated gene-by-fine-cell DEG occurrences that are upregulated. The vertical displacement from 50 percent is a descriptive percentage-point difference, not an effect size. The chart does not show percent expression change, percent of cells or donors, percent of unique genes, pathway enrichment, OXPHOS activity, or a direct statistical interaction between disease, sex, and APOE.</a:t>
            </a:r>
          </a:p>
          <a:p>
            <a:endParaRPr/>
          </a:p>
          <a:p>
            <a:r>
              <a:t>Transition: Now move to Part 4, where mitochondrial DEGs become network-analysis queries.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key-driver-analysis section.</a:t>
            </a:r>
          </a:p>
          <a:p>
            <a:endParaRPr/>
          </a:p>
          <a:p>
            <a:r>
              <a:t>Walk through: Part 4 follows mitochondrial DEGs from one fine-cell contrast into one network query, makes KDA calls, and then aggregates genes returned from repeated fine-cell KDA calls within sex/APOE by broad-cell category using returned-only ACAT.</a:t>
            </a:r>
          </a:p>
          <a:p>
            <a:endParaRPr/>
          </a:p>
          <a:p>
            <a:r>
              <a:t>Scientific boundary: KDA nominates network-associated candidate regulators. It does not prove that a returned gene causally controls the mitochondrial pathway, and it does not pool sex/APOE groups.</a:t>
            </a:r>
          </a:p>
          <a:p>
            <a:endParaRPr/>
          </a:p>
          <a:p>
            <a:r>
              <a:t>Transition: Start with the four-step workflow from a fine-cell DEG contrast to a category-level KDA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Separate contrast, MitoCarta MT query, KDA call, and category result.</a:t>
            </a:r>
          </a:p>
          <a:p>
            <a:endParaRPr/>
          </a:p>
          <a:p>
            <a:r>
              <a:t>Walk through: A contrast is one signed DEG result and contributes one MitoCarta MT DEG query. A mapped query of at least three genes becomes one KDA call. A category is one sex/APOE group crossed with one broad network; non-MitoCarta genes returned from eligible fine-cell KDA calls are aggregated within it.</a:t>
            </a:r>
          </a:p>
          <a:p>
            <a:endParaRPr/>
          </a:p>
          <a:p>
            <a:r>
              <a:t>Scientific boundary: A candidate driver can be a non-DEG network gene outside MitoCarta. Here, non-MitoCarta means that the returned gene is not one of the 1,136 MitoCarta MT genes; it may still influence mitochondrial biology.</a:t>
            </a:r>
          </a:p>
          <a:p>
            <a:endParaRPr/>
          </a:p>
          <a:p>
            <a:r>
              <a:t>Transition: Summarize the ROSMAP branch before examining its contrast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ROSMAP as the primary discovery analysis before the detailed funnel.</a:t>
            </a:r>
          </a:p>
          <a:p>
            <a:endParaRPr/>
          </a:p>
          <a:p>
            <a:r>
              <a:t>Walk through: ROSMAP starts with 324 planned fine-cell contrasts. Those contrasts produce 194 executable KDA calls and 381 non-MitoCarta gene-by-category combinations, representing 228 distinct genes across 29 populated categories. Each contrast contributes its MitoCarta MT DEG query, and returned fine-cell evidence is then aggregated within the matching sex/APOE-by-broad-cell category.</a:t>
            </a:r>
          </a:p>
          <a:p>
            <a:endParaRPr/>
          </a:p>
          <a:p>
            <a:r>
              <a:t>Scientific boundary: Planned contrasts, executable KDA calls, and gene-by-category combinations are different units. The category results use returned-only ACAT, and the counts are descriptive rather than independent replication counts.</a:t>
            </a:r>
          </a:p>
          <a:p>
            <a:endParaRPr/>
          </a:p>
          <a:p>
            <a:r>
              <a:t>Transition: Follow the ROSMAP summary into the contrast-level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324 contrasts become 194 KDA calls.</a:t>
            </a:r>
          </a:p>
          <a:p>
            <a:endParaRPr/>
          </a:p>
          <a:p>
            <a:r>
              <a:t>Walk through: Three source contrasts are invalid, 95 valid contrasts have an empty effective query, 32 retain one or two mapped genes, and 194 meet the three-gene floor.</a:t>
            </a:r>
          </a:p>
          <a:p>
            <a:endParaRPr/>
          </a:p>
          <a:p>
            <a:r>
              <a:t>Scientific boundary: Skipped contrasts have no KDA result and are not completed null tests.</a:t>
            </a:r>
          </a:p>
          <a:p>
            <a:endParaRPr/>
          </a:p>
          <a:p>
            <a:r>
              <a:t>Transition: Clarify the execution gate and the source contrasts that could not be fitted.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Clarify the three-gene execution floor and the three invalid source contrasts.</a:t>
            </a:r>
          </a:p>
          <a:p>
            <a:endParaRPr/>
          </a:p>
          <a:p>
            <a:r>
              <a:t>Walk through: All 194 KDA calls meeting the mapped-query floor were completed: 164 returned at least one gene and 30 returned none. The three concrete invalid MAST contrasts remain unavailable.</a:t>
            </a:r>
          </a:p>
          <a:p>
            <a:endParaRPr/>
          </a:p>
          <a:p>
            <a:r>
              <a:t>Scientific boundary: The minimum is an execution rule; small queries and low cell counts still require cautious interpretation.</a:t>
            </a:r>
          </a:p>
          <a:p>
            <a:endParaRPr/>
          </a:p>
          <a:p>
            <a:r>
              <a:t>Transition: Inspect how the MitoCarta MT query is constructed.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ROSMAP differential-expression results become mitochondrial network queries.</a:t>
            </a:r>
          </a:p>
          <a:p>
            <a:endParaRPr/>
          </a:p>
          <a:p>
            <a:r>
              <a:t>Walk through: Start with the DEG rule on the left. A tested gene-by-comparison row must be detected in at least 10 percent of AD or NCI nuclei, have a within-contrast Benjamini-Hochberg false-discovery rate below 0.05, and have an absolute log2 fold change above log2 of 1.3, approximately 0.379. Both AD-upregulated and AD-downregulated DEGs can enter the query. Across all contrasts, 2,864,117 gene-by-comparison rows were tested and 118,297 passed the DEG rule: 58,112 upregulated and 60,185 downregulated. Intersecting those rows with the 1,136-gene MitoCarta MT inventory yields 9,262 provisional MitoCarta MT query memberships, including 4,258 upregulated and 5,004 downregulated memberships. Network mapping removes 1,329 memberships whose genes are absent from the corresponding Bayesian network, leaving 7,933 mapped query memberships. Each contrast contributes its own query.</a:t>
            </a:r>
          </a:p>
          <a:p>
            <a:endParaRPr/>
          </a:p>
          <a:p>
            <a:r>
              <a:t>Scientific boundary: These totals count gene-by-comparison memberships, so the same gene can recur across contrasts. The 7,933 memberships do not form one pooled query, and they are not unique-gene or key-driver counts. RNA direction is defined relative to AD versus NCI.</a:t>
            </a:r>
          </a:p>
          <a:p>
            <a:endParaRPr/>
          </a:p>
          <a:p>
            <a:r>
              <a:t>Transition: Summarize the returned non-MitoCarta KDA results before examining rankings and recurrence.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scale and distribution of the ROSMAP output.</a:t>
            </a:r>
          </a:p>
          <a:p>
            <a:endParaRPr/>
          </a:p>
          <a:p>
            <a:r>
              <a:t>Walk through: The 623 retained non-MitoCarta returned rows form 381 gene-by-category units representing 228 genes across 29 categories. The lower panels show their group, network, and recurrence distributions.</a:t>
            </a:r>
          </a:p>
          <a:p>
            <a:endParaRPr/>
          </a:p>
          <a:p>
            <a:r>
              <a:t>Scientific boundary: Counts condition on significant within each KDA call returns and unequal KDA call opportunities.</a:t>
            </a:r>
          </a:p>
          <a:p>
            <a:endParaRPr/>
          </a:p>
          <a:p>
            <a:r>
              <a:t>Transition: Start with the most recurrent ROSMAP drivers.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returned-only recurrence across ROSMAP sex/APOE-by-broad-cell categories.</a:t>
            </a:r>
          </a:p>
          <a:p>
            <a:endParaRPr/>
          </a:p>
          <a:p>
            <a:r>
              <a:t>Walk through: Each bar counts the number of sex/APOE-by-broad-cell categories in which a non-MitoCarta key driver was returned. A gene counts once in a category even if it was returned by more than one fine-cell KDA call within that category. RPS15 leads with 11 categories, spanning all six sex/APOE groups and four broad-cell Bayesian networks. RPL11 follows with 10 categories, also spanning all six groups and four networks. The remaining genes occur in fewer categories.</a:t>
            </a:r>
          </a:p>
          <a:p>
            <a:endParaRPr/>
          </a:p>
          <a:p>
            <a:r>
              <a:t>Scientific boundary: Returned-only recurrence is descriptive. A KDA KDA call in which a gene was not returned does not contribute an absence or a P value of one. Categories are related summaries rather than independent biological replications, and recurrence does not establish causal regulation.</a:t>
            </a:r>
          </a:p>
          <a:p>
            <a:endParaRPr/>
          </a:p>
          <a:p>
            <a:r>
              <a:t>Transition: Then inspect the ranked top-five display across the 29 populated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ROSMAP top-five results.</a:t>
            </a:r>
          </a:p>
          <a:p>
            <a:endParaRPr/>
          </a:p>
          <a:p>
            <a:r>
              <a:t>Walk through: The figure displays up to five non-MitoCarta drivers in each of 29 populated categories, for 123 displayed entries. For rows containing more than five drivers, n reports the total number of distinct non-MitoCarta driver genes in that category. For a gene returned from one KDA call, the ranking score is the BH-adjusted KDA P value from that KDA call. For a gene returned from at least two KDA calls, the score is the equal-weight ACAT combination of the returned adjusted P values. Lower scores rank more strongly; ties are resolved alphabetically. Female and male rows are aligned by broad cell type and APOE group, with blank counterpart rows where only one sex has returns. Microglia is placed last because no female Microglia category has genes returned from KDA calls. Each broad-cell color is held constant across panels.</a:t>
            </a:r>
          </a:p>
          <a:p>
            <a:endParaRPr/>
          </a:p>
          <a:p>
            <a:r>
              <a:t>Scientific boundary: Top five is a display cap, and returned-only scores are exploratory without final across-gene FDR control.</a:t>
            </a:r>
          </a:p>
          <a:p>
            <a:endParaRPr/>
          </a:p>
          <a:p>
            <a:r>
              <a:t>Transition: Next, view recurrence within each broad cell class, beginning with excitatory neurons.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excitatory-neuron key drivers recur across the six sex/APOE categories.</a:t>
            </a:r>
          </a:p>
          <a:p>
            <a:endParaRPr/>
          </a:p>
          <a:p>
            <a:r>
              <a:t>Walk through: Rows are the three female groups followed by the three male groups. Columns contain all 84 distinct non-MitoCarta key-driver genes observed in the excitatory-neuron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excitatory-neuron pattern with inhibitory neurons.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inhibitory-neuron key drivers recur across the six sex/APOE categories.</a:t>
            </a:r>
          </a:p>
          <a:p>
            <a:endParaRPr/>
          </a:p>
          <a:p>
            <a:r>
              <a:t>Walk through: Rows are the three female groups followed by the three male groups. Columns contain all 110 distinct non-MitoCarta key-driver genes observed in the inhibitory-neuron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inhibitory-neuron pattern with astrocytes.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astrocyte key drivers recur across the six sex/APOE categories.</a:t>
            </a:r>
          </a:p>
          <a:p>
            <a:endParaRPr/>
          </a:p>
          <a:p>
            <a:r>
              <a:t>Walk through: Rows are the three female groups followed by the three male groups. Columns contain all 21 distinct non-MitoCarta key-driver genes observed in the astrocyte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astrocyte pattern with OPCs.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OPC key drivers recur across the six sex/APOE categories.</a:t>
            </a:r>
          </a:p>
          <a:p>
            <a:endParaRPr/>
          </a:p>
          <a:p>
            <a:r>
              <a:t>Walk through: Rows are the three female groups followed by the three male groups. Columns contain all 18 distinct non-MitoCarta key-driver genes observed in the OPC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Move to the SEA-AD validation branch.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SEA-AD-specific-network analysis.</a:t>
            </a:r>
          </a:p>
          <a:p>
            <a:endParaRPr/>
          </a:p>
          <a:p>
            <a:r>
              <a:t>Walk through: The section moves from 774 supertype-by-stratum contrasts to 22 executable KDA calls, then shows top-five, recurrence, and aggregate summaries.</a:t>
            </a:r>
          </a:p>
          <a:p>
            <a:endParaRPr/>
          </a:p>
          <a:p>
            <a:r>
              <a:t>Scientific boundary: The active KDA calls are strongly concentrated in M_e33.</a:t>
            </a:r>
          </a:p>
          <a:p>
            <a:endParaRPr/>
          </a:p>
          <a:p>
            <a:r>
              <a:t>Transition: Summarize SEA-AD coverage before examining its contrast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SEA-AD as supplemental human validation before the detailed funnel.</a:t>
            </a:r>
          </a:p>
          <a:p>
            <a:endParaRPr/>
          </a:p>
          <a:p>
            <a:r>
              <a:t>Walk through: SEA-AD starts with 774 planned supertype-level contrasts. Only 22 meet the source-validity and three-gene query requirements for KDA. These KDA calls return 44 non-MitoCarta gene-by-category combinations, representing 43 distinct genes across five populated categories. The analysis uses SEA-AD-specific networks rather than reusing ROSMAP networks.</a:t>
            </a:r>
          </a:p>
          <a:p>
            <a:endParaRPr/>
          </a:p>
          <a:p>
            <a:r>
              <a:t>Scientific boundary: Coverage is sparse and unbalanced: 20 of the 22 KDA calls are in the male epsilon-3 homozygous group. An unavailable category is not a negative validation result, and cohort differences in networks, phenotype, and query coverage limit direct one-to-one comparison.</a:t>
            </a:r>
          </a:p>
          <a:p>
            <a:endParaRPr/>
          </a:p>
          <a:p>
            <a:r>
              <a:t>Transition: Follow the SEA-AD summary into the contrast-level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774 SEA-AD contrasts reduce to 22 executable KDA calls.</a:t>
            </a:r>
          </a:p>
          <a:p>
            <a:endParaRPr/>
          </a:p>
          <a:p>
            <a:r>
              <a:t>Walk through: There are 393 non-estimable source contrasts, 348 estimable contrasts with an empty FDR-only query, 11 with one or two mapped genes, and 22 meeting the three-gene floor.</a:t>
            </a:r>
          </a:p>
          <a:p>
            <a:endParaRPr/>
          </a:p>
          <a:p>
            <a:r>
              <a:t>Scientific boundary: A skipped contrast is unavailable and is not a negative validation result.</a:t>
            </a:r>
          </a:p>
          <a:p>
            <a:endParaRPr/>
          </a:p>
          <a:p>
            <a:r>
              <a:t>Transition: Summarize the returned non-MitoCarta SEA-AD output.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SEA-AD output.</a:t>
            </a:r>
          </a:p>
          <a:p>
            <a:endParaRPr/>
          </a:p>
          <a:p>
            <a:r>
              <a:t>Walk through: The 54 retained rows form 44 category units representing 43 genes across five categories. Thirty-nine units and 20 of 22 active KDA calls are M_e33.</a:t>
            </a:r>
          </a:p>
          <a:p>
            <a:endParaRPr/>
          </a:p>
          <a:p>
            <a:r>
              <a:t>Scientific boundary: Returned-only scores remain exploratory and are not final-FDR controlled across genes.</a:t>
            </a:r>
          </a:p>
          <a:p>
            <a:endParaRPr/>
          </a:p>
          <a:p>
            <a:r>
              <a:t>Transition: Then examine recurrence across SEA-AD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SEA-AD category recurrence.</a:t>
            </a:r>
          </a:p>
          <a:p>
            <a:endParaRPr/>
          </a:p>
          <a:p>
            <a:r>
              <a:t>Walk through: PJVK is the only gene present in two categories: M_e33 excitatory and inhibitory neurons. Every other gene on the top-20 display occurs in one category.</a:t>
            </a:r>
          </a:p>
          <a:p>
            <a:endParaRPr/>
          </a:p>
          <a:p>
            <a:r>
              <a:t>Scientific boundary: Five return-bearing categories impose a low recurrence ceiling.</a:t>
            </a:r>
          </a:p>
          <a:p>
            <a:endParaRPr/>
          </a:p>
          <a:p>
            <a:r>
              <a:t>Transition: Inspect the top-five entries in the five populated SEA-AD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leading SEA-AD non-MitoCarta candidates.</a:t>
            </a:r>
          </a:p>
          <a:p>
            <a:endParaRPr/>
          </a:p>
          <a:p>
            <a:r>
              <a:t>Walk through: Seventeen entries appear across F_e33 excitatory, F_e4 astrocyte, and three M_e33 categories. As on the ROSMAP display, rows are aligned across female and male panels, colors identify broad cell types consistently, and n gives the total non-MitoCarta driver count when a category contains more than five genes. Within each category, one returned KDA call passes through its within each KDA call adjusted KDA P value, while at least two returned KDA calls are combined by ACAT; lower scores rank more strongly.</a:t>
            </a:r>
          </a:p>
          <a:p>
            <a:endParaRPr/>
          </a:p>
          <a:p>
            <a:r>
              <a:t>Scientific boundary: Top five is a display cap and the five populated categories expose strong availability imbalance.</a:t>
            </a:r>
          </a:p>
          <a:p>
            <a:endParaRPr/>
          </a:p>
          <a:p>
            <a:r>
              <a:t>Transition: Finish the SEA-AD branch with excitatory-neuron recurrence across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Teaching goal: Show whether SEA-AD excitatory-neuron genes returned from KDA calls recur across the six sex/APOE categories.</a:t>
            </a:r>
          </a:p>
          <a:p>
            <a:r>
              <a:rPr lang="en-US"/>
              <a:t>Walk through: Rows are the three female groups followed by the three male groups. Columns contain all 27 distinct non-MitoCarta genes returned from KDA calls in the excitatory-neuron broad cell type. A colored tile means that the gene appears in that category. Its color gives the total number of categories containing that gene. No gene appears in more than one sex/APOE category.</a:t>
            </a:r>
          </a:p>
          <a:p>
            <a:r>
              <a:rPr lang="en-US"/>
              <a:t>Scientific boundary: Category recurrence is a descriptive summary of returned KDA results. It is not an effect size, an independent replication count, or a sex-by-APOE interaction test.</a:t>
            </a:r>
          </a:p>
          <a:p>
            <a:r>
              <a:rPr lang="en-US"/>
              <a:t>Transition: Move to Part 6, which tests selected findings at direct broad-cell resolution.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purpose and methods of direct broad-cell validation.</a:t>
            </a:r>
          </a:p>
          <a:p>
            <a:endParaRPr/>
          </a:p>
          <a:p>
            <a:r>
              <a:t>Walk through: Part 6 checks selected pathway findings at direct broad-cell resolution. It first distinguishes this analysis from the primary fine-cell workflow. It then explains how donor-level broad-cell expression profiles are compared, how genes are ranked, and how weighted gene set enrichment analysis produces the enrichment score and the normalized enrichment score. These definitions prepare the audience to interpret direct broad-cell results in later findings.</a:t>
            </a:r>
          </a:p>
          <a:p>
            <a:endParaRPr/>
          </a:p>
          <a:p>
            <a:r>
              <a:t>Scientific boundary: Direct broad-cell analysis provides supporting evidence. Combining fine cell types can hide a result confined to one fine cell type or can make the result sensitive to differences in fine-cell composition.</a:t>
            </a:r>
          </a:p>
          <a:p>
            <a:endParaRPr/>
          </a:p>
          <a:p>
            <a:r>
              <a:t>Transition: Compare the fine-cell and direct broad-cell workflows side by side.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two workflows without implying that donor-level aggregation is unique to direct broad-cell analysis.</a:t>
            </a:r>
          </a:p>
          <a:p>
            <a:endParaRPr/>
          </a:p>
          <a:p>
            <a:r>
              <a:t>Walk through: Fine-cell analysis produces one donor-level expression profile for each fine cell type. It tests each fine cell type separately and summarizes the resulting evidence by broad cell class afterward. Direct broad-cell analysis instead combines the contributing fine cell types within each donor to create one profile for the entire broad cell class before differential-expression testing. Both workflows compare donors. They differ in the cell-type resolution retained before the comparison.</a:t>
            </a:r>
          </a:p>
          <a:p>
            <a:endParaRPr/>
          </a:p>
          <a:p>
            <a:r>
              <a:t>Scientific boundary: Agreement supports a result across two resolutions. Disagreement can reflect fine-cell composition or opposing effects among fine cell types and does not by itself invalidate the fine-cell result.</a:t>
            </a:r>
          </a:p>
          <a:p>
            <a:endParaRPr/>
          </a:p>
          <a:p>
            <a:r>
              <a:t>Transition: Follow the direct broad-cell pathway workflow from donor-level expression profiles to pathway testing.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four stages of direct broad-cell pathway validation.</a:t>
            </a:r>
          </a:p>
          <a:p>
            <a:endParaRPr/>
          </a:p>
          <a:p>
            <a:r>
              <a:t>Walk through: First, the analysis combines cells from one broad cell class within each donor. Second, it compares AD with NCI separately within each sex/APOE group and broad cell class. Third, it orders all tested MitoCarta MT genes from stronger AD-up evidence to stronger AD-down evidence. Fourth, ranked-gene pathway analysis calculates an enrichment score and then a normalized enrichment score, or NES, to summarize whether pathway genes concentrate toward the AD-up or AD-down end of the ranking.</a:t>
            </a:r>
          </a:p>
          <a:p>
            <a:endParaRPr/>
          </a:p>
          <a:p>
            <a:r>
              <a:t>Scientific boundary: This workflow ranks every tested MitoCarta MT gene rather than filtering to DEGs first. The fine-cell pathway analysis uses a different method based on overlap between a thresholded DEG list and a pathway.</a:t>
            </a:r>
          </a:p>
          <a:p>
            <a:endParaRPr/>
          </a:p>
          <a:p>
            <a:r>
              <a:t>Transition: The next slide defines the signed score used to rank the tested MitoCarta MT genes.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rank score used to order all tested MitoCarta MT genes for direct broad-cell GSEA.</a:t>
            </a:r>
          </a:p>
          <a:p>
            <a:endParaRPr/>
          </a:p>
          <a:p>
            <a:r>
              <a:t>Walk through: The analysis calculates the sign of the log fold change multiplied by the square root of the edgeR quasi-likelihood F statistic for every tested MitoCarta MT gene. The log fold change compares AD with NCI. Its sign gives direction: a positive score is AD-up and a negative score is AD-down. The F statistic supplies the score magnitude and reflects the strength of evidence for an AD-versus-NCI difference after accounting for variability. For this one-degree-of-freedom contrast, the square root of F gives a t-like scale and preserves the ordering based on F. The analysis ranks genes from the largest positive score to the most negative score. Log fold change alone is less suitable because it describes the estimated effect size without incorporating its uncertainty. A low-expression gene or a gene with high donor-to-donor variability can therefore have a large but unstable log fold change. In the illustrative example, Gene A has logFC plus 2.0 and F 0.25, so its rank score is plus 0.5. Gene B has logFC plus 0.5 and F 16, so its rank score is plus 4.0. Gene B ranks higher because the evidence for its change is stronger.</a:t>
            </a:r>
          </a:p>
          <a:p>
            <a:endParaRPr/>
          </a:p>
          <a:p>
            <a:r>
              <a:t>Scientific boundary: This is the study's ranking rule for targeted MitoCarta preranked GSEA. It ranks every tested MitoCarta MT gene and does not first filter to DEGs. GSEA does not require one universal ranking statistic. The two example genes are illustrative and are not observed study results.</a:t>
            </a:r>
          </a:p>
          <a:p>
            <a:endParaRPr/>
          </a:p>
          <a:p>
            <a:r>
              <a:t>Sources: scripts/11_run_broad_deg_pathway_analysis.R computes rank_score = sign(logFC) multiplied by the square root of F; scripts/08_run_broad_pseudobulk_de.R produces logFC and F with edgeR glmQLFTest.</a:t>
            </a:r>
          </a:p>
          <a:p>
            <a:endParaRPr/>
          </a:p>
          <a:p>
            <a:r>
              <a:t>Transition: The next slide explains what the standard weighted GSEA enrichment score means.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what the standard weighted GSEA enrichment score means for one pathway.</a:t>
            </a:r>
          </a:p>
          <a:p>
            <a:endParaRPr/>
          </a:p>
          <a:p>
            <a:r>
              <a:t>Walk through: GSEA starts at the AD-up end of the ranked MitoCarta MT gene list and moves toward the AD-down end. When it encounters a gene from the pathway, the running score increases. Pathway genes with stronger absolute rank scores have more influence because this analysis uses standard weighted GSEA. Other tested genes decrease the running score evenly. The enrichment score, abbreviated ES, is the most extreme point reached by that running score. A large positive ES means pathway genes cluster near the AD-up end. An ES near zero means the pathway genes are dispersed through the ranked list. A large negative ES means pathway genes cluster near the AD-down end.</a:t>
            </a:r>
          </a:p>
          <a:p>
            <a:endParaRPr/>
          </a:p>
          <a:p>
            <a:r>
              <a:t>Scientific boundary: The ES sign gives direction, and distance from zero describes concentration within that ranked list. The raw ES is not a fold change and does not by itself establish statistical significance. Its magnitude also depends on pathway size and the rank-score distribution, so the normalized enrichment score supports comparisons among pathways.</a:t>
            </a:r>
          </a:p>
          <a:p>
            <a:endParaRPr/>
          </a:p>
          <a:p>
            <a:r>
              <a:t>Method: The analysis uses fgseaMultilevel with scoreType set to std and gseaParam set to 1, the standard weighted GSEA enrichment score.</a:t>
            </a:r>
          </a:p>
          <a:p>
            <a:endParaRPr/>
          </a:p>
          <a:p>
            <a:r>
              <a:t>Sources: Subramanian et al., PNAS 2005, doi:10.1073/pnas.0506580102; Bioconductor fgsea documentation; scripts/lib/phase11_deg_pathway_common.R; config/phase11_pathway_deg_broad.yml.</a:t>
            </a:r>
          </a:p>
          <a:p>
            <a:endParaRPr/>
          </a:p>
          <a:p>
            <a:r>
              <a:t>Transition: The next slide explains how NES rescales the raw 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raw enrichment score from the normalized enrichment score.</a:t>
            </a:r>
          </a:p>
          <a:p>
            <a:endParaRPr/>
          </a:p>
          <a:p>
            <a:r>
              <a:t>Walk through: ES describes where one pathway's genes concentrate in the ranked list. Its sign gives the AD-up or AD-down direction, but its raw magnitude depends partly on pathway size and the distribution of rank scores. To calculate NES, the analysis compares the observed ES with ES values from random gene sets containing the same number of genes. Positive observed ES values are normalized against positive random ES values, and negative observed ES values are normalized against negative random ES values. NES therefore preserves the ES direction while making enrichment strength more comparable across pathways.</a:t>
            </a:r>
          </a:p>
          <a:p>
            <a:endParaRPr/>
          </a:p>
          <a:p>
            <a:r>
              <a:t>Scientific boundary: NES is a normalized pathway-ranking score. It is not a fold change, DEG count, or percentage. NES alone does not establish statistical significance. The adjusted P value determines whether the pathway result is significant after multiple-testing correction. Comparisons across separate cohorts or ranking procedures still require caution.</a:t>
            </a:r>
          </a:p>
          <a:p>
            <a:endParaRPr/>
          </a:p>
          <a:p>
            <a:r>
              <a:t>Sources: Bioconductor fgsea documentation; scripts/lib/phase11_deg_pathway_common.R.</a:t>
            </a:r>
          </a:p>
          <a:p>
            <a:endParaRPr/>
          </a:p>
          <a:p>
            <a:r>
              <a:t>Transition: Part 7 examines how selected analysis thresholds affect the KDA 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Teaching goal: Introduce Part 7, which tests how selected analysis decisions affect the KDA results.</a:t>
            </a:r>
          </a:p>
          <a:p>
            <a:r>
              <a:rPr lang="en-US"/>
              <a:t>Walk through: The sensitivity analyses examine donor support, the number of nuclei contributing to each profile, the DEG query definition, and the KDA decision rules. Each check changes one decision while keeping the rest of the workflow fixed. The first comparison raises the minimum donor requirement in each disease-status group from three to five.</a:t>
            </a:r>
          </a:p>
          <a:p>
            <a:r>
              <a:rPr lang="en-US"/>
              <a:t>Scientific boundary: These analyses evaluate robustness to prespecified workflow decisions. The donor-threshold analysis concerns donors in each disease-status group, not the number of nuclei contributing to a donor-level profile.</a:t>
            </a:r>
          </a:p>
          <a:p>
            <a:r>
              <a:rPr lang="en-US"/>
              <a:t>Transition: Begin with the numerical consequences of changing the donor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an arm and show the numerical impact of raising the minimum donor requirement from three to five in both cohorts.</a:t>
            </a:r>
          </a:p>
          <a:p>
            <a:endParaRPr/>
          </a:p>
          <a:p>
            <a:r>
              <a:t>Walk through: An arm is one disease-status group within a comparison. In ROSMAP, the two arms are AD and NCI. In SEA-AD, they are dementia and no dementia. A contrast is eligible only when each arm meets the stated donor minimum. Raising that minimum from three to five reduces ROSMAP from 42 to 40 eligible contrasts and from three to two KDA calls. The number of gene rows returned from KDA calls falls from 39 to 13, and its unique non-MitoCarta drivers fall from 33 to 13. SEA-AD falls from 28 to 20 eligible contrasts, but its five KDA calls, 24 gene rows returned from KDA calls, and 18 unique non-MitoCarta drivers remain unchanged.</a:t>
            </a:r>
          </a:p>
          <a:p>
            <a:endParaRPr/>
          </a:p>
          <a:p>
            <a:r>
              <a:t>Scientific boundary: The threshold test changes only the donor eligibility gate. It does not change the retained contrast models, DEG queries, networks, or KDA settings. A contrast with fewer than five donors in either arm becomes unavailable under the stricter threshold; that exclusion is not a negative KDA result. Source: Phase 22 and VH14 run manifests and returns; donor-per-arm 3-versus-5 sensitivity assessment dated 2026-09-11.</a:t>
            </a:r>
          </a:p>
          <a:p>
            <a:endParaRPr/>
          </a:p>
          <a:p>
            <a:r>
              <a:t>Transition: Interpret why the two cohorts respond differently to the donor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cohort-specific and cross-cohort conclusions of the donor-threshold sensitivity analysis.</a:t>
            </a:r>
          </a:p>
          <a:p>
            <a:endParaRPr/>
          </a:p>
          <a:p>
            <a:r>
              <a:t>Walk through: ROSMAP loses the low-support Vasculature M_e2 KDA call that returned 26 gene rows. SEA-AD loses eight eligible contrasts, but none had progressed to KDA. Cross-cohort validation remains zero under both donor thresholds; Astrocytes F_e4 is the only exact stratum executed in both cohorts, and it has no shared drivers.</a:t>
            </a:r>
          </a:p>
          <a:p>
            <a:endParaRPr/>
          </a:p>
          <a:p>
            <a:r>
              <a:t>Scientific boundary: Contrasts excluded by the stricter donor threshold are unavailable comparisons. They must not be counted as evidence against validation. Source: Phase 22 and VH14 run manifests/returns; donor-per-arm 3-vs-5 sensitivity assessment (2026-09-11).</a:t>
            </a:r>
          </a:p>
          <a:p>
            <a:endParaRPr/>
          </a:p>
          <a:p>
            <a:r>
              <a:t>Transition: Continue with sensitivity to the minimum effective mitochondrial-query size.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query-size threshold and show how increasing it changes KDA availability and genes returned from KDA calls.</a:t>
            </a:r>
          </a:p>
          <a:p>
            <a:endParaRPr/>
          </a:p>
          <a:p>
            <a:r>
              <a:t>Walk through: The threshold is the minimum number of effective MitoCarta MT query genes remaining after network mapping. The donor minimum stays fixed at three in each disease-status group, so the source-estimable contrast counts remain 42 for ROSMAP and 28 for SEA-AD. One query is used for each contrast, which is why the query-passing contrast count equals the KDA call count. In ROSMAP, increasing the threshold from three to ten genes reduces the analysis from three KDA calls and 39 significant rows to one KDA call and 26 rows. Thresholds of 20 and 30 make no further change. SEA-AD remains unchanged at five genes, falls to three KDA calls and eight rows at ten or twenty genes, and retains two KDA calls and seven rows at thirty genes.</a:t>
            </a:r>
          </a:p>
          <a:p>
            <a:endParaRPr/>
          </a:p>
          <a:p>
            <a:r>
              <a:t>Scientific boundary: This sensitivity analysis filters existing KDA calls by mapped query size. It does not refit DEG models or make new KDA calls for retained KDA calls. Significant rows are gene rows returned from KDA calls, while the final column excludes all 1,136 MitoCarta MT genes and deduplicates drivers within each cohort. Source: validated Phase 22 and VH14 run manifests and significant-return tables dated 2026-09-11.</a:t>
            </a:r>
          </a:p>
          <a:p>
            <a:endParaRPr/>
          </a:p>
          <a:p>
            <a:r>
              <a:t>Transition: Identify the KDA calls responsible for the query-size step changes.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Identify the seven KDA calls that create the query-threshold pattern.</a:t>
            </a:r>
          </a:p>
          <a:p>
            <a:endParaRPr/>
          </a:p>
          <a:p>
            <a:r>
              <a:t>Walk through: Read the ROSMAP panel first. Its three executed queries contain 3, 8, and 78 mapped genes. A minimum of five removes the OPC female epsilon-4 KDA call. A minimum of ten also removes the astrocyte female epsilon-4 KDA call, leaving only the 78-gene vasculature male epsilon-2 KDA call. That remaining KDA call has low donor support, so raising the query floor makes the ROSMAP result more dependent on it. In SEA-AD, the five query sizes are 5, 9, 21, 43, and 45 genes. A minimum of five changes nothing. A minimum of ten removes the microglia male epsilon-3 homozygous and astrocyte female epsilon-4 KDA calls, reducing the output from 24 to 8 rows and from 18 to 3 unique non-MitoCarta drivers. A minimum of thirty also removes the 21-gene oligodendrocyte KDA call, but its only returned gene is a MitoCarta MT gene, so the non-MitoCarta driver count remains three.</a:t>
            </a:r>
          </a:p>
          <a:p>
            <a:endParaRPr/>
          </a:p>
          <a:p>
            <a:r>
              <a:t>Scientific boundary: Query size means the number of MitoCarta MT query genes remaining after network mapping, not the number of donors, cells, or genes in a pathway. This test filters existing KDA calls and does not make new KDA calls. MitoCarta MT genes returned from KDA calls explain changes in raw row counts but are excluded when the analysis reports non-MitoCarta key drivers. Source: validated Phase 22 and VH14 run manifests and significant-return tables dated 2026-09-11.</a:t>
            </a:r>
          </a:p>
          <a:p>
            <a:endParaRPr/>
          </a:p>
          <a:p>
            <a:r>
              <a:t>Transition: Finish with the implications for matched-stratum validation.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State the validation impact and identify the least disruptive query-size sensitivity threshold.</a:t>
            </a:r>
          </a:p>
          <a:p>
            <a:endParaRPr/>
          </a:p>
          <a:p>
            <a:r>
              <a:t>Walk through: non-MitoCarta driver overlap is zero at every threshold. The shared Astrocytes F_e4 stratum remains available at thresholds three and five but disappears from both cohorts at ten. Threshold five is the only stricter floor that preserves all SEA-AD KDA calls and the shared stratum.</a:t>
            </a:r>
          </a:p>
          <a:p>
            <a:endParaRPr/>
          </a:p>
          <a:p>
            <a:r>
              <a:t>Scientific boundary: Absence of a matched executed stratum at thresholds ten or higher is an unavailable validation comparison, not negative evidence. The five-gene threshold is a sensitivity reference, not a new confirmatory rule. Source: validated Phase 22 and VH14 run manifests and significant-return tables (2026-09-11).</a:t>
            </a:r>
          </a:p>
          <a:p>
            <a:endParaRPr/>
          </a:p>
          <a:p>
            <a:r>
              <a:t>Transition: Turn from robustness checks to the main biological findings and their interpretation.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section presents the remaining findings and explains how much weight to give each type of evidence.</a:t>
            </a:r>
          </a:p>
          <a:p>
            <a:endParaRPr/>
          </a:p>
          <a:p>
            <a:r>
              <a:t>The next five slides provide a map before the detailed findings begin. Findings 1–6 summarize DEG and pathway results. Findings 7–16 and 18 summarize genes returned from KDA calls.</a:t>
            </a:r>
          </a:p>
          <a:p>
            <a:endParaRPr/>
          </a:p>
          <a:p>
            <a:r>
              <a:t>Keep the evidence levels separate. DEG and pathway results describe gene-expression patterns, while KDA calls nominate network candidates. Human validation remains supporting evidence within the relevant findings rather than a separate finding. None of these analyses alone establishes causality or mitochondrial function.</a:t>
            </a:r>
          </a:p>
          <a:p>
            <a:endParaRPr/>
          </a:p>
          <a:p>
            <a:r>
              <a:t>Next, review how the remaining findings are organized.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remaining findings fall into two categories.</a:t>
            </a:r>
          </a:p>
          <a:p>
            <a:endParaRPr/>
          </a:p>
          <a:p>
            <a:r>
              <a:t>Findings 1–6 are the primary DEG and pathway results. They ask how mitochondrial genes and pathways change within each analyzed sex/APOE group before making KDA calls.</a:t>
            </a:r>
          </a:p>
          <a:p>
            <a:endParaRPr/>
          </a:p>
          <a:p>
            <a:r>
              <a:t>Findings 7–16 and 18 come from KDA calls made with MitoCarta MT DEGs. These calls return candidate genes that may help explain the mitochondrial changes. KDA does not show that a candidate gene causes or drives the change. That remains a hypothesis for follow-up.</a:t>
            </a:r>
          </a:p>
          <a:p>
            <a:endParaRPr/>
          </a:p>
          <a:p>
            <a:r>
              <a:t>Fifteen findings are linked to one or more analyzed sex/APOE groups. Findings 7 and 10 recur across all six groups and therefore do not distinguish a particular group. They receive lower priority in this sex/APOE-focused presentation.</a:t>
            </a:r>
          </a:p>
          <a:p>
            <a:endParaRPr/>
          </a:p>
          <a:p>
            <a:r>
              <a:t>A result found in selected groups does not by itself prove a statistical sex or APOE interaction.</a:t>
            </a:r>
          </a:p>
          <a:p>
            <a:endParaRPr/>
          </a:p>
          <a:p>
            <a:r>
              <a:t>Source: docs/analysis/kda_w_human_validation/rosmap_sex_apoe_broad_kda_analysis.md, Findings 1–16 and 18.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Findings 1–6 summarize DEG and pathway results. KDA calls are not involved in these findings.</a:t>
            </a:r>
          </a:p>
          <a:p>
            <a:endParaRPr/>
          </a:p>
          <a:p>
            <a:r>
              <a:t>Female ε3/ε3 shows increased core MT genes, and nuclear-encoded OXPHOS genes also mostly increase in ROSMAP. Male ε3/ε3 shows a mismatch: core MT genes increase while nuclear-encoded OXPHOS genes decrease. Female ε2 shows increases in both sets. Female ε4 shows a strong decrease in nuclear-encoded OXPHOS genes.</a:t>
            </a:r>
          </a:p>
          <a:p>
            <a:endParaRPr/>
          </a:p>
          <a:p>
            <a:r>
              <a:t>For male ε2, the two OXPHOS sets are the 13 core MT genes and the nuclear-encoded OXPHOS genes. Both sets show broad decreases. Male ε4 shows increased core MT genes with a more modest decrease in nuclear-encoded OXPHOS genes.</a:t>
            </a:r>
          </a:p>
          <a:p>
            <a:endParaRPr/>
          </a:p>
          <a:p>
            <a:r>
              <a:t>These patterns summarize DEG occurrences and pathway direction across fine cell types. They do not establish ATP production, mitochondrial performance, or a formal interaction between groups.</a:t>
            </a:r>
          </a:p>
          <a:p>
            <a:endParaRPr/>
          </a:p>
          <a:p>
            <a:r>
              <a:t>Novelty is provisional. It describes how much the specific result adds beyond prior research and is separate from evidence strength. Ratings: Findings 1, 4, and 6 are Moderate; Findings 2, 3, and 5 are High.</a:t>
            </a:r>
          </a:p>
          <a:p>
            <a:endParaRPr/>
          </a:p>
          <a:p>
            <a:r>
              <a:t>Source: docs/analysis/kda_w_human_validation/rosmap_sex_apoe_broad_kda_analysis.md, Findings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summarizes recurring genes returned from KDA calls in selected sex/APOE groups.</a:t>
            </a:r>
          </a:p>
          <a:p>
            <a:endParaRPr/>
          </a:p>
          <a:p>
            <a:r>
              <a:t>LAMTOR5 connects genes that sense nutrients at lysosomes, the cell’s recycling compartments, with OXPHOS genes. WDR82 is connected to a small set of core MT genes that are upregulated in AD in excitatory neurons.</a:t>
            </a:r>
          </a:p>
          <a:p>
            <a:endParaRPr/>
          </a:p>
          <a:p>
            <a:r>
              <a:t>SELENOW helps control oxidative stress. Its network connections include genes involved in mitochondrial respiration and protein production, as well as removal of damaged mitochondrial proteins.</a:t>
            </a:r>
          </a:p>
          <a:p>
            <a:endParaRPr/>
          </a:p>
          <a:p>
            <a:r>
              <a:t>PGK1 connects astrocyte glycolysis and low-oxygen signaling with genes involved in removing damaged mitochondria. FTL and ANKRD11 connect iron handling in oligodendrocyte precursor cells with protection from oxidative damage and recycling of damaged cell components.</a:t>
            </a:r>
          </a:p>
          <a:p>
            <a:endParaRPr/>
          </a:p>
          <a:p>
            <a:r>
              <a:t>Genes returned from KDA calls are candidates. Network connections do not prove that one gene regulates another or causes the AD-related change.</a:t>
            </a:r>
          </a:p>
          <a:p>
            <a:endParaRPr/>
          </a:p>
          <a:p>
            <a:r>
              <a:t>Novelty is provisional. It describes how much the specific result adds beyond prior research and is separate from evidence strength. Ratings: Findings 8, 9, and 13 are High; Findings 11 and 12 are Moderate.</a:t>
            </a:r>
          </a:p>
          <a:p>
            <a:endParaRPr/>
          </a:p>
          <a:p>
            <a:r>
              <a:t>Source: docs/analysis/kda_w_human_validation/rosmap_sex_apoe_broad_kda_analysis.md, Findings 8, 9, and 11–13.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genes remain useful, but each result depends on few genes, few KDA calls, or a pattern that changes across groups.</a:t>
            </a:r>
          </a:p>
          <a:p>
            <a:endParaRPr/>
          </a:p>
          <a:p>
            <a:r>
              <a:t>PLCG2 has strong Alzheimer’s disease genetic evidence, but only one MitoCarta MT gene, MT-CO1, was connected to it in the KDA result. Astrocyte APOE expression changes in opposite directions across groups, so the result is not specific to ε4.</a:t>
            </a:r>
          </a:p>
          <a:p>
            <a:endParaRPr/>
          </a:p>
          <a:p>
            <a:r>
              <a:t>A small group of genes that respond to protein damage and cellular stress appears in only two female ε4 vascular-cell KDA calls. INTS8 was returned from one male ε2 inhibitory-neuron KDA call. Human genetics supports follow-up, but INTS8 was not returned from additional KDA calls.</a:t>
            </a:r>
          </a:p>
          <a:p>
            <a:endParaRPr/>
          </a:p>
          <a:p>
            <a:r>
              <a:t>These findings remain secondary or targeted follow-up candidates. Gene-level genetic evidence does not confirm the cell type, sex/APOE context, or network connection.</a:t>
            </a:r>
          </a:p>
          <a:p>
            <a:endParaRPr/>
          </a:p>
          <a:p>
            <a:r>
              <a:t>Novelty is provisional. It describes how much the specific result adds beyond prior research and is separate from evidence strength. Ratings: Finding 14 is High; Findings 15, 16, and 18 are Moderate. Finding 14 remains a low-confidence network result despite its high novelty.</a:t>
            </a:r>
          </a:p>
          <a:p>
            <a:endParaRPr/>
          </a:p>
          <a:p>
            <a:r>
              <a:t>Source: docs/analysis/kda_w_human_validation/rosmap_sex_apoe_broad_kda_analysis.md, Findings 14–16 and 18.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Findings 7 and 10 receive lower priority only because this presentation focuses on differences among sex/APOE groups.</a:t>
            </a:r>
          </a:p>
          <a:p>
            <a:endParaRPr/>
          </a:p>
          <a:p>
            <a:r>
              <a:t>For both findings, found across all six sex/APOE groups means that the related pattern appeared in one or more KDA calls for every group. It does not mean that every individual fine-cell KDA call returned the same genes.</a:t>
            </a:r>
          </a:p>
          <a:p>
            <a:endParaRPr/>
          </a:p>
          <a:p>
            <a:r>
              <a:t>Finding 7 links RPL11, RPS15, and related genes that help ribosomes outside mitochondria make proteins with nuclear-encoded OXPHOS genes.</a:t>
            </a:r>
          </a:p>
          <a:p>
            <a:endParaRPr/>
          </a:p>
          <a:p>
            <a:r>
              <a:t>Finding 10 links SELENOM with genes used for mitochondrial protein production. SELENOM helps control oxidative stress and calcium inside the endoplasmic reticulum, the cellular compartment where many proteins are processed.</a:t>
            </a:r>
          </a:p>
          <a:p>
            <a:endParaRPr/>
          </a:p>
          <a:p>
            <a:r>
              <a:t>These findings may still be biologically important. They simply do not identify a distinct sex/APOE group.</a:t>
            </a:r>
          </a:p>
          <a:p>
            <a:endParaRPr/>
          </a:p>
          <a:p>
            <a:r>
              <a:t>Novelty is provisional and separate from evidence strength. Finding 7 is rated Moderate, and Finding 10 is rated High.</a:t>
            </a:r>
          </a:p>
          <a:p>
            <a:endParaRPr/>
          </a:p>
          <a:p>
            <a:r>
              <a:t>Source: docs/analysis/kda_w_human_validation/rosmap_sex_apoe_broad_kda_analysis.md, Findings 7 and 10.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 as a strong core MT gene increase with secondary nuclear-encoded OXPHOS support in ROSMAP.</a:t>
            </a:r>
          </a:p>
          <a:p>
            <a:endParaRPr/>
          </a:p>
          <a:p>
            <a:r>
              <a:t>Walk through: Finding 1 concerns female APOE epsilon-3 homozygous cells, with the clearest cross-cohort evidence in excitatory neurons. The primary result is a repeated increase in expression of core MT genes. Nuclear-encoded OXPHOS genes also mostly increase in ROSMAP, but this component is less consistently enriched and lacks the same SEA-AD support.</a:t>
            </a:r>
          </a:p>
          <a:p>
            <a:endParaRPr/>
          </a:p>
          <a:p>
            <a:r>
              <a:t>Scientific boundary: The evidence does not establish increased ATP production, a causal regulator, or a disease-by-sex-by-APOE interaction. The nuclear-encoded OXPHOS observation is secondary ROSMAP evidence rather than a replicated cross-cohort conclusion.</a:t>
            </a:r>
          </a:p>
          <a:p>
            <a:endParaRPr/>
          </a:p>
          <a:p>
            <a:r>
              <a:t>Scope: Observed in: female ε3/ε3</a:t>
            </a:r>
          </a:p>
          <a:p>
            <a:endParaRPr/>
          </a:p>
          <a:p>
            <a:r>
              <a:t>Transition: State the primary core MT gene result and the secondary nuclear result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primary and secondary parts of Finding 1 in plain language.</a:t>
            </a:r>
          </a:p>
          <a:p>
            <a:endParaRPr/>
          </a:p>
          <a:p>
            <a:r>
              <a:t>Walk through: Read the four labels first: female, APOE epsilon-3 homozygous, excitatory neurons, and Alzheimer’s disease. The 13 core MT genes encode structural subunits of oxidative phosphorylation, or OXPHOS. RNA from those genes is more abundant in AD than in the comparison group. Expression of nuclear-encoded OXPHOS genes also mostly rises in ROSMAP, but the strongest repeated and cross-cohort evidence concerns the core MT genes.</a:t>
            </a:r>
          </a:p>
          <a:p>
            <a:endParaRPr/>
          </a:p>
          <a:p>
            <a:r>
              <a:t>Scientific boundary: Higher RNA abundance does not demonstrate more OXPHOS protein, greater respiration, increased ATP production, or healthier mitochondria. It also does not establish that the disease response differs statistically by sex or APOE genotype.</a:t>
            </a:r>
          </a:p>
          <a:p>
            <a:endParaRPr/>
          </a:p>
          <a:p>
            <a:r>
              <a:t>Transition: Show how repeatedly the two OXPHOS gene sets appear among ROSMAP fine-cell DEGs.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ROSMAP DEG occurrence counts across all female epsilon-3 homozygous comparisons and within excitatory neurons.</a:t>
            </a:r>
          </a:p>
          <a:p>
            <a:endParaRPr/>
          </a:p>
          <a:p>
            <a:r>
              <a:t>Walk through: F_e33 denotes the female APOE epsilon-3 homozygous group. Across the included fine-cell DEG lists, core MT genes contribute 217 occurrences, and all 217 are upregulated in AD. Nuclear-encoded OXPHOS genes contribute 89 occurrences: 76 upregulated and 13 downregulated, so 85 percent are upregulated. Within excitatory neurons, 14 included fine-cell DEG lists contain 123 core MT gene occurrences, all upregulated. One occurrence means that one gene is a DEG in one fine-cell comparison, so the same gene can contribute multiple occurrences across fine cell types. These counts summarize the fine-cell DEG lists used for the mitochondrial analysis.</a:t>
            </a:r>
          </a:p>
          <a:p>
            <a:endParaRPr/>
          </a:p>
          <a:p>
            <a:r>
              <a:t>Scientific boundary: The occurrence counts do not represent unique genes, expression magnitude, independent donors, or replication. They summarize repeated DEG observations across fine-cell comparisons.</a:t>
            </a:r>
          </a:p>
          <a:p>
            <a:endParaRPr/>
          </a:p>
          <a:p>
            <a:r>
              <a:t>Transition: Ask whether the excitatory-neuron core MT gene pattern appears in SEA-AD.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the matched SEA-AD evidence for the excitatory-neuron result.</a:t>
            </a:r>
          </a:p>
          <a:p>
            <a:endParaRPr/>
          </a:p>
          <a:p>
            <a:r>
              <a:t>Walk through: Only one SEA-AD fine-cell DEG list contributed to the matched female epsilon-3 homozygous excitatory-neuron comparison, so the coverage is narrow. The list contains 10 MitoCarta MT DEGs. Nine are the same core MT genes found in ROSMAP, and all nine are upregulated in AD in both cohorts. The analysis observed nine shared genes compared with 3.83 expected based on genes detectable in the matched comparison. The shared-gene overlap remained significant after multiple-testing correction, with an adjusted P value of 0.005.</a:t>
            </a:r>
          </a:p>
          <a:p>
            <a:endParaRPr/>
          </a:p>
          <a:p>
            <a:r>
              <a:t>Scientific boundary: This slide supports the core MT component of Finding 1. It does not establish broad replication across excitatory-neuron subtypes or cross-cohort replication of the secondary nuclear-encoded OXPHOS increase.</a:t>
            </a:r>
          </a:p>
          <a:p>
            <a:endParaRPr/>
          </a:p>
          <a:p>
            <a:r>
              <a:t>Transition: Explain why the repeated mitochondrial response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the repeated excitatory-neuron response may matter.</a:t>
            </a:r>
          </a:p>
          <a:p>
            <a:endParaRPr/>
          </a:p>
          <a:p>
            <a:r>
              <a:t>Walk through: Excitatory neurons use substantial energy to generate and recover from electrical signaling. The 13 core MT genes encode structural OXPHOS subunits needed by the respiratory system. Their RNA repeatedly increases in ROSMAP and shows the same direction in the matched SEA-AD comparison. Expression of nuclear-encoded OXPHOS genes also mostly increases in ROSMAP. Together, these observations are consistent with a coordinated mitochondrial response in AD. The most cautious possibilities are compensation or a stress response.</a:t>
            </a:r>
          </a:p>
          <a:p>
            <a:endParaRPr/>
          </a:p>
          <a:p>
            <a:r>
              <a:t>Scientific boundary: RNA direction alone cannot distinguish successful compensation from mitochondrial stress, altered RNA processing, selective cell survival, or another disease-associated change. It does not show that mitochondria make more ATP or establish a causal mechanism.</a:t>
            </a:r>
          </a:p>
          <a:p>
            <a:endParaRPr/>
          </a:p>
          <a:p>
            <a:r>
              <a:t>Transition: Place the result in prior research and clarify what remains unproven.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 in prior research while preserving its novelty limits.</a:t>
            </a:r>
          </a:p>
          <a:p>
            <a:endParaRPr/>
          </a:p>
          <a:p>
            <a:r>
              <a:t>Walk through: Guo and colleagues support sex-aware Alzheimer’s disease network analysis. Mathys and colleagues support strong cell-type heterogeneity in AD, but that study also uses ROSMAP and therefore is not independent validation. Lee and colleagues connect APOE4 astrocytes with impaired mitochondrial homeostasis, but the APOE group and cell type differ from this finding. Together, these studies make the interpretation plausible without reproducing the exact female epsilon-3 homozygous excitatory-neuron result.</a:t>
            </a:r>
          </a:p>
          <a:p>
            <a:endParaRPr/>
          </a:p>
          <a:p>
            <a:r>
              <a:t>Scientific boundary: None of the cited studies independently establishes this exact pattern. The novelty assessment is therefore moderate: the mitochondrial biology is established, while this sex, APOE, and cell-type context is less established.</a:t>
            </a:r>
          </a:p>
          <a:p>
            <a:endParaRPr/>
          </a:p>
          <a:p>
            <a:r>
              <a:t>Transition: Proceed to Finding 2, the male epsilon-3 homozygous pattern with opposite OXPHOS directions.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second biological finding.</a:t>
            </a:r>
          </a:p>
          <a:p>
            <a:endParaRPr/>
          </a:p>
          <a:p>
            <a:r>
              <a:t>Walk through: Male APOE epsilon-3 homozygous cells show opposite gene-expression directions across the core MT and nuclear-encoded OXPHOS gene sets. The matched inhibitory-neuron gene-set pattern also appears in SEA-AD.</a:t>
            </a:r>
          </a:p>
          <a:p>
            <a:endParaRPr/>
          </a:p>
          <a:p>
            <a:r>
              <a:t>Scientific boundary: This is a transcript-level pattern across two mitochondrial gene sets. It does not prove protein imbalance, mitochondrial dysfunction, or a male-by-APOE interaction.</a:t>
            </a:r>
          </a:p>
          <a:p>
            <a:endParaRPr/>
          </a:p>
          <a:p>
            <a:r>
              <a:t>Scope: Observed in: male ε3/ε3</a:t>
            </a:r>
          </a:p>
          <a:p>
            <a:endParaRPr/>
          </a:p>
          <a:p>
            <a:r>
              <a:t>Transition: State the second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opposite OXPHOS gene-expression directions without statistical jargon.</a:t>
            </a:r>
          </a:p>
          <a:p>
            <a:endParaRPr/>
          </a:p>
          <a:p>
            <a:r>
              <a:t>Walk through: In male APOE epsilon-3 homozygous cells, expression of core MT genes usually rises in Alzheimer’s disease while expression of nuclear-encoded OXPHOS genes usually falls. Inhibitory neurons provide the clearest cross-cohort support.</a:t>
            </a:r>
          </a:p>
          <a:p>
            <a:endParaRPr/>
          </a:p>
          <a:p>
            <a:r>
              <a:t>Scientific boundary: Opposite directions in gene expression do not demonstrate mismatched proteins, reduced respiration, or unhealthy mitochondria.</a:t>
            </a:r>
          </a:p>
          <a:p>
            <a:endParaRPr/>
          </a:p>
          <a:p>
            <a:r>
              <a:t>Transition: Show the ROSMAP numbers behind the mismatch.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ROSMAP evidence for opposite OXPHOS directions in male epsilon-3 homozygous cells.</a:t>
            </a:r>
          </a:p>
          <a:p>
            <a:endParaRPr/>
          </a:p>
          <a:p>
            <a:r>
              <a:t>Walk through: Across 31 included male epsilon-3 homozygous fine-cell DEG lists, core MT genes contributed 81 occurrences: 70 AD-up and 11 AD-down. Therefore, 86 percent were upregulated. Nuclear-encoded OXPHOS genes contributed 68 occurrences: 8 AD-up and 60 AD-down. Therefore, 88 percent were downregulated. An occurrence is one gene identified as a DEG in one fine-cell comparison, so the same gene can contribute again in another fine cell type.</a:t>
            </a:r>
          </a:p>
          <a:p>
            <a:endParaRPr/>
          </a:p>
          <a:p>
            <a:r>
              <a:t>Scientific boundary: These are repeated DEG occurrences, not counts of unique genes or independent donors. Opposite directions in gene expression do not demonstrate mismatched proteins or impaired respiration.</a:t>
            </a:r>
          </a:p>
          <a:p>
            <a:endParaRPr/>
          </a:p>
          <a:p>
            <a:r>
              <a:t>Transition: Ask whether the matched male epsilon-3 homozygous inhibitory-neuron pattern appears in SEA-AD.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matched SEA-AD DEG support and what the same AD direction across cohorts means here.</a:t>
            </a:r>
          </a:p>
          <a:p>
            <a:endParaRPr/>
          </a:p>
          <a:p>
            <a:r>
              <a:t>Walk through: Eight SEA-AD male epsilon-3 homozygous inhibitory-neuron fine-cell DEG lists contributed to this comparison. ROSMAP and SEA-AD shared 22 MitoCarta MT DEGs, and 19 of the 22 had the same AD direction. Nine core MT genes were upregulated in both cohorts. Genes for nuclear-encoded OXPHOS, mitochondrial protein import, mitochondrial ribosomes, metabolite transport, and mitochondrial DNA or RNA maintenance were downregulated in both. The overlap was 22 genes compared with 15.17 expected and remained significant after multiple-testing correction, with an adjusted P value of 0.0417. Excluding genes whose mitochondrial identity was uncertain left 21 shared genes and a similar adjusted P value of 0.0486. The support therefore comes from shared DEGs and their directions across cohorts.</a:t>
            </a:r>
          </a:p>
          <a:p>
            <a:endParaRPr/>
          </a:p>
          <a:p>
            <a:r>
              <a:t>Scientific boundary: This is focused cross-cohort DEG support within the matched inhibitory-neuron context. It does not establish protein-level imbalance, mitochondrial dysfunction, or a formal disease-by-sex-by-APOE interaction.</a:t>
            </a:r>
          </a:p>
          <a:p>
            <a:endParaRPr/>
          </a:p>
          <a:p>
            <a:r>
              <a:t>Transition: Identify the genes that account for the cross-cohort directional agreement.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Name the genes with the same or opposite AD directions in the matched inhibitory-neuron comparison.</a:t>
            </a:r>
          </a:p>
          <a:p>
            <a:endParaRPr/>
          </a:p>
          <a:p>
            <a:r>
              <a:t>Walk through: Nine core MT genes were upregulated in both cohorts: MT-ATP6, MT-CO2, MT-CO3, MT-CYB, MT-ND1, MT-ND2, MT-ND3, MT-ND4, and MT-ND4L. Eight nuclear-encoded MitoCarta MT genes were downregulated in both: UQCRFS1, SLC25A5, TIMM13, TIMM17A, MRPL16, MRPS34, ENDOG, and MTCH1. DBP was also downregulated in both cohorts, while PRELID2 was upregulated in both. HIBCH, ISCU, and TMEM126B had opposite directions across cohorts.</a:t>
            </a:r>
          </a:p>
          <a:p>
            <a:endParaRPr/>
          </a:p>
          <a:p>
            <a:r>
              <a:t>Scientific boundary: These are shared MitoCarta MT DEGs. Matching AD directions do not establish matched protein abundance, respiratory-complex assembly, or mitochondrial function.</a:t>
            </a:r>
          </a:p>
          <a:p>
            <a:endParaRPr/>
          </a:p>
          <a:p>
            <a:r>
              <a:t>Transition: Explain why coordinated expression from two genomes and their support systems may matter.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biological relevance of the two-genome pattern without claiming impaired function.</a:t>
            </a:r>
          </a:p>
          <a:p>
            <a:endParaRPr/>
          </a:p>
          <a:p>
            <a:r>
              <a:t>Walk through: OXPHOS complexes combine proteins encoded by core MT genes with proteins encoded by nuclear-encoded OXPHOS genes, so the two gene sets ultimately contribute to the same respiratory system. The cross-cohort evidence also includes lower expression of genes involved in mitochondrial protein import, mitochondrial ribosomes, transport, and maintenance. Opposite expression directions could reflect compensation, unassembled components, an altered cell state, or mitochondrial stress, but the present data cannot distinguish among those possibilities.</a:t>
            </a:r>
          </a:p>
          <a:p>
            <a:endParaRPr/>
          </a:p>
          <a:p>
            <a:r>
              <a:t>Scientific boundary: This is an RNA-level difference between two OXPHOS gene sets. It does not show that respiratory proteins, complex assembly, respiration, or ATP production are unbalanced. The possible explanations are hypotheses for follow-up.</a:t>
            </a:r>
          </a:p>
          <a:p>
            <a:endParaRPr/>
          </a:p>
          <a:p>
            <a:r>
              <a:t>Transition: Place the finding in prior two-genome OXPHOS and cell-resolved Alzheimer’s research.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the finding to prior research while preserving the evidence and novelty boundaries.</a:t>
            </a:r>
          </a:p>
          <a:p>
            <a:endParaRPr/>
          </a:p>
          <a:p>
            <a:r>
              <a:t>Walk through: Basic OXPHOS biology establishes that respiratory complexes require coordinated core MT and nuclear-encoded OXPHOS proteins, but it does not show a protein imbalance in these samples. Guo and colleagues support analyzing Alzheimer’s molecular networks separately by sex, but they do not test this exact male epsilon-3 homozygous pattern. Mathys and colleagues support strong cell-resolved Alzheimer’s responses, but their study also uses ROSMAP and therefore does not provide independent replication. The novelty assessment is high because the biological concept is established while this cross-cohort male epsilon-3 homozygous inhibitory-neuron pattern was not identified in the reviewed literature.</a:t>
            </a:r>
          </a:p>
          <a:p>
            <a:endParaRPr/>
          </a:p>
          <a:p>
            <a:r>
              <a:t>Scientific boundary: Plausibility and novelty are separate from proof. None of these sources independently establishes the exact subgroup pattern, protein imbalance, or mitochondrial dysfunction.</a:t>
            </a:r>
          </a:p>
          <a:p>
            <a:endParaRPr/>
          </a:p>
          <a:p>
            <a:r>
              <a:t>Transition: Proceed to Finding 3, where both OXPHOS gene sets increase in female epsilon-2 cells.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3 and preview the evidence used to support it.</a:t>
            </a:r>
          </a:p>
          <a:p>
            <a:endParaRPr/>
          </a:p>
          <a:p>
            <a:r>
              <a:t>Walk through: Finding 3 concerns female APOE ε2 cells. In ROSMAP fine-cell comparisons of Alzheimer’s disease with no cognitive impairment, core MT genes and nuclear-encoded OXPHOS genes were both predominantly upregulated. This section begins with the direction of gene expression, then presents DEG-occurrence counts, compares fine-cell and direct broad-cell evidence, and ends with a cautious interpretation and literature context.</a:t>
            </a:r>
          </a:p>
          <a:p>
            <a:endParaRPr/>
          </a:p>
          <a:p>
            <a:r>
              <a:t>Scientific boundary: These within-stratum results do not establish a disease-by-sex or disease-by-APOE interaction. Coordinated gene expression also does not demonstrate greater OXPHOS protein abundance, increased ATP production, or improved mitochondrial function.</a:t>
            </a:r>
          </a:p>
          <a:p>
            <a:endParaRPr/>
          </a:p>
          <a:p>
            <a:r>
              <a:t>Scope: Observed in: female ε2</a:t>
            </a:r>
          </a:p>
          <a:p>
            <a:endParaRPr/>
          </a:p>
          <a:p>
            <a:r>
              <a:t>Transition: Define the two OXPHOS gene sets and show their direction in female APOE ε2 cells.</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both OXPHOS gene sets are described as upregulated together.</a:t>
            </a:r>
          </a:p>
          <a:p>
            <a:endParaRPr/>
          </a:p>
          <a:p>
            <a:r>
              <a:t>Walk through: Core MT genes are the 13 protein-coding genes in mitochondrial DNA that encode structural OXPHOS subunits. Nuclear-encoded OXPHOS genes are the 86 nuclear genes that encode the other structural subunits included in this analysis. Across the included female APOE ε2 fine-cell comparisons, 127 of 128 core MT gene occurrences and 239 of 243 nuclear-encoded OXPHOS gene occurrences were upregulated in AD. The two gene sets therefore show the same direction of gene-expression change.</a:t>
            </a:r>
          </a:p>
          <a:p>
            <a:endParaRPr/>
          </a:p>
          <a:p>
            <a:r>
              <a:t>Scientific boundary: One occurrence means that one gene is a DEG in one included fine-cell comparison. The same gene can contribute another occurrence in another comparison. These counts do not measure unique genes, expression magnitude, protein assembly, respiration, or ATP production.</a:t>
            </a:r>
          </a:p>
          <a:p>
            <a:endParaRPr/>
          </a:p>
          <a:p>
            <a:r>
              <a:t>Transition: Quantify the AD-up and AD-down occurrences for each gene set.</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ROSMAP DEG-occurrence pattern for Finding 3.</a:t>
            </a:r>
          </a:p>
          <a:p>
            <a:endParaRPr/>
          </a:p>
          <a:p>
            <a:r>
              <a:t>Walk through: This slide quantifies the female APOE epsilon-2 pattern. Across the included fine-cell comparisons, core MT genes contribute 128 DEG occurrences: 127 AD-up and one AD-down, so 99 percent are upregulated. Nuclear-encoded OXPHOS genes contribute 243 DEG occurrences: 239 AD-up and four AD-down, so 98 percent are upregulated. Both OXPHOS gene sets therefore show an almost uniform increase in AD.</a:t>
            </a:r>
          </a:p>
          <a:p>
            <a:endParaRPr/>
          </a:p>
          <a:p>
            <a:r>
              <a:t>Scientific boundary: The numbers 128 and 243 are gene-by-comparison occurrences, not counts of unique genes, cells, or donors. The percentages do not measure expression magnitude, OXPHOS protein abundance, respiration, or ATP production.</a:t>
            </a:r>
          </a:p>
          <a:p>
            <a:endParaRPr/>
          </a:p>
          <a:p>
            <a:r>
              <a:t>Transition: Compare this primary fine-cell DEG pattern with the direct broad-cell ROSMAP result and the available SEA-AD coverage.</a:t>
            </a:r>
          </a:p>
          <a:p>
            <a:endParaRPr/>
          </a:p>
          <a:p>
            <a:r>
              <a:t>Sources: docs/analysis/kda_w_human_validation/rosmap_sex_apoe_broad_kda_analysis.md, Finding 3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Compare the fine-cell and direct broad-cell evidence for Finding 3.</a:t>
            </a:r>
          </a:p>
          <a:p>
            <a:endParaRPr/>
          </a:p>
          <a:p>
            <a:r>
              <a:t>Walk through: Fine-cell ROSMAP supports both gene sets. Significant enrichment of upregulated genes appeared in nine of 12 fine cell types for core MT genes and eight of 12 for nuclear-encoded OXPHOS genes. Direct broad-cell ROSMAP supports the nuclear-encoded OXPHOS increase, but the core MT result was not significant. SEA-AD has no matched female APOE ε2 fine-cell DEG result, so it adds neither supporting nor contradictory evidence.</a:t>
            </a:r>
          </a:p>
          <a:p>
            <a:endParaRPr/>
          </a:p>
          <a:p>
            <a:r>
              <a:t>Scientific boundary: The direct broad-cell result partially supports the finding but does not reproduce the coordinated two-gene-set pattern. The complete pattern is therefore supported mainly by fine-cell ROSMAP. Missing SEA-AD coverage is neutral.</a:t>
            </a:r>
          </a:p>
          <a:p>
            <a:endParaRPr/>
          </a:p>
          <a:p>
            <a:r>
              <a:t>Transition: Consider what coordinated upregulation might mean without assuming that it is protective.</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biological hypothesis while separating it from the evidence.</a:t>
            </a:r>
          </a:p>
          <a:p>
            <a:endParaRPr/>
          </a:p>
          <a:p>
            <a:r>
              <a:t>Walk through: APOE ε2 is associated with lower Alzheimer’s disease risk at the population level, but these data come from diseased tissue. Both OXPHOS gene sets are upregulated together. This pattern could reflect compensation for inefficient mitochondria or another disease-related state. It supports testing a protective-response hypothesis, but it does not establish one.</a:t>
            </a:r>
          </a:p>
          <a:p>
            <a:endParaRPr/>
          </a:p>
          <a:p>
            <a:r>
              <a:t>Scientific boundary: The observed gene-expression pattern does not establish that the response is protective, that mitochondria work more efficiently, or that APOE ε2 caused the response. Separate female APOE ε2 analyses also do not establish a statistical sex-by-APOE interaction.</a:t>
            </a:r>
          </a:p>
          <a:p>
            <a:endParaRPr/>
          </a:p>
          <a:p>
            <a:r>
              <a:t>Transition: Review the prior research that supports parts of this interpretation.</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which part of the interpretation each cited study supports.</a:t>
            </a:r>
          </a:p>
          <a:p>
            <a:endParaRPr/>
          </a:p>
          <a:p>
            <a:r>
              <a:t>Walk through: Belloy and colleagues establish that Alzheimer’s disease risk differs across APOE alleles, but they do not explain this female APOE ε2 gene-expression pattern. Lee and colleagues show that APOE state can alter mitochondrial homeostasis in another experimental context. Guo and colleagues support sex-aware and cell-type-aware analysis of Alzheimer’s molecular networks, but they do not report this exact OXPHOS result. The novelty rating is therefore high but provisional.</a:t>
            </a:r>
          </a:p>
          <a:p>
            <a:endParaRPr/>
          </a:p>
          <a:p>
            <a:r>
              <a:t>Scientific boundary: These studies make the interpretation plausible, but none independently reproduces the same sex, APOE, cell-type, and disease comparison. The novelty assessment comes from a focused review rather than a systematic literature search.</a:t>
            </a:r>
          </a:p>
          <a:p>
            <a:endParaRPr/>
          </a:p>
          <a:p>
            <a:r>
              <a:t>Transition: Move to Finding 4 and the different OXPHOS direction in female APOE ε4 cells.</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4 as a female APOE ε4 DEG-direction result.</a:t>
            </a:r>
          </a:p>
          <a:p>
            <a:endParaRPr/>
          </a:p>
          <a:p>
            <a:r>
              <a:t>Walk through: The primary signal is lower expression of nuclear-encoded OXPHOS genes across female APOE ε4 fine-cell comparisons. Core MT genes are less consistently directional. The next slides quantify those DEG occurrences, test whether the pattern survives broad-cell aggregation, and explain why the resolution difference matters.</a:t>
            </a:r>
          </a:p>
          <a:p>
            <a:endParaRPr/>
          </a:p>
          <a:p>
            <a:r>
              <a:t>Scientific boundary: This finding describes differential gene expression. It does not directly measure respiratory-complex proteins, oxygen consumption, ATP production, or a causal sex-by-APOE interaction.</a:t>
            </a:r>
          </a:p>
          <a:p>
            <a:endParaRPr/>
          </a:p>
          <a:p>
            <a:r>
              <a:t>Scope: Observed in: female ε4</a:t>
            </a:r>
          </a:p>
          <a:p>
            <a:endParaRPr/>
          </a:p>
          <a:p>
            <a:r>
              <a:t>Transition: State the two OXPHOS gene-set directions in plain language.</a:t>
            </a:r>
          </a:p>
          <a:p>
            <a:endParaRPr/>
          </a:p>
          <a:p>
            <a:r>
              <a:t>Sources: docs/analysis/kda_w_human_validation/rosmap_sex_apoe_broad_kda_analysis.md, Finding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female APOE ε4 pattern before showing the counts.</a:t>
            </a:r>
          </a:p>
          <a:p>
            <a:endParaRPr/>
          </a:p>
          <a:p>
            <a:r>
              <a:t>Walk through: Nuclear-encoded OXPHOS genes provide the clear signal: 206 of 216 repeated DEG occurrences are lower in AD. Core MT genes are mixed, with 38 AD-down and 26 AD-up occurrences. The result is therefore a decrease in nuclear-encoded OXPHOS gene expression rather than a uniform decrease across all MitoCarta MT genes.</a:t>
            </a:r>
          </a:p>
          <a:p>
            <a:endParaRPr/>
          </a:p>
          <a:p>
            <a:r>
              <a:t>Scientific boundary: An occurrence is one gene observed as a DEG in one fine-cell comparison. Repeated occurrences are not independent donors or unique genes, and the direct broad-cell result points in the opposite direction.</a:t>
            </a:r>
          </a:p>
          <a:p>
            <a:endParaRPr/>
          </a:p>
          <a:p>
            <a:r>
              <a:t>Transition: Show the exact occurrence counts and percentages.</a:t>
            </a:r>
          </a:p>
          <a:p>
            <a:endParaRPr/>
          </a:p>
          <a:p>
            <a:r>
              <a:t>Sources: docs/analysis/kda_w_human_validation/rosmap_sex_apoe_broad_kda_analysis.md, Finding 4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female APOE ε4 DEG directions without mixing them with pathway statistics.</a:t>
            </a:r>
          </a:p>
          <a:p>
            <a:endParaRPr/>
          </a:p>
          <a:p>
            <a:r>
              <a:t>Walk through: Across included fine-cell comparisons, nuclear-encoded OXPHOS genes contribute 216 DEG occurrences: 206 AD-down and 10 AD-up. Thus 95 percent are downregulated. Core MT genes contribute 64 occurrences: 38 AD-down and 26 AD-up, or 59 percent downregulated. The nuclear-encoded component is both larger and much more consistently downward.</a:t>
            </a:r>
          </a:p>
          <a:p>
            <a:endParaRPr/>
          </a:p>
          <a:p>
            <a:r>
              <a:t>Scientific boundary: These are repeated gene-by-fine-cell DEG occurrences. They are not counts of unique genes, cells, or donors, and they do not quantify the magnitude of expression change.</a:t>
            </a:r>
          </a:p>
          <a:p>
            <a:endParaRPr/>
          </a:p>
          <a:p>
            <a:r>
              <a:t>Transition: Check whether direct broad-cell analysis supports the same direction.</a:t>
            </a:r>
          </a:p>
          <a:p>
            <a:endParaRPr/>
          </a:p>
          <a:p>
            <a:r>
              <a:t>Sources: docs/analysis/kda_w_human_validation/rosmap_sex_apoe_broad_kda_analysis.md, Finding 4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that the female APOE ε4 result changes with cell-type resolution.</a:t>
            </a:r>
          </a:p>
          <a:p>
            <a:endParaRPr/>
          </a:p>
          <a:p>
            <a:r>
              <a:t>Walk through: The fine-cell DEG result points strongly downward for nuclear-encoded OXPHOS genes. In direct broad-cell analysis, ROSMAP has an AD-up NES of +0.70, but its adjusted P value of 0.991 is not significant. SEA-AD has an AD-up NES of +2.01 with an adjusted P value of 5.62 × 10⁻⁵, so the pathway-level result is significant. This means that the pathway genes collectively rank toward higher expression in AD. It does not mean that every individual OXPHOS gene is significantly upregulated. The available SEA-AD fine-cell check contains only one small astrocyte DEG list, and its overlap with ROSMAP is not significant.</a:t>
            </a:r>
          </a:p>
          <a:p>
            <a:endParaRPr/>
          </a:p>
          <a:p>
            <a:r>
              <a:t>Scientific boundary: The direct broad-cell pathway results point upward, opposite to the fine-cell DEG-occurrence pattern. This disagreement limits Finding 4 to the fine-cell analysis. Differences in the mix of fine cell types and limited matched coverage may contribute, but the current results do not identify the cause.</a:t>
            </a:r>
          </a:p>
          <a:p>
            <a:endParaRPr/>
          </a:p>
          <a:p>
            <a:r>
              <a:t>Transition: Explain the biological importance and the resolution warning together.</a:t>
            </a:r>
          </a:p>
          <a:p>
            <a:endParaRPr/>
          </a:p>
          <a:p>
            <a:r>
              <a:t>Sources: docs/analysis/kda_w_human_validation/rosmap_sex_apoe_broad_kda_analysis.md, Finding 4 and validation sections.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a nuclear-encoded OXPHOS decrease could matter biologically.</a:t>
            </a:r>
          </a:p>
          <a:p>
            <a:endParaRPr/>
          </a:p>
          <a:p>
            <a:r>
              <a:t>Walk through: Most respiratory-complex subunits are encoded by nuclear DNA. Lower expression across many of these genes could reduce the supply of complex components, reflect cellular stress, or mark a different cell state. APOE ε4 makes the hypothesis important because it strongly increases late-onset Alzheimer’s disease risk at the population level.</a:t>
            </a:r>
          </a:p>
          <a:p>
            <a:endParaRPr/>
          </a:p>
          <a:p>
            <a:r>
              <a:t>Scientific boundary: Gene expression alone cannot establish lower respiratory capacity. The direct broad-cell pathway results point in the opposite direction, so the most cautious interpretation is a fine-cell signal that warrants targeted follow-up.</a:t>
            </a:r>
          </a:p>
          <a:p>
            <a:endParaRPr/>
          </a:p>
          <a:p>
            <a:r>
              <a:t>Transition: Place the result in prior research and summarize its evidence level.</a:t>
            </a:r>
          </a:p>
          <a:p>
            <a:endParaRPr/>
          </a:p>
          <a:p>
            <a:r>
              <a:t>Sources: docs/analysis/kda_w_human_validation/rosmap_sex_apoe_broad_kda_analysis.md, Finding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the cited studies support parts of Finding 4 and why the slide rates its novelty as moderate.</a:t>
            </a:r>
          </a:p>
          <a:p>
            <a:endParaRPr/>
          </a:p>
          <a:p>
            <a:r>
              <a:t>Walk through: Schmukler and colleagues link APOE4 models to altered mitochondrial dynamics and removal of damaged mitochondria, but they do not reproduce the nuclear-encoded OXPHOS gene-expression pattern. Lee and colleagues connect APOE4 astrocytes with impaired maintenance of mitochondrial function, but the cell context and experimental design differ. Mathys and colleagues demonstrate strong differences among brain cell states, but that work also uses ROSMAP and is not independent replication. These sources support parts of the interpretation. None establishes the complete female APOE ε4 finding. The slide therefore rates novelty as moderate.</a:t>
            </a:r>
          </a:p>
          <a:p>
            <a:endParaRPr/>
          </a:p>
          <a:p>
            <a:r>
              <a:t>Scientific boundary: The novelty rating summarizes this focused literature comparison. It does not strengthen the direct evidence, and the finding remains sensitive to analysis resolution and lacks independent confirmation.</a:t>
            </a:r>
          </a:p>
          <a:p>
            <a:endParaRPr/>
          </a:p>
          <a:p>
            <a:r>
              <a:t>Transition: Move to the coordinated downward OXPHOS pattern in male APOE ε2 cells.</a:t>
            </a:r>
          </a:p>
          <a:p>
            <a:endParaRPr/>
          </a:p>
          <a:p>
            <a:r>
              <a:t>Sources: docs/analysis/kda_w_human_validation/rosmap_sex_apoe_broad_kda_analysis.md, Finding 4 literature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5 as a coordinated male APOE ε2 DEG decrease.</a:t>
            </a:r>
          </a:p>
          <a:p>
            <a:endParaRPr/>
          </a:p>
          <a:p>
            <a:r>
              <a:t>Walk through: Unlike Finding 4, both defined OXPHOS gene sets move downward in male APOE ε2 fine-cell comparisons. Core MT genes are predominantly AD-down, and nuclear-encoded OXPHOS genes are also predominantly AD-down. The next slides quantify the repeated DEG occurrences and explain why unusually large MitoCarta MT DEG sets contribute many occurrences.</a:t>
            </a:r>
          </a:p>
          <a:p>
            <a:endParaRPr/>
          </a:p>
          <a:p>
            <a:r>
              <a:t>Scientific boundary: The result describes disease-associated gene expression in observed tissue. It does not imply that APOE ε2 causes the decrease or that lower expression explains APOE ε2 population-level protection.</a:t>
            </a:r>
          </a:p>
          <a:p>
            <a:endParaRPr/>
          </a:p>
          <a:p>
            <a:r>
              <a:t>Scope: Observed in: male ε2</a:t>
            </a:r>
          </a:p>
          <a:p>
            <a:endParaRPr/>
          </a:p>
          <a:p>
            <a:r>
              <a:t>Transition: State the coordinated direction and its contrast with male APOE ε3/ε3.</a:t>
            </a:r>
          </a:p>
          <a:p>
            <a:endParaRPr/>
          </a:p>
          <a:p>
            <a:r>
              <a:t>Sources: docs/analysis/kda_w_human_validation/rosmap_sex_apoe_broad_kda_analysis.md, Finding 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coordinated male APOE ε2 decrease in plain language.</a:t>
            </a:r>
          </a:p>
          <a:p>
            <a:endParaRPr/>
          </a:p>
          <a:p>
            <a:r>
              <a:t>Walk through: Core MT genes contribute 132 DEG occurrences, of which 119 are lower in AD. Nuclear-encoded OXPHOS genes contribute 467 occurrences, of which 404 are lower in AD. Both gene sets therefore point downward, unlike the opposite-direction pattern seen in male APOE ε3 homozygous cells.</a:t>
            </a:r>
          </a:p>
          <a:p>
            <a:endParaRPr/>
          </a:p>
          <a:p>
            <a:r>
              <a:t>Scientific boundary: APOE ε2 lowers average Alzheimer’s disease risk at the population level, but that does not predict every molecular state after disease develops. The observed expression pattern is descriptive rather than causal.</a:t>
            </a:r>
          </a:p>
          <a:p>
            <a:endParaRPr/>
          </a:p>
          <a:p>
            <a:r>
              <a:t>Transition: Show the exact DEG-occurrence percentages.</a:t>
            </a:r>
          </a:p>
          <a:p>
            <a:endParaRPr/>
          </a:p>
          <a:p>
            <a:r>
              <a:t>Sources: docs/analysis/kda_w_human_validation/rosmap_sex_apoe_broad_kda_analysis.md, Finding 5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male APOE ε2 DEG burden in both OXPHOS gene sets.</a:t>
            </a:r>
          </a:p>
          <a:p>
            <a:endParaRPr/>
          </a:p>
          <a:p>
            <a:r>
              <a:t>Walk through: Across included fine-cell comparisons, core MT genes contribute 132 DEG occurrences: 119 AD-down and 13 AD-up, so 90 percent are downregulated. Nuclear-encoded OXPHOS genes contribute 467 occurrences: 404 AD-down and 63 AD-up, so 87 percent are downregulated. Together, 523 OXPHOS occurrences are AD-down.</a:t>
            </a:r>
          </a:p>
          <a:p>
            <a:endParaRPr/>
          </a:p>
          <a:p>
            <a:r>
              <a:t>Scientific boundary: The 523 value combines repeated gene-by-fine-cell occurrences from two defined gene sets. It is not a count of unique genes, donors, or cells, and it does not measure expression magnitude or mitochondrial function.</a:t>
            </a:r>
          </a:p>
          <a:p>
            <a:endParaRPr/>
          </a:p>
          <a:p>
            <a:r>
              <a:t>Transition: Explain why the male APOE ε2 DEG sets are unusually large.</a:t>
            </a:r>
          </a:p>
          <a:p>
            <a:endParaRPr/>
          </a:p>
          <a:p>
            <a:r>
              <a:t>Sources: docs/analysis/kda_w_human_validation/rosmap_sex_apoe_broad_kda_analysis.md, Finding 5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DEG-set-size caveat for male APOE ε2.</a:t>
            </a:r>
          </a:p>
          <a:p>
            <a:endParaRPr/>
          </a:p>
          <a:p>
            <a:r>
              <a:t>Walk through: Each included fine-cell comparison contributes one set of MitoCarta MT DEGs. The median male APOE ε2 set contains 85 DEGs, compared with 16.5 across all included fine-cell comparisons. Larger DEG sets can generate more DEG occurrences when results are summarized across fine cell types.</a:t>
            </a:r>
          </a:p>
          <a:p>
            <a:endParaRPr/>
          </a:p>
          <a:p>
            <a:r>
              <a:t>Scientific boundary: This size difference helps explain the large occurrence count, but it does not change the proportion of upregulated versus downregulated occurrences. SEA-AD has no matched male APOE ε2 fine-cell DEG result here.</a:t>
            </a:r>
          </a:p>
          <a:p>
            <a:endParaRPr/>
          </a:p>
          <a:p>
            <a:r>
              <a:t>Transition: Return to the biological meaning of the coordinated DEG direction.</a:t>
            </a:r>
          </a:p>
          <a:p>
            <a:endParaRPr/>
          </a:p>
          <a:p>
            <a:r>
              <a:t>Sources: docs/analysis/kda_w_human_validation/rosmap_sex_apoe_broad_kda_analysis.md, Finding 5 and DEG-set-size diagnostics.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Separate the male APOE ε2 DEG direction from inherited-risk interpretation and mitochondrial function.</a:t>
            </a:r>
          </a:p>
          <a:p>
            <a:endParaRPr/>
          </a:p>
          <a:p>
            <a:r>
              <a:t>Walk through: APOE ε2 lowers average Alzheimer’s disease risk, but diseased male APOE ε2 tissue can still show lower expression of both OXPHOS gene sets. Possible explanations include respiratory reduction, altered cell state, or selective survival of particular cells. The DEG result identifies a biological pattern to test, not its mechanism.</a:t>
            </a:r>
          </a:p>
          <a:p>
            <a:endParaRPr/>
          </a:p>
          <a:p>
            <a:r>
              <a:t>Scientific boundary: Lower gene expression does not by itself demonstrate lower respiratory-complex abundance, respiration, ATP production, or mitochondrial fitness. Protein and functional measurements are needed.</a:t>
            </a:r>
          </a:p>
          <a:p>
            <a:endParaRPr/>
          </a:p>
          <a:p>
            <a:r>
              <a:t>Transition: Place the result in prior research and summarize its evidence level.</a:t>
            </a:r>
          </a:p>
          <a:p>
            <a:endParaRPr/>
          </a:p>
          <a:p>
            <a:r>
              <a:t>Sources: docs/analysis/kda_w_human_validation/rosmap_sex_apoe_broad_kda_analysis.md, Finding 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the cited studies frame Finding 5 and why the slide rates its novelty as high.</a:t>
            </a:r>
          </a:p>
          <a:p>
            <a:endParaRPr/>
          </a:p>
          <a:p>
            <a:r>
              <a:t>Walk through: Belloy and colleagues establish the population-level protection associated with APOE ε2, but inherited risk does not predict the molecular state of diseased male ε2 cells. Guo and colleagues support sex-aware network analysis but do not report this exact male ε2 decrease. Mathys and colleagues show that Alzheimer’s responses differ among brain cell populations, but the study also uses ROSMAP and cannot independently validate this pattern. None of these sources reproduces the coordinated decrease across both OXPHOS gene sets. The slide therefore rates novelty as high.</a:t>
            </a:r>
          </a:p>
          <a:p>
            <a:endParaRPr/>
          </a:p>
          <a:p>
            <a:r>
              <a:t>Scientific boundary: The novelty rating comes from a focused literature comparison. The finding still lacks a matched SEA-AD category and functional validation.</a:t>
            </a:r>
          </a:p>
          <a:p>
            <a:endParaRPr/>
          </a:p>
          <a:p>
            <a:r>
              <a:t>Transition: Move to Finding 6, where male APOE ε4 cells may show opposite directions across the two OXPHOS gene sets.</a:t>
            </a:r>
          </a:p>
          <a:p>
            <a:endParaRPr/>
          </a:p>
          <a:p>
            <a:r>
              <a:t>Sources: docs/analysis/kda_w_human_validation/rosmap_sex_apoe_broad_kda_analysis.md, Finding 5 literature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6.</a:t>
            </a:r>
          </a:p>
          <a:p>
            <a:endParaRPr/>
          </a:p>
          <a:p>
            <a:r>
              <a:t>Walk through: core MT genes are mostly upregulated and nuclear-encoded OXPHOS genes are modestly downregulated, with mixed cross-cohort sensitivity. Source: docs/analysis/kda_w_human_validation/rosmap_sex_apoe_broad_kda_analysis.md, Finding 6. Literature: https://doi.org/10.1016/j.neuron.2019.03.075; https://doi.org/10.1016/j.celrep.2023.113183; https://doi.org/10.1186/s13024-023-00624-5</a:t>
            </a:r>
          </a:p>
          <a:p>
            <a:endParaRPr/>
          </a:p>
          <a:p>
            <a:r>
              <a:t>Scientific boundary: This section presents a testable interpretation. KDA and transcript direction do not establish causal regulation or mitochondrial function.</a:t>
            </a:r>
          </a:p>
          <a:p>
            <a:endParaRPr/>
          </a:p>
          <a:p>
            <a:r>
              <a:t>Scope: Observed in: male ε4</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6 is described as a possible OXPHOS mismatch.</a:t>
            </a:r>
          </a:p>
          <a:p>
            <a:endParaRPr/>
          </a:p>
          <a:p>
            <a:r>
              <a:t>Walk through: In male APOE ε4 cells, 87 of 110 core MT gene occurrences are upregulated in AD, whereas 55 of 89 nuclear-encoded OXPHOS gene occurrences are downregulated. This direction split resembles the male APOE ε3 homozygous pattern, but the nuclear-encoded decrease is less consistent. Direct broad-cell evidence also disagrees across cohorts. The slide therefore describes a possible mismatch that needs replication rather than a definitive mismatch.</a:t>
            </a:r>
          </a:p>
          <a:p>
            <a:endParaRPr/>
          </a:p>
          <a:p>
            <a:r>
              <a:t>Scientific boundary: This is an RNA-level pattern. It does not demonstrate unbalanced respiratory proteins, impaired mitochondrial function, or a disease-by-APOE interaction.</a:t>
            </a:r>
          </a:p>
          <a:p>
            <a:endParaRPr/>
          </a:p>
          <a:p>
            <a:r>
              <a:t>Transition: Show the ROSMAP DEG-occurrence counts behind the direction split.</a:t>
            </a:r>
          </a:p>
          <a:p>
            <a:endParaRPr/>
          </a:p>
          <a:p>
            <a:r>
              <a:t>Sources: docs/analysis/kda_w_human_validation/rosmap_sex_apoe_broad_kda_analysis.md, Finding 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6 and explain why the opposite-direction pattern remains provisional.</a:t>
            </a:r>
          </a:p>
          <a:p>
            <a:endParaRPr/>
          </a:p>
          <a:p>
            <a:r>
              <a:t>Walk through: Core MT genes contributed 110 DEG occurrences, with 87 upregulated and 23 downregulated, so 79 percent were upregulated. Nuclear-encoded OXPHOS genes contributed 89 occurrences, with 34 upregulated and 55 downregulated, so 62 percent were downregulated.</a:t>
            </a:r>
          </a:p>
          <a:p>
            <a:endParaRPr/>
          </a:p>
          <a:p>
            <a:r>
              <a:t>Evidence of opposite direction means that the dominant direction differs between the two gene sets: core MT genes are mainly upregulated, while nuclear-encoded OXPHOS genes are mainly downregulated. This is a qualitative interpretation, not a separate statistical score. The nuclear result is fairly mixed, which makes the pattern weaker than Finding 2 and supports the label possible rather than definitive.</a:t>
            </a:r>
          </a:p>
          <a:p>
            <a:endParaRPr/>
          </a:p>
          <a:p>
            <a:r>
              <a:t>The enrichment counts provide a second view. Core MT enrichment appeared broadly across the eligible calls, whereas significant nuclear-encoded OXPHOS enrichment appeared in only three eligible calls.</a:t>
            </a:r>
          </a:p>
          <a:p>
            <a:endParaRPr/>
          </a:p>
          <a:p>
            <a:r>
              <a:t>Scientific boundary: DEG occurrences can repeat the same gene across fine cell types. They are not counts of unique genes, donors, or cells, and the percentages do not measure expression magnitude or mitochondrial function.</a:t>
            </a:r>
          </a:p>
          <a:p>
            <a:endParaRPr/>
          </a:p>
          <a:p>
            <a:r>
              <a:t>Transition: Next, compare the fine-cell summary with the direct broad-cell results in ROSMAP and SEA-AD.</a:t>
            </a:r>
          </a:p>
          <a:p>
            <a:endParaRPr/>
          </a:p>
          <a:p>
            <a:r>
              <a:t>Source: docs/analysis/kda_w_human_validation/rosmap_sex_apoe_broad_kda_analysis.md, Finding 6.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Compare the male APOE ε4 opposite-direction pattern across analysis resolutions and cohorts.</a:t>
            </a:r>
          </a:p>
          <a:p>
            <a:endParaRPr/>
          </a:p>
          <a:p>
            <a:r>
              <a:t>Walk through: In the direct ROSMAP excitatory-neuron analysis, the core MT pathway had a positive normalized enrichment score of 2.03 and the nuclear-encoded OXPHOS pathway had a negative score of 1.72. Both results remained significant after adjustment for broad-cell composition, so the ROSMAP broad-cell result supports the same opposite directions shown by the fine-cell summary.</a:t>
            </a:r>
          </a:p>
          <a:p>
            <a:endParaRPr/>
          </a:p>
          <a:p>
            <a:r>
              <a:t>SEA-AD did not reproduce the nuclear direction. Its excitatory-neuron nuclear-encoded OXPHOS score was positive 2.46, and its core MT result was not significant. SEA-AD also had no active male APOE ε4 fine-cell KDA query, so it cannot test the finding at the same fine-cell KDA resolution.</a:t>
            </a:r>
          </a:p>
          <a:p>
            <a:endParaRPr/>
          </a:p>
          <a:p>
            <a:r>
              <a:t>Cross-resolution disagreement means that the fine-cell summary and direct broad-cell analyses do not give a consistent result across both cohorts. This keeps the male APOE ε4 mismatch provisional.</a:t>
            </a:r>
          </a:p>
          <a:p>
            <a:endParaRPr/>
          </a:p>
          <a:p>
            <a:r>
              <a:t>Scientific boundary: A direct broad-cell result is calculated from donor-level expression for the broad cell type. It is different from aggregating results across fine cell types. Differences in cohort composition and cell resolution can contribute to disagreement.</a:t>
            </a:r>
          </a:p>
          <a:p>
            <a:endParaRPr/>
          </a:p>
          <a:p>
            <a:r>
              <a:t>Transition: Explain what the weaker pattern could mean and why direct group comparisons are required.</a:t>
            </a:r>
          </a:p>
          <a:p>
            <a:endParaRPr/>
          </a:p>
          <a:p>
            <a:r>
              <a:t>Source: docs/analysis/kda_w_human_validation/rosmap_sex_apoe_broad_kda_analysis.md, Finding 6.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6 may matter without overstating the evidence.</a:t>
            </a:r>
          </a:p>
          <a:p>
            <a:endParaRPr/>
          </a:p>
          <a:p>
            <a:r>
              <a:t>Walk through: Finding 6 resembles Finding 2 because core MT genes mainly increase while nuclear-encoded OXPHOS genes mainly decrease. The APOE ε4 pattern is weaker because its nuclear component contains many more upregulated occurrences than the male APOE ε3/ε3 result.</a:t>
            </a:r>
          </a:p>
          <a:p>
            <a:endParaRPr/>
          </a:p>
          <a:p>
            <a:r>
              <a:t>Separate analyses of male APOE ε3/ε3 and male APOE ε4 cannot determine whether the pattern is a general male response or differs by APOE genotype. That question requires a direct statistical comparison across groups.</a:t>
            </a:r>
          </a:p>
          <a:p>
            <a:endParaRPr/>
          </a:p>
          <a:p>
            <a:r>
              <a:t>A prespecified balance score would summarize the relative directions of the core MT and nuclear-encoded OXPHOS gene sets using a rule defined before comparing groups. Applying the same score to every group would provide a direct test of whether the opposite-direction evidence differs across sex and APOE groups.</a:t>
            </a:r>
          </a:p>
          <a:p>
            <a:endParaRPr/>
          </a:p>
          <a:p>
            <a:r>
              <a:t>Scientific boundary: This remains a hypothesis. RNA direction does not establish OXPHOS protein imbalance, mitochondrial dysfunction, or an APOE-dependent effect.</a:t>
            </a:r>
          </a:p>
          <a:p>
            <a:endParaRPr/>
          </a:p>
          <a:p>
            <a:r>
              <a:t>Transition: Place Finding 6 in the context of prior research and summarize its evidence level.</a:t>
            </a:r>
          </a:p>
          <a:p>
            <a:endParaRPr/>
          </a:p>
          <a:p>
            <a:r>
              <a:t>Source: docs/analysis/kda_w_human_validation/rosmap_sex_apoe_broad_kda_analysis.md, Finding 6.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the cited studies frame Finding 6 and why the slide rates its novelty as moderate.</a:t>
            </a:r>
          </a:p>
          <a:p>
            <a:endParaRPr/>
          </a:p>
          <a:p>
            <a:r>
              <a:t>Walk through: Belloy and colleagues establish APOE ε4 as a major common risk allele for late-onset Alzheimer’s disease, but risk association does not validate the gene-expression direction split. Lee and colleagues show that APOE4 can alter mitochondrial homeostasis in astrocyte models, not in this male cell context. Guo and colleagues support testing Alzheimer’s molecular patterns separately by sex but do not establish this male ε4 pattern. The studies support the rationale for the analysis without reproducing the result. The slide rates novelty as moderate.</a:t>
            </a:r>
          </a:p>
          <a:p>
            <a:endParaRPr/>
          </a:p>
          <a:p>
            <a:r>
              <a:t>Scientific boundary: The novelty rating comes from a focused literature comparison. The male ε4 direction split remains provisional because its nuclear-encoded component is weaker and cross-cohort broad-cell evidence disagrees.</a:t>
            </a:r>
          </a:p>
          <a:p>
            <a:endParaRPr/>
          </a:p>
          <a:p>
            <a:r>
              <a:t>Transition: Proceed to Finding 7 and the recurrent cytosolic-ribosome module.</a:t>
            </a:r>
          </a:p>
          <a:p>
            <a:endParaRPr/>
          </a:p>
          <a:p>
            <a:r>
              <a:t>Sources: docs/analysis/kda_w_human_validation/rosmap_sex_apoe_broad_kda_analysis.md, Finding 6 literature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7 and clarify that it is not sex/APOE-specific.</a:t>
            </a:r>
          </a:p>
          <a:p>
            <a:endParaRPr/>
          </a:p>
          <a:p>
            <a:r>
              <a:t>Walk through: RPL11, RPS15, and related cytosolic-ribosome genes recur near nuclear-encoded OXPHOS genes used as input to KDA. The group of ribosome genes appears across all six sex/APOE groups rather than being confined to one group. The label on this slide therefore identifies Finding 7 as a cross-group network finding.</a:t>
            </a:r>
          </a:p>
          <a:p>
            <a:endParaRPr/>
          </a:p>
          <a:p>
            <a:r>
              <a:t>Scientific boundary: Cross-group recurrence does not prove an identical effect in every group or independent replication, because stratified KDA calls can share donors. KDA also does not establish that the ribosome genes causally regulate OXPHOS genes.</a:t>
            </a:r>
          </a:p>
          <a:p>
            <a:endParaRPr/>
          </a:p>
          <a:p>
            <a:r>
              <a:t>Scope: Not sex/APOE-specific; observed across all six groups</a:t>
            </a:r>
          </a:p>
          <a:p>
            <a:endParaRPr/>
          </a:p>
          <a:p>
            <a:r>
              <a:t>Transition: State the recurrent ribosome-to-OXPHOS finding in plain language.</a:t>
            </a:r>
          </a:p>
          <a:p>
            <a:endParaRPr/>
          </a:p>
          <a:p>
            <a:r>
              <a:t>Sources: docs/analysis/kda_w_human_validation/rosmap_sex_apoe_broad_kda_analysis.md, Finding 7; https://doi.org/10.1523/JNEUROSCI.3040-05.2005; https://doi.org/10.1128/MCB.23.23.8902-8912.2003.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7 without assuming specialist knowledge.</a:t>
            </a:r>
          </a:p>
          <a:p>
            <a:endParaRPr/>
          </a:p>
          <a:p>
            <a:r>
              <a:t>Walk through: The cytosolic ribosome builds most cellular proteins. The signal is best interpreted as one recurring group of biologically related genes, rather than as 20 separate discoveries. The analysis points to a recurring connection between ribosome genes and OXPHOS genes, not 20 separately proven mitochondrial regulators. Source: docs/analysis/kda_w_human_validation/rosmap_sex_apoe_broad_kda_analysis.md, Finding 7. Literature: https://doi.org/10.1523/JNEUROSCI.3040-05.2005; https://doi.org/10.1128/MCB.23.23.8902-8912.2003</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ribosome enrichment result and keep the four denominators distinct.</a:t>
            </a:r>
          </a:p>
          <a:p>
            <a:endParaRPr/>
          </a:p>
          <a:p>
            <a:r>
              <a:t>Walk through: Start with the three boxes across the top. Twenty of 228 unique non-MitoCarta genes returned from KDA calls are KEGG ribosome genes, or 8.8 percent. In the same network backgrounds, only 71 of 11,478 genes available for selection are ribosome genes, or 0.62 percent. This difference gives a one-sided, multiple-testing-adjusted P value of 3.56 times 10 to the minus 15. Then move through the three lower rows. Ribosome genes occur in 19 of 29 categories, account for 70 of 381 gene-by-category pairs, and account for 133 of 623 returned-gene occurrences within KDA calls. Each row uses a different unit, so the denominators should not be combined.</a:t>
            </a:r>
          </a:p>
          <a:p>
            <a:endParaRPr/>
          </a:p>
          <a:p>
            <a:r>
              <a:t>Scientific boundary: The enrichment result shows over-representation, not causal regulation of OXPHOS. Categories, gene-by-category pairs, and within-call occurrences can repeat genes and share donors, so they are descriptive recurrence summaries rather than independent replications.</a:t>
            </a:r>
          </a:p>
          <a:p>
            <a:endParaRPr/>
          </a:p>
          <a:p>
            <a:r>
              <a:t>Transition: Use RPL11 and RPS15 as examples of the recurring ribosome genes, then consider biological and technical interpretations.</a:t>
            </a:r>
          </a:p>
          <a:p>
            <a:endParaRPr/>
          </a:p>
          <a:p>
            <a:r>
              <a:t>Sources: docs/analysis/kda_w_human_validation/rosmap_sex_apoe_broad_kda_analysis.md, Finding 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7 in its internal and supplemental evidence context.</a:t>
            </a:r>
          </a:p>
          <a:p>
            <a:endParaRPr/>
          </a:p>
          <a:p>
            <a:r>
              <a:t>Walk through: RPL11 is connected to many nuclear-encoded OXPHOS genes, while RPS15 appears in the largest number of categories. Frequently connected RPL11 genes include COX7C, UQCRQ, NDUFS5, NDUFA1, ATP5PF, NDUFB9, and NDUFB3. Source: docs/analysis/kda_w_human_validation/rosmap_sex_apoe_broad_kda_analysis.md, Finding 7. Literature: https://doi.org/10.1523/JNEUROSCI.3040-05.2005; https://doi.org/10.1128/MCB.23.23.8902-8912.2003</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three interpretations of the recurring ribosome-gene result without choosing one prematurely.</a:t>
            </a:r>
          </a:p>
          <a:p>
            <a:endParaRPr/>
          </a:p>
          <a:p>
            <a:r>
              <a:t>Walk through: Read the three panels from left to right. The biological model notes that cells must produce nuclear-encoded OXPHOS proteins before respiratory complexes can assemble, so protein production and respiration can change together. The stress model notes that experimental systems connect RPL11 with MDM2 and p53 signaling. The technical model notes that genes with many network connections may be returned more often from KDA calls. The footer gives the most cautious interpretation: compare genes with similar numbers of network connections before treating recurring ribosome genes as regulators.</a:t>
            </a:r>
          </a:p>
          <a:p>
            <a:endParaRPr/>
          </a:p>
          <a:p>
            <a:r>
              <a:t>Scientific boundary: These models are alternatives, and more than one may contribute. The current analysis does not establish causal direction or show that the ribosome genes regulate OXPHOS genes.</a:t>
            </a:r>
          </a:p>
          <a:p>
            <a:endParaRPr/>
          </a:p>
          <a:p>
            <a:r>
              <a:t>Transition: Compare the current result with prior ribosome and RPL11 research.</a:t>
            </a:r>
          </a:p>
          <a:p>
            <a:endParaRPr/>
          </a:p>
          <a:p>
            <a:r>
              <a:t>Sources: docs/analysis/kda_w_human_validation/rosmap_sex_apoe_broad_kda_analysis.md, Finding 7; https://doi.org/10.1523/JNEUROSCI.3040-05.2005; https://doi.org/10.1128/MCB.23.23.8902-8912.2003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which part of Finding 7 each source supports and why the novelty rating is moderate.</a:t>
            </a:r>
          </a:p>
          <a:p>
            <a:endParaRPr/>
          </a:p>
          <a:p>
            <a:r>
              <a:t>Walk through: Read the columns from left to right. Ding and colleagues support ribosome dysfunction in human Alzheimer’s tissue, but they do not establish the ROSMAP ribosome-to-OXPHOS network. Zhang and colleagues show that RPL11 can signal through MDM2 and p53, but that stress pathway does not prove mitochondrial regulation. The current ROSMAP analysis adds recurrence of several ribosome genes across categories and repeated connections to OXPHOS genes. Shared donors and the tendency of highly connected genes to be selected more often limit the independence of that recurrence. Taken together, the focused literature comparison supports a moderate novelty rating.</a:t>
            </a:r>
          </a:p>
          <a:p>
            <a:endParaRPr/>
          </a:p>
          <a:p>
            <a:r>
              <a:t>Scientific boundary: Moderate novelty describes what the current network result adds beyond prior research. It does not mean that the result is causal or independently replicated.</a:t>
            </a:r>
          </a:p>
          <a:p>
            <a:endParaRPr/>
          </a:p>
          <a:p>
            <a:r>
              <a:t>Transition: Proceed to Finding 8 and the proposed connection between LAMTOR5 and nuclear-encoded OXPHOS genes.</a:t>
            </a:r>
          </a:p>
          <a:p>
            <a:endParaRPr/>
          </a:p>
          <a:p>
            <a:r>
              <a:t>Sources: docs/analysis/kda_w_human_validation/rosmap_sex_apoe_broad_kda_analysis.md, Finding 7; https://doi.org/10.1523/JNEUROSCI.3040-05.2005; https://doi.org/10.1128/MCB.23.23.8902-8912.2003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8.</a:t>
            </a:r>
          </a:p>
          <a:p>
            <a:endParaRPr/>
          </a:p>
          <a:p>
            <a:r>
              <a:t>Walk through: LAMTOR5 repeatedly links lysosomal nutrient sensing with mostly decreased nuclear-encoded OXPHOS genes. Source: docs/analysis/kda_w_human_validation/rosmap_sex_apoe_broad_kda_analysis.md, Finding 8. Literature: https://doi.org/10.1016/j.cell.2012.07.032; https://doi.org/10.1016/j.cmet.2013.10.001; https://doi.org/10.15252/embj.2018100241</a:t>
            </a:r>
          </a:p>
          <a:p>
            <a:endParaRPr/>
          </a:p>
          <a:p>
            <a:r>
              <a:t>Scientific boundary: This section presents a testable interpretation. KDA and transcript direction do not establish causal regulation or mitochondrial function.</a:t>
            </a:r>
          </a:p>
          <a:p>
            <a:endParaRPr/>
          </a:p>
          <a:p>
            <a:r>
              <a:t>Scope: Observed in: female ε2, female ε3/ε3, female ε4, and male ε2</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proposed connection between lysosomal nutrient sensing and nuclear-encoded OXPHOS genes.</a:t>
            </a:r>
          </a:p>
          <a:p>
            <a:endParaRPr/>
          </a:p>
          <a:p>
            <a:r>
              <a:t>Walk through: The top labels summarize the scope: LAMTOR5 was returned from 17 neuronal KDA calls across six categories. Then follow the three large panels from left to right. Lysosomes recycle cellular material and help cells sense nutrient availability. LAMTOR5 is part of the lysosomal complex that relays amino-acid availability to mTORC1. The mitochondrial side contains mainly nuclear-encoded OXPHOS genes with lower expression in AD. Together, the panels suggest a possible relationship between lysosomal nutrient sensing and mitochondrial respiration.</a:t>
            </a:r>
          </a:p>
          <a:p>
            <a:endParaRPr/>
          </a:p>
          <a:p>
            <a:r>
              <a:t>Scientific boundary: KDA identifies network relationships. It does not show whether LAMTOR5 changes OXPHOS genes, whether mitochondrial changes affect LAMTOR5, or whether another process affects both.</a:t>
            </a:r>
          </a:p>
          <a:p>
            <a:endParaRPr/>
          </a:p>
          <a:p>
            <a:r>
              <a:t>Transition: Show the ROSMAP counts and directions that support the repeated LAMTOR5 result.</a:t>
            </a:r>
          </a:p>
          <a:p>
            <a:endParaRPr/>
          </a:p>
          <a:p>
            <a:r>
              <a:t>Sources: docs/analysis/kda_w_human_validation/rosmap_sex_apoe_broad_kda_analysis.md, Finding 8; https://doi.org/10.1016/j.cell.2012.07.032; https://doi.org/10.1016/j.cmet.2013.10.001; https://doi.org/10.15252/embj.2018100241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8.</a:t>
            </a:r>
          </a:p>
          <a:p>
            <a:endParaRPr/>
          </a:p>
          <a:p>
            <a:r>
              <a:t>Walk through: Start with the three summary boxes. Seventeen neuronal KDA calls across six categories support the result. LAMTOR5 has 87 connections to MitoCarta MT genes, including 39 nuclear-encoded OXPHOS genes. Fourteen of the 17 DEG input sets show significant enrichment of nuclear-encoded OXPHOS genes. Then read the three evidence rows. Thirty of the 39 connected nuclear-encoded OXPHOS genes have lower expression in AD. Frequently connected genes include ATP5IF1, CHCHD10, and ATP5MC2. LAMTOR5 itself is a DEG in 11 of the 17 calls, but its direction differs: it increases in female epsilon-2 excitatory calls and decreases in the strongest male epsilon-2 calls.</a:t>
            </a:r>
          </a:p>
          <a:p>
            <a:endParaRPr/>
          </a:p>
          <a:p>
            <a:r>
              <a:t>Scientific boundary: The 87 value counts network connections, while 39 counts nuclear-encoded OXPHOS genes. KDA calls can share genes and donors, and the direction of LAMTOR5 itself is not uniform across groups.</a:t>
            </a:r>
          </a:p>
          <a:p>
            <a:endParaRPr/>
          </a:p>
          <a:p>
            <a:r>
              <a:t>Transition: Separate the repeated network result from evidence about cell context and cross-cohort support.</a:t>
            </a:r>
          </a:p>
          <a:p>
            <a:endParaRPr/>
          </a:p>
          <a:p>
            <a:r>
              <a:t>Sources: docs/analysis/kda_w_human_validation/rosmap_sex_apoe_broad_kda_analysis.md, Finding 8; https://doi.org/10.1016/j.cell.2012.07.032; https://doi.org/10.1016/j.cmet.2013.10.001; https://doi.org/10.15252/embj.2018100241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GABARAPL2, ATG101, and ATP6AP2 provide additional support for the lysosome-to-mitochondria interpretation.</a:t>
            </a:r>
          </a:p>
          <a:p>
            <a:endParaRPr/>
          </a:p>
          <a:p>
            <a:r>
              <a:t>Walk through: These genes were identified independently of LAMTOR5. GABARAPL2 participates in autophagy, including delivery of cellular material to lysosomes, and appeared in 13 KDA calls across five categories. ATG101 helps begin autophagosome formation and appeared in six calls across three categories. ATP6AP2 supports the V-ATPase system that acidifies lysosomes and also appeared in six calls across three categories. Each gene was connected to mitochondrial genes in the ROSMAP networks. The repeated pattern therefore supports a broader relationship among lysosome function, autophagy, and mitochondria rather than relying on LAMTOR5 alone. SEA-AD had no KDA call in the matching sex/APOE and cell categories, so it could not test these results directly.</a:t>
            </a:r>
          </a:p>
          <a:p>
            <a:endParaRPr/>
          </a:p>
          <a:p>
            <a:r>
              <a:t>Scientific boundary: The three genes are functionally related to the same biological process. The analysis does not show that they directly interact with LAMTOR5 or that any of them causally regulates the connected mitochondrial genes.</a:t>
            </a:r>
          </a:p>
          <a:p>
            <a:endParaRPr/>
          </a:p>
          <a:p>
            <a:r>
              <a:t>Transition: Explain why established nutrient-sensing biology makes LAMTOR5 testable.</a:t>
            </a:r>
          </a:p>
          <a:p>
            <a:endParaRPr/>
          </a:p>
          <a:p>
            <a:r>
              <a:t>Sources: docs/analysis/kda_w_human_validation/rosmap_sex_apoe_broad_kda_analysis.md, Finding 8; https://www.ncbi.nlm.nih.gov/gene/11345; https://www.ncbi.nlm.nih.gov/gene/60673; https://doi.org/10.1073/pnas.1507263112; https://doi.org/10.1161/CIRCRESAHA.110.224667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previous biology supports a LAMTOR5 experiment without treating the KDA connections as proven regulation.</a:t>
            </a:r>
          </a:p>
          <a:p>
            <a:endParaRPr/>
          </a:p>
          <a:p>
            <a:r>
              <a:t>Walk through: Amino acids activate mTORC1 at the lysosome. The Ragulator complex, which contains LAMTOR5, helps place this nutrient-sensing machinery at the lysosomal surface. mTORC1 can then change cellular protein production, including production of nuclear-encoded mitochondrial proteins, and can affect respiratory capacity. Alzheimer’s-related experimental work also shows that amyloid-beta can disrupt communication between lysosomes and mitochondria in neurons. These findings make a direct LAMTOR5 experiment reasonable. For example, one could reduce or increase LAMTOR5 and then measure lysosomal acidity, mTORC1 activity, OXPHOS gene expression, OXPHOS proteins, and respiration.</a:t>
            </a:r>
          </a:p>
          <a:p>
            <a:endParaRPr/>
          </a:p>
          <a:p>
            <a:r>
              <a:t>Scientific boundary: Previous experiments have not shown that LAMTOR5 directly regulates the mitochondrial genes connected to it in the ROSMAP KDA results. The KDA connections are inferred from a gene network and do not establish causal direction.</a:t>
            </a:r>
          </a:p>
          <a:p>
            <a:endParaRPr/>
          </a:p>
          <a:p>
            <a:r>
              <a:t>Transition: Compare this interpretation with the specific support and limitations of prior studies.</a:t>
            </a:r>
          </a:p>
          <a:p>
            <a:endParaRPr/>
          </a:p>
          <a:p>
            <a:r>
              <a:t>Sources: docs/analysis/kda_w_human_validation/rosmap_sex_apoe_broad_kda_analysis.md, Finding 8; https://doi.org/10.1016/j.cell.2012.07.032; https://doi.org/10.1016/j.cmet.2013.10.001; https://doi.org/10.15252/embj.2018100241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which part of Finding 8 each prior study supports and why the novelty rating is high.</a:t>
            </a:r>
          </a:p>
          <a:p>
            <a:endParaRPr/>
          </a:p>
          <a:p>
            <a:r>
              <a:t>Walk through: Read the three columns from left to right. Bar-Peled and colleagues place LAMTOR5 in amino-acid sensing at lysosomes, but they do not test Alzheimer’s neurons or OXPHOS connections. Morita and colleagues connect mTORC1 with mitochondrial protein production and respiratory capacity, but they do not show that LAMTOR5 causes the relationship observed here. Norambuena and colleagues show that amyloid beta disrupts lysosome-to-mitochondria communication in neurons, but they did not manipulate LAMTOR5. The studies support separate parts of the interpretation without reproducing the full network result, which is why the slide rates novelty as high.</a:t>
            </a:r>
          </a:p>
          <a:p>
            <a:endParaRPr/>
          </a:p>
          <a:p>
            <a:r>
              <a:t>Scientific boundary: High novelty does not mean high causal confidence. The proposed LAMTOR5-to-OXPHOS relationship still requires direct perturbation and replication.</a:t>
            </a:r>
          </a:p>
          <a:p>
            <a:endParaRPr/>
          </a:p>
          <a:p>
            <a:r>
              <a:t>Transition: Proceed to Finding 9 and the core MT genes connected to WDR82.</a:t>
            </a:r>
          </a:p>
          <a:p>
            <a:endParaRPr/>
          </a:p>
          <a:p>
            <a:r>
              <a:t>Sources: docs/analysis/kda_w_human_validation/rosmap_sex_apoe_broad_kda_analysis.md, Finding 8; https://doi.org/10.1016/j.cell.2012.07.032; https://doi.org/10.1016/j.cmet.2013.10.001; https://doi.org/10.15252/embj.2018100241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9.</a:t>
            </a:r>
          </a:p>
          <a:p>
            <a:endParaRPr/>
          </a:p>
          <a:p>
            <a:r>
              <a:t>Walk through: WDR82 appears only in excitatory neurons and is connected to four upregulated core MT genes. Source: docs/analysis/kda_w_human_validation/rosmap_sex_apoe_broad_kda_analysis.md, Finding 9. Literature: https://doi.org/10.1128/MCB.01356-07; https://doi.org/10.1016/j.cell.2011.06.051; https://doi.org/10.3892/mmr.2015.4271</a:t>
            </a:r>
          </a:p>
          <a:p>
            <a:endParaRPr/>
          </a:p>
          <a:p>
            <a:r>
              <a:t>Scientific boundary: This section presents a testable interpretation. KDA and transcript direction do not establish causal regulation or mitochondrial function.</a:t>
            </a:r>
          </a:p>
          <a:p>
            <a:endParaRPr/>
          </a:p>
          <a:p>
            <a:r>
              <a:t>Scope: Observed in: female ε2, female ε3/ε3, male ε3/ε3, and male ε4</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focused WDR82 result and why the four connected core MT genes do not provide four independent observations.</a:t>
            </a:r>
          </a:p>
          <a:p>
            <a:endParaRPr/>
          </a:p>
          <a:p>
            <a:r>
              <a:t>Walk through: The result occurs only in excitatory neurons and is supported by 18 KDA calls. WDR82 helps regulate which nuclear genes are active and is not part of the mitochondrial ribosome. Nearly every direct mitochondrial connection involves MT-ND1, MT-ND3, MT-ND4L, or MT-ND5. The mitochondrial heavy strand produces these four genes from one long RNA that is later processed into separate gene products. Their shared starting transcript can make their expression correlated.</a:t>
            </a:r>
          </a:p>
          <a:p>
            <a:endParaRPr/>
          </a:p>
          <a:p>
            <a:r>
              <a:t>Scientific boundary: The shared transcript does not make the four mature RNAs identical, because their processing and stability can differ. KDA does not show that WDR82 regulates these genes.</a:t>
            </a:r>
          </a:p>
          <a:p>
            <a:endParaRPr/>
          </a:p>
          <a:p>
            <a:r>
              <a:t>Transition: Show the number and direction of core MT gene occurrences in the supporting KDA calls.</a:t>
            </a:r>
          </a:p>
          <a:p>
            <a:endParaRPr/>
          </a:p>
          <a:p>
            <a:r>
              <a:t>Sources: docs/analysis/kda_w_human_validation/rosmap_sex_apoe_broad_kda_analysis.md, Finding 9; https://doi.org/10.1128/MCB.01356-07; https://doi.org/10.1016/j.cell.2011.06.051; https://doi.org/10.3892/mmr.2015.4271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supporting the WDR82 result.</a:t>
            </a:r>
          </a:p>
          <a:p>
            <a:endParaRPr/>
          </a:p>
          <a:p>
            <a:r>
              <a:t>Walk through: All 18 supporting excitatory KDA input DEG sets show significant enrichment of upregulated core MT genes. The inputs contain 172 core MT gene occurrences, all upregulated in AD. Of the 70 direct gene connections to WDR82, 68 involve MT-ND1, MT-ND3, MT-ND4L, or MT-ND5, while the remaining two involve PIM1. WDR82 itself did not meet the DEG definition in any of the 18 calls. Thirteen calls had an FDR below 0.05, but their WDR82 expression changes remained below the effect-size cutoff.</a:t>
            </a:r>
          </a:p>
          <a:p>
            <a:endParaRPr/>
          </a:p>
          <a:p>
            <a:r>
              <a:t>Scientific boundary: Gene occurrences can repeat across KDA calls and do not represent independent donors. KDA can return a gene because of its network position even when the gene itself is not a DEG.</a:t>
            </a:r>
          </a:p>
          <a:p>
            <a:endParaRPr/>
          </a:p>
          <a:p>
            <a:r>
              <a:t>Transition: Show which sex and APOE groups contribute the WDR82 KDA calls.</a:t>
            </a:r>
          </a:p>
          <a:p>
            <a:endParaRPr/>
          </a:p>
          <a:p>
            <a:r>
              <a:t>Sources: docs/analysis/kda_w_human_validation/rosmap_sex_apoe_broad_kda_analysis.md, Finding 9; https://doi.org/10.1128/MCB.01356-07; https://doi.org/10.1016/j.cell.2011.06.051; https://doi.org/10.3892/mmr.2015.4271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Describe the sex and APOE distribution of the WDR82 KDA calls.</a:t>
            </a:r>
          </a:p>
          <a:p>
            <a:endParaRPr/>
          </a:p>
          <a:p>
            <a:r>
              <a:t>Walk through: Female APOE epsilon-2 contributes two excitatory KDA calls. Female APOE epsilon-3 homozygous contributes 11 calls and provides most of the evidence. Male groups contribute five calls, including two male epsilon-3 homozygous and three male epsilon-4 calls. SEA-AD contained 11 matching excitatory-neuron networks in which WDR82 could have been returned, but it was not. SEA-AD still supports the female epsilon-3 homozygous core MT gene pattern.</a:t>
            </a:r>
          </a:p>
          <a:p>
            <a:endParaRPr/>
          </a:p>
          <a:p>
            <a:r>
              <a:t>Scientific boundary: The concentration of calls in one group does not establish a formal sex-by-APOE interaction. Different cohort networks and sample sizes limit interpretation of a gene that was testable but not returned in SEA-AD.</a:t>
            </a:r>
          </a:p>
          <a:p>
            <a:endParaRPr/>
          </a:p>
          <a:p>
            <a:r>
              <a:t>Transition: Explain the possible biological and technical interpretations.</a:t>
            </a:r>
          </a:p>
          <a:p>
            <a:endParaRPr/>
          </a:p>
          <a:p>
            <a:r>
              <a:t>Sources: docs/analysis/kda_w_human_validation/rosmap_sex_apoe_broad_kda_analysis.md, Finding 9; https://doi.org/10.1128/MCB.01356-07; https://doi.org/10.1016/j.cell.2011.06.051; https://doi.org/10.3892/mmr.2015.4271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three interpretations of the WDR82 and core MT gene relationship.</a:t>
            </a:r>
          </a:p>
          <a:p>
            <a:endParaRPr/>
          </a:p>
          <a:p>
            <a:r>
              <a:t>Walk through: One biological explanation is that nuclear gene regulation indirectly affects mitochondrial RNA production. A second explanation is that the repeated core MT genes mainly reflect overall mitochondrial RNA abundance or sample quality. A network-based explanation is that four connected gene names arise from one shared long mitochondrial RNA rather than four separate mechanisms.</a:t>
            </a:r>
          </a:p>
          <a:p>
            <a:endParaRPr/>
          </a:p>
          <a:p>
            <a:r>
              <a:t>Scientific boundary: The current analysis cannot distinguish these explanations or establish that WDR82 changes mitochondrial RNA abundance.</a:t>
            </a:r>
          </a:p>
          <a:p>
            <a:endParaRPr/>
          </a:p>
          <a:p>
            <a:r>
              <a:t>Transition: Compare the interpretation with prior research.</a:t>
            </a:r>
          </a:p>
          <a:p>
            <a:endParaRPr/>
          </a:p>
          <a:p>
            <a:r>
              <a:t>Sources: docs/analysis/kda_w_human_validation/rosmap_sex_apoe_broad_kda_analysis.md, Finding 9; https://doi.org/10.1128/MCB.01356-07; https://doi.org/10.1016/j.cell.2011.06.051; https://doi.org/10.3892/mmr.2015.4271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which part of the WDR82 interpretation each prior source supports.</a:t>
            </a:r>
          </a:p>
          <a:p>
            <a:endParaRPr/>
          </a:p>
          <a:p>
            <a:r>
              <a:t>Walk through: Lee and Skalnik show that WDR82 helps regulate nuclear genes through SETD1A and SETD1B protein complexes, but they provide no direct mitochondrial mechanism. Mercer and colleagues show that core MT genes are produced from long mitochondrial RNAs that are later processed, but they do not connect WDR82 with mitochondrial transcription. Zhu and colleagues report increased WDR82 expression and many network connections in mixed-cell hippocampal tissue, but that analysis does not identify the responsible cell type and lacks independent confirmation. The focused WDR82 network result therefore has high provisional novelty.</a:t>
            </a:r>
          </a:p>
          <a:p>
            <a:endParaRPr/>
          </a:p>
          <a:p>
            <a:r>
              <a:t>Scientific boundary: The novelty assessment comes from a focused literature review and does not establish causal or replication strength.</a:t>
            </a:r>
          </a:p>
          <a:p>
            <a:endParaRPr/>
          </a:p>
          <a:p>
            <a:r>
              <a:t>Transition: Proceed to Finding 10 and the SELENOM result.</a:t>
            </a:r>
          </a:p>
          <a:p>
            <a:endParaRPr/>
          </a:p>
          <a:p>
            <a:r>
              <a:t>Sources: docs/analysis/kda_w_human_validation/rosmap_sex_apoe_broad_kda_analysis.md, Finding 9; https://doi.org/10.1128/MCB.01356-07; https://doi.org/10.1016/j.cell.2011.06.051; https://doi.org/10.3892/mmr.2015.4271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SELENOM finding and clarify its scope across sex and APOE groups.</a:t>
            </a:r>
          </a:p>
          <a:p>
            <a:endParaRPr/>
          </a:p>
          <a:p>
            <a:r>
              <a:t>Walk through: SELENOM connects oxidation control in the endoplasmic reticulum with genes used for protein production inside mitochondria. Most connected mitochondrial protein-production genes have lower expression in AD. KDA returned SELENOM across all six sex and APOE groups, so this is a broadly recurrent finding rather than a subgroup-specific finding.</a:t>
            </a:r>
          </a:p>
          <a:p>
            <a:endParaRPr/>
          </a:p>
          <a:p>
            <a:r>
              <a:t>Scientific boundary: Recurrence across groups does not prove an identical biological effect in every group or establish that SELENOM controls mitochondrial protein production.</a:t>
            </a:r>
          </a:p>
          <a:p>
            <a:endParaRPr/>
          </a:p>
          <a:p>
            <a:r>
              <a:t>Transition: Define the endoplasmic-reticulum function of SELENOM and the connected mitochondrial process.</a:t>
            </a:r>
          </a:p>
          <a:p>
            <a:endParaRPr/>
          </a:p>
          <a:p>
            <a:r>
              <a:t>Sources: docs/analysis/kda_w_human_validation/rosmap_sex_apoe_broad_kda_analysis.md, Finding 10; https://doi.org/10.1074/jbc.M511386200; https://doi.org/10.3892/ijmm_00000211; https://doi.org/10.3390/ijms14034385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SELENOM connects an endoplasmic-reticulum process with mitochondrial protein production.</a:t>
            </a:r>
          </a:p>
          <a:p>
            <a:endParaRPr/>
          </a:p>
          <a:p>
            <a:r>
              <a:t>Walk through: Twelve neuronal KDA calls across all six sex and APOE groups support this result. SELENOM helps control reversible oxidation reactions in the endoplasmic reticulum. The connected mitochondrial genes include mitochondrial ribosome genes and related factors that make proteins encoded by core MT genes. These connected genes mostly have lower expression in AD. SELENOM itself is not part of the mitochondrial ribosome. KDA links the two systems because their genes are close in the network.</a:t>
            </a:r>
          </a:p>
          <a:p>
            <a:endParaRPr/>
          </a:p>
          <a:p>
            <a:r>
              <a:t>Scientific boundary: Network proximity does not show that SELENOM regulates mitochondrial protein production or identify the direction of an effect.</a:t>
            </a:r>
          </a:p>
          <a:p>
            <a:endParaRPr/>
          </a:p>
          <a:p>
            <a:r>
              <a:t>Transition: Show the ROSMAP counts supporting the SELENOM result.</a:t>
            </a:r>
          </a:p>
          <a:p>
            <a:endParaRPr/>
          </a:p>
          <a:p>
            <a:r>
              <a:t>Sources: docs/analysis/kda_w_human_validation/rosmap_sex_apoe_broad_kda_analysis.md, Finding 10; https://doi.org/10.1074/jbc.M511386200; https://doi.org/10.3892/ijmm_00000211; https://doi.org/10.3390/ijms14034385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10.</a:t>
            </a:r>
          </a:p>
          <a:p>
            <a:endParaRPr/>
          </a:p>
          <a:p>
            <a:r>
              <a:t>Walk through: The three summary metrics and three evidence rows preserve the units used in the analysis. SELENOM recurs across groups, so the result is not sex- or APOE-specific. Source: docs/analysis/kda_w_human_validation/rosmap_sex_apoe_broad_kda_analysis.md, Finding 10. Literature: https://doi.org/10.1074/jbc.M511386200; https://doi.org/10.3892/ijmm_00000211; https://doi.org/10.3390/ijms14034385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10 in its internal and supplemental evidence context.</a:t>
            </a:r>
          </a:p>
          <a:p>
            <a:endParaRPr/>
          </a:p>
          <a:p>
            <a:r>
              <a:t>Walk through: Repeated ROSMAP KDA calls and repeated connections to mitochondrial protein-production genes are still the main evidence. The lack of support in SEA-AD or human genetics lowers confidence outside ROSMAP, but the repeated ROSMAP result remains. Source: docs/analysis/kda_w_human_validation/rosmap_sex_apoe_broad_kda_analysis.md, Finding 10. Literature: https://doi.org/10.1074/jbc.M511386200; https://doi.org/10.3892/ijmm_00000211; https://doi.org/10.3390/ijms14034385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10 may matter without overstating function.</a:t>
            </a:r>
          </a:p>
          <a:p>
            <a:endParaRPr/>
          </a:p>
          <a:p>
            <a:r>
              <a:t>Walk through: Calcium and oxidation move between the ER and mitochondria, influencing protein folding and energy production. An experiment that changes SELENOM and measures both ER and mitochondrial responses can distinguish a specific connection from general cell stress. Source: docs/analysis/kda_w_human_validation/rosmap_sex_apoe_broad_kda_analysis.md, Finding 10. Literature: https://doi.org/10.1074/jbc.M511386200; https://doi.org/10.3892/ijmm_00000211; https://doi.org/10.3390/ijms14034385</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prior studies support and limit the interpretation of SELENOM.</a:t>
            </a:r>
          </a:p>
          <a:p>
            <a:endParaRPr/>
          </a:p>
          <a:p>
            <a:r>
              <a:t>Walk through: Ferguson and colleagues identify SELENOM as an endoplasmic-reticulum protein involved in reversible oxidation reactions. Yim and colleagues show that SELENOM affects oxidation and calcium regulation in neurons. Experimental amyloid-beta studies connect SELENOM with amyloid-related and mitochondrial outcomes in cells or animals. These studies make the proposed biology plausible, but none reproduces the ROSMAP network connections in human AD neurons. The slide therefore assigns high novelty to the specific network finding.</a:t>
            </a:r>
          </a:p>
          <a:p>
            <a:endParaRPr/>
          </a:p>
          <a:p>
            <a:r>
              <a:t>Scientific boundary: High novelty means that the focused literature review did not identify a direct prior report of the same relationship. It does not mean that the current evidence is strong or causal.</a:t>
            </a:r>
          </a:p>
          <a:p>
            <a:endParaRPr/>
          </a:p>
          <a:p>
            <a:r>
              <a:t>Transition: Proceed to Finding 11 and the SELENOW result.</a:t>
            </a:r>
          </a:p>
          <a:p>
            <a:endParaRPr/>
          </a:p>
          <a:p>
            <a:r>
              <a:t>Sources: docs/analysis/kda_w_human_validation/rosmap_sex_apoe_broad_kda_analysis.md, Finding 10; https://doi.org/10.1074/jbc.M511386200; https://doi.org/10.3892/ijmm_00000211; https://doi.org/10.3390/ijms14034385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11.</a:t>
            </a:r>
          </a:p>
          <a:p>
            <a:endParaRPr/>
          </a:p>
          <a:p>
            <a:r>
              <a:t>Walk through: SELENOW is connected to genes involved in mitochondrial respiration, protein production, and removal of damaged mitochondrial proteins. Source: docs/analysis/kda_w_human_validation/rosmap_sex_apoe_broad_kda_analysis.md, Finding 11. Literature: https://doi.org/10.1016/j.redox.2022.102571; https://doi.org/10.1038/s42003-024-06572-0</a:t>
            </a:r>
          </a:p>
          <a:p>
            <a:endParaRPr/>
          </a:p>
          <a:p>
            <a:r>
              <a:t>Scientific boundary: This section presents a testable interpretation. KDA and transcript direction do not establish causal regulation or mitochondrial function.</a:t>
            </a:r>
          </a:p>
          <a:p>
            <a:endParaRPr/>
          </a:p>
          <a:p>
            <a:r>
              <a:t>Scope: Observed in: female ε2, female ε4, male ε2, and male ε3/ε3</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mitochondrial functions connected to SELENOW and distinguish SELENOW from SELENOM.</a:t>
            </a:r>
          </a:p>
          <a:p>
            <a:endParaRPr/>
          </a:p>
          <a:p>
            <a:r>
              <a:t>Walk through: Sixteen neuronal KDA calls across six categories support the result. NDUFB11, COA3, and CYC1 support mitochondrial respiration. MRPS34 and MRPL34 help mitochondria produce proteins encoded by core MT genes. CLPP removes damaged mitochondrial proteins, while other connected genes transport molecules across the inner mitochondrial membrane. The connections therefore span respiration, mitochondrial protein production, and removal of damaged proteins. SELENOW and SELENOM are different genes and should remain separate hypotheses.</a:t>
            </a:r>
          </a:p>
          <a:p>
            <a:endParaRPr/>
          </a:p>
          <a:p>
            <a:r>
              <a:t>Scientific boundary: The network does not show that SELENOW controls every connected function or that all connected genes change through one mechanism.</a:t>
            </a:r>
          </a:p>
          <a:p>
            <a:endParaRPr/>
          </a:p>
          <a:p>
            <a:r>
              <a:t>Transition: Show the ROSMAP counts supporting the SELENOW result.</a:t>
            </a:r>
          </a:p>
          <a:p>
            <a:endParaRPr/>
          </a:p>
          <a:p>
            <a:r>
              <a:t>Sources: docs/analysis/kda_w_human_validation/rosmap_sex_apoe_broad_kda_analysis.md, Finding 11; https://doi.org/10.1016/j.redox.2022.102571; https://doi.org/10.1038/s42003-024-06572-0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supporting the SELENOW result.</a:t>
            </a:r>
          </a:p>
          <a:p>
            <a:endParaRPr/>
          </a:p>
          <a:p>
            <a:r>
              <a:t>Walk through: Sixteen neuronal KDA calls across six categories and four sex and APOE groups support the result. SELENOW has 123 connections to MitoCarta MT genes that represent several mitochondrial functions. Thirteen of the 16 input DEG sets show significant enrichment of nuclear-encoded OXPHOS genes. Frequently connected respiration genes include NDUFB11, COA3, and CYC1. MRPS34, MRPL34, and CLPP connect the result with mitochondrial protein production and removal of damaged proteins. SELENOW itself is a DEG in 10 of the 16 calls.</a:t>
            </a:r>
          </a:p>
          <a:p>
            <a:endParaRPr/>
          </a:p>
          <a:p>
            <a:r>
              <a:t>Scientific boundary: Connections and DEG occurrences can repeat across KDA calls and do not represent independent donors.</a:t>
            </a:r>
          </a:p>
          <a:p>
            <a:endParaRPr/>
          </a:p>
          <a:p>
            <a:r>
              <a:t>Transition: Compare the SELENOW result with SEA-AD.</a:t>
            </a:r>
          </a:p>
          <a:p>
            <a:endParaRPr/>
          </a:p>
          <a:p>
            <a:r>
              <a:t>Sources: docs/analysis/kda_w_human_validation/rosmap_sex_apoe_broad_kda_analysis.md, Finding 11; https://doi.org/10.1016/j.redox.2022.102571; https://doi.org/10.1038/s42003-024-06572-0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SEA-AD provides little gene-level support for the SELENOW result.</a:t>
            </a:r>
          </a:p>
          <a:p>
            <a:endParaRPr/>
          </a:p>
          <a:p>
            <a:r>
              <a:t>Walk through: SELENOW was present in 10 matching SEA-AD excitatory networks and eight matching inhibitory networks, but no KDA call returned it. SEA-AD returned SECISBP2 from one KDA call. SECISBP2 is also related to selenium biology, but it is a different gene with a different function. A different related gene provides weaker evidence than recurrence of SELENOW itself.</a:t>
            </a:r>
          </a:p>
          <a:p>
            <a:endParaRPr/>
          </a:p>
          <a:p>
            <a:r>
              <a:t>Scientific boundary: A gene that was testable but not returned provides limited counterevidence because ROSMAP and SEA-AD use different samples and cohort-specific networks. SECISBP2 does not validate the SELENOW mechanism.</a:t>
            </a:r>
          </a:p>
          <a:p>
            <a:endParaRPr/>
          </a:p>
          <a:p>
            <a:r>
              <a:t>Transition: Explain why the SELENOW result may still matter biologically.</a:t>
            </a:r>
          </a:p>
          <a:p>
            <a:endParaRPr/>
          </a:p>
          <a:p>
            <a:r>
              <a:t>Sources: docs/analysis/kda_w_human_validation/rosmap_sex_apoe_broad_kda_analysis.md, Finding 11; https://doi.org/10.1016/j.redox.2022.102571; https://doi.org/10.1038/s42003-024-06572-0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possible relationship among oxidative stress, damaged-protein removal, and mitochondrial function.</a:t>
            </a:r>
          </a:p>
          <a:p>
            <a:endParaRPr/>
          </a:p>
          <a:p>
            <a:r>
              <a:t>Walk through: Mitochondria depend on oxidation reactions and can also generate oxidative stress. Oxidative imbalance can damage proteins and respiratory machinery. CLPP removes damaged mitochondrial proteins, while prior mouse work links SELENOW with tau removal. The network therefore suggests a possible connection between removal of damaged mitochondrial proteins and broader removal of damaged proteins. Prior experiments used macrophages or mice rather than human neurons. SELENOW and SELENOM also connect to different genes and should remain separate hypotheses.</a:t>
            </a:r>
          </a:p>
          <a:p>
            <a:endParaRPr/>
          </a:p>
          <a:p>
            <a:r>
              <a:t>Scientific boundary: Evidence from macrophages and mouse models cannot establish a human neuronal mechanism or causal direction.</a:t>
            </a:r>
          </a:p>
          <a:p>
            <a:endParaRPr/>
          </a:p>
          <a:p>
            <a:r>
              <a:t>Transition: Compare the current result with the supporting studies.</a:t>
            </a:r>
          </a:p>
          <a:p>
            <a:endParaRPr/>
          </a:p>
          <a:p>
            <a:r>
              <a:t>Sources: docs/analysis/kda_w_human_validation/rosmap_sex_apoe_broad_kda_analysis.md, Finding 11; https://doi.org/10.1016/j.redox.2022.102571; https://doi.org/10.1038/s42003-024-06572-0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what prior research supports and where the SELENOW interpretation remains uncertain.</a:t>
            </a:r>
          </a:p>
          <a:p>
            <a:endParaRPr/>
          </a:p>
          <a:p>
            <a:r>
              <a:t>Walk through: Misra and colleagues show that loss of SELENOW changes oxidative stress and mitochondrial respiration, although their experiments used macrophages. Ren and colleagues report improved tau clearance and other outcomes after increasing SELENOW in a 3×Tg-AD mouse model. The current ROSMAP analysis adds connections in human neurons to respiration and removal of damaged mitochondrial proteins. The slide therefore assigns moderate novelty to the human neuronal network finding.</a:t>
            </a:r>
          </a:p>
          <a:p>
            <a:endParaRPr/>
          </a:p>
          <a:p>
            <a:r>
              <a:t>Scientific boundary: The three sources support different parts of the interpretation. Together they do not prove a causal SELENOW mechanism in human neurons.</a:t>
            </a:r>
          </a:p>
          <a:p>
            <a:endParaRPr/>
          </a:p>
          <a:p>
            <a:r>
              <a:t>Transition: Proceed to Finding 12 and the PGK1-centered astrocyte result.</a:t>
            </a:r>
          </a:p>
          <a:p>
            <a:endParaRPr/>
          </a:p>
          <a:p>
            <a:r>
              <a:t>Sources: docs/analysis/kda_w_human_validation/rosmap_sex_apoe_broad_kda_analysis.md, Finding 11; https://doi.org/10.1016/j.redox.2022.102571; https://doi.org/10.1038/s42003-024-06572-0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12.</a:t>
            </a:r>
          </a:p>
          <a:p>
            <a:endParaRPr/>
          </a:p>
          <a:p>
            <a:r>
              <a:t>Walk through: PGK1 connects astrocyte glucose breakdown with BNIP3, BNIP3L, and FAM162A, three genes that respond to low oxygen or mitochondrial damage. Source: docs/analysis/kda_w_human_validation/rosmap_sex_apoe_broad_kda_analysis.md, Finding 12. Literature: https://doi.org/10.1038/s41586-024-07606-7; https://doi.org/10.1038/s41419-020-02776-4; https://doi.org/10.1016/j.celrep.2023.113183</a:t>
            </a:r>
          </a:p>
          <a:p>
            <a:endParaRPr/>
          </a:p>
          <a:p>
            <a:r>
              <a:t>Scientific boundary: This section presents a testable interpretation. KDA and transcript direction do not establish causal regulation or mitochondrial function.</a:t>
            </a:r>
          </a:p>
          <a:p>
            <a:endParaRPr/>
          </a:p>
          <a:p>
            <a:r>
              <a:t>Scope: Observed in: female ε3/ε3, female ε4, and male ε4</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proposed astrocyte connection between glycolysis and recycling of damaged mitochondria.</a:t>
            </a:r>
          </a:p>
          <a:p>
            <a:endParaRPr/>
          </a:p>
          <a:p>
            <a:r>
              <a:t>Walk through: Three astrocyte KDA calls support this result. PGK1 participates in glycolysis, which breaks down glucose outside mitochondria. FAM162A and BNIP3 respond to low oxygen or mitochondrial damage. BNIP3L can help mark damaged mitochondria for recycling. This small set of connected genes suggests a relationship between glucose breakdown and removal of damaged mitochondria.</a:t>
            </a:r>
          </a:p>
          <a:p>
            <a:endParaRPr/>
          </a:p>
          <a:p>
            <a:r>
              <a:t>Scientific boundary: The result does not show that PGK1 broadly controls OXPHOS or directly regulates the three connected stress-response genes.</a:t>
            </a:r>
          </a:p>
          <a:p>
            <a:endParaRPr/>
          </a:p>
          <a:p>
            <a:r>
              <a:t>Transition: Show the ROSMAP counts and PGK1 expression changes.</a:t>
            </a:r>
          </a:p>
          <a:p>
            <a:endParaRPr/>
          </a:p>
          <a:p>
            <a:r>
              <a:t>Sources: docs/analysis/kda_w_human_validation/rosmap_sex_apoe_broad_kda_analysis.md, Finding 12; https://doi.org/10.1038/s41586-024-07606-7; https://doi.org/10.1038/s41419-020-02776-4; https://doi.org/10.1016/j.celrep.2023.113183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supporting the PGK1 result.</a:t>
            </a:r>
          </a:p>
          <a:p>
            <a:endParaRPr/>
          </a:p>
          <a:p>
            <a:r>
              <a:t>Walk through: Three astrocyte KDA calls in female epsilon-3 homozygous, female epsilon-4, and male epsilon-4 groups support the result. The calls contain eight direct connections involving FAM162A, BNIP3, or BNIP3L. PGK1 is upregulated in AD and meets the DEG threshold in female epsilon-3 homozygous and male epsilon-4 astrocytes, with log fold changes of plus 1.06 and plus 0.95. In female epsilon-4 astrocytes, its log fold change is plus 0.03 and it does not meet the DEG definition.</a:t>
            </a:r>
          </a:p>
          <a:p>
            <a:endParaRPr/>
          </a:p>
          <a:p>
            <a:r>
              <a:t>Scientific boundary: The three groups do not establish a formal sex-by-APOE interaction. The directly connected genes recur across calls and are not independent observations.</a:t>
            </a:r>
          </a:p>
          <a:p>
            <a:endParaRPr/>
          </a:p>
          <a:p>
            <a:r>
              <a:t>Transition: Evaluate support outside the primary ROSMAP analysis.</a:t>
            </a:r>
          </a:p>
          <a:p>
            <a:endParaRPr/>
          </a:p>
          <a:p>
            <a:r>
              <a:t>Sources: docs/analysis/kda_w_human_validation/rosmap_sex_apoe_broad_kda_analysis.md, Finding 12; https://doi.org/10.1038/s41586-024-07606-7; https://doi.org/10.1038/s41419-020-02776-4; https://doi.org/10.1016/j.celrep.2023.113183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the PGK1 result is focused but has limited support outside ROSMAP.</a:t>
            </a:r>
          </a:p>
          <a:p>
            <a:endParaRPr/>
          </a:p>
          <a:p>
            <a:r>
              <a:t>Walk through: All eight direct connections involve only three genes. FAM162A appears in all three KDA calls, BNIP3 appears in all three, and BNIP3L appears in two. Each gene is related to low-oxygen responses or removal of damaged mitochondria. PGK1 was present but not returned in the only female epsilon-4 SEA-AD astrocyte network available for testing, whose KDA input contained only five DEGs. The supporting Mathys analysis also uses ROSMAP, so it may include some of the same donors and does not provide independent validation.</a:t>
            </a:r>
          </a:p>
          <a:p>
            <a:endParaRPr/>
          </a:p>
          <a:p>
            <a:r>
              <a:t>Scientific boundary: The small number of connected genes makes the result sensitive to those genes. A single small SEA-AD input provides limited counterevidence.</a:t>
            </a:r>
          </a:p>
          <a:p>
            <a:endParaRPr/>
          </a:p>
          <a:p>
            <a:r>
              <a:t>Transition: Explain why the focused astrocyte hypothesis may still matter.</a:t>
            </a:r>
          </a:p>
          <a:p>
            <a:endParaRPr/>
          </a:p>
          <a:p>
            <a:r>
              <a:t>Sources: docs/analysis/kda_w_human_validation/rosmap_sex_apoe_broad_kda_analysis.md, Finding 12; https://doi.org/10.1038/s41586-024-07606-7; https://doi.org/10.1038/s41419-020-02776-4; https://doi.org/10.1016/j.celrep.2023.113183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astrocyte glucose use and removal of damaged mitochondria may be related.</a:t>
            </a:r>
          </a:p>
          <a:p>
            <a:endParaRPr/>
          </a:p>
          <a:p>
            <a:r>
              <a:t>Walk through: Astrocytes help regulate energy supply for neurons and respond strongly to Alzheimer’s pathology. Cells can shift ATP production toward glucose breakdown outside mitochondria, potentially reducing mitochondrial demand. BNIP3 and BNIP3L respond to low oxygen or damage and can help remove damaged mitochondria. These changes could protect cells or indicate severe stress. An experiment that changes PGK1 and then rescues the response can test whether PGK1 acts before BNIP3 and BNIP3L.</a:t>
            </a:r>
          </a:p>
          <a:p>
            <a:endParaRPr/>
          </a:p>
          <a:p>
            <a:r>
              <a:t>Scientific boundary: The direction of the expression changes does not reveal whether the response is protective or harmful, and KDA does not establish causal order.</a:t>
            </a:r>
          </a:p>
          <a:p>
            <a:endParaRPr/>
          </a:p>
          <a:p>
            <a:r>
              <a:t>Transition: Compare the hypothesis with prior experimental research.</a:t>
            </a:r>
          </a:p>
          <a:p>
            <a:endParaRPr/>
          </a:p>
          <a:p>
            <a:r>
              <a:t>Sources: docs/analysis/kda_w_human_validation/rosmap_sex_apoe_broad_kda_analysis.md, Finding 12; https://doi.org/10.1038/s41586-024-07606-7; https://doi.org/10.1038/s41419-020-02776-4; https://doi.org/10.1016/j.celrep.2023.113183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prior studies support and limit the interpretation of PGK1 in astrocytes.</a:t>
            </a:r>
          </a:p>
          <a:p>
            <a:endParaRPr/>
          </a:p>
          <a:p>
            <a:r>
              <a:t>Walk through: Mathys and colleagues report groups of glial genes that include PGK1 and BNIP3L and change together in human AD, although that study also uses ROSMAP and may share donors with this analysis. Schmukler and colleagues connect APOE4 astrocytes with altered mitochondrial shape and removal of damaged mitochondria. Lee and colleagues connect lysosomal cholesterol with reduced removal of damaged mitochondria and impaired respiration. These studies support the proposed biological setting but do not show that PGK1 controls BNIP3-family genes. The slide assigns moderate novelty to the specific KDA connection.</a:t>
            </a:r>
          </a:p>
          <a:p>
            <a:endParaRPr/>
          </a:p>
          <a:p>
            <a:r>
              <a:t>Scientific boundary: The literature supports related astrocyte biology, not the direction or causality of the PGK1 network result. Shared ROSMAP donors also prevent the Mathys study from serving as independent replication.</a:t>
            </a:r>
          </a:p>
          <a:p>
            <a:endParaRPr/>
          </a:p>
          <a:p>
            <a:r>
              <a:t>Transition: Proceed to Finding 13 and the OPC iron-stress result.</a:t>
            </a:r>
          </a:p>
          <a:p>
            <a:endParaRPr/>
          </a:p>
          <a:p>
            <a:r>
              <a:t>Sources: docs/analysis/kda_w_human_validation/rosmap_sex_apoe_broad_kda_analysis.md, Finding 12; https://doi.org/10.1038/s41586-024-07606-7; https://doi.org/10.1038/s41419-020-02776-4; https://doi.org/10.1016/j.celrep.2023.113183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13.</a:t>
            </a:r>
          </a:p>
          <a:p>
            <a:endParaRPr/>
          </a:p>
          <a:p>
            <a:r>
              <a:t>Walk through: FTL and ANKRD11 connect iron storage in OPCs with GPX4 protection from lipid damage and genes that recycle damaged cell components. Source: docs/analysis/kda_w_human_validation/rosmap_sex_apoe_broad_kda_analysis.md, Finding 13. Literature: https://pmc.ncbi.nlm.nih.gov/articles/PMC8941078/; https://doi.org/10.1186/s12915-025-02235-6</a:t>
            </a:r>
          </a:p>
          <a:p>
            <a:endParaRPr/>
          </a:p>
          <a:p>
            <a:r>
              <a:t>Scientific boundary: This section presents a testable interpretation. KDA and transcript direction do not establish causal regulation or mitochondrial function.</a:t>
            </a:r>
          </a:p>
          <a:p>
            <a:endParaRPr/>
          </a:p>
          <a:p>
            <a:r>
              <a:t>Scope: Observed in: female ε3/ε3 and male ε2</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proposed OPC connection among iron storage, protection from lipid damage, and removal of damaged cell components.</a:t>
            </a:r>
          </a:p>
          <a:p>
            <a:endParaRPr/>
          </a:p>
          <a:p>
            <a:r>
              <a:t>Walk through: OPCs are oligodendrocyte precursor cells that become myelin-producing cells. FTL and FTH1 form ferritin, which stores iron in a safer form and limits damaging free iron. GPX4 helps prevent oxidation of membrane fats. FIS1, PARK7, and PHB2 connect FTL and ANKRD11 with mitochondrial stress and recycling of damaged cell components. Together, the network suggests a relationship between iron handling and cellular cleanup.</a:t>
            </a:r>
          </a:p>
          <a:p>
            <a:endParaRPr/>
          </a:p>
          <a:p>
            <a:r>
              <a:t>Scientific boundary: The result does not demonstrate ferroptosis. That conclusion would require direct measurement of iron-dependent lipid damage and rescue with a ferroptosis inhibitor.</a:t>
            </a:r>
          </a:p>
          <a:p>
            <a:endParaRPr/>
          </a:p>
          <a:p>
            <a:r>
              <a:t>Transition: Show the two supporting OPC KDA calls and their gene-expression directions.</a:t>
            </a:r>
          </a:p>
          <a:p>
            <a:endParaRPr/>
          </a:p>
          <a:p>
            <a:r>
              <a:t>Sources: docs/analysis/kda_w_human_validation/rosmap_sex_apoe_broad_kda_analysis.md, Finding 13; https://pmc.ncbi.nlm.nih.gov/articles/PMC8941078/; https://doi.org/10.1186/s12915-025-02235-6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two OPC KDA calls and distinguish an ANKRD11 KDA return from ANKRD11 differential expression.</a:t>
            </a:r>
          </a:p>
          <a:p>
            <a:endParaRPr/>
          </a:p>
          <a:p>
            <a:r>
              <a:t>Walk through: Female epsilon-3 homozygous and male epsilon-2 OPC KDA calls connect FTL and ANKRD11 to nearly the same genes. The calls share FTH1, GPX4, COX5B, and UQCR10, and both input DEG sets show significant enrichment of core MT and nuclear-encoded OXPHOS genes. FTL is a DEG in both calls but increases in the female epsilon-3 homozygous group and decreases in the male epsilon-2 group. KDA returned ANKRD11 in both groups because of its network connections. The DEG definition also requires FDR below 0.05 and an absolute log2 fold change above log2 of 1.3, or 0.379. ANKRD11 passes this expression threshold only in male epsilon-2 OPCs, where log2FC is plus 0.417. In female epsilon-3 homozygous OPCs, log2FC is minus 0.086, which is statistically significant but too small to qualify as a DEG.</a:t>
            </a:r>
          </a:p>
          <a:p>
            <a:endParaRPr/>
          </a:p>
          <a:p>
            <a:r>
              <a:t>Scientific boundary: ROSMAP contains one OPC fine type, so the two group-specific calls do not provide broad subtype replication. KDA cannot determine whether ANKRD11, FTL, or another connected gene acts first.</a:t>
            </a:r>
          </a:p>
          <a:p>
            <a:endParaRPr/>
          </a:p>
          <a:p>
            <a:r>
              <a:t>Transition: Show the pathway results for genes returned from the OPC KDA calls.</a:t>
            </a:r>
          </a:p>
          <a:p>
            <a:endParaRPr/>
          </a:p>
          <a:p>
            <a:r>
              <a:t>Sources: docs/analysis/kda_w_human_validation/rosmap_sex_apoe_broad_kda_analysis.md, Finding 13; https://pmc.ncbi.nlm.nih.gov/articles/PMC8941078/; https://doi.org/10.1186/s12915-025-02235-6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13 in its internal and supplemental evidence context.</a:t>
            </a:r>
          </a:p>
          <a:p>
            <a:endParaRPr/>
          </a:p>
          <a:p>
            <a:r>
              <a:t>Walk through: Several pathway terms contain many of the same genes, including widely used ubiquitin and tubulin genes. SEA-AD had no OPC category for KDA, so this result could not be tested in that cohort. Source: docs/analysis/kda_w_human_validation/rosmap_sex_apoe_broad_kda_analysis.md, Finding 13. Literature: https://pmc.ncbi.nlm.nih.gov/articles/PMC8941078/; https://doi.org/10.1186/s12915-025-02235-6</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13 may matter without overstating function.</a:t>
            </a:r>
          </a:p>
          <a:p>
            <a:endParaRPr/>
          </a:p>
          <a:p>
            <a:r>
              <a:t>Walk through: Iron storage, GPX4 protection from lipid damage, and removal of damaged mitochondria combine into a testable model. Opposite FTL directions warn against one simple model across sex/APOE groups. Source: docs/analysis/kda_w_human_validation/rosmap_sex_apoe_broad_kda_analysis.md, Finding 13. Literature: https://pmc.ncbi.nlm.nih.gov/articles/PMC8941078/; https://doi.org/10.1186/s12915-025-02235-6</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prior studies support and limit the OPC iron-stress interpretation.</a:t>
            </a:r>
          </a:p>
          <a:p>
            <a:endParaRPr/>
          </a:p>
          <a:p>
            <a:r>
              <a:t>Walk through: Experimental work shows that reduced GPX4 protection can make OPCs vulnerable to iron-dependent lipid damage. Transcriptomic studies also report oxytosis- and ferroptosis-related expression patterns in AD datasets. The current ROSMAP analysis adds focused connections among FTL, ANKRD11, GPX4, and genes involved in recycling damaged cellular material. This combination motivates an OPC iron-stress hypothesis, and the slide assigns high novelty to the specific human network relationship.</a:t>
            </a:r>
          </a:p>
          <a:p>
            <a:endParaRPr/>
          </a:p>
          <a:p>
            <a:r>
              <a:t>Scientific boundary: Expression patterns do not demonstrate that ferroptotic cell death occurred. Only one OPC fine cell type contributes to the KDA result, so the finding remains narrow.</a:t>
            </a:r>
          </a:p>
          <a:p>
            <a:endParaRPr/>
          </a:p>
          <a:p>
            <a:r>
              <a:t>Transition: Proceed to Finding 14 and the PLCG2 result.</a:t>
            </a:r>
          </a:p>
          <a:p>
            <a:endParaRPr/>
          </a:p>
          <a:p>
            <a:r>
              <a:t>Sources: docs/analysis/kda_w_human_validation/rosmap_sex_apoe_broad_kda_analysis.md, Finding 13; https://pmc.ncbi.nlm.nih.gov/articles/PMC8941078/; https://doi.org/10.1186/s12915-025-02235-6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14 and define the sex, APOE, and cell context before presenting the evidence.</a:t>
            </a:r>
          </a:p>
          <a:p>
            <a:endParaRPr/>
          </a:p>
          <a:p>
            <a:r>
              <a:t>Walk through: PLCG2 has strong Alzheimer’s genetic evidence. In this analysis, however, the mitochondrial KDA result is narrow: MT-CO1 is the only MitoCarta MT gene directly connected to PLCG2. The supporting KDA calls occur in female inhibitory neurons from the epsilon-2, epsilon-3 homozygous, and epsilon-4 groups.</a:t>
            </a:r>
          </a:p>
          <a:p>
            <a:endParaRPr/>
          </a:p>
          <a:p>
            <a:r>
              <a:t>Scientific boundary: The genetic evidence for PLCG2 is not sex- or APOE-specific. KDA and transcript direction do not establish causal regulation or mitochondrial function.</a:t>
            </a:r>
          </a:p>
          <a:p>
            <a:endParaRPr/>
          </a:p>
          <a:p>
            <a:r>
              <a:t>Transition: Separate established genetic support for PLCG2 from the specific inhibitory-neuron network result.</a:t>
            </a:r>
          </a:p>
          <a:p>
            <a:endParaRPr/>
          </a:p>
          <a:p>
            <a:r>
              <a:t>Sources: docs/analysis/kda_w_human_validation/rosmap_sex_apoe_broad_kda_analysis.md, Finding 14; https://doi.org/10.1186/s13195-019-0469-0; https://doi.org/10.1038/s41588-026-02709-5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Separate strong gene-level genetic support for PLCG2 from the narrow PLCG2-to-MT-CO1 network result.</a:t>
            </a:r>
          </a:p>
          <a:p>
            <a:endParaRPr/>
          </a:p>
          <a:p>
            <a:r>
              <a:t>Walk through: Read the three panels from left to right. Human genetic variants make PLCG2 an important Alzheimer’s gene to study. KDA returned PLCG2 from six female inhibitory-neuron calls spanning epsilon-2, epsilon-3 homozygous, and epsilon-4 groups. Across those calls, MT-CO1 is the only MitoCarta MT gene directly connected to PLCG2. The genetic support concerns PLCG2 as an Alzheimer’s gene and is not specific to sex or APOE group.</a:t>
            </a:r>
          </a:p>
          <a:p>
            <a:endParaRPr/>
          </a:p>
          <a:p>
            <a:r>
              <a:t>Scientific boundary: Gene-level genetic evidence does not validate inhibitory neurons as the relevant cell context and does not confirm that PLCG2 regulates MT-CO1. KDA can return a gene because of its network position even when the gene is not a DEG.</a:t>
            </a:r>
          </a:p>
          <a:p>
            <a:endParaRPr/>
          </a:p>
          <a:p>
            <a:r>
              <a:t>Transition: Show the six ROSMAP KDA calls, the repeated MT-CO1 connection, and the expression directions.</a:t>
            </a:r>
          </a:p>
          <a:p>
            <a:endParaRPr/>
          </a:p>
          <a:p>
            <a:r>
              <a:t>Sources: docs/analysis/kda_w_human_validation/rosmap_sex_apoe_broad_kda_analysis.md, Finding 14; https://doi.org/10.1186/s13195-019-0469-0; https://doi.org/10.1038/s41588-026-02709-5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exactly what recurs across the six ROSMAP KDA calls and what does not.</a:t>
            </a:r>
          </a:p>
          <a:p>
            <a:endParaRPr/>
          </a:p>
          <a:p>
            <a:r>
              <a:t>Walk through: There are six supporting inhibitory-neuron KDA calls, all in female sex and APOE groups. One call is female epsilon-2, four are female epsilon-3 homozygous, and one is female epsilon-4. PLCG2 does not meet the DEG criteria in any of the six calls; it is returned because of its network position. MT-CO1 is the only unique directly connected MitoCarta MT gene. The five calls from the female epsilon-2 and female epsilon-3 homozygous groups contain upregulated MT-CO1, while the female epsilon-4 call contains downregulated MT-CO1. Therefore, across the six calls, MT-CO1 is upregulated in five occurrences and downregulated in one.</a:t>
            </a:r>
          </a:p>
          <a:p>
            <a:endParaRPr/>
          </a:p>
          <a:p>
            <a:r>
              <a:t>Scientific boundary: Six repeated PLCG2–MT-CO1 connections are six KDA-call occurrences of one gene pair, not six distinct mitochondrial genes or six independent donors.</a:t>
            </a:r>
          </a:p>
          <a:p>
            <a:endParaRPr/>
          </a:p>
          <a:p>
            <a:r>
              <a:t>Transition: Distinguish the core MT pattern in each full KDA input DEG set from the single gene directly connected to PLCG2.</a:t>
            </a:r>
          </a:p>
          <a:p>
            <a:endParaRPr/>
          </a:p>
          <a:p>
            <a:r>
              <a:t>Sources: docs/analysis/kda_w_human_validation/rosmap_sex_apoe_broad_kda_analysis.md, Finding 14; https://doi.org/10.1186/s13195-019-0469-0; https://doi.org/10.1038/s41588-026-02709-5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pathway enrichment in the full KDA input DEG sets from the direct PLCG2 network connection.</a:t>
            </a:r>
          </a:p>
          <a:p>
            <a:endParaRPr/>
          </a:p>
          <a:p>
            <a:r>
              <a:t>Walk through: Across the six full KDA input DEG sets, core MT genes contribute 41 DEG occurrences: 36 are upregulated in AD and five are downregulated. All six input DEG sets show significant enrichment of core MT genes, meaning that they contain more core MT genes than expected by chance. This is an input-level pathway result. The local network result asks a different question and contains only one unique MitoCarta MT gene directly connected to PLCG2: MT-CO1. SEA-AD had no female inhibitory KDA category and therefore could not test the same sex, APOE, and cell context.</a:t>
            </a:r>
          </a:p>
          <a:p>
            <a:endParaRPr/>
          </a:p>
          <a:p>
            <a:r>
              <a:t>Scientific boundary: Core MT enrichment in the full DEG inputs does not explain or validate the specific PLCG2–MT-CO1 connection. Missing SEA-AD coverage is neutral rather than failed validation.</a:t>
            </a:r>
          </a:p>
          <a:p>
            <a:endParaRPr/>
          </a:p>
          <a:p>
            <a:r>
              <a:t>Transition: Consider why strong genetic evidence for PLCG2 still leaves the inhibitory-neuron MT-CO1 connection uncertain.</a:t>
            </a:r>
          </a:p>
          <a:p>
            <a:endParaRPr/>
          </a:p>
          <a:p>
            <a:r>
              <a:t>Sources: docs/analysis/kda_w_human_validation/rosmap_sex_apoe_broad_kda_analysis.md, Finding 14; https://doi.org/10.1186/s13195-019-0469-0; https://doi.org/10.1038/s41588-026-02709-5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the PLCG2 gene remains important while this particular cell context and network connection require verification.</a:t>
            </a:r>
          </a:p>
          <a:p>
            <a:endParaRPr/>
          </a:p>
          <a:p>
            <a:r>
              <a:t>Walk through: The left panel summarizes established genetic evidence: PLCG2 variants affect Alzheimer’s risk, and the protective P522R variant produces a small increase in PLCG2 activity. The middle panel identifies the cell-type question because PLCG2 has historically received more attention in microglia and dentate granule cells than in inhibitory neurons. The right panel identifies the network question: RNA from nearby cells, droplets containing more than one cell, cell-label errors, or network structure could contribute to the repeated PLCG2–MT-CO1 connection. The cautious next step is to verify PLCG2 expression in inhibitory neurons and test whether the connection is reproducible.</a:t>
            </a:r>
          </a:p>
          <a:p>
            <a:endParaRPr/>
          </a:p>
          <a:p>
            <a:r>
              <a:t>Scientific boundary: Strong gene-level genetics does not prove that PLCG2 acts through MT-CO1, does not establish inhibitory neurons as the relevant cell type, and does not make this result sex- or APOE-specific.</a:t>
            </a:r>
          </a:p>
          <a:p>
            <a:endParaRPr/>
          </a:p>
          <a:p>
            <a:r>
              <a:t>Transition: Proceed to the next finding after separating established PLCG2 relevance from this provisional network hypothesis.</a:t>
            </a:r>
          </a:p>
          <a:p>
            <a:endParaRPr/>
          </a:p>
          <a:p>
            <a:r>
              <a:t>Sources: docs/analysis/kda_w_human_validation/rosmap_sex_apoe_broad_kda_analysis.md, Finding 14; https://doi.org/10.1186/s13195-019-0469-0; https://doi.org/10.1038/s41588-026-02709-5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PLCG2 has strong genetic relevance but weak support for the specific MT-CO1 connection.</a:t>
            </a:r>
          </a:p>
          <a:p>
            <a:endParaRPr/>
          </a:p>
          <a:p>
            <a:r>
              <a:t>Walk through: The Phase 19b genetic screen provides strong Alzheimer’s gene-level support for PLCG2. Prior work on the protective P522R variant shows a small increase in one PLCG2 function, and a 2026 study reports neuron-intrinsic PLCG2 effects on synapses, amyloid-beta, and tau. These findings establish PLCG2 as an important AD gene to investigate. None of them demonstrates that PLCG2 regulates MT-CO1 or confirms the cell-specific network connections in this analysis. The slide assigns high novelty to that specific proposed relationship.</a:t>
            </a:r>
          </a:p>
          <a:p>
            <a:endParaRPr/>
          </a:p>
          <a:p>
            <a:r>
              <a:t>Scientific boundary: High novelty does not imply high confidence. The PLCG2-to-MT-CO1 result is narrow, and gene-level genetic support cannot validate a particular cell context or KDA connection.</a:t>
            </a:r>
          </a:p>
          <a:p>
            <a:endParaRPr/>
          </a:p>
          <a:p>
            <a:r>
              <a:t>Transition: Proceed to Finding 15 and the astrocyte APOE result.</a:t>
            </a:r>
          </a:p>
          <a:p>
            <a:endParaRPr/>
          </a:p>
          <a:p>
            <a:r>
              <a:t>Sources: docs/analysis/kda_w_human_validation/rosmap_sex_apoe_broad_kda_analysis.md, Finding 14; https://doi.org/10.1186/s13195-019-0469-0; https://doi.org/10.1038/s41588-026-02709-5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15.</a:t>
            </a:r>
          </a:p>
          <a:p>
            <a:endParaRPr/>
          </a:p>
          <a:p>
            <a:r>
              <a:t>Walk through: APOE is returned in three astrocyte groups with opposite expression directions and different connected mitochondrial genes. Source: docs/analysis/kda_w_human_validation/rosmap_sex_apoe_broad_kda_analysis.md, Finding 15. Literature: https://doi.org/10.1016/j.neuron.2019.03.075; https://doi.org/10.1016/j.celrep.2023.113183; https://doi.org/10.1038/s41419-020-02776-4</a:t>
            </a:r>
          </a:p>
          <a:p>
            <a:endParaRPr/>
          </a:p>
          <a:p>
            <a:r>
              <a:t>Scientific boundary: This section presents a testable interpretation. KDA and transcript direction do not establish causal regulation or mitochondrial function.</a:t>
            </a:r>
          </a:p>
          <a:p>
            <a:endParaRPr/>
          </a:p>
          <a:p>
            <a:r>
              <a:t>Scope: Observed in: female ε2, male ε2, and male ε4</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Teaching goal: Show that the APOE DEG direction differs among the three supporting astrocyte groups.</a:t>
            </a:r>
          </a:p>
          <a:p>
            <a:endParaRPr/>
          </a:p>
          <a:p>
            <a:r>
              <a:t>Walk through: Here APOE refers to the gene, and the DEG result measures APOE RNA. APOE is upregulated in the supporting female epsilon-2 astrocyte KDA call, with log2 fold change plus 0.79. It is downregulated in male epsilon-2, with log2 fold change minus 0.51, and in male epsilon-4, with log2 fold change minus 1.25. These opposite directions show why the result should not be described as epsilon-4-only.</a:t>
            </a:r>
          </a:p>
          <a:p>
            <a:endParaRPr/>
          </a:p>
          <a:p>
            <a:r>
              <a:t>Scientific boundary: Each value comes from an AD-versus-NCI comparison within one sex and APOE group and one fine astrocyte type. Separate within-group results do not establish that the disease effect differs statistically across groups.</a:t>
            </a:r>
          </a:p>
          <a:p>
            <a:endParaRPr/>
          </a:p>
          <a:p>
            <a:r>
              <a:t>Transition: Show the three KDA calls and the mitochondrial genes directly connected to APOE.</a:t>
            </a:r>
          </a:p>
          <a:p>
            <a:endParaRPr/>
          </a:p>
          <a:p>
            <a:r>
              <a:t>Sources: docs/analysis/kda_w_human_validation/rosmap_sex_apoe_broad_kda_analysis.md, Finding 15; https://doi.org/10.1016/j.neuron.2019.03.075; https://doi.org/10.1016/j.celrep.2023.113183; https://doi.org/10.1038/s41419-020-02776-4</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Teaching goal: Present the primary ROSMAP DEG and KDA evidence for Finding 15.</a:t>
            </a:r>
          </a:p>
          <a:p>
            <a:endParaRPr/>
          </a:p>
          <a:p>
            <a:r>
              <a:t>Walk through: APOE is a DEG and a gene returned from one astrocyte KDA call in each of three groups: female epsilon-2, male epsilon-2, and male epsilon-4. Thus, three KDA calls support the result, and APOE meets the DEG criteria in all three. One result is upregulated and two are downregulated. Across the calls, five named mitochondrial genes connect directly to APOE. TUFM supports mitochondrial protein production. LDHB and CHCHD10 relate to metabolism, mitochondrial structure, or stress responses. ATP5PB and ATP5F1A encode nuclear OXPHOS components of ATP synthase.</a:t>
            </a:r>
          </a:p>
          <a:p>
            <a:endParaRPr/>
          </a:p>
          <a:p>
            <a:r>
              <a:t>Scientific boundary: Each group contributes only one KDA call, and the connected genes differ among groups. The three calls therefore do not establish one repeated APOE mitochondrial pathway or causal regulation by APOE.</a:t>
            </a:r>
          </a:p>
          <a:p>
            <a:endParaRPr/>
          </a:p>
          <a:p>
            <a:r>
              <a:t>Transition: Explain the log2 fold changes and the lack of matching SEA-AD coverage.</a:t>
            </a:r>
          </a:p>
          <a:p/>
          <a:p>
            <a:r>
              <a:t>Sources: docs/analysis/kda_w_human_validation/rosmap_sex_apoe_broad_kda_analysis.md, Finding 15; https://doi.org/10.1016/j.neuron.2019.03.075; https://doi.org/10.1016/j.celrep.2023.113183; https://doi.org/10.1038/s41419-020-02776-4</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Teaching goal: Define the APOE log2 fold changes and distinguish within-group expression from a direct group comparison.</a:t>
            </a:r>
          </a:p>
          <a:p>
            <a:endParaRPr/>
          </a:p>
          <a:p>
            <a:r>
              <a:t>Walk through: Log2 fold change compares modeled APOE RNA expression in AD with NCI within the indicated fine astrocyte type. The ordinary expression ratio is two raised to the log2 fold change. In female epsilon-2 Ast GRM3, plus 0.79 corresponds to about 1.72 times the expression in NCI, or 72 percent higher. In male epsilon-2 Ast GRM3, minus 0.51 corresponds to about 0.70 times the expression in NCI, or 30 percent lower. In male epsilon-4 Ast CHI3L1, minus 1.25 corresponds to about 0.42 times the expression in NCI, or 58 percent lower. SEA-AD had no KDA calls in the same sex, APOE, and cell categories.</a:t>
            </a:r>
          </a:p>
          <a:p>
            <a:endParaRPr/>
          </a:p>
          <a:p>
            <a:r>
              <a:t>Scientific boundary: The three values are not percentages, KDA scores, or direct comparisons between groups. Different fine astrocyte types contribute, and missing SEA-AD coverage is neutral rather than failed validation.</a:t>
            </a:r>
          </a:p>
          <a:p>
            <a:endParaRPr/>
          </a:p>
          <a:p>
            <a:r>
              <a:t>Transition: Separate the APOE gene-expression result from the biological fact that astrocytes produce ApoE protein.</a:t>
            </a:r>
          </a:p>
          <a:p/>
          <a:p>
            <a:r>
              <a:t>Sources: docs/analysis/kda_w_human_validation/rosmap_sex_apoe_broad_kda_analysis.md, Finding 15; https://doi.org/10.1016/j.neuron.2019.03.075; https://doi.org/10.1016/j.celrep.2023.113183; https://doi.org/10.1038/s41419-020-02776-4</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Teaching goal: Distinguish the APOE gene and its RNA from the ApoE protein produced by astrocytes.</a:t>
            </a:r>
          </a:p>
          <a:p>
            <a:endParaRPr/>
          </a:p>
          <a:p>
            <a:r>
              <a:t>Walk through: APOE is the gene, APOE expression refers to its RNA, and ApoE is the encoded protein. Astrocytes are a major source of ApoE protein in the brain, where ApoE participates in lipid transport. The DEG analysis on the preceding slides measures APOE RNA, not ApoE protein abundance. The different RNA directions may reflect differences in astrocyte state or response to pathology. A formal interaction model must directly compare the disease effects across sex and APOE groups.</a:t>
            </a:r>
          </a:p>
          <a:p>
            <a:endParaRPr/>
          </a:p>
          <a:p>
            <a:r>
              <a:t>Scientific boundary: Astrocytes are not the only cells that can produce ApoE. RNA abundance does not determine how much ApoE protein is secreted, and the three separate group analyses do not prove a sex-by-APOE interaction.</a:t>
            </a:r>
          </a:p>
          <a:p>
            <a:endParaRPr/>
          </a:p>
          <a:p>
            <a:r>
              <a:t>Transition: Compare the context-specific result with prior APOE genetics and experimental astrocyte studies.</a:t>
            </a:r>
          </a:p>
          <a:p/>
          <a:p>
            <a:r>
              <a:t>Sources: docs/analysis/kda_w_human_validation/rosmap_sex_apoe_broad_kda_analysis.md, Finding 15; https://doi.org/10.1016/j.neuron.2019.03.075; https://doi.org/10.1016/j.celrep.2023.113183; https://doi.org/10.1038/s41419-020-02776-4; https://pubmed.ncbi.nlm.nih.gov/3539206/</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established APOE biology supports but does not resolve the astrocyte network result.</a:t>
            </a:r>
          </a:p>
          <a:p>
            <a:endParaRPr/>
          </a:p>
          <a:p>
            <a:r>
              <a:t>Walk through: Human genetics establishes APOE as the strongest common risk locus for late-onset AD. Experimental studies show that APOE-related changes in astrocytes can alter mitochondrial function, mitochondrial shape, and removal of damaged mitochondria. This literature makes an astrocyte APOE-to-mitochondria relationship plausible. It does not explain why APOE changes in opposite directions across the sex/APOE groups shown here, and it does not confirm the three different sets of KDA connections. The slide assigns moderate novelty to this context-specific result.</a:t>
            </a:r>
          </a:p>
          <a:p>
            <a:endParaRPr/>
          </a:p>
          <a:p>
            <a:r>
              <a:t>Scientific boundary: The current result includes epsilon-2 groups as well as epsilon-4. Established APOE4 biology therefore cannot be applied automatically to every group on the slide.</a:t>
            </a:r>
          </a:p>
          <a:p>
            <a:endParaRPr/>
          </a:p>
          <a:p>
            <a:r>
              <a:t>Transition: Proceed to Finding 16 and the female epsilon-4 vascular stress-response result.</a:t>
            </a:r>
          </a:p>
          <a:p>
            <a:endParaRPr/>
          </a:p>
          <a:p>
            <a:r>
              <a:t>Sources: docs/analysis/kda_w_human_validation/rosmap_sex_apoe_broad_kda_analysis.md, Finding 15; https://doi.org/10.1016/j.neuron.2019.03.075; https://doi.org/10.1016/j.celrep.2023.113183; https://doi.org/10.1038/s41419-020-02776-4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16 while separating the donor group from the biological pathway result.</a:t>
            </a:r>
          </a:p>
          <a:p>
            <a:endParaRPr/>
          </a:p>
          <a:p>
            <a:r>
              <a:t>Walk through: Female and APOE epsilon-4-containing identify the donor group. Vascular cells identify the cell category. APOE is not the pathway in this finding. The biological result is that two vascular-cell KDA calls returned HSPH1, HSPA1A, and PTGES3, three genes related to cellular protein stress.</a:t>
            </a:r>
          </a:p>
          <a:p>
            <a:endParaRPr/>
          </a:p>
          <a:p>
            <a:r>
              <a:t>Scientific boundary: Observing the result in this subgroup does not prove that APOE epsilon-4 caused it or that the result differs statistically from other sex or APOE groups.</a:t>
            </a:r>
          </a:p>
          <a:p>
            <a:endParaRPr/>
          </a:p>
          <a:p>
            <a:r>
              <a:t>Transition: Explain the three returned genes and the donor context.</a:t>
            </a:r>
          </a:p>
          <a:p>
            <a:endParaRPr/>
          </a:p>
          <a:p>
            <a:r>
              <a:t>Source: docs/analysis/kda_w_human_validation/rosmap_sex_apoe_broad_kda_analysis.md, Finding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introduces the genes returned from the vascular KDA calls.</a:t>
            </a:r>
          </a:p>
          <a:p>
            <a:endParaRPr/>
          </a:p>
          <a:p>
            <a:r>
              <a:t>The labels across the top define the analysis context. The donors are female and belong to the APOE epsilon-4-containing group. The analyzed cell category is vascular cells, and two eligible KDA calls contribute.</a:t>
            </a:r>
          </a:p>
          <a:p>
            <a:endParaRPr/>
          </a:p>
          <a:p>
            <a:r>
              <a:t>HSPA1A helps proteins fold correctly or recover during stress. HSPH1 works with other heat-shock proteins to help damaged proteins refold. PTGES3 also has protein-folding functions in addition to its other cellular roles.</a:t>
            </a:r>
          </a:p>
          <a:p>
            <a:endParaRPr/>
          </a:p>
          <a:p>
            <a:r>
              <a:t>Heat-shock genes respond to many forms of cellular stress. Their names do not mean that the cells experienced high temperature.</a:t>
            </a:r>
          </a:p>
          <a:p>
            <a:endParaRPr/>
          </a:p>
          <a:p>
            <a:r>
              <a:t>Next, I will show how pathway analysis interprets these returned genes.</a:t>
            </a:r>
          </a:p>
          <a:p>
            <a:endParaRPr/>
          </a:p>
          <a:p>
            <a:r>
              <a:t>Sources: docs/analysis/kda_w_human_validation/rosmap_sex_apoe_broad_kda_analysis.md, Finding 16; https://doi.org/10.1186/s13024-023-00624-5; https://doi.org/10.1038/s41586-024-07606-7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summarizes the counts and the two overlapping pathway results.</a:t>
            </a:r>
          </a:p>
          <a:p>
            <a:endParaRPr/>
          </a:p>
          <a:p>
            <a:r>
              <a:t>Five unique non-MitoCarta genes were returned from vascular KDA calls in the female APOE epsilon-4-containing donor group. Three are stress-response genes: HSPH1, HSPA1A, and PTGES3. Only two eligible KDA calls contribute.</a:t>
            </a:r>
          </a:p>
          <a:p>
            <a:endParaRPr/>
          </a:p>
          <a:p>
            <a:r>
              <a:t>Pathway analysis tests whether the returned genes occur more often than expected in known gene sets. The first result is genes controlled by HSF1, with a BH-adjusted P value of 4.07 times 10 to the minus 4. HSF1 controls genes that protect proteins during cellular stress.</a:t>
            </a:r>
          </a:p>
          <a:p>
            <a:endParaRPr/>
          </a:p>
          <a:p>
            <a:r>
              <a:t>The second result is cellular response to heat stress, with a BH-adjusted P value of 0.00383. This pathway contains genes activated by cellular stress, including stress from damaged proteins. It does not imply exposure to high temperature.</a:t>
            </a:r>
          </a:p>
          <a:p>
            <a:endParaRPr/>
          </a:p>
          <a:p>
            <a:r>
              <a:t>The two pathway results overlap because HSPH1, HSPA1A, and PTGES3 contribute to both. The two adjusted P values therefore describe related analyses rather than independent biological findings.</a:t>
            </a:r>
          </a:p>
          <a:p>
            <a:endParaRPr/>
          </a:p>
          <a:p>
            <a:r>
              <a:t>Next, I will explain why this result remains preliminary.</a:t>
            </a:r>
          </a:p>
          <a:p>
            <a:endParaRPr/>
          </a:p>
          <a:p>
            <a:r>
              <a:t>Sources: docs/analysis/kda_w_human_validation/rosmap_sex_apoe_broad_kda_analysis.md, Finding 16; https://doi.org/10.1186/s13024-023-00624-5; https://doi.org/10.1038/s41586-024-07606-7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explains the main limitations of the Finding 16 result.</a:t>
            </a:r>
          </a:p>
          <a:p>
            <a:endParaRPr/>
          </a:p>
          <a:p>
            <a:r>
              <a:t>First, only two ROSMAP fine-cell KDA calls contribute to the vascular result in the female APOE epsilon-4-containing group.</a:t>
            </a:r>
          </a:p>
          <a:p>
            <a:endParaRPr/>
          </a:p>
          <a:p>
            <a:r>
              <a:t>Second, the two pathway results are driven by the same three genes: HSPH1, HSPA1A, and PTGES3. The HSF1-controlled and heat-stress results therefore provide overlapping evidence.</a:t>
            </a:r>
          </a:p>
          <a:p>
            <a:endParaRPr/>
          </a:p>
          <a:p>
            <a:r>
              <a:t>Third, SEA-AD had no vascular category available for KDA, so it could not test this result. Missing SEA-AD coverage is neutral and does not count as failed validation.</a:t>
            </a:r>
          </a:p>
          <a:p>
            <a:endParaRPr/>
          </a:p>
          <a:p>
            <a:r>
              <a:t>Together, these points make the result a low-confidence ROSMAP clue.</a:t>
            </a:r>
          </a:p>
          <a:p>
            <a:endParaRPr/>
          </a:p>
          <a:p>
            <a:r>
              <a:t>Next, I will explain why an HSF1-linked response in vascular cells may still matter biologically.</a:t>
            </a:r>
          </a:p>
          <a:p>
            <a:endParaRPr/>
          </a:p>
          <a:p>
            <a:r>
              <a:t>Sources: docs/analysis/kda_w_human_validation/rosmap_sex_apoe_broad_kda_analysis.md, Finding 16; https://doi.org/10.1186/s13024-023-00624-5; https://doi.org/10.1038/s41586-024-07606-7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explains the possible biological relevance of the pathway result.</a:t>
            </a:r>
          </a:p>
          <a:p>
            <a:endParaRPr/>
          </a:p>
          <a:p>
            <a:r>
              <a:t>Vascular cells help regulate blood flow in the brain and support blood-brain barrier function.</a:t>
            </a:r>
          </a:p>
          <a:p>
            <a:endParaRPr/>
          </a:p>
          <a:p>
            <a:r>
              <a:t>HSPH1, HSPA1A, and PTGES3 help protect proteins during cellular stress. Their expression may indicate protein damage or a general protective response in vascular cells.</a:t>
            </a:r>
          </a:p>
          <a:p>
            <a:endParaRPr/>
          </a:p>
          <a:p>
            <a:r>
              <a:t>Many stresses can activate HSF1. These include inflammation, oxidative stress, and stress caused by damaged proteins. The analysis does not identify which trigger produced this result.</a:t>
            </a:r>
          </a:p>
          <a:p>
            <a:endParaRPr/>
          </a:p>
          <a:p>
            <a:r>
              <a:t>This interpretation does not show that APOE epsilon-4 caused the response. It also does not establish causal regulation or demonstrate a functional vascular effect.</a:t>
            </a:r>
          </a:p>
          <a:p>
            <a:endParaRPr/>
          </a:p>
          <a:p>
            <a:r>
              <a:t>Next, I will compare the current finding with the supporting literature.</a:t>
            </a:r>
          </a:p>
          <a:p>
            <a:endParaRPr/>
          </a:p>
          <a:p>
            <a:r>
              <a:t>Sources: docs/analysis/kda_w_human_validation/rosmap_sex_apoe_broad_kda_analysis.md, Finding 16; https://doi.org/10.1186/s13024-023-00624-5; https://doi.org/10.1038/s41586-024-07606-7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summarizes the current result and the supporting literature.</a:t>
            </a:r>
          </a:p>
          <a:p>
            <a:endParaRPr/>
          </a:p>
          <a:p>
            <a:r>
              <a:t>The current analysis produced two overlapping pathway results: genes controlled by HSF1 and cellular response to heat stress. Vascular KDA calls from female donors in the APOE epsilon-4-containing group returned HSPH1, HSPA1A, and PTGES3. These three genes contribute to both pathway results. Only two KDA calls contribute, which limits the evidence.</a:t>
            </a:r>
          </a:p>
          <a:p>
            <a:endParaRPr/>
          </a:p>
          <a:p>
            <a:r>
              <a:t>Guo and colleagues support analyzing Alzheimer’s disease networks separately by cell type and sex. Their study does not report this specific group of stress-response genes in vascular cells.</a:t>
            </a:r>
          </a:p>
          <a:p>
            <a:endParaRPr/>
          </a:p>
          <a:p>
            <a:r>
              <a:t>Mathys and colleagues show that Alzheimer’s-related gene expression differs among brain cell populations. That study uses ROSMAP and does not independently confirm this group of genes.</a:t>
            </a:r>
          </a:p>
          <a:p>
            <a:endParaRPr/>
          </a:p>
          <a:p>
            <a:r>
              <a:t>The current result has moderate provisional novelty. The available evidence does not establish an APOE epsilon-4 interaction or prove that these genes cause vascular dysfunction.</a:t>
            </a:r>
          </a:p>
          <a:p>
            <a:endParaRPr/>
          </a:p>
          <a:p>
            <a:r>
              <a:t>This concludes the detailed findings.</a:t>
            </a:r>
          </a:p>
          <a:p>
            <a:endParaRPr/>
          </a:p>
          <a:p>
            <a:r>
              <a:t>Sources: docs/analysis/kda_w_human_validation/rosmap_sex_apoe_broad_kda_analysis.md, Finding 16; https://doi.org/10.1186/s13024-023-00624-5; https://doi.org/10.1038/s41586-024-07606-7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9.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0.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 preserve="1">
  <p:cSld name="Title Slide">
    <p:spTree>
      <p:nvGrpSpPr>
        <p:cNvPr id="1" name=""/>
        <p:cNvGrpSpPr/>
        <p:nvPr/>
      </p:nvGrpSpPr>
      <p:grpSpPr>
        <a:xfrm>
          <a:off x="0" y="0"/>
          <a:ext cx="0" cy="0"/>
        </a:xfrm>
      </p:grpSpPr>
      <p:sp>
        <p:nvSpPr>
          <p:cNvPr id="2" name="Title 1">
            <a:extLst>
              <a:ext uri="{FF2B5EF4-FFF2-40B4-BE49-F238E27FC236}">
                <a16:creationId xmlns:a16="http://schemas.microsoft.com/office/drawing/2014/main" id="{F69BA105-4B24-46A8-AF1E-746362AECBED}"/>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9153A9A4-39A0-4527-BCC8-87E8B379E888}"/>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3130D54B-796E-481E-8C08-BA01FBA2FB2F}"/>
              </a:ext>
            </a:extLst>
          </p:cNvPr>
          <p:cNvSpPr>
            <a:spLocks noGrp="1"/>
          </p:cNvSpPr>
          <p:nvPr>
            <p:ph type="dt" idx="10"/>
          </p:nvPr>
        </p:nvSpPr>
        <p:spPr/>
        <p:txBody>
          <a:bodyPr/>
          <a:lstStyle/>
          <a:p>
            <a:fld id="{5BCAD085-E8A6-8845-BD4E-CB4CCA059FC4}" type="datetimeFigureOut">
              <a:t>9/23/26</a:t>
            </a:fld>
            <a:endParaRPr/>
          </a:p>
        </p:txBody>
      </p:sp>
      <p:sp>
        <p:nvSpPr>
          <p:cNvPr id="5" name="Footer Placeholder 4">
            <a:extLst>
              <a:ext uri="{FF2B5EF4-FFF2-40B4-BE49-F238E27FC236}">
                <a16:creationId xmlns:a16="http://schemas.microsoft.com/office/drawing/2014/main" id="{FC8D336F-2113-4BE9-B57A-0B488AA31031}"/>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72DB447C-5DD6-487E-8966-80A70E2A140F}"/>
              </a:ext>
            </a:extLst>
          </p:cNvPr>
          <p:cNvSpPr>
            <a:spLocks noGrp="1"/>
          </p:cNvSpPr>
          <p:nvPr>
            <p:ph type="sldNum" idx="12"/>
          </p:nvPr>
        </p:nvSpPr>
        <p:spPr/>
        <p:txBody>
          <a:bodyPr/>
          <a:lstStyle/>
          <a:p>
            <a:fld id="{C1FF6DA9-008F-8B48-92A6-B652298478BF}" type="slidenum">
              <a:t>‹#›</a:t>
            </a:fld>
            <a:endParaRPr/>
          </a:p>
        </p:txBody>
      </p:sp>
    </p:spTree>
  </p:cSld>
  <p:clrMapOvr>
    <a:masterClrMapping/>
  </p:clrMapOvr>
  <p:transition/>
  <p:timing/>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 preserve="1">
  <p:cSld name="Title and Content">
    <p:spTree>
      <p:nvGrpSpPr>
        <p:cNvPr id="1" name=""/>
        <p:cNvGrpSpPr/>
        <p:nvPr/>
      </p:nvGrpSpPr>
      <p:grpSpPr>
        <a:xfrm>
          <a:off x="0" y="0"/>
          <a:ext cx="0" cy="0"/>
        </a:xfrm>
      </p:grpSpPr>
      <p:sp>
        <p:nvSpPr>
          <p:cNvPr id="2" name="Title 1">
            <a:extLst>
              <a:ext uri="{FF2B5EF4-FFF2-40B4-BE49-F238E27FC236}">
                <a16:creationId xmlns:a16="http://schemas.microsoft.com/office/drawing/2014/main" id="{FCD45C28-A521-4016-A859-5CDF15707258}"/>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441D5F0D-3BEC-4F03-B479-F5491D273040}"/>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2B921A8A-5687-460F-8627-57019F2B3024}"/>
              </a:ext>
            </a:extLst>
          </p:cNvPr>
          <p:cNvSpPr>
            <a:spLocks noGrp="1"/>
          </p:cNvSpPr>
          <p:nvPr>
            <p:ph type="dt" idx="10"/>
          </p:nvPr>
        </p:nvSpPr>
        <p:spPr/>
        <p:txBody>
          <a:bodyPr/>
          <a:lstStyle/>
          <a:p>
            <a:fld id="{5BCAD085-E8A6-8845-BD4E-CB4CCA059FC4}" type="datetimeFigureOut">
              <a:t>9/23/26</a:t>
            </a:fld>
            <a:endParaRPr/>
          </a:p>
        </p:txBody>
      </p:sp>
      <p:sp>
        <p:nvSpPr>
          <p:cNvPr id="5" name="Footer Placeholder 4">
            <a:extLst>
              <a:ext uri="{FF2B5EF4-FFF2-40B4-BE49-F238E27FC236}">
                <a16:creationId xmlns:a16="http://schemas.microsoft.com/office/drawing/2014/main" id="{2A32EE1D-CDAC-4B84-9CDA-9E0A2E101C28}"/>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86D9969-7263-434E-85BA-616B70F0F695}"/>
              </a:ext>
            </a:extLst>
          </p:cNvPr>
          <p:cNvSpPr>
            <a:spLocks noGrp="1"/>
          </p:cNvSpPr>
          <p:nvPr>
            <p:ph type="sldNum" idx="12"/>
          </p:nvPr>
        </p:nvSpPr>
        <p:spPr/>
        <p:txBody>
          <a:bodyPr/>
          <a:lstStyle/>
          <a:p>
            <a:fld id="{C1FF6DA9-008F-8B48-92A6-B652298478BF}" type="slidenum">
              <a:t>‹#›</a:t>
            </a:fld>
            <a:endParaRPr/>
          </a:p>
        </p:txBody>
      </p:sp>
    </p:spTree>
  </p:cSld>
  <p:clrMapOvr>
    <a:masterClrMapping/>
  </p:clrMapOvr>
  <p:transition/>
  <p:timing/>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secHead" preserve="1">
  <p:cSld name="Section Header">
    <p:spTree>
      <p:nvGrpSpPr>
        <p:cNvPr id="1" name=""/>
        <p:cNvGrpSpPr/>
        <p:nvPr/>
      </p:nvGrpSpPr>
      <p:grpSpPr>
        <a:xfrm>
          <a:off x="0" y="0"/>
          <a:ext cx="0" cy="0"/>
        </a:xfrm>
      </p:grpSpPr>
      <p:sp>
        <p:nvSpPr>
          <p:cNvPr id="2" name="Title 1">
            <a:extLst>
              <a:ext uri="{FF2B5EF4-FFF2-40B4-BE49-F238E27FC236}">
                <a16:creationId xmlns:a16="http://schemas.microsoft.com/office/drawing/2014/main" id="{3F0E578C-327B-437D-9B83-9555D5872F7C}"/>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4D18478C-FB06-48F7-8BEF-170985AB4892}"/>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AAC0CE1F-9B2E-49D7-8D5C-16F25C9832C2}"/>
              </a:ext>
            </a:extLst>
          </p:cNvPr>
          <p:cNvSpPr>
            <a:spLocks noGrp="1"/>
          </p:cNvSpPr>
          <p:nvPr>
            <p:ph type="dt" idx="10"/>
          </p:nvPr>
        </p:nvSpPr>
        <p:spPr/>
        <p:txBody>
          <a:bodyPr/>
          <a:lstStyle/>
          <a:p>
            <a:fld id="{5BCAD085-E8A6-8845-BD4E-CB4CCA059FC4}" type="datetimeFigureOut">
              <a:t>9/23/26</a:t>
            </a:fld>
            <a:endParaRPr/>
          </a:p>
        </p:txBody>
      </p:sp>
      <p:sp>
        <p:nvSpPr>
          <p:cNvPr id="5" name="Footer Placeholder 4">
            <a:extLst>
              <a:ext uri="{FF2B5EF4-FFF2-40B4-BE49-F238E27FC236}">
                <a16:creationId xmlns:a16="http://schemas.microsoft.com/office/drawing/2014/main" id="{5769DEF4-BD2C-45AE-B50F-F80E3FEF57B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4ABBFF11-CE87-4491-8FE1-B34F6F5D6084}"/>
              </a:ext>
            </a:extLst>
          </p:cNvPr>
          <p:cNvSpPr>
            <a:spLocks noGrp="1"/>
          </p:cNvSpPr>
          <p:nvPr>
            <p:ph type="sldNum" idx="12"/>
          </p:nvPr>
        </p:nvSpPr>
        <p:spPr/>
        <p:txBody>
          <a:bodyPr/>
          <a:lstStyle/>
          <a:p>
            <a:fld id="{C1FF6DA9-008F-8B48-92A6-B652298478BF}" type="slidenum">
              <a:t>‹#›</a:t>
            </a:fld>
            <a:endParaRPr/>
          </a:p>
        </p:txBody>
      </p:sp>
    </p:spTree>
  </p:cSld>
  <p:clrMapOvr>
    <a:masterClrMapping/>
  </p:clrMapOvr>
  <p:transition/>
  <p:timing/>
</p:sldLayout>
</file>

<file path=ppt/slideLayouts/slideLayout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Obj" preserve="1">
  <p:cSld name="Two Content">
    <p:spTree>
      <p:nvGrpSpPr>
        <p:cNvPr id="1" name=""/>
        <p:cNvGrpSpPr/>
        <p:nvPr/>
      </p:nvGrpSpPr>
      <p:grpSpPr>
        <a:xfrm>
          <a:off x="0" y="0"/>
          <a:ext cx="0" cy="0"/>
        </a:xfrm>
      </p:grpSpPr>
      <p:sp>
        <p:nvSpPr>
          <p:cNvPr id="2" name="Title 1">
            <a:extLst>
              <a:ext uri="{FF2B5EF4-FFF2-40B4-BE49-F238E27FC236}">
                <a16:creationId xmlns:a16="http://schemas.microsoft.com/office/drawing/2014/main" id="{542E0FD6-7325-4BAE-B158-0AF28703D239}"/>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A1B9E55E-5FBD-41FE-A156-FBD61AD2E58F}"/>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092D2BBA-9FF3-4D93-9F11-A7B7707A5CF6}"/>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4C434C50-7A6B-46C2-9F04-8456F2224419}"/>
              </a:ext>
            </a:extLst>
          </p:cNvPr>
          <p:cNvSpPr>
            <a:spLocks noGrp="1"/>
          </p:cNvSpPr>
          <p:nvPr>
            <p:ph type="dt" idx="10"/>
          </p:nvPr>
        </p:nvSpPr>
        <p:spPr/>
        <p:txBody>
          <a:bodyPr/>
          <a:lstStyle/>
          <a:p>
            <a:fld id="{5BCAD085-E8A6-8845-BD4E-CB4CCA059FC4}" type="datetimeFigureOut">
              <a:t>9/23/26</a:t>
            </a:fld>
            <a:endParaRPr/>
          </a:p>
        </p:txBody>
      </p:sp>
      <p:sp>
        <p:nvSpPr>
          <p:cNvPr id="6" name="Footer Placeholder 5">
            <a:extLst>
              <a:ext uri="{FF2B5EF4-FFF2-40B4-BE49-F238E27FC236}">
                <a16:creationId xmlns:a16="http://schemas.microsoft.com/office/drawing/2014/main" id="{4F378908-8C1E-449A-9A0C-21909ADDF7C0}"/>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55FEEC09-795E-489D-9504-3B44CB5AA4D0}"/>
              </a:ext>
            </a:extLst>
          </p:cNvPr>
          <p:cNvSpPr>
            <a:spLocks noGrp="1"/>
          </p:cNvSpPr>
          <p:nvPr>
            <p:ph type="sldNum" idx="12"/>
          </p:nvPr>
        </p:nvSpPr>
        <p:spPr/>
        <p:txBody>
          <a:bodyPr/>
          <a:lstStyle/>
          <a:p>
            <a:fld id="{C1FF6DA9-008F-8B48-92A6-B652298478BF}" type="slidenum">
              <a:t>‹#›</a:t>
            </a:fld>
            <a:endParaRPr/>
          </a:p>
        </p:txBody>
      </p:sp>
    </p:spTree>
  </p:cSld>
  <p:clrMapOvr>
    <a:masterClrMapping/>
  </p:clrMapOvr>
  <p:transition/>
  <p:timing/>
</p:sldLayout>
</file>

<file path=ppt/slideLayouts/slideLayout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TxTwoObj" preserve="1">
  <p:cSld name="Comparison">
    <p:spTree>
      <p:nvGrpSpPr>
        <p:cNvPr id="1" name=""/>
        <p:cNvGrpSpPr/>
        <p:nvPr/>
      </p:nvGrpSpPr>
      <p:grpSpPr>
        <a:xfrm>
          <a:off x="0" y="0"/>
          <a:ext cx="0" cy="0"/>
        </a:xfrm>
      </p:grpSpPr>
      <p:sp>
        <p:nvSpPr>
          <p:cNvPr id="2" name="Title 1">
            <a:extLst>
              <a:ext uri="{FF2B5EF4-FFF2-40B4-BE49-F238E27FC236}">
                <a16:creationId xmlns:a16="http://schemas.microsoft.com/office/drawing/2014/main" id="{BE981A13-D01A-4639-9441-9EC57E014091}"/>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96EF0EA9-550A-4D7F-858D-12C4362BC177}"/>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EACA97FA-5666-4E7B-AF25-82C69827DAD9}"/>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181B0157-C047-4AC4-B60B-AC374C2DC854}"/>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162A9E80-ABF2-4CB0-A883-8BAE7511051C}"/>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F5126AB6-169A-4049-B2B0-415A430E173C}"/>
              </a:ext>
            </a:extLst>
          </p:cNvPr>
          <p:cNvSpPr>
            <a:spLocks noGrp="1"/>
          </p:cNvSpPr>
          <p:nvPr>
            <p:ph type="dt" idx="10"/>
          </p:nvPr>
        </p:nvSpPr>
        <p:spPr/>
        <p:txBody>
          <a:bodyPr/>
          <a:lstStyle/>
          <a:p>
            <a:fld id="{5BCAD085-E8A6-8845-BD4E-CB4CCA059FC4}" type="datetimeFigureOut">
              <a:t>9/23/26</a:t>
            </a:fld>
            <a:endParaRPr/>
          </a:p>
        </p:txBody>
      </p:sp>
      <p:sp>
        <p:nvSpPr>
          <p:cNvPr id="8" name="Footer Placeholder 7">
            <a:extLst>
              <a:ext uri="{FF2B5EF4-FFF2-40B4-BE49-F238E27FC236}">
                <a16:creationId xmlns:a16="http://schemas.microsoft.com/office/drawing/2014/main" id="{F7AAF46D-1D70-4152-B3A5-0E25EA8A8C45}"/>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43AE2825-6870-4AFD-8C3D-17D9697BC431}"/>
              </a:ext>
            </a:extLst>
          </p:cNvPr>
          <p:cNvSpPr>
            <a:spLocks noGrp="1"/>
          </p:cNvSpPr>
          <p:nvPr>
            <p:ph type="sldNum" idx="12"/>
          </p:nvPr>
        </p:nvSpPr>
        <p:spPr/>
        <p:txBody>
          <a:bodyPr/>
          <a:lstStyle/>
          <a:p>
            <a:fld id="{C1FF6DA9-008F-8B48-92A6-B652298478BF}" type="slidenum">
              <a:t>‹#›</a:t>
            </a:fld>
            <a:endParaRPr/>
          </a:p>
        </p:txBody>
      </p:sp>
    </p:spTree>
  </p:cSld>
  <p:clrMapOvr>
    <a:masterClrMapping/>
  </p:clrMapOvr>
  <p:transition/>
  <p:timing/>
</p:sldLayout>
</file>

<file path=ppt/slideLayouts/slideLayout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Only" preserve="1">
  <p:cSld name="Title Only">
    <p:spTree>
      <p:nvGrpSpPr>
        <p:cNvPr id="1" name=""/>
        <p:cNvGrpSpPr/>
        <p:nvPr/>
      </p:nvGrpSpPr>
      <p:grpSpPr>
        <a:xfrm>
          <a:off x="0" y="0"/>
          <a:ext cx="0" cy="0"/>
        </a:xfrm>
      </p:grpSpPr>
      <p:sp>
        <p:nvSpPr>
          <p:cNvPr id="2" name="Title 1">
            <a:extLst>
              <a:ext uri="{FF2B5EF4-FFF2-40B4-BE49-F238E27FC236}">
                <a16:creationId xmlns:a16="http://schemas.microsoft.com/office/drawing/2014/main" id="{CB2E3350-79AD-454B-BB3B-E54504943299}"/>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8A11277A-119B-4C22-9FC5-1A4217BC4558}"/>
              </a:ext>
            </a:extLst>
          </p:cNvPr>
          <p:cNvSpPr>
            <a:spLocks noGrp="1"/>
          </p:cNvSpPr>
          <p:nvPr>
            <p:ph type="dt" idx="10"/>
          </p:nvPr>
        </p:nvSpPr>
        <p:spPr/>
        <p:txBody>
          <a:bodyPr/>
          <a:lstStyle/>
          <a:p>
            <a:fld id="{5BCAD085-E8A6-8845-BD4E-CB4CCA059FC4}" type="datetimeFigureOut">
              <a:t>9/23/26</a:t>
            </a:fld>
            <a:endParaRPr/>
          </a:p>
        </p:txBody>
      </p:sp>
      <p:sp>
        <p:nvSpPr>
          <p:cNvPr id="4" name="Footer Placeholder 3">
            <a:extLst>
              <a:ext uri="{FF2B5EF4-FFF2-40B4-BE49-F238E27FC236}">
                <a16:creationId xmlns:a16="http://schemas.microsoft.com/office/drawing/2014/main" id="{8F2E988A-0294-4518-9131-4707DAB2542D}"/>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FA7AD5DD-ABB5-44F6-B093-E1499C54A803}"/>
              </a:ext>
            </a:extLst>
          </p:cNvPr>
          <p:cNvSpPr>
            <a:spLocks noGrp="1"/>
          </p:cNvSpPr>
          <p:nvPr>
            <p:ph type="sldNum" idx="12"/>
          </p:nvPr>
        </p:nvSpPr>
        <p:spPr/>
        <p:txBody>
          <a:bodyPr/>
          <a:lstStyle/>
          <a:p>
            <a:fld id="{C1FF6DA9-008F-8B48-92A6-B652298478BF}" type="slidenum">
              <a:t>‹#›</a:t>
            </a:fld>
            <a:endParaRPr/>
          </a:p>
        </p:txBody>
      </p:sp>
    </p:spTree>
  </p:cSld>
  <p:clrMapOvr>
    <a:masterClrMapping/>
  </p:clrMapOvr>
  <p:transition/>
  <p:timing/>
</p:sldLayout>
</file>

<file path=ppt/slideLayouts/slideLayout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blank" preserve="1">
  <p:cSld name="Blank">
    <p:spTree>
      <p:nvGrpSpPr>
        <p:cNvPr id="1" name=""/>
        <p:cNvGrpSpPr/>
        <p:nvPr/>
      </p:nvGrpSpPr>
      <p:grpSpPr>
        <a:xfrm>
          <a:off x="0" y="0"/>
          <a:ext cx="0" cy="0"/>
        </a:xfrm>
      </p:grpSpPr>
      <p:sp>
        <p:nvSpPr>
          <p:cNvPr id="2" name="Date Placeholder 1">
            <a:extLst>
              <a:ext uri="{FF2B5EF4-FFF2-40B4-BE49-F238E27FC236}">
                <a16:creationId xmlns:a16="http://schemas.microsoft.com/office/drawing/2014/main" id="{0BDCC284-4903-4405-85A0-D1A57B9D92F2}"/>
              </a:ext>
            </a:extLst>
          </p:cNvPr>
          <p:cNvSpPr>
            <a:spLocks noGrp="1"/>
          </p:cNvSpPr>
          <p:nvPr>
            <p:ph type="dt" idx="10"/>
          </p:nvPr>
        </p:nvSpPr>
        <p:spPr/>
        <p:txBody>
          <a:bodyPr/>
          <a:lstStyle/>
          <a:p>
            <a:fld id="{5BCAD085-E8A6-8845-BD4E-CB4CCA059FC4}" type="datetimeFigureOut">
              <a:t>9/23/26</a:t>
            </a:fld>
            <a:endParaRPr/>
          </a:p>
        </p:txBody>
      </p:sp>
      <p:sp>
        <p:nvSpPr>
          <p:cNvPr id="3" name="Footer Placeholder 2">
            <a:extLst>
              <a:ext uri="{FF2B5EF4-FFF2-40B4-BE49-F238E27FC236}">
                <a16:creationId xmlns:a16="http://schemas.microsoft.com/office/drawing/2014/main" id="{ED141682-5DE1-4CBF-9569-373FE0B9BAA9}"/>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25914B2A-D7F2-4159-8F69-309A5F773B1B}"/>
              </a:ext>
            </a:extLst>
          </p:cNvPr>
          <p:cNvSpPr>
            <a:spLocks noGrp="1"/>
          </p:cNvSpPr>
          <p:nvPr>
            <p:ph type="sldNum" idx="12"/>
          </p:nvPr>
        </p:nvSpPr>
        <p:spPr/>
        <p:txBody>
          <a:bodyPr/>
          <a:lstStyle/>
          <a:p>
            <a:fld id="{C1FF6DA9-008F-8B48-92A6-B652298478BF}" type="slidenum">
              <a:t>‹#›</a:t>
            </a:fld>
            <a:endParaRPr/>
          </a:p>
        </p:txBody>
      </p:sp>
    </p:spTree>
  </p:cSld>
  <p:clrMapOvr>
    <a:masterClrMapping/>
  </p:clrMapOvr>
  <p:transition/>
  <p:timing/>
</p:sldLayout>
</file>

<file path=ppt/slideLayouts/slideLayout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Tx" preserve="1">
  <p:cSld name="Content with Caption">
    <p:spTree>
      <p:nvGrpSpPr>
        <p:cNvPr id="1" name=""/>
        <p:cNvGrpSpPr/>
        <p:nvPr/>
      </p:nvGrpSpPr>
      <p:grpSpPr>
        <a:xfrm>
          <a:off x="0" y="0"/>
          <a:ext cx="0" cy="0"/>
        </a:xfrm>
      </p:grpSpPr>
      <p:sp>
        <p:nvSpPr>
          <p:cNvPr id="2" name="Title 1">
            <a:extLst>
              <a:ext uri="{FF2B5EF4-FFF2-40B4-BE49-F238E27FC236}">
                <a16:creationId xmlns:a16="http://schemas.microsoft.com/office/drawing/2014/main" id="{144EAE9D-CBCA-4A4B-B8D6-7AA34F8FC57F}"/>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B4DB1A8F-971E-4746-AF4B-BFD89C5FAE14}"/>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BB5F97F2-8320-44DF-AD44-ED692B695938}"/>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5F591FE0-785C-4A07-B472-DEA202AE0F37}"/>
              </a:ext>
            </a:extLst>
          </p:cNvPr>
          <p:cNvSpPr>
            <a:spLocks noGrp="1"/>
          </p:cNvSpPr>
          <p:nvPr>
            <p:ph type="dt" idx="10"/>
          </p:nvPr>
        </p:nvSpPr>
        <p:spPr/>
        <p:txBody>
          <a:bodyPr/>
          <a:lstStyle/>
          <a:p>
            <a:fld id="{5BCAD085-E8A6-8845-BD4E-CB4CCA059FC4}" type="datetimeFigureOut">
              <a:t>9/23/26</a:t>
            </a:fld>
            <a:endParaRPr/>
          </a:p>
        </p:txBody>
      </p:sp>
      <p:sp>
        <p:nvSpPr>
          <p:cNvPr id="6" name="Footer Placeholder 5">
            <a:extLst>
              <a:ext uri="{FF2B5EF4-FFF2-40B4-BE49-F238E27FC236}">
                <a16:creationId xmlns:a16="http://schemas.microsoft.com/office/drawing/2014/main" id="{58C68A51-38CA-43E0-8B25-5C296B6D7209}"/>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30C76129-082E-4010-995E-1A5CAB350128}"/>
              </a:ext>
            </a:extLst>
          </p:cNvPr>
          <p:cNvSpPr>
            <a:spLocks noGrp="1"/>
          </p:cNvSpPr>
          <p:nvPr>
            <p:ph type="sldNum" idx="12"/>
          </p:nvPr>
        </p:nvSpPr>
        <p:spPr/>
        <p:txBody>
          <a:bodyPr/>
          <a:lstStyle/>
          <a:p>
            <a:fld id="{C1FF6DA9-008F-8B48-92A6-B652298478BF}" type="slidenum">
              <a:t>‹#›</a:t>
            </a:fld>
            <a:endParaRPr/>
          </a:p>
        </p:txBody>
      </p:sp>
    </p:spTree>
  </p:cSld>
  <p:clrMapOvr>
    <a:masterClrMapping/>
  </p:clrMapOvr>
  <p:transition/>
  <p:timing/>
</p:sldLayout>
</file>

<file path=ppt/slideLayouts/slideLayout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picTx" preserve="1">
  <p:cSld name="Picture with Caption">
    <p:spTree>
      <p:nvGrpSpPr>
        <p:cNvPr id="1" name=""/>
        <p:cNvGrpSpPr/>
        <p:nvPr/>
      </p:nvGrpSpPr>
      <p:grpSpPr>
        <a:xfrm>
          <a:off x="0" y="0"/>
          <a:ext cx="0" cy="0"/>
        </a:xfrm>
      </p:grpSpPr>
      <p:sp>
        <p:nvSpPr>
          <p:cNvPr id="2" name="Title 1">
            <a:extLst>
              <a:ext uri="{FF2B5EF4-FFF2-40B4-BE49-F238E27FC236}">
                <a16:creationId xmlns:a16="http://schemas.microsoft.com/office/drawing/2014/main" id="{C5E2586B-36D9-4D69-B104-4DA42CD2CB4C}"/>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12F09145-3BCD-4CA1-BFED-E06BE6CDF968}"/>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B1E2E8AB-3FDA-4762-9EBF-75E6F952199C}"/>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A7630AB2-0EAA-400F-BBFF-70171F0B77C7}"/>
              </a:ext>
            </a:extLst>
          </p:cNvPr>
          <p:cNvSpPr>
            <a:spLocks noGrp="1"/>
          </p:cNvSpPr>
          <p:nvPr>
            <p:ph type="dt" idx="10"/>
          </p:nvPr>
        </p:nvSpPr>
        <p:spPr/>
        <p:txBody>
          <a:bodyPr/>
          <a:lstStyle/>
          <a:p>
            <a:fld id="{5BCAD085-E8A6-8845-BD4E-CB4CCA059FC4}" type="datetimeFigureOut">
              <a:t>9/23/26</a:t>
            </a:fld>
            <a:endParaRPr/>
          </a:p>
        </p:txBody>
      </p:sp>
      <p:sp>
        <p:nvSpPr>
          <p:cNvPr id="6" name="Footer Placeholder 5">
            <a:extLst>
              <a:ext uri="{FF2B5EF4-FFF2-40B4-BE49-F238E27FC236}">
                <a16:creationId xmlns:a16="http://schemas.microsoft.com/office/drawing/2014/main" id="{27B3CC1A-7049-40A0-8239-F3E24919630B}"/>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7240AA53-86D7-4E25-B6E1-D0C0AA006D94}"/>
              </a:ext>
            </a:extLst>
          </p:cNvPr>
          <p:cNvSpPr>
            <a:spLocks noGrp="1"/>
          </p:cNvSpPr>
          <p:nvPr>
            <p:ph type="sldNum" idx="12"/>
          </p:nvPr>
        </p:nvSpPr>
        <p:spPr/>
        <p:txBody>
          <a:bodyPr/>
          <a:lstStyle/>
          <a:p>
            <a:fld id="{C1FF6DA9-008F-8B48-92A6-B652298478BF}" type="slidenum">
              <a:t>‹#›</a:t>
            </a:fld>
            <a:endParaRPr/>
          </a:p>
        </p:txBody>
      </p:sp>
    </p:spTree>
  </p:cSld>
  <p:clrMapOvr>
    <a:masterClrMapping/>
  </p:clrMapOvr>
  <p:transition/>
  <p:timing/>
</p:sldLayout>
</file>

<file path=ppt/slideLayouts/slideLayout1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vertTx" preserve="1">
  <p:cSld name="Title and Vertical Text">
    <p:spTree>
      <p:nvGrpSpPr>
        <p:cNvPr id="1" name=""/>
        <p:cNvGrpSpPr/>
        <p:nvPr/>
      </p:nvGrpSpPr>
      <p:grpSpPr>
        <a:xfrm>
          <a:off x="0" y="0"/>
          <a:ext cx="0" cy="0"/>
        </a:xfrm>
      </p:grpSpPr>
      <p:sp>
        <p:nvSpPr>
          <p:cNvPr id="2" name="Title 1">
            <a:extLst>
              <a:ext uri="{FF2B5EF4-FFF2-40B4-BE49-F238E27FC236}">
                <a16:creationId xmlns:a16="http://schemas.microsoft.com/office/drawing/2014/main" id="{57DEBF38-4BA8-4B01-8C99-0E769930C7CE}"/>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804F0F90-D54B-4EF4-8018-5AE775362E9C}"/>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D4096C5B-B3CD-48C2-8D22-17A9C72D9387}"/>
              </a:ext>
            </a:extLst>
          </p:cNvPr>
          <p:cNvSpPr>
            <a:spLocks noGrp="1"/>
          </p:cNvSpPr>
          <p:nvPr>
            <p:ph type="dt" idx="10"/>
          </p:nvPr>
        </p:nvSpPr>
        <p:spPr/>
        <p:txBody>
          <a:bodyPr/>
          <a:lstStyle/>
          <a:p>
            <a:fld id="{5BCAD085-E8A6-8845-BD4E-CB4CCA059FC4}" type="datetimeFigureOut">
              <a:t>9/23/26</a:t>
            </a:fld>
            <a:endParaRPr/>
          </a:p>
        </p:txBody>
      </p:sp>
      <p:sp>
        <p:nvSpPr>
          <p:cNvPr id="5" name="Footer Placeholder 4">
            <a:extLst>
              <a:ext uri="{FF2B5EF4-FFF2-40B4-BE49-F238E27FC236}">
                <a16:creationId xmlns:a16="http://schemas.microsoft.com/office/drawing/2014/main" id="{F4C35787-6E7C-40C7-BA5E-00B865B70B6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E8490C8-CEB3-4CE2-A455-02DB2222343B}"/>
              </a:ext>
            </a:extLst>
          </p:cNvPr>
          <p:cNvSpPr>
            <a:spLocks noGrp="1"/>
          </p:cNvSpPr>
          <p:nvPr>
            <p:ph type="sldNum" idx="12"/>
          </p:nvPr>
        </p:nvSpPr>
        <p:spPr/>
        <p:txBody>
          <a:bodyPr/>
          <a:lstStyle/>
          <a:p>
            <a:fld id="{C1FF6DA9-008F-8B48-92A6-B652298478BF}" type="slidenum">
              <a:t>‹#›</a:t>
            </a:fld>
            <a:endParaRPr/>
          </a:p>
        </p:txBody>
      </p:sp>
    </p:spTree>
  </p:cSld>
  <p:clrMapOvr>
    <a:masterClrMapping/>
  </p:clrMapOvr>
  <p:transition/>
  <p:timing/>
</p:sldLayout>
</file>

<file path=ppt/slideLayouts/slideLayout1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vertTitleAndTx" preserve="1">
  <p:cSld name="Vertical Title and Text">
    <p:spTree>
      <p:nvGrpSpPr>
        <p:cNvPr id="1" name=""/>
        <p:cNvGrpSpPr/>
        <p:nvPr/>
      </p:nvGrpSpPr>
      <p:grpSpPr>
        <a:xfrm>
          <a:off x="0" y="0"/>
          <a:ext cx="0" cy="0"/>
        </a:xfrm>
      </p:grpSpPr>
      <p:sp>
        <p:nvSpPr>
          <p:cNvPr id="2" name="Vertical Title 1">
            <a:extLst>
              <a:ext uri="{FF2B5EF4-FFF2-40B4-BE49-F238E27FC236}">
                <a16:creationId xmlns:a16="http://schemas.microsoft.com/office/drawing/2014/main" id="{0C24AAC7-17EB-4F15-841B-6603F68C7477}"/>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4A072281-7E51-431F-BA06-B1F8B94C45C3}"/>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B0FBBD04-DEBB-4D2A-B110-D09DD3DFBA6A}"/>
              </a:ext>
            </a:extLst>
          </p:cNvPr>
          <p:cNvSpPr>
            <a:spLocks noGrp="1"/>
          </p:cNvSpPr>
          <p:nvPr>
            <p:ph type="dt" idx="10"/>
          </p:nvPr>
        </p:nvSpPr>
        <p:spPr/>
        <p:txBody>
          <a:bodyPr/>
          <a:lstStyle/>
          <a:p>
            <a:fld id="{5BCAD085-E8A6-8845-BD4E-CB4CCA059FC4}" type="datetimeFigureOut">
              <a:t>9/23/26</a:t>
            </a:fld>
            <a:endParaRPr/>
          </a:p>
        </p:txBody>
      </p:sp>
      <p:sp>
        <p:nvSpPr>
          <p:cNvPr id="5" name="Footer Placeholder 4">
            <a:extLst>
              <a:ext uri="{FF2B5EF4-FFF2-40B4-BE49-F238E27FC236}">
                <a16:creationId xmlns:a16="http://schemas.microsoft.com/office/drawing/2014/main" id="{B1EAC1E3-8832-4FA1-9E1C-6641B261795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B44CD56-F4C0-4208-A1CD-85495B3AF251}"/>
              </a:ext>
            </a:extLst>
          </p:cNvPr>
          <p:cNvSpPr>
            <a:spLocks noGrp="1"/>
          </p:cNvSpPr>
          <p:nvPr>
            <p:ph type="sldNum" idx="12"/>
          </p:nvPr>
        </p:nvSpPr>
        <p:spPr/>
        <p:txBody>
          <a:bodyPr/>
          <a:lstStyle/>
          <a:p>
            <a:fld id="{C1FF6DA9-008F-8B48-92A6-B652298478BF}" type="slidenum">
              <a:t>‹#›</a:t>
            </a:fld>
            <a:endParaRPr/>
          </a:p>
        </p:txBody>
      </p:sp>
    </p:spTree>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heme" Target="../theme/theme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Ref idx="1001">
        <a:schemeClr val="bg1"/>
      </p:bgRef>
    </p:bg>
    <p:spTree>
      <p:nvGrpSpPr>
        <p:cNvPr id="1" name=""/>
        <p:cNvGrpSpPr/>
        <p:nvPr/>
      </p:nvGrpSpPr>
      <p:grpSpPr>
        <a:xfrm>
          <a:off x="0" y="0"/>
          <a:ext cx="0" cy="0"/>
        </a:xfrm>
      </p:grpSpPr>
      <p:sp>
        <p:nvSpPr>
          <p:cNvPr id="2" name="Title Placeholder 1">
            <a:extLst>
              <a:ext uri="{FF2B5EF4-FFF2-40B4-BE49-F238E27FC236}">
                <a16:creationId xmlns:a16="http://schemas.microsoft.com/office/drawing/2014/main" id="{039895C2-58CF-4796-9A2F-60BFF31E6F0B}"/>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57DB0848-96C1-4747-94C1-8CC3A12832BA}"/>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FA3588A0-AE2B-40F4-AA6A-BFC9BE89514C}"/>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t>9/23/26</a:t>
            </a:fld>
            <a:endParaRPr/>
          </a:p>
        </p:txBody>
      </p:sp>
      <p:sp>
        <p:nvSpPr>
          <p:cNvPr id="5" name="Footer Placeholder 4">
            <a:extLst>
              <a:ext uri="{FF2B5EF4-FFF2-40B4-BE49-F238E27FC236}">
                <a16:creationId xmlns:a16="http://schemas.microsoft.com/office/drawing/2014/main" id="{EC6D0DB2-A037-4EF8-94A0-B6597B8D83CA}"/>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AD5E4468-25E1-4C9F-9E11-193DF27CB836}"/>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iming/>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a:buChar char="•"/>
        <a:defRPr sz="3200" kern="1200">
          <a:solidFill>
            <a:schemeClr val="tx1"/>
          </a:solidFill>
          <a:latin typeface="+mn-lt"/>
          <a:ea typeface="+mn-lt"/>
          <a:cs typeface="+mn-lt"/>
        </a:defRPr>
      </a:lvl1pPr>
      <a:lvl2pPr marL="742950" indent="-285750" algn="l" defTabSz="457200">
        <a:spcBef>
          <a:spcPct val="20000"/>
        </a:spcBef>
        <a:buFont typeface="Arial"/>
        <a:buChar char="–"/>
        <a:defRPr sz="2800" kern="1200">
          <a:solidFill>
            <a:schemeClr val="tx1"/>
          </a:solidFill>
          <a:latin typeface="+mn-lt"/>
          <a:ea typeface="+mn-lt"/>
          <a:cs typeface="+mn-lt"/>
        </a:defRPr>
      </a:lvl2pPr>
      <a:lvl3pPr marL="1143000" indent="-228600" algn="l" defTabSz="457200">
        <a:spcBef>
          <a:spcPct val="20000"/>
        </a:spcBef>
        <a:buFont typeface="Arial"/>
        <a:buChar char="•"/>
        <a:defRPr sz="2400" kern="1200">
          <a:solidFill>
            <a:schemeClr val="tx1"/>
          </a:solidFill>
          <a:latin typeface="+mn-lt"/>
          <a:ea typeface="+mn-lt"/>
          <a:cs typeface="+mn-lt"/>
        </a:defRPr>
      </a:lvl3pPr>
      <a:lvl4pPr marL="1600200" indent="-228600" algn="l" defTabSz="457200">
        <a:spcBef>
          <a:spcPct val="20000"/>
        </a:spcBef>
        <a:buFont typeface="Arial"/>
        <a:buChar char="–"/>
        <a:defRPr sz="2000" kern="1200">
          <a:solidFill>
            <a:schemeClr val="tx1"/>
          </a:solidFill>
          <a:latin typeface="+mn-lt"/>
          <a:ea typeface="+mn-lt"/>
          <a:cs typeface="+mn-lt"/>
        </a:defRPr>
      </a:lvl4pPr>
      <a:lvl5pPr marL="2057400" indent="-228600" algn="l" defTabSz="457200">
        <a:spcBef>
          <a:spcPct val="20000"/>
        </a:spcBef>
        <a:buFont typeface="Arial"/>
        <a:buChar char="»"/>
        <a:defRPr sz="2000" kern="1200">
          <a:solidFill>
            <a:schemeClr val="tx1"/>
          </a:solidFill>
          <a:latin typeface="+mn-lt"/>
          <a:ea typeface="+mn-lt"/>
          <a:cs typeface="+mn-lt"/>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2.xml" /><Relationship Id="rId3" Type="http://schemas.openxmlformats.org/officeDocument/2006/relationships/image" Target="../media/image1.png" /></Relationships>
</file>

<file path=ppt/slides/_rels/slide1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7.xml" /><Relationship Id="rId3" Type="http://schemas.openxmlformats.org/officeDocument/2006/relationships/image" Target="../media/image2.png" /></Relationships>
</file>

<file path=ppt/slides/_rels/slide1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9.xml" /><Relationship Id="rId3" Type="http://schemas.openxmlformats.org/officeDocument/2006/relationships/image" Target="../media/image3.png" /><Relationship Id="rId4" Type="http://schemas.openxmlformats.org/officeDocument/2006/relationships/chart" Target="../charts/chart1.xml" /></Relationships>
</file>

<file path=ppt/slides/_rels/slide2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23.xml" /></Relationships>
</file>

<file path=ppt/slides/_rels/slide2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24.xml" /></Relationships>
</file>

<file path=ppt/slides/_rels/slide2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25.xml" /></Relationships>
</file>

<file path=ppt/slides/_rels/slide2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26.xml" /></Relationships>
</file>

<file path=ppt/slides/_rels/slide2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27.xml" /><Relationship Id="rId3" Type="http://schemas.openxmlformats.org/officeDocument/2006/relationships/image" Target="../media/image4.png" /></Relationships>
</file>

<file path=ppt/slides/_rels/slide2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28.xml" /><Relationship Id="rId3" Type="http://schemas.openxmlformats.org/officeDocument/2006/relationships/image" Target="../media/image5.png" /></Relationships>
</file>

<file path=ppt/slides/_rels/slide2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29.xml" /><Relationship Id="rId3" Type="http://schemas.openxmlformats.org/officeDocument/2006/relationships/image" Target="../media/image6.png" /></Relationships>
</file>

<file path=ppt/slides/_rels/slide3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30.xml" /><Relationship Id="rId3" Type="http://schemas.openxmlformats.org/officeDocument/2006/relationships/image" Target="../media/image7.png" /></Relationships>
</file>

<file path=ppt/slides/_rels/slide3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31.xml" /><Relationship Id="rId3" Type="http://schemas.openxmlformats.org/officeDocument/2006/relationships/image" Target="../media/image8.png" /></Relationships>
</file>

<file path=ppt/slides/_rels/slide3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32.xml" /><Relationship Id="rId3" Type="http://schemas.openxmlformats.org/officeDocument/2006/relationships/image" Target="../media/image9.png" /></Relationships>
</file>

<file path=ppt/slides/_rels/slide3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33.xml" /></Relationships>
</file>

<file path=ppt/slides/_rels/slide3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34.xml" /></Relationships>
</file>

<file path=ppt/slides/_rels/slide3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35.xml" /></Relationships>
</file>

<file path=ppt/slides/_rels/slide3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36.xml" /></Relationships>
</file>

<file path=ppt/slides/_rels/slide3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37.xml" /><Relationship Id="rId3" Type="http://schemas.openxmlformats.org/officeDocument/2006/relationships/image" Target="../media/image10.png" /></Relationships>
</file>

<file path=ppt/slides/_rels/slide3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38.xml" /><Relationship Id="rId3" Type="http://schemas.openxmlformats.org/officeDocument/2006/relationships/image" Target="../media/image11.png" /></Relationships>
</file>

<file path=ppt/slides/_rels/slide3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39.xml" /><Relationship Id="rId3" Type="http://schemas.openxmlformats.org/officeDocument/2006/relationships/image" Target="../media/image12.png" /></Relationships>
</file>

<file path=ppt/slides/_rels/slide4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40.xml" /></Relationships>
</file>

<file path=ppt/slides/_rels/slide4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41.xml" /></Relationships>
</file>

<file path=ppt/slides/_rels/slide4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42.xml" /></Relationships>
</file>

<file path=ppt/slides/_rels/slide4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43.xml" /></Relationships>
</file>

<file path=ppt/slides/_rels/slide4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44.xml" /></Relationships>
</file>

<file path=ppt/slides/_rels/slide4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45.xml" /></Relationships>
</file>

<file path=ppt/slides/_rels/slide4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46.xml" /></Relationships>
</file>

<file path=ppt/slides/_rels/slide4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47.xml" /></Relationships>
</file>

<file path=ppt/slides/_rels/slide4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48.xml" /></Relationships>
</file>

<file path=ppt/slides/_rels/slide4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49.xml" /></Relationships>
</file>

<file path=ppt/slides/_rels/slide5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50.xml" /></Relationships>
</file>

<file path=ppt/slides/_rels/slide5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51.xml" /></Relationships>
</file>

<file path=ppt/slides/_rels/slide5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52.xml" /></Relationships>
</file>

<file path=ppt/slides/_rels/slide53.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53.xml" /></Relationships>
</file>

<file path=ppt/slides/_rels/slide54.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54.xml" /></Relationships>
</file>

<file path=ppt/slides/_rels/slide55.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55.xml" /></Relationships>
</file>

<file path=ppt/slides/_rels/slide56.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56.xml" /></Relationships>
</file>

<file path=ppt/slides/_rels/slide57.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57.xml" /></Relationships>
</file>

<file path=ppt/slides/_rels/slide5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58.xml" /></Relationships>
</file>

<file path=ppt/slides/_rels/slide5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59.xml" /></Relationships>
</file>

<file path=ppt/slides/_rels/slide6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60.xml" /></Relationships>
</file>

<file path=ppt/slides/_rels/slide6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61.xml" /></Relationships>
</file>

<file path=ppt/slides/_rels/slide6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62.xml" /></Relationships>
</file>

<file path=ppt/slides/_rels/slide6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63.xml" /></Relationships>
</file>

<file path=ppt/slides/_rels/slide6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64.xml" /></Relationships>
</file>

<file path=ppt/slides/_rels/slide6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65.xml" /></Relationships>
</file>

<file path=ppt/slides/_rels/slide6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66.xml" /></Relationships>
</file>

<file path=ppt/slides/_rels/slide6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67.xml" /></Relationships>
</file>

<file path=ppt/slides/_rels/slide6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68.xml" /></Relationships>
</file>

<file path=ppt/slides/_rels/slide6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69.xml" /></Relationships>
</file>

<file path=ppt/slides/_rels/slide7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70.xml" /></Relationships>
</file>

<file path=ppt/slides/_rels/slide7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71.xml" /></Relationships>
</file>

<file path=ppt/slides/_rels/slide7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72.xml" /></Relationships>
</file>

<file path=ppt/slides/_rels/slide7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73.xml" /></Relationships>
</file>

<file path=ppt/slides/_rels/slide7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74.xml" /></Relationships>
</file>

<file path=ppt/slides/_rels/slide7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75.xml" /></Relationships>
</file>

<file path=ppt/slides/_rels/slide7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76.xml" /></Relationships>
</file>

<file path=ppt/slides/_rels/slide7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77.xml" /></Relationships>
</file>

<file path=ppt/slides/_rels/slide7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78.xml" /></Relationships>
</file>

<file path=ppt/slides/_rels/slide7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79.xml" /></Relationships>
</file>

<file path=ppt/slides/_rels/slide8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80.xml" /></Relationships>
</file>

<file path=ppt/slides/_rels/slide8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81.xml" /></Relationships>
</file>

<file path=ppt/slides/_rels/slide8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82.xml" /></Relationships>
</file>

<file path=ppt/slides/_rels/slide8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83.xml" /></Relationships>
</file>

<file path=ppt/slides/_rels/slide8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84.xml" /></Relationships>
</file>

<file path=ppt/slides/_rels/slide8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85.xml" /></Relationships>
</file>

<file path=ppt/slides/_rels/slide8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86.xml" /></Relationships>
</file>

<file path=ppt/slides/_rels/slide8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87.xml" /></Relationships>
</file>

<file path=ppt/slides/_rels/slide8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88.xml" /></Relationships>
</file>

<file path=ppt/slides/_rels/slide8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89.xml" /></Relationships>
</file>

<file path=ppt/slides/_rels/slide9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90.xml" /></Relationships>
</file>

<file path=ppt/slides/_rels/slide9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91.xml" /></Relationships>
</file>

<file path=ppt/slides/_rels/slide9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92.xml" /></Relationships>
</file>

<file path=ppt/slides/_rels/slide9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93.xml" /></Relationships>
</file>

<file path=ppt/slides/_rels/slide9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94.xml" /></Relationships>
</file>

<file path=ppt/slides/_rels/slide9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95.xml" /></Relationships>
</file>

<file path=ppt/slides/_rels/slide9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96.xml" /></Relationships>
</file>

<file path=ppt/slides/_rels/slide9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97.xml" /></Relationships>
</file>

<file path=ppt/slides/_rels/slide9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98.xml" /></Relationships>
</file>

<file path=ppt/slides/_rels/slide9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99.xml" /></Relationships>
</file>

<file path=ppt/slides/_rels/slide10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00.xml" /></Relationships>
</file>

<file path=ppt/slides/_rels/slide10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01.xml" /></Relationships>
</file>

<file path=ppt/slides/_rels/slide10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02.xml" /></Relationships>
</file>

<file path=ppt/slides/_rels/slide10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03.xml" /></Relationships>
</file>

<file path=ppt/slides/_rels/slide10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04.xml" /></Relationships>
</file>

<file path=ppt/slides/_rels/slide10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05.xml" /></Relationships>
</file>

<file path=ppt/slides/_rels/slide10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06.xml" /></Relationships>
</file>

<file path=ppt/slides/_rels/slide10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07.xml" /></Relationships>
</file>

<file path=ppt/slides/_rels/slide10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08.xml" /></Relationships>
</file>

<file path=ppt/slides/_rels/slide10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09.xml" /></Relationships>
</file>

<file path=ppt/slides/_rels/slide11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10.xml" /></Relationships>
</file>

<file path=ppt/slides/_rels/slide11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11.xml" /></Relationships>
</file>

<file path=ppt/slides/_rels/slide11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12.xml" /></Relationships>
</file>

<file path=ppt/slides/_rels/slide11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13.xml" /></Relationships>
</file>

<file path=ppt/slides/_rels/slide11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14.xml" /></Relationships>
</file>

<file path=ppt/slides/_rels/slide11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15.xml" /></Relationships>
</file>

<file path=ppt/slides/_rels/slide11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16.xml" /></Relationships>
</file>

<file path=ppt/slides/_rels/slide11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17.xml" /></Relationships>
</file>

<file path=ppt/slides/_rels/slide11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18.xml" /></Relationships>
</file>

<file path=ppt/slides/_rels/slide11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19.xml" /></Relationships>
</file>

<file path=ppt/slides/_rels/slide12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20.xml" /></Relationships>
</file>

<file path=ppt/slides/_rels/slide12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21.xml" /></Relationships>
</file>

<file path=ppt/slides/_rels/slide12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22.xml" /></Relationships>
</file>

<file path=ppt/slides/_rels/slide12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23.xml" /></Relationships>
</file>

<file path=ppt/slides/_rels/slide12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24.xml" /></Relationships>
</file>

<file path=ppt/slides/_rels/slide12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25.xml" /></Relationships>
</file>

<file path=ppt/slides/_rels/slide12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26.xml" /></Relationships>
</file>

<file path=ppt/slides/_rels/slide12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27.xml" /></Relationships>
</file>

<file path=ppt/slides/_rels/slide12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28.xml" /></Relationships>
</file>

<file path=ppt/slides/_rels/slide12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29.xml" /></Relationships>
</file>

<file path=ppt/slides/_rels/slide13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30.xml" /></Relationships>
</file>

<file path=ppt/slides/_rels/slide13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31.xml" /></Relationships>
</file>

<file path=ppt/slides/_rels/slide13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32.xml" /></Relationships>
</file>

<file path=ppt/slides/_rels/slide13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33.xml" /></Relationships>
</file>

<file path=ppt/slides/_rels/slide13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34.xml" /></Relationships>
</file>

<file path=ppt/slides/_rels/slide13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35.xml" /></Relationships>
</file>

<file path=ppt/slides/_rels/slide13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36.xml" /></Relationships>
</file>

<file path=ppt/slides/_rels/slide13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37.xml" /></Relationships>
</file>

<file path=ppt/slides/_rels/slide13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38.xml" /></Relationships>
</file>

<file path=ppt/slides/_rels/slide13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39.xml" /></Relationships>
</file>

<file path=ppt/slides/_rels/slide14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40.xml" /></Relationships>
</file>

<file path=ppt/slides/_rels/slide14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41.xml" /></Relationships>
</file>

<file path=ppt/slides/_rels/slide14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42.xml" /></Relationships>
</file>

<file path=ppt/slides/_rels/slide14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43.xml" /></Relationships>
</file>

<file path=ppt/slides/_rels/slide14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44.xml" /></Relationships>
</file>

<file path=ppt/slides/_rels/slide14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45.xml" /></Relationships>
</file>

<file path=ppt/slides/_rels/slide14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46.xml" /></Relationships>
</file>

<file path=ppt/slides/_rels/slide14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47.xml" /></Relationships>
</file>

<file path=ppt/slides/_rels/slide14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48.xml" /></Relationships>
</file>

<file path=ppt/slides/_rels/slide14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49.xml" /></Relationships>
</file>

<file path=ppt/slides/_rels/slide15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50.xml" /></Relationships>
</file>

<file path=ppt/slides/_rels/slide15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51.xml" /></Relationships>
</file>

<file path=ppt/slides/_rels/slide15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52.xml" /></Relationships>
</file>

<file path=ppt/slides/_rels/slide15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53.xml" /></Relationships>
</file>

<file path=ppt/slides/_rels/slide15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54.xml"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0F233D"/>
        </a:solidFill>
        <a:effectLst/>
      </p:bgPr>
    </p:bg>
    <p:spTree>
      <p:nvGrpSpPr>
        <p:cNvPr id="1" name=""/>
        <p:cNvGrpSpPr/>
        <p:nvPr/>
      </p:nvGrpSpPr>
      <p:grpSpPr>
        <a:xfrm>
          <a:off x="0" y="0"/>
          <a:ext cx="0" cy="0"/>
        </a:xfrm>
      </p:grpSpPr>
      <p:sp>
        <p:nvSpPr>
          <p:cNvPr id="3" name="TextBox 2">
            <a:extLst>
              <a:ext uri="{FF2B5EF4-FFF2-40B4-BE49-F238E27FC236}">
                <a16:creationId xmlns:a16="http://schemas.microsoft.com/office/drawing/2014/main" id="{0D116230-CD20-4199-A460-95D3D4C64572}"/>
              </a:ext>
            </a:extLst>
          </p:cNvPr>
          <p:cNvSpPr>
            <a:spLocks noGrp="1"/>
          </p:cNvSpPr>
          <p:nvPr/>
        </p:nvSpPr>
        <p:spPr>
          <a:xfrm>
            <a:off x="713232" y="606328"/>
            <a:ext cx="10287000" cy="3348609"/>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Sex- and APOE-Specific Mitochondrial Gene Expression and Network Analysis in Alzheimer’s Disease</a:t>
            </a:r>
          </a:p>
          <a:p>
            <a:endParaRPr lang="en-US" sz="2000">
              <a:solidFill>
                <a:srgbClr val="FFFFFF"/>
              </a:solidFill>
              <a:latin typeface="Arial"/>
              <a:ea typeface="Arial"/>
              <a:cs typeface="Arial"/>
            </a:endParaRPr>
          </a:p>
          <a:p>
            <a:r>
              <a:rPr sz="2000">
                <a:solidFill>
                  <a:srgbClr val="FFFFFF"/>
                </a:solidFill>
                <a:latin typeface="Arial"/>
                <a:ea typeface="Arial"/>
                <a:cs typeface="Arial"/>
              </a:rPr>
              <a:t>Cell</a:t>
            </a:r>
            <a:r>
              <a:rPr lang="en-US" sz="2000">
                <a:solidFill>
                  <a:srgbClr val="FFFFFF"/>
                </a:solidFill>
                <a:latin typeface="Arial"/>
                <a:ea typeface="Arial"/>
                <a:cs typeface="Arial"/>
              </a:rPr>
              <a:t>-level</a:t>
            </a:r>
            <a:r>
              <a:rPr sz="2000">
                <a:solidFill>
                  <a:srgbClr val="FFFFFF"/>
                </a:solidFill>
                <a:latin typeface="Arial"/>
                <a:ea typeface="Arial"/>
                <a:cs typeface="Arial"/>
              </a:rPr>
              <a:t> differential-expression, pathway, and key driver analyses with cross-cohort human validation</a:t>
            </a:r>
            <a:endParaRPr lang="en-US" sz="2000">
              <a:solidFill>
                <a:srgbClr val="FFFFFF"/>
              </a:solidFill>
              <a:latin typeface="Arial"/>
              <a:ea typeface="Arial"/>
              <a:cs typeface="Arial"/>
            </a:endParaRPr>
          </a:p>
          <a:p>
            <a:endParaRPr sz="2000">
              <a:solidFill>
                <a:srgbClr val="FFFFFF"/>
              </a:solidFill>
              <a:latin typeface="Arial"/>
              <a:ea typeface="Arial"/>
              <a:cs typeface="Arial"/>
            </a:endParaRPr>
          </a:p>
          <a:p>
            <a:endParaRPr sz="1200">
              <a:solidFill>
                <a:srgbClr val="FFFFFF"/>
              </a:solidFill>
              <a:latin typeface="Arial"/>
              <a:ea typeface="Arial"/>
              <a:cs typeface="Arial"/>
            </a:endParaRPr>
          </a:p>
          <a:p>
            <a:r>
              <a:rPr sz="2000" b="1">
                <a:solidFill>
                  <a:srgbClr val="FFFFFF"/>
                </a:solidFill>
                <a:latin typeface="Arial"/>
                <a:ea typeface="Arial"/>
                <a:cs typeface="Arial"/>
              </a:rPr>
              <a:t>--Eric Zhuang</a:t>
            </a:r>
          </a:p>
        </p:txBody>
      </p:sp>
    </p:spTree>
    <p:extLst>
      <p:ext uri="{BB962C8B-B14F-4D97-AF65-F5344CB8AC3E}">
        <p14:creationId val="206127924"/>
      </p:ext>
    </p:extLst>
  </p:cSld>
  <p:clrMapOvr>
    <a:masterClrMapping/>
  </p:clrMapOvr>
  <p:transition/>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0F233D"/>
        </a:solidFill>
        <a:effectLst/>
      </p:bgPr>
    </p:bg>
    <p:spTree>
      <p:nvGrpSpPr>
        <p:cNvPr id="1" name=""/>
        <p:cNvGrpSpPr/>
        <p:nvPr/>
      </p:nvGrpSpPr>
      <p:grpSpPr>
        <a:xfrm>
          <a:off x="0" y="0"/>
          <a:ext cx="0" cy="0"/>
        </a:xfrm>
      </p:grpSpPr>
      <p:sp>
        <p:nvSpPr>
          <p:cNvPr id="3" name="TextBox 2">
            <a:extLst>
              <a:ext uri="{D92C61A9-D17A-4A5C-B4F6-F722B8289DF9}">
                <a16:creationId xmlns="" xmlns:a16="http://schemas.microsoft.com/office/drawing/2014/main" id="{6F07DFAB-35BE-479C-9DEF-5CEA7FC8F4FE}"/>
              </a:ext>
            </a:extLst>
          </p:cNvPr>
          <p:cNvSpPr>
            <a:spLocks noGrp="1"/>
          </p:cNvSpPr>
          <p:nvPr/>
        </p:nvSpPr>
        <p:spPr>
          <a:xfrm>
            <a:off x="713232" y="1285018"/>
            <a:ext cx="10287000" cy="886397"/>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Study overview and key concepts</a:t>
            </a:r>
            <a:br/>
            <a:endParaRPr sz="2000" b="1">
              <a:solidFill>
                <a:srgbClr val="FFFFFF"/>
              </a:solidFill>
              <a:latin typeface="Arial"/>
              <a:ea typeface="Arial"/>
              <a:cs typeface="Arial"/>
            </a:endParaRPr>
          </a:p>
        </p:txBody>
      </p:sp>
      <p:sp>
        <p:nvSpPr>
          <p:cNvPr id="2" name="TextBox 1">
            <a:extLst>
              <a:ext uri="{2F7840D8-3D57-4DED-BD06-3F8FA78609D6}">
                <a16:creationId xmlns="" xmlns:a16="http://schemas.microsoft.com/office/drawing/2014/main" id="{CB0FABF6-EBA2-422B-ADF2-3900CE13C3C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050" b="1" i="0">
                <a:solidFill>
                  <a:srgbClr val="0072B2"/>
                </a:solidFill>
                <a:latin typeface="Arial"/>
                <a:ea typeface="Arial"/>
                <a:cs typeface="Arial"/>
              </a:rPr>
              <a:t>PART 1</a:t>
            </a:r>
          </a:p>
        </p:txBody>
      </p:sp>
    </p:spTree>
    <p:extLst>
      <p:ext uri="{95F04923-0B92-4850-864A-EE0D0FB786E8}">
        <p14:creationId xmlns="" val="1572448250"/>
      </p:ext>
    </p:extLst>
  </p:cSld>
  <p:clrMapOvr>
    <a:masterClrMapping/>
  </p:clrMapOvr>
  <p:transition/>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7" name="workflow-background">
            <a:extLst>
              <a:ext uri="{FF2B5EF4-FFF2-40B4-BE49-F238E27FC236}">
                <a16:creationId xmlns:a16="http://schemas.microsoft.com/office/drawing/2014/main" id="{4E982020-69A2-4D13-A522-5B7F01820BE9}"/>
              </a:ext>
            </a:extLst>
          </p:cNvPr>
          <p:cNvSpPr>
            <a:spLocks noGrp="1"/>
          </p:cNvSpPr>
          <p:nvPr/>
        </p:nvSpPr>
        <p:spPr>
          <a:xfrm>
            <a:off x="0" y="0"/>
            <a:ext cx="12192000" cy="6858000"/>
          </a:xfrm>
          <a:prstGeom prst="rect">
            <a:avLst/>
          </a:prstGeom>
          <a:solidFill>
            <a:srgbClr val="0F233D"/>
          </a:solidFill>
          <a:ln w="0">
            <a:noFill/>
            <a:prstDash val="solid"/>
          </a:ln>
        </p:spPr>
        <p:txBody>
          <a:bodyPr/>
          <a:lstStyle/>
          <a:p>
            <a:endParaRPr lang="en-US"/>
          </a:p>
        </p:txBody>
      </p:sp>
      <p:sp>
        <p:nvSpPr>
          <p:cNvPr id="2" name="workflow-title">
            <a:extLst>
              <a:ext uri="{FF2B5EF4-FFF2-40B4-BE49-F238E27FC236}">
                <a16:creationId xmlns:a16="http://schemas.microsoft.com/office/drawing/2014/main" id="{79D2C27B-AC4C-4648-BA06-E6F507A7D4A1}"/>
              </a:ext>
            </a:extLst>
          </p:cNvPr>
          <p:cNvSpPr>
            <a:spLocks noGrp="1"/>
          </p:cNvSpPr>
          <p:nvPr/>
        </p:nvSpPr>
        <p:spPr>
          <a:xfrm>
            <a:off x="714375" y="1171575"/>
            <a:ext cx="8096250" cy="666750"/>
          </a:xfrm>
          <a:prstGeom prst="rect">
            <a:avLst/>
          </a:prstGeom>
          <a:noFill/>
          <a:ln w="0">
            <a:noFill/>
            <a:prstDash val="solid"/>
          </a:ln>
        </p:spPr>
        <p:txBody>
          <a:bodyPr wrap="square" lIns="0" tIns="0" rIns="0" bIns="0" anchor="ctr">
            <a:normAutofit/>
          </a:bodyPr>
          <a:lstStyle/>
          <a:p>
            <a:pPr algn="l">
              <a:defRPr sz="3150" b="1">
                <a:solidFill>
                  <a:srgbClr val="FFFFFF"/>
                </a:solidFill>
                <a:latin typeface="Arial"/>
                <a:ea typeface="Arial"/>
                <a:cs typeface="Arial"/>
              </a:defRPr>
            </a:pPr>
            <a:r>
              <a:rPr sz="3150" b="1">
                <a:solidFill>
                  <a:srgbClr val="FFFFFF"/>
                </a:solidFill>
                <a:latin typeface="Arial"/>
                <a:ea typeface="Arial"/>
                <a:cs typeface="Arial"/>
              </a:rPr>
              <a:t>Overall workflow</a:t>
            </a:r>
          </a:p>
        </p:txBody>
      </p:sp>
      <p:sp>
        <p:nvSpPr>
          <p:cNvPr id="3" name="workflow-part-label">
            <a:extLst>
              <a:ext uri="{FF2B5EF4-FFF2-40B4-BE49-F238E27FC236}">
                <a16:creationId xmlns:a16="http://schemas.microsoft.com/office/drawing/2014/main" id="{3F172B43-0978-435C-9EBF-CBF5530D5FBD}"/>
              </a:ext>
            </a:extLst>
          </p:cNvPr>
          <p:cNvSpPr>
            <a:spLocks noGrp="1"/>
          </p:cNvSpPr>
          <p:nvPr/>
        </p:nvSpPr>
        <p:spPr>
          <a:xfrm>
            <a:off x="714375" y="609600"/>
            <a:ext cx="2190750" cy="228600"/>
          </a:xfrm>
          <a:prstGeom prst="rect">
            <a:avLst/>
          </a:prstGeom>
          <a:noFill/>
          <a:ln w="0">
            <a:noFill/>
            <a:prstDash val="solid"/>
          </a:ln>
        </p:spPr>
        <p:txBody>
          <a:bodyPr wrap="square" lIns="0" tIns="0" rIns="0" bIns="0" anchor="ctr">
            <a:normAutofit/>
          </a:bodyPr>
          <a:lstStyle/>
          <a:p>
            <a:pPr algn="l">
              <a:defRPr sz="825" b="1">
                <a:solidFill>
                  <a:srgbClr val="0072B2"/>
                </a:solidFill>
                <a:latin typeface="Arial"/>
                <a:ea typeface="Arial"/>
                <a:cs typeface="Arial"/>
              </a:defRPr>
            </a:pPr>
            <a:r>
              <a:rPr sz="825" b="1">
                <a:solidFill>
                  <a:srgbClr val="0072B2"/>
                </a:solidFill>
                <a:latin typeface="Arial"/>
                <a:ea typeface="Arial"/>
                <a:cs typeface="Arial"/>
              </a:rPr>
              <a:t>PART 1</a:t>
            </a:r>
          </a:p>
        </p:txBody>
      </p:sp>
      <p:sp>
        <p:nvSpPr>
          <p:cNvPr id="4" name="workflow-subtitle">
            <a:extLst>
              <a:ext uri="{FF2B5EF4-FFF2-40B4-BE49-F238E27FC236}">
                <a16:creationId xmlns:a16="http://schemas.microsoft.com/office/drawing/2014/main" id="{9E46C2DA-B029-4646-A9C3-AE3F21F2A92A}"/>
              </a:ext>
            </a:extLst>
          </p:cNvPr>
          <p:cNvSpPr>
            <a:spLocks noGrp="1"/>
          </p:cNvSpPr>
          <p:nvPr/>
        </p:nvSpPr>
        <p:spPr>
          <a:xfrm>
            <a:off x="723900" y="1971675"/>
            <a:ext cx="10668000" cy="400050"/>
          </a:xfrm>
          <a:prstGeom prst="rect">
            <a:avLst/>
          </a:prstGeom>
          <a:noFill/>
          <a:ln w="0">
            <a:noFill/>
            <a:prstDash val="solid"/>
          </a:ln>
        </p:spPr>
        <p:txBody>
          <a:bodyPr wrap="square" lIns="0" tIns="0" rIns="0" bIns="0" anchor="ctr">
            <a:normAutofit/>
          </a:bodyPr>
          <a:lstStyle/>
          <a:p>
            <a:pPr algn="l">
              <a:defRPr sz="1425" b="0">
                <a:solidFill>
                  <a:srgbClr val="CBD8E5"/>
                </a:solidFill>
                <a:latin typeface="Arial"/>
                <a:ea typeface="Arial"/>
                <a:cs typeface="Arial"/>
              </a:defRPr>
            </a:pPr>
            <a:r>
              <a:rPr sz="1425" b="0">
                <a:solidFill>
                  <a:srgbClr val="CBD8E5"/>
                </a:solidFill>
                <a:latin typeface="Arial"/>
                <a:ea typeface="Arial"/>
                <a:cs typeface="Arial"/>
              </a:rPr>
              <a:t>From cell-level gene expression to human validation, with mouse experiments as a potential next step</a:t>
            </a:r>
          </a:p>
        </p:txBody>
      </p:sp>
      <p:sp>
        <p:nvSpPr>
          <p:cNvPr id="5" name="workflow-connector">
            <a:extLst>
              <a:ext uri="{FF2B5EF4-FFF2-40B4-BE49-F238E27FC236}">
                <a16:creationId xmlns:a16="http://schemas.microsoft.com/office/drawing/2014/main" id="{AEA5EE79-2054-447E-92B6-1F87DC91DDD6}"/>
              </a:ext>
            </a:extLst>
          </p:cNvPr>
          <p:cNvSpPr>
            <a:spLocks noGrp="1"/>
          </p:cNvSpPr>
          <p:nvPr/>
        </p:nvSpPr>
        <p:spPr>
          <a:xfrm>
            <a:off x="1390650" y="3238500"/>
            <a:ext cx="9391650" cy="0"/>
          </a:xfrm>
          <a:prstGeom prst="line">
            <a:avLst/>
          </a:prstGeom>
          <a:noFill/>
          <a:ln w="28575">
            <a:solidFill>
              <a:srgbClr val="58718B"/>
            </a:solidFill>
            <a:prstDash val="solid"/>
          </a:ln>
        </p:spPr>
        <p:txBody>
          <a:bodyPr/>
          <a:lstStyle/>
          <a:p>
            <a:endParaRPr lang="en-US"/>
          </a:p>
        </p:txBody>
      </p:sp>
      <p:sp>
        <p:nvSpPr>
          <p:cNvPr id="6" name="workflow-stage-1-node">
            <a:extLst>
              <a:ext uri="{FF2B5EF4-FFF2-40B4-BE49-F238E27FC236}">
                <a16:creationId xmlns:a16="http://schemas.microsoft.com/office/drawing/2014/main" id="{9DB64847-5BB9-4C6D-A7F6-8B634BE8F0D3}"/>
              </a:ext>
            </a:extLst>
          </p:cNvPr>
          <p:cNvSpPr>
            <a:spLocks noGrp="1"/>
          </p:cNvSpPr>
          <p:nvPr/>
        </p:nvSpPr>
        <p:spPr>
          <a:xfrm>
            <a:off x="1162050" y="3009900"/>
            <a:ext cx="457200" cy="457200"/>
          </a:xfrm>
          <a:prstGeom prst="ellipse">
            <a:avLst/>
          </a:prstGeom>
          <a:solidFill>
            <a:srgbClr val="0072B2"/>
          </a:solidFill>
          <a:ln w="0">
            <a:solidFill>
              <a:srgbClr val="0072B2"/>
            </a:solidFill>
            <a:prstDash val="solid"/>
          </a:ln>
        </p:spPr>
        <p:txBody>
          <a:bodyPr/>
          <a:lstStyle/>
          <a:p>
            <a:endParaRPr lang="en-US"/>
          </a:p>
        </p:txBody>
      </p:sp>
      <p:sp>
        <p:nvSpPr>
          <p:cNvPr id="7" name="workflow-stage-1-number">
            <a:extLst>
              <a:ext uri="{FF2B5EF4-FFF2-40B4-BE49-F238E27FC236}">
                <a16:creationId xmlns:a16="http://schemas.microsoft.com/office/drawing/2014/main" id="{815B3806-FAA3-4B16-819C-CE0CB7A81A72}"/>
              </a:ext>
            </a:extLst>
          </p:cNvPr>
          <p:cNvSpPr>
            <a:spLocks noGrp="1"/>
          </p:cNvSpPr>
          <p:nvPr/>
        </p:nvSpPr>
        <p:spPr>
          <a:xfrm>
            <a:off x="1162050"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8" name="workflow-stage-1-title">
            <a:extLst>
              <a:ext uri="{FF2B5EF4-FFF2-40B4-BE49-F238E27FC236}">
                <a16:creationId xmlns:a16="http://schemas.microsoft.com/office/drawing/2014/main" id="{4463EC33-CFA4-42E0-807B-295C5D8F3105}"/>
              </a:ext>
            </a:extLst>
          </p:cNvPr>
          <p:cNvSpPr>
            <a:spLocks noGrp="1"/>
          </p:cNvSpPr>
          <p:nvPr/>
        </p:nvSpPr>
        <p:spPr>
          <a:xfrm>
            <a:off x="400050"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DEG analysis</a:t>
            </a:r>
          </a:p>
        </p:txBody>
      </p:sp>
      <p:sp>
        <p:nvSpPr>
          <p:cNvPr id="9" name="workflow-stage-1-description">
            <a:extLst>
              <a:ext uri="{FF2B5EF4-FFF2-40B4-BE49-F238E27FC236}">
                <a16:creationId xmlns:a16="http://schemas.microsoft.com/office/drawing/2014/main" id="{CB5F5E6D-68FD-4856-A349-3CCE27C3A6E8}"/>
              </a:ext>
            </a:extLst>
          </p:cNvPr>
          <p:cNvSpPr>
            <a:spLocks noGrp="1"/>
          </p:cNvSpPr>
          <p:nvPr/>
        </p:nvSpPr>
        <p:spPr>
          <a:xfrm>
            <a:off x="400050"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Find differentially expressed genes with higher or lower RNA abundance in AD.</a:t>
            </a:r>
          </a:p>
        </p:txBody>
      </p:sp>
      <p:sp>
        <p:nvSpPr>
          <p:cNvPr id="10" name="workflow-stage-2-node">
            <a:extLst>
              <a:ext uri="{FF2B5EF4-FFF2-40B4-BE49-F238E27FC236}">
                <a16:creationId xmlns:a16="http://schemas.microsoft.com/office/drawing/2014/main" id="{F16F3B85-5C33-4E33-88D5-2E7355371669}"/>
              </a:ext>
            </a:extLst>
          </p:cNvPr>
          <p:cNvSpPr>
            <a:spLocks noGrp="1"/>
          </p:cNvSpPr>
          <p:nvPr/>
        </p:nvSpPr>
        <p:spPr>
          <a:xfrm>
            <a:off x="3514725" y="3009900"/>
            <a:ext cx="457200" cy="457200"/>
          </a:xfrm>
          <a:prstGeom prst="ellipse">
            <a:avLst/>
          </a:prstGeom>
          <a:solidFill>
            <a:srgbClr val="56B4E9"/>
          </a:solidFill>
          <a:ln w="0">
            <a:solidFill>
              <a:srgbClr val="56B4E9"/>
            </a:solidFill>
            <a:prstDash val="solid"/>
          </a:ln>
        </p:spPr>
        <p:txBody>
          <a:bodyPr/>
          <a:lstStyle/>
          <a:p>
            <a:endParaRPr lang="en-US"/>
          </a:p>
        </p:txBody>
      </p:sp>
      <p:sp>
        <p:nvSpPr>
          <p:cNvPr id="11" name="workflow-stage-2-number">
            <a:extLst>
              <a:ext uri="{FF2B5EF4-FFF2-40B4-BE49-F238E27FC236}">
                <a16:creationId xmlns:a16="http://schemas.microsoft.com/office/drawing/2014/main" id="{00397213-9DE8-4AD8-818B-CCCAC5B96D96}"/>
              </a:ext>
            </a:extLst>
          </p:cNvPr>
          <p:cNvSpPr>
            <a:spLocks noGrp="1"/>
          </p:cNvSpPr>
          <p:nvPr/>
        </p:nvSpPr>
        <p:spPr>
          <a:xfrm>
            <a:off x="3514725"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12" name="workflow-stage-2-title">
            <a:extLst>
              <a:ext uri="{FF2B5EF4-FFF2-40B4-BE49-F238E27FC236}">
                <a16:creationId xmlns:a16="http://schemas.microsoft.com/office/drawing/2014/main" id="{76F5D727-E5F3-4FD5-B247-35A32B305A1B}"/>
              </a:ext>
            </a:extLst>
          </p:cNvPr>
          <p:cNvSpPr>
            <a:spLocks noGrp="1"/>
          </p:cNvSpPr>
          <p:nvPr/>
        </p:nvSpPr>
        <p:spPr>
          <a:xfrm>
            <a:off x="2752725"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Pathway analysis</a:t>
            </a:r>
          </a:p>
        </p:txBody>
      </p:sp>
      <p:sp>
        <p:nvSpPr>
          <p:cNvPr id="13" name="workflow-stage-2-description">
            <a:extLst>
              <a:ext uri="{FF2B5EF4-FFF2-40B4-BE49-F238E27FC236}">
                <a16:creationId xmlns:a16="http://schemas.microsoft.com/office/drawing/2014/main" id="{6615FB9C-32AD-4F77-A1DA-4617FC13D52C}"/>
              </a:ext>
            </a:extLst>
          </p:cNvPr>
          <p:cNvSpPr>
            <a:spLocks noGrp="1"/>
          </p:cNvSpPr>
          <p:nvPr/>
        </p:nvSpPr>
        <p:spPr>
          <a:xfrm>
            <a:off x="2752725"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Summarize the mitochondrial processes represented among the DEGs.</a:t>
            </a:r>
          </a:p>
        </p:txBody>
      </p:sp>
      <p:sp>
        <p:nvSpPr>
          <p:cNvPr id="14" name="workflow-stage-3-node">
            <a:extLst>
              <a:ext uri="{FF2B5EF4-FFF2-40B4-BE49-F238E27FC236}">
                <a16:creationId xmlns:a16="http://schemas.microsoft.com/office/drawing/2014/main" id="{1D4AC1EC-2380-42C7-AC84-315B6304331C}"/>
              </a:ext>
            </a:extLst>
          </p:cNvPr>
          <p:cNvSpPr>
            <a:spLocks noGrp="1"/>
          </p:cNvSpPr>
          <p:nvPr/>
        </p:nvSpPr>
        <p:spPr>
          <a:xfrm>
            <a:off x="5867400" y="3009900"/>
            <a:ext cx="457200" cy="457200"/>
          </a:xfrm>
          <a:prstGeom prst="ellipse">
            <a:avLst/>
          </a:prstGeom>
          <a:solidFill>
            <a:srgbClr val="009E73"/>
          </a:solidFill>
          <a:ln w="0">
            <a:solidFill>
              <a:srgbClr val="009E73"/>
            </a:solidFill>
            <a:prstDash val="solid"/>
          </a:ln>
        </p:spPr>
        <p:txBody>
          <a:bodyPr/>
          <a:lstStyle/>
          <a:p>
            <a:endParaRPr lang="en-US"/>
          </a:p>
        </p:txBody>
      </p:sp>
      <p:sp>
        <p:nvSpPr>
          <p:cNvPr id="15" name="workflow-stage-3-number">
            <a:extLst>
              <a:ext uri="{FF2B5EF4-FFF2-40B4-BE49-F238E27FC236}">
                <a16:creationId xmlns:a16="http://schemas.microsoft.com/office/drawing/2014/main" id="{C117132B-92DD-498B-97D2-AD13EFACC402}"/>
              </a:ext>
            </a:extLst>
          </p:cNvPr>
          <p:cNvSpPr>
            <a:spLocks noGrp="1"/>
          </p:cNvSpPr>
          <p:nvPr/>
        </p:nvSpPr>
        <p:spPr>
          <a:xfrm>
            <a:off x="5867400"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16" name="workflow-stage-3-title">
            <a:extLst>
              <a:ext uri="{FF2B5EF4-FFF2-40B4-BE49-F238E27FC236}">
                <a16:creationId xmlns:a16="http://schemas.microsoft.com/office/drawing/2014/main" id="{4B9220B0-8715-4B6F-AB21-0BC6823A4BD8}"/>
              </a:ext>
            </a:extLst>
          </p:cNvPr>
          <p:cNvSpPr>
            <a:spLocks noGrp="1"/>
          </p:cNvSpPr>
          <p:nvPr/>
        </p:nvSpPr>
        <p:spPr>
          <a:xfrm>
            <a:off x="5105400"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Key driver analysis (KDA)</a:t>
            </a:r>
          </a:p>
        </p:txBody>
      </p:sp>
      <p:sp>
        <p:nvSpPr>
          <p:cNvPr id="17" name="workflow-stage-3-description">
            <a:extLst>
              <a:ext uri="{FF2B5EF4-FFF2-40B4-BE49-F238E27FC236}">
                <a16:creationId xmlns:a16="http://schemas.microsoft.com/office/drawing/2014/main" id="{92CBF553-AE3C-4DC8-BF56-ABEFCFD3FC2B}"/>
              </a:ext>
            </a:extLst>
          </p:cNvPr>
          <p:cNvSpPr>
            <a:spLocks noGrp="1"/>
          </p:cNvSpPr>
          <p:nvPr/>
        </p:nvSpPr>
        <p:spPr>
          <a:xfrm>
            <a:off x="5105400"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Use gene networks to nominate genes connected to MitoCarta MT DEGs.</a:t>
            </a:r>
          </a:p>
        </p:txBody>
      </p:sp>
      <p:sp>
        <p:nvSpPr>
          <p:cNvPr id="18" name="workflow-stage-4-node">
            <a:extLst>
              <a:ext uri="{FF2B5EF4-FFF2-40B4-BE49-F238E27FC236}">
                <a16:creationId xmlns:a16="http://schemas.microsoft.com/office/drawing/2014/main" id="{5F151541-FD72-4BBC-AA65-6864699C23D0}"/>
              </a:ext>
            </a:extLst>
          </p:cNvPr>
          <p:cNvSpPr>
            <a:spLocks noGrp="1"/>
          </p:cNvSpPr>
          <p:nvPr/>
        </p:nvSpPr>
        <p:spPr>
          <a:xfrm>
            <a:off x="8220075" y="3009900"/>
            <a:ext cx="457200" cy="457200"/>
          </a:xfrm>
          <a:prstGeom prst="ellipse">
            <a:avLst/>
          </a:prstGeom>
          <a:solidFill>
            <a:srgbClr val="E6A700"/>
          </a:solidFill>
          <a:ln w="0">
            <a:solidFill>
              <a:srgbClr val="E6A700"/>
            </a:solidFill>
            <a:prstDash val="solid"/>
          </a:ln>
        </p:spPr>
        <p:txBody>
          <a:bodyPr/>
          <a:lstStyle/>
          <a:p>
            <a:endParaRPr lang="en-US"/>
          </a:p>
        </p:txBody>
      </p:sp>
      <p:sp>
        <p:nvSpPr>
          <p:cNvPr id="19" name="workflow-stage-4-number">
            <a:extLst>
              <a:ext uri="{FF2B5EF4-FFF2-40B4-BE49-F238E27FC236}">
                <a16:creationId xmlns:a16="http://schemas.microsoft.com/office/drawing/2014/main" id="{A54289E8-6F16-4608-BAA7-95A65ED9954E}"/>
              </a:ext>
            </a:extLst>
          </p:cNvPr>
          <p:cNvSpPr>
            <a:spLocks noGrp="1"/>
          </p:cNvSpPr>
          <p:nvPr/>
        </p:nvSpPr>
        <p:spPr>
          <a:xfrm>
            <a:off x="8220075"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4</a:t>
            </a:r>
          </a:p>
        </p:txBody>
      </p:sp>
      <p:sp>
        <p:nvSpPr>
          <p:cNvPr id="20" name="workflow-stage-4-title">
            <a:extLst>
              <a:ext uri="{FF2B5EF4-FFF2-40B4-BE49-F238E27FC236}">
                <a16:creationId xmlns:a16="http://schemas.microsoft.com/office/drawing/2014/main" id="{EB1FFF63-45B8-49FB-B660-61BF7D5F1D52}"/>
              </a:ext>
            </a:extLst>
          </p:cNvPr>
          <p:cNvSpPr>
            <a:spLocks noGrp="1"/>
          </p:cNvSpPr>
          <p:nvPr/>
        </p:nvSpPr>
        <p:spPr>
          <a:xfrm>
            <a:off x="7458075"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Human validation</a:t>
            </a:r>
          </a:p>
        </p:txBody>
      </p:sp>
      <p:sp>
        <p:nvSpPr>
          <p:cNvPr id="21" name="workflow-stage-4-description">
            <a:extLst>
              <a:ext uri="{FF2B5EF4-FFF2-40B4-BE49-F238E27FC236}">
                <a16:creationId xmlns:a16="http://schemas.microsoft.com/office/drawing/2014/main" id="{1480A0EA-6DCC-4F4C-9206-6C689CD9D62F}"/>
              </a:ext>
            </a:extLst>
          </p:cNvPr>
          <p:cNvSpPr>
            <a:spLocks noGrp="1"/>
          </p:cNvSpPr>
          <p:nvPr/>
        </p:nvSpPr>
        <p:spPr>
          <a:xfrm>
            <a:off x="7458075"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Compare ROSMAP findings with SEA-AD and direct broad-cell analyses.</a:t>
            </a:r>
          </a:p>
        </p:txBody>
      </p:sp>
      <p:sp>
        <p:nvSpPr>
          <p:cNvPr id="22" name="workflow-stage-5-node">
            <a:extLst>
              <a:ext uri="{FF2B5EF4-FFF2-40B4-BE49-F238E27FC236}">
                <a16:creationId xmlns:a16="http://schemas.microsoft.com/office/drawing/2014/main" id="{5B4BB00C-AA79-4B1D-AD24-83933BEC7148}"/>
              </a:ext>
            </a:extLst>
          </p:cNvPr>
          <p:cNvSpPr>
            <a:spLocks noGrp="1"/>
          </p:cNvSpPr>
          <p:nvPr/>
        </p:nvSpPr>
        <p:spPr>
          <a:xfrm>
            <a:off x="10572750" y="3009900"/>
            <a:ext cx="457200" cy="457200"/>
          </a:xfrm>
          <a:prstGeom prst="ellipse">
            <a:avLst/>
          </a:prstGeom>
          <a:solidFill>
            <a:srgbClr val="193A5A"/>
          </a:solidFill>
          <a:ln w="23813">
            <a:solidFill>
              <a:srgbClr val="D55E00"/>
            </a:solidFill>
            <a:prstDash val="solid"/>
          </a:ln>
        </p:spPr>
        <p:txBody>
          <a:bodyPr/>
          <a:lstStyle/>
          <a:p>
            <a:endParaRPr lang="en-US"/>
          </a:p>
        </p:txBody>
      </p:sp>
      <p:sp>
        <p:nvSpPr>
          <p:cNvPr id="23" name="workflow-stage-5-number">
            <a:extLst>
              <a:ext uri="{FF2B5EF4-FFF2-40B4-BE49-F238E27FC236}">
                <a16:creationId xmlns:a16="http://schemas.microsoft.com/office/drawing/2014/main" id="{D8734508-6E75-4FA5-8434-C0CAB9FEB676}"/>
              </a:ext>
            </a:extLst>
          </p:cNvPr>
          <p:cNvSpPr>
            <a:spLocks noGrp="1"/>
          </p:cNvSpPr>
          <p:nvPr/>
        </p:nvSpPr>
        <p:spPr>
          <a:xfrm>
            <a:off x="10572750"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5</a:t>
            </a:r>
          </a:p>
        </p:txBody>
      </p:sp>
      <p:sp>
        <p:nvSpPr>
          <p:cNvPr id="24" name="workflow-potential-label">
            <a:extLst>
              <a:ext uri="{FF2B5EF4-FFF2-40B4-BE49-F238E27FC236}">
                <a16:creationId xmlns:a16="http://schemas.microsoft.com/office/drawing/2014/main" id="{778643AA-D9DB-45D3-88E1-093CD050669B}"/>
              </a:ext>
            </a:extLst>
          </p:cNvPr>
          <p:cNvSpPr>
            <a:spLocks noGrp="1"/>
          </p:cNvSpPr>
          <p:nvPr/>
        </p:nvSpPr>
        <p:spPr>
          <a:xfrm>
            <a:off x="9858375" y="2638425"/>
            <a:ext cx="1885950" cy="228600"/>
          </a:xfrm>
          <a:prstGeom prst="rect">
            <a:avLst/>
          </a:prstGeom>
          <a:noFill/>
          <a:ln w="0">
            <a:noFill/>
            <a:prstDash val="solid"/>
          </a:ln>
        </p:spPr>
        <p:txBody>
          <a:bodyPr wrap="square" lIns="0" tIns="0" rIns="0" bIns="0" anchor="ctr">
            <a:normAutofit/>
          </a:bodyPr>
          <a:lstStyle/>
          <a:p>
            <a:pPr algn="ctr">
              <a:defRPr sz="900" b="1">
                <a:solidFill>
                  <a:srgbClr val="D55E00"/>
                </a:solidFill>
                <a:latin typeface="Arial"/>
                <a:ea typeface="Arial"/>
                <a:cs typeface="Arial"/>
              </a:defRPr>
            </a:pPr>
            <a:r>
              <a:rPr sz="900" b="1">
                <a:solidFill>
                  <a:srgbClr val="D55E00"/>
                </a:solidFill>
                <a:latin typeface="Arial"/>
                <a:ea typeface="Arial"/>
                <a:cs typeface="Arial"/>
              </a:rPr>
              <a:t>POTENTIAL NEXT STEP</a:t>
            </a:r>
          </a:p>
        </p:txBody>
      </p:sp>
      <p:sp>
        <p:nvSpPr>
          <p:cNvPr id="25" name="workflow-stage-5-title">
            <a:extLst>
              <a:ext uri="{FF2B5EF4-FFF2-40B4-BE49-F238E27FC236}">
                <a16:creationId xmlns:a16="http://schemas.microsoft.com/office/drawing/2014/main" id="{72CF0FFE-4DB9-42E9-8243-5801C149430C}"/>
              </a:ext>
            </a:extLst>
          </p:cNvPr>
          <p:cNvSpPr>
            <a:spLocks noGrp="1"/>
          </p:cNvSpPr>
          <p:nvPr/>
        </p:nvSpPr>
        <p:spPr>
          <a:xfrm>
            <a:off x="9810750"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Mouse validation</a:t>
            </a:r>
          </a:p>
        </p:txBody>
      </p:sp>
      <p:sp>
        <p:nvSpPr>
          <p:cNvPr id="26" name="workflow-stage-5-description">
            <a:extLst>
              <a:ext uri="{FF2B5EF4-FFF2-40B4-BE49-F238E27FC236}">
                <a16:creationId xmlns:a16="http://schemas.microsoft.com/office/drawing/2014/main" id="{3747D9DF-397F-4B55-9F31-0DFC283F1C04}"/>
              </a:ext>
            </a:extLst>
          </p:cNvPr>
          <p:cNvSpPr>
            <a:spLocks noGrp="1"/>
          </p:cNvSpPr>
          <p:nvPr/>
        </p:nvSpPr>
        <p:spPr>
          <a:xfrm>
            <a:off x="9810750"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Test selected candidates and mitochondrial function in targeted models.</a:t>
            </a:r>
          </a:p>
        </p:txBody>
      </p:sp>
    </p:spTree>
    <p:extLst>
      <p:ext uri="{BB962C8B-B14F-4D97-AF65-F5344CB8AC3E}">
        <p14:creationId val="2217555689"/>
      </p:ext>
    </p:extLst>
  </p:cSld>
  <p:clrMapOvr>
    <a:masterClrMapping/>
  </p:clrMapOvr>
  <p:transition/>
  <p:timing/>
</p:sld>
</file>

<file path=ppt/slides/slide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D05A9810-999C-4FD4-AFAB-7B92C5AE64BD}">
                <a16:creationId xmlns="" xmlns:a16="http://schemas.microsoft.com/office/drawing/2014/main" id="{A87F3BD9-318F-409B-AFC1-22A20746C537}"/>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450" b="1" i="0">
                <a:solidFill>
                  <a:srgbClr val="0F233D"/>
                </a:solidFill>
                <a:latin typeface="Arial"/>
                <a:ea typeface="Arial"/>
                <a:cs typeface="Arial"/>
              </a:rPr>
              <a:t>Two human brain cohorts</a:t>
            </a:r>
          </a:p>
        </p:txBody>
      </p:sp>
      <p:sp>
        <p:nvSpPr>
          <p:cNvPr id="3" name="TextBox 2">
            <a:extLst>
              <a:ext uri="{B2952A13-E51A-4967-B9C0-7FEEA980092F}">
                <a16:creationId xmlns="" xmlns:a16="http://schemas.microsoft.com/office/drawing/2014/main" id="{CAA2273C-1602-4A65-B544-947458D5B1FC}"/>
              </a:ext>
            </a:extLst>
          </p:cNvPr>
          <p:cNvSpPr>
            <a:spLocks noGrp="1"/>
          </p:cNvSpPr>
          <p:nvPr/>
        </p:nvSpPr>
        <p:spPr>
          <a:xfrm>
            <a:off x="548640" y="1002378"/>
            <a:ext cx="10561320" cy="27432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00" b="1" i="0">
                <a:latin typeface="Arial"/>
                <a:ea typeface="Arial"/>
                <a:cs typeface="Arial"/>
              </a:rPr>
              <a:t>ROSMAP provides the primary analysis. SEA-AD provides supplemental human validation.</a:t>
            </a:r>
          </a:p>
        </p:txBody>
      </p:sp>
      <p:sp>
        <p:nvSpPr>
          <p:cNvPr id="4" name="Rounded Rectangle 3">
            <a:extLst>
              <a:ext uri="{024044BD-987B-4601-8659-76F017E7C3F8}">
                <a16:creationId xmlns="" xmlns:a16="http://schemas.microsoft.com/office/drawing/2014/main" id="{2583F301-FB16-4F7D-A063-1CAEDD443703}"/>
              </a:ext>
            </a:extLst>
          </p:cNvPr>
          <p:cNvSpPr>
            <a:spLocks noGrp="1"/>
          </p:cNvSpPr>
          <p:nvPr/>
        </p:nvSpPr>
        <p:spPr>
          <a:xfrm>
            <a:off x="502920" y="1494024"/>
            <a:ext cx="5449824" cy="45537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7B5C11F-1786-4899-8B71-2C83AF61C342}">
                <a16:creationId xmlns="" xmlns:a16="http://schemas.microsoft.com/office/drawing/2014/main" id="{FC49C8AE-BE0A-498F-9234-F285AC4CD921}"/>
              </a:ext>
            </a:extLst>
          </p:cNvPr>
          <p:cNvSpPr>
            <a:spLocks noGrp="1"/>
          </p:cNvSpPr>
          <p:nvPr/>
        </p:nvSpPr>
        <p:spPr>
          <a:xfrm>
            <a:off x="804672" y="1786632"/>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645DCDDC-A58F-47EE-A183-25CFA44F833C}">
                <a16:creationId xmlns="" xmlns:a16="http://schemas.microsoft.com/office/drawing/2014/main" id="{90666061-2FB7-422D-94B5-22AE877A608D}"/>
              </a:ext>
            </a:extLst>
          </p:cNvPr>
          <p:cNvSpPr>
            <a:spLocks noGrp="1"/>
          </p:cNvSpPr>
          <p:nvPr/>
        </p:nvSpPr>
        <p:spPr>
          <a:xfrm>
            <a:off x="950976" y="1759200"/>
            <a:ext cx="4700016" cy="32918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520" b="1" i="0">
                <a:solidFill>
                  <a:srgbClr val="0F233D"/>
                </a:solidFill>
                <a:latin typeface="Arial"/>
                <a:ea typeface="Arial"/>
                <a:cs typeface="Arial"/>
              </a:rPr>
              <a:t>ROSMAP</a:t>
            </a:r>
          </a:p>
        </p:txBody>
      </p:sp>
      <p:sp>
        <p:nvSpPr>
          <p:cNvPr id="7" name="Oval 6">
            <a:extLst>
              <a:ext uri="{58854B51-4AC3-4D7B-8690-F57A25A13D80}">
                <a16:creationId xmlns="" xmlns:a16="http://schemas.microsoft.com/office/drawing/2014/main" id="{9B64A450-35F6-49E7-B896-56E3431DEE1B}"/>
              </a:ext>
            </a:extLst>
          </p:cNvPr>
          <p:cNvSpPr>
            <a:spLocks noGrp="1"/>
          </p:cNvSpPr>
          <p:nvPr/>
        </p:nvSpPr>
        <p:spPr>
          <a:xfrm>
            <a:off x="822960" y="2463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C6DDFA40-0121-4D2A-837F-D01934C419EA}">
                <a16:creationId xmlns="" xmlns:a16="http://schemas.microsoft.com/office/drawing/2014/main" id="{87E75F13-4BEE-49A0-BB02-44F7A674F9A1}"/>
              </a:ext>
            </a:extLst>
          </p:cNvPr>
          <p:cNvSpPr>
            <a:spLocks noGrp="1"/>
          </p:cNvSpPr>
          <p:nvPr/>
        </p:nvSpPr>
        <p:spPr>
          <a:xfrm>
            <a:off x="996696" y="2335272"/>
            <a:ext cx="4553712" cy="68580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70" b="0" i="0">
                <a:solidFill>
                  <a:srgbClr val="1F2730"/>
                </a:solidFill>
                <a:latin typeface="Arial"/>
                <a:ea typeface="Arial"/>
                <a:cs typeface="Arial"/>
              </a:rPr>
              <a:t>Primary discovery cohort</a:t>
            </a:r>
          </a:p>
        </p:txBody>
      </p:sp>
      <p:sp>
        <p:nvSpPr>
          <p:cNvPr id="9" name="Oval 8">
            <a:extLst>
              <a:ext uri="{22F2B2F1-AC94-4D4B-AA81-212218CB9F73}">
                <a16:creationId xmlns="" xmlns:a16="http://schemas.microsoft.com/office/drawing/2014/main" id="{EB242F70-6173-4ADC-B7E0-C9D41BAF149F}"/>
              </a:ext>
            </a:extLst>
          </p:cNvPr>
          <p:cNvSpPr>
            <a:spLocks noGrp="1"/>
          </p:cNvSpPr>
          <p:nvPr/>
        </p:nvSpPr>
        <p:spPr>
          <a:xfrm>
            <a:off x="822960" y="31490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6CB9F753-CFC1-4F86-BA48-D335CB07E32C}">
                <a16:creationId xmlns="" xmlns:a16="http://schemas.microsoft.com/office/drawing/2014/main" id="{B2EE15F1-10AF-49D1-9764-99452FBDA6BE}"/>
              </a:ext>
            </a:extLst>
          </p:cNvPr>
          <p:cNvSpPr>
            <a:spLocks noGrp="1"/>
          </p:cNvSpPr>
          <p:nvPr/>
        </p:nvSpPr>
        <p:spPr>
          <a:xfrm>
            <a:off x="996696" y="3021072"/>
            <a:ext cx="4553712" cy="68580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70" b="0" i="0">
                <a:solidFill>
                  <a:srgbClr val="1F2730"/>
                </a:solidFill>
                <a:latin typeface="Arial"/>
                <a:ea typeface="Arial"/>
                <a:cs typeface="Arial"/>
              </a:rPr>
              <a:t>54 fine cell types</a:t>
            </a:r>
          </a:p>
        </p:txBody>
      </p:sp>
      <p:sp>
        <p:nvSpPr>
          <p:cNvPr id="11" name="Oval 10">
            <a:extLst>
              <a:ext uri="{6B54C3E5-3720-4F41-A0EA-8A9368826F30}">
                <a16:creationId xmlns="" xmlns:a16="http://schemas.microsoft.com/office/drawing/2014/main" id="{7DC9B75C-1927-4510-AC8A-1A9AA0DB27FB}"/>
              </a:ext>
            </a:extLst>
          </p:cNvPr>
          <p:cNvSpPr>
            <a:spLocks noGrp="1"/>
          </p:cNvSpPr>
          <p:nvPr/>
        </p:nvSpPr>
        <p:spPr>
          <a:xfrm>
            <a:off x="822960" y="38348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A461FF0B-5C5E-4A84-A775-674874956183}">
                <a16:creationId xmlns="" xmlns:a16="http://schemas.microsoft.com/office/drawing/2014/main" id="{E27DBE8F-4D92-49B0-81BC-C1569A7B8ACC}"/>
              </a:ext>
            </a:extLst>
          </p:cNvPr>
          <p:cNvSpPr>
            <a:spLocks noGrp="1"/>
          </p:cNvSpPr>
          <p:nvPr/>
        </p:nvSpPr>
        <p:spPr>
          <a:xfrm>
            <a:off x="996696" y="3706872"/>
            <a:ext cx="4553712" cy="68580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70" b="0" i="0">
                <a:solidFill>
                  <a:srgbClr val="1F2730"/>
                </a:solidFill>
                <a:latin typeface="Arial"/>
                <a:ea typeface="Arial"/>
                <a:cs typeface="Arial"/>
              </a:rPr>
              <a:t>324 planned comparisons across sex and APOE groups</a:t>
            </a:r>
          </a:p>
        </p:txBody>
      </p:sp>
      <p:sp>
        <p:nvSpPr>
          <p:cNvPr id="13" name="Oval 12">
            <a:extLst>
              <a:ext uri="{F336CD65-0C04-4CB8-BBA8-4FA4F6B2C040}">
                <a16:creationId xmlns="" xmlns:a16="http://schemas.microsoft.com/office/drawing/2014/main" id="{E2D8EFE8-8D11-408B-A35F-5A43656E2EC8}"/>
              </a:ext>
            </a:extLst>
          </p:cNvPr>
          <p:cNvSpPr>
            <a:spLocks noGrp="1"/>
          </p:cNvSpPr>
          <p:nvPr/>
        </p:nvSpPr>
        <p:spPr>
          <a:xfrm>
            <a:off x="822960" y="45206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9F142B9F-8BB3-4D3D-8809-CACF29FBC41F}">
                <a16:creationId xmlns="" xmlns:a16="http://schemas.microsoft.com/office/drawing/2014/main" id="{9705EE32-BCF4-4AF3-AECB-D0A43DBA2EF6}"/>
              </a:ext>
            </a:extLst>
          </p:cNvPr>
          <p:cNvSpPr>
            <a:spLocks noGrp="1"/>
          </p:cNvSpPr>
          <p:nvPr/>
        </p:nvSpPr>
        <p:spPr>
          <a:xfrm>
            <a:off x="996696" y="4392672"/>
            <a:ext cx="4553712" cy="68580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70" b="0" i="0">
                <a:solidFill>
                  <a:srgbClr val="1F2730"/>
                </a:solidFill>
                <a:latin typeface="Arial"/>
                <a:ea typeface="Arial"/>
                <a:cs typeface="Arial"/>
              </a:rPr>
              <a:t>Primary source for differential expression, pathway, and KDA findings</a:t>
            </a:r>
          </a:p>
        </p:txBody>
      </p:sp>
      <p:sp>
        <p:nvSpPr>
          <p:cNvPr id="15" name="Rounded Rectangle 14">
            <a:extLst>
              <a:ext uri="{B80BBF35-4D3A-4DD3-B445-FA9D417F75BA}">
                <a16:creationId xmlns="" xmlns:a16="http://schemas.microsoft.com/office/drawing/2014/main" id="{E0A1641C-D135-40DB-B699-75F4F682D8B0}"/>
              </a:ext>
            </a:extLst>
          </p:cNvPr>
          <p:cNvSpPr>
            <a:spLocks noGrp="1"/>
          </p:cNvSpPr>
          <p:nvPr/>
        </p:nvSpPr>
        <p:spPr>
          <a:xfrm>
            <a:off x="822960" y="5350930"/>
            <a:ext cx="4828032" cy="493776"/>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6" name="TextBox 15">
            <a:extLst>
              <a:ext uri="{E3A1603B-AE7D-46D7-903F-7E0FF84F4D77}">
                <a16:creationId xmlns="" xmlns:a16="http://schemas.microsoft.com/office/drawing/2014/main" id="{54181D60-B174-489D-8592-1639F84E3BF0}"/>
              </a:ext>
            </a:extLst>
          </p:cNvPr>
          <p:cNvSpPr>
            <a:spLocks noGrp="1"/>
          </p:cNvSpPr>
          <p:nvPr/>
        </p:nvSpPr>
        <p:spPr>
          <a:xfrm>
            <a:off x="987552" y="5416800"/>
            <a:ext cx="4498848" cy="424732"/>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200" b="1" i="0">
                <a:solidFill>
                  <a:srgbClr val="9E3A00"/>
                </a:solidFill>
                <a:latin typeface="Arial"/>
                <a:ea typeface="Arial"/>
                <a:cs typeface="Arial"/>
              </a:rPr>
              <a:t>Fine-cell evidence is aggregated to broad cell categories.</a:t>
            </a:r>
          </a:p>
        </p:txBody>
      </p:sp>
      <p:sp>
        <p:nvSpPr>
          <p:cNvPr id="17" name="Rounded Rectangle 16">
            <a:extLst>
              <a:ext uri="{7ED65EA7-F752-4E7E-AF95-21E7A14D3939}">
                <a16:creationId xmlns="" xmlns:a16="http://schemas.microsoft.com/office/drawing/2014/main" id="{3E3AF054-3F60-43C0-8096-4317EA714615}"/>
              </a:ext>
            </a:extLst>
          </p:cNvPr>
          <p:cNvSpPr>
            <a:spLocks noGrp="1"/>
          </p:cNvSpPr>
          <p:nvPr/>
        </p:nvSpPr>
        <p:spPr>
          <a:xfrm>
            <a:off x="6254496" y="1494024"/>
            <a:ext cx="5449824"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895473F7-8417-417D-BD90-180F8DAF921F}">
                <a16:creationId xmlns="" xmlns:a16="http://schemas.microsoft.com/office/drawing/2014/main" id="{006E7118-C8A4-47B9-A62A-78B2ADF5CB18}"/>
              </a:ext>
            </a:extLst>
          </p:cNvPr>
          <p:cNvSpPr>
            <a:spLocks noGrp="1"/>
          </p:cNvSpPr>
          <p:nvPr/>
        </p:nvSpPr>
        <p:spPr>
          <a:xfrm>
            <a:off x="6537960" y="1786632"/>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B6260931-124B-4F79-9C33-A86D9F0C8901}">
                <a16:creationId xmlns="" xmlns:a16="http://schemas.microsoft.com/office/drawing/2014/main" id="{3ADB3342-0EB2-4EBD-9EFC-7EB840DB23D3}"/>
              </a:ext>
            </a:extLst>
          </p:cNvPr>
          <p:cNvSpPr>
            <a:spLocks noGrp="1"/>
          </p:cNvSpPr>
          <p:nvPr/>
        </p:nvSpPr>
        <p:spPr>
          <a:xfrm>
            <a:off x="6684264" y="1759200"/>
            <a:ext cx="4700016" cy="32918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520" b="1" i="0">
                <a:solidFill>
                  <a:srgbClr val="0F233D"/>
                </a:solidFill>
                <a:latin typeface="Arial"/>
                <a:ea typeface="Arial"/>
                <a:cs typeface="Arial"/>
              </a:rPr>
              <a:t>SEA-AD</a:t>
            </a:r>
          </a:p>
        </p:txBody>
      </p:sp>
      <p:sp>
        <p:nvSpPr>
          <p:cNvPr id="20" name="Oval 19">
            <a:extLst>
              <a:ext uri="{9D2D3051-BC8F-4CE2-B8E9-9C7D45AF313E}">
                <a16:creationId xmlns="" xmlns:a16="http://schemas.microsoft.com/office/drawing/2014/main" id="{5E3459A1-CD38-4B42-A469-075BDE5A391B}"/>
              </a:ext>
            </a:extLst>
          </p:cNvPr>
          <p:cNvSpPr>
            <a:spLocks noGrp="1"/>
          </p:cNvSpPr>
          <p:nvPr/>
        </p:nvSpPr>
        <p:spPr>
          <a:xfrm>
            <a:off x="6556248" y="2463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7D74B81D-F7AB-4CCC-BB1A-996EA3394A2A}">
                <a16:creationId xmlns="" xmlns:a16="http://schemas.microsoft.com/office/drawing/2014/main" id="{EA5E5AFB-51EF-4384-9BD4-F94236FDB059}"/>
              </a:ext>
            </a:extLst>
          </p:cNvPr>
          <p:cNvSpPr>
            <a:spLocks noGrp="1"/>
          </p:cNvSpPr>
          <p:nvPr/>
        </p:nvSpPr>
        <p:spPr>
          <a:xfrm>
            <a:off x="6729984" y="2335272"/>
            <a:ext cx="4553712" cy="68580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70" b="0" i="0">
                <a:solidFill>
                  <a:srgbClr val="1F2730"/>
                </a:solidFill>
                <a:latin typeface="Arial"/>
                <a:ea typeface="Arial"/>
                <a:cs typeface="Arial"/>
              </a:rPr>
              <a:t>Supplemental human validation cohort</a:t>
            </a:r>
          </a:p>
        </p:txBody>
      </p:sp>
      <p:sp>
        <p:nvSpPr>
          <p:cNvPr id="22" name="Oval 21">
            <a:extLst>
              <a:ext uri="{62CC7A7B-1F48-40F3-824F-970C5E3D4B13}">
                <a16:creationId xmlns="" xmlns:a16="http://schemas.microsoft.com/office/drawing/2014/main" id="{1CD7A9B7-24FC-4737-8884-CCC8C19D858E}"/>
              </a:ext>
            </a:extLst>
          </p:cNvPr>
          <p:cNvSpPr>
            <a:spLocks noGrp="1"/>
          </p:cNvSpPr>
          <p:nvPr/>
        </p:nvSpPr>
        <p:spPr>
          <a:xfrm>
            <a:off x="6556248" y="31490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88F10804-7360-44EC-9B99-8B48644B916B}">
                <a16:creationId xmlns="" xmlns:a16="http://schemas.microsoft.com/office/drawing/2014/main" id="{26D1BAA3-179B-49F2-992D-4BE5733CEB9D}"/>
              </a:ext>
            </a:extLst>
          </p:cNvPr>
          <p:cNvSpPr>
            <a:spLocks noGrp="1"/>
          </p:cNvSpPr>
          <p:nvPr/>
        </p:nvSpPr>
        <p:spPr>
          <a:xfrm>
            <a:off x="6729984" y="3021072"/>
            <a:ext cx="4553712" cy="68580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70" b="0" i="0">
                <a:solidFill>
                  <a:srgbClr val="1F2730"/>
                </a:solidFill>
                <a:latin typeface="Arial"/>
                <a:ea typeface="Arial"/>
                <a:cs typeface="Arial"/>
              </a:rPr>
              <a:t>129 fine cell categories, called supertypes in SEA-AD</a:t>
            </a:r>
          </a:p>
        </p:txBody>
      </p:sp>
      <p:sp>
        <p:nvSpPr>
          <p:cNvPr id="24" name="Oval 23">
            <a:extLst>
              <a:ext uri="{C002F468-5BBD-4C7F-B2F9-C927E44138C8}">
                <a16:creationId xmlns="" xmlns:a16="http://schemas.microsoft.com/office/drawing/2014/main" id="{5D382635-C3A8-44E6-B270-75BC0140AD97}"/>
              </a:ext>
            </a:extLst>
          </p:cNvPr>
          <p:cNvSpPr>
            <a:spLocks noGrp="1"/>
          </p:cNvSpPr>
          <p:nvPr/>
        </p:nvSpPr>
        <p:spPr>
          <a:xfrm>
            <a:off x="6556248" y="38348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3D9D053B-2FC7-4FB4-A92E-BA9ED7A02924}">
                <a16:creationId xmlns="" xmlns:a16="http://schemas.microsoft.com/office/drawing/2014/main" id="{E3B061FB-AFD7-4421-9DF5-153113832DCD}"/>
              </a:ext>
            </a:extLst>
          </p:cNvPr>
          <p:cNvSpPr>
            <a:spLocks noGrp="1"/>
          </p:cNvSpPr>
          <p:nvPr/>
        </p:nvSpPr>
        <p:spPr>
          <a:xfrm>
            <a:off x="6729984" y="3706872"/>
            <a:ext cx="4553712" cy="68580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70" b="0" i="0">
                <a:solidFill>
                  <a:srgbClr val="1F2730"/>
                </a:solidFill>
                <a:latin typeface="Arial"/>
                <a:ea typeface="Arial"/>
                <a:cs typeface="Arial"/>
              </a:rPr>
              <a:t>774 planned comparisons across sex and APOE groups</a:t>
            </a:r>
          </a:p>
        </p:txBody>
      </p:sp>
      <p:sp>
        <p:nvSpPr>
          <p:cNvPr id="26" name="Oval 25">
            <a:extLst>
              <a:ext uri="{573C3E81-BA6F-4D43-B542-B227B029DD9C}">
                <a16:creationId xmlns="" xmlns:a16="http://schemas.microsoft.com/office/drawing/2014/main" id="{3D9085F4-5EBB-402B-9E2A-899C11BCCAAB}"/>
              </a:ext>
            </a:extLst>
          </p:cNvPr>
          <p:cNvSpPr>
            <a:spLocks noGrp="1"/>
          </p:cNvSpPr>
          <p:nvPr/>
        </p:nvSpPr>
        <p:spPr>
          <a:xfrm>
            <a:off x="6556248" y="45206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10226B5-2CCB-42CB-AB34-ED0CD805B8A6}">
                <a16:creationId xmlns="" xmlns:a16="http://schemas.microsoft.com/office/drawing/2014/main" id="{D3545E6B-B67B-4980-A00D-F0A941E55AF6}"/>
              </a:ext>
            </a:extLst>
          </p:cNvPr>
          <p:cNvSpPr>
            <a:spLocks noGrp="1"/>
          </p:cNvSpPr>
          <p:nvPr/>
        </p:nvSpPr>
        <p:spPr>
          <a:xfrm>
            <a:off x="6729984" y="4392672"/>
            <a:ext cx="4553712" cy="68580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70" b="0" i="0">
                <a:solidFill>
                  <a:srgbClr val="1F2730"/>
                </a:solidFill>
                <a:latin typeface="Arial"/>
                <a:ea typeface="Arial"/>
                <a:cs typeface="Arial"/>
              </a:rPr>
              <a:t>Tests whether ROSMAP gene-set patterns and KDA candidates recur</a:t>
            </a:r>
          </a:p>
        </p:txBody>
      </p:sp>
      <p:sp>
        <p:nvSpPr>
          <p:cNvPr id="28" name="Rounded Rectangle 27">
            <a:extLst>
              <a:ext uri="{2A0AD765-22CE-4FA6-BB8E-254485BC78EF}">
                <a16:creationId xmlns="" xmlns:a16="http://schemas.microsoft.com/office/drawing/2014/main" id="{A2FAC7CB-D0D0-4886-8507-ACF32FA1C832}"/>
              </a:ext>
            </a:extLst>
          </p:cNvPr>
          <p:cNvSpPr>
            <a:spLocks noGrp="1"/>
          </p:cNvSpPr>
          <p:nvPr/>
        </p:nvSpPr>
        <p:spPr>
          <a:xfrm>
            <a:off x="6556248" y="5337881"/>
            <a:ext cx="4828032" cy="493776"/>
          </a:xfrm>
          <a:prstGeom prst="roundRect">
            <a:avLst/>
          </a:prstGeom>
          <a:solidFill>
            <a:srgbClr val="FFFFFF"/>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AA829E73-3C4E-4DB1-BD8F-A8C6B02BAA5D}">
                <a16:creationId xmlns="" xmlns:a16="http://schemas.microsoft.com/office/drawing/2014/main" id="{84E848BC-5599-4F79-BA63-85B1F3D5621C}"/>
              </a:ext>
            </a:extLst>
          </p:cNvPr>
          <p:cNvSpPr>
            <a:spLocks noGrp="1"/>
          </p:cNvSpPr>
          <p:nvPr/>
        </p:nvSpPr>
        <p:spPr>
          <a:xfrm>
            <a:off x="6720840" y="5416800"/>
            <a:ext cx="4498848" cy="424732"/>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200" b="1" i="0">
                <a:solidFill>
                  <a:srgbClr val="00684D"/>
                </a:solidFill>
                <a:latin typeface="Arial"/>
                <a:ea typeface="Arial"/>
                <a:cs typeface="Arial"/>
              </a:rPr>
              <a:t>Coverage is narrower and uneven across sex/APOE groups.</a:t>
            </a:r>
          </a:p>
        </p:txBody>
      </p:sp>
    </p:spTree>
    <p:extLst>
      <p:ext uri="{219FDAFA-2EEA-4642-A6A1-F4A0E8D33A44}">
        <p14:creationId xmlns="" val="912803649"/>
      </p:ext>
    </p:extLst>
  </p:cSld>
  <p:clrMapOvr>
    <a:masterClrMapping/>
  </p:clrMapOvr>
  <p:transition/>
  <p:timing/>
</p:sld>
</file>

<file path=ppt/slides/slide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0" name="gene-sets-background">
            <a:extLst>
              <a:ext uri="{FF2B5EF4-FFF2-40B4-BE49-F238E27FC236}">
                <a16:creationId xmlns:a16="http://schemas.microsoft.com/office/drawing/2014/main" id="{0DAF11F8-1936-4E3D-B2BF-10C14BD78956}"/>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lang="en-US"/>
          </a:p>
        </p:txBody>
      </p:sp>
      <p:sp>
        <p:nvSpPr>
          <p:cNvPr id="2" name="gene-sets-title">
            <a:extLst>
              <a:ext uri="{FF2B5EF4-FFF2-40B4-BE49-F238E27FC236}">
                <a16:creationId xmlns:a16="http://schemas.microsoft.com/office/drawing/2014/main" id="{9AB06EFC-9BE2-4126-B3B9-30B04CC7630C}"/>
              </a:ext>
            </a:extLst>
          </p:cNvPr>
          <p:cNvSpPr>
            <a:spLocks noGrp="1"/>
          </p:cNvSpPr>
          <p:nvPr/>
        </p:nvSpPr>
        <p:spPr>
          <a:xfrm>
            <a:off x="533400" y="371475"/>
            <a:ext cx="11049000" cy="514350"/>
          </a:xfrm>
          <a:prstGeom prst="rect">
            <a:avLst/>
          </a:prstGeom>
          <a:noFill/>
          <a:ln w="0">
            <a:noFill/>
            <a:prstDash val="solid"/>
          </a:ln>
        </p:spPr>
        <p:txBody>
          <a:bodyPr wrap="square" lIns="0" tIns="0" rIns="0" bIns="0" anchor="ctr">
            <a:normAutofit/>
          </a:bodyPr>
          <a:lstStyle/>
          <a:p>
            <a:pPr algn="l">
              <a:defRPr sz="2475" b="1">
                <a:solidFill>
                  <a:srgbClr val="0F233D"/>
                </a:solidFill>
                <a:latin typeface="Arial"/>
                <a:ea typeface="Arial"/>
                <a:cs typeface="Arial"/>
              </a:defRPr>
            </a:pPr>
            <a:r>
              <a:rPr sz="2475" b="1">
                <a:solidFill>
                  <a:srgbClr val="0F233D"/>
                </a:solidFill>
                <a:latin typeface="Arial"/>
                <a:ea typeface="Arial"/>
                <a:cs typeface="Arial"/>
              </a:rPr>
              <a:t>Two mitochondrial gene sets used in this study</a:t>
            </a:r>
          </a:p>
        </p:txBody>
      </p:sp>
      <p:sp>
        <p:nvSpPr>
          <p:cNvPr id="3" name="gene-sets-header-term">
            <a:extLst>
              <a:ext uri="{FF2B5EF4-FFF2-40B4-BE49-F238E27FC236}">
                <a16:creationId xmlns:a16="http://schemas.microsoft.com/office/drawing/2014/main" id="{67BEE69B-75B6-4FD7-9A77-9EEA1CAFADBE}"/>
              </a:ext>
            </a:extLst>
          </p:cNvPr>
          <p:cNvSpPr>
            <a:spLocks noGrp="1"/>
          </p:cNvSpPr>
          <p:nvPr/>
        </p:nvSpPr>
        <p:spPr>
          <a:xfrm>
            <a:off x="1438275" y="1266825"/>
            <a:ext cx="28003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GENE SET</a:t>
            </a:r>
          </a:p>
        </p:txBody>
      </p:sp>
      <p:sp>
        <p:nvSpPr>
          <p:cNvPr id="4" name="gene-sets-header-meaning">
            <a:extLst>
              <a:ext uri="{FF2B5EF4-FFF2-40B4-BE49-F238E27FC236}">
                <a16:creationId xmlns:a16="http://schemas.microsoft.com/office/drawing/2014/main" id="{7A16E665-E5E6-416E-B401-75881B9F767C}"/>
              </a:ext>
            </a:extLst>
          </p:cNvPr>
          <p:cNvSpPr>
            <a:spLocks noGrp="1"/>
          </p:cNvSpPr>
          <p:nvPr/>
        </p:nvSpPr>
        <p:spPr>
          <a:xfrm>
            <a:off x="4476750" y="1266825"/>
            <a:ext cx="37147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WHAT IT INCLUDES</a:t>
            </a:r>
          </a:p>
        </p:txBody>
      </p:sp>
      <p:sp>
        <p:nvSpPr>
          <p:cNvPr id="5" name="gene-sets-header-role">
            <a:extLst>
              <a:ext uri="{FF2B5EF4-FFF2-40B4-BE49-F238E27FC236}">
                <a16:creationId xmlns:a16="http://schemas.microsoft.com/office/drawing/2014/main" id="{8BBFDC2E-3350-4417-9566-27A74586D511}"/>
              </a:ext>
            </a:extLst>
          </p:cNvPr>
          <p:cNvSpPr>
            <a:spLocks noGrp="1"/>
          </p:cNvSpPr>
          <p:nvPr/>
        </p:nvSpPr>
        <p:spPr>
          <a:xfrm>
            <a:off x="8429625" y="1266825"/>
            <a:ext cx="28003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ROLE IN THIS STUDY</a:t>
            </a:r>
          </a:p>
        </p:txBody>
      </p:sp>
      <p:sp>
        <p:nvSpPr>
          <p:cNvPr id="6" name="definition-1-background">
            <a:extLst>
              <a:ext uri="{FF2B5EF4-FFF2-40B4-BE49-F238E27FC236}">
                <a16:creationId xmlns:a16="http://schemas.microsoft.com/office/drawing/2014/main" id="{E1A38498-DD26-4F7A-A777-C5E0719E0EF7}"/>
              </a:ext>
            </a:extLst>
          </p:cNvPr>
          <p:cNvSpPr>
            <a:spLocks noGrp="1"/>
          </p:cNvSpPr>
          <p:nvPr/>
        </p:nvSpPr>
        <p:spPr>
          <a:xfrm>
            <a:off x="609600" y="1552575"/>
            <a:ext cx="10972800" cy="1581150"/>
          </a:xfrm>
          <a:prstGeom prst="roundRect">
            <a:avLst>
              <a:gd name="adj" fmla="val 7229"/>
            </a:avLst>
          </a:prstGeom>
          <a:solidFill>
            <a:srgbClr val="E8F5FB"/>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7" name="definition-1-accent">
            <a:extLst>
              <a:ext uri="{FF2B5EF4-FFF2-40B4-BE49-F238E27FC236}">
                <a16:creationId xmlns:a16="http://schemas.microsoft.com/office/drawing/2014/main" id="{515C9AE4-32E1-4578-8323-69B4D2F9D054}"/>
              </a:ext>
            </a:extLst>
          </p:cNvPr>
          <p:cNvSpPr>
            <a:spLocks noGrp="1"/>
          </p:cNvSpPr>
          <p:nvPr/>
        </p:nvSpPr>
        <p:spPr>
          <a:xfrm>
            <a:off x="609600" y="1762125"/>
            <a:ext cx="76200" cy="1162050"/>
          </a:xfrm>
          <a:prstGeom prst="rect">
            <a:avLst/>
          </a:prstGeom>
          <a:solidFill>
            <a:srgbClr val="0072B2"/>
          </a:solidFill>
          <a:ln w="0">
            <a:noFill/>
            <a:prstDash val="solid"/>
          </a:ln>
        </p:spPr>
        <p:txBody>
          <a:bodyPr/>
          <a:lstStyle/>
          <a:p>
            <a:endParaRPr lang="en-US"/>
          </a:p>
        </p:txBody>
      </p:sp>
      <p:sp>
        <p:nvSpPr>
          <p:cNvPr id="8" name="definition-1-number">
            <a:extLst>
              <a:ext uri="{FF2B5EF4-FFF2-40B4-BE49-F238E27FC236}">
                <a16:creationId xmlns:a16="http://schemas.microsoft.com/office/drawing/2014/main" id="{AE482DA0-5B74-4C4C-A5C7-1B8E837A5105}"/>
              </a:ext>
            </a:extLst>
          </p:cNvPr>
          <p:cNvSpPr>
            <a:spLocks noGrp="1"/>
          </p:cNvSpPr>
          <p:nvPr/>
        </p:nvSpPr>
        <p:spPr>
          <a:xfrm>
            <a:off x="866775" y="2047875"/>
            <a:ext cx="400050" cy="552450"/>
          </a:xfrm>
          <a:prstGeom prst="rect">
            <a:avLst/>
          </a:prstGeom>
          <a:noFill/>
          <a:ln w="0">
            <a:noFill/>
            <a:prstDash val="solid"/>
          </a:ln>
        </p:spPr>
        <p:txBody>
          <a:bodyPr wrap="square" lIns="0" tIns="0" rIns="0" bIns="0" anchor="ctr">
            <a:normAutofit/>
          </a:bodyPr>
          <a:lstStyle/>
          <a:p>
            <a:pPr algn="ctr">
              <a:defRPr sz="2100" b="1">
                <a:solidFill>
                  <a:srgbClr val="0072B2"/>
                </a:solidFill>
                <a:latin typeface="Arial"/>
                <a:ea typeface="Arial"/>
                <a:cs typeface="Arial"/>
              </a:defRPr>
            </a:pPr>
            <a:r>
              <a:rPr sz="2100" b="1">
                <a:solidFill>
                  <a:srgbClr val="0072B2"/>
                </a:solidFill>
                <a:latin typeface="Arial"/>
                <a:ea typeface="Arial"/>
                <a:cs typeface="Arial"/>
              </a:rPr>
              <a:t>1</a:t>
            </a:r>
          </a:p>
        </p:txBody>
      </p:sp>
      <p:sp>
        <p:nvSpPr>
          <p:cNvPr id="9" name="definition-1-term">
            <a:extLst>
              <a:ext uri="{FF2B5EF4-FFF2-40B4-BE49-F238E27FC236}">
                <a16:creationId xmlns:a16="http://schemas.microsoft.com/office/drawing/2014/main" id="{CA639156-A27B-453D-96E5-63AD417BCE0D}"/>
              </a:ext>
            </a:extLst>
          </p:cNvPr>
          <p:cNvSpPr>
            <a:spLocks noGrp="1"/>
          </p:cNvSpPr>
          <p:nvPr/>
        </p:nvSpPr>
        <p:spPr>
          <a:xfrm>
            <a:off x="1438275" y="1819275"/>
            <a:ext cx="2800350" cy="1047750"/>
          </a:xfrm>
          <a:prstGeom prst="rect">
            <a:avLst/>
          </a:prstGeom>
          <a:noFill/>
          <a:ln w="0">
            <a:noFill/>
            <a:prstDash val="solid"/>
          </a:ln>
        </p:spPr>
        <p:txBody>
          <a:bodyPr wrap="square" lIns="0" tIns="0" rIns="0" bIns="0" anchor="ctr">
            <a:normAutofit/>
          </a:bodyPr>
          <a:lstStyle/>
          <a:p>
            <a:pPr algn="l">
              <a:defRPr sz="1800" b="1">
                <a:solidFill>
                  <a:srgbClr val="0F233D"/>
                </a:solidFill>
                <a:latin typeface="Arial"/>
                <a:ea typeface="Arial"/>
                <a:cs typeface="Arial"/>
              </a:defRPr>
            </a:pPr>
            <a:r>
              <a:rPr sz="1800" b="1">
                <a:solidFill>
                  <a:srgbClr val="0F233D"/>
                </a:solidFill>
                <a:latin typeface="Arial"/>
                <a:ea typeface="Arial"/>
                <a:cs typeface="Arial"/>
              </a:rPr>
              <a:t>Core MT genes</a:t>
            </a:r>
          </a:p>
        </p:txBody>
      </p:sp>
      <p:sp>
        <p:nvSpPr>
          <p:cNvPr id="10" name="definition-1-meaning">
            <a:extLst>
              <a:ext uri="{FF2B5EF4-FFF2-40B4-BE49-F238E27FC236}">
                <a16:creationId xmlns:a16="http://schemas.microsoft.com/office/drawing/2014/main" id="{F8F619A9-BAA4-4743-950E-CB24027CBC36}"/>
              </a:ext>
            </a:extLst>
          </p:cNvPr>
          <p:cNvSpPr>
            <a:spLocks noGrp="1"/>
          </p:cNvSpPr>
          <p:nvPr/>
        </p:nvSpPr>
        <p:spPr>
          <a:xfrm>
            <a:off x="4476750" y="1790700"/>
            <a:ext cx="37147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13 protein-coding genes in mitochondrial DNA (mtDNA). All encode structural oxidative-phosphorylation (OXPHOS) subunits.</a:t>
            </a:r>
          </a:p>
        </p:txBody>
      </p:sp>
      <p:sp>
        <p:nvSpPr>
          <p:cNvPr id="11" name="definition-1-role">
            <a:extLst>
              <a:ext uri="{FF2B5EF4-FFF2-40B4-BE49-F238E27FC236}">
                <a16:creationId xmlns:a16="http://schemas.microsoft.com/office/drawing/2014/main" id="{3ECB5A21-96DB-4629-9F67-189720A7BF8D}"/>
              </a:ext>
            </a:extLst>
          </p:cNvPr>
          <p:cNvSpPr>
            <a:spLocks noGrp="1"/>
          </p:cNvSpPr>
          <p:nvPr/>
        </p:nvSpPr>
        <p:spPr>
          <a:xfrm>
            <a:off x="8429625" y="1790700"/>
            <a:ext cx="28003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mtDNA-encoded OXPHOS results</a:t>
            </a:r>
          </a:p>
        </p:txBody>
      </p:sp>
      <p:sp>
        <p:nvSpPr>
          <p:cNvPr id="12" name="definition-2-background">
            <a:extLst>
              <a:ext uri="{FF2B5EF4-FFF2-40B4-BE49-F238E27FC236}">
                <a16:creationId xmlns:a16="http://schemas.microsoft.com/office/drawing/2014/main" id="{CF20F760-0DF5-4192-990C-BDF098979A06}"/>
              </a:ext>
            </a:extLst>
          </p:cNvPr>
          <p:cNvSpPr>
            <a:spLocks noGrp="1"/>
          </p:cNvSpPr>
          <p:nvPr/>
        </p:nvSpPr>
        <p:spPr>
          <a:xfrm>
            <a:off x="609600" y="3333750"/>
            <a:ext cx="10972800" cy="1581150"/>
          </a:xfrm>
          <a:prstGeom prst="roundRect">
            <a:avLst>
              <a:gd name="adj" fmla="val 7229"/>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3" name="definition-2-accent">
            <a:extLst>
              <a:ext uri="{FF2B5EF4-FFF2-40B4-BE49-F238E27FC236}">
                <a16:creationId xmlns:a16="http://schemas.microsoft.com/office/drawing/2014/main" id="{BC16FA77-75E8-4A73-AD3E-2B4F0F9E1E7F}"/>
              </a:ext>
            </a:extLst>
          </p:cNvPr>
          <p:cNvSpPr>
            <a:spLocks noGrp="1"/>
          </p:cNvSpPr>
          <p:nvPr/>
        </p:nvSpPr>
        <p:spPr>
          <a:xfrm>
            <a:off x="609600" y="3543300"/>
            <a:ext cx="76200" cy="1162050"/>
          </a:xfrm>
          <a:prstGeom prst="rect">
            <a:avLst/>
          </a:prstGeom>
          <a:solidFill>
            <a:srgbClr val="008A68"/>
          </a:solidFill>
          <a:ln w="0">
            <a:noFill/>
            <a:prstDash val="solid"/>
          </a:ln>
        </p:spPr>
        <p:txBody>
          <a:bodyPr/>
          <a:lstStyle/>
          <a:p>
            <a:endParaRPr lang="en-US"/>
          </a:p>
        </p:txBody>
      </p:sp>
      <p:sp>
        <p:nvSpPr>
          <p:cNvPr id="14" name="definition-2-number">
            <a:extLst>
              <a:ext uri="{FF2B5EF4-FFF2-40B4-BE49-F238E27FC236}">
                <a16:creationId xmlns:a16="http://schemas.microsoft.com/office/drawing/2014/main" id="{FD361AD6-DDE6-4F76-AB13-22CA90CB0B56}"/>
              </a:ext>
            </a:extLst>
          </p:cNvPr>
          <p:cNvSpPr>
            <a:spLocks noGrp="1"/>
          </p:cNvSpPr>
          <p:nvPr/>
        </p:nvSpPr>
        <p:spPr>
          <a:xfrm>
            <a:off x="866775" y="3829050"/>
            <a:ext cx="400050" cy="552450"/>
          </a:xfrm>
          <a:prstGeom prst="rect">
            <a:avLst/>
          </a:prstGeom>
          <a:noFill/>
          <a:ln w="0">
            <a:noFill/>
            <a:prstDash val="solid"/>
          </a:ln>
        </p:spPr>
        <p:txBody>
          <a:bodyPr wrap="square" lIns="0" tIns="0" rIns="0" bIns="0" anchor="ctr">
            <a:normAutofit/>
          </a:bodyPr>
          <a:lstStyle/>
          <a:p>
            <a:pPr algn="ctr">
              <a:defRPr sz="2100" b="1">
                <a:solidFill>
                  <a:srgbClr val="008A68"/>
                </a:solidFill>
                <a:latin typeface="Arial"/>
                <a:ea typeface="Arial"/>
                <a:cs typeface="Arial"/>
              </a:defRPr>
            </a:pPr>
            <a:r>
              <a:rPr sz="2100" b="1">
                <a:solidFill>
                  <a:srgbClr val="008A68"/>
                </a:solidFill>
                <a:latin typeface="Arial"/>
                <a:ea typeface="Arial"/>
                <a:cs typeface="Arial"/>
              </a:rPr>
              <a:t>2</a:t>
            </a:r>
          </a:p>
        </p:txBody>
      </p:sp>
      <p:sp>
        <p:nvSpPr>
          <p:cNvPr id="15" name="definition-2-term">
            <a:extLst>
              <a:ext uri="{FF2B5EF4-FFF2-40B4-BE49-F238E27FC236}">
                <a16:creationId xmlns:a16="http://schemas.microsoft.com/office/drawing/2014/main" id="{E4B1EBB2-B292-438D-B228-6DFBD5B02A61}"/>
              </a:ext>
            </a:extLst>
          </p:cNvPr>
          <p:cNvSpPr>
            <a:spLocks noGrp="1"/>
          </p:cNvSpPr>
          <p:nvPr/>
        </p:nvSpPr>
        <p:spPr>
          <a:xfrm>
            <a:off x="1438275" y="3600450"/>
            <a:ext cx="2800350" cy="1047750"/>
          </a:xfrm>
          <a:prstGeom prst="rect">
            <a:avLst/>
          </a:prstGeom>
          <a:noFill/>
          <a:ln w="0">
            <a:noFill/>
            <a:prstDash val="solid"/>
          </a:ln>
        </p:spPr>
        <p:txBody>
          <a:bodyPr wrap="square" lIns="0" tIns="0" rIns="0" bIns="0" anchor="ctr">
            <a:normAutofit/>
          </a:bodyPr>
          <a:lstStyle/>
          <a:p>
            <a:pPr algn="l">
              <a:defRPr sz="1800" b="1">
                <a:solidFill>
                  <a:srgbClr val="0F233D"/>
                </a:solidFill>
                <a:latin typeface="Arial"/>
                <a:ea typeface="Arial"/>
                <a:cs typeface="Arial"/>
              </a:defRPr>
            </a:pPr>
            <a:r>
              <a:rPr sz="1800" b="1">
                <a:solidFill>
                  <a:srgbClr val="0F233D"/>
                </a:solidFill>
                <a:latin typeface="Arial"/>
                <a:ea typeface="Arial"/>
                <a:cs typeface="Arial"/>
              </a:rPr>
              <a:t>MitoCarta MT genes</a:t>
            </a:r>
          </a:p>
        </p:txBody>
      </p:sp>
      <p:sp>
        <p:nvSpPr>
          <p:cNvPr id="16" name="definition-2-meaning">
            <a:extLst>
              <a:ext uri="{FF2B5EF4-FFF2-40B4-BE49-F238E27FC236}">
                <a16:creationId xmlns:a16="http://schemas.microsoft.com/office/drawing/2014/main" id="{85BE16B6-5644-4CA3-90D2-6C619D39CEDF}"/>
              </a:ext>
            </a:extLst>
          </p:cNvPr>
          <p:cNvSpPr>
            <a:spLocks noGrp="1"/>
          </p:cNvSpPr>
          <p:nvPr/>
        </p:nvSpPr>
        <p:spPr>
          <a:xfrm>
            <a:off x="4476750" y="3571875"/>
            <a:ext cx="37147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1,136 protein-coding genes assigned to mitochondria by MitoCarta: 13 core MT genes plus 1,123 genes encoded by nuclear DNA.</a:t>
            </a:r>
          </a:p>
        </p:txBody>
      </p:sp>
      <p:sp>
        <p:nvSpPr>
          <p:cNvPr id="17" name="definition-2-role">
            <a:extLst>
              <a:ext uri="{FF2B5EF4-FFF2-40B4-BE49-F238E27FC236}">
                <a16:creationId xmlns:a16="http://schemas.microsoft.com/office/drawing/2014/main" id="{212E9765-FE74-4A6C-AD68-52DC643B7340}"/>
              </a:ext>
            </a:extLst>
          </p:cNvPr>
          <p:cNvSpPr>
            <a:spLocks noGrp="1"/>
          </p:cNvSpPr>
          <p:nvPr/>
        </p:nvSpPr>
        <p:spPr>
          <a:xfrm>
            <a:off x="8429625" y="3571875"/>
            <a:ext cx="28003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Mitochondrial pathway definitions and KDA input queries</a:t>
            </a:r>
          </a:p>
        </p:txBody>
      </p:sp>
      <p:sp>
        <p:nvSpPr>
          <p:cNvPr id="18" name="gene-sets-boundary-note-background">
            <a:extLst>
              <a:ext uri="{FF2B5EF4-FFF2-40B4-BE49-F238E27FC236}">
                <a16:creationId xmlns:a16="http://schemas.microsoft.com/office/drawing/2014/main" id="{A9F00EAD-83AE-454C-8550-8AC091E27E5F}"/>
              </a:ext>
            </a:extLst>
          </p:cNvPr>
          <p:cNvSpPr>
            <a:spLocks noGrp="1"/>
          </p:cNvSpPr>
          <p:nvPr/>
        </p:nvSpPr>
        <p:spPr>
          <a:xfrm>
            <a:off x="1200150" y="5429250"/>
            <a:ext cx="9791700" cy="781050"/>
          </a:xfrm>
          <a:prstGeom prst="roundRect">
            <a:avLst>
              <a:gd name="adj" fmla="val 12195"/>
            </a:avLst>
          </a:prstGeom>
          <a:solidFill>
            <a:srgbClr val="FFF3D6"/>
          </a:solidFill>
          <a:ln w="0">
            <a:noFill/>
            <a:prstDash val="solid"/>
          </a:ln>
        </p:spPr>
        <p:txBody>
          <a:bodyPr/>
          <a:lstStyle/>
          <a:p>
            <a:endParaRPr lang="en-US"/>
          </a:p>
        </p:txBody>
      </p:sp>
      <p:sp>
        <p:nvSpPr>
          <p:cNvPr id="19" name="gene-sets-boundary-note">
            <a:extLst>
              <a:ext uri="{FF2B5EF4-FFF2-40B4-BE49-F238E27FC236}">
                <a16:creationId xmlns:a16="http://schemas.microsoft.com/office/drawing/2014/main" id="{971504CA-4D80-4C9E-A762-03626E16CE01}"/>
              </a:ext>
            </a:extLst>
          </p:cNvPr>
          <p:cNvSpPr>
            <a:spLocks noGrp="1"/>
          </p:cNvSpPr>
          <p:nvPr/>
        </p:nvSpPr>
        <p:spPr>
          <a:xfrm>
            <a:off x="1524000" y="5581650"/>
            <a:ext cx="9144000" cy="476250"/>
          </a:xfrm>
          <a:prstGeom prst="rect">
            <a:avLst/>
          </a:prstGeom>
          <a:noFill/>
          <a:ln w="0">
            <a:noFill/>
            <a:prstDash val="solid"/>
          </a:ln>
        </p:spPr>
        <p:txBody>
          <a:bodyPr wrap="square" lIns="0" tIns="0" rIns="0" bIns="0" anchor="ctr">
            <a:normAutofit/>
          </a:bodyPr>
          <a:lstStyle/>
          <a:p>
            <a:pPr algn="ctr">
              <a:defRPr sz="1350" b="0">
                <a:solidFill>
                  <a:srgbClr val="1F2730"/>
                </a:solidFill>
                <a:latin typeface="Arial"/>
                <a:ea typeface="Arial"/>
                <a:cs typeface="Arial"/>
              </a:defRPr>
            </a:pPr>
            <a:r>
              <a:rPr sz="1350" b="0">
                <a:solidFill>
                  <a:srgbClr val="1F2730"/>
                </a:solidFill>
                <a:latin typeface="Arial"/>
                <a:ea typeface="Arial"/>
                <a:cs typeface="Arial"/>
              </a:rPr>
              <a:t>The other 24 genes in mtDNA encode 22 tRNAs and 2 rRNAs; they are outside the protein-gene sets analyzed here.</a:t>
            </a:r>
          </a:p>
        </p:txBody>
      </p:sp>
    </p:spTree>
    <p:extLst>
      <p:ext uri="{BB962C8B-B14F-4D97-AF65-F5344CB8AC3E}">
        <p14:creationId val="410428472"/>
      </p:ext>
    </p:extLst>
  </p:cSld>
  <p:clrMapOvr>
    <a:masterClrMapping/>
  </p:clrMapOvr>
  <p:transition/>
  <p:timing/>
</p:sld>
</file>

<file path=ppt/slides/slide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19" name="mitocarta-oxphos-background">
            <a:extLst>
              <a:ext uri="{FF2B5EF4-FFF2-40B4-BE49-F238E27FC236}">
                <a16:creationId xmlns:a16="http://schemas.microsoft.com/office/drawing/2014/main" id="{8BD098F1-D7B9-4881-9766-B74346626A53}"/>
              </a:ext>
            </a:extLst>
          </p:cNvPr>
          <p:cNvSpPr>
            <a:spLocks noGrp="1"/>
          </p:cNvSpPr>
          <p:nvPr/>
        </p:nvSpPr>
        <p:spPr>
          <a:xfrm>
            <a:off x="0" y="57150"/>
            <a:ext cx="12192000" cy="6858000"/>
          </a:xfrm>
          <a:prstGeom prst="rect">
            <a:avLst/>
          </a:prstGeom>
          <a:solidFill>
            <a:srgbClr val="F7F9FC"/>
          </a:solidFill>
          <a:ln w="0">
            <a:noFill/>
            <a:prstDash val="solid"/>
          </a:ln>
        </p:spPr>
        <p:txBody>
          <a:bodyPr/>
          <a:lstStyle/>
          <a:p>
            <a:endParaRPr lang="en-US"/>
          </a:p>
        </p:txBody>
      </p:sp>
      <p:sp>
        <p:nvSpPr>
          <p:cNvPr id="2" name="mitocarta-oxphos-title">
            <a:extLst>
              <a:ext uri="{FF2B5EF4-FFF2-40B4-BE49-F238E27FC236}">
                <a16:creationId xmlns:a16="http://schemas.microsoft.com/office/drawing/2014/main" id="{2CEE02BB-7B54-40EA-B667-8600227DA807}"/>
              </a:ext>
            </a:extLst>
          </p:cNvPr>
          <p:cNvSpPr>
            <a:spLocks noGrp="1"/>
          </p:cNvSpPr>
          <p:nvPr/>
        </p:nvSpPr>
        <p:spPr>
          <a:xfrm>
            <a:off x="533400" y="371475"/>
            <a:ext cx="11049000" cy="514350"/>
          </a:xfrm>
          <a:prstGeom prst="rect">
            <a:avLst/>
          </a:prstGeom>
          <a:noFill/>
          <a:ln w="0">
            <a:noFill/>
            <a:prstDash val="solid"/>
          </a:ln>
        </p:spPr>
        <p:txBody>
          <a:bodyPr wrap="square" lIns="0" tIns="0" rIns="0" bIns="0" anchor="ctr">
            <a:normAutofit/>
          </a:bodyPr>
          <a:lstStyle/>
          <a:p>
            <a:pPr algn="l">
              <a:defRPr sz="2475" b="1">
                <a:solidFill>
                  <a:srgbClr val="0F233D"/>
                </a:solidFill>
                <a:latin typeface="Arial"/>
                <a:ea typeface="Arial"/>
                <a:cs typeface="Arial"/>
              </a:defRPr>
            </a:pPr>
            <a:r>
              <a:rPr sz="2475" b="1">
                <a:solidFill>
                  <a:srgbClr val="0F233D"/>
                </a:solidFill>
                <a:latin typeface="Arial"/>
                <a:ea typeface="Arial"/>
                <a:cs typeface="Arial"/>
              </a:rPr>
              <a:t>How the OXPHOS gene sets fit within MitoCarta</a:t>
            </a:r>
          </a:p>
        </p:txBody>
      </p:sp>
      <p:sp>
        <p:nvSpPr>
          <p:cNvPr id="3" name="mitocarta-oxphos-subtitle">
            <a:extLst>
              <a:ext uri="{FF2B5EF4-FFF2-40B4-BE49-F238E27FC236}">
                <a16:creationId xmlns:a16="http://schemas.microsoft.com/office/drawing/2014/main" id="{DD9D4925-A7C1-4544-BB5A-32BB9540712F}"/>
              </a:ext>
            </a:extLst>
          </p:cNvPr>
          <p:cNvSpPr>
            <a:spLocks noGrp="1"/>
          </p:cNvSpPr>
          <p:nvPr/>
        </p:nvSpPr>
        <p:spPr>
          <a:xfrm>
            <a:off x="552450" y="942975"/>
            <a:ext cx="10668000" cy="333375"/>
          </a:xfrm>
          <a:prstGeom prst="rect">
            <a:avLst/>
          </a:prstGeom>
          <a:noFill/>
          <a:ln w="0">
            <a:noFill/>
            <a:prstDash val="solid"/>
          </a:ln>
        </p:spPr>
        <p:txBody>
          <a:bodyPr wrap="square" lIns="0" tIns="0" rIns="0" bIns="0" anchor="ctr">
            <a:normAutofit/>
          </a:bodyPr>
          <a:lstStyle/>
          <a:p>
            <a:pPr algn="l">
              <a:defRPr sz="1350" b="0">
                <a:solidFill>
                  <a:srgbClr val="4E5A68"/>
                </a:solidFill>
                <a:latin typeface="Arial"/>
                <a:ea typeface="Arial"/>
                <a:cs typeface="Arial"/>
              </a:defRPr>
            </a:pPr>
            <a:r>
              <a:rPr sz="1400" b="1">
                <a:latin typeface="Arial"/>
                <a:ea typeface="Arial"/>
                <a:cs typeface="Arial"/>
              </a:rPr>
              <a:t>All 99 structural OXPHOS genes analyzed here are part of the 1,136-gene MitoCarta inventory.</a:t>
            </a:r>
          </a:p>
        </p:txBody>
      </p:sp>
      <p:sp>
        <p:nvSpPr>
          <p:cNvPr id="4" name="mitocarta-circle">
            <a:extLst>
              <a:ext uri="{FF2B5EF4-FFF2-40B4-BE49-F238E27FC236}">
                <a16:creationId xmlns:a16="http://schemas.microsoft.com/office/drawing/2014/main" id="{6D89F07B-0923-4C61-BD3E-C2228C4B0F49}"/>
              </a:ext>
            </a:extLst>
          </p:cNvPr>
          <p:cNvSpPr>
            <a:spLocks noGrp="1"/>
          </p:cNvSpPr>
          <p:nvPr/>
        </p:nvSpPr>
        <p:spPr>
          <a:xfrm>
            <a:off x="838200" y="1381125"/>
            <a:ext cx="7524750" cy="4762500"/>
          </a:xfrm>
          <a:prstGeom prst="ellipse">
            <a:avLst/>
          </a:prstGeom>
          <a:solidFill>
            <a:srgbClr val="E4F4EE"/>
          </a:solidFill>
          <a:ln w="28575">
            <a:solidFill>
              <a:srgbClr val="008A68"/>
            </a:solidFill>
            <a:prstDash val="solid"/>
          </a:ln>
        </p:spPr>
        <p:txBody>
          <a:bodyPr/>
          <a:lstStyle/>
          <a:p>
            <a:endParaRPr lang="en-US"/>
          </a:p>
        </p:txBody>
      </p:sp>
      <p:sp>
        <p:nvSpPr>
          <p:cNvPr id="5" name="mitocarta-circle-label">
            <a:extLst>
              <a:ext uri="{FF2B5EF4-FFF2-40B4-BE49-F238E27FC236}">
                <a16:creationId xmlns:a16="http://schemas.microsoft.com/office/drawing/2014/main" id="{55316FDE-78CC-4DBD-8F40-FAFC00A01D62}"/>
              </a:ext>
            </a:extLst>
          </p:cNvPr>
          <p:cNvSpPr>
            <a:spLocks noGrp="1"/>
          </p:cNvSpPr>
          <p:nvPr/>
        </p:nvSpPr>
        <p:spPr>
          <a:xfrm>
            <a:off x="438150" y="1347552"/>
            <a:ext cx="2381250" cy="723900"/>
          </a:xfrm>
          <a:prstGeom prst="rect">
            <a:avLst/>
          </a:prstGeom>
          <a:noFill/>
          <a:ln w="0">
            <a:noFill/>
            <a:prstDash val="solid"/>
          </a:ln>
        </p:spPr>
        <p:txBody>
          <a:bodyPr wrap="square" lIns="0" tIns="0" rIns="0" bIns="0" anchor="ctr">
            <a:normAutofit/>
          </a:bodyPr>
          <a:lstStyle/>
          <a:p>
            <a:pPr algn="ctr">
              <a:defRPr sz="1800" b="1">
                <a:solidFill>
                  <a:srgbClr val="008A68"/>
                </a:solidFill>
                <a:latin typeface="Arial"/>
                <a:ea typeface="Arial"/>
                <a:cs typeface="Arial"/>
              </a:defRPr>
            </a:pPr>
            <a:r>
              <a:rPr sz="1800" b="1" err="1">
                <a:solidFill>
                  <a:srgbClr val="008A68"/>
                </a:solidFill>
                <a:latin typeface="Arial"/>
                <a:ea typeface="Arial"/>
                <a:cs typeface="Arial"/>
              </a:rPr>
              <a:t>MitoCarta MT genes</a:t>
            </a:r>
          </a:p>
          <a:p>
            <a:pPr algn="ctr">
              <a:defRPr sz="1800" b="1">
                <a:solidFill>
                  <a:srgbClr val="008A68"/>
                </a:solidFill>
                <a:latin typeface="Arial"/>
                <a:ea typeface="Arial"/>
                <a:cs typeface="Arial"/>
              </a:defRPr>
            </a:pPr>
            <a:r>
              <a:rPr sz="1800" b="1">
                <a:solidFill>
                  <a:srgbClr val="008A68"/>
                </a:solidFill>
                <a:latin typeface="Arial"/>
                <a:ea typeface="Arial"/>
                <a:cs typeface="Arial"/>
              </a:rPr>
              <a:t>1,136</a:t>
            </a:r>
          </a:p>
        </p:txBody>
      </p:sp>
      <p:sp>
        <p:nvSpPr>
          <p:cNvPr id="6" name="oxphos-circle">
            <a:extLst>
              <a:ext uri="{FF2B5EF4-FFF2-40B4-BE49-F238E27FC236}">
                <a16:creationId xmlns:a16="http://schemas.microsoft.com/office/drawing/2014/main" id="{F15C5D05-AC2D-4740-BEED-DA42E385D1B9}"/>
              </a:ext>
            </a:extLst>
          </p:cNvPr>
          <p:cNvSpPr>
            <a:spLocks noGrp="1"/>
          </p:cNvSpPr>
          <p:nvPr/>
        </p:nvSpPr>
        <p:spPr>
          <a:xfrm>
            <a:off x="3238500" y="2095500"/>
            <a:ext cx="4524375" cy="3476625"/>
          </a:xfrm>
          <a:prstGeom prst="ellipse">
            <a:avLst/>
          </a:prstGeom>
          <a:solidFill>
            <a:srgbClr val="FFF3D6"/>
          </a:solidFill>
          <a:ln w="28575">
            <a:solidFill>
              <a:srgbClr val="A56600"/>
            </a:solidFill>
            <a:prstDash val="solid"/>
          </a:ln>
        </p:spPr>
        <p:txBody>
          <a:bodyPr/>
          <a:lstStyle/>
          <a:p>
            <a:endParaRPr lang="en-US"/>
          </a:p>
        </p:txBody>
      </p:sp>
      <p:sp>
        <p:nvSpPr>
          <p:cNvPr id="7" name="oxphos-circle-label">
            <a:extLst>
              <a:ext uri="{FF2B5EF4-FFF2-40B4-BE49-F238E27FC236}">
                <a16:creationId xmlns:a16="http://schemas.microsoft.com/office/drawing/2014/main" id="{406340AF-81D0-41FC-944A-D7279E499107}"/>
              </a:ext>
            </a:extLst>
          </p:cNvPr>
          <p:cNvSpPr>
            <a:spLocks noGrp="1"/>
          </p:cNvSpPr>
          <p:nvPr/>
        </p:nvSpPr>
        <p:spPr>
          <a:xfrm>
            <a:off x="3981450" y="2524125"/>
            <a:ext cx="3048000" cy="666750"/>
          </a:xfrm>
          <a:prstGeom prst="rect">
            <a:avLst/>
          </a:prstGeom>
          <a:noFill/>
          <a:ln w="0">
            <a:noFill/>
            <a:prstDash val="solid"/>
          </a:ln>
        </p:spPr>
        <p:txBody>
          <a:bodyPr wrap="square" lIns="0" tIns="0" rIns="0" bIns="0" anchor="ctr">
            <a:normAutofit/>
          </a:bodyPr>
          <a:lstStyle/>
          <a:p>
            <a:pPr algn="ctr">
              <a:defRPr sz="1875" b="1">
                <a:solidFill>
                  <a:srgbClr val="A56600"/>
                </a:solidFill>
                <a:latin typeface="Arial"/>
                <a:ea typeface="Arial"/>
                <a:cs typeface="Arial"/>
              </a:defRPr>
            </a:pPr>
            <a:r>
              <a:rPr sz="1875" b="1">
                <a:solidFill>
                  <a:srgbClr val="A56600"/>
                </a:solidFill>
                <a:latin typeface="Arial"/>
                <a:ea typeface="Arial"/>
                <a:cs typeface="Arial"/>
              </a:rPr>
              <a:t>Structural OXPHOS genes</a:t>
            </a:r>
          </a:p>
          <a:p>
            <a:pPr algn="ctr">
              <a:defRPr sz="1875" b="1">
                <a:solidFill>
                  <a:srgbClr val="A56600"/>
                </a:solidFill>
                <a:latin typeface="Arial"/>
                <a:ea typeface="Arial"/>
                <a:cs typeface="Arial"/>
              </a:defRPr>
            </a:pPr>
            <a:r>
              <a:rPr sz="1875" b="1">
                <a:solidFill>
                  <a:srgbClr val="A56600"/>
                </a:solidFill>
                <a:latin typeface="Arial"/>
                <a:ea typeface="Arial"/>
                <a:cs typeface="Arial"/>
              </a:rPr>
              <a:t>99</a:t>
            </a:r>
          </a:p>
        </p:txBody>
      </p:sp>
      <p:sp>
        <p:nvSpPr>
          <p:cNvPr id="8" name="oxphos-split-line">
            <a:extLst>
              <a:ext uri="{FF2B5EF4-FFF2-40B4-BE49-F238E27FC236}">
                <a16:creationId xmlns:a16="http://schemas.microsoft.com/office/drawing/2014/main" id="{04C1DBB6-74E1-4F30-905C-8E1BE0A4F2E2}"/>
              </a:ext>
            </a:extLst>
          </p:cNvPr>
          <p:cNvSpPr>
            <a:spLocks noGrp="1"/>
          </p:cNvSpPr>
          <p:nvPr/>
        </p:nvSpPr>
        <p:spPr>
          <a:xfrm flipH="1">
            <a:off x="5505450" y="3429000"/>
            <a:ext cx="0" cy="1381125"/>
          </a:xfrm>
          <a:prstGeom prst="line">
            <a:avLst/>
          </a:prstGeom>
          <a:noFill/>
          <a:ln w="19050">
            <a:solidFill>
              <a:srgbClr val="A56600"/>
            </a:solidFill>
            <a:prstDash val="solid"/>
          </a:ln>
        </p:spPr>
        <p:txBody>
          <a:bodyPr/>
          <a:lstStyle/>
          <a:p>
            <a:endParaRPr lang="en-US"/>
          </a:p>
        </p:txBody>
      </p:sp>
      <p:sp>
        <p:nvSpPr>
          <p:cNvPr id="9" name="core-mt-region-label">
            <a:extLst>
              <a:ext uri="{FF2B5EF4-FFF2-40B4-BE49-F238E27FC236}">
                <a16:creationId xmlns:a16="http://schemas.microsoft.com/office/drawing/2014/main" id="{57CDC2A8-9156-4479-86CF-D5DE6199FFE9}"/>
              </a:ext>
            </a:extLst>
          </p:cNvPr>
          <p:cNvSpPr>
            <a:spLocks noGrp="1"/>
          </p:cNvSpPr>
          <p:nvPr/>
        </p:nvSpPr>
        <p:spPr>
          <a:xfrm>
            <a:off x="3667125" y="3486150"/>
            <a:ext cx="1619250" cy="1209675"/>
          </a:xfrm>
          <a:prstGeom prst="rect">
            <a:avLst/>
          </a:prstGeom>
          <a:noFill/>
          <a:ln w="0">
            <a:noFill/>
            <a:prstDash val="solid"/>
          </a:ln>
        </p:spPr>
        <p:txBody>
          <a:bodyPr wrap="square" lIns="0" tIns="0" rIns="0" bIns="0" anchor="ctr">
            <a:normAutofit/>
          </a:bodyPr>
          <a:lstStyle/>
          <a:p>
            <a:pPr algn="ctr">
              <a:defRPr sz="1500" b="1">
                <a:solidFill>
                  <a:srgbClr val="0072B2"/>
                </a:solidFill>
                <a:latin typeface="Arial"/>
                <a:ea typeface="Arial"/>
                <a:cs typeface="Arial"/>
              </a:defRPr>
            </a:pPr>
            <a:r>
              <a:rPr sz="1500" b="1">
                <a:solidFill>
                  <a:srgbClr val="0072B2"/>
                </a:solidFill>
                <a:latin typeface="Arial"/>
                <a:ea typeface="Arial"/>
                <a:cs typeface="Arial"/>
              </a:rPr>
              <a:t>Core MT genes</a:t>
            </a:r>
          </a:p>
          <a:p>
            <a:pPr algn="ctr">
              <a:defRPr sz="1500" b="1">
                <a:solidFill>
                  <a:srgbClr val="0072B2"/>
                </a:solidFill>
                <a:latin typeface="Arial"/>
                <a:ea typeface="Arial"/>
                <a:cs typeface="Arial"/>
              </a:defRPr>
            </a:pPr>
            <a:r>
              <a:rPr sz="1500" b="1">
                <a:solidFill>
                  <a:srgbClr val="0072B2"/>
                </a:solidFill>
                <a:latin typeface="Arial"/>
                <a:ea typeface="Arial"/>
                <a:cs typeface="Arial"/>
              </a:rPr>
              <a:t>13</a:t>
            </a:r>
          </a:p>
          <a:p>
            <a:pPr algn="ctr">
              <a:defRPr sz="1500" b="1">
                <a:solidFill>
                  <a:srgbClr val="0072B2"/>
                </a:solidFill>
                <a:latin typeface="Arial"/>
                <a:ea typeface="Arial"/>
                <a:cs typeface="Arial"/>
              </a:defRPr>
            </a:pPr>
            <a:r>
              <a:rPr sz="1500" b="1">
                <a:solidFill>
                  <a:srgbClr val="0072B2"/>
                </a:solidFill>
                <a:latin typeface="Arial"/>
                <a:ea typeface="Arial"/>
                <a:cs typeface="Arial"/>
              </a:rPr>
              <a:t>encoded by mtDNA</a:t>
            </a:r>
          </a:p>
        </p:txBody>
      </p:sp>
      <p:sp>
        <p:nvSpPr>
          <p:cNvPr id="10" name="nuclear-oxphos-region-label">
            <a:extLst>
              <a:ext uri="{FF2B5EF4-FFF2-40B4-BE49-F238E27FC236}">
                <a16:creationId xmlns:a16="http://schemas.microsoft.com/office/drawing/2014/main" id="{D1E66855-C665-4F0B-A285-F6C1EE8C9A06}"/>
              </a:ext>
            </a:extLst>
          </p:cNvPr>
          <p:cNvSpPr>
            <a:spLocks noGrp="1"/>
          </p:cNvSpPr>
          <p:nvPr/>
        </p:nvSpPr>
        <p:spPr>
          <a:xfrm>
            <a:off x="5715000" y="3486150"/>
            <a:ext cx="1657350" cy="1209675"/>
          </a:xfrm>
          <a:prstGeom prst="rect">
            <a:avLst/>
          </a:prstGeom>
          <a:noFill/>
          <a:ln w="0">
            <a:noFill/>
            <a:prstDash val="solid"/>
          </a:ln>
        </p:spPr>
        <p:txBody>
          <a:bodyPr wrap="square" lIns="0" tIns="0" rIns="0" bIns="0" anchor="ctr">
            <a:normAutofit/>
          </a:bodyPr>
          <a:lstStyle/>
          <a:p>
            <a:pPr algn="ctr">
              <a:defRPr sz="1500" b="1">
                <a:solidFill>
                  <a:srgbClr val="0F233D"/>
                </a:solidFill>
                <a:latin typeface="Arial"/>
                <a:ea typeface="Arial"/>
                <a:cs typeface="Arial"/>
              </a:defRPr>
            </a:pPr>
            <a:r>
              <a:rPr sz="1500" b="1">
                <a:solidFill>
                  <a:srgbClr val="0F233D"/>
                </a:solidFill>
                <a:latin typeface="Arial"/>
                <a:ea typeface="Arial"/>
                <a:cs typeface="Arial"/>
              </a:rPr>
              <a:t>Nuclear-encoded</a:t>
            </a:r>
          </a:p>
          <a:p>
            <a:pPr algn="ctr">
              <a:defRPr sz="1500" b="1">
                <a:solidFill>
                  <a:srgbClr val="0F233D"/>
                </a:solidFill>
                <a:latin typeface="Arial"/>
                <a:ea typeface="Arial"/>
                <a:cs typeface="Arial"/>
              </a:defRPr>
            </a:pPr>
            <a:r>
              <a:rPr sz="1500" b="1">
                <a:solidFill>
                  <a:srgbClr val="0F233D"/>
                </a:solidFill>
                <a:latin typeface="Arial"/>
                <a:ea typeface="Arial"/>
                <a:cs typeface="Arial"/>
              </a:rPr>
              <a:t>OXPHOS genes</a:t>
            </a:r>
          </a:p>
          <a:p>
            <a:pPr algn="ctr">
              <a:defRPr sz="1500" b="1">
                <a:solidFill>
                  <a:srgbClr val="0F233D"/>
                </a:solidFill>
                <a:latin typeface="Arial"/>
                <a:ea typeface="Arial"/>
                <a:cs typeface="Arial"/>
              </a:defRPr>
            </a:pPr>
            <a:r>
              <a:rPr sz="1500" b="1">
                <a:solidFill>
                  <a:srgbClr val="0F233D"/>
                </a:solidFill>
                <a:latin typeface="Arial"/>
                <a:ea typeface="Arial"/>
                <a:cs typeface="Arial"/>
              </a:rPr>
              <a:t>86</a:t>
            </a:r>
          </a:p>
        </p:txBody>
      </p:sp>
      <p:sp>
        <p:nvSpPr>
          <p:cNvPr id="11" name="other-mitocarta-label">
            <a:extLst>
              <a:ext uri="{FF2B5EF4-FFF2-40B4-BE49-F238E27FC236}">
                <a16:creationId xmlns:a16="http://schemas.microsoft.com/office/drawing/2014/main" id="{C7BFE8CC-0CED-4FB5-BADF-C7EE9DEE7D07}"/>
              </a:ext>
            </a:extLst>
          </p:cNvPr>
          <p:cNvSpPr>
            <a:spLocks noGrp="1"/>
          </p:cNvSpPr>
          <p:nvPr/>
        </p:nvSpPr>
        <p:spPr>
          <a:xfrm>
            <a:off x="1204914" y="4352925"/>
            <a:ext cx="2024062" cy="676275"/>
          </a:xfrm>
          <a:prstGeom prst="rect">
            <a:avLst/>
          </a:prstGeom>
          <a:noFill/>
          <a:ln w="0">
            <a:noFill/>
            <a:prstDash val="solid"/>
          </a:ln>
        </p:spPr>
        <p:txBody>
          <a:bodyPr wrap="square" lIns="0" tIns="0" rIns="0" bIns="0" anchor="ctr">
            <a:normAutofit/>
          </a:bodyPr>
          <a:lstStyle/>
          <a:p>
            <a:pPr algn="ctr">
              <a:defRPr sz="1500" b="1">
                <a:solidFill>
                  <a:srgbClr val="008A68"/>
                </a:solidFill>
                <a:latin typeface="Arial"/>
                <a:ea typeface="Arial"/>
                <a:cs typeface="Arial"/>
              </a:defRPr>
            </a:pPr>
            <a:r>
              <a:rPr sz="1500" b="1">
                <a:solidFill>
                  <a:srgbClr val="008A68"/>
                </a:solidFill>
                <a:latin typeface="Arial"/>
                <a:ea typeface="Arial"/>
                <a:cs typeface="Arial"/>
              </a:rPr>
              <a:t>Other MitoCarta MT genes</a:t>
            </a:r>
            <a:r>
              <a:rPr lang="en-US" sz="1500" b="1">
                <a:solidFill>
                  <a:srgbClr val="008A68"/>
                </a:solidFill>
                <a:latin typeface="Arial"/>
                <a:ea typeface="Arial"/>
                <a:cs typeface="Arial"/>
              </a:rPr>
              <a:t> </a:t>
            </a:r>
            <a:r>
              <a:rPr sz="1500" b="1">
                <a:solidFill>
                  <a:srgbClr val="008A68"/>
                </a:solidFill>
                <a:latin typeface="Arial"/>
                <a:ea typeface="Arial"/>
                <a:cs typeface="Arial"/>
              </a:rPr>
              <a:t>1,037</a:t>
            </a:r>
          </a:p>
        </p:txBody>
      </p:sp>
      <p:sp>
        <p:nvSpPr>
          <p:cNvPr id="12" name="oxphos-equation-card">
            <a:extLst>
              <a:ext uri="{FF2B5EF4-FFF2-40B4-BE49-F238E27FC236}">
                <a16:creationId xmlns:a16="http://schemas.microsoft.com/office/drawing/2014/main" id="{1AC7A0C8-CBE4-4664-8FB0-E3AEE0B4C104}"/>
              </a:ext>
            </a:extLst>
          </p:cNvPr>
          <p:cNvSpPr>
            <a:spLocks noGrp="1"/>
          </p:cNvSpPr>
          <p:nvPr/>
        </p:nvSpPr>
        <p:spPr>
          <a:xfrm>
            <a:off x="8763000" y="1952625"/>
            <a:ext cx="2781300" cy="1447800"/>
          </a:xfrm>
          <a:prstGeom prst="roundRect">
            <a:avLst>
              <a:gd name="adj" fmla="val 7895"/>
            </a:avLst>
          </a:prstGeom>
          <a:solidFill>
            <a:srgbClr val="FFFFFF"/>
          </a:solidFill>
          <a:ln w="14288">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3" name="oxphos-equation">
            <a:extLst>
              <a:ext uri="{FF2B5EF4-FFF2-40B4-BE49-F238E27FC236}">
                <a16:creationId xmlns:a16="http://schemas.microsoft.com/office/drawing/2014/main" id="{D7D3BC97-B2E1-48B8-B8EA-25C6B2E3C59E}"/>
              </a:ext>
            </a:extLst>
          </p:cNvPr>
          <p:cNvSpPr>
            <a:spLocks noGrp="1"/>
          </p:cNvSpPr>
          <p:nvPr/>
        </p:nvSpPr>
        <p:spPr>
          <a:xfrm>
            <a:off x="9010650" y="2209800"/>
            <a:ext cx="2286000" cy="457200"/>
          </a:xfrm>
          <a:prstGeom prst="rect">
            <a:avLst/>
          </a:prstGeom>
          <a:noFill/>
          <a:ln w="0">
            <a:noFill/>
            <a:prstDash val="solid"/>
          </a:ln>
        </p:spPr>
        <p:txBody>
          <a:bodyPr wrap="square" lIns="0" tIns="0" rIns="0" bIns="0" anchor="ctr">
            <a:normAutofit/>
          </a:bodyPr>
          <a:lstStyle/>
          <a:p>
            <a:pPr algn="ctr">
              <a:defRPr sz="2325" b="1">
                <a:solidFill>
                  <a:srgbClr val="0F233D"/>
                </a:solidFill>
                <a:latin typeface="Arial"/>
                <a:ea typeface="Arial"/>
                <a:cs typeface="Arial"/>
              </a:defRPr>
            </a:pPr>
            <a:r>
              <a:rPr sz="2325" b="1">
                <a:solidFill>
                  <a:srgbClr val="0F233D"/>
                </a:solidFill>
                <a:latin typeface="Arial"/>
                <a:ea typeface="Arial"/>
                <a:cs typeface="Arial"/>
              </a:rPr>
              <a:t>13 + 86 = 99</a:t>
            </a:r>
          </a:p>
        </p:txBody>
      </p:sp>
      <p:sp>
        <p:nvSpPr>
          <p:cNvPr id="14" name="oxphos-equation-caption">
            <a:extLst>
              <a:ext uri="{FF2B5EF4-FFF2-40B4-BE49-F238E27FC236}">
                <a16:creationId xmlns:a16="http://schemas.microsoft.com/office/drawing/2014/main" id="{7EAA0B6C-3898-4C88-B8C2-005657C6F73A}"/>
              </a:ext>
            </a:extLst>
          </p:cNvPr>
          <p:cNvSpPr>
            <a:spLocks noGrp="1"/>
          </p:cNvSpPr>
          <p:nvPr/>
        </p:nvSpPr>
        <p:spPr>
          <a:xfrm>
            <a:off x="9010650" y="2752725"/>
            <a:ext cx="2286000" cy="333375"/>
          </a:xfrm>
          <a:prstGeom prst="rect">
            <a:avLst/>
          </a:prstGeom>
          <a:noFill/>
          <a:ln w="0">
            <a:noFill/>
            <a:prstDash val="solid"/>
          </a:ln>
        </p:spPr>
        <p:txBody>
          <a:bodyPr wrap="square" lIns="0" tIns="0" rIns="0" bIns="0" anchor="ctr">
            <a:normAutofit/>
          </a:bodyPr>
          <a:lstStyle/>
          <a:p>
            <a:pPr algn="ctr">
              <a:defRPr sz="1350" b="0">
                <a:solidFill>
                  <a:srgbClr val="4E5A68"/>
                </a:solidFill>
                <a:latin typeface="Arial"/>
                <a:ea typeface="Arial"/>
                <a:cs typeface="Arial"/>
              </a:defRPr>
            </a:pPr>
            <a:r>
              <a:rPr sz="1350" b="0">
                <a:solidFill>
                  <a:srgbClr val="4E5A68"/>
                </a:solidFill>
                <a:latin typeface="Arial"/>
                <a:ea typeface="Arial"/>
                <a:cs typeface="Arial"/>
              </a:rPr>
              <a:t>structural OXPHOS genes</a:t>
            </a:r>
          </a:p>
        </p:txBody>
      </p:sp>
      <p:sp>
        <p:nvSpPr>
          <p:cNvPr id="15" name="nuclear-definition-card">
            <a:extLst>
              <a:ext uri="{FF2B5EF4-FFF2-40B4-BE49-F238E27FC236}">
                <a16:creationId xmlns:a16="http://schemas.microsoft.com/office/drawing/2014/main" id="{7827315D-29FF-4BC2-A1DD-81EC492A0E87}"/>
              </a:ext>
            </a:extLst>
          </p:cNvPr>
          <p:cNvSpPr>
            <a:spLocks noGrp="1"/>
          </p:cNvSpPr>
          <p:nvPr/>
        </p:nvSpPr>
        <p:spPr>
          <a:xfrm>
            <a:off x="8763000" y="3657600"/>
            <a:ext cx="2781300" cy="1600200"/>
          </a:xfrm>
          <a:prstGeom prst="roundRect">
            <a:avLst>
              <a:gd name="adj" fmla="val 7143"/>
            </a:avLst>
          </a:prstGeom>
          <a:solidFill>
            <a:srgbClr val="E8F5FB"/>
          </a:solidFill>
          <a:ln w="9525">
            <a:solidFill>
              <a:srgbClr val="D8E2EC"/>
            </a:solidFill>
            <a:prstDash val="solid"/>
          </a:ln>
        </p:spPr>
        <p:txBody>
          <a:bodyPr/>
          <a:lstStyle/>
          <a:p>
            <a:endParaRPr lang="en-US"/>
          </a:p>
        </p:txBody>
      </p:sp>
      <p:sp>
        <p:nvSpPr>
          <p:cNvPr id="16" name="nuclear-definition-title">
            <a:extLst>
              <a:ext uri="{FF2B5EF4-FFF2-40B4-BE49-F238E27FC236}">
                <a16:creationId xmlns:a16="http://schemas.microsoft.com/office/drawing/2014/main" id="{115E4BE4-E1EC-4B5D-8942-08E716799A93}"/>
              </a:ext>
            </a:extLst>
          </p:cNvPr>
          <p:cNvSpPr>
            <a:spLocks noGrp="1"/>
          </p:cNvSpPr>
          <p:nvPr/>
        </p:nvSpPr>
        <p:spPr>
          <a:xfrm>
            <a:off x="9029700" y="3895725"/>
            <a:ext cx="2247900" cy="304800"/>
          </a:xfrm>
          <a:prstGeom prst="rect">
            <a:avLst/>
          </a:prstGeom>
          <a:noFill/>
          <a:ln w="0">
            <a:noFill/>
            <a:prstDash val="solid"/>
          </a:ln>
        </p:spPr>
        <p:txBody>
          <a:bodyPr wrap="square" lIns="0" tIns="0" rIns="0" bIns="0" anchor="ctr">
            <a:normAutofit/>
          </a:bodyPr>
          <a:lstStyle/>
          <a:p>
            <a:pPr algn="ctr">
              <a:defRPr sz="1500" b="1">
                <a:solidFill>
                  <a:srgbClr val="0072B2"/>
                </a:solidFill>
                <a:latin typeface="Arial"/>
                <a:ea typeface="Arial"/>
                <a:cs typeface="Arial"/>
              </a:defRPr>
            </a:pPr>
            <a:r>
              <a:rPr sz="1500" b="1">
                <a:solidFill>
                  <a:srgbClr val="0072B2"/>
                </a:solidFill>
                <a:latin typeface="Arial"/>
                <a:ea typeface="Arial"/>
                <a:cs typeface="Arial"/>
              </a:rPr>
              <a:t>Nuclear-encoded</a:t>
            </a:r>
          </a:p>
        </p:txBody>
      </p:sp>
      <p:sp>
        <p:nvSpPr>
          <p:cNvPr id="17" name="nuclear-definition-text">
            <a:extLst>
              <a:ext uri="{FF2B5EF4-FFF2-40B4-BE49-F238E27FC236}">
                <a16:creationId xmlns:a16="http://schemas.microsoft.com/office/drawing/2014/main" id="{3E2593A7-7F57-43B3-8DFB-2A7C254F5A2C}"/>
              </a:ext>
            </a:extLst>
          </p:cNvPr>
          <p:cNvSpPr>
            <a:spLocks noGrp="1"/>
          </p:cNvSpPr>
          <p:nvPr/>
        </p:nvSpPr>
        <p:spPr>
          <a:xfrm>
            <a:off x="9048750" y="4305300"/>
            <a:ext cx="2209800" cy="723900"/>
          </a:xfrm>
          <a:prstGeom prst="rect">
            <a:avLst/>
          </a:prstGeom>
          <a:noFill/>
          <a:ln w="0">
            <a:noFill/>
            <a:prstDash val="solid"/>
          </a:ln>
        </p:spPr>
        <p:txBody>
          <a:bodyPr wrap="square" lIns="0" tIns="0" rIns="0" bIns="0" anchor="ctr">
            <a:normAutofit/>
          </a:bodyPr>
          <a:lstStyle/>
          <a:p>
            <a:pPr algn="ctr">
              <a:defRPr sz="1275" b="0">
                <a:solidFill>
                  <a:srgbClr val="1F2730"/>
                </a:solidFill>
                <a:latin typeface="Arial"/>
                <a:ea typeface="Arial"/>
                <a:cs typeface="Arial"/>
              </a:defRPr>
            </a:pPr>
            <a:r>
              <a:rPr sz="1275" b="0">
                <a:solidFill>
                  <a:srgbClr val="1F2730"/>
                </a:solidFill>
                <a:latin typeface="Arial"/>
                <a:ea typeface="Arial"/>
                <a:cs typeface="Arial"/>
              </a:rPr>
              <a:t>The gene is located in nuclear DNA; its protein functions in mitochondria.</a:t>
            </a:r>
          </a:p>
        </p:txBody>
      </p:sp>
    </p:spTree>
    <p:extLst>
      <p:ext uri="{BB962C8B-B14F-4D97-AF65-F5344CB8AC3E}">
        <p14:creationId val="826897386"/>
      </p:ext>
    </p:extLst>
  </p:cSld>
  <p:clrMapOvr>
    <a:masterClrMapping/>
  </p:clrMapOvr>
  <p:transition/>
  <p:timing/>
</p:sld>
</file>

<file path=ppt/slides/slide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1" name="mitocarta-hierarchy-background">
            <a:extLst>
              <a:ext uri="{FF2B5EF4-FFF2-40B4-BE49-F238E27FC236}">
                <a16:creationId xmlns:a16="http://schemas.microsoft.com/office/drawing/2014/main" id="{C32135CE-1DB8-4A86-8CC5-0C743A994631}"/>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mitocarta-hierarchy-title">
            <a:extLst>
              <a:ext uri="{FF2B5EF4-FFF2-40B4-BE49-F238E27FC236}">
                <a16:creationId xmlns:a16="http://schemas.microsoft.com/office/drawing/2014/main" id="{D9B4A397-B91D-45E4-A1A7-81D64922ACB6}"/>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Three levels of MitoCarta pathways</a:t>
            </a:r>
          </a:p>
        </p:txBody>
      </p:sp>
      <p:sp>
        <p:nvSpPr>
          <p:cNvPr id="3" name="mitocarta-hierarchy-subtitle">
            <a:extLst>
              <a:ext uri="{FF2B5EF4-FFF2-40B4-BE49-F238E27FC236}">
                <a16:creationId xmlns:a16="http://schemas.microsoft.com/office/drawing/2014/main" id="{28C990DB-3CCC-454A-A0A6-54EC6E9CABC9}"/>
              </a:ext>
            </a:extLst>
          </p:cNvPr>
          <p:cNvSpPr>
            <a:spLocks noGrp="1"/>
          </p:cNvSpPr>
          <p:nvPr/>
        </p:nvSpPr>
        <p:spPr>
          <a:xfrm>
            <a:off x="552450" y="914400"/>
            <a:ext cx="10572750" cy="3619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MitoCarta organizes its 1,136 MT genes into nested pathways, from broad systems to detailed subpathways.</a:t>
            </a:r>
          </a:p>
        </p:txBody>
      </p:sp>
      <p:sp>
        <p:nvSpPr>
          <p:cNvPr id="4" name="mitocarta-level-1-band">
            <a:extLst>
              <a:ext uri="{FF2B5EF4-FFF2-40B4-BE49-F238E27FC236}">
                <a16:creationId xmlns:a16="http://schemas.microsoft.com/office/drawing/2014/main" id="{18A9D7A3-88E9-4952-9CAA-1FC2A1ED5F43}"/>
              </a:ext>
            </a:extLst>
          </p:cNvPr>
          <p:cNvSpPr>
            <a:spLocks noGrp="1"/>
          </p:cNvSpPr>
          <p:nvPr/>
        </p:nvSpPr>
        <p:spPr>
          <a:xfrm>
            <a:off x="857250" y="1543050"/>
            <a:ext cx="10477500" cy="990600"/>
          </a:xfrm>
          <a:prstGeom prst="roundRect">
            <a:avLst>
              <a:gd name="adj" fmla="val 13462"/>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5" name="mitocarta-level-1-level">
            <a:extLst>
              <a:ext uri="{FF2B5EF4-FFF2-40B4-BE49-F238E27FC236}">
                <a16:creationId xmlns:a16="http://schemas.microsoft.com/office/drawing/2014/main" id="{E9D0E325-D5F5-4481-8B3B-16271FC0DB6E}"/>
              </a:ext>
            </a:extLst>
          </p:cNvPr>
          <p:cNvSpPr>
            <a:spLocks noGrp="1"/>
          </p:cNvSpPr>
          <p:nvPr/>
        </p:nvSpPr>
        <p:spPr>
          <a:xfrm>
            <a:off x="1123950" y="1724025"/>
            <a:ext cx="1200150" cy="228600"/>
          </a:xfrm>
          <a:prstGeom prst="rect">
            <a:avLst/>
          </a:prstGeom>
          <a:noFill/>
          <a:ln w="0">
            <a:noFill/>
            <a:prstDash val="solid"/>
          </a:ln>
        </p:spPr>
        <p:txBody>
          <a:bodyPr wrap="square" lIns="0" tIns="0" rIns="0" bIns="0" anchor="ctr">
            <a:normAutofit/>
          </a:bodyPr>
          <a:lstStyle/>
          <a:p>
            <a:pPr algn="l">
              <a:buNone/>
              <a:defRPr sz="1125" b="1">
                <a:solidFill>
                  <a:srgbClr val="0072B2"/>
                </a:solidFill>
                <a:latin typeface="Arial"/>
                <a:ea typeface="Arial"/>
                <a:cs typeface="Arial"/>
              </a:defRPr>
            </a:pPr>
            <a:r>
              <a:rPr sz="1125" b="1">
                <a:solidFill>
                  <a:srgbClr val="0072B2"/>
                </a:solidFill>
                <a:latin typeface="Arial"/>
                <a:ea typeface="Arial"/>
                <a:cs typeface="Arial"/>
              </a:rPr>
              <a:t>LEVEL 1</a:t>
            </a:r>
          </a:p>
        </p:txBody>
      </p:sp>
      <p:sp>
        <p:nvSpPr>
          <p:cNvPr id="6" name="mitocarta-level-1-label">
            <a:extLst>
              <a:ext uri="{FF2B5EF4-FFF2-40B4-BE49-F238E27FC236}">
                <a16:creationId xmlns:a16="http://schemas.microsoft.com/office/drawing/2014/main" id="{E9A17CB0-3A4C-45E3-86A2-52E80F61BADE}"/>
              </a:ext>
            </a:extLst>
          </p:cNvPr>
          <p:cNvSpPr>
            <a:spLocks noGrp="1"/>
          </p:cNvSpPr>
          <p:nvPr/>
        </p:nvSpPr>
        <p:spPr>
          <a:xfrm>
            <a:off x="1123950" y="2028825"/>
            <a:ext cx="450532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Broad mitochondrial system</a:t>
            </a:r>
          </a:p>
        </p:txBody>
      </p:sp>
      <p:sp>
        <p:nvSpPr>
          <p:cNvPr id="7" name="mitocarta-level-1-example">
            <a:extLst>
              <a:ext uri="{FF2B5EF4-FFF2-40B4-BE49-F238E27FC236}">
                <a16:creationId xmlns:a16="http://schemas.microsoft.com/office/drawing/2014/main" id="{9CE53DE4-53D8-4F37-89A9-CEB2184F3052}"/>
              </a:ext>
            </a:extLst>
          </p:cNvPr>
          <p:cNvSpPr>
            <a:spLocks noGrp="1"/>
          </p:cNvSpPr>
          <p:nvPr/>
        </p:nvSpPr>
        <p:spPr>
          <a:xfrm>
            <a:off x="5886450" y="1885950"/>
            <a:ext cx="282892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Oxidative phosphorylation (OXPHOS)</a:t>
            </a:r>
          </a:p>
        </p:txBody>
      </p:sp>
      <p:sp>
        <p:nvSpPr>
          <p:cNvPr id="8" name="mitocarta-level-1-count">
            <a:extLst>
              <a:ext uri="{FF2B5EF4-FFF2-40B4-BE49-F238E27FC236}">
                <a16:creationId xmlns:a16="http://schemas.microsoft.com/office/drawing/2014/main" id="{A0B6881E-78F2-46CC-90CB-35966ED6AC8E}"/>
              </a:ext>
            </a:extLst>
          </p:cNvPr>
          <p:cNvSpPr>
            <a:spLocks noGrp="1"/>
          </p:cNvSpPr>
          <p:nvPr/>
        </p:nvSpPr>
        <p:spPr>
          <a:xfrm>
            <a:off x="9620250" y="1819275"/>
            <a:ext cx="1428750" cy="457200"/>
          </a:xfrm>
          <a:prstGeom prst="rect">
            <a:avLst/>
          </a:prstGeom>
          <a:noFill/>
          <a:ln w="0">
            <a:noFill/>
            <a:prstDash val="solid"/>
          </a:ln>
        </p:spPr>
        <p:txBody>
          <a:bodyPr wrap="square" lIns="0" tIns="0" rIns="0" bIns="0" anchor="ctr">
            <a:normAutofit/>
          </a:bodyPr>
          <a:lstStyle/>
          <a:p>
            <a:pPr algn="r">
              <a:buNone/>
              <a:defRPr sz="1725" b="1">
                <a:solidFill>
                  <a:srgbClr val="0072B2"/>
                </a:solidFill>
                <a:latin typeface="Arial"/>
                <a:ea typeface="Arial"/>
                <a:cs typeface="Arial"/>
              </a:defRPr>
            </a:pPr>
            <a:r>
              <a:rPr sz="1725" b="1">
                <a:solidFill>
                  <a:srgbClr val="0072B2"/>
                </a:solidFill>
                <a:latin typeface="Arial"/>
                <a:ea typeface="Arial"/>
                <a:cs typeface="Arial"/>
              </a:rPr>
              <a:t>7 pathways</a:t>
            </a:r>
          </a:p>
        </p:txBody>
      </p:sp>
      <p:sp>
        <p:nvSpPr>
          <p:cNvPr id="9" name="mitocarta-level-2-band">
            <a:extLst>
              <a:ext uri="{FF2B5EF4-FFF2-40B4-BE49-F238E27FC236}">
                <a16:creationId xmlns:a16="http://schemas.microsoft.com/office/drawing/2014/main" id="{5DAF0BA4-AC5A-446A-84BE-194A8EF81A1D}"/>
              </a:ext>
            </a:extLst>
          </p:cNvPr>
          <p:cNvSpPr>
            <a:spLocks noGrp="1"/>
          </p:cNvSpPr>
          <p:nvPr/>
        </p:nvSpPr>
        <p:spPr>
          <a:xfrm>
            <a:off x="1619250" y="2705100"/>
            <a:ext cx="8953500" cy="990600"/>
          </a:xfrm>
          <a:prstGeom prst="roundRect">
            <a:avLst>
              <a:gd name="adj" fmla="val 13462"/>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0" name="mitocarta-level-2-level">
            <a:extLst>
              <a:ext uri="{FF2B5EF4-FFF2-40B4-BE49-F238E27FC236}">
                <a16:creationId xmlns:a16="http://schemas.microsoft.com/office/drawing/2014/main" id="{E307DD48-2E33-4870-AB47-AC61B7104C30}"/>
              </a:ext>
            </a:extLst>
          </p:cNvPr>
          <p:cNvSpPr>
            <a:spLocks noGrp="1"/>
          </p:cNvSpPr>
          <p:nvPr/>
        </p:nvSpPr>
        <p:spPr>
          <a:xfrm>
            <a:off x="1885950" y="2886075"/>
            <a:ext cx="1200150" cy="228600"/>
          </a:xfrm>
          <a:prstGeom prst="rect">
            <a:avLst/>
          </a:prstGeom>
          <a:noFill/>
          <a:ln w="0">
            <a:noFill/>
            <a:prstDash val="solid"/>
          </a:ln>
        </p:spPr>
        <p:txBody>
          <a:bodyPr wrap="square" lIns="0" tIns="0" rIns="0" bIns="0" anchor="ctr">
            <a:normAutofit/>
          </a:bodyPr>
          <a:lstStyle/>
          <a:p>
            <a:pPr algn="l">
              <a:buNone/>
              <a:defRPr sz="1125" b="1">
                <a:solidFill>
                  <a:srgbClr val="00684D"/>
                </a:solidFill>
                <a:latin typeface="Arial"/>
                <a:ea typeface="Arial"/>
                <a:cs typeface="Arial"/>
              </a:defRPr>
            </a:pPr>
            <a:r>
              <a:rPr sz="1125" b="1">
                <a:solidFill>
                  <a:srgbClr val="00684D"/>
                </a:solidFill>
                <a:latin typeface="Arial"/>
                <a:ea typeface="Arial"/>
                <a:cs typeface="Arial"/>
              </a:rPr>
              <a:t>LEVEL 2</a:t>
            </a:r>
          </a:p>
        </p:txBody>
      </p:sp>
      <p:sp>
        <p:nvSpPr>
          <p:cNvPr id="11" name="mitocarta-level-2-label">
            <a:extLst>
              <a:ext uri="{FF2B5EF4-FFF2-40B4-BE49-F238E27FC236}">
                <a16:creationId xmlns:a16="http://schemas.microsoft.com/office/drawing/2014/main" id="{2087C0A6-AC42-45D6-A8DF-F8950D8B57CF}"/>
              </a:ext>
            </a:extLst>
          </p:cNvPr>
          <p:cNvSpPr>
            <a:spLocks noGrp="1"/>
          </p:cNvSpPr>
          <p:nvPr/>
        </p:nvSpPr>
        <p:spPr>
          <a:xfrm>
            <a:off x="1885950" y="3190875"/>
            <a:ext cx="385000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Pathway within a system</a:t>
            </a:r>
          </a:p>
        </p:txBody>
      </p:sp>
      <p:sp>
        <p:nvSpPr>
          <p:cNvPr id="12" name="mitocarta-level-2-example">
            <a:extLst>
              <a:ext uri="{FF2B5EF4-FFF2-40B4-BE49-F238E27FC236}">
                <a16:creationId xmlns:a16="http://schemas.microsoft.com/office/drawing/2014/main" id="{21C35936-7529-43A8-A037-314B375217E3}"/>
              </a:ext>
            </a:extLst>
          </p:cNvPr>
          <p:cNvSpPr>
            <a:spLocks noGrp="1"/>
          </p:cNvSpPr>
          <p:nvPr/>
        </p:nvSpPr>
        <p:spPr>
          <a:xfrm>
            <a:off x="5916930" y="3048000"/>
            <a:ext cx="241744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a:t>
            </a:r>
          </a:p>
        </p:txBody>
      </p:sp>
      <p:sp>
        <p:nvSpPr>
          <p:cNvPr id="13" name="mitocarta-level-2-count">
            <a:extLst>
              <a:ext uri="{FF2B5EF4-FFF2-40B4-BE49-F238E27FC236}">
                <a16:creationId xmlns:a16="http://schemas.microsoft.com/office/drawing/2014/main" id="{D9693E17-B9DB-4D16-B3E6-9AE81C1CE84C}"/>
              </a:ext>
            </a:extLst>
          </p:cNvPr>
          <p:cNvSpPr>
            <a:spLocks noGrp="1"/>
          </p:cNvSpPr>
          <p:nvPr/>
        </p:nvSpPr>
        <p:spPr>
          <a:xfrm>
            <a:off x="8858250" y="2981325"/>
            <a:ext cx="1428750" cy="457200"/>
          </a:xfrm>
          <a:prstGeom prst="rect">
            <a:avLst/>
          </a:prstGeom>
          <a:noFill/>
          <a:ln w="0">
            <a:noFill/>
            <a:prstDash val="solid"/>
          </a:ln>
        </p:spPr>
        <p:txBody>
          <a:bodyPr wrap="square" lIns="0" tIns="0" rIns="0" bIns="0" anchor="ctr">
            <a:normAutofit/>
          </a:bodyPr>
          <a:lstStyle/>
          <a:p>
            <a:pPr algn="r">
              <a:buNone/>
              <a:defRPr sz="1725" b="1">
                <a:solidFill>
                  <a:srgbClr val="00684D"/>
                </a:solidFill>
                <a:latin typeface="Arial"/>
                <a:ea typeface="Arial"/>
                <a:cs typeface="Arial"/>
              </a:defRPr>
            </a:pPr>
            <a:r>
              <a:rPr sz="1725" b="1">
                <a:solidFill>
                  <a:srgbClr val="00684D"/>
                </a:solidFill>
                <a:latin typeface="Arial"/>
                <a:ea typeface="Arial"/>
                <a:cs typeface="Arial"/>
              </a:rPr>
              <a:t>39 pathways</a:t>
            </a:r>
          </a:p>
        </p:txBody>
      </p:sp>
      <p:sp>
        <p:nvSpPr>
          <p:cNvPr id="14" name="mitocarta-level-3-band">
            <a:extLst>
              <a:ext uri="{FF2B5EF4-FFF2-40B4-BE49-F238E27FC236}">
                <a16:creationId xmlns:a16="http://schemas.microsoft.com/office/drawing/2014/main" id="{2A8008ED-6648-4AF0-B933-D57921172975}"/>
              </a:ext>
            </a:extLst>
          </p:cNvPr>
          <p:cNvSpPr>
            <a:spLocks noGrp="1"/>
          </p:cNvSpPr>
          <p:nvPr/>
        </p:nvSpPr>
        <p:spPr>
          <a:xfrm>
            <a:off x="2381250" y="3867150"/>
            <a:ext cx="7429500" cy="990600"/>
          </a:xfrm>
          <a:prstGeom prst="roundRect">
            <a:avLst>
              <a:gd name="adj" fmla="val 13462"/>
            </a:avLst>
          </a:prstGeom>
          <a:solidFill>
            <a:srgbClr val="FFF3D6"/>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5" name="mitocarta-level-3-level">
            <a:extLst>
              <a:ext uri="{FF2B5EF4-FFF2-40B4-BE49-F238E27FC236}">
                <a16:creationId xmlns:a16="http://schemas.microsoft.com/office/drawing/2014/main" id="{81DB79D4-CD73-4A5C-963B-057666B719FB}"/>
              </a:ext>
            </a:extLst>
          </p:cNvPr>
          <p:cNvSpPr>
            <a:spLocks noGrp="1"/>
          </p:cNvSpPr>
          <p:nvPr/>
        </p:nvSpPr>
        <p:spPr>
          <a:xfrm>
            <a:off x="2647950" y="4048125"/>
            <a:ext cx="1200150" cy="228600"/>
          </a:xfrm>
          <a:prstGeom prst="rect">
            <a:avLst/>
          </a:prstGeom>
          <a:noFill/>
          <a:ln w="0">
            <a:noFill/>
            <a:prstDash val="solid"/>
          </a:ln>
        </p:spPr>
        <p:txBody>
          <a:bodyPr wrap="square" lIns="0" tIns="0" rIns="0" bIns="0" anchor="ctr">
            <a:normAutofit/>
          </a:bodyPr>
          <a:lstStyle/>
          <a:p>
            <a:pPr algn="l">
              <a:buNone/>
              <a:defRPr sz="1125" b="1">
                <a:solidFill>
                  <a:srgbClr val="9A6200"/>
                </a:solidFill>
                <a:latin typeface="Arial"/>
                <a:ea typeface="Arial"/>
                <a:cs typeface="Arial"/>
              </a:defRPr>
            </a:pPr>
            <a:r>
              <a:rPr sz="1125" b="1">
                <a:solidFill>
                  <a:srgbClr val="9A6200"/>
                </a:solidFill>
                <a:latin typeface="Arial"/>
                <a:ea typeface="Arial"/>
                <a:cs typeface="Arial"/>
              </a:rPr>
              <a:t>LEVEL 3</a:t>
            </a:r>
          </a:p>
        </p:txBody>
      </p:sp>
      <p:sp>
        <p:nvSpPr>
          <p:cNvPr id="16" name="mitocarta-level-3-label">
            <a:extLst>
              <a:ext uri="{FF2B5EF4-FFF2-40B4-BE49-F238E27FC236}">
                <a16:creationId xmlns:a16="http://schemas.microsoft.com/office/drawing/2014/main" id="{140C0801-B7C3-4D31-A665-7222FAAD0F71}"/>
              </a:ext>
            </a:extLst>
          </p:cNvPr>
          <p:cNvSpPr>
            <a:spLocks noGrp="1"/>
          </p:cNvSpPr>
          <p:nvPr/>
        </p:nvSpPr>
        <p:spPr>
          <a:xfrm>
            <a:off x="2647950" y="4352925"/>
            <a:ext cx="319468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Detailed subpathway</a:t>
            </a:r>
          </a:p>
        </p:txBody>
      </p:sp>
      <p:sp>
        <p:nvSpPr>
          <p:cNvPr id="17" name="mitocarta-level-3-example">
            <a:extLst>
              <a:ext uri="{FF2B5EF4-FFF2-40B4-BE49-F238E27FC236}">
                <a16:creationId xmlns:a16="http://schemas.microsoft.com/office/drawing/2014/main" id="{A94DF118-F7D1-4507-9C22-4CD1DDAB2A0A}"/>
              </a:ext>
            </a:extLst>
          </p:cNvPr>
          <p:cNvSpPr>
            <a:spLocks noGrp="1"/>
          </p:cNvSpPr>
          <p:nvPr/>
        </p:nvSpPr>
        <p:spPr>
          <a:xfrm>
            <a:off x="5947410" y="4210050"/>
            <a:ext cx="200596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 subunits</a:t>
            </a:r>
          </a:p>
        </p:txBody>
      </p:sp>
      <p:sp>
        <p:nvSpPr>
          <p:cNvPr id="18" name="mitocarta-level-3-count">
            <a:extLst>
              <a:ext uri="{FF2B5EF4-FFF2-40B4-BE49-F238E27FC236}">
                <a16:creationId xmlns:a16="http://schemas.microsoft.com/office/drawing/2014/main" id="{BB15147C-0D72-4962-85BB-A1B83412BA89}"/>
              </a:ext>
            </a:extLst>
          </p:cNvPr>
          <p:cNvSpPr>
            <a:spLocks noGrp="1"/>
          </p:cNvSpPr>
          <p:nvPr/>
        </p:nvSpPr>
        <p:spPr>
          <a:xfrm>
            <a:off x="8096250" y="4143375"/>
            <a:ext cx="1428750" cy="457200"/>
          </a:xfrm>
          <a:prstGeom prst="rect">
            <a:avLst/>
          </a:prstGeom>
          <a:noFill/>
          <a:ln w="0">
            <a:noFill/>
            <a:prstDash val="solid"/>
          </a:ln>
        </p:spPr>
        <p:txBody>
          <a:bodyPr wrap="square" lIns="0" tIns="0" rIns="0" bIns="0" anchor="ctr">
            <a:normAutofit/>
          </a:bodyPr>
          <a:lstStyle/>
          <a:p>
            <a:pPr algn="r">
              <a:buNone/>
              <a:defRPr sz="1725" b="1">
                <a:solidFill>
                  <a:srgbClr val="9A6200"/>
                </a:solidFill>
                <a:latin typeface="Arial"/>
                <a:ea typeface="Arial"/>
                <a:cs typeface="Arial"/>
              </a:defRPr>
            </a:pPr>
            <a:r>
              <a:rPr sz="1725" b="1">
                <a:solidFill>
                  <a:srgbClr val="9A6200"/>
                </a:solidFill>
                <a:latin typeface="Arial"/>
                <a:ea typeface="Arial"/>
                <a:cs typeface="Arial"/>
              </a:rPr>
              <a:t>103 pathways</a:t>
            </a:r>
          </a:p>
        </p:txBody>
      </p:sp>
      <p:sp>
        <p:nvSpPr>
          <p:cNvPr id="19" name="mitocarta-hierarchy-summary">
            <a:extLst>
              <a:ext uri="{FF2B5EF4-FFF2-40B4-BE49-F238E27FC236}">
                <a16:creationId xmlns:a16="http://schemas.microsoft.com/office/drawing/2014/main" id="{C106CBB7-A914-4CAA-A2D6-1E8DECF94573}"/>
              </a:ext>
            </a:extLst>
          </p:cNvPr>
          <p:cNvSpPr>
            <a:spLocks noGrp="1"/>
          </p:cNvSpPr>
          <p:nvPr/>
        </p:nvSpPr>
        <p:spPr>
          <a:xfrm>
            <a:off x="1238250" y="5362575"/>
            <a:ext cx="9715500" cy="438150"/>
          </a:xfrm>
          <a:prstGeom prst="rect">
            <a:avLst/>
          </a:prstGeom>
          <a:noFill/>
          <a:ln w="0">
            <a:noFill/>
            <a:prstDash val="solid"/>
          </a:ln>
        </p:spPr>
        <p:txBody>
          <a:bodyPr wrap="square" lIns="0" tIns="0" rIns="0" bIns="0" anchor="ctr">
            <a:normAutofit/>
          </a:bodyPr>
          <a:lstStyle/>
          <a:p>
            <a:pPr algn="ctr">
              <a:buNone/>
              <a:defRPr sz="1725" b="1">
                <a:solidFill>
                  <a:srgbClr val="0F233D"/>
                </a:solidFill>
                <a:latin typeface="Arial"/>
                <a:ea typeface="Arial"/>
                <a:cs typeface="Arial"/>
              </a:defRPr>
            </a:pPr>
            <a:r>
              <a:rPr sz="1725" b="1">
                <a:solidFill>
                  <a:srgbClr val="0F233D"/>
                </a:solidFill>
                <a:latin typeface="Arial"/>
                <a:ea typeface="Arial"/>
                <a:cs typeface="Arial"/>
              </a:rPr>
              <a:t>Levels 1 and 2 contain 46 pathways. Including Level 3 gives 149 pathways in total.</a:t>
            </a:r>
          </a:p>
        </p:txBody>
      </p:sp>
      <p:sp>
        <p:nvSpPr>
          <p:cNvPr id="20" name="mitocarta-hierarchy-note">
            <a:extLst>
              <a:ext uri="{FF2B5EF4-FFF2-40B4-BE49-F238E27FC236}">
                <a16:creationId xmlns:a16="http://schemas.microsoft.com/office/drawing/2014/main" id="{8732A8D5-E54F-4818-8258-7BB4F33E4664}"/>
              </a:ext>
            </a:extLst>
          </p:cNvPr>
          <p:cNvSpPr>
            <a:spLocks noGrp="1"/>
          </p:cNvSpPr>
          <p:nvPr/>
        </p:nvSpPr>
        <p:spPr>
          <a:xfrm>
            <a:off x="1714500" y="5915025"/>
            <a:ext cx="8763000" cy="304800"/>
          </a:xfrm>
          <a:prstGeom prst="rect">
            <a:avLst/>
          </a:prstGeom>
          <a:noFill/>
          <a:ln w="0">
            <a:noFill/>
            <a:prstDash val="solid"/>
          </a:ln>
        </p:spPr>
        <p:txBody>
          <a:bodyPr wrap="square" lIns="0" tIns="0" rIns="0" bIns="0" anchor="ctr">
            <a:normAutofit/>
          </a:bodyPr>
          <a:lstStyle/>
          <a:p>
            <a:pPr algn="ctr">
              <a:buNone/>
              <a:defRPr sz="1275" b="0">
                <a:solidFill>
                  <a:srgbClr val="4E5A68"/>
                </a:solidFill>
                <a:latin typeface="Arial"/>
                <a:ea typeface="Arial"/>
                <a:cs typeface="Arial"/>
              </a:defRPr>
            </a:pPr>
            <a:r>
              <a:rPr sz="1275" b="0">
                <a:solidFill>
                  <a:srgbClr val="4E5A68"/>
                </a:solidFill>
                <a:latin typeface="Arial"/>
                <a:ea typeface="Arial"/>
                <a:cs typeface="Arial"/>
              </a:rPr>
              <a:t>The same gene may belong to a broad pathway and one or more nested pathways.</a:t>
            </a:r>
          </a:p>
        </p:txBody>
      </p:sp>
    </p:spTree>
    <p:extLst>
      <p:ext uri="{BB962C8B-B14F-4D97-AF65-F5344CB8AC3E}">
        <p14:creationId val="2049692080"/>
      </p:ext>
    </p:extLst>
  </p:cSld>
  <p:clrMapOvr>
    <a:masterClrMapping/>
  </p:clrMapOvr>
  <p:transition/>
  <p:timing/>
</p:sld>
</file>

<file path=ppt/slides/slide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a:extLst>
              <a:ext uri="{FF2B5EF4-FFF2-40B4-BE49-F238E27FC236}">
                <a16:creationId xmlns:a16="http://schemas.microsoft.com/office/drawing/2014/main" id="{4DABE309-C9E3-48FF-A8F2-A0EF08A29372}"/>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450" b="1" i="0">
                <a:solidFill>
                  <a:srgbClr val="0F233D"/>
                </a:solidFill>
                <a:latin typeface="Arial"/>
                <a:ea typeface="Arial"/>
                <a:cs typeface="Arial"/>
              </a:rPr>
              <a:t>What is a contrast</a:t>
            </a:r>
          </a:p>
        </p:txBody>
      </p:sp>
      <p:sp>
        <p:nvSpPr>
          <p:cNvPr id="3" name="TextBox 2">
            <a:extLst>
              <a:ext uri="{FF2B5EF4-FFF2-40B4-BE49-F238E27FC236}">
                <a16:creationId xmlns:a16="http://schemas.microsoft.com/office/drawing/2014/main" id="{AFCB9572-86B4-40FF-8174-14DE2FC5F595}"/>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20" b="0" i="0">
                <a:solidFill>
                  <a:srgbClr val="4E5A68"/>
                </a:solidFill>
                <a:latin typeface="Arial"/>
                <a:ea typeface="Arial"/>
                <a:cs typeface="Arial"/>
              </a:rPr>
              <a:t>Fine cell type × sex × APOE defines the contrast; broad-cell aggregation happens after KDA calls.</a:t>
            </a:r>
          </a:p>
        </p:txBody>
      </p:sp>
      <p:sp>
        <p:nvSpPr>
          <p:cNvPr id="4" name="Rounded Rectangle 3">
            <a:extLst>
              <a:ext uri="{FF2B5EF4-FFF2-40B4-BE49-F238E27FC236}">
                <a16:creationId xmlns:a16="http://schemas.microsoft.com/office/drawing/2014/main" id="{783C0F05-8BCC-4C1E-99DB-9C95EA400582}"/>
              </a:ext>
            </a:extLst>
          </p:cNvPr>
          <p:cNvSpPr>
            <a:spLocks noGrp="1"/>
          </p:cNvSpPr>
          <p:nvPr/>
        </p:nvSpPr>
        <p:spPr>
          <a:xfrm>
            <a:off x="603504" y="1261872"/>
            <a:ext cx="2157984" cy="841248"/>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2042E1-1881-4A0D-A856-6BD035FB9B6E}"/>
              </a:ext>
            </a:extLst>
          </p:cNvPr>
          <p:cNvSpPr>
            <a:spLocks noGrp="1"/>
          </p:cNvSpPr>
          <p:nvPr/>
        </p:nvSpPr>
        <p:spPr>
          <a:xfrm>
            <a:off x="713232" y="1417320"/>
            <a:ext cx="694944" cy="3840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300" b="1" i="0">
                <a:solidFill>
                  <a:srgbClr val="0072B2"/>
                </a:solidFill>
                <a:latin typeface="Arial"/>
                <a:ea typeface="Arial"/>
                <a:cs typeface="Arial"/>
              </a:rPr>
              <a:t>N</a:t>
            </a:r>
          </a:p>
        </p:txBody>
      </p:sp>
      <p:sp>
        <p:nvSpPr>
          <p:cNvPr id="6" name="TextBox 5">
            <a:extLst>
              <a:ext uri="{FF2B5EF4-FFF2-40B4-BE49-F238E27FC236}">
                <a16:creationId xmlns:a16="http://schemas.microsoft.com/office/drawing/2014/main" id="{4CA06EC8-5501-4A49-8CF5-CF9C879F44D2}"/>
              </a:ext>
            </a:extLst>
          </p:cNvPr>
          <p:cNvSpPr>
            <a:spLocks noGrp="1"/>
          </p:cNvSpPr>
          <p:nvPr/>
        </p:nvSpPr>
        <p:spPr>
          <a:xfrm>
            <a:off x="1463040" y="1463040"/>
            <a:ext cx="1188719" cy="274320"/>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060" b="1" i="0">
                <a:solidFill>
                  <a:srgbClr val="0F233D"/>
                </a:solidFill>
                <a:latin typeface="Arial"/>
                <a:ea typeface="Arial"/>
                <a:cs typeface="Arial"/>
              </a:rPr>
              <a:t>fine cell types</a:t>
            </a:r>
          </a:p>
        </p:txBody>
      </p:sp>
      <p:sp>
        <p:nvSpPr>
          <p:cNvPr id="7" name="TextBox 6">
            <a:extLst>
              <a:ext uri="{FF2B5EF4-FFF2-40B4-BE49-F238E27FC236}">
                <a16:creationId xmlns:a16="http://schemas.microsoft.com/office/drawing/2014/main" id="{C2A22B25-B9D1-4F1E-B499-772695760BDA}"/>
              </a:ext>
            </a:extLst>
          </p:cNvPr>
          <p:cNvSpPr>
            <a:spLocks noGrp="1"/>
          </p:cNvSpPr>
          <p:nvPr/>
        </p:nvSpPr>
        <p:spPr>
          <a:xfrm>
            <a:off x="2852928" y="1490472"/>
            <a:ext cx="365760" cy="310896"/>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900" b="1" i="0">
                <a:solidFill>
                  <a:srgbClr val="4E5A68"/>
                </a:solidFill>
                <a:latin typeface="Arial"/>
                <a:ea typeface="Arial"/>
                <a:cs typeface="Arial"/>
              </a:rPr>
              <a:t>×</a:t>
            </a:r>
          </a:p>
        </p:txBody>
      </p:sp>
      <p:sp>
        <p:nvSpPr>
          <p:cNvPr id="8" name="Rounded Rectangle 7">
            <a:extLst>
              <a:ext uri="{FF2B5EF4-FFF2-40B4-BE49-F238E27FC236}">
                <a16:creationId xmlns:a16="http://schemas.microsoft.com/office/drawing/2014/main" id="{D2148A89-00B9-4DD8-B7DF-A655AEBC4A4E}"/>
              </a:ext>
            </a:extLst>
          </p:cNvPr>
          <p:cNvSpPr>
            <a:spLocks noGrp="1"/>
          </p:cNvSpPr>
          <p:nvPr/>
        </p:nvSpPr>
        <p:spPr>
          <a:xfrm>
            <a:off x="3310128" y="1261872"/>
            <a:ext cx="1975104" cy="84124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2D9BD53-74AD-440A-877E-734044EEC58A}"/>
              </a:ext>
            </a:extLst>
          </p:cNvPr>
          <p:cNvSpPr>
            <a:spLocks noGrp="1"/>
          </p:cNvSpPr>
          <p:nvPr/>
        </p:nvSpPr>
        <p:spPr>
          <a:xfrm>
            <a:off x="3419856" y="1417320"/>
            <a:ext cx="694944" cy="3840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300" b="1" i="0">
                <a:solidFill>
                  <a:srgbClr val="00684D"/>
                </a:solidFill>
                <a:latin typeface="Arial"/>
                <a:ea typeface="Arial"/>
                <a:cs typeface="Arial"/>
              </a:rPr>
              <a:t>2</a:t>
            </a:r>
          </a:p>
        </p:txBody>
      </p:sp>
      <p:sp>
        <p:nvSpPr>
          <p:cNvPr id="10" name="TextBox 9">
            <a:extLst>
              <a:ext uri="{FF2B5EF4-FFF2-40B4-BE49-F238E27FC236}">
                <a16:creationId xmlns:a16="http://schemas.microsoft.com/office/drawing/2014/main" id="{A8D6D415-6CCA-4784-A9AD-1A28B381EBFB}"/>
              </a:ext>
            </a:extLst>
          </p:cNvPr>
          <p:cNvSpPr>
            <a:spLocks noGrp="1"/>
          </p:cNvSpPr>
          <p:nvPr/>
        </p:nvSpPr>
        <p:spPr>
          <a:xfrm>
            <a:off x="4169664" y="1463040"/>
            <a:ext cx="1005840" cy="274320"/>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060" b="1" i="0">
                <a:solidFill>
                  <a:srgbClr val="0F233D"/>
                </a:solidFill>
                <a:latin typeface="Arial"/>
                <a:ea typeface="Arial"/>
                <a:cs typeface="Arial"/>
              </a:rPr>
              <a:t>sexes</a:t>
            </a:r>
          </a:p>
        </p:txBody>
      </p:sp>
      <p:sp>
        <p:nvSpPr>
          <p:cNvPr id="11" name="TextBox 10">
            <a:extLst>
              <a:ext uri="{FF2B5EF4-FFF2-40B4-BE49-F238E27FC236}">
                <a16:creationId xmlns:a16="http://schemas.microsoft.com/office/drawing/2014/main" id="{82807640-81E0-4A92-92A6-EBB7277467DE}"/>
              </a:ext>
            </a:extLst>
          </p:cNvPr>
          <p:cNvSpPr>
            <a:spLocks noGrp="1"/>
          </p:cNvSpPr>
          <p:nvPr/>
        </p:nvSpPr>
        <p:spPr>
          <a:xfrm>
            <a:off x="5376672" y="1490472"/>
            <a:ext cx="365760" cy="310896"/>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900" b="1" i="0">
                <a:solidFill>
                  <a:srgbClr val="4E5A68"/>
                </a:solidFill>
                <a:latin typeface="Arial"/>
                <a:ea typeface="Arial"/>
                <a:cs typeface="Arial"/>
              </a:rPr>
              <a:t>×</a:t>
            </a:r>
          </a:p>
        </p:txBody>
      </p:sp>
      <p:sp>
        <p:nvSpPr>
          <p:cNvPr id="12" name="Rounded Rectangle 11">
            <a:extLst>
              <a:ext uri="{FF2B5EF4-FFF2-40B4-BE49-F238E27FC236}">
                <a16:creationId xmlns:a16="http://schemas.microsoft.com/office/drawing/2014/main" id="{5C1612BB-C0AB-4676-B620-7CFBF03B12A0}"/>
              </a:ext>
            </a:extLst>
          </p:cNvPr>
          <p:cNvSpPr>
            <a:spLocks noGrp="1"/>
          </p:cNvSpPr>
          <p:nvPr/>
        </p:nvSpPr>
        <p:spPr>
          <a:xfrm>
            <a:off x="5833872" y="1261872"/>
            <a:ext cx="2157984" cy="841248"/>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92F8939-D400-412A-94EF-7BC0FF1FB9B1}"/>
              </a:ext>
            </a:extLst>
          </p:cNvPr>
          <p:cNvSpPr>
            <a:spLocks noGrp="1"/>
          </p:cNvSpPr>
          <p:nvPr/>
        </p:nvSpPr>
        <p:spPr>
          <a:xfrm>
            <a:off x="5943600" y="1417320"/>
            <a:ext cx="694944" cy="3840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300" b="1" i="0">
                <a:solidFill>
                  <a:srgbClr val="895600"/>
                </a:solidFill>
                <a:latin typeface="Arial"/>
                <a:ea typeface="Arial"/>
                <a:cs typeface="Arial"/>
              </a:rPr>
              <a:t>3</a:t>
            </a:r>
          </a:p>
        </p:txBody>
      </p:sp>
      <p:sp>
        <p:nvSpPr>
          <p:cNvPr id="14" name="TextBox 13">
            <a:extLst>
              <a:ext uri="{FF2B5EF4-FFF2-40B4-BE49-F238E27FC236}">
                <a16:creationId xmlns:a16="http://schemas.microsoft.com/office/drawing/2014/main" id="{CD39BEE1-7B75-4AC0-B404-2BC9A78F8411}"/>
              </a:ext>
            </a:extLst>
          </p:cNvPr>
          <p:cNvSpPr>
            <a:spLocks noGrp="1"/>
          </p:cNvSpPr>
          <p:nvPr/>
        </p:nvSpPr>
        <p:spPr>
          <a:xfrm>
            <a:off x="6693408" y="1463040"/>
            <a:ext cx="1188719" cy="274320"/>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060" b="1" i="0">
                <a:solidFill>
                  <a:srgbClr val="0F233D"/>
                </a:solidFill>
                <a:latin typeface="Arial"/>
                <a:ea typeface="Arial"/>
                <a:cs typeface="Arial"/>
              </a:rPr>
              <a:t>APOE groups</a:t>
            </a:r>
          </a:p>
        </p:txBody>
      </p:sp>
      <p:sp>
        <p:nvSpPr>
          <p:cNvPr id="15" name="TextBox 14">
            <a:extLst>
              <a:ext uri="{FF2B5EF4-FFF2-40B4-BE49-F238E27FC236}">
                <a16:creationId xmlns:a16="http://schemas.microsoft.com/office/drawing/2014/main" id="{0F149D61-E0B1-43EA-9C60-5C83750A956E}"/>
              </a:ext>
            </a:extLst>
          </p:cNvPr>
          <p:cNvSpPr>
            <a:spLocks noGrp="1"/>
          </p:cNvSpPr>
          <p:nvPr/>
        </p:nvSpPr>
        <p:spPr>
          <a:xfrm>
            <a:off x="8083296" y="1490472"/>
            <a:ext cx="365760" cy="310896"/>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900" b="1" i="0">
                <a:solidFill>
                  <a:srgbClr val="4E5A68"/>
                </a:solidFill>
                <a:latin typeface="Arial"/>
                <a:ea typeface="Arial"/>
                <a:cs typeface="Arial"/>
              </a:rPr>
              <a:t>=</a:t>
            </a:r>
          </a:p>
        </p:txBody>
      </p:sp>
      <p:sp>
        <p:nvSpPr>
          <p:cNvPr id="16" name="Rounded Rectangle 15">
            <a:extLst>
              <a:ext uri="{FF2B5EF4-FFF2-40B4-BE49-F238E27FC236}">
                <a16:creationId xmlns:a16="http://schemas.microsoft.com/office/drawing/2014/main" id="{295304B1-6E48-4817-80DA-93860307ABB8}"/>
              </a:ext>
            </a:extLst>
          </p:cNvPr>
          <p:cNvSpPr>
            <a:spLocks noGrp="1"/>
          </p:cNvSpPr>
          <p:nvPr/>
        </p:nvSpPr>
        <p:spPr>
          <a:xfrm>
            <a:off x="8540496" y="1261872"/>
            <a:ext cx="3044952" cy="841248"/>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01C2CFF-53CF-4D76-A412-6C11E2CA0186}"/>
              </a:ext>
            </a:extLst>
          </p:cNvPr>
          <p:cNvSpPr>
            <a:spLocks noGrp="1"/>
          </p:cNvSpPr>
          <p:nvPr/>
        </p:nvSpPr>
        <p:spPr>
          <a:xfrm>
            <a:off x="8650224" y="1417320"/>
            <a:ext cx="694944" cy="3840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300" b="1" i="0">
                <a:solidFill>
                  <a:srgbClr val="9E3A00"/>
                </a:solidFill>
                <a:latin typeface="Arial"/>
                <a:ea typeface="Arial"/>
                <a:cs typeface="Arial"/>
              </a:rPr>
              <a:t>6N</a:t>
            </a:r>
          </a:p>
        </p:txBody>
      </p:sp>
      <p:sp>
        <p:nvSpPr>
          <p:cNvPr id="18" name="TextBox 17">
            <a:extLst>
              <a:ext uri="{FF2B5EF4-FFF2-40B4-BE49-F238E27FC236}">
                <a16:creationId xmlns:a16="http://schemas.microsoft.com/office/drawing/2014/main" id="{A7BD88E4-29E5-4E20-9001-225028ABFB98}"/>
              </a:ext>
            </a:extLst>
          </p:cNvPr>
          <p:cNvSpPr>
            <a:spLocks noGrp="1"/>
          </p:cNvSpPr>
          <p:nvPr/>
        </p:nvSpPr>
        <p:spPr>
          <a:xfrm>
            <a:off x="9400032" y="1463040"/>
            <a:ext cx="2075688" cy="274320"/>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060" b="1" i="0">
                <a:solidFill>
                  <a:srgbClr val="0F233D"/>
                </a:solidFill>
                <a:latin typeface="Arial"/>
                <a:ea typeface="Arial"/>
                <a:cs typeface="Arial"/>
              </a:rPr>
              <a:t>planned contrasts</a:t>
            </a:r>
          </a:p>
        </p:txBody>
      </p:sp>
      <p:sp>
        <p:nvSpPr>
          <p:cNvPr id="19" name="TextBox 18">
            <a:extLst>
              <a:ext uri="{FF2B5EF4-FFF2-40B4-BE49-F238E27FC236}">
                <a16:creationId xmlns:a16="http://schemas.microsoft.com/office/drawing/2014/main" id="{C9776B47-05AA-4A96-8279-73A57EE15FFF}"/>
              </a:ext>
            </a:extLst>
          </p:cNvPr>
          <p:cNvSpPr>
            <a:spLocks noGrp="1"/>
          </p:cNvSpPr>
          <p:nvPr/>
        </p:nvSpPr>
        <p:spPr>
          <a:xfrm>
            <a:off x="621792" y="2212848"/>
            <a:ext cx="10954512" cy="332399"/>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b="1" i="0">
                <a:solidFill>
                  <a:srgbClr val="7E4C9A"/>
                </a:solidFill>
                <a:latin typeface="Arial"/>
                <a:ea typeface="Arial"/>
                <a:cs typeface="Arial"/>
              </a:rPr>
              <a:t>ROSMAP example: 54 fine cell types × 2 sexes × 3 APOE groups = 324 planned contrasts</a:t>
            </a:r>
          </a:p>
        </p:txBody>
      </p:sp>
      <p:sp>
        <p:nvSpPr>
          <p:cNvPr id="20" name="Rounded Rectangle 19">
            <a:extLst>
              <a:ext uri="{FF2B5EF4-FFF2-40B4-BE49-F238E27FC236}">
                <a16:creationId xmlns:a16="http://schemas.microsoft.com/office/drawing/2014/main" id="{EADAEADC-96D3-4FD9-84AB-CD1B9DCD3675}"/>
              </a:ext>
            </a:extLst>
          </p:cNvPr>
          <p:cNvSpPr>
            <a:spLocks noGrp="1"/>
          </p:cNvSpPr>
          <p:nvPr/>
        </p:nvSpPr>
        <p:spPr>
          <a:xfrm>
            <a:off x="603504" y="2703142"/>
            <a:ext cx="5422392" cy="321868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48DB1D99-3E39-4EE8-81B1-E579A7B0AB7D}"/>
              </a:ext>
            </a:extLst>
          </p:cNvPr>
          <p:cNvSpPr>
            <a:spLocks noGrp="1"/>
          </p:cNvSpPr>
          <p:nvPr/>
        </p:nvSpPr>
        <p:spPr>
          <a:xfrm>
            <a:off x="877824" y="298660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558DA8C8-935B-45B6-B3E0-C2E00D6AF0EF}"/>
              </a:ext>
            </a:extLst>
          </p:cNvPr>
          <p:cNvSpPr>
            <a:spLocks noGrp="1"/>
          </p:cNvSpPr>
          <p:nvPr/>
        </p:nvSpPr>
        <p:spPr>
          <a:xfrm>
            <a:off x="1024126" y="2959174"/>
            <a:ext cx="4855465" cy="51816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520" b="1" i="0">
                <a:solidFill>
                  <a:srgbClr val="0F233D"/>
                </a:solidFill>
                <a:latin typeface="Arial"/>
                <a:ea typeface="Arial"/>
                <a:cs typeface="Arial"/>
              </a:rPr>
              <a:t>One contrast → run DEG → Make KDA calls (at most one)</a:t>
            </a:r>
          </a:p>
        </p:txBody>
      </p:sp>
      <p:sp>
        <p:nvSpPr>
          <p:cNvPr id="23" name="Rounded Rectangle 22">
            <a:extLst>
              <a:ext uri="{FF2B5EF4-FFF2-40B4-BE49-F238E27FC236}">
                <a16:creationId xmlns:a16="http://schemas.microsoft.com/office/drawing/2014/main" id="{C4B88BEE-3638-4BD9-9B63-6CC149E79E1B}"/>
              </a:ext>
            </a:extLst>
          </p:cNvPr>
          <p:cNvSpPr>
            <a:spLocks noGrp="1"/>
          </p:cNvSpPr>
          <p:nvPr/>
        </p:nvSpPr>
        <p:spPr>
          <a:xfrm>
            <a:off x="896112" y="343466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C3149286-B7B6-4FDD-B244-1D2656E7D904}"/>
              </a:ext>
            </a:extLst>
          </p:cNvPr>
          <p:cNvSpPr>
            <a:spLocks noGrp="1"/>
          </p:cNvSpPr>
          <p:nvPr/>
        </p:nvSpPr>
        <p:spPr>
          <a:xfrm>
            <a:off x="932688" y="3507814"/>
            <a:ext cx="310896" cy="182880"/>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19" b="1" i="0">
                <a:solidFill>
                  <a:srgbClr val="FFFFFF"/>
                </a:solidFill>
                <a:latin typeface="Arial"/>
                <a:ea typeface="Arial"/>
                <a:cs typeface="Arial"/>
              </a:rPr>
              <a:t>1</a:t>
            </a:r>
          </a:p>
        </p:txBody>
      </p:sp>
      <p:sp>
        <p:nvSpPr>
          <p:cNvPr id="25" name="TextBox 24">
            <a:extLst>
              <a:ext uri="{FF2B5EF4-FFF2-40B4-BE49-F238E27FC236}">
                <a16:creationId xmlns:a16="http://schemas.microsoft.com/office/drawing/2014/main" id="{D0B71D92-1D0F-424C-A9F0-0E2D9A5DB977}"/>
              </a:ext>
            </a:extLst>
          </p:cNvPr>
          <p:cNvSpPr>
            <a:spLocks noGrp="1"/>
          </p:cNvSpPr>
          <p:nvPr/>
        </p:nvSpPr>
        <p:spPr>
          <a:xfrm>
            <a:off x="1426464" y="3425518"/>
            <a:ext cx="4315968" cy="2468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20" b="1" i="0">
                <a:solidFill>
                  <a:srgbClr val="0F233D"/>
                </a:solidFill>
                <a:latin typeface="Arial"/>
                <a:ea typeface="Arial"/>
                <a:cs typeface="Arial"/>
              </a:rPr>
              <a:t>Define one AD-versus-NCI comparison</a:t>
            </a:r>
          </a:p>
        </p:txBody>
      </p:sp>
      <p:sp>
        <p:nvSpPr>
          <p:cNvPr id="26" name="TextBox 25">
            <a:extLst>
              <a:ext uri="{FF2B5EF4-FFF2-40B4-BE49-F238E27FC236}">
                <a16:creationId xmlns:a16="http://schemas.microsoft.com/office/drawing/2014/main" id="{8C70D56D-0CCD-495E-8997-2A5B133C8488}"/>
              </a:ext>
            </a:extLst>
          </p:cNvPr>
          <p:cNvSpPr>
            <a:spLocks noGrp="1"/>
          </p:cNvSpPr>
          <p:nvPr/>
        </p:nvSpPr>
        <p:spPr>
          <a:xfrm>
            <a:off x="1426464" y="3690694"/>
            <a:ext cx="4315968" cy="38404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69" b="0" i="0">
                <a:solidFill>
                  <a:srgbClr val="4E5A68"/>
                </a:solidFill>
                <a:latin typeface="Arial"/>
                <a:ea typeface="Arial"/>
                <a:cs typeface="Arial"/>
              </a:rPr>
              <a:t>Example: Ast GRM3 × Female ε2 carrier.</a:t>
            </a:r>
          </a:p>
        </p:txBody>
      </p:sp>
      <p:sp>
        <p:nvSpPr>
          <p:cNvPr id="27" name="Rounded Rectangle 26">
            <a:extLst>
              <a:ext uri="{FF2B5EF4-FFF2-40B4-BE49-F238E27FC236}">
                <a16:creationId xmlns:a16="http://schemas.microsoft.com/office/drawing/2014/main" id="{A80F91B4-3516-4DD6-BA0D-268F93A810E7}"/>
              </a:ext>
            </a:extLst>
          </p:cNvPr>
          <p:cNvSpPr>
            <a:spLocks noGrp="1"/>
          </p:cNvSpPr>
          <p:nvPr/>
        </p:nvSpPr>
        <p:spPr>
          <a:xfrm>
            <a:off x="896112" y="416618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EF04FE43-13D6-484A-B039-B372042A2829}"/>
              </a:ext>
            </a:extLst>
          </p:cNvPr>
          <p:cNvSpPr>
            <a:spLocks noGrp="1"/>
          </p:cNvSpPr>
          <p:nvPr/>
        </p:nvSpPr>
        <p:spPr>
          <a:xfrm>
            <a:off x="932688" y="4239334"/>
            <a:ext cx="310896" cy="182880"/>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19" b="1" i="0">
                <a:solidFill>
                  <a:srgbClr val="FFFFFF"/>
                </a:solidFill>
                <a:latin typeface="Arial"/>
                <a:ea typeface="Arial"/>
                <a:cs typeface="Arial"/>
              </a:rPr>
              <a:t>2</a:t>
            </a:r>
          </a:p>
        </p:txBody>
      </p:sp>
      <p:sp>
        <p:nvSpPr>
          <p:cNvPr id="29" name="TextBox 28">
            <a:extLst>
              <a:ext uri="{FF2B5EF4-FFF2-40B4-BE49-F238E27FC236}">
                <a16:creationId xmlns:a16="http://schemas.microsoft.com/office/drawing/2014/main" id="{5736C7D4-2035-4552-92AF-07B779DE35AF}"/>
              </a:ext>
            </a:extLst>
          </p:cNvPr>
          <p:cNvSpPr>
            <a:spLocks noGrp="1"/>
          </p:cNvSpPr>
          <p:nvPr/>
        </p:nvSpPr>
        <p:spPr>
          <a:xfrm>
            <a:off x="1426464" y="4157038"/>
            <a:ext cx="4315968" cy="2468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20" b="1" i="0">
                <a:solidFill>
                  <a:srgbClr val="0F233D"/>
                </a:solidFill>
                <a:latin typeface="Arial"/>
                <a:ea typeface="Arial"/>
                <a:cs typeface="Arial"/>
              </a:rPr>
              <a:t>Remove invalid contrasts</a:t>
            </a:r>
          </a:p>
        </p:txBody>
      </p:sp>
      <p:sp>
        <p:nvSpPr>
          <p:cNvPr id="30" name="TextBox 29">
            <a:extLst>
              <a:ext uri="{FF2B5EF4-FFF2-40B4-BE49-F238E27FC236}">
                <a16:creationId xmlns:a16="http://schemas.microsoft.com/office/drawing/2014/main" id="{6171DA4D-EC31-46B8-8933-8FDBEF20E69D}"/>
              </a:ext>
            </a:extLst>
          </p:cNvPr>
          <p:cNvSpPr>
            <a:spLocks noGrp="1"/>
          </p:cNvSpPr>
          <p:nvPr/>
        </p:nvSpPr>
        <p:spPr>
          <a:xfrm>
            <a:off x="1426464" y="4422214"/>
            <a:ext cx="4315968" cy="38404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69" b="0" i="0">
                <a:solidFill>
                  <a:srgbClr val="4E5A68"/>
                </a:solidFill>
                <a:latin typeface="Arial"/>
                <a:ea typeface="Arial"/>
                <a:cs typeface="Arial"/>
              </a:rPr>
              <a:t>Remove source-invalid contrasts; among valid contrasts, only mapped MitoCarta MT queries with ≥3 genes proceed.</a:t>
            </a:r>
          </a:p>
        </p:txBody>
      </p:sp>
      <p:sp>
        <p:nvSpPr>
          <p:cNvPr id="31" name="Rounded Rectangle 30">
            <a:extLst>
              <a:ext uri="{FF2B5EF4-FFF2-40B4-BE49-F238E27FC236}">
                <a16:creationId xmlns:a16="http://schemas.microsoft.com/office/drawing/2014/main" id="{E2E97212-C405-4666-A760-5F666393EB7A}"/>
              </a:ext>
            </a:extLst>
          </p:cNvPr>
          <p:cNvSpPr>
            <a:spLocks noGrp="1"/>
          </p:cNvSpPr>
          <p:nvPr/>
        </p:nvSpPr>
        <p:spPr>
          <a:xfrm>
            <a:off x="896112" y="489770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5B0274D2-88AD-45E6-978C-FAF32FE11228}"/>
              </a:ext>
            </a:extLst>
          </p:cNvPr>
          <p:cNvSpPr>
            <a:spLocks noGrp="1"/>
          </p:cNvSpPr>
          <p:nvPr/>
        </p:nvSpPr>
        <p:spPr>
          <a:xfrm>
            <a:off x="932688" y="4970854"/>
            <a:ext cx="310896" cy="182880"/>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19" b="1" i="0">
                <a:solidFill>
                  <a:srgbClr val="FFFFFF"/>
                </a:solidFill>
                <a:latin typeface="Arial"/>
                <a:ea typeface="Arial"/>
                <a:cs typeface="Arial"/>
              </a:rPr>
              <a:t>3</a:t>
            </a:r>
          </a:p>
        </p:txBody>
      </p:sp>
      <p:sp>
        <p:nvSpPr>
          <p:cNvPr id="33" name="TextBox 32">
            <a:extLst>
              <a:ext uri="{FF2B5EF4-FFF2-40B4-BE49-F238E27FC236}">
                <a16:creationId xmlns:a16="http://schemas.microsoft.com/office/drawing/2014/main" id="{B07195D3-0AF3-4C79-B939-C94D6B45091D}"/>
              </a:ext>
            </a:extLst>
          </p:cNvPr>
          <p:cNvSpPr>
            <a:spLocks noGrp="1"/>
          </p:cNvSpPr>
          <p:nvPr/>
        </p:nvSpPr>
        <p:spPr>
          <a:xfrm>
            <a:off x="1426464" y="4888558"/>
            <a:ext cx="4315968" cy="2468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20" b="1" i="0">
                <a:solidFill>
                  <a:srgbClr val="0F233D"/>
                </a:solidFill>
                <a:latin typeface="Arial"/>
                <a:ea typeface="Arial"/>
                <a:cs typeface="Arial"/>
              </a:rPr>
              <a:t>Make KDA calls</a:t>
            </a:r>
          </a:p>
        </p:txBody>
      </p:sp>
      <p:sp>
        <p:nvSpPr>
          <p:cNvPr id="34" name="TextBox 33">
            <a:extLst>
              <a:ext uri="{FF2B5EF4-FFF2-40B4-BE49-F238E27FC236}">
                <a16:creationId xmlns:a16="http://schemas.microsoft.com/office/drawing/2014/main" id="{85E39F14-A8C0-4769-87B1-B058A6B2CA46}"/>
              </a:ext>
            </a:extLst>
          </p:cNvPr>
          <p:cNvSpPr>
            <a:spLocks noGrp="1"/>
          </p:cNvSpPr>
          <p:nvPr/>
        </p:nvSpPr>
        <p:spPr>
          <a:xfrm>
            <a:off x="1426464" y="5153734"/>
            <a:ext cx="4315968" cy="38404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69" b="0" i="0">
                <a:solidFill>
                  <a:srgbClr val="4E5A68"/>
                </a:solidFill>
                <a:latin typeface="Arial"/>
                <a:ea typeface="Arial"/>
                <a:cs typeface="Arial"/>
              </a:rPr>
              <a:t>Output: genes returned from the KDA call for that contrast.</a:t>
            </a:r>
          </a:p>
        </p:txBody>
      </p:sp>
      <p:sp>
        <p:nvSpPr>
          <p:cNvPr id="35" name="Rounded Rectangle 34">
            <a:extLst>
              <a:ext uri="{FF2B5EF4-FFF2-40B4-BE49-F238E27FC236}">
                <a16:creationId xmlns:a16="http://schemas.microsoft.com/office/drawing/2014/main" id="{FD51EC53-17DF-4D40-80D7-2125471ACD26}"/>
              </a:ext>
            </a:extLst>
          </p:cNvPr>
          <p:cNvSpPr>
            <a:spLocks noGrp="1"/>
          </p:cNvSpPr>
          <p:nvPr/>
        </p:nvSpPr>
        <p:spPr>
          <a:xfrm>
            <a:off x="896112" y="5537782"/>
            <a:ext cx="4828032" cy="25603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74DE4D49-467D-4B7D-9F80-30601359881A}"/>
              </a:ext>
            </a:extLst>
          </p:cNvPr>
          <p:cNvSpPr>
            <a:spLocks noGrp="1"/>
          </p:cNvSpPr>
          <p:nvPr/>
        </p:nvSpPr>
        <p:spPr>
          <a:xfrm>
            <a:off x="1005840" y="5592646"/>
            <a:ext cx="4608576" cy="146304"/>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940" b="1" i="0">
                <a:solidFill>
                  <a:srgbClr val="0F233D"/>
                </a:solidFill>
                <a:latin typeface="Arial"/>
                <a:ea typeface="Arial"/>
                <a:cs typeface="Arial"/>
              </a:rPr>
              <a:t>Each gene can appear at most once in one contrast's returned list.</a:t>
            </a:r>
          </a:p>
        </p:txBody>
      </p:sp>
      <p:sp>
        <p:nvSpPr>
          <p:cNvPr id="37" name="Rounded Rectangle 36">
            <a:extLst>
              <a:ext uri="{FF2B5EF4-FFF2-40B4-BE49-F238E27FC236}">
                <a16:creationId xmlns:a16="http://schemas.microsoft.com/office/drawing/2014/main" id="{7D7384FB-D376-4FA3-8A4E-91DC64A3556D}"/>
              </a:ext>
            </a:extLst>
          </p:cNvPr>
          <p:cNvSpPr>
            <a:spLocks noGrp="1"/>
          </p:cNvSpPr>
          <p:nvPr/>
        </p:nvSpPr>
        <p:spPr>
          <a:xfrm>
            <a:off x="6172200" y="2703142"/>
            <a:ext cx="5413248" cy="321868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Rectangle 37">
            <a:extLst>
              <a:ext uri="{FF2B5EF4-FFF2-40B4-BE49-F238E27FC236}">
                <a16:creationId xmlns:a16="http://schemas.microsoft.com/office/drawing/2014/main" id="{D3C55418-6D23-4352-AAEC-A0063E0B35DA}"/>
              </a:ext>
            </a:extLst>
          </p:cNvPr>
          <p:cNvSpPr>
            <a:spLocks noGrp="1"/>
          </p:cNvSpPr>
          <p:nvPr/>
        </p:nvSpPr>
        <p:spPr>
          <a:xfrm>
            <a:off x="6446520" y="2986606"/>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212F5AD5-3BB0-487B-A4D6-9676B5C188F7}"/>
              </a:ext>
            </a:extLst>
          </p:cNvPr>
          <p:cNvSpPr>
            <a:spLocks noGrp="1"/>
          </p:cNvSpPr>
          <p:nvPr/>
        </p:nvSpPr>
        <p:spPr>
          <a:xfrm>
            <a:off x="6592824" y="2959174"/>
            <a:ext cx="4700016" cy="32918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520" b="1" i="0">
                <a:solidFill>
                  <a:srgbClr val="0F233D"/>
                </a:solidFill>
                <a:latin typeface="Arial"/>
                <a:ea typeface="Arial"/>
                <a:cs typeface="Arial"/>
              </a:rPr>
              <a:t>Multiple fine-cell contrasts → one category</a:t>
            </a:r>
          </a:p>
        </p:txBody>
      </p:sp>
      <p:sp>
        <p:nvSpPr>
          <p:cNvPr id="40" name="Rounded Rectangle 39">
            <a:extLst>
              <a:ext uri="{FF2B5EF4-FFF2-40B4-BE49-F238E27FC236}">
                <a16:creationId xmlns:a16="http://schemas.microsoft.com/office/drawing/2014/main" id="{C833B54A-2A24-40FC-A71E-FBA7A97EE97B}"/>
              </a:ext>
            </a:extLst>
          </p:cNvPr>
          <p:cNvSpPr>
            <a:spLocks noGrp="1"/>
          </p:cNvSpPr>
          <p:nvPr/>
        </p:nvSpPr>
        <p:spPr>
          <a:xfrm>
            <a:off x="6455664" y="3471238"/>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0248288B-D890-462D-85C6-E307A88B9A36}"/>
              </a:ext>
            </a:extLst>
          </p:cNvPr>
          <p:cNvSpPr>
            <a:spLocks noGrp="1"/>
          </p:cNvSpPr>
          <p:nvPr/>
        </p:nvSpPr>
        <p:spPr>
          <a:xfrm>
            <a:off x="6547104" y="3553534"/>
            <a:ext cx="932688" cy="16459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910" b="1" i="0">
                <a:solidFill>
                  <a:srgbClr val="4E5A68"/>
                </a:solidFill>
                <a:latin typeface="Arial"/>
                <a:ea typeface="Arial"/>
                <a:cs typeface="Arial"/>
              </a:rPr>
              <a:t>Fine type A</a:t>
            </a:r>
          </a:p>
        </p:txBody>
      </p:sp>
      <p:sp>
        <p:nvSpPr>
          <p:cNvPr id="42" name="TextBox 41">
            <a:extLst>
              <a:ext uri="{FF2B5EF4-FFF2-40B4-BE49-F238E27FC236}">
                <a16:creationId xmlns:a16="http://schemas.microsoft.com/office/drawing/2014/main" id="{4AFBD91A-E125-4874-80EF-554CA4E0D1D5}"/>
              </a:ext>
            </a:extLst>
          </p:cNvPr>
          <p:cNvSpPr>
            <a:spLocks noGrp="1"/>
          </p:cNvSpPr>
          <p:nvPr/>
        </p:nvSpPr>
        <p:spPr>
          <a:xfrm>
            <a:off x="7772400" y="3544390"/>
            <a:ext cx="3328416" cy="182880"/>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969" b="0" i="0">
                <a:solidFill>
                  <a:srgbClr val="1F2730"/>
                </a:solidFill>
                <a:latin typeface="Arial"/>
                <a:ea typeface="Arial"/>
                <a:cs typeface="Arial"/>
              </a:rPr>
              <a:t>Gene X returned · adjusted P₁</a:t>
            </a:r>
          </a:p>
        </p:txBody>
      </p:sp>
      <p:sp>
        <p:nvSpPr>
          <p:cNvPr id="43" name="Rounded Rectangle 42">
            <a:extLst>
              <a:ext uri="{FF2B5EF4-FFF2-40B4-BE49-F238E27FC236}">
                <a16:creationId xmlns:a16="http://schemas.microsoft.com/office/drawing/2014/main" id="{2F568DBE-0F43-4C16-85EC-85624CD1870F}"/>
              </a:ext>
            </a:extLst>
          </p:cNvPr>
          <p:cNvSpPr>
            <a:spLocks noGrp="1"/>
          </p:cNvSpPr>
          <p:nvPr/>
        </p:nvSpPr>
        <p:spPr>
          <a:xfrm>
            <a:off x="6455664" y="3946726"/>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036E5509-D6EA-42C3-8C6F-FB5DEF3D7801}"/>
              </a:ext>
            </a:extLst>
          </p:cNvPr>
          <p:cNvSpPr>
            <a:spLocks noGrp="1"/>
          </p:cNvSpPr>
          <p:nvPr/>
        </p:nvSpPr>
        <p:spPr>
          <a:xfrm>
            <a:off x="6547104" y="4029022"/>
            <a:ext cx="932688" cy="16459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910" b="1" i="0">
                <a:solidFill>
                  <a:srgbClr val="4E5A68"/>
                </a:solidFill>
                <a:latin typeface="Arial"/>
                <a:ea typeface="Arial"/>
                <a:cs typeface="Arial"/>
              </a:rPr>
              <a:t>Fine type B</a:t>
            </a:r>
          </a:p>
        </p:txBody>
      </p:sp>
      <p:sp>
        <p:nvSpPr>
          <p:cNvPr id="45" name="TextBox 44">
            <a:extLst>
              <a:ext uri="{FF2B5EF4-FFF2-40B4-BE49-F238E27FC236}">
                <a16:creationId xmlns:a16="http://schemas.microsoft.com/office/drawing/2014/main" id="{54AF386C-455F-4CEC-B1B5-26D702D3A9A1}"/>
              </a:ext>
            </a:extLst>
          </p:cNvPr>
          <p:cNvSpPr>
            <a:spLocks noGrp="1"/>
          </p:cNvSpPr>
          <p:nvPr/>
        </p:nvSpPr>
        <p:spPr>
          <a:xfrm>
            <a:off x="7772400" y="4019878"/>
            <a:ext cx="3328416" cy="182880"/>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969" b="0" i="0">
                <a:solidFill>
                  <a:srgbClr val="1F2730"/>
                </a:solidFill>
                <a:latin typeface="Arial"/>
                <a:ea typeface="Arial"/>
                <a:cs typeface="Arial"/>
              </a:rPr>
              <a:t>Gene X returned · adjusted P₂</a:t>
            </a:r>
          </a:p>
        </p:txBody>
      </p:sp>
      <p:sp>
        <p:nvSpPr>
          <p:cNvPr id="46" name="Rounded Rectangle 45">
            <a:extLst>
              <a:ext uri="{FF2B5EF4-FFF2-40B4-BE49-F238E27FC236}">
                <a16:creationId xmlns:a16="http://schemas.microsoft.com/office/drawing/2014/main" id="{18B1D105-F4F5-499B-8D9D-146C85FFB287}"/>
              </a:ext>
            </a:extLst>
          </p:cNvPr>
          <p:cNvSpPr>
            <a:spLocks noGrp="1"/>
          </p:cNvSpPr>
          <p:nvPr/>
        </p:nvSpPr>
        <p:spPr>
          <a:xfrm>
            <a:off x="6455664" y="4422214"/>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77E25C2-27B9-44D5-A4AF-032AFFB475AF}"/>
              </a:ext>
            </a:extLst>
          </p:cNvPr>
          <p:cNvSpPr>
            <a:spLocks noGrp="1"/>
          </p:cNvSpPr>
          <p:nvPr/>
        </p:nvSpPr>
        <p:spPr>
          <a:xfrm>
            <a:off x="6547104" y="4504510"/>
            <a:ext cx="932688" cy="16459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910" b="1" i="0">
                <a:solidFill>
                  <a:srgbClr val="4E5A68"/>
                </a:solidFill>
                <a:latin typeface="Arial"/>
                <a:ea typeface="Arial"/>
                <a:cs typeface="Arial"/>
              </a:rPr>
              <a:t>Fine type C</a:t>
            </a:r>
          </a:p>
        </p:txBody>
      </p:sp>
      <p:sp>
        <p:nvSpPr>
          <p:cNvPr id="48" name="TextBox 47">
            <a:extLst>
              <a:ext uri="{FF2B5EF4-FFF2-40B4-BE49-F238E27FC236}">
                <a16:creationId xmlns:a16="http://schemas.microsoft.com/office/drawing/2014/main" id="{AC14697B-BAA4-4EB2-9A1F-CA4001B9F977}"/>
              </a:ext>
            </a:extLst>
          </p:cNvPr>
          <p:cNvSpPr>
            <a:spLocks noGrp="1"/>
          </p:cNvSpPr>
          <p:nvPr/>
        </p:nvSpPr>
        <p:spPr>
          <a:xfrm>
            <a:off x="7772400" y="4495366"/>
            <a:ext cx="3328416" cy="182880"/>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969" b="0" i="0">
                <a:solidFill>
                  <a:srgbClr val="1F2730"/>
                </a:solidFill>
                <a:latin typeface="Arial"/>
                <a:ea typeface="Arial"/>
                <a:cs typeface="Arial"/>
              </a:rPr>
              <a:t>Gene X not returned</a:t>
            </a:r>
          </a:p>
        </p:txBody>
      </p:sp>
      <p:sp>
        <p:nvSpPr>
          <p:cNvPr id="49" name="TextBox 48">
            <a:extLst>
              <a:ext uri="{FF2B5EF4-FFF2-40B4-BE49-F238E27FC236}">
                <a16:creationId xmlns:a16="http://schemas.microsoft.com/office/drawing/2014/main" id="{81D51346-4628-40F8-98C3-7606F98BEA29}"/>
              </a:ext>
            </a:extLst>
          </p:cNvPr>
          <p:cNvSpPr>
            <a:spLocks noGrp="1"/>
          </p:cNvSpPr>
          <p:nvPr/>
        </p:nvSpPr>
        <p:spPr>
          <a:xfrm>
            <a:off x="8558784" y="4842838"/>
            <a:ext cx="640080" cy="310896"/>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900" b="1" i="0">
                <a:solidFill>
                  <a:srgbClr val="895600"/>
                </a:solidFill>
                <a:latin typeface="Arial"/>
                <a:ea typeface="Arial"/>
                <a:cs typeface="Arial"/>
              </a:rPr>
              <a:t>↓</a:t>
            </a:r>
          </a:p>
        </p:txBody>
      </p:sp>
      <p:sp>
        <p:nvSpPr>
          <p:cNvPr id="50" name="Rounded Rectangle 49">
            <a:extLst>
              <a:ext uri="{FF2B5EF4-FFF2-40B4-BE49-F238E27FC236}">
                <a16:creationId xmlns:a16="http://schemas.microsoft.com/office/drawing/2014/main" id="{CF1142D9-79EE-4554-A4E0-4F56775D72D0}"/>
              </a:ext>
            </a:extLst>
          </p:cNvPr>
          <p:cNvSpPr>
            <a:spLocks noGrp="1"/>
          </p:cNvSpPr>
          <p:nvPr/>
        </p:nvSpPr>
        <p:spPr>
          <a:xfrm>
            <a:off x="6473952" y="5179861"/>
            <a:ext cx="4809744" cy="530352"/>
          </a:xfrm>
          <a:prstGeom prst="roundRect">
            <a:avLst/>
          </a:prstGeom>
          <a:solidFill>
            <a:srgbClr val="FFFFFF"/>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C42809C4-8FDF-4405-A450-1394492DD9DB}"/>
              </a:ext>
            </a:extLst>
          </p:cNvPr>
          <p:cNvSpPr>
            <a:spLocks noGrp="1"/>
          </p:cNvSpPr>
          <p:nvPr/>
        </p:nvSpPr>
        <p:spPr>
          <a:xfrm>
            <a:off x="6656832" y="5326165"/>
            <a:ext cx="4443984" cy="219456"/>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40" b="1" i="0">
                <a:solidFill>
                  <a:srgbClr val="895600"/>
                </a:solidFill>
                <a:latin typeface="Arial"/>
                <a:ea typeface="Arial"/>
                <a:cs typeface="Arial"/>
              </a:rPr>
              <a:t>Female ε2 × Astrocytes:  Gene X score = ACAT(P₁, P₂)</a:t>
            </a:r>
          </a:p>
        </p:txBody>
      </p:sp>
    </p:spTree>
    <p:extLst>
      <p:ext uri="{BB962C8B-B14F-4D97-AF65-F5344CB8AC3E}">
        <p14:creationId val="2689102260"/>
      </p:ext>
    </p:extLst>
  </p:cSld>
  <p:clrMapOvr>
    <a:masterClrMapping/>
  </p:clrMapOvr>
  <p:transition/>
  <p:timing/>
</p:sld>
</file>

<file path=ppt/slides/slide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a:extLst>
              <a:ext uri="{FF2B5EF4-FFF2-40B4-BE49-F238E27FC236}">
                <a16:creationId xmlns:a16="http://schemas.microsoft.com/office/drawing/2014/main" id="{7B453143-B114-4286-963B-B60E1F13106E}"/>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450" b="1" i="0">
                <a:solidFill>
                  <a:srgbClr val="0F233D"/>
                </a:solidFill>
                <a:latin typeface="Arial"/>
                <a:ea typeface="Arial"/>
                <a:cs typeface="Arial"/>
              </a:rPr>
              <a:t>What is a category</a:t>
            </a:r>
          </a:p>
        </p:txBody>
      </p:sp>
      <p:sp>
        <p:nvSpPr>
          <p:cNvPr id="3" name="TextBox 2">
            <a:extLst>
              <a:ext uri="{FF2B5EF4-FFF2-40B4-BE49-F238E27FC236}">
                <a16:creationId xmlns:a16="http://schemas.microsoft.com/office/drawing/2014/main" id="{00B92CF1-041B-48A9-9F2B-1D4B3D840791}"/>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20" b="0" i="0">
                <a:solidFill>
                  <a:srgbClr val="4E5A68"/>
                </a:solidFill>
                <a:latin typeface="Arial"/>
                <a:ea typeface="Arial"/>
                <a:cs typeface="Arial"/>
              </a:rPr>
              <a:t>One category selects one sex, one APOE group, and one broad cell type.</a:t>
            </a:r>
          </a:p>
        </p:txBody>
      </p:sp>
      <p:sp>
        <p:nvSpPr>
          <p:cNvPr id="4" name="Rounded Rectangle 3">
            <a:extLst>
              <a:ext uri="{FF2B5EF4-FFF2-40B4-BE49-F238E27FC236}">
                <a16:creationId xmlns:a16="http://schemas.microsoft.com/office/drawing/2014/main" id="{8F8DFE99-15B0-4AD0-B8BD-DD4144C10CB2}"/>
              </a:ext>
            </a:extLst>
          </p:cNvPr>
          <p:cNvSpPr>
            <a:spLocks noGrp="1"/>
          </p:cNvSpPr>
          <p:nvPr/>
        </p:nvSpPr>
        <p:spPr>
          <a:xfrm>
            <a:off x="603504" y="1134548"/>
            <a:ext cx="2029968" cy="1042415"/>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96CC436-7D92-4989-8C7D-6F150120999E}"/>
              </a:ext>
            </a:extLst>
          </p:cNvPr>
          <p:cNvSpPr>
            <a:spLocks noGrp="1"/>
          </p:cNvSpPr>
          <p:nvPr/>
        </p:nvSpPr>
        <p:spPr>
          <a:xfrm>
            <a:off x="768096" y="1317428"/>
            <a:ext cx="566928" cy="493776"/>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800" b="1" i="0">
                <a:solidFill>
                  <a:srgbClr val="0072B2"/>
                </a:solidFill>
                <a:latin typeface="Arial"/>
                <a:ea typeface="Arial"/>
                <a:cs typeface="Arial"/>
              </a:rPr>
              <a:t>2</a:t>
            </a:r>
          </a:p>
        </p:txBody>
      </p:sp>
      <p:sp>
        <p:nvSpPr>
          <p:cNvPr id="6" name="TextBox 5">
            <a:extLst>
              <a:ext uri="{FF2B5EF4-FFF2-40B4-BE49-F238E27FC236}">
                <a16:creationId xmlns:a16="http://schemas.microsoft.com/office/drawing/2014/main" id="{8A82ECB7-407D-40A6-A935-1A410D12F99E}"/>
              </a:ext>
            </a:extLst>
          </p:cNvPr>
          <p:cNvSpPr>
            <a:spLocks noGrp="1"/>
          </p:cNvSpPr>
          <p:nvPr/>
        </p:nvSpPr>
        <p:spPr>
          <a:xfrm>
            <a:off x="1408176" y="1308284"/>
            <a:ext cx="1069848" cy="25603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80" b="1" i="0">
                <a:solidFill>
                  <a:srgbClr val="0F233D"/>
                </a:solidFill>
                <a:latin typeface="Arial"/>
                <a:ea typeface="Arial"/>
                <a:cs typeface="Arial"/>
              </a:rPr>
              <a:t>SEXES</a:t>
            </a:r>
          </a:p>
        </p:txBody>
      </p:sp>
      <p:sp>
        <p:nvSpPr>
          <p:cNvPr id="7" name="TextBox 6">
            <a:extLst>
              <a:ext uri="{FF2B5EF4-FFF2-40B4-BE49-F238E27FC236}">
                <a16:creationId xmlns:a16="http://schemas.microsoft.com/office/drawing/2014/main" id="{A2B1E95F-AD75-4D02-A1AB-E953465AEF70}"/>
              </a:ext>
            </a:extLst>
          </p:cNvPr>
          <p:cNvSpPr>
            <a:spLocks noGrp="1"/>
          </p:cNvSpPr>
          <p:nvPr/>
        </p:nvSpPr>
        <p:spPr>
          <a:xfrm>
            <a:off x="1408176" y="1628324"/>
            <a:ext cx="1069848" cy="31089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0" i="0">
                <a:solidFill>
                  <a:srgbClr val="4E5A68"/>
                </a:solidFill>
                <a:latin typeface="Arial"/>
                <a:ea typeface="Arial"/>
                <a:cs typeface="Arial"/>
              </a:rPr>
              <a:t>Female • Male</a:t>
            </a:r>
          </a:p>
        </p:txBody>
      </p:sp>
      <p:sp>
        <p:nvSpPr>
          <p:cNvPr id="8" name="TextBox 7">
            <a:extLst>
              <a:ext uri="{FF2B5EF4-FFF2-40B4-BE49-F238E27FC236}">
                <a16:creationId xmlns:a16="http://schemas.microsoft.com/office/drawing/2014/main" id="{1431877B-7942-4330-AA1D-D8F2E271D1A8}"/>
              </a:ext>
            </a:extLst>
          </p:cNvPr>
          <p:cNvSpPr>
            <a:spLocks noGrp="1"/>
          </p:cNvSpPr>
          <p:nvPr/>
        </p:nvSpPr>
        <p:spPr>
          <a:xfrm>
            <a:off x="2724912" y="1418012"/>
            <a:ext cx="384048" cy="3840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200" b="1" i="0">
                <a:solidFill>
                  <a:srgbClr val="4E5A68"/>
                </a:solidFill>
                <a:latin typeface="Arial"/>
                <a:ea typeface="Arial"/>
                <a:cs typeface="Arial"/>
              </a:rPr>
              <a:t>×</a:t>
            </a:r>
          </a:p>
        </p:txBody>
      </p:sp>
      <p:sp>
        <p:nvSpPr>
          <p:cNvPr id="9" name="Rounded Rectangle 8">
            <a:extLst>
              <a:ext uri="{FF2B5EF4-FFF2-40B4-BE49-F238E27FC236}">
                <a16:creationId xmlns:a16="http://schemas.microsoft.com/office/drawing/2014/main" id="{35BBD3CD-DEF6-4352-9ADC-C0E86905865E}"/>
              </a:ext>
            </a:extLst>
          </p:cNvPr>
          <p:cNvSpPr>
            <a:spLocks noGrp="1"/>
          </p:cNvSpPr>
          <p:nvPr/>
        </p:nvSpPr>
        <p:spPr>
          <a:xfrm>
            <a:off x="3200400" y="1134548"/>
            <a:ext cx="2542032" cy="1042415"/>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D10764ED-0D24-49E4-AC0E-6E83A96A1D22}"/>
              </a:ext>
            </a:extLst>
          </p:cNvPr>
          <p:cNvSpPr>
            <a:spLocks noGrp="1"/>
          </p:cNvSpPr>
          <p:nvPr/>
        </p:nvSpPr>
        <p:spPr>
          <a:xfrm>
            <a:off x="3364992" y="1317428"/>
            <a:ext cx="566928" cy="493776"/>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800" b="1" i="0">
                <a:solidFill>
                  <a:srgbClr val="00684D"/>
                </a:solidFill>
                <a:latin typeface="Arial"/>
                <a:ea typeface="Arial"/>
                <a:cs typeface="Arial"/>
              </a:rPr>
              <a:t>3</a:t>
            </a:r>
          </a:p>
        </p:txBody>
      </p:sp>
      <p:sp>
        <p:nvSpPr>
          <p:cNvPr id="11" name="TextBox 10">
            <a:extLst>
              <a:ext uri="{FF2B5EF4-FFF2-40B4-BE49-F238E27FC236}">
                <a16:creationId xmlns:a16="http://schemas.microsoft.com/office/drawing/2014/main" id="{D925246A-A4C6-4FA4-847E-0D5ABF59052E}"/>
              </a:ext>
            </a:extLst>
          </p:cNvPr>
          <p:cNvSpPr>
            <a:spLocks noGrp="1"/>
          </p:cNvSpPr>
          <p:nvPr/>
        </p:nvSpPr>
        <p:spPr>
          <a:xfrm>
            <a:off x="4005072" y="1308284"/>
            <a:ext cx="1581911" cy="25603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80" b="1" i="0">
                <a:solidFill>
                  <a:srgbClr val="0F233D"/>
                </a:solidFill>
                <a:latin typeface="Arial"/>
                <a:ea typeface="Arial"/>
                <a:cs typeface="Arial"/>
              </a:rPr>
              <a:t>APOE GROUPS</a:t>
            </a:r>
          </a:p>
        </p:txBody>
      </p:sp>
      <p:sp>
        <p:nvSpPr>
          <p:cNvPr id="12" name="TextBox 11">
            <a:extLst>
              <a:ext uri="{FF2B5EF4-FFF2-40B4-BE49-F238E27FC236}">
                <a16:creationId xmlns:a16="http://schemas.microsoft.com/office/drawing/2014/main" id="{6C7A4290-E4A9-4AE0-A569-E41B00922F9B}"/>
              </a:ext>
            </a:extLst>
          </p:cNvPr>
          <p:cNvSpPr>
            <a:spLocks noGrp="1"/>
          </p:cNvSpPr>
          <p:nvPr/>
        </p:nvSpPr>
        <p:spPr>
          <a:xfrm>
            <a:off x="4005072" y="1628324"/>
            <a:ext cx="1581911" cy="31089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0" i="0">
                <a:solidFill>
                  <a:srgbClr val="4E5A68"/>
                </a:solidFill>
                <a:latin typeface="Arial"/>
                <a:ea typeface="Arial"/>
                <a:cs typeface="Arial"/>
              </a:rPr>
              <a:t>ε2 carrier • ε3/ε3 • ε4 carrier</a:t>
            </a:r>
          </a:p>
        </p:txBody>
      </p:sp>
      <p:sp>
        <p:nvSpPr>
          <p:cNvPr id="13" name="TextBox 12">
            <a:extLst>
              <a:ext uri="{FF2B5EF4-FFF2-40B4-BE49-F238E27FC236}">
                <a16:creationId xmlns:a16="http://schemas.microsoft.com/office/drawing/2014/main" id="{AE44AE31-1C47-4592-84C3-1865FC46D572}"/>
              </a:ext>
            </a:extLst>
          </p:cNvPr>
          <p:cNvSpPr>
            <a:spLocks noGrp="1"/>
          </p:cNvSpPr>
          <p:nvPr/>
        </p:nvSpPr>
        <p:spPr>
          <a:xfrm>
            <a:off x="5833872" y="1418012"/>
            <a:ext cx="384048" cy="3840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200" b="1" i="0">
                <a:solidFill>
                  <a:srgbClr val="4E5A68"/>
                </a:solidFill>
                <a:latin typeface="Arial"/>
                <a:ea typeface="Arial"/>
                <a:cs typeface="Arial"/>
              </a:rPr>
              <a:t>×</a:t>
            </a:r>
          </a:p>
        </p:txBody>
      </p:sp>
      <p:sp>
        <p:nvSpPr>
          <p:cNvPr id="14" name="Rounded Rectangle 13">
            <a:extLst>
              <a:ext uri="{FF2B5EF4-FFF2-40B4-BE49-F238E27FC236}">
                <a16:creationId xmlns:a16="http://schemas.microsoft.com/office/drawing/2014/main" id="{4A65B7AF-CB5C-43C3-8CA1-C66BA5F7BB03}"/>
              </a:ext>
            </a:extLst>
          </p:cNvPr>
          <p:cNvSpPr>
            <a:spLocks noGrp="1"/>
          </p:cNvSpPr>
          <p:nvPr/>
        </p:nvSpPr>
        <p:spPr>
          <a:xfrm>
            <a:off x="6309360" y="1134548"/>
            <a:ext cx="2121408" cy="1042415"/>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947D5A70-7BA9-4192-8B5D-9889D220F1BA}"/>
              </a:ext>
            </a:extLst>
          </p:cNvPr>
          <p:cNvSpPr>
            <a:spLocks noGrp="1"/>
          </p:cNvSpPr>
          <p:nvPr/>
        </p:nvSpPr>
        <p:spPr>
          <a:xfrm>
            <a:off x="6473952" y="1317428"/>
            <a:ext cx="566928" cy="493776"/>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800" b="1" i="0">
                <a:solidFill>
                  <a:srgbClr val="895600"/>
                </a:solidFill>
                <a:latin typeface="Arial"/>
                <a:ea typeface="Arial"/>
                <a:cs typeface="Arial"/>
              </a:rPr>
              <a:t>7</a:t>
            </a:r>
          </a:p>
        </p:txBody>
      </p:sp>
      <p:sp>
        <p:nvSpPr>
          <p:cNvPr id="16" name="TextBox 15">
            <a:extLst>
              <a:ext uri="{FF2B5EF4-FFF2-40B4-BE49-F238E27FC236}">
                <a16:creationId xmlns:a16="http://schemas.microsoft.com/office/drawing/2014/main" id="{0F52C426-33FB-46C6-BDF1-EC028753A731}"/>
              </a:ext>
            </a:extLst>
          </p:cNvPr>
          <p:cNvSpPr>
            <a:spLocks noGrp="1"/>
          </p:cNvSpPr>
          <p:nvPr/>
        </p:nvSpPr>
        <p:spPr>
          <a:xfrm>
            <a:off x="7114032" y="1308284"/>
            <a:ext cx="1161287" cy="25603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80" b="1" i="0">
                <a:solidFill>
                  <a:srgbClr val="0F233D"/>
                </a:solidFill>
                <a:latin typeface="Arial"/>
                <a:ea typeface="Arial"/>
                <a:cs typeface="Arial"/>
              </a:rPr>
              <a:t>BROAD TYPES</a:t>
            </a:r>
          </a:p>
        </p:txBody>
      </p:sp>
      <p:sp>
        <p:nvSpPr>
          <p:cNvPr id="17" name="TextBox 16">
            <a:extLst>
              <a:ext uri="{FF2B5EF4-FFF2-40B4-BE49-F238E27FC236}">
                <a16:creationId xmlns:a16="http://schemas.microsoft.com/office/drawing/2014/main" id="{59907BBC-FFB6-4080-BC97-1947882A4001}"/>
              </a:ext>
            </a:extLst>
          </p:cNvPr>
          <p:cNvSpPr>
            <a:spLocks noGrp="1"/>
          </p:cNvSpPr>
          <p:nvPr/>
        </p:nvSpPr>
        <p:spPr>
          <a:xfrm>
            <a:off x="7114032" y="1628324"/>
            <a:ext cx="1161287" cy="31089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0" i="0">
                <a:solidFill>
                  <a:srgbClr val="4E5A68"/>
                </a:solidFill>
                <a:latin typeface="Arial"/>
                <a:ea typeface="Arial"/>
                <a:cs typeface="Arial"/>
              </a:rPr>
              <a:t>Frozen cell classes</a:t>
            </a:r>
          </a:p>
        </p:txBody>
      </p:sp>
      <p:sp>
        <p:nvSpPr>
          <p:cNvPr id="18" name="TextBox 17">
            <a:extLst>
              <a:ext uri="{FF2B5EF4-FFF2-40B4-BE49-F238E27FC236}">
                <a16:creationId xmlns:a16="http://schemas.microsoft.com/office/drawing/2014/main" id="{D98D2DB5-3A0E-4623-B0B8-FA5465C503C1}"/>
              </a:ext>
            </a:extLst>
          </p:cNvPr>
          <p:cNvSpPr>
            <a:spLocks noGrp="1"/>
          </p:cNvSpPr>
          <p:nvPr/>
        </p:nvSpPr>
        <p:spPr>
          <a:xfrm>
            <a:off x="8522208" y="1418012"/>
            <a:ext cx="384048" cy="3840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200" b="1" i="0">
                <a:solidFill>
                  <a:srgbClr val="4E5A68"/>
                </a:solidFill>
                <a:latin typeface="Arial"/>
                <a:ea typeface="Arial"/>
                <a:cs typeface="Arial"/>
              </a:rPr>
              <a:t>=</a:t>
            </a:r>
          </a:p>
        </p:txBody>
      </p:sp>
      <p:sp>
        <p:nvSpPr>
          <p:cNvPr id="19" name="Rounded Rectangle 18">
            <a:extLst>
              <a:ext uri="{FF2B5EF4-FFF2-40B4-BE49-F238E27FC236}">
                <a16:creationId xmlns:a16="http://schemas.microsoft.com/office/drawing/2014/main" id="{EB94EC70-314C-4BA8-95D7-349F2F373427}"/>
              </a:ext>
            </a:extLst>
          </p:cNvPr>
          <p:cNvSpPr>
            <a:spLocks noGrp="1"/>
          </p:cNvSpPr>
          <p:nvPr/>
        </p:nvSpPr>
        <p:spPr>
          <a:xfrm>
            <a:off x="8997696" y="1134548"/>
            <a:ext cx="2587752" cy="1042415"/>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0866134D-FCEE-4C41-9D80-037CE574FA56}"/>
              </a:ext>
            </a:extLst>
          </p:cNvPr>
          <p:cNvSpPr>
            <a:spLocks noGrp="1"/>
          </p:cNvSpPr>
          <p:nvPr/>
        </p:nvSpPr>
        <p:spPr>
          <a:xfrm>
            <a:off x="9162288" y="1317428"/>
            <a:ext cx="566928" cy="493776"/>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800" b="1" i="0">
                <a:solidFill>
                  <a:srgbClr val="9E3A00"/>
                </a:solidFill>
                <a:latin typeface="Arial"/>
                <a:ea typeface="Arial"/>
                <a:cs typeface="Arial"/>
              </a:rPr>
              <a:t>42</a:t>
            </a:r>
          </a:p>
        </p:txBody>
      </p:sp>
      <p:sp>
        <p:nvSpPr>
          <p:cNvPr id="21" name="TextBox 20">
            <a:extLst>
              <a:ext uri="{FF2B5EF4-FFF2-40B4-BE49-F238E27FC236}">
                <a16:creationId xmlns:a16="http://schemas.microsoft.com/office/drawing/2014/main" id="{BC64DA88-8BB9-43CD-A70B-6AA5550C15DE}"/>
              </a:ext>
            </a:extLst>
          </p:cNvPr>
          <p:cNvSpPr>
            <a:spLocks noGrp="1"/>
          </p:cNvSpPr>
          <p:nvPr/>
        </p:nvSpPr>
        <p:spPr>
          <a:xfrm>
            <a:off x="9802368" y="1308284"/>
            <a:ext cx="1627632" cy="25603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80" b="1" i="0">
                <a:solidFill>
                  <a:srgbClr val="0F233D"/>
                </a:solidFill>
                <a:latin typeface="Arial"/>
                <a:ea typeface="Arial"/>
                <a:cs typeface="Arial"/>
              </a:rPr>
              <a:t>CATEGORIES</a:t>
            </a:r>
          </a:p>
        </p:txBody>
      </p:sp>
      <p:sp>
        <p:nvSpPr>
          <p:cNvPr id="22" name="TextBox 21">
            <a:extLst>
              <a:ext uri="{FF2B5EF4-FFF2-40B4-BE49-F238E27FC236}">
                <a16:creationId xmlns:a16="http://schemas.microsoft.com/office/drawing/2014/main" id="{CBBD629D-ADE0-46F7-A435-73FFBE662FDB}"/>
              </a:ext>
            </a:extLst>
          </p:cNvPr>
          <p:cNvSpPr>
            <a:spLocks noGrp="1"/>
          </p:cNvSpPr>
          <p:nvPr/>
        </p:nvSpPr>
        <p:spPr>
          <a:xfrm>
            <a:off x="9802368" y="1628324"/>
            <a:ext cx="1627632" cy="31089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0" i="0">
                <a:solidFill>
                  <a:srgbClr val="4E5A68"/>
                </a:solidFill>
                <a:latin typeface="Arial"/>
                <a:ea typeface="Arial"/>
                <a:cs typeface="Arial"/>
              </a:rPr>
              <a:t>Possible analysis contexts</a:t>
            </a:r>
          </a:p>
        </p:txBody>
      </p:sp>
      <p:sp>
        <p:nvSpPr>
          <p:cNvPr id="23" name="Rounded Rectangle 22">
            <a:extLst>
              <a:ext uri="{FF2B5EF4-FFF2-40B4-BE49-F238E27FC236}">
                <a16:creationId xmlns:a16="http://schemas.microsoft.com/office/drawing/2014/main" id="{B494B280-69DC-4470-9F05-DC79C8BCD8ED}"/>
              </a:ext>
            </a:extLst>
          </p:cNvPr>
          <p:cNvSpPr>
            <a:spLocks noGrp="1"/>
          </p:cNvSpPr>
          <p:nvPr/>
        </p:nvSpPr>
        <p:spPr>
          <a:xfrm>
            <a:off x="603504" y="2487860"/>
            <a:ext cx="5422392" cy="288950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5DA32A0B-167A-47CC-85FD-83F23A6AFD1E}"/>
              </a:ext>
            </a:extLst>
          </p:cNvPr>
          <p:cNvSpPr>
            <a:spLocks noGrp="1"/>
          </p:cNvSpPr>
          <p:nvPr/>
        </p:nvSpPr>
        <p:spPr>
          <a:xfrm>
            <a:off x="877824" y="277132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4FEA757-4833-4D66-A8E3-ED58955CE4E2}"/>
              </a:ext>
            </a:extLst>
          </p:cNvPr>
          <p:cNvSpPr>
            <a:spLocks noGrp="1"/>
          </p:cNvSpPr>
          <p:nvPr/>
        </p:nvSpPr>
        <p:spPr>
          <a:xfrm>
            <a:off x="1024127" y="2743892"/>
            <a:ext cx="4700016" cy="32918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520" b="1" i="0">
                <a:solidFill>
                  <a:srgbClr val="0F233D"/>
                </a:solidFill>
                <a:latin typeface="Arial"/>
                <a:ea typeface="Arial"/>
                <a:cs typeface="Arial"/>
              </a:rPr>
              <a:t>Six sex/APOE groups</a:t>
            </a:r>
          </a:p>
        </p:txBody>
      </p:sp>
      <p:sp>
        <p:nvSpPr>
          <p:cNvPr id="26" name="TextBox 25">
            <a:extLst>
              <a:ext uri="{FF2B5EF4-FFF2-40B4-BE49-F238E27FC236}">
                <a16:creationId xmlns:a16="http://schemas.microsoft.com/office/drawing/2014/main" id="{5B63075E-CC09-4D81-B8B3-08C85EEAA6A9}"/>
              </a:ext>
            </a:extLst>
          </p:cNvPr>
          <p:cNvSpPr>
            <a:spLocks noGrp="1"/>
          </p:cNvSpPr>
          <p:nvPr/>
        </p:nvSpPr>
        <p:spPr>
          <a:xfrm>
            <a:off x="896112" y="3383972"/>
            <a:ext cx="786384" cy="21945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960" b="1" i="0">
                <a:solidFill>
                  <a:srgbClr val="4E5A68"/>
                </a:solidFill>
                <a:latin typeface="Arial"/>
                <a:ea typeface="Arial"/>
                <a:cs typeface="Arial"/>
              </a:rPr>
              <a:t>FEMALE</a:t>
            </a:r>
          </a:p>
        </p:txBody>
      </p:sp>
      <p:sp>
        <p:nvSpPr>
          <p:cNvPr id="27" name="TextBox 26">
            <a:extLst>
              <a:ext uri="{FF2B5EF4-FFF2-40B4-BE49-F238E27FC236}">
                <a16:creationId xmlns:a16="http://schemas.microsoft.com/office/drawing/2014/main" id="{589BB5D0-CCAD-42B8-9BE6-E9E82F4819E6}"/>
              </a:ext>
            </a:extLst>
          </p:cNvPr>
          <p:cNvSpPr>
            <a:spLocks noGrp="1"/>
          </p:cNvSpPr>
          <p:nvPr/>
        </p:nvSpPr>
        <p:spPr>
          <a:xfrm>
            <a:off x="896112" y="4005763"/>
            <a:ext cx="786384" cy="21945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960" b="1" i="0">
                <a:solidFill>
                  <a:srgbClr val="4E5A68"/>
                </a:solidFill>
                <a:latin typeface="Arial"/>
                <a:ea typeface="Arial"/>
                <a:cs typeface="Arial"/>
              </a:rPr>
              <a:t>MALE</a:t>
            </a:r>
          </a:p>
        </p:txBody>
      </p:sp>
      <p:sp>
        <p:nvSpPr>
          <p:cNvPr id="28" name="Rounded Rectangle 27">
            <a:extLst>
              <a:ext uri="{FF2B5EF4-FFF2-40B4-BE49-F238E27FC236}">
                <a16:creationId xmlns:a16="http://schemas.microsoft.com/office/drawing/2014/main" id="{BA674D85-7891-4E55-BFD8-0A44638823AE}"/>
              </a:ext>
            </a:extLst>
          </p:cNvPr>
          <p:cNvSpPr>
            <a:spLocks noGrp="1"/>
          </p:cNvSpPr>
          <p:nvPr/>
        </p:nvSpPr>
        <p:spPr>
          <a:xfrm>
            <a:off x="17007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F03F4139-214F-4285-9BA1-A595E003B025}"/>
              </a:ext>
            </a:extLst>
          </p:cNvPr>
          <p:cNvSpPr>
            <a:spLocks noGrp="1"/>
          </p:cNvSpPr>
          <p:nvPr/>
        </p:nvSpPr>
        <p:spPr>
          <a:xfrm>
            <a:off x="1773936" y="3365684"/>
            <a:ext cx="1078992" cy="20116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120" b="1" i="0">
                <a:solidFill>
                  <a:srgbClr val="0F233D"/>
                </a:solidFill>
                <a:latin typeface="Arial"/>
                <a:ea typeface="Arial"/>
                <a:cs typeface="Arial"/>
              </a:rPr>
              <a:t>F_e2</a:t>
            </a:r>
          </a:p>
        </p:txBody>
      </p:sp>
      <p:sp>
        <p:nvSpPr>
          <p:cNvPr id="30" name="Rounded Rectangle 29">
            <a:extLst>
              <a:ext uri="{FF2B5EF4-FFF2-40B4-BE49-F238E27FC236}">
                <a16:creationId xmlns:a16="http://schemas.microsoft.com/office/drawing/2014/main" id="{002F3515-4D2F-4F16-BF98-13BD06D63850}"/>
              </a:ext>
            </a:extLst>
          </p:cNvPr>
          <p:cNvSpPr>
            <a:spLocks noGrp="1"/>
          </p:cNvSpPr>
          <p:nvPr/>
        </p:nvSpPr>
        <p:spPr>
          <a:xfrm>
            <a:off x="17007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1C36D793-3530-42C0-8140-1E7A28CF30C4}"/>
              </a:ext>
            </a:extLst>
          </p:cNvPr>
          <p:cNvSpPr>
            <a:spLocks noGrp="1"/>
          </p:cNvSpPr>
          <p:nvPr/>
        </p:nvSpPr>
        <p:spPr>
          <a:xfrm>
            <a:off x="1773936" y="3987476"/>
            <a:ext cx="1078992" cy="20116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120" b="1" i="0">
                <a:solidFill>
                  <a:srgbClr val="0F233D"/>
                </a:solidFill>
                <a:latin typeface="Arial"/>
                <a:ea typeface="Arial"/>
                <a:cs typeface="Arial"/>
              </a:rPr>
              <a:t>M_e2</a:t>
            </a:r>
          </a:p>
        </p:txBody>
      </p:sp>
      <p:sp>
        <p:nvSpPr>
          <p:cNvPr id="32" name="Rounded Rectangle 31">
            <a:extLst>
              <a:ext uri="{FF2B5EF4-FFF2-40B4-BE49-F238E27FC236}">
                <a16:creationId xmlns:a16="http://schemas.microsoft.com/office/drawing/2014/main" id="{9C1A7CE5-E1A6-40B0-B8BD-4266BF069827}"/>
              </a:ext>
            </a:extLst>
          </p:cNvPr>
          <p:cNvSpPr>
            <a:spLocks noGrp="1"/>
          </p:cNvSpPr>
          <p:nvPr/>
        </p:nvSpPr>
        <p:spPr>
          <a:xfrm>
            <a:off x="30723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4925B471-BF86-42D8-8276-2FF6DDDDBB18}"/>
              </a:ext>
            </a:extLst>
          </p:cNvPr>
          <p:cNvSpPr>
            <a:spLocks noGrp="1"/>
          </p:cNvSpPr>
          <p:nvPr/>
        </p:nvSpPr>
        <p:spPr>
          <a:xfrm>
            <a:off x="3145536" y="3365684"/>
            <a:ext cx="1078992" cy="20116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120" b="1" i="0">
                <a:solidFill>
                  <a:srgbClr val="0F233D"/>
                </a:solidFill>
                <a:latin typeface="Arial"/>
                <a:ea typeface="Arial"/>
                <a:cs typeface="Arial"/>
              </a:rPr>
              <a:t>F_e33</a:t>
            </a:r>
          </a:p>
        </p:txBody>
      </p:sp>
      <p:sp>
        <p:nvSpPr>
          <p:cNvPr id="34" name="Rounded Rectangle 33">
            <a:extLst>
              <a:ext uri="{FF2B5EF4-FFF2-40B4-BE49-F238E27FC236}">
                <a16:creationId xmlns:a16="http://schemas.microsoft.com/office/drawing/2014/main" id="{F2142C82-5F53-493A-BE90-4BA2F922B9AD}"/>
              </a:ext>
            </a:extLst>
          </p:cNvPr>
          <p:cNvSpPr>
            <a:spLocks noGrp="1"/>
          </p:cNvSpPr>
          <p:nvPr/>
        </p:nvSpPr>
        <p:spPr>
          <a:xfrm>
            <a:off x="30723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E990F137-911D-407D-95C3-9DCF01FCABAB}"/>
              </a:ext>
            </a:extLst>
          </p:cNvPr>
          <p:cNvSpPr>
            <a:spLocks noGrp="1"/>
          </p:cNvSpPr>
          <p:nvPr/>
        </p:nvSpPr>
        <p:spPr>
          <a:xfrm>
            <a:off x="3145536" y="3987476"/>
            <a:ext cx="1078992" cy="20116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120" b="1" i="0">
                <a:solidFill>
                  <a:srgbClr val="0F233D"/>
                </a:solidFill>
                <a:latin typeface="Arial"/>
                <a:ea typeface="Arial"/>
                <a:cs typeface="Arial"/>
              </a:rPr>
              <a:t>M_e33</a:t>
            </a:r>
          </a:p>
        </p:txBody>
      </p:sp>
      <p:sp>
        <p:nvSpPr>
          <p:cNvPr id="36" name="Rounded Rectangle 35">
            <a:extLst>
              <a:ext uri="{FF2B5EF4-FFF2-40B4-BE49-F238E27FC236}">
                <a16:creationId xmlns:a16="http://schemas.microsoft.com/office/drawing/2014/main" id="{6DC4B910-710E-4996-8C48-6BD291CECE0A}"/>
              </a:ext>
            </a:extLst>
          </p:cNvPr>
          <p:cNvSpPr>
            <a:spLocks noGrp="1"/>
          </p:cNvSpPr>
          <p:nvPr/>
        </p:nvSpPr>
        <p:spPr>
          <a:xfrm>
            <a:off x="44439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56E00175-9B35-4406-AF53-796D05AAF164}"/>
              </a:ext>
            </a:extLst>
          </p:cNvPr>
          <p:cNvSpPr>
            <a:spLocks noGrp="1"/>
          </p:cNvSpPr>
          <p:nvPr/>
        </p:nvSpPr>
        <p:spPr>
          <a:xfrm>
            <a:off x="4517136" y="3365684"/>
            <a:ext cx="1078992" cy="20116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120" b="1" i="0">
                <a:solidFill>
                  <a:srgbClr val="0F233D"/>
                </a:solidFill>
                <a:latin typeface="Arial"/>
                <a:ea typeface="Arial"/>
                <a:cs typeface="Arial"/>
              </a:rPr>
              <a:t>F_e4</a:t>
            </a:r>
          </a:p>
        </p:txBody>
      </p:sp>
      <p:sp>
        <p:nvSpPr>
          <p:cNvPr id="38" name="Rounded Rectangle 37">
            <a:extLst>
              <a:ext uri="{FF2B5EF4-FFF2-40B4-BE49-F238E27FC236}">
                <a16:creationId xmlns:a16="http://schemas.microsoft.com/office/drawing/2014/main" id="{325485EA-C4E4-4B5A-B1CA-7462544B97C6}"/>
              </a:ext>
            </a:extLst>
          </p:cNvPr>
          <p:cNvSpPr>
            <a:spLocks noGrp="1"/>
          </p:cNvSpPr>
          <p:nvPr/>
        </p:nvSpPr>
        <p:spPr>
          <a:xfrm>
            <a:off x="44439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F714AAAA-B4A9-43AD-A0E4-351E14DE3F41}"/>
              </a:ext>
            </a:extLst>
          </p:cNvPr>
          <p:cNvSpPr>
            <a:spLocks noGrp="1"/>
          </p:cNvSpPr>
          <p:nvPr/>
        </p:nvSpPr>
        <p:spPr>
          <a:xfrm>
            <a:off x="4517136" y="3987476"/>
            <a:ext cx="1078992" cy="20116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120" b="1" i="0">
                <a:solidFill>
                  <a:srgbClr val="0F233D"/>
                </a:solidFill>
                <a:latin typeface="Arial"/>
                <a:ea typeface="Arial"/>
                <a:cs typeface="Arial"/>
              </a:rPr>
              <a:t>M_e4</a:t>
            </a:r>
          </a:p>
        </p:txBody>
      </p:sp>
      <p:sp>
        <p:nvSpPr>
          <p:cNvPr id="40" name="TextBox 39">
            <a:extLst>
              <a:ext uri="{FF2B5EF4-FFF2-40B4-BE49-F238E27FC236}">
                <a16:creationId xmlns:a16="http://schemas.microsoft.com/office/drawing/2014/main" id="{13C3DEEE-8B63-4F17-949B-EE21B1731C09}"/>
              </a:ext>
            </a:extLst>
          </p:cNvPr>
          <p:cNvSpPr>
            <a:spLocks noGrp="1"/>
          </p:cNvSpPr>
          <p:nvPr/>
        </p:nvSpPr>
        <p:spPr>
          <a:xfrm>
            <a:off x="896112" y="4664132"/>
            <a:ext cx="4809744" cy="27432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980" b="0" i="0">
                <a:solidFill>
                  <a:srgbClr val="4E5A68"/>
                </a:solidFill>
                <a:latin typeface="Arial"/>
                <a:ea typeface="Arial"/>
                <a:cs typeface="Arial"/>
              </a:rPr>
              <a:t>e2 = ε2 carrier   •   e33 = ε3/ε3   •   e4 = ε4 carrier</a:t>
            </a:r>
          </a:p>
        </p:txBody>
      </p:sp>
      <p:sp>
        <p:nvSpPr>
          <p:cNvPr id="41" name="Rounded Rectangle 40">
            <a:extLst>
              <a:ext uri="{FF2B5EF4-FFF2-40B4-BE49-F238E27FC236}">
                <a16:creationId xmlns:a16="http://schemas.microsoft.com/office/drawing/2014/main" id="{6A6C5A5F-CCF6-4E84-841D-077E84133767}"/>
              </a:ext>
            </a:extLst>
          </p:cNvPr>
          <p:cNvSpPr>
            <a:spLocks noGrp="1"/>
          </p:cNvSpPr>
          <p:nvPr/>
        </p:nvSpPr>
        <p:spPr>
          <a:xfrm>
            <a:off x="6172200" y="2487860"/>
            <a:ext cx="5413248" cy="288950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Rectangle 41">
            <a:extLst>
              <a:ext uri="{FF2B5EF4-FFF2-40B4-BE49-F238E27FC236}">
                <a16:creationId xmlns:a16="http://schemas.microsoft.com/office/drawing/2014/main" id="{F7604787-0199-47D3-9DFF-47AEBCB849D0}"/>
              </a:ext>
            </a:extLst>
          </p:cNvPr>
          <p:cNvSpPr>
            <a:spLocks noGrp="1"/>
          </p:cNvSpPr>
          <p:nvPr/>
        </p:nvSpPr>
        <p:spPr>
          <a:xfrm>
            <a:off x="6446520" y="2771324"/>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3484896B-2FE2-4D4C-8BAF-A6753F03A45A}"/>
              </a:ext>
            </a:extLst>
          </p:cNvPr>
          <p:cNvSpPr>
            <a:spLocks noGrp="1"/>
          </p:cNvSpPr>
          <p:nvPr/>
        </p:nvSpPr>
        <p:spPr>
          <a:xfrm>
            <a:off x="6592824" y="2743892"/>
            <a:ext cx="4700016" cy="32918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520" b="1" i="0">
                <a:solidFill>
                  <a:srgbClr val="0F233D"/>
                </a:solidFill>
                <a:latin typeface="Arial"/>
                <a:ea typeface="Arial"/>
                <a:cs typeface="Arial"/>
              </a:rPr>
              <a:t>Seven broad cell types</a:t>
            </a:r>
          </a:p>
        </p:txBody>
      </p:sp>
      <p:sp>
        <p:nvSpPr>
          <p:cNvPr id="44" name="Rounded Rectangle 43">
            <a:extLst>
              <a:ext uri="{FF2B5EF4-FFF2-40B4-BE49-F238E27FC236}">
                <a16:creationId xmlns:a16="http://schemas.microsoft.com/office/drawing/2014/main" id="{06CA765D-3399-4D97-A3AC-C2D9311C7292}"/>
              </a:ext>
            </a:extLst>
          </p:cNvPr>
          <p:cNvSpPr>
            <a:spLocks noGrp="1"/>
          </p:cNvSpPr>
          <p:nvPr/>
        </p:nvSpPr>
        <p:spPr>
          <a:xfrm>
            <a:off x="6446520" y="323766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17D76026-8450-4E92-AE17-B1A278E1E126}"/>
              </a:ext>
            </a:extLst>
          </p:cNvPr>
          <p:cNvSpPr>
            <a:spLocks noGrp="1"/>
          </p:cNvSpPr>
          <p:nvPr/>
        </p:nvSpPr>
        <p:spPr>
          <a:xfrm>
            <a:off x="6556248" y="3338252"/>
            <a:ext cx="2112263" cy="210312"/>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050" b="1" i="0">
                <a:solidFill>
                  <a:srgbClr val="1F2730"/>
                </a:solidFill>
                <a:latin typeface="Arial"/>
                <a:ea typeface="Arial"/>
                <a:cs typeface="Arial"/>
              </a:rPr>
              <a:t>Astrocytes</a:t>
            </a:r>
          </a:p>
        </p:txBody>
      </p:sp>
      <p:sp>
        <p:nvSpPr>
          <p:cNvPr id="46" name="Rounded Rectangle 45">
            <a:extLst>
              <a:ext uri="{FF2B5EF4-FFF2-40B4-BE49-F238E27FC236}">
                <a16:creationId xmlns:a16="http://schemas.microsoft.com/office/drawing/2014/main" id="{4435C50D-673E-4420-9054-2BF44683ADBF}"/>
              </a:ext>
            </a:extLst>
          </p:cNvPr>
          <p:cNvSpPr>
            <a:spLocks noGrp="1"/>
          </p:cNvSpPr>
          <p:nvPr/>
        </p:nvSpPr>
        <p:spPr>
          <a:xfrm>
            <a:off x="6446520" y="374058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7CA50A34-12D6-4C4C-B402-E572FD4A1AE9}"/>
              </a:ext>
            </a:extLst>
          </p:cNvPr>
          <p:cNvSpPr>
            <a:spLocks noGrp="1"/>
          </p:cNvSpPr>
          <p:nvPr/>
        </p:nvSpPr>
        <p:spPr>
          <a:xfrm>
            <a:off x="6556248" y="3841172"/>
            <a:ext cx="2112263" cy="210312"/>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050" b="1" i="0">
                <a:solidFill>
                  <a:srgbClr val="1F2730"/>
                </a:solidFill>
                <a:latin typeface="Arial"/>
                <a:ea typeface="Arial"/>
                <a:cs typeface="Arial"/>
              </a:rPr>
              <a:t>Excitatory neurons</a:t>
            </a:r>
          </a:p>
        </p:txBody>
      </p:sp>
      <p:sp>
        <p:nvSpPr>
          <p:cNvPr id="48" name="Rounded Rectangle 47">
            <a:extLst>
              <a:ext uri="{FF2B5EF4-FFF2-40B4-BE49-F238E27FC236}">
                <a16:creationId xmlns:a16="http://schemas.microsoft.com/office/drawing/2014/main" id="{6922206C-048C-41CD-9AD0-934269F4B68C}"/>
              </a:ext>
            </a:extLst>
          </p:cNvPr>
          <p:cNvSpPr>
            <a:spLocks noGrp="1"/>
          </p:cNvSpPr>
          <p:nvPr/>
        </p:nvSpPr>
        <p:spPr>
          <a:xfrm>
            <a:off x="6446520" y="424350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22B6329A-8794-4F20-AE32-4E22A22ADBE6}"/>
              </a:ext>
            </a:extLst>
          </p:cNvPr>
          <p:cNvSpPr>
            <a:spLocks noGrp="1"/>
          </p:cNvSpPr>
          <p:nvPr/>
        </p:nvSpPr>
        <p:spPr>
          <a:xfrm>
            <a:off x="6556248" y="4344092"/>
            <a:ext cx="2112263" cy="210312"/>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050" b="1" i="0">
                <a:solidFill>
                  <a:srgbClr val="1F2730"/>
                </a:solidFill>
                <a:latin typeface="Arial"/>
                <a:ea typeface="Arial"/>
                <a:cs typeface="Arial"/>
              </a:rPr>
              <a:t>Inhibitory neurons</a:t>
            </a:r>
          </a:p>
        </p:txBody>
      </p:sp>
      <p:sp>
        <p:nvSpPr>
          <p:cNvPr id="50" name="Rounded Rectangle 49">
            <a:extLst>
              <a:ext uri="{FF2B5EF4-FFF2-40B4-BE49-F238E27FC236}">
                <a16:creationId xmlns:a16="http://schemas.microsoft.com/office/drawing/2014/main" id="{4E37577C-AAD9-4458-8BE2-0DB0FAE4F33A}"/>
              </a:ext>
            </a:extLst>
          </p:cNvPr>
          <p:cNvSpPr>
            <a:spLocks noGrp="1"/>
          </p:cNvSpPr>
          <p:nvPr/>
        </p:nvSpPr>
        <p:spPr>
          <a:xfrm>
            <a:off x="6446520" y="474642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19ECF647-C4C2-4EBE-B7D9-117AB20695EF}"/>
              </a:ext>
            </a:extLst>
          </p:cNvPr>
          <p:cNvSpPr>
            <a:spLocks noGrp="1"/>
          </p:cNvSpPr>
          <p:nvPr/>
        </p:nvSpPr>
        <p:spPr>
          <a:xfrm>
            <a:off x="6556248" y="4847012"/>
            <a:ext cx="2112263" cy="210312"/>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050" b="1" i="0">
                <a:solidFill>
                  <a:srgbClr val="1F2730"/>
                </a:solidFill>
                <a:latin typeface="Arial"/>
                <a:ea typeface="Arial"/>
                <a:cs typeface="Arial"/>
              </a:rPr>
              <a:t>Microglia</a:t>
            </a:r>
          </a:p>
        </p:txBody>
      </p:sp>
      <p:sp>
        <p:nvSpPr>
          <p:cNvPr id="52" name="Rounded Rectangle 51">
            <a:extLst>
              <a:ext uri="{FF2B5EF4-FFF2-40B4-BE49-F238E27FC236}">
                <a16:creationId xmlns:a16="http://schemas.microsoft.com/office/drawing/2014/main" id="{99C1AC61-AA6A-4A31-A36B-4D2604F2BF3A}"/>
              </a:ext>
            </a:extLst>
          </p:cNvPr>
          <p:cNvSpPr>
            <a:spLocks noGrp="1"/>
          </p:cNvSpPr>
          <p:nvPr/>
        </p:nvSpPr>
        <p:spPr>
          <a:xfrm>
            <a:off x="8979408" y="323766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8EBFD78F-6A4C-42A4-8988-EBA51CF70B33}"/>
              </a:ext>
            </a:extLst>
          </p:cNvPr>
          <p:cNvSpPr>
            <a:spLocks noGrp="1"/>
          </p:cNvSpPr>
          <p:nvPr/>
        </p:nvSpPr>
        <p:spPr>
          <a:xfrm>
            <a:off x="9089136" y="3338252"/>
            <a:ext cx="2112263" cy="210312"/>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050" b="1" i="0">
                <a:solidFill>
                  <a:srgbClr val="1F2730"/>
                </a:solidFill>
                <a:latin typeface="Arial"/>
                <a:ea typeface="Arial"/>
                <a:cs typeface="Arial"/>
              </a:rPr>
              <a:t>OPCs</a:t>
            </a:r>
          </a:p>
        </p:txBody>
      </p:sp>
      <p:sp>
        <p:nvSpPr>
          <p:cNvPr id="54" name="Rounded Rectangle 53">
            <a:extLst>
              <a:ext uri="{FF2B5EF4-FFF2-40B4-BE49-F238E27FC236}">
                <a16:creationId xmlns:a16="http://schemas.microsoft.com/office/drawing/2014/main" id="{5AA63555-0C23-471F-BCAA-992D3B431350}"/>
              </a:ext>
            </a:extLst>
          </p:cNvPr>
          <p:cNvSpPr>
            <a:spLocks noGrp="1"/>
          </p:cNvSpPr>
          <p:nvPr/>
        </p:nvSpPr>
        <p:spPr>
          <a:xfrm>
            <a:off x="8979408" y="374058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B4A771FC-E47D-4201-8C0A-FACABB49166E}"/>
              </a:ext>
            </a:extLst>
          </p:cNvPr>
          <p:cNvSpPr>
            <a:spLocks noGrp="1"/>
          </p:cNvSpPr>
          <p:nvPr/>
        </p:nvSpPr>
        <p:spPr>
          <a:xfrm>
            <a:off x="9089136" y="3841172"/>
            <a:ext cx="2112263" cy="210312"/>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050" b="1" i="0">
                <a:solidFill>
                  <a:srgbClr val="1F2730"/>
                </a:solidFill>
                <a:latin typeface="Arial"/>
                <a:ea typeface="Arial"/>
                <a:cs typeface="Arial"/>
              </a:rPr>
              <a:t>Oligodendrocytes</a:t>
            </a:r>
          </a:p>
        </p:txBody>
      </p:sp>
      <p:sp>
        <p:nvSpPr>
          <p:cNvPr id="56" name="Rounded Rectangle 55">
            <a:extLst>
              <a:ext uri="{FF2B5EF4-FFF2-40B4-BE49-F238E27FC236}">
                <a16:creationId xmlns:a16="http://schemas.microsoft.com/office/drawing/2014/main" id="{8FC98E53-B787-4823-B69B-8F788A089A85}"/>
              </a:ext>
            </a:extLst>
          </p:cNvPr>
          <p:cNvSpPr>
            <a:spLocks noGrp="1"/>
          </p:cNvSpPr>
          <p:nvPr/>
        </p:nvSpPr>
        <p:spPr>
          <a:xfrm>
            <a:off x="8979408" y="424350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7" name="TextBox 56">
            <a:extLst>
              <a:ext uri="{FF2B5EF4-FFF2-40B4-BE49-F238E27FC236}">
                <a16:creationId xmlns:a16="http://schemas.microsoft.com/office/drawing/2014/main" id="{735B5593-297E-4656-A489-677258F64C1F}"/>
              </a:ext>
            </a:extLst>
          </p:cNvPr>
          <p:cNvSpPr>
            <a:spLocks noGrp="1"/>
          </p:cNvSpPr>
          <p:nvPr/>
        </p:nvSpPr>
        <p:spPr>
          <a:xfrm>
            <a:off x="9089136" y="4344092"/>
            <a:ext cx="2112263" cy="210312"/>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050" b="1" i="0">
                <a:solidFill>
                  <a:srgbClr val="1F2730"/>
                </a:solidFill>
                <a:latin typeface="Arial"/>
                <a:ea typeface="Arial"/>
                <a:cs typeface="Arial"/>
              </a:rPr>
              <a:t>Vasculature</a:t>
            </a:r>
          </a:p>
        </p:txBody>
      </p:sp>
      <p:sp>
        <p:nvSpPr>
          <p:cNvPr id="58" name="Rounded Rectangle 57">
            <a:extLst>
              <a:ext uri="{FF2B5EF4-FFF2-40B4-BE49-F238E27FC236}">
                <a16:creationId xmlns:a16="http://schemas.microsoft.com/office/drawing/2014/main" id="{031661F2-BBCE-4BEA-8C61-B69A1AFDD975}"/>
              </a:ext>
            </a:extLst>
          </p:cNvPr>
          <p:cNvSpPr>
            <a:spLocks noGrp="1"/>
          </p:cNvSpPr>
          <p:nvPr/>
        </p:nvSpPr>
        <p:spPr>
          <a:xfrm>
            <a:off x="603504" y="5493303"/>
            <a:ext cx="10981944" cy="6035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9" name="TextBox 58">
            <a:extLst>
              <a:ext uri="{FF2B5EF4-FFF2-40B4-BE49-F238E27FC236}">
                <a16:creationId xmlns:a16="http://schemas.microsoft.com/office/drawing/2014/main" id="{9EAEE7F6-4272-41C2-9E39-4B7A20B11B59}"/>
              </a:ext>
            </a:extLst>
          </p:cNvPr>
          <p:cNvSpPr>
            <a:spLocks noGrp="1"/>
          </p:cNvSpPr>
          <p:nvPr/>
        </p:nvSpPr>
        <p:spPr>
          <a:xfrm>
            <a:off x="859536" y="5657895"/>
            <a:ext cx="1298448" cy="23774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019" b="1" i="0">
                <a:solidFill>
                  <a:srgbClr val="4E5A68"/>
                </a:solidFill>
                <a:latin typeface="Arial"/>
                <a:ea typeface="Arial"/>
                <a:cs typeface="Arial"/>
              </a:rPr>
              <a:t>Example category</a:t>
            </a:r>
          </a:p>
        </p:txBody>
      </p:sp>
      <p:sp>
        <p:nvSpPr>
          <p:cNvPr id="60" name="TextBox 59">
            <a:extLst>
              <a:ext uri="{FF2B5EF4-FFF2-40B4-BE49-F238E27FC236}">
                <a16:creationId xmlns:a16="http://schemas.microsoft.com/office/drawing/2014/main" id="{B4F93260-CACC-42D8-A296-C2812E9E1907}"/>
              </a:ext>
            </a:extLst>
          </p:cNvPr>
          <p:cNvSpPr>
            <a:spLocks noGrp="1"/>
          </p:cNvSpPr>
          <p:nvPr/>
        </p:nvSpPr>
        <p:spPr>
          <a:xfrm>
            <a:off x="2139696" y="5612175"/>
            <a:ext cx="3072384" cy="29260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320" b="1" i="0">
                <a:solidFill>
                  <a:srgbClr val="7E4C9A"/>
                </a:solidFill>
                <a:latin typeface="Arial"/>
                <a:ea typeface="Arial"/>
                <a:cs typeface="Arial"/>
              </a:rPr>
              <a:t>M_e33 × Excitatory neurons</a:t>
            </a:r>
          </a:p>
        </p:txBody>
      </p:sp>
      <p:sp>
        <p:nvSpPr>
          <p:cNvPr id="61" name="TextBox 60">
            <a:extLst>
              <a:ext uri="{FF2B5EF4-FFF2-40B4-BE49-F238E27FC236}">
                <a16:creationId xmlns:a16="http://schemas.microsoft.com/office/drawing/2014/main" id="{802138E5-FD06-4CDD-944B-42FE9F7A853E}"/>
              </a:ext>
            </a:extLst>
          </p:cNvPr>
          <p:cNvSpPr>
            <a:spLocks noGrp="1"/>
          </p:cNvSpPr>
          <p:nvPr/>
        </p:nvSpPr>
        <p:spPr>
          <a:xfrm>
            <a:off x="5157216" y="5621319"/>
            <a:ext cx="6144768" cy="353568"/>
          </a:xfrm>
          <a:prstGeom prst="rect">
            <a:avLst/>
          </a:prstGeom>
          <a:noFill/>
        </p:spPr>
        <p:txBody>
          <a:bodyPr wrap="square" lIns="27432" tIns="27432" rIns="27432" bIns="27432" anchor="t">
            <a:spAutoFit/>
          </a:bodyPr>
          <a:lstStyle/>
          <a:p>
            <a:pPr algn="r">
              <a:lnSpc>
                <a:spcPct val="100000"/>
              </a:lnSpc>
              <a:spcBef>
                <a:spcPct val="0"/>
              </a:spcBef>
              <a:spcAft>
                <a:spcPct val="0"/>
              </a:spcAft>
              <a:buNone/>
            </a:pPr>
            <a:r>
              <a:rPr sz="980" b="0" i="0">
                <a:solidFill>
                  <a:srgbClr val="4E5A68"/>
                </a:solidFill>
                <a:latin typeface="Arial"/>
                <a:ea typeface="Arial"/>
                <a:cs typeface="Arial"/>
              </a:rPr>
              <a:t>42 is the design space; later slides show which categories have usable KDA calls and genes returned from KDA calls.</a:t>
            </a:r>
          </a:p>
        </p:txBody>
      </p:sp>
      <p:sp>
        <p:nvSpPr>
          <p:cNvPr id="62" name="TextBox 61">
            <a:extLst>
              <a:ext uri="{FF2B5EF4-FFF2-40B4-BE49-F238E27FC236}">
                <a16:creationId xmlns:a16="http://schemas.microsoft.com/office/drawing/2014/main" id="{A7CB8CE8-B4BA-4BDE-9C49-8FAB5177F6A8}"/>
              </a:ext>
            </a:extLst>
          </p:cNvPr>
          <p:cNvSpPr>
            <a:spLocks noGrp="1"/>
          </p:cNvSpPr>
          <p:nvPr/>
        </p:nvSpPr>
        <p:spPr>
          <a:xfrm>
            <a:off x="603504" y="2231828"/>
            <a:ext cx="10981944" cy="237744"/>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160" b="1" i="0">
                <a:solidFill>
                  <a:srgbClr val="9E3A00"/>
                </a:solidFill>
                <a:latin typeface="Arial"/>
                <a:ea typeface="Arial"/>
                <a:cs typeface="Arial"/>
              </a:rPr>
              <a:t>Genes returned from KDA calls are ranked separately within each category.</a:t>
            </a:r>
          </a:p>
        </p:txBody>
      </p:sp>
      <p:sp>
        <p:nvSpPr>
          <p:cNvPr id="63" name="Rounded Rectangle 62">
            <a:extLst>
              <a:ext uri="{FF2B5EF4-FFF2-40B4-BE49-F238E27FC236}">
                <a16:creationId xmlns:a16="http://schemas.microsoft.com/office/drawing/2014/main" id="{B83C867B-6719-61CC-B78E-6D222519F57E}"/>
              </a:ext>
            </a:extLst>
          </p:cNvPr>
          <p:cNvSpPr>
            <a:spLocks noGrp="1"/>
          </p:cNvSpPr>
          <p:nvPr/>
        </p:nvSpPr>
        <p:spPr>
          <a:xfrm>
            <a:off x="603504" y="6217231"/>
            <a:ext cx="10981944"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4" name="TextBox 63">
            <a:extLst>
              <a:ext uri="{FF2B5EF4-FFF2-40B4-BE49-F238E27FC236}">
                <a16:creationId xmlns:a16="http://schemas.microsoft.com/office/drawing/2014/main" id="{C194CD37-5809-AAED-3984-64508649098C}"/>
              </a:ext>
            </a:extLst>
          </p:cNvPr>
          <p:cNvSpPr>
            <a:spLocks noGrp="1"/>
          </p:cNvSpPr>
          <p:nvPr/>
        </p:nvSpPr>
        <p:spPr>
          <a:xfrm>
            <a:off x="822960" y="6336103"/>
            <a:ext cx="10533888" cy="3627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10" b="1" i="0">
                <a:solidFill>
                  <a:srgbClr val="9E3A00"/>
                </a:solidFill>
                <a:latin typeface="Arial"/>
                <a:ea typeface="Arial"/>
                <a:cs typeface="Arial"/>
              </a:rPr>
              <a:t>Why contrasts outnumber categories: many fine cell types map to one broad cell type; recurring genes returned from KDA calls are combined by equal-weight, returned-only ACAT.</a:t>
            </a:r>
          </a:p>
        </p:txBody>
      </p:sp>
    </p:spTree>
    <p:extLst>
      <p:ext uri="{BB962C8B-B14F-4D97-AF65-F5344CB8AC3E}">
        <p14:creationId val="2456595365"/>
      </p:ext>
    </p:extLst>
  </p:cSld>
  <p:clrMapOvr>
    <a:masterClrMapping/>
  </p:clrMapOvr>
  <p:transition/>
  <p:timing/>
</p:sld>
</file>

<file path=ppt/slides/slide1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itle"/>
          <p:cNvSpPr>
            <a:spLocks noGrp="1"/>
          </p:cNvSpPr>
          <p:nvPr/>
        </p:nvSpPr>
        <p:spPr>
          <a:xfrm>
            <a:off x="530352" y="411480"/>
            <a:ext cx="11000000" cy="520000"/>
          </a:xfrm>
          <a:prstGeom prst="rect">
            <a:avLst/>
          </a:prstGeom>
          <a:noFill/>
          <a:ln>
            <a:noFill/>
          </a:ln>
        </p:spPr>
        <p:txBody>
          <a:bodyPr wrap="square" lIns="100000" tIns="100000" rIns="100000" bIns="100000" anchor="t">
            <a:spAutoFit/>
          </a:bodyPr>
          <a:lstStyle/>
          <a:p>
            <a:pPr algn="l">
              <a:lnSpc>
                <a:spcPct val="100000"/>
              </a:lnSpc>
              <a:spcBef>
                <a:spcPct val="0"/>
              </a:spcBef>
              <a:spcAft>
                <a:spcPct val="0"/>
              </a:spcAft>
              <a:buNone/>
            </a:pPr>
            <a:r>
              <a:rPr sz="2450" b="1" i="0">
                <a:solidFill>
                  <a:srgbClr val="0F233D"/>
                </a:solidFill>
                <a:latin typeface="Arial"/>
                <a:ea typeface="Arial"/>
                <a:cs typeface="Arial"/>
              </a:rPr>
              <a:t>DEG and DEG occurrence</a:t>
            </a:r>
          </a:p>
        </p:txBody>
      </p:sp>
      <p:sp>
        <p:nvSpPr>
          <p:cNvPr id="4" name="Gene box"/>
          <p:cNvSpPr>
            <a:spLocks noGrp="1"/>
          </p:cNvSpPr>
          <p:nvPr/>
        </p:nvSpPr>
        <p:spPr>
          <a:xfrm>
            <a:off x="760000" y="2416112"/>
            <a:ext cx="2860000" cy="1360000"/>
          </a:xfrm>
          <a:prstGeom prst="roundRect">
            <a:avLst/>
          </a:prstGeom>
          <a:solidFill>
            <a:srgbClr val="EBF7FC"/>
          </a:solidFill>
          <a:ln w="12700">
            <a:solidFill>
              <a:srgbClr val="0072B2"/>
            </a:solidFill>
          </a:ln>
        </p:spPr>
        <p:txBody>
          <a:bodyPr wrap="square" lIns="120000" tIns="120000" rIns="120000" bIns="120000" anchor="ctr">
            <a:spAutoFit/>
          </a:bodyPr>
          <a:lstStyle/>
          <a:p>
            <a:pPr algn="ctr">
              <a:lnSpc>
                <a:spcPct val="100000"/>
              </a:lnSpc>
              <a:spcBef>
                <a:spcPct val="0"/>
              </a:spcBef>
              <a:spcAft>
                <a:spcPct val="0"/>
              </a:spcAft>
              <a:buNone/>
            </a:pPr>
            <a:r>
              <a:rPr sz="1900" b="1" i="0">
                <a:solidFill>
                  <a:srgbClr val="0072B2"/>
                </a:solidFill>
                <a:latin typeface="Arial"/>
                <a:ea typeface="Arial"/>
                <a:cs typeface="Arial"/>
              </a:rPr>
              <a:t>1</a:t>
            </a:r>
          </a:p>
          <a:p>
            <a:pPr algn="ctr">
              <a:lnSpc>
                <a:spcPct val="100000"/>
              </a:lnSpc>
              <a:spcBef>
                <a:spcPct val="0"/>
              </a:spcBef>
              <a:spcAft>
                <a:spcPct val="0"/>
              </a:spcAft>
              <a:buNone/>
            </a:pPr>
            <a:r>
              <a:rPr sz="1900" b="1" i="0">
                <a:solidFill>
                  <a:srgbClr val="0072B2"/>
                </a:solidFill>
                <a:latin typeface="Arial"/>
                <a:ea typeface="Arial"/>
                <a:cs typeface="Arial"/>
              </a:rPr>
              <a:t>DEG</a:t>
            </a:r>
          </a:p>
        </p:txBody>
      </p:sp>
      <p:sp>
        <p:nvSpPr>
          <p:cNvPr id="5" name="Times"/>
          <p:cNvSpPr>
            <a:spLocks noGrp="1"/>
          </p:cNvSpPr>
          <p:nvPr/>
        </p:nvSpPr>
        <p:spPr>
          <a:xfrm>
            <a:off x="3700000" y="2796112"/>
            <a:ext cx="420000" cy="500000"/>
          </a:xfrm>
          <a:prstGeom prst="rect">
            <a:avLst/>
          </a:prstGeom>
          <a:noFill/>
          <a:ln>
            <a:noFill/>
          </a:ln>
        </p:spPr>
        <p:txBody>
          <a:bodyPr wrap="square" lIns="0" tIns="0" rIns="0" bIns="0" anchor="ctr">
            <a:spAutoFit/>
          </a:bodyPr>
          <a:lstStyle/>
          <a:p>
            <a:pPr algn="ctr">
              <a:lnSpc>
                <a:spcPct val="100000"/>
              </a:lnSpc>
              <a:spcBef>
                <a:spcPct val="0"/>
              </a:spcBef>
              <a:spcAft>
                <a:spcPct val="0"/>
              </a:spcAft>
              <a:buNone/>
            </a:pPr>
            <a:r>
              <a:rPr sz="2400" b="1" i="0">
                <a:solidFill>
                  <a:srgbClr val="4E5A68"/>
                </a:solidFill>
                <a:latin typeface="Arial"/>
                <a:ea typeface="Arial"/>
                <a:cs typeface="Arial"/>
              </a:rPr>
              <a:t>×</a:t>
            </a:r>
          </a:p>
        </p:txBody>
      </p:sp>
      <p:sp>
        <p:nvSpPr>
          <p:cNvPr id="6" name="Contrast box"/>
          <p:cNvSpPr>
            <a:spLocks noGrp="1"/>
          </p:cNvSpPr>
          <p:nvPr/>
        </p:nvSpPr>
        <p:spPr>
          <a:xfrm>
            <a:off x="4200000" y="2416112"/>
            <a:ext cx="3000000" cy="1360000"/>
          </a:xfrm>
          <a:prstGeom prst="roundRect">
            <a:avLst/>
          </a:prstGeom>
          <a:solidFill>
            <a:srgbClr val="E4F4EE"/>
          </a:solidFill>
          <a:ln w="12700">
            <a:solidFill>
              <a:srgbClr val="009E73"/>
            </a:solidFill>
          </a:ln>
        </p:spPr>
        <p:txBody>
          <a:bodyPr wrap="square" lIns="120000" tIns="120000" rIns="120000" bIns="120000" anchor="ctr">
            <a:spAutoFit/>
          </a:bodyPr>
          <a:lstStyle/>
          <a:p>
            <a:pPr algn="ctr">
              <a:lnSpc>
                <a:spcPct val="100000"/>
              </a:lnSpc>
              <a:spcBef>
                <a:spcPct val="0"/>
              </a:spcBef>
              <a:spcAft>
                <a:spcPct val="0"/>
              </a:spcAft>
              <a:buNone/>
            </a:pPr>
            <a:r>
              <a:rPr sz="1900" b="1" i="0">
                <a:solidFill>
                  <a:srgbClr val="00684D"/>
                </a:solidFill>
                <a:latin typeface="Arial"/>
                <a:ea typeface="Arial"/>
                <a:cs typeface="Arial"/>
              </a:rPr>
              <a:t>1</a:t>
            </a:r>
          </a:p>
          <a:p>
            <a:pPr algn="ctr">
              <a:lnSpc>
                <a:spcPct val="100000"/>
              </a:lnSpc>
              <a:spcBef>
                <a:spcPct val="0"/>
              </a:spcBef>
              <a:spcAft>
                <a:spcPct val="0"/>
              </a:spcAft>
              <a:buNone/>
            </a:pPr>
            <a:r>
              <a:rPr sz="1900" b="1" i="0">
                <a:solidFill>
                  <a:srgbClr val="00684D"/>
                </a:solidFill>
                <a:latin typeface="Arial"/>
                <a:ea typeface="Arial"/>
                <a:cs typeface="Arial"/>
              </a:rPr>
              <a:t>FINE-CELL CONTRAST</a:t>
            </a:r>
          </a:p>
        </p:txBody>
      </p:sp>
      <p:sp>
        <p:nvSpPr>
          <p:cNvPr id="7" name="Equals"/>
          <p:cNvSpPr>
            <a:spLocks noGrp="1"/>
          </p:cNvSpPr>
          <p:nvPr/>
        </p:nvSpPr>
        <p:spPr>
          <a:xfrm>
            <a:off x="7310000" y="2796112"/>
            <a:ext cx="420000" cy="500000"/>
          </a:xfrm>
          <a:prstGeom prst="rect">
            <a:avLst/>
          </a:prstGeom>
          <a:noFill/>
          <a:ln>
            <a:noFill/>
          </a:ln>
        </p:spPr>
        <p:txBody>
          <a:bodyPr wrap="square" lIns="0" tIns="0" rIns="0" bIns="0" anchor="ctr">
            <a:spAutoFit/>
          </a:bodyPr>
          <a:lstStyle/>
          <a:p>
            <a:pPr algn="ctr">
              <a:lnSpc>
                <a:spcPct val="100000"/>
              </a:lnSpc>
              <a:spcBef>
                <a:spcPct val="0"/>
              </a:spcBef>
              <a:spcAft>
                <a:spcPct val="0"/>
              </a:spcAft>
              <a:buNone/>
            </a:pPr>
            <a:r>
              <a:rPr sz="2400" b="1" i="0">
                <a:solidFill>
                  <a:srgbClr val="4E5A68"/>
                </a:solidFill>
                <a:latin typeface="Arial"/>
                <a:ea typeface="Arial"/>
                <a:cs typeface="Arial"/>
              </a:rPr>
              <a:t>=</a:t>
            </a:r>
          </a:p>
        </p:txBody>
      </p:sp>
      <p:sp>
        <p:nvSpPr>
          <p:cNvPr id="8" name="Occurrence box"/>
          <p:cNvSpPr>
            <a:spLocks noGrp="1"/>
          </p:cNvSpPr>
          <p:nvPr/>
        </p:nvSpPr>
        <p:spPr>
          <a:xfrm>
            <a:off x="7800000" y="2416112"/>
            <a:ext cx="3600000" cy="1360000"/>
          </a:xfrm>
          <a:prstGeom prst="roundRect">
            <a:avLst/>
          </a:prstGeom>
          <a:solidFill>
            <a:srgbClr val="FDEBE4"/>
          </a:solidFill>
          <a:ln w="12700">
            <a:solidFill>
              <a:srgbClr val="D55E00"/>
            </a:solidFill>
          </a:ln>
        </p:spPr>
        <p:txBody>
          <a:bodyPr wrap="square" lIns="120000" tIns="120000" rIns="120000" bIns="120000" anchor="ctr">
            <a:spAutoFit/>
          </a:bodyPr>
          <a:lstStyle/>
          <a:p>
            <a:pPr algn="ctr">
              <a:lnSpc>
                <a:spcPct val="100000"/>
              </a:lnSpc>
              <a:spcBef>
                <a:spcPct val="0"/>
              </a:spcBef>
              <a:spcAft>
                <a:spcPct val="0"/>
              </a:spcAft>
              <a:buNone/>
            </a:pPr>
            <a:r>
              <a:rPr sz="1900" b="1" i="0">
                <a:solidFill>
                  <a:srgbClr val="9E3A00"/>
                </a:solidFill>
                <a:latin typeface="Arial"/>
                <a:ea typeface="Arial"/>
                <a:cs typeface="Arial"/>
              </a:rPr>
              <a:t>1</a:t>
            </a:r>
          </a:p>
          <a:p>
            <a:pPr algn="ctr">
              <a:lnSpc>
                <a:spcPct val="100000"/>
              </a:lnSpc>
              <a:spcBef>
                <a:spcPct val="0"/>
              </a:spcBef>
              <a:spcAft>
                <a:spcPct val="0"/>
              </a:spcAft>
              <a:buNone/>
            </a:pPr>
            <a:r>
              <a:rPr sz="1900" b="1" i="0">
                <a:solidFill>
                  <a:srgbClr val="9E3A00"/>
                </a:solidFill>
                <a:latin typeface="Arial"/>
                <a:ea typeface="Arial"/>
                <a:cs typeface="Arial"/>
              </a:rPr>
              <a:t>DEG OCCURRENCE</a:t>
            </a:r>
          </a:p>
        </p:txBody>
      </p:sp>
      <p:sp>
        <p:nvSpPr>
          <p:cNvPr id="9" name="Repeated evidence"/>
          <p:cNvSpPr>
            <a:spLocks noGrp="1"/>
          </p:cNvSpPr>
          <p:nvPr/>
        </p:nvSpPr>
        <p:spPr>
          <a:xfrm>
            <a:off x="950000" y="3894944"/>
            <a:ext cx="10200000" cy="520000"/>
          </a:xfrm>
          <a:prstGeom prst="rect">
            <a:avLst/>
          </a:prstGeom>
          <a:noFill/>
          <a:ln>
            <a:noFill/>
          </a:ln>
        </p:spPr>
        <p:txBody>
          <a:bodyPr wrap="square" lIns="50000" tIns="50000" rIns="50000" bIns="50000" anchor="ctr">
            <a:spAutoFit/>
          </a:bodyPr>
          <a:lstStyle/>
          <a:p>
            <a:pPr algn="ctr">
              <a:lnSpc>
                <a:spcPct val="100000"/>
              </a:lnSpc>
              <a:spcBef>
                <a:spcPct val="0"/>
              </a:spcBef>
              <a:spcAft>
                <a:spcPct val="0"/>
              </a:spcAft>
              <a:buNone/>
            </a:pPr>
            <a:r>
              <a:rPr sz="1500" b="1" i="0">
                <a:solidFill>
                  <a:srgbClr val="0F233D"/>
                </a:solidFill>
                <a:latin typeface="Arial"/>
                <a:ea typeface="Arial"/>
                <a:cs typeface="Arial"/>
              </a:rPr>
              <a:t>The same gene contributes another occurrence when it is a DEG in another fine-cell contrast.</a:t>
            </a:r>
          </a:p>
        </p:txBody>
      </p:sp>
      <p:sp>
        <p:nvSpPr>
          <p:cNvPr id="10" name="Example box"/>
          <p:cNvSpPr>
            <a:spLocks noGrp="1"/>
          </p:cNvSpPr>
          <p:nvPr/>
        </p:nvSpPr>
        <p:spPr>
          <a:xfrm>
            <a:off x="1370000" y="4636072"/>
            <a:ext cx="9450000" cy="1500000"/>
          </a:xfrm>
          <a:prstGeom prst="roundRect">
            <a:avLst/>
          </a:prstGeom>
          <a:solidFill>
            <a:srgbClr val="E4F4EE"/>
          </a:solidFill>
          <a:ln w="12700">
            <a:solidFill>
              <a:srgbClr val="C9DDD7"/>
            </a:solidFill>
          </a:ln>
        </p:spPr>
        <p:txBody>
          <a:bodyPr wrap="square" lIns="180000" tIns="180000" rIns="180000" bIns="180000" anchor="ctr">
            <a:spAutoFit/>
          </a:bodyPr>
          <a:lstStyle/>
          <a:p>
            <a:pPr algn="ctr">
              <a:lnSpc>
                <a:spcPct val="100000"/>
              </a:lnSpc>
              <a:spcBef>
                <a:spcPct val="0"/>
              </a:spcBef>
              <a:spcAft>
                <a:spcPct val="0"/>
              </a:spcAft>
              <a:buNone/>
            </a:pPr>
            <a:r>
              <a:rPr sz="1550" b="1" i="0">
                <a:solidFill>
                  <a:srgbClr val="00684D"/>
                </a:solidFill>
                <a:latin typeface="Arial"/>
                <a:ea typeface="Arial"/>
                <a:cs typeface="Arial"/>
              </a:rPr>
              <a:t>Example: Gene A is a DEG in three fine-cell contrasts</a:t>
            </a:r>
          </a:p>
          <a:p>
            <a:pPr algn="ctr">
              <a:lnSpc>
                <a:spcPct val="100000"/>
              </a:lnSpc>
              <a:spcBef>
                <a:spcPct val="0"/>
              </a:spcBef>
              <a:spcAft>
                <a:spcPct val="0"/>
              </a:spcAft>
              <a:buNone/>
            </a:pPr>
            <a:endParaRPr sz="1550" b="1" i="0">
              <a:solidFill>
                <a:srgbClr val="00684D"/>
              </a:solidFill>
              <a:latin typeface="Arial"/>
              <a:ea typeface="Arial"/>
              <a:cs typeface="Arial"/>
            </a:endParaRPr>
          </a:p>
          <a:p>
            <a:pPr algn="ctr">
              <a:lnSpc>
                <a:spcPct val="100000"/>
              </a:lnSpc>
              <a:spcBef>
                <a:spcPct val="0"/>
              </a:spcBef>
              <a:spcAft>
                <a:spcPct val="0"/>
              </a:spcAft>
              <a:buNone/>
            </a:pPr>
            <a:r>
              <a:rPr sz="1550" b="1" i="0">
                <a:solidFill>
                  <a:srgbClr val="00684D"/>
                </a:solidFill>
                <a:latin typeface="Arial"/>
                <a:ea typeface="Arial"/>
                <a:cs typeface="Arial"/>
              </a:rPr>
              <a:t>3 DEG occurrences     1 unique gene</a:t>
            </a:r>
          </a:p>
        </p:txBody>
      </p:sp>
      <p:sp>
        <p:nvSpPr>
          <p:cNvPr id="11" name="Interpretation"/>
          <p:cNvSpPr>
            <a:spLocks noGrp="1"/>
          </p:cNvSpPr>
          <p:nvPr/>
        </p:nvSpPr>
        <p:spPr>
          <a:xfrm>
            <a:off x="1370000" y="6327295"/>
            <a:ext cx="9450000" cy="350082"/>
          </a:xfrm>
          <a:prstGeom prst="roundRect">
            <a:avLst/>
          </a:prstGeom>
          <a:solidFill>
            <a:srgbClr val="FFFFFF"/>
          </a:solidFill>
          <a:ln w="12700">
            <a:solidFill>
              <a:srgbClr val="D7E1EC"/>
            </a:solidFill>
          </a:ln>
        </p:spPr>
        <p:txBody>
          <a:bodyPr wrap="square" lIns="50000" tIns="50000" rIns="50000" bIns="50000" anchor="ctr">
            <a:spAutoFit/>
          </a:bodyPr>
          <a:lstStyle/>
          <a:p>
            <a:pPr algn="ctr">
              <a:lnSpc>
                <a:spcPct val="100000"/>
              </a:lnSpc>
              <a:spcBef>
                <a:spcPct val="0"/>
              </a:spcBef>
              <a:spcAft>
                <a:spcPct val="0"/>
              </a:spcAft>
              <a:buNone/>
            </a:pPr>
            <a:r>
              <a:rPr sz="1400" b="1" i="0">
                <a:latin typeface="Arial"/>
                <a:ea typeface="Arial"/>
                <a:cs typeface="Arial"/>
              </a:rPr>
              <a:t>Occurrence counts repeat DEGs across contrasts. Unique-gene counts count each gene once.</a:t>
            </a:r>
          </a:p>
        </p:txBody>
      </p:sp>
      <p:sp>
        <p:nvSpPr>
          <p:cNvPr id="12" name="Example box">
            <a:extLst>
              <a:ext uri="{FF2B5EF4-FFF2-40B4-BE49-F238E27FC236}">
                <a16:creationId xmlns:a16="http://schemas.microsoft.com/office/drawing/2014/main" id="{98A82523-6157-948B-7B62-74813E73F3E9}"/>
              </a:ext>
            </a:extLst>
          </p:cNvPr>
          <p:cNvSpPr>
            <a:spLocks noGrp="1"/>
          </p:cNvSpPr>
          <p:nvPr/>
        </p:nvSpPr>
        <p:spPr>
          <a:xfrm>
            <a:off x="760000" y="1111869"/>
            <a:ext cx="10640000" cy="981069"/>
          </a:xfrm>
          <a:prstGeom prst="roundRect">
            <a:avLst/>
          </a:prstGeom>
          <a:solidFill>
            <a:schemeClr val="accent1">
              <a:lumMod val="20000"/>
              <a:lumOff val="80000"/>
            </a:schemeClr>
          </a:solidFill>
          <a:ln w="12700">
            <a:solidFill>
              <a:srgbClr val="C9DDD7"/>
            </a:solidFill>
          </a:ln>
        </p:spPr>
        <p:txBody>
          <a:bodyPr wrap="square" lIns="180000" tIns="180000" rIns="180000" bIns="180000" anchor="ctr">
            <a:spAutoFit/>
          </a:bodyPr>
          <a:lstStyle/>
          <a:p>
            <a:r>
              <a:rPr lang="en-US" sz="1600">
                <a:solidFill>
                  <a:srgbClr val="4E5A68"/>
                </a:solidFill>
                <a:latin typeface="Arial"/>
                <a:ea typeface="Arial"/>
                <a:cs typeface="Arial"/>
              </a:rPr>
              <a:t>A gene is a </a:t>
            </a:r>
            <a:r>
              <a:rPr lang="en-US" sz="1600" b="1">
                <a:solidFill>
                  <a:srgbClr val="FF0000"/>
                </a:solidFill>
                <a:latin typeface="Arial"/>
                <a:ea typeface="Arial"/>
                <a:cs typeface="Arial"/>
              </a:rPr>
              <a:t>DEG</a:t>
            </a:r>
            <a:r>
              <a:rPr lang="en-US" sz="1600">
                <a:solidFill>
                  <a:srgbClr val="4E5A68"/>
                </a:solidFill>
                <a:latin typeface="Arial"/>
                <a:ea typeface="Arial"/>
                <a:cs typeface="Arial"/>
              </a:rPr>
              <a:t> within one fine-cell contrast when it meets both criteria:</a:t>
            </a:r>
          </a:p>
          <a:p>
            <a:r>
              <a:rPr lang="en-US" sz="1600">
                <a:solidFill>
                  <a:srgbClr val="0072B2"/>
                </a:solidFill>
                <a:latin typeface="Arial"/>
                <a:ea typeface="Arial"/>
                <a:cs typeface="Arial"/>
              </a:rPr>
              <a:t>BH-adjusted P &lt; 0.05 and |log₂ fold change| &gt; log₂(1.3) (≈ 0.38).</a:t>
            </a:r>
          </a:p>
        </p:txBody>
      </p:sp>
    </p:spTree>
    <p:extLst>
      <p:ext uri="{BB962C8B-B14F-4D97-AF65-F5344CB8AC3E}">
        <p14:creationId val="847836417"/>
      </p:ext>
    </p:extLst>
  </p:cSld>
  <p:clrMapOvr>
    <a:masterClrMapping/>
  </p:clrMapOvr>
  <p:transition/>
  <p:timing/>
</p:sld>
</file>

<file path=ppt/slides/slide1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0F233D"/>
        </a:solidFill>
        <a:effectLst/>
      </p:bgPr>
    </p:bg>
    <p:spTree>
      <p:nvGrpSpPr>
        <p:cNvPr id="1" name=""/>
        <p:cNvGrpSpPr/>
        <p:nvPr/>
      </p:nvGrpSpPr>
      <p:grpSpPr>
        <a:xfrm>
          <a:off x="0" y="0"/>
          <a:ext cx="0" cy="0"/>
        </a:xfrm>
      </p:grpSpPr>
      <p:sp>
        <p:nvSpPr>
          <p:cNvPr id="3" name="TextBox 2">
            <a:extLst>
              <a:ext uri="{FF2B5EF4-FFF2-40B4-BE49-F238E27FC236}">
                <a16:creationId xmlns:a16="http://schemas.microsoft.com/office/drawing/2014/main" id="{0A316EEB-069D-41A8-577B-5F43F368006E}"/>
              </a:ext>
            </a:extLst>
          </p:cNvPr>
          <p:cNvSpPr>
            <a:spLocks noGrp="1"/>
          </p:cNvSpPr>
          <p:nvPr/>
        </p:nvSpPr>
        <p:spPr>
          <a:xfrm>
            <a:off x="713232" y="1285018"/>
            <a:ext cx="10287000" cy="886397"/>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DEG Analysis</a:t>
            </a:r>
            <a:b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20F86007-9552-FFC3-B183-B90F517A5A0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050" b="1" i="0">
                <a:solidFill>
                  <a:srgbClr val="0072B2"/>
                </a:solidFill>
                <a:latin typeface="Arial"/>
                <a:ea typeface="Arial"/>
                <a:cs typeface="Arial"/>
              </a:rPr>
              <a:t>PART 2</a:t>
            </a:r>
          </a:p>
        </p:txBody>
      </p:sp>
    </p:spTree>
    <p:extLst>
      <p:ext uri="{BB962C8B-B14F-4D97-AF65-F5344CB8AC3E}">
        <p14:creationId val="1572448250"/>
      </p:ext>
    </p:extLst>
  </p:cSld>
  <p:clrMapOvr>
    <a:masterClrMapping/>
  </p:clrMapOvr>
  <p:transition/>
  <p:timing/>
</p:sld>
</file>

<file path=ppt/slides/slide1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5650B09C-4D0A-47F0-84CE-851C400294B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450" b="1" i="0">
                <a:solidFill>
                  <a:srgbClr val="0F233D"/>
                </a:solidFill>
                <a:latin typeface="Arial"/>
                <a:ea typeface="Arial"/>
                <a:cs typeface="Arial"/>
              </a:rPr>
              <a:t>Overall DEG counts vary across sex/APOE groups</a:t>
            </a:r>
          </a:p>
        </p:txBody>
      </p:sp>
      <p:sp>
        <p:nvSpPr>
          <p:cNvPr id="3" name="TextBox 2">
            <a:extLst>
              <a:ext uri="{FF2B5EF4-FFF2-40B4-BE49-F238E27FC236}">
                <a16:creationId xmlns:a16="http://schemas.microsoft.com/office/drawing/2014/main" id="{E8473722-5B37-4654-A9C8-AAC87D0440E8}"/>
              </a:ext>
            </a:extLst>
          </p:cNvPr>
          <p:cNvSpPr>
            <a:spLocks noGrp="1"/>
          </p:cNvSpPr>
          <p:nvPr/>
        </p:nvSpPr>
        <p:spPr>
          <a:xfrm>
            <a:off x="548640" y="861567"/>
            <a:ext cx="10561320" cy="227755"/>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20" b="0" i="0">
                <a:solidFill>
                  <a:srgbClr val="4E5A68"/>
                </a:solidFill>
                <a:latin typeface="Arial"/>
                <a:ea typeface="Arial"/>
                <a:cs typeface="Arial"/>
              </a:rPr>
              <a:t>All genes; each count is one DEG occurrence from one fine-cell AD-versus-NCI contrast.</a:t>
            </a:r>
          </a:p>
        </p:txBody>
      </p:sp>
      <p:sp>
        <p:nvSpPr>
          <p:cNvPr id="4" name="Rounded Rectangle 3">
            <a:extLst>
              <a:ext uri="{FF2B5EF4-FFF2-40B4-BE49-F238E27FC236}">
                <a16:creationId xmlns:a16="http://schemas.microsoft.com/office/drawing/2014/main" id="{D8AE6BF2-D0CF-42F8-94CD-98CFE6F44DD7}"/>
              </a:ext>
            </a:extLst>
          </p:cNvPr>
          <p:cNvSpPr>
            <a:spLocks noGrp="1"/>
          </p:cNvSpPr>
          <p:nvPr/>
        </p:nvSpPr>
        <p:spPr>
          <a:xfrm>
            <a:off x="658368"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0E5C88F-6CE1-43C6-971F-770E5D4BA0FA}"/>
              </a:ext>
            </a:extLst>
          </p:cNvPr>
          <p:cNvSpPr>
            <a:spLocks noGrp="1"/>
          </p:cNvSpPr>
          <p:nvPr/>
        </p:nvSpPr>
        <p:spPr>
          <a:xfrm>
            <a:off x="822959" y="1310641"/>
            <a:ext cx="1170432" cy="34747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300" b="1" i="0">
                <a:solidFill>
                  <a:srgbClr val="0072B2"/>
                </a:solidFill>
                <a:latin typeface="Arial"/>
                <a:ea typeface="Arial"/>
                <a:cs typeface="Arial"/>
              </a:rPr>
              <a:t>321</a:t>
            </a:r>
          </a:p>
        </p:txBody>
      </p:sp>
      <p:sp>
        <p:nvSpPr>
          <p:cNvPr id="6" name="TextBox 5">
            <a:extLst>
              <a:ext uri="{FF2B5EF4-FFF2-40B4-BE49-F238E27FC236}">
                <a16:creationId xmlns:a16="http://schemas.microsoft.com/office/drawing/2014/main" id="{F99010AA-ED42-4086-B32F-37D37A40B545}"/>
              </a:ext>
            </a:extLst>
          </p:cNvPr>
          <p:cNvSpPr>
            <a:spLocks noGrp="1"/>
          </p:cNvSpPr>
          <p:nvPr/>
        </p:nvSpPr>
        <p:spPr>
          <a:xfrm>
            <a:off x="2048256" y="1314491"/>
            <a:ext cx="1828800" cy="393954"/>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100" b="1" i="0">
                <a:solidFill>
                  <a:srgbClr val="0F233D"/>
                </a:solidFill>
                <a:latin typeface="Arial"/>
                <a:ea typeface="Arial"/>
                <a:cs typeface="Arial"/>
              </a:rPr>
              <a:t>of 324 planned contrasts have enough cells.</a:t>
            </a:r>
          </a:p>
        </p:txBody>
      </p:sp>
      <p:sp>
        <p:nvSpPr>
          <p:cNvPr id="7" name="Rounded Rectangle 6">
            <a:extLst>
              <a:ext uri="{FF2B5EF4-FFF2-40B4-BE49-F238E27FC236}">
                <a16:creationId xmlns:a16="http://schemas.microsoft.com/office/drawing/2014/main" id="{98A0FD29-D12C-4F6B-A119-773CE09124F6}"/>
              </a:ext>
            </a:extLst>
          </p:cNvPr>
          <p:cNvSpPr>
            <a:spLocks noGrp="1"/>
          </p:cNvSpPr>
          <p:nvPr/>
        </p:nvSpPr>
        <p:spPr>
          <a:xfrm>
            <a:off x="4398264"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6E4D690A-DFEA-44D7-A12A-7D5256786E1B}"/>
              </a:ext>
            </a:extLst>
          </p:cNvPr>
          <p:cNvSpPr>
            <a:spLocks noGrp="1"/>
          </p:cNvSpPr>
          <p:nvPr/>
        </p:nvSpPr>
        <p:spPr>
          <a:xfrm>
            <a:off x="4562855" y="1310641"/>
            <a:ext cx="1170432" cy="34747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300" b="1" i="0">
                <a:solidFill>
                  <a:srgbClr val="0072B2"/>
                </a:solidFill>
                <a:latin typeface="Arial"/>
                <a:ea typeface="Arial"/>
                <a:cs typeface="Arial"/>
              </a:rPr>
              <a:t>277</a:t>
            </a:r>
          </a:p>
        </p:txBody>
      </p:sp>
      <p:sp>
        <p:nvSpPr>
          <p:cNvPr id="9" name="TextBox 8">
            <a:extLst>
              <a:ext uri="{FF2B5EF4-FFF2-40B4-BE49-F238E27FC236}">
                <a16:creationId xmlns:a16="http://schemas.microsoft.com/office/drawing/2014/main" id="{26F99527-EECB-4761-8873-875DD10921AF}"/>
              </a:ext>
            </a:extLst>
          </p:cNvPr>
          <p:cNvSpPr>
            <a:spLocks noGrp="1"/>
          </p:cNvSpPr>
          <p:nvPr/>
        </p:nvSpPr>
        <p:spPr>
          <a:xfrm>
            <a:off x="5788152" y="1358734"/>
            <a:ext cx="1828800" cy="237744"/>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100" b="1" i="0">
                <a:solidFill>
                  <a:srgbClr val="0F233D"/>
                </a:solidFill>
                <a:latin typeface="Arial"/>
                <a:ea typeface="Arial"/>
                <a:cs typeface="Arial"/>
              </a:rPr>
              <a:t>of 321 estimable comparisons had at least one DEG</a:t>
            </a:r>
          </a:p>
        </p:txBody>
      </p:sp>
      <p:sp>
        <p:nvSpPr>
          <p:cNvPr id="11" name="Rounded Rectangle 10">
            <a:extLst>
              <a:ext uri="{FF2B5EF4-FFF2-40B4-BE49-F238E27FC236}">
                <a16:creationId xmlns:a16="http://schemas.microsoft.com/office/drawing/2014/main" id="{CE980754-5288-410C-9D81-9B8EFFDCB7B2}"/>
              </a:ext>
            </a:extLst>
          </p:cNvPr>
          <p:cNvSpPr>
            <a:spLocks noGrp="1"/>
          </p:cNvSpPr>
          <p:nvPr/>
        </p:nvSpPr>
        <p:spPr>
          <a:xfrm>
            <a:off x="8138160"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AFFD5AF3-A618-4E76-B0F5-AA1C8BB43020}"/>
              </a:ext>
            </a:extLst>
          </p:cNvPr>
          <p:cNvSpPr>
            <a:spLocks noGrp="1"/>
          </p:cNvSpPr>
          <p:nvPr/>
        </p:nvSpPr>
        <p:spPr>
          <a:xfrm>
            <a:off x="8302752" y="1310641"/>
            <a:ext cx="1170432" cy="34747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300" b="1" i="0">
                <a:solidFill>
                  <a:srgbClr val="0072B2"/>
                </a:solidFill>
                <a:latin typeface="Arial"/>
                <a:ea typeface="Arial"/>
                <a:cs typeface="Arial"/>
              </a:rPr>
              <a:t>118,297</a:t>
            </a:r>
          </a:p>
        </p:txBody>
      </p:sp>
      <p:sp>
        <p:nvSpPr>
          <p:cNvPr id="13" name="TextBox 12">
            <a:extLst>
              <a:ext uri="{FF2B5EF4-FFF2-40B4-BE49-F238E27FC236}">
                <a16:creationId xmlns:a16="http://schemas.microsoft.com/office/drawing/2014/main" id="{2B0F084A-B43C-4E28-9D0D-E60D0A60A20B}"/>
              </a:ext>
            </a:extLst>
          </p:cNvPr>
          <p:cNvSpPr>
            <a:spLocks noGrp="1"/>
          </p:cNvSpPr>
          <p:nvPr/>
        </p:nvSpPr>
        <p:spPr>
          <a:xfrm>
            <a:off x="9528048" y="1274065"/>
            <a:ext cx="1828800" cy="237744"/>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100" b="1" i="0">
                <a:solidFill>
                  <a:srgbClr val="0F233D"/>
                </a:solidFill>
                <a:latin typeface="Arial"/>
                <a:ea typeface="Arial"/>
                <a:cs typeface="Arial"/>
              </a:rPr>
              <a:t>DEG occurrences</a:t>
            </a:r>
          </a:p>
        </p:txBody>
      </p:sp>
      <p:sp>
        <p:nvSpPr>
          <p:cNvPr id="14" name="TextBox 13">
            <a:extLst>
              <a:ext uri="{FF2B5EF4-FFF2-40B4-BE49-F238E27FC236}">
                <a16:creationId xmlns:a16="http://schemas.microsoft.com/office/drawing/2014/main" id="{C21281E1-0F01-4EAF-AF2A-DC9B0C3B143B}"/>
              </a:ext>
            </a:extLst>
          </p:cNvPr>
          <p:cNvSpPr>
            <a:spLocks noGrp="1"/>
          </p:cNvSpPr>
          <p:nvPr/>
        </p:nvSpPr>
        <p:spPr>
          <a:xfrm>
            <a:off x="9528048" y="1539241"/>
            <a:ext cx="1828800" cy="201168"/>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919" b="0" i="0">
                <a:solidFill>
                  <a:srgbClr val="4E5A68"/>
                </a:solidFill>
                <a:latin typeface="Arial"/>
                <a:ea typeface="Arial"/>
                <a:cs typeface="Arial"/>
              </a:rPr>
              <a:t>14,840 distinct genes represented</a:t>
            </a:r>
          </a:p>
        </p:txBody>
      </p:sp>
      <p:pic>
        <p:nvPicPr>
          <p:cNvPr id="32" name="Stacked horizontal bar chart of all ROSMAP fine-cell DEG occurrences across six sex/APOE groups. Blue segments show genes up-regulated in Alzheimer’s disease and hatched orange segments show genes down-regulated in Alzheimer’s disease."/>
          <p:cNvPicPr>
            <a:picLocks noChangeAspect="1"/>
          </p:cNvPicPr>
          <p:nvPr/>
        </p:nvPicPr>
        <p:blipFill>
          <a:blip r:embed="rId3"/>
          <a:stretch>
            <a:fillRect/>
          </a:stretch>
        </p:blipFill>
        <p:spPr>
          <a:xfrm>
            <a:off x="658368" y="2069326"/>
            <a:ext cx="10881360" cy="3139970"/>
          </a:xfrm>
          <a:prstGeom prst="rect">
            <a:avLst/>
          </a:prstGeom>
        </p:spPr>
      </p:pic>
      <p:sp>
        <p:nvSpPr>
          <p:cNvPr id="16" name="Rounded Rectangle 15">
            <a:extLst>
              <a:ext uri="{FF2B5EF4-FFF2-40B4-BE49-F238E27FC236}">
                <a16:creationId xmlns:a16="http://schemas.microsoft.com/office/drawing/2014/main" id="{6694235D-55CF-49EF-A672-C9778E61257F}"/>
              </a:ext>
            </a:extLst>
          </p:cNvPr>
          <p:cNvSpPr>
            <a:spLocks noGrp="1"/>
          </p:cNvSpPr>
          <p:nvPr/>
        </p:nvSpPr>
        <p:spPr>
          <a:xfrm>
            <a:off x="658368" y="5596128"/>
            <a:ext cx="10881360" cy="658368"/>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3EF7780-BF1A-49FD-8AE0-8480E45DC812}"/>
              </a:ext>
            </a:extLst>
          </p:cNvPr>
          <p:cNvSpPr>
            <a:spLocks noGrp="1"/>
          </p:cNvSpPr>
          <p:nvPr/>
        </p:nvSpPr>
        <p:spPr>
          <a:xfrm>
            <a:off x="923544" y="5797296"/>
            <a:ext cx="118872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200" b="1" i="0">
                <a:solidFill>
                  <a:srgbClr val="7E4C9A"/>
                </a:solidFill>
                <a:latin typeface="Arial"/>
                <a:ea typeface="Arial"/>
                <a:cs typeface="Arial"/>
              </a:rPr>
              <a:t>Key patterns</a:t>
            </a:r>
          </a:p>
        </p:txBody>
      </p:sp>
      <p:sp>
        <p:nvSpPr>
          <p:cNvPr id="18" name="TextBox 17">
            <a:extLst>
              <a:ext uri="{FF2B5EF4-FFF2-40B4-BE49-F238E27FC236}">
                <a16:creationId xmlns:a16="http://schemas.microsoft.com/office/drawing/2014/main" id="{BD8B6944-62D2-41F5-BA50-537C49D71BF8}"/>
              </a:ext>
            </a:extLst>
          </p:cNvPr>
          <p:cNvSpPr>
            <a:spLocks noGrp="1"/>
          </p:cNvSpPr>
          <p:nvPr/>
        </p:nvSpPr>
        <p:spPr>
          <a:xfrm>
            <a:off x="2212848" y="5776219"/>
            <a:ext cx="8924544" cy="261610"/>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340" b="0" i="0">
                <a:solidFill>
                  <a:srgbClr val="1F2730"/>
                </a:solidFill>
                <a:latin typeface="Arial"/>
                <a:ea typeface="Arial"/>
                <a:cs typeface="Arial"/>
              </a:rPr>
              <a:t>Male ε2 had the largest DEG count; female ε4 was strongly dominated by down-regulated genes (76%).</a:t>
            </a:r>
          </a:p>
        </p:txBody>
      </p:sp>
    </p:spTree>
    <p:extLst>
      <p:ext uri="{BB962C8B-B14F-4D97-AF65-F5344CB8AC3E}">
        <p14:creationId val="1333038119"/>
      </p:ext>
    </p:extLst>
  </p:cSld>
  <p:clrMapOvr>
    <a:masterClrMapping/>
  </p:clrMapOvr>
  <p:transition/>
  <p:timing/>
</p:sld>
</file>

<file path=ppt/slides/slide1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0F233D"/>
        </a:solidFill>
        <a:effectLst/>
      </p:bgPr>
    </p:bg>
    <p:spTree>
      <p:nvGrpSpPr>
        <p:cNvPr id="1" name=""/>
        <p:cNvGrpSpPr/>
        <p:nvPr/>
      </p:nvGrpSpPr>
      <p:grpSpPr>
        <a:xfrm>
          <a:off x="0" y="0"/>
          <a:ext cx="0" cy="0"/>
        </a:xfrm>
      </p:grpSpPr>
      <p:sp>
        <p:nvSpPr>
          <p:cNvPr id="3" name="TextBox 2">
            <a:extLst>
              <a:ext uri="{FF2B5EF4-FFF2-40B4-BE49-F238E27FC236}">
                <a16:creationId xmlns:a16="http://schemas.microsoft.com/office/drawing/2014/main" id="{F6449442-E04A-2746-AD1A-39210122B8CC}"/>
              </a:ext>
            </a:extLst>
          </p:cNvPr>
          <p:cNvSpPr>
            <a:spLocks noGrp="1"/>
          </p:cNvSpPr>
          <p:nvPr/>
        </p:nvSpPr>
        <p:spPr>
          <a:xfrm>
            <a:off x="713232" y="1438906"/>
            <a:ext cx="10287000" cy="57862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Pathway analysis</a:t>
            </a: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C52DFCBC-DC31-CFCB-BB0B-646BD49CF412}"/>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050" b="1" i="0">
                <a:solidFill>
                  <a:srgbClr val="0072B2"/>
                </a:solidFill>
                <a:latin typeface="Arial"/>
                <a:ea typeface="Arial"/>
                <a:cs typeface="Arial"/>
              </a:rPr>
              <a:t>PART 3</a:t>
            </a:r>
          </a:p>
        </p:txBody>
      </p:sp>
    </p:spTree>
    <p:extLst>
      <p:ext uri="{BB962C8B-B14F-4D97-AF65-F5344CB8AC3E}">
        <p14:creationId val="3815581302"/>
      </p:ext>
    </p:extLst>
  </p:cSld>
  <p:clrMapOvr>
    <a:masterClrMapping/>
  </p:clrMapOvr>
  <p:transition/>
  <p:timing/>
</p:sld>
</file>

<file path=ppt/slides/slide1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definition-title"/>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450" b="1" i="0">
                <a:solidFill>
                  <a:srgbClr val="0F233D"/>
                </a:solidFill>
                <a:latin typeface="Arial"/>
                <a:ea typeface="Arial"/>
                <a:cs typeface="Arial"/>
              </a:rPr>
              <a:t>Significant pathway result</a:t>
            </a:r>
          </a:p>
        </p:txBody>
      </p:sp>
      <p:sp>
        <p:nvSpPr>
          <p:cNvPr id="3" name="definition-subtitle"/>
          <p:cNvSpPr>
            <a:spLocks noGrp="1"/>
          </p:cNvSpPr>
          <p:nvPr/>
        </p:nvSpPr>
        <p:spPr>
          <a:xfrm>
            <a:off x="548640" y="886968"/>
            <a:ext cx="10561320" cy="230832"/>
          </a:xfrm>
          <a:prstGeom prst="rect">
            <a:avLst/>
          </a:prstGeom>
          <a:noFill/>
        </p:spPr>
        <p:txBody>
          <a:bodyPr wrap="square" lIns="0" tIns="0" rIns="0" bIns="0" anchor="t">
            <a:spAutoFit/>
          </a:bodyPr>
          <a:lstStyle/>
          <a:p>
            <a:pPr algn="l">
              <a:lnSpc>
                <a:spcPct val="100000"/>
              </a:lnSpc>
              <a:spcBef>
                <a:spcPct val="0"/>
              </a:spcBef>
              <a:spcAft>
                <a:spcPct val="0"/>
              </a:spcAft>
              <a:buNone/>
            </a:pPr>
            <a:r>
              <a:rPr sz="1500" b="0" i="0">
                <a:solidFill>
                  <a:srgbClr val="4E5A68"/>
                </a:solidFill>
                <a:latin typeface="Arial"/>
                <a:ea typeface="Arial"/>
                <a:cs typeface="Arial"/>
              </a:rPr>
              <a:t>One result tests </a:t>
            </a:r>
            <a:r>
              <a:rPr sz="1500" b="1" i="0">
                <a:solidFill>
                  <a:srgbClr val="FF0000"/>
                </a:solidFill>
                <a:latin typeface="Arial"/>
                <a:ea typeface="Arial"/>
                <a:cs typeface="Arial"/>
              </a:rPr>
              <a:t>one</a:t>
            </a:r>
            <a:r>
              <a:rPr sz="1500" b="0" i="0">
                <a:solidFill>
                  <a:srgbClr val="FF0000"/>
                </a:solidFill>
                <a:latin typeface="Arial"/>
                <a:ea typeface="Arial"/>
                <a:cs typeface="Arial"/>
              </a:rPr>
              <a:t> </a:t>
            </a:r>
            <a:r>
              <a:rPr sz="1500" b="1" i="0">
                <a:solidFill>
                  <a:srgbClr val="FF0000"/>
                </a:solidFill>
                <a:latin typeface="Arial"/>
                <a:ea typeface="Arial"/>
                <a:cs typeface="Arial"/>
              </a:rPr>
              <a:t>pathway</a:t>
            </a:r>
            <a:r>
              <a:rPr sz="1500" b="0" i="0">
                <a:solidFill>
                  <a:srgbClr val="FF0000"/>
                </a:solidFill>
                <a:latin typeface="Arial"/>
                <a:ea typeface="Arial"/>
                <a:cs typeface="Arial"/>
              </a:rPr>
              <a:t> </a:t>
            </a:r>
            <a:r>
              <a:rPr sz="1500" b="0" i="0">
                <a:solidFill>
                  <a:srgbClr val="4E5A68"/>
                </a:solidFill>
                <a:latin typeface="Arial"/>
                <a:ea typeface="Arial"/>
                <a:cs typeface="Arial"/>
              </a:rPr>
              <a:t>in one DEG list from one fine-cell sex/APOE </a:t>
            </a:r>
            <a:r>
              <a:rPr sz="1500" b="1" i="0">
                <a:solidFill>
                  <a:srgbClr val="FF0000"/>
                </a:solidFill>
                <a:latin typeface="Arial"/>
                <a:ea typeface="Arial"/>
                <a:cs typeface="Arial"/>
              </a:rPr>
              <a:t>contrast</a:t>
            </a:r>
            <a:r>
              <a:rPr sz="1500" b="0" i="0">
                <a:solidFill>
                  <a:srgbClr val="4E5A68"/>
                </a:solidFill>
                <a:latin typeface="Arial"/>
                <a:ea typeface="Arial"/>
                <a:cs typeface="Arial"/>
              </a:rPr>
              <a:t>.</a:t>
            </a:r>
          </a:p>
        </p:txBody>
      </p:sp>
      <p:sp>
        <p:nvSpPr>
          <p:cNvPr id="4" name="unit-of-analysis-panel"/>
          <p:cNvSpPr>
            <a:spLocks noGrp="1"/>
          </p:cNvSpPr>
          <p:nvPr/>
        </p:nvSpPr>
        <p:spPr>
          <a:xfrm>
            <a:off x="658368" y="1371600"/>
            <a:ext cx="4663440" cy="1837944"/>
          </a:xfrm>
          <a:prstGeom prst="roundRect">
            <a:avLst/>
          </a:prstGeom>
          <a:solidFill>
            <a:srgbClr val="EBF7FC"/>
          </a:solidFill>
          <a:ln w="12700">
            <a:solidFill>
              <a:srgbClr val="D8EAF2"/>
            </a:solidFill>
          </a:ln>
        </p:spPr>
        <p:txBody>
          <a:bodyPr anchor="ctr"/>
          <a:lstStyle/>
          <a:p>
            <a:pPr algn="ctr">
              <a:buNone/>
            </a:pPr>
            <a:endParaRPr/>
          </a:p>
        </p:txBody>
      </p:sp>
      <p:sp>
        <p:nvSpPr>
          <p:cNvPr id="5" name="unit-of-analysis-label"/>
          <p:cNvSpPr>
            <a:spLocks noGrp="1"/>
          </p:cNvSpPr>
          <p:nvPr/>
        </p:nvSpPr>
        <p:spPr>
          <a:xfrm>
            <a:off x="914400" y="1584960"/>
            <a:ext cx="3840480" cy="237744"/>
          </a:xfrm>
          <a:prstGeom prst="rect">
            <a:avLst/>
          </a:prstGeom>
          <a:noFill/>
        </p:spPr>
        <p:txBody>
          <a:bodyPr wrap="square" lIns="0" tIns="0" rIns="0" bIns="0" anchor="t">
            <a:spAutoFit/>
          </a:bodyPr>
          <a:lstStyle/>
          <a:p>
            <a:pPr algn="l">
              <a:lnSpc>
                <a:spcPct val="100000"/>
              </a:lnSpc>
              <a:spcBef>
                <a:spcPct val="0"/>
              </a:spcBef>
              <a:spcAft>
                <a:spcPct val="0"/>
              </a:spcAft>
              <a:buNone/>
            </a:pPr>
            <a:r>
              <a:rPr sz="1120" b="1" i="0">
                <a:solidFill>
                  <a:srgbClr val="0072B2"/>
                </a:solidFill>
                <a:latin typeface="Arial"/>
                <a:ea typeface="Arial"/>
                <a:cs typeface="Arial"/>
              </a:rPr>
              <a:t>ONE RESULT</a:t>
            </a:r>
          </a:p>
        </p:txBody>
      </p:sp>
      <p:sp>
        <p:nvSpPr>
          <p:cNvPr id="6" name="unit-of-analysis-main"/>
          <p:cNvSpPr>
            <a:spLocks noGrp="1"/>
          </p:cNvSpPr>
          <p:nvPr/>
        </p:nvSpPr>
        <p:spPr>
          <a:xfrm>
            <a:off x="914400" y="1950720"/>
            <a:ext cx="3840480" cy="612648"/>
          </a:xfrm>
          <a:prstGeom prst="rect">
            <a:avLst/>
          </a:prstGeom>
          <a:noFill/>
        </p:spPr>
        <p:txBody>
          <a:bodyPr wrap="square" lIns="0" tIns="0" rIns="0" bIns="0" anchor="t">
            <a:spAutoFit/>
          </a:bodyPr>
          <a:lstStyle/>
          <a:p>
            <a:pPr algn="l">
              <a:lnSpc>
                <a:spcPct val="100000"/>
              </a:lnSpc>
              <a:spcBef>
                <a:spcPct val="0"/>
              </a:spcBef>
              <a:spcAft>
                <a:spcPct val="0"/>
              </a:spcAft>
              <a:buNone/>
            </a:pPr>
            <a:r>
              <a:rPr sz="1775" b="1" i="0">
                <a:solidFill>
                  <a:srgbClr val="0F233D"/>
                </a:solidFill>
                <a:latin typeface="Arial"/>
                <a:ea typeface="Arial"/>
                <a:cs typeface="Arial"/>
              </a:rPr>
              <a:t>One pathway</a:t>
            </a:r>
          </a:p>
          <a:p>
            <a:pPr algn="l">
              <a:lnSpc>
                <a:spcPct val="100000"/>
              </a:lnSpc>
              <a:spcBef>
                <a:spcPct val="0"/>
              </a:spcBef>
              <a:spcAft>
                <a:spcPct val="0"/>
              </a:spcAft>
              <a:buNone/>
            </a:pPr>
            <a:r>
              <a:rPr sz="1775" b="1" i="0">
                <a:solidFill>
                  <a:srgbClr val="0F233D"/>
                </a:solidFill>
                <a:latin typeface="Arial"/>
                <a:ea typeface="Arial"/>
                <a:cs typeface="Arial"/>
              </a:rPr>
              <a:t>One DEG list</a:t>
            </a:r>
          </a:p>
          <a:p>
            <a:pPr algn="l">
              <a:lnSpc>
                <a:spcPct val="100000"/>
              </a:lnSpc>
              <a:spcBef>
                <a:spcPct val="0"/>
              </a:spcBef>
              <a:spcAft>
                <a:spcPct val="0"/>
              </a:spcAft>
              <a:buNone/>
            </a:pPr>
            <a:r>
              <a:rPr sz="1775" b="1" i="0">
                <a:solidFill>
                  <a:srgbClr val="0F233D"/>
                </a:solidFill>
                <a:latin typeface="Arial"/>
                <a:ea typeface="Arial"/>
                <a:cs typeface="Arial"/>
              </a:rPr>
              <a:t>One fine-cell sex/APOE contrast</a:t>
            </a:r>
          </a:p>
        </p:txBody>
      </p:sp>
      <p:sp>
        <p:nvSpPr>
          <p:cNvPr id="7" name="unit-of-analysis-detail"/>
          <p:cNvSpPr>
            <a:spLocks noGrp="1"/>
          </p:cNvSpPr>
          <p:nvPr/>
        </p:nvSpPr>
        <p:spPr>
          <a:xfrm>
            <a:off x="914400" y="2731008"/>
            <a:ext cx="3840480" cy="329184"/>
          </a:xfrm>
          <a:prstGeom prst="rect">
            <a:avLst/>
          </a:prstGeom>
          <a:noFill/>
        </p:spPr>
        <p:txBody>
          <a:bodyPr wrap="square" lIns="0" tIns="0" rIns="0" bIns="0" anchor="t">
            <a:spAutoFit/>
          </a:bodyPr>
          <a:lstStyle/>
          <a:p>
            <a:pPr algn="l">
              <a:lnSpc>
                <a:spcPct val="100000"/>
              </a:lnSpc>
              <a:spcBef>
                <a:spcPct val="0"/>
              </a:spcBef>
              <a:spcAft>
                <a:spcPct val="0"/>
              </a:spcAft>
              <a:buNone/>
            </a:pPr>
            <a:r>
              <a:rPr sz="1050" b="0" i="0">
                <a:solidFill>
                  <a:srgbClr val="4E5A68"/>
                </a:solidFill>
                <a:latin typeface="Arial"/>
                <a:ea typeface="Arial"/>
                <a:cs typeface="Arial"/>
              </a:rPr>
              <a:t>DEG lists: all mitochondrial DEGs, upregulated in AD, or downregulated in AD</a:t>
            </a:r>
          </a:p>
        </p:txBody>
      </p:sp>
      <p:sp>
        <p:nvSpPr>
          <p:cNvPr id="8" name="test-counts-panel"/>
          <p:cNvSpPr>
            <a:spLocks noGrp="1"/>
          </p:cNvSpPr>
          <p:nvPr/>
        </p:nvSpPr>
        <p:spPr>
          <a:xfrm>
            <a:off x="5471160" y="1371600"/>
            <a:ext cx="6065520" cy="1837944"/>
          </a:xfrm>
          <a:prstGeom prst="roundRect">
            <a:avLst/>
          </a:prstGeom>
          <a:solidFill>
            <a:srgbClr val="FFFFFF"/>
          </a:solidFill>
          <a:ln w="12700">
            <a:solidFill>
              <a:srgbClr val="E0E7EF"/>
            </a:solidFill>
          </a:ln>
        </p:spPr>
        <p:txBody>
          <a:bodyPr anchor="ctr"/>
          <a:lstStyle/>
          <a:p>
            <a:pPr algn="ctr">
              <a:buNone/>
            </a:pPr>
            <a:endParaRPr/>
          </a:p>
        </p:txBody>
      </p:sp>
      <p:sp>
        <p:nvSpPr>
          <p:cNvPr id="9" name="test-counts-label"/>
          <p:cNvSpPr>
            <a:spLocks noGrp="1"/>
          </p:cNvSpPr>
          <p:nvPr/>
        </p:nvSpPr>
        <p:spPr>
          <a:xfrm>
            <a:off x="5760720" y="1584960"/>
            <a:ext cx="5364480" cy="237744"/>
          </a:xfrm>
          <a:prstGeom prst="rect">
            <a:avLst/>
          </a:prstGeom>
          <a:noFill/>
        </p:spPr>
        <p:txBody>
          <a:bodyPr wrap="square" lIns="0" tIns="0" rIns="0" bIns="0" anchor="t">
            <a:spAutoFit/>
          </a:bodyPr>
          <a:lstStyle/>
          <a:p>
            <a:pPr algn="l">
              <a:lnSpc>
                <a:spcPct val="100000"/>
              </a:lnSpc>
              <a:spcBef>
                <a:spcPct val="0"/>
              </a:spcBef>
              <a:spcAft>
                <a:spcPct val="0"/>
              </a:spcAft>
              <a:buNone/>
            </a:pPr>
            <a:r>
              <a:rPr sz="1120" b="1" i="0">
                <a:solidFill>
                  <a:srgbClr val="00684D"/>
                </a:solidFill>
                <a:latin typeface="Arial"/>
                <a:ea typeface="Arial"/>
                <a:cs typeface="Arial"/>
              </a:rPr>
              <a:t>COUNTS USED BY THE TEST</a:t>
            </a:r>
          </a:p>
        </p:txBody>
      </p:sp>
      <p:sp>
        <p:nvSpPr>
          <p:cNvPr id="10" name="count-N"/>
          <p:cNvSpPr>
            <a:spLocks noGrp="1"/>
          </p:cNvSpPr>
          <p:nvPr/>
        </p:nvSpPr>
        <p:spPr>
          <a:xfrm>
            <a:off x="5760720" y="1941576"/>
            <a:ext cx="2468880" cy="457200"/>
          </a:xfrm>
          <a:prstGeom prst="rect">
            <a:avLst/>
          </a:prstGeom>
          <a:noFill/>
        </p:spPr>
        <p:txBody>
          <a:bodyPr wrap="square" lIns="0" tIns="0" rIns="0" bIns="0" anchor="t">
            <a:spAutoFit/>
          </a:bodyPr>
          <a:lstStyle/>
          <a:p>
            <a:pPr algn="l">
              <a:lnSpc>
                <a:spcPct val="100000"/>
              </a:lnSpc>
              <a:spcBef>
                <a:spcPct val="0"/>
              </a:spcBef>
              <a:spcAft>
                <a:spcPct val="0"/>
              </a:spcAft>
              <a:buNone/>
            </a:pPr>
            <a:r>
              <a:rPr sz="1800" b="1" i="0">
                <a:solidFill>
                  <a:srgbClr val="0072B2"/>
                </a:solidFill>
                <a:latin typeface="Arial"/>
                <a:ea typeface="Arial"/>
                <a:cs typeface="Arial"/>
              </a:rPr>
              <a:t>N</a:t>
            </a:r>
            <a:r>
              <a:rPr sz="1100" b="0" i="0">
                <a:solidFill>
                  <a:srgbClr val="1F2730"/>
                </a:solidFill>
                <a:latin typeface="Arial"/>
                <a:ea typeface="Arial"/>
                <a:cs typeface="Arial"/>
              </a:rPr>
              <a:t>  Detectable MitoCarta MT genes in the contrast</a:t>
            </a:r>
          </a:p>
        </p:txBody>
      </p:sp>
      <p:sp>
        <p:nvSpPr>
          <p:cNvPr id="11" name="count-M"/>
          <p:cNvSpPr>
            <a:spLocks noGrp="1"/>
          </p:cNvSpPr>
          <p:nvPr/>
        </p:nvSpPr>
        <p:spPr>
          <a:xfrm>
            <a:off x="8488680" y="1941576"/>
            <a:ext cx="2743200" cy="457200"/>
          </a:xfrm>
          <a:prstGeom prst="rect">
            <a:avLst/>
          </a:prstGeom>
          <a:noFill/>
        </p:spPr>
        <p:txBody>
          <a:bodyPr wrap="square" lIns="0" tIns="0" rIns="0" bIns="0" anchor="t">
            <a:spAutoFit/>
          </a:bodyPr>
          <a:lstStyle/>
          <a:p>
            <a:pPr algn="l">
              <a:lnSpc>
                <a:spcPct val="100000"/>
              </a:lnSpc>
              <a:spcBef>
                <a:spcPct val="0"/>
              </a:spcBef>
              <a:spcAft>
                <a:spcPct val="0"/>
              </a:spcAft>
              <a:buNone/>
            </a:pPr>
            <a:r>
              <a:rPr sz="1800" b="1" i="0">
                <a:solidFill>
                  <a:srgbClr val="0072B2"/>
                </a:solidFill>
                <a:latin typeface="Arial"/>
                <a:ea typeface="Arial"/>
                <a:cs typeface="Arial"/>
              </a:rPr>
              <a:t>M</a:t>
            </a:r>
            <a:r>
              <a:rPr sz="1100" b="0" i="0">
                <a:solidFill>
                  <a:srgbClr val="1F2730"/>
                </a:solidFill>
                <a:latin typeface="Arial"/>
                <a:ea typeface="Arial"/>
                <a:cs typeface="Arial"/>
              </a:rPr>
              <a:t>  Genes in N that belong to the pathway</a:t>
            </a:r>
          </a:p>
        </p:txBody>
      </p:sp>
      <p:sp>
        <p:nvSpPr>
          <p:cNvPr id="12" name="count-n"/>
          <p:cNvSpPr>
            <a:spLocks noGrp="1"/>
          </p:cNvSpPr>
          <p:nvPr/>
        </p:nvSpPr>
        <p:spPr>
          <a:xfrm>
            <a:off x="5760720" y="2551176"/>
            <a:ext cx="2468880" cy="457200"/>
          </a:xfrm>
          <a:prstGeom prst="rect">
            <a:avLst/>
          </a:prstGeom>
          <a:noFill/>
        </p:spPr>
        <p:txBody>
          <a:bodyPr wrap="square" lIns="0" tIns="0" rIns="0" bIns="0" anchor="t">
            <a:spAutoFit/>
          </a:bodyPr>
          <a:lstStyle/>
          <a:p>
            <a:pPr algn="l">
              <a:lnSpc>
                <a:spcPct val="100000"/>
              </a:lnSpc>
              <a:spcBef>
                <a:spcPct val="0"/>
              </a:spcBef>
              <a:spcAft>
                <a:spcPct val="0"/>
              </a:spcAft>
              <a:buNone/>
            </a:pPr>
            <a:r>
              <a:rPr sz="1800" b="1" i="0">
                <a:solidFill>
                  <a:srgbClr val="00684D"/>
                </a:solidFill>
                <a:latin typeface="Arial"/>
                <a:ea typeface="Arial"/>
                <a:cs typeface="Arial"/>
              </a:rPr>
              <a:t>n</a:t>
            </a:r>
            <a:r>
              <a:rPr sz="1100" b="0" i="0">
                <a:solidFill>
                  <a:srgbClr val="1F2730"/>
                </a:solidFill>
                <a:latin typeface="Arial"/>
                <a:ea typeface="Arial"/>
                <a:cs typeface="Arial"/>
              </a:rPr>
              <a:t>  DEGs in the selected list</a:t>
            </a:r>
          </a:p>
        </p:txBody>
      </p:sp>
      <p:sp>
        <p:nvSpPr>
          <p:cNvPr id="13" name="count-k"/>
          <p:cNvSpPr>
            <a:spLocks noGrp="1"/>
          </p:cNvSpPr>
          <p:nvPr/>
        </p:nvSpPr>
        <p:spPr>
          <a:xfrm>
            <a:off x="8488680" y="2551176"/>
            <a:ext cx="2743200" cy="457200"/>
          </a:xfrm>
          <a:prstGeom prst="rect">
            <a:avLst/>
          </a:prstGeom>
          <a:noFill/>
        </p:spPr>
        <p:txBody>
          <a:bodyPr wrap="square" lIns="0" tIns="0" rIns="0" bIns="0" anchor="t">
            <a:spAutoFit/>
          </a:bodyPr>
          <a:lstStyle/>
          <a:p>
            <a:pPr algn="l">
              <a:lnSpc>
                <a:spcPct val="100000"/>
              </a:lnSpc>
              <a:spcBef>
                <a:spcPct val="0"/>
              </a:spcBef>
              <a:spcAft>
                <a:spcPct val="0"/>
              </a:spcAft>
              <a:buNone/>
            </a:pPr>
            <a:r>
              <a:rPr sz="1800" b="1" i="0">
                <a:solidFill>
                  <a:srgbClr val="00684D"/>
                </a:solidFill>
                <a:latin typeface="Arial"/>
                <a:ea typeface="Arial"/>
                <a:cs typeface="Arial"/>
              </a:rPr>
              <a:t>k</a:t>
            </a:r>
            <a:r>
              <a:rPr sz="1100" b="0" i="0">
                <a:solidFill>
                  <a:srgbClr val="1F2730"/>
                </a:solidFill>
                <a:latin typeface="Arial"/>
                <a:ea typeface="Arial"/>
                <a:cs typeface="Arial"/>
              </a:rPr>
              <a:t>  Genes in n that belong to the pathway</a:t>
            </a:r>
          </a:p>
        </p:txBody>
      </p:sp>
      <p:sp>
        <p:nvSpPr>
          <p:cNvPr id="14" name="hypergeometric-panel"/>
          <p:cNvSpPr>
            <a:spLocks noGrp="1"/>
          </p:cNvSpPr>
          <p:nvPr/>
        </p:nvSpPr>
        <p:spPr>
          <a:xfrm>
            <a:off x="658368" y="3413760"/>
            <a:ext cx="10881360" cy="1463040"/>
          </a:xfrm>
          <a:prstGeom prst="roundRect">
            <a:avLst/>
          </a:prstGeom>
          <a:solidFill>
            <a:srgbClr val="FFFFFF"/>
          </a:solidFill>
          <a:ln w="12700">
            <a:solidFill>
              <a:srgbClr val="D8E2EC"/>
            </a:solidFill>
          </a:ln>
        </p:spPr>
        <p:txBody>
          <a:bodyPr anchor="ctr"/>
          <a:lstStyle/>
          <a:p>
            <a:pPr algn="ctr">
              <a:buNone/>
            </a:pPr>
            <a:endParaRPr/>
          </a:p>
        </p:txBody>
      </p:sp>
      <p:sp>
        <p:nvSpPr>
          <p:cNvPr id="15" name="hypergeometric-label"/>
          <p:cNvSpPr>
            <a:spLocks noGrp="1"/>
          </p:cNvSpPr>
          <p:nvPr/>
        </p:nvSpPr>
        <p:spPr>
          <a:xfrm>
            <a:off x="914400" y="3596640"/>
            <a:ext cx="5486400" cy="237744"/>
          </a:xfrm>
          <a:prstGeom prst="rect">
            <a:avLst/>
          </a:prstGeom>
          <a:noFill/>
        </p:spPr>
        <p:txBody>
          <a:bodyPr wrap="square" lIns="0" tIns="0" rIns="0" bIns="0" anchor="t">
            <a:spAutoFit/>
          </a:bodyPr>
          <a:lstStyle/>
          <a:p>
            <a:pPr algn="l">
              <a:lnSpc>
                <a:spcPct val="100000"/>
              </a:lnSpc>
              <a:spcBef>
                <a:spcPct val="0"/>
              </a:spcBef>
              <a:spcAft>
                <a:spcPct val="0"/>
              </a:spcAft>
              <a:buNone/>
            </a:pPr>
            <a:r>
              <a:rPr sz="1120" b="1" i="0">
                <a:solidFill>
                  <a:srgbClr val="7E4C9A"/>
                </a:solidFill>
                <a:latin typeface="Arial"/>
                <a:ea typeface="Arial"/>
                <a:cs typeface="Arial"/>
              </a:rPr>
              <a:t>ONE-SIDED HYPERGEOMETRIC TEST</a:t>
            </a:r>
          </a:p>
        </p:txBody>
      </p:sp>
      <p:sp>
        <p:nvSpPr>
          <p:cNvPr id="16" name="hypergeometric-formula"/>
          <p:cNvSpPr>
            <a:spLocks noGrp="1"/>
          </p:cNvSpPr>
          <p:nvPr/>
        </p:nvSpPr>
        <p:spPr>
          <a:xfrm>
            <a:off x="914400" y="3977640"/>
            <a:ext cx="4389120" cy="365760"/>
          </a:xfrm>
          <a:prstGeom prst="rect">
            <a:avLst/>
          </a:prstGeom>
          <a:noFill/>
        </p:spPr>
        <p:txBody>
          <a:bodyPr wrap="square" lIns="0" tIns="0" rIns="0" bIns="0" anchor="t">
            <a:spAutoFit/>
          </a:bodyPr>
          <a:lstStyle/>
          <a:p>
            <a:pPr algn="l">
              <a:lnSpc>
                <a:spcPct val="100000"/>
              </a:lnSpc>
              <a:spcBef>
                <a:spcPct val="0"/>
              </a:spcBef>
              <a:spcAft>
                <a:spcPct val="0"/>
              </a:spcAft>
              <a:buNone/>
            </a:pPr>
            <a:r>
              <a:rPr sz="2100" b="1" i="0">
                <a:solidFill>
                  <a:srgbClr val="0F233D"/>
                </a:solidFill>
                <a:latin typeface="Arial"/>
                <a:ea typeface="Arial"/>
                <a:cs typeface="Arial"/>
              </a:rPr>
              <a:t>P = Pr(K ≥ k | N, M, n)</a:t>
            </a:r>
          </a:p>
        </p:txBody>
      </p:sp>
      <p:sp>
        <p:nvSpPr>
          <p:cNvPr id="17" name="hypergeometric-explanation"/>
          <p:cNvSpPr>
            <a:spLocks noGrp="1"/>
          </p:cNvSpPr>
          <p:nvPr/>
        </p:nvSpPr>
        <p:spPr>
          <a:xfrm>
            <a:off x="914400" y="4419600"/>
            <a:ext cx="6431280" cy="329184"/>
          </a:xfrm>
          <a:prstGeom prst="rect">
            <a:avLst/>
          </a:prstGeom>
          <a:noFill/>
        </p:spPr>
        <p:txBody>
          <a:bodyPr wrap="square" lIns="0" tIns="0" rIns="0" bIns="0" anchor="t">
            <a:spAutoFit/>
          </a:bodyPr>
          <a:lstStyle/>
          <a:p>
            <a:pPr algn="l">
              <a:lnSpc>
                <a:spcPct val="100000"/>
              </a:lnSpc>
              <a:spcBef>
                <a:spcPct val="0"/>
              </a:spcBef>
              <a:spcAft>
                <a:spcPct val="0"/>
              </a:spcAft>
              <a:buNone/>
            </a:pPr>
            <a:r>
              <a:rPr sz="1050" b="0" i="0">
                <a:solidFill>
                  <a:srgbClr val="4E5A68"/>
                </a:solidFill>
                <a:latin typeface="Arial"/>
                <a:ea typeface="Arial"/>
                <a:cs typeface="Arial"/>
              </a:rPr>
              <a:t>Chance of observing k or more pathway DEGs if n DEGs were randomly drawn from the N detectable genes.</a:t>
            </a:r>
          </a:p>
        </p:txBody>
      </p:sp>
      <p:sp>
        <p:nvSpPr>
          <p:cNvPr id="18" name="enrichment-label"/>
          <p:cNvSpPr>
            <a:spLocks noGrp="1"/>
          </p:cNvSpPr>
          <p:nvPr/>
        </p:nvSpPr>
        <p:spPr>
          <a:xfrm>
            <a:off x="8138160" y="3694176"/>
            <a:ext cx="2743200" cy="237744"/>
          </a:xfrm>
          <a:prstGeom prst="rect">
            <a:avLst/>
          </a:prstGeom>
          <a:noFill/>
        </p:spPr>
        <p:txBody>
          <a:bodyPr wrap="square" lIns="0" tIns="0" rIns="0" bIns="0" anchor="t">
            <a:spAutoFit/>
          </a:bodyPr>
          <a:lstStyle/>
          <a:p>
            <a:pPr algn="ctr">
              <a:lnSpc>
                <a:spcPct val="100000"/>
              </a:lnSpc>
              <a:spcBef>
                <a:spcPct val="0"/>
              </a:spcBef>
              <a:spcAft>
                <a:spcPct val="0"/>
              </a:spcAft>
              <a:buNone/>
            </a:pPr>
            <a:r>
              <a:rPr sz="990" b="1" i="0">
                <a:solidFill>
                  <a:srgbClr val="6C7988"/>
                </a:solidFill>
                <a:latin typeface="Arial"/>
                <a:ea typeface="Arial"/>
                <a:cs typeface="Arial"/>
              </a:rPr>
              <a:t>ENRICHMENT</a:t>
            </a:r>
          </a:p>
        </p:txBody>
      </p:sp>
      <p:sp>
        <p:nvSpPr>
          <p:cNvPr id="19" name="enrichment-formula"/>
          <p:cNvSpPr>
            <a:spLocks noGrp="1"/>
          </p:cNvSpPr>
          <p:nvPr/>
        </p:nvSpPr>
        <p:spPr>
          <a:xfrm>
            <a:off x="8138160" y="4075176"/>
            <a:ext cx="2743200" cy="365760"/>
          </a:xfrm>
          <a:prstGeom prst="rect">
            <a:avLst/>
          </a:prstGeom>
          <a:noFill/>
        </p:spPr>
        <p:txBody>
          <a:bodyPr wrap="square" lIns="0" tIns="0" rIns="0" bIns="0" anchor="t">
            <a:spAutoFit/>
          </a:bodyPr>
          <a:lstStyle/>
          <a:p>
            <a:pPr algn="ctr">
              <a:lnSpc>
                <a:spcPct val="100000"/>
              </a:lnSpc>
              <a:spcBef>
                <a:spcPct val="0"/>
              </a:spcBef>
              <a:spcAft>
                <a:spcPct val="0"/>
              </a:spcAft>
              <a:buNone/>
            </a:pPr>
            <a:r>
              <a:rPr sz="2100" b="1" i="0">
                <a:solidFill>
                  <a:srgbClr val="00684D"/>
                </a:solidFill>
                <a:latin typeface="Arial"/>
                <a:ea typeface="Arial"/>
                <a:cs typeface="Arial"/>
              </a:rPr>
              <a:t>(k / n) ÷ (M / N)</a:t>
            </a:r>
          </a:p>
        </p:txBody>
      </p:sp>
      <p:sp>
        <p:nvSpPr>
          <p:cNvPr id="20" name="bh-correction"/>
          <p:cNvSpPr>
            <a:spLocks noGrp="1"/>
          </p:cNvSpPr>
          <p:nvPr/>
        </p:nvSpPr>
        <p:spPr>
          <a:xfrm>
            <a:off x="777240" y="5074920"/>
            <a:ext cx="10607040" cy="621792"/>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20" b="1" i="0">
                <a:solidFill>
                  <a:srgbClr val="0F233D"/>
                </a:solidFill>
                <a:latin typeface="Arial"/>
                <a:ea typeface="Arial"/>
                <a:cs typeface="Arial"/>
              </a:rPr>
              <a:t>Benjamini-Hochberg correction: </a:t>
            </a:r>
            <a:r>
              <a:rPr sz="1220" b="0" i="0">
                <a:solidFill>
                  <a:srgbClr val="1F2730"/>
                </a:solidFill>
                <a:latin typeface="Arial"/>
                <a:ea typeface="Arial"/>
                <a:cs typeface="Arial"/>
              </a:rPr>
              <a:t>adjust P values across all testable pathways in the same collection for this contrast and DEG list.</a:t>
            </a:r>
          </a:p>
        </p:txBody>
      </p:sp>
      <p:sp>
        <p:nvSpPr>
          <p:cNvPr id="21" name="significance-rule-panel"/>
          <p:cNvSpPr>
            <a:spLocks noGrp="1"/>
          </p:cNvSpPr>
          <p:nvPr/>
        </p:nvSpPr>
        <p:spPr>
          <a:xfrm>
            <a:off x="658368" y="5760720"/>
            <a:ext cx="10881360" cy="731520"/>
          </a:xfrm>
          <a:prstGeom prst="roundRect">
            <a:avLst/>
          </a:prstGeom>
          <a:solidFill>
            <a:srgbClr val="E4F4EE"/>
          </a:solidFill>
          <a:ln w="12700">
            <a:solidFill>
              <a:srgbClr val="C8E5DB"/>
            </a:solidFill>
          </a:ln>
        </p:spPr>
        <p:txBody>
          <a:bodyPr anchor="ctr"/>
          <a:lstStyle/>
          <a:p>
            <a:pPr algn="ctr">
              <a:buNone/>
            </a:pPr>
            <a:endParaRPr/>
          </a:p>
        </p:txBody>
      </p:sp>
      <p:sp>
        <p:nvSpPr>
          <p:cNvPr id="22" name="significance-rule-label"/>
          <p:cNvSpPr>
            <a:spLocks noGrp="1"/>
          </p:cNvSpPr>
          <p:nvPr/>
        </p:nvSpPr>
        <p:spPr>
          <a:xfrm>
            <a:off x="914400" y="5919216"/>
            <a:ext cx="3017520" cy="256032"/>
          </a:xfrm>
          <a:prstGeom prst="rect">
            <a:avLst/>
          </a:prstGeom>
          <a:noFill/>
        </p:spPr>
        <p:txBody>
          <a:bodyPr wrap="square" lIns="0" tIns="0" rIns="0" bIns="0" anchor="t">
            <a:spAutoFit/>
          </a:bodyPr>
          <a:lstStyle/>
          <a:p>
            <a:pPr algn="l">
              <a:lnSpc>
                <a:spcPct val="100000"/>
              </a:lnSpc>
              <a:spcBef>
                <a:spcPct val="0"/>
              </a:spcBef>
              <a:spcAft>
                <a:spcPct val="0"/>
              </a:spcAft>
              <a:buNone/>
            </a:pPr>
            <a:r>
              <a:rPr sz="1120" b="1" i="0">
                <a:solidFill>
                  <a:srgbClr val="00684D"/>
                </a:solidFill>
                <a:latin typeface="Arial"/>
                <a:ea typeface="Arial"/>
                <a:cs typeface="Arial"/>
              </a:rPr>
              <a:t>SIGNIFICANT PATHWAY RESULT</a:t>
            </a:r>
          </a:p>
        </p:txBody>
      </p:sp>
      <p:sp>
        <p:nvSpPr>
          <p:cNvPr id="23" name="significance-rule"/>
          <p:cNvSpPr>
            <a:spLocks noGrp="1"/>
          </p:cNvSpPr>
          <p:nvPr/>
        </p:nvSpPr>
        <p:spPr>
          <a:xfrm>
            <a:off x="3825240" y="5864352"/>
            <a:ext cx="3749040" cy="310896"/>
          </a:xfrm>
          <a:prstGeom prst="rect">
            <a:avLst/>
          </a:prstGeom>
          <a:noFill/>
        </p:spPr>
        <p:txBody>
          <a:bodyPr wrap="square" lIns="0" tIns="0" rIns="0" bIns="0" anchor="t">
            <a:spAutoFit/>
          </a:bodyPr>
          <a:lstStyle/>
          <a:p>
            <a:pPr algn="l">
              <a:lnSpc>
                <a:spcPct val="100000"/>
              </a:lnSpc>
              <a:spcBef>
                <a:spcPct val="0"/>
              </a:spcBef>
              <a:spcAft>
                <a:spcPct val="0"/>
              </a:spcAft>
              <a:buNone/>
            </a:pPr>
            <a:r>
              <a:rPr sz="1550" b="1" i="0">
                <a:solidFill>
                  <a:srgbClr val="0F233D"/>
                </a:solidFill>
                <a:latin typeface="Arial"/>
                <a:ea typeface="Arial"/>
                <a:cs typeface="Arial"/>
              </a:rPr>
              <a:t>Local BH-adjusted P value (FDR) &lt; 0.05</a:t>
            </a:r>
          </a:p>
        </p:txBody>
      </p:sp>
      <p:sp>
        <p:nvSpPr>
          <p:cNvPr id="24" name="significance-boundary"/>
          <p:cNvSpPr>
            <a:spLocks noGrp="1"/>
          </p:cNvSpPr>
          <p:nvPr/>
        </p:nvSpPr>
        <p:spPr>
          <a:xfrm>
            <a:off x="7772400" y="5855208"/>
            <a:ext cx="3474720" cy="347472"/>
          </a:xfrm>
          <a:prstGeom prst="rect">
            <a:avLst/>
          </a:prstGeom>
          <a:noFill/>
        </p:spPr>
        <p:txBody>
          <a:bodyPr wrap="square" lIns="0" tIns="0" rIns="0" bIns="0" anchor="t">
            <a:spAutoFit/>
          </a:bodyPr>
          <a:lstStyle/>
          <a:p>
            <a:pPr algn="l">
              <a:lnSpc>
                <a:spcPct val="100000"/>
              </a:lnSpc>
              <a:spcBef>
                <a:spcPct val="0"/>
              </a:spcBef>
              <a:spcAft>
                <a:spcPct val="0"/>
              </a:spcAft>
              <a:buNone/>
            </a:pPr>
            <a:r>
              <a:rPr sz="950" b="0" i="0">
                <a:solidFill>
                  <a:srgbClr val="4E5A68"/>
                </a:solidFill>
                <a:latin typeface="Arial"/>
                <a:ea typeface="Arial"/>
                <a:cs typeface="Arial"/>
              </a:rPr>
              <a:t>The test assesses over-representation. Pathway activity requires separate evidence.</a:t>
            </a:r>
          </a:p>
        </p:txBody>
      </p:sp>
      <p:sp>
        <p:nvSpPr>
          <p:cNvPr id="25" name="enrichment-explanation"/>
          <p:cNvSpPr>
            <a:spLocks noGrp="1"/>
          </p:cNvSpPr>
          <p:nvPr/>
        </p:nvSpPr>
        <p:spPr>
          <a:xfrm>
            <a:off x="7863840" y="4459224"/>
            <a:ext cx="3383280" cy="365760"/>
          </a:xfrm>
          <a:prstGeom prst="rect">
            <a:avLst/>
          </a:prstGeom>
          <a:noFill/>
        </p:spPr>
        <p:txBody>
          <a:bodyPr wrap="square" lIns="0" tIns="0" rIns="0" bIns="0" anchor="t">
            <a:spAutoFit/>
          </a:bodyPr>
          <a:lstStyle/>
          <a:p>
            <a:pPr algn="ctr">
              <a:lnSpc>
                <a:spcPct val="95000"/>
              </a:lnSpc>
              <a:spcBef>
                <a:spcPct val="0"/>
              </a:spcBef>
              <a:spcAft>
                <a:spcPct val="0"/>
              </a:spcAft>
              <a:buNone/>
            </a:pPr>
            <a:r>
              <a:rPr sz="850" b="0" i="0">
                <a:solidFill>
                  <a:srgbClr val="4E5A68"/>
                </a:solidFill>
                <a:latin typeface="Arial"/>
                <a:ea typeface="Arial"/>
                <a:cs typeface="Arial"/>
              </a:rPr>
              <a:t>Pathway share among DEGs ÷ pathway share among detectable genes</a:t>
            </a:r>
          </a:p>
          <a:p>
            <a:pPr algn="ctr">
              <a:lnSpc>
                <a:spcPct val="95000"/>
              </a:lnSpc>
              <a:spcBef>
                <a:spcPts val="300"/>
              </a:spcBef>
              <a:spcAft>
                <a:spcPct val="0"/>
              </a:spcAft>
              <a:buNone/>
            </a:pPr>
            <a:r>
              <a:rPr sz="950" b="1" i="0">
                <a:solidFill>
                  <a:srgbClr val="00684D"/>
                </a:solidFill>
                <a:latin typeface="Arial"/>
                <a:ea typeface="Arial"/>
                <a:cs typeface="Arial"/>
              </a:rPr>
              <a:t>&gt; 1 indicates enrichment</a:t>
            </a:r>
          </a:p>
        </p:txBody>
      </p:sp>
    </p:spTree>
  </p:cSld>
  <p:clrMapOvr>
    <a:masterClrMapping/>
  </p:clrMapOvr>
  <p:transition/>
  <p:timing/>
</p:sld>
</file>

<file path=ppt/slides/slide1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E5E59162-7D50-45F5-8596-6A0CAF54D40E}"/>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450" b="1" i="0">
                <a:solidFill>
                  <a:srgbClr val="0F233D"/>
                </a:solidFill>
                <a:latin typeface="Arial"/>
                <a:ea typeface="Arial"/>
                <a:cs typeface="Arial"/>
              </a:rPr>
              <a:t>How the pathway analysis was done</a:t>
            </a:r>
          </a:p>
        </p:txBody>
      </p:sp>
      <p:sp>
        <p:nvSpPr>
          <p:cNvPr id="3" name="TextBox 2">
            <a:extLst>
              <a:ext uri="{FF2B5EF4-FFF2-40B4-BE49-F238E27FC236}">
                <a16:creationId xmlns:a16="http://schemas.microsoft.com/office/drawing/2014/main" id="{769FF051-FBF1-43EE-AA8C-D681240222FC}"/>
              </a:ext>
            </a:extLst>
          </p:cNvPr>
          <p:cNvSpPr>
            <a:spLocks noGrp="1"/>
          </p:cNvSpPr>
          <p:nvPr/>
        </p:nvSpPr>
        <p:spPr>
          <a:xfrm>
            <a:off x="548640" y="895435"/>
            <a:ext cx="10561320" cy="547842"/>
          </a:xfrm>
          <a:prstGeom prst="rect">
            <a:avLst/>
          </a:prstGeom>
          <a:noFill/>
        </p:spPr>
        <p:txBody>
          <a:bodyPr wrap="square" lIns="0" tIns="0" rIns="0" bIns="0" anchor="t">
            <a:normAutofit/>
          </a:bodyPr>
          <a:lstStyle/>
          <a:p>
            <a:pPr algn="l">
              <a:lnSpc>
                <a:spcPct val="100000"/>
              </a:lnSpc>
              <a:spcBef>
                <a:spcPct val="0"/>
              </a:spcBef>
              <a:spcAft>
                <a:spcPct val="0"/>
              </a:spcAft>
              <a:buNone/>
              <a:defRPr sz="1600">
                <a:solidFill>
                  <a:srgbClr val="4E5A68"/>
                </a:solidFill>
                <a:latin typeface="Arial"/>
                <a:ea typeface="Arial"/>
                <a:cs typeface="Arial"/>
              </a:defRPr>
            </a:pPr>
            <a:r>
              <a:rPr sz="1600" b="0" i="0">
                <a:solidFill>
                  <a:srgbClr val="4E5A68"/>
                </a:solidFill>
                <a:latin typeface="Arial"/>
                <a:ea typeface="Arial"/>
                <a:cs typeface="Arial"/>
              </a:rPr>
              <a:t>Each fine-cell sex/APOE contrast was tested separately against these pathways.</a:t>
            </a:r>
          </a:p>
        </p:txBody>
      </p:sp>
      <p:sp>
        <p:nvSpPr>
          <p:cNvPr id="4" name="Rounded Rectangle 3">
            <a:extLst>
              <a:ext uri="{FF2B5EF4-FFF2-40B4-BE49-F238E27FC236}">
                <a16:creationId xmlns:a16="http://schemas.microsoft.com/office/drawing/2014/main" id="{21F6DD32-03E7-406D-8662-74B6E4CA0213}"/>
              </a:ext>
            </a:extLst>
          </p:cNvPr>
          <p:cNvSpPr>
            <a:spLocks noGrp="1"/>
          </p:cNvSpPr>
          <p:nvPr/>
        </p:nvSpPr>
        <p:spPr>
          <a:xfrm>
            <a:off x="2532888" y="1533294"/>
            <a:ext cx="3273552" cy="195681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47F0ACC6-27A0-494B-BC02-3E33D5E3B40F}"/>
              </a:ext>
            </a:extLst>
          </p:cNvPr>
          <p:cNvSpPr>
            <a:spLocks noGrp="1"/>
          </p:cNvSpPr>
          <p:nvPr/>
        </p:nvSpPr>
        <p:spPr>
          <a:xfrm>
            <a:off x="2752344" y="173446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33E7BABE-17B8-46CD-A086-0A9B1CCD10CC}"/>
              </a:ext>
            </a:extLst>
          </p:cNvPr>
          <p:cNvSpPr>
            <a:spLocks noGrp="1"/>
          </p:cNvSpPr>
          <p:nvPr/>
        </p:nvSpPr>
        <p:spPr>
          <a:xfrm>
            <a:off x="2752344" y="1807614"/>
            <a:ext cx="438912" cy="219456"/>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45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764274CE-BE5B-470A-A8A0-6F4B6C1F75F2}"/>
              </a:ext>
            </a:extLst>
          </p:cNvPr>
          <p:cNvSpPr>
            <a:spLocks noGrp="1"/>
          </p:cNvSpPr>
          <p:nvPr/>
        </p:nvSpPr>
        <p:spPr>
          <a:xfrm>
            <a:off x="3300984" y="1765806"/>
            <a:ext cx="2212848" cy="293927"/>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550" b="1" i="0">
                <a:solidFill>
                  <a:srgbClr val="0F233D"/>
                </a:solidFill>
                <a:latin typeface="Arial"/>
                <a:ea typeface="Arial"/>
                <a:cs typeface="Arial"/>
              </a:rPr>
              <a:t>DEG for each contrast</a:t>
            </a:r>
          </a:p>
        </p:txBody>
      </p:sp>
      <p:sp>
        <p:nvSpPr>
          <p:cNvPr id="8" name="TextBox 7">
            <a:extLst>
              <a:ext uri="{FF2B5EF4-FFF2-40B4-BE49-F238E27FC236}">
                <a16:creationId xmlns:a16="http://schemas.microsoft.com/office/drawing/2014/main" id="{3875CAF2-AA9B-4E6E-990B-386C67538437}"/>
              </a:ext>
            </a:extLst>
          </p:cNvPr>
          <p:cNvSpPr>
            <a:spLocks noGrp="1"/>
          </p:cNvSpPr>
          <p:nvPr/>
        </p:nvSpPr>
        <p:spPr>
          <a:xfrm>
            <a:off x="2788920" y="2283102"/>
            <a:ext cx="2761488" cy="960120"/>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160" b="0" i="0">
                <a:solidFill>
                  <a:srgbClr val="1F2730"/>
                </a:solidFill>
                <a:latin typeface="Arial"/>
                <a:ea typeface="Arial"/>
                <a:cs typeface="Arial"/>
              </a:rPr>
              <a:t>For each contrast:
• all mitochondrial DEGs
• up-regulated in AD
• down-regulated in AD</a:t>
            </a:r>
          </a:p>
        </p:txBody>
      </p:sp>
      <p:sp>
        <p:nvSpPr>
          <p:cNvPr id="9" name="TextBox 8">
            <a:extLst>
              <a:ext uri="{FF2B5EF4-FFF2-40B4-BE49-F238E27FC236}">
                <a16:creationId xmlns:a16="http://schemas.microsoft.com/office/drawing/2014/main" id="{05559FE8-A77F-43DF-BA75-CB2CA9ADC708}"/>
              </a:ext>
            </a:extLst>
          </p:cNvPr>
          <p:cNvSpPr>
            <a:spLocks noGrp="1"/>
          </p:cNvSpPr>
          <p:nvPr/>
        </p:nvSpPr>
        <p:spPr>
          <a:xfrm>
            <a:off x="5879592" y="2209950"/>
            <a:ext cx="320040" cy="36576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300" b="1" i="0">
                <a:solidFill>
                  <a:srgbClr val="6C7988"/>
                </a:solidFill>
                <a:latin typeface="Arial"/>
                <a:ea typeface="Arial"/>
                <a:cs typeface="Arial"/>
              </a:rPr>
              <a:t>→</a:t>
            </a:r>
          </a:p>
        </p:txBody>
      </p:sp>
      <p:sp>
        <p:nvSpPr>
          <p:cNvPr id="10" name="Rounded Rectangle 9">
            <a:extLst>
              <a:ext uri="{FF2B5EF4-FFF2-40B4-BE49-F238E27FC236}">
                <a16:creationId xmlns:a16="http://schemas.microsoft.com/office/drawing/2014/main" id="{330C729C-5E22-4EBB-85FC-7255D6515391}"/>
              </a:ext>
            </a:extLst>
          </p:cNvPr>
          <p:cNvSpPr>
            <a:spLocks noGrp="1"/>
          </p:cNvSpPr>
          <p:nvPr/>
        </p:nvSpPr>
        <p:spPr>
          <a:xfrm>
            <a:off x="6281928" y="1533294"/>
            <a:ext cx="3273552" cy="195681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Oval 10">
            <a:extLst>
              <a:ext uri="{FF2B5EF4-FFF2-40B4-BE49-F238E27FC236}">
                <a16:creationId xmlns:a16="http://schemas.microsoft.com/office/drawing/2014/main" id="{41DDCC97-6070-4B01-B57B-E8288038B60C}"/>
              </a:ext>
            </a:extLst>
          </p:cNvPr>
          <p:cNvSpPr>
            <a:spLocks noGrp="1"/>
          </p:cNvSpPr>
          <p:nvPr/>
        </p:nvSpPr>
        <p:spPr>
          <a:xfrm>
            <a:off x="6501384" y="1734462"/>
            <a:ext cx="438912" cy="438912"/>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E01FF4C9-E9E4-45A7-A0DC-D99E0777DFA1}"/>
              </a:ext>
            </a:extLst>
          </p:cNvPr>
          <p:cNvSpPr>
            <a:spLocks noGrp="1"/>
          </p:cNvSpPr>
          <p:nvPr/>
        </p:nvSpPr>
        <p:spPr>
          <a:xfrm>
            <a:off x="6501384" y="1807614"/>
            <a:ext cx="438912" cy="219456"/>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450" b="1" i="0">
                <a:solidFill>
                  <a:srgbClr val="FFFFFF"/>
                </a:solidFill>
                <a:latin typeface="Arial"/>
                <a:ea typeface="Arial"/>
                <a:cs typeface="Arial"/>
              </a:rPr>
              <a:t>2</a:t>
            </a:r>
          </a:p>
        </p:txBody>
      </p:sp>
      <p:sp>
        <p:nvSpPr>
          <p:cNvPr id="13" name="TextBox 12">
            <a:extLst>
              <a:ext uri="{FF2B5EF4-FFF2-40B4-BE49-F238E27FC236}">
                <a16:creationId xmlns:a16="http://schemas.microsoft.com/office/drawing/2014/main" id="{78DDF5AD-3CA3-4D24-B279-093EFA64E011}"/>
              </a:ext>
            </a:extLst>
          </p:cNvPr>
          <p:cNvSpPr>
            <a:spLocks noGrp="1"/>
          </p:cNvSpPr>
          <p:nvPr/>
        </p:nvSpPr>
        <p:spPr>
          <a:xfrm>
            <a:off x="7050024" y="1752750"/>
            <a:ext cx="2212848" cy="320040"/>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550" b="1" i="0">
                <a:solidFill>
                  <a:srgbClr val="0F233D"/>
                </a:solidFill>
                <a:latin typeface="Arial"/>
                <a:ea typeface="Arial"/>
                <a:cs typeface="Arial"/>
              </a:rPr>
              <a:t>Test each pathway</a:t>
            </a:r>
          </a:p>
        </p:txBody>
      </p:sp>
      <p:sp>
        <p:nvSpPr>
          <p:cNvPr id="14" name="TextBox 13">
            <a:extLst>
              <a:ext uri="{FF2B5EF4-FFF2-40B4-BE49-F238E27FC236}">
                <a16:creationId xmlns:a16="http://schemas.microsoft.com/office/drawing/2014/main" id="{80D4D567-E2A0-4E80-9A43-6C9A44BBB948}"/>
              </a:ext>
            </a:extLst>
          </p:cNvPr>
          <p:cNvSpPr>
            <a:spLocks noGrp="1"/>
          </p:cNvSpPr>
          <p:nvPr/>
        </p:nvSpPr>
        <p:spPr>
          <a:xfrm>
            <a:off x="6537960" y="2283102"/>
            <a:ext cx="2761488" cy="960120"/>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160" b="0" i="0">
                <a:solidFill>
                  <a:srgbClr val="1F2730"/>
                </a:solidFill>
                <a:latin typeface="Arial"/>
                <a:ea typeface="Arial"/>
                <a:cs typeface="Arial"/>
              </a:rPr>
              <a:t>Ask whether the DEG list contains more genes from that pathway than expected among genes detectable in the same contrast.</a:t>
            </a:r>
          </a:p>
        </p:txBody>
      </p:sp>
      <p:sp>
        <p:nvSpPr>
          <p:cNvPr id="22" name="Rounded Rectangle 21">
            <a:extLst>
              <a:ext uri="{FF2B5EF4-FFF2-40B4-BE49-F238E27FC236}">
                <a16:creationId xmlns:a16="http://schemas.microsoft.com/office/drawing/2014/main" id="{EA143ABE-F8BA-4CFF-99EB-D66CC1543856}"/>
              </a:ext>
            </a:extLst>
          </p:cNvPr>
          <p:cNvSpPr>
            <a:spLocks noGrp="1"/>
          </p:cNvSpPr>
          <p:nvPr/>
        </p:nvSpPr>
        <p:spPr>
          <a:xfrm>
            <a:off x="658368" y="3665368"/>
            <a:ext cx="5221224" cy="129844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A5433647-E3A4-43D5-AB13-A4D2117FD47E}"/>
              </a:ext>
            </a:extLst>
          </p:cNvPr>
          <p:cNvSpPr>
            <a:spLocks noGrp="1"/>
          </p:cNvSpPr>
          <p:nvPr/>
        </p:nvSpPr>
        <p:spPr>
          <a:xfrm>
            <a:off x="914400" y="3857392"/>
            <a:ext cx="1325880" cy="40233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2300" b="1" i="0">
                <a:solidFill>
                  <a:srgbClr val="0072B2"/>
                </a:solidFill>
                <a:latin typeface="Arial"/>
                <a:ea typeface="Arial"/>
                <a:cs typeface="Arial"/>
              </a:rPr>
              <a:t>12 of 46</a:t>
            </a:r>
          </a:p>
        </p:txBody>
      </p:sp>
      <p:sp>
        <p:nvSpPr>
          <p:cNvPr id="24" name="TextBox 23">
            <a:extLst>
              <a:ext uri="{FF2B5EF4-FFF2-40B4-BE49-F238E27FC236}">
                <a16:creationId xmlns:a16="http://schemas.microsoft.com/office/drawing/2014/main" id="{510795E1-2A01-4275-AF3E-5031A13BA258}"/>
              </a:ext>
            </a:extLst>
          </p:cNvPr>
          <p:cNvSpPr>
            <a:spLocks noGrp="1"/>
          </p:cNvSpPr>
          <p:nvPr/>
        </p:nvSpPr>
        <p:spPr>
          <a:xfrm>
            <a:off x="2286000" y="3809440"/>
            <a:ext cx="3264408" cy="461665"/>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320" b="1" i="0">
                <a:solidFill>
                  <a:srgbClr val="0F233D"/>
                </a:solidFill>
                <a:latin typeface="Arial"/>
                <a:ea typeface="Arial"/>
                <a:cs typeface="Arial"/>
              </a:rPr>
              <a:t>Level 1&amp; 2 MitoCarta pathways had at least one significant result</a:t>
            </a:r>
          </a:p>
        </p:txBody>
      </p:sp>
      <p:sp>
        <p:nvSpPr>
          <p:cNvPr id="26" name="Rounded Rectangle 25">
            <a:extLst>
              <a:ext uri="{FF2B5EF4-FFF2-40B4-BE49-F238E27FC236}">
                <a16:creationId xmlns:a16="http://schemas.microsoft.com/office/drawing/2014/main" id="{79DD2C72-A719-483B-80F5-35D9D2C7EDA6}"/>
              </a:ext>
            </a:extLst>
          </p:cNvPr>
          <p:cNvSpPr>
            <a:spLocks noGrp="1"/>
          </p:cNvSpPr>
          <p:nvPr/>
        </p:nvSpPr>
        <p:spPr>
          <a:xfrm>
            <a:off x="6044184" y="3665368"/>
            <a:ext cx="5221224" cy="129844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95B58EAA-5BFA-46F1-9D32-39F410AFC4C7}"/>
              </a:ext>
            </a:extLst>
          </p:cNvPr>
          <p:cNvSpPr>
            <a:spLocks noGrp="1"/>
          </p:cNvSpPr>
          <p:nvPr/>
        </p:nvSpPr>
        <p:spPr>
          <a:xfrm>
            <a:off x="6300216" y="3857392"/>
            <a:ext cx="1325880" cy="40233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2300" b="1" i="0">
                <a:solidFill>
                  <a:srgbClr val="00684D"/>
                </a:solidFill>
                <a:latin typeface="Arial"/>
                <a:ea typeface="Arial"/>
                <a:cs typeface="Arial"/>
              </a:rPr>
              <a:t>18 of 149</a:t>
            </a:r>
          </a:p>
        </p:txBody>
      </p:sp>
      <p:sp>
        <p:nvSpPr>
          <p:cNvPr id="28" name="TextBox 27">
            <a:extLst>
              <a:ext uri="{FF2B5EF4-FFF2-40B4-BE49-F238E27FC236}">
                <a16:creationId xmlns:a16="http://schemas.microsoft.com/office/drawing/2014/main" id="{EC70D2F9-307F-473F-A384-B3DA9B3DAE35}"/>
              </a:ext>
            </a:extLst>
          </p:cNvPr>
          <p:cNvSpPr>
            <a:spLocks noGrp="1"/>
          </p:cNvSpPr>
          <p:nvPr/>
        </p:nvSpPr>
        <p:spPr>
          <a:xfrm>
            <a:off x="7671816" y="3784241"/>
            <a:ext cx="3264408" cy="512064"/>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320" b="1" i="0">
                <a:solidFill>
                  <a:srgbClr val="0F233D"/>
                </a:solidFill>
                <a:latin typeface="Arial"/>
                <a:ea typeface="Arial"/>
                <a:cs typeface="Arial"/>
              </a:rPr>
              <a:t>complete MitoCarta pathways had at least one significant result</a:t>
            </a:r>
          </a:p>
        </p:txBody>
      </p:sp>
      <p:sp>
        <p:nvSpPr>
          <p:cNvPr id="30" name="Rounded Rectangle 29">
            <a:extLst>
              <a:ext uri="{FF2B5EF4-FFF2-40B4-BE49-F238E27FC236}">
                <a16:creationId xmlns:a16="http://schemas.microsoft.com/office/drawing/2014/main" id="{17A8639B-8386-46C8-883B-9F040DF0AEA4}"/>
              </a:ext>
            </a:extLst>
          </p:cNvPr>
          <p:cNvSpPr>
            <a:spLocks noGrp="1"/>
          </p:cNvSpPr>
          <p:nvPr/>
        </p:nvSpPr>
        <p:spPr>
          <a:xfrm>
            <a:off x="705104" y="5477764"/>
            <a:ext cx="10607040" cy="685800"/>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E9DF413E-8EC8-4159-B483-5A7280BA27D3}"/>
              </a:ext>
            </a:extLst>
          </p:cNvPr>
          <p:cNvSpPr>
            <a:spLocks noGrp="1"/>
          </p:cNvSpPr>
          <p:nvPr/>
        </p:nvSpPr>
        <p:spPr>
          <a:xfrm>
            <a:off x="753533" y="5735659"/>
            <a:ext cx="1188720" cy="22860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80" b="1" i="0">
                <a:solidFill>
                  <a:srgbClr val="7E4C9A"/>
                </a:solidFill>
                <a:latin typeface="Arial"/>
                <a:ea typeface="Arial"/>
                <a:cs typeface="Arial"/>
              </a:rPr>
              <a:t>Main pattern</a:t>
            </a:r>
          </a:p>
        </p:txBody>
      </p:sp>
      <p:sp>
        <p:nvSpPr>
          <p:cNvPr id="32" name="TextBox 31">
            <a:extLst>
              <a:ext uri="{FF2B5EF4-FFF2-40B4-BE49-F238E27FC236}">
                <a16:creationId xmlns:a16="http://schemas.microsoft.com/office/drawing/2014/main" id="{1FDFFD77-95B0-42E9-8000-8BF442732085}"/>
              </a:ext>
            </a:extLst>
          </p:cNvPr>
          <p:cNvSpPr>
            <a:spLocks noGrp="1"/>
          </p:cNvSpPr>
          <p:nvPr/>
        </p:nvSpPr>
        <p:spPr>
          <a:xfrm>
            <a:off x="1987973" y="5662507"/>
            <a:ext cx="8732520" cy="347472"/>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30" b="0" i="0">
                <a:solidFill>
                  <a:srgbClr val="1F2730"/>
                </a:solidFill>
                <a:latin typeface="Arial"/>
                <a:ea typeface="Arial"/>
                <a:cs typeface="Arial"/>
              </a:rPr>
              <a:t>Most significant results were overlapping OXPHOS pathways; non-OXPHOS signals were fewer and more localized.</a:t>
            </a:r>
          </a:p>
        </p:txBody>
      </p:sp>
      <p:sp>
        <p:nvSpPr>
          <p:cNvPr id="33" name="TextBox 32">
            <a:extLst>
              <a:ext uri="{FF2B5EF4-FFF2-40B4-BE49-F238E27FC236}">
                <a16:creationId xmlns:a16="http://schemas.microsoft.com/office/drawing/2014/main" id="{4E26C294-20E0-40B1-AA27-851451DDE604}"/>
              </a:ext>
            </a:extLst>
          </p:cNvPr>
          <p:cNvSpPr>
            <a:spLocks noGrp="1"/>
          </p:cNvSpPr>
          <p:nvPr/>
        </p:nvSpPr>
        <p:spPr>
          <a:xfrm>
            <a:off x="734570" y="5121235"/>
            <a:ext cx="10607040" cy="270843"/>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00" b="0" i="0">
                <a:solidFill>
                  <a:srgbClr val="4E5A68"/>
                </a:solidFill>
                <a:latin typeface="Arial"/>
                <a:ea typeface="Arial"/>
                <a:cs typeface="Arial"/>
              </a:rPr>
              <a:t>Counts show whether each pathway had at least one significant result across the tested fine-cell contrasts and DEG lists.</a:t>
            </a:r>
          </a:p>
        </p:txBody>
      </p:sp>
    </p:spTree>
    <p:extLst>
      <p:ext uri="{BB962C8B-B14F-4D97-AF65-F5344CB8AC3E}">
        <p14:creationId val="1336555694"/>
      </p:ext>
    </p:extLst>
  </p:cSld>
  <p:clrMapOvr>
    <a:masterClrMapping/>
  </p:clrMapOvr>
  <p:transition/>
  <p:timing/>
</p:sld>
</file>

<file path=ppt/slides/slide1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11" name="overlap-calculation-background">
            <a:extLst>
              <a:ext uri="{FF2B5EF4-FFF2-40B4-BE49-F238E27FC236}">
                <a16:creationId xmlns:a16="http://schemas.microsoft.com/office/drawing/2014/main" id="{19F0E6B1-E7BA-4A97-8DBA-C2625018C5AC}"/>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overlap-calculation-title">
            <a:extLst>
              <a:ext uri="{FF2B5EF4-FFF2-40B4-BE49-F238E27FC236}">
                <a16:creationId xmlns:a16="http://schemas.microsoft.com/office/drawing/2014/main" id="{48B855AC-B2C4-4260-A9A5-B622FE249086}"/>
              </a:ext>
            </a:extLst>
          </p:cNvPr>
          <p:cNvSpPr>
            <a:spLocks noGrp="1"/>
          </p:cNvSpPr>
          <p:nvPr/>
        </p:nvSpPr>
        <p:spPr>
          <a:xfrm>
            <a:off x="533400" y="409575"/>
            <a:ext cx="10668000" cy="4381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to calculate pathway and sex/APOE </a:t>
            </a:r>
            <a:r>
              <a:rPr lang="en-US" sz="2475" b="1">
                <a:solidFill>
                  <a:srgbClr val="0F233D"/>
                </a:solidFill>
                <a:latin typeface="Arial"/>
                <a:ea typeface="Arial"/>
                <a:cs typeface="Arial"/>
              </a:rPr>
              <a:t>group </a:t>
            </a:r>
            <a:r>
              <a:rPr sz="2475" b="1">
                <a:solidFill>
                  <a:srgbClr val="0F233D"/>
                </a:solidFill>
                <a:latin typeface="Arial"/>
                <a:ea typeface="Arial"/>
                <a:cs typeface="Arial"/>
              </a:rPr>
              <a:t>overlap</a:t>
            </a:r>
          </a:p>
        </p:txBody>
      </p:sp>
      <p:sp>
        <p:nvSpPr>
          <p:cNvPr id="3" name="formula-label">
            <a:extLst>
              <a:ext uri="{FF2B5EF4-FFF2-40B4-BE49-F238E27FC236}">
                <a16:creationId xmlns:a16="http://schemas.microsoft.com/office/drawing/2014/main" id="{BDC5796F-FACF-48B1-888D-B81973D1574E}"/>
              </a:ext>
            </a:extLst>
          </p:cNvPr>
          <p:cNvSpPr>
            <a:spLocks noGrp="1"/>
          </p:cNvSpPr>
          <p:nvPr/>
        </p:nvSpPr>
        <p:spPr>
          <a:xfrm>
            <a:off x="723900" y="2691654"/>
            <a:ext cx="2238375" cy="619125"/>
          </a:xfrm>
          <a:prstGeom prst="rect">
            <a:avLst/>
          </a:prstGeom>
          <a:noFill/>
          <a:ln w="0">
            <a:noFill/>
            <a:prstDash val="solid"/>
          </a:ln>
        </p:spPr>
        <p:txBody>
          <a:bodyPr wrap="square" lIns="0" tIns="0" rIns="0" bIns="0" anchor="ctr">
            <a:normAutofit/>
          </a:bodyPr>
          <a:lstStyle/>
          <a:p>
            <a:pPr algn="r">
              <a:buNone/>
              <a:defRPr sz="2625" b="1">
                <a:solidFill>
                  <a:srgbClr val="0F233D"/>
                </a:solidFill>
                <a:latin typeface="Arial"/>
                <a:ea typeface="Arial"/>
                <a:cs typeface="Arial"/>
              </a:defRPr>
            </a:pPr>
            <a:r>
              <a:rPr sz="2625" b="1">
                <a:solidFill>
                  <a:srgbClr val="0F233D"/>
                </a:solidFill>
                <a:latin typeface="Arial"/>
                <a:ea typeface="Arial"/>
                <a:cs typeface="Arial"/>
              </a:rPr>
              <a:t>Overlap (%) =</a:t>
            </a:r>
          </a:p>
        </p:txBody>
      </p:sp>
      <p:sp>
        <p:nvSpPr>
          <p:cNvPr id="4" name="formula-numerator">
            <a:extLst>
              <a:ext uri="{FF2B5EF4-FFF2-40B4-BE49-F238E27FC236}">
                <a16:creationId xmlns:a16="http://schemas.microsoft.com/office/drawing/2014/main" id="{85CBF9CA-CAE0-444D-97BA-72A84AE2BE8A}"/>
              </a:ext>
            </a:extLst>
          </p:cNvPr>
          <p:cNvSpPr>
            <a:spLocks noGrp="1"/>
          </p:cNvSpPr>
          <p:nvPr/>
        </p:nvSpPr>
        <p:spPr>
          <a:xfrm>
            <a:off x="3295650" y="1910604"/>
            <a:ext cx="6572250" cy="847725"/>
          </a:xfrm>
          <a:prstGeom prst="rect">
            <a:avLst/>
          </a:prstGeom>
          <a:noFill/>
          <a:ln w="0">
            <a:noFill/>
            <a:prstDash val="solid"/>
          </a:ln>
        </p:spPr>
        <p:txBody>
          <a:bodyPr wrap="square" lIns="0" tIns="0" rIns="0" bIns="0" anchor="b">
            <a:normAutofit fontScale="98889"/>
          </a:bodyPr>
          <a:lstStyle/>
          <a:p>
            <a:pPr algn="ctr">
              <a:buNone/>
              <a:defRPr sz="1875" b="1">
                <a:solidFill>
                  <a:srgbClr val="0F233D"/>
                </a:solidFill>
                <a:latin typeface="Arial"/>
                <a:ea typeface="Arial"/>
                <a:cs typeface="Arial"/>
              </a:defRPr>
            </a:pPr>
            <a:r>
              <a:rPr sz="1875" b="1">
                <a:solidFill>
                  <a:srgbClr val="0F233D"/>
                </a:solidFill>
                <a:latin typeface="Arial"/>
                <a:ea typeface="Arial"/>
                <a:cs typeface="Arial"/>
              </a:rPr>
              <a:t>Unique pathway genes that are DEGs in at least one fine cell type within the sex/APOE group</a:t>
            </a:r>
          </a:p>
        </p:txBody>
      </p:sp>
      <p:sp>
        <p:nvSpPr>
          <p:cNvPr id="5" name="formula-fraction-line">
            <a:extLst>
              <a:ext uri="{FF2B5EF4-FFF2-40B4-BE49-F238E27FC236}">
                <a16:creationId xmlns:a16="http://schemas.microsoft.com/office/drawing/2014/main" id="{9C62E147-60E8-427E-8C60-DDBA5E710950}"/>
              </a:ext>
            </a:extLst>
          </p:cNvPr>
          <p:cNvSpPr>
            <a:spLocks noGrp="1"/>
          </p:cNvSpPr>
          <p:nvPr/>
        </p:nvSpPr>
        <p:spPr>
          <a:xfrm>
            <a:off x="3295650" y="2939304"/>
            <a:ext cx="6572250" cy="0"/>
          </a:xfrm>
          <a:prstGeom prst="line">
            <a:avLst/>
          </a:prstGeom>
          <a:noFill/>
          <a:ln w="23813">
            <a:solidFill>
              <a:srgbClr val="0F233D"/>
            </a:solidFill>
            <a:prstDash val="solid"/>
          </a:ln>
        </p:spPr>
        <p:txBody>
          <a:bodyPr/>
          <a:lstStyle/>
          <a:p>
            <a:endParaRPr/>
          </a:p>
        </p:txBody>
      </p:sp>
      <p:sp>
        <p:nvSpPr>
          <p:cNvPr id="6" name="formula-denominator">
            <a:extLst>
              <a:ext uri="{FF2B5EF4-FFF2-40B4-BE49-F238E27FC236}">
                <a16:creationId xmlns:a16="http://schemas.microsoft.com/office/drawing/2014/main" id="{7FCE3506-DDC1-45CD-AD0B-988D6C21CE58}"/>
              </a:ext>
            </a:extLst>
          </p:cNvPr>
          <p:cNvSpPr>
            <a:spLocks noGrp="1"/>
          </p:cNvSpPr>
          <p:nvPr/>
        </p:nvSpPr>
        <p:spPr>
          <a:xfrm>
            <a:off x="3295650" y="3148854"/>
            <a:ext cx="6572250" cy="514350"/>
          </a:xfrm>
          <a:prstGeom prst="rect">
            <a:avLst/>
          </a:prstGeom>
          <a:noFill/>
          <a:ln w="0">
            <a:noFill/>
            <a:prstDash val="solid"/>
          </a:ln>
        </p:spPr>
        <p:txBody>
          <a:bodyPr wrap="square" lIns="0" tIns="0" rIns="0" bIns="0" anchor="t">
            <a:normAutofit/>
          </a:bodyPr>
          <a:lstStyle/>
          <a:p>
            <a:pPr algn="ctr">
              <a:buNone/>
              <a:defRPr sz="1875" b="1">
                <a:solidFill>
                  <a:srgbClr val="0F233D"/>
                </a:solidFill>
                <a:latin typeface="Arial"/>
                <a:ea typeface="Arial"/>
                <a:cs typeface="Arial"/>
              </a:defRPr>
            </a:pPr>
            <a:r>
              <a:rPr sz="1875" b="1">
                <a:solidFill>
                  <a:srgbClr val="0F233D"/>
                </a:solidFill>
                <a:latin typeface="Arial"/>
                <a:ea typeface="Arial"/>
                <a:cs typeface="Arial"/>
              </a:rPr>
              <a:t>All genes in the pathway</a:t>
            </a:r>
          </a:p>
        </p:txBody>
      </p:sp>
      <p:sp>
        <p:nvSpPr>
          <p:cNvPr id="7" name="formula-multiplier">
            <a:extLst>
              <a:ext uri="{FF2B5EF4-FFF2-40B4-BE49-F238E27FC236}">
                <a16:creationId xmlns:a16="http://schemas.microsoft.com/office/drawing/2014/main" id="{FAE18DB7-C75E-4491-AC8B-87028C8965CC}"/>
              </a:ext>
            </a:extLst>
          </p:cNvPr>
          <p:cNvSpPr>
            <a:spLocks noGrp="1"/>
          </p:cNvSpPr>
          <p:nvPr/>
        </p:nvSpPr>
        <p:spPr>
          <a:xfrm>
            <a:off x="10077450" y="2691654"/>
            <a:ext cx="1381125" cy="619125"/>
          </a:xfrm>
          <a:prstGeom prst="rect">
            <a:avLst/>
          </a:prstGeom>
          <a:noFill/>
          <a:ln w="0">
            <a:noFill/>
            <a:prstDash val="solid"/>
          </a:ln>
        </p:spPr>
        <p:txBody>
          <a:bodyPr wrap="square" lIns="0" tIns="0" rIns="0" bIns="0" anchor="ctr">
            <a:normAutofit/>
          </a:bodyPr>
          <a:lstStyle/>
          <a:p>
            <a:pPr algn="l">
              <a:buNone/>
              <a:defRPr sz="2625" b="1">
                <a:solidFill>
                  <a:srgbClr val="0F233D"/>
                </a:solidFill>
                <a:latin typeface="Arial"/>
                <a:ea typeface="Arial"/>
                <a:cs typeface="Arial"/>
              </a:defRPr>
            </a:pPr>
            <a:r>
              <a:rPr sz="2625" b="1">
                <a:solidFill>
                  <a:srgbClr val="0F233D"/>
                </a:solidFill>
                <a:latin typeface="Arial"/>
                <a:ea typeface="Arial"/>
                <a:cs typeface="Arial"/>
              </a:rPr>
              <a:t>× 100</a:t>
            </a:r>
          </a:p>
        </p:txBody>
      </p:sp>
      <p:sp>
        <p:nvSpPr>
          <p:cNvPr id="8" name="overlap-example-band">
            <a:extLst>
              <a:ext uri="{FF2B5EF4-FFF2-40B4-BE49-F238E27FC236}">
                <a16:creationId xmlns:a16="http://schemas.microsoft.com/office/drawing/2014/main" id="{7A94A0E1-E7FA-491B-9D5F-977BE4CEDB34}"/>
              </a:ext>
            </a:extLst>
          </p:cNvPr>
          <p:cNvSpPr>
            <a:spLocks noGrp="1"/>
          </p:cNvSpPr>
          <p:nvPr/>
        </p:nvSpPr>
        <p:spPr>
          <a:xfrm>
            <a:off x="1381125" y="4317628"/>
            <a:ext cx="9429750" cy="1762125"/>
          </a:xfrm>
          <a:prstGeom prst="roundRect">
            <a:avLst>
              <a:gd name="adj" fmla="val 8649"/>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9" name="worked-example-label">
            <a:extLst>
              <a:ext uri="{FF2B5EF4-FFF2-40B4-BE49-F238E27FC236}">
                <a16:creationId xmlns:a16="http://schemas.microsoft.com/office/drawing/2014/main" id="{2D6B93AC-478D-4AB4-85FA-06A6F97BDA4C}"/>
              </a:ext>
            </a:extLst>
          </p:cNvPr>
          <p:cNvSpPr>
            <a:spLocks noGrp="1"/>
          </p:cNvSpPr>
          <p:nvPr/>
        </p:nvSpPr>
        <p:spPr>
          <a:xfrm>
            <a:off x="1857375" y="4622988"/>
            <a:ext cx="8477250" cy="323850"/>
          </a:xfrm>
          <a:prstGeom prst="rect">
            <a:avLst/>
          </a:prstGeom>
          <a:noFill/>
          <a:ln w="0">
            <a:noFill/>
            <a:prstDash val="solid"/>
          </a:ln>
        </p:spPr>
        <p:txBody>
          <a:bodyPr wrap="square" lIns="0" tIns="0" rIns="0" bIns="0" anchor="t">
            <a:normAutofit/>
          </a:bodyPr>
          <a:lstStyle/>
          <a:p>
            <a:pPr algn="ctr">
              <a:buNone/>
              <a:defRPr sz="1500" b="1">
                <a:solidFill>
                  <a:srgbClr val="00684D"/>
                </a:solidFill>
                <a:latin typeface="Arial"/>
                <a:ea typeface="Arial"/>
                <a:cs typeface="Arial"/>
              </a:defRPr>
            </a:pPr>
            <a:r>
              <a:rPr sz="1500" b="1">
                <a:solidFill>
                  <a:srgbClr val="00684D"/>
                </a:solidFill>
                <a:latin typeface="Arial"/>
                <a:ea typeface="Arial"/>
                <a:cs typeface="Arial"/>
              </a:rPr>
              <a:t>Example: male ε2 mitochondrial translation</a:t>
            </a:r>
          </a:p>
        </p:txBody>
      </p:sp>
      <p:sp>
        <p:nvSpPr>
          <p:cNvPr id="10" name="worked-example-text">
            <a:extLst>
              <a:ext uri="{FF2B5EF4-FFF2-40B4-BE49-F238E27FC236}">
                <a16:creationId xmlns:a16="http://schemas.microsoft.com/office/drawing/2014/main" id="{0CE14BD2-92A4-4214-9AD4-5B36EF705D5F}"/>
              </a:ext>
            </a:extLst>
          </p:cNvPr>
          <p:cNvSpPr>
            <a:spLocks noGrp="1"/>
          </p:cNvSpPr>
          <p:nvPr/>
        </p:nvSpPr>
        <p:spPr>
          <a:xfrm>
            <a:off x="1857375" y="5137338"/>
            <a:ext cx="8477250" cy="523875"/>
          </a:xfrm>
          <a:prstGeom prst="rect">
            <a:avLst/>
          </a:prstGeom>
          <a:noFill/>
          <a:ln w="0">
            <a:noFill/>
            <a:prstDash val="solid"/>
          </a:ln>
        </p:spPr>
        <p:txBody>
          <a:bodyPr wrap="square" lIns="0" tIns="0" rIns="0" bIns="0" anchor="ctr">
            <a:normAutofit/>
          </a:bodyPr>
          <a:lstStyle/>
          <a:p>
            <a:pPr algn="ctr">
              <a:buNone/>
              <a:defRPr sz="2325" b="1">
                <a:solidFill>
                  <a:srgbClr val="0F233D"/>
                </a:solidFill>
                <a:latin typeface="Arial"/>
                <a:ea typeface="Arial"/>
                <a:cs typeface="Arial"/>
              </a:defRPr>
            </a:pPr>
            <a:r>
              <a:rPr sz="2325" b="1">
                <a:solidFill>
                  <a:srgbClr val="0F233D"/>
                </a:solidFill>
                <a:latin typeface="Arial"/>
                <a:ea typeface="Arial"/>
                <a:cs typeface="Arial"/>
              </a:rPr>
              <a:t>130 unique DEGs  ÷  155 pathway genes  ×  100  =  84%</a:t>
            </a:r>
          </a:p>
        </p:txBody>
      </p:sp>
    </p:spTree>
    <p:extLst>
      <p:ext uri="{BB962C8B-B14F-4D97-AF65-F5344CB8AC3E}">
        <p14:creationId val="50512237"/>
      </p:ext>
    </p:extLst>
  </p:cSld>
  <p:clrMapOvr>
    <a:masterClrMapping/>
  </p:clrMapOvr>
  <p:transition/>
  <p:timing/>
</p:sld>
</file>

<file path=ppt/slides/slide1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79D6851B-2665-4B39-9E54-29EA09D75374}"/>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450" b="1" i="0">
                <a:solidFill>
                  <a:srgbClr val="0F233D"/>
                </a:solidFill>
                <a:latin typeface="Arial"/>
                <a:ea typeface="Arial"/>
                <a:cs typeface="Arial"/>
              </a:rPr>
              <a:t>Which pathway genes appeared among the DEGs?</a:t>
            </a:r>
          </a:p>
        </p:txBody>
      </p:sp>
      <p:sp>
        <p:nvSpPr>
          <p:cNvPr id="3" name="TextBox 2">
            <a:extLst>
              <a:ext uri="{FF2B5EF4-FFF2-40B4-BE49-F238E27FC236}">
                <a16:creationId xmlns:a16="http://schemas.microsoft.com/office/drawing/2014/main" id="{202906A2-37D3-4429-9040-3FB6B411CE9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20" b="0" i="0">
                <a:solidFill>
                  <a:srgbClr val="4E5A68"/>
                </a:solidFill>
                <a:latin typeface="Arial"/>
                <a:ea typeface="Arial"/>
                <a:cs typeface="Arial"/>
              </a:rPr>
              <a:t>Each cell shows unique DEGs ÷ all genes in that pathway for one sex/APOE group.</a:t>
            </a:r>
          </a:p>
        </p:txBody>
      </p:sp>
      <p:pic>
        <p:nvPicPr>
          <p:cNvPr id="11" name="Heatmap showing the percentage and count of genes from four mitochondrial pathways that were DEGs in at least one fine-cell comparison for each of six sex/APOE groups."/>
          <p:cNvPicPr>
            <a:picLocks noChangeAspect="1"/>
          </p:cNvPicPr>
          <p:nvPr/>
        </p:nvPicPr>
        <p:blipFill>
          <a:blip r:embed="rId3"/>
          <a:stretch>
            <a:fillRect/>
          </a:stretch>
        </p:blipFill>
        <p:spPr>
          <a:xfrm>
            <a:off x="658368" y="1360188"/>
            <a:ext cx="10881360" cy="3991318"/>
          </a:xfrm>
          <a:prstGeom prst="rect">
            <a:avLst/>
          </a:prstGeom>
        </p:spPr>
      </p:pic>
      <p:sp>
        <p:nvSpPr>
          <p:cNvPr id="5" name="Rounded Rectangle 4">
            <a:extLst>
              <a:ext uri="{FF2B5EF4-FFF2-40B4-BE49-F238E27FC236}">
                <a16:creationId xmlns:a16="http://schemas.microsoft.com/office/drawing/2014/main" id="{CE733A69-C72D-4B96-8FC3-7663882BDDC8}"/>
              </a:ext>
            </a:extLst>
          </p:cNvPr>
          <p:cNvSpPr>
            <a:spLocks noGrp="1"/>
          </p:cNvSpPr>
          <p:nvPr/>
        </p:nvSpPr>
        <p:spPr>
          <a:xfrm>
            <a:off x="658368" y="5614416"/>
            <a:ext cx="10881360" cy="658368"/>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FE0CB97-0983-4919-8A05-A1A1D07850DF}"/>
              </a:ext>
            </a:extLst>
          </p:cNvPr>
          <p:cNvSpPr>
            <a:spLocks noGrp="1"/>
          </p:cNvSpPr>
          <p:nvPr/>
        </p:nvSpPr>
        <p:spPr>
          <a:xfrm>
            <a:off x="932688" y="5806440"/>
            <a:ext cx="1389888" cy="22860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200" b="1" i="0">
                <a:solidFill>
                  <a:srgbClr val="7E4C9A"/>
                </a:solidFill>
                <a:latin typeface="Arial"/>
                <a:ea typeface="Arial"/>
                <a:cs typeface="Arial"/>
              </a:rPr>
              <a:t>Interpret carefully</a:t>
            </a:r>
          </a:p>
        </p:txBody>
      </p:sp>
      <p:sp>
        <p:nvSpPr>
          <p:cNvPr id="7" name="TextBox 6">
            <a:extLst>
              <a:ext uri="{FF2B5EF4-FFF2-40B4-BE49-F238E27FC236}">
                <a16:creationId xmlns:a16="http://schemas.microsoft.com/office/drawing/2014/main" id="{1C2DC68E-7E8D-4FDC-BFB1-795A5C6534E6}"/>
              </a:ext>
            </a:extLst>
          </p:cNvPr>
          <p:cNvSpPr>
            <a:spLocks noGrp="1"/>
          </p:cNvSpPr>
          <p:nvPr/>
        </p:nvSpPr>
        <p:spPr>
          <a:xfrm>
            <a:off x="2468880" y="5751576"/>
            <a:ext cx="8631936" cy="329184"/>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300" b="0" i="0">
                <a:solidFill>
                  <a:srgbClr val="1F2730"/>
                </a:solidFill>
                <a:latin typeface="Arial"/>
                <a:ea typeface="Arial"/>
                <a:cs typeface="Arial"/>
              </a:rPr>
              <a:t>Male ε2 has the broadest overlap in three pathways, consistent with its larger overall DEG count; overlap alone is not enrichment.</a:t>
            </a:r>
          </a:p>
        </p:txBody>
      </p:sp>
    </p:spTree>
    <p:extLst>
      <p:ext uri="{BB962C8B-B14F-4D97-AF65-F5344CB8AC3E}">
        <p14:creationId val="1416608774"/>
      </p:ext>
    </p:extLst>
  </p:cSld>
  <p:clrMapOvr>
    <a:masterClrMapping/>
  </p:clrMapOvr>
  <p:transition/>
  <p:timing/>
</p:sld>
</file>

<file path=ppt/slides/slide1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17" name="direction-formula-background">
            <a:extLst>
              <a:ext uri="{FF2B5EF4-FFF2-40B4-BE49-F238E27FC236}">
                <a16:creationId xmlns:a16="http://schemas.microsoft.com/office/drawing/2014/main" id="{25ABB92D-ECD7-4CD0-8EC8-3E97BA5ECA44}"/>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direction-formula-title">
            <a:extLst>
              <a:ext uri="{FF2B5EF4-FFF2-40B4-BE49-F238E27FC236}">
                <a16:creationId xmlns:a16="http://schemas.microsoft.com/office/drawing/2014/main" id="{AE051D85-F47D-4AD6-893D-6C8E7D3161BE}"/>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the OXPHOS direction percentage is calculated</a:t>
            </a:r>
          </a:p>
        </p:txBody>
      </p:sp>
      <p:sp>
        <p:nvSpPr>
          <p:cNvPr id="3" name="direction-formula-subtitle">
            <a:extLst>
              <a:ext uri="{FF2B5EF4-FFF2-40B4-BE49-F238E27FC236}">
                <a16:creationId xmlns:a16="http://schemas.microsoft.com/office/drawing/2014/main" id="{28486D60-6F13-489B-8CDC-A572FA2FB822}"/>
              </a:ext>
            </a:extLst>
          </p:cNvPr>
          <p:cNvSpPr>
            <a:spLocks noGrp="1"/>
          </p:cNvSpPr>
          <p:nvPr/>
        </p:nvSpPr>
        <p:spPr>
          <a:xfrm>
            <a:off x="552450" y="923925"/>
            <a:ext cx="10572750" cy="3238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4" name="direction-formula-surface">
            <a:extLst>
              <a:ext uri="{FF2B5EF4-FFF2-40B4-BE49-F238E27FC236}">
                <a16:creationId xmlns:a16="http://schemas.microsoft.com/office/drawing/2014/main" id="{00B2A2A6-2FD4-487B-8E74-155D0BBFB263}"/>
              </a:ext>
            </a:extLst>
          </p:cNvPr>
          <p:cNvSpPr>
            <a:spLocks noGrp="1"/>
          </p:cNvSpPr>
          <p:nvPr/>
        </p:nvSpPr>
        <p:spPr>
          <a:xfrm>
            <a:off x="1000125" y="1504950"/>
            <a:ext cx="10191750" cy="1885950"/>
          </a:xfrm>
          <a:prstGeom prst="roundRect">
            <a:avLst>
              <a:gd name="adj" fmla="val 8081"/>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5" name="direction-formula-label">
            <a:extLst>
              <a:ext uri="{FF2B5EF4-FFF2-40B4-BE49-F238E27FC236}">
                <a16:creationId xmlns:a16="http://schemas.microsoft.com/office/drawing/2014/main" id="{1A56C8AB-0418-4085-95EC-B42427F12956}"/>
              </a:ext>
            </a:extLst>
          </p:cNvPr>
          <p:cNvSpPr>
            <a:spLocks noGrp="1"/>
          </p:cNvSpPr>
          <p:nvPr/>
        </p:nvSpPr>
        <p:spPr>
          <a:xfrm>
            <a:off x="1143000" y="2133600"/>
            <a:ext cx="2933700" cy="514350"/>
          </a:xfrm>
          <a:prstGeom prst="rect">
            <a:avLst/>
          </a:prstGeom>
          <a:noFill/>
          <a:ln w="0">
            <a:noFill/>
            <a:prstDash val="solid"/>
          </a:ln>
        </p:spPr>
        <p:txBody>
          <a:bodyPr wrap="square" lIns="0" tIns="0" rIns="0" bIns="0" anchor="ctr">
            <a:normAutofit fontScale="93066"/>
          </a:bodyPr>
          <a:lstStyle/>
          <a:p>
            <a:pPr algn="r">
              <a:buNone/>
              <a:defRPr sz="2100" b="1">
                <a:solidFill>
                  <a:srgbClr val="0F233D"/>
                </a:solidFill>
                <a:latin typeface="Arial"/>
                <a:ea typeface="Arial"/>
                <a:cs typeface="Arial"/>
              </a:defRPr>
            </a:pPr>
            <a:r>
              <a:rPr sz="2100" b="1">
                <a:solidFill>
                  <a:srgbClr val="0F233D"/>
                </a:solidFill>
                <a:latin typeface="Arial"/>
                <a:ea typeface="Arial"/>
                <a:cs typeface="Arial"/>
              </a:rPr>
              <a:t>Dominant direction % =</a:t>
            </a:r>
          </a:p>
        </p:txBody>
      </p:sp>
      <p:sp>
        <p:nvSpPr>
          <p:cNvPr id="6" name="direction-formula-numerator">
            <a:extLst>
              <a:ext uri="{FF2B5EF4-FFF2-40B4-BE49-F238E27FC236}">
                <a16:creationId xmlns:a16="http://schemas.microsoft.com/office/drawing/2014/main" id="{8F22A7C5-55F4-4E36-9453-F5ED053F2050}"/>
              </a:ext>
            </a:extLst>
          </p:cNvPr>
          <p:cNvSpPr>
            <a:spLocks noGrp="1"/>
          </p:cNvSpPr>
          <p:nvPr/>
        </p:nvSpPr>
        <p:spPr>
          <a:xfrm>
            <a:off x="4400550" y="1743075"/>
            <a:ext cx="5619750" cy="523875"/>
          </a:xfrm>
          <a:prstGeom prst="rect">
            <a:avLst/>
          </a:prstGeom>
          <a:noFill/>
          <a:ln w="0">
            <a:noFill/>
            <a:prstDash val="solid"/>
          </a:ln>
        </p:spPr>
        <p:txBody>
          <a:bodyPr wrap="square" lIns="0" tIns="0" rIns="0" bIns="0" anchor="b">
            <a:normAutofit/>
          </a:bodyPr>
          <a:lstStyle/>
          <a:p>
            <a:pPr algn="ctr">
              <a:buNone/>
              <a:defRPr sz="1650" b="1">
                <a:solidFill>
                  <a:srgbClr val="0F233D"/>
                </a:solidFill>
                <a:latin typeface="Arial"/>
                <a:ea typeface="Arial"/>
                <a:cs typeface="Arial"/>
              </a:defRPr>
            </a:pPr>
            <a:r>
              <a:rPr sz="1650" b="1">
                <a:solidFill>
                  <a:srgbClr val="0F233D"/>
                </a:solidFill>
                <a:latin typeface="Arial"/>
                <a:ea typeface="Arial"/>
                <a:cs typeface="Arial"/>
              </a:rPr>
              <a:t>max(upregulated occurrences, downregulated occurrences)</a:t>
            </a:r>
          </a:p>
        </p:txBody>
      </p:sp>
      <p:sp>
        <p:nvSpPr>
          <p:cNvPr id="7" name="direction-formula-fraction-line">
            <a:extLst>
              <a:ext uri="{FF2B5EF4-FFF2-40B4-BE49-F238E27FC236}">
                <a16:creationId xmlns:a16="http://schemas.microsoft.com/office/drawing/2014/main" id="{DCE5E515-7AA6-4088-80B7-07A00CA1A1FB}"/>
              </a:ext>
            </a:extLst>
          </p:cNvPr>
          <p:cNvSpPr>
            <a:spLocks noGrp="1"/>
          </p:cNvSpPr>
          <p:nvPr/>
        </p:nvSpPr>
        <p:spPr>
          <a:xfrm>
            <a:off x="4476750" y="2400300"/>
            <a:ext cx="5476875" cy="0"/>
          </a:xfrm>
          <a:prstGeom prst="line">
            <a:avLst/>
          </a:prstGeom>
          <a:noFill/>
          <a:ln w="23813">
            <a:solidFill>
              <a:srgbClr val="0F233D"/>
            </a:solidFill>
            <a:prstDash val="solid"/>
          </a:ln>
        </p:spPr>
        <p:txBody>
          <a:bodyPr/>
          <a:lstStyle/>
          <a:p>
            <a:endParaRPr/>
          </a:p>
        </p:txBody>
      </p:sp>
      <p:sp>
        <p:nvSpPr>
          <p:cNvPr id="8" name="direction-formula-denominator">
            <a:extLst>
              <a:ext uri="{FF2B5EF4-FFF2-40B4-BE49-F238E27FC236}">
                <a16:creationId xmlns:a16="http://schemas.microsoft.com/office/drawing/2014/main" id="{5F3CFBCC-997F-4F30-9D9B-DFC0C9AA67C2}"/>
              </a:ext>
            </a:extLst>
          </p:cNvPr>
          <p:cNvSpPr>
            <a:spLocks noGrp="1"/>
          </p:cNvSpPr>
          <p:nvPr/>
        </p:nvSpPr>
        <p:spPr>
          <a:xfrm>
            <a:off x="4400550" y="2543175"/>
            <a:ext cx="5619750" cy="476250"/>
          </a:xfrm>
          <a:prstGeom prst="rect">
            <a:avLst/>
          </a:prstGeom>
          <a:noFill/>
          <a:ln w="0">
            <a:noFill/>
            <a:prstDash val="solid"/>
          </a:ln>
        </p:spPr>
        <p:txBody>
          <a:bodyPr wrap="square" lIns="0" tIns="0" rIns="0" bIns="0" anchor="t">
            <a:normAutofit/>
          </a:bodyPr>
          <a:lstStyle/>
          <a:p>
            <a:pPr algn="ctr">
              <a:buNone/>
              <a:defRPr sz="1650" b="1">
                <a:solidFill>
                  <a:srgbClr val="0F233D"/>
                </a:solidFill>
                <a:latin typeface="Arial"/>
                <a:ea typeface="Arial"/>
                <a:cs typeface="Arial"/>
              </a:defRPr>
            </a:pPr>
            <a:r>
              <a:rPr sz="1650" b="1">
                <a:solidFill>
                  <a:srgbClr val="0F233D"/>
                </a:solidFill>
                <a:latin typeface="Arial"/>
                <a:ea typeface="Arial"/>
                <a:cs typeface="Arial"/>
              </a:rPr>
              <a:t>upregulated occurrences + downregulated occurrences</a:t>
            </a:r>
          </a:p>
        </p:txBody>
      </p:sp>
      <p:sp>
        <p:nvSpPr>
          <p:cNvPr id="9" name="direction-formula-times-100">
            <a:extLst>
              <a:ext uri="{FF2B5EF4-FFF2-40B4-BE49-F238E27FC236}">
                <a16:creationId xmlns:a16="http://schemas.microsoft.com/office/drawing/2014/main" id="{EB01F018-37C2-4C63-864D-CDA16EA5A332}"/>
              </a:ext>
            </a:extLst>
          </p:cNvPr>
          <p:cNvSpPr>
            <a:spLocks noGrp="1"/>
          </p:cNvSpPr>
          <p:nvPr/>
        </p:nvSpPr>
        <p:spPr>
          <a:xfrm>
            <a:off x="10134600" y="2133600"/>
            <a:ext cx="914400" cy="514350"/>
          </a:xfrm>
          <a:prstGeom prst="rect">
            <a:avLst/>
          </a:prstGeom>
          <a:noFill/>
          <a:ln w="0">
            <a:noFill/>
            <a:prstDash val="solid"/>
          </a:ln>
        </p:spPr>
        <p:txBody>
          <a:bodyPr wrap="square" lIns="0" tIns="0" rIns="0" bIns="0" anchor="ctr">
            <a:normAutofit/>
          </a:bodyPr>
          <a:lstStyle/>
          <a:p>
            <a:pPr algn="l">
              <a:buNone/>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10" name="direction-occurrence-definition">
            <a:extLst>
              <a:ext uri="{FF2B5EF4-FFF2-40B4-BE49-F238E27FC236}">
                <a16:creationId xmlns:a16="http://schemas.microsoft.com/office/drawing/2014/main" id="{8C0FA3DB-02A9-46F2-AB6C-6C0BC5F3494B}"/>
              </a:ext>
            </a:extLst>
          </p:cNvPr>
          <p:cNvSpPr>
            <a:spLocks noGrp="1"/>
          </p:cNvSpPr>
          <p:nvPr/>
        </p:nvSpPr>
        <p:spPr>
          <a:xfrm>
            <a:off x="1143000" y="3600450"/>
            <a:ext cx="9906000" cy="419100"/>
          </a:xfrm>
          <a:prstGeom prst="rect">
            <a:avLst/>
          </a:prstGeom>
          <a:noFill/>
          <a:ln w="0">
            <a:noFill/>
            <a:prstDash val="solid"/>
          </a:ln>
        </p:spPr>
        <p:txBody>
          <a:bodyPr wrap="square" lIns="0" tIns="0" rIns="0" bIns="0" anchor="ctr">
            <a:normAutofit/>
          </a:bodyPr>
          <a:lstStyle/>
          <a:p>
            <a:pPr algn="ctr">
              <a:buNone/>
              <a:defRPr sz="1350" b="0">
                <a:solidFill>
                  <a:srgbClr val="4E5A68"/>
                </a:solidFill>
                <a:latin typeface="Arial"/>
                <a:ea typeface="Arial"/>
                <a:cs typeface="Arial"/>
              </a:defRPr>
            </a:pPr>
            <a:r>
              <a:rPr sz="1350" b="0">
                <a:solidFill>
                  <a:srgbClr val="4E5A68"/>
                </a:solidFill>
                <a:latin typeface="Arial"/>
                <a:ea typeface="Arial"/>
                <a:cs typeface="Arial"/>
              </a:rPr>
              <a:t>1 occurrence = 1 significant pathway gene in 1 fine-cell comparison. The same gene may count again in another fine cell type.</a:t>
            </a:r>
          </a:p>
        </p:txBody>
      </p:sp>
      <p:sp>
        <p:nvSpPr>
          <p:cNvPr id="11" name="direction-example-surface">
            <a:extLst>
              <a:ext uri="{FF2B5EF4-FFF2-40B4-BE49-F238E27FC236}">
                <a16:creationId xmlns:a16="http://schemas.microsoft.com/office/drawing/2014/main" id="{4A4B1164-3B13-455C-A204-DC47BE324F4E}"/>
              </a:ext>
            </a:extLst>
          </p:cNvPr>
          <p:cNvSpPr>
            <a:spLocks noGrp="1"/>
          </p:cNvSpPr>
          <p:nvPr/>
        </p:nvSpPr>
        <p:spPr>
          <a:xfrm>
            <a:off x="1524000" y="4309784"/>
            <a:ext cx="9144000" cy="1238250"/>
          </a:xfrm>
          <a:prstGeom prst="roundRect">
            <a:avLst>
              <a:gd name="adj" fmla="val 12308"/>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2" name="direction-example-label">
            <a:extLst>
              <a:ext uri="{FF2B5EF4-FFF2-40B4-BE49-F238E27FC236}">
                <a16:creationId xmlns:a16="http://schemas.microsoft.com/office/drawing/2014/main" id="{DD39F9E9-7D49-4BD8-AC6E-644ABF159B48}"/>
              </a:ext>
            </a:extLst>
          </p:cNvPr>
          <p:cNvSpPr>
            <a:spLocks noGrp="1"/>
          </p:cNvSpPr>
          <p:nvPr/>
        </p:nvSpPr>
        <p:spPr>
          <a:xfrm>
            <a:off x="1952625" y="4509809"/>
            <a:ext cx="8286750" cy="285750"/>
          </a:xfrm>
          <a:prstGeom prst="rect">
            <a:avLst/>
          </a:prstGeom>
          <a:noFill/>
          <a:ln w="0">
            <a:noFill/>
            <a:prstDash val="solid"/>
          </a:ln>
        </p:spPr>
        <p:txBody>
          <a:bodyPr wrap="square" lIns="0" tIns="0" rIns="0" bIns="0" anchor="t">
            <a:normAutofit/>
          </a:bodyPr>
          <a:lstStyle/>
          <a:p>
            <a:pPr algn="ctr">
              <a:buNone/>
              <a:defRPr sz="1350" b="1">
                <a:solidFill>
                  <a:srgbClr val="00684D"/>
                </a:solidFill>
                <a:latin typeface="Arial"/>
                <a:ea typeface="Arial"/>
                <a:cs typeface="Arial"/>
              </a:defRPr>
            </a:pPr>
            <a:r>
              <a:rPr sz="1350" b="1">
                <a:solidFill>
                  <a:srgbClr val="00684D"/>
                </a:solidFill>
                <a:latin typeface="Arial"/>
                <a:ea typeface="Arial"/>
                <a:cs typeface="Arial"/>
              </a:rPr>
              <a:t>Example: male ε3/ε3, core MT genes</a:t>
            </a:r>
          </a:p>
        </p:txBody>
      </p:sp>
      <p:sp>
        <p:nvSpPr>
          <p:cNvPr id="13" name="direction-example-calculation">
            <a:extLst>
              <a:ext uri="{FF2B5EF4-FFF2-40B4-BE49-F238E27FC236}">
                <a16:creationId xmlns:a16="http://schemas.microsoft.com/office/drawing/2014/main" id="{33B5E7EC-043A-49BC-A2B4-06D42CCAEA44}"/>
              </a:ext>
            </a:extLst>
          </p:cNvPr>
          <p:cNvSpPr>
            <a:spLocks noGrp="1"/>
          </p:cNvSpPr>
          <p:nvPr/>
        </p:nvSpPr>
        <p:spPr>
          <a:xfrm>
            <a:off x="1952625" y="4919384"/>
            <a:ext cx="8286750" cy="381000"/>
          </a:xfrm>
          <a:prstGeom prst="rect">
            <a:avLst/>
          </a:prstGeom>
          <a:noFill/>
          <a:ln w="0">
            <a:noFill/>
            <a:prstDash val="solid"/>
          </a:ln>
        </p:spPr>
        <p:txBody>
          <a:bodyPr wrap="square" lIns="0" tIns="0" rIns="0" bIns="0" anchor="ctr">
            <a:normAutofit/>
          </a:bodyPr>
          <a:lstStyle/>
          <a:p>
            <a:pPr algn="ctr">
              <a:buNone/>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14" name="direction-reading-surface">
            <a:extLst>
              <a:ext uri="{FF2B5EF4-FFF2-40B4-BE49-F238E27FC236}">
                <a16:creationId xmlns:a16="http://schemas.microsoft.com/office/drawing/2014/main" id="{DE281373-4DE5-4682-A3E3-9B19408BAB52}"/>
              </a:ext>
            </a:extLst>
          </p:cNvPr>
          <p:cNvSpPr>
            <a:spLocks noGrp="1"/>
          </p:cNvSpPr>
          <p:nvPr/>
        </p:nvSpPr>
        <p:spPr>
          <a:xfrm>
            <a:off x="1000125" y="5844989"/>
            <a:ext cx="10191750" cy="590550"/>
          </a:xfrm>
          <a:prstGeom prst="roundRect">
            <a:avLst>
              <a:gd name="adj" fmla="val 19355"/>
            </a:avLst>
          </a:prstGeom>
          <a:solidFill>
            <a:srgbClr val="F1F4F7"/>
          </a:solidFill>
          <a:ln w="9525">
            <a:solidFill>
              <a:srgbClr val="D8E2EC"/>
            </a:solidFill>
            <a:prstDash val="solid"/>
          </a:ln>
        </p:spPr>
        <p:txBody>
          <a:bodyPr/>
          <a:lstStyle/>
          <a:p>
            <a:endParaRPr/>
          </a:p>
        </p:txBody>
      </p:sp>
      <p:sp>
        <p:nvSpPr>
          <p:cNvPr id="15" name="direction-reading-label">
            <a:extLst>
              <a:ext uri="{FF2B5EF4-FFF2-40B4-BE49-F238E27FC236}">
                <a16:creationId xmlns:a16="http://schemas.microsoft.com/office/drawing/2014/main" id="{DE4F20A9-5D22-492D-8F29-00AF265C1FE6}"/>
              </a:ext>
            </a:extLst>
          </p:cNvPr>
          <p:cNvSpPr>
            <a:spLocks noGrp="1"/>
          </p:cNvSpPr>
          <p:nvPr/>
        </p:nvSpPr>
        <p:spPr>
          <a:xfrm>
            <a:off x="1276350" y="6006914"/>
            <a:ext cx="1666875" cy="25717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16" name="direction-reading-text">
            <a:extLst>
              <a:ext uri="{FF2B5EF4-FFF2-40B4-BE49-F238E27FC236}">
                <a16:creationId xmlns:a16="http://schemas.microsoft.com/office/drawing/2014/main" id="{191E78E3-6505-4ACF-BE68-F0D5576FD62F}"/>
              </a:ext>
            </a:extLst>
          </p:cNvPr>
          <p:cNvSpPr>
            <a:spLocks noGrp="1"/>
          </p:cNvSpPr>
          <p:nvPr/>
        </p:nvSpPr>
        <p:spPr>
          <a:xfrm>
            <a:off x="3000375" y="5968814"/>
            <a:ext cx="7905750" cy="333375"/>
          </a:xfrm>
          <a:prstGeom prst="rect">
            <a:avLst/>
          </a:prstGeom>
          <a:noFill/>
          <a:ln w="0">
            <a:noFill/>
            <a:prstDash val="solid"/>
          </a:ln>
        </p:spPr>
        <p:txBody>
          <a:bodyPr wrap="square" lIns="0" tIns="0" rIns="0" bIns="0" anchor="ctr">
            <a:normAutofit fontScale="97379" lnSpcReduction="10000"/>
          </a:bodyPr>
          <a:lstStyle/>
          <a:p>
            <a:pPr algn="l">
              <a:buNone/>
              <a:defRPr sz="1275" b="0">
                <a:solidFill>
                  <a:srgbClr val="1F2730"/>
                </a:solidFill>
                <a:latin typeface="Arial"/>
                <a:ea typeface="Arial"/>
                <a:cs typeface="Arial"/>
              </a:defRPr>
            </a:pPr>
            <a:r>
              <a:rPr sz="1275" b="0">
                <a:solidFill>
                  <a:srgbClr val="1F2730"/>
                </a:solidFill>
                <a:latin typeface="Arial"/>
                <a:ea typeface="Arial"/>
                <a:cs typeface="Arial"/>
              </a:rPr>
              <a:t>Positive bars mean upregulated is dominant. Negative bars mean downregulated is dominant. Color identifies the gene set.</a:t>
            </a:r>
          </a:p>
        </p:txBody>
      </p:sp>
      <p:sp>
        <p:nvSpPr>
          <p:cNvPr id="18" name="up-share-formula-background">
            <a:extLst>
              <a:ext uri="{FF2B5EF4-FFF2-40B4-BE49-F238E27FC236}">
                <a16:creationId xmlns:a16="http://schemas.microsoft.com/office/drawing/2014/main" id="{D2ED8626-1F9D-4E36-BAE4-63F077D61FF1}"/>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19" name="up-share-formula-title">
            <a:extLst>
              <a:ext uri="{FF2B5EF4-FFF2-40B4-BE49-F238E27FC236}">
                <a16:creationId xmlns:a16="http://schemas.microsoft.com/office/drawing/2014/main" id="{8E5F143E-6305-4B38-9005-7657993A5D63}"/>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the upregulated occurrence percentage is calculated</a:t>
            </a:r>
          </a:p>
        </p:txBody>
      </p:sp>
      <p:sp>
        <p:nvSpPr>
          <p:cNvPr id="20" name="up-share-formula-subtitle">
            <a:extLst>
              <a:ext uri="{FF2B5EF4-FFF2-40B4-BE49-F238E27FC236}">
                <a16:creationId xmlns:a16="http://schemas.microsoft.com/office/drawing/2014/main" id="{61AEDA80-AEB4-486A-971C-54131334840B}"/>
              </a:ext>
            </a:extLst>
          </p:cNvPr>
          <p:cNvSpPr>
            <a:spLocks noGrp="1"/>
          </p:cNvSpPr>
          <p:nvPr/>
        </p:nvSpPr>
        <p:spPr>
          <a:xfrm>
            <a:off x="552450" y="923925"/>
            <a:ext cx="10572750" cy="3238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21" name="up-share-formula-surface">
            <a:extLst>
              <a:ext uri="{FF2B5EF4-FFF2-40B4-BE49-F238E27FC236}">
                <a16:creationId xmlns:a16="http://schemas.microsoft.com/office/drawing/2014/main" id="{0443B4DA-9127-470C-A1D0-05F3D4CB57A4}"/>
              </a:ext>
            </a:extLst>
          </p:cNvPr>
          <p:cNvSpPr>
            <a:spLocks noGrp="1"/>
          </p:cNvSpPr>
          <p:nvPr/>
        </p:nvSpPr>
        <p:spPr>
          <a:xfrm>
            <a:off x="1000125" y="1504950"/>
            <a:ext cx="10191750" cy="1885950"/>
          </a:xfrm>
          <a:prstGeom prst="roundRect">
            <a:avLst>
              <a:gd name="adj" fmla="val 8081"/>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22" name="up-share-formula-label">
            <a:extLst>
              <a:ext uri="{FF2B5EF4-FFF2-40B4-BE49-F238E27FC236}">
                <a16:creationId xmlns:a16="http://schemas.microsoft.com/office/drawing/2014/main" id="{1688DF3F-06AF-453B-BD4A-9353CDFF1B13}"/>
              </a:ext>
            </a:extLst>
          </p:cNvPr>
          <p:cNvSpPr>
            <a:spLocks noGrp="1"/>
          </p:cNvSpPr>
          <p:nvPr/>
        </p:nvSpPr>
        <p:spPr>
          <a:xfrm>
            <a:off x="1143000" y="2133600"/>
            <a:ext cx="3333750" cy="514350"/>
          </a:xfrm>
          <a:prstGeom prst="rect">
            <a:avLst/>
          </a:prstGeom>
          <a:noFill/>
          <a:ln w="0">
            <a:noFill/>
            <a:prstDash val="solid"/>
          </a:ln>
        </p:spPr>
        <p:txBody>
          <a:bodyPr wrap="square" lIns="0" tIns="0" rIns="0" bIns="0" anchor="ctr">
            <a:normAutofit/>
          </a:bodyPr>
          <a:lstStyle/>
          <a:p>
            <a:pPr algn="r">
              <a:buNone/>
              <a:defRPr sz="1875" b="1">
                <a:solidFill>
                  <a:srgbClr val="0F233D"/>
                </a:solidFill>
                <a:latin typeface="Arial"/>
                <a:ea typeface="Arial"/>
                <a:cs typeface="Arial"/>
              </a:defRPr>
            </a:pPr>
            <a:r>
              <a:rPr sz="1875" b="1">
                <a:solidFill>
                  <a:srgbClr val="0F233D"/>
                </a:solidFill>
                <a:latin typeface="Arial"/>
                <a:ea typeface="Arial"/>
                <a:cs typeface="Arial"/>
              </a:rPr>
              <a:t>Upregulated occurrence % =</a:t>
            </a:r>
          </a:p>
        </p:txBody>
      </p:sp>
      <p:sp>
        <p:nvSpPr>
          <p:cNvPr id="23" name="up-share-formula-numerator">
            <a:extLst>
              <a:ext uri="{FF2B5EF4-FFF2-40B4-BE49-F238E27FC236}">
                <a16:creationId xmlns:a16="http://schemas.microsoft.com/office/drawing/2014/main" id="{2F35C907-F14B-40C4-88D4-4430E70999A9}"/>
              </a:ext>
            </a:extLst>
          </p:cNvPr>
          <p:cNvSpPr>
            <a:spLocks noGrp="1"/>
          </p:cNvSpPr>
          <p:nvPr/>
        </p:nvSpPr>
        <p:spPr>
          <a:xfrm>
            <a:off x="4762500" y="1790700"/>
            <a:ext cx="4762500" cy="476250"/>
          </a:xfrm>
          <a:prstGeom prst="rect">
            <a:avLst/>
          </a:prstGeom>
          <a:noFill/>
          <a:ln w="0">
            <a:noFill/>
            <a:prstDash val="solid"/>
          </a:ln>
        </p:spPr>
        <p:txBody>
          <a:bodyPr wrap="square" lIns="0" tIns="0" rIns="0" bIns="0" anchor="b">
            <a:normAutofit/>
          </a:bodyPr>
          <a:lstStyle/>
          <a:p>
            <a:pPr algn="ctr">
              <a:buNone/>
              <a:defRPr sz="1725" b="1">
                <a:solidFill>
                  <a:srgbClr val="0F233D"/>
                </a:solidFill>
                <a:latin typeface="Arial"/>
                <a:ea typeface="Arial"/>
                <a:cs typeface="Arial"/>
              </a:defRPr>
            </a:pPr>
            <a:r>
              <a:rPr sz="1725" b="1">
                <a:solidFill>
                  <a:srgbClr val="0F233D"/>
                </a:solidFill>
                <a:latin typeface="Arial"/>
                <a:ea typeface="Arial"/>
                <a:cs typeface="Arial"/>
              </a:rPr>
              <a:t>upregulated occurrences</a:t>
            </a:r>
          </a:p>
        </p:txBody>
      </p:sp>
      <p:sp>
        <p:nvSpPr>
          <p:cNvPr id="24" name="up-share-formula-fraction-line">
            <a:extLst>
              <a:ext uri="{FF2B5EF4-FFF2-40B4-BE49-F238E27FC236}">
                <a16:creationId xmlns:a16="http://schemas.microsoft.com/office/drawing/2014/main" id="{A95E5007-62D8-416B-86F0-D2DE235D5B28}"/>
              </a:ext>
            </a:extLst>
          </p:cNvPr>
          <p:cNvSpPr>
            <a:spLocks noGrp="1"/>
          </p:cNvSpPr>
          <p:nvPr/>
        </p:nvSpPr>
        <p:spPr>
          <a:xfrm>
            <a:off x="4619625" y="2400300"/>
            <a:ext cx="5048250" cy="0"/>
          </a:xfrm>
          <a:prstGeom prst="line">
            <a:avLst/>
          </a:prstGeom>
          <a:noFill/>
          <a:ln w="23813">
            <a:solidFill>
              <a:srgbClr val="0F233D"/>
            </a:solidFill>
            <a:prstDash val="solid"/>
          </a:ln>
        </p:spPr>
        <p:txBody>
          <a:bodyPr/>
          <a:lstStyle/>
          <a:p>
            <a:endParaRPr/>
          </a:p>
        </p:txBody>
      </p:sp>
      <p:sp>
        <p:nvSpPr>
          <p:cNvPr id="25" name="up-share-formula-denominator">
            <a:extLst>
              <a:ext uri="{FF2B5EF4-FFF2-40B4-BE49-F238E27FC236}">
                <a16:creationId xmlns:a16="http://schemas.microsoft.com/office/drawing/2014/main" id="{ED116C25-3046-449D-80B2-0EDADE14B683}"/>
              </a:ext>
            </a:extLst>
          </p:cNvPr>
          <p:cNvSpPr>
            <a:spLocks noGrp="1"/>
          </p:cNvSpPr>
          <p:nvPr/>
        </p:nvSpPr>
        <p:spPr>
          <a:xfrm>
            <a:off x="4524375" y="2543175"/>
            <a:ext cx="5238750" cy="476250"/>
          </a:xfrm>
          <a:prstGeom prst="rect">
            <a:avLst/>
          </a:prstGeom>
          <a:noFill/>
          <a:ln w="0">
            <a:noFill/>
            <a:prstDash val="solid"/>
          </a:ln>
        </p:spPr>
        <p:txBody>
          <a:bodyPr wrap="square" lIns="0" tIns="0" rIns="0" bIns="0" anchor="t">
            <a:normAutofit fontScale="99217" lnSpcReduction="10000"/>
          </a:bodyPr>
          <a:lstStyle/>
          <a:p>
            <a:pPr algn="ctr">
              <a:buNone/>
              <a:defRPr sz="1575" b="1">
                <a:solidFill>
                  <a:srgbClr val="0F233D"/>
                </a:solidFill>
                <a:latin typeface="Arial"/>
                <a:ea typeface="Arial"/>
                <a:cs typeface="Arial"/>
              </a:defRPr>
            </a:pPr>
            <a:r>
              <a:rPr sz="1575" b="1">
                <a:solidFill>
                  <a:srgbClr val="0F233D"/>
                </a:solidFill>
                <a:latin typeface="Arial"/>
                <a:ea typeface="Arial"/>
                <a:cs typeface="Arial"/>
              </a:rPr>
              <a:t>upregulated occurrences + downregulated occurrences</a:t>
            </a:r>
          </a:p>
        </p:txBody>
      </p:sp>
      <p:sp>
        <p:nvSpPr>
          <p:cNvPr id="26" name="up-share-formula-times-100">
            <a:extLst>
              <a:ext uri="{FF2B5EF4-FFF2-40B4-BE49-F238E27FC236}">
                <a16:creationId xmlns:a16="http://schemas.microsoft.com/office/drawing/2014/main" id="{90AA0374-C8CA-40E5-9B4A-D01802E9E008}"/>
              </a:ext>
            </a:extLst>
          </p:cNvPr>
          <p:cNvSpPr>
            <a:spLocks noGrp="1"/>
          </p:cNvSpPr>
          <p:nvPr/>
        </p:nvSpPr>
        <p:spPr>
          <a:xfrm>
            <a:off x="9906000" y="2133600"/>
            <a:ext cx="952500" cy="514350"/>
          </a:xfrm>
          <a:prstGeom prst="rect">
            <a:avLst/>
          </a:prstGeom>
          <a:noFill/>
          <a:ln w="0">
            <a:noFill/>
            <a:prstDash val="solid"/>
          </a:ln>
        </p:spPr>
        <p:txBody>
          <a:bodyPr wrap="square" lIns="0" tIns="0" rIns="0" bIns="0" anchor="ctr">
            <a:normAutofit/>
          </a:bodyPr>
          <a:lstStyle/>
          <a:p>
            <a:pPr algn="l">
              <a:buNone/>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27" name="up-share-occurrence-definition">
            <a:extLst>
              <a:ext uri="{FF2B5EF4-FFF2-40B4-BE49-F238E27FC236}">
                <a16:creationId xmlns:a16="http://schemas.microsoft.com/office/drawing/2014/main" id="{1A6CE354-8C72-486A-828A-0EBE27A94B79}"/>
              </a:ext>
            </a:extLst>
          </p:cNvPr>
          <p:cNvSpPr>
            <a:spLocks noGrp="1"/>
          </p:cNvSpPr>
          <p:nvPr/>
        </p:nvSpPr>
        <p:spPr>
          <a:xfrm>
            <a:off x="1143000" y="3600450"/>
            <a:ext cx="9906000" cy="419100"/>
          </a:xfrm>
          <a:prstGeom prst="rect">
            <a:avLst/>
          </a:prstGeom>
          <a:noFill/>
          <a:ln w="0">
            <a:noFill/>
            <a:prstDash val="solid"/>
          </a:ln>
        </p:spPr>
        <p:txBody>
          <a:bodyPr wrap="square" lIns="0" tIns="0" rIns="0" bIns="0" anchor="ctr">
            <a:noAutofit/>
          </a:bodyPr>
          <a:lstStyle/>
          <a:p>
            <a:pPr algn="ctr">
              <a:buNone/>
              <a:defRPr sz="1350" b="0">
                <a:solidFill>
                  <a:srgbClr val="4E5A68"/>
                </a:solidFill>
                <a:latin typeface="Arial"/>
                <a:ea typeface="Arial"/>
                <a:cs typeface="Arial"/>
              </a:defRPr>
            </a:pPr>
            <a:r>
              <a:rPr sz="1600" b="1">
                <a:solidFill>
                  <a:srgbClr val="FF0000"/>
                </a:solidFill>
                <a:latin typeface="Arial"/>
                <a:ea typeface="Arial"/>
                <a:cs typeface="Arial"/>
              </a:rPr>
              <a:t>1 occurrence = 1 significant pathway gene in 1 fine-cell comparison</a:t>
            </a:r>
            <a:r>
              <a:rPr sz="1600" b="1">
                <a:solidFill>
                  <a:srgbClr val="4E5A68"/>
                </a:solidFill>
                <a:latin typeface="Arial"/>
                <a:ea typeface="Arial"/>
                <a:cs typeface="Arial"/>
              </a:rPr>
              <a:t>. The same gene may count again in another fine cell type.</a:t>
            </a:r>
          </a:p>
        </p:txBody>
      </p:sp>
      <p:sp>
        <p:nvSpPr>
          <p:cNvPr id="28" name="up-share-example-surface">
            <a:extLst>
              <a:ext uri="{FF2B5EF4-FFF2-40B4-BE49-F238E27FC236}">
                <a16:creationId xmlns:a16="http://schemas.microsoft.com/office/drawing/2014/main" id="{E7A883B5-E2EA-4CAA-ACF6-8ACD938659A8}"/>
              </a:ext>
            </a:extLst>
          </p:cNvPr>
          <p:cNvSpPr>
            <a:spLocks noGrp="1"/>
          </p:cNvSpPr>
          <p:nvPr/>
        </p:nvSpPr>
        <p:spPr>
          <a:xfrm>
            <a:off x="1524000" y="4309784"/>
            <a:ext cx="9144000" cy="1238250"/>
          </a:xfrm>
          <a:prstGeom prst="roundRect">
            <a:avLst>
              <a:gd name="adj" fmla="val 12308"/>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29" name="up-share-example-label">
            <a:extLst>
              <a:ext uri="{FF2B5EF4-FFF2-40B4-BE49-F238E27FC236}">
                <a16:creationId xmlns:a16="http://schemas.microsoft.com/office/drawing/2014/main" id="{000ADEC4-160C-4935-8190-C81488BAB034}"/>
              </a:ext>
            </a:extLst>
          </p:cNvPr>
          <p:cNvSpPr>
            <a:spLocks noGrp="1"/>
          </p:cNvSpPr>
          <p:nvPr/>
        </p:nvSpPr>
        <p:spPr>
          <a:xfrm>
            <a:off x="1952625" y="4509809"/>
            <a:ext cx="8286750" cy="285750"/>
          </a:xfrm>
          <a:prstGeom prst="rect">
            <a:avLst/>
          </a:prstGeom>
          <a:noFill/>
          <a:ln w="0">
            <a:noFill/>
            <a:prstDash val="solid"/>
          </a:ln>
        </p:spPr>
        <p:txBody>
          <a:bodyPr wrap="square" lIns="0" tIns="0" rIns="0" bIns="0" anchor="t">
            <a:normAutofit/>
          </a:bodyPr>
          <a:lstStyle/>
          <a:p>
            <a:pPr algn="ctr">
              <a:buNone/>
              <a:defRPr sz="1350" b="1">
                <a:solidFill>
                  <a:srgbClr val="00684D"/>
                </a:solidFill>
                <a:latin typeface="Arial"/>
                <a:ea typeface="Arial"/>
                <a:cs typeface="Arial"/>
              </a:defRPr>
            </a:pPr>
            <a:r>
              <a:rPr sz="1350" b="1">
                <a:solidFill>
                  <a:srgbClr val="00684D"/>
                </a:solidFill>
                <a:latin typeface="Arial"/>
                <a:ea typeface="Arial"/>
                <a:cs typeface="Arial"/>
              </a:rPr>
              <a:t>Example: male ε3/ε3, core MT genes</a:t>
            </a:r>
          </a:p>
        </p:txBody>
      </p:sp>
      <p:sp>
        <p:nvSpPr>
          <p:cNvPr id="30" name="up-share-example-calculation">
            <a:extLst>
              <a:ext uri="{FF2B5EF4-FFF2-40B4-BE49-F238E27FC236}">
                <a16:creationId xmlns:a16="http://schemas.microsoft.com/office/drawing/2014/main" id="{178F17E4-AD5A-4864-A4D6-0543141C8923}"/>
              </a:ext>
            </a:extLst>
          </p:cNvPr>
          <p:cNvSpPr>
            <a:spLocks noGrp="1"/>
          </p:cNvSpPr>
          <p:nvPr/>
        </p:nvSpPr>
        <p:spPr>
          <a:xfrm>
            <a:off x="1952625" y="4919384"/>
            <a:ext cx="8286750" cy="381000"/>
          </a:xfrm>
          <a:prstGeom prst="rect">
            <a:avLst/>
          </a:prstGeom>
          <a:noFill/>
          <a:ln w="0">
            <a:noFill/>
            <a:prstDash val="solid"/>
          </a:ln>
        </p:spPr>
        <p:txBody>
          <a:bodyPr wrap="square" lIns="0" tIns="0" rIns="0" bIns="0" anchor="ctr">
            <a:normAutofit/>
          </a:bodyPr>
          <a:lstStyle/>
          <a:p>
            <a:pPr algn="ctr">
              <a:buNone/>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31" name="up-share-reading-surface">
            <a:extLst>
              <a:ext uri="{FF2B5EF4-FFF2-40B4-BE49-F238E27FC236}">
                <a16:creationId xmlns:a16="http://schemas.microsoft.com/office/drawing/2014/main" id="{0C3AE05E-6042-4D00-84A3-548A07C992B0}"/>
              </a:ext>
            </a:extLst>
          </p:cNvPr>
          <p:cNvSpPr>
            <a:spLocks noGrp="1"/>
          </p:cNvSpPr>
          <p:nvPr/>
        </p:nvSpPr>
        <p:spPr>
          <a:xfrm>
            <a:off x="1000125" y="5844989"/>
            <a:ext cx="10191750" cy="590550"/>
          </a:xfrm>
          <a:prstGeom prst="roundRect">
            <a:avLst>
              <a:gd name="adj" fmla="val 19355"/>
            </a:avLst>
          </a:prstGeom>
          <a:solidFill>
            <a:srgbClr val="F1F4F7"/>
          </a:solidFill>
          <a:ln w="9525">
            <a:solidFill>
              <a:srgbClr val="D8E2EC"/>
            </a:solidFill>
            <a:prstDash val="solid"/>
          </a:ln>
        </p:spPr>
        <p:txBody>
          <a:bodyPr/>
          <a:lstStyle/>
          <a:p>
            <a:endParaRPr/>
          </a:p>
        </p:txBody>
      </p:sp>
      <p:sp>
        <p:nvSpPr>
          <p:cNvPr id="32" name="up-share-reading-label">
            <a:extLst>
              <a:ext uri="{FF2B5EF4-FFF2-40B4-BE49-F238E27FC236}">
                <a16:creationId xmlns:a16="http://schemas.microsoft.com/office/drawing/2014/main" id="{AD424F90-92D4-473C-A03F-F2FC6E453976}"/>
              </a:ext>
            </a:extLst>
          </p:cNvPr>
          <p:cNvSpPr>
            <a:spLocks noGrp="1"/>
          </p:cNvSpPr>
          <p:nvPr/>
        </p:nvSpPr>
        <p:spPr>
          <a:xfrm>
            <a:off x="1276350" y="6006914"/>
            <a:ext cx="1666875" cy="25717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33" name="up-share-reading-text">
            <a:extLst>
              <a:ext uri="{FF2B5EF4-FFF2-40B4-BE49-F238E27FC236}">
                <a16:creationId xmlns:a16="http://schemas.microsoft.com/office/drawing/2014/main" id="{1E657A0D-8437-4DBF-8A41-D78543DB84CE}"/>
              </a:ext>
            </a:extLst>
          </p:cNvPr>
          <p:cNvSpPr>
            <a:spLocks noGrp="1"/>
          </p:cNvSpPr>
          <p:nvPr/>
        </p:nvSpPr>
        <p:spPr>
          <a:xfrm>
            <a:off x="3000375" y="5930714"/>
            <a:ext cx="7905750" cy="409575"/>
          </a:xfrm>
          <a:prstGeom prst="rect">
            <a:avLst/>
          </a:prstGeom>
          <a:noFill/>
          <a:ln w="0">
            <a:noFill/>
            <a:prstDash val="solid"/>
          </a:ln>
        </p:spPr>
        <p:txBody>
          <a:bodyPr wrap="square" lIns="0" tIns="0" rIns="0" bIns="0" anchor="ctr">
            <a:normAutofit/>
          </a:bodyPr>
          <a:lstStyle/>
          <a:p>
            <a:pPr algn="l">
              <a:buNone/>
              <a:defRPr sz="1200" b="0">
                <a:solidFill>
                  <a:srgbClr val="1F2730"/>
                </a:solidFill>
                <a:latin typeface="Arial"/>
                <a:ea typeface="Arial"/>
                <a:cs typeface="Arial"/>
              </a:defRPr>
            </a:pPr>
            <a:r>
              <a:rPr sz="1200" b="0">
                <a:solidFill>
                  <a:srgbClr val="1F2730"/>
                </a:solidFill>
                <a:latin typeface="Arial"/>
                <a:ea typeface="Arial"/>
                <a:cs typeface="Arial"/>
              </a:rPr>
              <a:t>50% means equal upregulated and downregulated occurrences. Above 50% favors upregulation; below 50% favors downregulation.</a:t>
            </a:r>
          </a:p>
        </p:txBody>
      </p:sp>
    </p:spTree>
    <p:extLst>
      <p:ext uri="{BB962C8B-B14F-4D97-AF65-F5344CB8AC3E}">
        <p14:creationId val="447818310"/>
      </p:ext>
    </p:extLst>
  </p:cSld>
  <p:clrMapOvr>
    <a:masterClrMapping/>
  </p:clrMapOvr>
  <p:transition/>
  <p:timing/>
</p:sld>
</file>

<file path=ppt/slides/slide1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A1FFB8A0-DEAC-440E-806C-3B607915AFB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100" b="1" i="0">
                <a:solidFill>
                  <a:srgbClr val="0F233D"/>
                </a:solidFill>
                <a:latin typeface="Arial"/>
                <a:ea typeface="Arial"/>
                <a:cs typeface="Arial"/>
              </a:rPr>
              <a:t>OXPHOS gene directions vary across sex/APOE groups</a:t>
            </a:r>
          </a:p>
        </p:txBody>
      </p:sp>
      <p:sp>
        <p:nvSpPr>
          <p:cNvPr id="3" name="TextBox 2">
            <a:extLst>
              <a:ext uri="{FF2B5EF4-FFF2-40B4-BE49-F238E27FC236}">
                <a16:creationId xmlns:a16="http://schemas.microsoft.com/office/drawing/2014/main" id="{F2B80348-3939-45C0-ACEB-4A1F32F42960}"/>
              </a:ext>
            </a:extLst>
          </p:cNvPr>
          <p:cNvSpPr>
            <a:spLocks noGrp="1"/>
          </p:cNvSpPr>
          <p:nvPr/>
        </p:nvSpPr>
        <p:spPr>
          <a:xfrm>
            <a:off x="1140312" y="1173838"/>
            <a:ext cx="9877313" cy="332399"/>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b="0" i="0">
                <a:solidFill>
                  <a:srgbClr val="4E5A68"/>
                </a:solidFill>
                <a:latin typeface="Arial"/>
                <a:ea typeface="Arial"/>
                <a:cs typeface="Arial"/>
              </a:rPr>
              <a:t>OXPHOS (oxidative phosphorylation) is the mitochondrial process that makes most cellular ATP.</a:t>
            </a:r>
          </a:p>
        </p:txBody>
      </p:sp>
      <p:sp>
        <p:nvSpPr>
          <p:cNvPr id="5" name="Rounded Rectangle 4">
            <a:extLst>
              <a:ext uri="{FF2B5EF4-FFF2-40B4-BE49-F238E27FC236}">
                <a16:creationId xmlns:a16="http://schemas.microsoft.com/office/drawing/2014/main" id="{7BFC1DB3-DFD2-40A6-BEF9-C7D358422FDC}"/>
              </a:ext>
            </a:extLst>
          </p:cNvPr>
          <p:cNvSpPr>
            <a:spLocks noGrp="1"/>
          </p:cNvSpPr>
          <p:nvPr/>
        </p:nvSpPr>
        <p:spPr>
          <a:xfrm>
            <a:off x="658368" y="5650992"/>
            <a:ext cx="10881360" cy="640080"/>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D7D15E47-25EF-48E5-9080-CEFB5FCC0506}"/>
              </a:ext>
            </a:extLst>
          </p:cNvPr>
          <p:cNvSpPr>
            <a:spLocks noGrp="1"/>
          </p:cNvSpPr>
          <p:nvPr/>
        </p:nvSpPr>
        <p:spPr>
          <a:xfrm>
            <a:off x="932688" y="5843016"/>
            <a:ext cx="1115568" cy="22860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200" b="1" i="0">
                <a:solidFill>
                  <a:srgbClr val="7E4C9A"/>
                </a:solidFill>
                <a:latin typeface="Arial"/>
                <a:ea typeface="Arial"/>
                <a:cs typeface="Arial"/>
              </a:rPr>
              <a:t>Key contrast</a:t>
            </a:r>
          </a:p>
        </p:txBody>
      </p:sp>
      <p:sp>
        <p:nvSpPr>
          <p:cNvPr id="7" name="TextBox 6">
            <a:extLst>
              <a:ext uri="{FF2B5EF4-FFF2-40B4-BE49-F238E27FC236}">
                <a16:creationId xmlns:a16="http://schemas.microsoft.com/office/drawing/2014/main" id="{B7B88507-A599-4037-BD24-A84D179AFD21}"/>
              </a:ext>
            </a:extLst>
          </p:cNvPr>
          <p:cNvSpPr>
            <a:spLocks noGrp="1"/>
          </p:cNvSpPr>
          <p:nvPr/>
        </p:nvSpPr>
        <p:spPr>
          <a:xfrm>
            <a:off x="2148840" y="5797296"/>
            <a:ext cx="8979408" cy="475488"/>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380" b="0" i="0">
                <a:solidFill>
                  <a:srgbClr val="1F2730"/>
                </a:solidFill>
                <a:latin typeface="Arial"/>
                <a:ea typeface="Arial"/>
                <a:cs typeface="Arial"/>
              </a:rPr>
              <a:t>Female ε3/ε3: both OXPHOS sets mostly rise; male ε3/ε3: core MT genes rise while nuclear-encoded OXPHOS genes fall.</a:t>
            </a:r>
          </a:p>
        </p:txBody>
      </p:sp>
      <p:pic>
        <p:nvPicPr>
          <p:cNvPr id="24" name="Diverging paired bar chart of dominant Alzheimer’s disease direction for the 13 core MT genes and 86 nuclear-encoded OXPHOS genes across female and male APOE epsilon-2, epsilon-3 homozygous, and epsilon-4 groups."/>
          <p:cNvPicPr>
            <a:picLocks noChangeAspect="1"/>
          </p:cNvPicPr>
          <p:nvPr/>
        </p:nvPicPr>
        <p:blipFill>
          <a:blip r:embed="rId3"/>
          <a:stretch>
            <a:fillRect/>
          </a:stretch>
        </p:blipFill>
        <p:spPr>
          <a:xfrm>
            <a:off x="612648" y="1758132"/>
            <a:ext cx="10972800" cy="3232007"/>
          </a:xfrm>
          <a:prstGeom prst="rect">
            <a:avLst/>
          </a:prstGeom>
        </p:spPr>
      </p:pic>
      <p:sp>
        <p:nvSpPr>
          <p:cNvPr id="9" name="up-share-chart-background">
            <a:extLst>
              <a:ext uri="{FF2B5EF4-FFF2-40B4-BE49-F238E27FC236}">
                <a16:creationId xmlns:a16="http://schemas.microsoft.com/office/drawing/2014/main" id="{F3D88217-4D79-49C6-B63B-2B75F4D08C76}"/>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10" name="up-share-chart-title">
            <a:extLst>
              <a:ext uri="{FF2B5EF4-FFF2-40B4-BE49-F238E27FC236}">
                <a16:creationId xmlns:a16="http://schemas.microsoft.com/office/drawing/2014/main" id="{55D6B509-3AFF-4ECC-A9BF-A92BC1266806}"/>
              </a:ext>
            </a:extLst>
          </p:cNvPr>
          <p:cNvSpPr>
            <a:spLocks noGrp="1"/>
          </p:cNvSpPr>
          <p:nvPr/>
        </p:nvSpPr>
        <p:spPr>
          <a:xfrm>
            <a:off x="552450" y="428625"/>
            <a:ext cx="10763250" cy="438150"/>
          </a:xfrm>
          <a:prstGeom prst="rect">
            <a:avLst/>
          </a:prstGeom>
          <a:noFill/>
          <a:ln w="0">
            <a:noFill/>
            <a:prstDash val="solid"/>
          </a:ln>
        </p:spPr>
        <p:txBody>
          <a:bodyPr wrap="square" lIns="0" tIns="0" rIns="0" bIns="0" anchor="ctr">
            <a:normAutofit/>
          </a:bodyPr>
          <a:lstStyle/>
          <a:p>
            <a:pPr algn="l">
              <a:buNone/>
              <a:defRPr sz="2250" b="1">
                <a:solidFill>
                  <a:srgbClr val="0F233D"/>
                </a:solidFill>
                <a:latin typeface="Arial"/>
                <a:ea typeface="Arial"/>
                <a:cs typeface="Arial"/>
              </a:defRPr>
            </a:pPr>
            <a:r>
              <a:rPr sz="2250" b="1">
                <a:solidFill>
                  <a:srgbClr val="0F233D"/>
                </a:solidFill>
                <a:latin typeface="Arial"/>
                <a:ea typeface="Arial"/>
                <a:cs typeface="Arial"/>
              </a:rPr>
              <a:t>Share of OXPHOS DEG occurrences that are upregulated</a:t>
            </a:r>
          </a:p>
        </p:txBody>
      </p:sp>
      <p:sp>
        <p:nvSpPr>
          <p:cNvPr id="11" name="up-share-chart-subtitle">
            <a:extLst>
              <a:ext uri="{FF2B5EF4-FFF2-40B4-BE49-F238E27FC236}">
                <a16:creationId xmlns:a16="http://schemas.microsoft.com/office/drawing/2014/main" id="{683407C2-9A63-47C5-A661-F12A42F00D95}"/>
              </a:ext>
            </a:extLst>
          </p:cNvPr>
          <p:cNvSpPr>
            <a:spLocks noGrp="1"/>
          </p:cNvSpPr>
          <p:nvPr/>
        </p:nvSpPr>
        <p:spPr>
          <a:xfrm>
            <a:off x="1162050" y="1143000"/>
            <a:ext cx="9906000" cy="361950"/>
          </a:xfrm>
          <a:prstGeom prst="rect">
            <a:avLst/>
          </a:prstGeom>
          <a:noFill/>
          <a:ln w="0">
            <a:noFill/>
            <a:prstDash val="solid"/>
          </a:ln>
        </p:spPr>
        <p:txBody>
          <a:bodyPr wrap="square" lIns="0" tIns="0" rIns="0" bIns="0" anchor="ctr">
            <a:normAutofit/>
          </a:bodyPr>
          <a:lstStyle/>
          <a:p>
            <a:pPr algn="ctr">
              <a:buNone/>
              <a:defRPr sz="1800" b="0">
                <a:solidFill>
                  <a:srgbClr val="4E5A68"/>
                </a:solidFill>
                <a:latin typeface="Arial"/>
                <a:ea typeface="Arial"/>
                <a:cs typeface="Arial"/>
              </a:defRPr>
            </a:pPr>
            <a:r>
              <a:rPr sz="1800" b="0">
                <a:solidFill>
                  <a:srgbClr val="4E5A68"/>
                </a:solidFill>
                <a:latin typeface="Arial"/>
                <a:ea typeface="Arial"/>
                <a:cs typeface="Arial"/>
              </a:rPr>
              <a:t>OXPHOS (oxidative phosphorylation) is the mitochondrial process that makes most cellular ATP.</a:t>
            </a:r>
          </a:p>
        </p:txBody>
      </p:sp>
      <p:sp>
        <p:nvSpPr>
          <p:cNvPr id="12" name="up-share-chart-reference">
            <a:extLst>
              <a:ext uri="{FF2B5EF4-FFF2-40B4-BE49-F238E27FC236}">
                <a16:creationId xmlns:a16="http://schemas.microsoft.com/office/drawing/2014/main" id="{C28648A0-45A1-4934-A17C-4EB76AFCB4E1}"/>
              </a:ext>
            </a:extLst>
          </p:cNvPr>
          <p:cNvSpPr>
            <a:spLocks noGrp="1"/>
          </p:cNvSpPr>
          <p:nvPr/>
        </p:nvSpPr>
        <p:spPr>
          <a:xfrm>
            <a:off x="714375" y="1581150"/>
            <a:ext cx="10763250" cy="228600"/>
          </a:xfrm>
          <a:prstGeom prst="rect">
            <a:avLst/>
          </a:prstGeom>
          <a:noFill/>
          <a:ln w="0">
            <a:noFill/>
            <a:prstDash val="solid"/>
          </a:ln>
        </p:spPr>
        <p:txBody>
          <a:bodyPr wrap="square" lIns="0" tIns="0" rIns="0" bIns="0" anchor="t">
            <a:normAutofit/>
          </a:bodyPr>
          <a:lstStyle/>
          <a:p>
            <a:pPr algn="ctr">
              <a:buNone/>
              <a:defRPr sz="1125" b="1">
                <a:solidFill>
                  <a:srgbClr val="7E4C9A"/>
                </a:solidFill>
                <a:latin typeface="Arial"/>
                <a:ea typeface="Arial"/>
                <a:cs typeface="Arial"/>
              </a:defRPr>
            </a:pPr>
            <a:r>
              <a:rPr sz="1125" b="1">
                <a:solidFill>
                  <a:srgbClr val="7E4C9A"/>
                </a:solidFill>
                <a:latin typeface="Arial"/>
                <a:ea typeface="Arial"/>
                <a:cs typeface="Arial"/>
              </a:rPr>
              <a:t>50% = equal numbers of upregulated and downregulated occurrences</a:t>
            </a:r>
          </a:p>
        </p:txBody>
      </p:sp>
      <p:graphicFrame>
        <p:nvGraphicFramePr>
          <p:cNvPr id="29" name="Chart"/>
          <p:cNvGraphicFramePr/>
          <p:nvPr/>
        </p:nvGraphicFramePr>
        <p:xfrm>
          <a:off x="714375" y="1835090"/>
          <a:ext cx="10763250" cy="3381375"/>
        </p:xfrm>
        <a:graphic>
          <a:graphicData uri="http://schemas.openxmlformats.org/drawingml/2006/chart">
            <c:chart xmlns:c="http://schemas.openxmlformats.org/drawingml/2006/chart" r:id="rId4"/>
          </a:graphicData>
        </a:graphic>
      </p:graphicFrame>
      <p:sp>
        <p:nvSpPr>
          <p:cNvPr id="14" name="up-share-key-contrast-surface">
            <a:extLst>
              <a:ext uri="{FF2B5EF4-FFF2-40B4-BE49-F238E27FC236}">
                <a16:creationId xmlns:a16="http://schemas.microsoft.com/office/drawing/2014/main" id="{0FA2CAA8-3E8A-4BA2-9A72-13F758802B18}"/>
              </a:ext>
            </a:extLst>
          </p:cNvPr>
          <p:cNvSpPr>
            <a:spLocks noGrp="1"/>
          </p:cNvSpPr>
          <p:nvPr/>
        </p:nvSpPr>
        <p:spPr>
          <a:xfrm>
            <a:off x="647700" y="5638800"/>
            <a:ext cx="10896600" cy="657225"/>
          </a:xfrm>
          <a:prstGeom prst="roundRect">
            <a:avLst>
              <a:gd name="adj" fmla="val 17391"/>
            </a:avLst>
          </a:prstGeom>
          <a:solidFill>
            <a:srgbClr val="F1F4F7"/>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5" name="up-share-key-contrast-label">
            <a:extLst>
              <a:ext uri="{FF2B5EF4-FFF2-40B4-BE49-F238E27FC236}">
                <a16:creationId xmlns:a16="http://schemas.microsoft.com/office/drawing/2014/main" id="{71C5911B-901A-4011-9F94-7EEA80440391}"/>
              </a:ext>
            </a:extLst>
          </p:cNvPr>
          <p:cNvSpPr>
            <a:spLocks noGrp="1"/>
          </p:cNvSpPr>
          <p:nvPr/>
        </p:nvSpPr>
        <p:spPr>
          <a:xfrm>
            <a:off x="952500" y="5867400"/>
            <a:ext cx="1143000" cy="23812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Key contrast</a:t>
            </a:r>
          </a:p>
        </p:txBody>
      </p:sp>
      <p:sp>
        <p:nvSpPr>
          <p:cNvPr id="16" name="up-share-key-contrast-text">
            <a:extLst>
              <a:ext uri="{FF2B5EF4-FFF2-40B4-BE49-F238E27FC236}">
                <a16:creationId xmlns:a16="http://schemas.microsoft.com/office/drawing/2014/main" id="{4DB05E54-9576-4DFA-ABE0-0D2D774F5762}"/>
              </a:ext>
            </a:extLst>
          </p:cNvPr>
          <p:cNvSpPr>
            <a:spLocks noGrp="1"/>
          </p:cNvSpPr>
          <p:nvPr/>
        </p:nvSpPr>
        <p:spPr>
          <a:xfrm>
            <a:off x="2171700" y="5762625"/>
            <a:ext cx="8953500" cy="44767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Female ε3/ε3: both OXPHOS sets mostly rise. Male ε3/ε3: core MT genes rise while nuclear-encoded OXPHOS genes fall.</a:t>
            </a:r>
          </a:p>
        </p:txBody>
      </p:sp>
    </p:spTree>
    <p:extLst>
      <p:ext uri="{BB962C8B-B14F-4D97-AF65-F5344CB8AC3E}">
        <p14:creationId val="492696482"/>
      </p:ext>
    </p:extLst>
  </p:cSld>
  <p:clrMapOvr>
    <a:masterClrMapping/>
  </p:clrMapOvr>
  <p:transition/>
  <p:timing/>
</p:sld>
</file>

<file path=ppt/slides/slide2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0F233D"/>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10A38812-820E-43AA-AEA6-5D3C98C983E1}"/>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050" b="1" i="0">
                <a:solidFill>
                  <a:srgbClr val="0072B2"/>
                </a:solidFill>
                <a:latin typeface="Arial"/>
                <a:ea typeface="Arial"/>
                <a:cs typeface="Arial"/>
              </a:rPr>
              <a:t>PART 4</a:t>
            </a:r>
          </a:p>
        </p:txBody>
      </p:sp>
      <p:sp>
        <p:nvSpPr>
          <p:cNvPr id="3" name="Rectangle 2">
            <a:extLst>
              <a:ext uri="{FF2B5EF4-FFF2-40B4-BE49-F238E27FC236}">
                <a16:creationId xmlns:a16="http://schemas.microsoft.com/office/drawing/2014/main" id="{B029E37C-4342-4CDA-8A77-437F6147B463}"/>
              </a:ext>
            </a:extLst>
          </p:cNvPr>
          <p:cNvSpPr>
            <a:spLocks noGrp="1"/>
          </p:cNvSpPr>
          <p:nvPr/>
        </p:nvSpPr>
        <p:spPr>
          <a:xfrm>
            <a:off x="713232" y="1152144"/>
            <a:ext cx="91440" cy="2176272"/>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F756A2B-C51E-4074-A29B-8354303A5F96}"/>
              </a:ext>
            </a:extLst>
          </p:cNvPr>
          <p:cNvSpPr>
            <a:spLocks noGrp="1"/>
          </p:cNvSpPr>
          <p:nvPr/>
        </p:nvSpPr>
        <p:spPr>
          <a:xfrm>
            <a:off x="1078992" y="1582311"/>
            <a:ext cx="7909560" cy="547842"/>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3200" b="1" i="0">
                <a:solidFill>
                  <a:srgbClr val="FFFFFF"/>
                </a:solidFill>
                <a:latin typeface="Arial"/>
                <a:ea typeface="Arial"/>
                <a:cs typeface="Arial"/>
              </a:rPr>
              <a:t>KDA calls</a:t>
            </a:r>
          </a:p>
        </p:txBody>
      </p:sp>
      <p:sp>
        <p:nvSpPr>
          <p:cNvPr id="6" name="Rounded Rectangle 5">
            <a:extLst>
              <a:ext uri="{FF2B5EF4-FFF2-40B4-BE49-F238E27FC236}">
                <a16:creationId xmlns:a16="http://schemas.microsoft.com/office/drawing/2014/main" id="{B83AEE6C-0C4B-4977-BEEB-80A7144C7C9A}"/>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E13A4AF5-D8B1-41D0-AA6F-13D5CC8DBC3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72B2"/>
                </a:solidFill>
                <a:latin typeface="Arial"/>
                <a:ea typeface="Arial"/>
                <a:cs typeface="Arial"/>
              </a:rPr>
              <a:t>IN THIS PART</a:t>
            </a:r>
          </a:p>
        </p:txBody>
      </p:sp>
      <p:sp>
        <p:nvSpPr>
          <p:cNvPr id="8" name="Oval 7">
            <a:extLst>
              <a:ext uri="{FF2B5EF4-FFF2-40B4-BE49-F238E27FC236}">
                <a16:creationId xmlns:a16="http://schemas.microsoft.com/office/drawing/2014/main" id="{BDF530FF-5B80-4445-971C-3E93F262580E}"/>
              </a:ext>
            </a:extLst>
          </p:cNvPr>
          <p:cNvSpPr>
            <a:spLocks noGrp="1"/>
          </p:cNvSpPr>
          <p:nvPr/>
        </p:nvSpPr>
        <p:spPr>
          <a:xfrm>
            <a:off x="9198864" y="2039112"/>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3B20975-3211-4AF5-9570-0EB0D9AD6893}"/>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4B591A55-3D73-4ECA-BE0D-C3ACADE17C01}"/>
              </a:ext>
            </a:extLst>
          </p:cNvPr>
          <p:cNvSpPr>
            <a:spLocks noGrp="1"/>
          </p:cNvSpPr>
          <p:nvPr/>
        </p:nvSpPr>
        <p:spPr>
          <a:xfrm>
            <a:off x="9628632" y="2034828"/>
            <a:ext cx="1444752" cy="22621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Run DEG</a:t>
            </a:r>
          </a:p>
        </p:txBody>
      </p:sp>
      <p:sp>
        <p:nvSpPr>
          <p:cNvPr id="11" name="Oval 10">
            <a:extLst>
              <a:ext uri="{FF2B5EF4-FFF2-40B4-BE49-F238E27FC236}">
                <a16:creationId xmlns:a16="http://schemas.microsoft.com/office/drawing/2014/main" id="{D0513708-4DE7-443D-9851-630F8E71D76E}"/>
              </a:ext>
            </a:extLst>
          </p:cNvPr>
          <p:cNvSpPr>
            <a:spLocks noGrp="1"/>
          </p:cNvSpPr>
          <p:nvPr/>
        </p:nvSpPr>
        <p:spPr>
          <a:xfrm>
            <a:off x="9198864" y="2788920"/>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08C1D71-67D0-44D5-864E-C04624C18AFA}"/>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E3EEDA7-BA00-4CDB-BFDE-9F2883F95298}"/>
              </a:ext>
            </a:extLst>
          </p:cNvPr>
          <p:cNvSpPr>
            <a:spLocks noGrp="1"/>
          </p:cNvSpPr>
          <p:nvPr/>
        </p:nvSpPr>
        <p:spPr>
          <a:xfrm>
            <a:off x="9628632" y="2790427"/>
            <a:ext cx="1444752" cy="22621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Make KDA calls</a:t>
            </a:r>
          </a:p>
        </p:txBody>
      </p:sp>
      <p:sp>
        <p:nvSpPr>
          <p:cNvPr id="14" name="Oval 13">
            <a:extLst>
              <a:ext uri="{FF2B5EF4-FFF2-40B4-BE49-F238E27FC236}">
                <a16:creationId xmlns:a16="http://schemas.microsoft.com/office/drawing/2014/main" id="{2BFBCCAC-5C0E-417E-8013-1A19463D7077}"/>
              </a:ext>
            </a:extLst>
          </p:cNvPr>
          <p:cNvSpPr>
            <a:spLocks noGrp="1"/>
          </p:cNvSpPr>
          <p:nvPr/>
        </p:nvSpPr>
        <p:spPr>
          <a:xfrm>
            <a:off x="9198864" y="3538727"/>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CB6D520-0795-4F7E-A96C-A74455F24ED6}"/>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C755F62-BD64-4F6E-B193-416C9CE4E9C5}"/>
              </a:ext>
            </a:extLst>
          </p:cNvPr>
          <p:cNvSpPr>
            <a:spLocks noGrp="1"/>
          </p:cNvSpPr>
          <p:nvPr/>
        </p:nvSpPr>
        <p:spPr>
          <a:xfrm>
            <a:off x="9628632" y="3551805"/>
            <a:ext cx="1444752" cy="22621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ACAT aggregation</a:t>
            </a:r>
          </a:p>
        </p:txBody>
      </p:sp>
      <p:sp>
        <p:nvSpPr>
          <p:cNvPr id="17" name="Oval 16">
            <a:extLst>
              <a:ext uri="{FF2B5EF4-FFF2-40B4-BE49-F238E27FC236}">
                <a16:creationId xmlns:a16="http://schemas.microsoft.com/office/drawing/2014/main" id="{5225D091-C2ED-4309-ACD3-2E65A4BFB68C}"/>
              </a:ext>
            </a:extLst>
          </p:cNvPr>
          <p:cNvSpPr>
            <a:spLocks noGrp="1"/>
          </p:cNvSpPr>
          <p:nvPr/>
        </p:nvSpPr>
        <p:spPr>
          <a:xfrm>
            <a:off x="9198864" y="4288536"/>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133959B-4CEB-4D27-A9C6-57EADC2D811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BA6D3EF5-7783-4F39-99AB-618E5BD525A9}"/>
              </a:ext>
            </a:extLst>
          </p:cNvPr>
          <p:cNvSpPr>
            <a:spLocks noGrp="1"/>
          </p:cNvSpPr>
          <p:nvPr/>
        </p:nvSpPr>
        <p:spPr>
          <a:xfrm>
            <a:off x="9628632" y="4295829"/>
            <a:ext cx="1444752" cy="22621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Result analysis</a:t>
            </a:r>
          </a:p>
        </p:txBody>
      </p:sp>
    </p:spTree>
    <p:extLst>
      <p:ext uri="{BB962C8B-B14F-4D97-AF65-F5344CB8AC3E}">
        <p14:creationId val="873401596"/>
      </p:ext>
    </p:extLst>
  </p:cSld>
  <p:clrMapOvr>
    <a:masterClrMapping/>
  </p:clrMapOvr>
  <p:transition/>
  <p:timing/>
</p:sld>
</file>

<file path=ppt/slides/slide2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3" name="TextBox 2">
            <a:extLst>
              <a:ext uri="{FF2B5EF4-FFF2-40B4-BE49-F238E27FC236}">
                <a16:creationId xmlns:a16="http://schemas.microsoft.com/office/drawing/2014/main" id="{DD221FFC-B8D1-496E-A536-22D57CBEFE4E}"/>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450" b="1" i="0">
                <a:solidFill>
                  <a:srgbClr val="0F233D"/>
                </a:solidFill>
                <a:latin typeface="Arial"/>
                <a:ea typeface="Arial"/>
                <a:cs typeface="Arial"/>
              </a:rPr>
              <a:t>Four steps: run DEG per contrast, then make KDA calls</a:t>
            </a:r>
          </a:p>
        </p:txBody>
      </p:sp>
      <p:sp>
        <p:nvSpPr>
          <p:cNvPr id="5" name="Rounded Rectangle 4">
            <a:extLst>
              <a:ext uri="{FF2B5EF4-FFF2-40B4-BE49-F238E27FC236}">
                <a16:creationId xmlns:a16="http://schemas.microsoft.com/office/drawing/2014/main" id="{46E88943-8734-4E23-A8AF-1BFDF11E7331}"/>
              </a:ext>
            </a:extLst>
          </p:cNvPr>
          <p:cNvSpPr>
            <a:spLocks noGrp="1"/>
          </p:cNvSpPr>
          <p:nvPr/>
        </p:nvSpPr>
        <p:spPr>
          <a:xfrm>
            <a:off x="603504" y="1371600"/>
            <a:ext cx="2587752" cy="423367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Oval 5">
            <a:extLst>
              <a:ext uri="{FF2B5EF4-FFF2-40B4-BE49-F238E27FC236}">
                <a16:creationId xmlns:a16="http://schemas.microsoft.com/office/drawing/2014/main" id="{289406B0-EF9A-4E79-B36A-4427A6153B61}"/>
              </a:ext>
            </a:extLst>
          </p:cNvPr>
          <p:cNvSpPr>
            <a:spLocks noGrp="1"/>
          </p:cNvSpPr>
          <p:nvPr/>
        </p:nvSpPr>
        <p:spPr>
          <a:xfrm>
            <a:off x="80467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1C6F10-E5E1-4BB4-A387-04C150B20AA8}"/>
              </a:ext>
            </a:extLst>
          </p:cNvPr>
          <p:cNvSpPr>
            <a:spLocks noGrp="1"/>
          </p:cNvSpPr>
          <p:nvPr/>
        </p:nvSpPr>
        <p:spPr>
          <a:xfrm>
            <a:off x="804672" y="1719072"/>
            <a:ext cx="438912" cy="164592"/>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00" b="1" i="0">
                <a:solidFill>
                  <a:srgbClr val="FFFFFF"/>
                </a:solidFill>
                <a:latin typeface="Arial"/>
                <a:ea typeface="Arial"/>
                <a:cs typeface="Arial"/>
              </a:rPr>
              <a:t>1</a:t>
            </a:r>
          </a:p>
        </p:txBody>
      </p:sp>
      <p:sp>
        <p:nvSpPr>
          <p:cNvPr id="8" name="TextBox 7">
            <a:extLst>
              <a:ext uri="{FF2B5EF4-FFF2-40B4-BE49-F238E27FC236}">
                <a16:creationId xmlns:a16="http://schemas.microsoft.com/office/drawing/2014/main" id="{F22D91EF-D9BC-409A-9ACA-8738658F8584}"/>
              </a:ext>
            </a:extLst>
          </p:cNvPr>
          <p:cNvSpPr>
            <a:spLocks noGrp="1"/>
          </p:cNvSpPr>
          <p:nvPr/>
        </p:nvSpPr>
        <p:spPr>
          <a:xfrm>
            <a:off x="804672" y="2267712"/>
            <a:ext cx="2157984" cy="3477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900" b="1" i="0">
                <a:solidFill>
                  <a:srgbClr val="0F233D"/>
                </a:solidFill>
                <a:latin typeface="Arial"/>
                <a:ea typeface="Arial"/>
                <a:cs typeface="Arial"/>
              </a:rPr>
              <a:t>DEG</a:t>
            </a:r>
          </a:p>
        </p:txBody>
      </p:sp>
      <p:sp>
        <p:nvSpPr>
          <p:cNvPr id="9" name="TextBox 8">
            <a:extLst>
              <a:ext uri="{FF2B5EF4-FFF2-40B4-BE49-F238E27FC236}">
                <a16:creationId xmlns:a16="http://schemas.microsoft.com/office/drawing/2014/main" id="{60C194DE-54EB-476E-8EDE-572C60849D23}"/>
              </a:ext>
            </a:extLst>
          </p:cNvPr>
          <p:cNvSpPr>
            <a:spLocks noGrp="1"/>
          </p:cNvSpPr>
          <p:nvPr/>
        </p:nvSpPr>
        <p:spPr>
          <a:xfrm>
            <a:off x="804672" y="3017520"/>
            <a:ext cx="2157984" cy="56692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300" b="1" i="0">
                <a:solidFill>
                  <a:srgbClr val="0072B2"/>
                </a:solidFill>
                <a:latin typeface="Arial"/>
                <a:ea typeface="Arial"/>
                <a:cs typeface="Arial"/>
              </a:rPr>
              <a:t>fine cell type × sex/APOE</a:t>
            </a:r>
          </a:p>
        </p:txBody>
      </p:sp>
      <p:sp>
        <p:nvSpPr>
          <p:cNvPr id="10" name="Rounded Rectangle 9">
            <a:extLst>
              <a:ext uri="{FF2B5EF4-FFF2-40B4-BE49-F238E27FC236}">
                <a16:creationId xmlns:a16="http://schemas.microsoft.com/office/drawing/2014/main" id="{6146D296-CE83-45BB-AD0D-3A7A6C16FE5F}"/>
              </a:ext>
            </a:extLst>
          </p:cNvPr>
          <p:cNvSpPr>
            <a:spLocks noGrp="1"/>
          </p:cNvSpPr>
          <p:nvPr/>
        </p:nvSpPr>
        <p:spPr>
          <a:xfrm>
            <a:off x="78638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6A2FDC54-9072-421A-B955-DD62AE6235F9}"/>
              </a:ext>
            </a:extLst>
          </p:cNvPr>
          <p:cNvSpPr>
            <a:spLocks noGrp="1"/>
          </p:cNvSpPr>
          <p:nvPr/>
        </p:nvSpPr>
        <p:spPr>
          <a:xfrm>
            <a:off x="932688" y="4192099"/>
            <a:ext cx="1901952" cy="403187"/>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130" b="0" i="0">
                <a:solidFill>
                  <a:srgbClr val="4E5A68"/>
                </a:solidFill>
                <a:latin typeface="Arial"/>
                <a:ea typeface="Arial"/>
                <a:cs typeface="Arial"/>
              </a:rPr>
              <a:t>AD-versus-NCI DEG for each contrast</a:t>
            </a:r>
          </a:p>
        </p:txBody>
      </p:sp>
      <p:sp>
        <p:nvSpPr>
          <p:cNvPr id="12" name="Rounded Rectangle 11">
            <a:extLst>
              <a:ext uri="{FF2B5EF4-FFF2-40B4-BE49-F238E27FC236}">
                <a16:creationId xmlns:a16="http://schemas.microsoft.com/office/drawing/2014/main" id="{3D6A8284-7A31-4380-B904-A0B59015231A}"/>
              </a:ext>
            </a:extLst>
          </p:cNvPr>
          <p:cNvSpPr>
            <a:spLocks noGrp="1"/>
          </p:cNvSpPr>
          <p:nvPr/>
        </p:nvSpPr>
        <p:spPr>
          <a:xfrm>
            <a:off x="3438144" y="1371600"/>
            <a:ext cx="2587752" cy="423367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Oval 12">
            <a:extLst>
              <a:ext uri="{FF2B5EF4-FFF2-40B4-BE49-F238E27FC236}">
                <a16:creationId xmlns:a16="http://schemas.microsoft.com/office/drawing/2014/main" id="{1B9491F2-A95B-404C-9125-3CAAEE2F4998}"/>
              </a:ext>
            </a:extLst>
          </p:cNvPr>
          <p:cNvSpPr>
            <a:spLocks noGrp="1"/>
          </p:cNvSpPr>
          <p:nvPr/>
        </p:nvSpPr>
        <p:spPr>
          <a:xfrm>
            <a:off x="363931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622387C4-7931-4CE7-BDE7-F35D8D087AE8}"/>
              </a:ext>
            </a:extLst>
          </p:cNvPr>
          <p:cNvSpPr>
            <a:spLocks noGrp="1"/>
          </p:cNvSpPr>
          <p:nvPr/>
        </p:nvSpPr>
        <p:spPr>
          <a:xfrm>
            <a:off x="3639312" y="1719072"/>
            <a:ext cx="438912" cy="164592"/>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00" b="1" i="0">
                <a:solidFill>
                  <a:srgbClr val="FFFFFF"/>
                </a:solidFill>
                <a:latin typeface="Arial"/>
                <a:ea typeface="Arial"/>
                <a:cs typeface="Arial"/>
              </a:rPr>
              <a:t>2</a:t>
            </a:r>
          </a:p>
        </p:txBody>
      </p:sp>
      <p:sp>
        <p:nvSpPr>
          <p:cNvPr id="15" name="TextBox 14">
            <a:extLst>
              <a:ext uri="{FF2B5EF4-FFF2-40B4-BE49-F238E27FC236}">
                <a16:creationId xmlns:a16="http://schemas.microsoft.com/office/drawing/2014/main" id="{F0443E6F-1577-4127-9A0B-40BE604BD958}"/>
              </a:ext>
            </a:extLst>
          </p:cNvPr>
          <p:cNvSpPr>
            <a:spLocks noGrp="1"/>
          </p:cNvSpPr>
          <p:nvPr/>
        </p:nvSpPr>
        <p:spPr>
          <a:xfrm>
            <a:off x="3639312" y="2267712"/>
            <a:ext cx="2157984" cy="63398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900" b="1" i="0">
                <a:solidFill>
                  <a:srgbClr val="0F233D"/>
                </a:solidFill>
                <a:latin typeface="Arial"/>
                <a:ea typeface="Arial"/>
                <a:cs typeface="Arial"/>
              </a:rPr>
              <a:t>MitoCarta MT query</a:t>
            </a:r>
          </a:p>
        </p:txBody>
      </p:sp>
      <p:sp>
        <p:nvSpPr>
          <p:cNvPr id="16" name="TextBox 15">
            <a:extLst>
              <a:ext uri="{FF2B5EF4-FFF2-40B4-BE49-F238E27FC236}">
                <a16:creationId xmlns:a16="http://schemas.microsoft.com/office/drawing/2014/main" id="{7001D801-ADA4-403D-BAD3-04BAFAA2F71C}"/>
              </a:ext>
            </a:extLst>
          </p:cNvPr>
          <p:cNvSpPr>
            <a:spLocks noGrp="1"/>
          </p:cNvSpPr>
          <p:nvPr/>
        </p:nvSpPr>
        <p:spPr>
          <a:xfrm>
            <a:off x="3639312" y="3017520"/>
            <a:ext cx="2157984" cy="255455"/>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300" b="1" i="0">
                <a:solidFill>
                  <a:srgbClr val="0072B2"/>
                </a:solidFill>
                <a:latin typeface="Arial"/>
                <a:ea typeface="Arial"/>
                <a:cs typeface="Arial"/>
              </a:rPr>
              <a:t>MitoCarta MT DEGs</a:t>
            </a:r>
          </a:p>
        </p:txBody>
      </p:sp>
      <p:sp>
        <p:nvSpPr>
          <p:cNvPr id="17" name="Rounded Rectangle 16">
            <a:extLst>
              <a:ext uri="{FF2B5EF4-FFF2-40B4-BE49-F238E27FC236}">
                <a16:creationId xmlns:a16="http://schemas.microsoft.com/office/drawing/2014/main" id="{A3D98377-F5A3-4F8F-BAB6-FDC375C4B716}"/>
              </a:ext>
            </a:extLst>
          </p:cNvPr>
          <p:cNvSpPr>
            <a:spLocks noGrp="1"/>
          </p:cNvSpPr>
          <p:nvPr/>
        </p:nvSpPr>
        <p:spPr>
          <a:xfrm>
            <a:off x="362102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57EF9E3C-D045-44CE-881A-1A65D09E147D}"/>
              </a:ext>
            </a:extLst>
          </p:cNvPr>
          <p:cNvSpPr>
            <a:spLocks noGrp="1"/>
          </p:cNvSpPr>
          <p:nvPr/>
        </p:nvSpPr>
        <p:spPr>
          <a:xfrm>
            <a:off x="3767328" y="4192099"/>
            <a:ext cx="1901952" cy="403187"/>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130" b="0" i="0">
                <a:solidFill>
                  <a:srgbClr val="4E5A68"/>
                </a:solidFill>
                <a:latin typeface="Arial"/>
                <a:ea typeface="Arial"/>
                <a:cs typeface="Arial"/>
              </a:rPr>
              <a:t>Build one query per contrast from MitoCarta MT DEGs</a:t>
            </a:r>
          </a:p>
        </p:txBody>
      </p:sp>
      <p:sp>
        <p:nvSpPr>
          <p:cNvPr id="19" name="Rounded Rectangle 18">
            <a:extLst>
              <a:ext uri="{FF2B5EF4-FFF2-40B4-BE49-F238E27FC236}">
                <a16:creationId xmlns:a16="http://schemas.microsoft.com/office/drawing/2014/main" id="{DF469515-F5B8-43BD-8069-1C1E5125CEA0}"/>
              </a:ext>
            </a:extLst>
          </p:cNvPr>
          <p:cNvSpPr>
            <a:spLocks noGrp="1"/>
          </p:cNvSpPr>
          <p:nvPr/>
        </p:nvSpPr>
        <p:spPr>
          <a:xfrm>
            <a:off x="6272784" y="1371600"/>
            <a:ext cx="2587752" cy="4233672"/>
          </a:xfrm>
          <a:prstGeom prst="roundRect">
            <a:avLst/>
          </a:prstGeom>
          <a:solidFill>
            <a:srgbClr val="E4F4EE"/>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Oval 19">
            <a:extLst>
              <a:ext uri="{FF2B5EF4-FFF2-40B4-BE49-F238E27FC236}">
                <a16:creationId xmlns:a16="http://schemas.microsoft.com/office/drawing/2014/main" id="{D04E537C-15DA-48A6-89FB-F8113B7AC3F0}"/>
              </a:ext>
            </a:extLst>
          </p:cNvPr>
          <p:cNvSpPr>
            <a:spLocks noGrp="1"/>
          </p:cNvSpPr>
          <p:nvPr/>
        </p:nvSpPr>
        <p:spPr>
          <a:xfrm>
            <a:off x="647395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9C0C3F9-A3D6-433E-8DFC-3418EFBC3EA7}"/>
              </a:ext>
            </a:extLst>
          </p:cNvPr>
          <p:cNvSpPr>
            <a:spLocks noGrp="1"/>
          </p:cNvSpPr>
          <p:nvPr/>
        </p:nvSpPr>
        <p:spPr>
          <a:xfrm>
            <a:off x="6473952" y="1719072"/>
            <a:ext cx="438912" cy="164592"/>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00" b="1" i="0">
                <a:solidFill>
                  <a:srgbClr val="FFFFFF"/>
                </a:solidFill>
                <a:latin typeface="Arial"/>
                <a:ea typeface="Arial"/>
                <a:cs typeface="Arial"/>
              </a:rPr>
              <a:t>3</a:t>
            </a:r>
          </a:p>
        </p:txBody>
      </p:sp>
      <p:sp>
        <p:nvSpPr>
          <p:cNvPr id="22" name="TextBox 21">
            <a:extLst>
              <a:ext uri="{FF2B5EF4-FFF2-40B4-BE49-F238E27FC236}">
                <a16:creationId xmlns:a16="http://schemas.microsoft.com/office/drawing/2014/main" id="{FADF91BF-7B86-4FED-A4B7-C7F5A4F14485}"/>
              </a:ext>
            </a:extLst>
          </p:cNvPr>
          <p:cNvSpPr>
            <a:spLocks noGrp="1"/>
          </p:cNvSpPr>
          <p:nvPr/>
        </p:nvSpPr>
        <p:spPr>
          <a:xfrm>
            <a:off x="6473952" y="2267712"/>
            <a:ext cx="2157984" cy="54864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900" b="1" i="0">
                <a:solidFill>
                  <a:srgbClr val="0F233D"/>
                </a:solidFill>
                <a:latin typeface="Arial"/>
                <a:ea typeface="Arial"/>
                <a:cs typeface="Arial"/>
              </a:rPr>
              <a:t>KDA calls</a:t>
            </a:r>
          </a:p>
        </p:txBody>
      </p:sp>
      <p:sp>
        <p:nvSpPr>
          <p:cNvPr id="23" name="TextBox 22">
            <a:extLst>
              <a:ext uri="{FF2B5EF4-FFF2-40B4-BE49-F238E27FC236}">
                <a16:creationId xmlns:a16="http://schemas.microsoft.com/office/drawing/2014/main" id="{B842083C-0C8D-4B4B-B1A5-57F55B7604BB}"/>
              </a:ext>
            </a:extLst>
          </p:cNvPr>
          <p:cNvSpPr>
            <a:spLocks noGrp="1"/>
          </p:cNvSpPr>
          <p:nvPr/>
        </p:nvSpPr>
        <p:spPr>
          <a:xfrm>
            <a:off x="6473952" y="3017520"/>
            <a:ext cx="2157984" cy="255455"/>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300" b="1">
                <a:solidFill>
                  <a:srgbClr val="0072B2"/>
                </a:solidFill>
                <a:latin typeface="Arial"/>
                <a:ea typeface="Arial"/>
                <a:cs typeface="Arial"/>
              </a:rPr>
              <a:t>Make KDA calls</a:t>
            </a:r>
          </a:p>
        </p:txBody>
      </p:sp>
      <p:sp>
        <p:nvSpPr>
          <p:cNvPr id="24" name="Rounded Rectangle 23">
            <a:extLst>
              <a:ext uri="{FF2B5EF4-FFF2-40B4-BE49-F238E27FC236}">
                <a16:creationId xmlns:a16="http://schemas.microsoft.com/office/drawing/2014/main" id="{73FCD190-7E9B-4971-809E-FDF0267FFC24}"/>
              </a:ext>
            </a:extLst>
          </p:cNvPr>
          <p:cNvSpPr>
            <a:spLocks noGrp="1"/>
          </p:cNvSpPr>
          <p:nvPr/>
        </p:nvSpPr>
        <p:spPr>
          <a:xfrm>
            <a:off x="645566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4BA8FC0-C20F-4CB2-9C47-48A6A6F99B5D}"/>
              </a:ext>
            </a:extLst>
          </p:cNvPr>
          <p:cNvSpPr>
            <a:spLocks noGrp="1"/>
          </p:cNvSpPr>
          <p:nvPr/>
        </p:nvSpPr>
        <p:spPr>
          <a:xfrm>
            <a:off x="6601968" y="4105152"/>
            <a:ext cx="1940298" cy="577081"/>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130" b="0" i="0">
                <a:solidFill>
                  <a:srgbClr val="4E5A68"/>
                </a:solidFill>
                <a:latin typeface="Arial"/>
                <a:ea typeface="Arial"/>
                <a:cs typeface="Arial"/>
              </a:rPr>
              <a:t>Make KDA calls when the mapped query</a:t>
            </a:r>
          </a:p>
          <a:p>
            <a:pPr algn="ctr">
              <a:lnSpc>
                <a:spcPct val="100000"/>
              </a:lnSpc>
              <a:spcBef>
                <a:spcPct val="0"/>
              </a:spcBef>
              <a:spcAft>
                <a:spcPct val="0"/>
              </a:spcAft>
              <a:buNone/>
            </a:pPr>
            <a:r>
              <a:rPr sz="1130">
                <a:solidFill>
                  <a:srgbClr val="4E5A68"/>
                </a:solidFill>
                <a:latin typeface="Arial"/>
                <a:ea typeface="Arial"/>
                <a:cs typeface="Arial"/>
              </a:rPr>
              <a:t>contains ≥3 genes</a:t>
            </a:r>
          </a:p>
        </p:txBody>
      </p:sp>
      <p:sp>
        <p:nvSpPr>
          <p:cNvPr id="26" name="Rounded Rectangle 25">
            <a:extLst>
              <a:ext uri="{FF2B5EF4-FFF2-40B4-BE49-F238E27FC236}">
                <a16:creationId xmlns:a16="http://schemas.microsoft.com/office/drawing/2014/main" id="{ECCE965F-10FE-43B6-9A15-9DB9A4A772BA}"/>
              </a:ext>
            </a:extLst>
          </p:cNvPr>
          <p:cNvSpPr>
            <a:spLocks noGrp="1"/>
          </p:cNvSpPr>
          <p:nvPr/>
        </p:nvSpPr>
        <p:spPr>
          <a:xfrm>
            <a:off x="9107424" y="1371600"/>
            <a:ext cx="2587752" cy="423367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Oval 26">
            <a:extLst>
              <a:ext uri="{FF2B5EF4-FFF2-40B4-BE49-F238E27FC236}">
                <a16:creationId xmlns:a16="http://schemas.microsoft.com/office/drawing/2014/main" id="{0F316496-2745-40F5-8FA3-A536F057DFD9}"/>
              </a:ext>
            </a:extLst>
          </p:cNvPr>
          <p:cNvSpPr>
            <a:spLocks noGrp="1"/>
          </p:cNvSpPr>
          <p:nvPr/>
        </p:nvSpPr>
        <p:spPr>
          <a:xfrm>
            <a:off x="9308592" y="1627632"/>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D6A51F87-D6F7-46B1-805E-981A290663B3}"/>
              </a:ext>
            </a:extLst>
          </p:cNvPr>
          <p:cNvSpPr>
            <a:spLocks noGrp="1"/>
          </p:cNvSpPr>
          <p:nvPr/>
        </p:nvSpPr>
        <p:spPr>
          <a:xfrm>
            <a:off x="9308592" y="1719072"/>
            <a:ext cx="438912" cy="164592"/>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00" b="1" i="0">
                <a:solidFill>
                  <a:srgbClr val="FFFFFF"/>
                </a:solidFill>
                <a:latin typeface="Arial"/>
                <a:ea typeface="Arial"/>
                <a:cs typeface="Arial"/>
              </a:rPr>
              <a:t>4</a:t>
            </a:r>
          </a:p>
        </p:txBody>
      </p:sp>
      <p:sp>
        <p:nvSpPr>
          <p:cNvPr id="29" name="TextBox 28">
            <a:extLst>
              <a:ext uri="{FF2B5EF4-FFF2-40B4-BE49-F238E27FC236}">
                <a16:creationId xmlns:a16="http://schemas.microsoft.com/office/drawing/2014/main" id="{081F480E-EA43-4A99-9E7F-3B8C8BB6E908}"/>
              </a:ext>
            </a:extLst>
          </p:cNvPr>
          <p:cNvSpPr>
            <a:spLocks noGrp="1"/>
          </p:cNvSpPr>
          <p:nvPr/>
        </p:nvSpPr>
        <p:spPr>
          <a:xfrm>
            <a:off x="9308592" y="2267712"/>
            <a:ext cx="2157984" cy="54864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900" b="1" i="0">
                <a:solidFill>
                  <a:srgbClr val="0F233D"/>
                </a:solidFill>
                <a:latin typeface="Arial"/>
                <a:ea typeface="Arial"/>
                <a:cs typeface="Arial"/>
              </a:rPr>
              <a:t>Category result</a:t>
            </a:r>
          </a:p>
        </p:txBody>
      </p:sp>
      <p:sp>
        <p:nvSpPr>
          <p:cNvPr id="30" name="TextBox 29">
            <a:extLst>
              <a:ext uri="{FF2B5EF4-FFF2-40B4-BE49-F238E27FC236}">
                <a16:creationId xmlns:a16="http://schemas.microsoft.com/office/drawing/2014/main" id="{3CFF8CEC-C169-4B64-A39A-03FB9E8AAF1C}"/>
              </a:ext>
            </a:extLst>
          </p:cNvPr>
          <p:cNvSpPr>
            <a:spLocks noGrp="1"/>
          </p:cNvSpPr>
          <p:nvPr/>
        </p:nvSpPr>
        <p:spPr>
          <a:xfrm>
            <a:off x="9308592" y="3017520"/>
            <a:ext cx="2157984" cy="56692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300" b="1" i="0">
                <a:solidFill>
                  <a:srgbClr val="E69F00"/>
                </a:solidFill>
                <a:latin typeface="Arial"/>
                <a:ea typeface="Arial"/>
                <a:cs typeface="Arial"/>
              </a:rPr>
              <a:t>gene × category</a:t>
            </a:r>
          </a:p>
        </p:txBody>
      </p:sp>
      <p:sp>
        <p:nvSpPr>
          <p:cNvPr id="31" name="Rounded Rectangle 30">
            <a:extLst>
              <a:ext uri="{FF2B5EF4-FFF2-40B4-BE49-F238E27FC236}">
                <a16:creationId xmlns:a16="http://schemas.microsoft.com/office/drawing/2014/main" id="{8A9606BF-576C-4D4A-A6E8-E536878F1F74}"/>
              </a:ext>
            </a:extLst>
          </p:cNvPr>
          <p:cNvSpPr>
            <a:spLocks noGrp="1"/>
          </p:cNvSpPr>
          <p:nvPr/>
        </p:nvSpPr>
        <p:spPr>
          <a:xfrm>
            <a:off x="929030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51EDF7F-2A80-4AA9-B0A2-6B07730F92E2}"/>
              </a:ext>
            </a:extLst>
          </p:cNvPr>
          <p:cNvSpPr>
            <a:spLocks noGrp="1"/>
          </p:cNvSpPr>
          <p:nvPr/>
        </p:nvSpPr>
        <p:spPr>
          <a:xfrm>
            <a:off x="9436608" y="4105152"/>
            <a:ext cx="1901952" cy="577081"/>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130" b="0" i="0">
                <a:solidFill>
                  <a:srgbClr val="4E5A68"/>
                </a:solidFill>
                <a:latin typeface="Arial"/>
                <a:ea typeface="Arial"/>
                <a:cs typeface="Arial"/>
              </a:rPr>
              <a:t>Aggregate genes across fine cell type for the same broad cell type with ACAT.</a:t>
            </a:r>
          </a:p>
        </p:txBody>
      </p:sp>
    </p:spTree>
    <p:extLst>
      <p:ext uri="{BB962C8B-B14F-4D97-AF65-F5344CB8AC3E}">
        <p14:creationId val="24950864"/>
      </p:ext>
    </p:extLst>
  </p:cSld>
  <p:clrMapOvr>
    <a:masterClrMapping/>
  </p:clrMapOvr>
  <p:transition/>
  <p:timing/>
</p:sld>
</file>

<file path=ppt/slides/slide2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3" name="TextBox 2">
            <a:extLst>
              <a:ext uri="{FF2B5EF4-FFF2-40B4-BE49-F238E27FC236}">
                <a16:creationId xmlns:a16="http://schemas.microsoft.com/office/drawing/2014/main" id="{779EDE79-0614-4A92-8566-773ED2EA23CD}"/>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450" b="1" i="0">
                <a:solidFill>
                  <a:srgbClr val="0F233D"/>
                </a:solidFill>
                <a:latin typeface="Arial"/>
                <a:ea typeface="Arial"/>
                <a:cs typeface="Arial"/>
              </a:rPr>
              <a:t>Summary for ROSMAP</a:t>
            </a:r>
          </a:p>
        </p:txBody>
      </p:sp>
      <p:sp>
        <p:nvSpPr>
          <p:cNvPr id="4" name="TextBox 3">
            <a:extLst>
              <a:ext uri="{FF2B5EF4-FFF2-40B4-BE49-F238E27FC236}">
                <a16:creationId xmlns:a16="http://schemas.microsoft.com/office/drawing/2014/main" id="{3FEB1C88-6A15-4B1A-BBD6-1FA27ECDACC0}"/>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20" b="0" i="0">
                <a:solidFill>
                  <a:srgbClr val="4E5A68"/>
                </a:solidFill>
                <a:latin typeface="Arial"/>
                <a:ea typeface="Arial"/>
                <a:cs typeface="Arial"/>
              </a:rPr>
              <a:t>Each contrast contributes at most one MitoCarta MT DEG query. Non-MitoCarta genes returned from KDA calls are aggregated by category.</a:t>
            </a:r>
          </a:p>
        </p:txBody>
      </p:sp>
      <p:sp>
        <p:nvSpPr>
          <p:cNvPr id="5" name="Rounded Rectangle 4">
            <a:extLst>
              <a:ext uri="{FF2B5EF4-FFF2-40B4-BE49-F238E27FC236}">
                <a16:creationId xmlns:a16="http://schemas.microsoft.com/office/drawing/2014/main" id="{27608705-C0F9-4C50-AAB2-99C73BD442DE}"/>
              </a:ext>
            </a:extLst>
          </p:cNvPr>
          <p:cNvSpPr>
            <a:spLocks noGrp="1"/>
          </p:cNvSpPr>
          <p:nvPr/>
        </p:nvSpPr>
        <p:spPr>
          <a:xfrm>
            <a:off x="3250039" y="1352441"/>
            <a:ext cx="5358384" cy="43251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9B893E04-674A-446C-B5F9-1C79FA8DE7F3}"/>
              </a:ext>
            </a:extLst>
          </p:cNvPr>
          <p:cNvSpPr>
            <a:spLocks noGrp="1"/>
          </p:cNvSpPr>
          <p:nvPr/>
        </p:nvSpPr>
        <p:spPr>
          <a:xfrm>
            <a:off x="3533503" y="1645049"/>
            <a:ext cx="2926080" cy="2092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000" b="1" i="0">
                <a:solidFill>
                  <a:srgbClr val="0072B2"/>
                </a:solidFill>
                <a:latin typeface="Arial"/>
                <a:ea typeface="Arial"/>
                <a:cs typeface="Arial"/>
              </a:rPr>
              <a:t>ROSMAP IS THE PRIMARY</a:t>
            </a:r>
          </a:p>
        </p:txBody>
      </p:sp>
      <p:sp>
        <p:nvSpPr>
          <p:cNvPr id="7" name="TextBox 6">
            <a:extLst>
              <a:ext uri="{FF2B5EF4-FFF2-40B4-BE49-F238E27FC236}">
                <a16:creationId xmlns:a16="http://schemas.microsoft.com/office/drawing/2014/main" id="{25B1F69F-9624-4F57-995F-1475F9FBCC31}"/>
              </a:ext>
            </a:extLst>
          </p:cNvPr>
          <p:cNvSpPr>
            <a:spLocks noGrp="1"/>
          </p:cNvSpPr>
          <p:nvPr/>
        </p:nvSpPr>
        <p:spPr>
          <a:xfrm>
            <a:off x="3533503" y="1955945"/>
            <a:ext cx="4526280" cy="58521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000" b="1" i="0">
                <a:solidFill>
                  <a:srgbClr val="0F233D"/>
                </a:solidFill>
                <a:latin typeface="Arial"/>
                <a:ea typeface="Arial"/>
                <a:cs typeface="Arial"/>
              </a:rPr>
              <a:t>Where does a gene recur across fine-cell evidence?</a:t>
            </a:r>
          </a:p>
        </p:txBody>
      </p:sp>
      <p:sp>
        <p:nvSpPr>
          <p:cNvPr id="8" name="Rounded Rectangle 7">
            <a:extLst>
              <a:ext uri="{FF2B5EF4-FFF2-40B4-BE49-F238E27FC236}">
                <a16:creationId xmlns:a16="http://schemas.microsoft.com/office/drawing/2014/main" id="{131DAE2C-A674-40CC-9E86-7DDA6D405B44}"/>
              </a:ext>
            </a:extLst>
          </p:cNvPr>
          <p:cNvSpPr>
            <a:spLocks noGrp="1"/>
          </p:cNvSpPr>
          <p:nvPr/>
        </p:nvSpPr>
        <p:spPr>
          <a:xfrm>
            <a:off x="3533503"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1F88DCF-24B7-442A-B0EE-B2ACA02D3CFC}"/>
              </a:ext>
            </a:extLst>
          </p:cNvPr>
          <p:cNvSpPr>
            <a:spLocks noGrp="1"/>
          </p:cNvSpPr>
          <p:nvPr/>
        </p:nvSpPr>
        <p:spPr>
          <a:xfrm>
            <a:off x="3679806" y="2806337"/>
            <a:ext cx="1124712" cy="42976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500" b="1" i="0">
                <a:solidFill>
                  <a:srgbClr val="0072B2"/>
                </a:solidFill>
                <a:latin typeface="Arial"/>
                <a:ea typeface="Arial"/>
                <a:cs typeface="Arial"/>
              </a:rPr>
              <a:t>324</a:t>
            </a:r>
          </a:p>
        </p:txBody>
      </p:sp>
      <p:sp>
        <p:nvSpPr>
          <p:cNvPr id="10" name="TextBox 9">
            <a:extLst>
              <a:ext uri="{FF2B5EF4-FFF2-40B4-BE49-F238E27FC236}">
                <a16:creationId xmlns:a16="http://schemas.microsoft.com/office/drawing/2014/main" id="{D4176951-406A-42E1-9F48-A3C018324ADE}"/>
              </a:ext>
            </a:extLst>
          </p:cNvPr>
          <p:cNvSpPr>
            <a:spLocks noGrp="1"/>
          </p:cNvSpPr>
          <p:nvPr/>
        </p:nvSpPr>
        <p:spPr>
          <a:xfrm>
            <a:off x="3679806" y="3263537"/>
            <a:ext cx="1124712" cy="39319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60" b="1" i="0">
                <a:solidFill>
                  <a:srgbClr val="4E5A68"/>
                </a:solidFill>
                <a:latin typeface="Arial"/>
                <a:ea typeface="Arial"/>
                <a:cs typeface="Arial"/>
              </a:rPr>
              <a:t>planned contrasts</a:t>
            </a:r>
          </a:p>
        </p:txBody>
      </p:sp>
      <p:sp>
        <p:nvSpPr>
          <p:cNvPr id="11" name="Rounded Rectangle 10">
            <a:extLst>
              <a:ext uri="{FF2B5EF4-FFF2-40B4-BE49-F238E27FC236}">
                <a16:creationId xmlns:a16="http://schemas.microsoft.com/office/drawing/2014/main" id="{7F0049E5-A5A1-4945-891F-A8C8F12A0024}"/>
              </a:ext>
            </a:extLst>
          </p:cNvPr>
          <p:cNvSpPr>
            <a:spLocks noGrp="1"/>
          </p:cNvSpPr>
          <p:nvPr/>
        </p:nvSpPr>
        <p:spPr>
          <a:xfrm>
            <a:off x="5115415"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7F68E63-208C-422D-A0B5-6179738B0C27}"/>
              </a:ext>
            </a:extLst>
          </p:cNvPr>
          <p:cNvSpPr>
            <a:spLocks noGrp="1"/>
          </p:cNvSpPr>
          <p:nvPr/>
        </p:nvSpPr>
        <p:spPr>
          <a:xfrm>
            <a:off x="5261719" y="2806337"/>
            <a:ext cx="1124712" cy="42976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500" b="1" i="0">
                <a:solidFill>
                  <a:srgbClr val="0072B2"/>
                </a:solidFill>
                <a:latin typeface="Arial"/>
                <a:ea typeface="Arial"/>
                <a:cs typeface="Arial"/>
              </a:rPr>
              <a:t>194</a:t>
            </a:r>
          </a:p>
        </p:txBody>
      </p:sp>
      <p:sp>
        <p:nvSpPr>
          <p:cNvPr id="13" name="TextBox 12">
            <a:extLst>
              <a:ext uri="{FF2B5EF4-FFF2-40B4-BE49-F238E27FC236}">
                <a16:creationId xmlns:a16="http://schemas.microsoft.com/office/drawing/2014/main" id="{9859AB75-DB6D-41F0-853B-54347BB96C6E}"/>
              </a:ext>
            </a:extLst>
          </p:cNvPr>
          <p:cNvSpPr>
            <a:spLocks noGrp="1"/>
          </p:cNvSpPr>
          <p:nvPr/>
        </p:nvSpPr>
        <p:spPr>
          <a:xfrm>
            <a:off x="5261719" y="3263537"/>
            <a:ext cx="1124712" cy="203133"/>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60" b="1" i="0">
                <a:solidFill>
                  <a:srgbClr val="4E5A68"/>
                </a:solidFill>
                <a:latin typeface="Arial"/>
                <a:ea typeface="Arial"/>
                <a:cs typeface="Arial"/>
              </a:rPr>
              <a:t>KDA calls</a:t>
            </a:r>
          </a:p>
        </p:txBody>
      </p:sp>
      <p:sp>
        <p:nvSpPr>
          <p:cNvPr id="14" name="Rounded Rectangle 13">
            <a:extLst>
              <a:ext uri="{FF2B5EF4-FFF2-40B4-BE49-F238E27FC236}">
                <a16:creationId xmlns:a16="http://schemas.microsoft.com/office/drawing/2014/main" id="{F00CBE22-A234-44B9-A9F5-3EC4E3F1D58E}"/>
              </a:ext>
            </a:extLst>
          </p:cNvPr>
          <p:cNvSpPr>
            <a:spLocks noGrp="1"/>
          </p:cNvSpPr>
          <p:nvPr/>
        </p:nvSpPr>
        <p:spPr>
          <a:xfrm>
            <a:off x="6697327"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0E06DD3-6407-4A49-BEFA-3682641CBF5C}"/>
              </a:ext>
            </a:extLst>
          </p:cNvPr>
          <p:cNvSpPr>
            <a:spLocks noGrp="1"/>
          </p:cNvSpPr>
          <p:nvPr/>
        </p:nvSpPr>
        <p:spPr>
          <a:xfrm>
            <a:off x="6843631" y="2806337"/>
            <a:ext cx="1124712" cy="42976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500" b="1" i="0">
                <a:solidFill>
                  <a:srgbClr val="0072B2"/>
                </a:solidFill>
                <a:latin typeface="Arial"/>
                <a:ea typeface="Arial"/>
                <a:cs typeface="Arial"/>
              </a:rPr>
              <a:t>381</a:t>
            </a:r>
          </a:p>
        </p:txBody>
      </p:sp>
      <p:sp>
        <p:nvSpPr>
          <p:cNvPr id="16" name="TextBox 15">
            <a:extLst>
              <a:ext uri="{FF2B5EF4-FFF2-40B4-BE49-F238E27FC236}">
                <a16:creationId xmlns:a16="http://schemas.microsoft.com/office/drawing/2014/main" id="{142AF64B-9BFC-4A90-AD8B-D7E163774C97}"/>
              </a:ext>
            </a:extLst>
          </p:cNvPr>
          <p:cNvSpPr>
            <a:spLocks noGrp="1"/>
          </p:cNvSpPr>
          <p:nvPr/>
        </p:nvSpPr>
        <p:spPr>
          <a:xfrm>
            <a:off x="6843631" y="3263537"/>
            <a:ext cx="1124712" cy="350865"/>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60" b="1" i="0">
                <a:solidFill>
                  <a:srgbClr val="4E5A68"/>
                </a:solidFill>
                <a:latin typeface="Arial"/>
                <a:ea typeface="Arial"/>
                <a:cs typeface="Arial"/>
              </a:rPr>
              <a:t>gene × category combinations</a:t>
            </a:r>
          </a:p>
        </p:txBody>
      </p:sp>
      <p:sp>
        <p:nvSpPr>
          <p:cNvPr id="17" name="Oval 16">
            <a:extLst>
              <a:ext uri="{FF2B5EF4-FFF2-40B4-BE49-F238E27FC236}">
                <a16:creationId xmlns:a16="http://schemas.microsoft.com/office/drawing/2014/main" id="{339ABBE7-E584-44D6-8F8D-E5C2606637D4}"/>
              </a:ext>
            </a:extLst>
          </p:cNvPr>
          <p:cNvSpPr>
            <a:spLocks noGrp="1"/>
          </p:cNvSpPr>
          <p:nvPr/>
        </p:nvSpPr>
        <p:spPr>
          <a:xfrm>
            <a:off x="3542647" y="412156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291635AF-955E-44E9-A5E8-68948BABEAE9}"/>
              </a:ext>
            </a:extLst>
          </p:cNvPr>
          <p:cNvSpPr>
            <a:spLocks noGrp="1"/>
          </p:cNvSpPr>
          <p:nvPr/>
        </p:nvSpPr>
        <p:spPr>
          <a:xfrm>
            <a:off x="3716383" y="4022489"/>
            <a:ext cx="4361688" cy="232371"/>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50" b="0" i="0">
                <a:solidFill>
                  <a:srgbClr val="1F2730"/>
                </a:solidFill>
                <a:latin typeface="Arial"/>
                <a:ea typeface="Arial"/>
                <a:cs typeface="Arial"/>
              </a:rPr>
              <a:t>Builds one query with DEG MT genes for each contrast.</a:t>
            </a:r>
          </a:p>
        </p:txBody>
      </p:sp>
      <p:sp>
        <p:nvSpPr>
          <p:cNvPr id="19" name="Oval 18">
            <a:extLst>
              <a:ext uri="{FF2B5EF4-FFF2-40B4-BE49-F238E27FC236}">
                <a16:creationId xmlns:a16="http://schemas.microsoft.com/office/drawing/2014/main" id="{979C2EA2-60E9-465D-B9F7-5F9C1C7D8CE8}"/>
              </a:ext>
            </a:extLst>
          </p:cNvPr>
          <p:cNvSpPr>
            <a:spLocks noGrp="1"/>
          </p:cNvSpPr>
          <p:nvPr/>
        </p:nvSpPr>
        <p:spPr>
          <a:xfrm>
            <a:off x="3542647" y="456048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69861B28-248C-45E2-BBCA-01BD80FE7D6B}"/>
              </a:ext>
            </a:extLst>
          </p:cNvPr>
          <p:cNvSpPr>
            <a:spLocks noGrp="1"/>
          </p:cNvSpPr>
          <p:nvPr/>
        </p:nvSpPr>
        <p:spPr>
          <a:xfrm>
            <a:off x="3716383" y="4461400"/>
            <a:ext cx="4361688" cy="40538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50">
                <a:solidFill>
                  <a:srgbClr val="1F2730"/>
                </a:solidFill>
                <a:latin typeface="Arial"/>
                <a:ea typeface="Arial"/>
                <a:cs typeface="Arial"/>
              </a:rPr>
              <a:t>Aggregate genes returned from KDA calls within each category using ACAT</a:t>
            </a:r>
          </a:p>
        </p:txBody>
      </p:sp>
      <p:sp>
        <p:nvSpPr>
          <p:cNvPr id="21" name="Oval 20">
            <a:extLst>
              <a:ext uri="{FF2B5EF4-FFF2-40B4-BE49-F238E27FC236}">
                <a16:creationId xmlns:a16="http://schemas.microsoft.com/office/drawing/2014/main" id="{83E07CEC-DB81-450C-AA53-1C5A7367B796}"/>
              </a:ext>
            </a:extLst>
          </p:cNvPr>
          <p:cNvSpPr>
            <a:spLocks noGrp="1"/>
          </p:cNvSpPr>
          <p:nvPr/>
        </p:nvSpPr>
        <p:spPr>
          <a:xfrm>
            <a:off x="3542647" y="498203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1CAF4877-CC06-4E3F-95B9-FDCE34881447}"/>
              </a:ext>
            </a:extLst>
          </p:cNvPr>
          <p:cNvSpPr>
            <a:spLocks noGrp="1"/>
          </p:cNvSpPr>
          <p:nvPr/>
        </p:nvSpPr>
        <p:spPr>
          <a:xfrm>
            <a:off x="3716383" y="4900313"/>
            <a:ext cx="4361688" cy="409343"/>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50" b="0" i="0">
                <a:solidFill>
                  <a:srgbClr val="1F2730"/>
                </a:solidFill>
                <a:latin typeface="Arial"/>
                <a:ea typeface="Arial"/>
                <a:cs typeface="Arial"/>
              </a:rPr>
              <a:t>Final 381 combinations represent 228 unique genes in 29 categories.</a:t>
            </a:r>
          </a:p>
        </p:txBody>
      </p:sp>
    </p:spTree>
    <p:extLst>
      <p:ext uri="{BB962C8B-B14F-4D97-AF65-F5344CB8AC3E}">
        <p14:creationId val="2131631301"/>
      </p:ext>
    </p:extLst>
  </p:cSld>
  <p:clrMapOvr>
    <a:masterClrMapping/>
  </p:clrMapOvr>
  <p:transition/>
  <p:timing/>
</p:sld>
</file>

<file path=ppt/slides/slide2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3" name="TextBox 2">
            <a:extLst>
              <a:ext uri="{FF2B5EF4-FFF2-40B4-BE49-F238E27FC236}">
                <a16:creationId xmlns:a16="http://schemas.microsoft.com/office/drawing/2014/main" id="{A3919200-AC9E-432B-826D-4705661A81E3}"/>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450" b="1" i="0">
                <a:solidFill>
                  <a:srgbClr val="0F233D"/>
                </a:solidFill>
                <a:latin typeface="Arial"/>
                <a:ea typeface="Arial"/>
                <a:cs typeface="Arial"/>
              </a:rPr>
              <a:t>54 fine cell types create 324 planned contrasts</a:t>
            </a:r>
          </a:p>
        </p:txBody>
      </p:sp>
      <p:sp>
        <p:nvSpPr>
          <p:cNvPr id="4" name="TextBox 3">
            <a:extLst>
              <a:ext uri="{FF2B5EF4-FFF2-40B4-BE49-F238E27FC236}">
                <a16:creationId xmlns:a16="http://schemas.microsoft.com/office/drawing/2014/main" id="{E799108D-CE17-4E26-8790-18B878427A34}"/>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20" b="0" i="0">
                <a:solidFill>
                  <a:srgbClr val="4E5A68"/>
                </a:solidFill>
                <a:latin typeface="Arial"/>
                <a:ea typeface="Arial"/>
                <a:cs typeface="Arial"/>
              </a:rPr>
              <a:t>Each contrast contributes one MitoCarta MT DEG query and at most one KDA call.</a:t>
            </a:r>
          </a:p>
        </p:txBody>
      </p:sp>
      <p:sp>
        <p:nvSpPr>
          <p:cNvPr id="5" name="Rounded Rectangle 4">
            <a:extLst>
              <a:ext uri="{FF2B5EF4-FFF2-40B4-BE49-F238E27FC236}">
                <a16:creationId xmlns:a16="http://schemas.microsoft.com/office/drawing/2014/main" id="{D4570BFE-168B-48A1-8D2B-09179C0DF271}"/>
              </a:ext>
            </a:extLst>
          </p:cNvPr>
          <p:cNvSpPr>
            <a:spLocks noGrp="1"/>
          </p:cNvSpPr>
          <p:nvPr/>
        </p:nvSpPr>
        <p:spPr>
          <a:xfrm>
            <a:off x="621792" y="1344168"/>
            <a:ext cx="3346704" cy="1207008"/>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2F1CF8F7-FE27-4A3E-AC96-ED76BDE146F9}"/>
              </a:ext>
            </a:extLst>
          </p:cNvPr>
          <p:cNvSpPr>
            <a:spLocks noGrp="1"/>
          </p:cNvSpPr>
          <p:nvPr/>
        </p:nvSpPr>
        <p:spPr>
          <a:xfrm>
            <a:off x="841248" y="1591056"/>
            <a:ext cx="2907792" cy="283464"/>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900" b="1" i="0">
                <a:solidFill>
                  <a:srgbClr val="0F233D"/>
                </a:solidFill>
                <a:latin typeface="Arial"/>
                <a:ea typeface="Arial"/>
                <a:cs typeface="Arial"/>
              </a:rPr>
              <a:t>54 fine cell types</a:t>
            </a:r>
          </a:p>
        </p:txBody>
      </p:sp>
      <p:sp>
        <p:nvSpPr>
          <p:cNvPr id="7" name="TextBox 6">
            <a:extLst>
              <a:ext uri="{FF2B5EF4-FFF2-40B4-BE49-F238E27FC236}">
                <a16:creationId xmlns:a16="http://schemas.microsoft.com/office/drawing/2014/main" id="{5078B9DE-FA37-427E-9361-5C7DD6305FA4}"/>
              </a:ext>
            </a:extLst>
          </p:cNvPr>
          <p:cNvSpPr>
            <a:spLocks noGrp="1"/>
          </p:cNvSpPr>
          <p:nvPr/>
        </p:nvSpPr>
        <p:spPr>
          <a:xfrm>
            <a:off x="841248" y="1993392"/>
            <a:ext cx="2907792" cy="246221"/>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240" b="1" i="0">
                <a:solidFill>
                  <a:srgbClr val="0072B2"/>
                </a:solidFill>
                <a:latin typeface="Arial"/>
                <a:ea typeface="Arial"/>
                <a:cs typeface="Arial"/>
              </a:rPr>
              <a:t>× 6 sex/APOE groups = 324 contrasts</a:t>
            </a:r>
          </a:p>
        </p:txBody>
      </p:sp>
      <p:sp>
        <p:nvSpPr>
          <p:cNvPr id="8" name="Rounded Rectangle 7">
            <a:extLst>
              <a:ext uri="{FF2B5EF4-FFF2-40B4-BE49-F238E27FC236}">
                <a16:creationId xmlns:a16="http://schemas.microsoft.com/office/drawing/2014/main" id="{BEE0BFF6-A4AB-4AFC-835E-2D7B3A50E865}"/>
              </a:ext>
            </a:extLst>
          </p:cNvPr>
          <p:cNvSpPr>
            <a:spLocks noGrp="1"/>
          </p:cNvSpPr>
          <p:nvPr/>
        </p:nvSpPr>
        <p:spPr>
          <a:xfrm>
            <a:off x="4315968" y="1344168"/>
            <a:ext cx="3529584" cy="1207008"/>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7CE176B-D535-4DB8-9796-B825E7E478DF}"/>
              </a:ext>
            </a:extLst>
          </p:cNvPr>
          <p:cNvSpPr>
            <a:spLocks noGrp="1"/>
          </p:cNvSpPr>
          <p:nvPr/>
        </p:nvSpPr>
        <p:spPr>
          <a:xfrm>
            <a:off x="4535424" y="1591056"/>
            <a:ext cx="3090672" cy="34778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900" b="1" i="0">
                <a:solidFill>
                  <a:srgbClr val="0F233D"/>
                </a:solidFill>
                <a:latin typeface="Arial"/>
                <a:ea typeface="Arial"/>
                <a:cs typeface="Arial"/>
              </a:rPr>
              <a:t>324 DEG contrasts</a:t>
            </a:r>
          </a:p>
        </p:txBody>
      </p:sp>
      <p:sp>
        <p:nvSpPr>
          <p:cNvPr id="10" name="TextBox 9">
            <a:extLst>
              <a:ext uri="{FF2B5EF4-FFF2-40B4-BE49-F238E27FC236}">
                <a16:creationId xmlns:a16="http://schemas.microsoft.com/office/drawing/2014/main" id="{F9808C7C-B4BA-4C0F-9B71-F4DFB09D01AF}"/>
              </a:ext>
            </a:extLst>
          </p:cNvPr>
          <p:cNvSpPr>
            <a:spLocks noGrp="1"/>
          </p:cNvSpPr>
          <p:nvPr/>
        </p:nvSpPr>
        <p:spPr>
          <a:xfrm>
            <a:off x="4535424" y="1993392"/>
            <a:ext cx="3090672" cy="27432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240" b="1" i="0">
                <a:solidFill>
                  <a:srgbClr val="0072B2"/>
                </a:solidFill>
                <a:latin typeface="Arial"/>
                <a:ea typeface="Arial"/>
                <a:cs typeface="Arial"/>
              </a:rPr>
              <a:t>one query per contrast</a:t>
            </a:r>
          </a:p>
        </p:txBody>
      </p:sp>
      <p:sp>
        <p:nvSpPr>
          <p:cNvPr id="11" name="Rounded Rectangle 10">
            <a:extLst>
              <a:ext uri="{FF2B5EF4-FFF2-40B4-BE49-F238E27FC236}">
                <a16:creationId xmlns:a16="http://schemas.microsoft.com/office/drawing/2014/main" id="{0FFBF54A-AEB3-416E-8B74-08B60A90324A}"/>
              </a:ext>
            </a:extLst>
          </p:cNvPr>
          <p:cNvSpPr>
            <a:spLocks noGrp="1"/>
          </p:cNvSpPr>
          <p:nvPr/>
        </p:nvSpPr>
        <p:spPr>
          <a:xfrm>
            <a:off x="8193024" y="1344168"/>
            <a:ext cx="3364992" cy="120700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2D4ADF4-17FC-4F7E-BAFD-E7A0341DE829}"/>
              </a:ext>
            </a:extLst>
          </p:cNvPr>
          <p:cNvSpPr>
            <a:spLocks noGrp="1"/>
          </p:cNvSpPr>
          <p:nvPr/>
        </p:nvSpPr>
        <p:spPr>
          <a:xfrm>
            <a:off x="8310880" y="1591056"/>
            <a:ext cx="3145536" cy="34778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900" b="1" i="0">
                <a:solidFill>
                  <a:srgbClr val="0F233D"/>
                </a:solidFill>
                <a:latin typeface="Arial"/>
                <a:ea typeface="Arial"/>
                <a:cs typeface="Arial"/>
              </a:rPr>
              <a:t>194 KDA calls</a:t>
            </a:r>
          </a:p>
        </p:txBody>
      </p:sp>
      <p:sp>
        <p:nvSpPr>
          <p:cNvPr id="13" name="TextBox 12">
            <a:extLst>
              <a:ext uri="{FF2B5EF4-FFF2-40B4-BE49-F238E27FC236}">
                <a16:creationId xmlns:a16="http://schemas.microsoft.com/office/drawing/2014/main" id="{4F912C2A-B3B5-4610-AC2F-804BACAD6DF9}"/>
              </a:ext>
            </a:extLst>
          </p:cNvPr>
          <p:cNvSpPr>
            <a:spLocks noGrp="1"/>
          </p:cNvSpPr>
          <p:nvPr/>
        </p:nvSpPr>
        <p:spPr>
          <a:xfrm>
            <a:off x="8412480" y="1993392"/>
            <a:ext cx="2926080" cy="375487"/>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40" b="1" i="0">
                <a:solidFill>
                  <a:srgbClr val="009E73"/>
                </a:solidFill>
                <a:latin typeface="Arial"/>
                <a:ea typeface="Arial"/>
                <a:cs typeface="Arial"/>
              </a:rPr>
              <a:t>All valid DEG contrast and number of genes in queries ≥3</a:t>
            </a:r>
          </a:p>
        </p:txBody>
      </p:sp>
      <p:sp>
        <p:nvSpPr>
          <p:cNvPr id="14" name="Rectangle 13">
            <a:extLst>
              <a:ext uri="{FF2B5EF4-FFF2-40B4-BE49-F238E27FC236}">
                <a16:creationId xmlns:a16="http://schemas.microsoft.com/office/drawing/2014/main" id="{C7830466-3CB6-4F40-8141-C2D2D4C39423}"/>
              </a:ext>
            </a:extLst>
          </p:cNvPr>
          <p:cNvSpPr>
            <a:spLocks noGrp="1"/>
          </p:cNvSpPr>
          <p:nvPr/>
        </p:nvSpPr>
        <p:spPr>
          <a:xfrm>
            <a:off x="1840696" y="2898648"/>
            <a:ext cx="5623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19C4B8D4-4EB0-4607-A86A-56D8B2EAA411}"/>
              </a:ext>
            </a:extLst>
          </p:cNvPr>
          <p:cNvSpPr>
            <a:spLocks noGrp="1"/>
          </p:cNvSpPr>
          <p:nvPr/>
        </p:nvSpPr>
        <p:spPr>
          <a:xfrm>
            <a:off x="1895560" y="2953512"/>
            <a:ext cx="5513832" cy="338328"/>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910" b="1" i="0">
                <a:solidFill>
                  <a:srgbClr val="FFFFFF"/>
                </a:solidFill>
                <a:latin typeface="Arial"/>
                <a:ea typeface="Arial"/>
                <a:cs typeface="Arial"/>
              </a:rPr>
              <a:t>Mutually exclusive contrast outcome</a:t>
            </a:r>
          </a:p>
        </p:txBody>
      </p:sp>
      <p:sp>
        <p:nvSpPr>
          <p:cNvPr id="16" name="Rectangle 15">
            <a:extLst>
              <a:ext uri="{FF2B5EF4-FFF2-40B4-BE49-F238E27FC236}">
                <a16:creationId xmlns:a16="http://schemas.microsoft.com/office/drawing/2014/main" id="{5BEB0C3C-1A6C-4075-8B14-23F615D5F23F}"/>
              </a:ext>
            </a:extLst>
          </p:cNvPr>
          <p:cNvSpPr>
            <a:spLocks noGrp="1"/>
          </p:cNvSpPr>
          <p:nvPr/>
        </p:nvSpPr>
        <p:spPr>
          <a:xfrm>
            <a:off x="7464256" y="2898648"/>
            <a:ext cx="10972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B6176161-58EB-4AC1-ABDA-F959ADE88043}"/>
              </a:ext>
            </a:extLst>
          </p:cNvPr>
          <p:cNvSpPr>
            <a:spLocks noGrp="1"/>
          </p:cNvSpPr>
          <p:nvPr/>
        </p:nvSpPr>
        <p:spPr>
          <a:xfrm>
            <a:off x="7519120" y="2953512"/>
            <a:ext cx="987552" cy="338328"/>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910" b="1" i="0">
                <a:solidFill>
                  <a:srgbClr val="FFFFFF"/>
                </a:solidFill>
                <a:latin typeface="Arial"/>
                <a:ea typeface="Arial"/>
                <a:cs typeface="Arial"/>
              </a:rPr>
              <a:t>Contrasts</a:t>
            </a:r>
          </a:p>
        </p:txBody>
      </p:sp>
      <p:sp>
        <p:nvSpPr>
          <p:cNvPr id="18" name="Rectangle 17">
            <a:extLst>
              <a:ext uri="{FF2B5EF4-FFF2-40B4-BE49-F238E27FC236}">
                <a16:creationId xmlns:a16="http://schemas.microsoft.com/office/drawing/2014/main" id="{0A8DA921-F671-4828-B56A-12943D06FBB1}"/>
              </a:ext>
            </a:extLst>
          </p:cNvPr>
          <p:cNvSpPr>
            <a:spLocks noGrp="1"/>
          </p:cNvSpPr>
          <p:nvPr/>
        </p:nvSpPr>
        <p:spPr>
          <a:xfrm>
            <a:off x="8561536" y="2898648"/>
            <a:ext cx="1874519"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A4658F41-AE85-470A-8714-16469112AF56}"/>
              </a:ext>
            </a:extLst>
          </p:cNvPr>
          <p:cNvSpPr>
            <a:spLocks noGrp="1"/>
          </p:cNvSpPr>
          <p:nvPr/>
        </p:nvSpPr>
        <p:spPr>
          <a:xfrm>
            <a:off x="8616400" y="2953512"/>
            <a:ext cx="1764791" cy="338328"/>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910" b="1" i="0">
                <a:solidFill>
                  <a:srgbClr val="FFFFFF"/>
                </a:solidFill>
                <a:latin typeface="Arial"/>
                <a:ea typeface="Arial"/>
                <a:cs typeface="Arial"/>
              </a:rPr>
              <a:t>KDA call made?</a:t>
            </a:r>
          </a:p>
        </p:txBody>
      </p:sp>
      <p:sp>
        <p:nvSpPr>
          <p:cNvPr id="22" name="Rectangle 21">
            <a:extLst>
              <a:ext uri="{FF2B5EF4-FFF2-40B4-BE49-F238E27FC236}">
                <a16:creationId xmlns:a16="http://schemas.microsoft.com/office/drawing/2014/main" id="{3B1CFD8E-95BE-4FBB-987C-ACE7EC2E6B6E}"/>
              </a:ext>
            </a:extLst>
          </p:cNvPr>
          <p:cNvSpPr>
            <a:spLocks noGrp="1"/>
          </p:cNvSpPr>
          <p:nvPr/>
        </p:nvSpPr>
        <p:spPr>
          <a:xfrm>
            <a:off x="1840696" y="3328415"/>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CF9AFC4C-5427-43C5-939B-8E4FAF9944F2}"/>
              </a:ext>
            </a:extLst>
          </p:cNvPr>
          <p:cNvSpPr>
            <a:spLocks noGrp="1"/>
          </p:cNvSpPr>
          <p:nvPr/>
        </p:nvSpPr>
        <p:spPr>
          <a:xfrm>
            <a:off x="1895560" y="3460790"/>
            <a:ext cx="5513832" cy="201594"/>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950" b="0" i="0">
                <a:solidFill>
                  <a:srgbClr val="1F2730"/>
                </a:solidFill>
                <a:latin typeface="Arial"/>
                <a:ea typeface="Arial"/>
                <a:cs typeface="Arial"/>
              </a:rPr>
              <a:t>Source DEG contrast not valid</a:t>
            </a:r>
          </a:p>
        </p:txBody>
      </p:sp>
      <p:sp>
        <p:nvSpPr>
          <p:cNvPr id="24" name="Rectangle 23">
            <a:extLst>
              <a:ext uri="{FF2B5EF4-FFF2-40B4-BE49-F238E27FC236}">
                <a16:creationId xmlns:a16="http://schemas.microsoft.com/office/drawing/2014/main" id="{15D7B162-1EA6-474F-BC3E-74248A659E00}"/>
              </a:ext>
            </a:extLst>
          </p:cNvPr>
          <p:cNvSpPr>
            <a:spLocks noGrp="1"/>
          </p:cNvSpPr>
          <p:nvPr/>
        </p:nvSpPr>
        <p:spPr>
          <a:xfrm>
            <a:off x="7464256" y="3328415"/>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D309079-6F7E-49D0-B45F-DACFA33A3B8D}"/>
              </a:ext>
            </a:extLst>
          </p:cNvPr>
          <p:cNvSpPr>
            <a:spLocks noGrp="1"/>
          </p:cNvSpPr>
          <p:nvPr/>
        </p:nvSpPr>
        <p:spPr>
          <a:xfrm>
            <a:off x="7519120" y="3374135"/>
            <a:ext cx="987552" cy="374904"/>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950" b="0" i="0">
                <a:solidFill>
                  <a:srgbClr val="1F2730"/>
                </a:solidFill>
                <a:latin typeface="Arial"/>
                <a:ea typeface="Arial"/>
                <a:cs typeface="Arial"/>
              </a:rPr>
              <a:t>3</a:t>
            </a:r>
          </a:p>
        </p:txBody>
      </p:sp>
      <p:sp>
        <p:nvSpPr>
          <p:cNvPr id="26" name="Rectangle 25">
            <a:extLst>
              <a:ext uri="{FF2B5EF4-FFF2-40B4-BE49-F238E27FC236}">
                <a16:creationId xmlns:a16="http://schemas.microsoft.com/office/drawing/2014/main" id="{E8B3A0BF-B854-44C8-8072-5460012D169E}"/>
              </a:ext>
            </a:extLst>
          </p:cNvPr>
          <p:cNvSpPr>
            <a:spLocks noGrp="1"/>
          </p:cNvSpPr>
          <p:nvPr/>
        </p:nvSpPr>
        <p:spPr>
          <a:xfrm>
            <a:off x="8561536" y="3328415"/>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52F1BD26-81DA-4CA3-9648-69C83178385A}"/>
              </a:ext>
            </a:extLst>
          </p:cNvPr>
          <p:cNvSpPr>
            <a:spLocks noGrp="1"/>
          </p:cNvSpPr>
          <p:nvPr/>
        </p:nvSpPr>
        <p:spPr>
          <a:xfrm>
            <a:off x="8616400" y="3374135"/>
            <a:ext cx="1764791" cy="374904"/>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950" b="0" i="0">
                <a:solidFill>
                  <a:srgbClr val="1F2730"/>
                </a:solidFill>
                <a:latin typeface="Arial"/>
                <a:ea typeface="Arial"/>
                <a:cs typeface="Arial"/>
              </a:rPr>
              <a:t>No</a:t>
            </a:r>
          </a:p>
        </p:txBody>
      </p:sp>
      <p:sp>
        <p:nvSpPr>
          <p:cNvPr id="30" name="Rectangle 29">
            <a:extLst>
              <a:ext uri="{FF2B5EF4-FFF2-40B4-BE49-F238E27FC236}">
                <a16:creationId xmlns:a16="http://schemas.microsoft.com/office/drawing/2014/main" id="{835D28EB-C5ED-43AA-A4C4-B4615A95964E}"/>
              </a:ext>
            </a:extLst>
          </p:cNvPr>
          <p:cNvSpPr>
            <a:spLocks noGrp="1"/>
          </p:cNvSpPr>
          <p:nvPr/>
        </p:nvSpPr>
        <p:spPr>
          <a:xfrm>
            <a:off x="1840696" y="3776472"/>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25F22931-D29F-4703-92C2-B4265EC63138}"/>
              </a:ext>
            </a:extLst>
          </p:cNvPr>
          <p:cNvSpPr>
            <a:spLocks noGrp="1"/>
          </p:cNvSpPr>
          <p:nvPr/>
        </p:nvSpPr>
        <p:spPr>
          <a:xfrm>
            <a:off x="1895560" y="3908846"/>
            <a:ext cx="5513832" cy="201594"/>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0</a:t>
            </a:r>
            <a:endParaRPr sz="950" b="0" i="0">
              <a:solidFill>
                <a:srgbClr val="1F2730"/>
              </a:solidFill>
              <a:latin typeface="Arial"/>
              <a:ea typeface="Arial"/>
              <a:cs typeface="Arial"/>
            </a:endParaRPr>
          </a:p>
        </p:txBody>
      </p:sp>
      <p:sp>
        <p:nvSpPr>
          <p:cNvPr id="32" name="Rectangle 31">
            <a:extLst>
              <a:ext uri="{FF2B5EF4-FFF2-40B4-BE49-F238E27FC236}">
                <a16:creationId xmlns:a16="http://schemas.microsoft.com/office/drawing/2014/main" id="{65B15CB0-A324-4490-ABBE-EA981FFFDC2D}"/>
              </a:ext>
            </a:extLst>
          </p:cNvPr>
          <p:cNvSpPr>
            <a:spLocks noGrp="1"/>
          </p:cNvSpPr>
          <p:nvPr/>
        </p:nvSpPr>
        <p:spPr>
          <a:xfrm>
            <a:off x="7464256" y="3776472"/>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F2DA721B-6205-42E7-8624-021A6BEE45C7}"/>
              </a:ext>
            </a:extLst>
          </p:cNvPr>
          <p:cNvSpPr>
            <a:spLocks noGrp="1"/>
          </p:cNvSpPr>
          <p:nvPr/>
        </p:nvSpPr>
        <p:spPr>
          <a:xfrm>
            <a:off x="7519120" y="3822191"/>
            <a:ext cx="987552" cy="374904"/>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950" b="0" i="0">
                <a:solidFill>
                  <a:srgbClr val="1F2730"/>
                </a:solidFill>
                <a:latin typeface="Arial"/>
                <a:ea typeface="Arial"/>
                <a:cs typeface="Arial"/>
              </a:rPr>
              <a:t>95</a:t>
            </a:r>
          </a:p>
        </p:txBody>
      </p:sp>
      <p:sp>
        <p:nvSpPr>
          <p:cNvPr id="34" name="Rectangle 33">
            <a:extLst>
              <a:ext uri="{FF2B5EF4-FFF2-40B4-BE49-F238E27FC236}">
                <a16:creationId xmlns:a16="http://schemas.microsoft.com/office/drawing/2014/main" id="{69B0A2F4-62B9-4BC5-ADD1-6869FBEACD94}"/>
              </a:ext>
            </a:extLst>
          </p:cNvPr>
          <p:cNvSpPr>
            <a:spLocks noGrp="1"/>
          </p:cNvSpPr>
          <p:nvPr/>
        </p:nvSpPr>
        <p:spPr>
          <a:xfrm>
            <a:off x="8561536" y="3776472"/>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6253741D-16CE-4801-9A63-2B08A57E1EFE}"/>
              </a:ext>
            </a:extLst>
          </p:cNvPr>
          <p:cNvSpPr>
            <a:spLocks noGrp="1"/>
          </p:cNvSpPr>
          <p:nvPr/>
        </p:nvSpPr>
        <p:spPr>
          <a:xfrm>
            <a:off x="8616400" y="3822191"/>
            <a:ext cx="1764791" cy="374904"/>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950" b="0" i="0">
                <a:solidFill>
                  <a:srgbClr val="1F2730"/>
                </a:solidFill>
                <a:latin typeface="Arial"/>
                <a:ea typeface="Arial"/>
                <a:cs typeface="Arial"/>
              </a:rPr>
              <a:t>No</a:t>
            </a:r>
          </a:p>
        </p:txBody>
      </p:sp>
      <p:sp>
        <p:nvSpPr>
          <p:cNvPr id="38" name="Rectangle 37">
            <a:extLst>
              <a:ext uri="{FF2B5EF4-FFF2-40B4-BE49-F238E27FC236}">
                <a16:creationId xmlns:a16="http://schemas.microsoft.com/office/drawing/2014/main" id="{A09CF610-E418-4987-ADF1-20C8F95B8ED7}"/>
              </a:ext>
            </a:extLst>
          </p:cNvPr>
          <p:cNvSpPr>
            <a:spLocks noGrp="1"/>
          </p:cNvSpPr>
          <p:nvPr/>
        </p:nvSpPr>
        <p:spPr>
          <a:xfrm>
            <a:off x="1840696" y="4224527"/>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2E0B1B61-3C01-41CC-B807-A377B95A85D7}"/>
              </a:ext>
            </a:extLst>
          </p:cNvPr>
          <p:cNvSpPr>
            <a:spLocks noGrp="1"/>
          </p:cNvSpPr>
          <p:nvPr/>
        </p:nvSpPr>
        <p:spPr>
          <a:xfrm>
            <a:off x="1895560" y="4356132"/>
            <a:ext cx="5513832" cy="203133"/>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a:t>
            </a:r>
            <a:r>
              <a:rPr sz="950" b="0" i="0">
                <a:solidFill>
                  <a:srgbClr val="1F2730"/>
                </a:solidFill>
                <a:latin typeface="Arial"/>
                <a:ea typeface="Arial"/>
                <a:cs typeface="Arial"/>
              </a:rPr>
              <a:t>1–2</a:t>
            </a:r>
          </a:p>
        </p:txBody>
      </p:sp>
      <p:sp>
        <p:nvSpPr>
          <p:cNvPr id="40" name="Rectangle 39">
            <a:extLst>
              <a:ext uri="{FF2B5EF4-FFF2-40B4-BE49-F238E27FC236}">
                <a16:creationId xmlns:a16="http://schemas.microsoft.com/office/drawing/2014/main" id="{DB42E127-BC1D-4E6D-8837-BD21F2534455}"/>
              </a:ext>
            </a:extLst>
          </p:cNvPr>
          <p:cNvSpPr>
            <a:spLocks noGrp="1"/>
          </p:cNvSpPr>
          <p:nvPr/>
        </p:nvSpPr>
        <p:spPr>
          <a:xfrm>
            <a:off x="7464256" y="4224527"/>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532D6E6D-3851-4729-AF80-81DB087CD678}"/>
              </a:ext>
            </a:extLst>
          </p:cNvPr>
          <p:cNvSpPr>
            <a:spLocks noGrp="1"/>
          </p:cNvSpPr>
          <p:nvPr/>
        </p:nvSpPr>
        <p:spPr>
          <a:xfrm>
            <a:off x="7519120" y="4270247"/>
            <a:ext cx="987552" cy="374904"/>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950" b="0" i="0">
                <a:solidFill>
                  <a:srgbClr val="1F2730"/>
                </a:solidFill>
                <a:latin typeface="Arial"/>
                <a:ea typeface="Arial"/>
                <a:cs typeface="Arial"/>
              </a:rPr>
              <a:t>32</a:t>
            </a:r>
          </a:p>
        </p:txBody>
      </p:sp>
      <p:sp>
        <p:nvSpPr>
          <p:cNvPr id="42" name="Rectangle 41">
            <a:extLst>
              <a:ext uri="{FF2B5EF4-FFF2-40B4-BE49-F238E27FC236}">
                <a16:creationId xmlns:a16="http://schemas.microsoft.com/office/drawing/2014/main" id="{26BCA652-FACA-46DD-A87D-8FB0F4CF3F0C}"/>
              </a:ext>
            </a:extLst>
          </p:cNvPr>
          <p:cNvSpPr>
            <a:spLocks noGrp="1"/>
          </p:cNvSpPr>
          <p:nvPr/>
        </p:nvSpPr>
        <p:spPr>
          <a:xfrm>
            <a:off x="8561536" y="4224527"/>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A1E62925-63B8-478F-BADE-3EE2BEEF64D1}"/>
              </a:ext>
            </a:extLst>
          </p:cNvPr>
          <p:cNvSpPr>
            <a:spLocks noGrp="1"/>
          </p:cNvSpPr>
          <p:nvPr/>
        </p:nvSpPr>
        <p:spPr>
          <a:xfrm>
            <a:off x="8616400" y="4270247"/>
            <a:ext cx="1764791" cy="374904"/>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950" b="0" i="0">
                <a:solidFill>
                  <a:srgbClr val="1F2730"/>
                </a:solidFill>
                <a:latin typeface="Arial"/>
                <a:ea typeface="Arial"/>
                <a:cs typeface="Arial"/>
              </a:rPr>
              <a:t>No</a:t>
            </a:r>
          </a:p>
        </p:txBody>
      </p:sp>
      <p:sp>
        <p:nvSpPr>
          <p:cNvPr id="46" name="Rectangle 45">
            <a:extLst>
              <a:ext uri="{FF2B5EF4-FFF2-40B4-BE49-F238E27FC236}">
                <a16:creationId xmlns:a16="http://schemas.microsoft.com/office/drawing/2014/main" id="{946D51ED-B773-4A59-A563-E5995A9F7C4C}"/>
              </a:ext>
            </a:extLst>
          </p:cNvPr>
          <p:cNvSpPr>
            <a:spLocks noGrp="1"/>
          </p:cNvSpPr>
          <p:nvPr/>
        </p:nvSpPr>
        <p:spPr>
          <a:xfrm>
            <a:off x="1840696" y="4672583"/>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4C271131-778E-4071-BE35-F3C0C6EBD5D5}"/>
              </a:ext>
            </a:extLst>
          </p:cNvPr>
          <p:cNvSpPr>
            <a:spLocks noGrp="1"/>
          </p:cNvSpPr>
          <p:nvPr/>
        </p:nvSpPr>
        <p:spPr>
          <a:xfrm>
            <a:off x="1895560" y="4804958"/>
            <a:ext cx="5513832" cy="201594"/>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a:t>
            </a:r>
            <a:r>
              <a:rPr sz="950">
                <a:solidFill>
                  <a:srgbClr val="1F2730"/>
                </a:solidFill>
                <a:latin typeface="Arial"/>
                <a:ea typeface="Arial"/>
                <a:cs typeface="Arial"/>
              </a:rPr>
              <a:t>&gt;=3</a:t>
            </a:r>
            <a:endParaRPr sz="950" b="0" i="0">
              <a:solidFill>
                <a:srgbClr val="1F2730"/>
              </a:solidFill>
              <a:latin typeface="Arial"/>
              <a:ea typeface="Arial"/>
              <a:cs typeface="Arial"/>
            </a:endParaRPr>
          </a:p>
        </p:txBody>
      </p:sp>
      <p:sp>
        <p:nvSpPr>
          <p:cNvPr id="48" name="Rectangle 47">
            <a:extLst>
              <a:ext uri="{FF2B5EF4-FFF2-40B4-BE49-F238E27FC236}">
                <a16:creationId xmlns:a16="http://schemas.microsoft.com/office/drawing/2014/main" id="{F66F6FEE-61DB-4D88-9D28-388732A5C411}"/>
              </a:ext>
            </a:extLst>
          </p:cNvPr>
          <p:cNvSpPr>
            <a:spLocks noGrp="1"/>
          </p:cNvSpPr>
          <p:nvPr/>
        </p:nvSpPr>
        <p:spPr>
          <a:xfrm>
            <a:off x="7464256" y="4672583"/>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058FE669-B813-4CD1-AFD9-6A4EE5504BF3}"/>
              </a:ext>
            </a:extLst>
          </p:cNvPr>
          <p:cNvSpPr>
            <a:spLocks noGrp="1"/>
          </p:cNvSpPr>
          <p:nvPr/>
        </p:nvSpPr>
        <p:spPr>
          <a:xfrm>
            <a:off x="7519120" y="4804958"/>
            <a:ext cx="987552" cy="201594"/>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950" b="0" i="0">
                <a:solidFill>
                  <a:srgbClr val="1F2730"/>
                </a:solidFill>
                <a:latin typeface="Arial"/>
                <a:ea typeface="Arial"/>
                <a:cs typeface="Arial"/>
              </a:rPr>
              <a:t>194</a:t>
            </a:r>
          </a:p>
        </p:txBody>
      </p:sp>
      <p:sp>
        <p:nvSpPr>
          <p:cNvPr id="50" name="Rectangle 49">
            <a:extLst>
              <a:ext uri="{FF2B5EF4-FFF2-40B4-BE49-F238E27FC236}">
                <a16:creationId xmlns:a16="http://schemas.microsoft.com/office/drawing/2014/main" id="{A77F395D-C843-4144-BECA-554D9E093459}"/>
              </a:ext>
            </a:extLst>
          </p:cNvPr>
          <p:cNvSpPr>
            <a:spLocks noGrp="1"/>
          </p:cNvSpPr>
          <p:nvPr/>
        </p:nvSpPr>
        <p:spPr>
          <a:xfrm>
            <a:off x="8561536" y="4672583"/>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E0378C35-7078-4616-B124-6AB9128C801C}"/>
              </a:ext>
            </a:extLst>
          </p:cNvPr>
          <p:cNvSpPr>
            <a:spLocks noGrp="1"/>
          </p:cNvSpPr>
          <p:nvPr/>
        </p:nvSpPr>
        <p:spPr>
          <a:xfrm>
            <a:off x="8616400" y="4718303"/>
            <a:ext cx="1764791" cy="374904"/>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950" b="0" i="0">
                <a:solidFill>
                  <a:srgbClr val="1F2730"/>
                </a:solidFill>
                <a:latin typeface="Arial"/>
                <a:ea typeface="Arial"/>
                <a:cs typeface="Arial"/>
              </a:rPr>
              <a:t>Yes</a:t>
            </a:r>
          </a:p>
        </p:txBody>
      </p:sp>
      <p:sp>
        <p:nvSpPr>
          <p:cNvPr id="62" name="Rectangle 61">
            <a:extLst>
              <a:ext uri="{FF2B5EF4-FFF2-40B4-BE49-F238E27FC236}">
                <a16:creationId xmlns:a16="http://schemas.microsoft.com/office/drawing/2014/main" id="{2E95D688-F803-4F47-9B15-661C835F8AC3}"/>
              </a:ext>
            </a:extLst>
          </p:cNvPr>
          <p:cNvSpPr>
            <a:spLocks noGrp="1"/>
          </p:cNvSpPr>
          <p:nvPr/>
        </p:nvSpPr>
        <p:spPr>
          <a:xfrm>
            <a:off x="1840696" y="5128754"/>
            <a:ext cx="562356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3" name="TextBox 62">
            <a:extLst>
              <a:ext uri="{FF2B5EF4-FFF2-40B4-BE49-F238E27FC236}">
                <a16:creationId xmlns:a16="http://schemas.microsoft.com/office/drawing/2014/main" id="{7CCF1CAD-EE89-43AE-BA0A-8F81BFB13332}"/>
              </a:ext>
            </a:extLst>
          </p:cNvPr>
          <p:cNvSpPr>
            <a:spLocks noGrp="1"/>
          </p:cNvSpPr>
          <p:nvPr/>
        </p:nvSpPr>
        <p:spPr>
          <a:xfrm>
            <a:off x="1895560" y="5174474"/>
            <a:ext cx="5513832" cy="374904"/>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950" b="1" i="0">
                <a:solidFill>
                  <a:srgbClr val="1F2730"/>
                </a:solidFill>
                <a:latin typeface="Arial"/>
                <a:ea typeface="Arial"/>
                <a:cs typeface="Arial"/>
              </a:rPr>
              <a:t>TOTAL</a:t>
            </a:r>
          </a:p>
        </p:txBody>
      </p:sp>
      <p:sp>
        <p:nvSpPr>
          <p:cNvPr id="64" name="Rectangle 63">
            <a:extLst>
              <a:ext uri="{FF2B5EF4-FFF2-40B4-BE49-F238E27FC236}">
                <a16:creationId xmlns:a16="http://schemas.microsoft.com/office/drawing/2014/main" id="{D4E5FF6D-041D-48B3-A534-553122085191}"/>
              </a:ext>
            </a:extLst>
          </p:cNvPr>
          <p:cNvSpPr>
            <a:spLocks noGrp="1"/>
          </p:cNvSpPr>
          <p:nvPr/>
        </p:nvSpPr>
        <p:spPr>
          <a:xfrm>
            <a:off x="7464256" y="5128754"/>
            <a:ext cx="109728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5" name="TextBox 64">
            <a:extLst>
              <a:ext uri="{FF2B5EF4-FFF2-40B4-BE49-F238E27FC236}">
                <a16:creationId xmlns:a16="http://schemas.microsoft.com/office/drawing/2014/main" id="{88968CAA-2223-4B19-B8BB-68DFF1C662E7}"/>
              </a:ext>
            </a:extLst>
          </p:cNvPr>
          <p:cNvSpPr>
            <a:spLocks noGrp="1"/>
          </p:cNvSpPr>
          <p:nvPr/>
        </p:nvSpPr>
        <p:spPr>
          <a:xfrm>
            <a:off x="7519120" y="5174474"/>
            <a:ext cx="987552" cy="374904"/>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950" b="1" i="0">
                <a:solidFill>
                  <a:srgbClr val="1F2730"/>
                </a:solidFill>
                <a:latin typeface="Arial"/>
                <a:ea typeface="Arial"/>
                <a:cs typeface="Arial"/>
              </a:rPr>
              <a:t>324</a:t>
            </a:r>
          </a:p>
        </p:txBody>
      </p:sp>
      <p:sp>
        <p:nvSpPr>
          <p:cNvPr id="66" name="Rectangle 65">
            <a:extLst>
              <a:ext uri="{FF2B5EF4-FFF2-40B4-BE49-F238E27FC236}">
                <a16:creationId xmlns:a16="http://schemas.microsoft.com/office/drawing/2014/main" id="{82A2FD34-1E61-44FB-AD23-F8CF957EF011}"/>
              </a:ext>
            </a:extLst>
          </p:cNvPr>
          <p:cNvSpPr>
            <a:spLocks noGrp="1"/>
          </p:cNvSpPr>
          <p:nvPr/>
        </p:nvSpPr>
        <p:spPr>
          <a:xfrm>
            <a:off x="8561536" y="5128754"/>
            <a:ext cx="1874519"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7" name="TextBox 66">
            <a:extLst>
              <a:ext uri="{FF2B5EF4-FFF2-40B4-BE49-F238E27FC236}">
                <a16:creationId xmlns:a16="http://schemas.microsoft.com/office/drawing/2014/main" id="{010C3224-E842-4D81-8131-6FCF88F9E722}"/>
              </a:ext>
            </a:extLst>
          </p:cNvPr>
          <p:cNvSpPr>
            <a:spLocks noGrp="1"/>
          </p:cNvSpPr>
          <p:nvPr/>
        </p:nvSpPr>
        <p:spPr>
          <a:xfrm>
            <a:off x="8616400" y="5174474"/>
            <a:ext cx="1764791" cy="374904"/>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950" b="1" i="0">
                <a:solidFill>
                  <a:srgbClr val="1F2730"/>
                </a:solidFill>
                <a:latin typeface="Arial"/>
                <a:ea typeface="Arial"/>
                <a:cs typeface="Arial"/>
              </a:rPr>
              <a:t>194 KDA calls</a:t>
            </a:r>
          </a:p>
        </p:txBody>
      </p:sp>
    </p:spTree>
    <p:extLst>
      <p:ext uri="{BB962C8B-B14F-4D97-AF65-F5344CB8AC3E}">
        <p14:creationId val="970849934"/>
      </p:ext>
    </p:extLst>
  </p:cSld>
  <p:clrMapOvr>
    <a:masterClrMapping/>
  </p:clrMapOvr>
  <p:transition/>
  <p:timing/>
</p:sld>
</file>

<file path=ppt/slides/slide2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3" name="TextBox 2">
            <a:extLst>
              <a:ext uri="{FF2B5EF4-FFF2-40B4-BE49-F238E27FC236}">
                <a16:creationId xmlns:a16="http://schemas.microsoft.com/office/drawing/2014/main" id="{94FFD812-B704-40B9-875C-AE2409EDCD40}"/>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100" b="1">
                <a:solidFill>
                  <a:srgbClr val="0F233D"/>
                </a:solidFill>
                <a:latin typeface="Arial"/>
                <a:ea typeface="Arial"/>
                <a:cs typeface="Arial"/>
              </a:rPr>
              <a:t>Source validity and query size decide whether a KDA call is made</a:t>
            </a:r>
          </a:p>
        </p:txBody>
      </p:sp>
      <p:sp>
        <p:nvSpPr>
          <p:cNvPr id="5" name="Rounded Rectangle 4">
            <a:extLst>
              <a:ext uri="{FF2B5EF4-FFF2-40B4-BE49-F238E27FC236}">
                <a16:creationId xmlns:a16="http://schemas.microsoft.com/office/drawing/2014/main" id="{6A4C48F9-8630-4221-B343-DCC27E4D63B8}"/>
              </a:ext>
            </a:extLst>
          </p:cNvPr>
          <p:cNvSpPr>
            <a:spLocks noGrp="1"/>
          </p:cNvSpPr>
          <p:nvPr/>
        </p:nvSpPr>
        <p:spPr>
          <a:xfrm>
            <a:off x="603504" y="1344168"/>
            <a:ext cx="4663440" cy="44805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EA7129F0-43AE-494F-BC7A-EB9E0E9C5E7F}"/>
              </a:ext>
            </a:extLst>
          </p:cNvPr>
          <p:cNvSpPr>
            <a:spLocks noGrp="1"/>
          </p:cNvSpPr>
          <p:nvPr/>
        </p:nvSpPr>
        <p:spPr>
          <a:xfrm>
            <a:off x="868680" y="164592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6BBEA52-DBDE-4F3F-8340-7D32A98DC683}"/>
              </a:ext>
            </a:extLst>
          </p:cNvPr>
          <p:cNvSpPr>
            <a:spLocks noGrp="1"/>
          </p:cNvSpPr>
          <p:nvPr/>
        </p:nvSpPr>
        <p:spPr>
          <a:xfrm>
            <a:off x="1014983" y="1618488"/>
            <a:ext cx="3950208" cy="32918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520" b="1" i="0">
                <a:solidFill>
                  <a:srgbClr val="0F233D"/>
                </a:solidFill>
                <a:latin typeface="Arial"/>
                <a:ea typeface="Arial"/>
                <a:cs typeface="Arial"/>
              </a:rPr>
              <a:t>One canonical query-size gate</a:t>
            </a:r>
          </a:p>
        </p:txBody>
      </p:sp>
      <p:sp>
        <p:nvSpPr>
          <p:cNvPr id="8" name="Rounded Rectangle 7">
            <a:extLst>
              <a:ext uri="{FF2B5EF4-FFF2-40B4-BE49-F238E27FC236}">
                <a16:creationId xmlns:a16="http://schemas.microsoft.com/office/drawing/2014/main" id="{94EB16BC-E4F1-4108-A86F-267BC5C551AD}"/>
              </a:ext>
            </a:extLst>
          </p:cNvPr>
          <p:cNvSpPr>
            <a:spLocks noGrp="1"/>
          </p:cNvSpPr>
          <p:nvPr/>
        </p:nvSpPr>
        <p:spPr>
          <a:xfrm>
            <a:off x="868680" y="2112264"/>
            <a:ext cx="1847088" cy="1024128"/>
          </a:xfrm>
          <a:prstGeom prst="roundRect">
            <a:avLst/>
          </a:prstGeom>
          <a:solidFill>
            <a:srgbClr val="E4F0F8"/>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8BFF435-EA7F-4E02-B514-49B4F6E85805}"/>
              </a:ext>
            </a:extLst>
          </p:cNvPr>
          <p:cNvSpPr>
            <a:spLocks noGrp="1"/>
          </p:cNvSpPr>
          <p:nvPr/>
        </p:nvSpPr>
        <p:spPr>
          <a:xfrm>
            <a:off x="1014983" y="2203704"/>
            <a:ext cx="1554480" cy="42976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500" b="1" i="0">
                <a:solidFill>
                  <a:srgbClr val="0072B2"/>
                </a:solidFill>
                <a:latin typeface="Arial"/>
                <a:ea typeface="Arial"/>
                <a:cs typeface="Arial"/>
              </a:rPr>
              <a:t>≥3</a:t>
            </a:r>
          </a:p>
        </p:txBody>
      </p:sp>
      <p:sp>
        <p:nvSpPr>
          <p:cNvPr id="11" name="Rounded Rectangle 10">
            <a:extLst>
              <a:ext uri="{FF2B5EF4-FFF2-40B4-BE49-F238E27FC236}">
                <a16:creationId xmlns:a16="http://schemas.microsoft.com/office/drawing/2014/main" id="{F1F779AE-11F4-47BB-A762-0C85248FEA1D}"/>
              </a:ext>
            </a:extLst>
          </p:cNvPr>
          <p:cNvSpPr>
            <a:spLocks noGrp="1"/>
          </p:cNvSpPr>
          <p:nvPr/>
        </p:nvSpPr>
        <p:spPr>
          <a:xfrm>
            <a:off x="2926080" y="2112264"/>
            <a:ext cx="1847088" cy="1024128"/>
          </a:xfrm>
          <a:prstGeom prst="roundRect">
            <a:avLst/>
          </a:prstGeom>
          <a:solidFill>
            <a:srgbClr val="E4F4EE"/>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1758C03-E750-4979-9F7F-FAA6429A1A3F}"/>
              </a:ext>
            </a:extLst>
          </p:cNvPr>
          <p:cNvSpPr>
            <a:spLocks noGrp="1"/>
          </p:cNvSpPr>
          <p:nvPr/>
        </p:nvSpPr>
        <p:spPr>
          <a:xfrm>
            <a:off x="3072384" y="2203704"/>
            <a:ext cx="1554480" cy="44012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500" b="1" i="0">
                <a:solidFill>
                  <a:srgbClr val="00684D"/>
                </a:solidFill>
                <a:latin typeface="Arial"/>
                <a:ea typeface="Arial"/>
                <a:cs typeface="Arial"/>
              </a:rPr>
              <a:t>194</a:t>
            </a:r>
          </a:p>
        </p:txBody>
      </p:sp>
      <p:sp>
        <p:nvSpPr>
          <p:cNvPr id="13" name="TextBox 12">
            <a:extLst>
              <a:ext uri="{FF2B5EF4-FFF2-40B4-BE49-F238E27FC236}">
                <a16:creationId xmlns:a16="http://schemas.microsoft.com/office/drawing/2014/main" id="{5AEC8C97-5663-4403-A365-080CCAFA7518}"/>
              </a:ext>
            </a:extLst>
          </p:cNvPr>
          <p:cNvSpPr>
            <a:spLocks noGrp="1"/>
          </p:cNvSpPr>
          <p:nvPr/>
        </p:nvSpPr>
        <p:spPr>
          <a:xfrm>
            <a:off x="3072384" y="2660904"/>
            <a:ext cx="1554480" cy="326243"/>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880" b="1" i="0">
                <a:solidFill>
                  <a:srgbClr val="4E5A68"/>
                </a:solidFill>
                <a:latin typeface="Arial"/>
                <a:ea typeface="Arial"/>
                <a:cs typeface="Arial"/>
              </a:rPr>
              <a:t>included KDA calls</a:t>
            </a:r>
          </a:p>
        </p:txBody>
      </p:sp>
      <p:sp>
        <p:nvSpPr>
          <p:cNvPr id="14" name="Oval 13">
            <a:extLst>
              <a:ext uri="{FF2B5EF4-FFF2-40B4-BE49-F238E27FC236}">
                <a16:creationId xmlns:a16="http://schemas.microsoft.com/office/drawing/2014/main" id="{10BAEFA5-98B8-4FD8-A11C-0E387F6B85F4}"/>
              </a:ext>
            </a:extLst>
          </p:cNvPr>
          <p:cNvSpPr>
            <a:spLocks noGrp="1"/>
          </p:cNvSpPr>
          <p:nvPr/>
        </p:nvSpPr>
        <p:spPr>
          <a:xfrm>
            <a:off x="877824" y="362102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690BED9-450F-4977-B163-55149B093DDA}"/>
              </a:ext>
            </a:extLst>
          </p:cNvPr>
          <p:cNvSpPr>
            <a:spLocks noGrp="1"/>
          </p:cNvSpPr>
          <p:nvPr/>
        </p:nvSpPr>
        <p:spPr>
          <a:xfrm>
            <a:off x="1051560" y="3493008"/>
            <a:ext cx="3867911" cy="60350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0" i="0">
                <a:solidFill>
                  <a:srgbClr val="1F2730"/>
                </a:solidFill>
                <a:latin typeface="Arial"/>
                <a:ea typeface="Arial"/>
                <a:cs typeface="Arial"/>
              </a:rPr>
              <a:t>All 194 validated completed KDA calls enter the aggregate.</a:t>
            </a:r>
          </a:p>
        </p:txBody>
      </p:sp>
      <p:sp>
        <p:nvSpPr>
          <p:cNvPr id="16" name="Oval 15">
            <a:extLst>
              <a:ext uri="{FF2B5EF4-FFF2-40B4-BE49-F238E27FC236}">
                <a16:creationId xmlns:a16="http://schemas.microsoft.com/office/drawing/2014/main" id="{0E22A6DB-CC7F-4DB3-9F06-4220288F8CAC}"/>
              </a:ext>
            </a:extLst>
          </p:cNvPr>
          <p:cNvSpPr>
            <a:spLocks noGrp="1"/>
          </p:cNvSpPr>
          <p:nvPr/>
        </p:nvSpPr>
        <p:spPr>
          <a:xfrm>
            <a:off x="877824" y="4224527"/>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070BACD-2A71-4901-9976-0EFDFEEA75DA}"/>
              </a:ext>
            </a:extLst>
          </p:cNvPr>
          <p:cNvSpPr>
            <a:spLocks noGrp="1"/>
          </p:cNvSpPr>
          <p:nvPr/>
        </p:nvSpPr>
        <p:spPr>
          <a:xfrm>
            <a:off x="1051560" y="4096511"/>
            <a:ext cx="3867911" cy="22621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0" i="0">
                <a:solidFill>
                  <a:srgbClr val="1F2730"/>
                </a:solidFill>
                <a:latin typeface="Arial"/>
                <a:ea typeface="Arial"/>
                <a:cs typeface="Arial"/>
              </a:rPr>
              <a:t>164 significant • 30 completed empty</a:t>
            </a:r>
          </a:p>
        </p:txBody>
      </p:sp>
      <p:sp>
        <p:nvSpPr>
          <p:cNvPr id="18" name="Oval 17">
            <a:extLst>
              <a:ext uri="{FF2B5EF4-FFF2-40B4-BE49-F238E27FC236}">
                <a16:creationId xmlns:a16="http://schemas.microsoft.com/office/drawing/2014/main" id="{A92AF517-4CB5-472F-828F-8D876959A25F}"/>
              </a:ext>
            </a:extLst>
          </p:cNvPr>
          <p:cNvSpPr>
            <a:spLocks noGrp="1"/>
          </p:cNvSpPr>
          <p:nvPr/>
        </p:nvSpPr>
        <p:spPr>
          <a:xfrm>
            <a:off x="877824" y="482803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A81104E5-BCE0-464F-9E64-5103995A4D18}"/>
              </a:ext>
            </a:extLst>
          </p:cNvPr>
          <p:cNvSpPr>
            <a:spLocks noGrp="1"/>
          </p:cNvSpPr>
          <p:nvPr/>
        </p:nvSpPr>
        <p:spPr>
          <a:xfrm>
            <a:off x="1051560" y="4700016"/>
            <a:ext cx="3867911" cy="60350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0" i="0">
                <a:solidFill>
                  <a:srgbClr val="1F2730"/>
                </a:solidFill>
                <a:latin typeface="Arial"/>
                <a:ea typeface="Arial"/>
                <a:cs typeface="Arial"/>
              </a:rPr>
              <a:t>The 164 significant KDA calls returned 1,833 rows before mitochondrial filtering.</a:t>
            </a:r>
          </a:p>
        </p:txBody>
      </p:sp>
      <p:sp>
        <p:nvSpPr>
          <p:cNvPr id="20" name="Rounded Rectangle 19">
            <a:extLst>
              <a:ext uri="{FF2B5EF4-FFF2-40B4-BE49-F238E27FC236}">
                <a16:creationId xmlns:a16="http://schemas.microsoft.com/office/drawing/2014/main" id="{1936370E-3C65-4BFE-B81C-F6A09158745F}"/>
              </a:ext>
            </a:extLst>
          </p:cNvPr>
          <p:cNvSpPr>
            <a:spLocks noGrp="1"/>
          </p:cNvSpPr>
          <p:nvPr/>
        </p:nvSpPr>
        <p:spPr>
          <a:xfrm>
            <a:off x="5532120" y="1344168"/>
            <a:ext cx="6035040" cy="4480560"/>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01D8C6B2-E2CA-4BEC-8B41-6FAAF6E50FCA}"/>
              </a:ext>
            </a:extLst>
          </p:cNvPr>
          <p:cNvSpPr>
            <a:spLocks noGrp="1"/>
          </p:cNvSpPr>
          <p:nvPr/>
        </p:nvSpPr>
        <p:spPr>
          <a:xfrm>
            <a:off x="5824728" y="164592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0E47F582-8212-433C-916F-D27A1E7767FE}"/>
              </a:ext>
            </a:extLst>
          </p:cNvPr>
          <p:cNvSpPr>
            <a:spLocks noGrp="1"/>
          </p:cNvSpPr>
          <p:nvPr/>
        </p:nvSpPr>
        <p:spPr>
          <a:xfrm>
            <a:off x="5971032" y="1618488"/>
            <a:ext cx="5294376" cy="28931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520" b="1" i="0">
                <a:solidFill>
                  <a:srgbClr val="0F233D"/>
                </a:solidFill>
                <a:latin typeface="Arial"/>
                <a:ea typeface="Arial"/>
                <a:cs typeface="Arial"/>
              </a:rPr>
              <a:t>What ‘source contrast not valid’ means</a:t>
            </a:r>
          </a:p>
        </p:txBody>
      </p:sp>
      <p:sp>
        <p:nvSpPr>
          <p:cNvPr id="23" name="TextBox 22">
            <a:extLst>
              <a:ext uri="{FF2B5EF4-FFF2-40B4-BE49-F238E27FC236}">
                <a16:creationId xmlns:a16="http://schemas.microsoft.com/office/drawing/2014/main" id="{59BD84AB-21C2-4E27-AD34-674BA135B973}"/>
              </a:ext>
            </a:extLst>
          </p:cNvPr>
          <p:cNvSpPr>
            <a:spLocks noGrp="1"/>
          </p:cNvSpPr>
          <p:nvPr/>
        </p:nvSpPr>
        <p:spPr>
          <a:xfrm>
            <a:off x="5843016" y="2148840"/>
            <a:ext cx="5330952" cy="486287"/>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00" b="1" i="0">
                <a:solidFill>
                  <a:srgbClr val="0F233D"/>
                </a:solidFill>
                <a:latin typeface="Arial"/>
                <a:ea typeface="Arial"/>
                <a:cs typeface="Arial"/>
              </a:rPr>
              <a:t>The upstream MAST comparison could not be fitted because one arm had fewer than </a:t>
            </a:r>
            <a:r>
              <a:rPr sz="1400" b="1" i="0">
                <a:solidFill>
                  <a:srgbClr val="FF0000"/>
                </a:solidFill>
                <a:latin typeface="Arial"/>
                <a:ea typeface="Arial"/>
                <a:cs typeface="Arial"/>
              </a:rPr>
              <a:t>three</a:t>
            </a:r>
            <a:r>
              <a:rPr sz="1400" b="1" i="0">
                <a:solidFill>
                  <a:srgbClr val="0F233D"/>
                </a:solidFill>
                <a:latin typeface="Arial"/>
                <a:ea typeface="Arial"/>
                <a:cs typeface="Arial"/>
              </a:rPr>
              <a:t> cells.</a:t>
            </a:r>
          </a:p>
        </p:txBody>
      </p:sp>
      <p:sp>
        <p:nvSpPr>
          <p:cNvPr id="24" name="Rectangle 23">
            <a:extLst>
              <a:ext uri="{FF2B5EF4-FFF2-40B4-BE49-F238E27FC236}">
                <a16:creationId xmlns:a16="http://schemas.microsoft.com/office/drawing/2014/main" id="{73CDC9C2-50C7-4D3C-AF7E-55F140D966FD}"/>
              </a:ext>
            </a:extLst>
          </p:cNvPr>
          <p:cNvSpPr>
            <a:spLocks noGrp="1"/>
          </p:cNvSpPr>
          <p:nvPr/>
        </p:nvSpPr>
        <p:spPr>
          <a:xfrm>
            <a:off x="5843016" y="2898648"/>
            <a:ext cx="233172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9D9FDC4C-4A3A-4DD8-A597-002E76FF6C21}"/>
              </a:ext>
            </a:extLst>
          </p:cNvPr>
          <p:cNvSpPr>
            <a:spLocks noGrp="1"/>
          </p:cNvSpPr>
          <p:nvPr/>
        </p:nvSpPr>
        <p:spPr>
          <a:xfrm>
            <a:off x="5897879" y="2953512"/>
            <a:ext cx="2221991" cy="338328"/>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940" b="1" i="0">
                <a:solidFill>
                  <a:srgbClr val="FFFFFF"/>
                </a:solidFill>
                <a:latin typeface="Arial"/>
                <a:ea typeface="Arial"/>
                <a:cs typeface="Arial"/>
              </a:rPr>
              <a:t>Fine cell type</a:t>
            </a:r>
          </a:p>
        </p:txBody>
      </p:sp>
      <p:sp>
        <p:nvSpPr>
          <p:cNvPr id="26" name="Rectangle 25">
            <a:extLst>
              <a:ext uri="{FF2B5EF4-FFF2-40B4-BE49-F238E27FC236}">
                <a16:creationId xmlns:a16="http://schemas.microsoft.com/office/drawing/2014/main" id="{85FFE06F-8F01-4BA0-89A6-B4F53ACB4FF0}"/>
              </a:ext>
            </a:extLst>
          </p:cNvPr>
          <p:cNvSpPr>
            <a:spLocks noGrp="1"/>
          </p:cNvSpPr>
          <p:nvPr/>
        </p:nvSpPr>
        <p:spPr>
          <a:xfrm>
            <a:off x="8174736" y="2898648"/>
            <a:ext cx="91440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CB39C004-A0AF-427C-BF60-B3241F6BA651}"/>
              </a:ext>
            </a:extLst>
          </p:cNvPr>
          <p:cNvSpPr>
            <a:spLocks noGrp="1"/>
          </p:cNvSpPr>
          <p:nvPr/>
        </p:nvSpPr>
        <p:spPr>
          <a:xfrm>
            <a:off x="8229600" y="2953512"/>
            <a:ext cx="804672" cy="338328"/>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940" b="1" i="0">
                <a:solidFill>
                  <a:srgbClr val="FFFFFF"/>
                </a:solidFill>
                <a:latin typeface="Arial"/>
                <a:ea typeface="Arial"/>
                <a:cs typeface="Arial"/>
              </a:rPr>
              <a:t>Group</a:t>
            </a:r>
          </a:p>
        </p:txBody>
      </p:sp>
      <p:sp>
        <p:nvSpPr>
          <p:cNvPr id="28" name="Rectangle 27">
            <a:extLst>
              <a:ext uri="{FF2B5EF4-FFF2-40B4-BE49-F238E27FC236}">
                <a16:creationId xmlns:a16="http://schemas.microsoft.com/office/drawing/2014/main" id="{C5618740-BC50-4D9F-BAE2-F661C433628F}"/>
              </a:ext>
            </a:extLst>
          </p:cNvPr>
          <p:cNvSpPr>
            <a:spLocks noGrp="1"/>
          </p:cNvSpPr>
          <p:nvPr/>
        </p:nvSpPr>
        <p:spPr>
          <a:xfrm>
            <a:off x="908913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0676A43F-524F-4BE8-8BFF-4CEE71D7E5FC}"/>
              </a:ext>
            </a:extLst>
          </p:cNvPr>
          <p:cNvSpPr>
            <a:spLocks noGrp="1"/>
          </p:cNvSpPr>
          <p:nvPr/>
        </p:nvSpPr>
        <p:spPr>
          <a:xfrm>
            <a:off x="9144000" y="2953512"/>
            <a:ext cx="941831" cy="338328"/>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940" b="1" i="0">
                <a:solidFill>
                  <a:srgbClr val="FFFFFF"/>
                </a:solidFill>
                <a:latin typeface="Arial"/>
                <a:ea typeface="Arial"/>
                <a:cs typeface="Arial"/>
              </a:rPr>
              <a:t>AD cells</a:t>
            </a:r>
          </a:p>
        </p:txBody>
      </p:sp>
      <p:sp>
        <p:nvSpPr>
          <p:cNvPr id="30" name="Rectangle 29">
            <a:extLst>
              <a:ext uri="{FF2B5EF4-FFF2-40B4-BE49-F238E27FC236}">
                <a16:creationId xmlns:a16="http://schemas.microsoft.com/office/drawing/2014/main" id="{B3804DD9-B104-45E3-92C1-8288B3253BB1}"/>
              </a:ext>
            </a:extLst>
          </p:cNvPr>
          <p:cNvSpPr>
            <a:spLocks noGrp="1"/>
          </p:cNvSpPr>
          <p:nvPr/>
        </p:nvSpPr>
        <p:spPr>
          <a:xfrm>
            <a:off x="1014069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3AF1CD17-1ACA-4789-951B-FF6442209312}"/>
              </a:ext>
            </a:extLst>
          </p:cNvPr>
          <p:cNvSpPr>
            <a:spLocks noGrp="1"/>
          </p:cNvSpPr>
          <p:nvPr/>
        </p:nvSpPr>
        <p:spPr>
          <a:xfrm>
            <a:off x="10195560" y="2953512"/>
            <a:ext cx="941831" cy="338328"/>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940" b="1" i="0">
                <a:solidFill>
                  <a:srgbClr val="FFFFFF"/>
                </a:solidFill>
                <a:latin typeface="Arial"/>
                <a:ea typeface="Arial"/>
                <a:cs typeface="Arial"/>
              </a:rPr>
              <a:t>NCI cells</a:t>
            </a:r>
          </a:p>
        </p:txBody>
      </p:sp>
      <p:sp>
        <p:nvSpPr>
          <p:cNvPr id="32" name="Rectangle 31">
            <a:extLst>
              <a:ext uri="{FF2B5EF4-FFF2-40B4-BE49-F238E27FC236}">
                <a16:creationId xmlns:a16="http://schemas.microsoft.com/office/drawing/2014/main" id="{889F38DA-EFFD-4A17-BC7D-B9B78B35D9FC}"/>
              </a:ext>
            </a:extLst>
          </p:cNvPr>
          <p:cNvSpPr>
            <a:spLocks noGrp="1"/>
          </p:cNvSpPr>
          <p:nvPr/>
        </p:nvSpPr>
        <p:spPr>
          <a:xfrm>
            <a:off x="5843016" y="3328415"/>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7706D989-B23A-486D-A9F7-E1CB60522E53}"/>
              </a:ext>
            </a:extLst>
          </p:cNvPr>
          <p:cNvSpPr>
            <a:spLocks noGrp="1"/>
          </p:cNvSpPr>
          <p:nvPr/>
        </p:nvSpPr>
        <p:spPr>
          <a:xfrm>
            <a:off x="5897879" y="3374135"/>
            <a:ext cx="2221991" cy="384048"/>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980" b="0" i="0">
                <a:solidFill>
                  <a:srgbClr val="1F2730"/>
                </a:solidFill>
                <a:latin typeface="Arial"/>
                <a:ea typeface="Arial"/>
                <a:cs typeface="Arial"/>
              </a:rPr>
              <a:t>Fib SLC4A4</a:t>
            </a:r>
          </a:p>
        </p:txBody>
      </p:sp>
      <p:sp>
        <p:nvSpPr>
          <p:cNvPr id="34" name="Rectangle 33">
            <a:extLst>
              <a:ext uri="{FF2B5EF4-FFF2-40B4-BE49-F238E27FC236}">
                <a16:creationId xmlns:a16="http://schemas.microsoft.com/office/drawing/2014/main" id="{91F1B9A0-A745-4ED4-BD8A-ECD1E2033340}"/>
              </a:ext>
            </a:extLst>
          </p:cNvPr>
          <p:cNvSpPr>
            <a:spLocks noGrp="1"/>
          </p:cNvSpPr>
          <p:nvPr/>
        </p:nvSpPr>
        <p:spPr>
          <a:xfrm>
            <a:off x="8174736" y="3328415"/>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8E4E0F78-09C0-419B-81B4-6FC5357B2A68}"/>
              </a:ext>
            </a:extLst>
          </p:cNvPr>
          <p:cNvSpPr>
            <a:spLocks noGrp="1"/>
          </p:cNvSpPr>
          <p:nvPr/>
        </p:nvSpPr>
        <p:spPr>
          <a:xfrm>
            <a:off x="8229600" y="3374135"/>
            <a:ext cx="804672" cy="384048"/>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980" b="0" i="0">
                <a:solidFill>
                  <a:srgbClr val="1F2730"/>
                </a:solidFill>
                <a:latin typeface="Arial"/>
                <a:ea typeface="Arial"/>
                <a:cs typeface="Arial"/>
              </a:rPr>
              <a:t>M_e2</a:t>
            </a:r>
          </a:p>
        </p:txBody>
      </p:sp>
      <p:sp>
        <p:nvSpPr>
          <p:cNvPr id="36" name="Rectangle 35">
            <a:extLst>
              <a:ext uri="{FF2B5EF4-FFF2-40B4-BE49-F238E27FC236}">
                <a16:creationId xmlns:a16="http://schemas.microsoft.com/office/drawing/2014/main" id="{3FD8BA6C-ED61-44BF-8DBE-846F0D27DE36}"/>
              </a:ext>
            </a:extLst>
          </p:cNvPr>
          <p:cNvSpPr>
            <a:spLocks noGrp="1"/>
          </p:cNvSpPr>
          <p:nvPr/>
        </p:nvSpPr>
        <p:spPr>
          <a:xfrm>
            <a:off x="908913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3649F84B-A5B6-4B86-B786-AD084099D13C}"/>
              </a:ext>
            </a:extLst>
          </p:cNvPr>
          <p:cNvSpPr>
            <a:spLocks noGrp="1"/>
          </p:cNvSpPr>
          <p:nvPr/>
        </p:nvSpPr>
        <p:spPr>
          <a:xfrm>
            <a:off x="9144000" y="3374135"/>
            <a:ext cx="941831" cy="384048"/>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980" b="0" i="0">
                <a:solidFill>
                  <a:srgbClr val="1F2730"/>
                </a:solidFill>
                <a:latin typeface="Arial"/>
                <a:ea typeface="Arial"/>
                <a:cs typeface="Arial"/>
              </a:rPr>
              <a:t>0</a:t>
            </a:r>
          </a:p>
        </p:txBody>
      </p:sp>
      <p:sp>
        <p:nvSpPr>
          <p:cNvPr id="38" name="Rectangle 37">
            <a:extLst>
              <a:ext uri="{FF2B5EF4-FFF2-40B4-BE49-F238E27FC236}">
                <a16:creationId xmlns:a16="http://schemas.microsoft.com/office/drawing/2014/main" id="{863FD31A-062E-4867-86C0-B6AD67E657DD}"/>
              </a:ext>
            </a:extLst>
          </p:cNvPr>
          <p:cNvSpPr>
            <a:spLocks noGrp="1"/>
          </p:cNvSpPr>
          <p:nvPr/>
        </p:nvSpPr>
        <p:spPr>
          <a:xfrm>
            <a:off x="1014069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7F425D5C-EB06-48A6-B5EF-4349DD606950}"/>
              </a:ext>
            </a:extLst>
          </p:cNvPr>
          <p:cNvSpPr>
            <a:spLocks noGrp="1"/>
          </p:cNvSpPr>
          <p:nvPr/>
        </p:nvSpPr>
        <p:spPr>
          <a:xfrm>
            <a:off x="10195560" y="3374135"/>
            <a:ext cx="941831" cy="384048"/>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980" b="0" i="0">
                <a:solidFill>
                  <a:srgbClr val="1F2730"/>
                </a:solidFill>
                <a:latin typeface="Arial"/>
                <a:ea typeface="Arial"/>
                <a:cs typeface="Arial"/>
              </a:rPr>
              <a:t>11</a:t>
            </a:r>
          </a:p>
        </p:txBody>
      </p:sp>
      <p:sp>
        <p:nvSpPr>
          <p:cNvPr id="40" name="Rectangle 39">
            <a:extLst>
              <a:ext uri="{FF2B5EF4-FFF2-40B4-BE49-F238E27FC236}">
                <a16:creationId xmlns:a16="http://schemas.microsoft.com/office/drawing/2014/main" id="{B6976721-DBD2-406D-BAB0-B5E0FA0EF649}"/>
              </a:ext>
            </a:extLst>
          </p:cNvPr>
          <p:cNvSpPr>
            <a:spLocks noGrp="1"/>
          </p:cNvSpPr>
          <p:nvPr/>
        </p:nvSpPr>
        <p:spPr>
          <a:xfrm>
            <a:off x="5843016" y="3785615"/>
            <a:ext cx="233172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9A439FC0-6DD3-4F4B-80C9-DFD4636351E8}"/>
              </a:ext>
            </a:extLst>
          </p:cNvPr>
          <p:cNvSpPr>
            <a:spLocks noGrp="1"/>
          </p:cNvSpPr>
          <p:nvPr/>
        </p:nvSpPr>
        <p:spPr>
          <a:xfrm>
            <a:off x="5897879" y="3831335"/>
            <a:ext cx="2221991" cy="384048"/>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980" b="0" i="0">
                <a:solidFill>
                  <a:srgbClr val="1F2730"/>
                </a:solidFill>
                <a:latin typeface="Arial"/>
                <a:ea typeface="Arial"/>
                <a:cs typeface="Arial"/>
              </a:rPr>
              <a:t>CAMs</a:t>
            </a:r>
          </a:p>
        </p:txBody>
      </p:sp>
      <p:sp>
        <p:nvSpPr>
          <p:cNvPr id="42" name="Rectangle 41">
            <a:extLst>
              <a:ext uri="{FF2B5EF4-FFF2-40B4-BE49-F238E27FC236}">
                <a16:creationId xmlns:a16="http://schemas.microsoft.com/office/drawing/2014/main" id="{55B2FB10-AC0F-4E77-B85E-E895C9C0B612}"/>
              </a:ext>
            </a:extLst>
          </p:cNvPr>
          <p:cNvSpPr>
            <a:spLocks noGrp="1"/>
          </p:cNvSpPr>
          <p:nvPr/>
        </p:nvSpPr>
        <p:spPr>
          <a:xfrm>
            <a:off x="8174736" y="3785615"/>
            <a:ext cx="91440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7095ADD2-F7B8-4524-B164-B885378DB3D6}"/>
              </a:ext>
            </a:extLst>
          </p:cNvPr>
          <p:cNvSpPr>
            <a:spLocks noGrp="1"/>
          </p:cNvSpPr>
          <p:nvPr/>
        </p:nvSpPr>
        <p:spPr>
          <a:xfrm>
            <a:off x="8229600" y="3831335"/>
            <a:ext cx="804672" cy="384048"/>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980" b="0" i="0">
                <a:solidFill>
                  <a:srgbClr val="1F2730"/>
                </a:solidFill>
                <a:latin typeface="Arial"/>
                <a:ea typeface="Arial"/>
                <a:cs typeface="Arial"/>
              </a:rPr>
              <a:t>M_e2</a:t>
            </a:r>
          </a:p>
        </p:txBody>
      </p:sp>
      <p:sp>
        <p:nvSpPr>
          <p:cNvPr id="44" name="Rectangle 43">
            <a:extLst>
              <a:ext uri="{FF2B5EF4-FFF2-40B4-BE49-F238E27FC236}">
                <a16:creationId xmlns:a16="http://schemas.microsoft.com/office/drawing/2014/main" id="{12D2C864-5084-4982-98DE-DDA79A091028}"/>
              </a:ext>
            </a:extLst>
          </p:cNvPr>
          <p:cNvSpPr>
            <a:spLocks noGrp="1"/>
          </p:cNvSpPr>
          <p:nvPr/>
        </p:nvSpPr>
        <p:spPr>
          <a:xfrm>
            <a:off x="908913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91D97A44-FA35-41FA-90C6-92D81B74B6BA}"/>
              </a:ext>
            </a:extLst>
          </p:cNvPr>
          <p:cNvSpPr>
            <a:spLocks noGrp="1"/>
          </p:cNvSpPr>
          <p:nvPr/>
        </p:nvSpPr>
        <p:spPr>
          <a:xfrm>
            <a:off x="9144000" y="3831335"/>
            <a:ext cx="941831" cy="384048"/>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980" b="0" i="0">
                <a:solidFill>
                  <a:srgbClr val="1F2730"/>
                </a:solidFill>
                <a:latin typeface="Arial"/>
                <a:ea typeface="Arial"/>
                <a:cs typeface="Arial"/>
              </a:rPr>
              <a:t>45</a:t>
            </a:r>
          </a:p>
        </p:txBody>
      </p:sp>
      <p:sp>
        <p:nvSpPr>
          <p:cNvPr id="46" name="Rectangle 45">
            <a:extLst>
              <a:ext uri="{FF2B5EF4-FFF2-40B4-BE49-F238E27FC236}">
                <a16:creationId xmlns:a16="http://schemas.microsoft.com/office/drawing/2014/main" id="{D1B7EA3C-3E6B-4E7B-BE30-1ECA7D452F54}"/>
              </a:ext>
            </a:extLst>
          </p:cNvPr>
          <p:cNvSpPr>
            <a:spLocks noGrp="1"/>
          </p:cNvSpPr>
          <p:nvPr/>
        </p:nvSpPr>
        <p:spPr>
          <a:xfrm>
            <a:off x="1014069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4B7F4C1-9F2F-49AD-BB70-E9DF95753D81}"/>
              </a:ext>
            </a:extLst>
          </p:cNvPr>
          <p:cNvSpPr>
            <a:spLocks noGrp="1"/>
          </p:cNvSpPr>
          <p:nvPr/>
        </p:nvSpPr>
        <p:spPr>
          <a:xfrm>
            <a:off x="10195560" y="3831335"/>
            <a:ext cx="941831" cy="384048"/>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980" b="0" i="0">
                <a:solidFill>
                  <a:srgbClr val="1F2730"/>
                </a:solidFill>
                <a:latin typeface="Arial"/>
                <a:ea typeface="Arial"/>
                <a:cs typeface="Arial"/>
              </a:rPr>
              <a:t>1</a:t>
            </a:r>
          </a:p>
        </p:txBody>
      </p:sp>
      <p:sp>
        <p:nvSpPr>
          <p:cNvPr id="48" name="Rectangle 47">
            <a:extLst>
              <a:ext uri="{FF2B5EF4-FFF2-40B4-BE49-F238E27FC236}">
                <a16:creationId xmlns:a16="http://schemas.microsoft.com/office/drawing/2014/main" id="{D2F20C1D-F78F-4C83-A90B-093BCB57B5DF}"/>
              </a:ext>
            </a:extLst>
          </p:cNvPr>
          <p:cNvSpPr>
            <a:spLocks noGrp="1"/>
          </p:cNvSpPr>
          <p:nvPr/>
        </p:nvSpPr>
        <p:spPr>
          <a:xfrm>
            <a:off x="5843016" y="4242816"/>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903E20B3-CF4F-4A93-801D-30F7E8029068}"/>
              </a:ext>
            </a:extLst>
          </p:cNvPr>
          <p:cNvSpPr>
            <a:spLocks noGrp="1"/>
          </p:cNvSpPr>
          <p:nvPr/>
        </p:nvSpPr>
        <p:spPr>
          <a:xfrm>
            <a:off x="5897879" y="4288536"/>
            <a:ext cx="2221991" cy="384048"/>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980" b="0" i="0">
                <a:solidFill>
                  <a:srgbClr val="1F2730"/>
                </a:solidFill>
                <a:latin typeface="Arial"/>
                <a:ea typeface="Arial"/>
                <a:cs typeface="Arial"/>
              </a:rPr>
              <a:t>Mic MKI67</a:t>
            </a:r>
          </a:p>
        </p:txBody>
      </p:sp>
      <p:sp>
        <p:nvSpPr>
          <p:cNvPr id="50" name="Rectangle 49">
            <a:extLst>
              <a:ext uri="{FF2B5EF4-FFF2-40B4-BE49-F238E27FC236}">
                <a16:creationId xmlns:a16="http://schemas.microsoft.com/office/drawing/2014/main" id="{E1DA88D7-AE9C-489E-8372-8CCC2159709C}"/>
              </a:ext>
            </a:extLst>
          </p:cNvPr>
          <p:cNvSpPr>
            <a:spLocks noGrp="1"/>
          </p:cNvSpPr>
          <p:nvPr/>
        </p:nvSpPr>
        <p:spPr>
          <a:xfrm>
            <a:off x="8174736" y="4242816"/>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0F1DC7C2-CBC8-420E-8449-41E5F062D0FE}"/>
              </a:ext>
            </a:extLst>
          </p:cNvPr>
          <p:cNvSpPr>
            <a:spLocks noGrp="1"/>
          </p:cNvSpPr>
          <p:nvPr/>
        </p:nvSpPr>
        <p:spPr>
          <a:xfrm>
            <a:off x="8229600" y="4288536"/>
            <a:ext cx="804672" cy="384048"/>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980" b="0" i="0">
                <a:solidFill>
                  <a:srgbClr val="1F2730"/>
                </a:solidFill>
                <a:latin typeface="Arial"/>
                <a:ea typeface="Arial"/>
                <a:cs typeface="Arial"/>
              </a:rPr>
              <a:t>M_e2</a:t>
            </a:r>
          </a:p>
        </p:txBody>
      </p:sp>
      <p:sp>
        <p:nvSpPr>
          <p:cNvPr id="52" name="Rectangle 51">
            <a:extLst>
              <a:ext uri="{FF2B5EF4-FFF2-40B4-BE49-F238E27FC236}">
                <a16:creationId xmlns:a16="http://schemas.microsoft.com/office/drawing/2014/main" id="{910C581E-1DAD-46E7-A140-7E7BD4780D86}"/>
              </a:ext>
            </a:extLst>
          </p:cNvPr>
          <p:cNvSpPr>
            <a:spLocks noGrp="1"/>
          </p:cNvSpPr>
          <p:nvPr/>
        </p:nvSpPr>
        <p:spPr>
          <a:xfrm>
            <a:off x="908913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156B8896-EB75-41CE-A156-2660FFC8BAF4}"/>
              </a:ext>
            </a:extLst>
          </p:cNvPr>
          <p:cNvSpPr>
            <a:spLocks noGrp="1"/>
          </p:cNvSpPr>
          <p:nvPr/>
        </p:nvSpPr>
        <p:spPr>
          <a:xfrm>
            <a:off x="9144000" y="4288536"/>
            <a:ext cx="941831" cy="384048"/>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980" b="0" i="0">
                <a:solidFill>
                  <a:srgbClr val="1F2730"/>
                </a:solidFill>
                <a:latin typeface="Arial"/>
                <a:ea typeface="Arial"/>
                <a:cs typeface="Arial"/>
              </a:rPr>
              <a:t>2</a:t>
            </a:r>
          </a:p>
        </p:txBody>
      </p:sp>
      <p:sp>
        <p:nvSpPr>
          <p:cNvPr id="54" name="Rectangle 53">
            <a:extLst>
              <a:ext uri="{FF2B5EF4-FFF2-40B4-BE49-F238E27FC236}">
                <a16:creationId xmlns:a16="http://schemas.microsoft.com/office/drawing/2014/main" id="{1B1BB3F7-04AA-44BA-8B8D-F3858EDA1925}"/>
              </a:ext>
            </a:extLst>
          </p:cNvPr>
          <p:cNvSpPr>
            <a:spLocks noGrp="1"/>
          </p:cNvSpPr>
          <p:nvPr/>
        </p:nvSpPr>
        <p:spPr>
          <a:xfrm>
            <a:off x="1014069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0523E08A-8422-4F00-872A-58443A885589}"/>
              </a:ext>
            </a:extLst>
          </p:cNvPr>
          <p:cNvSpPr>
            <a:spLocks noGrp="1"/>
          </p:cNvSpPr>
          <p:nvPr/>
        </p:nvSpPr>
        <p:spPr>
          <a:xfrm>
            <a:off x="10195560" y="4288536"/>
            <a:ext cx="941831" cy="384048"/>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980" b="0" i="0">
                <a:solidFill>
                  <a:srgbClr val="1F2730"/>
                </a:solidFill>
                <a:latin typeface="Arial"/>
                <a:ea typeface="Arial"/>
                <a:cs typeface="Arial"/>
              </a:rPr>
              <a:t>9</a:t>
            </a:r>
          </a:p>
        </p:txBody>
      </p:sp>
      <p:sp>
        <p:nvSpPr>
          <p:cNvPr id="56" name="TextBox 55">
            <a:extLst>
              <a:ext uri="{FF2B5EF4-FFF2-40B4-BE49-F238E27FC236}">
                <a16:creationId xmlns:a16="http://schemas.microsoft.com/office/drawing/2014/main" id="{5DA43788-B436-482C-B52E-17CA35FF74BA}"/>
              </a:ext>
            </a:extLst>
          </p:cNvPr>
          <p:cNvSpPr>
            <a:spLocks noGrp="1"/>
          </p:cNvSpPr>
          <p:nvPr/>
        </p:nvSpPr>
        <p:spPr>
          <a:xfrm>
            <a:off x="5961888" y="4882896"/>
            <a:ext cx="5029200" cy="512064"/>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350" b="1" i="0">
                <a:solidFill>
                  <a:srgbClr val="D55E00"/>
                </a:solidFill>
                <a:latin typeface="Arial"/>
                <a:ea typeface="Arial"/>
                <a:cs typeface="Arial"/>
              </a:rPr>
              <a:t>3 unavailable comparisons = 3 unavailable KDA calls</a:t>
            </a:r>
          </a:p>
        </p:txBody>
      </p:sp>
    </p:spTree>
    <p:extLst>
      <p:ext uri="{BB962C8B-B14F-4D97-AF65-F5344CB8AC3E}">
        <p14:creationId val="903019493"/>
      </p:ext>
    </p:extLst>
  </p:cSld>
  <p:clrMapOvr>
    <a:masterClrMapping/>
  </p:clrMapOvr>
  <p:transition/>
  <p:timing/>
</p:sld>
</file>

<file path=ppt/slides/slide2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3" name="TextBox 2">
            <a:extLst>
              <a:ext uri="{FF2B5EF4-FFF2-40B4-BE49-F238E27FC236}">
                <a16:creationId xmlns:a16="http://schemas.microsoft.com/office/drawing/2014/main" id="{215A4499-ABED-41B4-B689-BBEB37944934}"/>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100" b="1">
                <a:solidFill>
                  <a:srgbClr val="0F233D"/>
                </a:solidFill>
                <a:latin typeface="Arial"/>
                <a:ea typeface="Arial"/>
                <a:cs typeface="Arial"/>
              </a:rPr>
              <a:t>MitoCarta MT query genes</a:t>
            </a:r>
          </a:p>
        </p:txBody>
      </p:sp>
      <p:sp>
        <p:nvSpPr>
          <p:cNvPr id="5" name="Rounded Rectangle 4">
            <a:extLst>
              <a:ext uri="{FF2B5EF4-FFF2-40B4-BE49-F238E27FC236}">
                <a16:creationId xmlns:a16="http://schemas.microsoft.com/office/drawing/2014/main" id="{8DE7C9FC-F4F5-4C9D-BE4B-F8CC2DEE3039}"/>
              </a:ext>
            </a:extLst>
          </p:cNvPr>
          <p:cNvSpPr>
            <a:spLocks noGrp="1"/>
          </p:cNvSpPr>
          <p:nvPr/>
        </p:nvSpPr>
        <p:spPr>
          <a:xfrm>
            <a:off x="603504" y="1353312"/>
            <a:ext cx="3721608" cy="4526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CCF4AEC8-028E-4049-8919-A3A6BC909D71}"/>
              </a:ext>
            </a:extLst>
          </p:cNvPr>
          <p:cNvSpPr>
            <a:spLocks noGrp="1"/>
          </p:cNvSpPr>
          <p:nvPr/>
        </p:nvSpPr>
        <p:spPr>
          <a:xfrm>
            <a:off x="859536" y="165506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9E86D80-4F35-4E9D-B4CF-F31E5727EF07}"/>
              </a:ext>
            </a:extLst>
          </p:cNvPr>
          <p:cNvSpPr>
            <a:spLocks noGrp="1"/>
          </p:cNvSpPr>
          <p:nvPr/>
        </p:nvSpPr>
        <p:spPr>
          <a:xfrm>
            <a:off x="1005839" y="1627632"/>
            <a:ext cx="3035808" cy="28931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520" b="1" i="0">
                <a:solidFill>
                  <a:srgbClr val="0F233D"/>
                </a:solidFill>
                <a:latin typeface="Arial"/>
                <a:ea typeface="Arial"/>
                <a:cs typeface="Arial"/>
              </a:rPr>
              <a:t>DEG rule</a:t>
            </a:r>
          </a:p>
        </p:txBody>
      </p:sp>
      <p:sp>
        <p:nvSpPr>
          <p:cNvPr id="8" name="Oval 7">
            <a:extLst>
              <a:ext uri="{FF2B5EF4-FFF2-40B4-BE49-F238E27FC236}">
                <a16:creationId xmlns:a16="http://schemas.microsoft.com/office/drawing/2014/main" id="{A0151829-EEB6-4971-BDF2-C77BF1063965}"/>
              </a:ext>
            </a:extLst>
          </p:cNvPr>
          <p:cNvSpPr>
            <a:spLocks noGrp="1"/>
          </p:cNvSpPr>
          <p:nvPr/>
        </p:nvSpPr>
        <p:spPr>
          <a:xfrm>
            <a:off x="859536" y="226771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578213C-EE6C-40FF-960C-489204F531A0}"/>
              </a:ext>
            </a:extLst>
          </p:cNvPr>
          <p:cNvSpPr>
            <a:spLocks noGrp="1"/>
          </p:cNvSpPr>
          <p:nvPr/>
        </p:nvSpPr>
        <p:spPr>
          <a:xfrm>
            <a:off x="1033271" y="2139696"/>
            <a:ext cx="2990088" cy="56692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240" b="0" i="0">
                <a:solidFill>
                  <a:srgbClr val="1F2730"/>
                </a:solidFill>
                <a:latin typeface="Arial"/>
                <a:ea typeface="Arial"/>
                <a:cs typeface="Arial"/>
              </a:rPr>
              <a:t>Detected in ≥10% of AD or NCI nuclei.</a:t>
            </a:r>
          </a:p>
        </p:txBody>
      </p:sp>
      <p:sp>
        <p:nvSpPr>
          <p:cNvPr id="10" name="Oval 9">
            <a:extLst>
              <a:ext uri="{FF2B5EF4-FFF2-40B4-BE49-F238E27FC236}">
                <a16:creationId xmlns:a16="http://schemas.microsoft.com/office/drawing/2014/main" id="{C0ADBA6A-AFFB-488D-A107-5DC268F15299}"/>
              </a:ext>
            </a:extLst>
          </p:cNvPr>
          <p:cNvSpPr>
            <a:spLocks noGrp="1"/>
          </p:cNvSpPr>
          <p:nvPr/>
        </p:nvSpPr>
        <p:spPr>
          <a:xfrm>
            <a:off x="859536" y="2834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229298B-06BB-400F-83B1-AAAC4072591F}"/>
              </a:ext>
            </a:extLst>
          </p:cNvPr>
          <p:cNvSpPr>
            <a:spLocks noGrp="1"/>
          </p:cNvSpPr>
          <p:nvPr/>
        </p:nvSpPr>
        <p:spPr>
          <a:xfrm>
            <a:off x="1033271" y="2706624"/>
            <a:ext cx="2990088" cy="56692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240" b="0" i="0">
                <a:solidFill>
                  <a:srgbClr val="1F2730"/>
                </a:solidFill>
                <a:latin typeface="Arial"/>
                <a:ea typeface="Arial"/>
                <a:cs typeface="Arial"/>
              </a:rPr>
              <a:t>Within-contrast BH FDR &lt; 0.05.</a:t>
            </a:r>
          </a:p>
        </p:txBody>
      </p:sp>
      <p:sp>
        <p:nvSpPr>
          <p:cNvPr id="12" name="Oval 11">
            <a:extLst>
              <a:ext uri="{FF2B5EF4-FFF2-40B4-BE49-F238E27FC236}">
                <a16:creationId xmlns:a16="http://schemas.microsoft.com/office/drawing/2014/main" id="{B822E0FE-0F09-484C-9F2D-B2B7E0D7E11C}"/>
              </a:ext>
            </a:extLst>
          </p:cNvPr>
          <p:cNvSpPr>
            <a:spLocks noGrp="1"/>
          </p:cNvSpPr>
          <p:nvPr/>
        </p:nvSpPr>
        <p:spPr>
          <a:xfrm>
            <a:off x="859536" y="340156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6D8D062-AAD8-4621-AB56-9EF8A120EB96}"/>
              </a:ext>
            </a:extLst>
          </p:cNvPr>
          <p:cNvSpPr>
            <a:spLocks noGrp="1"/>
          </p:cNvSpPr>
          <p:nvPr/>
        </p:nvSpPr>
        <p:spPr>
          <a:xfrm>
            <a:off x="1033271" y="3273552"/>
            <a:ext cx="2990088" cy="56692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240" b="0" i="0">
                <a:solidFill>
                  <a:srgbClr val="1F2730"/>
                </a:solidFill>
                <a:latin typeface="Arial"/>
                <a:ea typeface="Arial"/>
                <a:cs typeface="Arial"/>
              </a:rPr>
              <a:t>|log₂ fold change| &gt; log₂(1.3) ≈ 0.379.</a:t>
            </a:r>
          </a:p>
        </p:txBody>
      </p:sp>
      <p:sp>
        <p:nvSpPr>
          <p:cNvPr id="14" name="Oval 13">
            <a:extLst>
              <a:ext uri="{FF2B5EF4-FFF2-40B4-BE49-F238E27FC236}">
                <a16:creationId xmlns:a16="http://schemas.microsoft.com/office/drawing/2014/main" id="{CCAFE78C-2226-4809-9008-90D8C39DB040}"/>
              </a:ext>
            </a:extLst>
          </p:cNvPr>
          <p:cNvSpPr>
            <a:spLocks noGrp="1"/>
          </p:cNvSpPr>
          <p:nvPr/>
        </p:nvSpPr>
        <p:spPr>
          <a:xfrm>
            <a:off x="859536" y="39684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F06C362E-61A0-4B7A-9DDC-433728001AB4}"/>
              </a:ext>
            </a:extLst>
          </p:cNvPr>
          <p:cNvSpPr>
            <a:spLocks noGrp="1"/>
          </p:cNvSpPr>
          <p:nvPr/>
        </p:nvSpPr>
        <p:spPr>
          <a:xfrm>
            <a:off x="1033271" y="3840480"/>
            <a:ext cx="2990088" cy="437043"/>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240" b="0" i="0">
                <a:solidFill>
                  <a:srgbClr val="1F2730"/>
                </a:solidFill>
                <a:latin typeface="Arial"/>
                <a:ea typeface="Arial"/>
                <a:cs typeface="Arial"/>
              </a:rPr>
              <a:t>Upregulated and downregulated DEGs enter the query.</a:t>
            </a:r>
          </a:p>
        </p:txBody>
      </p:sp>
      <p:sp>
        <p:nvSpPr>
          <p:cNvPr id="16" name="Rounded Rectangle 15">
            <a:extLst>
              <a:ext uri="{FF2B5EF4-FFF2-40B4-BE49-F238E27FC236}">
                <a16:creationId xmlns:a16="http://schemas.microsoft.com/office/drawing/2014/main" id="{885F3F40-EE89-4AEF-B303-0BFAF284546A}"/>
              </a:ext>
            </a:extLst>
          </p:cNvPr>
          <p:cNvSpPr>
            <a:spLocks noGrp="1"/>
          </p:cNvSpPr>
          <p:nvPr/>
        </p:nvSpPr>
        <p:spPr>
          <a:xfrm>
            <a:off x="859536" y="4709160"/>
            <a:ext cx="3145536" cy="786384"/>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982A7A1-7F77-4ECF-AC6A-EF1F25B01E18}"/>
              </a:ext>
            </a:extLst>
          </p:cNvPr>
          <p:cNvSpPr>
            <a:spLocks noGrp="1"/>
          </p:cNvSpPr>
          <p:nvPr/>
        </p:nvSpPr>
        <p:spPr>
          <a:xfrm>
            <a:off x="1042415" y="4910328"/>
            <a:ext cx="2788920" cy="40011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20" b="1" i="0">
                <a:solidFill>
                  <a:srgbClr val="0F233D"/>
                </a:solidFill>
                <a:latin typeface="Arial"/>
                <a:ea typeface="Arial"/>
                <a:cs typeface="Arial"/>
              </a:rPr>
              <a:t>Query = DEGs ∩ MitoCarta MT genes</a:t>
            </a:r>
          </a:p>
        </p:txBody>
      </p:sp>
      <p:sp>
        <p:nvSpPr>
          <p:cNvPr id="18" name="Rounded Rectangle 17">
            <a:extLst>
              <a:ext uri="{FF2B5EF4-FFF2-40B4-BE49-F238E27FC236}">
                <a16:creationId xmlns:a16="http://schemas.microsoft.com/office/drawing/2014/main" id="{5A52CA99-AEDD-4D14-99E8-8BF8B35356DA}"/>
              </a:ext>
            </a:extLst>
          </p:cNvPr>
          <p:cNvSpPr>
            <a:spLocks noGrp="1"/>
          </p:cNvSpPr>
          <p:nvPr/>
        </p:nvSpPr>
        <p:spPr>
          <a:xfrm>
            <a:off x="4626864" y="1426464"/>
            <a:ext cx="2066543"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3F8606F2-D8ED-44DD-A74F-F996D893CA39}"/>
              </a:ext>
            </a:extLst>
          </p:cNvPr>
          <p:cNvSpPr>
            <a:spLocks noGrp="1"/>
          </p:cNvSpPr>
          <p:nvPr/>
        </p:nvSpPr>
        <p:spPr>
          <a:xfrm>
            <a:off x="4773168" y="1517904"/>
            <a:ext cx="1773935" cy="42976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500" b="1" i="0">
                <a:solidFill>
                  <a:srgbClr val="0072B2"/>
                </a:solidFill>
                <a:latin typeface="Arial"/>
                <a:ea typeface="Arial"/>
                <a:cs typeface="Arial"/>
              </a:rPr>
              <a:t>2,864,117</a:t>
            </a:r>
          </a:p>
        </p:txBody>
      </p:sp>
      <p:sp>
        <p:nvSpPr>
          <p:cNvPr id="20" name="TextBox 19">
            <a:extLst>
              <a:ext uri="{FF2B5EF4-FFF2-40B4-BE49-F238E27FC236}">
                <a16:creationId xmlns:a16="http://schemas.microsoft.com/office/drawing/2014/main" id="{9A48D853-A6A4-42BF-BC6B-58F9AE08341A}"/>
              </a:ext>
            </a:extLst>
          </p:cNvPr>
          <p:cNvSpPr>
            <a:spLocks noGrp="1"/>
          </p:cNvSpPr>
          <p:nvPr/>
        </p:nvSpPr>
        <p:spPr>
          <a:xfrm>
            <a:off x="4773168" y="1975104"/>
            <a:ext cx="1773935" cy="39319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880" b="1" i="0">
                <a:solidFill>
                  <a:srgbClr val="4E5A68"/>
                </a:solidFill>
                <a:latin typeface="Arial"/>
                <a:ea typeface="Arial"/>
                <a:cs typeface="Arial"/>
              </a:rPr>
              <a:t>tested gene × comparison rows</a:t>
            </a:r>
          </a:p>
        </p:txBody>
      </p:sp>
      <p:sp>
        <p:nvSpPr>
          <p:cNvPr id="21" name="Rounded Rectangle 20">
            <a:extLst>
              <a:ext uri="{FF2B5EF4-FFF2-40B4-BE49-F238E27FC236}">
                <a16:creationId xmlns:a16="http://schemas.microsoft.com/office/drawing/2014/main" id="{E69D2FA1-B7C3-42AE-9C87-740739AA506D}"/>
              </a:ext>
            </a:extLst>
          </p:cNvPr>
          <p:cNvSpPr>
            <a:spLocks noGrp="1"/>
          </p:cNvSpPr>
          <p:nvPr/>
        </p:nvSpPr>
        <p:spPr>
          <a:xfrm>
            <a:off x="6858000"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A906724E-D0B9-463E-9CE1-8AFF558DEE52}"/>
              </a:ext>
            </a:extLst>
          </p:cNvPr>
          <p:cNvSpPr>
            <a:spLocks noGrp="1"/>
          </p:cNvSpPr>
          <p:nvPr/>
        </p:nvSpPr>
        <p:spPr>
          <a:xfrm>
            <a:off x="7004304" y="1517904"/>
            <a:ext cx="1773935" cy="42976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500" b="1" i="0">
                <a:solidFill>
                  <a:srgbClr val="0072B2"/>
                </a:solidFill>
                <a:latin typeface="Arial"/>
                <a:ea typeface="Arial"/>
                <a:cs typeface="Arial"/>
              </a:rPr>
              <a:t>118,297</a:t>
            </a:r>
          </a:p>
        </p:txBody>
      </p:sp>
      <p:sp>
        <p:nvSpPr>
          <p:cNvPr id="23" name="TextBox 22">
            <a:extLst>
              <a:ext uri="{FF2B5EF4-FFF2-40B4-BE49-F238E27FC236}">
                <a16:creationId xmlns:a16="http://schemas.microsoft.com/office/drawing/2014/main" id="{4BE34CB8-3AB4-4355-AAF2-1D74AB37BAF8}"/>
              </a:ext>
            </a:extLst>
          </p:cNvPr>
          <p:cNvSpPr>
            <a:spLocks noGrp="1"/>
          </p:cNvSpPr>
          <p:nvPr/>
        </p:nvSpPr>
        <p:spPr>
          <a:xfrm>
            <a:off x="7004304" y="1975104"/>
            <a:ext cx="1773935" cy="203133"/>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60" b="1" i="0">
                <a:solidFill>
                  <a:srgbClr val="4E5A68"/>
                </a:solidFill>
                <a:latin typeface="Arial"/>
                <a:ea typeface="Arial"/>
                <a:cs typeface="Arial"/>
              </a:rPr>
              <a:t>Passed DEG</a:t>
            </a:r>
          </a:p>
        </p:txBody>
      </p:sp>
      <p:sp>
        <p:nvSpPr>
          <p:cNvPr id="24" name="TextBox 23">
            <a:extLst>
              <a:ext uri="{FF2B5EF4-FFF2-40B4-BE49-F238E27FC236}">
                <a16:creationId xmlns:a16="http://schemas.microsoft.com/office/drawing/2014/main" id="{69B3690B-6382-4AC7-9E7C-489107BE6259}"/>
              </a:ext>
            </a:extLst>
          </p:cNvPr>
          <p:cNvSpPr>
            <a:spLocks noGrp="1"/>
          </p:cNvSpPr>
          <p:nvPr/>
        </p:nvSpPr>
        <p:spPr>
          <a:xfrm>
            <a:off x="7004304" y="2414016"/>
            <a:ext cx="1773935" cy="18288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780" b="0" i="0">
                <a:solidFill>
                  <a:srgbClr val="6C7988"/>
                </a:solidFill>
                <a:latin typeface="Arial"/>
                <a:ea typeface="Arial"/>
                <a:cs typeface="Arial"/>
              </a:rPr>
              <a:t>58,112 up • 60,185 down</a:t>
            </a:r>
          </a:p>
        </p:txBody>
      </p:sp>
      <p:sp>
        <p:nvSpPr>
          <p:cNvPr id="25" name="Rounded Rectangle 24">
            <a:extLst>
              <a:ext uri="{FF2B5EF4-FFF2-40B4-BE49-F238E27FC236}">
                <a16:creationId xmlns:a16="http://schemas.microsoft.com/office/drawing/2014/main" id="{658A74AD-25F6-4091-B072-DA06336F1B1B}"/>
              </a:ext>
            </a:extLst>
          </p:cNvPr>
          <p:cNvSpPr>
            <a:spLocks noGrp="1"/>
          </p:cNvSpPr>
          <p:nvPr/>
        </p:nvSpPr>
        <p:spPr>
          <a:xfrm>
            <a:off x="9089136"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C6B67BD-53DA-4B1B-B4D9-A66F7CC6F87C}"/>
              </a:ext>
            </a:extLst>
          </p:cNvPr>
          <p:cNvSpPr>
            <a:spLocks noGrp="1"/>
          </p:cNvSpPr>
          <p:nvPr/>
        </p:nvSpPr>
        <p:spPr>
          <a:xfrm>
            <a:off x="9235440" y="1517904"/>
            <a:ext cx="1773935" cy="42976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500" b="1" i="0">
                <a:solidFill>
                  <a:srgbClr val="895600"/>
                </a:solidFill>
                <a:latin typeface="Arial"/>
                <a:ea typeface="Arial"/>
                <a:cs typeface="Arial"/>
              </a:rPr>
              <a:t>9,262</a:t>
            </a:r>
          </a:p>
        </p:txBody>
      </p:sp>
      <p:sp>
        <p:nvSpPr>
          <p:cNvPr id="27" name="TextBox 26">
            <a:extLst>
              <a:ext uri="{FF2B5EF4-FFF2-40B4-BE49-F238E27FC236}">
                <a16:creationId xmlns:a16="http://schemas.microsoft.com/office/drawing/2014/main" id="{5A085EBF-A4E2-4594-96C0-0B5797A10083}"/>
              </a:ext>
            </a:extLst>
          </p:cNvPr>
          <p:cNvSpPr>
            <a:spLocks noGrp="1"/>
          </p:cNvSpPr>
          <p:nvPr/>
        </p:nvSpPr>
        <p:spPr>
          <a:xfrm>
            <a:off x="9235440" y="1975104"/>
            <a:ext cx="1773935" cy="34747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60" b="1" i="0">
                <a:solidFill>
                  <a:srgbClr val="4E5A68"/>
                </a:solidFill>
                <a:latin typeface="Arial"/>
                <a:ea typeface="Arial"/>
                <a:cs typeface="Arial"/>
              </a:rPr>
              <a:t>MitoCarta MT DEG occurrences</a:t>
            </a:r>
          </a:p>
        </p:txBody>
      </p:sp>
      <p:sp>
        <p:nvSpPr>
          <p:cNvPr id="28" name="TextBox 27">
            <a:extLst>
              <a:ext uri="{FF2B5EF4-FFF2-40B4-BE49-F238E27FC236}">
                <a16:creationId xmlns:a16="http://schemas.microsoft.com/office/drawing/2014/main" id="{8C904E69-0137-4825-A2DB-91EC93BCDF6D}"/>
              </a:ext>
            </a:extLst>
          </p:cNvPr>
          <p:cNvSpPr>
            <a:spLocks noGrp="1"/>
          </p:cNvSpPr>
          <p:nvPr/>
        </p:nvSpPr>
        <p:spPr>
          <a:xfrm>
            <a:off x="9235440" y="2414016"/>
            <a:ext cx="1773935" cy="18288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780" b="0" i="0">
                <a:solidFill>
                  <a:srgbClr val="6C7988"/>
                </a:solidFill>
                <a:latin typeface="Arial"/>
                <a:ea typeface="Arial"/>
                <a:cs typeface="Arial"/>
              </a:rPr>
              <a:t>4,258 up • 5,004 down</a:t>
            </a:r>
          </a:p>
        </p:txBody>
      </p:sp>
      <p:sp>
        <p:nvSpPr>
          <p:cNvPr id="29" name="Rounded Rectangle 28">
            <a:extLst>
              <a:ext uri="{FF2B5EF4-FFF2-40B4-BE49-F238E27FC236}">
                <a16:creationId xmlns:a16="http://schemas.microsoft.com/office/drawing/2014/main" id="{75FF7E4C-5D0A-47DA-8950-FE7DA023D128}"/>
              </a:ext>
            </a:extLst>
          </p:cNvPr>
          <p:cNvSpPr>
            <a:spLocks noGrp="1"/>
          </p:cNvSpPr>
          <p:nvPr/>
        </p:nvSpPr>
        <p:spPr>
          <a:xfrm>
            <a:off x="4626864" y="3017520"/>
            <a:ext cx="6528816" cy="247802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5E5D0AEF-3CE0-496D-9A6B-9793B89FCBCB}"/>
              </a:ext>
            </a:extLst>
          </p:cNvPr>
          <p:cNvSpPr>
            <a:spLocks noGrp="1"/>
          </p:cNvSpPr>
          <p:nvPr/>
        </p:nvSpPr>
        <p:spPr>
          <a:xfrm>
            <a:off x="4901184" y="3291840"/>
            <a:ext cx="310896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50" b="1" i="0">
                <a:solidFill>
                  <a:srgbClr val="009E73"/>
                </a:solidFill>
                <a:latin typeface="Arial"/>
                <a:ea typeface="Arial"/>
                <a:cs typeface="Arial"/>
              </a:rPr>
              <a:t>NETWORK-BACKGROUND INTERSECTION</a:t>
            </a:r>
          </a:p>
        </p:txBody>
      </p:sp>
      <p:sp>
        <p:nvSpPr>
          <p:cNvPr id="31" name="TextBox 30">
            <a:extLst>
              <a:ext uri="{FF2B5EF4-FFF2-40B4-BE49-F238E27FC236}">
                <a16:creationId xmlns:a16="http://schemas.microsoft.com/office/drawing/2014/main" id="{79EB081A-365D-415F-A7A1-700793E28812}"/>
              </a:ext>
            </a:extLst>
          </p:cNvPr>
          <p:cNvSpPr>
            <a:spLocks noGrp="1"/>
          </p:cNvSpPr>
          <p:nvPr/>
        </p:nvSpPr>
        <p:spPr>
          <a:xfrm>
            <a:off x="4919472" y="3694176"/>
            <a:ext cx="5806440" cy="32470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750" b="1" i="0">
                <a:solidFill>
                  <a:srgbClr val="0F233D"/>
                </a:solidFill>
                <a:latin typeface="Arial"/>
                <a:ea typeface="Arial"/>
                <a:cs typeface="Arial"/>
              </a:rPr>
              <a:t>9,262 provisional query occurrences</a:t>
            </a:r>
          </a:p>
        </p:txBody>
      </p:sp>
      <p:sp>
        <p:nvSpPr>
          <p:cNvPr id="32" name="TextBox 31">
            <a:extLst>
              <a:ext uri="{FF2B5EF4-FFF2-40B4-BE49-F238E27FC236}">
                <a16:creationId xmlns:a16="http://schemas.microsoft.com/office/drawing/2014/main" id="{C60C4732-1566-462C-8E78-496CB14F271F}"/>
              </a:ext>
            </a:extLst>
          </p:cNvPr>
          <p:cNvSpPr>
            <a:spLocks noGrp="1"/>
          </p:cNvSpPr>
          <p:nvPr/>
        </p:nvSpPr>
        <p:spPr>
          <a:xfrm>
            <a:off x="4919472" y="4133087"/>
            <a:ext cx="5321808" cy="255455"/>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300" b="1" i="0">
                <a:solidFill>
                  <a:srgbClr val="D55E00"/>
                </a:solidFill>
                <a:latin typeface="Arial"/>
                <a:ea typeface="Arial"/>
                <a:cs typeface="Arial"/>
              </a:rPr>
              <a:t>− 1,329 absent from the </a:t>
            </a:r>
            <a:r>
              <a:rPr sz="1300" b="1">
                <a:solidFill>
                  <a:srgbClr val="D55E00"/>
                </a:solidFill>
                <a:latin typeface="Arial"/>
                <a:ea typeface="Arial"/>
                <a:cs typeface="Arial"/>
              </a:rPr>
              <a:t>Bayesian network</a:t>
            </a:r>
            <a:endParaRPr sz="1300" b="1" i="0">
              <a:solidFill>
                <a:srgbClr val="D55E00"/>
              </a:solidFill>
              <a:latin typeface="Arial"/>
              <a:ea typeface="Arial"/>
              <a:cs typeface="Arial"/>
            </a:endParaRPr>
          </a:p>
        </p:txBody>
      </p:sp>
      <p:sp>
        <p:nvSpPr>
          <p:cNvPr id="33" name="TextBox 32">
            <a:extLst>
              <a:ext uri="{FF2B5EF4-FFF2-40B4-BE49-F238E27FC236}">
                <a16:creationId xmlns:a16="http://schemas.microsoft.com/office/drawing/2014/main" id="{7248E692-28A0-4C03-A384-7F8EC33D7A39}"/>
              </a:ext>
            </a:extLst>
          </p:cNvPr>
          <p:cNvSpPr>
            <a:spLocks noGrp="1"/>
          </p:cNvSpPr>
          <p:nvPr/>
        </p:nvSpPr>
        <p:spPr>
          <a:xfrm>
            <a:off x="4919472" y="4626864"/>
            <a:ext cx="5806440" cy="332399"/>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800" b="1" i="0">
                <a:solidFill>
                  <a:srgbClr val="009E73"/>
                </a:solidFill>
                <a:latin typeface="Arial"/>
                <a:ea typeface="Arial"/>
                <a:cs typeface="Arial"/>
              </a:rPr>
              <a:t>= 7,933 mapped query occurrences</a:t>
            </a:r>
          </a:p>
        </p:txBody>
      </p:sp>
      <p:sp>
        <p:nvSpPr>
          <p:cNvPr id="34" name="TextBox 33">
            <a:extLst>
              <a:ext uri="{FF2B5EF4-FFF2-40B4-BE49-F238E27FC236}">
                <a16:creationId xmlns:a16="http://schemas.microsoft.com/office/drawing/2014/main" id="{CD45A583-6B16-40E3-B6F3-8D38E9354DC5}"/>
              </a:ext>
            </a:extLst>
          </p:cNvPr>
          <p:cNvSpPr>
            <a:spLocks noGrp="1"/>
          </p:cNvSpPr>
          <p:nvPr/>
        </p:nvSpPr>
        <p:spPr>
          <a:xfrm>
            <a:off x="4928616" y="5074920"/>
            <a:ext cx="5422392" cy="22860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040" b="0" i="0">
                <a:solidFill>
                  <a:srgbClr val="4E5A68"/>
                </a:solidFill>
                <a:latin typeface="Arial"/>
                <a:ea typeface="Arial"/>
                <a:cs typeface="Arial"/>
              </a:rPr>
              <a:t>Membership counts can repeat genes across contrasts; each contrast contributes one query.</a:t>
            </a:r>
          </a:p>
        </p:txBody>
      </p:sp>
    </p:spTree>
    <p:extLst>
      <p:ext uri="{BB962C8B-B14F-4D97-AF65-F5344CB8AC3E}">
        <p14:creationId val="1646963088"/>
      </p:ext>
    </p:extLst>
  </p:cSld>
  <p:clrMapOvr>
    <a:masterClrMapping/>
  </p:clrMapOvr>
  <p:transition/>
  <p:timing/>
</p:sld>
</file>

<file path=ppt/slides/slide2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3" name="TextBox 2">
            <a:extLst>
              <a:ext uri="{FF2B5EF4-FFF2-40B4-BE49-F238E27FC236}">
                <a16:creationId xmlns:a16="http://schemas.microsoft.com/office/drawing/2014/main" id="{E72F691C-43D8-4399-B191-59852569AB5A}"/>
              </a:ext>
            </a:extLst>
          </p:cNvPr>
          <p:cNvSpPr>
            <a:spLocks noGrp="1"/>
          </p:cNvSpPr>
          <p:nvPr/>
        </p:nvSpPr>
        <p:spPr>
          <a:xfrm>
            <a:off x="530352" y="411480"/>
            <a:ext cx="10652760" cy="701731"/>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100" b="1">
                <a:solidFill>
                  <a:srgbClr val="0F233D"/>
                </a:solidFill>
                <a:latin typeface="Arial"/>
                <a:ea typeface="Arial"/>
                <a:cs typeface="Arial"/>
              </a:rPr>
              <a:t>ROSMAP KDA summary: 381 non-MitoCarta gene × category combinations represent 228 distinct genes</a:t>
            </a:r>
          </a:p>
        </p:txBody>
      </p:sp>
      <p:sp>
        <p:nvSpPr>
          <p:cNvPr id="5" name="Rounded Rectangle 4">
            <a:extLst>
              <a:ext uri="{FF2B5EF4-FFF2-40B4-BE49-F238E27FC236}">
                <a16:creationId xmlns:a16="http://schemas.microsoft.com/office/drawing/2014/main" id="{5F8E1F0F-EC09-48D5-B3D5-CDE2A120B8ED}"/>
              </a:ext>
            </a:extLst>
          </p:cNvPr>
          <p:cNvSpPr>
            <a:spLocks noGrp="1"/>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FCB72B2-40C8-4FFA-8C93-F91DEF5292C7}"/>
              </a:ext>
            </a:extLst>
          </p:cNvPr>
          <p:cNvSpPr>
            <a:spLocks noGrp="1"/>
          </p:cNvSpPr>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500" b="1" i="0">
                <a:solidFill>
                  <a:srgbClr val="0072B2"/>
                </a:solidFill>
                <a:latin typeface="Arial"/>
                <a:ea typeface="Arial"/>
                <a:cs typeface="Arial"/>
              </a:rPr>
              <a:t>623</a:t>
            </a:r>
          </a:p>
        </p:txBody>
      </p:sp>
      <p:sp>
        <p:nvSpPr>
          <p:cNvPr id="7" name="TextBox 6">
            <a:extLst>
              <a:ext uri="{FF2B5EF4-FFF2-40B4-BE49-F238E27FC236}">
                <a16:creationId xmlns:a16="http://schemas.microsoft.com/office/drawing/2014/main" id="{5F450053-A28A-4BA6-8887-B2E16530F34A}"/>
              </a:ext>
            </a:extLst>
          </p:cNvPr>
          <p:cNvSpPr>
            <a:spLocks noGrp="1"/>
          </p:cNvSpPr>
          <p:nvPr/>
        </p:nvSpPr>
        <p:spPr>
          <a:xfrm>
            <a:off x="804672" y="1938528"/>
            <a:ext cx="1645920" cy="740664"/>
          </a:xfrm>
          <a:prstGeom prst="rect">
            <a:avLst/>
          </a:prstGeom>
          <a:noFill/>
        </p:spPr>
        <p:txBody>
          <a:bodyPr wrap="square" lIns="27432" tIns="27432" rIns="27432" bIns="27432" anchor="t">
            <a:spAutoFit/>
          </a:bodyPr>
          <a:lstStyle/>
          <a:p>
            <a:r>
              <a:rPr sz="900" b="1">
                <a:solidFill>
                  <a:srgbClr val="4E5A68"/>
                </a:solidFill>
                <a:latin typeface="Arial"/>
                <a:ea typeface="Arial"/>
                <a:cs typeface="Arial"/>
              </a:rPr>
              <a:t>non-MitoCarta gene returned from KDA call (before aggregation)</a:t>
            </a:r>
          </a:p>
          <a:p>
            <a:pPr algn="l">
              <a:lnSpc>
                <a:spcPct val="100000"/>
              </a:lnSpc>
              <a:spcBef>
                <a:spcPct val="0"/>
              </a:spcBef>
              <a:spcAft>
                <a:spcPct val="0"/>
              </a:spcAft>
              <a:buNone/>
            </a:pPr>
            <a:endParaRPr sz="880" b="1" i="0">
              <a:solidFill>
                <a:srgbClr val="4E5A68"/>
              </a:solidFill>
              <a:latin typeface="Arial"/>
              <a:ea typeface="Arial"/>
              <a:cs typeface="Arial"/>
            </a:endParaRPr>
          </a:p>
        </p:txBody>
      </p:sp>
      <p:sp>
        <p:nvSpPr>
          <p:cNvPr id="8" name="Rounded Rectangle 7">
            <a:extLst>
              <a:ext uri="{FF2B5EF4-FFF2-40B4-BE49-F238E27FC236}">
                <a16:creationId xmlns:a16="http://schemas.microsoft.com/office/drawing/2014/main" id="{99981A44-1C12-4123-A49F-585412D7AFF7}"/>
              </a:ext>
            </a:extLst>
          </p:cNvPr>
          <p:cNvSpPr>
            <a:spLocks noGrp="1"/>
          </p:cNvSpPr>
          <p:nvPr/>
        </p:nvSpPr>
        <p:spPr>
          <a:xfrm>
            <a:off x="2798064"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4EF7B2A-4954-49A6-9B47-51FCB9C085BD}"/>
              </a:ext>
            </a:extLst>
          </p:cNvPr>
          <p:cNvSpPr>
            <a:spLocks noGrp="1"/>
          </p:cNvSpPr>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500" b="1" i="0">
                <a:solidFill>
                  <a:srgbClr val="0072B2"/>
                </a:solidFill>
                <a:latin typeface="Arial"/>
                <a:ea typeface="Arial"/>
                <a:cs typeface="Arial"/>
              </a:rPr>
              <a:t>381</a:t>
            </a:r>
          </a:p>
        </p:txBody>
      </p:sp>
      <p:sp>
        <p:nvSpPr>
          <p:cNvPr id="10" name="TextBox 9">
            <a:extLst>
              <a:ext uri="{FF2B5EF4-FFF2-40B4-BE49-F238E27FC236}">
                <a16:creationId xmlns:a16="http://schemas.microsoft.com/office/drawing/2014/main" id="{C3F09E70-D53D-401E-B7D5-721C2785CBEC}"/>
              </a:ext>
            </a:extLst>
          </p:cNvPr>
          <p:cNvSpPr>
            <a:spLocks noGrp="1"/>
          </p:cNvSpPr>
          <p:nvPr/>
        </p:nvSpPr>
        <p:spPr>
          <a:xfrm>
            <a:off x="2944368" y="1938528"/>
            <a:ext cx="1645920" cy="350865"/>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60" b="1" i="0">
                <a:solidFill>
                  <a:srgbClr val="4E5A68"/>
                </a:solidFill>
                <a:latin typeface="Arial"/>
                <a:ea typeface="Arial"/>
                <a:cs typeface="Arial"/>
              </a:rPr>
              <a:t>non-MitoCarta gene × category combinations</a:t>
            </a:r>
          </a:p>
        </p:txBody>
      </p:sp>
      <p:sp>
        <p:nvSpPr>
          <p:cNvPr id="11" name="Rounded Rectangle 10">
            <a:extLst>
              <a:ext uri="{FF2B5EF4-FFF2-40B4-BE49-F238E27FC236}">
                <a16:creationId xmlns:a16="http://schemas.microsoft.com/office/drawing/2014/main" id="{6689581A-ED20-4F0C-AA15-1AE5E7CB9D6F}"/>
              </a:ext>
            </a:extLst>
          </p:cNvPr>
          <p:cNvSpPr>
            <a:spLocks noGrp="1"/>
          </p:cNvSpPr>
          <p:nvPr/>
        </p:nvSpPr>
        <p:spPr>
          <a:xfrm>
            <a:off x="4937760"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1E91F98-ED6C-4488-8DD7-E36F5B0AC9A7}"/>
              </a:ext>
            </a:extLst>
          </p:cNvPr>
          <p:cNvSpPr>
            <a:spLocks noGrp="1"/>
          </p:cNvSpPr>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500" b="1" i="0">
                <a:solidFill>
                  <a:srgbClr val="0072B2"/>
                </a:solidFill>
                <a:latin typeface="Arial"/>
                <a:ea typeface="Arial"/>
                <a:cs typeface="Arial"/>
              </a:rPr>
              <a:t>228</a:t>
            </a:r>
          </a:p>
        </p:txBody>
      </p:sp>
      <p:sp>
        <p:nvSpPr>
          <p:cNvPr id="13" name="TextBox 12">
            <a:extLst>
              <a:ext uri="{FF2B5EF4-FFF2-40B4-BE49-F238E27FC236}">
                <a16:creationId xmlns:a16="http://schemas.microsoft.com/office/drawing/2014/main" id="{288C696D-CF39-4EF6-B4B8-3B8E29725F75}"/>
              </a:ext>
            </a:extLst>
          </p:cNvPr>
          <p:cNvSpPr>
            <a:spLocks noGrp="1"/>
          </p:cNvSpPr>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60" b="1" i="0">
                <a:solidFill>
                  <a:srgbClr val="4E5A68"/>
                </a:solidFill>
                <a:latin typeface="Arial"/>
                <a:ea typeface="Arial"/>
                <a:cs typeface="Arial"/>
              </a:rPr>
              <a:t>distinct gene symbols</a:t>
            </a:r>
          </a:p>
        </p:txBody>
      </p:sp>
      <p:sp>
        <p:nvSpPr>
          <p:cNvPr id="14" name="Rounded Rectangle 13">
            <a:extLst>
              <a:ext uri="{FF2B5EF4-FFF2-40B4-BE49-F238E27FC236}">
                <a16:creationId xmlns:a16="http://schemas.microsoft.com/office/drawing/2014/main" id="{B9655AB7-C84D-40BD-ADC4-9492EA67959C}"/>
              </a:ext>
            </a:extLst>
          </p:cNvPr>
          <p:cNvSpPr>
            <a:spLocks noGrp="1"/>
          </p:cNvSpPr>
          <p:nvPr/>
        </p:nvSpPr>
        <p:spPr>
          <a:xfrm>
            <a:off x="7077456"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5BE7D19B-D31A-47FF-B1E7-26E6AD0B4197}"/>
              </a:ext>
            </a:extLst>
          </p:cNvPr>
          <p:cNvSpPr>
            <a:spLocks noGrp="1"/>
          </p:cNvSpPr>
          <p:nvPr/>
        </p:nvSpPr>
        <p:spPr>
          <a:xfrm>
            <a:off x="7223760" y="1481328"/>
            <a:ext cx="1645920" cy="42976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500" b="1" i="0">
                <a:solidFill>
                  <a:srgbClr val="00684D"/>
                </a:solidFill>
                <a:latin typeface="Arial"/>
                <a:ea typeface="Arial"/>
                <a:cs typeface="Arial"/>
              </a:rPr>
              <a:t>29</a:t>
            </a:r>
          </a:p>
        </p:txBody>
      </p:sp>
      <p:sp>
        <p:nvSpPr>
          <p:cNvPr id="16" name="TextBox 15">
            <a:extLst>
              <a:ext uri="{FF2B5EF4-FFF2-40B4-BE49-F238E27FC236}">
                <a16:creationId xmlns:a16="http://schemas.microsoft.com/office/drawing/2014/main" id="{EB178ADB-DEA9-456E-BBF6-22D358F15D49}"/>
              </a:ext>
            </a:extLst>
          </p:cNvPr>
          <p:cNvSpPr>
            <a:spLocks noGrp="1"/>
          </p:cNvSpPr>
          <p:nvPr/>
        </p:nvSpPr>
        <p:spPr>
          <a:xfrm>
            <a:off x="7223760" y="1938528"/>
            <a:ext cx="1645920" cy="39319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60" b="1" i="0">
                <a:solidFill>
                  <a:srgbClr val="4E5A68"/>
                </a:solidFill>
                <a:latin typeface="Arial"/>
                <a:ea typeface="Arial"/>
                <a:cs typeface="Arial"/>
              </a:rPr>
              <a:t>categories represented</a:t>
            </a:r>
          </a:p>
        </p:txBody>
      </p:sp>
      <p:sp>
        <p:nvSpPr>
          <p:cNvPr id="17" name="Rounded Rectangle 16">
            <a:extLst>
              <a:ext uri="{FF2B5EF4-FFF2-40B4-BE49-F238E27FC236}">
                <a16:creationId xmlns:a16="http://schemas.microsoft.com/office/drawing/2014/main" id="{2BBA2494-4EF1-43C4-90F3-59BDAF9D9BEB}"/>
              </a:ext>
            </a:extLst>
          </p:cNvPr>
          <p:cNvSpPr>
            <a:spLocks noGrp="1"/>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4E22C672-9FA5-42B0-8258-3B27F10D6A07}"/>
              </a:ext>
            </a:extLst>
          </p:cNvPr>
          <p:cNvSpPr>
            <a:spLocks noGrp="1"/>
          </p:cNvSpPr>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500" b="1" i="0">
                <a:solidFill>
                  <a:srgbClr val="895600"/>
                </a:solidFill>
                <a:latin typeface="Arial"/>
                <a:ea typeface="Arial"/>
                <a:cs typeface="Arial"/>
              </a:rPr>
              <a:t>123</a:t>
            </a:r>
          </a:p>
        </p:txBody>
      </p:sp>
      <p:sp>
        <p:nvSpPr>
          <p:cNvPr id="19" name="TextBox 18">
            <a:extLst>
              <a:ext uri="{FF2B5EF4-FFF2-40B4-BE49-F238E27FC236}">
                <a16:creationId xmlns:a16="http://schemas.microsoft.com/office/drawing/2014/main" id="{E52876D5-BB9F-4E3C-9AD5-0233BA13CE45}"/>
              </a:ext>
            </a:extLst>
          </p:cNvPr>
          <p:cNvSpPr>
            <a:spLocks noGrp="1"/>
          </p:cNvSpPr>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60" b="1" i="0">
                <a:solidFill>
                  <a:srgbClr val="4E5A68"/>
                </a:solidFill>
                <a:latin typeface="Arial"/>
                <a:ea typeface="Arial"/>
                <a:cs typeface="Arial"/>
              </a:rPr>
              <a:t>top-five displayed rows</a:t>
            </a:r>
          </a:p>
        </p:txBody>
      </p:sp>
      <p:sp>
        <p:nvSpPr>
          <p:cNvPr id="20" name="Rounded Rectangle 19">
            <a:extLst>
              <a:ext uri="{FF2B5EF4-FFF2-40B4-BE49-F238E27FC236}">
                <a16:creationId xmlns:a16="http://schemas.microsoft.com/office/drawing/2014/main" id="{6344C532-B670-480E-A4EC-1C16491D7C61}"/>
              </a:ext>
            </a:extLst>
          </p:cNvPr>
          <p:cNvSpPr>
            <a:spLocks noGrp="1"/>
          </p:cNvSpPr>
          <p:nvPr/>
        </p:nvSpPr>
        <p:spPr>
          <a:xfrm>
            <a:off x="658368" y="2871216"/>
            <a:ext cx="5266944" cy="2834640"/>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39C60D81-49EF-488F-AA35-9B23234333DB}"/>
              </a:ext>
            </a:extLst>
          </p:cNvPr>
          <p:cNvSpPr>
            <a:spLocks noGrp="1"/>
          </p:cNvSpPr>
          <p:nvPr/>
        </p:nvSpPr>
        <p:spPr>
          <a:xfrm>
            <a:off x="932688"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BAE0462A-9ED8-4454-A164-28B033EF2A53}"/>
              </a:ext>
            </a:extLst>
          </p:cNvPr>
          <p:cNvSpPr>
            <a:spLocks noGrp="1"/>
          </p:cNvSpPr>
          <p:nvPr/>
        </p:nvSpPr>
        <p:spPr>
          <a:xfrm>
            <a:off x="1078992" y="3163824"/>
            <a:ext cx="4572000" cy="51816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520" b="1" i="0">
                <a:solidFill>
                  <a:srgbClr val="0F233D"/>
                </a:solidFill>
                <a:latin typeface="Arial"/>
                <a:ea typeface="Arial"/>
                <a:cs typeface="Arial"/>
              </a:rPr>
              <a:t>Where non-MitoCarta gene × category units occur</a:t>
            </a:r>
          </a:p>
        </p:txBody>
      </p:sp>
      <p:sp>
        <p:nvSpPr>
          <p:cNvPr id="23" name="TextBox 22">
            <a:extLst>
              <a:ext uri="{FF2B5EF4-FFF2-40B4-BE49-F238E27FC236}">
                <a16:creationId xmlns:a16="http://schemas.microsoft.com/office/drawing/2014/main" id="{541E13B5-4E6A-402C-A5DA-1B27BA3AA5DD}"/>
              </a:ext>
            </a:extLst>
          </p:cNvPr>
          <p:cNvSpPr>
            <a:spLocks noGrp="1"/>
          </p:cNvSpPr>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019" b="1" i="0">
                <a:solidFill>
                  <a:srgbClr val="0072B2"/>
                </a:solidFill>
                <a:latin typeface="Arial"/>
                <a:ea typeface="Arial"/>
                <a:cs typeface="Arial"/>
              </a:rPr>
              <a:t>By sex/APOE group</a:t>
            </a:r>
          </a:p>
        </p:txBody>
      </p:sp>
      <p:sp>
        <p:nvSpPr>
          <p:cNvPr id="24" name="TextBox 23">
            <a:extLst>
              <a:ext uri="{FF2B5EF4-FFF2-40B4-BE49-F238E27FC236}">
                <a16:creationId xmlns:a16="http://schemas.microsoft.com/office/drawing/2014/main" id="{F3960DED-7D97-470A-9484-45F765CC75AC}"/>
              </a:ext>
            </a:extLst>
          </p:cNvPr>
          <p:cNvSpPr>
            <a:spLocks noGrp="1"/>
          </p:cNvSpPr>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70" b="1" i="0">
                <a:solidFill>
                  <a:srgbClr val="0F233D"/>
                </a:solidFill>
                <a:latin typeface="Arial"/>
                <a:ea typeface="Arial"/>
                <a:cs typeface="Arial"/>
              </a:rPr>
              <a:t>F_e4 81 • M_e33 79 • M_e2 70
F_e33 56 • F_e2 54 • M_e4 41</a:t>
            </a:r>
          </a:p>
        </p:txBody>
      </p:sp>
      <p:sp>
        <p:nvSpPr>
          <p:cNvPr id="25" name="TextBox 24">
            <a:extLst>
              <a:ext uri="{FF2B5EF4-FFF2-40B4-BE49-F238E27FC236}">
                <a16:creationId xmlns:a16="http://schemas.microsoft.com/office/drawing/2014/main" id="{8B75E5CD-75EB-4449-B32E-D12075F51E15}"/>
              </a:ext>
            </a:extLst>
          </p:cNvPr>
          <p:cNvSpPr>
            <a:spLocks noGrp="1"/>
          </p:cNvSpPr>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019" b="1" i="0">
                <a:solidFill>
                  <a:srgbClr val="0072B2"/>
                </a:solidFill>
                <a:latin typeface="Arial"/>
                <a:ea typeface="Arial"/>
                <a:cs typeface="Arial"/>
              </a:rPr>
              <a:t>By broad network</a:t>
            </a:r>
          </a:p>
        </p:txBody>
      </p:sp>
      <p:sp>
        <p:nvSpPr>
          <p:cNvPr id="26" name="TextBox 25">
            <a:extLst>
              <a:ext uri="{FF2B5EF4-FFF2-40B4-BE49-F238E27FC236}">
                <a16:creationId xmlns:a16="http://schemas.microsoft.com/office/drawing/2014/main" id="{A3609D55-F968-46EF-BBC1-BE9FE71580C8}"/>
              </a:ext>
            </a:extLst>
          </p:cNvPr>
          <p:cNvSpPr>
            <a:spLocks noGrp="1"/>
          </p:cNvSpPr>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030" b="1" i="0">
                <a:solidFill>
                  <a:srgbClr val="0F233D"/>
                </a:solidFill>
                <a:latin typeface="Arial"/>
                <a:ea typeface="Arial"/>
                <a:cs typeface="Arial"/>
              </a:rPr>
              <a:t>Excitatory 153 • Inhibitory 146 • Astrocytes 32 • OPCs 21
Oligo 18 • Vasculature 6 • Microglia 5</a:t>
            </a:r>
          </a:p>
        </p:txBody>
      </p:sp>
      <p:sp>
        <p:nvSpPr>
          <p:cNvPr id="27" name="Rounded Rectangle 26">
            <a:extLst>
              <a:ext uri="{FF2B5EF4-FFF2-40B4-BE49-F238E27FC236}">
                <a16:creationId xmlns:a16="http://schemas.microsoft.com/office/drawing/2014/main" id="{47D4805F-D784-4954-A1BD-31BEE9FA297D}"/>
              </a:ext>
            </a:extLst>
          </p:cNvPr>
          <p:cNvSpPr>
            <a:spLocks noGrp="1"/>
          </p:cNvSpPr>
          <p:nvPr/>
        </p:nvSpPr>
        <p:spPr>
          <a:xfrm>
            <a:off x="6181344" y="2871216"/>
            <a:ext cx="5010912"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Rectangle 27">
            <a:extLst>
              <a:ext uri="{FF2B5EF4-FFF2-40B4-BE49-F238E27FC236}">
                <a16:creationId xmlns:a16="http://schemas.microsoft.com/office/drawing/2014/main" id="{5BCC4F7E-85B8-4D41-944E-15A4307874F6}"/>
              </a:ext>
            </a:extLst>
          </p:cNvPr>
          <p:cNvSpPr>
            <a:spLocks noGrp="1"/>
          </p:cNvSpPr>
          <p:nvPr/>
        </p:nvSpPr>
        <p:spPr>
          <a:xfrm>
            <a:off x="6455664"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46AE0B48-62D3-4E26-B2E4-CF01DD1AC486}"/>
              </a:ext>
            </a:extLst>
          </p:cNvPr>
          <p:cNvSpPr>
            <a:spLocks noGrp="1"/>
          </p:cNvSpPr>
          <p:nvPr/>
        </p:nvSpPr>
        <p:spPr>
          <a:xfrm>
            <a:off x="6601968" y="3163824"/>
            <a:ext cx="4315968" cy="28931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520" b="1" i="0">
                <a:solidFill>
                  <a:srgbClr val="0F233D"/>
                </a:solidFill>
                <a:latin typeface="Arial"/>
                <a:ea typeface="Arial"/>
                <a:cs typeface="Arial"/>
              </a:rPr>
              <a:t>Most recurrent genes</a:t>
            </a:r>
          </a:p>
        </p:txBody>
      </p:sp>
      <p:sp>
        <p:nvSpPr>
          <p:cNvPr id="30" name="TextBox 29">
            <a:extLst>
              <a:ext uri="{FF2B5EF4-FFF2-40B4-BE49-F238E27FC236}">
                <a16:creationId xmlns:a16="http://schemas.microsoft.com/office/drawing/2014/main" id="{636EEA92-F41C-4FF9-A923-6729FC705521}"/>
              </a:ext>
            </a:extLst>
          </p:cNvPr>
          <p:cNvSpPr>
            <a:spLocks noGrp="1"/>
          </p:cNvSpPr>
          <p:nvPr/>
        </p:nvSpPr>
        <p:spPr>
          <a:xfrm>
            <a:off x="6473952" y="3675887"/>
            <a:ext cx="1298448" cy="20116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20" b="1" i="0">
                <a:solidFill>
                  <a:srgbClr val="0F233D"/>
                </a:solidFill>
                <a:latin typeface="Arial"/>
                <a:ea typeface="Arial"/>
                <a:cs typeface="Arial"/>
              </a:rPr>
              <a:t>RPS15</a:t>
            </a:r>
          </a:p>
        </p:txBody>
      </p:sp>
      <p:sp>
        <p:nvSpPr>
          <p:cNvPr id="31" name="Rectangle 30">
            <a:extLst>
              <a:ext uri="{FF2B5EF4-FFF2-40B4-BE49-F238E27FC236}">
                <a16:creationId xmlns:a16="http://schemas.microsoft.com/office/drawing/2014/main" id="{DEF75826-B228-41E5-91FF-42A57C002E40}"/>
              </a:ext>
            </a:extLst>
          </p:cNvPr>
          <p:cNvSpPr>
            <a:spLocks noGrp="1"/>
          </p:cNvSpPr>
          <p:nvPr/>
        </p:nvSpPr>
        <p:spPr>
          <a:xfrm>
            <a:off x="7891272" y="3703320"/>
            <a:ext cx="2395728"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8A307577-F80F-46C4-8C7B-0F7979026918}"/>
              </a:ext>
            </a:extLst>
          </p:cNvPr>
          <p:cNvSpPr>
            <a:spLocks noGrp="1"/>
          </p:cNvSpPr>
          <p:nvPr/>
        </p:nvSpPr>
        <p:spPr>
          <a:xfrm>
            <a:off x="10442448" y="3675887"/>
            <a:ext cx="320040" cy="201168"/>
          </a:xfrm>
          <a:prstGeom prst="rect">
            <a:avLst/>
          </a:prstGeom>
          <a:noFill/>
        </p:spPr>
        <p:txBody>
          <a:bodyPr wrap="square" lIns="27432" tIns="27432" rIns="27432" bIns="27432" anchor="t">
            <a:spAutoFit/>
          </a:bodyPr>
          <a:lstStyle/>
          <a:p>
            <a:pPr algn="r">
              <a:lnSpc>
                <a:spcPct val="100000"/>
              </a:lnSpc>
              <a:spcBef>
                <a:spcPct val="0"/>
              </a:spcBef>
              <a:spcAft>
                <a:spcPct val="0"/>
              </a:spcAft>
              <a:buNone/>
            </a:pPr>
            <a:r>
              <a:rPr sz="1040" b="1" i="0">
                <a:solidFill>
                  <a:srgbClr val="009E73"/>
                </a:solidFill>
                <a:latin typeface="Arial"/>
                <a:ea typeface="Arial"/>
                <a:cs typeface="Arial"/>
              </a:rPr>
              <a:t>11</a:t>
            </a:r>
          </a:p>
        </p:txBody>
      </p:sp>
      <p:sp>
        <p:nvSpPr>
          <p:cNvPr id="33" name="TextBox 32">
            <a:extLst>
              <a:ext uri="{FF2B5EF4-FFF2-40B4-BE49-F238E27FC236}">
                <a16:creationId xmlns:a16="http://schemas.microsoft.com/office/drawing/2014/main" id="{1FE6CB5A-A943-4A0E-96BC-A846C6227B91}"/>
              </a:ext>
            </a:extLst>
          </p:cNvPr>
          <p:cNvSpPr>
            <a:spLocks noGrp="1"/>
          </p:cNvSpPr>
          <p:nvPr/>
        </p:nvSpPr>
        <p:spPr>
          <a:xfrm>
            <a:off x="6473952" y="3968496"/>
            <a:ext cx="1298448" cy="20116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20" b="1" i="0">
                <a:solidFill>
                  <a:srgbClr val="0F233D"/>
                </a:solidFill>
                <a:latin typeface="Arial"/>
                <a:ea typeface="Arial"/>
                <a:cs typeface="Arial"/>
              </a:rPr>
              <a:t>RPL11</a:t>
            </a:r>
          </a:p>
        </p:txBody>
      </p:sp>
      <p:sp>
        <p:nvSpPr>
          <p:cNvPr id="34" name="Rectangle 33">
            <a:extLst>
              <a:ext uri="{FF2B5EF4-FFF2-40B4-BE49-F238E27FC236}">
                <a16:creationId xmlns:a16="http://schemas.microsoft.com/office/drawing/2014/main" id="{DB34BC49-2FF9-4221-B17C-1D5EE03703CC}"/>
              </a:ext>
            </a:extLst>
          </p:cNvPr>
          <p:cNvSpPr>
            <a:spLocks noGrp="1"/>
          </p:cNvSpPr>
          <p:nvPr/>
        </p:nvSpPr>
        <p:spPr>
          <a:xfrm>
            <a:off x="7891272" y="3995928"/>
            <a:ext cx="217793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7D89DA8B-6223-4B22-9B22-27979EC32E5A}"/>
              </a:ext>
            </a:extLst>
          </p:cNvPr>
          <p:cNvSpPr>
            <a:spLocks noGrp="1"/>
          </p:cNvSpPr>
          <p:nvPr/>
        </p:nvSpPr>
        <p:spPr>
          <a:xfrm>
            <a:off x="10442448" y="3968496"/>
            <a:ext cx="320040" cy="201168"/>
          </a:xfrm>
          <a:prstGeom prst="rect">
            <a:avLst/>
          </a:prstGeom>
          <a:noFill/>
        </p:spPr>
        <p:txBody>
          <a:bodyPr wrap="square" lIns="27432" tIns="27432" rIns="27432" bIns="27432" anchor="t">
            <a:spAutoFit/>
          </a:bodyPr>
          <a:lstStyle/>
          <a:p>
            <a:pPr algn="r">
              <a:lnSpc>
                <a:spcPct val="100000"/>
              </a:lnSpc>
              <a:spcBef>
                <a:spcPct val="0"/>
              </a:spcBef>
              <a:spcAft>
                <a:spcPct val="0"/>
              </a:spcAft>
              <a:buNone/>
            </a:pPr>
            <a:r>
              <a:rPr sz="1040" b="1" i="0">
                <a:solidFill>
                  <a:srgbClr val="009E73"/>
                </a:solidFill>
                <a:latin typeface="Arial"/>
                <a:ea typeface="Arial"/>
                <a:cs typeface="Arial"/>
              </a:rPr>
              <a:t>10</a:t>
            </a:r>
          </a:p>
        </p:txBody>
      </p:sp>
      <p:sp>
        <p:nvSpPr>
          <p:cNvPr id="36" name="TextBox 35">
            <a:extLst>
              <a:ext uri="{FF2B5EF4-FFF2-40B4-BE49-F238E27FC236}">
                <a16:creationId xmlns:a16="http://schemas.microsoft.com/office/drawing/2014/main" id="{B9783288-FA8E-4083-980C-E5682BED9CBB}"/>
              </a:ext>
            </a:extLst>
          </p:cNvPr>
          <p:cNvSpPr>
            <a:spLocks noGrp="1"/>
          </p:cNvSpPr>
          <p:nvPr/>
        </p:nvSpPr>
        <p:spPr>
          <a:xfrm>
            <a:off x="6473952" y="4261103"/>
            <a:ext cx="1298448" cy="20116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20" b="1" i="0">
                <a:solidFill>
                  <a:srgbClr val="0F233D"/>
                </a:solidFill>
                <a:latin typeface="Arial"/>
                <a:ea typeface="Arial"/>
                <a:cs typeface="Arial"/>
              </a:rPr>
              <a:t>RPLP1</a:t>
            </a:r>
          </a:p>
        </p:txBody>
      </p:sp>
      <p:sp>
        <p:nvSpPr>
          <p:cNvPr id="37" name="Rectangle 36">
            <a:extLst>
              <a:ext uri="{FF2B5EF4-FFF2-40B4-BE49-F238E27FC236}">
                <a16:creationId xmlns:a16="http://schemas.microsoft.com/office/drawing/2014/main" id="{860394BE-0508-4B60-93FD-518C22F4517D}"/>
              </a:ext>
            </a:extLst>
          </p:cNvPr>
          <p:cNvSpPr>
            <a:spLocks noGrp="1"/>
          </p:cNvSpPr>
          <p:nvPr/>
        </p:nvSpPr>
        <p:spPr>
          <a:xfrm>
            <a:off x="7891272" y="4288536"/>
            <a:ext cx="1742347"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B2902C57-197B-4C3D-B183-C47ACEDC3831}"/>
              </a:ext>
            </a:extLst>
          </p:cNvPr>
          <p:cNvSpPr>
            <a:spLocks noGrp="1"/>
          </p:cNvSpPr>
          <p:nvPr/>
        </p:nvSpPr>
        <p:spPr>
          <a:xfrm>
            <a:off x="10442448" y="4261103"/>
            <a:ext cx="320040" cy="201168"/>
          </a:xfrm>
          <a:prstGeom prst="rect">
            <a:avLst/>
          </a:prstGeom>
          <a:noFill/>
        </p:spPr>
        <p:txBody>
          <a:bodyPr wrap="square" lIns="27432" tIns="27432" rIns="27432" bIns="27432" anchor="t">
            <a:spAutoFit/>
          </a:bodyPr>
          <a:lstStyle/>
          <a:p>
            <a:pPr algn="r">
              <a:lnSpc>
                <a:spcPct val="100000"/>
              </a:lnSpc>
              <a:spcBef>
                <a:spcPct val="0"/>
              </a:spcBef>
              <a:spcAft>
                <a:spcPct val="0"/>
              </a:spcAft>
              <a:buNone/>
            </a:pPr>
            <a:r>
              <a:rPr sz="1040" b="1" i="0">
                <a:solidFill>
                  <a:srgbClr val="009E73"/>
                </a:solidFill>
                <a:latin typeface="Arial"/>
                <a:ea typeface="Arial"/>
                <a:cs typeface="Arial"/>
              </a:rPr>
              <a:t>8</a:t>
            </a:r>
          </a:p>
        </p:txBody>
      </p:sp>
      <p:sp>
        <p:nvSpPr>
          <p:cNvPr id="39" name="TextBox 38">
            <a:extLst>
              <a:ext uri="{FF2B5EF4-FFF2-40B4-BE49-F238E27FC236}">
                <a16:creationId xmlns:a16="http://schemas.microsoft.com/office/drawing/2014/main" id="{B893E2FF-040D-4C59-9844-FC37A83293A3}"/>
              </a:ext>
            </a:extLst>
          </p:cNvPr>
          <p:cNvSpPr>
            <a:spLocks noGrp="1"/>
          </p:cNvSpPr>
          <p:nvPr/>
        </p:nvSpPr>
        <p:spPr>
          <a:xfrm>
            <a:off x="6473952" y="4553712"/>
            <a:ext cx="1298448" cy="20116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20" b="1" i="0">
                <a:solidFill>
                  <a:srgbClr val="0F233D"/>
                </a:solidFill>
                <a:latin typeface="Arial"/>
                <a:ea typeface="Arial"/>
                <a:cs typeface="Arial"/>
              </a:rPr>
              <a:t>RPL15</a:t>
            </a:r>
          </a:p>
        </p:txBody>
      </p:sp>
      <p:sp>
        <p:nvSpPr>
          <p:cNvPr id="40" name="Rectangle 39">
            <a:extLst>
              <a:ext uri="{FF2B5EF4-FFF2-40B4-BE49-F238E27FC236}">
                <a16:creationId xmlns:a16="http://schemas.microsoft.com/office/drawing/2014/main" id="{A765CF75-CFC2-4AF8-BD8A-B53EDBF271F8}"/>
              </a:ext>
            </a:extLst>
          </p:cNvPr>
          <p:cNvSpPr>
            <a:spLocks noGrp="1"/>
          </p:cNvSpPr>
          <p:nvPr/>
        </p:nvSpPr>
        <p:spPr>
          <a:xfrm>
            <a:off x="7891272" y="4581144"/>
            <a:ext cx="152455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76F8F2DF-CA1B-42CC-9A73-753A938A556D}"/>
              </a:ext>
            </a:extLst>
          </p:cNvPr>
          <p:cNvSpPr>
            <a:spLocks noGrp="1"/>
          </p:cNvSpPr>
          <p:nvPr/>
        </p:nvSpPr>
        <p:spPr>
          <a:xfrm>
            <a:off x="10442448" y="4553712"/>
            <a:ext cx="320040" cy="201168"/>
          </a:xfrm>
          <a:prstGeom prst="rect">
            <a:avLst/>
          </a:prstGeom>
          <a:noFill/>
        </p:spPr>
        <p:txBody>
          <a:bodyPr wrap="square" lIns="27432" tIns="27432" rIns="27432" bIns="27432" anchor="t">
            <a:spAutoFit/>
          </a:bodyPr>
          <a:lstStyle/>
          <a:p>
            <a:pPr algn="r">
              <a:lnSpc>
                <a:spcPct val="100000"/>
              </a:lnSpc>
              <a:spcBef>
                <a:spcPct val="0"/>
              </a:spcBef>
              <a:spcAft>
                <a:spcPct val="0"/>
              </a:spcAft>
              <a:buNone/>
            </a:pPr>
            <a:r>
              <a:rPr sz="1040" b="1" i="0">
                <a:solidFill>
                  <a:srgbClr val="009E73"/>
                </a:solidFill>
                <a:latin typeface="Arial"/>
                <a:ea typeface="Arial"/>
                <a:cs typeface="Arial"/>
              </a:rPr>
              <a:t>7</a:t>
            </a:r>
          </a:p>
        </p:txBody>
      </p:sp>
      <p:sp>
        <p:nvSpPr>
          <p:cNvPr id="42" name="TextBox 41">
            <a:extLst>
              <a:ext uri="{FF2B5EF4-FFF2-40B4-BE49-F238E27FC236}">
                <a16:creationId xmlns:a16="http://schemas.microsoft.com/office/drawing/2014/main" id="{C612AC7A-D16F-4870-94FC-8A17EAFC29D9}"/>
              </a:ext>
            </a:extLst>
          </p:cNvPr>
          <p:cNvSpPr>
            <a:spLocks noGrp="1"/>
          </p:cNvSpPr>
          <p:nvPr/>
        </p:nvSpPr>
        <p:spPr>
          <a:xfrm>
            <a:off x="6473952" y="4846320"/>
            <a:ext cx="1298448" cy="20116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20" b="1" i="0">
                <a:solidFill>
                  <a:srgbClr val="0F233D"/>
                </a:solidFill>
                <a:latin typeface="Arial"/>
                <a:ea typeface="Arial"/>
                <a:cs typeface="Arial"/>
              </a:rPr>
              <a:t>SELENOM</a:t>
            </a:r>
          </a:p>
        </p:txBody>
      </p:sp>
      <p:sp>
        <p:nvSpPr>
          <p:cNvPr id="43" name="Rectangle 42">
            <a:extLst>
              <a:ext uri="{FF2B5EF4-FFF2-40B4-BE49-F238E27FC236}">
                <a16:creationId xmlns:a16="http://schemas.microsoft.com/office/drawing/2014/main" id="{D2AD86A1-F340-4B14-A0FC-623E225596BF}"/>
              </a:ext>
            </a:extLst>
          </p:cNvPr>
          <p:cNvSpPr>
            <a:spLocks noGrp="1"/>
          </p:cNvSpPr>
          <p:nvPr/>
        </p:nvSpPr>
        <p:spPr>
          <a:xfrm>
            <a:off x="7891272" y="4873752"/>
            <a:ext cx="152455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9B477462-606B-48D9-8DA8-22B3E45C662C}"/>
              </a:ext>
            </a:extLst>
          </p:cNvPr>
          <p:cNvSpPr>
            <a:spLocks noGrp="1"/>
          </p:cNvSpPr>
          <p:nvPr/>
        </p:nvSpPr>
        <p:spPr>
          <a:xfrm>
            <a:off x="10442448" y="4846320"/>
            <a:ext cx="320040" cy="201168"/>
          </a:xfrm>
          <a:prstGeom prst="rect">
            <a:avLst/>
          </a:prstGeom>
          <a:noFill/>
        </p:spPr>
        <p:txBody>
          <a:bodyPr wrap="square" lIns="27432" tIns="27432" rIns="27432" bIns="27432" anchor="t">
            <a:spAutoFit/>
          </a:bodyPr>
          <a:lstStyle/>
          <a:p>
            <a:pPr algn="r">
              <a:lnSpc>
                <a:spcPct val="100000"/>
              </a:lnSpc>
              <a:spcBef>
                <a:spcPct val="0"/>
              </a:spcBef>
              <a:spcAft>
                <a:spcPct val="0"/>
              </a:spcAft>
              <a:buNone/>
            </a:pPr>
            <a:r>
              <a:rPr sz="1040" b="1" i="0">
                <a:solidFill>
                  <a:srgbClr val="009E73"/>
                </a:solidFill>
                <a:latin typeface="Arial"/>
                <a:ea typeface="Arial"/>
                <a:cs typeface="Arial"/>
              </a:rPr>
              <a:t>7</a:t>
            </a:r>
          </a:p>
        </p:txBody>
      </p:sp>
      <p:sp>
        <p:nvSpPr>
          <p:cNvPr id="45" name="TextBox 44">
            <a:extLst>
              <a:ext uri="{FF2B5EF4-FFF2-40B4-BE49-F238E27FC236}">
                <a16:creationId xmlns:a16="http://schemas.microsoft.com/office/drawing/2014/main" id="{3D215224-4931-41F6-8127-BFB85EC1146D}"/>
              </a:ext>
            </a:extLst>
          </p:cNvPr>
          <p:cNvSpPr>
            <a:spLocks noGrp="1"/>
          </p:cNvSpPr>
          <p:nvPr/>
        </p:nvSpPr>
        <p:spPr>
          <a:xfrm>
            <a:off x="6473952" y="5138927"/>
            <a:ext cx="1298448" cy="20116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20" b="1" i="0">
                <a:solidFill>
                  <a:srgbClr val="0F233D"/>
                </a:solidFill>
                <a:latin typeface="Arial"/>
                <a:ea typeface="Arial"/>
                <a:cs typeface="Arial"/>
              </a:rPr>
              <a:t>SELENOW</a:t>
            </a:r>
          </a:p>
        </p:txBody>
      </p:sp>
      <p:sp>
        <p:nvSpPr>
          <p:cNvPr id="46" name="Rectangle 45">
            <a:extLst>
              <a:ext uri="{FF2B5EF4-FFF2-40B4-BE49-F238E27FC236}">
                <a16:creationId xmlns:a16="http://schemas.microsoft.com/office/drawing/2014/main" id="{2E6D6079-43B0-468C-8BD6-C0FB33E5F229}"/>
              </a:ext>
            </a:extLst>
          </p:cNvPr>
          <p:cNvSpPr>
            <a:spLocks noGrp="1"/>
          </p:cNvSpPr>
          <p:nvPr/>
        </p:nvSpPr>
        <p:spPr>
          <a:xfrm>
            <a:off x="7891272" y="5166359"/>
            <a:ext cx="1306760"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FCF83AE-E576-4AC6-B8B3-207260CA5A97}"/>
              </a:ext>
            </a:extLst>
          </p:cNvPr>
          <p:cNvSpPr>
            <a:spLocks noGrp="1"/>
          </p:cNvSpPr>
          <p:nvPr/>
        </p:nvSpPr>
        <p:spPr>
          <a:xfrm>
            <a:off x="10442448" y="5138927"/>
            <a:ext cx="320040" cy="201168"/>
          </a:xfrm>
          <a:prstGeom prst="rect">
            <a:avLst/>
          </a:prstGeom>
          <a:noFill/>
        </p:spPr>
        <p:txBody>
          <a:bodyPr wrap="square" lIns="27432" tIns="27432" rIns="27432" bIns="27432" anchor="t">
            <a:spAutoFit/>
          </a:bodyPr>
          <a:lstStyle/>
          <a:p>
            <a:pPr algn="r">
              <a:lnSpc>
                <a:spcPct val="100000"/>
              </a:lnSpc>
              <a:spcBef>
                <a:spcPct val="0"/>
              </a:spcBef>
              <a:spcAft>
                <a:spcPct val="0"/>
              </a:spcAft>
              <a:buNone/>
            </a:pPr>
            <a:r>
              <a:rPr sz="1040" b="1" i="0">
                <a:solidFill>
                  <a:srgbClr val="009E73"/>
                </a:solidFill>
                <a:latin typeface="Arial"/>
                <a:ea typeface="Arial"/>
                <a:cs typeface="Arial"/>
              </a:rPr>
              <a:t>6</a:t>
            </a:r>
          </a:p>
        </p:txBody>
      </p:sp>
      <p:sp>
        <p:nvSpPr>
          <p:cNvPr id="48" name="TextBox 47">
            <a:extLst>
              <a:ext uri="{FF2B5EF4-FFF2-40B4-BE49-F238E27FC236}">
                <a16:creationId xmlns:a16="http://schemas.microsoft.com/office/drawing/2014/main" id="{1E742D18-C756-4BE3-951D-E47E47DE4E04}"/>
              </a:ext>
            </a:extLst>
          </p:cNvPr>
          <p:cNvSpPr>
            <a:spLocks noGrp="1"/>
          </p:cNvSpPr>
          <p:nvPr/>
        </p:nvSpPr>
        <p:spPr>
          <a:xfrm>
            <a:off x="6473952" y="5477256"/>
            <a:ext cx="4334256"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869" b="0" i="1">
                <a:solidFill>
                  <a:srgbClr val="4E5A68"/>
                </a:solidFill>
                <a:latin typeface="Arial"/>
                <a:ea typeface="Arial"/>
                <a:cs typeface="Arial"/>
              </a:rPr>
              <a:t>Counts are category presence—not independent replication or counts of KDA calls.</a:t>
            </a:r>
          </a:p>
        </p:txBody>
      </p:sp>
    </p:spTree>
    <p:extLst>
      <p:ext uri="{BB962C8B-B14F-4D97-AF65-F5344CB8AC3E}">
        <p14:creationId val="1344629618"/>
      </p:ext>
    </p:extLst>
  </p:cSld>
  <p:clrMapOvr>
    <a:masterClrMapping/>
  </p:clrMapOvr>
  <p:transition/>
  <p:timing/>
</p:sld>
</file>

<file path=ppt/slides/slide2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3" name="TextBox 2">
            <a:extLst>
              <a:ext uri="{FF2B5EF4-FFF2-40B4-BE49-F238E27FC236}">
                <a16:creationId xmlns:a16="http://schemas.microsoft.com/office/drawing/2014/main" id="{E80D5145-8B7B-4D85-AB27-CA73D0EC15A0}"/>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450" b="1" i="0">
                <a:solidFill>
                  <a:srgbClr val="0F233D"/>
                </a:solidFill>
                <a:latin typeface="Arial"/>
                <a:ea typeface="Arial"/>
                <a:cs typeface="Arial"/>
              </a:rPr>
              <a:t>RPS15 recurs across 11 returned-only categories</a:t>
            </a:r>
          </a:p>
        </p:txBody>
      </p:sp>
      <p:sp>
        <p:nvSpPr>
          <p:cNvPr id="4" name="TextBox 3">
            <a:extLst>
              <a:ext uri="{FF2B5EF4-FFF2-40B4-BE49-F238E27FC236}">
                <a16:creationId xmlns:a16="http://schemas.microsoft.com/office/drawing/2014/main" id="{E09643F1-0DF0-4E7A-905C-7A370D90D80A}"/>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20" b="0" i="0">
                <a:solidFill>
                  <a:srgbClr val="4E5A68"/>
                </a:solidFill>
                <a:latin typeface="Arial"/>
                <a:ea typeface="Arial"/>
                <a:cs typeface="Arial"/>
              </a:rPr>
              <a:t>Returned-only recurrence is descriptive across sex/APOE × broad-cell categories.</a:t>
            </a:r>
          </a:p>
        </p:txBody>
      </p:sp>
      <p:sp>
        <p:nvSpPr>
          <p:cNvPr id="5" name="Rounded Rectangle 4">
            <a:extLst>
              <a:ext uri="{FF2B5EF4-FFF2-40B4-BE49-F238E27FC236}">
                <a16:creationId xmlns:a16="http://schemas.microsoft.com/office/drawing/2014/main" id="{326A8434-79BA-4E7F-86B9-4CC737E0D66C}"/>
              </a:ext>
            </a:extLst>
          </p:cNvPr>
          <p:cNvSpPr>
            <a:spLocks noGrp="1"/>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2" name="Uniform-blue bar chart of the twenty ROSMAP non-MT genes appearing in the most sex/APOE by broad-cell categories"/>
          <p:cNvPicPr>
            <a:picLocks noChangeAspect="1"/>
          </p:cNvPicPr>
          <p:nvPr/>
        </p:nvPicPr>
        <p:blipFill>
          <a:blip r:embed="rId3"/>
          <a:stretch>
            <a:fillRect/>
          </a:stretch>
        </p:blipFill>
        <p:spPr>
          <a:xfrm>
            <a:off x="996696" y="1252728"/>
            <a:ext cx="5413248" cy="4736592"/>
          </a:xfrm>
          <a:prstGeom prst="rect">
            <a:avLst/>
          </a:prstGeom>
        </p:spPr>
      </p:pic>
      <p:sp>
        <p:nvSpPr>
          <p:cNvPr id="7" name="Rounded Rectangle 6">
            <a:extLst>
              <a:ext uri="{FF2B5EF4-FFF2-40B4-BE49-F238E27FC236}">
                <a16:creationId xmlns:a16="http://schemas.microsoft.com/office/drawing/2014/main" id="{568B3E97-0DA5-4527-8636-19A50D6F2A3D}"/>
              </a:ext>
            </a:extLst>
          </p:cNvPr>
          <p:cNvSpPr>
            <a:spLocks noGrp="1"/>
          </p:cNvSpPr>
          <p:nvPr/>
        </p:nvSpPr>
        <p:spPr>
          <a:xfrm>
            <a:off x="7232904" y="1298448"/>
            <a:ext cx="4343400" cy="45537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Rectangle 7">
            <a:extLst>
              <a:ext uri="{FF2B5EF4-FFF2-40B4-BE49-F238E27FC236}">
                <a16:creationId xmlns:a16="http://schemas.microsoft.com/office/drawing/2014/main" id="{F930DCB1-3CD0-45D3-8567-E38D0A2A5882}"/>
              </a:ext>
            </a:extLst>
          </p:cNvPr>
          <p:cNvSpPr>
            <a:spLocks noGrp="1"/>
          </p:cNvSpPr>
          <p:nvPr/>
        </p:nvSpPr>
        <p:spPr>
          <a:xfrm>
            <a:off x="7516368" y="1618488"/>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531F2DC-A921-4954-BFC4-3DB577D19584}"/>
              </a:ext>
            </a:extLst>
          </p:cNvPr>
          <p:cNvSpPr>
            <a:spLocks noGrp="1"/>
          </p:cNvSpPr>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520" b="1" i="0">
                <a:solidFill>
                  <a:srgbClr val="0F233D"/>
                </a:solidFill>
                <a:latin typeface="Arial"/>
                <a:ea typeface="Arial"/>
                <a:cs typeface="Arial"/>
              </a:rPr>
              <a:t>How to read it</a:t>
            </a:r>
          </a:p>
        </p:txBody>
      </p:sp>
      <p:sp>
        <p:nvSpPr>
          <p:cNvPr id="10" name="Oval 9">
            <a:extLst>
              <a:ext uri="{FF2B5EF4-FFF2-40B4-BE49-F238E27FC236}">
                <a16:creationId xmlns:a16="http://schemas.microsoft.com/office/drawing/2014/main" id="{023F2F40-FB35-4767-8BCA-94639FED2743}"/>
              </a:ext>
            </a:extLst>
          </p:cNvPr>
          <p:cNvSpPr>
            <a:spLocks noGrp="1"/>
          </p:cNvSpPr>
          <p:nvPr/>
        </p:nvSpPr>
        <p:spPr>
          <a:xfrm>
            <a:off x="7525512" y="22128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98B0313-B8B7-42BF-A686-C63F061ED88E}"/>
              </a:ext>
            </a:extLst>
          </p:cNvPr>
          <p:cNvSpPr>
            <a:spLocks noGrp="1"/>
          </p:cNvSpPr>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30" b="0" i="0">
                <a:solidFill>
                  <a:srgbClr val="1F2730"/>
                </a:solidFill>
                <a:latin typeface="Arial"/>
                <a:ea typeface="Arial"/>
                <a:cs typeface="Arial"/>
              </a:rPr>
              <a:t>Bar length = number of categories containing the gene.</a:t>
            </a:r>
          </a:p>
        </p:txBody>
      </p:sp>
      <p:sp>
        <p:nvSpPr>
          <p:cNvPr id="14" name="Oval 13">
            <a:extLst>
              <a:ext uri="{FF2B5EF4-FFF2-40B4-BE49-F238E27FC236}">
                <a16:creationId xmlns:a16="http://schemas.microsoft.com/office/drawing/2014/main" id="{7612F583-FF86-4B89-9757-930CFF01DE40}"/>
              </a:ext>
            </a:extLst>
          </p:cNvPr>
          <p:cNvSpPr>
            <a:spLocks noGrp="1"/>
          </p:cNvSpPr>
          <p:nvPr/>
        </p:nvSpPr>
        <p:spPr>
          <a:xfrm>
            <a:off x="7525512" y="27706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928DA47-67C4-474B-A326-08F4822AB0BC}"/>
              </a:ext>
            </a:extLst>
          </p:cNvPr>
          <p:cNvSpPr>
            <a:spLocks noGrp="1"/>
          </p:cNvSpPr>
          <p:nvPr/>
        </p:nvSpPr>
        <p:spPr>
          <a:xfrm>
            <a:off x="7699248" y="2642615"/>
            <a:ext cx="3502151" cy="403187"/>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30" b="0" i="0">
                <a:solidFill>
                  <a:srgbClr val="1F2730"/>
                </a:solidFill>
                <a:latin typeface="Arial"/>
                <a:ea typeface="Arial"/>
                <a:cs typeface="Arial"/>
              </a:rPr>
              <a:t>RPS15: 11 categories, 6 sex/apoe groups, 4 bayesian networks.</a:t>
            </a:r>
          </a:p>
        </p:txBody>
      </p:sp>
      <p:sp>
        <p:nvSpPr>
          <p:cNvPr id="16" name="Oval 15">
            <a:extLst>
              <a:ext uri="{FF2B5EF4-FFF2-40B4-BE49-F238E27FC236}">
                <a16:creationId xmlns:a16="http://schemas.microsoft.com/office/drawing/2014/main" id="{088D031B-E132-4BC1-9CEC-0301C7DB254C}"/>
              </a:ext>
            </a:extLst>
          </p:cNvPr>
          <p:cNvSpPr>
            <a:spLocks noGrp="1"/>
          </p:cNvSpPr>
          <p:nvPr/>
        </p:nvSpPr>
        <p:spPr>
          <a:xfrm>
            <a:off x="7525512" y="3328415"/>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0A554CA-AC15-464E-B7AD-2C92321C7AB5}"/>
              </a:ext>
            </a:extLst>
          </p:cNvPr>
          <p:cNvSpPr>
            <a:spLocks noGrp="1"/>
          </p:cNvSpPr>
          <p:nvPr/>
        </p:nvSpPr>
        <p:spPr>
          <a:xfrm>
            <a:off x="7699248" y="3200399"/>
            <a:ext cx="3502151" cy="403187"/>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30" b="0" i="0">
                <a:solidFill>
                  <a:srgbClr val="1F2730"/>
                </a:solidFill>
                <a:latin typeface="Arial"/>
                <a:ea typeface="Arial"/>
                <a:cs typeface="Arial"/>
              </a:rPr>
              <a:t>RPL11: 10 categories, 6 sex/apoe groups, 4 bayesian networks.</a:t>
            </a:r>
          </a:p>
        </p:txBody>
      </p:sp>
    </p:spTree>
    <p:extLst>
      <p:ext uri="{BB962C8B-B14F-4D97-AF65-F5344CB8AC3E}">
        <p14:creationId val="1569113822"/>
      </p:ext>
    </p:extLst>
  </p:cSld>
  <p:clrMapOvr>
    <a:masterClrMapping/>
  </p:clrMapOvr>
  <p:transition/>
  <p:timing/>
</p:sld>
</file>

<file path=ppt/slides/slide2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3" name="TextBox 2">
            <a:extLst>
              <a:ext uri="{FF2B5EF4-FFF2-40B4-BE49-F238E27FC236}">
                <a16:creationId xmlns:a16="http://schemas.microsoft.com/office/drawing/2014/main" id="{FCD75244-BEFA-4D8B-B23E-F54D13406000}"/>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100" b="1" i="0">
                <a:solidFill>
                  <a:srgbClr val="0F233D"/>
                </a:solidFill>
                <a:latin typeface="Arial"/>
                <a:ea typeface="Arial"/>
                <a:cs typeface="Arial"/>
              </a:rPr>
              <a:t>Top five: 123 non-MitoCarta entries across 29 categories</a:t>
            </a:r>
          </a:p>
        </p:txBody>
      </p:sp>
      <p:pic>
        <p:nvPicPr>
          <p:cNvPr id="6" name="ROSMAP top-five non-MT key drivers with aligned sex rows, broad-cell colors, score definition, and total category gene counts"/>
          <p:cNvPicPr>
            <a:picLocks noChangeAspect="1"/>
          </p:cNvPicPr>
          <p:nvPr/>
        </p:nvPicPr>
        <p:blipFill>
          <a:blip r:embed="rId3"/>
          <a:stretch>
            <a:fillRect/>
          </a:stretch>
        </p:blipFill>
        <p:spPr>
          <a:xfrm>
            <a:off x="612648" y="795528"/>
            <a:ext cx="10972800" cy="5971032"/>
          </a:xfrm>
          <a:prstGeom prst="rect">
            <a:avLst/>
          </a:prstGeom>
        </p:spPr>
      </p:pic>
    </p:spTree>
    <p:extLst>
      <p:ext uri="{BB962C8B-B14F-4D97-AF65-F5344CB8AC3E}">
        <p14:creationId val="768081472"/>
      </p:ext>
    </p:extLst>
  </p:cSld>
  <p:clrMapOvr>
    <a:masterClrMapping/>
  </p:clrMapOvr>
  <p:transition/>
  <p:timing/>
</p:sld>
</file>

<file path=ppt/slides/slide2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E9EECD5F-43AF-429F-99A6-8BCC0CC0AAB0}"/>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450" b="1" i="0">
                <a:solidFill>
                  <a:srgbClr val="0F233D"/>
                </a:solidFill>
                <a:latin typeface="Arial"/>
                <a:ea typeface="Arial"/>
                <a:cs typeface="Arial"/>
              </a:rPr>
              <a:t>ROSMAP excitatory neurons: genes returned from KDA calls</a:t>
            </a:r>
          </a:p>
        </p:txBody>
      </p:sp>
      <p:sp>
        <p:nvSpPr>
          <p:cNvPr id="3" name="TextBox 2">
            <a:extLst>
              <a:ext uri="{FF2B5EF4-FFF2-40B4-BE49-F238E27FC236}">
                <a16:creationId xmlns:a16="http://schemas.microsoft.com/office/drawing/2014/main" id="{F419552D-EF44-456A-82C8-09F89FCC75A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20" b="0" i="0">
                <a:solidFill>
                  <a:srgbClr val="4E5A68"/>
                </a:solidFill>
                <a:latin typeface="Arial"/>
                <a:ea typeface="Arial"/>
                <a:cs typeface="Arial"/>
              </a:rPr>
              <a:t>84 unique non-MitoCarta genes across 153 gene × category combinations; columns are ordered by recurrence, then alphabetically.</a:t>
            </a:r>
          </a:p>
        </p:txBody>
      </p:sp>
      <p:pic>
        <p:nvPicPr>
          <p:cNvPr id="7" name="ROSMAP excita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val="1230641777"/>
      </p:ext>
    </p:extLst>
  </p:cSld>
  <p:clrMapOvr>
    <a:masterClrMapping/>
  </p:clrMapOvr>
  <p:transition/>
  <p:timing/>
</p:sld>
</file>

<file path=ppt/slides/slide3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527AB68E-ADB7-4C21-9795-C3B8768F454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450" b="1" i="0">
                <a:solidFill>
                  <a:srgbClr val="0F233D"/>
                </a:solidFill>
                <a:latin typeface="Arial"/>
                <a:ea typeface="Arial"/>
                <a:cs typeface="Arial"/>
              </a:rPr>
              <a:t>ROSMAP inhibitory neurons: genes returned from KDA calls</a:t>
            </a:r>
          </a:p>
        </p:txBody>
      </p:sp>
      <p:sp>
        <p:nvSpPr>
          <p:cNvPr id="3" name="TextBox 2">
            <a:extLst>
              <a:ext uri="{FF2B5EF4-FFF2-40B4-BE49-F238E27FC236}">
                <a16:creationId xmlns:a16="http://schemas.microsoft.com/office/drawing/2014/main" id="{E90E3D63-A248-47CC-9F22-AAAC4D57896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20" b="0" i="0">
                <a:solidFill>
                  <a:srgbClr val="4E5A68"/>
                </a:solidFill>
                <a:latin typeface="Arial"/>
                <a:ea typeface="Arial"/>
                <a:cs typeface="Arial"/>
              </a:rPr>
              <a:t>110 unique non-MitoCarta genes across 146 gene × category combinations; columns are ordered by recurrence, then alphabetically.</a:t>
            </a:r>
          </a:p>
        </p:txBody>
      </p:sp>
      <p:pic>
        <p:nvPicPr>
          <p:cNvPr id="7" name="ROSMAP inhibi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val="1250894171"/>
      </p:ext>
    </p:extLst>
  </p:cSld>
  <p:clrMapOvr>
    <a:masterClrMapping/>
  </p:clrMapOvr>
  <p:transition/>
  <p:timing/>
</p:sld>
</file>

<file path=ppt/slides/slide3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EB812381-4105-4451-9E9A-6D56B5685FD6}"/>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450" b="1" i="0">
                <a:solidFill>
                  <a:srgbClr val="0F233D"/>
                </a:solidFill>
                <a:latin typeface="Arial"/>
                <a:ea typeface="Arial"/>
                <a:cs typeface="Arial"/>
              </a:rPr>
              <a:t>ROSMAP astrocytes: genes returned from KDA calls</a:t>
            </a:r>
          </a:p>
        </p:txBody>
      </p:sp>
      <p:sp>
        <p:nvSpPr>
          <p:cNvPr id="3" name="TextBox 2">
            <a:extLst>
              <a:ext uri="{FF2B5EF4-FFF2-40B4-BE49-F238E27FC236}">
                <a16:creationId xmlns:a16="http://schemas.microsoft.com/office/drawing/2014/main" id="{009EB049-383F-4285-97AC-446DA36958E2}"/>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20" b="0" i="0">
                <a:solidFill>
                  <a:srgbClr val="4E5A68"/>
                </a:solidFill>
                <a:latin typeface="Arial"/>
                <a:ea typeface="Arial"/>
                <a:cs typeface="Arial"/>
              </a:rPr>
              <a:t>21 unique non-MitoCarta genes across 32 gene × category combinations; columns are ordered by recurrence, then alphabetically.</a:t>
            </a:r>
          </a:p>
        </p:txBody>
      </p:sp>
      <p:pic>
        <p:nvPicPr>
          <p:cNvPr id="7" name="ROSMAP astrocyte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val="1116939906"/>
      </p:ext>
    </p:extLst>
  </p:cSld>
  <p:clrMapOvr>
    <a:masterClrMapping/>
  </p:clrMapOvr>
  <p:transition/>
  <p:timing/>
</p:sld>
</file>

<file path=ppt/slides/slide3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9B87EF32-2793-460B-8C1D-32D0574BC4C3}"/>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450" b="1" i="0">
                <a:solidFill>
                  <a:srgbClr val="0F233D"/>
                </a:solidFill>
                <a:latin typeface="Arial"/>
                <a:ea typeface="Arial"/>
                <a:cs typeface="Arial"/>
              </a:rPr>
              <a:t>ROSMAP OPCs: genes returned from KDA calls</a:t>
            </a:r>
          </a:p>
        </p:txBody>
      </p:sp>
      <p:sp>
        <p:nvSpPr>
          <p:cNvPr id="3" name="TextBox 2">
            <a:extLst>
              <a:ext uri="{FF2B5EF4-FFF2-40B4-BE49-F238E27FC236}">
                <a16:creationId xmlns:a16="http://schemas.microsoft.com/office/drawing/2014/main" id="{1928DD11-801D-4409-891E-FA749AC96A4F}"/>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20" b="0" i="0">
                <a:solidFill>
                  <a:srgbClr val="4E5A68"/>
                </a:solidFill>
                <a:latin typeface="Arial"/>
                <a:ea typeface="Arial"/>
                <a:cs typeface="Arial"/>
              </a:rPr>
              <a:t>18 unique non-MitoCarta genes across 21 gene × category combinations; columns are ordered by recurrence, then alphabetically.</a:t>
            </a:r>
          </a:p>
        </p:txBody>
      </p:sp>
      <p:pic>
        <p:nvPicPr>
          <p:cNvPr id="7" name="ROSMAP OPC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val="852401269"/>
      </p:ext>
    </p:extLst>
  </p:cSld>
  <p:clrMapOvr>
    <a:masterClrMapping/>
  </p:clrMapOvr>
  <p:transition/>
  <p:timing/>
</p:sld>
</file>

<file path=ppt/slides/slide3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0F233D"/>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7F569C9E-D5CE-444A-96FB-F4D407E28AC3}"/>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050" b="1" i="0">
                <a:solidFill>
                  <a:srgbClr val="009E73"/>
                </a:solidFill>
                <a:latin typeface="Arial"/>
                <a:ea typeface="Arial"/>
                <a:cs typeface="Arial"/>
              </a:rPr>
              <a:t>PART 5</a:t>
            </a:r>
          </a:p>
        </p:txBody>
      </p:sp>
      <p:sp>
        <p:nvSpPr>
          <p:cNvPr id="3" name="Rectangle 2">
            <a:extLst>
              <a:ext uri="{FF2B5EF4-FFF2-40B4-BE49-F238E27FC236}">
                <a16:creationId xmlns:a16="http://schemas.microsoft.com/office/drawing/2014/main" id="{F2BA23F8-CF15-4B72-8BB2-D57E6CA01661}"/>
              </a:ext>
            </a:extLst>
          </p:cNvPr>
          <p:cNvSpPr>
            <a:spLocks noGrp="1"/>
          </p:cNvSpPr>
          <p:nvPr/>
        </p:nvSpPr>
        <p:spPr>
          <a:xfrm>
            <a:off x="713232" y="1152144"/>
            <a:ext cx="91440" cy="217627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3DC0AD6-4299-4D0F-961F-96F0FB854F2D}"/>
              </a:ext>
            </a:extLst>
          </p:cNvPr>
          <p:cNvSpPr>
            <a:spLocks noGrp="1"/>
          </p:cNvSpPr>
          <p:nvPr/>
        </p:nvSpPr>
        <p:spPr>
          <a:xfrm>
            <a:off x="1078992" y="1582311"/>
            <a:ext cx="7909560" cy="547842"/>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3200" b="1" i="0">
                <a:solidFill>
                  <a:srgbClr val="FFFFFF"/>
                </a:solidFill>
                <a:latin typeface="Arial"/>
                <a:ea typeface="Arial"/>
                <a:cs typeface="Arial"/>
              </a:rPr>
              <a:t>Validation with SEA-AD</a:t>
            </a:r>
          </a:p>
        </p:txBody>
      </p:sp>
      <p:sp>
        <p:nvSpPr>
          <p:cNvPr id="6" name="Rounded Rectangle 5">
            <a:extLst>
              <a:ext uri="{FF2B5EF4-FFF2-40B4-BE49-F238E27FC236}">
                <a16:creationId xmlns:a16="http://schemas.microsoft.com/office/drawing/2014/main" id="{F0D7FE17-E245-404D-80E1-239C6047FE4B}"/>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3251616-1E09-4A84-857B-CC40EAF794CB}"/>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9E73"/>
                </a:solidFill>
                <a:latin typeface="Arial"/>
                <a:ea typeface="Arial"/>
                <a:cs typeface="Arial"/>
              </a:rPr>
              <a:t>IN THIS PART</a:t>
            </a:r>
          </a:p>
        </p:txBody>
      </p:sp>
      <p:sp>
        <p:nvSpPr>
          <p:cNvPr id="8" name="Oval 7">
            <a:extLst>
              <a:ext uri="{FF2B5EF4-FFF2-40B4-BE49-F238E27FC236}">
                <a16:creationId xmlns:a16="http://schemas.microsoft.com/office/drawing/2014/main" id="{17E07A8E-BBA6-4DDE-8AF7-797D7EF21C77}"/>
              </a:ext>
            </a:extLst>
          </p:cNvPr>
          <p:cNvSpPr>
            <a:spLocks noGrp="1"/>
          </p:cNvSpPr>
          <p:nvPr/>
        </p:nvSpPr>
        <p:spPr>
          <a:xfrm>
            <a:off x="9198864" y="2039112"/>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27F1BCE-39EA-40B8-8D6A-32B1CFF4BBA0}"/>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7E0B846-5D25-4AAF-820D-ADE26EB228EA}"/>
              </a:ext>
            </a:extLst>
          </p:cNvPr>
          <p:cNvSpPr>
            <a:spLocks noGrp="1"/>
          </p:cNvSpPr>
          <p:nvPr/>
        </p:nvSpPr>
        <p:spPr>
          <a:xfrm>
            <a:off x="9628632" y="2011680"/>
            <a:ext cx="1444752" cy="22621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Run DEG</a:t>
            </a:r>
          </a:p>
        </p:txBody>
      </p:sp>
      <p:sp>
        <p:nvSpPr>
          <p:cNvPr id="11" name="Oval 10">
            <a:extLst>
              <a:ext uri="{FF2B5EF4-FFF2-40B4-BE49-F238E27FC236}">
                <a16:creationId xmlns:a16="http://schemas.microsoft.com/office/drawing/2014/main" id="{25BC35C0-8EB4-4CB9-B6DC-12707E7E0DCA}"/>
              </a:ext>
            </a:extLst>
          </p:cNvPr>
          <p:cNvSpPr>
            <a:spLocks noGrp="1"/>
          </p:cNvSpPr>
          <p:nvPr/>
        </p:nvSpPr>
        <p:spPr>
          <a:xfrm>
            <a:off x="9198864" y="2788920"/>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F3E593C-CE4C-44A9-AA30-21B82C7AFD46}"/>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557AEFD-363D-42FB-B1C6-16E766E0557D}"/>
              </a:ext>
            </a:extLst>
          </p:cNvPr>
          <p:cNvSpPr>
            <a:spLocks noGrp="1"/>
          </p:cNvSpPr>
          <p:nvPr/>
        </p:nvSpPr>
        <p:spPr>
          <a:xfrm>
            <a:off x="9628632" y="2761488"/>
            <a:ext cx="1444752" cy="22621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Make KDA calls</a:t>
            </a:r>
          </a:p>
        </p:txBody>
      </p:sp>
      <p:sp>
        <p:nvSpPr>
          <p:cNvPr id="14" name="Oval 13">
            <a:extLst>
              <a:ext uri="{FF2B5EF4-FFF2-40B4-BE49-F238E27FC236}">
                <a16:creationId xmlns:a16="http://schemas.microsoft.com/office/drawing/2014/main" id="{76022DFA-4C8F-40E9-AEFC-D847CF926B92}"/>
              </a:ext>
            </a:extLst>
          </p:cNvPr>
          <p:cNvSpPr>
            <a:spLocks noGrp="1"/>
          </p:cNvSpPr>
          <p:nvPr/>
        </p:nvSpPr>
        <p:spPr>
          <a:xfrm>
            <a:off x="9198864" y="3538727"/>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8763030-A0D4-403C-B577-1D252BB5289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AA043817-07B6-4981-9CE4-DEAE214BE66C}"/>
              </a:ext>
            </a:extLst>
          </p:cNvPr>
          <p:cNvSpPr>
            <a:spLocks noGrp="1"/>
          </p:cNvSpPr>
          <p:nvPr/>
        </p:nvSpPr>
        <p:spPr>
          <a:xfrm>
            <a:off x="9628632" y="3511296"/>
            <a:ext cx="1444752" cy="22621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ACAT aggregation</a:t>
            </a:r>
          </a:p>
        </p:txBody>
      </p:sp>
      <p:sp>
        <p:nvSpPr>
          <p:cNvPr id="17" name="Oval 16">
            <a:extLst>
              <a:ext uri="{FF2B5EF4-FFF2-40B4-BE49-F238E27FC236}">
                <a16:creationId xmlns:a16="http://schemas.microsoft.com/office/drawing/2014/main" id="{674AE4D7-1D34-4866-989F-DE4C41BF6661}"/>
              </a:ext>
            </a:extLst>
          </p:cNvPr>
          <p:cNvSpPr>
            <a:spLocks noGrp="1"/>
          </p:cNvSpPr>
          <p:nvPr/>
        </p:nvSpPr>
        <p:spPr>
          <a:xfrm>
            <a:off x="9198864" y="4288536"/>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0DB2C69-CC33-4708-BF6C-708EE3B38B85}"/>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344C318C-EA1D-4BAC-ADDA-C0B26C695230}"/>
              </a:ext>
            </a:extLst>
          </p:cNvPr>
          <p:cNvSpPr>
            <a:spLocks noGrp="1"/>
          </p:cNvSpPr>
          <p:nvPr/>
        </p:nvSpPr>
        <p:spPr>
          <a:xfrm>
            <a:off x="9628632" y="4261104"/>
            <a:ext cx="1444752" cy="22621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Result analysis</a:t>
            </a:r>
          </a:p>
        </p:txBody>
      </p:sp>
    </p:spTree>
    <p:extLst>
      <p:ext uri="{BB962C8B-B14F-4D97-AF65-F5344CB8AC3E}">
        <p14:creationId val="106375148"/>
      </p:ext>
    </p:extLst>
  </p:cSld>
  <p:clrMapOvr>
    <a:masterClrMapping/>
  </p:clrMapOvr>
  <p:transition/>
  <p:timing/>
</p:sld>
</file>

<file path=ppt/slides/slide3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3" name="TextBox 2">
            <a:extLst>
              <a:ext uri="{FF2B5EF4-FFF2-40B4-BE49-F238E27FC236}">
                <a16:creationId xmlns:a16="http://schemas.microsoft.com/office/drawing/2014/main" id="{4820217C-C0C2-5165-22E5-F8E5797B0969}"/>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450" b="1" i="0">
                <a:solidFill>
                  <a:srgbClr val="0F233D"/>
                </a:solidFill>
                <a:latin typeface="Arial"/>
                <a:ea typeface="Arial"/>
                <a:cs typeface="Arial"/>
              </a:rPr>
              <a:t>Summary for SEA-AD</a:t>
            </a:r>
          </a:p>
        </p:txBody>
      </p:sp>
      <p:sp>
        <p:nvSpPr>
          <p:cNvPr id="4" name="TextBox 3">
            <a:extLst>
              <a:ext uri="{FF2B5EF4-FFF2-40B4-BE49-F238E27FC236}">
                <a16:creationId xmlns:a16="http://schemas.microsoft.com/office/drawing/2014/main" id="{A1C4930B-8D6F-B90D-804F-1BE1686DEDF9}"/>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20" b="0" i="0">
                <a:solidFill>
                  <a:srgbClr val="4E5A68"/>
                </a:solidFill>
                <a:latin typeface="Arial"/>
                <a:ea typeface="Arial"/>
                <a:cs typeface="Arial"/>
              </a:rPr>
              <a:t>Each contrast contributes at most one MitoCarta MT DEG query. Non-MitoCarta genes returned from KDA calls are aggregated by category.</a:t>
            </a:r>
          </a:p>
        </p:txBody>
      </p:sp>
      <p:sp>
        <p:nvSpPr>
          <p:cNvPr id="23" name="Rounded Rectangle 22">
            <a:extLst>
              <a:ext uri="{FF2B5EF4-FFF2-40B4-BE49-F238E27FC236}">
                <a16:creationId xmlns:a16="http://schemas.microsoft.com/office/drawing/2014/main" id="{F20FD518-1F4A-331F-FBD2-F57F5FAA0AAD}"/>
              </a:ext>
            </a:extLst>
          </p:cNvPr>
          <p:cNvSpPr>
            <a:spLocks noGrp="1"/>
          </p:cNvSpPr>
          <p:nvPr/>
        </p:nvSpPr>
        <p:spPr>
          <a:xfrm>
            <a:off x="3127683" y="1430818"/>
            <a:ext cx="5358384" cy="43251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DAFDBE9E-6ABC-4DEF-4205-F1E82872DEDF}"/>
              </a:ext>
            </a:extLst>
          </p:cNvPr>
          <p:cNvSpPr>
            <a:spLocks noGrp="1"/>
          </p:cNvSpPr>
          <p:nvPr/>
        </p:nvSpPr>
        <p:spPr>
          <a:xfrm>
            <a:off x="3411147" y="1723426"/>
            <a:ext cx="2926080" cy="2092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000" b="1" i="0">
                <a:solidFill>
                  <a:srgbClr val="009E73"/>
                </a:solidFill>
                <a:latin typeface="Arial"/>
                <a:ea typeface="Arial"/>
                <a:cs typeface="Arial"/>
              </a:rPr>
              <a:t>SEA-AD IS FOR VALIDATION</a:t>
            </a:r>
          </a:p>
        </p:txBody>
      </p:sp>
      <p:sp>
        <p:nvSpPr>
          <p:cNvPr id="25" name="TextBox 24">
            <a:extLst>
              <a:ext uri="{FF2B5EF4-FFF2-40B4-BE49-F238E27FC236}">
                <a16:creationId xmlns:a16="http://schemas.microsoft.com/office/drawing/2014/main" id="{C08A9B8D-DCB8-F1E9-92CC-8909156FCDDF}"/>
              </a:ext>
            </a:extLst>
          </p:cNvPr>
          <p:cNvSpPr>
            <a:spLocks noGrp="1"/>
          </p:cNvSpPr>
          <p:nvPr/>
        </p:nvSpPr>
        <p:spPr>
          <a:xfrm>
            <a:off x="3411147" y="2034322"/>
            <a:ext cx="4526280" cy="66446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000" b="1" i="0">
                <a:solidFill>
                  <a:srgbClr val="0F233D"/>
                </a:solidFill>
                <a:latin typeface="Arial"/>
                <a:ea typeface="Arial"/>
                <a:cs typeface="Arial"/>
              </a:rPr>
              <a:t>Do the same genes returned from KDA calls recur in SEA-AD?</a:t>
            </a:r>
          </a:p>
        </p:txBody>
      </p:sp>
      <p:sp>
        <p:nvSpPr>
          <p:cNvPr id="26" name="Rounded Rectangle 25">
            <a:extLst>
              <a:ext uri="{FF2B5EF4-FFF2-40B4-BE49-F238E27FC236}">
                <a16:creationId xmlns:a16="http://schemas.microsoft.com/office/drawing/2014/main" id="{0B078D71-6BC9-1CEF-1971-223819588041}"/>
              </a:ext>
            </a:extLst>
          </p:cNvPr>
          <p:cNvSpPr>
            <a:spLocks noGrp="1"/>
          </p:cNvSpPr>
          <p:nvPr/>
        </p:nvSpPr>
        <p:spPr>
          <a:xfrm>
            <a:off x="3411147"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64EEDEE-DC0D-59BD-5FB8-DA778676454A}"/>
              </a:ext>
            </a:extLst>
          </p:cNvPr>
          <p:cNvSpPr>
            <a:spLocks noGrp="1"/>
          </p:cNvSpPr>
          <p:nvPr/>
        </p:nvSpPr>
        <p:spPr>
          <a:xfrm>
            <a:off x="3557451" y="2884714"/>
            <a:ext cx="1124712" cy="42976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500" b="1" i="0">
                <a:solidFill>
                  <a:srgbClr val="00684D"/>
                </a:solidFill>
                <a:latin typeface="Arial"/>
                <a:ea typeface="Arial"/>
                <a:cs typeface="Arial"/>
              </a:rPr>
              <a:t>774</a:t>
            </a:r>
          </a:p>
        </p:txBody>
      </p:sp>
      <p:sp>
        <p:nvSpPr>
          <p:cNvPr id="28" name="TextBox 27">
            <a:extLst>
              <a:ext uri="{FF2B5EF4-FFF2-40B4-BE49-F238E27FC236}">
                <a16:creationId xmlns:a16="http://schemas.microsoft.com/office/drawing/2014/main" id="{5CE77759-350E-C5E6-AFA3-99091A03E630}"/>
              </a:ext>
            </a:extLst>
          </p:cNvPr>
          <p:cNvSpPr>
            <a:spLocks noGrp="1"/>
          </p:cNvSpPr>
          <p:nvPr/>
        </p:nvSpPr>
        <p:spPr>
          <a:xfrm>
            <a:off x="3557451" y="3341914"/>
            <a:ext cx="1124712" cy="39319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60" b="1" i="0">
                <a:solidFill>
                  <a:srgbClr val="4E5A68"/>
                </a:solidFill>
                <a:latin typeface="Arial"/>
                <a:ea typeface="Arial"/>
                <a:cs typeface="Arial"/>
              </a:rPr>
              <a:t>planned contrasts</a:t>
            </a:r>
          </a:p>
        </p:txBody>
      </p:sp>
      <p:sp>
        <p:nvSpPr>
          <p:cNvPr id="29" name="Rounded Rectangle 28">
            <a:extLst>
              <a:ext uri="{FF2B5EF4-FFF2-40B4-BE49-F238E27FC236}">
                <a16:creationId xmlns:a16="http://schemas.microsoft.com/office/drawing/2014/main" id="{4400346E-7B11-A714-29D9-69BD721FA136}"/>
              </a:ext>
            </a:extLst>
          </p:cNvPr>
          <p:cNvSpPr>
            <a:spLocks noGrp="1"/>
          </p:cNvSpPr>
          <p:nvPr/>
        </p:nvSpPr>
        <p:spPr>
          <a:xfrm>
            <a:off x="4993058"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C2547233-A652-C0AF-EDEB-2732D1A4DBE5}"/>
              </a:ext>
            </a:extLst>
          </p:cNvPr>
          <p:cNvSpPr>
            <a:spLocks noGrp="1"/>
          </p:cNvSpPr>
          <p:nvPr/>
        </p:nvSpPr>
        <p:spPr>
          <a:xfrm>
            <a:off x="5139362" y="2884714"/>
            <a:ext cx="1124712" cy="42976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500" b="1" i="0">
                <a:solidFill>
                  <a:srgbClr val="00684D"/>
                </a:solidFill>
                <a:latin typeface="Arial"/>
                <a:ea typeface="Arial"/>
                <a:cs typeface="Arial"/>
              </a:rPr>
              <a:t>22</a:t>
            </a:r>
          </a:p>
        </p:txBody>
      </p:sp>
      <p:sp>
        <p:nvSpPr>
          <p:cNvPr id="31" name="TextBox 30">
            <a:extLst>
              <a:ext uri="{FF2B5EF4-FFF2-40B4-BE49-F238E27FC236}">
                <a16:creationId xmlns:a16="http://schemas.microsoft.com/office/drawing/2014/main" id="{37BF3831-B296-5FA6-E586-B64CB5A56F02}"/>
              </a:ext>
            </a:extLst>
          </p:cNvPr>
          <p:cNvSpPr>
            <a:spLocks noGrp="1"/>
          </p:cNvSpPr>
          <p:nvPr/>
        </p:nvSpPr>
        <p:spPr>
          <a:xfrm>
            <a:off x="5139362" y="3341914"/>
            <a:ext cx="1124712" cy="203133"/>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60" b="1" i="0">
                <a:solidFill>
                  <a:srgbClr val="4E5A68"/>
                </a:solidFill>
                <a:latin typeface="Arial"/>
                <a:ea typeface="Arial"/>
                <a:cs typeface="Arial"/>
              </a:rPr>
              <a:t>KDA calls</a:t>
            </a:r>
          </a:p>
        </p:txBody>
      </p:sp>
      <p:sp>
        <p:nvSpPr>
          <p:cNvPr id="32" name="Rounded Rectangle 31">
            <a:extLst>
              <a:ext uri="{FF2B5EF4-FFF2-40B4-BE49-F238E27FC236}">
                <a16:creationId xmlns:a16="http://schemas.microsoft.com/office/drawing/2014/main" id="{6961CA91-699A-CD79-78FA-A69D94C8C539}"/>
              </a:ext>
            </a:extLst>
          </p:cNvPr>
          <p:cNvSpPr>
            <a:spLocks noGrp="1"/>
          </p:cNvSpPr>
          <p:nvPr/>
        </p:nvSpPr>
        <p:spPr>
          <a:xfrm>
            <a:off x="6574971"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0E527466-4679-43D5-549D-87E4FEF6E2F4}"/>
              </a:ext>
            </a:extLst>
          </p:cNvPr>
          <p:cNvSpPr>
            <a:spLocks noGrp="1"/>
          </p:cNvSpPr>
          <p:nvPr/>
        </p:nvSpPr>
        <p:spPr>
          <a:xfrm>
            <a:off x="6721275" y="2884714"/>
            <a:ext cx="1124712" cy="42976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500" b="1" i="0">
                <a:solidFill>
                  <a:srgbClr val="00684D"/>
                </a:solidFill>
                <a:latin typeface="Arial"/>
                <a:ea typeface="Arial"/>
                <a:cs typeface="Arial"/>
              </a:rPr>
              <a:t>44</a:t>
            </a:r>
          </a:p>
        </p:txBody>
      </p:sp>
      <p:sp>
        <p:nvSpPr>
          <p:cNvPr id="34" name="TextBox 33">
            <a:extLst>
              <a:ext uri="{FF2B5EF4-FFF2-40B4-BE49-F238E27FC236}">
                <a16:creationId xmlns:a16="http://schemas.microsoft.com/office/drawing/2014/main" id="{EDC5CEC5-620B-4088-6D42-A47D837F8D78}"/>
              </a:ext>
            </a:extLst>
          </p:cNvPr>
          <p:cNvSpPr>
            <a:spLocks noGrp="1"/>
          </p:cNvSpPr>
          <p:nvPr/>
        </p:nvSpPr>
        <p:spPr>
          <a:xfrm>
            <a:off x="6721275" y="3341914"/>
            <a:ext cx="1124712" cy="350865"/>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60" b="1" i="0">
                <a:solidFill>
                  <a:srgbClr val="4E5A68"/>
                </a:solidFill>
                <a:latin typeface="Arial"/>
                <a:ea typeface="Arial"/>
                <a:cs typeface="Arial"/>
              </a:rPr>
              <a:t>gene × category combinations</a:t>
            </a:r>
          </a:p>
        </p:txBody>
      </p:sp>
      <p:sp>
        <p:nvSpPr>
          <p:cNvPr id="35" name="Oval 34">
            <a:extLst>
              <a:ext uri="{FF2B5EF4-FFF2-40B4-BE49-F238E27FC236}">
                <a16:creationId xmlns:a16="http://schemas.microsoft.com/office/drawing/2014/main" id="{567ADC53-49F7-0D93-2D5C-98E88AC7F699}"/>
              </a:ext>
            </a:extLst>
          </p:cNvPr>
          <p:cNvSpPr>
            <a:spLocks noGrp="1"/>
          </p:cNvSpPr>
          <p:nvPr/>
        </p:nvSpPr>
        <p:spPr>
          <a:xfrm>
            <a:off x="3420291" y="4194159"/>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FD250839-97A3-EB02-9405-2850B7C3014C}"/>
              </a:ext>
            </a:extLst>
          </p:cNvPr>
          <p:cNvSpPr>
            <a:spLocks noGrp="1"/>
          </p:cNvSpPr>
          <p:nvPr/>
        </p:nvSpPr>
        <p:spPr>
          <a:xfrm>
            <a:off x="3594027" y="4100866"/>
            <a:ext cx="4361688" cy="43891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50" b="0" i="0">
                <a:solidFill>
                  <a:srgbClr val="1F2730"/>
                </a:solidFill>
                <a:latin typeface="Arial"/>
                <a:ea typeface="Arial"/>
                <a:cs typeface="Arial"/>
              </a:rPr>
              <a:t>Uses SEA-AD-specific Bayesian networks.</a:t>
            </a:r>
          </a:p>
        </p:txBody>
      </p:sp>
      <p:sp>
        <p:nvSpPr>
          <p:cNvPr id="37" name="Oval 36">
            <a:extLst>
              <a:ext uri="{FF2B5EF4-FFF2-40B4-BE49-F238E27FC236}">
                <a16:creationId xmlns:a16="http://schemas.microsoft.com/office/drawing/2014/main" id="{C5D3AF96-1713-66D2-750A-9E07D3BF2492}"/>
              </a:ext>
            </a:extLst>
          </p:cNvPr>
          <p:cNvSpPr>
            <a:spLocks noGrp="1"/>
          </p:cNvSpPr>
          <p:nvPr/>
        </p:nvSpPr>
        <p:spPr>
          <a:xfrm>
            <a:off x="3420291" y="462149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FCD02414-1091-B30C-75CC-F2C2C3983D92}"/>
              </a:ext>
            </a:extLst>
          </p:cNvPr>
          <p:cNvSpPr>
            <a:spLocks noGrp="1"/>
          </p:cNvSpPr>
          <p:nvPr/>
        </p:nvSpPr>
        <p:spPr>
          <a:xfrm>
            <a:off x="3594027" y="4539777"/>
            <a:ext cx="4361688" cy="232371"/>
          </a:xfrm>
          <a:prstGeom prst="rect">
            <a:avLst/>
          </a:prstGeom>
          <a:noFill/>
        </p:spPr>
        <p:txBody>
          <a:bodyPr wrap="square" lIns="27432" tIns="27432" rIns="27432" bIns="27432" anchor="t">
            <a:spAutoFit/>
          </a:bodyPr>
          <a:lstStyle/>
          <a:p>
            <a:r>
              <a:rPr sz="1150">
                <a:solidFill>
                  <a:srgbClr val="1F2730"/>
                </a:solidFill>
                <a:latin typeface="Arial"/>
                <a:ea typeface="Arial"/>
                <a:cs typeface="Arial"/>
              </a:rPr>
              <a:t>Final 44 combinations represent 43 unique genes in 5 categories</a:t>
            </a:r>
          </a:p>
        </p:txBody>
      </p:sp>
      <p:sp>
        <p:nvSpPr>
          <p:cNvPr id="39" name="Oval 38">
            <a:extLst>
              <a:ext uri="{FF2B5EF4-FFF2-40B4-BE49-F238E27FC236}">
                <a16:creationId xmlns:a16="http://schemas.microsoft.com/office/drawing/2014/main" id="{79E8A492-0E0F-E92C-8D7C-1EDE7DD70821}"/>
              </a:ext>
            </a:extLst>
          </p:cNvPr>
          <p:cNvSpPr>
            <a:spLocks noGrp="1"/>
          </p:cNvSpPr>
          <p:nvPr/>
        </p:nvSpPr>
        <p:spPr>
          <a:xfrm>
            <a:off x="3420291" y="506619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 name="TextBox 1">
            <a:extLst>
              <a:ext uri="{FF2B5EF4-FFF2-40B4-BE49-F238E27FC236}">
                <a16:creationId xmlns:a16="http://schemas.microsoft.com/office/drawing/2014/main" id="{4F058FC1-77DB-E3CD-AAE6-D629960B57E1}"/>
              </a:ext>
            </a:extLst>
          </p:cNvPr>
          <p:cNvSpPr>
            <a:spLocks noGrp="1"/>
          </p:cNvSpPr>
          <p:nvPr/>
        </p:nvSpPr>
        <p:spPr>
          <a:xfrm>
            <a:off x="3601744" y="4993116"/>
            <a:ext cx="4361688" cy="232371"/>
          </a:xfrm>
          <a:prstGeom prst="rect">
            <a:avLst/>
          </a:prstGeom>
          <a:noFill/>
        </p:spPr>
        <p:txBody>
          <a:bodyPr wrap="square" lIns="27432" tIns="27432" rIns="27432" bIns="27432" anchor="t">
            <a:spAutoFit/>
          </a:bodyPr>
          <a:lstStyle/>
          <a:p>
            <a:r>
              <a:rPr sz="1150">
                <a:solidFill>
                  <a:srgbClr val="1F2730"/>
                </a:solidFill>
                <a:latin typeface="Arial"/>
                <a:ea typeface="Arial"/>
                <a:cs typeface="Arial"/>
              </a:rPr>
              <a:t>20 of 22 KDA calls are M_e33.</a:t>
            </a:r>
          </a:p>
        </p:txBody>
      </p:sp>
    </p:spTree>
    <p:extLst>
      <p:ext uri="{BB962C8B-B14F-4D97-AF65-F5344CB8AC3E}">
        <p14:creationId val="2690829238"/>
      </p:ext>
    </p:extLst>
  </p:cSld>
  <p:clrMapOvr>
    <a:masterClrMapping/>
  </p:clrMapOvr>
  <p:transition/>
  <p:timing/>
</p:sld>
</file>

<file path=ppt/slides/slide3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DA731D2A-B116-490A-A83D-7899BE439E0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450" b="1" i="0">
                <a:solidFill>
                  <a:srgbClr val="0F233D"/>
                </a:solidFill>
                <a:latin typeface="Arial"/>
                <a:ea typeface="Arial"/>
                <a:cs typeface="Arial"/>
              </a:rPr>
              <a:t>129 SEA-AD supertypes create 774 planned contrasts</a:t>
            </a:r>
          </a:p>
        </p:txBody>
      </p:sp>
      <p:sp>
        <p:nvSpPr>
          <p:cNvPr id="3" name="TextBox 2">
            <a:extLst>
              <a:ext uri="{FF2B5EF4-FFF2-40B4-BE49-F238E27FC236}">
                <a16:creationId xmlns:a16="http://schemas.microsoft.com/office/drawing/2014/main" id="{0F5EC579-272D-4700-8B38-0263DDE652E8}"/>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20" b="0" i="0">
                <a:solidFill>
                  <a:srgbClr val="4E5A68"/>
                </a:solidFill>
                <a:latin typeface="Arial"/>
                <a:ea typeface="Arial"/>
                <a:cs typeface="Arial"/>
              </a:rPr>
              <a:t>One MitoCarta MT DEG query per supertype × sex/APOE contrast.</a:t>
            </a:r>
          </a:p>
        </p:txBody>
      </p:sp>
      <p:sp>
        <p:nvSpPr>
          <p:cNvPr id="4" name="Rounded Rectangle 3">
            <a:extLst>
              <a:ext uri="{FF2B5EF4-FFF2-40B4-BE49-F238E27FC236}">
                <a16:creationId xmlns:a16="http://schemas.microsoft.com/office/drawing/2014/main" id="{756EB20F-A424-44D2-962B-C48792D776EA}"/>
              </a:ext>
            </a:extLst>
          </p:cNvPr>
          <p:cNvSpPr>
            <a:spLocks noGrp="1"/>
          </p:cNvSpPr>
          <p:nvPr/>
        </p:nvSpPr>
        <p:spPr>
          <a:xfrm>
            <a:off x="640080" y="1344168"/>
            <a:ext cx="3383280" cy="119786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84AFF86-E79D-4767-A7FA-9893CC7D90C1}"/>
              </a:ext>
            </a:extLst>
          </p:cNvPr>
          <p:cNvSpPr>
            <a:spLocks noGrp="1"/>
          </p:cNvSpPr>
          <p:nvPr/>
        </p:nvSpPr>
        <p:spPr>
          <a:xfrm>
            <a:off x="868680" y="1591056"/>
            <a:ext cx="2926080" cy="283464"/>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900" b="1" i="0">
                <a:solidFill>
                  <a:srgbClr val="0F233D"/>
                </a:solidFill>
                <a:latin typeface="Arial"/>
                <a:ea typeface="Arial"/>
                <a:cs typeface="Arial"/>
              </a:rPr>
              <a:t>129 supertypes</a:t>
            </a:r>
          </a:p>
        </p:txBody>
      </p:sp>
      <p:sp>
        <p:nvSpPr>
          <p:cNvPr id="6" name="TextBox 5">
            <a:extLst>
              <a:ext uri="{FF2B5EF4-FFF2-40B4-BE49-F238E27FC236}">
                <a16:creationId xmlns:a16="http://schemas.microsoft.com/office/drawing/2014/main" id="{7E596793-2A55-49C5-B984-C2CFA9EF73FA}"/>
              </a:ext>
            </a:extLst>
          </p:cNvPr>
          <p:cNvSpPr>
            <a:spLocks noGrp="1"/>
          </p:cNvSpPr>
          <p:nvPr/>
        </p:nvSpPr>
        <p:spPr>
          <a:xfrm>
            <a:off x="868680" y="1993392"/>
            <a:ext cx="2926080" cy="27432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230" b="1" i="0">
                <a:solidFill>
                  <a:srgbClr val="00684D"/>
                </a:solidFill>
                <a:latin typeface="Arial"/>
                <a:ea typeface="Arial"/>
                <a:cs typeface="Arial"/>
              </a:rPr>
              <a:t>× 6 groups = 774 contrasts</a:t>
            </a:r>
          </a:p>
        </p:txBody>
      </p:sp>
      <p:sp>
        <p:nvSpPr>
          <p:cNvPr id="7" name="Rounded Rectangle 6">
            <a:extLst>
              <a:ext uri="{FF2B5EF4-FFF2-40B4-BE49-F238E27FC236}">
                <a16:creationId xmlns:a16="http://schemas.microsoft.com/office/drawing/2014/main" id="{0B49FCD5-4828-4431-A44D-718D46EF7FC1}"/>
              </a:ext>
            </a:extLst>
          </p:cNvPr>
          <p:cNvSpPr>
            <a:spLocks noGrp="1"/>
          </p:cNvSpPr>
          <p:nvPr/>
        </p:nvSpPr>
        <p:spPr>
          <a:xfrm>
            <a:off x="4407408" y="1344168"/>
            <a:ext cx="3383280" cy="1197864"/>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9212BA46-0D7D-4D46-8BF1-D8823CBDDB3E}"/>
              </a:ext>
            </a:extLst>
          </p:cNvPr>
          <p:cNvSpPr>
            <a:spLocks noGrp="1"/>
          </p:cNvSpPr>
          <p:nvPr/>
        </p:nvSpPr>
        <p:spPr>
          <a:xfrm>
            <a:off x="4636008" y="1591056"/>
            <a:ext cx="2926080" cy="347788"/>
          </a:xfrm>
          <a:prstGeom prst="rect">
            <a:avLst/>
          </a:prstGeom>
          <a:noFill/>
        </p:spPr>
        <p:txBody>
          <a:bodyPr wrap="square" lIns="27432" tIns="27432" rIns="27432" bIns="27432" anchor="t">
            <a:spAutoFit/>
          </a:bodyPr>
          <a:lstStyle/>
          <a:p>
            <a:pPr algn="ctr">
              <a:buNone/>
            </a:pPr>
            <a:r>
              <a:rPr sz="1900" b="1" i="0">
                <a:solidFill>
                  <a:srgbClr val="0F233D"/>
                </a:solidFill>
                <a:latin typeface="Arial"/>
                <a:ea typeface="Arial"/>
                <a:cs typeface="Arial"/>
              </a:rPr>
              <a:t>774 </a:t>
            </a:r>
            <a:r>
              <a:rPr sz="1900" b="1">
                <a:solidFill>
                  <a:srgbClr val="0F233D"/>
                </a:solidFill>
                <a:latin typeface="Arial"/>
                <a:ea typeface="Arial"/>
                <a:cs typeface="Arial"/>
              </a:rPr>
              <a:t>DEG contrasts</a:t>
            </a:r>
            <a:endParaRPr sz="1900" b="1" i="0">
              <a:solidFill>
                <a:srgbClr val="0F233D"/>
              </a:solidFill>
              <a:latin typeface="Arial"/>
              <a:ea typeface="Arial"/>
              <a:cs typeface="Arial"/>
            </a:endParaRPr>
          </a:p>
        </p:txBody>
      </p:sp>
      <p:sp>
        <p:nvSpPr>
          <p:cNvPr id="9" name="TextBox 8">
            <a:extLst>
              <a:ext uri="{FF2B5EF4-FFF2-40B4-BE49-F238E27FC236}">
                <a16:creationId xmlns:a16="http://schemas.microsoft.com/office/drawing/2014/main" id="{48F6E372-621D-414C-B37C-B22565F0A23B}"/>
              </a:ext>
            </a:extLst>
          </p:cNvPr>
          <p:cNvSpPr>
            <a:spLocks noGrp="1"/>
          </p:cNvSpPr>
          <p:nvPr/>
        </p:nvSpPr>
        <p:spPr>
          <a:xfrm>
            <a:off x="4636008" y="1993392"/>
            <a:ext cx="2926080" cy="27432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230" b="1" i="0">
                <a:solidFill>
                  <a:srgbClr val="56B4E9"/>
                </a:solidFill>
                <a:latin typeface="Arial"/>
                <a:ea typeface="Arial"/>
                <a:cs typeface="Arial"/>
              </a:rPr>
              <a:t>one query per contrast</a:t>
            </a:r>
          </a:p>
        </p:txBody>
      </p:sp>
      <p:sp>
        <p:nvSpPr>
          <p:cNvPr id="10" name="Rounded Rectangle 9">
            <a:extLst>
              <a:ext uri="{FF2B5EF4-FFF2-40B4-BE49-F238E27FC236}">
                <a16:creationId xmlns:a16="http://schemas.microsoft.com/office/drawing/2014/main" id="{0587407E-5675-491D-84B8-41C2C270987A}"/>
              </a:ext>
            </a:extLst>
          </p:cNvPr>
          <p:cNvSpPr>
            <a:spLocks noGrp="1"/>
          </p:cNvSpPr>
          <p:nvPr/>
        </p:nvSpPr>
        <p:spPr>
          <a:xfrm>
            <a:off x="8174736" y="1344168"/>
            <a:ext cx="3383280" cy="1197864"/>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85475A39-8B85-46D8-907E-216127FB6D36}"/>
              </a:ext>
            </a:extLst>
          </p:cNvPr>
          <p:cNvSpPr>
            <a:spLocks noGrp="1"/>
          </p:cNvSpPr>
          <p:nvPr/>
        </p:nvSpPr>
        <p:spPr>
          <a:xfrm>
            <a:off x="8403336" y="1591056"/>
            <a:ext cx="2926080" cy="34778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900" b="1" i="0">
                <a:solidFill>
                  <a:srgbClr val="0F233D"/>
                </a:solidFill>
                <a:latin typeface="Arial"/>
                <a:ea typeface="Arial"/>
                <a:cs typeface="Arial"/>
              </a:rPr>
              <a:t>22 KDA calls</a:t>
            </a:r>
          </a:p>
        </p:txBody>
      </p:sp>
      <p:sp>
        <p:nvSpPr>
          <p:cNvPr id="12" name="TextBox 11">
            <a:extLst>
              <a:ext uri="{FF2B5EF4-FFF2-40B4-BE49-F238E27FC236}">
                <a16:creationId xmlns:a16="http://schemas.microsoft.com/office/drawing/2014/main" id="{16511654-4C4F-4768-A8F3-B6513E48A740}"/>
              </a:ext>
            </a:extLst>
          </p:cNvPr>
          <p:cNvSpPr>
            <a:spLocks noGrp="1"/>
          </p:cNvSpPr>
          <p:nvPr/>
        </p:nvSpPr>
        <p:spPr>
          <a:xfrm>
            <a:off x="8403336" y="1993392"/>
            <a:ext cx="2926080" cy="433965"/>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230" b="1" i="0">
                <a:solidFill>
                  <a:srgbClr val="895600"/>
                </a:solidFill>
                <a:latin typeface="Arial"/>
                <a:ea typeface="Arial"/>
                <a:cs typeface="Arial"/>
              </a:rPr>
              <a:t>All valid DEG contrast and number of </a:t>
            </a:r>
            <a:r>
              <a:rPr sz="1230" b="1">
                <a:solidFill>
                  <a:srgbClr val="895600"/>
                </a:solidFill>
                <a:latin typeface="Arial"/>
                <a:ea typeface="Arial"/>
                <a:cs typeface="Arial"/>
              </a:rPr>
              <a:t>genes in</a:t>
            </a:r>
            <a:r>
              <a:rPr sz="1230" b="1" i="0">
                <a:solidFill>
                  <a:srgbClr val="895600"/>
                </a:solidFill>
                <a:latin typeface="Arial"/>
                <a:ea typeface="Arial"/>
                <a:cs typeface="Arial"/>
              </a:rPr>
              <a:t> query ≥ 3</a:t>
            </a:r>
          </a:p>
        </p:txBody>
      </p:sp>
      <p:sp>
        <p:nvSpPr>
          <p:cNvPr id="13" name="Rectangle 12">
            <a:extLst>
              <a:ext uri="{FF2B5EF4-FFF2-40B4-BE49-F238E27FC236}">
                <a16:creationId xmlns:a16="http://schemas.microsoft.com/office/drawing/2014/main" id="{536E8183-C004-4650-A415-65110217BD92}"/>
              </a:ext>
            </a:extLst>
          </p:cNvPr>
          <p:cNvSpPr>
            <a:spLocks noGrp="1"/>
          </p:cNvSpPr>
          <p:nvPr/>
        </p:nvSpPr>
        <p:spPr>
          <a:xfrm>
            <a:off x="786384" y="2834640"/>
            <a:ext cx="580644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A7C68209-0576-4AD6-BC4D-4DFEB9D31F19}"/>
              </a:ext>
            </a:extLst>
          </p:cNvPr>
          <p:cNvSpPr>
            <a:spLocks noGrp="1"/>
          </p:cNvSpPr>
          <p:nvPr/>
        </p:nvSpPr>
        <p:spPr>
          <a:xfrm>
            <a:off x="841247" y="2889504"/>
            <a:ext cx="5696712" cy="338328"/>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919" b="1" i="0">
                <a:solidFill>
                  <a:srgbClr val="FFFFFF"/>
                </a:solidFill>
                <a:latin typeface="Arial"/>
                <a:ea typeface="Arial"/>
                <a:cs typeface="Arial"/>
              </a:rPr>
              <a:t>Mutually exclusive contrast outcome</a:t>
            </a:r>
          </a:p>
        </p:txBody>
      </p:sp>
      <p:sp>
        <p:nvSpPr>
          <p:cNvPr id="15" name="Rectangle 14">
            <a:extLst>
              <a:ext uri="{FF2B5EF4-FFF2-40B4-BE49-F238E27FC236}">
                <a16:creationId xmlns:a16="http://schemas.microsoft.com/office/drawing/2014/main" id="{1694A8C1-05B5-47F1-85AF-E37DCB16D88D}"/>
              </a:ext>
            </a:extLst>
          </p:cNvPr>
          <p:cNvSpPr>
            <a:spLocks noGrp="1"/>
          </p:cNvSpPr>
          <p:nvPr/>
        </p:nvSpPr>
        <p:spPr>
          <a:xfrm>
            <a:off x="6592824" y="2834640"/>
            <a:ext cx="1115568"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3488BB40-F98F-40EB-B99F-0B652DEF4505}"/>
              </a:ext>
            </a:extLst>
          </p:cNvPr>
          <p:cNvSpPr>
            <a:spLocks noGrp="1"/>
          </p:cNvSpPr>
          <p:nvPr/>
        </p:nvSpPr>
        <p:spPr>
          <a:xfrm>
            <a:off x="6647688" y="2889504"/>
            <a:ext cx="1005840" cy="338328"/>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919" b="1" i="0">
                <a:solidFill>
                  <a:srgbClr val="FFFFFF"/>
                </a:solidFill>
                <a:latin typeface="Arial"/>
                <a:ea typeface="Arial"/>
                <a:cs typeface="Arial"/>
              </a:rPr>
              <a:t>Contrasts</a:t>
            </a:r>
          </a:p>
        </p:txBody>
      </p:sp>
      <p:sp>
        <p:nvSpPr>
          <p:cNvPr id="17" name="Rectangle 16">
            <a:extLst>
              <a:ext uri="{FF2B5EF4-FFF2-40B4-BE49-F238E27FC236}">
                <a16:creationId xmlns:a16="http://schemas.microsoft.com/office/drawing/2014/main" id="{78125995-9B01-4654-8667-F3D91A68BD02}"/>
              </a:ext>
            </a:extLst>
          </p:cNvPr>
          <p:cNvSpPr>
            <a:spLocks noGrp="1"/>
          </p:cNvSpPr>
          <p:nvPr/>
        </p:nvSpPr>
        <p:spPr>
          <a:xfrm>
            <a:off x="7708392" y="2834640"/>
            <a:ext cx="36118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2D4EB2C-346E-4F90-B606-E8B9EAC67D6C}"/>
              </a:ext>
            </a:extLst>
          </p:cNvPr>
          <p:cNvSpPr>
            <a:spLocks noGrp="1"/>
          </p:cNvSpPr>
          <p:nvPr/>
        </p:nvSpPr>
        <p:spPr>
          <a:xfrm>
            <a:off x="7763256" y="2889504"/>
            <a:ext cx="3502152" cy="338328"/>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919" b="1" i="0">
                <a:solidFill>
                  <a:srgbClr val="FFFFFF"/>
                </a:solidFill>
                <a:latin typeface="Arial"/>
                <a:ea typeface="Arial"/>
                <a:cs typeface="Arial"/>
              </a:rPr>
              <a:t>KDA call made?</a:t>
            </a:r>
          </a:p>
        </p:txBody>
      </p:sp>
      <p:sp>
        <p:nvSpPr>
          <p:cNvPr id="19" name="Rectangle 18">
            <a:extLst>
              <a:ext uri="{FF2B5EF4-FFF2-40B4-BE49-F238E27FC236}">
                <a16:creationId xmlns:a16="http://schemas.microsoft.com/office/drawing/2014/main" id="{DEEE23B6-51E8-4740-8D90-1F2F8B9A946B}"/>
              </a:ext>
            </a:extLst>
          </p:cNvPr>
          <p:cNvSpPr>
            <a:spLocks noGrp="1"/>
          </p:cNvSpPr>
          <p:nvPr/>
        </p:nvSpPr>
        <p:spPr>
          <a:xfrm>
            <a:off x="786384" y="3264408"/>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FFFF9712-557B-4CF9-A5D5-E47185AC98E3}"/>
              </a:ext>
            </a:extLst>
          </p:cNvPr>
          <p:cNvSpPr>
            <a:spLocks noGrp="1"/>
          </p:cNvSpPr>
          <p:nvPr/>
        </p:nvSpPr>
        <p:spPr>
          <a:xfrm>
            <a:off x="841247" y="3386869"/>
            <a:ext cx="5696712" cy="203133"/>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960" b="0" i="0">
                <a:solidFill>
                  <a:srgbClr val="1F2730"/>
                </a:solidFill>
                <a:latin typeface="Arial"/>
                <a:ea typeface="Arial"/>
                <a:cs typeface="Arial"/>
              </a:rPr>
              <a:t>Source DEG contrast not valid</a:t>
            </a:r>
          </a:p>
        </p:txBody>
      </p:sp>
      <p:sp>
        <p:nvSpPr>
          <p:cNvPr id="21" name="Rectangle 20">
            <a:extLst>
              <a:ext uri="{FF2B5EF4-FFF2-40B4-BE49-F238E27FC236}">
                <a16:creationId xmlns:a16="http://schemas.microsoft.com/office/drawing/2014/main" id="{3115DB27-6DCB-41DA-9890-57EC7150C278}"/>
              </a:ext>
            </a:extLst>
          </p:cNvPr>
          <p:cNvSpPr>
            <a:spLocks noGrp="1"/>
          </p:cNvSpPr>
          <p:nvPr/>
        </p:nvSpPr>
        <p:spPr>
          <a:xfrm>
            <a:off x="6592824" y="3264408"/>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FA8BEB43-DF32-46E3-89D4-2B1E4306F415}"/>
              </a:ext>
            </a:extLst>
          </p:cNvPr>
          <p:cNvSpPr>
            <a:spLocks noGrp="1"/>
          </p:cNvSpPr>
          <p:nvPr/>
        </p:nvSpPr>
        <p:spPr>
          <a:xfrm>
            <a:off x="6647688" y="3310128"/>
            <a:ext cx="1005840" cy="356615"/>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960" b="0" i="0">
                <a:solidFill>
                  <a:srgbClr val="1F2730"/>
                </a:solidFill>
                <a:latin typeface="Arial"/>
                <a:ea typeface="Arial"/>
                <a:cs typeface="Arial"/>
              </a:rPr>
              <a:t>393</a:t>
            </a:r>
          </a:p>
        </p:txBody>
      </p:sp>
      <p:sp>
        <p:nvSpPr>
          <p:cNvPr id="23" name="Rectangle 22">
            <a:extLst>
              <a:ext uri="{FF2B5EF4-FFF2-40B4-BE49-F238E27FC236}">
                <a16:creationId xmlns:a16="http://schemas.microsoft.com/office/drawing/2014/main" id="{B84BCB48-6570-4822-828F-338499D6A131}"/>
              </a:ext>
            </a:extLst>
          </p:cNvPr>
          <p:cNvSpPr>
            <a:spLocks noGrp="1"/>
          </p:cNvSpPr>
          <p:nvPr/>
        </p:nvSpPr>
        <p:spPr>
          <a:xfrm>
            <a:off x="7708392" y="3264408"/>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08E03D5A-5501-4016-BBCC-2C201A5B44EF}"/>
              </a:ext>
            </a:extLst>
          </p:cNvPr>
          <p:cNvSpPr>
            <a:spLocks noGrp="1"/>
          </p:cNvSpPr>
          <p:nvPr/>
        </p:nvSpPr>
        <p:spPr>
          <a:xfrm>
            <a:off x="7763256" y="3310128"/>
            <a:ext cx="3502152" cy="356615"/>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960" b="0" i="0">
                <a:solidFill>
                  <a:srgbClr val="1F2730"/>
                </a:solidFill>
                <a:latin typeface="Arial"/>
                <a:ea typeface="Arial"/>
                <a:cs typeface="Arial"/>
              </a:rPr>
              <a:t>No</a:t>
            </a:r>
          </a:p>
        </p:txBody>
      </p:sp>
      <p:sp>
        <p:nvSpPr>
          <p:cNvPr id="25" name="Rectangle 24">
            <a:extLst>
              <a:ext uri="{FF2B5EF4-FFF2-40B4-BE49-F238E27FC236}">
                <a16:creationId xmlns:a16="http://schemas.microsoft.com/office/drawing/2014/main" id="{C9FD0460-FED0-489F-B99B-9A944E679918}"/>
              </a:ext>
            </a:extLst>
          </p:cNvPr>
          <p:cNvSpPr>
            <a:spLocks noGrp="1"/>
          </p:cNvSpPr>
          <p:nvPr/>
        </p:nvSpPr>
        <p:spPr>
          <a:xfrm>
            <a:off x="786384" y="3694176"/>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362E6B6B-2993-4D8E-998F-465FAB9FCA2E}"/>
              </a:ext>
            </a:extLst>
          </p:cNvPr>
          <p:cNvSpPr>
            <a:spLocks noGrp="1"/>
          </p:cNvSpPr>
          <p:nvPr/>
        </p:nvSpPr>
        <p:spPr>
          <a:xfrm>
            <a:off x="841247" y="3816637"/>
            <a:ext cx="5696712" cy="203133"/>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960" b="0" i="0">
                <a:solidFill>
                  <a:srgbClr val="1F2730"/>
                </a:solidFill>
                <a:latin typeface="Arial"/>
                <a:ea typeface="Arial"/>
                <a:cs typeface="Arial"/>
              </a:rPr>
              <a:t>Number of genes in query: 0</a:t>
            </a:r>
          </a:p>
        </p:txBody>
      </p:sp>
      <p:sp>
        <p:nvSpPr>
          <p:cNvPr id="27" name="Rectangle 26">
            <a:extLst>
              <a:ext uri="{FF2B5EF4-FFF2-40B4-BE49-F238E27FC236}">
                <a16:creationId xmlns:a16="http://schemas.microsoft.com/office/drawing/2014/main" id="{4CA86A09-4680-437D-8C83-FD1A85F5237B}"/>
              </a:ext>
            </a:extLst>
          </p:cNvPr>
          <p:cNvSpPr>
            <a:spLocks noGrp="1"/>
          </p:cNvSpPr>
          <p:nvPr/>
        </p:nvSpPr>
        <p:spPr>
          <a:xfrm>
            <a:off x="6592824" y="3694176"/>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84A62820-632F-4DA2-9BAA-EA9ADC94D734}"/>
              </a:ext>
            </a:extLst>
          </p:cNvPr>
          <p:cNvSpPr>
            <a:spLocks noGrp="1"/>
          </p:cNvSpPr>
          <p:nvPr/>
        </p:nvSpPr>
        <p:spPr>
          <a:xfrm>
            <a:off x="6647688" y="3739896"/>
            <a:ext cx="1005840" cy="356615"/>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960" b="0" i="0">
                <a:solidFill>
                  <a:srgbClr val="1F2730"/>
                </a:solidFill>
                <a:latin typeface="Arial"/>
                <a:ea typeface="Arial"/>
                <a:cs typeface="Arial"/>
              </a:rPr>
              <a:t>348</a:t>
            </a:r>
          </a:p>
        </p:txBody>
      </p:sp>
      <p:sp>
        <p:nvSpPr>
          <p:cNvPr id="29" name="Rectangle 28">
            <a:extLst>
              <a:ext uri="{FF2B5EF4-FFF2-40B4-BE49-F238E27FC236}">
                <a16:creationId xmlns:a16="http://schemas.microsoft.com/office/drawing/2014/main" id="{6DA52366-3F22-429F-B145-2B9FC59B1AD8}"/>
              </a:ext>
            </a:extLst>
          </p:cNvPr>
          <p:cNvSpPr>
            <a:spLocks noGrp="1"/>
          </p:cNvSpPr>
          <p:nvPr/>
        </p:nvSpPr>
        <p:spPr>
          <a:xfrm>
            <a:off x="7708392" y="3694176"/>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74D709C5-6EB0-461D-8820-445C30B578AE}"/>
              </a:ext>
            </a:extLst>
          </p:cNvPr>
          <p:cNvSpPr>
            <a:spLocks noGrp="1"/>
          </p:cNvSpPr>
          <p:nvPr/>
        </p:nvSpPr>
        <p:spPr>
          <a:xfrm>
            <a:off x="7763256" y="3739896"/>
            <a:ext cx="3502152" cy="356615"/>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960" b="0" i="0">
                <a:solidFill>
                  <a:srgbClr val="1F2730"/>
                </a:solidFill>
                <a:latin typeface="Arial"/>
                <a:ea typeface="Arial"/>
                <a:cs typeface="Arial"/>
              </a:rPr>
              <a:t>No</a:t>
            </a:r>
          </a:p>
        </p:txBody>
      </p:sp>
      <p:sp>
        <p:nvSpPr>
          <p:cNvPr id="31" name="Rectangle 30">
            <a:extLst>
              <a:ext uri="{FF2B5EF4-FFF2-40B4-BE49-F238E27FC236}">
                <a16:creationId xmlns:a16="http://schemas.microsoft.com/office/drawing/2014/main" id="{579DE40C-8DF4-4E4B-A8F9-CFD822ED624C}"/>
              </a:ext>
            </a:extLst>
          </p:cNvPr>
          <p:cNvSpPr>
            <a:spLocks noGrp="1"/>
          </p:cNvSpPr>
          <p:nvPr/>
        </p:nvSpPr>
        <p:spPr>
          <a:xfrm>
            <a:off x="786384" y="4123944"/>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EC85DE27-E270-4AD6-B949-B0CD64F744D2}"/>
              </a:ext>
            </a:extLst>
          </p:cNvPr>
          <p:cNvSpPr>
            <a:spLocks noGrp="1"/>
          </p:cNvSpPr>
          <p:nvPr/>
        </p:nvSpPr>
        <p:spPr>
          <a:xfrm>
            <a:off x="841247" y="4246404"/>
            <a:ext cx="5696712" cy="203133"/>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960" b="0" i="0">
                <a:solidFill>
                  <a:srgbClr val="1F2730"/>
                </a:solidFill>
                <a:latin typeface="Arial"/>
                <a:ea typeface="Arial"/>
                <a:cs typeface="Arial"/>
              </a:rPr>
              <a:t>Number of genes in query: 1–2</a:t>
            </a:r>
          </a:p>
        </p:txBody>
      </p:sp>
      <p:sp>
        <p:nvSpPr>
          <p:cNvPr id="33" name="Rectangle 32">
            <a:extLst>
              <a:ext uri="{FF2B5EF4-FFF2-40B4-BE49-F238E27FC236}">
                <a16:creationId xmlns:a16="http://schemas.microsoft.com/office/drawing/2014/main" id="{71922BEC-EBBD-464F-9A93-CB0E6CD0C65C}"/>
              </a:ext>
            </a:extLst>
          </p:cNvPr>
          <p:cNvSpPr>
            <a:spLocks noGrp="1"/>
          </p:cNvSpPr>
          <p:nvPr/>
        </p:nvSpPr>
        <p:spPr>
          <a:xfrm>
            <a:off x="6592824" y="4123944"/>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FE7D493B-F1C6-44AE-82B1-5CA4C20101D7}"/>
              </a:ext>
            </a:extLst>
          </p:cNvPr>
          <p:cNvSpPr>
            <a:spLocks noGrp="1"/>
          </p:cNvSpPr>
          <p:nvPr/>
        </p:nvSpPr>
        <p:spPr>
          <a:xfrm>
            <a:off x="6647688" y="4169663"/>
            <a:ext cx="1005840" cy="356615"/>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960" b="0" i="0">
                <a:solidFill>
                  <a:srgbClr val="1F2730"/>
                </a:solidFill>
                <a:latin typeface="Arial"/>
                <a:ea typeface="Arial"/>
                <a:cs typeface="Arial"/>
              </a:rPr>
              <a:t>11</a:t>
            </a:r>
          </a:p>
        </p:txBody>
      </p:sp>
      <p:sp>
        <p:nvSpPr>
          <p:cNvPr id="35" name="Rectangle 34">
            <a:extLst>
              <a:ext uri="{FF2B5EF4-FFF2-40B4-BE49-F238E27FC236}">
                <a16:creationId xmlns:a16="http://schemas.microsoft.com/office/drawing/2014/main" id="{0467B988-F2CC-4B87-A622-D85C4DBA4E32}"/>
              </a:ext>
            </a:extLst>
          </p:cNvPr>
          <p:cNvSpPr>
            <a:spLocks noGrp="1"/>
          </p:cNvSpPr>
          <p:nvPr/>
        </p:nvSpPr>
        <p:spPr>
          <a:xfrm>
            <a:off x="7708392" y="4123944"/>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9E333520-32E2-48D9-ABDD-7299433B2B08}"/>
              </a:ext>
            </a:extLst>
          </p:cNvPr>
          <p:cNvSpPr>
            <a:spLocks noGrp="1"/>
          </p:cNvSpPr>
          <p:nvPr/>
        </p:nvSpPr>
        <p:spPr>
          <a:xfrm>
            <a:off x="7763256" y="4169663"/>
            <a:ext cx="3502152" cy="356615"/>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960" b="0" i="0">
                <a:solidFill>
                  <a:srgbClr val="1F2730"/>
                </a:solidFill>
                <a:latin typeface="Arial"/>
                <a:ea typeface="Arial"/>
                <a:cs typeface="Arial"/>
              </a:rPr>
              <a:t>No</a:t>
            </a:r>
          </a:p>
        </p:txBody>
      </p:sp>
      <p:sp>
        <p:nvSpPr>
          <p:cNvPr id="37" name="Rectangle 36">
            <a:extLst>
              <a:ext uri="{FF2B5EF4-FFF2-40B4-BE49-F238E27FC236}">
                <a16:creationId xmlns:a16="http://schemas.microsoft.com/office/drawing/2014/main" id="{373FF968-D279-4D47-AA68-6925D273751F}"/>
              </a:ext>
            </a:extLst>
          </p:cNvPr>
          <p:cNvSpPr>
            <a:spLocks noGrp="1"/>
          </p:cNvSpPr>
          <p:nvPr/>
        </p:nvSpPr>
        <p:spPr>
          <a:xfrm>
            <a:off x="786384" y="4553712"/>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8EC3745D-B09B-40CC-B2E1-181BDBE1B929}"/>
              </a:ext>
            </a:extLst>
          </p:cNvPr>
          <p:cNvSpPr>
            <a:spLocks noGrp="1"/>
          </p:cNvSpPr>
          <p:nvPr/>
        </p:nvSpPr>
        <p:spPr>
          <a:xfrm>
            <a:off x="841247" y="4676173"/>
            <a:ext cx="5696712" cy="203133"/>
          </a:xfrm>
          <a:prstGeom prst="rect">
            <a:avLst/>
          </a:prstGeom>
          <a:noFill/>
        </p:spPr>
        <p:txBody>
          <a:bodyPr wrap="square" lIns="27432" tIns="27432" rIns="27432" bIns="27432" anchor="ctr">
            <a:spAutoFit/>
          </a:bodyPr>
          <a:lstStyle/>
          <a:p>
            <a:r>
              <a:rPr sz="960">
                <a:solidFill>
                  <a:srgbClr val="1F2730"/>
                </a:solidFill>
                <a:latin typeface="Arial"/>
                <a:ea typeface="Arial"/>
                <a:cs typeface="Arial"/>
              </a:rPr>
              <a:t>Number of genes in query: &gt;=3</a:t>
            </a:r>
            <a:endParaRPr sz="960" b="0" i="0">
              <a:solidFill>
                <a:srgbClr val="1F2730"/>
              </a:solidFill>
              <a:latin typeface="Arial"/>
              <a:ea typeface="Arial"/>
              <a:cs typeface="Arial"/>
            </a:endParaRPr>
          </a:p>
        </p:txBody>
      </p:sp>
      <p:sp>
        <p:nvSpPr>
          <p:cNvPr id="39" name="Rectangle 38">
            <a:extLst>
              <a:ext uri="{FF2B5EF4-FFF2-40B4-BE49-F238E27FC236}">
                <a16:creationId xmlns:a16="http://schemas.microsoft.com/office/drawing/2014/main" id="{0150717B-B47C-4BDA-A2A1-B24E1F4599D4}"/>
              </a:ext>
            </a:extLst>
          </p:cNvPr>
          <p:cNvSpPr>
            <a:spLocks noGrp="1"/>
          </p:cNvSpPr>
          <p:nvPr/>
        </p:nvSpPr>
        <p:spPr>
          <a:xfrm>
            <a:off x="6592824" y="4553712"/>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0" name="TextBox 39">
            <a:extLst>
              <a:ext uri="{FF2B5EF4-FFF2-40B4-BE49-F238E27FC236}">
                <a16:creationId xmlns:a16="http://schemas.microsoft.com/office/drawing/2014/main" id="{A1DA071E-0FA1-4CBC-84A7-C23543004197}"/>
              </a:ext>
            </a:extLst>
          </p:cNvPr>
          <p:cNvSpPr>
            <a:spLocks noGrp="1"/>
          </p:cNvSpPr>
          <p:nvPr/>
        </p:nvSpPr>
        <p:spPr>
          <a:xfrm>
            <a:off x="6647688" y="4676173"/>
            <a:ext cx="1005840" cy="203133"/>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960">
                <a:solidFill>
                  <a:srgbClr val="1F2730"/>
                </a:solidFill>
                <a:latin typeface="Arial"/>
                <a:ea typeface="Arial"/>
                <a:cs typeface="Arial"/>
              </a:rPr>
              <a:t>22</a:t>
            </a:r>
            <a:endParaRPr sz="960" b="0" i="0">
              <a:solidFill>
                <a:srgbClr val="1F2730"/>
              </a:solidFill>
              <a:latin typeface="Arial"/>
              <a:ea typeface="Arial"/>
              <a:cs typeface="Arial"/>
            </a:endParaRPr>
          </a:p>
        </p:txBody>
      </p:sp>
      <p:sp>
        <p:nvSpPr>
          <p:cNvPr id="41" name="Rectangle 40">
            <a:extLst>
              <a:ext uri="{FF2B5EF4-FFF2-40B4-BE49-F238E27FC236}">
                <a16:creationId xmlns:a16="http://schemas.microsoft.com/office/drawing/2014/main" id="{3304B9D0-ADAD-40D3-8239-89117C09D517}"/>
              </a:ext>
            </a:extLst>
          </p:cNvPr>
          <p:cNvSpPr>
            <a:spLocks noGrp="1"/>
          </p:cNvSpPr>
          <p:nvPr/>
        </p:nvSpPr>
        <p:spPr>
          <a:xfrm>
            <a:off x="7708392" y="4553712"/>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TextBox 41">
            <a:extLst>
              <a:ext uri="{FF2B5EF4-FFF2-40B4-BE49-F238E27FC236}">
                <a16:creationId xmlns:a16="http://schemas.microsoft.com/office/drawing/2014/main" id="{B1DDC8C2-5FD0-4512-B9FC-411C8E88417C}"/>
              </a:ext>
            </a:extLst>
          </p:cNvPr>
          <p:cNvSpPr>
            <a:spLocks noGrp="1"/>
          </p:cNvSpPr>
          <p:nvPr/>
        </p:nvSpPr>
        <p:spPr>
          <a:xfrm>
            <a:off x="7763256" y="4676173"/>
            <a:ext cx="3502152" cy="203133"/>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960" b="0" i="0">
                <a:solidFill>
                  <a:srgbClr val="1F2730"/>
                </a:solidFill>
                <a:latin typeface="Arial"/>
                <a:ea typeface="Arial"/>
                <a:cs typeface="Arial"/>
              </a:rPr>
              <a:t>Yes</a:t>
            </a:r>
          </a:p>
        </p:txBody>
      </p:sp>
      <p:sp>
        <p:nvSpPr>
          <p:cNvPr id="49" name="Rectangle 48">
            <a:extLst>
              <a:ext uri="{FF2B5EF4-FFF2-40B4-BE49-F238E27FC236}">
                <a16:creationId xmlns:a16="http://schemas.microsoft.com/office/drawing/2014/main" id="{1A0998C8-CEB6-4A92-AEB6-BE2E7DFBE2BE}"/>
              </a:ext>
            </a:extLst>
          </p:cNvPr>
          <p:cNvSpPr>
            <a:spLocks noGrp="1"/>
          </p:cNvSpPr>
          <p:nvPr/>
        </p:nvSpPr>
        <p:spPr>
          <a:xfrm>
            <a:off x="786384" y="5002700"/>
            <a:ext cx="580644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0" name="TextBox 49">
            <a:extLst>
              <a:ext uri="{FF2B5EF4-FFF2-40B4-BE49-F238E27FC236}">
                <a16:creationId xmlns:a16="http://schemas.microsoft.com/office/drawing/2014/main" id="{016DB5F1-DB8C-4310-AB69-2478EC5FD16D}"/>
              </a:ext>
            </a:extLst>
          </p:cNvPr>
          <p:cNvSpPr>
            <a:spLocks noGrp="1"/>
          </p:cNvSpPr>
          <p:nvPr/>
        </p:nvSpPr>
        <p:spPr>
          <a:xfrm>
            <a:off x="841247" y="5048420"/>
            <a:ext cx="5696712" cy="356615"/>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960" b="1" i="0">
                <a:solidFill>
                  <a:srgbClr val="1F2730"/>
                </a:solidFill>
                <a:latin typeface="Arial"/>
                <a:ea typeface="Arial"/>
                <a:cs typeface="Arial"/>
              </a:rPr>
              <a:t>TOTAL</a:t>
            </a:r>
          </a:p>
        </p:txBody>
      </p:sp>
      <p:sp>
        <p:nvSpPr>
          <p:cNvPr id="51" name="Rectangle 50">
            <a:extLst>
              <a:ext uri="{FF2B5EF4-FFF2-40B4-BE49-F238E27FC236}">
                <a16:creationId xmlns:a16="http://schemas.microsoft.com/office/drawing/2014/main" id="{7EAC4715-A720-42B1-ACB8-5E6F721C19D0}"/>
              </a:ext>
            </a:extLst>
          </p:cNvPr>
          <p:cNvSpPr>
            <a:spLocks noGrp="1"/>
          </p:cNvSpPr>
          <p:nvPr/>
        </p:nvSpPr>
        <p:spPr>
          <a:xfrm>
            <a:off x="6592824" y="5002700"/>
            <a:ext cx="1115568"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2" name="TextBox 51">
            <a:extLst>
              <a:ext uri="{FF2B5EF4-FFF2-40B4-BE49-F238E27FC236}">
                <a16:creationId xmlns:a16="http://schemas.microsoft.com/office/drawing/2014/main" id="{0B08F8C0-BAE5-4956-9882-32026D2C2130}"/>
              </a:ext>
            </a:extLst>
          </p:cNvPr>
          <p:cNvSpPr>
            <a:spLocks noGrp="1"/>
          </p:cNvSpPr>
          <p:nvPr/>
        </p:nvSpPr>
        <p:spPr>
          <a:xfrm>
            <a:off x="6647688" y="5048420"/>
            <a:ext cx="1005840" cy="356615"/>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960" b="1" i="0">
                <a:solidFill>
                  <a:srgbClr val="1F2730"/>
                </a:solidFill>
                <a:latin typeface="Arial"/>
                <a:ea typeface="Arial"/>
                <a:cs typeface="Arial"/>
              </a:rPr>
              <a:t>774</a:t>
            </a:r>
          </a:p>
        </p:txBody>
      </p:sp>
      <p:sp>
        <p:nvSpPr>
          <p:cNvPr id="53" name="Rectangle 52">
            <a:extLst>
              <a:ext uri="{FF2B5EF4-FFF2-40B4-BE49-F238E27FC236}">
                <a16:creationId xmlns:a16="http://schemas.microsoft.com/office/drawing/2014/main" id="{2318E8FD-D164-4CE7-BE87-ECC1C74B6293}"/>
              </a:ext>
            </a:extLst>
          </p:cNvPr>
          <p:cNvSpPr>
            <a:spLocks noGrp="1"/>
          </p:cNvSpPr>
          <p:nvPr/>
        </p:nvSpPr>
        <p:spPr>
          <a:xfrm>
            <a:off x="7708392" y="5002700"/>
            <a:ext cx="361188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4" name="TextBox 53">
            <a:extLst>
              <a:ext uri="{FF2B5EF4-FFF2-40B4-BE49-F238E27FC236}">
                <a16:creationId xmlns:a16="http://schemas.microsoft.com/office/drawing/2014/main" id="{DF7B247E-0514-4A15-99C2-80063D536100}"/>
              </a:ext>
            </a:extLst>
          </p:cNvPr>
          <p:cNvSpPr>
            <a:spLocks noGrp="1"/>
          </p:cNvSpPr>
          <p:nvPr/>
        </p:nvSpPr>
        <p:spPr>
          <a:xfrm>
            <a:off x="7763256" y="5048420"/>
            <a:ext cx="3502152" cy="356615"/>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960" b="1" i="0">
                <a:solidFill>
                  <a:srgbClr val="1F2730"/>
                </a:solidFill>
                <a:latin typeface="Arial"/>
                <a:ea typeface="Arial"/>
                <a:cs typeface="Arial"/>
              </a:rPr>
              <a:t>22 KDA calls</a:t>
            </a:r>
          </a:p>
        </p:txBody>
      </p:sp>
      <p:sp>
        <p:nvSpPr>
          <p:cNvPr id="55" name="TextBox 54">
            <a:extLst>
              <a:ext uri="{FF2B5EF4-FFF2-40B4-BE49-F238E27FC236}">
                <a16:creationId xmlns:a16="http://schemas.microsoft.com/office/drawing/2014/main" id="{B84EA5A0-1787-45A7-8C9F-AC2330E54895}"/>
              </a:ext>
            </a:extLst>
          </p:cNvPr>
          <p:cNvSpPr>
            <a:spLocks noGrp="1"/>
          </p:cNvSpPr>
          <p:nvPr/>
        </p:nvSpPr>
        <p:spPr>
          <a:xfrm>
            <a:off x="804672" y="5551340"/>
            <a:ext cx="10607040" cy="256032"/>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00" b="1" i="0">
                <a:solidFill>
                  <a:srgbClr val="7E4C9A"/>
                </a:solidFill>
                <a:latin typeface="Arial"/>
                <a:ea typeface="Arial"/>
                <a:cs typeface="Arial"/>
              </a:rPr>
              <a:t>Availability remains unbalanced: 20 M_e33 KDA calls, one F_e33 KDA call, and one F_e4 KDA call.</a:t>
            </a:r>
          </a:p>
        </p:txBody>
      </p:sp>
    </p:spTree>
    <p:extLst>
      <p:ext uri="{BB962C8B-B14F-4D97-AF65-F5344CB8AC3E}">
        <p14:creationId val="2029726359"/>
      </p:ext>
    </p:extLst>
  </p:cSld>
  <p:clrMapOvr>
    <a:masterClrMapping/>
  </p:clrMapOvr>
  <p:transition/>
  <p:timing/>
</p:sld>
</file>

<file path=ppt/slides/slide3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E43969B7-9D27-4716-9CC1-20BB99E1000F}"/>
              </a:ext>
            </a:extLst>
          </p:cNvPr>
          <p:cNvSpPr>
            <a:spLocks noGrp="1"/>
          </p:cNvSpPr>
          <p:nvPr/>
        </p:nvSpPr>
        <p:spPr>
          <a:xfrm>
            <a:off x="530352" y="411480"/>
            <a:ext cx="10652760" cy="80945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450" b="1" i="0">
                <a:solidFill>
                  <a:srgbClr val="0F233D"/>
                </a:solidFill>
                <a:latin typeface="Arial"/>
                <a:ea typeface="Arial"/>
                <a:cs typeface="Arial"/>
              </a:rPr>
              <a:t>SEA-AD KDA summary: 44 non-MitoCarta gene × category combinations represent 43 distinct genes</a:t>
            </a:r>
          </a:p>
        </p:txBody>
      </p:sp>
      <p:sp>
        <p:nvSpPr>
          <p:cNvPr id="3" name="Rounded Rectangle 2">
            <a:extLst>
              <a:ext uri="{FF2B5EF4-FFF2-40B4-BE49-F238E27FC236}">
                <a16:creationId xmlns:a16="http://schemas.microsoft.com/office/drawing/2014/main" id="{266CB8E9-F00B-4186-B28B-E531AE500285}"/>
              </a:ext>
            </a:extLst>
          </p:cNvPr>
          <p:cNvSpPr>
            <a:spLocks noGrp="1"/>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D586E91-0BBE-4562-BD66-1CC83A41D50A}"/>
              </a:ext>
            </a:extLst>
          </p:cNvPr>
          <p:cNvSpPr>
            <a:spLocks noGrp="1"/>
          </p:cNvSpPr>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500" b="1" i="0">
                <a:solidFill>
                  <a:srgbClr val="00684D"/>
                </a:solidFill>
                <a:latin typeface="Arial"/>
                <a:ea typeface="Arial"/>
                <a:cs typeface="Arial"/>
              </a:rPr>
              <a:t>54</a:t>
            </a:r>
          </a:p>
        </p:txBody>
      </p:sp>
      <p:sp>
        <p:nvSpPr>
          <p:cNvPr id="5" name="TextBox 4">
            <a:extLst>
              <a:ext uri="{FF2B5EF4-FFF2-40B4-BE49-F238E27FC236}">
                <a16:creationId xmlns:a16="http://schemas.microsoft.com/office/drawing/2014/main" id="{C0806F58-2CBE-4AB7-B28A-D0E40AE7D203}"/>
              </a:ext>
            </a:extLst>
          </p:cNvPr>
          <p:cNvSpPr>
            <a:spLocks noGrp="1"/>
          </p:cNvSpPr>
          <p:nvPr/>
        </p:nvSpPr>
        <p:spPr>
          <a:xfrm>
            <a:off x="804672" y="1938528"/>
            <a:ext cx="1645920" cy="49859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60" b="1" i="0">
                <a:solidFill>
                  <a:srgbClr val="4E5A68"/>
                </a:solidFill>
                <a:latin typeface="Arial"/>
                <a:ea typeface="Arial"/>
                <a:cs typeface="Arial"/>
              </a:rPr>
              <a:t>non-MitoCarta gene rows returned from KDA calls (before aggregation)</a:t>
            </a:r>
          </a:p>
        </p:txBody>
      </p:sp>
      <p:sp>
        <p:nvSpPr>
          <p:cNvPr id="6" name="Rounded Rectangle 5">
            <a:extLst>
              <a:ext uri="{FF2B5EF4-FFF2-40B4-BE49-F238E27FC236}">
                <a16:creationId xmlns:a16="http://schemas.microsoft.com/office/drawing/2014/main" id="{817055C6-2BF3-4CF7-B0CF-EE8E00A91A3F}"/>
              </a:ext>
            </a:extLst>
          </p:cNvPr>
          <p:cNvSpPr>
            <a:spLocks noGrp="1"/>
          </p:cNvSpPr>
          <p:nvPr/>
        </p:nvSpPr>
        <p:spPr>
          <a:xfrm>
            <a:off x="2798063"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E414772-612D-467A-9081-053E8DB72155}"/>
              </a:ext>
            </a:extLst>
          </p:cNvPr>
          <p:cNvSpPr>
            <a:spLocks noGrp="1"/>
          </p:cNvSpPr>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500" b="1" i="0">
                <a:solidFill>
                  <a:srgbClr val="00684D"/>
                </a:solidFill>
                <a:latin typeface="Arial"/>
                <a:ea typeface="Arial"/>
                <a:cs typeface="Arial"/>
              </a:rPr>
              <a:t>44</a:t>
            </a:r>
          </a:p>
        </p:txBody>
      </p:sp>
      <p:sp>
        <p:nvSpPr>
          <p:cNvPr id="8" name="TextBox 7">
            <a:extLst>
              <a:ext uri="{FF2B5EF4-FFF2-40B4-BE49-F238E27FC236}">
                <a16:creationId xmlns:a16="http://schemas.microsoft.com/office/drawing/2014/main" id="{83E2F100-F6CB-40EF-9D57-57FD6C94428E}"/>
              </a:ext>
            </a:extLst>
          </p:cNvPr>
          <p:cNvSpPr>
            <a:spLocks noGrp="1"/>
          </p:cNvSpPr>
          <p:nvPr/>
        </p:nvSpPr>
        <p:spPr>
          <a:xfrm>
            <a:off x="2944368" y="1938528"/>
            <a:ext cx="1645920" cy="350865"/>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60" b="1" i="0">
                <a:solidFill>
                  <a:srgbClr val="4E5A68"/>
                </a:solidFill>
                <a:latin typeface="Arial"/>
                <a:ea typeface="Arial"/>
                <a:cs typeface="Arial"/>
              </a:rPr>
              <a:t>gene × category combinations</a:t>
            </a:r>
          </a:p>
        </p:txBody>
      </p:sp>
      <p:sp>
        <p:nvSpPr>
          <p:cNvPr id="9" name="Rounded Rectangle 8">
            <a:extLst>
              <a:ext uri="{FF2B5EF4-FFF2-40B4-BE49-F238E27FC236}">
                <a16:creationId xmlns:a16="http://schemas.microsoft.com/office/drawing/2014/main" id="{C7DE2D7C-EEC9-4171-963B-D7475A9E150E}"/>
              </a:ext>
            </a:extLst>
          </p:cNvPr>
          <p:cNvSpPr>
            <a:spLocks noGrp="1"/>
          </p:cNvSpPr>
          <p:nvPr/>
        </p:nvSpPr>
        <p:spPr>
          <a:xfrm>
            <a:off x="4937759"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F61C40E9-5223-45F4-B44C-5FB233D2D895}"/>
              </a:ext>
            </a:extLst>
          </p:cNvPr>
          <p:cNvSpPr>
            <a:spLocks noGrp="1"/>
          </p:cNvSpPr>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500" b="1" i="0">
                <a:solidFill>
                  <a:srgbClr val="00684D"/>
                </a:solidFill>
                <a:latin typeface="Arial"/>
                <a:ea typeface="Arial"/>
                <a:cs typeface="Arial"/>
              </a:rPr>
              <a:t>43</a:t>
            </a:r>
          </a:p>
        </p:txBody>
      </p:sp>
      <p:sp>
        <p:nvSpPr>
          <p:cNvPr id="11" name="TextBox 10">
            <a:extLst>
              <a:ext uri="{FF2B5EF4-FFF2-40B4-BE49-F238E27FC236}">
                <a16:creationId xmlns:a16="http://schemas.microsoft.com/office/drawing/2014/main" id="{AB834481-730D-4593-8326-D382E238D0D4}"/>
              </a:ext>
            </a:extLst>
          </p:cNvPr>
          <p:cNvSpPr>
            <a:spLocks noGrp="1"/>
          </p:cNvSpPr>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60" b="1" i="0">
                <a:solidFill>
                  <a:srgbClr val="4E5A68"/>
                </a:solidFill>
                <a:latin typeface="Arial"/>
                <a:ea typeface="Arial"/>
                <a:cs typeface="Arial"/>
              </a:rPr>
              <a:t>distinct gene symbols</a:t>
            </a:r>
          </a:p>
        </p:txBody>
      </p:sp>
      <p:sp>
        <p:nvSpPr>
          <p:cNvPr id="12" name="Rounded Rectangle 11">
            <a:extLst>
              <a:ext uri="{FF2B5EF4-FFF2-40B4-BE49-F238E27FC236}">
                <a16:creationId xmlns:a16="http://schemas.microsoft.com/office/drawing/2014/main" id="{046BD997-623C-4AE5-B790-588E4444AAFE}"/>
              </a:ext>
            </a:extLst>
          </p:cNvPr>
          <p:cNvSpPr>
            <a:spLocks noGrp="1"/>
          </p:cNvSpPr>
          <p:nvPr/>
        </p:nvSpPr>
        <p:spPr>
          <a:xfrm>
            <a:off x="7077455"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B67BD00-AE48-4A0D-AD00-63D7745D6BDD}"/>
              </a:ext>
            </a:extLst>
          </p:cNvPr>
          <p:cNvSpPr>
            <a:spLocks noGrp="1"/>
          </p:cNvSpPr>
          <p:nvPr/>
        </p:nvSpPr>
        <p:spPr>
          <a:xfrm>
            <a:off x="7223759" y="1481328"/>
            <a:ext cx="1645920" cy="42976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500" b="1" i="0">
                <a:solidFill>
                  <a:srgbClr val="0072B2"/>
                </a:solidFill>
                <a:latin typeface="Arial"/>
                <a:ea typeface="Arial"/>
                <a:cs typeface="Arial"/>
              </a:rPr>
              <a:t>5</a:t>
            </a:r>
          </a:p>
        </p:txBody>
      </p:sp>
      <p:sp>
        <p:nvSpPr>
          <p:cNvPr id="14" name="TextBox 13">
            <a:extLst>
              <a:ext uri="{FF2B5EF4-FFF2-40B4-BE49-F238E27FC236}">
                <a16:creationId xmlns:a16="http://schemas.microsoft.com/office/drawing/2014/main" id="{714FFE85-704F-4E2D-86BE-84362B31FAFE}"/>
              </a:ext>
            </a:extLst>
          </p:cNvPr>
          <p:cNvSpPr>
            <a:spLocks noGrp="1"/>
          </p:cNvSpPr>
          <p:nvPr/>
        </p:nvSpPr>
        <p:spPr>
          <a:xfrm>
            <a:off x="7223759" y="1938528"/>
            <a:ext cx="1645920" cy="39319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60" b="1" i="0">
                <a:solidFill>
                  <a:srgbClr val="4E5A68"/>
                </a:solidFill>
                <a:latin typeface="Arial"/>
                <a:ea typeface="Arial"/>
                <a:cs typeface="Arial"/>
              </a:rPr>
              <a:t>categories represented</a:t>
            </a:r>
          </a:p>
        </p:txBody>
      </p:sp>
      <p:sp>
        <p:nvSpPr>
          <p:cNvPr id="15" name="Rounded Rectangle 14">
            <a:extLst>
              <a:ext uri="{FF2B5EF4-FFF2-40B4-BE49-F238E27FC236}">
                <a16:creationId xmlns:a16="http://schemas.microsoft.com/office/drawing/2014/main" id="{BBB2D1C1-9E60-40C9-B0D8-6D9E8BB2BFF3}"/>
              </a:ext>
            </a:extLst>
          </p:cNvPr>
          <p:cNvSpPr>
            <a:spLocks noGrp="1"/>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BD937122-BFF3-40DB-AE09-638A1D6F355D}"/>
              </a:ext>
            </a:extLst>
          </p:cNvPr>
          <p:cNvSpPr>
            <a:spLocks noGrp="1"/>
          </p:cNvSpPr>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500" b="1" i="0">
                <a:solidFill>
                  <a:srgbClr val="895600"/>
                </a:solidFill>
                <a:latin typeface="Arial"/>
                <a:ea typeface="Arial"/>
                <a:cs typeface="Arial"/>
              </a:rPr>
              <a:t>17</a:t>
            </a:r>
          </a:p>
        </p:txBody>
      </p:sp>
      <p:sp>
        <p:nvSpPr>
          <p:cNvPr id="17" name="TextBox 16">
            <a:extLst>
              <a:ext uri="{FF2B5EF4-FFF2-40B4-BE49-F238E27FC236}">
                <a16:creationId xmlns:a16="http://schemas.microsoft.com/office/drawing/2014/main" id="{5A21E9DF-589A-40DA-92D1-FAAF462E8D5C}"/>
              </a:ext>
            </a:extLst>
          </p:cNvPr>
          <p:cNvSpPr>
            <a:spLocks noGrp="1"/>
          </p:cNvSpPr>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60" b="1" i="0">
                <a:solidFill>
                  <a:srgbClr val="4E5A68"/>
                </a:solidFill>
                <a:latin typeface="Arial"/>
                <a:ea typeface="Arial"/>
                <a:cs typeface="Arial"/>
              </a:rPr>
              <a:t>top-five displayed rows</a:t>
            </a:r>
          </a:p>
        </p:txBody>
      </p:sp>
      <p:sp>
        <p:nvSpPr>
          <p:cNvPr id="18" name="Rounded Rectangle 17">
            <a:extLst>
              <a:ext uri="{FF2B5EF4-FFF2-40B4-BE49-F238E27FC236}">
                <a16:creationId xmlns:a16="http://schemas.microsoft.com/office/drawing/2014/main" id="{F53A1BB7-26D4-4255-B160-1B1ECCA99BE1}"/>
              </a:ext>
            </a:extLst>
          </p:cNvPr>
          <p:cNvSpPr>
            <a:spLocks noGrp="1"/>
          </p:cNvSpPr>
          <p:nvPr/>
        </p:nvSpPr>
        <p:spPr>
          <a:xfrm>
            <a:off x="658368" y="2871216"/>
            <a:ext cx="5266944"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Rectangle 18">
            <a:extLst>
              <a:ext uri="{FF2B5EF4-FFF2-40B4-BE49-F238E27FC236}">
                <a16:creationId xmlns:a16="http://schemas.microsoft.com/office/drawing/2014/main" id="{919BDC2A-9B9F-4374-A7DC-563CED8A9DE1}"/>
              </a:ext>
            </a:extLst>
          </p:cNvPr>
          <p:cNvSpPr>
            <a:spLocks noGrp="1"/>
          </p:cNvSpPr>
          <p:nvPr/>
        </p:nvSpPr>
        <p:spPr>
          <a:xfrm>
            <a:off x="932688"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05749611-28D0-4B77-A610-0D1241272AD7}"/>
              </a:ext>
            </a:extLst>
          </p:cNvPr>
          <p:cNvSpPr>
            <a:spLocks noGrp="1"/>
          </p:cNvSpPr>
          <p:nvPr/>
        </p:nvSpPr>
        <p:spPr>
          <a:xfrm>
            <a:off x="1078992" y="3163824"/>
            <a:ext cx="4572000" cy="28931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520" b="1" i="0">
                <a:solidFill>
                  <a:srgbClr val="0F233D"/>
                </a:solidFill>
                <a:latin typeface="Arial"/>
                <a:ea typeface="Arial"/>
                <a:cs typeface="Arial"/>
              </a:rPr>
              <a:t>Where the 44 combinations occur</a:t>
            </a:r>
          </a:p>
        </p:txBody>
      </p:sp>
      <p:sp>
        <p:nvSpPr>
          <p:cNvPr id="21" name="TextBox 20">
            <a:extLst>
              <a:ext uri="{FF2B5EF4-FFF2-40B4-BE49-F238E27FC236}">
                <a16:creationId xmlns:a16="http://schemas.microsoft.com/office/drawing/2014/main" id="{51FBEE82-1AAF-4A5B-BEE7-B5273ACBACFB}"/>
              </a:ext>
            </a:extLst>
          </p:cNvPr>
          <p:cNvSpPr>
            <a:spLocks noGrp="1"/>
          </p:cNvSpPr>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019" b="1" i="0">
                <a:solidFill>
                  <a:srgbClr val="00684D"/>
                </a:solidFill>
                <a:latin typeface="Arial"/>
                <a:ea typeface="Arial"/>
                <a:cs typeface="Arial"/>
              </a:rPr>
              <a:t>By sex/APOE group</a:t>
            </a:r>
          </a:p>
        </p:txBody>
      </p:sp>
      <p:sp>
        <p:nvSpPr>
          <p:cNvPr id="22" name="TextBox 21">
            <a:extLst>
              <a:ext uri="{FF2B5EF4-FFF2-40B4-BE49-F238E27FC236}">
                <a16:creationId xmlns:a16="http://schemas.microsoft.com/office/drawing/2014/main" id="{2BADE5CD-0D71-420F-AAC7-A81D98015224}"/>
              </a:ext>
            </a:extLst>
          </p:cNvPr>
          <p:cNvSpPr>
            <a:spLocks noGrp="1"/>
          </p:cNvSpPr>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20" b="1" i="0">
                <a:solidFill>
                  <a:srgbClr val="0F233D"/>
                </a:solidFill>
                <a:latin typeface="Arial"/>
                <a:ea typeface="Arial"/>
                <a:cs typeface="Arial"/>
              </a:rPr>
              <a:t>M_e33 39 • F_e4 3 • F_e33 2 • other groups 0</a:t>
            </a:r>
          </a:p>
        </p:txBody>
      </p:sp>
      <p:sp>
        <p:nvSpPr>
          <p:cNvPr id="23" name="TextBox 22">
            <a:extLst>
              <a:ext uri="{FF2B5EF4-FFF2-40B4-BE49-F238E27FC236}">
                <a16:creationId xmlns:a16="http://schemas.microsoft.com/office/drawing/2014/main" id="{934D0CBE-1EA8-44E3-9253-7C7679855DA3}"/>
              </a:ext>
            </a:extLst>
          </p:cNvPr>
          <p:cNvSpPr>
            <a:spLocks noGrp="1"/>
          </p:cNvSpPr>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019" b="1" i="0">
                <a:solidFill>
                  <a:srgbClr val="00684D"/>
                </a:solidFill>
                <a:latin typeface="Arial"/>
                <a:ea typeface="Arial"/>
                <a:cs typeface="Arial"/>
              </a:rPr>
              <a:t>By broad network</a:t>
            </a:r>
          </a:p>
        </p:txBody>
      </p:sp>
      <p:sp>
        <p:nvSpPr>
          <p:cNvPr id="24" name="TextBox 23">
            <a:extLst>
              <a:ext uri="{FF2B5EF4-FFF2-40B4-BE49-F238E27FC236}">
                <a16:creationId xmlns:a16="http://schemas.microsoft.com/office/drawing/2014/main" id="{EE7A5776-CF45-454B-B504-83B259C0FDE1}"/>
              </a:ext>
            </a:extLst>
          </p:cNvPr>
          <p:cNvSpPr>
            <a:spLocks noGrp="1"/>
          </p:cNvSpPr>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010" b="1" i="0">
                <a:solidFill>
                  <a:srgbClr val="0F233D"/>
                </a:solidFill>
                <a:latin typeface="Arial"/>
                <a:ea typeface="Arial"/>
                <a:cs typeface="Arial"/>
              </a:rPr>
              <a:t>Excitatory 27 • Inhibitory 12 • Astrocytes 3 • Oligo 2
Microglia, OPCs, Vasculature 0</a:t>
            </a:r>
          </a:p>
        </p:txBody>
      </p:sp>
      <p:sp>
        <p:nvSpPr>
          <p:cNvPr id="25" name="Rounded Rectangle 24">
            <a:extLst>
              <a:ext uri="{FF2B5EF4-FFF2-40B4-BE49-F238E27FC236}">
                <a16:creationId xmlns:a16="http://schemas.microsoft.com/office/drawing/2014/main" id="{A242F848-502E-4E2C-BE15-FCF81556BAB7}"/>
              </a:ext>
            </a:extLst>
          </p:cNvPr>
          <p:cNvSpPr>
            <a:spLocks noGrp="1"/>
          </p:cNvSpPr>
          <p:nvPr/>
        </p:nvSpPr>
        <p:spPr>
          <a:xfrm>
            <a:off x="6181344" y="2871216"/>
            <a:ext cx="5010912" cy="2834640"/>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1651B2FF-A649-4167-A154-536CA5377580}"/>
              </a:ext>
            </a:extLst>
          </p:cNvPr>
          <p:cNvSpPr>
            <a:spLocks noGrp="1"/>
          </p:cNvSpPr>
          <p:nvPr/>
        </p:nvSpPr>
        <p:spPr>
          <a:xfrm>
            <a:off x="6455664"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1AFD1C8B-0909-4834-B27B-7FCDF6064D16}"/>
              </a:ext>
            </a:extLst>
          </p:cNvPr>
          <p:cNvSpPr>
            <a:spLocks noGrp="1"/>
          </p:cNvSpPr>
          <p:nvPr/>
        </p:nvSpPr>
        <p:spPr>
          <a:xfrm>
            <a:off x="6601968" y="3163824"/>
            <a:ext cx="4315968" cy="32918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520" b="1" i="0">
                <a:solidFill>
                  <a:srgbClr val="0F233D"/>
                </a:solidFill>
                <a:latin typeface="Arial"/>
                <a:ea typeface="Arial"/>
                <a:cs typeface="Arial"/>
              </a:rPr>
              <a:t>Execution and filtering</a:t>
            </a:r>
          </a:p>
        </p:txBody>
      </p:sp>
      <p:sp>
        <p:nvSpPr>
          <p:cNvPr id="28" name="Oval 27">
            <a:extLst>
              <a:ext uri="{FF2B5EF4-FFF2-40B4-BE49-F238E27FC236}">
                <a16:creationId xmlns:a16="http://schemas.microsoft.com/office/drawing/2014/main" id="{48C231C5-C605-4D75-898B-8BFD47BC92EF}"/>
              </a:ext>
            </a:extLst>
          </p:cNvPr>
          <p:cNvSpPr>
            <a:spLocks noGrp="1"/>
          </p:cNvSpPr>
          <p:nvPr/>
        </p:nvSpPr>
        <p:spPr>
          <a:xfrm>
            <a:off x="6473952" y="380390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34823F20-5A45-4A0A-B19E-4A10F7E169C1}"/>
              </a:ext>
            </a:extLst>
          </p:cNvPr>
          <p:cNvSpPr>
            <a:spLocks noGrp="1"/>
          </p:cNvSpPr>
          <p:nvPr/>
        </p:nvSpPr>
        <p:spPr>
          <a:xfrm>
            <a:off x="6647688" y="3675887"/>
            <a:ext cx="4197096" cy="39014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00" b="0" i="0">
                <a:solidFill>
                  <a:srgbClr val="1F2730"/>
                </a:solidFill>
                <a:latin typeface="Arial"/>
                <a:ea typeface="Arial"/>
                <a:cs typeface="Arial"/>
              </a:rPr>
              <a:t>20 KDA calls returned genes; 2 returned no genes.</a:t>
            </a:r>
          </a:p>
        </p:txBody>
      </p:sp>
      <p:sp>
        <p:nvSpPr>
          <p:cNvPr id="30" name="Oval 29">
            <a:extLst>
              <a:ext uri="{FF2B5EF4-FFF2-40B4-BE49-F238E27FC236}">
                <a16:creationId xmlns:a16="http://schemas.microsoft.com/office/drawing/2014/main" id="{AF468CC1-E16F-46D0-9314-E81F9426FFB1}"/>
              </a:ext>
            </a:extLst>
          </p:cNvPr>
          <p:cNvSpPr>
            <a:spLocks noGrp="1"/>
          </p:cNvSpPr>
          <p:nvPr/>
        </p:nvSpPr>
        <p:spPr>
          <a:xfrm>
            <a:off x="6473952" y="424281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09C15C00-D3AD-4B6B-ADF9-A831EFF6375E}"/>
              </a:ext>
            </a:extLst>
          </p:cNvPr>
          <p:cNvSpPr>
            <a:spLocks noGrp="1"/>
          </p:cNvSpPr>
          <p:nvPr/>
        </p:nvSpPr>
        <p:spPr>
          <a:xfrm>
            <a:off x="6647688" y="4114800"/>
            <a:ext cx="4197096" cy="43891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00" b="0" i="0">
                <a:solidFill>
                  <a:srgbClr val="1F2730"/>
                </a:solidFill>
                <a:latin typeface="Arial"/>
                <a:ea typeface="Arial"/>
                <a:cs typeface="Arial"/>
              </a:rPr>
              <a:t>112 gene rows returned from KDA calls before MitoCarta filtering.</a:t>
            </a:r>
          </a:p>
        </p:txBody>
      </p:sp>
      <p:sp>
        <p:nvSpPr>
          <p:cNvPr id="32" name="Oval 31">
            <a:extLst>
              <a:ext uri="{FF2B5EF4-FFF2-40B4-BE49-F238E27FC236}">
                <a16:creationId xmlns:a16="http://schemas.microsoft.com/office/drawing/2014/main" id="{EE669660-30A8-420E-AC2D-AE1BDF8C3DC1}"/>
              </a:ext>
            </a:extLst>
          </p:cNvPr>
          <p:cNvSpPr>
            <a:spLocks noGrp="1"/>
          </p:cNvSpPr>
          <p:nvPr/>
        </p:nvSpPr>
        <p:spPr>
          <a:xfrm>
            <a:off x="6473952" y="468172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331ABCB6-F6D1-4B0E-A15B-C18E837295F3}"/>
              </a:ext>
            </a:extLst>
          </p:cNvPr>
          <p:cNvSpPr>
            <a:spLocks noGrp="1"/>
          </p:cNvSpPr>
          <p:nvPr/>
        </p:nvSpPr>
        <p:spPr>
          <a:xfrm>
            <a:off x="6647688" y="4553712"/>
            <a:ext cx="4197096" cy="43891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00" b="0" i="0">
                <a:solidFill>
                  <a:srgbClr val="1F2730"/>
                </a:solidFill>
                <a:latin typeface="Arial"/>
                <a:ea typeface="Arial"/>
                <a:cs typeface="Arial"/>
              </a:rPr>
              <a:t>58 MitoCarta MT rows excluded.</a:t>
            </a:r>
          </a:p>
        </p:txBody>
      </p:sp>
      <p:sp>
        <p:nvSpPr>
          <p:cNvPr id="34" name="Oval 33">
            <a:extLst>
              <a:ext uri="{FF2B5EF4-FFF2-40B4-BE49-F238E27FC236}">
                <a16:creationId xmlns:a16="http://schemas.microsoft.com/office/drawing/2014/main" id="{BB1ED601-06B8-4E91-8C71-7E09AD39A38E}"/>
              </a:ext>
            </a:extLst>
          </p:cNvPr>
          <p:cNvSpPr>
            <a:spLocks noGrp="1"/>
          </p:cNvSpPr>
          <p:nvPr/>
        </p:nvSpPr>
        <p:spPr>
          <a:xfrm>
            <a:off x="6473952" y="5120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3D878F60-9EE8-421F-924E-ED902D22CDF0}"/>
              </a:ext>
            </a:extLst>
          </p:cNvPr>
          <p:cNvSpPr>
            <a:spLocks noGrp="1"/>
          </p:cNvSpPr>
          <p:nvPr/>
        </p:nvSpPr>
        <p:spPr>
          <a:xfrm>
            <a:off x="6647688" y="4992624"/>
            <a:ext cx="4197096" cy="43891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00" b="0" i="0">
                <a:solidFill>
                  <a:srgbClr val="1F2730"/>
                </a:solidFill>
                <a:latin typeface="Arial"/>
                <a:ea typeface="Arial"/>
                <a:cs typeface="Arial"/>
              </a:rPr>
              <a:t>54 non-MitoCarta rows retained for aggregation.</a:t>
            </a:r>
          </a:p>
        </p:txBody>
      </p:sp>
    </p:spTree>
    <p:extLst>
      <p:ext uri="{BB962C8B-B14F-4D97-AF65-F5344CB8AC3E}">
        <p14:creationId val="1830147622"/>
      </p:ext>
    </p:extLst>
  </p:cSld>
  <p:clrMapOvr>
    <a:masterClrMapping/>
  </p:clrMapOvr>
  <p:transition/>
  <p:timing/>
</p:sld>
</file>

<file path=ppt/slides/slide3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837E4A77-798C-4247-B980-A05FE07C4206}"/>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450" b="1" i="0">
                <a:solidFill>
                  <a:srgbClr val="0F233D"/>
                </a:solidFill>
                <a:latin typeface="Arial"/>
                <a:ea typeface="Arial"/>
                <a:cs typeface="Arial"/>
              </a:rPr>
              <a:t>PJVK is the only gene recurring across 2 SEA-AD categories</a:t>
            </a:r>
          </a:p>
        </p:txBody>
      </p:sp>
      <p:sp>
        <p:nvSpPr>
          <p:cNvPr id="3" name="TextBox 2">
            <a:extLst>
              <a:ext uri="{FF2B5EF4-FFF2-40B4-BE49-F238E27FC236}">
                <a16:creationId xmlns:a16="http://schemas.microsoft.com/office/drawing/2014/main" id="{758A32F6-ABDD-47BE-BF44-207ECFBFE9CF}"/>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20" b="0" i="0">
                <a:solidFill>
                  <a:srgbClr val="4E5A68"/>
                </a:solidFill>
                <a:latin typeface="Arial"/>
                <a:ea typeface="Arial"/>
                <a:cs typeface="Arial"/>
              </a:rPr>
              <a:t>Returned-only recurrence is descriptive across sex/APOE × broad-cell categories.</a:t>
            </a:r>
          </a:p>
        </p:txBody>
      </p:sp>
      <p:sp>
        <p:nvSpPr>
          <p:cNvPr id="4" name="Rounded Rectangle 3">
            <a:extLst>
              <a:ext uri="{FF2B5EF4-FFF2-40B4-BE49-F238E27FC236}">
                <a16:creationId xmlns:a16="http://schemas.microsoft.com/office/drawing/2014/main" id="{4CC57176-FA97-49DD-A2B4-41312067D0D1}"/>
              </a:ext>
            </a:extLst>
          </p:cNvPr>
          <p:cNvSpPr>
            <a:spLocks noGrp="1"/>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5" name="Uniform-blue bar chart of the twenty SEA-AD non-MT genes appearing in the most sex/APOE by broad-cell categories"/>
          <p:cNvPicPr>
            <a:picLocks noChangeAspect="1"/>
          </p:cNvPicPr>
          <p:nvPr/>
        </p:nvPicPr>
        <p:blipFill>
          <a:blip r:embed="rId3"/>
          <a:stretch>
            <a:fillRect/>
          </a:stretch>
        </p:blipFill>
        <p:spPr>
          <a:xfrm>
            <a:off x="996696" y="1252728"/>
            <a:ext cx="5413248" cy="4736592"/>
          </a:xfrm>
          <a:prstGeom prst="rect">
            <a:avLst/>
          </a:prstGeom>
        </p:spPr>
      </p:pic>
      <p:sp>
        <p:nvSpPr>
          <p:cNvPr id="6" name="Rounded Rectangle 5">
            <a:extLst>
              <a:ext uri="{FF2B5EF4-FFF2-40B4-BE49-F238E27FC236}">
                <a16:creationId xmlns:a16="http://schemas.microsoft.com/office/drawing/2014/main" id="{D0BE8979-34CC-4443-8A5C-C03F194F4331}"/>
              </a:ext>
            </a:extLst>
          </p:cNvPr>
          <p:cNvSpPr>
            <a:spLocks noGrp="1"/>
          </p:cNvSpPr>
          <p:nvPr/>
        </p:nvSpPr>
        <p:spPr>
          <a:xfrm>
            <a:off x="7232904" y="1298448"/>
            <a:ext cx="4343400"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Rectangle 6">
            <a:extLst>
              <a:ext uri="{FF2B5EF4-FFF2-40B4-BE49-F238E27FC236}">
                <a16:creationId xmlns:a16="http://schemas.microsoft.com/office/drawing/2014/main" id="{EB6C9FC8-AD75-422F-AE1B-D4FA41CA5867}"/>
              </a:ext>
            </a:extLst>
          </p:cNvPr>
          <p:cNvSpPr>
            <a:spLocks noGrp="1"/>
          </p:cNvSpPr>
          <p:nvPr/>
        </p:nvSpPr>
        <p:spPr>
          <a:xfrm>
            <a:off x="7516368" y="1618488"/>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18F7162F-41F2-4707-8065-489B55557CD2}"/>
              </a:ext>
            </a:extLst>
          </p:cNvPr>
          <p:cNvSpPr>
            <a:spLocks noGrp="1"/>
          </p:cNvSpPr>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520" b="1" i="0">
                <a:solidFill>
                  <a:srgbClr val="0F233D"/>
                </a:solidFill>
                <a:latin typeface="Arial"/>
                <a:ea typeface="Arial"/>
                <a:cs typeface="Arial"/>
              </a:rPr>
              <a:t>How to read it</a:t>
            </a:r>
          </a:p>
        </p:txBody>
      </p:sp>
      <p:sp>
        <p:nvSpPr>
          <p:cNvPr id="9" name="Oval 8">
            <a:extLst>
              <a:ext uri="{FF2B5EF4-FFF2-40B4-BE49-F238E27FC236}">
                <a16:creationId xmlns:a16="http://schemas.microsoft.com/office/drawing/2014/main" id="{B244F949-D513-41A3-AB1A-03E5C96C7EE2}"/>
              </a:ext>
            </a:extLst>
          </p:cNvPr>
          <p:cNvSpPr>
            <a:spLocks noGrp="1"/>
          </p:cNvSpPr>
          <p:nvPr/>
        </p:nvSpPr>
        <p:spPr>
          <a:xfrm>
            <a:off x="7525512" y="221284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3CA6C543-A6D2-4A87-9D27-F5E53A9B4560}"/>
              </a:ext>
            </a:extLst>
          </p:cNvPr>
          <p:cNvSpPr>
            <a:spLocks noGrp="1"/>
          </p:cNvSpPr>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30" b="0" i="0">
                <a:solidFill>
                  <a:srgbClr val="1F2730"/>
                </a:solidFill>
                <a:latin typeface="Arial"/>
                <a:ea typeface="Arial"/>
                <a:cs typeface="Arial"/>
              </a:rPr>
              <a:t>Bar length = number of categories containing the gene.</a:t>
            </a:r>
          </a:p>
        </p:txBody>
      </p:sp>
      <p:sp>
        <p:nvSpPr>
          <p:cNvPr id="13" name="Oval 12">
            <a:extLst>
              <a:ext uri="{FF2B5EF4-FFF2-40B4-BE49-F238E27FC236}">
                <a16:creationId xmlns:a16="http://schemas.microsoft.com/office/drawing/2014/main" id="{FE607420-6B12-4881-91D4-EA359CCE0F94}"/>
              </a:ext>
            </a:extLst>
          </p:cNvPr>
          <p:cNvSpPr>
            <a:spLocks noGrp="1"/>
          </p:cNvSpPr>
          <p:nvPr/>
        </p:nvSpPr>
        <p:spPr>
          <a:xfrm>
            <a:off x="7525512" y="2770632"/>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EE2DD333-B444-4527-AA61-E8F8CBBC2654}"/>
              </a:ext>
            </a:extLst>
          </p:cNvPr>
          <p:cNvSpPr>
            <a:spLocks noGrp="1"/>
          </p:cNvSpPr>
          <p:nvPr/>
        </p:nvSpPr>
        <p:spPr>
          <a:xfrm>
            <a:off x="7699248" y="2642615"/>
            <a:ext cx="3502151" cy="55778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30" b="0" i="0">
                <a:solidFill>
                  <a:srgbClr val="1F2730"/>
                </a:solidFill>
                <a:latin typeface="Arial"/>
                <a:ea typeface="Arial"/>
                <a:cs typeface="Arial"/>
              </a:rPr>
              <a:t>PJVK: 2 categories, 1 group, 2 networks.</a:t>
            </a:r>
          </a:p>
        </p:txBody>
      </p:sp>
      <p:sp>
        <p:nvSpPr>
          <p:cNvPr id="17" name="Oval 16">
            <a:extLst>
              <a:ext uri="{FF2B5EF4-FFF2-40B4-BE49-F238E27FC236}">
                <a16:creationId xmlns:a16="http://schemas.microsoft.com/office/drawing/2014/main" id="{B61A38A8-640E-470D-BAF9-322FC289A16E}"/>
              </a:ext>
            </a:extLst>
          </p:cNvPr>
          <p:cNvSpPr>
            <a:spLocks noGrp="1"/>
          </p:cNvSpPr>
          <p:nvPr/>
        </p:nvSpPr>
        <p:spPr>
          <a:xfrm>
            <a:off x="7525512" y="332841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4264E7C-353D-4465-B025-C2683A4CA8EE}"/>
              </a:ext>
            </a:extLst>
          </p:cNvPr>
          <p:cNvSpPr>
            <a:spLocks noGrp="1"/>
          </p:cNvSpPr>
          <p:nvPr/>
        </p:nvSpPr>
        <p:spPr>
          <a:xfrm>
            <a:off x="7699248" y="3200399"/>
            <a:ext cx="3502151" cy="55778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30" b="0" i="0">
                <a:solidFill>
                  <a:srgbClr val="1F2730"/>
                </a:solidFill>
                <a:latin typeface="Arial"/>
                <a:ea typeface="Arial"/>
                <a:cs typeface="Arial"/>
              </a:rPr>
              <a:t>The remaining 19 displayed genes occur in one category.</a:t>
            </a:r>
          </a:p>
        </p:txBody>
      </p:sp>
      <p:sp>
        <p:nvSpPr>
          <p:cNvPr id="19" name="Rounded Rectangle 18">
            <a:extLst>
              <a:ext uri="{FF2B5EF4-FFF2-40B4-BE49-F238E27FC236}">
                <a16:creationId xmlns:a16="http://schemas.microsoft.com/office/drawing/2014/main" id="{A7D0E624-43DD-47B3-B5F4-DF565451AC22}"/>
              </a:ext>
            </a:extLst>
          </p:cNvPr>
          <p:cNvSpPr>
            <a:spLocks noGrp="1"/>
          </p:cNvSpPr>
          <p:nvPr/>
        </p:nvSpPr>
        <p:spPr>
          <a:xfrm>
            <a:off x="7516368" y="5074920"/>
            <a:ext cx="3749039" cy="51206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22023417-8596-4D9C-AF25-7E40295D3870}"/>
              </a:ext>
            </a:extLst>
          </p:cNvPr>
          <p:cNvSpPr>
            <a:spLocks noGrp="1"/>
          </p:cNvSpPr>
          <p:nvPr/>
        </p:nvSpPr>
        <p:spPr>
          <a:xfrm>
            <a:off x="7690104" y="5175504"/>
            <a:ext cx="3401568" cy="329184"/>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10" b="1" i="0">
                <a:solidFill>
                  <a:srgbClr val="9E3A00"/>
                </a:solidFill>
                <a:latin typeface="Arial"/>
                <a:ea typeface="Arial"/>
                <a:cs typeface="Arial"/>
              </a:rPr>
              <a:t>Only 5 categories return non-MitoCarta genes.</a:t>
            </a:r>
          </a:p>
        </p:txBody>
      </p:sp>
    </p:spTree>
    <p:extLst>
      <p:ext uri="{BB962C8B-B14F-4D97-AF65-F5344CB8AC3E}">
        <p14:creationId val="77059874"/>
      </p:ext>
    </p:extLst>
  </p:cSld>
  <p:clrMapOvr>
    <a:masterClrMapping/>
  </p:clrMapOvr>
  <p:transition/>
  <p:timing/>
</p:sld>
</file>

<file path=ppt/slides/slide3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07341F45-6A8E-4711-A9EB-CA3AD2B8231F}"/>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450" b="1" i="0">
                <a:solidFill>
                  <a:srgbClr val="0F233D"/>
                </a:solidFill>
                <a:latin typeface="Arial"/>
                <a:ea typeface="Arial"/>
                <a:cs typeface="Arial"/>
              </a:rPr>
              <a:t>Top-five display: 17 non-MitoCarta entries across 5 categories</a:t>
            </a:r>
          </a:p>
        </p:txBody>
      </p:sp>
      <p:pic>
        <p:nvPicPr>
          <p:cNvPr id="5" name="SEA-AD top-five non-MT key drivers by sex/APOE and broad-cell category"/>
          <p:cNvPicPr>
            <a:picLocks noChangeAspect="1"/>
          </p:cNvPicPr>
          <p:nvPr/>
        </p:nvPicPr>
        <p:blipFill>
          <a:blip r:embed="rId3"/>
          <a:stretch>
            <a:fillRect/>
          </a:stretch>
        </p:blipFill>
        <p:spPr>
          <a:xfrm>
            <a:off x="612648" y="960120"/>
            <a:ext cx="10972800" cy="5221224"/>
          </a:xfrm>
          <a:prstGeom prst="rect">
            <a:avLst/>
          </a:prstGeom>
        </p:spPr>
      </p:pic>
    </p:spTree>
    <p:extLst>
      <p:ext uri="{BB962C8B-B14F-4D97-AF65-F5344CB8AC3E}">
        <p14:creationId val="2078194467"/>
      </p:ext>
    </p:extLst>
  </p:cSld>
  <p:clrMapOvr>
    <a:masterClrMapping/>
  </p:clrMapOvr>
  <p:transition/>
  <p:timing/>
</p:sld>
</file>

<file path=ppt/slides/slide3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F0EF2992-4E3C-442C-89F2-7BC097E6D6FF}"/>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450" b="1" i="0">
                <a:solidFill>
                  <a:srgbClr val="0F233D"/>
                </a:solidFill>
                <a:latin typeface="Arial"/>
                <a:ea typeface="Arial"/>
                <a:cs typeface="Arial"/>
              </a:rPr>
              <a:t>SEA-AD excitatory neurons: genes returned from KDA calls</a:t>
            </a:r>
          </a:p>
        </p:txBody>
      </p:sp>
      <p:sp>
        <p:nvSpPr>
          <p:cNvPr id="3" name="TextBox 2">
            <a:extLst>
              <a:ext uri="{FF2B5EF4-FFF2-40B4-BE49-F238E27FC236}">
                <a16:creationId xmlns:a16="http://schemas.microsoft.com/office/drawing/2014/main" id="{957CCBF0-B81D-4307-BF82-7F564C9373D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20" b="0" i="0">
                <a:solidFill>
                  <a:srgbClr val="4E5A68"/>
                </a:solidFill>
                <a:latin typeface="Arial"/>
                <a:ea typeface="Arial"/>
                <a:cs typeface="Arial"/>
              </a:rPr>
              <a:t>27 unique non-MitoCarta genes across 27 gene × category combinations; no gene recurs across sex/APOE categories.</a:t>
            </a:r>
          </a:p>
        </p:txBody>
      </p:sp>
      <p:pic>
        <p:nvPicPr>
          <p:cNvPr id="7" name="SEA-AD excita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val="1502807117"/>
      </p:ext>
    </p:extLst>
  </p:cSld>
  <p:clrMapOvr>
    <a:masterClrMapping/>
  </p:clrMapOvr>
  <p:transition/>
  <p:timing/>
</p:sld>
</file>

<file path=ppt/slides/slide4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0F233D"/>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AA8AB12A-D026-4286-B862-075E45B71C5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050" b="1" i="0">
                <a:solidFill>
                  <a:srgbClr val="E69F00"/>
                </a:solidFill>
                <a:latin typeface="Arial"/>
                <a:ea typeface="Arial"/>
                <a:cs typeface="Arial"/>
              </a:rPr>
              <a:t>PART 6</a:t>
            </a:r>
          </a:p>
        </p:txBody>
      </p:sp>
      <p:sp>
        <p:nvSpPr>
          <p:cNvPr id="3" name="Rectangle 2">
            <a:extLst>
              <a:ext uri="{FF2B5EF4-FFF2-40B4-BE49-F238E27FC236}">
                <a16:creationId xmlns:a16="http://schemas.microsoft.com/office/drawing/2014/main" id="{9B90BBA1-E9E2-4E17-A6C8-66AF73EEFBD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AF6BA42-08C4-4EA5-A344-09381D0B027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3200" b="1" i="0">
                <a:solidFill>
                  <a:srgbClr val="FFFFFF"/>
                </a:solidFill>
                <a:latin typeface="Arial"/>
                <a:ea typeface="Arial"/>
                <a:cs typeface="Arial"/>
              </a:rPr>
              <a:t>Direct broad-cell validation</a:t>
            </a:r>
          </a:p>
        </p:txBody>
      </p:sp>
      <p:sp>
        <p:nvSpPr>
          <p:cNvPr id="5" name="TextBox 4">
            <a:extLst>
              <a:ext uri="{FF2B5EF4-FFF2-40B4-BE49-F238E27FC236}">
                <a16:creationId xmlns:a16="http://schemas.microsoft.com/office/drawing/2014/main" id="{2067FDA8-407C-4DBE-B763-2AC484C63E1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500" b="0" i="0">
                <a:solidFill>
                  <a:srgbClr val="CCDBEA"/>
                </a:solidFill>
                <a:latin typeface="Arial"/>
                <a:ea typeface="Arial"/>
                <a:cs typeface="Arial"/>
              </a:rPr>
              <a:t>A secondary analysis tests whether fine-cell findings persist when cells are combined into broad classes.</a:t>
            </a:r>
          </a:p>
        </p:txBody>
      </p:sp>
      <p:sp>
        <p:nvSpPr>
          <p:cNvPr id="6" name="Rounded Rectangle 5">
            <a:extLst>
              <a:ext uri="{FF2B5EF4-FFF2-40B4-BE49-F238E27FC236}">
                <a16:creationId xmlns:a16="http://schemas.microsoft.com/office/drawing/2014/main" id="{3D417846-D3C8-43D7-A99E-359027C6D74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C1A4EC2-5414-418D-9D33-A636ADFB559C}"/>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E69F00"/>
                </a:solidFill>
                <a:latin typeface="Arial"/>
                <a:ea typeface="Arial"/>
                <a:cs typeface="Arial"/>
              </a:rPr>
              <a:t>IN THIS PART</a:t>
            </a:r>
          </a:p>
        </p:txBody>
      </p:sp>
      <p:sp>
        <p:nvSpPr>
          <p:cNvPr id="8" name="Oval 7">
            <a:extLst>
              <a:ext uri="{FF2B5EF4-FFF2-40B4-BE49-F238E27FC236}">
                <a16:creationId xmlns:a16="http://schemas.microsoft.com/office/drawing/2014/main" id="{7D989CA6-1B16-4974-BEE8-CD8009EA7F8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03E7C55-5C6F-4719-AB0F-5EFB8E09B2D3}"/>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B8E80E10-25DA-460A-B848-8A88ABF781AE}"/>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Analysis resolution</a:t>
            </a:r>
          </a:p>
        </p:txBody>
      </p:sp>
      <p:sp>
        <p:nvSpPr>
          <p:cNvPr id="11" name="Oval 10">
            <a:extLst>
              <a:ext uri="{FF2B5EF4-FFF2-40B4-BE49-F238E27FC236}">
                <a16:creationId xmlns:a16="http://schemas.microsoft.com/office/drawing/2014/main" id="{3CDE8AE7-2294-4DE5-980E-32E501A6C09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5F7ACA8-9E5D-4F7D-9F5E-1C89B8FBD38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0F70274-A525-4BB9-A129-15E33D9F61D7}"/>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Broad-cell comparison</a:t>
            </a:r>
          </a:p>
        </p:txBody>
      </p:sp>
      <p:sp>
        <p:nvSpPr>
          <p:cNvPr id="14" name="Oval 13">
            <a:extLst>
              <a:ext uri="{FF2B5EF4-FFF2-40B4-BE49-F238E27FC236}">
                <a16:creationId xmlns:a16="http://schemas.microsoft.com/office/drawing/2014/main" id="{A5541F68-CF6A-4665-AEE6-F8BA0BD62716}"/>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B6A3F6F-C41C-44D9-B1B9-F84CE5103C8B}"/>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1A32B75A-B123-4918-8015-2D4F13003D0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Pathway workflow</a:t>
            </a:r>
          </a:p>
        </p:txBody>
      </p:sp>
      <p:sp>
        <p:nvSpPr>
          <p:cNvPr id="17" name="Oval 16">
            <a:extLst>
              <a:ext uri="{FF2B5EF4-FFF2-40B4-BE49-F238E27FC236}">
                <a16:creationId xmlns:a16="http://schemas.microsoft.com/office/drawing/2014/main" id="{7E5D2E0A-EEB4-4E1B-BE39-4C5A4649E1E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B8954FAC-8826-4644-A259-79B90925CF5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3FE01F0D-1D60-41F0-AA9B-D1D892B891B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ES and NES calculation</a:t>
            </a:r>
          </a:p>
        </p:txBody>
      </p:sp>
      <p:sp>
        <p:nvSpPr>
          <p:cNvPr id="20" name="Rounded Rectangle 19">
            <a:extLst>
              <a:ext uri="{FF2B5EF4-FFF2-40B4-BE49-F238E27FC236}">
                <a16:creationId xmlns:a16="http://schemas.microsoft.com/office/drawing/2014/main" id="{CCEC5EAA-C189-406C-9B90-06ED8DBF0FF0}"/>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F67AE32-97EB-4716-897E-EF1FA7C0A5E9}"/>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20" b="1" i="0">
                <a:solidFill>
                  <a:srgbClr val="FFFFFF"/>
                </a:solidFill>
                <a:latin typeface="Arial"/>
                <a:ea typeface="Arial"/>
                <a:cs typeface="Arial"/>
              </a:rPr>
              <a:t>Direct broad-cell analysis is supporting evidence; fine-cell analysis remains the primary resolution.</a:t>
            </a:r>
          </a:p>
        </p:txBody>
      </p:sp>
    </p:spTree>
    <p:extLst>
      <p:ext uri="{BB962C8B-B14F-4D97-AF65-F5344CB8AC3E}">
        <p14:creationId val="1976639918"/>
      </p:ext>
    </p:extLst>
  </p:cSld>
  <p:clrMapOvr>
    <a:masterClrMapping/>
  </p:clrMapOvr>
  <p:transition/>
  <p:timing/>
</p:sld>
</file>

<file path=ppt/slides/slide4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04847B2B-03F0-4340-9874-86C63B1F2554}"/>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Fine-cell summaries and direct broad-cell analysis answer different questions</a:t>
            </a:r>
          </a:p>
        </p:txBody>
      </p:sp>
      <p:sp>
        <p:nvSpPr>
          <p:cNvPr id="3" name="TextBox 2">
            <a:extLst>
              <a:ext uri="{FF2B5EF4-FFF2-40B4-BE49-F238E27FC236}">
                <a16:creationId xmlns:a16="http://schemas.microsoft.com/office/drawing/2014/main" id="{896CB3C7-3B59-48DD-B73F-9AD94CF297D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080" b="0" i="0">
                <a:solidFill>
                  <a:srgbClr val="4E5A68"/>
                </a:solidFill>
                <a:latin typeface="Arial"/>
                <a:ea typeface="Arial"/>
                <a:cs typeface="Arial"/>
              </a:rPr>
              <a:t>The order of aggregation and testing changes the biological resolution.</a:t>
            </a:r>
          </a:p>
        </p:txBody>
      </p:sp>
      <p:sp>
        <p:nvSpPr>
          <p:cNvPr id="4" name="Rounded Rectangle 3">
            <a:extLst>
              <a:ext uri="{FF2B5EF4-FFF2-40B4-BE49-F238E27FC236}">
                <a16:creationId xmlns:a16="http://schemas.microsoft.com/office/drawing/2014/main" id="{39A86691-49B6-40BA-9B7E-1D0E4F7208F6}"/>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74921E-CB72-47D6-A24A-B8DE6A60EA37}"/>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40" b="1" i="0">
                <a:solidFill>
                  <a:srgbClr val="0072B2"/>
                </a:solidFill>
                <a:latin typeface="Arial"/>
                <a:ea typeface="Arial"/>
                <a:cs typeface="Arial"/>
              </a:rPr>
              <a:t>Fine-cell primary</a:t>
            </a:r>
          </a:p>
        </p:txBody>
      </p:sp>
      <p:sp>
        <p:nvSpPr>
          <p:cNvPr id="6" name="Rounded Rectangle 5">
            <a:extLst>
              <a:ext uri="{FF2B5EF4-FFF2-40B4-BE49-F238E27FC236}">
                <a16:creationId xmlns:a16="http://schemas.microsoft.com/office/drawing/2014/main" id="{898814CC-D61C-4493-ADF0-9F4DC2B35D01}"/>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9D5293A-18E3-40CD-89F3-26829C1D2896}"/>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40" b="1" i="0">
                <a:solidFill>
                  <a:srgbClr val="00684D"/>
                </a:solidFill>
                <a:latin typeface="Arial"/>
                <a:ea typeface="Arial"/>
                <a:cs typeface="Arial"/>
              </a:rPr>
              <a:t>Direct broad secondary</a:t>
            </a:r>
          </a:p>
        </p:txBody>
      </p:sp>
      <p:sp>
        <p:nvSpPr>
          <p:cNvPr id="8" name="Rounded Rectangle 7">
            <a:extLst>
              <a:ext uri="{FF2B5EF4-FFF2-40B4-BE49-F238E27FC236}">
                <a16:creationId xmlns:a16="http://schemas.microsoft.com/office/drawing/2014/main" id="{128528F0-0394-45AD-BC8B-27B5537B1302}"/>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A922C6C-7D42-4015-9F4D-601E45A137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40" b="1" i="0">
                <a:solidFill>
                  <a:srgbClr val="895600"/>
                </a:solidFill>
                <a:latin typeface="Arial"/>
                <a:ea typeface="Arial"/>
                <a:cs typeface="Arial"/>
              </a:rPr>
              <a:t>Same AD-versus-NCI contrast</a:t>
            </a:r>
          </a:p>
        </p:txBody>
      </p:sp>
      <p:sp>
        <p:nvSpPr>
          <p:cNvPr id="10" name="Rounded Rectangle 9">
            <a:extLst>
              <a:ext uri="{FF2B5EF4-FFF2-40B4-BE49-F238E27FC236}">
                <a16:creationId xmlns:a16="http://schemas.microsoft.com/office/drawing/2014/main" id="{1F89F666-EC68-4B12-8245-6A91883251DB}"/>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F0B02DC0-F83E-4862-AFB0-52E4D28EC5CB}"/>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40" b="1" i="0">
                <a:solidFill>
                  <a:srgbClr val="9E3A00"/>
                </a:solidFill>
                <a:latin typeface="Arial"/>
                <a:ea typeface="Arial"/>
                <a:cs typeface="Arial"/>
              </a:rPr>
              <a:t>Different resolution</a:t>
            </a:r>
          </a:p>
        </p:txBody>
      </p:sp>
      <p:sp>
        <p:nvSpPr>
          <p:cNvPr id="12" name="Rounded Rectangle 11">
            <a:extLst>
              <a:ext uri="{FF2B5EF4-FFF2-40B4-BE49-F238E27FC236}">
                <a16:creationId xmlns:a16="http://schemas.microsoft.com/office/drawing/2014/main" id="{1623AB73-75F2-48FD-B6FD-29F94AEBE1B4}"/>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5AB7C3F-B362-4884-8570-8BC56E4296D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9E3A00"/>
                </a:solidFill>
                <a:latin typeface="Arial"/>
                <a:ea typeface="Arial"/>
                <a:cs typeface="Arial"/>
              </a:rPr>
              <a:t>FINE-CELL ANALYSIS</a:t>
            </a:r>
          </a:p>
        </p:txBody>
      </p:sp>
      <p:sp>
        <p:nvSpPr>
          <p:cNvPr id="14" name="TextBox 13">
            <a:extLst>
              <a:ext uri="{FF2B5EF4-FFF2-40B4-BE49-F238E27FC236}">
                <a16:creationId xmlns:a16="http://schemas.microsoft.com/office/drawing/2014/main" id="{037D3A7F-EC93-4850-BC73-94A191C2147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Test each fine cell type</a:t>
            </a:r>
          </a:p>
        </p:txBody>
      </p:sp>
      <p:sp>
        <p:nvSpPr>
          <p:cNvPr id="15" name="TextBox 14">
            <a:extLst>
              <a:ext uri="{FF2B5EF4-FFF2-40B4-BE49-F238E27FC236}">
                <a16:creationId xmlns:a16="http://schemas.microsoft.com/office/drawing/2014/main" id="{270E3D63-8EB2-4724-B97D-72CAA1CA22B1}"/>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Run AD-versus-NCI DEG analysis separately within each fine cell type, sex, and APOE group. Summarize results later by broad class.</a:t>
            </a:r>
          </a:p>
        </p:txBody>
      </p:sp>
      <p:sp>
        <p:nvSpPr>
          <p:cNvPr id="16" name="Rounded Rectangle 15">
            <a:extLst>
              <a:ext uri="{FF2B5EF4-FFF2-40B4-BE49-F238E27FC236}">
                <a16:creationId xmlns:a16="http://schemas.microsoft.com/office/drawing/2014/main" id="{534A9EEA-8A5F-4954-B3B2-93AD43A47D87}"/>
              </a:ext>
            </a:extLst>
          </p:cNvPr>
          <p:cNvSpPr>
            <a:spLocks noGrp="1"/>
          </p:cNvSpPr>
          <p:nvPr/>
        </p:nvSpPr>
        <p:spPr>
          <a:xfrm>
            <a:off x="445312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115232-3CD3-4590-A0CD-62FA073A0EE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895600"/>
                </a:solidFill>
                <a:latin typeface="Arial"/>
                <a:ea typeface="Arial"/>
                <a:cs typeface="Arial"/>
              </a:rPr>
              <a:t>DIRECT BROAD-CELL ANALYSIS</a:t>
            </a:r>
          </a:p>
        </p:txBody>
      </p:sp>
      <p:sp>
        <p:nvSpPr>
          <p:cNvPr id="18" name="TextBox 17">
            <a:extLst>
              <a:ext uri="{FF2B5EF4-FFF2-40B4-BE49-F238E27FC236}">
                <a16:creationId xmlns:a16="http://schemas.microsoft.com/office/drawing/2014/main" id="{B30DD619-5891-4A35-AF6F-EF31F4A7E79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Combine cells before testing</a:t>
            </a:r>
          </a:p>
        </p:txBody>
      </p:sp>
      <p:sp>
        <p:nvSpPr>
          <p:cNvPr id="19" name="TextBox 18">
            <a:extLst>
              <a:ext uri="{FF2B5EF4-FFF2-40B4-BE49-F238E27FC236}">
                <a16:creationId xmlns:a16="http://schemas.microsoft.com/office/drawing/2014/main" id="{A4E26757-5D41-41B5-8F16-6A64F6AC282B}"/>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lang="en-US" sz="1220" b="0" i="0">
                <a:solidFill>
                  <a:srgbClr val="1F2730"/>
                </a:solidFill>
                <a:latin typeface="Arial"/>
                <a:ea typeface="Arial"/>
                <a:cs typeface="Arial"/>
              </a:rPr>
              <a:t>Within each donor, c</a:t>
            </a:r>
            <a:r>
              <a:rPr sz="1220" b="0" i="0">
                <a:solidFill>
                  <a:srgbClr val="1F2730"/>
                </a:solidFill>
                <a:latin typeface="Arial"/>
                <a:ea typeface="Arial"/>
                <a:cs typeface="Arial"/>
              </a:rPr>
              <a:t>ombine cells belonging to one broad class, then compare AD with NCI within one sex/APOE group.</a:t>
            </a:r>
          </a:p>
        </p:txBody>
      </p:sp>
      <p:sp>
        <p:nvSpPr>
          <p:cNvPr id="20" name="Rounded Rectangle 19">
            <a:extLst>
              <a:ext uri="{FF2B5EF4-FFF2-40B4-BE49-F238E27FC236}">
                <a16:creationId xmlns:a16="http://schemas.microsoft.com/office/drawing/2014/main" id="{EFDE4554-9BE7-4F1C-9EC1-3AE3669AF389}"/>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91C911D-9BE4-4EAD-901C-EB4A7396FDD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72B2"/>
                </a:solidFill>
                <a:latin typeface="Arial"/>
                <a:ea typeface="Arial"/>
                <a:cs typeface="Arial"/>
              </a:rPr>
              <a:t>WHY BOTH ARE USEFUL</a:t>
            </a:r>
          </a:p>
        </p:txBody>
      </p:sp>
      <p:sp>
        <p:nvSpPr>
          <p:cNvPr id="22" name="TextBox 21">
            <a:extLst>
              <a:ext uri="{FF2B5EF4-FFF2-40B4-BE49-F238E27FC236}">
                <a16:creationId xmlns:a16="http://schemas.microsoft.com/office/drawing/2014/main" id="{DE347B32-7281-4BAA-9D9B-7BD80806D79B}"/>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Resolution check</a:t>
            </a:r>
          </a:p>
        </p:txBody>
      </p:sp>
      <p:sp>
        <p:nvSpPr>
          <p:cNvPr id="23" name="TextBox 22">
            <a:extLst>
              <a:ext uri="{FF2B5EF4-FFF2-40B4-BE49-F238E27FC236}">
                <a16:creationId xmlns:a16="http://schemas.microsoft.com/office/drawing/2014/main" id="{8791BB3F-8EB1-406E-ABA1-2F45257FD1DF}"/>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Agreement strengthens a finding. Disagreement means that the result depends on cell resolution.</a:t>
            </a:r>
          </a:p>
        </p:txBody>
      </p:sp>
      <p:sp>
        <p:nvSpPr>
          <p:cNvPr id="24" name="Rounded Rectangle 23">
            <a:extLst>
              <a:ext uri="{FF2B5EF4-FFF2-40B4-BE49-F238E27FC236}">
                <a16:creationId xmlns:a16="http://schemas.microsoft.com/office/drawing/2014/main" id="{58C107E9-3677-45CB-8CAB-1BE1CEDCE979}"/>
              </a:ext>
            </a:extLst>
          </p:cNvPr>
          <p:cNvSpPr>
            <a:spLocks noGrp="1"/>
          </p:cNvSpPr>
          <p:nvPr/>
        </p:nvSpPr>
        <p:spPr>
          <a:xfrm>
            <a:off x="658368" y="6146918"/>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3B50EAE-DA13-43C2-AD90-0FF977EECBFB}"/>
              </a:ext>
            </a:extLst>
          </p:cNvPr>
          <p:cNvSpPr>
            <a:spLocks noGrp="1"/>
          </p:cNvSpPr>
          <p:nvPr/>
        </p:nvSpPr>
        <p:spPr>
          <a:xfrm>
            <a:off x="896112" y="6301829"/>
            <a:ext cx="10405872" cy="237744"/>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40" b="1" i="0">
                <a:solidFill>
                  <a:srgbClr val="7E4C9A"/>
                </a:solidFill>
                <a:latin typeface="Arial"/>
                <a:ea typeface="Arial"/>
                <a:cs typeface="Arial"/>
              </a:rPr>
              <a:t>Fine-cell analysis retains subtype localization. Direct broad-cell analysis retains donor-level structure but mixes fine cell types.</a:t>
            </a:r>
          </a:p>
        </p:txBody>
      </p:sp>
    </p:spTree>
    <p:extLst>
      <p:ext uri="{BB962C8B-B14F-4D97-AF65-F5344CB8AC3E}">
        <p14:creationId val="1262158208"/>
      </p:ext>
    </p:extLst>
  </p:cSld>
  <p:clrMapOvr>
    <a:masterClrMapping/>
  </p:clrMapOvr>
  <p:transition/>
  <p:timing/>
</p:sld>
</file>

<file path=ppt/slides/slide4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3" name="TextBox 2">
            <a:extLst>
              <a:ext uri="{FF2B5EF4-FFF2-40B4-BE49-F238E27FC236}">
                <a16:creationId xmlns:a16="http://schemas.microsoft.com/office/drawing/2014/main" id="{DD221FFC-B8D1-496E-A536-22D57CBEFE4E}"/>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450" b="1" i="0">
                <a:solidFill>
                  <a:srgbClr val="0F233D"/>
                </a:solidFill>
                <a:latin typeface="Arial"/>
                <a:ea typeface="Arial"/>
                <a:cs typeface="Arial"/>
              </a:rPr>
              <a:t>How direct broad-cell pathway validation was done</a:t>
            </a:r>
          </a:p>
        </p:txBody>
      </p:sp>
      <p:sp>
        <p:nvSpPr>
          <p:cNvPr id="5" name="Rounded Rectangle 4">
            <a:extLst>
              <a:ext uri="{FF2B5EF4-FFF2-40B4-BE49-F238E27FC236}">
                <a16:creationId xmlns:a16="http://schemas.microsoft.com/office/drawing/2014/main" id="{46E88943-8734-4E23-A8AF-1BFDF11E7331}"/>
              </a:ext>
            </a:extLst>
          </p:cNvPr>
          <p:cNvSpPr>
            <a:spLocks noGrp="1"/>
          </p:cNvSpPr>
          <p:nvPr/>
        </p:nvSpPr>
        <p:spPr>
          <a:xfrm>
            <a:off x="603504" y="1371600"/>
            <a:ext cx="2587752" cy="423367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Oval 5">
            <a:extLst>
              <a:ext uri="{FF2B5EF4-FFF2-40B4-BE49-F238E27FC236}">
                <a16:creationId xmlns:a16="http://schemas.microsoft.com/office/drawing/2014/main" id="{289406B0-EF9A-4E79-B36A-4427A6153B61}"/>
              </a:ext>
            </a:extLst>
          </p:cNvPr>
          <p:cNvSpPr>
            <a:spLocks noGrp="1"/>
          </p:cNvSpPr>
          <p:nvPr/>
        </p:nvSpPr>
        <p:spPr>
          <a:xfrm>
            <a:off x="80467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1C6F10-E5E1-4BB4-A387-04C150B20AA8}"/>
              </a:ext>
            </a:extLst>
          </p:cNvPr>
          <p:cNvSpPr>
            <a:spLocks noGrp="1"/>
          </p:cNvSpPr>
          <p:nvPr/>
        </p:nvSpPr>
        <p:spPr>
          <a:xfrm>
            <a:off x="804672" y="1719072"/>
            <a:ext cx="438912" cy="164592"/>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00" b="1" i="0">
                <a:solidFill>
                  <a:srgbClr val="FFFFFF"/>
                </a:solidFill>
                <a:latin typeface="Arial"/>
                <a:ea typeface="Arial"/>
                <a:cs typeface="Arial"/>
              </a:rPr>
              <a:t>1</a:t>
            </a:r>
          </a:p>
        </p:txBody>
      </p:sp>
      <p:sp>
        <p:nvSpPr>
          <p:cNvPr id="8" name="TextBox 7">
            <a:extLst>
              <a:ext uri="{FF2B5EF4-FFF2-40B4-BE49-F238E27FC236}">
                <a16:creationId xmlns:a16="http://schemas.microsoft.com/office/drawing/2014/main" id="{F22D91EF-D9BC-409A-9ACA-8738658F8584}"/>
              </a:ext>
            </a:extLst>
          </p:cNvPr>
          <p:cNvSpPr>
            <a:spLocks noGrp="1"/>
          </p:cNvSpPr>
          <p:nvPr/>
        </p:nvSpPr>
        <p:spPr>
          <a:xfrm>
            <a:off x="804672" y="2267712"/>
            <a:ext cx="2157984" cy="3477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900" b="1" i="0">
                <a:solidFill>
                  <a:srgbClr val="0F233D"/>
                </a:solidFill>
                <a:latin typeface="Arial"/>
                <a:ea typeface="Arial"/>
                <a:cs typeface="Arial"/>
              </a:rPr>
              <a:t>Combine cells by donor</a:t>
            </a:r>
          </a:p>
        </p:txBody>
      </p:sp>
      <p:sp>
        <p:nvSpPr>
          <p:cNvPr id="9" name="TextBox 8">
            <a:extLst>
              <a:ext uri="{FF2B5EF4-FFF2-40B4-BE49-F238E27FC236}">
                <a16:creationId xmlns:a16="http://schemas.microsoft.com/office/drawing/2014/main" id="{60C194DE-54EB-476E-8EDE-572C60849D23}"/>
              </a:ext>
            </a:extLst>
          </p:cNvPr>
          <p:cNvSpPr>
            <a:spLocks noGrp="1"/>
          </p:cNvSpPr>
          <p:nvPr/>
        </p:nvSpPr>
        <p:spPr>
          <a:xfrm>
            <a:off x="804672" y="3017520"/>
            <a:ext cx="2157984" cy="56692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300" b="1" i="0">
                <a:solidFill>
                  <a:srgbClr val="0072B2"/>
                </a:solidFill>
                <a:latin typeface="Arial"/>
                <a:ea typeface="Arial"/>
                <a:cs typeface="Arial"/>
              </a:rPr>
              <a:t>one broad class within each donor</a:t>
            </a:r>
          </a:p>
        </p:txBody>
      </p:sp>
      <p:sp>
        <p:nvSpPr>
          <p:cNvPr id="10" name="Rounded Rectangle 9">
            <a:extLst>
              <a:ext uri="{FF2B5EF4-FFF2-40B4-BE49-F238E27FC236}">
                <a16:creationId xmlns:a16="http://schemas.microsoft.com/office/drawing/2014/main" id="{6146D296-CE83-45BB-AD0D-3A7A6C16FE5F}"/>
              </a:ext>
            </a:extLst>
          </p:cNvPr>
          <p:cNvSpPr>
            <a:spLocks noGrp="1"/>
          </p:cNvSpPr>
          <p:nvPr/>
        </p:nvSpPr>
        <p:spPr>
          <a:xfrm>
            <a:off x="78638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6A2FDC54-9072-421A-B955-DD62AE6235F9}"/>
              </a:ext>
            </a:extLst>
          </p:cNvPr>
          <p:cNvSpPr>
            <a:spLocks noGrp="1"/>
          </p:cNvSpPr>
          <p:nvPr/>
        </p:nvSpPr>
        <p:spPr>
          <a:xfrm>
            <a:off x="932688" y="4192099"/>
            <a:ext cx="1901952" cy="403187"/>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130" b="0" i="0">
                <a:solidFill>
                  <a:srgbClr val="4E5A68"/>
                </a:solidFill>
                <a:latin typeface="Arial"/>
                <a:ea typeface="Arial"/>
                <a:cs typeface="Arial"/>
              </a:rPr>
              <a:t>Pool cells from one broad class within each donor.</a:t>
            </a:r>
          </a:p>
        </p:txBody>
      </p:sp>
      <p:sp>
        <p:nvSpPr>
          <p:cNvPr id="12" name="Rounded Rectangle 11">
            <a:extLst>
              <a:ext uri="{FF2B5EF4-FFF2-40B4-BE49-F238E27FC236}">
                <a16:creationId xmlns:a16="http://schemas.microsoft.com/office/drawing/2014/main" id="{3D6A8284-7A31-4380-B904-A0B59015231A}"/>
              </a:ext>
            </a:extLst>
          </p:cNvPr>
          <p:cNvSpPr>
            <a:spLocks noGrp="1"/>
          </p:cNvSpPr>
          <p:nvPr/>
        </p:nvSpPr>
        <p:spPr>
          <a:xfrm>
            <a:off x="3438144" y="1371600"/>
            <a:ext cx="2587752" cy="423367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Oval 12">
            <a:extLst>
              <a:ext uri="{FF2B5EF4-FFF2-40B4-BE49-F238E27FC236}">
                <a16:creationId xmlns:a16="http://schemas.microsoft.com/office/drawing/2014/main" id="{1B9491F2-A95B-404C-9125-3CAAEE2F4998}"/>
              </a:ext>
            </a:extLst>
          </p:cNvPr>
          <p:cNvSpPr>
            <a:spLocks noGrp="1"/>
          </p:cNvSpPr>
          <p:nvPr/>
        </p:nvSpPr>
        <p:spPr>
          <a:xfrm>
            <a:off x="363931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622387C4-7931-4CE7-BDE7-F35D8D087AE8}"/>
              </a:ext>
            </a:extLst>
          </p:cNvPr>
          <p:cNvSpPr>
            <a:spLocks noGrp="1"/>
          </p:cNvSpPr>
          <p:nvPr/>
        </p:nvSpPr>
        <p:spPr>
          <a:xfrm>
            <a:off x="3639312" y="1719072"/>
            <a:ext cx="438912" cy="164592"/>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00" b="1" i="0">
                <a:solidFill>
                  <a:srgbClr val="FFFFFF"/>
                </a:solidFill>
                <a:latin typeface="Arial"/>
                <a:ea typeface="Arial"/>
                <a:cs typeface="Arial"/>
              </a:rPr>
              <a:t>2</a:t>
            </a:r>
          </a:p>
        </p:txBody>
      </p:sp>
      <p:sp>
        <p:nvSpPr>
          <p:cNvPr id="15" name="TextBox 14">
            <a:extLst>
              <a:ext uri="{FF2B5EF4-FFF2-40B4-BE49-F238E27FC236}">
                <a16:creationId xmlns:a16="http://schemas.microsoft.com/office/drawing/2014/main" id="{F0443E6F-1577-4127-9A0B-40BE604BD958}"/>
              </a:ext>
            </a:extLst>
          </p:cNvPr>
          <p:cNvSpPr>
            <a:spLocks noGrp="1"/>
          </p:cNvSpPr>
          <p:nvPr/>
        </p:nvSpPr>
        <p:spPr>
          <a:xfrm>
            <a:off x="3639312" y="2267712"/>
            <a:ext cx="2157984" cy="63398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900" b="1" i="0">
                <a:solidFill>
                  <a:srgbClr val="0F233D"/>
                </a:solidFill>
                <a:latin typeface="Arial"/>
                <a:ea typeface="Arial"/>
                <a:cs typeface="Arial"/>
              </a:rPr>
              <a:t>Compare AD with NCI</a:t>
            </a:r>
          </a:p>
        </p:txBody>
      </p:sp>
      <p:sp>
        <p:nvSpPr>
          <p:cNvPr id="16" name="TextBox 15">
            <a:extLst>
              <a:ext uri="{FF2B5EF4-FFF2-40B4-BE49-F238E27FC236}">
                <a16:creationId xmlns:a16="http://schemas.microsoft.com/office/drawing/2014/main" id="{7001D801-ADA4-403D-BAD3-04BAFAA2F71C}"/>
              </a:ext>
            </a:extLst>
          </p:cNvPr>
          <p:cNvSpPr>
            <a:spLocks noGrp="1"/>
          </p:cNvSpPr>
          <p:nvPr/>
        </p:nvSpPr>
        <p:spPr>
          <a:xfrm>
            <a:off x="3639312" y="3017520"/>
            <a:ext cx="2157984" cy="255455"/>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300" b="1" i="0">
                <a:solidFill>
                  <a:srgbClr val="0072B2"/>
                </a:solidFill>
                <a:latin typeface="Arial"/>
                <a:ea typeface="Arial"/>
                <a:cs typeface="Arial"/>
              </a:rPr>
              <a:t>sex/APOE group × broad class</a:t>
            </a:r>
          </a:p>
        </p:txBody>
      </p:sp>
      <p:sp>
        <p:nvSpPr>
          <p:cNvPr id="17" name="Rounded Rectangle 16">
            <a:extLst>
              <a:ext uri="{FF2B5EF4-FFF2-40B4-BE49-F238E27FC236}">
                <a16:creationId xmlns:a16="http://schemas.microsoft.com/office/drawing/2014/main" id="{A3D98377-F5A3-4F8F-BAB6-FDC375C4B716}"/>
              </a:ext>
            </a:extLst>
          </p:cNvPr>
          <p:cNvSpPr>
            <a:spLocks noGrp="1"/>
          </p:cNvSpPr>
          <p:nvPr/>
        </p:nvSpPr>
        <p:spPr>
          <a:xfrm>
            <a:off x="362102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57EF9E3C-D045-44CE-881A-1A65D09E147D}"/>
              </a:ext>
            </a:extLst>
          </p:cNvPr>
          <p:cNvSpPr>
            <a:spLocks noGrp="1"/>
          </p:cNvSpPr>
          <p:nvPr/>
        </p:nvSpPr>
        <p:spPr>
          <a:xfrm>
            <a:off x="3767328" y="4192099"/>
            <a:ext cx="1901952" cy="403187"/>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130" b="0" i="0">
                <a:solidFill>
                  <a:srgbClr val="4E5A68"/>
                </a:solidFill>
                <a:latin typeface="Arial"/>
                <a:ea typeface="Arial"/>
                <a:cs typeface="Arial"/>
              </a:rPr>
              <a:t>Run one differential-expression comparison for each group and broad cell class.</a:t>
            </a:r>
          </a:p>
        </p:txBody>
      </p:sp>
      <p:sp>
        <p:nvSpPr>
          <p:cNvPr id="19" name="Rounded Rectangle 18">
            <a:extLst>
              <a:ext uri="{FF2B5EF4-FFF2-40B4-BE49-F238E27FC236}">
                <a16:creationId xmlns:a16="http://schemas.microsoft.com/office/drawing/2014/main" id="{DF469515-F5B8-43BD-8069-1C1E5125CEA0}"/>
              </a:ext>
            </a:extLst>
          </p:cNvPr>
          <p:cNvSpPr>
            <a:spLocks noGrp="1"/>
          </p:cNvSpPr>
          <p:nvPr/>
        </p:nvSpPr>
        <p:spPr>
          <a:xfrm>
            <a:off x="6272784" y="1371600"/>
            <a:ext cx="2587752" cy="4233672"/>
          </a:xfrm>
          <a:prstGeom prst="roundRect">
            <a:avLst/>
          </a:prstGeom>
          <a:solidFill>
            <a:srgbClr val="E4F4EE"/>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Oval 19">
            <a:extLst>
              <a:ext uri="{FF2B5EF4-FFF2-40B4-BE49-F238E27FC236}">
                <a16:creationId xmlns:a16="http://schemas.microsoft.com/office/drawing/2014/main" id="{D04E537C-15DA-48A6-89FB-F8113B7AC3F0}"/>
              </a:ext>
            </a:extLst>
          </p:cNvPr>
          <p:cNvSpPr>
            <a:spLocks noGrp="1"/>
          </p:cNvSpPr>
          <p:nvPr/>
        </p:nvSpPr>
        <p:spPr>
          <a:xfrm>
            <a:off x="647395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9C0C3F9-A3D6-433E-8DFC-3418EFBC3EA7}"/>
              </a:ext>
            </a:extLst>
          </p:cNvPr>
          <p:cNvSpPr>
            <a:spLocks noGrp="1"/>
          </p:cNvSpPr>
          <p:nvPr/>
        </p:nvSpPr>
        <p:spPr>
          <a:xfrm>
            <a:off x="6473952" y="1719072"/>
            <a:ext cx="438912" cy="164592"/>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00" b="1" i="0">
                <a:solidFill>
                  <a:srgbClr val="FFFFFF"/>
                </a:solidFill>
                <a:latin typeface="Arial"/>
                <a:ea typeface="Arial"/>
                <a:cs typeface="Arial"/>
              </a:rPr>
              <a:t>3</a:t>
            </a:r>
          </a:p>
        </p:txBody>
      </p:sp>
      <p:sp>
        <p:nvSpPr>
          <p:cNvPr id="22" name="TextBox 21">
            <a:extLst>
              <a:ext uri="{FF2B5EF4-FFF2-40B4-BE49-F238E27FC236}">
                <a16:creationId xmlns:a16="http://schemas.microsoft.com/office/drawing/2014/main" id="{FADF91BF-7B86-4FED-A4B7-C7F5A4F14485}"/>
              </a:ext>
            </a:extLst>
          </p:cNvPr>
          <p:cNvSpPr>
            <a:spLocks noGrp="1"/>
          </p:cNvSpPr>
          <p:nvPr/>
        </p:nvSpPr>
        <p:spPr>
          <a:xfrm>
            <a:off x="6473952" y="2267712"/>
            <a:ext cx="2157984" cy="54864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900" b="1" i="0">
                <a:solidFill>
                  <a:srgbClr val="0F233D"/>
                </a:solidFill>
                <a:latin typeface="Arial"/>
                <a:ea typeface="Arial"/>
                <a:cs typeface="Arial"/>
              </a:rPr>
              <a:t>Rank tested MitoCarta MT genes</a:t>
            </a:r>
          </a:p>
        </p:txBody>
      </p:sp>
      <p:sp>
        <p:nvSpPr>
          <p:cNvPr id="23" name="TextBox 22">
            <a:extLst>
              <a:ext uri="{FF2B5EF4-FFF2-40B4-BE49-F238E27FC236}">
                <a16:creationId xmlns:a16="http://schemas.microsoft.com/office/drawing/2014/main" id="{B842083C-0C8D-4B4B-B1A5-57F55B7604BB}"/>
              </a:ext>
            </a:extLst>
          </p:cNvPr>
          <p:cNvSpPr>
            <a:spLocks noGrp="1"/>
          </p:cNvSpPr>
          <p:nvPr/>
        </p:nvSpPr>
        <p:spPr>
          <a:xfrm>
            <a:off x="6473952" y="3313356"/>
            <a:ext cx="2157984" cy="255455"/>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300" b="1">
                <a:solidFill>
                  <a:srgbClr val="0072B2"/>
                </a:solidFill>
                <a:latin typeface="Arial"/>
                <a:ea typeface="Arial"/>
                <a:cs typeface="Arial"/>
              </a:rPr>
              <a:t>AD-up to AD-down</a:t>
            </a:r>
          </a:p>
        </p:txBody>
      </p:sp>
      <p:sp>
        <p:nvSpPr>
          <p:cNvPr id="24" name="Rounded Rectangle 23">
            <a:extLst>
              <a:ext uri="{FF2B5EF4-FFF2-40B4-BE49-F238E27FC236}">
                <a16:creationId xmlns:a16="http://schemas.microsoft.com/office/drawing/2014/main" id="{73FCD190-7E9B-4971-809E-FDF0267FFC24}"/>
              </a:ext>
            </a:extLst>
          </p:cNvPr>
          <p:cNvSpPr>
            <a:spLocks noGrp="1"/>
          </p:cNvSpPr>
          <p:nvPr/>
        </p:nvSpPr>
        <p:spPr>
          <a:xfrm>
            <a:off x="645566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4BA8FC0-C20F-4CB2-9C47-48A6A6F99B5D}"/>
              </a:ext>
            </a:extLst>
          </p:cNvPr>
          <p:cNvSpPr>
            <a:spLocks noGrp="1"/>
          </p:cNvSpPr>
          <p:nvPr/>
        </p:nvSpPr>
        <p:spPr>
          <a:xfrm>
            <a:off x="6601968" y="4105152"/>
            <a:ext cx="1940298" cy="577081"/>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130" b="0" i="0">
                <a:solidFill>
                  <a:srgbClr val="4E5A68"/>
                </a:solidFill>
                <a:latin typeface="Arial"/>
                <a:ea typeface="Arial"/>
                <a:cs typeface="Arial"/>
              </a:rPr>
              <a:t>Order genes from strongest AD-up to strongest AD-down evidence.</a:t>
            </a:r>
          </a:p>
          <a:p>
            <a:pPr algn="ctr">
              <a:lnSpc>
                <a:spcPct val="100000"/>
              </a:lnSpc>
              <a:spcBef>
                <a:spcPct val="0"/>
              </a:spcBef>
              <a:spcAft>
                <a:spcPct val="0"/>
              </a:spcAft>
              <a:buNone/>
            </a:pPr>
            <a:endParaRPr sz="1130" b="0" i="0">
              <a:solidFill>
                <a:srgbClr val="4E5A68"/>
              </a:solidFill>
              <a:latin typeface="Arial"/>
              <a:ea typeface="Arial"/>
              <a:cs typeface="Arial"/>
            </a:endParaRPr>
          </a:p>
        </p:txBody>
      </p:sp>
      <p:sp>
        <p:nvSpPr>
          <p:cNvPr id="26" name="Rounded Rectangle 25">
            <a:extLst>
              <a:ext uri="{FF2B5EF4-FFF2-40B4-BE49-F238E27FC236}">
                <a16:creationId xmlns:a16="http://schemas.microsoft.com/office/drawing/2014/main" id="{ECCE965F-10FE-43B6-9A15-9DB9A4A772BA}"/>
              </a:ext>
            </a:extLst>
          </p:cNvPr>
          <p:cNvSpPr>
            <a:spLocks noGrp="1"/>
          </p:cNvSpPr>
          <p:nvPr/>
        </p:nvSpPr>
        <p:spPr>
          <a:xfrm>
            <a:off x="9107424" y="1371600"/>
            <a:ext cx="2587752" cy="423367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Oval 26">
            <a:extLst>
              <a:ext uri="{FF2B5EF4-FFF2-40B4-BE49-F238E27FC236}">
                <a16:creationId xmlns:a16="http://schemas.microsoft.com/office/drawing/2014/main" id="{0F316496-2745-40F5-8FA3-A536F057DFD9}"/>
              </a:ext>
            </a:extLst>
          </p:cNvPr>
          <p:cNvSpPr>
            <a:spLocks noGrp="1"/>
          </p:cNvSpPr>
          <p:nvPr/>
        </p:nvSpPr>
        <p:spPr>
          <a:xfrm>
            <a:off x="9308592" y="1627632"/>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D6A51F87-D6F7-46B1-805E-981A290663B3}"/>
              </a:ext>
            </a:extLst>
          </p:cNvPr>
          <p:cNvSpPr>
            <a:spLocks noGrp="1"/>
          </p:cNvSpPr>
          <p:nvPr/>
        </p:nvSpPr>
        <p:spPr>
          <a:xfrm>
            <a:off x="9308592" y="1719072"/>
            <a:ext cx="438912" cy="164592"/>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00" b="1" i="0">
                <a:solidFill>
                  <a:srgbClr val="FFFFFF"/>
                </a:solidFill>
                <a:latin typeface="Arial"/>
                <a:ea typeface="Arial"/>
                <a:cs typeface="Arial"/>
              </a:rPr>
              <a:t>4</a:t>
            </a:r>
          </a:p>
        </p:txBody>
      </p:sp>
      <p:sp>
        <p:nvSpPr>
          <p:cNvPr id="29" name="TextBox 28">
            <a:extLst>
              <a:ext uri="{FF2B5EF4-FFF2-40B4-BE49-F238E27FC236}">
                <a16:creationId xmlns:a16="http://schemas.microsoft.com/office/drawing/2014/main" id="{081F480E-EA43-4A99-9E7F-3B8C8BB6E908}"/>
              </a:ext>
            </a:extLst>
          </p:cNvPr>
          <p:cNvSpPr>
            <a:spLocks noGrp="1"/>
          </p:cNvSpPr>
          <p:nvPr/>
        </p:nvSpPr>
        <p:spPr>
          <a:xfrm>
            <a:off x="9308592" y="2267712"/>
            <a:ext cx="2157984" cy="54864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900" b="1" i="0">
                <a:solidFill>
                  <a:srgbClr val="0F233D"/>
                </a:solidFill>
                <a:latin typeface="Arial"/>
                <a:ea typeface="Arial"/>
                <a:cs typeface="Arial"/>
              </a:rPr>
              <a:t>Test each pathway</a:t>
            </a:r>
          </a:p>
        </p:txBody>
      </p:sp>
      <p:sp>
        <p:nvSpPr>
          <p:cNvPr id="30" name="TextBox 29">
            <a:extLst>
              <a:ext uri="{FF2B5EF4-FFF2-40B4-BE49-F238E27FC236}">
                <a16:creationId xmlns:a16="http://schemas.microsoft.com/office/drawing/2014/main" id="{3CFF8CEC-C169-4B64-A39A-03FB9E8AAF1C}"/>
              </a:ext>
            </a:extLst>
          </p:cNvPr>
          <p:cNvSpPr>
            <a:spLocks noGrp="1"/>
          </p:cNvSpPr>
          <p:nvPr/>
        </p:nvSpPr>
        <p:spPr>
          <a:xfrm>
            <a:off x="9308592" y="3017520"/>
            <a:ext cx="2157984" cy="56692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300" b="1" i="0">
                <a:solidFill>
                  <a:srgbClr val="E69F00"/>
                </a:solidFill>
                <a:latin typeface="Arial"/>
                <a:ea typeface="Arial"/>
                <a:cs typeface="Arial"/>
              </a:rPr>
              <a:t>ranked-gene pathway analysis</a:t>
            </a:r>
          </a:p>
        </p:txBody>
      </p:sp>
      <p:sp>
        <p:nvSpPr>
          <p:cNvPr id="31" name="Rounded Rectangle 30">
            <a:extLst>
              <a:ext uri="{FF2B5EF4-FFF2-40B4-BE49-F238E27FC236}">
                <a16:creationId xmlns:a16="http://schemas.microsoft.com/office/drawing/2014/main" id="{8A9606BF-576C-4D4A-A6E8-E536878F1F74}"/>
              </a:ext>
            </a:extLst>
          </p:cNvPr>
          <p:cNvSpPr>
            <a:spLocks noGrp="1"/>
          </p:cNvSpPr>
          <p:nvPr/>
        </p:nvSpPr>
        <p:spPr>
          <a:xfrm>
            <a:off x="929030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51EDF7F-2A80-4AA9-B0A2-6B07730F92E2}"/>
              </a:ext>
            </a:extLst>
          </p:cNvPr>
          <p:cNvSpPr>
            <a:spLocks noGrp="1"/>
          </p:cNvSpPr>
          <p:nvPr/>
        </p:nvSpPr>
        <p:spPr>
          <a:xfrm>
            <a:off x="9436608" y="3931258"/>
            <a:ext cx="1901952" cy="924869"/>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130" b="0" i="0">
                <a:solidFill>
                  <a:srgbClr val="4E5A68"/>
                </a:solidFill>
                <a:latin typeface="Arial"/>
                <a:ea typeface="Arial"/>
                <a:cs typeface="Arial"/>
              </a:rPr>
              <a:t>Ask whether pathway genes concentrate toward one end of the ranked list</a:t>
            </a:r>
            <a:r>
              <a:rPr lang="en-US" sz="1130" b="0" i="0">
                <a:solidFill>
                  <a:srgbClr val="4E5A68"/>
                </a:solidFill>
                <a:latin typeface="Arial"/>
                <a:ea typeface="Arial"/>
                <a:cs typeface="Arial"/>
              </a:rPr>
              <a:t> using normalized enrichment score (NES)</a:t>
            </a:r>
            <a:endParaRPr sz="1130" b="0" i="0">
              <a:solidFill>
                <a:srgbClr val="4E5A68"/>
              </a:solidFill>
              <a:latin typeface="Arial"/>
              <a:ea typeface="Arial"/>
              <a:cs typeface="Arial"/>
            </a:endParaRPr>
          </a:p>
        </p:txBody>
      </p:sp>
    </p:spTree>
    <p:extLst>
      <p:ext uri="{BB962C8B-B14F-4D97-AF65-F5344CB8AC3E}">
        <p14:creationId val="24950864"/>
      </p:ext>
    </p:extLst>
  </p:cSld>
  <p:clrMapOvr>
    <a:masterClrMapping/>
  </p:clrMapOvr>
  <p:transition/>
  <p:timing/>
</p:sld>
</file>

<file path=ppt/slides/slide4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04847B2B-03F0-4340-9874-86C63B1F2554}"/>
              </a:ext>
            </a:extLst>
          </p:cNvPr>
          <p:cNvSpPr>
            <a:spLocks noGrp="1"/>
          </p:cNvSpPr>
          <p:nvPr/>
        </p:nvSpPr>
        <p:spPr>
          <a:xfrm>
            <a:off x="530352" y="292608"/>
            <a:ext cx="11064240" cy="39395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lang="en-US" sz="2200" b="1" i="0">
                <a:solidFill>
                  <a:srgbClr val="0F233D"/>
                </a:solidFill>
                <a:latin typeface="Arial"/>
                <a:ea typeface="Arial"/>
                <a:cs typeface="Arial"/>
              </a:rPr>
              <a:t>R</a:t>
            </a:r>
            <a:r>
              <a:rPr sz="2200" b="1" i="0">
                <a:solidFill>
                  <a:srgbClr val="0F233D"/>
                </a:solidFill>
                <a:latin typeface="Arial"/>
                <a:ea typeface="Arial"/>
                <a:cs typeface="Arial"/>
              </a:rPr>
              <a:t>ank score for direct broad-cell GSEA</a:t>
            </a:r>
          </a:p>
        </p:txBody>
      </p:sp>
      <p:sp>
        <p:nvSpPr>
          <p:cNvPr id="3" name="TextBox 2">
            <a:extLst>
              <a:ext uri="{FF2B5EF4-FFF2-40B4-BE49-F238E27FC236}">
                <a16:creationId xmlns:a16="http://schemas.microsoft.com/office/drawing/2014/main" id="{896CB3C7-3B59-48DD-B73F-9AD94CF297D8}"/>
              </a:ext>
            </a:extLst>
          </p:cNvPr>
          <p:cNvSpPr>
            <a:spLocks noGrp="1"/>
          </p:cNvSpPr>
          <p:nvPr/>
        </p:nvSpPr>
        <p:spPr>
          <a:xfrm>
            <a:off x="548640" y="1146818"/>
            <a:ext cx="10927080" cy="270843"/>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00" b="1" i="0">
                <a:latin typeface="Arial"/>
                <a:ea typeface="Arial"/>
                <a:cs typeface="Arial"/>
              </a:rPr>
              <a:t>Every tested MitoCarta MT gene receives a signed score before pathway testing.</a:t>
            </a:r>
          </a:p>
        </p:txBody>
      </p:sp>
      <p:sp>
        <p:nvSpPr>
          <p:cNvPr id="12" name="Rounded Rectangle 11">
            <a:extLst>
              <a:ext uri="{FF2B5EF4-FFF2-40B4-BE49-F238E27FC236}">
                <a16:creationId xmlns:a16="http://schemas.microsoft.com/office/drawing/2014/main" id="{1623AB73-75F2-48FD-B6FD-29F94AEBE1B4}"/>
              </a:ext>
            </a:extLst>
          </p:cNvPr>
          <p:cNvSpPr>
            <a:spLocks noGrp="1"/>
          </p:cNvSpPr>
          <p:nvPr/>
        </p:nvSpPr>
        <p:spPr>
          <a:xfrm>
            <a:off x="658368" y="1708773"/>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5AB7C3F-B362-4884-8570-8BC56E4296D4}"/>
              </a:ext>
            </a:extLst>
          </p:cNvPr>
          <p:cNvSpPr>
            <a:spLocks noGrp="1"/>
          </p:cNvSpPr>
          <p:nvPr/>
        </p:nvSpPr>
        <p:spPr>
          <a:xfrm>
            <a:off x="932688" y="2001381"/>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9E3A00"/>
                </a:solidFill>
                <a:latin typeface="Arial"/>
                <a:ea typeface="Arial"/>
                <a:cs typeface="Arial"/>
              </a:rPr>
              <a:t>STUDY RANKING RULE</a:t>
            </a:r>
          </a:p>
        </p:txBody>
      </p:sp>
      <p:sp>
        <p:nvSpPr>
          <p:cNvPr id="14" name="TextBox 13">
            <a:extLst>
              <a:ext uri="{FF2B5EF4-FFF2-40B4-BE49-F238E27FC236}">
                <a16:creationId xmlns:a16="http://schemas.microsoft.com/office/drawing/2014/main" id="{037D3A7F-EC93-4850-BC73-94A191C2147C}"/>
              </a:ext>
            </a:extLst>
          </p:cNvPr>
          <p:cNvSpPr>
            <a:spLocks noGrp="1"/>
          </p:cNvSpPr>
          <p:nvPr/>
        </p:nvSpPr>
        <p:spPr>
          <a:xfrm>
            <a:off x="932688" y="2495109"/>
            <a:ext cx="2907792" cy="640175"/>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900" b="1" i="0">
                <a:solidFill>
                  <a:srgbClr val="0F233D"/>
                </a:solidFill>
                <a:latin typeface="Arial"/>
                <a:ea typeface="Arial"/>
                <a:cs typeface="Arial"/>
              </a:rPr>
              <a:t>rank score = </a:t>
            </a:r>
            <a:endParaRPr lang="en-US" sz="1900" b="1" i="0">
              <a:solidFill>
                <a:srgbClr val="0F233D"/>
              </a:solidFill>
              <a:latin typeface="Arial"/>
              <a:ea typeface="Arial"/>
              <a:cs typeface="Arial"/>
            </a:endParaRPr>
          </a:p>
          <a:p>
            <a:pPr algn="ctr">
              <a:lnSpc>
                <a:spcPct val="100000"/>
              </a:lnSpc>
              <a:spcBef>
                <a:spcPct val="0"/>
              </a:spcBef>
              <a:spcAft>
                <a:spcPct val="0"/>
              </a:spcAft>
              <a:buNone/>
            </a:pPr>
            <a:r>
              <a:rPr sz="1900" b="1" i="0">
                <a:solidFill>
                  <a:srgbClr val="0F233D"/>
                </a:solidFill>
                <a:latin typeface="Arial"/>
                <a:ea typeface="Arial"/>
                <a:cs typeface="Arial"/>
              </a:rPr>
              <a:t>sign(logFC) × √F</a:t>
            </a:r>
          </a:p>
        </p:txBody>
      </p:sp>
      <p:sp>
        <p:nvSpPr>
          <p:cNvPr id="15" name="TextBox 14">
            <a:extLst>
              <a:ext uri="{FF2B5EF4-FFF2-40B4-BE49-F238E27FC236}">
                <a16:creationId xmlns:a16="http://schemas.microsoft.com/office/drawing/2014/main" id="{270E3D63-8EB2-4724-B97D-72CAA1CA22B1}"/>
              </a:ext>
            </a:extLst>
          </p:cNvPr>
          <p:cNvSpPr>
            <a:spLocks noGrp="1"/>
          </p:cNvSpPr>
          <p:nvPr/>
        </p:nvSpPr>
        <p:spPr>
          <a:xfrm>
            <a:off x="969264" y="3464421"/>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err="1">
                <a:solidFill>
                  <a:srgbClr val="1F2730"/>
                </a:solidFill>
                <a:latin typeface="Arial"/>
                <a:ea typeface="Arial"/>
                <a:cs typeface="Arial"/>
              </a:rPr>
              <a:t>logFC is AD versus NCI. Its sign sets the direction. √F sets the score magnitude.</a:t>
            </a:r>
          </a:p>
        </p:txBody>
      </p:sp>
      <p:sp>
        <p:nvSpPr>
          <p:cNvPr id="16" name="Rounded Rectangle 15">
            <a:extLst>
              <a:ext uri="{FF2B5EF4-FFF2-40B4-BE49-F238E27FC236}">
                <a16:creationId xmlns:a16="http://schemas.microsoft.com/office/drawing/2014/main" id="{534A9EEA-8A5F-4954-B3B2-93AD43A47D87}"/>
              </a:ext>
            </a:extLst>
          </p:cNvPr>
          <p:cNvSpPr>
            <a:spLocks noGrp="1"/>
          </p:cNvSpPr>
          <p:nvPr/>
        </p:nvSpPr>
        <p:spPr>
          <a:xfrm>
            <a:off x="4453128" y="1708773"/>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115232-3CD3-4590-A0CD-62FA073A0EE5}"/>
              </a:ext>
            </a:extLst>
          </p:cNvPr>
          <p:cNvSpPr>
            <a:spLocks noGrp="1"/>
          </p:cNvSpPr>
          <p:nvPr/>
        </p:nvSpPr>
        <p:spPr>
          <a:xfrm>
            <a:off x="4727448" y="2001381"/>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895600"/>
                </a:solidFill>
                <a:latin typeface="Arial"/>
                <a:ea typeface="Arial"/>
                <a:cs typeface="Arial"/>
              </a:rPr>
              <a:t>WHY USE √F?</a:t>
            </a:r>
          </a:p>
        </p:txBody>
      </p:sp>
      <p:sp>
        <p:nvSpPr>
          <p:cNvPr id="18" name="TextBox 17">
            <a:extLst>
              <a:ext uri="{FF2B5EF4-FFF2-40B4-BE49-F238E27FC236}">
                <a16:creationId xmlns:a16="http://schemas.microsoft.com/office/drawing/2014/main" id="{B30DD619-5891-4A35-AF6F-EF31F4A7E791}"/>
              </a:ext>
            </a:extLst>
          </p:cNvPr>
          <p:cNvSpPr>
            <a:spLocks noGrp="1"/>
          </p:cNvSpPr>
          <p:nvPr/>
        </p:nvSpPr>
        <p:spPr>
          <a:xfrm>
            <a:off x="4727448" y="2458581"/>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F measures statistical evidence</a:t>
            </a:r>
          </a:p>
        </p:txBody>
      </p:sp>
      <p:sp>
        <p:nvSpPr>
          <p:cNvPr id="19" name="TextBox 18">
            <a:extLst>
              <a:ext uri="{FF2B5EF4-FFF2-40B4-BE49-F238E27FC236}">
                <a16:creationId xmlns:a16="http://schemas.microsoft.com/office/drawing/2014/main" id="{A4E26757-5D41-41B5-8F16-6A64F6AC282B}"/>
              </a:ext>
            </a:extLst>
          </p:cNvPr>
          <p:cNvSpPr>
            <a:spLocks noGrp="1"/>
          </p:cNvSpPr>
          <p:nvPr/>
        </p:nvSpPr>
        <p:spPr>
          <a:xfrm>
            <a:off x="4764024" y="3464421"/>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F comes from the edgeR quasi-likelihood test. For this one-degree-of-freedom contrast, √F gives a t-like scale and preserves the ordering set by F.</a:t>
            </a:r>
          </a:p>
        </p:txBody>
      </p:sp>
      <p:sp>
        <p:nvSpPr>
          <p:cNvPr id="20" name="Rounded Rectangle 19">
            <a:extLst>
              <a:ext uri="{FF2B5EF4-FFF2-40B4-BE49-F238E27FC236}">
                <a16:creationId xmlns:a16="http://schemas.microsoft.com/office/drawing/2014/main" id="{EFDE4554-9BE7-4F1C-9EC1-3AE3669AF389}"/>
              </a:ext>
            </a:extLst>
          </p:cNvPr>
          <p:cNvSpPr>
            <a:spLocks noGrp="1"/>
          </p:cNvSpPr>
          <p:nvPr/>
        </p:nvSpPr>
        <p:spPr>
          <a:xfrm>
            <a:off x="8247888" y="1708773"/>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91C911D-9BE4-4EAD-901C-EB4A7396FDD3}"/>
              </a:ext>
            </a:extLst>
          </p:cNvPr>
          <p:cNvSpPr>
            <a:spLocks noGrp="1"/>
          </p:cNvSpPr>
          <p:nvPr/>
        </p:nvSpPr>
        <p:spPr>
          <a:xfrm>
            <a:off x="8522208" y="2001381"/>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72B2"/>
                </a:solidFill>
                <a:latin typeface="Arial"/>
                <a:ea typeface="Arial"/>
                <a:cs typeface="Arial"/>
              </a:rPr>
              <a:t>WHY NOT logFC ALONE?</a:t>
            </a:r>
          </a:p>
        </p:txBody>
      </p:sp>
      <p:sp>
        <p:nvSpPr>
          <p:cNvPr id="22" name="TextBox 21">
            <a:extLst>
              <a:ext uri="{FF2B5EF4-FFF2-40B4-BE49-F238E27FC236}">
                <a16:creationId xmlns:a16="http://schemas.microsoft.com/office/drawing/2014/main" id="{DE347B32-7281-4BAA-9D9B-7BD80806D79B}"/>
              </a:ext>
            </a:extLst>
          </p:cNvPr>
          <p:cNvSpPr>
            <a:spLocks noGrp="1"/>
          </p:cNvSpPr>
          <p:nvPr/>
        </p:nvSpPr>
        <p:spPr>
          <a:xfrm>
            <a:off x="8522208" y="2458581"/>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Large estimates can be noisy</a:t>
            </a:r>
          </a:p>
        </p:txBody>
      </p:sp>
      <p:sp>
        <p:nvSpPr>
          <p:cNvPr id="23" name="TextBox 22">
            <a:extLst>
              <a:ext uri="{FF2B5EF4-FFF2-40B4-BE49-F238E27FC236}">
                <a16:creationId xmlns:a16="http://schemas.microsoft.com/office/drawing/2014/main" id="{8791BB3F-8EB1-406E-ABA1-2F45257FD1DF}"/>
              </a:ext>
            </a:extLst>
          </p:cNvPr>
          <p:cNvSpPr>
            <a:spLocks noGrp="1"/>
          </p:cNvSpPr>
          <p:nvPr/>
        </p:nvSpPr>
        <p:spPr>
          <a:xfrm>
            <a:off x="8558784" y="3464421"/>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140" b="0" i="0">
                <a:solidFill>
                  <a:srgbClr val="1F2730"/>
                </a:solidFill>
                <a:latin typeface="Arial"/>
                <a:ea typeface="Arial"/>
                <a:cs typeface="Arial"/>
              </a:rPr>
              <a:t>Gene A: logFC +2.0, F = 0.25, score +0.5. Gene B: logFC +0.5, F = 16, score +4.0. Stronger statistical support places Gene B higher.</a:t>
            </a:r>
          </a:p>
        </p:txBody>
      </p:sp>
      <p:sp>
        <p:nvSpPr>
          <p:cNvPr id="24" name="Rounded Rectangle 23">
            <a:extLst>
              <a:ext uri="{FF2B5EF4-FFF2-40B4-BE49-F238E27FC236}">
                <a16:creationId xmlns:a16="http://schemas.microsoft.com/office/drawing/2014/main" id="{58C107E9-3677-45CB-8CAB-1BE1CEDCE979}"/>
              </a:ext>
            </a:extLst>
          </p:cNvPr>
          <p:cNvSpPr>
            <a:spLocks noGrp="1"/>
          </p:cNvSpPr>
          <p:nvPr/>
        </p:nvSpPr>
        <p:spPr>
          <a:xfrm>
            <a:off x="658368" y="6102789"/>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3B50EAE-DA13-43C2-AD90-0FF977EECBFB}"/>
              </a:ext>
            </a:extLst>
          </p:cNvPr>
          <p:cNvSpPr>
            <a:spLocks noGrp="1"/>
          </p:cNvSpPr>
          <p:nvPr/>
        </p:nvSpPr>
        <p:spPr>
          <a:xfrm>
            <a:off x="896112" y="6230110"/>
            <a:ext cx="10405872" cy="237744"/>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40" b="1" i="0">
                <a:solidFill>
                  <a:srgbClr val="7E4C9A"/>
                </a:solidFill>
                <a:latin typeface="Arial"/>
                <a:ea typeface="Arial"/>
                <a:cs typeface="Arial"/>
              </a:rPr>
              <a:t>This is the study's ranking rule for targeted MitoCarta GSEA. GSEA does not require one universal ranking formula.</a:t>
            </a:r>
          </a:p>
        </p:txBody>
      </p:sp>
    </p:spTree>
    <p:extLst>
      <p:ext uri="{BB962C8B-B14F-4D97-AF65-F5344CB8AC3E}">
        <p14:creationId val="1262158208"/>
      </p:ext>
    </p:extLst>
  </p:cSld>
  <p:clrMapOvr>
    <a:masterClrMapping/>
  </p:clrMapOvr>
  <p:transition/>
  <p:timing/>
</p:sld>
</file>

<file path=ppt/slides/slide4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04847B2B-03F0-4340-9874-86C63B1F2554}"/>
              </a:ext>
            </a:extLst>
          </p:cNvPr>
          <p:cNvSpPr>
            <a:spLocks noGrp="1"/>
          </p:cNvSpPr>
          <p:nvPr/>
        </p:nvSpPr>
        <p:spPr>
          <a:xfrm>
            <a:off x="530352" y="292608"/>
            <a:ext cx="11064240" cy="39395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lang="en-US" sz="2200" b="1" i="0">
                <a:solidFill>
                  <a:srgbClr val="0F233D"/>
                </a:solidFill>
                <a:latin typeface="Arial"/>
                <a:ea typeface="Arial"/>
                <a:cs typeface="Arial"/>
              </a:rPr>
              <a:t>Standard weighted GSEA enrichment score for pathway</a:t>
            </a:r>
          </a:p>
        </p:txBody>
      </p:sp>
      <p:sp>
        <p:nvSpPr>
          <p:cNvPr id="3" name="TextBox 2">
            <a:extLst>
              <a:ext uri="{FF2B5EF4-FFF2-40B4-BE49-F238E27FC236}">
                <a16:creationId xmlns:a16="http://schemas.microsoft.com/office/drawing/2014/main" id="{896CB3C7-3B59-48DD-B73F-9AD94CF297D8}"/>
              </a:ext>
            </a:extLst>
          </p:cNvPr>
          <p:cNvSpPr>
            <a:spLocks noGrp="1"/>
          </p:cNvSpPr>
          <p:nvPr/>
        </p:nvSpPr>
        <p:spPr>
          <a:xfrm>
            <a:off x="548640" y="1084673"/>
            <a:ext cx="10927080" cy="270843"/>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00" b="1" i="0">
                <a:latin typeface="Arial"/>
                <a:ea typeface="Arial"/>
                <a:cs typeface="Arial"/>
              </a:rPr>
              <a:t>ES indicates where one pathway's genes concentrate in the ranked gene list.</a:t>
            </a:r>
          </a:p>
        </p:txBody>
      </p:sp>
      <p:sp>
        <p:nvSpPr>
          <p:cNvPr id="12" name="Rounded Rectangle 11">
            <a:extLst>
              <a:ext uri="{FF2B5EF4-FFF2-40B4-BE49-F238E27FC236}">
                <a16:creationId xmlns:a16="http://schemas.microsoft.com/office/drawing/2014/main" id="{1623AB73-75F2-48FD-B6FD-29F94AEBE1B4}"/>
              </a:ext>
            </a:extLst>
          </p:cNvPr>
          <p:cNvSpPr>
            <a:spLocks noGrp="1"/>
          </p:cNvSpPr>
          <p:nvPr/>
        </p:nvSpPr>
        <p:spPr>
          <a:xfrm>
            <a:off x="658368" y="1708773"/>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5AB7C3F-B362-4884-8570-8BC56E4296D4}"/>
              </a:ext>
            </a:extLst>
          </p:cNvPr>
          <p:cNvSpPr>
            <a:spLocks noGrp="1"/>
          </p:cNvSpPr>
          <p:nvPr/>
        </p:nvSpPr>
        <p:spPr>
          <a:xfrm>
            <a:off x="932688" y="2001381"/>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9E3A00"/>
                </a:solidFill>
                <a:latin typeface="Arial"/>
                <a:ea typeface="Arial"/>
                <a:cs typeface="Arial"/>
              </a:rPr>
              <a:t>LARGE POSITIVE ES</a:t>
            </a:r>
          </a:p>
        </p:txBody>
      </p:sp>
      <p:sp>
        <p:nvSpPr>
          <p:cNvPr id="14" name="TextBox 13">
            <a:extLst>
              <a:ext uri="{FF2B5EF4-FFF2-40B4-BE49-F238E27FC236}">
                <a16:creationId xmlns:a16="http://schemas.microsoft.com/office/drawing/2014/main" id="{037D3A7F-EC93-4850-BC73-94A191C2147C}"/>
              </a:ext>
            </a:extLst>
          </p:cNvPr>
          <p:cNvSpPr>
            <a:spLocks noGrp="1"/>
          </p:cNvSpPr>
          <p:nvPr/>
        </p:nvSpPr>
        <p:spPr>
          <a:xfrm>
            <a:off x="932688" y="2495109"/>
            <a:ext cx="2907792" cy="640175"/>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900" b="1" i="0">
                <a:solidFill>
                  <a:srgbClr val="0F233D"/>
                </a:solidFill>
                <a:latin typeface="Arial"/>
                <a:ea typeface="Arial"/>
                <a:cs typeface="Arial"/>
              </a:rPr>
              <a:t>Pathway genes cluster near the AD-up end</a:t>
            </a:r>
            <a:endParaRPr lang="en-US" sz="1900" b="1" i="0">
              <a:solidFill>
                <a:srgbClr val="0F233D"/>
              </a:solidFill>
              <a:latin typeface="Arial"/>
              <a:ea typeface="Arial"/>
              <a:cs typeface="Arial"/>
            </a:endParaRPr>
          </a:p>
        </p:txBody>
      </p:sp>
      <p:sp>
        <p:nvSpPr>
          <p:cNvPr id="15" name="TextBox 14">
            <a:extLst>
              <a:ext uri="{FF2B5EF4-FFF2-40B4-BE49-F238E27FC236}">
                <a16:creationId xmlns:a16="http://schemas.microsoft.com/office/drawing/2014/main" id="{270E3D63-8EB2-4724-B97D-72CAA1CA22B1}"/>
              </a:ext>
            </a:extLst>
          </p:cNvPr>
          <p:cNvSpPr>
            <a:spLocks noGrp="1"/>
          </p:cNvSpPr>
          <p:nvPr/>
        </p:nvSpPr>
        <p:spPr>
          <a:xfrm>
            <a:off x="969264" y="3464421"/>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err="1">
                <a:solidFill>
                  <a:srgbClr val="1F2730"/>
                </a:solidFill>
                <a:latin typeface="Arial"/>
                <a:ea typeface="Arial"/>
                <a:cs typeface="Arial"/>
              </a:rPr>
              <a:t>A larger positive value means stronger concentration near the top of the ranked list.</a:t>
            </a:r>
          </a:p>
        </p:txBody>
      </p:sp>
      <p:sp>
        <p:nvSpPr>
          <p:cNvPr id="16" name="Rounded Rectangle 15">
            <a:extLst>
              <a:ext uri="{FF2B5EF4-FFF2-40B4-BE49-F238E27FC236}">
                <a16:creationId xmlns:a16="http://schemas.microsoft.com/office/drawing/2014/main" id="{534A9EEA-8A5F-4954-B3B2-93AD43A47D87}"/>
              </a:ext>
            </a:extLst>
          </p:cNvPr>
          <p:cNvSpPr>
            <a:spLocks noGrp="1"/>
          </p:cNvSpPr>
          <p:nvPr/>
        </p:nvSpPr>
        <p:spPr>
          <a:xfrm>
            <a:off x="4453128" y="1708773"/>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115232-3CD3-4590-A0CD-62FA073A0EE5}"/>
              </a:ext>
            </a:extLst>
          </p:cNvPr>
          <p:cNvSpPr>
            <a:spLocks noGrp="1"/>
          </p:cNvSpPr>
          <p:nvPr/>
        </p:nvSpPr>
        <p:spPr>
          <a:xfrm>
            <a:off x="4727448" y="2001381"/>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895600"/>
                </a:solidFill>
                <a:latin typeface="Arial"/>
                <a:ea typeface="Arial"/>
                <a:cs typeface="Arial"/>
              </a:rPr>
              <a:t>ES NEAR ZERO</a:t>
            </a:r>
          </a:p>
        </p:txBody>
      </p:sp>
      <p:sp>
        <p:nvSpPr>
          <p:cNvPr id="18" name="TextBox 17">
            <a:extLst>
              <a:ext uri="{FF2B5EF4-FFF2-40B4-BE49-F238E27FC236}">
                <a16:creationId xmlns:a16="http://schemas.microsoft.com/office/drawing/2014/main" id="{B30DD619-5891-4A35-AF6F-EF31F4A7E791}"/>
              </a:ext>
            </a:extLst>
          </p:cNvPr>
          <p:cNvSpPr>
            <a:spLocks noGrp="1"/>
          </p:cNvSpPr>
          <p:nvPr/>
        </p:nvSpPr>
        <p:spPr>
          <a:xfrm>
            <a:off x="4727448" y="2458581"/>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No clear concentration</a:t>
            </a:r>
          </a:p>
        </p:txBody>
      </p:sp>
      <p:sp>
        <p:nvSpPr>
          <p:cNvPr id="19" name="TextBox 18">
            <a:extLst>
              <a:ext uri="{FF2B5EF4-FFF2-40B4-BE49-F238E27FC236}">
                <a16:creationId xmlns:a16="http://schemas.microsoft.com/office/drawing/2014/main" id="{A4E26757-5D41-41B5-8F16-6A64F6AC282B}"/>
              </a:ext>
            </a:extLst>
          </p:cNvPr>
          <p:cNvSpPr>
            <a:spLocks noGrp="1"/>
          </p:cNvSpPr>
          <p:nvPr/>
        </p:nvSpPr>
        <p:spPr>
          <a:xfrm>
            <a:off x="4764024" y="3464421"/>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Pathway genes are spread through the ranked list instead of accumulating at either end.</a:t>
            </a:r>
          </a:p>
        </p:txBody>
      </p:sp>
      <p:sp>
        <p:nvSpPr>
          <p:cNvPr id="20" name="Rounded Rectangle 19">
            <a:extLst>
              <a:ext uri="{FF2B5EF4-FFF2-40B4-BE49-F238E27FC236}">
                <a16:creationId xmlns:a16="http://schemas.microsoft.com/office/drawing/2014/main" id="{EFDE4554-9BE7-4F1C-9EC1-3AE3669AF389}"/>
              </a:ext>
            </a:extLst>
          </p:cNvPr>
          <p:cNvSpPr>
            <a:spLocks noGrp="1"/>
          </p:cNvSpPr>
          <p:nvPr/>
        </p:nvSpPr>
        <p:spPr>
          <a:xfrm>
            <a:off x="8247888" y="1708773"/>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91C911D-9BE4-4EAD-901C-EB4A7396FDD3}"/>
              </a:ext>
            </a:extLst>
          </p:cNvPr>
          <p:cNvSpPr>
            <a:spLocks noGrp="1"/>
          </p:cNvSpPr>
          <p:nvPr/>
        </p:nvSpPr>
        <p:spPr>
          <a:xfrm>
            <a:off x="8522208" y="2001381"/>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72B2"/>
                </a:solidFill>
                <a:latin typeface="Arial"/>
                <a:ea typeface="Arial"/>
                <a:cs typeface="Arial"/>
              </a:rPr>
              <a:t>LARGE NEGATIVE ES</a:t>
            </a:r>
          </a:p>
        </p:txBody>
      </p:sp>
      <p:sp>
        <p:nvSpPr>
          <p:cNvPr id="22" name="TextBox 21">
            <a:extLst>
              <a:ext uri="{FF2B5EF4-FFF2-40B4-BE49-F238E27FC236}">
                <a16:creationId xmlns:a16="http://schemas.microsoft.com/office/drawing/2014/main" id="{DE347B32-7281-4BAA-9D9B-7BD80806D79B}"/>
              </a:ext>
            </a:extLst>
          </p:cNvPr>
          <p:cNvSpPr>
            <a:spLocks noGrp="1"/>
          </p:cNvSpPr>
          <p:nvPr/>
        </p:nvSpPr>
        <p:spPr>
          <a:xfrm>
            <a:off x="8522208" y="2458581"/>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Pathway genes cluster near the AD-down end</a:t>
            </a:r>
          </a:p>
        </p:txBody>
      </p:sp>
      <p:sp>
        <p:nvSpPr>
          <p:cNvPr id="23" name="TextBox 22">
            <a:extLst>
              <a:ext uri="{FF2B5EF4-FFF2-40B4-BE49-F238E27FC236}">
                <a16:creationId xmlns:a16="http://schemas.microsoft.com/office/drawing/2014/main" id="{8791BB3F-8EB1-406E-ABA1-2F45257FD1DF}"/>
              </a:ext>
            </a:extLst>
          </p:cNvPr>
          <p:cNvSpPr>
            <a:spLocks noGrp="1"/>
          </p:cNvSpPr>
          <p:nvPr/>
        </p:nvSpPr>
        <p:spPr>
          <a:xfrm>
            <a:off x="8558784" y="3464421"/>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140" b="0" i="0">
                <a:solidFill>
                  <a:srgbClr val="1F2730"/>
                </a:solidFill>
                <a:latin typeface="Arial"/>
                <a:ea typeface="Arial"/>
                <a:cs typeface="Arial"/>
              </a:rPr>
              <a:t>A more negative value means stronger concentration near the bottom of the ranked list.</a:t>
            </a:r>
          </a:p>
        </p:txBody>
      </p:sp>
      <p:sp>
        <p:nvSpPr>
          <p:cNvPr id="24" name="Rounded Rectangle 23">
            <a:extLst>
              <a:ext uri="{FF2B5EF4-FFF2-40B4-BE49-F238E27FC236}">
                <a16:creationId xmlns:a16="http://schemas.microsoft.com/office/drawing/2014/main" id="{58C107E9-3677-45CB-8CAB-1BE1CEDCE979}"/>
              </a:ext>
            </a:extLst>
          </p:cNvPr>
          <p:cNvSpPr>
            <a:spLocks noGrp="1"/>
          </p:cNvSpPr>
          <p:nvPr/>
        </p:nvSpPr>
        <p:spPr>
          <a:xfrm>
            <a:off x="658368" y="6102789"/>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3B50EAE-DA13-43C2-AD90-0FF977EECBFB}"/>
              </a:ext>
            </a:extLst>
          </p:cNvPr>
          <p:cNvSpPr>
            <a:spLocks noGrp="1"/>
          </p:cNvSpPr>
          <p:nvPr/>
        </p:nvSpPr>
        <p:spPr>
          <a:xfrm>
            <a:off x="896112" y="6230110"/>
            <a:ext cx="10405872" cy="237744"/>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40" b="1" i="0">
                <a:solidFill>
                  <a:srgbClr val="7E4C9A"/>
                </a:solidFill>
                <a:latin typeface="Arial"/>
                <a:ea typeface="Arial"/>
                <a:cs typeface="Arial"/>
              </a:rPr>
              <a:t>This is the standard weighted GSEA ES. The sign gives direction. Values farther from zero mean stronger concentration, not statistical significance.</a:t>
            </a:r>
          </a:p>
        </p:txBody>
      </p:sp>
    </p:spTree>
    <p:extLst>
      <p:ext uri="{BB962C8B-B14F-4D97-AF65-F5344CB8AC3E}">
        <p14:creationId val="1262158208"/>
      </p:ext>
    </p:extLst>
  </p:cSld>
  <p:clrMapOvr>
    <a:masterClrMapping/>
  </p:clrMapOvr>
  <p:transition/>
  <p:timing/>
</p:sld>
</file>

<file path=ppt/slides/slide4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04847B2B-03F0-4340-9874-86C63B1F2554}"/>
              </a:ext>
            </a:extLst>
          </p:cNvPr>
          <p:cNvSpPr>
            <a:spLocks noGrp="1"/>
          </p:cNvSpPr>
          <p:nvPr/>
        </p:nvSpPr>
        <p:spPr>
          <a:xfrm>
            <a:off x="530352" y="292608"/>
            <a:ext cx="11064240" cy="39395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lang="en-US" sz="2200" b="1" i="0">
                <a:solidFill>
                  <a:srgbClr val="0F233D"/>
                </a:solidFill>
                <a:latin typeface="Arial"/>
                <a:ea typeface="Arial"/>
                <a:cs typeface="Arial"/>
              </a:rPr>
              <a:t>How NES differs from ES</a:t>
            </a:r>
          </a:p>
        </p:txBody>
      </p:sp>
      <p:sp>
        <p:nvSpPr>
          <p:cNvPr id="3" name="TextBox 2">
            <a:extLst>
              <a:ext uri="{FF2B5EF4-FFF2-40B4-BE49-F238E27FC236}">
                <a16:creationId xmlns:a16="http://schemas.microsoft.com/office/drawing/2014/main" id="{896CB3C7-3B59-48DD-B73F-9AD94CF297D8}"/>
              </a:ext>
            </a:extLst>
          </p:cNvPr>
          <p:cNvSpPr>
            <a:spLocks noGrp="1"/>
          </p:cNvSpPr>
          <p:nvPr/>
        </p:nvSpPr>
        <p:spPr>
          <a:xfrm>
            <a:off x="548640" y="1084673"/>
            <a:ext cx="10927080" cy="270843"/>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00" b="1" i="0">
                <a:latin typeface="Arial"/>
                <a:ea typeface="Arial"/>
                <a:cs typeface="Arial"/>
              </a:rPr>
              <a:t>NES rescales the raw ES against random gene sets of the same size.</a:t>
            </a:r>
          </a:p>
        </p:txBody>
      </p:sp>
      <p:sp>
        <p:nvSpPr>
          <p:cNvPr id="12" name="Rounded Rectangle 11">
            <a:extLst>
              <a:ext uri="{FF2B5EF4-FFF2-40B4-BE49-F238E27FC236}">
                <a16:creationId xmlns:a16="http://schemas.microsoft.com/office/drawing/2014/main" id="{1623AB73-75F2-48FD-B6FD-29F94AEBE1B4}"/>
              </a:ext>
            </a:extLst>
          </p:cNvPr>
          <p:cNvSpPr>
            <a:spLocks noGrp="1"/>
          </p:cNvSpPr>
          <p:nvPr/>
        </p:nvSpPr>
        <p:spPr>
          <a:xfrm>
            <a:off x="658368" y="1708773"/>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5AB7C3F-B362-4884-8570-8BC56E4296D4}"/>
              </a:ext>
            </a:extLst>
          </p:cNvPr>
          <p:cNvSpPr>
            <a:spLocks noGrp="1"/>
          </p:cNvSpPr>
          <p:nvPr/>
        </p:nvSpPr>
        <p:spPr>
          <a:xfrm>
            <a:off x="932688" y="2001381"/>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9E3A00"/>
                </a:solidFill>
                <a:latin typeface="Arial"/>
                <a:ea typeface="Arial"/>
                <a:cs typeface="Arial"/>
              </a:rPr>
              <a:t>RAW ES</a:t>
            </a:r>
          </a:p>
        </p:txBody>
      </p:sp>
      <p:sp>
        <p:nvSpPr>
          <p:cNvPr id="14" name="TextBox 13">
            <a:extLst>
              <a:ext uri="{FF2B5EF4-FFF2-40B4-BE49-F238E27FC236}">
                <a16:creationId xmlns:a16="http://schemas.microsoft.com/office/drawing/2014/main" id="{037D3A7F-EC93-4850-BC73-94A191C2147C}"/>
              </a:ext>
            </a:extLst>
          </p:cNvPr>
          <p:cNvSpPr>
            <a:spLocks noGrp="1"/>
          </p:cNvSpPr>
          <p:nvPr/>
        </p:nvSpPr>
        <p:spPr>
          <a:xfrm>
            <a:off x="932688" y="2495109"/>
            <a:ext cx="2907792" cy="640175"/>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900" b="1" i="0">
                <a:solidFill>
                  <a:srgbClr val="0F233D"/>
                </a:solidFill>
                <a:latin typeface="Arial"/>
                <a:ea typeface="Arial"/>
                <a:cs typeface="Arial"/>
              </a:rPr>
              <a:t>Observed pathway concentration</a:t>
            </a:r>
            <a:endParaRPr lang="en-US" sz="1900" b="1" i="0">
              <a:solidFill>
                <a:srgbClr val="0F233D"/>
              </a:solidFill>
              <a:latin typeface="Arial"/>
              <a:ea typeface="Arial"/>
              <a:cs typeface="Arial"/>
            </a:endParaRPr>
          </a:p>
        </p:txBody>
      </p:sp>
      <p:sp>
        <p:nvSpPr>
          <p:cNvPr id="15" name="TextBox 14">
            <a:extLst>
              <a:ext uri="{FF2B5EF4-FFF2-40B4-BE49-F238E27FC236}">
                <a16:creationId xmlns:a16="http://schemas.microsoft.com/office/drawing/2014/main" id="{270E3D63-8EB2-4724-B97D-72CAA1CA22B1}"/>
              </a:ext>
            </a:extLst>
          </p:cNvPr>
          <p:cNvSpPr>
            <a:spLocks noGrp="1"/>
          </p:cNvSpPr>
          <p:nvPr/>
        </p:nvSpPr>
        <p:spPr>
          <a:xfrm>
            <a:off x="969264" y="3464421"/>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err="1">
                <a:solidFill>
                  <a:srgbClr val="1F2730"/>
                </a:solidFill>
                <a:latin typeface="Arial"/>
                <a:ea typeface="Arial"/>
                <a:cs typeface="Arial"/>
              </a:rPr>
              <a:t>ES shows where the pathway genes cluster. Its sign gives the AD-up or AD-down direction.</a:t>
            </a:r>
          </a:p>
        </p:txBody>
      </p:sp>
      <p:sp>
        <p:nvSpPr>
          <p:cNvPr id="16" name="Rounded Rectangle 15">
            <a:extLst>
              <a:ext uri="{FF2B5EF4-FFF2-40B4-BE49-F238E27FC236}">
                <a16:creationId xmlns:a16="http://schemas.microsoft.com/office/drawing/2014/main" id="{534A9EEA-8A5F-4954-B3B2-93AD43A47D87}"/>
              </a:ext>
            </a:extLst>
          </p:cNvPr>
          <p:cNvSpPr>
            <a:spLocks noGrp="1"/>
          </p:cNvSpPr>
          <p:nvPr/>
        </p:nvSpPr>
        <p:spPr>
          <a:xfrm>
            <a:off x="4453128" y="1708773"/>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115232-3CD3-4590-A0CD-62FA073A0EE5}"/>
              </a:ext>
            </a:extLst>
          </p:cNvPr>
          <p:cNvSpPr>
            <a:spLocks noGrp="1"/>
          </p:cNvSpPr>
          <p:nvPr/>
        </p:nvSpPr>
        <p:spPr>
          <a:xfrm>
            <a:off x="4727448" y="2001381"/>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895600"/>
                </a:solidFill>
                <a:latin typeface="Arial"/>
                <a:ea typeface="Arial"/>
                <a:cs typeface="Arial"/>
              </a:rPr>
              <a:t>NORMALIZATION</a:t>
            </a:r>
          </a:p>
        </p:txBody>
      </p:sp>
      <p:sp>
        <p:nvSpPr>
          <p:cNvPr id="18" name="TextBox 17">
            <a:extLst>
              <a:ext uri="{FF2B5EF4-FFF2-40B4-BE49-F238E27FC236}">
                <a16:creationId xmlns:a16="http://schemas.microsoft.com/office/drawing/2014/main" id="{B30DD619-5891-4A35-AF6F-EF31F4A7E791}"/>
              </a:ext>
            </a:extLst>
          </p:cNvPr>
          <p:cNvSpPr>
            <a:spLocks noGrp="1"/>
          </p:cNvSpPr>
          <p:nvPr/>
        </p:nvSpPr>
        <p:spPr>
          <a:xfrm>
            <a:off x="4727448" y="2458581"/>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Compare with same-size random gene sets</a:t>
            </a:r>
          </a:p>
        </p:txBody>
      </p:sp>
      <p:sp>
        <p:nvSpPr>
          <p:cNvPr id="19" name="TextBox 18">
            <a:extLst>
              <a:ext uri="{FF2B5EF4-FFF2-40B4-BE49-F238E27FC236}">
                <a16:creationId xmlns:a16="http://schemas.microsoft.com/office/drawing/2014/main" id="{A4E26757-5D41-41B5-8F16-6A64F6AC282B}"/>
              </a:ext>
            </a:extLst>
          </p:cNvPr>
          <p:cNvSpPr>
            <a:spLocks noGrp="1"/>
          </p:cNvSpPr>
          <p:nvPr/>
        </p:nvSpPr>
        <p:spPr>
          <a:xfrm>
            <a:off x="4764024" y="3464421"/>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Calculate ES for random gene sets with the same number of genes. Use random ES values in the same direction.</a:t>
            </a:r>
          </a:p>
        </p:txBody>
      </p:sp>
      <p:sp>
        <p:nvSpPr>
          <p:cNvPr id="20" name="Rounded Rectangle 19">
            <a:extLst>
              <a:ext uri="{FF2B5EF4-FFF2-40B4-BE49-F238E27FC236}">
                <a16:creationId xmlns:a16="http://schemas.microsoft.com/office/drawing/2014/main" id="{EFDE4554-9BE7-4F1C-9EC1-3AE3669AF389}"/>
              </a:ext>
            </a:extLst>
          </p:cNvPr>
          <p:cNvSpPr>
            <a:spLocks noGrp="1"/>
          </p:cNvSpPr>
          <p:nvPr/>
        </p:nvSpPr>
        <p:spPr>
          <a:xfrm>
            <a:off x="8247888" y="1708773"/>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91C911D-9BE4-4EAD-901C-EB4A7396FDD3}"/>
              </a:ext>
            </a:extLst>
          </p:cNvPr>
          <p:cNvSpPr>
            <a:spLocks noGrp="1"/>
          </p:cNvSpPr>
          <p:nvPr/>
        </p:nvSpPr>
        <p:spPr>
          <a:xfrm>
            <a:off x="8522208" y="2001381"/>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72B2"/>
                </a:solidFill>
                <a:latin typeface="Arial"/>
                <a:ea typeface="Arial"/>
                <a:cs typeface="Arial"/>
              </a:rPr>
              <a:t>NES</a:t>
            </a:r>
          </a:p>
        </p:txBody>
      </p:sp>
      <p:sp>
        <p:nvSpPr>
          <p:cNvPr id="22" name="TextBox 21">
            <a:extLst>
              <a:ext uri="{FF2B5EF4-FFF2-40B4-BE49-F238E27FC236}">
                <a16:creationId xmlns:a16="http://schemas.microsoft.com/office/drawing/2014/main" id="{DE347B32-7281-4BAA-9D9B-7BD80806D79B}"/>
              </a:ext>
            </a:extLst>
          </p:cNvPr>
          <p:cNvSpPr>
            <a:spLocks noGrp="1"/>
          </p:cNvSpPr>
          <p:nvPr/>
        </p:nvSpPr>
        <p:spPr>
          <a:xfrm>
            <a:off x="8522208" y="2458581"/>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Normalized enrichment strength</a:t>
            </a:r>
          </a:p>
        </p:txBody>
      </p:sp>
      <p:sp>
        <p:nvSpPr>
          <p:cNvPr id="23" name="TextBox 22">
            <a:extLst>
              <a:ext uri="{FF2B5EF4-FFF2-40B4-BE49-F238E27FC236}">
                <a16:creationId xmlns:a16="http://schemas.microsoft.com/office/drawing/2014/main" id="{8791BB3F-8EB1-406E-ABA1-2F45257FD1DF}"/>
              </a:ext>
            </a:extLst>
          </p:cNvPr>
          <p:cNvSpPr>
            <a:spLocks noGrp="1"/>
          </p:cNvSpPr>
          <p:nvPr/>
        </p:nvSpPr>
        <p:spPr>
          <a:xfrm>
            <a:off x="8558784" y="3464421"/>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140" b="0" i="0">
                <a:solidFill>
                  <a:srgbClr val="1F2730"/>
                </a:solidFill>
                <a:latin typeface="Arial"/>
                <a:ea typeface="Arial"/>
                <a:cs typeface="Arial"/>
              </a:rPr>
              <a:t>Divide the observed ES by the expected same-direction ES magnitude. NES keeps the ES sign and supports comparisons across pathways.</a:t>
            </a:r>
          </a:p>
        </p:txBody>
      </p:sp>
    </p:spTree>
    <p:extLst>
      <p:ext uri="{BB962C8B-B14F-4D97-AF65-F5344CB8AC3E}">
        <p14:creationId val="1262158208"/>
      </p:ext>
    </p:extLst>
  </p:cSld>
  <p:clrMapOvr>
    <a:masterClrMapping/>
  </p:clrMapOvr>
  <p:transition/>
  <p:timing/>
</p:sld>
</file>

<file path=ppt/slides/slide4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0F233D"/>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AA8AB12A-D026-4286-B862-075E45B71C5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050" b="1" i="0">
                <a:solidFill>
                  <a:srgbClr val="E69F00"/>
                </a:solidFill>
                <a:latin typeface="Arial"/>
                <a:ea typeface="Arial"/>
                <a:cs typeface="Arial"/>
              </a:rPr>
              <a:t>PART 7</a:t>
            </a:r>
          </a:p>
        </p:txBody>
      </p:sp>
      <p:sp>
        <p:nvSpPr>
          <p:cNvPr id="3" name="Rectangle 2">
            <a:extLst>
              <a:ext uri="{FF2B5EF4-FFF2-40B4-BE49-F238E27FC236}">
                <a16:creationId xmlns:a16="http://schemas.microsoft.com/office/drawing/2014/main" id="{9B90BBA1-E9E2-4E17-A6C8-66AF73EEFBD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AF6BA42-08C4-4EA5-A344-09381D0B027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3200" b="1" i="0">
                <a:solidFill>
                  <a:srgbClr val="FFFFFF"/>
                </a:solidFill>
                <a:latin typeface="Arial"/>
                <a:ea typeface="Arial"/>
                <a:cs typeface="Arial"/>
              </a:rPr>
              <a:t>Sensitivity analyses</a:t>
            </a:r>
          </a:p>
        </p:txBody>
      </p:sp>
      <p:sp>
        <p:nvSpPr>
          <p:cNvPr id="5" name="TextBox 4">
            <a:extLst>
              <a:ext uri="{FF2B5EF4-FFF2-40B4-BE49-F238E27FC236}">
                <a16:creationId xmlns:a16="http://schemas.microsoft.com/office/drawing/2014/main" id="{2067FDA8-407C-4DBE-B763-2AC484C63E1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500" b="0" i="0">
                <a:solidFill>
                  <a:srgbClr val="CCDBEA"/>
                </a:solidFill>
                <a:latin typeface="Arial"/>
                <a:ea typeface="Arial"/>
                <a:cs typeface="Arial"/>
              </a:rPr>
              <a:t>Robustness checks across sample support, profile coverage, query definition, and KDA decision rules.</a:t>
            </a:r>
          </a:p>
        </p:txBody>
      </p:sp>
      <p:sp>
        <p:nvSpPr>
          <p:cNvPr id="6" name="Rounded Rectangle 5">
            <a:extLst>
              <a:ext uri="{FF2B5EF4-FFF2-40B4-BE49-F238E27FC236}">
                <a16:creationId xmlns:a16="http://schemas.microsoft.com/office/drawing/2014/main" id="{3D417846-D3C8-43D7-A99E-359027C6D74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C1A4EC2-5414-418D-9D33-A636ADFB559C}"/>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E69F00"/>
                </a:solidFill>
                <a:latin typeface="Arial"/>
                <a:ea typeface="Arial"/>
                <a:cs typeface="Arial"/>
              </a:rPr>
              <a:t>IN THIS PART</a:t>
            </a:r>
          </a:p>
        </p:txBody>
      </p:sp>
      <p:sp>
        <p:nvSpPr>
          <p:cNvPr id="8" name="Oval 7">
            <a:extLst>
              <a:ext uri="{FF2B5EF4-FFF2-40B4-BE49-F238E27FC236}">
                <a16:creationId xmlns:a16="http://schemas.microsoft.com/office/drawing/2014/main" id="{7D989CA6-1B16-4974-BEE8-CD8009EA7F8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03E7C55-5C6F-4719-AB0F-5EFB8E09B2D3}"/>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B8E80E10-25DA-460A-B848-8A88ABF781AE}"/>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Donor support</a:t>
            </a:r>
          </a:p>
        </p:txBody>
      </p:sp>
      <p:sp>
        <p:nvSpPr>
          <p:cNvPr id="11" name="Oval 10">
            <a:extLst>
              <a:ext uri="{FF2B5EF4-FFF2-40B4-BE49-F238E27FC236}">
                <a16:creationId xmlns:a16="http://schemas.microsoft.com/office/drawing/2014/main" id="{3CDE8AE7-2294-4DE5-980E-32E501A6C09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5F7ACA8-9E5D-4F7D-9F5E-1C89B8FBD38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0F70274-A525-4BB9-A129-15E33D9F61D7}"/>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Profile coverage</a:t>
            </a:r>
          </a:p>
        </p:txBody>
      </p:sp>
      <p:sp>
        <p:nvSpPr>
          <p:cNvPr id="14" name="Oval 13">
            <a:extLst>
              <a:ext uri="{FF2B5EF4-FFF2-40B4-BE49-F238E27FC236}">
                <a16:creationId xmlns:a16="http://schemas.microsoft.com/office/drawing/2014/main" id="{A5541F68-CF6A-4665-AEE6-F8BA0BD62716}"/>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B6A3F6F-C41C-44D9-B1B9-F84CE5103C8B}"/>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1A32B75A-B123-4918-8015-2D4F13003D0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Query definition</a:t>
            </a:r>
          </a:p>
        </p:txBody>
      </p:sp>
      <p:sp>
        <p:nvSpPr>
          <p:cNvPr id="17" name="Oval 16">
            <a:extLst>
              <a:ext uri="{FF2B5EF4-FFF2-40B4-BE49-F238E27FC236}">
                <a16:creationId xmlns:a16="http://schemas.microsoft.com/office/drawing/2014/main" id="{7E5D2E0A-EEB4-4E1B-BE39-4C5A4649E1E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B8954FAC-8826-4644-A259-79B90925CF5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3FE01F0D-1D60-41F0-AA9B-D1D892B891B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KDA filters</a:t>
            </a:r>
          </a:p>
        </p:txBody>
      </p:sp>
      <p:sp>
        <p:nvSpPr>
          <p:cNvPr id="20" name="Rounded Rectangle 19">
            <a:extLst>
              <a:ext uri="{FF2B5EF4-FFF2-40B4-BE49-F238E27FC236}">
                <a16:creationId xmlns:a16="http://schemas.microsoft.com/office/drawing/2014/main" id="{CCEC5EAA-C189-406C-9B90-06ED8DBF0FF0}"/>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F67AE32-97EB-4716-897E-EF1FA7C0A5E9}"/>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20" b="1" i="0">
                <a:solidFill>
                  <a:srgbClr val="FFFFFF"/>
                </a:solidFill>
                <a:latin typeface="Arial"/>
                <a:ea typeface="Arial"/>
                <a:cs typeface="Arial"/>
              </a:rPr>
              <a:t>Each sensitivity test is reported separately with its own evidence boundary.</a:t>
            </a:r>
          </a:p>
        </p:txBody>
      </p:sp>
    </p:spTree>
    <p:extLst>
      <p:ext uri="{BB962C8B-B14F-4D97-AF65-F5344CB8AC3E}">
        <p14:creationId val="1976639918"/>
      </p:ext>
    </p:extLst>
  </p:cSld>
  <p:clrMapOvr>
    <a:masterClrMapping/>
  </p:clrMapOvr>
  <p:transition/>
  <p:timing/>
</p:sld>
</file>

<file path=ppt/slides/slide4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1E157AE5-385F-4998-92BD-BB4A603B962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450" b="1" i="0">
                <a:solidFill>
                  <a:srgbClr val="0F233D"/>
                </a:solidFill>
                <a:latin typeface="Arial"/>
                <a:ea typeface="Arial"/>
                <a:cs typeface="Arial"/>
              </a:rPr>
              <a:t>Donor-threshold sensitivity — numerical comparison</a:t>
            </a:r>
          </a:p>
        </p:txBody>
      </p:sp>
      <p:sp>
        <p:nvSpPr>
          <p:cNvPr id="3" name="TextBox 2">
            <a:extLst>
              <a:ext uri="{FF2B5EF4-FFF2-40B4-BE49-F238E27FC236}">
                <a16:creationId xmlns:a16="http://schemas.microsoft.com/office/drawing/2014/main" id="{ECDC3E0F-6D03-4D8F-9E62-B300E19B3A8A}"/>
              </a:ext>
            </a:extLst>
          </p:cNvPr>
          <p:cNvSpPr>
            <a:spLocks noGrp="1"/>
          </p:cNvSpPr>
          <p:nvPr/>
        </p:nvSpPr>
        <p:spPr>
          <a:xfrm>
            <a:off x="655174" y="984624"/>
            <a:ext cx="10561320" cy="54784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600" b="1" i="0">
                <a:latin typeface="Arial"/>
                <a:ea typeface="Arial"/>
                <a:cs typeface="Arial"/>
              </a:rPr>
              <a:t>An arm is one disease-status group in a comparison, such as AD or NCI.
Here, the minimum rises from 3 to 5 donors in each arm.</a:t>
            </a:r>
          </a:p>
        </p:txBody>
      </p:sp>
      <p:sp>
        <p:nvSpPr>
          <p:cNvPr id="4" name="Rectangle 3">
            <a:extLst>
              <a:ext uri="{FF2B5EF4-FFF2-40B4-BE49-F238E27FC236}">
                <a16:creationId xmlns:a16="http://schemas.microsoft.com/office/drawing/2014/main" id="{52EFB1AD-A147-4DFC-9787-79D13EC515DD}"/>
              </a:ext>
            </a:extLst>
          </p:cNvPr>
          <p:cNvSpPr>
            <a:spLocks noGrp="1"/>
          </p:cNvSpPr>
          <p:nvPr/>
        </p:nvSpPr>
        <p:spPr>
          <a:xfrm>
            <a:off x="658368" y="1822142"/>
            <a:ext cx="132588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 name="TextBox 4">
            <a:extLst>
              <a:ext uri="{FF2B5EF4-FFF2-40B4-BE49-F238E27FC236}">
                <a16:creationId xmlns:a16="http://schemas.microsoft.com/office/drawing/2014/main" id="{4D39602F-1863-43E7-B9CB-9ABE4A5810D3}"/>
              </a:ext>
            </a:extLst>
          </p:cNvPr>
          <p:cNvSpPr>
            <a:spLocks noGrp="1"/>
          </p:cNvSpPr>
          <p:nvPr/>
        </p:nvSpPr>
        <p:spPr>
          <a:xfrm>
            <a:off x="713232" y="2058725"/>
            <a:ext cx="1216152"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1" i="0">
                <a:solidFill>
                  <a:srgbClr val="FFFFFF"/>
                </a:solidFill>
                <a:latin typeface="Arial"/>
                <a:ea typeface="Arial"/>
                <a:cs typeface="Arial"/>
              </a:rPr>
              <a:t>Cohort</a:t>
            </a:r>
          </a:p>
        </p:txBody>
      </p:sp>
      <p:sp>
        <p:nvSpPr>
          <p:cNvPr id="6" name="Rectangle 5">
            <a:extLst>
              <a:ext uri="{FF2B5EF4-FFF2-40B4-BE49-F238E27FC236}">
                <a16:creationId xmlns:a16="http://schemas.microsoft.com/office/drawing/2014/main" id="{93F1B364-9ED8-44CB-B852-20FCAD3046B4}"/>
              </a:ext>
            </a:extLst>
          </p:cNvPr>
          <p:cNvSpPr>
            <a:spLocks noGrp="1"/>
          </p:cNvSpPr>
          <p:nvPr/>
        </p:nvSpPr>
        <p:spPr>
          <a:xfrm>
            <a:off x="1984248" y="1822142"/>
            <a:ext cx="1874519"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 name="TextBox 6">
            <a:extLst>
              <a:ext uri="{FF2B5EF4-FFF2-40B4-BE49-F238E27FC236}">
                <a16:creationId xmlns:a16="http://schemas.microsoft.com/office/drawing/2014/main" id="{81E533CA-69D1-4178-BB90-51DEF8DE6F62}"/>
              </a:ext>
            </a:extLst>
          </p:cNvPr>
          <p:cNvSpPr>
            <a:spLocks noGrp="1"/>
          </p:cNvSpPr>
          <p:nvPr/>
        </p:nvSpPr>
        <p:spPr>
          <a:xfrm>
            <a:off x="2039112" y="2058725"/>
            <a:ext cx="1764791"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1" i="0">
                <a:solidFill>
                  <a:srgbClr val="FFFFFF"/>
                </a:solidFill>
                <a:latin typeface="Arial"/>
                <a:ea typeface="Arial"/>
                <a:cs typeface="Arial"/>
              </a:rPr>
              <a:t>Minimum donors / arm</a:t>
            </a:r>
          </a:p>
        </p:txBody>
      </p:sp>
      <p:sp>
        <p:nvSpPr>
          <p:cNvPr id="8" name="Rectangle 7">
            <a:extLst>
              <a:ext uri="{FF2B5EF4-FFF2-40B4-BE49-F238E27FC236}">
                <a16:creationId xmlns:a16="http://schemas.microsoft.com/office/drawing/2014/main" id="{EABF5881-6F14-4573-8E95-8FE32DDC5BD2}"/>
              </a:ext>
            </a:extLst>
          </p:cNvPr>
          <p:cNvSpPr>
            <a:spLocks noGrp="1"/>
          </p:cNvSpPr>
          <p:nvPr/>
        </p:nvSpPr>
        <p:spPr>
          <a:xfrm>
            <a:off x="3858768" y="1822142"/>
            <a:ext cx="169164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 name="TextBox 8">
            <a:extLst>
              <a:ext uri="{FF2B5EF4-FFF2-40B4-BE49-F238E27FC236}">
                <a16:creationId xmlns:a16="http://schemas.microsoft.com/office/drawing/2014/main" id="{405E5C59-6963-4310-B06A-1239412C8472}"/>
              </a:ext>
            </a:extLst>
          </p:cNvPr>
          <p:cNvSpPr>
            <a:spLocks noGrp="1"/>
          </p:cNvSpPr>
          <p:nvPr/>
        </p:nvSpPr>
        <p:spPr>
          <a:xfrm>
            <a:off x="3913631" y="2058725"/>
            <a:ext cx="1581912"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1" i="0">
                <a:solidFill>
                  <a:srgbClr val="FFFFFF"/>
                </a:solidFill>
                <a:latin typeface="Arial"/>
                <a:ea typeface="Arial"/>
                <a:cs typeface="Arial"/>
              </a:rPr>
              <a:t>Eligible contrasts</a:t>
            </a:r>
          </a:p>
        </p:txBody>
      </p:sp>
      <p:sp>
        <p:nvSpPr>
          <p:cNvPr id="10" name="Rectangle 9">
            <a:extLst>
              <a:ext uri="{FF2B5EF4-FFF2-40B4-BE49-F238E27FC236}">
                <a16:creationId xmlns:a16="http://schemas.microsoft.com/office/drawing/2014/main" id="{11425628-55AD-4875-90A3-4E8E53136524}"/>
              </a:ext>
            </a:extLst>
          </p:cNvPr>
          <p:cNvSpPr>
            <a:spLocks noGrp="1"/>
          </p:cNvSpPr>
          <p:nvPr/>
        </p:nvSpPr>
        <p:spPr>
          <a:xfrm>
            <a:off x="5550408" y="1822142"/>
            <a:ext cx="123444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 name="TextBox 10">
            <a:extLst>
              <a:ext uri="{FF2B5EF4-FFF2-40B4-BE49-F238E27FC236}">
                <a16:creationId xmlns:a16="http://schemas.microsoft.com/office/drawing/2014/main" id="{08EE6849-F69E-497E-9FDE-5A99AECDD5E4}"/>
              </a:ext>
            </a:extLst>
          </p:cNvPr>
          <p:cNvSpPr>
            <a:spLocks noGrp="1"/>
          </p:cNvSpPr>
          <p:nvPr/>
        </p:nvSpPr>
        <p:spPr>
          <a:xfrm>
            <a:off x="5605272" y="2058725"/>
            <a:ext cx="1124712"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1" i="0">
                <a:solidFill>
                  <a:srgbClr val="FFFFFF"/>
                </a:solidFill>
                <a:latin typeface="Arial"/>
                <a:ea typeface="Arial"/>
                <a:cs typeface="Arial"/>
              </a:rPr>
              <a:t>KDA calls</a:t>
            </a:r>
          </a:p>
        </p:txBody>
      </p:sp>
      <p:sp>
        <p:nvSpPr>
          <p:cNvPr id="12" name="Rectangle 11">
            <a:extLst>
              <a:ext uri="{FF2B5EF4-FFF2-40B4-BE49-F238E27FC236}">
                <a16:creationId xmlns:a16="http://schemas.microsoft.com/office/drawing/2014/main" id="{7E186D61-CFBE-4F24-98F1-E4DADF05E502}"/>
              </a:ext>
            </a:extLst>
          </p:cNvPr>
          <p:cNvSpPr>
            <a:spLocks noGrp="1"/>
          </p:cNvSpPr>
          <p:nvPr/>
        </p:nvSpPr>
        <p:spPr>
          <a:xfrm>
            <a:off x="6784848" y="1822142"/>
            <a:ext cx="224028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 name="TextBox 12">
            <a:extLst>
              <a:ext uri="{FF2B5EF4-FFF2-40B4-BE49-F238E27FC236}">
                <a16:creationId xmlns:a16="http://schemas.microsoft.com/office/drawing/2014/main" id="{5D159453-4FBD-4D07-B19A-B91C4437664E}"/>
              </a:ext>
            </a:extLst>
          </p:cNvPr>
          <p:cNvSpPr>
            <a:spLocks noGrp="1"/>
          </p:cNvSpPr>
          <p:nvPr/>
        </p:nvSpPr>
        <p:spPr>
          <a:xfrm>
            <a:off x="6839712" y="2058725"/>
            <a:ext cx="2130552" cy="420624"/>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1" i="0">
                <a:solidFill>
                  <a:srgbClr val="FFFFFF"/>
                </a:solidFill>
                <a:latin typeface="Arial"/>
                <a:ea typeface="Arial"/>
                <a:cs typeface="Arial"/>
              </a:rPr>
              <a:t>Gene rows returned from KDA calls</a:t>
            </a:r>
          </a:p>
        </p:txBody>
      </p:sp>
      <p:sp>
        <p:nvSpPr>
          <p:cNvPr id="14" name="Rectangle 13">
            <a:extLst>
              <a:ext uri="{FF2B5EF4-FFF2-40B4-BE49-F238E27FC236}">
                <a16:creationId xmlns:a16="http://schemas.microsoft.com/office/drawing/2014/main" id="{1A5D17A1-5516-411B-ADC4-05711EFDE6A1}"/>
              </a:ext>
            </a:extLst>
          </p:cNvPr>
          <p:cNvSpPr>
            <a:spLocks noGrp="1"/>
          </p:cNvSpPr>
          <p:nvPr/>
        </p:nvSpPr>
        <p:spPr>
          <a:xfrm>
            <a:off x="9025128" y="1822142"/>
            <a:ext cx="251460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 name="TextBox 14">
            <a:extLst>
              <a:ext uri="{FF2B5EF4-FFF2-40B4-BE49-F238E27FC236}">
                <a16:creationId xmlns:a16="http://schemas.microsoft.com/office/drawing/2014/main" id="{9DDDC111-16AD-45BB-B1B7-8640EEA66478}"/>
              </a:ext>
            </a:extLst>
          </p:cNvPr>
          <p:cNvSpPr>
            <a:spLocks noGrp="1"/>
          </p:cNvSpPr>
          <p:nvPr/>
        </p:nvSpPr>
        <p:spPr>
          <a:xfrm>
            <a:off x="9079992" y="2058725"/>
            <a:ext cx="2404872"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1" i="0">
                <a:solidFill>
                  <a:srgbClr val="FFFFFF"/>
                </a:solidFill>
                <a:latin typeface="Arial"/>
                <a:ea typeface="Arial"/>
                <a:cs typeface="Arial"/>
              </a:rPr>
              <a:t>Unique non-MitoCarta genes</a:t>
            </a:r>
          </a:p>
        </p:txBody>
      </p:sp>
      <p:sp>
        <p:nvSpPr>
          <p:cNvPr id="16" name="Rectangle 15">
            <a:extLst>
              <a:ext uri="{FF2B5EF4-FFF2-40B4-BE49-F238E27FC236}">
                <a16:creationId xmlns:a16="http://schemas.microsoft.com/office/drawing/2014/main" id="{DB756B7D-7D6B-415B-95CF-6BD2C9EB8C3F}"/>
              </a:ext>
            </a:extLst>
          </p:cNvPr>
          <p:cNvSpPr>
            <a:spLocks noGrp="1"/>
          </p:cNvSpPr>
          <p:nvPr/>
        </p:nvSpPr>
        <p:spPr>
          <a:xfrm>
            <a:off x="658368" y="2517086"/>
            <a:ext cx="13258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7" name="TextBox 16">
            <a:extLst>
              <a:ext uri="{FF2B5EF4-FFF2-40B4-BE49-F238E27FC236}">
                <a16:creationId xmlns:a16="http://schemas.microsoft.com/office/drawing/2014/main" id="{EB4480E1-503B-4DE4-BA0F-A59A5D708E9A}"/>
              </a:ext>
            </a:extLst>
          </p:cNvPr>
          <p:cNvSpPr>
            <a:spLocks noGrp="1"/>
          </p:cNvSpPr>
          <p:nvPr/>
        </p:nvSpPr>
        <p:spPr>
          <a:xfrm>
            <a:off x="713232" y="2735380"/>
            <a:ext cx="1216152"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ROSMAP</a:t>
            </a:r>
          </a:p>
        </p:txBody>
      </p:sp>
      <p:sp>
        <p:nvSpPr>
          <p:cNvPr id="18" name="Rectangle 17">
            <a:extLst>
              <a:ext uri="{FF2B5EF4-FFF2-40B4-BE49-F238E27FC236}">
                <a16:creationId xmlns:a16="http://schemas.microsoft.com/office/drawing/2014/main" id="{13A00F45-4D37-4DB3-9F85-7AAEFC5433C9}"/>
              </a:ext>
            </a:extLst>
          </p:cNvPr>
          <p:cNvSpPr>
            <a:spLocks noGrp="1"/>
          </p:cNvSpPr>
          <p:nvPr/>
        </p:nvSpPr>
        <p:spPr>
          <a:xfrm>
            <a:off x="1984248" y="2517086"/>
            <a:ext cx="1874519"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9" name="TextBox 18">
            <a:extLst>
              <a:ext uri="{FF2B5EF4-FFF2-40B4-BE49-F238E27FC236}">
                <a16:creationId xmlns:a16="http://schemas.microsoft.com/office/drawing/2014/main" id="{AFF9143E-F4FE-46C7-A678-1CD4FB9C3949}"/>
              </a:ext>
            </a:extLst>
          </p:cNvPr>
          <p:cNvSpPr>
            <a:spLocks noGrp="1"/>
          </p:cNvSpPr>
          <p:nvPr/>
        </p:nvSpPr>
        <p:spPr>
          <a:xfrm>
            <a:off x="2039112" y="2735380"/>
            <a:ext cx="1764791"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3</a:t>
            </a:r>
          </a:p>
        </p:txBody>
      </p:sp>
      <p:sp>
        <p:nvSpPr>
          <p:cNvPr id="20" name="Rectangle 19">
            <a:extLst>
              <a:ext uri="{FF2B5EF4-FFF2-40B4-BE49-F238E27FC236}">
                <a16:creationId xmlns:a16="http://schemas.microsoft.com/office/drawing/2014/main" id="{C0973F12-F324-440D-ADC8-ED4F31AB2456}"/>
              </a:ext>
            </a:extLst>
          </p:cNvPr>
          <p:cNvSpPr>
            <a:spLocks noGrp="1"/>
          </p:cNvSpPr>
          <p:nvPr/>
        </p:nvSpPr>
        <p:spPr>
          <a:xfrm>
            <a:off x="3858768" y="2517086"/>
            <a:ext cx="16916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1" name="TextBox 20">
            <a:extLst>
              <a:ext uri="{FF2B5EF4-FFF2-40B4-BE49-F238E27FC236}">
                <a16:creationId xmlns:a16="http://schemas.microsoft.com/office/drawing/2014/main" id="{2A45F1DE-EF3D-4488-AFBA-F34AC423BCDA}"/>
              </a:ext>
            </a:extLst>
          </p:cNvPr>
          <p:cNvSpPr>
            <a:spLocks noGrp="1"/>
          </p:cNvSpPr>
          <p:nvPr/>
        </p:nvSpPr>
        <p:spPr>
          <a:xfrm>
            <a:off x="3913631" y="2735380"/>
            <a:ext cx="1581912"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42</a:t>
            </a:r>
          </a:p>
        </p:txBody>
      </p:sp>
      <p:sp>
        <p:nvSpPr>
          <p:cNvPr id="22" name="Rectangle 21">
            <a:extLst>
              <a:ext uri="{FF2B5EF4-FFF2-40B4-BE49-F238E27FC236}">
                <a16:creationId xmlns:a16="http://schemas.microsoft.com/office/drawing/2014/main" id="{A2561808-6858-49C1-B3D5-A3888BCEB5D4}"/>
              </a:ext>
            </a:extLst>
          </p:cNvPr>
          <p:cNvSpPr>
            <a:spLocks noGrp="1"/>
          </p:cNvSpPr>
          <p:nvPr/>
        </p:nvSpPr>
        <p:spPr>
          <a:xfrm>
            <a:off x="5550408" y="2517086"/>
            <a:ext cx="12344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3" name="TextBox 22">
            <a:extLst>
              <a:ext uri="{FF2B5EF4-FFF2-40B4-BE49-F238E27FC236}">
                <a16:creationId xmlns:a16="http://schemas.microsoft.com/office/drawing/2014/main" id="{1F72049A-CE35-4BF6-B6B0-A7AB6BA94243}"/>
              </a:ext>
            </a:extLst>
          </p:cNvPr>
          <p:cNvSpPr>
            <a:spLocks noGrp="1"/>
          </p:cNvSpPr>
          <p:nvPr/>
        </p:nvSpPr>
        <p:spPr>
          <a:xfrm>
            <a:off x="5605272" y="2735380"/>
            <a:ext cx="1124712"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3</a:t>
            </a:r>
          </a:p>
        </p:txBody>
      </p:sp>
      <p:sp>
        <p:nvSpPr>
          <p:cNvPr id="24" name="Rectangle 23">
            <a:extLst>
              <a:ext uri="{FF2B5EF4-FFF2-40B4-BE49-F238E27FC236}">
                <a16:creationId xmlns:a16="http://schemas.microsoft.com/office/drawing/2014/main" id="{BC00B353-EC81-43F3-992F-D38E4A4724F8}"/>
              </a:ext>
            </a:extLst>
          </p:cNvPr>
          <p:cNvSpPr>
            <a:spLocks noGrp="1"/>
          </p:cNvSpPr>
          <p:nvPr/>
        </p:nvSpPr>
        <p:spPr>
          <a:xfrm>
            <a:off x="6784848" y="2517086"/>
            <a:ext cx="22402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5" name="TextBox 24">
            <a:extLst>
              <a:ext uri="{FF2B5EF4-FFF2-40B4-BE49-F238E27FC236}">
                <a16:creationId xmlns:a16="http://schemas.microsoft.com/office/drawing/2014/main" id="{463343D9-CB2A-4D62-8E00-D2C14088B5BA}"/>
              </a:ext>
            </a:extLst>
          </p:cNvPr>
          <p:cNvSpPr>
            <a:spLocks noGrp="1"/>
          </p:cNvSpPr>
          <p:nvPr/>
        </p:nvSpPr>
        <p:spPr>
          <a:xfrm>
            <a:off x="6839712" y="2735380"/>
            <a:ext cx="2130552"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39</a:t>
            </a:r>
          </a:p>
        </p:txBody>
      </p:sp>
      <p:sp>
        <p:nvSpPr>
          <p:cNvPr id="26" name="Rectangle 25">
            <a:extLst>
              <a:ext uri="{FF2B5EF4-FFF2-40B4-BE49-F238E27FC236}">
                <a16:creationId xmlns:a16="http://schemas.microsoft.com/office/drawing/2014/main" id="{9CB0F1EE-A725-423D-815A-9E3D6AFC75E2}"/>
              </a:ext>
            </a:extLst>
          </p:cNvPr>
          <p:cNvSpPr>
            <a:spLocks noGrp="1"/>
          </p:cNvSpPr>
          <p:nvPr/>
        </p:nvSpPr>
        <p:spPr>
          <a:xfrm>
            <a:off x="9025128" y="2517086"/>
            <a:ext cx="251460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7" name="TextBox 26">
            <a:extLst>
              <a:ext uri="{FF2B5EF4-FFF2-40B4-BE49-F238E27FC236}">
                <a16:creationId xmlns:a16="http://schemas.microsoft.com/office/drawing/2014/main" id="{3A436BF6-52CB-4C6F-8648-B8EE31D09D3D}"/>
              </a:ext>
            </a:extLst>
          </p:cNvPr>
          <p:cNvSpPr>
            <a:spLocks noGrp="1"/>
          </p:cNvSpPr>
          <p:nvPr/>
        </p:nvSpPr>
        <p:spPr>
          <a:xfrm>
            <a:off x="9079992" y="2735380"/>
            <a:ext cx="2404872"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33</a:t>
            </a:r>
          </a:p>
        </p:txBody>
      </p:sp>
      <p:sp>
        <p:nvSpPr>
          <p:cNvPr id="28" name="Rectangle 27">
            <a:extLst>
              <a:ext uri="{FF2B5EF4-FFF2-40B4-BE49-F238E27FC236}">
                <a16:creationId xmlns:a16="http://schemas.microsoft.com/office/drawing/2014/main" id="{F3E7C28E-A736-4022-86DF-50EAA788E231}"/>
              </a:ext>
            </a:extLst>
          </p:cNvPr>
          <p:cNvSpPr>
            <a:spLocks noGrp="1"/>
          </p:cNvSpPr>
          <p:nvPr/>
        </p:nvSpPr>
        <p:spPr>
          <a:xfrm>
            <a:off x="658368" y="3175453"/>
            <a:ext cx="13258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1FA6A28B-A341-41E2-9E4F-9856AE6E504E}"/>
              </a:ext>
            </a:extLst>
          </p:cNvPr>
          <p:cNvSpPr>
            <a:spLocks noGrp="1"/>
          </p:cNvSpPr>
          <p:nvPr/>
        </p:nvSpPr>
        <p:spPr>
          <a:xfrm>
            <a:off x="713232" y="3393748"/>
            <a:ext cx="1216152"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ROSMAP</a:t>
            </a:r>
          </a:p>
        </p:txBody>
      </p:sp>
      <p:sp>
        <p:nvSpPr>
          <p:cNvPr id="30" name="Rectangle 29">
            <a:extLst>
              <a:ext uri="{FF2B5EF4-FFF2-40B4-BE49-F238E27FC236}">
                <a16:creationId xmlns:a16="http://schemas.microsoft.com/office/drawing/2014/main" id="{944BDA5D-F929-4476-BEEC-18FD66FB2A38}"/>
              </a:ext>
            </a:extLst>
          </p:cNvPr>
          <p:cNvSpPr>
            <a:spLocks noGrp="1"/>
          </p:cNvSpPr>
          <p:nvPr/>
        </p:nvSpPr>
        <p:spPr>
          <a:xfrm>
            <a:off x="1984248" y="3175453"/>
            <a:ext cx="1874519"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1" name="TextBox 30">
            <a:extLst>
              <a:ext uri="{FF2B5EF4-FFF2-40B4-BE49-F238E27FC236}">
                <a16:creationId xmlns:a16="http://schemas.microsoft.com/office/drawing/2014/main" id="{C8EE0249-3EF2-47A9-B094-628AA1595BE3}"/>
              </a:ext>
            </a:extLst>
          </p:cNvPr>
          <p:cNvSpPr>
            <a:spLocks noGrp="1"/>
          </p:cNvSpPr>
          <p:nvPr/>
        </p:nvSpPr>
        <p:spPr>
          <a:xfrm>
            <a:off x="2039112" y="3393748"/>
            <a:ext cx="1764791"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5</a:t>
            </a:r>
          </a:p>
        </p:txBody>
      </p:sp>
      <p:sp>
        <p:nvSpPr>
          <p:cNvPr id="32" name="Rectangle 31">
            <a:extLst>
              <a:ext uri="{FF2B5EF4-FFF2-40B4-BE49-F238E27FC236}">
                <a16:creationId xmlns:a16="http://schemas.microsoft.com/office/drawing/2014/main" id="{4E819EB3-7A2E-42B9-AAA0-8532AEB63CD8}"/>
              </a:ext>
            </a:extLst>
          </p:cNvPr>
          <p:cNvSpPr>
            <a:spLocks noGrp="1"/>
          </p:cNvSpPr>
          <p:nvPr/>
        </p:nvSpPr>
        <p:spPr>
          <a:xfrm>
            <a:off x="3858768" y="3175453"/>
            <a:ext cx="16916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3" name="TextBox 32">
            <a:extLst>
              <a:ext uri="{FF2B5EF4-FFF2-40B4-BE49-F238E27FC236}">
                <a16:creationId xmlns:a16="http://schemas.microsoft.com/office/drawing/2014/main" id="{786D589B-85BF-4C56-A23B-CE4C4103E213}"/>
              </a:ext>
            </a:extLst>
          </p:cNvPr>
          <p:cNvSpPr>
            <a:spLocks noGrp="1"/>
          </p:cNvSpPr>
          <p:nvPr/>
        </p:nvSpPr>
        <p:spPr>
          <a:xfrm>
            <a:off x="3913631" y="3393748"/>
            <a:ext cx="1581912"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40</a:t>
            </a:r>
          </a:p>
        </p:txBody>
      </p:sp>
      <p:sp>
        <p:nvSpPr>
          <p:cNvPr id="34" name="Rectangle 33">
            <a:extLst>
              <a:ext uri="{FF2B5EF4-FFF2-40B4-BE49-F238E27FC236}">
                <a16:creationId xmlns:a16="http://schemas.microsoft.com/office/drawing/2014/main" id="{EF5374FC-8A3E-4DDF-852E-EF34A44D7C6D}"/>
              </a:ext>
            </a:extLst>
          </p:cNvPr>
          <p:cNvSpPr>
            <a:spLocks noGrp="1"/>
          </p:cNvSpPr>
          <p:nvPr/>
        </p:nvSpPr>
        <p:spPr>
          <a:xfrm>
            <a:off x="5550408" y="3175453"/>
            <a:ext cx="12344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5" name="TextBox 34">
            <a:extLst>
              <a:ext uri="{FF2B5EF4-FFF2-40B4-BE49-F238E27FC236}">
                <a16:creationId xmlns:a16="http://schemas.microsoft.com/office/drawing/2014/main" id="{3FC400BE-B7E7-461D-9208-9D8497E95B8E}"/>
              </a:ext>
            </a:extLst>
          </p:cNvPr>
          <p:cNvSpPr>
            <a:spLocks noGrp="1"/>
          </p:cNvSpPr>
          <p:nvPr/>
        </p:nvSpPr>
        <p:spPr>
          <a:xfrm>
            <a:off x="5605272" y="3393748"/>
            <a:ext cx="1124712"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2</a:t>
            </a:r>
          </a:p>
        </p:txBody>
      </p:sp>
      <p:sp>
        <p:nvSpPr>
          <p:cNvPr id="36" name="Rectangle 35">
            <a:extLst>
              <a:ext uri="{FF2B5EF4-FFF2-40B4-BE49-F238E27FC236}">
                <a16:creationId xmlns:a16="http://schemas.microsoft.com/office/drawing/2014/main" id="{399538D4-4CF5-4209-9C9A-64A8F11DF286}"/>
              </a:ext>
            </a:extLst>
          </p:cNvPr>
          <p:cNvSpPr>
            <a:spLocks noGrp="1"/>
          </p:cNvSpPr>
          <p:nvPr/>
        </p:nvSpPr>
        <p:spPr>
          <a:xfrm>
            <a:off x="6784848" y="3175453"/>
            <a:ext cx="22402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7" name="TextBox 36">
            <a:extLst>
              <a:ext uri="{FF2B5EF4-FFF2-40B4-BE49-F238E27FC236}">
                <a16:creationId xmlns:a16="http://schemas.microsoft.com/office/drawing/2014/main" id="{54FF62B8-0590-4BD1-92A8-AD2D5BB026C8}"/>
              </a:ext>
            </a:extLst>
          </p:cNvPr>
          <p:cNvSpPr>
            <a:spLocks noGrp="1"/>
          </p:cNvSpPr>
          <p:nvPr/>
        </p:nvSpPr>
        <p:spPr>
          <a:xfrm>
            <a:off x="6839712" y="3393748"/>
            <a:ext cx="2130552"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13</a:t>
            </a:r>
          </a:p>
        </p:txBody>
      </p:sp>
      <p:sp>
        <p:nvSpPr>
          <p:cNvPr id="38" name="Rectangle 37">
            <a:extLst>
              <a:ext uri="{FF2B5EF4-FFF2-40B4-BE49-F238E27FC236}">
                <a16:creationId xmlns:a16="http://schemas.microsoft.com/office/drawing/2014/main" id="{06EB9644-F2CF-45A1-959D-603E8CD5D86C}"/>
              </a:ext>
            </a:extLst>
          </p:cNvPr>
          <p:cNvSpPr>
            <a:spLocks noGrp="1"/>
          </p:cNvSpPr>
          <p:nvPr/>
        </p:nvSpPr>
        <p:spPr>
          <a:xfrm>
            <a:off x="9025128" y="3175453"/>
            <a:ext cx="251460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9" name="TextBox 38">
            <a:extLst>
              <a:ext uri="{FF2B5EF4-FFF2-40B4-BE49-F238E27FC236}">
                <a16:creationId xmlns:a16="http://schemas.microsoft.com/office/drawing/2014/main" id="{AA1B2C64-CCE5-4A4E-9921-AEE95B599F9B}"/>
              </a:ext>
            </a:extLst>
          </p:cNvPr>
          <p:cNvSpPr>
            <a:spLocks noGrp="1"/>
          </p:cNvSpPr>
          <p:nvPr/>
        </p:nvSpPr>
        <p:spPr>
          <a:xfrm>
            <a:off x="9079992" y="3393748"/>
            <a:ext cx="2404872"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13</a:t>
            </a:r>
          </a:p>
        </p:txBody>
      </p:sp>
      <p:sp>
        <p:nvSpPr>
          <p:cNvPr id="40" name="Rectangle 39">
            <a:extLst>
              <a:ext uri="{FF2B5EF4-FFF2-40B4-BE49-F238E27FC236}">
                <a16:creationId xmlns:a16="http://schemas.microsoft.com/office/drawing/2014/main" id="{95D55EAE-7DF3-4FC2-B614-F5D9C6FA830C}"/>
              </a:ext>
            </a:extLst>
          </p:cNvPr>
          <p:cNvSpPr>
            <a:spLocks noGrp="1"/>
          </p:cNvSpPr>
          <p:nvPr/>
        </p:nvSpPr>
        <p:spPr>
          <a:xfrm>
            <a:off x="658368" y="3833821"/>
            <a:ext cx="13258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1" name="TextBox 40">
            <a:extLst>
              <a:ext uri="{FF2B5EF4-FFF2-40B4-BE49-F238E27FC236}">
                <a16:creationId xmlns:a16="http://schemas.microsoft.com/office/drawing/2014/main" id="{7B5FC0A3-BD61-4958-A0B6-D851B824A050}"/>
              </a:ext>
            </a:extLst>
          </p:cNvPr>
          <p:cNvSpPr>
            <a:spLocks noGrp="1"/>
          </p:cNvSpPr>
          <p:nvPr/>
        </p:nvSpPr>
        <p:spPr>
          <a:xfrm>
            <a:off x="713232" y="4052116"/>
            <a:ext cx="1216152"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SEA-AD</a:t>
            </a:r>
          </a:p>
        </p:txBody>
      </p:sp>
      <p:sp>
        <p:nvSpPr>
          <p:cNvPr id="42" name="Rectangle 41">
            <a:extLst>
              <a:ext uri="{FF2B5EF4-FFF2-40B4-BE49-F238E27FC236}">
                <a16:creationId xmlns:a16="http://schemas.microsoft.com/office/drawing/2014/main" id="{837DC8A3-C0BC-4315-A07D-7FC6D3917F17}"/>
              </a:ext>
            </a:extLst>
          </p:cNvPr>
          <p:cNvSpPr>
            <a:spLocks noGrp="1"/>
          </p:cNvSpPr>
          <p:nvPr/>
        </p:nvSpPr>
        <p:spPr>
          <a:xfrm>
            <a:off x="1984248" y="3833821"/>
            <a:ext cx="1874519"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3" name="TextBox 42">
            <a:extLst>
              <a:ext uri="{FF2B5EF4-FFF2-40B4-BE49-F238E27FC236}">
                <a16:creationId xmlns:a16="http://schemas.microsoft.com/office/drawing/2014/main" id="{D7E8A7A6-C7AC-42C4-85D9-4BE0055EA1EF}"/>
              </a:ext>
            </a:extLst>
          </p:cNvPr>
          <p:cNvSpPr>
            <a:spLocks noGrp="1"/>
          </p:cNvSpPr>
          <p:nvPr/>
        </p:nvSpPr>
        <p:spPr>
          <a:xfrm>
            <a:off x="2039112" y="4052116"/>
            <a:ext cx="1764791"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3</a:t>
            </a:r>
          </a:p>
        </p:txBody>
      </p:sp>
      <p:sp>
        <p:nvSpPr>
          <p:cNvPr id="44" name="Rectangle 43">
            <a:extLst>
              <a:ext uri="{FF2B5EF4-FFF2-40B4-BE49-F238E27FC236}">
                <a16:creationId xmlns:a16="http://schemas.microsoft.com/office/drawing/2014/main" id="{035E4221-3951-4076-B8D9-7BA63621A3AC}"/>
              </a:ext>
            </a:extLst>
          </p:cNvPr>
          <p:cNvSpPr>
            <a:spLocks noGrp="1"/>
          </p:cNvSpPr>
          <p:nvPr/>
        </p:nvSpPr>
        <p:spPr>
          <a:xfrm>
            <a:off x="3858768" y="3833821"/>
            <a:ext cx="16916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5" name="TextBox 44">
            <a:extLst>
              <a:ext uri="{FF2B5EF4-FFF2-40B4-BE49-F238E27FC236}">
                <a16:creationId xmlns:a16="http://schemas.microsoft.com/office/drawing/2014/main" id="{80686635-2772-42F8-8FB3-C9608E246277}"/>
              </a:ext>
            </a:extLst>
          </p:cNvPr>
          <p:cNvSpPr>
            <a:spLocks noGrp="1"/>
          </p:cNvSpPr>
          <p:nvPr/>
        </p:nvSpPr>
        <p:spPr>
          <a:xfrm>
            <a:off x="3913631" y="4052116"/>
            <a:ext cx="1581912"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28</a:t>
            </a:r>
          </a:p>
        </p:txBody>
      </p:sp>
      <p:sp>
        <p:nvSpPr>
          <p:cNvPr id="46" name="Rectangle 45">
            <a:extLst>
              <a:ext uri="{FF2B5EF4-FFF2-40B4-BE49-F238E27FC236}">
                <a16:creationId xmlns:a16="http://schemas.microsoft.com/office/drawing/2014/main" id="{A4DD2FC0-31B7-4416-8521-7B5299B698B4}"/>
              </a:ext>
            </a:extLst>
          </p:cNvPr>
          <p:cNvSpPr>
            <a:spLocks noGrp="1"/>
          </p:cNvSpPr>
          <p:nvPr/>
        </p:nvSpPr>
        <p:spPr>
          <a:xfrm>
            <a:off x="5550408" y="3833821"/>
            <a:ext cx="12344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7" name="TextBox 46">
            <a:extLst>
              <a:ext uri="{FF2B5EF4-FFF2-40B4-BE49-F238E27FC236}">
                <a16:creationId xmlns:a16="http://schemas.microsoft.com/office/drawing/2014/main" id="{148ABD20-60DE-42FC-9C3A-F5B4532AC201}"/>
              </a:ext>
            </a:extLst>
          </p:cNvPr>
          <p:cNvSpPr>
            <a:spLocks noGrp="1"/>
          </p:cNvSpPr>
          <p:nvPr/>
        </p:nvSpPr>
        <p:spPr>
          <a:xfrm>
            <a:off x="5605272" y="4052116"/>
            <a:ext cx="1124712"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5</a:t>
            </a:r>
          </a:p>
        </p:txBody>
      </p:sp>
      <p:sp>
        <p:nvSpPr>
          <p:cNvPr id="48" name="Rectangle 47">
            <a:extLst>
              <a:ext uri="{FF2B5EF4-FFF2-40B4-BE49-F238E27FC236}">
                <a16:creationId xmlns:a16="http://schemas.microsoft.com/office/drawing/2014/main" id="{37D6BB0F-6BD5-4EB8-A575-89A4B611B1A2}"/>
              </a:ext>
            </a:extLst>
          </p:cNvPr>
          <p:cNvSpPr>
            <a:spLocks noGrp="1"/>
          </p:cNvSpPr>
          <p:nvPr/>
        </p:nvSpPr>
        <p:spPr>
          <a:xfrm>
            <a:off x="6784848" y="3833821"/>
            <a:ext cx="22402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9" name="TextBox 48">
            <a:extLst>
              <a:ext uri="{FF2B5EF4-FFF2-40B4-BE49-F238E27FC236}">
                <a16:creationId xmlns:a16="http://schemas.microsoft.com/office/drawing/2014/main" id="{682AA69D-24C6-44D2-A540-5C3428CBC47E}"/>
              </a:ext>
            </a:extLst>
          </p:cNvPr>
          <p:cNvSpPr>
            <a:spLocks noGrp="1"/>
          </p:cNvSpPr>
          <p:nvPr/>
        </p:nvSpPr>
        <p:spPr>
          <a:xfrm>
            <a:off x="6839712" y="4052116"/>
            <a:ext cx="2130552"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24</a:t>
            </a:r>
          </a:p>
        </p:txBody>
      </p:sp>
      <p:sp>
        <p:nvSpPr>
          <p:cNvPr id="50" name="Rectangle 49">
            <a:extLst>
              <a:ext uri="{FF2B5EF4-FFF2-40B4-BE49-F238E27FC236}">
                <a16:creationId xmlns:a16="http://schemas.microsoft.com/office/drawing/2014/main" id="{FC321E55-DE59-4E47-8760-A799434A12C7}"/>
              </a:ext>
            </a:extLst>
          </p:cNvPr>
          <p:cNvSpPr>
            <a:spLocks noGrp="1"/>
          </p:cNvSpPr>
          <p:nvPr/>
        </p:nvSpPr>
        <p:spPr>
          <a:xfrm>
            <a:off x="9025128" y="3833821"/>
            <a:ext cx="251460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1" name="TextBox 50">
            <a:extLst>
              <a:ext uri="{FF2B5EF4-FFF2-40B4-BE49-F238E27FC236}">
                <a16:creationId xmlns:a16="http://schemas.microsoft.com/office/drawing/2014/main" id="{A0ED0DB8-05CB-42A8-BCBE-B1944A8CE622}"/>
              </a:ext>
            </a:extLst>
          </p:cNvPr>
          <p:cNvSpPr>
            <a:spLocks noGrp="1"/>
          </p:cNvSpPr>
          <p:nvPr/>
        </p:nvSpPr>
        <p:spPr>
          <a:xfrm>
            <a:off x="9079992" y="4052116"/>
            <a:ext cx="2404872"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18</a:t>
            </a:r>
          </a:p>
        </p:txBody>
      </p:sp>
      <p:sp>
        <p:nvSpPr>
          <p:cNvPr id="52" name="Rectangle 51">
            <a:extLst>
              <a:ext uri="{FF2B5EF4-FFF2-40B4-BE49-F238E27FC236}">
                <a16:creationId xmlns:a16="http://schemas.microsoft.com/office/drawing/2014/main" id="{28D441B8-7018-4AD9-9B8B-26489334227D}"/>
              </a:ext>
            </a:extLst>
          </p:cNvPr>
          <p:cNvSpPr>
            <a:spLocks noGrp="1"/>
          </p:cNvSpPr>
          <p:nvPr/>
        </p:nvSpPr>
        <p:spPr>
          <a:xfrm>
            <a:off x="658368" y="4492190"/>
            <a:ext cx="13258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3" name="TextBox 52">
            <a:extLst>
              <a:ext uri="{FF2B5EF4-FFF2-40B4-BE49-F238E27FC236}">
                <a16:creationId xmlns:a16="http://schemas.microsoft.com/office/drawing/2014/main" id="{73CDDF38-5B0C-454E-89F5-044BA4FC30D3}"/>
              </a:ext>
            </a:extLst>
          </p:cNvPr>
          <p:cNvSpPr>
            <a:spLocks noGrp="1"/>
          </p:cNvSpPr>
          <p:nvPr/>
        </p:nvSpPr>
        <p:spPr>
          <a:xfrm>
            <a:off x="713232" y="4710485"/>
            <a:ext cx="1216152"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SEA-AD</a:t>
            </a:r>
          </a:p>
        </p:txBody>
      </p:sp>
      <p:sp>
        <p:nvSpPr>
          <p:cNvPr id="54" name="Rectangle 53">
            <a:extLst>
              <a:ext uri="{FF2B5EF4-FFF2-40B4-BE49-F238E27FC236}">
                <a16:creationId xmlns:a16="http://schemas.microsoft.com/office/drawing/2014/main" id="{923DC4A5-F692-4A34-B0E9-8A84596DCB25}"/>
              </a:ext>
            </a:extLst>
          </p:cNvPr>
          <p:cNvSpPr>
            <a:spLocks noGrp="1"/>
          </p:cNvSpPr>
          <p:nvPr/>
        </p:nvSpPr>
        <p:spPr>
          <a:xfrm>
            <a:off x="1984248" y="4492190"/>
            <a:ext cx="1874519"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5" name="TextBox 54">
            <a:extLst>
              <a:ext uri="{FF2B5EF4-FFF2-40B4-BE49-F238E27FC236}">
                <a16:creationId xmlns:a16="http://schemas.microsoft.com/office/drawing/2014/main" id="{7D6FAFEB-70C8-4DB8-B2AC-AD18F1CB974A}"/>
              </a:ext>
            </a:extLst>
          </p:cNvPr>
          <p:cNvSpPr>
            <a:spLocks noGrp="1"/>
          </p:cNvSpPr>
          <p:nvPr/>
        </p:nvSpPr>
        <p:spPr>
          <a:xfrm>
            <a:off x="2039112" y="4710485"/>
            <a:ext cx="1764791"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5</a:t>
            </a:r>
          </a:p>
        </p:txBody>
      </p:sp>
      <p:sp>
        <p:nvSpPr>
          <p:cNvPr id="56" name="Rectangle 55">
            <a:extLst>
              <a:ext uri="{FF2B5EF4-FFF2-40B4-BE49-F238E27FC236}">
                <a16:creationId xmlns:a16="http://schemas.microsoft.com/office/drawing/2014/main" id="{314D0AEC-7334-49D5-A18F-29616B1EBE5B}"/>
              </a:ext>
            </a:extLst>
          </p:cNvPr>
          <p:cNvSpPr>
            <a:spLocks noGrp="1"/>
          </p:cNvSpPr>
          <p:nvPr/>
        </p:nvSpPr>
        <p:spPr>
          <a:xfrm>
            <a:off x="3858768" y="4492190"/>
            <a:ext cx="16916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7" name="TextBox 56">
            <a:extLst>
              <a:ext uri="{FF2B5EF4-FFF2-40B4-BE49-F238E27FC236}">
                <a16:creationId xmlns:a16="http://schemas.microsoft.com/office/drawing/2014/main" id="{77F09C46-33F3-433C-BA3B-A0EA77C07084}"/>
              </a:ext>
            </a:extLst>
          </p:cNvPr>
          <p:cNvSpPr>
            <a:spLocks noGrp="1"/>
          </p:cNvSpPr>
          <p:nvPr/>
        </p:nvSpPr>
        <p:spPr>
          <a:xfrm>
            <a:off x="3913631" y="4710485"/>
            <a:ext cx="1581912"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20</a:t>
            </a:r>
          </a:p>
        </p:txBody>
      </p:sp>
      <p:sp>
        <p:nvSpPr>
          <p:cNvPr id="58" name="Rectangle 57">
            <a:extLst>
              <a:ext uri="{FF2B5EF4-FFF2-40B4-BE49-F238E27FC236}">
                <a16:creationId xmlns:a16="http://schemas.microsoft.com/office/drawing/2014/main" id="{6713E0D5-79F5-4DDD-9BA0-BF030889C732}"/>
              </a:ext>
            </a:extLst>
          </p:cNvPr>
          <p:cNvSpPr>
            <a:spLocks noGrp="1"/>
          </p:cNvSpPr>
          <p:nvPr/>
        </p:nvSpPr>
        <p:spPr>
          <a:xfrm>
            <a:off x="5550408" y="4492190"/>
            <a:ext cx="12344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9" name="TextBox 58">
            <a:extLst>
              <a:ext uri="{FF2B5EF4-FFF2-40B4-BE49-F238E27FC236}">
                <a16:creationId xmlns:a16="http://schemas.microsoft.com/office/drawing/2014/main" id="{6E3C8A50-F5FB-441B-9F3D-88D3DD6322D8}"/>
              </a:ext>
            </a:extLst>
          </p:cNvPr>
          <p:cNvSpPr>
            <a:spLocks noGrp="1"/>
          </p:cNvSpPr>
          <p:nvPr/>
        </p:nvSpPr>
        <p:spPr>
          <a:xfrm>
            <a:off x="5605272" y="4710485"/>
            <a:ext cx="1124712"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5</a:t>
            </a:r>
          </a:p>
        </p:txBody>
      </p:sp>
      <p:sp>
        <p:nvSpPr>
          <p:cNvPr id="60" name="Rectangle 59">
            <a:extLst>
              <a:ext uri="{FF2B5EF4-FFF2-40B4-BE49-F238E27FC236}">
                <a16:creationId xmlns:a16="http://schemas.microsoft.com/office/drawing/2014/main" id="{552CD726-D594-47F2-B43D-F55651AD2DED}"/>
              </a:ext>
            </a:extLst>
          </p:cNvPr>
          <p:cNvSpPr>
            <a:spLocks noGrp="1"/>
          </p:cNvSpPr>
          <p:nvPr/>
        </p:nvSpPr>
        <p:spPr>
          <a:xfrm>
            <a:off x="6784848" y="4492190"/>
            <a:ext cx="22402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1" name="TextBox 60">
            <a:extLst>
              <a:ext uri="{FF2B5EF4-FFF2-40B4-BE49-F238E27FC236}">
                <a16:creationId xmlns:a16="http://schemas.microsoft.com/office/drawing/2014/main" id="{6963C5AA-8FF5-4723-8EA6-265936CB53E3}"/>
              </a:ext>
            </a:extLst>
          </p:cNvPr>
          <p:cNvSpPr>
            <a:spLocks noGrp="1"/>
          </p:cNvSpPr>
          <p:nvPr/>
        </p:nvSpPr>
        <p:spPr>
          <a:xfrm>
            <a:off x="6839712" y="4710485"/>
            <a:ext cx="2130552"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24</a:t>
            </a:r>
          </a:p>
        </p:txBody>
      </p:sp>
      <p:sp>
        <p:nvSpPr>
          <p:cNvPr id="62" name="Rectangle 61">
            <a:extLst>
              <a:ext uri="{FF2B5EF4-FFF2-40B4-BE49-F238E27FC236}">
                <a16:creationId xmlns:a16="http://schemas.microsoft.com/office/drawing/2014/main" id="{BD1C9B48-B020-4F62-911C-5549D51A86C1}"/>
              </a:ext>
            </a:extLst>
          </p:cNvPr>
          <p:cNvSpPr>
            <a:spLocks noGrp="1"/>
          </p:cNvSpPr>
          <p:nvPr/>
        </p:nvSpPr>
        <p:spPr>
          <a:xfrm>
            <a:off x="9025128" y="4492190"/>
            <a:ext cx="251460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3" name="TextBox 62">
            <a:extLst>
              <a:ext uri="{FF2B5EF4-FFF2-40B4-BE49-F238E27FC236}">
                <a16:creationId xmlns:a16="http://schemas.microsoft.com/office/drawing/2014/main" id="{30991699-F390-424B-8315-0B1D9AAFC171}"/>
              </a:ext>
            </a:extLst>
          </p:cNvPr>
          <p:cNvSpPr>
            <a:spLocks noGrp="1"/>
          </p:cNvSpPr>
          <p:nvPr/>
        </p:nvSpPr>
        <p:spPr>
          <a:xfrm>
            <a:off x="9079992" y="4710485"/>
            <a:ext cx="2404872"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18</a:t>
            </a:r>
          </a:p>
        </p:txBody>
      </p:sp>
      <p:sp>
        <p:nvSpPr>
          <p:cNvPr id="64" name="Rounded Rectangle 63">
            <a:extLst>
              <a:ext uri="{FF2B5EF4-FFF2-40B4-BE49-F238E27FC236}">
                <a16:creationId xmlns:a16="http://schemas.microsoft.com/office/drawing/2014/main" id="{58501E3D-15AC-4B72-AFDE-369A2DAB52AC}"/>
              </a:ext>
            </a:extLst>
          </p:cNvPr>
          <p:cNvSpPr>
            <a:spLocks noGrp="1"/>
          </p:cNvSpPr>
          <p:nvPr/>
        </p:nvSpPr>
        <p:spPr>
          <a:xfrm>
            <a:off x="658368" y="5432424"/>
            <a:ext cx="10881360" cy="800407"/>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5" name="TextBox 64">
            <a:extLst>
              <a:ext uri="{FF2B5EF4-FFF2-40B4-BE49-F238E27FC236}">
                <a16:creationId xmlns:a16="http://schemas.microsoft.com/office/drawing/2014/main" id="{0C666860-7E66-4DA1-B72C-5064A9EA14BF}"/>
              </a:ext>
            </a:extLst>
          </p:cNvPr>
          <p:cNvSpPr>
            <a:spLocks noGrp="1"/>
          </p:cNvSpPr>
          <p:nvPr/>
        </p:nvSpPr>
        <p:spPr>
          <a:xfrm>
            <a:off x="914400" y="5570915"/>
            <a:ext cx="10369296" cy="547842"/>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600" b="1" i="0">
                <a:solidFill>
                  <a:srgbClr val="0F233D"/>
                </a:solidFill>
                <a:latin typeface="Arial"/>
                <a:ea typeface="Arial"/>
                <a:cs typeface="Arial"/>
              </a:rPr>
              <a:t>Gene rows returned from KDA calls are counted before MitoCarta filtering. Unique non-MitoCarta genes exclude the 1,136 MitoCarta MT genes and are deduplicated within each cohort.</a:t>
            </a:r>
          </a:p>
        </p:txBody>
      </p:sp>
    </p:spTree>
    <p:extLst>
      <p:ext uri="{BB962C8B-B14F-4D97-AF65-F5344CB8AC3E}">
        <p14:creationId val="105920596"/>
      </p:ext>
    </p:extLst>
  </p:cSld>
  <p:clrMapOvr>
    <a:masterClrMapping/>
  </p:clrMapOvr>
  <p:transition/>
  <p:timing/>
</p:sld>
</file>

<file path=ppt/slides/slide4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C25F3B0C-B71A-431A-8FF4-50F3C7BD892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450" b="1" i="0">
                <a:solidFill>
                  <a:srgbClr val="0F233D"/>
                </a:solidFill>
                <a:latin typeface="Arial"/>
                <a:ea typeface="Arial"/>
                <a:cs typeface="Arial"/>
              </a:rPr>
              <a:t>Donor-threshold sensitivity — key findings</a:t>
            </a:r>
          </a:p>
        </p:txBody>
      </p:sp>
      <p:sp>
        <p:nvSpPr>
          <p:cNvPr id="3" name="TextBox 2">
            <a:extLst>
              <a:ext uri="{FF2B5EF4-FFF2-40B4-BE49-F238E27FC236}">
                <a16:creationId xmlns:a16="http://schemas.microsoft.com/office/drawing/2014/main" id="{199BDF02-6FDB-46E4-9E8E-E1E54A1D02E5}"/>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20" b="0" i="0">
                <a:solidFill>
                  <a:srgbClr val="4E5A68"/>
                </a:solidFill>
                <a:latin typeface="Arial"/>
                <a:ea typeface="Arial"/>
                <a:cs typeface="Arial"/>
              </a:rPr>
              <a:t>Raising minimum donors per disease arm from 3 to 5 in ROSMAP and SEA-AD.</a:t>
            </a:r>
          </a:p>
        </p:txBody>
      </p:sp>
      <p:sp>
        <p:nvSpPr>
          <p:cNvPr id="4" name="Rounded Rectangle 3">
            <a:extLst>
              <a:ext uri="{FF2B5EF4-FFF2-40B4-BE49-F238E27FC236}">
                <a16:creationId xmlns:a16="http://schemas.microsoft.com/office/drawing/2014/main" id="{18DD6D7A-22B8-4849-B84F-B817AC43335A}"/>
              </a:ext>
            </a:extLst>
          </p:cNvPr>
          <p:cNvSpPr>
            <a:spLocks noGrp="1"/>
          </p:cNvSpPr>
          <p:nvPr/>
        </p:nvSpPr>
        <p:spPr>
          <a:xfrm>
            <a:off x="658368" y="1298448"/>
            <a:ext cx="10881360" cy="477316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553A19D-A8C1-44B5-995C-6011828E9382}"/>
              </a:ext>
            </a:extLst>
          </p:cNvPr>
          <p:cNvSpPr>
            <a:spLocks noGrp="1"/>
          </p:cNvSpPr>
          <p:nvPr/>
        </p:nvSpPr>
        <p:spPr>
          <a:xfrm>
            <a:off x="960120" y="1554480"/>
            <a:ext cx="2194560" cy="23774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019" b="1" i="0">
                <a:solidFill>
                  <a:srgbClr val="0072B2"/>
                </a:solidFill>
                <a:latin typeface="Arial"/>
                <a:ea typeface="Arial"/>
                <a:cs typeface="Arial"/>
              </a:rPr>
              <a:t>KEY FINDINGS</a:t>
            </a:r>
          </a:p>
        </p:txBody>
      </p:sp>
      <p:sp>
        <p:nvSpPr>
          <p:cNvPr id="6" name="Oval 5">
            <a:extLst>
              <a:ext uri="{FF2B5EF4-FFF2-40B4-BE49-F238E27FC236}">
                <a16:creationId xmlns:a16="http://schemas.microsoft.com/office/drawing/2014/main" id="{09C4D1D7-8BB9-4E7F-B109-8B2FFB6A0DDE}"/>
              </a:ext>
            </a:extLst>
          </p:cNvPr>
          <p:cNvSpPr>
            <a:spLocks noGrp="1"/>
          </p:cNvSpPr>
          <p:nvPr/>
        </p:nvSpPr>
        <p:spPr>
          <a:xfrm>
            <a:off x="960120" y="204825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A881ABF-427F-4249-8522-B0545E7035F2}"/>
              </a:ext>
            </a:extLst>
          </p:cNvPr>
          <p:cNvSpPr>
            <a:spLocks noGrp="1"/>
          </p:cNvSpPr>
          <p:nvPr/>
        </p:nvSpPr>
        <p:spPr>
          <a:xfrm>
            <a:off x="1133856" y="1920240"/>
            <a:ext cx="9838944" cy="76809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20" b="0" i="0">
                <a:solidFill>
                  <a:srgbClr val="1F2730"/>
                </a:solidFill>
                <a:latin typeface="Arial"/>
                <a:ea typeface="Arial"/>
                <a:cs typeface="Arial"/>
              </a:rPr>
              <a:t>ROSMAP loses the Vasculature × M_e2 KDA call based on 4 versus 3 donors, which returned 26 gene rows. This removes the low-support result dominating the ROSMAP release.</a:t>
            </a:r>
          </a:p>
        </p:txBody>
      </p:sp>
      <p:sp>
        <p:nvSpPr>
          <p:cNvPr id="8" name="Oval 7">
            <a:extLst>
              <a:ext uri="{FF2B5EF4-FFF2-40B4-BE49-F238E27FC236}">
                <a16:creationId xmlns:a16="http://schemas.microsoft.com/office/drawing/2014/main" id="{949466EA-35CA-4B4C-831D-4E1D7D555C89}"/>
              </a:ext>
            </a:extLst>
          </p:cNvPr>
          <p:cNvSpPr>
            <a:spLocks noGrp="1"/>
          </p:cNvSpPr>
          <p:nvPr/>
        </p:nvSpPr>
        <p:spPr>
          <a:xfrm>
            <a:off x="960120" y="281635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AACCE04-F5AF-44D8-AD25-CB898B224716}"/>
              </a:ext>
            </a:extLst>
          </p:cNvPr>
          <p:cNvSpPr>
            <a:spLocks noGrp="1"/>
          </p:cNvSpPr>
          <p:nvPr/>
        </p:nvSpPr>
        <p:spPr>
          <a:xfrm>
            <a:off x="1133856" y="2688336"/>
            <a:ext cx="9838944" cy="76809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20" b="0" i="0">
                <a:solidFill>
                  <a:srgbClr val="1F2730"/>
                </a:solidFill>
                <a:latin typeface="Arial"/>
                <a:ea typeface="Arial"/>
                <a:cs typeface="Arial"/>
              </a:rPr>
              <a:t>SEA-AD loses eight eligible contrasts, but all already had empty MitoCarta MT queries. Therefore, all five KDA calls and all genes returned from KDA calls remain unchanged.</a:t>
            </a:r>
          </a:p>
        </p:txBody>
      </p:sp>
      <p:sp>
        <p:nvSpPr>
          <p:cNvPr id="10" name="Oval 9">
            <a:extLst>
              <a:ext uri="{FF2B5EF4-FFF2-40B4-BE49-F238E27FC236}">
                <a16:creationId xmlns:a16="http://schemas.microsoft.com/office/drawing/2014/main" id="{9EDE846E-BE18-49ED-AF44-A28A775CB2F8}"/>
              </a:ext>
            </a:extLst>
          </p:cNvPr>
          <p:cNvSpPr>
            <a:spLocks noGrp="1"/>
          </p:cNvSpPr>
          <p:nvPr/>
        </p:nvSpPr>
        <p:spPr>
          <a:xfrm>
            <a:off x="960120" y="35844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D77A8E0-48BA-4289-9E74-C3ED04DCFE7D}"/>
              </a:ext>
            </a:extLst>
          </p:cNvPr>
          <p:cNvSpPr>
            <a:spLocks noGrp="1"/>
          </p:cNvSpPr>
          <p:nvPr/>
        </p:nvSpPr>
        <p:spPr>
          <a:xfrm>
            <a:off x="1133856" y="3456432"/>
            <a:ext cx="9838944" cy="76809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20" b="0" i="0">
                <a:solidFill>
                  <a:srgbClr val="1F2730"/>
                </a:solidFill>
                <a:latin typeface="Arial"/>
                <a:ea typeface="Arial"/>
                <a:cs typeface="Arial"/>
              </a:rPr>
              <a:t>Cross-cohort validation remains zero at both thresholds.</a:t>
            </a:r>
          </a:p>
        </p:txBody>
      </p:sp>
      <p:sp>
        <p:nvSpPr>
          <p:cNvPr id="12" name="Oval 11">
            <a:extLst>
              <a:ext uri="{FF2B5EF4-FFF2-40B4-BE49-F238E27FC236}">
                <a16:creationId xmlns:a16="http://schemas.microsoft.com/office/drawing/2014/main" id="{58E91864-B2AC-4AD6-B45A-053A9C688D3D}"/>
              </a:ext>
            </a:extLst>
          </p:cNvPr>
          <p:cNvSpPr>
            <a:spLocks noGrp="1"/>
          </p:cNvSpPr>
          <p:nvPr/>
        </p:nvSpPr>
        <p:spPr>
          <a:xfrm>
            <a:off x="960120" y="435254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D37C508-F16A-4298-89AA-59DA37EA865D}"/>
              </a:ext>
            </a:extLst>
          </p:cNvPr>
          <p:cNvSpPr>
            <a:spLocks noGrp="1"/>
          </p:cNvSpPr>
          <p:nvPr/>
        </p:nvSpPr>
        <p:spPr>
          <a:xfrm>
            <a:off x="1133856" y="4224528"/>
            <a:ext cx="9838944" cy="76809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20" b="0" i="0">
                <a:solidFill>
                  <a:srgbClr val="1F2730"/>
                </a:solidFill>
                <a:latin typeface="Arial"/>
                <a:ea typeface="Arial"/>
                <a:cs typeface="Arial"/>
              </a:rPr>
              <a:t>The only exact shared executed stratum remains Astrocytes × F_e4, with no shared genes returned from KDA calls.</a:t>
            </a:r>
          </a:p>
        </p:txBody>
      </p:sp>
      <p:sp>
        <p:nvSpPr>
          <p:cNvPr id="14" name="Oval 13">
            <a:extLst>
              <a:ext uri="{FF2B5EF4-FFF2-40B4-BE49-F238E27FC236}">
                <a16:creationId xmlns:a16="http://schemas.microsoft.com/office/drawing/2014/main" id="{4A72CDD2-DCA4-4F37-9176-B43911D86A73}"/>
              </a:ext>
            </a:extLst>
          </p:cNvPr>
          <p:cNvSpPr>
            <a:spLocks noGrp="1"/>
          </p:cNvSpPr>
          <p:nvPr/>
        </p:nvSpPr>
        <p:spPr>
          <a:xfrm>
            <a:off x="960120" y="5120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EDF81818-C64B-49A7-8FA6-01AD143DCED6}"/>
              </a:ext>
            </a:extLst>
          </p:cNvPr>
          <p:cNvSpPr>
            <a:spLocks noGrp="1"/>
          </p:cNvSpPr>
          <p:nvPr/>
        </p:nvSpPr>
        <p:spPr>
          <a:xfrm>
            <a:off x="1133856" y="4992624"/>
            <a:ext cx="9838944" cy="76809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20" b="0" i="0">
                <a:solidFill>
                  <a:srgbClr val="1F2730"/>
                </a:solidFill>
                <a:latin typeface="Arial"/>
                <a:ea typeface="Arial"/>
                <a:cs typeface="Arial"/>
              </a:rPr>
              <a:t>The excluded contrasts are treated as unavailable comparisons—not negative validation results.</a:t>
            </a:r>
          </a:p>
        </p:txBody>
      </p:sp>
    </p:spTree>
    <p:extLst>
      <p:ext uri="{BB962C8B-B14F-4D97-AF65-F5344CB8AC3E}">
        <p14:creationId val="382545354"/>
      </p:ext>
    </p:extLst>
  </p:cSld>
  <p:clrMapOvr>
    <a:masterClrMapping/>
  </p:clrMapOvr>
  <p:transition/>
  <p:timing/>
</p:sld>
</file>

<file path=ppt/slides/slide4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3DD7CA38-4263-4922-B9E4-152F9F619F7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450" b="1" i="0">
                <a:solidFill>
                  <a:srgbClr val="0F233D"/>
                </a:solidFill>
                <a:latin typeface="Arial"/>
                <a:ea typeface="Arial"/>
                <a:cs typeface="Arial"/>
              </a:rPr>
              <a:t>Query-size sensitivity — numerical comparison</a:t>
            </a:r>
          </a:p>
        </p:txBody>
      </p:sp>
      <p:sp>
        <p:nvSpPr>
          <p:cNvPr id="3" name="TextBox 2">
            <a:extLst>
              <a:ext uri="{FF2B5EF4-FFF2-40B4-BE49-F238E27FC236}">
                <a16:creationId xmlns:a16="http://schemas.microsoft.com/office/drawing/2014/main" id="{8B6DDF63-06AA-4896-A112-1C337B681D39}"/>
              </a:ext>
            </a:extLst>
          </p:cNvPr>
          <p:cNvSpPr>
            <a:spLocks noGrp="1"/>
          </p:cNvSpPr>
          <p:nvPr/>
        </p:nvSpPr>
        <p:spPr>
          <a:xfrm>
            <a:off x="548640" y="949114"/>
            <a:ext cx="10561320" cy="270843"/>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00" b="1" i="0">
                <a:latin typeface="Arial"/>
                <a:ea typeface="Arial"/>
                <a:cs typeface="Arial"/>
              </a:rPr>
              <a:t>Minimum MitoCarta MT query genes after network mapping; donor minimum held at 3 per disease arm.</a:t>
            </a:r>
          </a:p>
        </p:txBody>
      </p:sp>
      <p:sp>
        <p:nvSpPr>
          <p:cNvPr id="4" name="Rectangle 3">
            <a:extLst>
              <a:ext uri="{FF2B5EF4-FFF2-40B4-BE49-F238E27FC236}">
                <a16:creationId xmlns:a16="http://schemas.microsoft.com/office/drawing/2014/main" id="{F9DF9097-007C-4CBD-92F2-DF8EF21F3CDA}"/>
              </a:ext>
            </a:extLst>
          </p:cNvPr>
          <p:cNvSpPr>
            <a:spLocks noGrp="1"/>
          </p:cNvSpPr>
          <p:nvPr/>
        </p:nvSpPr>
        <p:spPr>
          <a:xfrm>
            <a:off x="539496" y="1371600"/>
            <a:ext cx="10972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 name="TextBox 4">
            <a:extLst>
              <a:ext uri="{FF2B5EF4-FFF2-40B4-BE49-F238E27FC236}">
                <a16:creationId xmlns:a16="http://schemas.microsoft.com/office/drawing/2014/main" id="{45171831-019E-48DD-AD50-F176E9E78576}"/>
              </a:ext>
            </a:extLst>
          </p:cNvPr>
          <p:cNvSpPr>
            <a:spLocks noGrp="1"/>
          </p:cNvSpPr>
          <p:nvPr/>
        </p:nvSpPr>
        <p:spPr>
          <a:xfrm>
            <a:off x="594359" y="1576179"/>
            <a:ext cx="987552"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1" i="0">
                <a:solidFill>
                  <a:srgbClr val="FFFFFF"/>
                </a:solidFill>
                <a:latin typeface="Arial"/>
                <a:ea typeface="Arial"/>
                <a:cs typeface="Arial"/>
              </a:rPr>
              <a:t>Cohort</a:t>
            </a:r>
          </a:p>
        </p:txBody>
      </p:sp>
      <p:sp>
        <p:nvSpPr>
          <p:cNvPr id="6" name="Rectangle 5">
            <a:extLst>
              <a:ext uri="{FF2B5EF4-FFF2-40B4-BE49-F238E27FC236}">
                <a16:creationId xmlns:a16="http://schemas.microsoft.com/office/drawing/2014/main" id="{D6691509-3067-4EB2-965B-1E0E5F77FE4C}"/>
              </a:ext>
            </a:extLst>
          </p:cNvPr>
          <p:cNvSpPr>
            <a:spLocks noGrp="1"/>
          </p:cNvSpPr>
          <p:nvPr/>
        </p:nvSpPr>
        <p:spPr>
          <a:xfrm>
            <a:off x="1636776" y="1371600"/>
            <a:ext cx="13258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 name="TextBox 6">
            <a:extLst>
              <a:ext uri="{FF2B5EF4-FFF2-40B4-BE49-F238E27FC236}">
                <a16:creationId xmlns:a16="http://schemas.microsoft.com/office/drawing/2014/main" id="{88675E2A-BCD8-47E4-A554-C75039387E85}"/>
              </a:ext>
            </a:extLst>
          </p:cNvPr>
          <p:cNvSpPr>
            <a:spLocks noGrp="1"/>
          </p:cNvSpPr>
          <p:nvPr/>
        </p:nvSpPr>
        <p:spPr>
          <a:xfrm>
            <a:off x="1691640" y="1483846"/>
            <a:ext cx="1216152" cy="424732"/>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1" i="0">
                <a:solidFill>
                  <a:srgbClr val="FFFFFF"/>
                </a:solidFill>
                <a:latin typeface="Arial"/>
                <a:ea typeface="Arial"/>
                <a:cs typeface="Arial"/>
              </a:rPr>
              <a:t>Minimum query genes</a:t>
            </a:r>
          </a:p>
        </p:txBody>
      </p:sp>
      <p:sp>
        <p:nvSpPr>
          <p:cNvPr id="8" name="Rectangle 7">
            <a:extLst>
              <a:ext uri="{FF2B5EF4-FFF2-40B4-BE49-F238E27FC236}">
                <a16:creationId xmlns:a16="http://schemas.microsoft.com/office/drawing/2014/main" id="{16228AAB-FE57-4B8F-9337-AE131A1C8CF5}"/>
              </a:ext>
            </a:extLst>
          </p:cNvPr>
          <p:cNvSpPr>
            <a:spLocks noGrp="1"/>
          </p:cNvSpPr>
          <p:nvPr/>
        </p:nvSpPr>
        <p:spPr>
          <a:xfrm>
            <a:off x="2962656" y="1371600"/>
            <a:ext cx="17830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 name="TextBox 8">
            <a:extLst>
              <a:ext uri="{FF2B5EF4-FFF2-40B4-BE49-F238E27FC236}">
                <a16:creationId xmlns:a16="http://schemas.microsoft.com/office/drawing/2014/main" id="{CAE06F7D-C693-4B4E-89B6-F05CDD3EB6BE}"/>
              </a:ext>
            </a:extLst>
          </p:cNvPr>
          <p:cNvSpPr>
            <a:spLocks noGrp="1"/>
          </p:cNvSpPr>
          <p:nvPr/>
        </p:nvSpPr>
        <p:spPr>
          <a:xfrm>
            <a:off x="3017520" y="1483846"/>
            <a:ext cx="1673352" cy="424732"/>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1" i="0">
                <a:solidFill>
                  <a:srgbClr val="FFFFFF"/>
                </a:solidFill>
                <a:latin typeface="Arial"/>
                <a:ea typeface="Arial"/>
                <a:cs typeface="Arial"/>
              </a:rPr>
              <a:t>Source-estimable contrasts</a:t>
            </a:r>
          </a:p>
        </p:txBody>
      </p:sp>
      <p:sp>
        <p:nvSpPr>
          <p:cNvPr id="10" name="Rectangle 9">
            <a:extLst>
              <a:ext uri="{FF2B5EF4-FFF2-40B4-BE49-F238E27FC236}">
                <a16:creationId xmlns:a16="http://schemas.microsoft.com/office/drawing/2014/main" id="{A7DC2A01-D05E-4D29-A52A-E76862908454}"/>
              </a:ext>
            </a:extLst>
          </p:cNvPr>
          <p:cNvSpPr>
            <a:spLocks noGrp="1"/>
          </p:cNvSpPr>
          <p:nvPr/>
        </p:nvSpPr>
        <p:spPr>
          <a:xfrm>
            <a:off x="4745736" y="1371600"/>
            <a:ext cx="173736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 name="TextBox 10">
            <a:extLst>
              <a:ext uri="{FF2B5EF4-FFF2-40B4-BE49-F238E27FC236}">
                <a16:creationId xmlns:a16="http://schemas.microsoft.com/office/drawing/2014/main" id="{19A73275-6480-473E-A100-8F193BA88188}"/>
              </a:ext>
            </a:extLst>
          </p:cNvPr>
          <p:cNvSpPr>
            <a:spLocks noGrp="1"/>
          </p:cNvSpPr>
          <p:nvPr/>
        </p:nvSpPr>
        <p:spPr>
          <a:xfrm>
            <a:off x="4800600" y="1483846"/>
            <a:ext cx="1627631" cy="424732"/>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1" i="0">
                <a:solidFill>
                  <a:srgbClr val="FFFFFF"/>
                </a:solidFill>
                <a:latin typeface="Arial"/>
                <a:ea typeface="Arial"/>
                <a:cs typeface="Arial"/>
              </a:rPr>
              <a:t>Query-passing contrasts</a:t>
            </a:r>
          </a:p>
        </p:txBody>
      </p:sp>
      <p:sp>
        <p:nvSpPr>
          <p:cNvPr id="12" name="Rectangle 11">
            <a:extLst>
              <a:ext uri="{FF2B5EF4-FFF2-40B4-BE49-F238E27FC236}">
                <a16:creationId xmlns:a16="http://schemas.microsoft.com/office/drawing/2014/main" id="{83004C7C-2E64-4132-A9A4-71645D7B8F17}"/>
              </a:ext>
            </a:extLst>
          </p:cNvPr>
          <p:cNvSpPr>
            <a:spLocks noGrp="1"/>
          </p:cNvSpPr>
          <p:nvPr/>
        </p:nvSpPr>
        <p:spPr>
          <a:xfrm>
            <a:off x="6483096" y="1371600"/>
            <a:ext cx="105156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 name="TextBox 12">
            <a:extLst>
              <a:ext uri="{FF2B5EF4-FFF2-40B4-BE49-F238E27FC236}">
                <a16:creationId xmlns:a16="http://schemas.microsoft.com/office/drawing/2014/main" id="{90D475DD-B022-4339-87C7-C40904E90410}"/>
              </a:ext>
            </a:extLst>
          </p:cNvPr>
          <p:cNvSpPr>
            <a:spLocks noGrp="1"/>
          </p:cNvSpPr>
          <p:nvPr/>
        </p:nvSpPr>
        <p:spPr>
          <a:xfrm>
            <a:off x="6537959" y="1576179"/>
            <a:ext cx="941831"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1" i="0">
                <a:solidFill>
                  <a:srgbClr val="FFFFFF"/>
                </a:solidFill>
                <a:latin typeface="Arial"/>
                <a:ea typeface="Arial"/>
                <a:cs typeface="Arial"/>
              </a:rPr>
              <a:t>KDA calls</a:t>
            </a:r>
          </a:p>
        </p:txBody>
      </p:sp>
      <p:sp>
        <p:nvSpPr>
          <p:cNvPr id="14" name="Rectangle 13">
            <a:extLst>
              <a:ext uri="{FF2B5EF4-FFF2-40B4-BE49-F238E27FC236}">
                <a16:creationId xmlns:a16="http://schemas.microsoft.com/office/drawing/2014/main" id="{AA366187-E9AD-4D59-B558-84BB882F9DA7}"/>
              </a:ext>
            </a:extLst>
          </p:cNvPr>
          <p:cNvSpPr>
            <a:spLocks noGrp="1"/>
          </p:cNvSpPr>
          <p:nvPr/>
        </p:nvSpPr>
        <p:spPr>
          <a:xfrm>
            <a:off x="7534656" y="1371600"/>
            <a:ext cx="1993392"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 name="TextBox 14">
            <a:extLst>
              <a:ext uri="{FF2B5EF4-FFF2-40B4-BE49-F238E27FC236}">
                <a16:creationId xmlns:a16="http://schemas.microsoft.com/office/drawing/2014/main" id="{FFA83CCF-A99E-4817-A8C0-572B99A0CAED}"/>
              </a:ext>
            </a:extLst>
          </p:cNvPr>
          <p:cNvSpPr>
            <a:spLocks noGrp="1"/>
          </p:cNvSpPr>
          <p:nvPr/>
        </p:nvSpPr>
        <p:spPr>
          <a:xfrm>
            <a:off x="7589520" y="1576179"/>
            <a:ext cx="1883664" cy="420624"/>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1" i="0">
                <a:solidFill>
                  <a:srgbClr val="FFFFFF"/>
                </a:solidFill>
                <a:latin typeface="Arial"/>
                <a:ea typeface="Arial"/>
                <a:cs typeface="Arial"/>
              </a:rPr>
              <a:t>Genes returned from KDA calls</a:t>
            </a:r>
          </a:p>
        </p:txBody>
      </p:sp>
      <p:sp>
        <p:nvSpPr>
          <p:cNvPr id="16" name="Rectangle 15">
            <a:extLst>
              <a:ext uri="{FF2B5EF4-FFF2-40B4-BE49-F238E27FC236}">
                <a16:creationId xmlns:a16="http://schemas.microsoft.com/office/drawing/2014/main" id="{B36D802F-CD5F-453E-B54F-FD621E30F9DA}"/>
              </a:ext>
            </a:extLst>
          </p:cNvPr>
          <p:cNvSpPr>
            <a:spLocks noGrp="1"/>
          </p:cNvSpPr>
          <p:nvPr/>
        </p:nvSpPr>
        <p:spPr>
          <a:xfrm>
            <a:off x="9528048" y="1371600"/>
            <a:ext cx="2121408"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7" name="TextBox 16">
            <a:extLst>
              <a:ext uri="{FF2B5EF4-FFF2-40B4-BE49-F238E27FC236}">
                <a16:creationId xmlns:a16="http://schemas.microsoft.com/office/drawing/2014/main" id="{ABF77F7B-7F1F-4D12-8778-42218A68A9D3}"/>
              </a:ext>
            </a:extLst>
          </p:cNvPr>
          <p:cNvSpPr>
            <a:spLocks noGrp="1"/>
          </p:cNvSpPr>
          <p:nvPr/>
        </p:nvSpPr>
        <p:spPr>
          <a:xfrm>
            <a:off x="9582912" y="1576179"/>
            <a:ext cx="2011679" cy="420624"/>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1" i="0">
                <a:solidFill>
                  <a:srgbClr val="FFFFFF"/>
                </a:solidFill>
                <a:latin typeface="Arial"/>
                <a:ea typeface="Arial"/>
                <a:cs typeface="Arial"/>
              </a:rPr>
              <a:t>Unique non-MitoCarta genes</a:t>
            </a:r>
          </a:p>
        </p:txBody>
      </p:sp>
      <p:sp>
        <p:nvSpPr>
          <p:cNvPr id="18" name="Rectangle 17">
            <a:extLst>
              <a:ext uri="{FF2B5EF4-FFF2-40B4-BE49-F238E27FC236}">
                <a16:creationId xmlns:a16="http://schemas.microsoft.com/office/drawing/2014/main" id="{D4C04B78-789D-4737-9533-19DDAA7C1601}"/>
              </a:ext>
            </a:extLst>
          </p:cNvPr>
          <p:cNvSpPr>
            <a:spLocks noGrp="1"/>
          </p:cNvSpPr>
          <p:nvPr/>
        </p:nvSpPr>
        <p:spPr>
          <a:xfrm>
            <a:off x="539496" y="2002536"/>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9" name="TextBox 18">
            <a:extLst>
              <a:ext uri="{FF2B5EF4-FFF2-40B4-BE49-F238E27FC236}">
                <a16:creationId xmlns:a16="http://schemas.microsoft.com/office/drawing/2014/main" id="{63BAAC32-6E5B-49E5-9113-B1F20BFE28C4}"/>
              </a:ext>
            </a:extLst>
          </p:cNvPr>
          <p:cNvSpPr>
            <a:spLocks noGrp="1"/>
          </p:cNvSpPr>
          <p:nvPr/>
        </p:nvSpPr>
        <p:spPr>
          <a:xfrm>
            <a:off x="594359" y="2088242"/>
            <a:ext cx="987552"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ROSMAP</a:t>
            </a:r>
          </a:p>
        </p:txBody>
      </p:sp>
      <p:sp>
        <p:nvSpPr>
          <p:cNvPr id="20" name="Rectangle 19">
            <a:extLst>
              <a:ext uri="{FF2B5EF4-FFF2-40B4-BE49-F238E27FC236}">
                <a16:creationId xmlns:a16="http://schemas.microsoft.com/office/drawing/2014/main" id="{BB72EC37-20AA-457F-9AB1-61E5D9DA4140}"/>
              </a:ext>
            </a:extLst>
          </p:cNvPr>
          <p:cNvSpPr>
            <a:spLocks noGrp="1"/>
          </p:cNvSpPr>
          <p:nvPr/>
        </p:nvSpPr>
        <p:spPr>
          <a:xfrm>
            <a:off x="1636776" y="2002536"/>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1" name="TextBox 20">
            <a:extLst>
              <a:ext uri="{FF2B5EF4-FFF2-40B4-BE49-F238E27FC236}">
                <a16:creationId xmlns:a16="http://schemas.microsoft.com/office/drawing/2014/main" id="{830BB733-FC4C-46C3-92E3-CEB3223AA0E7}"/>
              </a:ext>
            </a:extLst>
          </p:cNvPr>
          <p:cNvSpPr>
            <a:spLocks noGrp="1"/>
          </p:cNvSpPr>
          <p:nvPr/>
        </p:nvSpPr>
        <p:spPr>
          <a:xfrm>
            <a:off x="1691640" y="2088242"/>
            <a:ext cx="1216152"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3</a:t>
            </a:r>
          </a:p>
        </p:txBody>
      </p:sp>
      <p:sp>
        <p:nvSpPr>
          <p:cNvPr id="22" name="Rectangle 21">
            <a:extLst>
              <a:ext uri="{FF2B5EF4-FFF2-40B4-BE49-F238E27FC236}">
                <a16:creationId xmlns:a16="http://schemas.microsoft.com/office/drawing/2014/main" id="{F571AD81-CB6E-4DF6-8BA5-B120EA9A1403}"/>
              </a:ext>
            </a:extLst>
          </p:cNvPr>
          <p:cNvSpPr>
            <a:spLocks noGrp="1"/>
          </p:cNvSpPr>
          <p:nvPr/>
        </p:nvSpPr>
        <p:spPr>
          <a:xfrm>
            <a:off x="2962656" y="2002536"/>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3" name="TextBox 22">
            <a:extLst>
              <a:ext uri="{FF2B5EF4-FFF2-40B4-BE49-F238E27FC236}">
                <a16:creationId xmlns:a16="http://schemas.microsoft.com/office/drawing/2014/main" id="{4E5A0FC6-C26E-4751-BECD-55061DFD488B}"/>
              </a:ext>
            </a:extLst>
          </p:cNvPr>
          <p:cNvSpPr>
            <a:spLocks noGrp="1"/>
          </p:cNvSpPr>
          <p:nvPr/>
        </p:nvSpPr>
        <p:spPr>
          <a:xfrm>
            <a:off x="3017520" y="2088242"/>
            <a:ext cx="1673352"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42</a:t>
            </a:r>
          </a:p>
        </p:txBody>
      </p:sp>
      <p:sp>
        <p:nvSpPr>
          <p:cNvPr id="24" name="Rectangle 23">
            <a:extLst>
              <a:ext uri="{FF2B5EF4-FFF2-40B4-BE49-F238E27FC236}">
                <a16:creationId xmlns:a16="http://schemas.microsoft.com/office/drawing/2014/main" id="{122610C6-2C6D-4137-856A-ADCF252BE042}"/>
              </a:ext>
            </a:extLst>
          </p:cNvPr>
          <p:cNvSpPr>
            <a:spLocks noGrp="1"/>
          </p:cNvSpPr>
          <p:nvPr/>
        </p:nvSpPr>
        <p:spPr>
          <a:xfrm>
            <a:off x="4745736" y="2002536"/>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5" name="TextBox 24">
            <a:extLst>
              <a:ext uri="{FF2B5EF4-FFF2-40B4-BE49-F238E27FC236}">
                <a16:creationId xmlns:a16="http://schemas.microsoft.com/office/drawing/2014/main" id="{1439ACC2-479D-4C90-893C-0002ED1C25E1}"/>
              </a:ext>
            </a:extLst>
          </p:cNvPr>
          <p:cNvSpPr>
            <a:spLocks noGrp="1"/>
          </p:cNvSpPr>
          <p:nvPr/>
        </p:nvSpPr>
        <p:spPr>
          <a:xfrm>
            <a:off x="4800600" y="2088242"/>
            <a:ext cx="1627631"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3</a:t>
            </a:r>
          </a:p>
        </p:txBody>
      </p:sp>
      <p:sp>
        <p:nvSpPr>
          <p:cNvPr id="26" name="Rectangle 25">
            <a:extLst>
              <a:ext uri="{FF2B5EF4-FFF2-40B4-BE49-F238E27FC236}">
                <a16:creationId xmlns:a16="http://schemas.microsoft.com/office/drawing/2014/main" id="{886BB4BB-75F2-44CC-B094-6ED5C81235BD}"/>
              </a:ext>
            </a:extLst>
          </p:cNvPr>
          <p:cNvSpPr>
            <a:spLocks noGrp="1"/>
          </p:cNvSpPr>
          <p:nvPr/>
        </p:nvSpPr>
        <p:spPr>
          <a:xfrm>
            <a:off x="6483096" y="2002536"/>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7" name="TextBox 26">
            <a:extLst>
              <a:ext uri="{FF2B5EF4-FFF2-40B4-BE49-F238E27FC236}">
                <a16:creationId xmlns:a16="http://schemas.microsoft.com/office/drawing/2014/main" id="{CFE88007-9F11-43FB-9F24-36F53E4392CE}"/>
              </a:ext>
            </a:extLst>
          </p:cNvPr>
          <p:cNvSpPr>
            <a:spLocks noGrp="1"/>
          </p:cNvSpPr>
          <p:nvPr/>
        </p:nvSpPr>
        <p:spPr>
          <a:xfrm>
            <a:off x="6537959" y="2088242"/>
            <a:ext cx="941831"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3</a:t>
            </a:r>
          </a:p>
        </p:txBody>
      </p:sp>
      <p:sp>
        <p:nvSpPr>
          <p:cNvPr id="28" name="Rectangle 27">
            <a:extLst>
              <a:ext uri="{FF2B5EF4-FFF2-40B4-BE49-F238E27FC236}">
                <a16:creationId xmlns:a16="http://schemas.microsoft.com/office/drawing/2014/main" id="{23630290-8779-4B2F-AD33-5149BC6CDF6E}"/>
              </a:ext>
            </a:extLst>
          </p:cNvPr>
          <p:cNvSpPr>
            <a:spLocks noGrp="1"/>
          </p:cNvSpPr>
          <p:nvPr/>
        </p:nvSpPr>
        <p:spPr>
          <a:xfrm>
            <a:off x="7534656" y="2002536"/>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2EDF97C9-0354-4B07-A4C6-2F050E03F8AA}"/>
              </a:ext>
            </a:extLst>
          </p:cNvPr>
          <p:cNvSpPr>
            <a:spLocks noGrp="1"/>
          </p:cNvSpPr>
          <p:nvPr/>
        </p:nvSpPr>
        <p:spPr>
          <a:xfrm>
            <a:off x="7589520" y="2088242"/>
            <a:ext cx="1883664"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39</a:t>
            </a:r>
          </a:p>
        </p:txBody>
      </p:sp>
      <p:sp>
        <p:nvSpPr>
          <p:cNvPr id="30" name="Rectangle 29">
            <a:extLst>
              <a:ext uri="{FF2B5EF4-FFF2-40B4-BE49-F238E27FC236}">
                <a16:creationId xmlns:a16="http://schemas.microsoft.com/office/drawing/2014/main" id="{4DE06070-690D-4830-83CC-82280097316C}"/>
              </a:ext>
            </a:extLst>
          </p:cNvPr>
          <p:cNvSpPr>
            <a:spLocks noGrp="1"/>
          </p:cNvSpPr>
          <p:nvPr/>
        </p:nvSpPr>
        <p:spPr>
          <a:xfrm>
            <a:off x="9528048" y="2002536"/>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1" name="TextBox 30">
            <a:extLst>
              <a:ext uri="{FF2B5EF4-FFF2-40B4-BE49-F238E27FC236}">
                <a16:creationId xmlns:a16="http://schemas.microsoft.com/office/drawing/2014/main" id="{578C1C25-CD6C-4E34-8EE4-5E6F10E82749}"/>
              </a:ext>
            </a:extLst>
          </p:cNvPr>
          <p:cNvSpPr>
            <a:spLocks noGrp="1"/>
          </p:cNvSpPr>
          <p:nvPr/>
        </p:nvSpPr>
        <p:spPr>
          <a:xfrm>
            <a:off x="9582912" y="2088242"/>
            <a:ext cx="2011679"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33</a:t>
            </a:r>
          </a:p>
        </p:txBody>
      </p:sp>
      <p:sp>
        <p:nvSpPr>
          <p:cNvPr id="32" name="Rectangle 31">
            <a:extLst>
              <a:ext uri="{FF2B5EF4-FFF2-40B4-BE49-F238E27FC236}">
                <a16:creationId xmlns:a16="http://schemas.microsoft.com/office/drawing/2014/main" id="{804D1610-9C5B-4FD7-8130-BF8BADB69243}"/>
              </a:ext>
            </a:extLst>
          </p:cNvPr>
          <p:cNvSpPr>
            <a:spLocks noGrp="1"/>
          </p:cNvSpPr>
          <p:nvPr/>
        </p:nvSpPr>
        <p:spPr>
          <a:xfrm>
            <a:off x="539496" y="2395728"/>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3" name="TextBox 32">
            <a:extLst>
              <a:ext uri="{FF2B5EF4-FFF2-40B4-BE49-F238E27FC236}">
                <a16:creationId xmlns:a16="http://schemas.microsoft.com/office/drawing/2014/main" id="{F83D7EA7-8AED-43F7-A1B1-A5F30CF7C087}"/>
              </a:ext>
            </a:extLst>
          </p:cNvPr>
          <p:cNvSpPr>
            <a:spLocks noGrp="1"/>
          </p:cNvSpPr>
          <p:nvPr/>
        </p:nvSpPr>
        <p:spPr>
          <a:xfrm>
            <a:off x="594359" y="2481435"/>
            <a:ext cx="987552"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ROSMAP</a:t>
            </a:r>
          </a:p>
        </p:txBody>
      </p:sp>
      <p:sp>
        <p:nvSpPr>
          <p:cNvPr id="34" name="Rectangle 33">
            <a:extLst>
              <a:ext uri="{FF2B5EF4-FFF2-40B4-BE49-F238E27FC236}">
                <a16:creationId xmlns:a16="http://schemas.microsoft.com/office/drawing/2014/main" id="{19EDD134-00F2-45E1-8DCD-826B665128AF}"/>
              </a:ext>
            </a:extLst>
          </p:cNvPr>
          <p:cNvSpPr>
            <a:spLocks noGrp="1"/>
          </p:cNvSpPr>
          <p:nvPr/>
        </p:nvSpPr>
        <p:spPr>
          <a:xfrm>
            <a:off x="1636776" y="2395728"/>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5" name="TextBox 34">
            <a:extLst>
              <a:ext uri="{FF2B5EF4-FFF2-40B4-BE49-F238E27FC236}">
                <a16:creationId xmlns:a16="http://schemas.microsoft.com/office/drawing/2014/main" id="{C497DD64-91DD-48B9-8116-AE97391206A8}"/>
              </a:ext>
            </a:extLst>
          </p:cNvPr>
          <p:cNvSpPr>
            <a:spLocks noGrp="1"/>
          </p:cNvSpPr>
          <p:nvPr/>
        </p:nvSpPr>
        <p:spPr>
          <a:xfrm>
            <a:off x="1691640" y="2481435"/>
            <a:ext cx="1216152"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5</a:t>
            </a:r>
          </a:p>
        </p:txBody>
      </p:sp>
      <p:sp>
        <p:nvSpPr>
          <p:cNvPr id="36" name="Rectangle 35">
            <a:extLst>
              <a:ext uri="{FF2B5EF4-FFF2-40B4-BE49-F238E27FC236}">
                <a16:creationId xmlns:a16="http://schemas.microsoft.com/office/drawing/2014/main" id="{20914F76-E133-4AC1-AB59-37058FAF554A}"/>
              </a:ext>
            </a:extLst>
          </p:cNvPr>
          <p:cNvSpPr>
            <a:spLocks noGrp="1"/>
          </p:cNvSpPr>
          <p:nvPr/>
        </p:nvSpPr>
        <p:spPr>
          <a:xfrm>
            <a:off x="2962656" y="2395728"/>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7" name="TextBox 36">
            <a:extLst>
              <a:ext uri="{FF2B5EF4-FFF2-40B4-BE49-F238E27FC236}">
                <a16:creationId xmlns:a16="http://schemas.microsoft.com/office/drawing/2014/main" id="{95DBCBC1-9641-4DE6-BC15-8AA9EB9A396F}"/>
              </a:ext>
            </a:extLst>
          </p:cNvPr>
          <p:cNvSpPr>
            <a:spLocks noGrp="1"/>
          </p:cNvSpPr>
          <p:nvPr/>
        </p:nvSpPr>
        <p:spPr>
          <a:xfrm>
            <a:off x="3017520" y="2481435"/>
            <a:ext cx="1673352"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42</a:t>
            </a:r>
          </a:p>
        </p:txBody>
      </p:sp>
      <p:sp>
        <p:nvSpPr>
          <p:cNvPr id="38" name="Rectangle 37">
            <a:extLst>
              <a:ext uri="{FF2B5EF4-FFF2-40B4-BE49-F238E27FC236}">
                <a16:creationId xmlns:a16="http://schemas.microsoft.com/office/drawing/2014/main" id="{C9B812D0-B598-4433-AAED-20B87A1D1276}"/>
              </a:ext>
            </a:extLst>
          </p:cNvPr>
          <p:cNvSpPr>
            <a:spLocks noGrp="1"/>
          </p:cNvSpPr>
          <p:nvPr/>
        </p:nvSpPr>
        <p:spPr>
          <a:xfrm>
            <a:off x="4745736" y="2395728"/>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9" name="TextBox 38">
            <a:extLst>
              <a:ext uri="{FF2B5EF4-FFF2-40B4-BE49-F238E27FC236}">
                <a16:creationId xmlns:a16="http://schemas.microsoft.com/office/drawing/2014/main" id="{C40DB664-36A0-49EA-A597-6E474A473288}"/>
              </a:ext>
            </a:extLst>
          </p:cNvPr>
          <p:cNvSpPr>
            <a:spLocks noGrp="1"/>
          </p:cNvSpPr>
          <p:nvPr/>
        </p:nvSpPr>
        <p:spPr>
          <a:xfrm>
            <a:off x="4800600" y="2481435"/>
            <a:ext cx="1627631"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2</a:t>
            </a:r>
          </a:p>
        </p:txBody>
      </p:sp>
      <p:sp>
        <p:nvSpPr>
          <p:cNvPr id="40" name="Rectangle 39">
            <a:extLst>
              <a:ext uri="{FF2B5EF4-FFF2-40B4-BE49-F238E27FC236}">
                <a16:creationId xmlns:a16="http://schemas.microsoft.com/office/drawing/2014/main" id="{18F4D892-8CA3-4475-A46B-92B4555BD2C6}"/>
              </a:ext>
            </a:extLst>
          </p:cNvPr>
          <p:cNvSpPr>
            <a:spLocks noGrp="1"/>
          </p:cNvSpPr>
          <p:nvPr/>
        </p:nvSpPr>
        <p:spPr>
          <a:xfrm>
            <a:off x="6483096" y="2395728"/>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1" name="TextBox 40">
            <a:extLst>
              <a:ext uri="{FF2B5EF4-FFF2-40B4-BE49-F238E27FC236}">
                <a16:creationId xmlns:a16="http://schemas.microsoft.com/office/drawing/2014/main" id="{5E3A204D-645F-4C6C-997E-A3DB840608C6}"/>
              </a:ext>
            </a:extLst>
          </p:cNvPr>
          <p:cNvSpPr>
            <a:spLocks noGrp="1"/>
          </p:cNvSpPr>
          <p:nvPr/>
        </p:nvSpPr>
        <p:spPr>
          <a:xfrm>
            <a:off x="6537959" y="2481435"/>
            <a:ext cx="941831"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2</a:t>
            </a:r>
          </a:p>
        </p:txBody>
      </p:sp>
      <p:sp>
        <p:nvSpPr>
          <p:cNvPr id="42" name="Rectangle 41">
            <a:extLst>
              <a:ext uri="{FF2B5EF4-FFF2-40B4-BE49-F238E27FC236}">
                <a16:creationId xmlns:a16="http://schemas.microsoft.com/office/drawing/2014/main" id="{35C81979-5638-477F-ADA7-488666135604}"/>
              </a:ext>
            </a:extLst>
          </p:cNvPr>
          <p:cNvSpPr>
            <a:spLocks noGrp="1"/>
          </p:cNvSpPr>
          <p:nvPr/>
        </p:nvSpPr>
        <p:spPr>
          <a:xfrm>
            <a:off x="7534656" y="2395728"/>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3" name="TextBox 42">
            <a:extLst>
              <a:ext uri="{FF2B5EF4-FFF2-40B4-BE49-F238E27FC236}">
                <a16:creationId xmlns:a16="http://schemas.microsoft.com/office/drawing/2014/main" id="{925855F0-86CB-4389-B25C-BF8BD95DBD88}"/>
              </a:ext>
            </a:extLst>
          </p:cNvPr>
          <p:cNvSpPr>
            <a:spLocks noGrp="1"/>
          </p:cNvSpPr>
          <p:nvPr/>
        </p:nvSpPr>
        <p:spPr>
          <a:xfrm>
            <a:off x="7589520" y="2481435"/>
            <a:ext cx="1883664"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30</a:t>
            </a:r>
          </a:p>
        </p:txBody>
      </p:sp>
      <p:sp>
        <p:nvSpPr>
          <p:cNvPr id="44" name="Rectangle 43">
            <a:extLst>
              <a:ext uri="{FF2B5EF4-FFF2-40B4-BE49-F238E27FC236}">
                <a16:creationId xmlns:a16="http://schemas.microsoft.com/office/drawing/2014/main" id="{FD9B350F-32C3-4455-AEC0-3F92CDD013E6}"/>
              </a:ext>
            </a:extLst>
          </p:cNvPr>
          <p:cNvSpPr>
            <a:spLocks noGrp="1"/>
          </p:cNvSpPr>
          <p:nvPr/>
        </p:nvSpPr>
        <p:spPr>
          <a:xfrm>
            <a:off x="9528048" y="2395728"/>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5" name="TextBox 44">
            <a:extLst>
              <a:ext uri="{FF2B5EF4-FFF2-40B4-BE49-F238E27FC236}">
                <a16:creationId xmlns:a16="http://schemas.microsoft.com/office/drawing/2014/main" id="{237BCF17-C9A8-4506-80D6-0D10808064D3}"/>
              </a:ext>
            </a:extLst>
          </p:cNvPr>
          <p:cNvSpPr>
            <a:spLocks noGrp="1"/>
          </p:cNvSpPr>
          <p:nvPr/>
        </p:nvSpPr>
        <p:spPr>
          <a:xfrm>
            <a:off x="9582912" y="2481435"/>
            <a:ext cx="2011679"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24</a:t>
            </a:r>
          </a:p>
        </p:txBody>
      </p:sp>
      <p:sp>
        <p:nvSpPr>
          <p:cNvPr id="46" name="Rectangle 45">
            <a:extLst>
              <a:ext uri="{FF2B5EF4-FFF2-40B4-BE49-F238E27FC236}">
                <a16:creationId xmlns:a16="http://schemas.microsoft.com/office/drawing/2014/main" id="{0F97C6E0-1551-4802-A9E6-E73DBCBB5A01}"/>
              </a:ext>
            </a:extLst>
          </p:cNvPr>
          <p:cNvSpPr>
            <a:spLocks noGrp="1"/>
          </p:cNvSpPr>
          <p:nvPr/>
        </p:nvSpPr>
        <p:spPr>
          <a:xfrm>
            <a:off x="539496" y="2788920"/>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7" name="TextBox 46">
            <a:extLst>
              <a:ext uri="{FF2B5EF4-FFF2-40B4-BE49-F238E27FC236}">
                <a16:creationId xmlns:a16="http://schemas.microsoft.com/office/drawing/2014/main" id="{84701F44-EE12-4A73-A25C-5F4355D800D5}"/>
              </a:ext>
            </a:extLst>
          </p:cNvPr>
          <p:cNvSpPr>
            <a:spLocks noGrp="1"/>
          </p:cNvSpPr>
          <p:nvPr/>
        </p:nvSpPr>
        <p:spPr>
          <a:xfrm>
            <a:off x="594359" y="2874626"/>
            <a:ext cx="987552"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ROSMAP</a:t>
            </a:r>
          </a:p>
        </p:txBody>
      </p:sp>
      <p:sp>
        <p:nvSpPr>
          <p:cNvPr id="48" name="Rectangle 47">
            <a:extLst>
              <a:ext uri="{FF2B5EF4-FFF2-40B4-BE49-F238E27FC236}">
                <a16:creationId xmlns:a16="http://schemas.microsoft.com/office/drawing/2014/main" id="{28548E9D-ED00-4F16-A055-8F5DE74C1A8B}"/>
              </a:ext>
            </a:extLst>
          </p:cNvPr>
          <p:cNvSpPr>
            <a:spLocks noGrp="1"/>
          </p:cNvSpPr>
          <p:nvPr/>
        </p:nvSpPr>
        <p:spPr>
          <a:xfrm>
            <a:off x="1636776" y="2788920"/>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9" name="TextBox 48">
            <a:extLst>
              <a:ext uri="{FF2B5EF4-FFF2-40B4-BE49-F238E27FC236}">
                <a16:creationId xmlns:a16="http://schemas.microsoft.com/office/drawing/2014/main" id="{A936383A-B632-46E8-91B5-3F0601DDB4C7}"/>
              </a:ext>
            </a:extLst>
          </p:cNvPr>
          <p:cNvSpPr>
            <a:spLocks noGrp="1"/>
          </p:cNvSpPr>
          <p:nvPr/>
        </p:nvSpPr>
        <p:spPr>
          <a:xfrm>
            <a:off x="1691640" y="2874626"/>
            <a:ext cx="1216152"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10</a:t>
            </a:r>
          </a:p>
        </p:txBody>
      </p:sp>
      <p:sp>
        <p:nvSpPr>
          <p:cNvPr id="50" name="Rectangle 49">
            <a:extLst>
              <a:ext uri="{FF2B5EF4-FFF2-40B4-BE49-F238E27FC236}">
                <a16:creationId xmlns:a16="http://schemas.microsoft.com/office/drawing/2014/main" id="{EA19B3D5-AA6E-4A30-9E95-E99657189CF1}"/>
              </a:ext>
            </a:extLst>
          </p:cNvPr>
          <p:cNvSpPr>
            <a:spLocks noGrp="1"/>
          </p:cNvSpPr>
          <p:nvPr/>
        </p:nvSpPr>
        <p:spPr>
          <a:xfrm>
            <a:off x="2962656" y="2788920"/>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1" name="TextBox 50">
            <a:extLst>
              <a:ext uri="{FF2B5EF4-FFF2-40B4-BE49-F238E27FC236}">
                <a16:creationId xmlns:a16="http://schemas.microsoft.com/office/drawing/2014/main" id="{CAFF7E6B-2C26-4B54-A63B-C90184CB09D8}"/>
              </a:ext>
            </a:extLst>
          </p:cNvPr>
          <p:cNvSpPr>
            <a:spLocks noGrp="1"/>
          </p:cNvSpPr>
          <p:nvPr/>
        </p:nvSpPr>
        <p:spPr>
          <a:xfrm>
            <a:off x="3017520" y="2874626"/>
            <a:ext cx="1673352"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42</a:t>
            </a:r>
          </a:p>
        </p:txBody>
      </p:sp>
      <p:sp>
        <p:nvSpPr>
          <p:cNvPr id="52" name="Rectangle 51">
            <a:extLst>
              <a:ext uri="{FF2B5EF4-FFF2-40B4-BE49-F238E27FC236}">
                <a16:creationId xmlns:a16="http://schemas.microsoft.com/office/drawing/2014/main" id="{8B8949AA-FC80-4EC5-90C7-EEA6DF3A4418}"/>
              </a:ext>
            </a:extLst>
          </p:cNvPr>
          <p:cNvSpPr>
            <a:spLocks noGrp="1"/>
          </p:cNvSpPr>
          <p:nvPr/>
        </p:nvSpPr>
        <p:spPr>
          <a:xfrm>
            <a:off x="4745736" y="2788920"/>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3" name="TextBox 52">
            <a:extLst>
              <a:ext uri="{FF2B5EF4-FFF2-40B4-BE49-F238E27FC236}">
                <a16:creationId xmlns:a16="http://schemas.microsoft.com/office/drawing/2014/main" id="{F9792C74-559C-425D-AAAC-2CC93BDB174E}"/>
              </a:ext>
            </a:extLst>
          </p:cNvPr>
          <p:cNvSpPr>
            <a:spLocks noGrp="1"/>
          </p:cNvSpPr>
          <p:nvPr/>
        </p:nvSpPr>
        <p:spPr>
          <a:xfrm>
            <a:off x="4800600" y="2874626"/>
            <a:ext cx="1627631"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1</a:t>
            </a:r>
          </a:p>
        </p:txBody>
      </p:sp>
      <p:sp>
        <p:nvSpPr>
          <p:cNvPr id="54" name="Rectangle 53">
            <a:extLst>
              <a:ext uri="{FF2B5EF4-FFF2-40B4-BE49-F238E27FC236}">
                <a16:creationId xmlns:a16="http://schemas.microsoft.com/office/drawing/2014/main" id="{2EB586EB-D0C2-485F-9AFB-6D17D8B88C27}"/>
              </a:ext>
            </a:extLst>
          </p:cNvPr>
          <p:cNvSpPr>
            <a:spLocks noGrp="1"/>
          </p:cNvSpPr>
          <p:nvPr/>
        </p:nvSpPr>
        <p:spPr>
          <a:xfrm>
            <a:off x="6483096" y="2788920"/>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5" name="TextBox 54">
            <a:extLst>
              <a:ext uri="{FF2B5EF4-FFF2-40B4-BE49-F238E27FC236}">
                <a16:creationId xmlns:a16="http://schemas.microsoft.com/office/drawing/2014/main" id="{ED13A0EC-ABB2-4F0F-A8A6-839D68D41170}"/>
              </a:ext>
            </a:extLst>
          </p:cNvPr>
          <p:cNvSpPr>
            <a:spLocks noGrp="1"/>
          </p:cNvSpPr>
          <p:nvPr/>
        </p:nvSpPr>
        <p:spPr>
          <a:xfrm>
            <a:off x="6537959" y="2874626"/>
            <a:ext cx="941831"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1</a:t>
            </a:r>
          </a:p>
        </p:txBody>
      </p:sp>
      <p:sp>
        <p:nvSpPr>
          <p:cNvPr id="56" name="Rectangle 55">
            <a:extLst>
              <a:ext uri="{FF2B5EF4-FFF2-40B4-BE49-F238E27FC236}">
                <a16:creationId xmlns:a16="http://schemas.microsoft.com/office/drawing/2014/main" id="{107F0442-1287-49F4-A1F4-8D354E6BD4F4}"/>
              </a:ext>
            </a:extLst>
          </p:cNvPr>
          <p:cNvSpPr>
            <a:spLocks noGrp="1"/>
          </p:cNvSpPr>
          <p:nvPr/>
        </p:nvSpPr>
        <p:spPr>
          <a:xfrm>
            <a:off x="7534656" y="2788920"/>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7" name="TextBox 56">
            <a:extLst>
              <a:ext uri="{FF2B5EF4-FFF2-40B4-BE49-F238E27FC236}">
                <a16:creationId xmlns:a16="http://schemas.microsoft.com/office/drawing/2014/main" id="{3A07734F-7D74-40DE-8E06-4FAEC85A256B}"/>
              </a:ext>
            </a:extLst>
          </p:cNvPr>
          <p:cNvSpPr>
            <a:spLocks noGrp="1"/>
          </p:cNvSpPr>
          <p:nvPr/>
        </p:nvSpPr>
        <p:spPr>
          <a:xfrm>
            <a:off x="7589520" y="2874626"/>
            <a:ext cx="1883664"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26</a:t>
            </a:r>
          </a:p>
        </p:txBody>
      </p:sp>
      <p:sp>
        <p:nvSpPr>
          <p:cNvPr id="58" name="Rectangle 57">
            <a:extLst>
              <a:ext uri="{FF2B5EF4-FFF2-40B4-BE49-F238E27FC236}">
                <a16:creationId xmlns:a16="http://schemas.microsoft.com/office/drawing/2014/main" id="{30FBA4E5-0FE7-4017-8028-66D55A5606CF}"/>
              </a:ext>
            </a:extLst>
          </p:cNvPr>
          <p:cNvSpPr>
            <a:spLocks noGrp="1"/>
          </p:cNvSpPr>
          <p:nvPr/>
        </p:nvSpPr>
        <p:spPr>
          <a:xfrm>
            <a:off x="9528048" y="2788920"/>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9" name="TextBox 58">
            <a:extLst>
              <a:ext uri="{FF2B5EF4-FFF2-40B4-BE49-F238E27FC236}">
                <a16:creationId xmlns:a16="http://schemas.microsoft.com/office/drawing/2014/main" id="{D279E0D5-1036-42CC-BF1F-69A9CE730BFB}"/>
              </a:ext>
            </a:extLst>
          </p:cNvPr>
          <p:cNvSpPr>
            <a:spLocks noGrp="1"/>
          </p:cNvSpPr>
          <p:nvPr/>
        </p:nvSpPr>
        <p:spPr>
          <a:xfrm>
            <a:off x="9582912" y="2874626"/>
            <a:ext cx="2011679"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20</a:t>
            </a:r>
          </a:p>
        </p:txBody>
      </p:sp>
      <p:sp>
        <p:nvSpPr>
          <p:cNvPr id="60" name="Rectangle 59">
            <a:extLst>
              <a:ext uri="{FF2B5EF4-FFF2-40B4-BE49-F238E27FC236}">
                <a16:creationId xmlns:a16="http://schemas.microsoft.com/office/drawing/2014/main" id="{19AD8C2D-7991-495E-95A3-32C2C0A52A21}"/>
              </a:ext>
            </a:extLst>
          </p:cNvPr>
          <p:cNvSpPr>
            <a:spLocks noGrp="1"/>
          </p:cNvSpPr>
          <p:nvPr/>
        </p:nvSpPr>
        <p:spPr>
          <a:xfrm>
            <a:off x="539496" y="3182112"/>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1" name="TextBox 60">
            <a:extLst>
              <a:ext uri="{FF2B5EF4-FFF2-40B4-BE49-F238E27FC236}">
                <a16:creationId xmlns:a16="http://schemas.microsoft.com/office/drawing/2014/main" id="{75509312-0444-4E4A-ADAE-680E466DBB89}"/>
              </a:ext>
            </a:extLst>
          </p:cNvPr>
          <p:cNvSpPr>
            <a:spLocks noGrp="1"/>
          </p:cNvSpPr>
          <p:nvPr/>
        </p:nvSpPr>
        <p:spPr>
          <a:xfrm>
            <a:off x="594359" y="3267819"/>
            <a:ext cx="987552"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ROSMAP</a:t>
            </a:r>
          </a:p>
        </p:txBody>
      </p:sp>
      <p:sp>
        <p:nvSpPr>
          <p:cNvPr id="62" name="Rectangle 61">
            <a:extLst>
              <a:ext uri="{FF2B5EF4-FFF2-40B4-BE49-F238E27FC236}">
                <a16:creationId xmlns:a16="http://schemas.microsoft.com/office/drawing/2014/main" id="{7C3B803B-3CCD-4A08-8B2F-237DFE5E2685}"/>
              </a:ext>
            </a:extLst>
          </p:cNvPr>
          <p:cNvSpPr>
            <a:spLocks noGrp="1"/>
          </p:cNvSpPr>
          <p:nvPr/>
        </p:nvSpPr>
        <p:spPr>
          <a:xfrm>
            <a:off x="1636776" y="3182112"/>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3" name="TextBox 62">
            <a:extLst>
              <a:ext uri="{FF2B5EF4-FFF2-40B4-BE49-F238E27FC236}">
                <a16:creationId xmlns:a16="http://schemas.microsoft.com/office/drawing/2014/main" id="{6794C97F-CF5D-4773-9D68-D26379DFF207}"/>
              </a:ext>
            </a:extLst>
          </p:cNvPr>
          <p:cNvSpPr>
            <a:spLocks noGrp="1"/>
          </p:cNvSpPr>
          <p:nvPr/>
        </p:nvSpPr>
        <p:spPr>
          <a:xfrm>
            <a:off x="1691640" y="3267819"/>
            <a:ext cx="1216152"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20</a:t>
            </a:r>
          </a:p>
        </p:txBody>
      </p:sp>
      <p:sp>
        <p:nvSpPr>
          <p:cNvPr id="64" name="Rectangle 63">
            <a:extLst>
              <a:ext uri="{FF2B5EF4-FFF2-40B4-BE49-F238E27FC236}">
                <a16:creationId xmlns:a16="http://schemas.microsoft.com/office/drawing/2014/main" id="{81916FA4-3DAF-4412-A2EA-98391C09369A}"/>
              </a:ext>
            </a:extLst>
          </p:cNvPr>
          <p:cNvSpPr>
            <a:spLocks noGrp="1"/>
          </p:cNvSpPr>
          <p:nvPr/>
        </p:nvSpPr>
        <p:spPr>
          <a:xfrm>
            <a:off x="2962656" y="3182112"/>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5" name="TextBox 64">
            <a:extLst>
              <a:ext uri="{FF2B5EF4-FFF2-40B4-BE49-F238E27FC236}">
                <a16:creationId xmlns:a16="http://schemas.microsoft.com/office/drawing/2014/main" id="{A6C0AAAC-00B3-4483-B047-8C33BCFC7229}"/>
              </a:ext>
            </a:extLst>
          </p:cNvPr>
          <p:cNvSpPr>
            <a:spLocks noGrp="1"/>
          </p:cNvSpPr>
          <p:nvPr/>
        </p:nvSpPr>
        <p:spPr>
          <a:xfrm>
            <a:off x="3017520" y="3267819"/>
            <a:ext cx="1673352"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42</a:t>
            </a:r>
          </a:p>
        </p:txBody>
      </p:sp>
      <p:sp>
        <p:nvSpPr>
          <p:cNvPr id="66" name="Rectangle 65">
            <a:extLst>
              <a:ext uri="{FF2B5EF4-FFF2-40B4-BE49-F238E27FC236}">
                <a16:creationId xmlns:a16="http://schemas.microsoft.com/office/drawing/2014/main" id="{BD6853DB-C69A-4BA6-BB39-3C25991D1671}"/>
              </a:ext>
            </a:extLst>
          </p:cNvPr>
          <p:cNvSpPr>
            <a:spLocks noGrp="1"/>
          </p:cNvSpPr>
          <p:nvPr/>
        </p:nvSpPr>
        <p:spPr>
          <a:xfrm>
            <a:off x="4745736" y="3182112"/>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7" name="TextBox 66">
            <a:extLst>
              <a:ext uri="{FF2B5EF4-FFF2-40B4-BE49-F238E27FC236}">
                <a16:creationId xmlns:a16="http://schemas.microsoft.com/office/drawing/2014/main" id="{2E7C74BE-33C0-41AC-B551-E87F41A09C38}"/>
              </a:ext>
            </a:extLst>
          </p:cNvPr>
          <p:cNvSpPr>
            <a:spLocks noGrp="1"/>
          </p:cNvSpPr>
          <p:nvPr/>
        </p:nvSpPr>
        <p:spPr>
          <a:xfrm>
            <a:off x="4800600" y="3267819"/>
            <a:ext cx="1627631"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1</a:t>
            </a:r>
          </a:p>
        </p:txBody>
      </p:sp>
      <p:sp>
        <p:nvSpPr>
          <p:cNvPr id="68" name="Rectangle 67">
            <a:extLst>
              <a:ext uri="{FF2B5EF4-FFF2-40B4-BE49-F238E27FC236}">
                <a16:creationId xmlns:a16="http://schemas.microsoft.com/office/drawing/2014/main" id="{9895C023-0529-4A69-8EDC-D93C9F7A1B6B}"/>
              </a:ext>
            </a:extLst>
          </p:cNvPr>
          <p:cNvSpPr>
            <a:spLocks noGrp="1"/>
          </p:cNvSpPr>
          <p:nvPr/>
        </p:nvSpPr>
        <p:spPr>
          <a:xfrm>
            <a:off x="6483096" y="3182112"/>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9" name="TextBox 68">
            <a:extLst>
              <a:ext uri="{FF2B5EF4-FFF2-40B4-BE49-F238E27FC236}">
                <a16:creationId xmlns:a16="http://schemas.microsoft.com/office/drawing/2014/main" id="{886E7A43-3C3C-4673-8AEB-D18EB8052010}"/>
              </a:ext>
            </a:extLst>
          </p:cNvPr>
          <p:cNvSpPr>
            <a:spLocks noGrp="1"/>
          </p:cNvSpPr>
          <p:nvPr/>
        </p:nvSpPr>
        <p:spPr>
          <a:xfrm>
            <a:off x="6537959" y="3267819"/>
            <a:ext cx="941831"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1</a:t>
            </a:r>
          </a:p>
        </p:txBody>
      </p:sp>
      <p:sp>
        <p:nvSpPr>
          <p:cNvPr id="70" name="Rectangle 69">
            <a:extLst>
              <a:ext uri="{FF2B5EF4-FFF2-40B4-BE49-F238E27FC236}">
                <a16:creationId xmlns:a16="http://schemas.microsoft.com/office/drawing/2014/main" id="{0840AB6E-9D27-462C-BA2F-C8EEE14925D4}"/>
              </a:ext>
            </a:extLst>
          </p:cNvPr>
          <p:cNvSpPr>
            <a:spLocks noGrp="1"/>
          </p:cNvSpPr>
          <p:nvPr/>
        </p:nvSpPr>
        <p:spPr>
          <a:xfrm>
            <a:off x="7534656" y="3182112"/>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1" name="TextBox 70">
            <a:extLst>
              <a:ext uri="{FF2B5EF4-FFF2-40B4-BE49-F238E27FC236}">
                <a16:creationId xmlns:a16="http://schemas.microsoft.com/office/drawing/2014/main" id="{128453EB-7BA7-4568-958C-92330FA22676}"/>
              </a:ext>
            </a:extLst>
          </p:cNvPr>
          <p:cNvSpPr>
            <a:spLocks noGrp="1"/>
          </p:cNvSpPr>
          <p:nvPr/>
        </p:nvSpPr>
        <p:spPr>
          <a:xfrm>
            <a:off x="7589520" y="3267819"/>
            <a:ext cx="1883664"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26</a:t>
            </a:r>
          </a:p>
        </p:txBody>
      </p:sp>
      <p:sp>
        <p:nvSpPr>
          <p:cNvPr id="72" name="Rectangle 71">
            <a:extLst>
              <a:ext uri="{FF2B5EF4-FFF2-40B4-BE49-F238E27FC236}">
                <a16:creationId xmlns:a16="http://schemas.microsoft.com/office/drawing/2014/main" id="{281708DF-076A-497F-89C4-58AD44B2AADE}"/>
              </a:ext>
            </a:extLst>
          </p:cNvPr>
          <p:cNvSpPr>
            <a:spLocks noGrp="1"/>
          </p:cNvSpPr>
          <p:nvPr/>
        </p:nvSpPr>
        <p:spPr>
          <a:xfrm>
            <a:off x="9528048" y="3182112"/>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3" name="TextBox 72">
            <a:extLst>
              <a:ext uri="{FF2B5EF4-FFF2-40B4-BE49-F238E27FC236}">
                <a16:creationId xmlns:a16="http://schemas.microsoft.com/office/drawing/2014/main" id="{0FE44145-AA80-4A8A-B986-3177B8935C73}"/>
              </a:ext>
            </a:extLst>
          </p:cNvPr>
          <p:cNvSpPr>
            <a:spLocks noGrp="1"/>
          </p:cNvSpPr>
          <p:nvPr/>
        </p:nvSpPr>
        <p:spPr>
          <a:xfrm>
            <a:off x="9582912" y="3267819"/>
            <a:ext cx="2011679"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20</a:t>
            </a:r>
          </a:p>
        </p:txBody>
      </p:sp>
      <p:sp>
        <p:nvSpPr>
          <p:cNvPr id="74" name="Rectangle 73">
            <a:extLst>
              <a:ext uri="{FF2B5EF4-FFF2-40B4-BE49-F238E27FC236}">
                <a16:creationId xmlns:a16="http://schemas.microsoft.com/office/drawing/2014/main" id="{418FC3C3-518C-4751-B409-1CC1D7F1C700}"/>
              </a:ext>
            </a:extLst>
          </p:cNvPr>
          <p:cNvSpPr>
            <a:spLocks noGrp="1"/>
          </p:cNvSpPr>
          <p:nvPr/>
        </p:nvSpPr>
        <p:spPr>
          <a:xfrm>
            <a:off x="539496" y="3575304"/>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5" name="TextBox 74">
            <a:extLst>
              <a:ext uri="{FF2B5EF4-FFF2-40B4-BE49-F238E27FC236}">
                <a16:creationId xmlns:a16="http://schemas.microsoft.com/office/drawing/2014/main" id="{C2CBFC71-271C-4E43-8FCA-F47D24DE7E97}"/>
              </a:ext>
            </a:extLst>
          </p:cNvPr>
          <p:cNvSpPr>
            <a:spLocks noGrp="1"/>
          </p:cNvSpPr>
          <p:nvPr/>
        </p:nvSpPr>
        <p:spPr>
          <a:xfrm>
            <a:off x="594359" y="3661011"/>
            <a:ext cx="987552"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ROSMAP</a:t>
            </a:r>
          </a:p>
        </p:txBody>
      </p:sp>
      <p:sp>
        <p:nvSpPr>
          <p:cNvPr id="76" name="Rectangle 75">
            <a:extLst>
              <a:ext uri="{FF2B5EF4-FFF2-40B4-BE49-F238E27FC236}">
                <a16:creationId xmlns:a16="http://schemas.microsoft.com/office/drawing/2014/main" id="{927D5DDB-A136-4884-B3CA-4640E9EF73EE}"/>
              </a:ext>
            </a:extLst>
          </p:cNvPr>
          <p:cNvSpPr>
            <a:spLocks noGrp="1"/>
          </p:cNvSpPr>
          <p:nvPr/>
        </p:nvSpPr>
        <p:spPr>
          <a:xfrm>
            <a:off x="1636776" y="3575304"/>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7" name="TextBox 76">
            <a:extLst>
              <a:ext uri="{FF2B5EF4-FFF2-40B4-BE49-F238E27FC236}">
                <a16:creationId xmlns:a16="http://schemas.microsoft.com/office/drawing/2014/main" id="{5B9A1903-BB45-48E9-B6AC-78FE87D8AF2D}"/>
              </a:ext>
            </a:extLst>
          </p:cNvPr>
          <p:cNvSpPr>
            <a:spLocks noGrp="1"/>
          </p:cNvSpPr>
          <p:nvPr/>
        </p:nvSpPr>
        <p:spPr>
          <a:xfrm>
            <a:off x="1691640" y="3661011"/>
            <a:ext cx="1216152"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30</a:t>
            </a:r>
          </a:p>
        </p:txBody>
      </p:sp>
      <p:sp>
        <p:nvSpPr>
          <p:cNvPr id="78" name="Rectangle 77">
            <a:extLst>
              <a:ext uri="{FF2B5EF4-FFF2-40B4-BE49-F238E27FC236}">
                <a16:creationId xmlns:a16="http://schemas.microsoft.com/office/drawing/2014/main" id="{F96CDBAE-AEEA-4D19-A6E4-FB8FF514DC91}"/>
              </a:ext>
            </a:extLst>
          </p:cNvPr>
          <p:cNvSpPr>
            <a:spLocks noGrp="1"/>
          </p:cNvSpPr>
          <p:nvPr/>
        </p:nvSpPr>
        <p:spPr>
          <a:xfrm>
            <a:off x="2962656" y="3575304"/>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9" name="TextBox 78">
            <a:extLst>
              <a:ext uri="{FF2B5EF4-FFF2-40B4-BE49-F238E27FC236}">
                <a16:creationId xmlns:a16="http://schemas.microsoft.com/office/drawing/2014/main" id="{0992729A-2836-4F48-A890-687566185401}"/>
              </a:ext>
            </a:extLst>
          </p:cNvPr>
          <p:cNvSpPr>
            <a:spLocks noGrp="1"/>
          </p:cNvSpPr>
          <p:nvPr/>
        </p:nvSpPr>
        <p:spPr>
          <a:xfrm>
            <a:off x="3017520" y="3661011"/>
            <a:ext cx="1673352"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42</a:t>
            </a:r>
          </a:p>
        </p:txBody>
      </p:sp>
      <p:sp>
        <p:nvSpPr>
          <p:cNvPr id="80" name="Rectangle 79">
            <a:extLst>
              <a:ext uri="{FF2B5EF4-FFF2-40B4-BE49-F238E27FC236}">
                <a16:creationId xmlns:a16="http://schemas.microsoft.com/office/drawing/2014/main" id="{518F1605-E39A-456C-AEEF-587D4FA8D0EA}"/>
              </a:ext>
            </a:extLst>
          </p:cNvPr>
          <p:cNvSpPr>
            <a:spLocks noGrp="1"/>
          </p:cNvSpPr>
          <p:nvPr/>
        </p:nvSpPr>
        <p:spPr>
          <a:xfrm>
            <a:off x="4745736" y="3575304"/>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1" name="TextBox 80">
            <a:extLst>
              <a:ext uri="{FF2B5EF4-FFF2-40B4-BE49-F238E27FC236}">
                <a16:creationId xmlns:a16="http://schemas.microsoft.com/office/drawing/2014/main" id="{B9B2F867-5920-4E3A-8064-A36E6AAB6D8D}"/>
              </a:ext>
            </a:extLst>
          </p:cNvPr>
          <p:cNvSpPr>
            <a:spLocks noGrp="1"/>
          </p:cNvSpPr>
          <p:nvPr/>
        </p:nvSpPr>
        <p:spPr>
          <a:xfrm>
            <a:off x="4800600" y="3661011"/>
            <a:ext cx="1627631"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1</a:t>
            </a:r>
          </a:p>
        </p:txBody>
      </p:sp>
      <p:sp>
        <p:nvSpPr>
          <p:cNvPr id="82" name="Rectangle 81">
            <a:extLst>
              <a:ext uri="{FF2B5EF4-FFF2-40B4-BE49-F238E27FC236}">
                <a16:creationId xmlns:a16="http://schemas.microsoft.com/office/drawing/2014/main" id="{87835A37-E4AC-4373-83F4-1CC28D30C43F}"/>
              </a:ext>
            </a:extLst>
          </p:cNvPr>
          <p:cNvSpPr>
            <a:spLocks noGrp="1"/>
          </p:cNvSpPr>
          <p:nvPr/>
        </p:nvSpPr>
        <p:spPr>
          <a:xfrm>
            <a:off x="6483096" y="3575304"/>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3" name="TextBox 82">
            <a:extLst>
              <a:ext uri="{FF2B5EF4-FFF2-40B4-BE49-F238E27FC236}">
                <a16:creationId xmlns:a16="http://schemas.microsoft.com/office/drawing/2014/main" id="{078B3459-8EE8-4416-AE6D-C5493D006692}"/>
              </a:ext>
            </a:extLst>
          </p:cNvPr>
          <p:cNvSpPr>
            <a:spLocks noGrp="1"/>
          </p:cNvSpPr>
          <p:nvPr/>
        </p:nvSpPr>
        <p:spPr>
          <a:xfrm>
            <a:off x="6537959" y="3661011"/>
            <a:ext cx="941831"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1</a:t>
            </a:r>
          </a:p>
        </p:txBody>
      </p:sp>
      <p:sp>
        <p:nvSpPr>
          <p:cNvPr id="84" name="Rectangle 83">
            <a:extLst>
              <a:ext uri="{FF2B5EF4-FFF2-40B4-BE49-F238E27FC236}">
                <a16:creationId xmlns:a16="http://schemas.microsoft.com/office/drawing/2014/main" id="{31067DB4-7FEA-4BB7-A056-C54C265C5F72}"/>
              </a:ext>
            </a:extLst>
          </p:cNvPr>
          <p:cNvSpPr>
            <a:spLocks noGrp="1"/>
          </p:cNvSpPr>
          <p:nvPr/>
        </p:nvSpPr>
        <p:spPr>
          <a:xfrm>
            <a:off x="7534656" y="3575304"/>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5" name="TextBox 84">
            <a:extLst>
              <a:ext uri="{FF2B5EF4-FFF2-40B4-BE49-F238E27FC236}">
                <a16:creationId xmlns:a16="http://schemas.microsoft.com/office/drawing/2014/main" id="{0923E753-F0A2-426C-9A1E-1BB6CA4CBBE7}"/>
              </a:ext>
            </a:extLst>
          </p:cNvPr>
          <p:cNvSpPr>
            <a:spLocks noGrp="1"/>
          </p:cNvSpPr>
          <p:nvPr/>
        </p:nvSpPr>
        <p:spPr>
          <a:xfrm>
            <a:off x="7589520" y="3661011"/>
            <a:ext cx="1883664"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26</a:t>
            </a:r>
          </a:p>
        </p:txBody>
      </p:sp>
      <p:sp>
        <p:nvSpPr>
          <p:cNvPr id="86" name="Rectangle 85">
            <a:extLst>
              <a:ext uri="{FF2B5EF4-FFF2-40B4-BE49-F238E27FC236}">
                <a16:creationId xmlns:a16="http://schemas.microsoft.com/office/drawing/2014/main" id="{073C3899-D771-4070-89B7-3B11B08D223C}"/>
              </a:ext>
            </a:extLst>
          </p:cNvPr>
          <p:cNvSpPr>
            <a:spLocks noGrp="1"/>
          </p:cNvSpPr>
          <p:nvPr/>
        </p:nvSpPr>
        <p:spPr>
          <a:xfrm>
            <a:off x="9528048" y="3575304"/>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7" name="TextBox 86">
            <a:extLst>
              <a:ext uri="{FF2B5EF4-FFF2-40B4-BE49-F238E27FC236}">
                <a16:creationId xmlns:a16="http://schemas.microsoft.com/office/drawing/2014/main" id="{072364D5-419A-4128-8EF8-4B2DD89475B8}"/>
              </a:ext>
            </a:extLst>
          </p:cNvPr>
          <p:cNvSpPr>
            <a:spLocks noGrp="1"/>
          </p:cNvSpPr>
          <p:nvPr/>
        </p:nvSpPr>
        <p:spPr>
          <a:xfrm>
            <a:off x="9582912" y="3661011"/>
            <a:ext cx="2011679"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20</a:t>
            </a:r>
          </a:p>
        </p:txBody>
      </p:sp>
      <p:sp>
        <p:nvSpPr>
          <p:cNvPr id="88" name="Rectangle 87">
            <a:extLst>
              <a:ext uri="{FF2B5EF4-FFF2-40B4-BE49-F238E27FC236}">
                <a16:creationId xmlns:a16="http://schemas.microsoft.com/office/drawing/2014/main" id="{952C059B-41D4-4E68-849E-705C14FA845F}"/>
              </a:ext>
            </a:extLst>
          </p:cNvPr>
          <p:cNvSpPr>
            <a:spLocks noGrp="1"/>
          </p:cNvSpPr>
          <p:nvPr/>
        </p:nvSpPr>
        <p:spPr>
          <a:xfrm>
            <a:off x="539496" y="3968496"/>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9" name="TextBox 88">
            <a:extLst>
              <a:ext uri="{FF2B5EF4-FFF2-40B4-BE49-F238E27FC236}">
                <a16:creationId xmlns:a16="http://schemas.microsoft.com/office/drawing/2014/main" id="{2F217F5C-7F8A-489E-BAC2-59937561C65B}"/>
              </a:ext>
            </a:extLst>
          </p:cNvPr>
          <p:cNvSpPr>
            <a:spLocks noGrp="1"/>
          </p:cNvSpPr>
          <p:nvPr/>
        </p:nvSpPr>
        <p:spPr>
          <a:xfrm>
            <a:off x="594359" y="4054202"/>
            <a:ext cx="987552"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SEA-AD</a:t>
            </a:r>
          </a:p>
        </p:txBody>
      </p:sp>
      <p:sp>
        <p:nvSpPr>
          <p:cNvPr id="90" name="Rectangle 89">
            <a:extLst>
              <a:ext uri="{FF2B5EF4-FFF2-40B4-BE49-F238E27FC236}">
                <a16:creationId xmlns:a16="http://schemas.microsoft.com/office/drawing/2014/main" id="{F902DB61-06CF-4EE7-BC09-D9269A46952B}"/>
              </a:ext>
            </a:extLst>
          </p:cNvPr>
          <p:cNvSpPr>
            <a:spLocks noGrp="1"/>
          </p:cNvSpPr>
          <p:nvPr/>
        </p:nvSpPr>
        <p:spPr>
          <a:xfrm>
            <a:off x="1636776" y="3968496"/>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1" name="TextBox 90">
            <a:extLst>
              <a:ext uri="{FF2B5EF4-FFF2-40B4-BE49-F238E27FC236}">
                <a16:creationId xmlns:a16="http://schemas.microsoft.com/office/drawing/2014/main" id="{F677374C-7057-47F5-A7C0-23AEF067428B}"/>
              </a:ext>
            </a:extLst>
          </p:cNvPr>
          <p:cNvSpPr>
            <a:spLocks noGrp="1"/>
          </p:cNvSpPr>
          <p:nvPr/>
        </p:nvSpPr>
        <p:spPr>
          <a:xfrm>
            <a:off x="1691640" y="4054202"/>
            <a:ext cx="1216152"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3</a:t>
            </a:r>
          </a:p>
        </p:txBody>
      </p:sp>
      <p:sp>
        <p:nvSpPr>
          <p:cNvPr id="92" name="Rectangle 91">
            <a:extLst>
              <a:ext uri="{FF2B5EF4-FFF2-40B4-BE49-F238E27FC236}">
                <a16:creationId xmlns:a16="http://schemas.microsoft.com/office/drawing/2014/main" id="{72E285BF-91B4-4980-9B93-CDDDB006037B}"/>
              </a:ext>
            </a:extLst>
          </p:cNvPr>
          <p:cNvSpPr>
            <a:spLocks noGrp="1"/>
          </p:cNvSpPr>
          <p:nvPr/>
        </p:nvSpPr>
        <p:spPr>
          <a:xfrm>
            <a:off x="2962656" y="3968496"/>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3" name="TextBox 92">
            <a:extLst>
              <a:ext uri="{FF2B5EF4-FFF2-40B4-BE49-F238E27FC236}">
                <a16:creationId xmlns:a16="http://schemas.microsoft.com/office/drawing/2014/main" id="{66D588D2-C58A-4F74-BD35-D1DDB259CEF6}"/>
              </a:ext>
            </a:extLst>
          </p:cNvPr>
          <p:cNvSpPr>
            <a:spLocks noGrp="1"/>
          </p:cNvSpPr>
          <p:nvPr/>
        </p:nvSpPr>
        <p:spPr>
          <a:xfrm>
            <a:off x="3017520" y="4054202"/>
            <a:ext cx="1673352"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28</a:t>
            </a:r>
          </a:p>
        </p:txBody>
      </p:sp>
      <p:sp>
        <p:nvSpPr>
          <p:cNvPr id="94" name="Rectangle 93">
            <a:extLst>
              <a:ext uri="{FF2B5EF4-FFF2-40B4-BE49-F238E27FC236}">
                <a16:creationId xmlns:a16="http://schemas.microsoft.com/office/drawing/2014/main" id="{99B3C97B-7E09-4985-8907-DE9DE715BC51}"/>
              </a:ext>
            </a:extLst>
          </p:cNvPr>
          <p:cNvSpPr>
            <a:spLocks noGrp="1"/>
          </p:cNvSpPr>
          <p:nvPr/>
        </p:nvSpPr>
        <p:spPr>
          <a:xfrm>
            <a:off x="4745736" y="3968496"/>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5" name="TextBox 94">
            <a:extLst>
              <a:ext uri="{FF2B5EF4-FFF2-40B4-BE49-F238E27FC236}">
                <a16:creationId xmlns:a16="http://schemas.microsoft.com/office/drawing/2014/main" id="{B5F10E3A-AD32-4F42-9371-252446A87B7B}"/>
              </a:ext>
            </a:extLst>
          </p:cNvPr>
          <p:cNvSpPr>
            <a:spLocks noGrp="1"/>
          </p:cNvSpPr>
          <p:nvPr/>
        </p:nvSpPr>
        <p:spPr>
          <a:xfrm>
            <a:off x="4800600" y="4054202"/>
            <a:ext cx="1627631"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5</a:t>
            </a:r>
          </a:p>
        </p:txBody>
      </p:sp>
      <p:sp>
        <p:nvSpPr>
          <p:cNvPr id="96" name="Rectangle 95">
            <a:extLst>
              <a:ext uri="{FF2B5EF4-FFF2-40B4-BE49-F238E27FC236}">
                <a16:creationId xmlns:a16="http://schemas.microsoft.com/office/drawing/2014/main" id="{5A4E2C11-9412-456B-8F0D-C24D28401180}"/>
              </a:ext>
            </a:extLst>
          </p:cNvPr>
          <p:cNvSpPr>
            <a:spLocks noGrp="1"/>
          </p:cNvSpPr>
          <p:nvPr/>
        </p:nvSpPr>
        <p:spPr>
          <a:xfrm>
            <a:off x="6483096" y="3968496"/>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7" name="TextBox 96">
            <a:extLst>
              <a:ext uri="{FF2B5EF4-FFF2-40B4-BE49-F238E27FC236}">
                <a16:creationId xmlns:a16="http://schemas.microsoft.com/office/drawing/2014/main" id="{F54AB65E-5CD1-4E15-A933-97BDBCEC43AE}"/>
              </a:ext>
            </a:extLst>
          </p:cNvPr>
          <p:cNvSpPr>
            <a:spLocks noGrp="1"/>
          </p:cNvSpPr>
          <p:nvPr/>
        </p:nvSpPr>
        <p:spPr>
          <a:xfrm>
            <a:off x="6537959" y="4054202"/>
            <a:ext cx="941831"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5</a:t>
            </a:r>
          </a:p>
        </p:txBody>
      </p:sp>
      <p:sp>
        <p:nvSpPr>
          <p:cNvPr id="98" name="Rectangle 97">
            <a:extLst>
              <a:ext uri="{FF2B5EF4-FFF2-40B4-BE49-F238E27FC236}">
                <a16:creationId xmlns:a16="http://schemas.microsoft.com/office/drawing/2014/main" id="{6EB4FE67-939C-492F-815B-F0A5F47FA91A}"/>
              </a:ext>
            </a:extLst>
          </p:cNvPr>
          <p:cNvSpPr>
            <a:spLocks noGrp="1"/>
          </p:cNvSpPr>
          <p:nvPr/>
        </p:nvSpPr>
        <p:spPr>
          <a:xfrm>
            <a:off x="7534656" y="3968496"/>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9" name="TextBox 98">
            <a:extLst>
              <a:ext uri="{FF2B5EF4-FFF2-40B4-BE49-F238E27FC236}">
                <a16:creationId xmlns:a16="http://schemas.microsoft.com/office/drawing/2014/main" id="{E97C47D1-A072-4592-A0F2-C567D2393D06}"/>
              </a:ext>
            </a:extLst>
          </p:cNvPr>
          <p:cNvSpPr>
            <a:spLocks noGrp="1"/>
          </p:cNvSpPr>
          <p:nvPr/>
        </p:nvSpPr>
        <p:spPr>
          <a:xfrm>
            <a:off x="7589520" y="4054202"/>
            <a:ext cx="1883664"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24</a:t>
            </a:r>
          </a:p>
        </p:txBody>
      </p:sp>
      <p:sp>
        <p:nvSpPr>
          <p:cNvPr id="100" name="Rectangle 99">
            <a:extLst>
              <a:ext uri="{FF2B5EF4-FFF2-40B4-BE49-F238E27FC236}">
                <a16:creationId xmlns:a16="http://schemas.microsoft.com/office/drawing/2014/main" id="{0B6543D6-C062-4FA6-8820-EE39A76EB408}"/>
              </a:ext>
            </a:extLst>
          </p:cNvPr>
          <p:cNvSpPr>
            <a:spLocks noGrp="1"/>
          </p:cNvSpPr>
          <p:nvPr/>
        </p:nvSpPr>
        <p:spPr>
          <a:xfrm>
            <a:off x="9528048" y="3968496"/>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1" name="TextBox 100">
            <a:extLst>
              <a:ext uri="{FF2B5EF4-FFF2-40B4-BE49-F238E27FC236}">
                <a16:creationId xmlns:a16="http://schemas.microsoft.com/office/drawing/2014/main" id="{0B1575F2-085E-4EFB-ADFC-01542D964EDB}"/>
              </a:ext>
            </a:extLst>
          </p:cNvPr>
          <p:cNvSpPr>
            <a:spLocks noGrp="1"/>
          </p:cNvSpPr>
          <p:nvPr/>
        </p:nvSpPr>
        <p:spPr>
          <a:xfrm>
            <a:off x="9582912" y="4054202"/>
            <a:ext cx="2011679"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18</a:t>
            </a:r>
          </a:p>
        </p:txBody>
      </p:sp>
      <p:sp>
        <p:nvSpPr>
          <p:cNvPr id="102" name="Rectangle 101">
            <a:extLst>
              <a:ext uri="{FF2B5EF4-FFF2-40B4-BE49-F238E27FC236}">
                <a16:creationId xmlns:a16="http://schemas.microsoft.com/office/drawing/2014/main" id="{5B91EB37-DDC0-4F18-9471-0C4ACAEB45C3}"/>
              </a:ext>
            </a:extLst>
          </p:cNvPr>
          <p:cNvSpPr>
            <a:spLocks noGrp="1"/>
          </p:cNvSpPr>
          <p:nvPr/>
        </p:nvSpPr>
        <p:spPr>
          <a:xfrm>
            <a:off x="539496" y="4361688"/>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3" name="TextBox 102">
            <a:extLst>
              <a:ext uri="{FF2B5EF4-FFF2-40B4-BE49-F238E27FC236}">
                <a16:creationId xmlns:a16="http://schemas.microsoft.com/office/drawing/2014/main" id="{BA34D914-D38E-47B4-885F-85F8E45BF6A4}"/>
              </a:ext>
            </a:extLst>
          </p:cNvPr>
          <p:cNvSpPr>
            <a:spLocks noGrp="1"/>
          </p:cNvSpPr>
          <p:nvPr/>
        </p:nvSpPr>
        <p:spPr>
          <a:xfrm>
            <a:off x="594359" y="4447394"/>
            <a:ext cx="987552"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SEA-AD</a:t>
            </a:r>
          </a:p>
        </p:txBody>
      </p:sp>
      <p:sp>
        <p:nvSpPr>
          <p:cNvPr id="104" name="Rectangle 103">
            <a:extLst>
              <a:ext uri="{FF2B5EF4-FFF2-40B4-BE49-F238E27FC236}">
                <a16:creationId xmlns:a16="http://schemas.microsoft.com/office/drawing/2014/main" id="{B33A4BFC-7D42-4F7B-904F-40C0AAEDF159}"/>
              </a:ext>
            </a:extLst>
          </p:cNvPr>
          <p:cNvSpPr>
            <a:spLocks noGrp="1"/>
          </p:cNvSpPr>
          <p:nvPr/>
        </p:nvSpPr>
        <p:spPr>
          <a:xfrm>
            <a:off x="1636776" y="4361688"/>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5" name="TextBox 104">
            <a:extLst>
              <a:ext uri="{FF2B5EF4-FFF2-40B4-BE49-F238E27FC236}">
                <a16:creationId xmlns:a16="http://schemas.microsoft.com/office/drawing/2014/main" id="{1E2107B1-2656-4377-9715-7955E47336A4}"/>
              </a:ext>
            </a:extLst>
          </p:cNvPr>
          <p:cNvSpPr>
            <a:spLocks noGrp="1"/>
          </p:cNvSpPr>
          <p:nvPr/>
        </p:nvSpPr>
        <p:spPr>
          <a:xfrm>
            <a:off x="1691640" y="4447394"/>
            <a:ext cx="1216152"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5</a:t>
            </a:r>
          </a:p>
        </p:txBody>
      </p:sp>
      <p:sp>
        <p:nvSpPr>
          <p:cNvPr id="106" name="Rectangle 105">
            <a:extLst>
              <a:ext uri="{FF2B5EF4-FFF2-40B4-BE49-F238E27FC236}">
                <a16:creationId xmlns:a16="http://schemas.microsoft.com/office/drawing/2014/main" id="{A978462F-5206-4D6B-8BFB-B87ED251E488}"/>
              </a:ext>
            </a:extLst>
          </p:cNvPr>
          <p:cNvSpPr>
            <a:spLocks noGrp="1"/>
          </p:cNvSpPr>
          <p:nvPr/>
        </p:nvSpPr>
        <p:spPr>
          <a:xfrm>
            <a:off x="2962656" y="4361688"/>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7" name="TextBox 106">
            <a:extLst>
              <a:ext uri="{FF2B5EF4-FFF2-40B4-BE49-F238E27FC236}">
                <a16:creationId xmlns:a16="http://schemas.microsoft.com/office/drawing/2014/main" id="{1038FDBB-2DD8-43BE-9859-785D12375E6B}"/>
              </a:ext>
            </a:extLst>
          </p:cNvPr>
          <p:cNvSpPr>
            <a:spLocks noGrp="1"/>
          </p:cNvSpPr>
          <p:nvPr/>
        </p:nvSpPr>
        <p:spPr>
          <a:xfrm>
            <a:off x="3017520" y="4447394"/>
            <a:ext cx="1673352"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28</a:t>
            </a:r>
          </a:p>
        </p:txBody>
      </p:sp>
      <p:sp>
        <p:nvSpPr>
          <p:cNvPr id="108" name="Rectangle 107">
            <a:extLst>
              <a:ext uri="{FF2B5EF4-FFF2-40B4-BE49-F238E27FC236}">
                <a16:creationId xmlns:a16="http://schemas.microsoft.com/office/drawing/2014/main" id="{120005CA-D45D-4B3F-893B-312828447A58}"/>
              </a:ext>
            </a:extLst>
          </p:cNvPr>
          <p:cNvSpPr>
            <a:spLocks noGrp="1"/>
          </p:cNvSpPr>
          <p:nvPr/>
        </p:nvSpPr>
        <p:spPr>
          <a:xfrm>
            <a:off x="4745736" y="4361688"/>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9" name="TextBox 108">
            <a:extLst>
              <a:ext uri="{FF2B5EF4-FFF2-40B4-BE49-F238E27FC236}">
                <a16:creationId xmlns:a16="http://schemas.microsoft.com/office/drawing/2014/main" id="{8EFABEDA-52F4-4846-91ED-78BBB08D4C46}"/>
              </a:ext>
            </a:extLst>
          </p:cNvPr>
          <p:cNvSpPr>
            <a:spLocks noGrp="1"/>
          </p:cNvSpPr>
          <p:nvPr/>
        </p:nvSpPr>
        <p:spPr>
          <a:xfrm>
            <a:off x="4800600" y="4447394"/>
            <a:ext cx="1627631"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5</a:t>
            </a:r>
          </a:p>
        </p:txBody>
      </p:sp>
      <p:sp>
        <p:nvSpPr>
          <p:cNvPr id="110" name="Rectangle 109">
            <a:extLst>
              <a:ext uri="{FF2B5EF4-FFF2-40B4-BE49-F238E27FC236}">
                <a16:creationId xmlns:a16="http://schemas.microsoft.com/office/drawing/2014/main" id="{D2E52D41-83E5-4637-A1DE-5792FADADBB2}"/>
              </a:ext>
            </a:extLst>
          </p:cNvPr>
          <p:cNvSpPr>
            <a:spLocks noGrp="1"/>
          </p:cNvSpPr>
          <p:nvPr/>
        </p:nvSpPr>
        <p:spPr>
          <a:xfrm>
            <a:off x="6483096" y="4361688"/>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1" name="TextBox 110">
            <a:extLst>
              <a:ext uri="{FF2B5EF4-FFF2-40B4-BE49-F238E27FC236}">
                <a16:creationId xmlns:a16="http://schemas.microsoft.com/office/drawing/2014/main" id="{CD8EC12A-BE30-4E72-8EB5-5E873129DCB2}"/>
              </a:ext>
            </a:extLst>
          </p:cNvPr>
          <p:cNvSpPr>
            <a:spLocks noGrp="1"/>
          </p:cNvSpPr>
          <p:nvPr/>
        </p:nvSpPr>
        <p:spPr>
          <a:xfrm>
            <a:off x="6537959" y="4447394"/>
            <a:ext cx="941831"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5</a:t>
            </a:r>
          </a:p>
        </p:txBody>
      </p:sp>
      <p:sp>
        <p:nvSpPr>
          <p:cNvPr id="112" name="Rectangle 111">
            <a:extLst>
              <a:ext uri="{FF2B5EF4-FFF2-40B4-BE49-F238E27FC236}">
                <a16:creationId xmlns:a16="http://schemas.microsoft.com/office/drawing/2014/main" id="{0237321B-E474-4A78-9CF2-25A019D594A0}"/>
              </a:ext>
            </a:extLst>
          </p:cNvPr>
          <p:cNvSpPr>
            <a:spLocks noGrp="1"/>
          </p:cNvSpPr>
          <p:nvPr/>
        </p:nvSpPr>
        <p:spPr>
          <a:xfrm>
            <a:off x="7534656" y="4361688"/>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3" name="TextBox 112">
            <a:extLst>
              <a:ext uri="{FF2B5EF4-FFF2-40B4-BE49-F238E27FC236}">
                <a16:creationId xmlns:a16="http://schemas.microsoft.com/office/drawing/2014/main" id="{EA8DEF18-F978-4B45-B61E-EAF62232D547}"/>
              </a:ext>
            </a:extLst>
          </p:cNvPr>
          <p:cNvSpPr>
            <a:spLocks noGrp="1"/>
          </p:cNvSpPr>
          <p:nvPr/>
        </p:nvSpPr>
        <p:spPr>
          <a:xfrm>
            <a:off x="7589520" y="4447394"/>
            <a:ext cx="1883664"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24</a:t>
            </a:r>
          </a:p>
        </p:txBody>
      </p:sp>
      <p:sp>
        <p:nvSpPr>
          <p:cNvPr id="114" name="Rectangle 113">
            <a:extLst>
              <a:ext uri="{FF2B5EF4-FFF2-40B4-BE49-F238E27FC236}">
                <a16:creationId xmlns:a16="http://schemas.microsoft.com/office/drawing/2014/main" id="{B4ABD203-6884-47A5-85A7-2BD9B90CEAB5}"/>
              </a:ext>
            </a:extLst>
          </p:cNvPr>
          <p:cNvSpPr>
            <a:spLocks noGrp="1"/>
          </p:cNvSpPr>
          <p:nvPr/>
        </p:nvSpPr>
        <p:spPr>
          <a:xfrm>
            <a:off x="9528048" y="4361688"/>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5" name="TextBox 114">
            <a:extLst>
              <a:ext uri="{FF2B5EF4-FFF2-40B4-BE49-F238E27FC236}">
                <a16:creationId xmlns:a16="http://schemas.microsoft.com/office/drawing/2014/main" id="{70D19842-5723-41CB-8566-83B56CBBADA8}"/>
              </a:ext>
            </a:extLst>
          </p:cNvPr>
          <p:cNvSpPr>
            <a:spLocks noGrp="1"/>
          </p:cNvSpPr>
          <p:nvPr/>
        </p:nvSpPr>
        <p:spPr>
          <a:xfrm>
            <a:off x="9582912" y="4447394"/>
            <a:ext cx="2011679"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18</a:t>
            </a:r>
          </a:p>
        </p:txBody>
      </p:sp>
      <p:sp>
        <p:nvSpPr>
          <p:cNvPr id="116" name="Rectangle 115">
            <a:extLst>
              <a:ext uri="{FF2B5EF4-FFF2-40B4-BE49-F238E27FC236}">
                <a16:creationId xmlns:a16="http://schemas.microsoft.com/office/drawing/2014/main" id="{FB99DBB0-5235-463C-BE67-BDBD62E844FB}"/>
              </a:ext>
            </a:extLst>
          </p:cNvPr>
          <p:cNvSpPr>
            <a:spLocks noGrp="1"/>
          </p:cNvSpPr>
          <p:nvPr/>
        </p:nvSpPr>
        <p:spPr>
          <a:xfrm>
            <a:off x="539496" y="4754879"/>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7" name="TextBox 116">
            <a:extLst>
              <a:ext uri="{FF2B5EF4-FFF2-40B4-BE49-F238E27FC236}">
                <a16:creationId xmlns:a16="http://schemas.microsoft.com/office/drawing/2014/main" id="{A67ADCE6-DA5E-4E9A-A618-3CC89AEA3694}"/>
              </a:ext>
            </a:extLst>
          </p:cNvPr>
          <p:cNvSpPr>
            <a:spLocks noGrp="1"/>
          </p:cNvSpPr>
          <p:nvPr/>
        </p:nvSpPr>
        <p:spPr>
          <a:xfrm>
            <a:off x="594359" y="4840586"/>
            <a:ext cx="987552"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SEA-AD</a:t>
            </a:r>
          </a:p>
        </p:txBody>
      </p:sp>
      <p:sp>
        <p:nvSpPr>
          <p:cNvPr id="118" name="Rectangle 117">
            <a:extLst>
              <a:ext uri="{FF2B5EF4-FFF2-40B4-BE49-F238E27FC236}">
                <a16:creationId xmlns:a16="http://schemas.microsoft.com/office/drawing/2014/main" id="{174A0344-C9A4-4E03-A2F3-D42434999D8E}"/>
              </a:ext>
            </a:extLst>
          </p:cNvPr>
          <p:cNvSpPr>
            <a:spLocks noGrp="1"/>
          </p:cNvSpPr>
          <p:nvPr/>
        </p:nvSpPr>
        <p:spPr>
          <a:xfrm>
            <a:off x="1636776" y="4754879"/>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9" name="TextBox 118">
            <a:extLst>
              <a:ext uri="{FF2B5EF4-FFF2-40B4-BE49-F238E27FC236}">
                <a16:creationId xmlns:a16="http://schemas.microsoft.com/office/drawing/2014/main" id="{AE161817-B22E-4EE0-833B-7A9225A559C7}"/>
              </a:ext>
            </a:extLst>
          </p:cNvPr>
          <p:cNvSpPr>
            <a:spLocks noGrp="1"/>
          </p:cNvSpPr>
          <p:nvPr/>
        </p:nvSpPr>
        <p:spPr>
          <a:xfrm>
            <a:off x="1691640" y="4840586"/>
            <a:ext cx="1216152"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10</a:t>
            </a:r>
          </a:p>
        </p:txBody>
      </p:sp>
      <p:sp>
        <p:nvSpPr>
          <p:cNvPr id="120" name="Rectangle 119">
            <a:extLst>
              <a:ext uri="{FF2B5EF4-FFF2-40B4-BE49-F238E27FC236}">
                <a16:creationId xmlns:a16="http://schemas.microsoft.com/office/drawing/2014/main" id="{D6F0C7F6-D6EC-4371-AF96-7596965B6978}"/>
              </a:ext>
            </a:extLst>
          </p:cNvPr>
          <p:cNvSpPr>
            <a:spLocks noGrp="1"/>
          </p:cNvSpPr>
          <p:nvPr/>
        </p:nvSpPr>
        <p:spPr>
          <a:xfrm>
            <a:off x="2962656" y="4754879"/>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1" name="TextBox 120">
            <a:extLst>
              <a:ext uri="{FF2B5EF4-FFF2-40B4-BE49-F238E27FC236}">
                <a16:creationId xmlns:a16="http://schemas.microsoft.com/office/drawing/2014/main" id="{2927A733-40C4-4128-B692-8421E94E39A5}"/>
              </a:ext>
            </a:extLst>
          </p:cNvPr>
          <p:cNvSpPr>
            <a:spLocks noGrp="1"/>
          </p:cNvSpPr>
          <p:nvPr/>
        </p:nvSpPr>
        <p:spPr>
          <a:xfrm>
            <a:off x="3017520" y="4840586"/>
            <a:ext cx="1673352"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28</a:t>
            </a:r>
          </a:p>
        </p:txBody>
      </p:sp>
      <p:sp>
        <p:nvSpPr>
          <p:cNvPr id="122" name="Rectangle 121">
            <a:extLst>
              <a:ext uri="{FF2B5EF4-FFF2-40B4-BE49-F238E27FC236}">
                <a16:creationId xmlns:a16="http://schemas.microsoft.com/office/drawing/2014/main" id="{5FA7BB60-3D2C-470E-AA97-75247ECFCB67}"/>
              </a:ext>
            </a:extLst>
          </p:cNvPr>
          <p:cNvSpPr>
            <a:spLocks noGrp="1"/>
          </p:cNvSpPr>
          <p:nvPr/>
        </p:nvSpPr>
        <p:spPr>
          <a:xfrm>
            <a:off x="4745736" y="4754879"/>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3" name="TextBox 122">
            <a:extLst>
              <a:ext uri="{FF2B5EF4-FFF2-40B4-BE49-F238E27FC236}">
                <a16:creationId xmlns:a16="http://schemas.microsoft.com/office/drawing/2014/main" id="{1C40FB65-9679-4BB1-A27E-6592B78EB6FA}"/>
              </a:ext>
            </a:extLst>
          </p:cNvPr>
          <p:cNvSpPr>
            <a:spLocks noGrp="1"/>
          </p:cNvSpPr>
          <p:nvPr/>
        </p:nvSpPr>
        <p:spPr>
          <a:xfrm>
            <a:off x="4800600" y="4840586"/>
            <a:ext cx="1627631"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3</a:t>
            </a:r>
          </a:p>
        </p:txBody>
      </p:sp>
      <p:sp>
        <p:nvSpPr>
          <p:cNvPr id="124" name="Rectangle 123">
            <a:extLst>
              <a:ext uri="{FF2B5EF4-FFF2-40B4-BE49-F238E27FC236}">
                <a16:creationId xmlns:a16="http://schemas.microsoft.com/office/drawing/2014/main" id="{BD430CE1-BAF1-49D7-971F-05A2F578126C}"/>
              </a:ext>
            </a:extLst>
          </p:cNvPr>
          <p:cNvSpPr>
            <a:spLocks noGrp="1"/>
          </p:cNvSpPr>
          <p:nvPr/>
        </p:nvSpPr>
        <p:spPr>
          <a:xfrm>
            <a:off x="6483096" y="4754879"/>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5" name="TextBox 124">
            <a:extLst>
              <a:ext uri="{FF2B5EF4-FFF2-40B4-BE49-F238E27FC236}">
                <a16:creationId xmlns:a16="http://schemas.microsoft.com/office/drawing/2014/main" id="{270F0ADF-B1A3-4A2D-8749-D0C5118E07A5}"/>
              </a:ext>
            </a:extLst>
          </p:cNvPr>
          <p:cNvSpPr>
            <a:spLocks noGrp="1"/>
          </p:cNvSpPr>
          <p:nvPr/>
        </p:nvSpPr>
        <p:spPr>
          <a:xfrm>
            <a:off x="6537959" y="4840586"/>
            <a:ext cx="941831"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3</a:t>
            </a:r>
          </a:p>
        </p:txBody>
      </p:sp>
      <p:sp>
        <p:nvSpPr>
          <p:cNvPr id="126" name="Rectangle 125">
            <a:extLst>
              <a:ext uri="{FF2B5EF4-FFF2-40B4-BE49-F238E27FC236}">
                <a16:creationId xmlns:a16="http://schemas.microsoft.com/office/drawing/2014/main" id="{F236603D-2A6A-4472-8E5C-EDDED22CEB22}"/>
              </a:ext>
            </a:extLst>
          </p:cNvPr>
          <p:cNvSpPr>
            <a:spLocks noGrp="1"/>
          </p:cNvSpPr>
          <p:nvPr/>
        </p:nvSpPr>
        <p:spPr>
          <a:xfrm>
            <a:off x="7534656" y="4754879"/>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7" name="TextBox 126">
            <a:extLst>
              <a:ext uri="{FF2B5EF4-FFF2-40B4-BE49-F238E27FC236}">
                <a16:creationId xmlns:a16="http://schemas.microsoft.com/office/drawing/2014/main" id="{8113F2B4-22B9-4C78-8296-CCE11C97A6FA}"/>
              </a:ext>
            </a:extLst>
          </p:cNvPr>
          <p:cNvSpPr>
            <a:spLocks noGrp="1"/>
          </p:cNvSpPr>
          <p:nvPr/>
        </p:nvSpPr>
        <p:spPr>
          <a:xfrm>
            <a:off x="7589520" y="4840586"/>
            <a:ext cx="1883664"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8</a:t>
            </a:r>
          </a:p>
        </p:txBody>
      </p:sp>
      <p:sp>
        <p:nvSpPr>
          <p:cNvPr id="128" name="Rectangle 127">
            <a:extLst>
              <a:ext uri="{FF2B5EF4-FFF2-40B4-BE49-F238E27FC236}">
                <a16:creationId xmlns:a16="http://schemas.microsoft.com/office/drawing/2014/main" id="{F27D690A-CE2F-4B05-AD17-A27266B55A39}"/>
              </a:ext>
            </a:extLst>
          </p:cNvPr>
          <p:cNvSpPr>
            <a:spLocks noGrp="1"/>
          </p:cNvSpPr>
          <p:nvPr/>
        </p:nvSpPr>
        <p:spPr>
          <a:xfrm>
            <a:off x="9528048" y="4754879"/>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9" name="TextBox 128">
            <a:extLst>
              <a:ext uri="{FF2B5EF4-FFF2-40B4-BE49-F238E27FC236}">
                <a16:creationId xmlns:a16="http://schemas.microsoft.com/office/drawing/2014/main" id="{C4A5D840-07D0-4EC1-8F7D-C9783A6325D3}"/>
              </a:ext>
            </a:extLst>
          </p:cNvPr>
          <p:cNvSpPr>
            <a:spLocks noGrp="1"/>
          </p:cNvSpPr>
          <p:nvPr/>
        </p:nvSpPr>
        <p:spPr>
          <a:xfrm>
            <a:off x="9582912" y="4840586"/>
            <a:ext cx="2011679"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3</a:t>
            </a:r>
          </a:p>
        </p:txBody>
      </p:sp>
      <p:sp>
        <p:nvSpPr>
          <p:cNvPr id="130" name="Rectangle 129">
            <a:extLst>
              <a:ext uri="{FF2B5EF4-FFF2-40B4-BE49-F238E27FC236}">
                <a16:creationId xmlns:a16="http://schemas.microsoft.com/office/drawing/2014/main" id="{F3E8E601-9E78-4962-AC2C-302DE9F1B157}"/>
              </a:ext>
            </a:extLst>
          </p:cNvPr>
          <p:cNvSpPr>
            <a:spLocks noGrp="1"/>
          </p:cNvSpPr>
          <p:nvPr/>
        </p:nvSpPr>
        <p:spPr>
          <a:xfrm>
            <a:off x="539496" y="5148072"/>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1" name="TextBox 130">
            <a:extLst>
              <a:ext uri="{FF2B5EF4-FFF2-40B4-BE49-F238E27FC236}">
                <a16:creationId xmlns:a16="http://schemas.microsoft.com/office/drawing/2014/main" id="{91468D41-AF83-43FC-AACC-938B70E8C15A}"/>
              </a:ext>
            </a:extLst>
          </p:cNvPr>
          <p:cNvSpPr>
            <a:spLocks noGrp="1"/>
          </p:cNvSpPr>
          <p:nvPr/>
        </p:nvSpPr>
        <p:spPr>
          <a:xfrm>
            <a:off x="594359" y="5233779"/>
            <a:ext cx="987552"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SEA-AD</a:t>
            </a:r>
          </a:p>
        </p:txBody>
      </p:sp>
      <p:sp>
        <p:nvSpPr>
          <p:cNvPr id="132" name="Rectangle 131">
            <a:extLst>
              <a:ext uri="{FF2B5EF4-FFF2-40B4-BE49-F238E27FC236}">
                <a16:creationId xmlns:a16="http://schemas.microsoft.com/office/drawing/2014/main" id="{EB7E49AF-BC3E-4284-82A6-F2435A48E3CF}"/>
              </a:ext>
            </a:extLst>
          </p:cNvPr>
          <p:cNvSpPr>
            <a:spLocks noGrp="1"/>
          </p:cNvSpPr>
          <p:nvPr/>
        </p:nvSpPr>
        <p:spPr>
          <a:xfrm>
            <a:off x="1636776" y="5148072"/>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3" name="TextBox 132">
            <a:extLst>
              <a:ext uri="{FF2B5EF4-FFF2-40B4-BE49-F238E27FC236}">
                <a16:creationId xmlns:a16="http://schemas.microsoft.com/office/drawing/2014/main" id="{6D55FECA-02B6-4531-841F-42C8B2995D62}"/>
              </a:ext>
            </a:extLst>
          </p:cNvPr>
          <p:cNvSpPr>
            <a:spLocks noGrp="1"/>
          </p:cNvSpPr>
          <p:nvPr/>
        </p:nvSpPr>
        <p:spPr>
          <a:xfrm>
            <a:off x="1691640" y="5233779"/>
            <a:ext cx="1216152"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20</a:t>
            </a:r>
          </a:p>
        </p:txBody>
      </p:sp>
      <p:sp>
        <p:nvSpPr>
          <p:cNvPr id="134" name="Rectangle 133">
            <a:extLst>
              <a:ext uri="{FF2B5EF4-FFF2-40B4-BE49-F238E27FC236}">
                <a16:creationId xmlns:a16="http://schemas.microsoft.com/office/drawing/2014/main" id="{BE27EE3D-19E6-4A9B-B99B-72B4EEBF43A2}"/>
              </a:ext>
            </a:extLst>
          </p:cNvPr>
          <p:cNvSpPr>
            <a:spLocks noGrp="1"/>
          </p:cNvSpPr>
          <p:nvPr/>
        </p:nvSpPr>
        <p:spPr>
          <a:xfrm>
            <a:off x="2962656" y="5148072"/>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5" name="TextBox 134">
            <a:extLst>
              <a:ext uri="{FF2B5EF4-FFF2-40B4-BE49-F238E27FC236}">
                <a16:creationId xmlns:a16="http://schemas.microsoft.com/office/drawing/2014/main" id="{C6F33C06-695A-4A85-AA5F-5D30B2D1989C}"/>
              </a:ext>
            </a:extLst>
          </p:cNvPr>
          <p:cNvSpPr>
            <a:spLocks noGrp="1"/>
          </p:cNvSpPr>
          <p:nvPr/>
        </p:nvSpPr>
        <p:spPr>
          <a:xfrm>
            <a:off x="3017520" y="5233779"/>
            <a:ext cx="1673352"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28</a:t>
            </a:r>
          </a:p>
        </p:txBody>
      </p:sp>
      <p:sp>
        <p:nvSpPr>
          <p:cNvPr id="136" name="Rectangle 135">
            <a:extLst>
              <a:ext uri="{FF2B5EF4-FFF2-40B4-BE49-F238E27FC236}">
                <a16:creationId xmlns:a16="http://schemas.microsoft.com/office/drawing/2014/main" id="{218870A9-A634-4AEE-994D-B77E9BC87EC1}"/>
              </a:ext>
            </a:extLst>
          </p:cNvPr>
          <p:cNvSpPr>
            <a:spLocks noGrp="1"/>
          </p:cNvSpPr>
          <p:nvPr/>
        </p:nvSpPr>
        <p:spPr>
          <a:xfrm>
            <a:off x="4745736" y="5148072"/>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7" name="TextBox 136">
            <a:extLst>
              <a:ext uri="{FF2B5EF4-FFF2-40B4-BE49-F238E27FC236}">
                <a16:creationId xmlns:a16="http://schemas.microsoft.com/office/drawing/2014/main" id="{7335227D-596D-4F4C-8BA1-A14CBF0125EE}"/>
              </a:ext>
            </a:extLst>
          </p:cNvPr>
          <p:cNvSpPr>
            <a:spLocks noGrp="1"/>
          </p:cNvSpPr>
          <p:nvPr/>
        </p:nvSpPr>
        <p:spPr>
          <a:xfrm>
            <a:off x="4800600" y="5233779"/>
            <a:ext cx="1627631"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3</a:t>
            </a:r>
          </a:p>
        </p:txBody>
      </p:sp>
      <p:sp>
        <p:nvSpPr>
          <p:cNvPr id="138" name="Rectangle 137">
            <a:extLst>
              <a:ext uri="{FF2B5EF4-FFF2-40B4-BE49-F238E27FC236}">
                <a16:creationId xmlns:a16="http://schemas.microsoft.com/office/drawing/2014/main" id="{FF3FDDEE-7E9C-4C7F-9780-1250EB398AC3}"/>
              </a:ext>
            </a:extLst>
          </p:cNvPr>
          <p:cNvSpPr>
            <a:spLocks noGrp="1"/>
          </p:cNvSpPr>
          <p:nvPr/>
        </p:nvSpPr>
        <p:spPr>
          <a:xfrm>
            <a:off x="6483096" y="5148072"/>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9" name="TextBox 138">
            <a:extLst>
              <a:ext uri="{FF2B5EF4-FFF2-40B4-BE49-F238E27FC236}">
                <a16:creationId xmlns:a16="http://schemas.microsoft.com/office/drawing/2014/main" id="{7B41ABE7-C898-4D84-9726-ABA7BCFB0EBB}"/>
              </a:ext>
            </a:extLst>
          </p:cNvPr>
          <p:cNvSpPr>
            <a:spLocks noGrp="1"/>
          </p:cNvSpPr>
          <p:nvPr/>
        </p:nvSpPr>
        <p:spPr>
          <a:xfrm>
            <a:off x="6537959" y="5233779"/>
            <a:ext cx="941831"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3</a:t>
            </a:r>
          </a:p>
        </p:txBody>
      </p:sp>
      <p:sp>
        <p:nvSpPr>
          <p:cNvPr id="140" name="Rectangle 139">
            <a:extLst>
              <a:ext uri="{FF2B5EF4-FFF2-40B4-BE49-F238E27FC236}">
                <a16:creationId xmlns:a16="http://schemas.microsoft.com/office/drawing/2014/main" id="{4C10B616-1D1E-49CD-82F3-79B1AFD9FBEE}"/>
              </a:ext>
            </a:extLst>
          </p:cNvPr>
          <p:cNvSpPr>
            <a:spLocks noGrp="1"/>
          </p:cNvSpPr>
          <p:nvPr/>
        </p:nvSpPr>
        <p:spPr>
          <a:xfrm>
            <a:off x="7534656" y="5148072"/>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1" name="TextBox 140">
            <a:extLst>
              <a:ext uri="{FF2B5EF4-FFF2-40B4-BE49-F238E27FC236}">
                <a16:creationId xmlns:a16="http://schemas.microsoft.com/office/drawing/2014/main" id="{0C7B774C-F7F0-4D7E-AFE6-BC4D42F50A5B}"/>
              </a:ext>
            </a:extLst>
          </p:cNvPr>
          <p:cNvSpPr>
            <a:spLocks noGrp="1"/>
          </p:cNvSpPr>
          <p:nvPr/>
        </p:nvSpPr>
        <p:spPr>
          <a:xfrm>
            <a:off x="7589520" y="5233779"/>
            <a:ext cx="1883664"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8</a:t>
            </a:r>
          </a:p>
        </p:txBody>
      </p:sp>
      <p:sp>
        <p:nvSpPr>
          <p:cNvPr id="142" name="Rectangle 141">
            <a:extLst>
              <a:ext uri="{FF2B5EF4-FFF2-40B4-BE49-F238E27FC236}">
                <a16:creationId xmlns:a16="http://schemas.microsoft.com/office/drawing/2014/main" id="{06E51B0F-B3CA-4848-800D-055C62D7D358}"/>
              </a:ext>
            </a:extLst>
          </p:cNvPr>
          <p:cNvSpPr>
            <a:spLocks noGrp="1"/>
          </p:cNvSpPr>
          <p:nvPr/>
        </p:nvSpPr>
        <p:spPr>
          <a:xfrm>
            <a:off x="9528048" y="5148072"/>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3" name="TextBox 142">
            <a:extLst>
              <a:ext uri="{FF2B5EF4-FFF2-40B4-BE49-F238E27FC236}">
                <a16:creationId xmlns:a16="http://schemas.microsoft.com/office/drawing/2014/main" id="{3E87654A-AA19-4504-BB1A-184F03A923DD}"/>
              </a:ext>
            </a:extLst>
          </p:cNvPr>
          <p:cNvSpPr>
            <a:spLocks noGrp="1"/>
          </p:cNvSpPr>
          <p:nvPr/>
        </p:nvSpPr>
        <p:spPr>
          <a:xfrm>
            <a:off x="9582912" y="5233779"/>
            <a:ext cx="2011679"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3</a:t>
            </a:r>
          </a:p>
        </p:txBody>
      </p:sp>
      <p:sp>
        <p:nvSpPr>
          <p:cNvPr id="144" name="Rectangle 143">
            <a:extLst>
              <a:ext uri="{FF2B5EF4-FFF2-40B4-BE49-F238E27FC236}">
                <a16:creationId xmlns:a16="http://schemas.microsoft.com/office/drawing/2014/main" id="{47973AE5-F7DD-4418-8193-35094A910C0A}"/>
              </a:ext>
            </a:extLst>
          </p:cNvPr>
          <p:cNvSpPr>
            <a:spLocks noGrp="1"/>
          </p:cNvSpPr>
          <p:nvPr/>
        </p:nvSpPr>
        <p:spPr>
          <a:xfrm>
            <a:off x="539496" y="5541264"/>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5" name="TextBox 144">
            <a:extLst>
              <a:ext uri="{FF2B5EF4-FFF2-40B4-BE49-F238E27FC236}">
                <a16:creationId xmlns:a16="http://schemas.microsoft.com/office/drawing/2014/main" id="{3D4495D7-AFED-499C-A57C-9AF9BC123ADE}"/>
              </a:ext>
            </a:extLst>
          </p:cNvPr>
          <p:cNvSpPr>
            <a:spLocks noGrp="1"/>
          </p:cNvSpPr>
          <p:nvPr/>
        </p:nvSpPr>
        <p:spPr>
          <a:xfrm>
            <a:off x="594359" y="5626971"/>
            <a:ext cx="987552"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SEA-AD</a:t>
            </a:r>
          </a:p>
        </p:txBody>
      </p:sp>
      <p:sp>
        <p:nvSpPr>
          <p:cNvPr id="146" name="Rectangle 145">
            <a:extLst>
              <a:ext uri="{FF2B5EF4-FFF2-40B4-BE49-F238E27FC236}">
                <a16:creationId xmlns:a16="http://schemas.microsoft.com/office/drawing/2014/main" id="{09764EF9-DC2E-480A-9A80-A060DA109A2D}"/>
              </a:ext>
            </a:extLst>
          </p:cNvPr>
          <p:cNvSpPr>
            <a:spLocks noGrp="1"/>
          </p:cNvSpPr>
          <p:nvPr/>
        </p:nvSpPr>
        <p:spPr>
          <a:xfrm>
            <a:off x="1636776" y="5541264"/>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7" name="TextBox 146">
            <a:extLst>
              <a:ext uri="{FF2B5EF4-FFF2-40B4-BE49-F238E27FC236}">
                <a16:creationId xmlns:a16="http://schemas.microsoft.com/office/drawing/2014/main" id="{1EE63A5B-74B5-4B0A-AFF1-69BC20C3C100}"/>
              </a:ext>
            </a:extLst>
          </p:cNvPr>
          <p:cNvSpPr>
            <a:spLocks noGrp="1"/>
          </p:cNvSpPr>
          <p:nvPr/>
        </p:nvSpPr>
        <p:spPr>
          <a:xfrm>
            <a:off x="1691640" y="5626971"/>
            <a:ext cx="1216152"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30</a:t>
            </a:r>
          </a:p>
        </p:txBody>
      </p:sp>
      <p:sp>
        <p:nvSpPr>
          <p:cNvPr id="148" name="Rectangle 147">
            <a:extLst>
              <a:ext uri="{FF2B5EF4-FFF2-40B4-BE49-F238E27FC236}">
                <a16:creationId xmlns:a16="http://schemas.microsoft.com/office/drawing/2014/main" id="{10817D56-AF8C-4DC9-B9C8-9350476003EC}"/>
              </a:ext>
            </a:extLst>
          </p:cNvPr>
          <p:cNvSpPr>
            <a:spLocks noGrp="1"/>
          </p:cNvSpPr>
          <p:nvPr/>
        </p:nvSpPr>
        <p:spPr>
          <a:xfrm>
            <a:off x="2962656" y="5541264"/>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9" name="TextBox 148">
            <a:extLst>
              <a:ext uri="{FF2B5EF4-FFF2-40B4-BE49-F238E27FC236}">
                <a16:creationId xmlns:a16="http://schemas.microsoft.com/office/drawing/2014/main" id="{2D29FFB0-72C0-46D5-936C-49C064A2E6B2}"/>
              </a:ext>
            </a:extLst>
          </p:cNvPr>
          <p:cNvSpPr>
            <a:spLocks noGrp="1"/>
          </p:cNvSpPr>
          <p:nvPr/>
        </p:nvSpPr>
        <p:spPr>
          <a:xfrm>
            <a:off x="3017520" y="5626971"/>
            <a:ext cx="1673352"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28</a:t>
            </a:r>
          </a:p>
        </p:txBody>
      </p:sp>
      <p:sp>
        <p:nvSpPr>
          <p:cNvPr id="150" name="Rectangle 149">
            <a:extLst>
              <a:ext uri="{FF2B5EF4-FFF2-40B4-BE49-F238E27FC236}">
                <a16:creationId xmlns:a16="http://schemas.microsoft.com/office/drawing/2014/main" id="{5115B694-0AC0-4143-B748-AC66F1AE640A}"/>
              </a:ext>
            </a:extLst>
          </p:cNvPr>
          <p:cNvSpPr>
            <a:spLocks noGrp="1"/>
          </p:cNvSpPr>
          <p:nvPr/>
        </p:nvSpPr>
        <p:spPr>
          <a:xfrm>
            <a:off x="4745736" y="5541264"/>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1" name="TextBox 150">
            <a:extLst>
              <a:ext uri="{FF2B5EF4-FFF2-40B4-BE49-F238E27FC236}">
                <a16:creationId xmlns:a16="http://schemas.microsoft.com/office/drawing/2014/main" id="{48B3C840-5E67-4ADF-B2C2-1F5642A589E2}"/>
              </a:ext>
            </a:extLst>
          </p:cNvPr>
          <p:cNvSpPr>
            <a:spLocks noGrp="1"/>
          </p:cNvSpPr>
          <p:nvPr/>
        </p:nvSpPr>
        <p:spPr>
          <a:xfrm>
            <a:off x="4800600" y="5626971"/>
            <a:ext cx="1627631"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2</a:t>
            </a:r>
          </a:p>
        </p:txBody>
      </p:sp>
      <p:sp>
        <p:nvSpPr>
          <p:cNvPr id="152" name="Rectangle 151">
            <a:extLst>
              <a:ext uri="{FF2B5EF4-FFF2-40B4-BE49-F238E27FC236}">
                <a16:creationId xmlns:a16="http://schemas.microsoft.com/office/drawing/2014/main" id="{1D63FB17-27DA-4AFF-B9F8-10F0949DF449}"/>
              </a:ext>
            </a:extLst>
          </p:cNvPr>
          <p:cNvSpPr>
            <a:spLocks noGrp="1"/>
          </p:cNvSpPr>
          <p:nvPr/>
        </p:nvSpPr>
        <p:spPr>
          <a:xfrm>
            <a:off x="6483096" y="5541264"/>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3" name="TextBox 152">
            <a:extLst>
              <a:ext uri="{FF2B5EF4-FFF2-40B4-BE49-F238E27FC236}">
                <a16:creationId xmlns:a16="http://schemas.microsoft.com/office/drawing/2014/main" id="{0AC90D80-EEFD-424C-B2E0-FA33E0C0FC6F}"/>
              </a:ext>
            </a:extLst>
          </p:cNvPr>
          <p:cNvSpPr>
            <a:spLocks noGrp="1"/>
          </p:cNvSpPr>
          <p:nvPr/>
        </p:nvSpPr>
        <p:spPr>
          <a:xfrm>
            <a:off x="6537959" y="5626971"/>
            <a:ext cx="941831"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2</a:t>
            </a:r>
          </a:p>
        </p:txBody>
      </p:sp>
      <p:sp>
        <p:nvSpPr>
          <p:cNvPr id="154" name="Rectangle 153">
            <a:extLst>
              <a:ext uri="{FF2B5EF4-FFF2-40B4-BE49-F238E27FC236}">
                <a16:creationId xmlns:a16="http://schemas.microsoft.com/office/drawing/2014/main" id="{1724C57B-88B0-4095-A226-693E2E0D1918}"/>
              </a:ext>
            </a:extLst>
          </p:cNvPr>
          <p:cNvSpPr>
            <a:spLocks noGrp="1"/>
          </p:cNvSpPr>
          <p:nvPr/>
        </p:nvSpPr>
        <p:spPr>
          <a:xfrm>
            <a:off x="7534656" y="5541264"/>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5" name="TextBox 154">
            <a:extLst>
              <a:ext uri="{FF2B5EF4-FFF2-40B4-BE49-F238E27FC236}">
                <a16:creationId xmlns:a16="http://schemas.microsoft.com/office/drawing/2014/main" id="{72314DD4-9DFA-4C30-A89B-F17F62F0A1EB}"/>
              </a:ext>
            </a:extLst>
          </p:cNvPr>
          <p:cNvSpPr>
            <a:spLocks noGrp="1"/>
          </p:cNvSpPr>
          <p:nvPr/>
        </p:nvSpPr>
        <p:spPr>
          <a:xfrm>
            <a:off x="7589520" y="5626971"/>
            <a:ext cx="1883664"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7</a:t>
            </a:r>
          </a:p>
        </p:txBody>
      </p:sp>
      <p:sp>
        <p:nvSpPr>
          <p:cNvPr id="156" name="Rectangle 155">
            <a:extLst>
              <a:ext uri="{FF2B5EF4-FFF2-40B4-BE49-F238E27FC236}">
                <a16:creationId xmlns:a16="http://schemas.microsoft.com/office/drawing/2014/main" id="{1F845FCC-B191-4EB7-B896-BF813DFA93A9}"/>
              </a:ext>
            </a:extLst>
          </p:cNvPr>
          <p:cNvSpPr>
            <a:spLocks noGrp="1"/>
          </p:cNvSpPr>
          <p:nvPr/>
        </p:nvSpPr>
        <p:spPr>
          <a:xfrm>
            <a:off x="9528048" y="5541264"/>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7" name="TextBox 156">
            <a:extLst>
              <a:ext uri="{FF2B5EF4-FFF2-40B4-BE49-F238E27FC236}">
                <a16:creationId xmlns:a16="http://schemas.microsoft.com/office/drawing/2014/main" id="{555F28BC-8CDB-4280-863D-086D12A3E3BD}"/>
              </a:ext>
            </a:extLst>
          </p:cNvPr>
          <p:cNvSpPr>
            <a:spLocks noGrp="1"/>
          </p:cNvSpPr>
          <p:nvPr/>
        </p:nvSpPr>
        <p:spPr>
          <a:xfrm>
            <a:off x="9582912" y="5626971"/>
            <a:ext cx="2011679" cy="240066"/>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200" b="0" i="0">
                <a:solidFill>
                  <a:srgbClr val="1F2730"/>
                </a:solidFill>
                <a:latin typeface="Arial"/>
                <a:ea typeface="Arial"/>
                <a:cs typeface="Arial"/>
              </a:rPr>
              <a:t>3</a:t>
            </a:r>
          </a:p>
        </p:txBody>
      </p:sp>
      <p:sp>
        <p:nvSpPr>
          <p:cNvPr id="158" name="TextBox 157">
            <a:extLst>
              <a:ext uri="{FF2B5EF4-FFF2-40B4-BE49-F238E27FC236}">
                <a16:creationId xmlns:a16="http://schemas.microsoft.com/office/drawing/2014/main" id="{91D95B2B-6A03-4120-A4B1-ECB0DF033B17}"/>
              </a:ext>
            </a:extLst>
          </p:cNvPr>
          <p:cNvSpPr>
            <a:spLocks noGrp="1"/>
          </p:cNvSpPr>
          <p:nvPr/>
        </p:nvSpPr>
        <p:spPr>
          <a:xfrm>
            <a:off x="613446" y="6107660"/>
            <a:ext cx="10927080" cy="24006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200" b="1" i="0">
                <a:solidFill>
                  <a:srgbClr val="4E5A68"/>
                </a:solidFill>
                <a:latin typeface="Arial"/>
                <a:ea typeface="Arial"/>
                <a:cs typeface="Arial"/>
              </a:rPr>
              <a:t>One query is used per contrast, so query-passing contrasts and KDA calls are identical here.</a:t>
            </a:r>
          </a:p>
        </p:txBody>
      </p:sp>
    </p:spTree>
    <p:extLst>
      <p:ext uri="{BB962C8B-B14F-4D97-AF65-F5344CB8AC3E}">
        <p14:creationId val="736324470"/>
      </p:ext>
    </p:extLst>
  </p:cSld>
  <p:clrMapOvr>
    <a:masterClrMapping/>
  </p:clrMapOvr>
  <p:transition/>
  <p:timing/>
</p:sld>
</file>

<file path=ppt/slides/slide5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85D5142B-73D5-401A-889E-21C7F4AD8199}"/>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450" b="1" i="0">
                <a:solidFill>
                  <a:srgbClr val="0F233D"/>
                </a:solidFill>
                <a:latin typeface="Arial"/>
                <a:ea typeface="Arial"/>
                <a:cs typeface="Arial"/>
              </a:rPr>
              <a:t>Query-size sensitivity — cohort effects</a:t>
            </a:r>
          </a:p>
        </p:txBody>
      </p:sp>
      <p:sp>
        <p:nvSpPr>
          <p:cNvPr id="3" name="TextBox 2">
            <a:extLst>
              <a:ext uri="{FF2B5EF4-FFF2-40B4-BE49-F238E27FC236}">
                <a16:creationId xmlns:a16="http://schemas.microsoft.com/office/drawing/2014/main" id="{12B0B9B9-9C13-454A-91CD-4B17282B04B4}"/>
              </a:ext>
            </a:extLst>
          </p:cNvPr>
          <p:cNvSpPr>
            <a:spLocks noGrp="1"/>
          </p:cNvSpPr>
          <p:nvPr/>
        </p:nvSpPr>
        <p:spPr>
          <a:xfrm>
            <a:off x="548640" y="1002378"/>
            <a:ext cx="10561320" cy="27432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00" b="1" i="0">
                <a:latin typeface="Arial"/>
                <a:ea typeface="Arial"/>
                <a:cs typeface="Arial"/>
              </a:rPr>
              <a:t>Only seven current KDA calls determine the entire threshold response.</a:t>
            </a:r>
          </a:p>
        </p:txBody>
      </p:sp>
      <p:sp>
        <p:nvSpPr>
          <p:cNvPr id="4" name="Rounded Rectangle 3">
            <a:extLst>
              <a:ext uri="{FF2B5EF4-FFF2-40B4-BE49-F238E27FC236}">
                <a16:creationId xmlns:a16="http://schemas.microsoft.com/office/drawing/2014/main" id="{5939264F-CD01-4609-B3B6-BC3D2173D1A2}"/>
              </a:ext>
            </a:extLst>
          </p:cNvPr>
          <p:cNvSpPr>
            <a:spLocks noGrp="1"/>
          </p:cNvSpPr>
          <p:nvPr/>
        </p:nvSpPr>
        <p:spPr>
          <a:xfrm>
            <a:off x="502920" y="1494024"/>
            <a:ext cx="5449824" cy="45537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33D89EAA-04AC-4428-85C2-E75351B872DC}"/>
              </a:ext>
            </a:extLst>
          </p:cNvPr>
          <p:cNvSpPr>
            <a:spLocks noGrp="1"/>
          </p:cNvSpPr>
          <p:nvPr/>
        </p:nvSpPr>
        <p:spPr>
          <a:xfrm>
            <a:off x="804672" y="1786632"/>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46DBA5F4-82BA-4632-91E2-22A0093AC4F1}"/>
              </a:ext>
            </a:extLst>
          </p:cNvPr>
          <p:cNvSpPr>
            <a:spLocks noGrp="1"/>
          </p:cNvSpPr>
          <p:nvPr/>
        </p:nvSpPr>
        <p:spPr>
          <a:xfrm>
            <a:off x="950976" y="1759200"/>
            <a:ext cx="4700016" cy="32918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520" b="1" i="0">
                <a:solidFill>
                  <a:srgbClr val="0F233D"/>
                </a:solidFill>
                <a:latin typeface="Arial"/>
                <a:ea typeface="Arial"/>
                <a:cs typeface="Arial"/>
              </a:rPr>
              <a:t>ROSMAP</a:t>
            </a:r>
          </a:p>
        </p:txBody>
      </p:sp>
      <p:sp>
        <p:nvSpPr>
          <p:cNvPr id="7" name="Oval 6">
            <a:extLst>
              <a:ext uri="{FF2B5EF4-FFF2-40B4-BE49-F238E27FC236}">
                <a16:creationId xmlns:a16="http://schemas.microsoft.com/office/drawing/2014/main" id="{F0E2D69C-0909-49A8-BACA-3FD4C5361E89}"/>
              </a:ext>
            </a:extLst>
          </p:cNvPr>
          <p:cNvSpPr>
            <a:spLocks noGrp="1"/>
          </p:cNvSpPr>
          <p:nvPr/>
        </p:nvSpPr>
        <p:spPr>
          <a:xfrm>
            <a:off x="822960" y="2463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14F28648-FDBC-48D6-8367-D968DA1EDFE9}"/>
              </a:ext>
            </a:extLst>
          </p:cNvPr>
          <p:cNvSpPr>
            <a:spLocks noGrp="1"/>
          </p:cNvSpPr>
          <p:nvPr/>
        </p:nvSpPr>
        <p:spPr>
          <a:xfrm>
            <a:off x="996696" y="2335272"/>
            <a:ext cx="4553712" cy="68580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70" b="0" i="0">
                <a:solidFill>
                  <a:srgbClr val="1F2730"/>
                </a:solidFill>
                <a:latin typeface="Arial"/>
                <a:ea typeface="Arial"/>
                <a:cs typeface="Arial"/>
              </a:rPr>
              <a:t>Current executed query sizes: 3, 8, and 78 genes.</a:t>
            </a:r>
          </a:p>
        </p:txBody>
      </p:sp>
      <p:sp>
        <p:nvSpPr>
          <p:cNvPr id="9" name="Oval 8">
            <a:extLst>
              <a:ext uri="{FF2B5EF4-FFF2-40B4-BE49-F238E27FC236}">
                <a16:creationId xmlns:a16="http://schemas.microsoft.com/office/drawing/2014/main" id="{87C553DE-F15C-4338-9F1B-F8B4FF5A8880}"/>
              </a:ext>
            </a:extLst>
          </p:cNvPr>
          <p:cNvSpPr>
            <a:spLocks noGrp="1"/>
          </p:cNvSpPr>
          <p:nvPr/>
        </p:nvSpPr>
        <p:spPr>
          <a:xfrm>
            <a:off x="822960" y="31490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623ED30C-E19C-44B5-AC2D-1AA197B9E97A}"/>
              </a:ext>
            </a:extLst>
          </p:cNvPr>
          <p:cNvSpPr>
            <a:spLocks noGrp="1"/>
          </p:cNvSpPr>
          <p:nvPr/>
        </p:nvSpPr>
        <p:spPr>
          <a:xfrm>
            <a:off x="996696" y="3021072"/>
            <a:ext cx="4553712" cy="68580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70" b="0" i="0">
                <a:solidFill>
                  <a:srgbClr val="1F2730"/>
                </a:solidFill>
                <a:latin typeface="Arial"/>
                <a:ea typeface="Arial"/>
                <a:cs typeface="Arial"/>
              </a:rPr>
              <a:t>Minimum 5 removes OPCs × F_e4: 9 gene rows returned from KDA calls.</a:t>
            </a:r>
          </a:p>
        </p:txBody>
      </p:sp>
      <p:sp>
        <p:nvSpPr>
          <p:cNvPr id="11" name="Oval 10">
            <a:extLst>
              <a:ext uri="{FF2B5EF4-FFF2-40B4-BE49-F238E27FC236}">
                <a16:creationId xmlns:a16="http://schemas.microsoft.com/office/drawing/2014/main" id="{D5535587-2405-4EFD-ACA9-BE6BEFF55BB9}"/>
              </a:ext>
            </a:extLst>
          </p:cNvPr>
          <p:cNvSpPr>
            <a:spLocks noGrp="1"/>
          </p:cNvSpPr>
          <p:nvPr/>
        </p:nvSpPr>
        <p:spPr>
          <a:xfrm>
            <a:off x="822960" y="38348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30FFB377-CFAB-4245-809A-47D9DD159CBA}"/>
              </a:ext>
            </a:extLst>
          </p:cNvPr>
          <p:cNvSpPr>
            <a:spLocks noGrp="1"/>
          </p:cNvSpPr>
          <p:nvPr/>
        </p:nvSpPr>
        <p:spPr>
          <a:xfrm>
            <a:off x="996696" y="3706872"/>
            <a:ext cx="4553712" cy="68580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70" b="0" i="0">
                <a:solidFill>
                  <a:srgbClr val="1F2730"/>
                </a:solidFill>
                <a:latin typeface="Arial"/>
                <a:ea typeface="Arial"/>
                <a:cs typeface="Arial"/>
              </a:rPr>
              <a:t>Minimum 10 also removes Astrocytes × F_e4: 4 more rows; thresholds 20 and 30 make no further change.</a:t>
            </a:r>
          </a:p>
        </p:txBody>
      </p:sp>
      <p:sp>
        <p:nvSpPr>
          <p:cNvPr id="13" name="Oval 12">
            <a:extLst>
              <a:ext uri="{FF2B5EF4-FFF2-40B4-BE49-F238E27FC236}">
                <a16:creationId xmlns:a16="http://schemas.microsoft.com/office/drawing/2014/main" id="{0C990DB7-448A-4173-A175-5204336581FB}"/>
              </a:ext>
            </a:extLst>
          </p:cNvPr>
          <p:cNvSpPr>
            <a:spLocks noGrp="1"/>
          </p:cNvSpPr>
          <p:nvPr/>
        </p:nvSpPr>
        <p:spPr>
          <a:xfrm>
            <a:off x="822960" y="45206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0A25A188-67C0-4708-9EBE-32F947AB2111}"/>
              </a:ext>
            </a:extLst>
          </p:cNvPr>
          <p:cNvSpPr>
            <a:spLocks noGrp="1"/>
          </p:cNvSpPr>
          <p:nvPr/>
        </p:nvSpPr>
        <p:spPr>
          <a:xfrm>
            <a:off x="996696" y="4392672"/>
            <a:ext cx="4553712" cy="68580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70" b="0" i="0">
                <a:solidFill>
                  <a:srgbClr val="1F2730"/>
                </a:solidFill>
                <a:latin typeface="Arial"/>
                <a:ea typeface="Arial"/>
                <a:cs typeface="Arial"/>
              </a:rPr>
              <a:t>At ≥10, only the low-support Vasculature × M_e2 KDA call remains: 26 rows and 20 unique non-MitoCarta genes.</a:t>
            </a:r>
          </a:p>
        </p:txBody>
      </p:sp>
      <p:sp>
        <p:nvSpPr>
          <p:cNvPr id="15" name="Rounded Rectangle 14">
            <a:extLst>
              <a:ext uri="{FF2B5EF4-FFF2-40B4-BE49-F238E27FC236}">
                <a16:creationId xmlns:a16="http://schemas.microsoft.com/office/drawing/2014/main" id="{A0A9E3D7-B52B-453D-9E9D-7A7E5FF94D8B}"/>
              </a:ext>
            </a:extLst>
          </p:cNvPr>
          <p:cNvSpPr>
            <a:spLocks noGrp="1"/>
          </p:cNvSpPr>
          <p:nvPr/>
        </p:nvSpPr>
        <p:spPr>
          <a:xfrm>
            <a:off x="822960" y="5350930"/>
            <a:ext cx="4828032" cy="493776"/>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6" name="TextBox 15">
            <a:extLst>
              <a:ext uri="{FF2B5EF4-FFF2-40B4-BE49-F238E27FC236}">
                <a16:creationId xmlns:a16="http://schemas.microsoft.com/office/drawing/2014/main" id="{2656F1E4-97E9-4654-8779-562BAF5FFB8A}"/>
              </a:ext>
            </a:extLst>
          </p:cNvPr>
          <p:cNvSpPr>
            <a:spLocks noGrp="1"/>
          </p:cNvSpPr>
          <p:nvPr/>
        </p:nvSpPr>
        <p:spPr>
          <a:xfrm>
            <a:off x="987552" y="5416800"/>
            <a:ext cx="4498848" cy="424732"/>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200" b="1" i="0">
                <a:solidFill>
                  <a:srgbClr val="9E3A00"/>
                </a:solidFill>
                <a:latin typeface="Arial"/>
                <a:ea typeface="Arial"/>
                <a:cs typeface="Arial"/>
              </a:rPr>
              <a:t>A higher query floor increases domination by the low-donor vasculature result.</a:t>
            </a:r>
          </a:p>
        </p:txBody>
      </p:sp>
      <p:sp>
        <p:nvSpPr>
          <p:cNvPr id="17" name="Rounded Rectangle 16">
            <a:extLst>
              <a:ext uri="{FF2B5EF4-FFF2-40B4-BE49-F238E27FC236}">
                <a16:creationId xmlns:a16="http://schemas.microsoft.com/office/drawing/2014/main" id="{6BF95F09-A98D-4C46-B981-8FC5F5BF4BE6}"/>
              </a:ext>
            </a:extLst>
          </p:cNvPr>
          <p:cNvSpPr>
            <a:spLocks noGrp="1"/>
          </p:cNvSpPr>
          <p:nvPr/>
        </p:nvSpPr>
        <p:spPr>
          <a:xfrm>
            <a:off x="6254496" y="1494024"/>
            <a:ext cx="5449824"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FF2B5EF4-FFF2-40B4-BE49-F238E27FC236}">
                <a16:creationId xmlns:a16="http://schemas.microsoft.com/office/drawing/2014/main" id="{5FF8A6FF-C90A-4B6B-B6E9-64E158351E2E}"/>
              </a:ext>
            </a:extLst>
          </p:cNvPr>
          <p:cNvSpPr>
            <a:spLocks noGrp="1"/>
          </p:cNvSpPr>
          <p:nvPr/>
        </p:nvSpPr>
        <p:spPr>
          <a:xfrm>
            <a:off x="6537960" y="1786632"/>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8B63E41-8CF5-40D3-884D-7A160DE38A8A}"/>
              </a:ext>
            </a:extLst>
          </p:cNvPr>
          <p:cNvSpPr>
            <a:spLocks noGrp="1"/>
          </p:cNvSpPr>
          <p:nvPr/>
        </p:nvSpPr>
        <p:spPr>
          <a:xfrm>
            <a:off x="6684264" y="1759200"/>
            <a:ext cx="4700016" cy="32918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520" b="1" i="0">
                <a:solidFill>
                  <a:srgbClr val="0F233D"/>
                </a:solidFill>
                <a:latin typeface="Arial"/>
                <a:ea typeface="Arial"/>
                <a:cs typeface="Arial"/>
              </a:rPr>
              <a:t>SEA-AD</a:t>
            </a:r>
          </a:p>
        </p:txBody>
      </p:sp>
      <p:sp>
        <p:nvSpPr>
          <p:cNvPr id="20" name="Oval 19">
            <a:extLst>
              <a:ext uri="{FF2B5EF4-FFF2-40B4-BE49-F238E27FC236}">
                <a16:creationId xmlns:a16="http://schemas.microsoft.com/office/drawing/2014/main" id="{757AED1A-3849-4EEA-AAF3-76C47271ACD0}"/>
              </a:ext>
            </a:extLst>
          </p:cNvPr>
          <p:cNvSpPr>
            <a:spLocks noGrp="1"/>
          </p:cNvSpPr>
          <p:nvPr/>
        </p:nvSpPr>
        <p:spPr>
          <a:xfrm>
            <a:off x="6556248" y="2463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A6B1CF2-4779-4DB9-A331-D87F938851DC}"/>
              </a:ext>
            </a:extLst>
          </p:cNvPr>
          <p:cNvSpPr>
            <a:spLocks noGrp="1"/>
          </p:cNvSpPr>
          <p:nvPr/>
        </p:nvSpPr>
        <p:spPr>
          <a:xfrm>
            <a:off x="6729984" y="2335272"/>
            <a:ext cx="4553712" cy="68580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70" b="0" i="0">
                <a:solidFill>
                  <a:srgbClr val="1F2730"/>
                </a:solidFill>
                <a:latin typeface="Arial"/>
                <a:ea typeface="Arial"/>
                <a:cs typeface="Arial"/>
              </a:rPr>
              <a:t>Current executed query sizes: 5, 9, 21, 43, and 45 genes.</a:t>
            </a:r>
          </a:p>
        </p:txBody>
      </p:sp>
      <p:sp>
        <p:nvSpPr>
          <p:cNvPr id="22" name="Oval 21">
            <a:extLst>
              <a:ext uri="{FF2B5EF4-FFF2-40B4-BE49-F238E27FC236}">
                <a16:creationId xmlns:a16="http://schemas.microsoft.com/office/drawing/2014/main" id="{E3C9BDB4-C631-48CF-885D-1C3DB78A0503}"/>
              </a:ext>
            </a:extLst>
          </p:cNvPr>
          <p:cNvSpPr>
            <a:spLocks noGrp="1"/>
          </p:cNvSpPr>
          <p:nvPr/>
        </p:nvSpPr>
        <p:spPr>
          <a:xfrm>
            <a:off x="6556248" y="31490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264091AD-A59A-469A-A4FC-21734DD4EDA5}"/>
              </a:ext>
            </a:extLst>
          </p:cNvPr>
          <p:cNvSpPr>
            <a:spLocks noGrp="1"/>
          </p:cNvSpPr>
          <p:nvPr/>
        </p:nvSpPr>
        <p:spPr>
          <a:xfrm>
            <a:off x="6729984" y="3021072"/>
            <a:ext cx="4553712" cy="68580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70" b="0" i="0">
                <a:solidFill>
                  <a:srgbClr val="1F2730"/>
                </a:solidFill>
                <a:latin typeface="Arial"/>
                <a:ea typeface="Arial"/>
                <a:cs typeface="Arial"/>
              </a:rPr>
              <a:t>Minimum 5 changes nothing.</a:t>
            </a:r>
          </a:p>
        </p:txBody>
      </p:sp>
      <p:sp>
        <p:nvSpPr>
          <p:cNvPr id="24" name="Oval 23">
            <a:extLst>
              <a:ext uri="{FF2B5EF4-FFF2-40B4-BE49-F238E27FC236}">
                <a16:creationId xmlns:a16="http://schemas.microsoft.com/office/drawing/2014/main" id="{1299D460-8499-4A92-8F1F-7D42F18E4D8D}"/>
              </a:ext>
            </a:extLst>
          </p:cNvPr>
          <p:cNvSpPr>
            <a:spLocks noGrp="1"/>
          </p:cNvSpPr>
          <p:nvPr/>
        </p:nvSpPr>
        <p:spPr>
          <a:xfrm>
            <a:off x="6556248" y="38348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47DFB561-BD63-45A7-8257-070D21EBDC6E}"/>
              </a:ext>
            </a:extLst>
          </p:cNvPr>
          <p:cNvSpPr>
            <a:spLocks noGrp="1"/>
          </p:cNvSpPr>
          <p:nvPr/>
        </p:nvSpPr>
        <p:spPr>
          <a:xfrm>
            <a:off x="6729984" y="3706872"/>
            <a:ext cx="4553712" cy="68580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70" b="0" i="0">
                <a:solidFill>
                  <a:srgbClr val="1F2730"/>
                </a:solidFill>
                <a:latin typeface="Arial"/>
                <a:ea typeface="Arial"/>
                <a:cs typeface="Arial"/>
              </a:rPr>
              <a:t>Minimum 10 removes Microglia × M_e33 and Astrocytes × F_e4: 24 → 8 rows and 18 → 3 unique non-MitoCarta genes.</a:t>
            </a:r>
          </a:p>
        </p:txBody>
      </p:sp>
      <p:sp>
        <p:nvSpPr>
          <p:cNvPr id="26" name="Oval 25">
            <a:extLst>
              <a:ext uri="{FF2B5EF4-FFF2-40B4-BE49-F238E27FC236}">
                <a16:creationId xmlns:a16="http://schemas.microsoft.com/office/drawing/2014/main" id="{2E13B9CA-B7CD-481C-AD01-00EB7A400D34}"/>
              </a:ext>
            </a:extLst>
          </p:cNvPr>
          <p:cNvSpPr>
            <a:spLocks noGrp="1"/>
          </p:cNvSpPr>
          <p:nvPr/>
        </p:nvSpPr>
        <p:spPr>
          <a:xfrm>
            <a:off x="6556248" y="45206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7EF7E134-9599-461E-ABD6-081165AABE01}"/>
              </a:ext>
            </a:extLst>
          </p:cNvPr>
          <p:cNvSpPr>
            <a:spLocks noGrp="1"/>
          </p:cNvSpPr>
          <p:nvPr/>
        </p:nvSpPr>
        <p:spPr>
          <a:xfrm>
            <a:off x="6729984" y="4392672"/>
            <a:ext cx="4553712" cy="68580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70" b="0" i="0">
                <a:solidFill>
                  <a:srgbClr val="1F2730"/>
                </a:solidFill>
                <a:latin typeface="Arial"/>
                <a:ea typeface="Arial"/>
                <a:cs typeface="Arial"/>
              </a:rPr>
              <a:t>Minimum 20 changes nothing further; minimum 30 removes Oligodendrocytes × M_e33, whose sole gene returned from its KDA call is a MitoCarta MT gene.</a:t>
            </a:r>
          </a:p>
        </p:txBody>
      </p:sp>
      <p:sp>
        <p:nvSpPr>
          <p:cNvPr id="28" name="Rounded Rectangle 27">
            <a:extLst>
              <a:ext uri="{FF2B5EF4-FFF2-40B4-BE49-F238E27FC236}">
                <a16:creationId xmlns:a16="http://schemas.microsoft.com/office/drawing/2014/main" id="{A22678DE-800F-4254-9C18-3439C8C97CB9}"/>
              </a:ext>
            </a:extLst>
          </p:cNvPr>
          <p:cNvSpPr>
            <a:spLocks noGrp="1"/>
          </p:cNvSpPr>
          <p:nvPr/>
        </p:nvSpPr>
        <p:spPr>
          <a:xfrm>
            <a:off x="6556248" y="5337881"/>
            <a:ext cx="4828032" cy="493776"/>
          </a:xfrm>
          <a:prstGeom prst="roundRect">
            <a:avLst/>
          </a:prstGeom>
          <a:solidFill>
            <a:srgbClr val="FFFFFF"/>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B67F2240-3E3A-4D90-83E9-DB10AAD115E8}"/>
              </a:ext>
            </a:extLst>
          </p:cNvPr>
          <p:cNvSpPr>
            <a:spLocks noGrp="1"/>
          </p:cNvSpPr>
          <p:nvPr/>
        </p:nvSpPr>
        <p:spPr>
          <a:xfrm>
            <a:off x="6720840" y="5416800"/>
            <a:ext cx="4498848" cy="424732"/>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200" b="1" i="0">
                <a:solidFill>
                  <a:srgbClr val="00684D"/>
                </a:solidFill>
                <a:latin typeface="Arial"/>
                <a:ea typeface="Arial"/>
                <a:cs typeface="Arial"/>
              </a:rPr>
              <a:t>The non-MitoCarta gene count reaches 3 at minimum 10 and stays there through 30.</a:t>
            </a:r>
          </a:p>
        </p:txBody>
      </p:sp>
    </p:spTree>
    <p:extLst>
      <p:ext uri="{BB962C8B-B14F-4D97-AF65-F5344CB8AC3E}">
        <p14:creationId val="90187376"/>
      </p:ext>
    </p:extLst>
  </p:cSld>
  <p:clrMapOvr>
    <a:masterClrMapping/>
  </p:clrMapOvr>
  <p:transition/>
  <p:timing/>
</p:sld>
</file>

<file path=ppt/slides/slide5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22731036-4FFC-4F91-9FF2-26D11A6ECFAD}"/>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450" b="1" i="0">
                <a:solidFill>
                  <a:srgbClr val="0F233D"/>
                </a:solidFill>
                <a:latin typeface="Arial"/>
                <a:ea typeface="Arial"/>
                <a:cs typeface="Arial"/>
              </a:rPr>
              <a:t>Query-size sensitivity — validation interpretation</a:t>
            </a:r>
          </a:p>
        </p:txBody>
      </p:sp>
      <p:sp>
        <p:nvSpPr>
          <p:cNvPr id="3" name="TextBox 2">
            <a:extLst>
              <a:ext uri="{FF2B5EF4-FFF2-40B4-BE49-F238E27FC236}">
                <a16:creationId xmlns:a16="http://schemas.microsoft.com/office/drawing/2014/main" id="{D62C39FD-4DA3-4A57-9177-DFA36F2AAA38}"/>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20" b="0" i="0">
                <a:solidFill>
                  <a:srgbClr val="4E5A68"/>
                </a:solidFill>
                <a:latin typeface="Arial"/>
                <a:ea typeface="Arial"/>
                <a:cs typeface="Arial"/>
              </a:rPr>
              <a:t>The query floor changes assessability, but it does not create cross-cohort validation of genes returned from KDA calls.</a:t>
            </a:r>
          </a:p>
        </p:txBody>
      </p:sp>
      <p:sp>
        <p:nvSpPr>
          <p:cNvPr id="4" name="Rounded Rectangle 3">
            <a:extLst>
              <a:ext uri="{FF2B5EF4-FFF2-40B4-BE49-F238E27FC236}">
                <a16:creationId xmlns:a16="http://schemas.microsoft.com/office/drawing/2014/main" id="{DAA28129-9BD7-47B6-95F8-1B07BD5E692D}"/>
              </a:ext>
            </a:extLst>
          </p:cNvPr>
          <p:cNvSpPr>
            <a:spLocks noGrp="1"/>
          </p:cNvSpPr>
          <p:nvPr/>
        </p:nvSpPr>
        <p:spPr>
          <a:xfrm>
            <a:off x="658368" y="1325880"/>
            <a:ext cx="10881360" cy="352958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48640B9-5DD0-44AC-8449-495D2DA6F1C7}"/>
              </a:ext>
            </a:extLst>
          </p:cNvPr>
          <p:cNvSpPr>
            <a:spLocks noGrp="1"/>
          </p:cNvSpPr>
          <p:nvPr/>
        </p:nvSpPr>
        <p:spPr>
          <a:xfrm>
            <a:off x="960120" y="1609344"/>
            <a:ext cx="2926080" cy="23774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019" b="1" i="0">
                <a:solidFill>
                  <a:srgbClr val="0072B2"/>
                </a:solidFill>
                <a:latin typeface="Arial"/>
                <a:ea typeface="Arial"/>
                <a:cs typeface="Arial"/>
              </a:rPr>
              <a:t>VALIDATION CONSEQUENCES</a:t>
            </a:r>
          </a:p>
        </p:txBody>
      </p:sp>
      <p:sp>
        <p:nvSpPr>
          <p:cNvPr id="6" name="Oval 5">
            <a:extLst>
              <a:ext uri="{FF2B5EF4-FFF2-40B4-BE49-F238E27FC236}">
                <a16:creationId xmlns:a16="http://schemas.microsoft.com/office/drawing/2014/main" id="{E7AD175D-F44B-4DBD-AC94-B8E42AA5F7BC}"/>
              </a:ext>
            </a:extLst>
          </p:cNvPr>
          <p:cNvSpPr>
            <a:spLocks noGrp="1"/>
          </p:cNvSpPr>
          <p:nvPr/>
        </p:nvSpPr>
        <p:spPr>
          <a:xfrm>
            <a:off x="960120" y="21396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B5477AB-962A-4E60-AF5F-3B9DA47CB453}"/>
              </a:ext>
            </a:extLst>
          </p:cNvPr>
          <p:cNvSpPr>
            <a:spLocks noGrp="1"/>
          </p:cNvSpPr>
          <p:nvPr/>
        </p:nvSpPr>
        <p:spPr>
          <a:xfrm>
            <a:off x="1133856" y="2011680"/>
            <a:ext cx="9838944" cy="65836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00" b="0" i="0">
                <a:solidFill>
                  <a:srgbClr val="1F2730"/>
                </a:solidFill>
                <a:latin typeface="Arial"/>
                <a:ea typeface="Arial"/>
                <a:cs typeface="Arial"/>
              </a:rPr>
              <a:t>Cross-cohort overlap among non-MitoCarta genes returned from KDA calls remains zero at every tested threshold.</a:t>
            </a:r>
          </a:p>
        </p:txBody>
      </p:sp>
      <p:sp>
        <p:nvSpPr>
          <p:cNvPr id="8" name="Oval 7">
            <a:extLst>
              <a:ext uri="{FF2B5EF4-FFF2-40B4-BE49-F238E27FC236}">
                <a16:creationId xmlns:a16="http://schemas.microsoft.com/office/drawing/2014/main" id="{0501F2F9-81F1-4E04-BDD8-9B2D5258750E}"/>
              </a:ext>
            </a:extLst>
          </p:cNvPr>
          <p:cNvSpPr>
            <a:spLocks noGrp="1"/>
          </p:cNvSpPr>
          <p:nvPr/>
        </p:nvSpPr>
        <p:spPr>
          <a:xfrm>
            <a:off x="960120" y="279806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587782B-22A2-4B58-9C5D-7DB981CBB690}"/>
              </a:ext>
            </a:extLst>
          </p:cNvPr>
          <p:cNvSpPr>
            <a:spLocks noGrp="1"/>
          </p:cNvSpPr>
          <p:nvPr/>
        </p:nvSpPr>
        <p:spPr>
          <a:xfrm>
            <a:off x="1133856" y="2670048"/>
            <a:ext cx="9838944" cy="65836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00" b="0" i="0">
                <a:solidFill>
                  <a:srgbClr val="1F2730"/>
                </a:solidFill>
                <a:latin typeface="Arial"/>
                <a:ea typeface="Arial"/>
                <a:cs typeface="Arial"/>
              </a:rPr>
              <a:t>At minimum 3 or 5, Astrocytes × F_e4 remains the only exact shared executed stratum, with no shared genes returned from KDA calls.</a:t>
            </a:r>
          </a:p>
        </p:txBody>
      </p:sp>
      <p:sp>
        <p:nvSpPr>
          <p:cNvPr id="10" name="Oval 9">
            <a:extLst>
              <a:ext uri="{FF2B5EF4-FFF2-40B4-BE49-F238E27FC236}">
                <a16:creationId xmlns:a16="http://schemas.microsoft.com/office/drawing/2014/main" id="{0985D27D-B823-4F63-850A-8BB2A8DCA8BF}"/>
              </a:ext>
            </a:extLst>
          </p:cNvPr>
          <p:cNvSpPr>
            <a:spLocks noGrp="1"/>
          </p:cNvSpPr>
          <p:nvPr/>
        </p:nvSpPr>
        <p:spPr>
          <a:xfrm>
            <a:off x="960120" y="34564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7681996-84B2-4DE4-9FE2-4A7287F67C67}"/>
              </a:ext>
            </a:extLst>
          </p:cNvPr>
          <p:cNvSpPr>
            <a:spLocks noGrp="1"/>
          </p:cNvSpPr>
          <p:nvPr/>
        </p:nvSpPr>
        <p:spPr>
          <a:xfrm>
            <a:off x="1133856" y="3328415"/>
            <a:ext cx="9838944" cy="65836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00" b="0" i="0">
                <a:solidFill>
                  <a:srgbClr val="1F2730"/>
                </a:solidFill>
                <a:latin typeface="Arial"/>
                <a:ea typeface="Arial"/>
                <a:cs typeface="Arial"/>
              </a:rPr>
              <a:t>At minimum 10, 20, or 30, no exact stratum is executed in both cohorts; validation is unavailable rather than negative.</a:t>
            </a:r>
          </a:p>
        </p:txBody>
      </p:sp>
      <p:sp>
        <p:nvSpPr>
          <p:cNvPr id="12" name="Oval 11">
            <a:extLst>
              <a:ext uri="{FF2B5EF4-FFF2-40B4-BE49-F238E27FC236}">
                <a16:creationId xmlns:a16="http://schemas.microsoft.com/office/drawing/2014/main" id="{4AD3A0FC-67E5-45D2-BE48-99351E6AC8C0}"/>
              </a:ext>
            </a:extLst>
          </p:cNvPr>
          <p:cNvSpPr>
            <a:spLocks noGrp="1"/>
          </p:cNvSpPr>
          <p:nvPr/>
        </p:nvSpPr>
        <p:spPr>
          <a:xfrm>
            <a:off x="960120" y="411479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04D3795-30FE-4634-B674-CCD9391C98B4}"/>
              </a:ext>
            </a:extLst>
          </p:cNvPr>
          <p:cNvSpPr>
            <a:spLocks noGrp="1"/>
          </p:cNvSpPr>
          <p:nvPr/>
        </p:nvSpPr>
        <p:spPr>
          <a:xfrm>
            <a:off x="1133856" y="3986783"/>
            <a:ext cx="9838944" cy="65836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00" b="0" i="0">
                <a:solidFill>
                  <a:srgbClr val="1F2730"/>
                </a:solidFill>
                <a:latin typeface="Arial"/>
                <a:ea typeface="Arial"/>
                <a:cs typeface="Arial"/>
              </a:rPr>
              <a:t>Thresholds ≥10 reduce validation assessability and make ROSMAP increasingly dominated by the low-support Vasculature × M_e2 KDA call.</a:t>
            </a:r>
          </a:p>
        </p:txBody>
      </p:sp>
      <p:sp>
        <p:nvSpPr>
          <p:cNvPr id="14" name="Rounded Rectangle 13">
            <a:extLst>
              <a:ext uri="{FF2B5EF4-FFF2-40B4-BE49-F238E27FC236}">
                <a16:creationId xmlns:a16="http://schemas.microsoft.com/office/drawing/2014/main" id="{C0B90091-304E-4D9D-8AF2-8727270FB4C8}"/>
              </a:ext>
            </a:extLst>
          </p:cNvPr>
          <p:cNvSpPr>
            <a:spLocks noGrp="1"/>
          </p:cNvSpPr>
          <p:nvPr/>
        </p:nvSpPr>
        <p:spPr>
          <a:xfrm>
            <a:off x="658368" y="5138928"/>
            <a:ext cx="10881360" cy="77724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E616050-8935-4902-BB75-1283A4204EB3}"/>
              </a:ext>
            </a:extLst>
          </p:cNvPr>
          <p:cNvSpPr>
            <a:spLocks noGrp="1"/>
          </p:cNvSpPr>
          <p:nvPr/>
        </p:nvSpPr>
        <p:spPr>
          <a:xfrm>
            <a:off x="914400" y="5340096"/>
            <a:ext cx="10369296" cy="256032"/>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500" b="1" i="0">
                <a:solidFill>
                  <a:srgbClr val="895600"/>
                </a:solidFill>
                <a:latin typeface="Arial"/>
                <a:ea typeface="Arial"/>
                <a:cs typeface="Arial"/>
              </a:rPr>
              <a:t>Least disruptive sensitivity reference: minimum 5 effective query genes</a:t>
            </a:r>
          </a:p>
        </p:txBody>
      </p:sp>
      <p:sp>
        <p:nvSpPr>
          <p:cNvPr id="16" name="TextBox 15">
            <a:extLst>
              <a:ext uri="{FF2B5EF4-FFF2-40B4-BE49-F238E27FC236}">
                <a16:creationId xmlns:a16="http://schemas.microsoft.com/office/drawing/2014/main" id="{440544A2-27EB-4A8D-90F7-2971FFD5C50A}"/>
              </a:ext>
            </a:extLst>
          </p:cNvPr>
          <p:cNvSpPr>
            <a:spLocks noGrp="1"/>
          </p:cNvSpPr>
          <p:nvPr/>
        </p:nvSpPr>
        <p:spPr>
          <a:xfrm>
            <a:off x="914400" y="5632704"/>
            <a:ext cx="10369296" cy="19812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940" b="0" i="0">
                <a:solidFill>
                  <a:srgbClr val="895600"/>
                </a:solidFill>
                <a:latin typeface="Arial"/>
                <a:ea typeface="Arial"/>
                <a:cs typeface="Arial"/>
              </a:rPr>
              <a:t>It removes the smallest ROSMAP query while preserving every SEA-AD KDA call and the only matched cross-cohort stratum.</a:t>
            </a:r>
          </a:p>
        </p:txBody>
      </p:sp>
    </p:spTree>
    <p:extLst>
      <p:ext uri="{BB962C8B-B14F-4D97-AF65-F5344CB8AC3E}">
        <p14:creationId val="1095739359"/>
      </p:ext>
    </p:extLst>
  </p:cSld>
  <p:clrMapOvr>
    <a:masterClrMapping/>
  </p:clrMapOvr>
  <p:transition/>
  <p:timing/>
</p:sld>
</file>

<file path=ppt/slides/slide5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0F233D"/>
        </a:solidFill>
        <a:effectLst/>
      </p:bgPr>
    </p:bg>
    <p:spTree>
      <p:nvGrpSpPr>
        <p:cNvPr id="1" name=""/>
        <p:cNvGrpSpPr/>
        <p:nvPr/>
      </p:nvGrpSpPr>
      <p:grpSpPr>
        <a:xfrm>
          <a:off x="0" y="0"/>
          <a:ext cx="0" cy="0"/>
        </a:xfrm>
      </p:grpSpPr>
      <p:sp>
        <p:nvSpPr>
          <p:cNvPr id="3" name="TextBox 2">
            <a:extLst>
              <a:ext uri="{FF2B5EF4-FFF2-40B4-BE49-F238E27FC236}">
                <a16:creationId xmlns:a16="http://schemas.microsoft.com/office/drawing/2014/main" id="{CEED15BB-A501-7FB7-FD95-303970C34A77}"/>
              </a:ext>
            </a:extLst>
          </p:cNvPr>
          <p:cNvSpPr>
            <a:spLocks noGrp="1"/>
          </p:cNvSpPr>
          <p:nvPr/>
        </p:nvSpPr>
        <p:spPr>
          <a:xfrm>
            <a:off x="713232" y="1438906"/>
            <a:ext cx="10287000" cy="57862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Findings and discussions</a:t>
            </a: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21E95D6F-12BB-832F-CD3D-727DAFEFB6A8}"/>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050" b="1" i="0">
                <a:solidFill>
                  <a:srgbClr val="0072B2"/>
                </a:solidFill>
                <a:latin typeface="Arial"/>
                <a:ea typeface="Arial"/>
                <a:cs typeface="Arial"/>
              </a:rPr>
              <a:t>PART 8</a:t>
            </a:r>
          </a:p>
        </p:txBody>
      </p:sp>
    </p:spTree>
    <p:extLst>
      <p:ext uri="{BB962C8B-B14F-4D97-AF65-F5344CB8AC3E}">
        <p14:creationId val="686704019"/>
      </p:ext>
    </p:extLst>
  </p:cSld>
  <p:clrMapOvr>
    <a:masterClrMapping/>
  </p:clrMapOvr>
  <p:transition/>
  <p:timing/>
</p:sld>
</file>

<file path=ppt/slides/slide5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4F7FB"/>
        </a:solidFill>
        <a:effectLst/>
      </p:bgPr>
    </p:bg>
    <p:spTree>
      <p:nvGrpSpPr>
        <p:cNvPr id="1" name=""/>
        <p:cNvGrpSpPr/>
        <p:nvPr/>
      </p:nvGrpSpPr>
      <p:grpSpPr>
        <a:xfrm>
          <a:off x="0" y="0"/>
          <a:ext cx="0" cy="0"/>
        </a:xfrm>
      </p:grpSpPr>
      <p:sp>
        <p:nvSpPr>
          <p:cNvPr id="5" name="Summary 1 Title">
            <a:extLst>
              <a:ext uri="{FF2B5EF4-FFF2-40B4-BE49-F238E27FC236}">
                <a16:creationId xmlns:a16="http://schemas.microsoft.com/office/drawing/2014/main" id="{455B0754-10CC-4FCA-B423-957F3E1D7B26}"/>
              </a:ext>
            </a:extLst>
          </p:cNvPr>
          <p:cNvSpPr>
            <a:spLocks noGrp="1"/>
          </p:cNvSpPr>
          <p:nvPr/>
        </p:nvSpPr>
        <p:spPr>
          <a:xfrm>
            <a:off x="609600" y="361950"/>
            <a:ext cx="10972800" cy="552450"/>
          </a:xfrm>
          <a:prstGeom prst="rect">
            <a:avLst/>
          </a:prstGeom>
          <a:noFill/>
          <a:ln w="0">
            <a:noFill/>
            <a:prstDash val="solid"/>
          </a:ln>
        </p:spPr>
        <p:txBody>
          <a:bodyPr wrap="square" lIns="0" tIns="0" rIns="0" bIns="0">
            <a:normAutofit/>
          </a:bodyPr>
          <a:lstStyle/>
          <a:p>
            <a:pPr algn="l">
              <a:buNone/>
              <a:defRPr sz="2250" b="1">
                <a:solidFill>
                  <a:srgbClr val="11263F"/>
                </a:solidFill>
                <a:latin typeface="Arial"/>
                <a:ea typeface="Arial"/>
                <a:cs typeface="Arial"/>
              </a:defRPr>
            </a:pPr>
            <a:r>
              <a:rPr sz="2250" b="1">
                <a:solidFill>
                  <a:srgbClr val="11263F"/>
                </a:solidFill>
                <a:latin typeface="Arial"/>
                <a:ea typeface="Arial"/>
                <a:cs typeface="Arial"/>
              </a:rPr>
              <a:t>How the remaining findings are organized</a:t>
            </a:r>
          </a:p>
        </p:txBody>
      </p:sp>
      <p:sp>
        <p:nvSpPr>
          <p:cNvPr id="2" name="Summary 1 Subtitle">
            <a:extLst>
              <a:ext uri="{FF2B5EF4-FFF2-40B4-BE49-F238E27FC236}">
                <a16:creationId xmlns:a16="http://schemas.microsoft.com/office/drawing/2014/main" id="{9F83F01E-3776-4961-8E25-29DF789CAED3}"/>
              </a:ext>
            </a:extLst>
          </p:cNvPr>
          <p:cNvSpPr>
            <a:spLocks noGrp="1"/>
          </p:cNvSpPr>
          <p:nvPr/>
        </p:nvSpPr>
        <p:spPr>
          <a:xfrm>
            <a:off x="628650" y="1000125"/>
            <a:ext cx="10934700" cy="419100"/>
          </a:xfrm>
          <a:prstGeom prst="rect">
            <a:avLst/>
          </a:prstGeom>
          <a:noFill/>
          <a:ln w="0">
            <a:noFill/>
            <a:prstDash val="solid"/>
          </a:ln>
        </p:spPr>
        <p:txBody>
          <a:bodyPr wrap="square" lIns="0" tIns="0" rIns="0" bIns="0">
            <a:normAutofit/>
          </a:bodyPr>
          <a:lstStyle/>
          <a:p>
            <a:pPr algn="l">
              <a:buNone/>
              <a:defRPr sz="1275">
                <a:solidFill>
                  <a:srgbClr val="536273"/>
                </a:solidFill>
                <a:latin typeface="Arial"/>
                <a:ea typeface="Arial"/>
                <a:cs typeface="Arial"/>
              </a:defRPr>
            </a:pPr>
            <a:r>
              <a:rPr sz="1275" b="1">
                <a:latin typeface="Arial"/>
                <a:ea typeface="Arial"/>
                <a:cs typeface="Arial"/>
              </a:rPr>
              <a:t>The findings separate into DEG and pathway results and results from KDA calls.</a:t>
            </a:r>
          </a:p>
        </p:txBody>
      </p:sp>
      <p:sp>
        <p:nvSpPr>
          <p:cNvPr id="4" name="Summary 1 Footer">
            <a:extLst>
              <a:ext uri="{FF2B5EF4-FFF2-40B4-BE49-F238E27FC236}">
                <a16:creationId xmlns:a16="http://schemas.microsoft.com/office/drawing/2014/main" id="{3CBE8935-57B3-49B1-B12C-072BC69EBC22}"/>
              </a:ext>
            </a:extLst>
          </p:cNvPr>
          <p:cNvSpPr>
            <a:spLocks noGrp="1"/>
          </p:cNvSpPr>
          <p:nvPr/>
        </p:nvSpPr>
        <p:spPr>
          <a:xfrm>
            <a:off x="685800" y="6115050"/>
            <a:ext cx="10820400" cy="400050"/>
          </a:xfrm>
          <a:prstGeom prst="rect">
            <a:avLst/>
          </a:prstGeom>
          <a:noFill/>
          <a:ln w="0">
            <a:noFill/>
            <a:prstDash val="solid"/>
          </a:ln>
        </p:spPr>
        <p:txBody>
          <a:bodyPr wrap="square" lIns="0" tIns="0" rIns="0" bIns="0">
            <a:normAutofit/>
          </a:bodyPr>
          <a:lstStyle/>
          <a:p>
            <a:pPr algn="l">
              <a:buNone/>
              <a:defRPr sz="1200" b="1">
                <a:solidFill>
                  <a:srgbClr val="7D4FA1"/>
                </a:solidFill>
                <a:latin typeface="Arial"/>
                <a:ea typeface="Arial"/>
                <a:cs typeface="Arial"/>
              </a:defRPr>
            </a:pPr>
            <a:r>
              <a:rPr sz="1200" b="1">
                <a:solidFill>
                  <a:srgbClr val="7D4FA1"/>
                </a:solidFill>
                <a:latin typeface="Arial"/>
                <a:ea typeface="Arial"/>
                <a:cs typeface="Arial"/>
              </a:rPr>
              <a:t>15 findings are tied to one or more sex/APOE groups. Findings 7 and 10 are not sex/APOE-specific and receive lower priority in the sex/APOE narrative.</a:t>
            </a:r>
          </a:p>
        </p:txBody>
      </p:sp>
      <p:graphicFrame>
        <p:nvGraphicFramePr>
          <p:cNvPr id="10" name="Summary 1 Table"/>
          <p:cNvGraphicFramePr>
            <a:graphicFrameLocks noGrp="1"/>
          </p:cNvGraphicFramePr>
          <p:nvPr/>
        </p:nvGraphicFramePr>
        <p:xfrm>
          <a:off x="666750" y="1524000"/>
          <a:ext cx="10858500" cy="4095750"/>
        </p:xfrm>
        <a:graphic>
          <a:graphicData uri="http://schemas.openxmlformats.org/drawingml/2006/table">
            <a:tbl>
              <a:tblPr firstRow="1"/>
              <a:tblGrid>
                <a:gridCol w="20955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4476750">
                  <a:extLst>
                    <a:ext uri="{9D8B030D-6E8A-4147-A177-3AD203B41FA5}">
                      <a16:colId xmlns:a16="http://schemas.microsoft.com/office/drawing/2014/main" val="20002"/>
                    </a:ext>
                  </a:extLst>
                </a:gridCol>
                <a:gridCol w="2762250">
                  <a:extLst>
                    <a:ext uri="{9D8B030D-6E8A-4147-A177-3AD203B41FA5}">
                      <a16:colId xmlns:a16="http://schemas.microsoft.com/office/drawing/2014/main" val="20003"/>
                    </a:ext>
                  </a:extLst>
                </a:gridCol>
              </a:tblGrid>
              <a:tr h="495300">
                <a:tc>
                  <a:txBody>
                    <a:bodyPr vert="horz" wrap="square"/>
                    <a:lstStyle/>
                    <a:p>
                      <a:pPr algn="l"/>
                      <a:r>
                        <a:rPr sz="1125" b="1">
                          <a:solidFill>
                            <a:srgbClr val="FFFFFF"/>
                          </a:solidFill>
                          <a:latin typeface="Arial"/>
                          <a:ea typeface="Arial"/>
                          <a:cs typeface="Arial"/>
                        </a:rPr>
                        <a:t>Category</a:t>
                      </a:r>
                    </a:p>
                  </a:txBody>
                  <a:tcPr marL="95250" marR="95250" marT="66675" marB="66675" anchor="ctr">
                    <a:solidFill>
                      <a:srgbClr val="11263F"/>
                    </a:solidFill>
                  </a:tcPr>
                </a:tc>
                <a:tc>
                  <a:txBody>
                    <a:bodyPr vert="horz" wrap="square"/>
                    <a:lstStyle/>
                    <a:p>
                      <a:pPr algn="ctr"/>
                      <a:r>
                        <a:rPr sz="1125" b="1">
                          <a:solidFill>
                            <a:srgbClr val="FFFFFF"/>
                          </a:solidFill>
                          <a:latin typeface="Arial"/>
                          <a:ea typeface="Arial"/>
                          <a:cs typeface="Arial"/>
                        </a:rPr>
                        <a:t>Findings</a:t>
                      </a:r>
                    </a:p>
                  </a:txBody>
                  <a:tcPr marL="95250" marR="95250" marT="66675" marB="66675" anchor="ctr">
                    <a:solidFill>
                      <a:srgbClr val="11263F"/>
                    </a:solidFill>
                  </a:tcPr>
                </a:tc>
                <a:tc>
                  <a:txBody>
                    <a:bodyPr vert="horz" wrap="square"/>
                    <a:lstStyle/>
                    <a:p>
                      <a:pPr algn="l"/>
                      <a:r>
                        <a:rPr sz="1125" b="1">
                          <a:solidFill>
                            <a:srgbClr val="FFFFFF"/>
                          </a:solidFill>
                          <a:latin typeface="Arial"/>
                          <a:ea typeface="Arial"/>
                          <a:cs typeface="Arial"/>
                        </a:rPr>
                        <a:t>Main question</a:t>
                      </a:r>
                    </a:p>
                  </a:txBody>
                  <a:tcPr marL="95250" marR="95250" marT="66675" marB="66675" anchor="ctr">
                    <a:solidFill>
                      <a:srgbClr val="11263F"/>
                    </a:solidFill>
                  </a:tcPr>
                </a:tc>
                <a:tc>
                  <a:txBody>
                    <a:bodyPr vert="horz" wrap="square"/>
                    <a:lstStyle/>
                    <a:p>
                      <a:pPr algn="l"/>
                      <a:r>
                        <a:rPr sz="1125" b="1">
                          <a:solidFill>
                            <a:srgbClr val="FFFFFF"/>
                          </a:solidFill>
                          <a:latin typeface="Arial"/>
                          <a:ea typeface="Arial"/>
                          <a:cs typeface="Arial"/>
                        </a:rPr>
                        <a:t>Role in the story</a:t>
                      </a:r>
                    </a:p>
                  </a:txBody>
                  <a:tcPr marL="95250" marR="95250" marT="66675" marB="66675" anchor="ctr">
                    <a:solidFill>
                      <a:srgbClr val="11263F"/>
                    </a:solidFill>
                  </a:tcPr>
                </a:tc>
                <a:extLst>
                  <a:ext uri="{0D108BD9-81ED-4DB2-BD59-A6C34878D82A}">
                    <a16:rowId xmlns:a16="http://schemas.microsoft.com/office/drawing/2014/main" val="10000"/>
                  </a:ext>
                </a:extLst>
              </a:tr>
              <a:tr h="1800225">
                <a:tc>
                  <a:txBody>
                    <a:bodyPr vert="horz" wrap="square"/>
                    <a:lstStyle/>
                    <a:p>
                      <a:pPr algn="l"/>
                      <a:r>
                        <a:rPr sz="1125" b="1">
                          <a:solidFill>
                            <a:srgbClr val="FFFFFF"/>
                          </a:solidFill>
                          <a:latin typeface="Arial"/>
                          <a:ea typeface="Arial"/>
                          <a:cs typeface="Arial"/>
                        </a:rPr>
                        <a:t>DEG and pathway</a:t>
                      </a:r>
                    </a:p>
                  </a:txBody>
                  <a:tcPr marL="95250" marR="95250" marT="66675" marB="66675" anchor="ctr">
                    <a:solidFill>
                      <a:srgbClr val="0077B6"/>
                    </a:solidFill>
                  </a:tcPr>
                </a:tc>
                <a:tc>
                  <a:txBody>
                    <a:bodyPr vert="horz" wrap="square"/>
                    <a:lstStyle/>
                    <a:p>
                      <a:pPr algn="ctr"/>
                      <a:r>
                        <a:rPr sz="1125" b="0">
                          <a:solidFill>
                            <a:srgbClr val="1F2D3D"/>
                          </a:solidFill>
                          <a:latin typeface="Arial"/>
                          <a:ea typeface="Arial"/>
                          <a:cs typeface="Arial"/>
                        </a:rPr>
                        <a:t>1–6</a:t>
                      </a:r>
                    </a:p>
                  </a:txBody>
                  <a:tcPr marL="95250" marR="95250" marT="66675" marB="66675" anchor="ctr">
                    <a:solidFill>
                      <a:srgbClr val="FFFFFF"/>
                    </a:solidFill>
                  </a:tcPr>
                </a:tc>
                <a:tc>
                  <a:txBody>
                    <a:bodyPr vert="horz" wrap="square"/>
                    <a:lstStyle/>
                    <a:p>
                      <a:pPr algn="l"/>
                      <a:r>
                        <a:rPr sz="1125">
                          <a:solidFill>
                            <a:srgbClr val="1F2D3D"/>
                          </a:solidFill>
                          <a:latin typeface="Arial"/>
                          <a:ea typeface="Arial"/>
                          <a:cs typeface="Arial"/>
                        </a:rPr>
                        <a:t>How do mitochondrial genes and pathways change within each sex/APOE group?</a:t>
                      </a:r>
                    </a:p>
                  </a:txBody>
                  <a:tcPr marL="95250" marR="95250" marT="66675" marB="66675" anchor="ctr">
                    <a:solidFill>
                      <a:srgbClr val="FFFFFF"/>
                    </a:solidFill>
                  </a:tcPr>
                </a:tc>
                <a:tc>
                  <a:txBody>
                    <a:bodyPr vert="horz" wrap="square"/>
                    <a:lstStyle/>
                    <a:p>
                      <a:pPr algn="l"/>
                      <a:r>
                        <a:rPr sz="1125">
                          <a:solidFill>
                            <a:srgbClr val="1F2D3D"/>
                          </a:solidFill>
                          <a:latin typeface="Arial"/>
                          <a:ea typeface="Arial"/>
                          <a:cs typeface="Arial"/>
                        </a:rPr>
                        <a:t>Primary biological results</a:t>
                      </a:r>
                    </a:p>
                  </a:txBody>
                  <a:tcPr marL="95250" marR="95250" marT="66675" marB="66675" anchor="ctr">
                    <a:solidFill>
                      <a:srgbClr val="FFFFFF"/>
                    </a:solidFill>
                  </a:tcPr>
                </a:tc>
                <a:extLst>
                  <a:ext uri="{0D108BD9-81ED-4DB2-BD59-A6C34878D82A}">
                    <a16:rowId xmlns:a16="http://schemas.microsoft.com/office/drawing/2014/main" val="10001"/>
                  </a:ext>
                </a:extLst>
              </a:tr>
              <a:tr h="1800225">
                <a:tc>
                  <a:txBody>
                    <a:bodyPr vert="horz" wrap="square"/>
                    <a:lstStyle/>
                    <a:p>
                      <a:pPr algn="l"/>
                      <a:r>
                        <a:rPr sz="1125" b="1">
                          <a:solidFill>
                            <a:srgbClr val="FFFFFF"/>
                          </a:solidFill>
                          <a:latin typeface="Arial"/>
                          <a:ea typeface="Arial"/>
                          <a:cs typeface="Arial"/>
                        </a:rPr>
                        <a:t>Results from KDA calls</a:t>
                      </a:r>
                    </a:p>
                  </a:txBody>
                  <a:tcPr marL="95250" marR="95250" marT="66675" marB="66675" anchor="ctr">
                    <a:solidFill>
                      <a:srgbClr val="00856F"/>
                    </a:solidFill>
                  </a:tcPr>
                </a:tc>
                <a:tc>
                  <a:txBody>
                    <a:bodyPr vert="horz" wrap="square"/>
                    <a:lstStyle/>
                    <a:p>
                      <a:pPr algn="ctr"/>
                      <a:r>
                        <a:rPr sz="1125" b="0">
                          <a:solidFill>
                            <a:srgbClr val="1F2D3D"/>
                          </a:solidFill>
                          <a:latin typeface="Arial"/>
                          <a:ea typeface="Arial"/>
                          <a:cs typeface="Arial"/>
                        </a:rPr>
                        <a:t>7–16 and 18</a:t>
                      </a:r>
                    </a:p>
                  </a:txBody>
                  <a:tcPr marL="95250" marR="95250" marT="66675" marB="66675" anchor="ctr">
                    <a:solidFill>
                      <a:srgbClr val="F7FAFD"/>
                    </a:solidFill>
                  </a:tcPr>
                </a:tc>
                <a:tc>
                  <a:txBody>
                    <a:bodyPr vert="horz" wrap="square"/>
                    <a:lstStyle/>
                    <a:p>
                      <a:pPr algn="l"/>
                      <a:r>
                        <a:rPr sz="1125">
                          <a:solidFill>
                            <a:srgbClr val="1F2D3D"/>
                          </a:solidFill>
                          <a:latin typeface="Arial"/>
                          <a:ea typeface="Arial"/>
                          <a:cs typeface="Arial"/>
                        </a:rPr>
                        <a:t>Which network genes are returned from KDA calls made with MitoCarta MT DEGs?</a:t>
                      </a:r>
                    </a:p>
                  </a:txBody>
                  <a:tcPr marL="95250" marR="95250" marT="66675" marB="66675" anchor="ctr">
                    <a:solidFill>
                      <a:srgbClr val="F7FAFD"/>
                    </a:solidFill>
                  </a:tcPr>
                </a:tc>
                <a:tc>
                  <a:txBody>
                    <a:bodyPr vert="horz" wrap="square"/>
                    <a:lstStyle/>
                    <a:p>
                      <a:pPr algn="l"/>
                      <a:r>
                        <a:rPr sz="1125">
                          <a:solidFill>
                            <a:srgbClr val="1F2D3D"/>
                          </a:solidFill>
                          <a:latin typeface="Arial"/>
                          <a:ea typeface="Arial"/>
                          <a:cs typeface="Arial"/>
                        </a:rPr>
                        <a:t>Candidate genes that may drive or explain mitochondrial changes</a:t>
                      </a:r>
                    </a:p>
                  </a:txBody>
                  <a:tcPr marL="95250" marR="95250" marT="66675" marB="66675" anchor="ctr">
                    <a:solidFill>
                      <a:srgbClr val="F7FAFD"/>
                    </a:solidFill>
                  </a:tcPr>
                </a:tc>
                <a:extLst>
                  <a:ext uri="{0D108BD9-81ED-4DB2-BD59-A6C34878D82A}">
                    <a16:rowId xmlns:a16="http://schemas.microsoft.com/office/drawing/2014/main" val="10002"/>
                  </a:ext>
                </a:extLst>
              </a:tr>
            </a:tbl>
          </a:graphicData>
        </a:graphic>
      </p:graphicFrame>
    </p:spTree>
    <p:extLst>
      <p:ext uri="{BB962C8B-B14F-4D97-AF65-F5344CB8AC3E}">
        <p14:creationId val="1715223424"/>
      </p:ext>
    </p:extLst>
  </p:cSld>
  <p:clrMapOvr>
    <a:masterClrMapping/>
  </p:clrMapOvr>
  <p:transition/>
  <p:timing/>
</p:sld>
</file>

<file path=ppt/slides/slide5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4F7FB"/>
        </a:solidFill>
        <a:effectLst/>
      </p:bgPr>
    </p:bg>
    <p:spTree>
      <p:nvGrpSpPr>
        <p:cNvPr id="1" name=""/>
        <p:cNvGrpSpPr/>
        <p:nvPr/>
      </p:nvGrpSpPr>
      <p:grpSpPr>
        <a:xfrm>
          <a:off x="0" y="0"/>
          <a:ext cx="0" cy="0"/>
        </a:xfrm>
      </p:grpSpPr>
      <p:sp>
        <p:nvSpPr>
          <p:cNvPr id="5" name="Summary 2 Title">
            <a:extLst>
              <a:ext uri="{FF2B5EF4-FFF2-40B4-BE49-F238E27FC236}">
                <a16:creationId xmlns:a16="http://schemas.microsoft.com/office/drawing/2014/main" id="{76B37456-FC65-485C-AC42-44438DF5942A}"/>
              </a:ext>
            </a:extLst>
          </p:cNvPr>
          <p:cNvSpPr>
            <a:spLocks noGrp="1"/>
          </p:cNvSpPr>
          <p:nvPr/>
        </p:nvSpPr>
        <p:spPr>
          <a:xfrm>
            <a:off x="609600" y="361950"/>
            <a:ext cx="10972800" cy="552450"/>
          </a:xfrm>
          <a:prstGeom prst="rect">
            <a:avLst/>
          </a:prstGeom>
          <a:noFill/>
          <a:ln w="0">
            <a:noFill/>
            <a:prstDash val="solid"/>
          </a:ln>
        </p:spPr>
        <p:txBody>
          <a:bodyPr wrap="square" lIns="0" tIns="0" rIns="0" bIns="0">
            <a:normAutofit/>
          </a:bodyPr>
          <a:lstStyle/>
          <a:p>
            <a:pPr algn="l">
              <a:buNone/>
              <a:defRPr sz="2250" b="1">
                <a:solidFill>
                  <a:srgbClr val="11263F"/>
                </a:solidFill>
                <a:latin typeface="Arial"/>
                <a:ea typeface="Arial"/>
                <a:cs typeface="Arial"/>
              </a:defRPr>
            </a:pPr>
            <a:r>
              <a:rPr sz="2250" b="1">
                <a:solidFill>
                  <a:srgbClr val="11263F"/>
                </a:solidFill>
                <a:latin typeface="Arial"/>
                <a:ea typeface="Arial"/>
                <a:cs typeface="Arial"/>
              </a:rPr>
              <a:t>Findings 1–6 are DEG and pathway results</a:t>
            </a:r>
          </a:p>
        </p:txBody>
      </p:sp>
      <p:sp>
        <p:nvSpPr>
          <p:cNvPr id="2" name="Summary 2 Subtitle">
            <a:extLst>
              <a:ext uri="{FF2B5EF4-FFF2-40B4-BE49-F238E27FC236}">
                <a16:creationId xmlns:a16="http://schemas.microsoft.com/office/drawing/2014/main" id="{7BF1DEDB-C4E9-4634-BFCC-D8571A40BB75}"/>
              </a:ext>
            </a:extLst>
          </p:cNvPr>
          <p:cNvSpPr>
            <a:spLocks noGrp="1"/>
          </p:cNvSpPr>
          <p:nvPr/>
        </p:nvSpPr>
        <p:spPr>
          <a:xfrm>
            <a:off x="628650" y="1000125"/>
            <a:ext cx="10934700" cy="419100"/>
          </a:xfrm>
          <a:prstGeom prst="rect">
            <a:avLst/>
          </a:prstGeom>
          <a:noFill/>
          <a:ln w="0">
            <a:noFill/>
            <a:prstDash val="solid"/>
          </a:ln>
        </p:spPr>
        <p:txBody>
          <a:bodyPr wrap="square" lIns="0" tIns="0" rIns="0" bIns="0">
            <a:normAutofit/>
          </a:bodyPr>
          <a:lstStyle/>
          <a:p>
            <a:pPr algn="l">
              <a:buNone/>
              <a:defRPr sz="1275">
                <a:solidFill>
                  <a:srgbClr val="536273"/>
                </a:solidFill>
                <a:latin typeface="Arial"/>
                <a:ea typeface="Arial"/>
                <a:cs typeface="Arial"/>
              </a:defRPr>
            </a:pPr>
            <a:r>
              <a:rPr sz="1275" b="1">
                <a:latin typeface="Arial"/>
                <a:ea typeface="Arial"/>
                <a:cs typeface="Arial"/>
              </a:rPr>
              <a:t>These findings describe mitochondrial gene-expression and pathway patterns before making KDA calls.</a:t>
            </a:r>
          </a:p>
        </p:txBody>
      </p:sp>
      <p:sp>
        <p:nvSpPr>
          <p:cNvPr id="4" name="Summary 2 Footer">
            <a:extLst>
              <a:ext uri="{FF2B5EF4-FFF2-40B4-BE49-F238E27FC236}">
                <a16:creationId xmlns:a16="http://schemas.microsoft.com/office/drawing/2014/main" id="{D2D4E65B-A402-41A3-AA8A-1A7D893AD32B}"/>
              </a:ext>
            </a:extLst>
          </p:cNvPr>
          <p:cNvSpPr>
            <a:spLocks noGrp="1"/>
          </p:cNvSpPr>
          <p:nvPr/>
        </p:nvSpPr>
        <p:spPr>
          <a:xfrm>
            <a:off x="685800" y="6115050"/>
            <a:ext cx="10820400" cy="400050"/>
          </a:xfrm>
          <a:prstGeom prst="rect">
            <a:avLst/>
          </a:prstGeom>
          <a:noFill/>
          <a:ln w="0">
            <a:noFill/>
            <a:prstDash val="solid"/>
          </a:ln>
        </p:spPr>
        <p:txBody>
          <a:bodyPr wrap="square" lIns="0" tIns="0" rIns="0" bIns="0">
            <a:normAutofit/>
          </a:bodyPr>
          <a:lstStyle/>
          <a:p>
            <a:pPr algn="l">
              <a:buNone/>
              <a:defRPr sz="1200" b="1">
                <a:solidFill>
                  <a:srgbClr val="7D4FA1"/>
                </a:solidFill>
                <a:latin typeface="Arial"/>
                <a:ea typeface="Arial"/>
                <a:cs typeface="Arial"/>
              </a:defRPr>
            </a:pPr>
            <a:r>
              <a:rPr sz="1200" b="1">
                <a:solidFill>
                  <a:srgbClr val="7D4FA1"/>
                </a:solidFill>
                <a:latin typeface="Arial"/>
                <a:ea typeface="Arial"/>
                <a:cs typeface="Arial"/>
              </a:rPr>
              <a:t>KDA calls are not involved in Findings 1–6.</a:t>
            </a:r>
          </a:p>
        </p:txBody>
      </p:sp>
      <p:graphicFrame>
        <p:nvGraphicFramePr>
          <p:cNvPr id="10" name="Summary 2 Table"/>
          <p:cNvGraphicFramePr>
            <a:graphicFrameLocks noGrp="1"/>
          </p:cNvGraphicFramePr>
          <p:nvPr/>
        </p:nvGraphicFramePr>
        <p:xfrm>
          <a:off x="666750" y="1524000"/>
          <a:ext cx="10858500" cy="4391028"/>
        </p:xfrm>
        <a:graphic>
          <a:graphicData uri="http://schemas.openxmlformats.org/drawingml/2006/table">
            <a:tbl>
              <a:tblPr firstRow="1"/>
              <a:tblGrid>
                <a:gridCol w="857250">
                  <a:extLst>
                    <a:ext uri="{9D8B030D-6E8A-4147-A177-3AD203B41FA5}">
                      <a16:colId xmlns:a16="http://schemas.microsoft.com/office/drawing/2014/main" val="20000"/>
                    </a:ext>
                  </a:extLst>
                </a:gridCol>
                <a:gridCol w="2095500">
                  <a:extLst>
                    <a:ext uri="{9D8B030D-6E8A-4147-A177-3AD203B41FA5}">
                      <a16:colId xmlns:a16="http://schemas.microsoft.com/office/drawing/2014/main" val="20001"/>
                    </a:ext>
                  </a:extLst>
                </a:gridCol>
                <a:gridCol w="6572250">
                  <a:extLst>
                    <a:ext uri="{9D8B030D-6E8A-4147-A177-3AD203B41FA5}">
                      <a16:colId xmlns:a16="http://schemas.microsoft.com/office/drawing/2014/main" val="20002"/>
                    </a:ext>
                  </a:extLst>
                </a:gridCol>
                <a:gridCol w="1333500">
                  <a:extLst>
                    <a:ext uri="{9D8B030D-6E8A-4147-A177-3AD203B41FA5}">
                      <a16:colId xmlns:a16="http://schemas.microsoft.com/office/drawing/2014/main" val="20003"/>
                    </a:ext>
                  </a:extLst>
                </a:gridCol>
              </a:tblGrid>
              <a:tr h="495300">
                <a:tc>
                  <a:txBody>
                    <a:bodyPr vert="horz" wrap="square"/>
                    <a:lstStyle/>
                    <a:p>
                      <a:pPr algn="ctr"/>
                      <a:r>
                        <a:rPr sz="1125" b="1">
                          <a:solidFill>
                            <a:srgbClr val="FFFFFF"/>
                          </a:solidFill>
                          <a:latin typeface="Arial"/>
                          <a:ea typeface="Arial"/>
                          <a:cs typeface="Arial"/>
                        </a:rPr>
                        <a:t>Finding</a:t>
                      </a:r>
                    </a:p>
                  </a:txBody>
                  <a:tcPr marL="95250" marR="95250" marT="66675" marB="66675" anchor="ctr">
                    <a:solidFill>
                      <a:srgbClr val="11263F"/>
                    </a:solidFill>
                  </a:tcPr>
                </a:tc>
                <a:tc>
                  <a:txBody>
                    <a:bodyPr vert="horz" wrap="square"/>
                    <a:lstStyle/>
                    <a:p>
                      <a:pPr algn="l"/>
                      <a:r>
                        <a:rPr sz="1125" b="1">
                          <a:solidFill>
                            <a:srgbClr val="FFFFFF"/>
                          </a:solidFill>
                          <a:latin typeface="Arial"/>
                          <a:ea typeface="Arial"/>
                          <a:cs typeface="Arial"/>
                        </a:rPr>
                        <a:t>Sex/APOE group</a:t>
                      </a:r>
                    </a:p>
                  </a:txBody>
                  <a:tcPr marL="95250" marR="95250" marT="66675" marB="66675" anchor="ctr">
                    <a:solidFill>
                      <a:srgbClr val="11263F"/>
                    </a:solidFill>
                  </a:tcPr>
                </a:tc>
                <a:tc>
                  <a:txBody>
                    <a:bodyPr vert="horz" wrap="square"/>
                    <a:lstStyle/>
                    <a:p>
                      <a:pPr algn="l"/>
                      <a:r>
                        <a:rPr sz="1125" b="1">
                          <a:solidFill>
                            <a:srgbClr val="FFFFFF"/>
                          </a:solidFill>
                          <a:latin typeface="Arial"/>
                          <a:ea typeface="Arial"/>
                          <a:cs typeface="Arial"/>
                        </a:rPr>
                        <a:t>Main result</a:t>
                      </a:r>
                    </a:p>
                  </a:txBody>
                  <a:tcPr marL="95250" marR="95250" marT="66675" marB="66675" anchor="ctr">
                    <a:solidFill>
                      <a:srgbClr val="11263F"/>
                    </a:solidFill>
                  </a:tcPr>
                </a:tc>
                <a:tc>
                  <a:txBody>
                    <a:bodyPr vert="horz" wrap="square"/>
                    <a:lstStyle/>
                    <a:p>
                      <a:pPr algn="ctr"/>
                      <a:r>
                        <a:rPr sz="1125" b="1">
                          <a:solidFill>
                            <a:srgbClr val="FFFFFF"/>
                          </a:solidFill>
                          <a:latin typeface="Arial"/>
                          <a:ea typeface="Arial"/>
                          <a:cs typeface="Arial"/>
                        </a:rPr>
                        <a:t>Novelty</a:t>
                      </a:r>
                    </a:p>
                  </a:txBody>
                  <a:tcPr marL="95250" marR="95250" marT="66675" marB="66675" anchor="ctr">
                    <a:solidFill>
                      <a:srgbClr val="11263F"/>
                    </a:solidFill>
                  </a:tcPr>
                </a:tc>
                <a:extLst>
                  <a:ext uri="{0D108BD9-81ED-4DB2-BD59-A6C34878D82A}">
                    <a16:rowId xmlns:a16="http://schemas.microsoft.com/office/drawing/2014/main" val="10000"/>
                  </a:ext>
                </a:extLst>
              </a:tr>
              <a:tr h="649288">
                <a:tc>
                  <a:txBody>
                    <a:bodyPr vert="horz" wrap="square"/>
                    <a:lstStyle/>
                    <a:p>
                      <a:pPr algn="ctr"/>
                      <a:r>
                        <a:rPr sz="1125" b="1">
                          <a:solidFill>
                            <a:srgbClr val="FFFFFF"/>
                          </a:solidFill>
                          <a:latin typeface="Arial"/>
                          <a:ea typeface="Arial"/>
                          <a:cs typeface="Arial"/>
                        </a:rPr>
                        <a:t>1</a:t>
                      </a:r>
                    </a:p>
                  </a:txBody>
                  <a:tcPr marL="95250" marR="95250" marT="66675" marB="66675" anchor="ctr">
                    <a:solidFill>
                      <a:srgbClr val="0077B6"/>
                    </a:solidFill>
                  </a:tcPr>
                </a:tc>
                <a:tc>
                  <a:txBody>
                    <a:bodyPr vert="horz" wrap="square"/>
                    <a:lstStyle/>
                    <a:p>
                      <a:pPr algn="l"/>
                      <a:r>
                        <a:rPr sz="1125">
                          <a:solidFill>
                            <a:srgbClr val="1F2D3D"/>
                          </a:solidFill>
                          <a:latin typeface="Arial"/>
                          <a:ea typeface="Arial"/>
                          <a:cs typeface="Arial"/>
                        </a:rPr>
                        <a:t>Female ε3/ε3</a:t>
                      </a:r>
                    </a:p>
                  </a:txBody>
                  <a:tcPr marL="95250" marR="95250" marT="66675" marB="66675" anchor="ctr">
                    <a:solidFill>
                      <a:srgbClr val="FFFFFF"/>
                    </a:solidFill>
                  </a:tcPr>
                </a:tc>
                <a:tc>
                  <a:txBody>
                    <a:bodyPr vert="horz" wrap="square"/>
                    <a:lstStyle/>
                    <a:p>
                      <a:pPr algn="l"/>
                      <a:r>
                        <a:rPr sz="1125">
                          <a:solidFill>
                            <a:srgbClr val="1F2D3D"/>
                          </a:solidFill>
                          <a:latin typeface="Arial"/>
                          <a:ea typeface="Arial"/>
                          <a:cs typeface="Arial"/>
                        </a:rPr>
                        <a:t>Core MT genes rise; nuclear-encoded OXPHOS genes also mostly rise in ROSMAP.</a:t>
                      </a:r>
                    </a:p>
                  </a:txBody>
                  <a:tcPr marL="95250" marR="95250" marT="66675" marB="66675" anchor="ctr">
                    <a:solidFill>
                      <a:srgbClr val="FFFFFF"/>
                    </a:solidFill>
                  </a:tcPr>
                </a:tc>
                <a:tc>
                  <a:txBody>
                    <a:bodyPr vert="horz" wrap="square"/>
                    <a:lstStyle/>
                    <a:p>
                      <a:pPr algn="ctr"/>
                      <a:r>
                        <a:rPr sz="1125" b="1">
                          <a:solidFill>
                            <a:srgbClr val="005E82"/>
                          </a:solidFill>
                          <a:latin typeface="Arial"/>
                          <a:ea typeface="Arial"/>
                          <a:cs typeface="Arial"/>
                        </a:rPr>
                        <a:t>Moderate</a:t>
                      </a:r>
                    </a:p>
                  </a:txBody>
                  <a:tcPr marL="95250" marR="95250" marT="66675" marB="66675" anchor="ctr">
                    <a:solidFill>
                      <a:srgbClr val="E5F2FA"/>
                    </a:solidFill>
                  </a:tcPr>
                </a:tc>
                <a:extLst>
                  <a:ext uri="{0D108BD9-81ED-4DB2-BD59-A6C34878D82A}">
                    <a16:rowId xmlns:a16="http://schemas.microsoft.com/office/drawing/2014/main" val="10001"/>
                  </a:ext>
                </a:extLst>
              </a:tr>
              <a:tr h="649288">
                <a:tc>
                  <a:txBody>
                    <a:bodyPr vert="horz" wrap="square"/>
                    <a:lstStyle/>
                    <a:p>
                      <a:pPr algn="ctr"/>
                      <a:r>
                        <a:rPr sz="1125" b="1">
                          <a:solidFill>
                            <a:srgbClr val="FFFFFF"/>
                          </a:solidFill>
                          <a:latin typeface="Arial"/>
                          <a:ea typeface="Arial"/>
                          <a:cs typeface="Arial"/>
                        </a:rPr>
                        <a:t>2</a:t>
                      </a:r>
                    </a:p>
                  </a:txBody>
                  <a:tcPr marL="95250" marR="95250" marT="66675" marB="66675" anchor="ctr">
                    <a:solidFill>
                      <a:srgbClr val="0077B6"/>
                    </a:solidFill>
                  </a:tcPr>
                </a:tc>
                <a:tc>
                  <a:txBody>
                    <a:bodyPr vert="horz" wrap="square"/>
                    <a:lstStyle/>
                    <a:p>
                      <a:pPr algn="l"/>
                      <a:r>
                        <a:rPr sz="1125">
                          <a:solidFill>
                            <a:srgbClr val="1F2D3D"/>
                          </a:solidFill>
                          <a:latin typeface="Arial"/>
                          <a:ea typeface="Arial"/>
                          <a:cs typeface="Arial"/>
                        </a:rPr>
                        <a:t>Male ε3/ε3</a:t>
                      </a:r>
                    </a:p>
                  </a:txBody>
                  <a:tcPr marL="95250" marR="95250" marT="66675" marB="66675" anchor="ctr">
                    <a:solidFill>
                      <a:srgbClr val="F7FAFD"/>
                    </a:solidFill>
                  </a:tcPr>
                </a:tc>
                <a:tc>
                  <a:txBody>
                    <a:bodyPr vert="horz" wrap="square"/>
                    <a:lstStyle/>
                    <a:p>
                      <a:pPr algn="l"/>
                      <a:r>
                        <a:rPr sz="1125">
                          <a:solidFill>
                            <a:srgbClr val="1F2D3D"/>
                          </a:solidFill>
                          <a:latin typeface="Arial"/>
                          <a:ea typeface="Arial"/>
                          <a:cs typeface="Arial"/>
                        </a:rPr>
                        <a:t>Core MT genes rise while nuclear-encoded OXPHOS genes fall.</a:t>
                      </a:r>
                    </a:p>
                  </a:txBody>
                  <a:tcPr marL="95250" marR="95250" marT="66675" marB="66675" anchor="ctr">
                    <a:solidFill>
                      <a:srgbClr val="F7FAFD"/>
                    </a:solidFill>
                  </a:tcPr>
                </a:tc>
                <a:tc>
                  <a:txBody>
                    <a:bodyPr vert="horz" wrap="square"/>
                    <a:lstStyle/>
                    <a:p>
                      <a:pPr algn="ctr"/>
                      <a:r>
                        <a:rPr sz="1125" b="1">
                          <a:solidFill>
                            <a:srgbClr val="8A4A00"/>
                          </a:solidFill>
                          <a:latin typeface="Arial"/>
                          <a:ea typeface="Arial"/>
                          <a:cs typeface="Arial"/>
                        </a:rPr>
                        <a:t>High</a:t>
                      </a:r>
                    </a:p>
                  </a:txBody>
                  <a:tcPr marL="95250" marR="95250" marT="66675" marB="66675" anchor="ctr">
                    <a:solidFill>
                      <a:srgbClr val="FFF1CE"/>
                    </a:solidFill>
                  </a:tcPr>
                </a:tc>
                <a:extLst>
                  <a:ext uri="{0D108BD9-81ED-4DB2-BD59-A6C34878D82A}">
                    <a16:rowId xmlns:a16="http://schemas.microsoft.com/office/drawing/2014/main" val="10002"/>
                  </a:ext>
                </a:extLst>
              </a:tr>
              <a:tr h="649288">
                <a:tc>
                  <a:txBody>
                    <a:bodyPr vert="horz" wrap="square"/>
                    <a:lstStyle/>
                    <a:p>
                      <a:pPr algn="ctr"/>
                      <a:r>
                        <a:rPr sz="1125" b="1">
                          <a:solidFill>
                            <a:srgbClr val="FFFFFF"/>
                          </a:solidFill>
                          <a:latin typeface="Arial"/>
                          <a:ea typeface="Arial"/>
                          <a:cs typeface="Arial"/>
                        </a:rPr>
                        <a:t>3</a:t>
                      </a:r>
                    </a:p>
                  </a:txBody>
                  <a:tcPr marL="95250" marR="95250" marT="66675" marB="66675" anchor="ctr">
                    <a:solidFill>
                      <a:srgbClr val="0077B6"/>
                    </a:solidFill>
                  </a:tcPr>
                </a:tc>
                <a:tc>
                  <a:txBody>
                    <a:bodyPr vert="horz" wrap="square"/>
                    <a:lstStyle/>
                    <a:p>
                      <a:pPr algn="l"/>
                      <a:r>
                        <a:rPr sz="1125">
                          <a:solidFill>
                            <a:srgbClr val="1F2D3D"/>
                          </a:solidFill>
                          <a:latin typeface="Arial"/>
                          <a:ea typeface="Arial"/>
                          <a:cs typeface="Arial"/>
                        </a:rPr>
                        <a:t>Female ε2</a:t>
                      </a:r>
                    </a:p>
                  </a:txBody>
                  <a:tcPr marL="95250" marR="95250" marT="66675" marB="66675" anchor="ctr">
                    <a:solidFill>
                      <a:srgbClr val="FFFFFF"/>
                    </a:solidFill>
                  </a:tcPr>
                </a:tc>
                <a:tc>
                  <a:txBody>
                    <a:bodyPr vert="horz" wrap="square"/>
                    <a:lstStyle/>
                    <a:p>
                      <a:pPr algn="l"/>
                      <a:r>
                        <a:rPr sz="1125">
                          <a:solidFill>
                            <a:srgbClr val="1F2D3D"/>
                          </a:solidFill>
                          <a:latin typeface="Arial"/>
                          <a:ea typeface="Arial"/>
                          <a:cs typeface="Arial"/>
                        </a:rPr>
                        <a:t>Core MT and nuclear-encoded OXPHOS genes both rise.</a:t>
                      </a:r>
                    </a:p>
                  </a:txBody>
                  <a:tcPr marL="95250" marR="95250" marT="66675" marB="66675" anchor="ctr">
                    <a:solidFill>
                      <a:srgbClr val="FFFFFF"/>
                    </a:solidFill>
                  </a:tcPr>
                </a:tc>
                <a:tc>
                  <a:txBody>
                    <a:bodyPr vert="horz" wrap="square"/>
                    <a:lstStyle/>
                    <a:p>
                      <a:pPr algn="ctr"/>
                      <a:r>
                        <a:rPr sz="1125" b="1">
                          <a:solidFill>
                            <a:srgbClr val="8A4A00"/>
                          </a:solidFill>
                          <a:latin typeface="Arial"/>
                          <a:ea typeface="Arial"/>
                          <a:cs typeface="Arial"/>
                        </a:rPr>
                        <a:t>High</a:t>
                      </a:r>
                    </a:p>
                  </a:txBody>
                  <a:tcPr marL="95250" marR="95250" marT="66675" marB="66675" anchor="ctr">
                    <a:solidFill>
                      <a:srgbClr val="FFF1CE"/>
                    </a:solidFill>
                  </a:tcPr>
                </a:tc>
                <a:extLst>
                  <a:ext uri="{0D108BD9-81ED-4DB2-BD59-A6C34878D82A}">
                    <a16:rowId xmlns:a16="http://schemas.microsoft.com/office/drawing/2014/main" val="10003"/>
                  </a:ext>
                </a:extLst>
              </a:tr>
              <a:tr h="649288">
                <a:tc>
                  <a:txBody>
                    <a:bodyPr vert="horz" wrap="square"/>
                    <a:lstStyle/>
                    <a:p>
                      <a:pPr algn="ctr"/>
                      <a:r>
                        <a:rPr sz="1125" b="1">
                          <a:solidFill>
                            <a:srgbClr val="FFFFFF"/>
                          </a:solidFill>
                          <a:latin typeface="Arial"/>
                          <a:ea typeface="Arial"/>
                          <a:cs typeface="Arial"/>
                        </a:rPr>
                        <a:t>4</a:t>
                      </a:r>
                    </a:p>
                  </a:txBody>
                  <a:tcPr marL="95250" marR="95250" marT="66675" marB="66675" anchor="ctr">
                    <a:solidFill>
                      <a:srgbClr val="0077B6"/>
                    </a:solidFill>
                  </a:tcPr>
                </a:tc>
                <a:tc>
                  <a:txBody>
                    <a:bodyPr vert="horz" wrap="square"/>
                    <a:lstStyle/>
                    <a:p>
                      <a:pPr algn="l"/>
                      <a:r>
                        <a:rPr sz="1125">
                          <a:solidFill>
                            <a:srgbClr val="1F2D3D"/>
                          </a:solidFill>
                          <a:latin typeface="Arial"/>
                          <a:ea typeface="Arial"/>
                          <a:cs typeface="Arial"/>
                        </a:rPr>
                        <a:t>Female ε4</a:t>
                      </a:r>
                    </a:p>
                  </a:txBody>
                  <a:tcPr marL="95250" marR="95250" marT="66675" marB="66675" anchor="ctr">
                    <a:solidFill>
                      <a:srgbClr val="F7FAFD"/>
                    </a:solidFill>
                  </a:tcPr>
                </a:tc>
                <a:tc>
                  <a:txBody>
                    <a:bodyPr vert="horz" wrap="square"/>
                    <a:lstStyle/>
                    <a:p>
                      <a:pPr algn="l"/>
                      <a:r>
                        <a:rPr sz="1125">
                          <a:solidFill>
                            <a:srgbClr val="1F2D3D"/>
                          </a:solidFill>
                          <a:latin typeface="Arial"/>
                          <a:ea typeface="Arial"/>
                          <a:cs typeface="Arial"/>
                        </a:rPr>
                        <a:t>Nuclear-encoded OXPHOS genes show a strong decrease.</a:t>
                      </a:r>
                    </a:p>
                  </a:txBody>
                  <a:tcPr marL="95250" marR="95250" marT="66675" marB="66675" anchor="ctr">
                    <a:solidFill>
                      <a:srgbClr val="F7FAFD"/>
                    </a:solidFill>
                  </a:tcPr>
                </a:tc>
                <a:tc>
                  <a:txBody>
                    <a:bodyPr vert="horz" wrap="square"/>
                    <a:lstStyle/>
                    <a:p>
                      <a:pPr algn="ctr"/>
                      <a:r>
                        <a:rPr sz="1125" b="1">
                          <a:solidFill>
                            <a:srgbClr val="005E82"/>
                          </a:solidFill>
                          <a:latin typeface="Arial"/>
                          <a:ea typeface="Arial"/>
                          <a:cs typeface="Arial"/>
                        </a:rPr>
                        <a:t>Moderate</a:t>
                      </a:r>
                    </a:p>
                  </a:txBody>
                  <a:tcPr marL="95250" marR="95250" marT="66675" marB="66675" anchor="ctr">
                    <a:solidFill>
                      <a:srgbClr val="E5F2FA"/>
                    </a:solidFill>
                  </a:tcPr>
                </a:tc>
                <a:extLst>
                  <a:ext uri="{0D108BD9-81ED-4DB2-BD59-A6C34878D82A}">
                    <a16:rowId xmlns:a16="http://schemas.microsoft.com/office/drawing/2014/main" val="10004"/>
                  </a:ext>
                </a:extLst>
              </a:tr>
              <a:tr h="649288">
                <a:tc>
                  <a:txBody>
                    <a:bodyPr vert="horz" wrap="square"/>
                    <a:lstStyle/>
                    <a:p>
                      <a:pPr algn="ctr"/>
                      <a:r>
                        <a:rPr sz="1125" b="1">
                          <a:solidFill>
                            <a:srgbClr val="FFFFFF"/>
                          </a:solidFill>
                          <a:latin typeface="Arial"/>
                          <a:ea typeface="Arial"/>
                          <a:cs typeface="Arial"/>
                        </a:rPr>
                        <a:t>5</a:t>
                      </a:r>
                    </a:p>
                  </a:txBody>
                  <a:tcPr marL="95250" marR="95250" marT="66675" marB="66675" anchor="ctr">
                    <a:solidFill>
                      <a:srgbClr val="0077B6"/>
                    </a:solidFill>
                  </a:tcPr>
                </a:tc>
                <a:tc>
                  <a:txBody>
                    <a:bodyPr vert="horz" wrap="square"/>
                    <a:lstStyle/>
                    <a:p>
                      <a:pPr algn="l"/>
                      <a:r>
                        <a:rPr sz="1125">
                          <a:solidFill>
                            <a:srgbClr val="1F2D3D"/>
                          </a:solidFill>
                          <a:latin typeface="Arial"/>
                          <a:ea typeface="Arial"/>
                          <a:cs typeface="Arial"/>
                        </a:rPr>
                        <a:t>Male ε2</a:t>
                      </a:r>
                    </a:p>
                  </a:txBody>
                  <a:tcPr marL="95250" marR="95250" marT="66675" marB="66675" anchor="ctr">
                    <a:solidFill>
                      <a:srgbClr val="FFFFFF"/>
                    </a:solidFill>
                  </a:tcPr>
                </a:tc>
                <a:tc>
                  <a:txBody>
                    <a:bodyPr vert="horz" wrap="square"/>
                    <a:lstStyle/>
                    <a:p>
                      <a:pPr algn="l"/>
                      <a:r>
                        <a:rPr sz="1125">
                          <a:solidFill>
                            <a:srgbClr val="1F2D3D"/>
                          </a:solidFill>
                          <a:latin typeface="Arial"/>
                          <a:ea typeface="Arial"/>
                          <a:cs typeface="Arial"/>
                        </a:rPr>
                        <a:t>Both core MT and nuclear-encoded OXPHOS gene sets show broad decreases.</a:t>
                      </a:r>
                    </a:p>
                  </a:txBody>
                  <a:tcPr marL="95250" marR="95250" marT="66675" marB="66675" anchor="ctr">
                    <a:solidFill>
                      <a:srgbClr val="FFFFFF"/>
                    </a:solidFill>
                  </a:tcPr>
                </a:tc>
                <a:tc>
                  <a:txBody>
                    <a:bodyPr vert="horz" wrap="square"/>
                    <a:lstStyle/>
                    <a:p>
                      <a:pPr algn="ctr"/>
                      <a:r>
                        <a:rPr sz="1125" b="1">
                          <a:solidFill>
                            <a:srgbClr val="8A4A00"/>
                          </a:solidFill>
                          <a:latin typeface="Arial"/>
                          <a:ea typeface="Arial"/>
                          <a:cs typeface="Arial"/>
                        </a:rPr>
                        <a:t>High</a:t>
                      </a:r>
                    </a:p>
                  </a:txBody>
                  <a:tcPr marL="95250" marR="95250" marT="66675" marB="66675" anchor="ctr">
                    <a:solidFill>
                      <a:srgbClr val="FFF1CE"/>
                    </a:solidFill>
                  </a:tcPr>
                </a:tc>
                <a:extLst>
                  <a:ext uri="{0D108BD9-81ED-4DB2-BD59-A6C34878D82A}">
                    <a16:rowId xmlns:a16="http://schemas.microsoft.com/office/drawing/2014/main" val="10005"/>
                  </a:ext>
                </a:extLst>
              </a:tr>
              <a:tr h="649288">
                <a:tc>
                  <a:txBody>
                    <a:bodyPr vert="horz" wrap="square"/>
                    <a:lstStyle/>
                    <a:p>
                      <a:pPr algn="ctr"/>
                      <a:r>
                        <a:rPr sz="1125" b="1">
                          <a:solidFill>
                            <a:srgbClr val="FFFFFF"/>
                          </a:solidFill>
                          <a:latin typeface="Arial"/>
                          <a:ea typeface="Arial"/>
                          <a:cs typeface="Arial"/>
                        </a:rPr>
                        <a:t>6</a:t>
                      </a:r>
                    </a:p>
                  </a:txBody>
                  <a:tcPr marL="95250" marR="95250" marT="66675" marB="66675" anchor="ctr">
                    <a:solidFill>
                      <a:srgbClr val="0077B6"/>
                    </a:solidFill>
                  </a:tcPr>
                </a:tc>
                <a:tc>
                  <a:txBody>
                    <a:bodyPr vert="horz" wrap="square"/>
                    <a:lstStyle/>
                    <a:p>
                      <a:pPr algn="l"/>
                      <a:r>
                        <a:rPr sz="1125">
                          <a:solidFill>
                            <a:srgbClr val="1F2D3D"/>
                          </a:solidFill>
                          <a:latin typeface="Arial"/>
                          <a:ea typeface="Arial"/>
                          <a:cs typeface="Arial"/>
                        </a:rPr>
                        <a:t>Male ε4</a:t>
                      </a:r>
                    </a:p>
                  </a:txBody>
                  <a:tcPr marL="95250" marR="95250" marT="66675" marB="66675" anchor="ctr">
                    <a:solidFill>
                      <a:srgbClr val="F7FAFD"/>
                    </a:solidFill>
                  </a:tcPr>
                </a:tc>
                <a:tc>
                  <a:txBody>
                    <a:bodyPr vert="horz" wrap="square"/>
                    <a:lstStyle/>
                    <a:p>
                      <a:pPr algn="l"/>
                      <a:r>
                        <a:rPr sz="1125">
                          <a:solidFill>
                            <a:srgbClr val="1F2D3D"/>
                          </a:solidFill>
                          <a:latin typeface="Arial"/>
                          <a:ea typeface="Arial"/>
                          <a:cs typeface="Arial"/>
                        </a:rPr>
                        <a:t>Core MT genes rise while nuclear-encoded OXPHOS genes decrease more modestly.</a:t>
                      </a:r>
                    </a:p>
                  </a:txBody>
                  <a:tcPr marL="95250" marR="95250" marT="66675" marB="66675" anchor="ctr">
                    <a:solidFill>
                      <a:srgbClr val="F7FAFD"/>
                    </a:solidFill>
                  </a:tcPr>
                </a:tc>
                <a:tc>
                  <a:txBody>
                    <a:bodyPr vert="horz" wrap="square"/>
                    <a:lstStyle/>
                    <a:p>
                      <a:pPr algn="ctr"/>
                      <a:r>
                        <a:rPr sz="1125" b="1">
                          <a:solidFill>
                            <a:srgbClr val="005E82"/>
                          </a:solidFill>
                          <a:latin typeface="Arial"/>
                          <a:ea typeface="Arial"/>
                          <a:cs typeface="Arial"/>
                        </a:rPr>
                        <a:t>Moderate</a:t>
                      </a:r>
                    </a:p>
                  </a:txBody>
                  <a:tcPr marL="95250" marR="95250" marT="66675" marB="66675" anchor="ctr">
                    <a:solidFill>
                      <a:srgbClr val="E5F2FA"/>
                    </a:solidFill>
                  </a:tcPr>
                </a:tc>
                <a:extLst>
                  <a:ext uri="{0D108BD9-81ED-4DB2-BD59-A6C34878D82A}">
                    <a16:rowId xmlns:a16="http://schemas.microsoft.com/office/drawing/2014/main" val="10006"/>
                  </a:ext>
                </a:extLst>
              </a:tr>
            </a:tbl>
          </a:graphicData>
        </a:graphic>
      </p:graphicFrame>
    </p:spTree>
    <p:extLst>
      <p:ext uri="{BB962C8B-B14F-4D97-AF65-F5344CB8AC3E}">
        <p14:creationId val="217801484"/>
      </p:ext>
    </p:extLst>
  </p:cSld>
  <p:clrMapOvr>
    <a:masterClrMapping/>
  </p:clrMapOvr>
  <p:transition/>
  <p:timing/>
</p:sld>
</file>

<file path=ppt/slides/slide5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4F7FB"/>
        </a:solidFill>
        <a:effectLst/>
      </p:bgPr>
    </p:bg>
    <p:spTree>
      <p:nvGrpSpPr>
        <p:cNvPr id="1" name=""/>
        <p:cNvGrpSpPr/>
        <p:nvPr/>
      </p:nvGrpSpPr>
      <p:grpSpPr>
        <a:xfrm>
          <a:off x="0" y="0"/>
          <a:ext cx="0" cy="0"/>
        </a:xfrm>
      </p:grpSpPr>
      <p:sp>
        <p:nvSpPr>
          <p:cNvPr id="5" name="Summary 3 Title">
            <a:extLst>
              <a:ext uri="{FF2B5EF4-FFF2-40B4-BE49-F238E27FC236}">
                <a16:creationId xmlns:a16="http://schemas.microsoft.com/office/drawing/2014/main" id="{B6702C0F-F928-48C6-B90F-E8A58AE4BB3A}"/>
              </a:ext>
            </a:extLst>
          </p:cNvPr>
          <p:cNvSpPr>
            <a:spLocks noGrp="1"/>
          </p:cNvSpPr>
          <p:nvPr/>
        </p:nvSpPr>
        <p:spPr>
          <a:xfrm>
            <a:off x="609600" y="361950"/>
            <a:ext cx="10972800" cy="552450"/>
          </a:xfrm>
          <a:prstGeom prst="rect">
            <a:avLst/>
          </a:prstGeom>
          <a:noFill/>
          <a:ln w="0">
            <a:noFill/>
            <a:prstDash val="solid"/>
          </a:ln>
        </p:spPr>
        <p:txBody>
          <a:bodyPr wrap="square" lIns="0" tIns="0" rIns="0" bIns="0">
            <a:normAutofit/>
          </a:bodyPr>
          <a:lstStyle/>
          <a:p>
            <a:pPr algn="l">
              <a:buNone/>
              <a:defRPr sz="2250" b="1">
                <a:solidFill>
                  <a:srgbClr val="11263F"/>
                </a:solidFill>
                <a:latin typeface="Arial"/>
                <a:ea typeface="Arial"/>
                <a:cs typeface="Arial"/>
              </a:defRPr>
            </a:pPr>
            <a:r>
              <a:rPr sz="2250" b="1">
                <a:solidFill>
                  <a:srgbClr val="11263F"/>
                </a:solidFill>
                <a:latin typeface="Arial"/>
                <a:ea typeface="Arial"/>
                <a:cs typeface="Arial"/>
              </a:rPr>
              <a:t>Recurring sex/APOE-linked genes from KDA calls</a:t>
            </a:r>
          </a:p>
        </p:txBody>
      </p:sp>
      <p:sp>
        <p:nvSpPr>
          <p:cNvPr id="2" name="Summary 3 Subtitle">
            <a:extLst>
              <a:ext uri="{FF2B5EF4-FFF2-40B4-BE49-F238E27FC236}">
                <a16:creationId xmlns:a16="http://schemas.microsoft.com/office/drawing/2014/main" id="{B700F485-92CF-4D95-A882-47481A5D215A}"/>
              </a:ext>
            </a:extLst>
          </p:cNvPr>
          <p:cNvSpPr>
            <a:spLocks noGrp="1"/>
          </p:cNvSpPr>
          <p:nvPr/>
        </p:nvSpPr>
        <p:spPr>
          <a:xfrm>
            <a:off x="628650" y="1000125"/>
            <a:ext cx="10934700" cy="419100"/>
          </a:xfrm>
          <a:prstGeom prst="rect">
            <a:avLst/>
          </a:prstGeom>
          <a:noFill/>
          <a:ln w="0">
            <a:noFill/>
            <a:prstDash val="solid"/>
          </a:ln>
        </p:spPr>
        <p:txBody>
          <a:bodyPr wrap="square" lIns="0" tIns="0" rIns="0" bIns="0">
            <a:normAutofit/>
          </a:bodyPr>
          <a:lstStyle/>
          <a:p>
            <a:pPr algn="l">
              <a:buNone/>
              <a:defRPr sz="1275">
                <a:solidFill>
                  <a:srgbClr val="536273"/>
                </a:solidFill>
                <a:latin typeface="Arial"/>
                <a:ea typeface="Arial"/>
                <a:cs typeface="Arial"/>
              </a:defRPr>
            </a:pPr>
            <a:r>
              <a:rPr sz="1275">
                <a:solidFill>
                  <a:srgbClr val="536273"/>
                </a:solidFill>
                <a:latin typeface="Arial"/>
                <a:ea typeface="Arial"/>
                <a:cs typeface="Arial"/>
              </a:rPr>
              <a:t>These genes were returned from KDA calls in several sex/APOE groups or were repeatedly connected to mitochondrial genes.</a:t>
            </a:r>
          </a:p>
        </p:txBody>
      </p:sp>
      <p:sp>
        <p:nvSpPr>
          <p:cNvPr id="4" name="Summary 3 Footer">
            <a:extLst>
              <a:ext uri="{FF2B5EF4-FFF2-40B4-BE49-F238E27FC236}">
                <a16:creationId xmlns:a16="http://schemas.microsoft.com/office/drawing/2014/main" id="{6E92A41E-3488-4982-BE1D-A9B40EDA98AE}"/>
              </a:ext>
            </a:extLst>
          </p:cNvPr>
          <p:cNvSpPr>
            <a:spLocks noGrp="1"/>
          </p:cNvSpPr>
          <p:nvPr/>
        </p:nvSpPr>
        <p:spPr>
          <a:xfrm>
            <a:off x="685800" y="6115050"/>
            <a:ext cx="10820400" cy="400050"/>
          </a:xfrm>
          <a:prstGeom prst="rect">
            <a:avLst/>
          </a:prstGeom>
          <a:noFill/>
          <a:ln w="0">
            <a:noFill/>
            <a:prstDash val="solid"/>
          </a:ln>
        </p:spPr>
        <p:txBody>
          <a:bodyPr wrap="square" lIns="0" tIns="0" rIns="0" bIns="0">
            <a:normAutofit/>
          </a:bodyPr>
          <a:lstStyle/>
          <a:p>
            <a:pPr algn="l">
              <a:buNone/>
              <a:defRPr sz="1200" b="1">
                <a:solidFill>
                  <a:srgbClr val="7D4FA1"/>
                </a:solidFill>
                <a:latin typeface="Arial"/>
                <a:ea typeface="Arial"/>
                <a:cs typeface="Arial"/>
              </a:defRPr>
            </a:pPr>
            <a:r>
              <a:rPr sz="1200" b="1">
                <a:solidFill>
                  <a:srgbClr val="7D4FA1"/>
                </a:solidFill>
                <a:latin typeface="Arial"/>
                <a:ea typeface="Arial"/>
                <a:cs typeface="Arial"/>
              </a:rPr>
              <a:t>Genes returned from KDA calls are candidates. Network connections do not prove regulation or causality.</a:t>
            </a:r>
          </a:p>
        </p:txBody>
      </p:sp>
      <p:graphicFrame>
        <p:nvGraphicFramePr>
          <p:cNvPr id="10" name="Summary 3 Table"/>
          <p:cNvGraphicFramePr>
            <a:graphicFrameLocks noGrp="1"/>
          </p:cNvGraphicFramePr>
          <p:nvPr/>
        </p:nvGraphicFramePr>
        <p:xfrm>
          <a:off x="666750" y="1524000"/>
          <a:ext cx="10858500" cy="4391025"/>
        </p:xfrm>
        <a:graphic>
          <a:graphicData uri="http://schemas.openxmlformats.org/drawingml/2006/table">
            <a:tbl>
              <a:tblPr firstRow="1"/>
              <a:tblGrid>
                <a:gridCol w="809625">
                  <a:extLst>
                    <a:ext uri="{9D8B030D-6E8A-4147-A177-3AD203B41FA5}">
                      <a16:colId xmlns:a16="http://schemas.microsoft.com/office/drawing/2014/main" val="20000"/>
                    </a:ext>
                  </a:extLst>
                </a:gridCol>
                <a:gridCol w="2571750">
                  <a:extLst>
                    <a:ext uri="{9D8B030D-6E8A-4147-A177-3AD203B41FA5}">
                      <a16:colId xmlns:a16="http://schemas.microsoft.com/office/drawing/2014/main" val="20001"/>
                    </a:ext>
                  </a:extLst>
                </a:gridCol>
                <a:gridCol w="5953125">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495300">
                <a:tc>
                  <a:txBody>
                    <a:bodyPr vert="horz" wrap="square"/>
                    <a:lstStyle/>
                    <a:p>
                      <a:pPr algn="ctr"/>
                      <a:r>
                        <a:rPr sz="1125" b="1">
                          <a:solidFill>
                            <a:srgbClr val="FFFFFF"/>
                          </a:solidFill>
                          <a:latin typeface="Arial"/>
                          <a:ea typeface="Arial"/>
                          <a:cs typeface="Arial"/>
                        </a:rPr>
                        <a:t>Finding</a:t>
                      </a:r>
                    </a:p>
                  </a:txBody>
                  <a:tcPr marL="95250" marR="95250" marT="66675" marB="66675" anchor="ctr">
                    <a:solidFill>
                      <a:srgbClr val="11263F"/>
                    </a:solidFill>
                  </a:tcPr>
                </a:tc>
                <a:tc>
                  <a:txBody>
                    <a:bodyPr vert="horz" wrap="square"/>
                    <a:lstStyle/>
                    <a:p>
                      <a:pPr algn="l"/>
                      <a:r>
                        <a:rPr sz="1125" b="1">
                          <a:solidFill>
                            <a:srgbClr val="FFFFFF"/>
                          </a:solidFill>
                          <a:latin typeface="Arial"/>
                          <a:ea typeface="Arial"/>
                          <a:cs typeface="Arial"/>
                        </a:rPr>
                        <a:t>Observed groups</a:t>
                      </a:r>
                    </a:p>
                  </a:txBody>
                  <a:tcPr marL="95250" marR="95250" marT="66675" marB="66675" anchor="ctr">
                    <a:solidFill>
                      <a:srgbClr val="11263F"/>
                    </a:solidFill>
                  </a:tcPr>
                </a:tc>
                <a:tc>
                  <a:txBody>
                    <a:bodyPr vert="horz" wrap="square"/>
                    <a:lstStyle/>
                    <a:p>
                      <a:pPr algn="l"/>
                      <a:r>
                        <a:rPr sz="1125" b="1">
                          <a:solidFill>
                            <a:srgbClr val="FFFFFF"/>
                          </a:solidFill>
                          <a:latin typeface="Arial"/>
                          <a:ea typeface="Arial"/>
                          <a:cs typeface="Arial"/>
                        </a:rPr>
                        <a:t>Gene and mitochondrial connection</a:t>
                      </a:r>
                    </a:p>
                  </a:txBody>
                  <a:tcPr marL="95250" marR="95250" marT="66675" marB="66675" anchor="ctr">
                    <a:solidFill>
                      <a:srgbClr val="11263F"/>
                    </a:solidFill>
                  </a:tcPr>
                </a:tc>
                <a:tc>
                  <a:txBody>
                    <a:bodyPr vert="horz" wrap="square"/>
                    <a:lstStyle/>
                    <a:p>
                      <a:pPr algn="ctr"/>
                      <a:r>
                        <a:rPr sz="1125" b="1">
                          <a:solidFill>
                            <a:srgbClr val="FFFFFF"/>
                          </a:solidFill>
                          <a:latin typeface="Arial"/>
                          <a:ea typeface="Arial"/>
                          <a:cs typeface="Arial"/>
                        </a:rPr>
                        <a:t>Novelty</a:t>
                      </a:r>
                    </a:p>
                  </a:txBody>
                  <a:tcPr marL="95250" marR="95250" marT="66675" marB="66675" anchor="ctr">
                    <a:solidFill>
                      <a:srgbClr val="11263F"/>
                    </a:solidFill>
                  </a:tcPr>
                </a:tc>
                <a:extLst>
                  <a:ext uri="{0D108BD9-81ED-4DB2-BD59-A6C34878D82A}">
                    <a16:rowId xmlns:a16="http://schemas.microsoft.com/office/drawing/2014/main" val="10000"/>
                  </a:ext>
                </a:extLst>
              </a:tr>
              <a:tr h="779145">
                <a:tc>
                  <a:txBody>
                    <a:bodyPr vert="horz" wrap="square"/>
                    <a:lstStyle/>
                    <a:p>
                      <a:pPr algn="ctr"/>
                      <a:r>
                        <a:rPr sz="1125" b="1">
                          <a:solidFill>
                            <a:srgbClr val="FFFFFF"/>
                          </a:solidFill>
                          <a:latin typeface="Arial"/>
                          <a:ea typeface="Arial"/>
                          <a:cs typeface="Arial"/>
                        </a:rPr>
                        <a:t>8</a:t>
                      </a:r>
                    </a:p>
                  </a:txBody>
                  <a:tcPr marL="95250" marR="95250" marT="66675" marB="66675" anchor="ctr">
                    <a:solidFill>
                      <a:srgbClr val="00856F"/>
                    </a:solidFill>
                  </a:tcPr>
                </a:tc>
                <a:tc>
                  <a:txBody>
                    <a:bodyPr vert="horz" wrap="square"/>
                    <a:lstStyle/>
                    <a:p>
                      <a:pPr algn="l"/>
                      <a:r>
                        <a:rPr sz="1125">
                          <a:solidFill>
                            <a:srgbClr val="1F2D3D"/>
                          </a:solidFill>
                          <a:latin typeface="Arial"/>
                          <a:ea typeface="Arial"/>
                          <a:cs typeface="Arial"/>
                        </a:rPr>
                        <a:t>F ε2, F ε3/ε3, F ε4, M ε2</a:t>
                      </a:r>
                    </a:p>
                  </a:txBody>
                  <a:tcPr marL="95250" marR="95250" marT="66675" marB="66675" anchor="ctr">
                    <a:solidFill>
                      <a:srgbClr val="FFFFFF"/>
                    </a:solidFill>
                  </a:tcPr>
                </a:tc>
                <a:tc>
                  <a:txBody>
                    <a:bodyPr vert="horz" wrap="square"/>
                    <a:lstStyle/>
                    <a:p>
                      <a:pPr algn="l"/>
                      <a:r>
                        <a:rPr sz="1125">
                          <a:solidFill>
                            <a:srgbClr val="1F2D3D"/>
                          </a:solidFill>
                          <a:latin typeface="Arial"/>
                          <a:ea typeface="Arial"/>
                          <a:cs typeface="Arial"/>
                        </a:rPr>
                        <a:t>LAMTOR5 connects genes that sense nutrients at lysosomes, the cell’s recycling compartments, with OXPHOS genes.</a:t>
                      </a:r>
                    </a:p>
                  </a:txBody>
                  <a:tcPr marL="95250" marR="95250" marT="66675" marB="66675" anchor="ctr">
                    <a:solidFill>
                      <a:srgbClr val="FFFFFF"/>
                    </a:solidFill>
                  </a:tcPr>
                </a:tc>
                <a:tc>
                  <a:txBody>
                    <a:bodyPr vert="horz" wrap="square"/>
                    <a:lstStyle/>
                    <a:p>
                      <a:pPr algn="ctr"/>
                      <a:r>
                        <a:rPr sz="1125" b="1">
                          <a:solidFill>
                            <a:srgbClr val="8A4A00"/>
                          </a:solidFill>
                          <a:latin typeface="Arial"/>
                          <a:ea typeface="Arial"/>
                          <a:cs typeface="Arial"/>
                        </a:rPr>
                        <a:t>High</a:t>
                      </a:r>
                    </a:p>
                  </a:txBody>
                  <a:tcPr marL="95250" marR="95250" marT="66675" marB="66675" anchor="ctr">
                    <a:solidFill>
                      <a:srgbClr val="FFF1CE"/>
                    </a:solidFill>
                  </a:tcPr>
                </a:tc>
                <a:extLst>
                  <a:ext uri="{0D108BD9-81ED-4DB2-BD59-A6C34878D82A}">
                    <a16:rowId xmlns:a16="http://schemas.microsoft.com/office/drawing/2014/main" val="10001"/>
                  </a:ext>
                </a:extLst>
              </a:tr>
              <a:tr h="779145">
                <a:tc>
                  <a:txBody>
                    <a:bodyPr vert="horz" wrap="square"/>
                    <a:lstStyle/>
                    <a:p>
                      <a:pPr algn="ctr"/>
                      <a:r>
                        <a:rPr sz="1125" b="1">
                          <a:solidFill>
                            <a:srgbClr val="FFFFFF"/>
                          </a:solidFill>
                          <a:latin typeface="Arial"/>
                          <a:ea typeface="Arial"/>
                          <a:cs typeface="Arial"/>
                        </a:rPr>
                        <a:t>9</a:t>
                      </a:r>
                    </a:p>
                  </a:txBody>
                  <a:tcPr marL="95250" marR="95250" marT="66675" marB="66675" anchor="ctr">
                    <a:solidFill>
                      <a:srgbClr val="00856F"/>
                    </a:solidFill>
                  </a:tcPr>
                </a:tc>
                <a:tc>
                  <a:txBody>
                    <a:bodyPr vert="horz" wrap="square"/>
                    <a:lstStyle/>
                    <a:p>
                      <a:pPr algn="l"/>
                      <a:r>
                        <a:rPr sz="1125">
                          <a:solidFill>
                            <a:srgbClr val="1F2D3D"/>
                          </a:solidFill>
                          <a:latin typeface="Arial"/>
                          <a:ea typeface="Arial"/>
                          <a:cs typeface="Arial"/>
                        </a:rPr>
                        <a:t>F ε2, F ε3/ε3, M ε3/ε3, M ε4</a:t>
                      </a:r>
                    </a:p>
                  </a:txBody>
                  <a:tcPr marL="95250" marR="95250" marT="66675" marB="66675" anchor="ctr">
                    <a:solidFill>
                      <a:srgbClr val="F7FAFD"/>
                    </a:solidFill>
                  </a:tcPr>
                </a:tc>
                <a:tc>
                  <a:txBody>
                    <a:bodyPr vert="horz" wrap="square"/>
                    <a:lstStyle/>
                    <a:p>
                      <a:pPr algn="l"/>
                      <a:r>
                        <a:rPr sz="1125">
                          <a:solidFill>
                            <a:srgbClr val="1F2D3D"/>
                          </a:solidFill>
                          <a:latin typeface="Arial"/>
                          <a:ea typeface="Arial"/>
                          <a:cs typeface="Arial"/>
                        </a:rPr>
                        <a:t>WDR82 is connected in the network to a small set of core MT genes that are upregulated in AD in excitatory neurons.</a:t>
                      </a:r>
                    </a:p>
                  </a:txBody>
                  <a:tcPr marL="95250" marR="95250" marT="66675" marB="66675" anchor="ctr">
                    <a:solidFill>
                      <a:srgbClr val="F7FAFD"/>
                    </a:solidFill>
                  </a:tcPr>
                </a:tc>
                <a:tc>
                  <a:txBody>
                    <a:bodyPr vert="horz" wrap="square"/>
                    <a:lstStyle/>
                    <a:p>
                      <a:pPr algn="ctr"/>
                      <a:r>
                        <a:rPr sz="1125" b="1">
                          <a:solidFill>
                            <a:srgbClr val="8A4A00"/>
                          </a:solidFill>
                          <a:latin typeface="Arial"/>
                          <a:ea typeface="Arial"/>
                          <a:cs typeface="Arial"/>
                        </a:rPr>
                        <a:t>High</a:t>
                      </a:r>
                    </a:p>
                  </a:txBody>
                  <a:tcPr marL="95250" marR="95250" marT="66675" marB="66675" anchor="ctr">
                    <a:solidFill>
                      <a:srgbClr val="FFF1CE"/>
                    </a:solidFill>
                  </a:tcPr>
                </a:tc>
                <a:extLst>
                  <a:ext uri="{0D108BD9-81ED-4DB2-BD59-A6C34878D82A}">
                    <a16:rowId xmlns:a16="http://schemas.microsoft.com/office/drawing/2014/main" val="10002"/>
                  </a:ext>
                </a:extLst>
              </a:tr>
              <a:tr h="779145">
                <a:tc>
                  <a:txBody>
                    <a:bodyPr vert="horz" wrap="square"/>
                    <a:lstStyle/>
                    <a:p>
                      <a:pPr algn="ctr"/>
                      <a:r>
                        <a:rPr sz="1125" b="1">
                          <a:solidFill>
                            <a:srgbClr val="FFFFFF"/>
                          </a:solidFill>
                          <a:latin typeface="Arial"/>
                          <a:ea typeface="Arial"/>
                          <a:cs typeface="Arial"/>
                        </a:rPr>
                        <a:t>11</a:t>
                      </a:r>
                    </a:p>
                  </a:txBody>
                  <a:tcPr marL="95250" marR="95250" marT="66675" marB="66675" anchor="ctr">
                    <a:solidFill>
                      <a:srgbClr val="00856F"/>
                    </a:solidFill>
                  </a:tcPr>
                </a:tc>
                <a:tc>
                  <a:txBody>
                    <a:bodyPr vert="horz" wrap="square"/>
                    <a:lstStyle/>
                    <a:p>
                      <a:pPr algn="l"/>
                      <a:r>
                        <a:rPr sz="1125">
                          <a:solidFill>
                            <a:srgbClr val="1F2D3D"/>
                          </a:solidFill>
                          <a:latin typeface="Arial"/>
                          <a:ea typeface="Arial"/>
                          <a:cs typeface="Arial"/>
                        </a:rPr>
                        <a:t>F ε2, F ε4, M ε2, M ε3/ε3</a:t>
                      </a:r>
                    </a:p>
                  </a:txBody>
                  <a:tcPr marL="95250" marR="95250" marT="66675" marB="66675" anchor="ctr">
                    <a:solidFill>
                      <a:srgbClr val="FFFFFF"/>
                    </a:solidFill>
                  </a:tcPr>
                </a:tc>
                <a:tc>
                  <a:txBody>
                    <a:bodyPr vert="horz" wrap="square"/>
                    <a:lstStyle/>
                    <a:p>
                      <a:pPr algn="l"/>
                      <a:r>
                        <a:rPr sz="1125">
                          <a:solidFill>
                            <a:srgbClr val="1F2D3D"/>
                          </a:solidFill>
                          <a:latin typeface="Arial"/>
                          <a:ea typeface="Arial"/>
                          <a:cs typeface="Arial"/>
                        </a:rPr>
                        <a:t>SELENOW, a gene involved in controlling oxidative stress, was connected to genes involved in mitochondrial respiration, protein production, and removal of damaged mitochondrial proteins.</a:t>
                      </a:r>
                    </a:p>
                  </a:txBody>
                  <a:tcPr marL="95250" marR="95250" marT="66675" marB="66675" anchor="ctr">
                    <a:solidFill>
                      <a:srgbClr val="FFFFFF"/>
                    </a:solidFill>
                  </a:tcPr>
                </a:tc>
                <a:tc>
                  <a:txBody>
                    <a:bodyPr vert="horz" wrap="square"/>
                    <a:lstStyle/>
                    <a:p>
                      <a:pPr algn="ctr"/>
                      <a:r>
                        <a:rPr sz="1125" b="1">
                          <a:solidFill>
                            <a:srgbClr val="005E82"/>
                          </a:solidFill>
                          <a:latin typeface="Arial"/>
                          <a:ea typeface="Arial"/>
                          <a:cs typeface="Arial"/>
                        </a:rPr>
                        <a:t>Moderate</a:t>
                      </a:r>
                    </a:p>
                  </a:txBody>
                  <a:tcPr marL="95250" marR="95250" marT="66675" marB="66675" anchor="ctr">
                    <a:solidFill>
                      <a:srgbClr val="E5F2FA"/>
                    </a:solidFill>
                  </a:tcPr>
                </a:tc>
                <a:extLst>
                  <a:ext uri="{0D108BD9-81ED-4DB2-BD59-A6C34878D82A}">
                    <a16:rowId xmlns:a16="http://schemas.microsoft.com/office/drawing/2014/main" val="10003"/>
                  </a:ext>
                </a:extLst>
              </a:tr>
              <a:tr h="779145">
                <a:tc>
                  <a:txBody>
                    <a:bodyPr vert="horz" wrap="square"/>
                    <a:lstStyle/>
                    <a:p>
                      <a:pPr algn="ctr"/>
                      <a:r>
                        <a:rPr sz="1125" b="1">
                          <a:solidFill>
                            <a:srgbClr val="FFFFFF"/>
                          </a:solidFill>
                          <a:latin typeface="Arial"/>
                          <a:ea typeface="Arial"/>
                          <a:cs typeface="Arial"/>
                        </a:rPr>
                        <a:t>12</a:t>
                      </a:r>
                    </a:p>
                  </a:txBody>
                  <a:tcPr marL="95250" marR="95250" marT="66675" marB="66675" anchor="ctr">
                    <a:solidFill>
                      <a:srgbClr val="00856F"/>
                    </a:solidFill>
                  </a:tcPr>
                </a:tc>
                <a:tc>
                  <a:txBody>
                    <a:bodyPr vert="horz" wrap="square"/>
                    <a:lstStyle/>
                    <a:p>
                      <a:pPr algn="l"/>
                      <a:r>
                        <a:rPr sz="1125">
                          <a:solidFill>
                            <a:srgbClr val="1F2D3D"/>
                          </a:solidFill>
                          <a:latin typeface="Arial"/>
                          <a:ea typeface="Arial"/>
                          <a:cs typeface="Arial"/>
                        </a:rPr>
                        <a:t>F ε3/ε3, F ε4, M ε4</a:t>
                      </a:r>
                    </a:p>
                  </a:txBody>
                  <a:tcPr marL="95250" marR="95250" marT="66675" marB="66675" anchor="ctr">
                    <a:solidFill>
                      <a:srgbClr val="F7FAFD"/>
                    </a:solidFill>
                  </a:tcPr>
                </a:tc>
                <a:tc>
                  <a:txBody>
                    <a:bodyPr vert="horz" wrap="square"/>
                    <a:lstStyle/>
                    <a:p>
                      <a:pPr algn="l"/>
                      <a:r>
                        <a:rPr sz="1125">
                          <a:solidFill>
                            <a:srgbClr val="1F2D3D"/>
                          </a:solidFill>
                          <a:latin typeface="Arial"/>
                          <a:ea typeface="Arial"/>
                          <a:cs typeface="Arial"/>
                        </a:rPr>
                        <a:t>PGK1 connects astrocyte glycolysis and low-oxygen signaling with genes involved in removing damaged mitochondria.</a:t>
                      </a:r>
                    </a:p>
                  </a:txBody>
                  <a:tcPr marL="95250" marR="95250" marT="66675" marB="66675" anchor="ctr">
                    <a:solidFill>
                      <a:srgbClr val="F7FAFD"/>
                    </a:solidFill>
                  </a:tcPr>
                </a:tc>
                <a:tc>
                  <a:txBody>
                    <a:bodyPr vert="horz" wrap="square"/>
                    <a:lstStyle/>
                    <a:p>
                      <a:pPr algn="ctr"/>
                      <a:r>
                        <a:rPr sz="1125" b="1">
                          <a:solidFill>
                            <a:srgbClr val="005E82"/>
                          </a:solidFill>
                          <a:latin typeface="Arial"/>
                          <a:ea typeface="Arial"/>
                          <a:cs typeface="Arial"/>
                        </a:rPr>
                        <a:t>Moderate</a:t>
                      </a:r>
                    </a:p>
                  </a:txBody>
                  <a:tcPr marL="95250" marR="95250" marT="66675" marB="66675" anchor="ctr">
                    <a:solidFill>
                      <a:srgbClr val="E5F2FA"/>
                    </a:solidFill>
                  </a:tcPr>
                </a:tc>
                <a:extLst>
                  <a:ext uri="{0D108BD9-81ED-4DB2-BD59-A6C34878D82A}">
                    <a16:rowId xmlns:a16="http://schemas.microsoft.com/office/drawing/2014/main" val="10004"/>
                  </a:ext>
                </a:extLst>
              </a:tr>
              <a:tr h="779145">
                <a:tc>
                  <a:txBody>
                    <a:bodyPr vert="horz" wrap="square"/>
                    <a:lstStyle/>
                    <a:p>
                      <a:pPr algn="ctr"/>
                      <a:r>
                        <a:rPr sz="1125" b="1">
                          <a:solidFill>
                            <a:srgbClr val="FFFFFF"/>
                          </a:solidFill>
                          <a:latin typeface="Arial"/>
                          <a:ea typeface="Arial"/>
                          <a:cs typeface="Arial"/>
                        </a:rPr>
                        <a:t>13</a:t>
                      </a:r>
                    </a:p>
                  </a:txBody>
                  <a:tcPr marL="95250" marR="95250" marT="66675" marB="66675" anchor="ctr">
                    <a:solidFill>
                      <a:srgbClr val="00856F"/>
                    </a:solidFill>
                  </a:tcPr>
                </a:tc>
                <a:tc>
                  <a:txBody>
                    <a:bodyPr vert="horz" wrap="square"/>
                    <a:lstStyle/>
                    <a:p>
                      <a:pPr algn="l"/>
                      <a:r>
                        <a:rPr sz="1125">
                          <a:solidFill>
                            <a:srgbClr val="1F2D3D"/>
                          </a:solidFill>
                          <a:latin typeface="Arial"/>
                          <a:ea typeface="Arial"/>
                          <a:cs typeface="Arial"/>
                        </a:rPr>
                        <a:t>F ε3/ε3, M ε2</a:t>
                      </a:r>
                    </a:p>
                  </a:txBody>
                  <a:tcPr marL="95250" marR="95250" marT="66675" marB="66675" anchor="ctr">
                    <a:solidFill>
                      <a:srgbClr val="FFFFFF"/>
                    </a:solidFill>
                  </a:tcPr>
                </a:tc>
                <a:tc>
                  <a:txBody>
                    <a:bodyPr vert="horz" wrap="square"/>
                    <a:lstStyle/>
                    <a:p>
                      <a:pPr algn="l"/>
                      <a:r>
                        <a:rPr sz="1125">
                          <a:solidFill>
                            <a:srgbClr val="1F2D3D"/>
                          </a:solidFill>
                          <a:latin typeface="Arial"/>
                          <a:ea typeface="Arial"/>
                          <a:cs typeface="Arial"/>
                        </a:rPr>
                        <a:t>FTL and ANKRD11 connect iron handling in oligodendrocyte precursor cells with genes that protect against oxidative damage and recycle damaged cell components.</a:t>
                      </a:r>
                    </a:p>
                  </a:txBody>
                  <a:tcPr marL="95250" marR="95250" marT="66675" marB="66675" anchor="ctr">
                    <a:solidFill>
                      <a:srgbClr val="FFFFFF"/>
                    </a:solidFill>
                  </a:tcPr>
                </a:tc>
                <a:tc>
                  <a:txBody>
                    <a:bodyPr vert="horz" wrap="square"/>
                    <a:lstStyle/>
                    <a:p>
                      <a:pPr algn="ctr"/>
                      <a:r>
                        <a:rPr sz="1125" b="1">
                          <a:solidFill>
                            <a:srgbClr val="8A4A00"/>
                          </a:solidFill>
                          <a:latin typeface="Arial"/>
                          <a:ea typeface="Arial"/>
                          <a:cs typeface="Arial"/>
                        </a:rPr>
                        <a:t>High</a:t>
                      </a:r>
                    </a:p>
                  </a:txBody>
                  <a:tcPr marL="95250" marR="95250" marT="66675" marB="66675" anchor="ctr">
                    <a:solidFill>
                      <a:srgbClr val="FFF1CE"/>
                    </a:solidFill>
                  </a:tcPr>
                </a:tc>
                <a:extLst>
                  <a:ext uri="{0D108BD9-81ED-4DB2-BD59-A6C34878D82A}">
                    <a16:rowId xmlns:a16="http://schemas.microsoft.com/office/drawing/2014/main" val="10005"/>
                  </a:ext>
                </a:extLst>
              </a:tr>
            </a:tbl>
          </a:graphicData>
        </a:graphic>
      </p:graphicFrame>
    </p:spTree>
    <p:extLst>
      <p:ext uri="{BB962C8B-B14F-4D97-AF65-F5344CB8AC3E}">
        <p14:creationId val="84550623"/>
      </p:ext>
    </p:extLst>
  </p:cSld>
  <p:clrMapOvr>
    <a:masterClrMapping/>
  </p:clrMapOvr>
  <p:transition/>
  <p:timing/>
</p:sld>
</file>

<file path=ppt/slides/slide5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4F7FB"/>
        </a:solidFill>
        <a:effectLst/>
      </p:bgPr>
    </p:bg>
    <p:spTree>
      <p:nvGrpSpPr>
        <p:cNvPr id="1" name=""/>
        <p:cNvGrpSpPr/>
        <p:nvPr/>
      </p:nvGrpSpPr>
      <p:grpSpPr>
        <a:xfrm>
          <a:off x="0" y="0"/>
          <a:ext cx="0" cy="0"/>
        </a:xfrm>
      </p:grpSpPr>
      <p:sp>
        <p:nvSpPr>
          <p:cNvPr id="5" name="Summary 4 Title">
            <a:extLst>
              <a:ext uri="{FF2B5EF4-FFF2-40B4-BE49-F238E27FC236}">
                <a16:creationId xmlns:a16="http://schemas.microsoft.com/office/drawing/2014/main" id="{97730554-4AA8-4C4C-8467-B11723976011}"/>
              </a:ext>
            </a:extLst>
          </p:cNvPr>
          <p:cNvSpPr>
            <a:spLocks noGrp="1"/>
          </p:cNvSpPr>
          <p:nvPr/>
        </p:nvSpPr>
        <p:spPr>
          <a:xfrm>
            <a:off x="609600" y="361950"/>
            <a:ext cx="10972800" cy="552450"/>
          </a:xfrm>
          <a:prstGeom prst="rect">
            <a:avLst/>
          </a:prstGeom>
          <a:noFill/>
          <a:ln w="0">
            <a:noFill/>
            <a:prstDash val="solid"/>
          </a:ln>
        </p:spPr>
        <p:txBody>
          <a:bodyPr wrap="square" lIns="0" tIns="0" rIns="0" bIns="0">
            <a:normAutofit/>
          </a:bodyPr>
          <a:lstStyle/>
          <a:p>
            <a:pPr algn="l">
              <a:buNone/>
              <a:defRPr sz="2250" b="1">
                <a:solidFill>
                  <a:srgbClr val="11263F"/>
                </a:solidFill>
                <a:latin typeface="Arial"/>
                <a:ea typeface="Arial"/>
                <a:cs typeface="Arial"/>
              </a:defRPr>
            </a:pPr>
            <a:r>
              <a:rPr sz="2250" b="1">
                <a:solidFill>
                  <a:srgbClr val="11263F"/>
                </a:solidFill>
                <a:latin typeface="Arial"/>
                <a:ea typeface="Arial"/>
                <a:cs typeface="Arial"/>
              </a:rPr>
              <a:t>Qualified sex/APOE-linked genes from KDA calls</a:t>
            </a:r>
          </a:p>
        </p:txBody>
      </p:sp>
      <p:sp>
        <p:nvSpPr>
          <p:cNvPr id="2" name="Summary 4 Subtitle">
            <a:extLst>
              <a:ext uri="{FF2B5EF4-FFF2-40B4-BE49-F238E27FC236}">
                <a16:creationId xmlns:a16="http://schemas.microsoft.com/office/drawing/2014/main" id="{23C9B292-3DA4-4C1F-B446-52B3CFF215A2}"/>
              </a:ext>
            </a:extLst>
          </p:cNvPr>
          <p:cNvSpPr>
            <a:spLocks noGrp="1"/>
          </p:cNvSpPr>
          <p:nvPr/>
        </p:nvSpPr>
        <p:spPr>
          <a:xfrm>
            <a:off x="628650" y="1000125"/>
            <a:ext cx="10934700" cy="419100"/>
          </a:xfrm>
          <a:prstGeom prst="rect">
            <a:avLst/>
          </a:prstGeom>
          <a:noFill/>
          <a:ln w="0">
            <a:noFill/>
            <a:prstDash val="solid"/>
          </a:ln>
        </p:spPr>
        <p:txBody>
          <a:bodyPr wrap="square" lIns="0" tIns="0" rIns="0" bIns="0">
            <a:normAutofit/>
          </a:bodyPr>
          <a:lstStyle/>
          <a:p>
            <a:pPr algn="l">
              <a:buNone/>
              <a:defRPr sz="1275">
                <a:solidFill>
                  <a:srgbClr val="536273"/>
                </a:solidFill>
                <a:latin typeface="Arial"/>
                <a:ea typeface="Arial"/>
                <a:cs typeface="Arial"/>
              </a:defRPr>
            </a:pPr>
            <a:r>
              <a:rPr sz="1275">
                <a:solidFill>
                  <a:srgbClr val="536273"/>
                </a:solidFill>
                <a:latin typeface="Arial"/>
                <a:ea typeface="Arial"/>
                <a:cs typeface="Arial"/>
              </a:rPr>
              <a:t>These findings remain useful, but each is based on few genes, few KDA calls, or patterns that change across groups.</a:t>
            </a:r>
          </a:p>
        </p:txBody>
      </p:sp>
      <p:sp>
        <p:nvSpPr>
          <p:cNvPr id="4" name="Summary 4 Footer">
            <a:extLst>
              <a:ext uri="{FF2B5EF4-FFF2-40B4-BE49-F238E27FC236}">
                <a16:creationId xmlns:a16="http://schemas.microsoft.com/office/drawing/2014/main" id="{5DE7F30A-4114-4783-9C10-6DF2E71538A9}"/>
              </a:ext>
            </a:extLst>
          </p:cNvPr>
          <p:cNvSpPr>
            <a:spLocks noGrp="1"/>
          </p:cNvSpPr>
          <p:nvPr/>
        </p:nvSpPr>
        <p:spPr>
          <a:xfrm>
            <a:off x="685800" y="6115050"/>
            <a:ext cx="10820400" cy="400050"/>
          </a:xfrm>
          <a:prstGeom prst="rect">
            <a:avLst/>
          </a:prstGeom>
          <a:noFill/>
          <a:ln w="0">
            <a:noFill/>
            <a:prstDash val="solid"/>
          </a:ln>
        </p:spPr>
        <p:txBody>
          <a:bodyPr wrap="square" lIns="0" tIns="0" rIns="0" bIns="0">
            <a:normAutofit/>
          </a:bodyPr>
          <a:lstStyle/>
          <a:p>
            <a:pPr algn="l">
              <a:buNone/>
              <a:defRPr sz="1200" b="1">
                <a:solidFill>
                  <a:srgbClr val="7D4FA1"/>
                </a:solidFill>
                <a:latin typeface="Arial"/>
                <a:ea typeface="Arial"/>
                <a:cs typeface="Arial"/>
              </a:defRPr>
            </a:pPr>
            <a:r>
              <a:rPr sz="1200" b="1">
                <a:solidFill>
                  <a:srgbClr val="7D4FA1"/>
                </a:solidFill>
                <a:latin typeface="Arial"/>
                <a:ea typeface="Arial"/>
                <a:cs typeface="Arial"/>
              </a:rPr>
              <a:t>Finding 18 remains secondary. INTS8 is a gene returned from one KDA call with Phase 19b genetic support.</a:t>
            </a:r>
          </a:p>
        </p:txBody>
      </p:sp>
      <p:graphicFrame>
        <p:nvGraphicFramePr>
          <p:cNvPr id="10" name="Summary 4 Table"/>
          <p:cNvGraphicFramePr>
            <a:graphicFrameLocks noGrp="1"/>
          </p:cNvGraphicFramePr>
          <p:nvPr/>
        </p:nvGraphicFramePr>
        <p:xfrm>
          <a:off x="666750" y="1524000"/>
          <a:ext cx="10858500" cy="4391024"/>
        </p:xfrm>
        <a:graphic>
          <a:graphicData uri="http://schemas.openxmlformats.org/drawingml/2006/table">
            <a:tbl>
              <a:tblPr firstRow="1"/>
              <a:tblGrid>
                <a:gridCol w="809625">
                  <a:extLst>
                    <a:ext uri="{9D8B030D-6E8A-4147-A177-3AD203B41FA5}">
                      <a16:colId xmlns:a16="http://schemas.microsoft.com/office/drawing/2014/main" val="20000"/>
                    </a:ext>
                  </a:extLst>
                </a:gridCol>
                <a:gridCol w="2333625">
                  <a:extLst>
                    <a:ext uri="{9D8B030D-6E8A-4147-A177-3AD203B41FA5}">
                      <a16:colId xmlns:a16="http://schemas.microsoft.com/office/drawing/2014/main" val="20001"/>
                    </a:ext>
                  </a:extLst>
                </a:gridCol>
                <a:gridCol w="619125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495300">
                <a:tc>
                  <a:txBody>
                    <a:bodyPr vert="horz" wrap="square"/>
                    <a:lstStyle/>
                    <a:p>
                      <a:pPr algn="ctr"/>
                      <a:r>
                        <a:rPr sz="1125" b="1">
                          <a:solidFill>
                            <a:srgbClr val="FFFFFF"/>
                          </a:solidFill>
                          <a:latin typeface="Arial"/>
                          <a:ea typeface="Arial"/>
                          <a:cs typeface="Arial"/>
                        </a:rPr>
                        <a:t>Finding</a:t>
                      </a:r>
                    </a:p>
                  </a:txBody>
                  <a:tcPr marL="95250" marR="95250" marT="66675" marB="66675" anchor="ctr">
                    <a:solidFill>
                      <a:srgbClr val="11263F"/>
                    </a:solidFill>
                  </a:tcPr>
                </a:tc>
                <a:tc>
                  <a:txBody>
                    <a:bodyPr vert="horz" wrap="square"/>
                    <a:lstStyle/>
                    <a:p>
                      <a:pPr algn="l"/>
                      <a:r>
                        <a:rPr sz="1125" b="1">
                          <a:solidFill>
                            <a:srgbClr val="FFFFFF"/>
                          </a:solidFill>
                          <a:latin typeface="Arial"/>
                          <a:ea typeface="Arial"/>
                          <a:cs typeface="Arial"/>
                        </a:rPr>
                        <a:t>Observed groups</a:t>
                      </a:r>
                    </a:p>
                  </a:txBody>
                  <a:tcPr marL="95250" marR="95250" marT="66675" marB="66675" anchor="ctr">
                    <a:solidFill>
                      <a:srgbClr val="11263F"/>
                    </a:solidFill>
                  </a:tcPr>
                </a:tc>
                <a:tc>
                  <a:txBody>
                    <a:bodyPr vert="horz" wrap="square"/>
                    <a:lstStyle/>
                    <a:p>
                      <a:pPr algn="l"/>
                      <a:r>
                        <a:rPr sz="1125" b="1">
                          <a:solidFill>
                            <a:srgbClr val="FFFFFF"/>
                          </a:solidFill>
                          <a:latin typeface="Arial"/>
                          <a:ea typeface="Arial"/>
                          <a:cs typeface="Arial"/>
                        </a:rPr>
                        <a:t>Gene and main qualification</a:t>
                      </a:r>
                    </a:p>
                  </a:txBody>
                  <a:tcPr marL="95250" marR="95250" marT="66675" marB="66675" anchor="ctr">
                    <a:solidFill>
                      <a:srgbClr val="11263F"/>
                    </a:solidFill>
                  </a:tcPr>
                </a:tc>
                <a:tc>
                  <a:txBody>
                    <a:bodyPr vert="horz" wrap="square"/>
                    <a:lstStyle/>
                    <a:p>
                      <a:pPr algn="ctr"/>
                      <a:r>
                        <a:rPr sz="1125" b="1">
                          <a:solidFill>
                            <a:srgbClr val="FFFFFF"/>
                          </a:solidFill>
                          <a:latin typeface="Arial"/>
                          <a:ea typeface="Arial"/>
                          <a:cs typeface="Arial"/>
                        </a:rPr>
                        <a:t>Novelty</a:t>
                      </a:r>
                    </a:p>
                  </a:txBody>
                  <a:tcPr marL="95250" marR="95250" marT="66675" marB="66675" anchor="ctr">
                    <a:solidFill>
                      <a:srgbClr val="11263F"/>
                    </a:solidFill>
                  </a:tcPr>
                </a:tc>
                <a:extLst>
                  <a:ext uri="{0D108BD9-81ED-4DB2-BD59-A6C34878D82A}">
                    <a16:rowId xmlns:a16="http://schemas.microsoft.com/office/drawing/2014/main" val="10000"/>
                  </a:ext>
                </a:extLst>
              </a:tr>
              <a:tr h="973931">
                <a:tc>
                  <a:txBody>
                    <a:bodyPr vert="horz" wrap="square"/>
                    <a:lstStyle/>
                    <a:p>
                      <a:pPr algn="ctr"/>
                      <a:r>
                        <a:rPr sz="1125" b="1">
                          <a:solidFill>
                            <a:srgbClr val="FFFFFF"/>
                          </a:solidFill>
                          <a:latin typeface="Arial"/>
                          <a:ea typeface="Arial"/>
                          <a:cs typeface="Arial"/>
                        </a:rPr>
                        <a:t>14</a:t>
                      </a:r>
                    </a:p>
                  </a:txBody>
                  <a:tcPr marL="95250" marR="95250" marT="66675" marB="66675" anchor="ctr">
                    <a:solidFill>
                      <a:srgbClr val="B86100"/>
                    </a:solidFill>
                  </a:tcPr>
                </a:tc>
                <a:tc>
                  <a:txBody>
                    <a:bodyPr vert="horz" wrap="square"/>
                    <a:lstStyle/>
                    <a:p>
                      <a:pPr algn="l"/>
                      <a:r>
                        <a:rPr sz="1125">
                          <a:solidFill>
                            <a:srgbClr val="1F2D3D"/>
                          </a:solidFill>
                          <a:latin typeface="Arial"/>
                          <a:ea typeface="Arial"/>
                          <a:cs typeface="Arial"/>
                        </a:rPr>
                        <a:t>Female ε2, ε3/ε3, and ε4</a:t>
                      </a:r>
                    </a:p>
                  </a:txBody>
                  <a:tcPr marL="95250" marR="95250" marT="66675" marB="66675" anchor="ctr">
                    <a:solidFill>
                      <a:srgbClr val="FFFFFF"/>
                    </a:solidFill>
                  </a:tcPr>
                </a:tc>
                <a:tc>
                  <a:txBody>
                    <a:bodyPr vert="horz" wrap="square"/>
                    <a:lstStyle/>
                    <a:p>
                      <a:pPr algn="l"/>
                      <a:r>
                        <a:rPr sz="1125">
                          <a:solidFill>
                            <a:srgbClr val="1F2D3D"/>
                          </a:solidFill>
                          <a:latin typeface="Arial"/>
                          <a:ea typeface="Arial"/>
                          <a:cs typeface="Arial"/>
                        </a:rPr>
                        <a:t>PLCG2 has strong AD genetic evidence, but only one MitoCarta MT gene, MT-CO1, was connected to it in the KDA result.</a:t>
                      </a:r>
                    </a:p>
                  </a:txBody>
                  <a:tcPr marL="95250" marR="95250" marT="66675" marB="66675" anchor="ctr">
                    <a:solidFill>
                      <a:srgbClr val="FFFFFF"/>
                    </a:solidFill>
                  </a:tcPr>
                </a:tc>
                <a:tc>
                  <a:txBody>
                    <a:bodyPr vert="horz" wrap="square"/>
                    <a:lstStyle/>
                    <a:p>
                      <a:pPr algn="ctr"/>
                      <a:r>
                        <a:rPr sz="1125" b="1">
                          <a:solidFill>
                            <a:srgbClr val="8A4A00"/>
                          </a:solidFill>
                          <a:latin typeface="Arial"/>
                          <a:ea typeface="Arial"/>
                          <a:cs typeface="Arial"/>
                        </a:rPr>
                        <a:t>High</a:t>
                      </a:r>
                    </a:p>
                  </a:txBody>
                  <a:tcPr marL="95250" marR="95250" marT="66675" marB="66675" anchor="ctr">
                    <a:solidFill>
                      <a:srgbClr val="FFF1CE"/>
                    </a:solidFill>
                  </a:tcPr>
                </a:tc>
                <a:extLst>
                  <a:ext uri="{0D108BD9-81ED-4DB2-BD59-A6C34878D82A}">
                    <a16:rowId xmlns:a16="http://schemas.microsoft.com/office/drawing/2014/main" val="10001"/>
                  </a:ext>
                </a:extLst>
              </a:tr>
              <a:tr h="973931">
                <a:tc>
                  <a:txBody>
                    <a:bodyPr vert="horz" wrap="square"/>
                    <a:lstStyle/>
                    <a:p>
                      <a:pPr algn="ctr"/>
                      <a:r>
                        <a:rPr sz="1125" b="1">
                          <a:solidFill>
                            <a:srgbClr val="FFFFFF"/>
                          </a:solidFill>
                          <a:latin typeface="Arial"/>
                          <a:ea typeface="Arial"/>
                          <a:cs typeface="Arial"/>
                        </a:rPr>
                        <a:t>15</a:t>
                      </a:r>
                    </a:p>
                  </a:txBody>
                  <a:tcPr marL="95250" marR="95250" marT="66675" marB="66675" anchor="ctr">
                    <a:solidFill>
                      <a:srgbClr val="B86100"/>
                    </a:solidFill>
                  </a:tcPr>
                </a:tc>
                <a:tc>
                  <a:txBody>
                    <a:bodyPr vert="horz" wrap="square"/>
                    <a:lstStyle/>
                    <a:p>
                      <a:pPr algn="l"/>
                      <a:r>
                        <a:rPr sz="1125">
                          <a:solidFill>
                            <a:srgbClr val="1F2D3D"/>
                          </a:solidFill>
                          <a:latin typeface="Arial"/>
                          <a:ea typeface="Arial"/>
                          <a:cs typeface="Arial"/>
                        </a:rPr>
                        <a:t>F ε2, M ε2, M ε4</a:t>
                      </a:r>
                    </a:p>
                  </a:txBody>
                  <a:tcPr marL="95250" marR="95250" marT="66675" marB="66675" anchor="ctr">
                    <a:solidFill>
                      <a:srgbClr val="F7FAFD"/>
                    </a:solidFill>
                  </a:tcPr>
                </a:tc>
                <a:tc>
                  <a:txBody>
                    <a:bodyPr vert="horz" wrap="square"/>
                    <a:lstStyle/>
                    <a:p>
                      <a:pPr algn="l"/>
                      <a:r>
                        <a:rPr sz="1125">
                          <a:solidFill>
                            <a:srgbClr val="1F2D3D"/>
                          </a:solidFill>
                          <a:latin typeface="Arial"/>
                          <a:ea typeface="Arial"/>
                          <a:cs typeface="Arial"/>
                        </a:rPr>
                        <a:t>Astrocyte APOE expression changes in opposite directions across groups, so the result is not specific to ε4.</a:t>
                      </a:r>
                    </a:p>
                  </a:txBody>
                  <a:tcPr marL="95250" marR="95250" marT="66675" marB="66675" anchor="ctr">
                    <a:solidFill>
                      <a:srgbClr val="F7FAFD"/>
                    </a:solidFill>
                  </a:tcPr>
                </a:tc>
                <a:tc>
                  <a:txBody>
                    <a:bodyPr vert="horz" wrap="square"/>
                    <a:lstStyle/>
                    <a:p>
                      <a:pPr algn="ctr"/>
                      <a:r>
                        <a:rPr sz="1125" b="1">
                          <a:solidFill>
                            <a:srgbClr val="005E82"/>
                          </a:solidFill>
                          <a:latin typeface="Arial"/>
                          <a:ea typeface="Arial"/>
                          <a:cs typeface="Arial"/>
                        </a:rPr>
                        <a:t>Moderate</a:t>
                      </a:r>
                    </a:p>
                  </a:txBody>
                  <a:tcPr marL="95250" marR="95250" marT="66675" marB="66675" anchor="ctr">
                    <a:solidFill>
                      <a:srgbClr val="E5F2FA"/>
                    </a:solidFill>
                  </a:tcPr>
                </a:tc>
                <a:extLst>
                  <a:ext uri="{0D108BD9-81ED-4DB2-BD59-A6C34878D82A}">
                    <a16:rowId xmlns:a16="http://schemas.microsoft.com/office/drawing/2014/main" val="10002"/>
                  </a:ext>
                </a:extLst>
              </a:tr>
              <a:tr h="973931">
                <a:tc>
                  <a:txBody>
                    <a:bodyPr vert="horz" wrap="square"/>
                    <a:lstStyle/>
                    <a:p>
                      <a:pPr algn="ctr"/>
                      <a:r>
                        <a:rPr sz="1125" b="1">
                          <a:solidFill>
                            <a:srgbClr val="FFFFFF"/>
                          </a:solidFill>
                          <a:latin typeface="Arial"/>
                          <a:ea typeface="Arial"/>
                          <a:cs typeface="Arial"/>
                        </a:rPr>
                        <a:t>16</a:t>
                      </a:r>
                    </a:p>
                  </a:txBody>
                  <a:tcPr marL="95250" marR="95250" marT="66675" marB="66675" anchor="ctr">
                    <a:solidFill>
                      <a:srgbClr val="B86100"/>
                    </a:solidFill>
                  </a:tcPr>
                </a:tc>
                <a:tc>
                  <a:txBody>
                    <a:bodyPr vert="horz" wrap="square"/>
                    <a:lstStyle/>
                    <a:p>
                      <a:pPr algn="l"/>
                      <a:r>
                        <a:rPr sz="1125">
                          <a:solidFill>
                            <a:srgbClr val="1F2D3D"/>
                          </a:solidFill>
                          <a:latin typeface="Arial"/>
                          <a:ea typeface="Arial"/>
                          <a:cs typeface="Arial"/>
                        </a:rPr>
                        <a:t>Female ε4</a:t>
                      </a:r>
                    </a:p>
                  </a:txBody>
                  <a:tcPr marL="95250" marR="95250" marT="66675" marB="66675" anchor="ctr">
                    <a:solidFill>
                      <a:srgbClr val="FFFFFF"/>
                    </a:solidFill>
                  </a:tcPr>
                </a:tc>
                <a:tc>
                  <a:txBody>
                    <a:bodyPr vert="horz" wrap="square"/>
                    <a:lstStyle/>
                    <a:p>
                      <a:pPr algn="l"/>
                      <a:r>
                        <a:rPr sz="1125">
                          <a:solidFill>
                            <a:srgbClr val="1F2D3D"/>
                          </a:solidFill>
                          <a:latin typeface="Arial"/>
                          <a:ea typeface="Arial"/>
                          <a:cs typeface="Arial"/>
                        </a:rPr>
                        <a:t>A small group of genes that respond to protein damage and cellular stress appears in only two female ε4 vascular-cell KDA calls.</a:t>
                      </a:r>
                    </a:p>
                  </a:txBody>
                  <a:tcPr marL="95250" marR="95250" marT="66675" marB="66675" anchor="ctr">
                    <a:solidFill>
                      <a:srgbClr val="FFFFFF"/>
                    </a:solidFill>
                  </a:tcPr>
                </a:tc>
                <a:tc>
                  <a:txBody>
                    <a:bodyPr vert="horz" wrap="square"/>
                    <a:lstStyle/>
                    <a:p>
                      <a:pPr algn="ctr"/>
                      <a:r>
                        <a:rPr sz="1125" b="1">
                          <a:solidFill>
                            <a:srgbClr val="005E82"/>
                          </a:solidFill>
                          <a:latin typeface="Arial"/>
                          <a:ea typeface="Arial"/>
                          <a:cs typeface="Arial"/>
                        </a:rPr>
                        <a:t>Moderate</a:t>
                      </a:r>
                    </a:p>
                  </a:txBody>
                  <a:tcPr marL="95250" marR="95250" marT="66675" marB="66675" anchor="ctr">
                    <a:solidFill>
                      <a:srgbClr val="E5F2FA"/>
                    </a:solidFill>
                  </a:tcPr>
                </a:tc>
                <a:extLst>
                  <a:ext uri="{0D108BD9-81ED-4DB2-BD59-A6C34878D82A}">
                    <a16:rowId xmlns:a16="http://schemas.microsoft.com/office/drawing/2014/main" val="10003"/>
                  </a:ext>
                </a:extLst>
              </a:tr>
              <a:tr h="973931">
                <a:tc>
                  <a:txBody>
                    <a:bodyPr vert="horz" wrap="square"/>
                    <a:lstStyle/>
                    <a:p>
                      <a:pPr algn="ctr"/>
                      <a:r>
                        <a:rPr sz="1125" b="1">
                          <a:solidFill>
                            <a:srgbClr val="FFFFFF"/>
                          </a:solidFill>
                          <a:latin typeface="Arial"/>
                          <a:ea typeface="Arial"/>
                          <a:cs typeface="Arial"/>
                        </a:rPr>
                        <a:t>18</a:t>
                      </a:r>
                    </a:p>
                  </a:txBody>
                  <a:tcPr marL="95250" marR="95250" marT="66675" marB="66675" anchor="ctr">
                    <a:solidFill>
                      <a:srgbClr val="B86100"/>
                    </a:solidFill>
                  </a:tcPr>
                </a:tc>
                <a:tc>
                  <a:txBody>
                    <a:bodyPr vert="horz" wrap="square"/>
                    <a:lstStyle/>
                    <a:p>
                      <a:pPr algn="l"/>
                      <a:r>
                        <a:rPr sz="1125">
                          <a:solidFill>
                            <a:srgbClr val="1F2D3D"/>
                          </a:solidFill>
                          <a:latin typeface="Arial"/>
                          <a:ea typeface="Arial"/>
                          <a:cs typeface="Arial"/>
                        </a:rPr>
                        <a:t>Male ε2</a:t>
                      </a:r>
                    </a:p>
                  </a:txBody>
                  <a:tcPr marL="95250" marR="95250" marT="66675" marB="66675" anchor="ctr">
                    <a:solidFill>
                      <a:srgbClr val="F7FAFD"/>
                    </a:solidFill>
                  </a:tcPr>
                </a:tc>
                <a:tc>
                  <a:txBody>
                    <a:bodyPr vert="horz" wrap="square"/>
                    <a:lstStyle/>
                    <a:p>
                      <a:pPr algn="l"/>
                      <a:r>
                        <a:rPr sz="1125">
                          <a:solidFill>
                            <a:srgbClr val="1F2D3D"/>
                          </a:solidFill>
                          <a:latin typeface="Arial"/>
                          <a:ea typeface="Arial"/>
                          <a:cs typeface="Arial"/>
                        </a:rPr>
                        <a:t>INTS8 was returned from one inhibitory-neuron KDA call. Human genetics supports follow-up, but it was not returned from additional KDA calls.</a:t>
                      </a:r>
                    </a:p>
                  </a:txBody>
                  <a:tcPr marL="95250" marR="95250" marT="66675" marB="66675" anchor="ctr">
                    <a:solidFill>
                      <a:srgbClr val="F7FAFD"/>
                    </a:solidFill>
                  </a:tcPr>
                </a:tc>
                <a:tc>
                  <a:txBody>
                    <a:bodyPr vert="horz" wrap="square"/>
                    <a:lstStyle/>
                    <a:p>
                      <a:pPr algn="ctr"/>
                      <a:r>
                        <a:rPr sz="1125" b="1">
                          <a:solidFill>
                            <a:srgbClr val="005E82"/>
                          </a:solidFill>
                          <a:latin typeface="Arial"/>
                          <a:ea typeface="Arial"/>
                          <a:cs typeface="Arial"/>
                        </a:rPr>
                        <a:t>Moderate</a:t>
                      </a:r>
                    </a:p>
                  </a:txBody>
                  <a:tcPr marL="95250" marR="95250" marT="66675" marB="66675" anchor="ctr">
                    <a:solidFill>
                      <a:srgbClr val="E5F2FA"/>
                    </a:solidFill>
                  </a:tcPr>
                </a:tc>
                <a:extLst>
                  <a:ext uri="{0D108BD9-81ED-4DB2-BD59-A6C34878D82A}">
                    <a16:rowId xmlns:a16="http://schemas.microsoft.com/office/drawing/2014/main" val="10004"/>
                  </a:ext>
                </a:extLst>
              </a:tr>
            </a:tbl>
          </a:graphicData>
        </a:graphic>
      </p:graphicFrame>
    </p:spTree>
    <p:extLst>
      <p:ext uri="{BB962C8B-B14F-4D97-AF65-F5344CB8AC3E}">
        <p14:creationId val="1642345167"/>
      </p:ext>
    </p:extLst>
  </p:cSld>
  <p:clrMapOvr>
    <a:masterClrMapping/>
  </p:clrMapOvr>
  <p:transition/>
  <p:timing/>
</p:sld>
</file>

<file path=ppt/slides/slide5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4F7FB"/>
        </a:solidFill>
        <a:effectLst/>
      </p:bgPr>
    </p:bg>
    <p:spTree>
      <p:nvGrpSpPr>
        <p:cNvPr id="1" name=""/>
        <p:cNvGrpSpPr/>
        <p:nvPr/>
      </p:nvGrpSpPr>
      <p:grpSpPr>
        <a:xfrm>
          <a:off x="0" y="0"/>
          <a:ext cx="0" cy="0"/>
        </a:xfrm>
      </p:grpSpPr>
      <p:sp>
        <p:nvSpPr>
          <p:cNvPr id="5" name="Summary 5 Title">
            <a:extLst>
              <a:ext uri="{FF2B5EF4-FFF2-40B4-BE49-F238E27FC236}">
                <a16:creationId xmlns:a16="http://schemas.microsoft.com/office/drawing/2014/main" id="{3E5E2B3E-72D6-4335-A4C7-3EFD014B98BD}"/>
              </a:ext>
            </a:extLst>
          </p:cNvPr>
          <p:cNvSpPr>
            <a:spLocks noGrp="1"/>
          </p:cNvSpPr>
          <p:nvPr/>
        </p:nvSpPr>
        <p:spPr>
          <a:xfrm>
            <a:off x="609600" y="361950"/>
            <a:ext cx="10972800" cy="552450"/>
          </a:xfrm>
          <a:prstGeom prst="rect">
            <a:avLst/>
          </a:prstGeom>
          <a:noFill/>
          <a:ln w="0">
            <a:noFill/>
            <a:prstDash val="solid"/>
          </a:ln>
        </p:spPr>
        <p:txBody>
          <a:bodyPr wrap="square" lIns="0" tIns="0" rIns="0" bIns="0">
            <a:normAutofit/>
          </a:bodyPr>
          <a:lstStyle/>
          <a:p>
            <a:pPr algn="l">
              <a:buNone/>
              <a:defRPr sz="2250" b="1">
                <a:solidFill>
                  <a:srgbClr val="11263F"/>
                </a:solidFill>
                <a:latin typeface="Arial"/>
                <a:ea typeface="Arial"/>
                <a:cs typeface="Arial"/>
              </a:defRPr>
            </a:pPr>
            <a:r>
              <a:rPr sz="2250" b="1">
                <a:solidFill>
                  <a:srgbClr val="11263F"/>
                </a:solidFill>
                <a:latin typeface="Arial"/>
                <a:ea typeface="Arial"/>
                <a:cs typeface="Arial"/>
              </a:rPr>
              <a:t>Lower-priority findings for the sex/APOE story</a:t>
            </a:r>
          </a:p>
        </p:txBody>
      </p:sp>
      <p:sp>
        <p:nvSpPr>
          <p:cNvPr id="2" name="Summary 5 Subtitle">
            <a:extLst>
              <a:ext uri="{FF2B5EF4-FFF2-40B4-BE49-F238E27FC236}">
                <a16:creationId xmlns:a16="http://schemas.microsoft.com/office/drawing/2014/main" id="{713CB07B-2415-456E-8D56-781A03D46FD8}"/>
              </a:ext>
            </a:extLst>
          </p:cNvPr>
          <p:cNvSpPr>
            <a:spLocks noGrp="1"/>
          </p:cNvSpPr>
          <p:nvPr/>
        </p:nvSpPr>
        <p:spPr>
          <a:xfrm>
            <a:off x="628650" y="1000125"/>
            <a:ext cx="10934700" cy="419100"/>
          </a:xfrm>
          <a:prstGeom prst="rect">
            <a:avLst/>
          </a:prstGeom>
          <a:noFill/>
          <a:ln w="0">
            <a:noFill/>
            <a:prstDash val="solid"/>
          </a:ln>
        </p:spPr>
        <p:txBody>
          <a:bodyPr wrap="square" lIns="0" tIns="0" rIns="0" bIns="0">
            <a:normAutofit/>
          </a:bodyPr>
          <a:lstStyle/>
          <a:p>
            <a:pPr algn="l">
              <a:buNone/>
              <a:defRPr sz="1275">
                <a:solidFill>
                  <a:srgbClr val="536273"/>
                </a:solidFill>
                <a:latin typeface="Arial"/>
                <a:ea typeface="Arial"/>
                <a:cs typeface="Arial"/>
              </a:defRPr>
            </a:pPr>
            <a:r>
              <a:rPr sz="1275">
                <a:solidFill>
                  <a:srgbClr val="536273"/>
                </a:solidFill>
                <a:latin typeface="Arial"/>
                <a:ea typeface="Arial"/>
                <a:cs typeface="Arial"/>
              </a:rPr>
              <a:t>These findings remain informative, but they do not distinguish one sex/APOE group from the others.</a:t>
            </a:r>
          </a:p>
        </p:txBody>
      </p:sp>
      <p:graphicFrame>
        <p:nvGraphicFramePr>
          <p:cNvPr id="9" name="Summary 5 Table"/>
          <p:cNvGraphicFramePr>
            <a:graphicFrameLocks noGrp="1"/>
          </p:cNvGraphicFramePr>
          <p:nvPr/>
        </p:nvGraphicFramePr>
        <p:xfrm>
          <a:off x="666750" y="1524000"/>
          <a:ext cx="10858500" cy="4095750"/>
        </p:xfrm>
        <a:graphic>
          <a:graphicData uri="http://schemas.openxmlformats.org/drawingml/2006/table">
            <a:tbl>
              <a:tblPr firstRow="1"/>
              <a:tblGrid>
                <a:gridCol w="762000">
                  <a:extLst>
                    <a:ext uri="{9D8B030D-6E8A-4147-A177-3AD203B41FA5}">
                      <a16:colId xmlns:a16="http://schemas.microsoft.com/office/drawing/2014/main" val="20000"/>
                    </a:ext>
                  </a:extLst>
                </a:gridCol>
                <a:gridCol w="1809750">
                  <a:extLst>
                    <a:ext uri="{9D8B030D-6E8A-4147-A177-3AD203B41FA5}">
                      <a16:colId xmlns:a16="http://schemas.microsoft.com/office/drawing/2014/main" val="20001"/>
                    </a:ext>
                  </a:extLst>
                </a:gridCol>
                <a:gridCol w="4476750">
                  <a:extLst>
                    <a:ext uri="{9D8B030D-6E8A-4147-A177-3AD203B41FA5}">
                      <a16:colId xmlns:a16="http://schemas.microsoft.com/office/drawing/2014/main" val="20002"/>
                    </a:ext>
                  </a:extLst>
                </a:gridCol>
                <a:gridCol w="2476500">
                  <a:extLst>
                    <a:ext uri="{9D8B030D-6E8A-4147-A177-3AD203B41FA5}">
                      <a16:colId xmlns:a16="http://schemas.microsoft.com/office/drawing/2014/main" val="20003"/>
                    </a:ext>
                  </a:extLst>
                </a:gridCol>
                <a:gridCol w="1333500">
                  <a:extLst>
                    <a:ext uri="{9D8B030D-6E8A-4147-A177-3AD203B41FA5}">
                      <a16:colId xmlns:a16="http://schemas.microsoft.com/office/drawing/2014/main" val="20004"/>
                    </a:ext>
                  </a:extLst>
                </a:gridCol>
              </a:tblGrid>
              <a:tr h="495300">
                <a:tc>
                  <a:txBody>
                    <a:bodyPr vert="horz" wrap="square"/>
                    <a:lstStyle/>
                    <a:p>
                      <a:pPr algn="ctr"/>
                      <a:r>
                        <a:rPr sz="1125" b="1">
                          <a:solidFill>
                            <a:srgbClr val="FFFFFF"/>
                          </a:solidFill>
                          <a:latin typeface="Arial"/>
                          <a:ea typeface="Arial"/>
                          <a:cs typeface="Arial"/>
                        </a:rPr>
                        <a:t>Finding</a:t>
                      </a:r>
                    </a:p>
                  </a:txBody>
                  <a:tcPr marL="95250" marR="95250" marT="66675" marB="66675" anchor="ctr">
                    <a:solidFill>
                      <a:srgbClr val="11263F"/>
                    </a:solidFill>
                  </a:tcPr>
                </a:tc>
                <a:tc>
                  <a:txBody>
                    <a:bodyPr vert="horz" wrap="square"/>
                    <a:lstStyle/>
                    <a:p>
                      <a:pPr algn="l"/>
                      <a:r>
                        <a:rPr sz="1125" b="1">
                          <a:solidFill>
                            <a:srgbClr val="FFFFFF"/>
                          </a:solidFill>
                          <a:latin typeface="Arial"/>
                          <a:ea typeface="Arial"/>
                          <a:cs typeface="Arial"/>
                        </a:rPr>
                        <a:t>Scope</a:t>
                      </a:r>
                    </a:p>
                  </a:txBody>
                  <a:tcPr marL="95250" marR="95250" marT="66675" marB="66675" anchor="ctr">
                    <a:solidFill>
                      <a:srgbClr val="11263F"/>
                    </a:solidFill>
                  </a:tcPr>
                </a:tc>
                <a:tc>
                  <a:txBody>
                    <a:bodyPr vert="horz" wrap="square"/>
                    <a:lstStyle/>
                    <a:p>
                      <a:pPr algn="l"/>
                      <a:r>
                        <a:rPr sz="1125" b="1">
                          <a:solidFill>
                            <a:srgbClr val="FFFFFF"/>
                          </a:solidFill>
                          <a:latin typeface="Arial"/>
                          <a:ea typeface="Arial"/>
                          <a:cs typeface="Arial"/>
                        </a:rPr>
                        <a:t>Summary</a:t>
                      </a:r>
                    </a:p>
                  </a:txBody>
                  <a:tcPr marL="95250" marR="95250" marT="66675" marB="66675" anchor="ctr">
                    <a:solidFill>
                      <a:srgbClr val="11263F"/>
                    </a:solidFill>
                  </a:tcPr>
                </a:tc>
                <a:tc>
                  <a:txBody>
                    <a:bodyPr vert="horz" wrap="square"/>
                    <a:lstStyle/>
                    <a:p>
                      <a:pPr algn="l"/>
                      <a:r>
                        <a:rPr sz="1125" b="1">
                          <a:solidFill>
                            <a:srgbClr val="FFFFFF"/>
                          </a:solidFill>
                          <a:latin typeface="Arial"/>
                          <a:ea typeface="Arial"/>
                          <a:cs typeface="Arial"/>
                        </a:rPr>
                        <a:t>Role</a:t>
                      </a:r>
                    </a:p>
                  </a:txBody>
                  <a:tcPr marL="95250" marR="95250" marT="66675" marB="66675" anchor="ctr">
                    <a:solidFill>
                      <a:srgbClr val="11263F"/>
                    </a:solidFill>
                  </a:tcPr>
                </a:tc>
                <a:tc>
                  <a:txBody>
                    <a:bodyPr vert="horz" wrap="square"/>
                    <a:lstStyle/>
                    <a:p>
                      <a:pPr algn="ctr"/>
                      <a:r>
                        <a:rPr sz="1125" b="1">
                          <a:solidFill>
                            <a:srgbClr val="FFFFFF"/>
                          </a:solidFill>
                          <a:latin typeface="Arial"/>
                          <a:ea typeface="Arial"/>
                          <a:cs typeface="Arial"/>
                        </a:rPr>
                        <a:t>Novelty</a:t>
                      </a:r>
                    </a:p>
                  </a:txBody>
                  <a:tcPr marL="95250" marR="95250" marT="66675" marB="66675" anchor="ctr">
                    <a:solidFill>
                      <a:srgbClr val="11263F"/>
                    </a:solidFill>
                  </a:tcPr>
                </a:tc>
                <a:extLst>
                  <a:ext uri="{0D108BD9-81ED-4DB2-BD59-A6C34878D82A}">
                    <a16:rowId xmlns:a16="http://schemas.microsoft.com/office/drawing/2014/main" val="10000"/>
                  </a:ext>
                </a:extLst>
              </a:tr>
              <a:tr h="1800225">
                <a:tc>
                  <a:txBody>
                    <a:bodyPr vert="horz" wrap="square"/>
                    <a:lstStyle/>
                    <a:p>
                      <a:pPr algn="ctr"/>
                      <a:r>
                        <a:rPr sz="1125" b="1">
                          <a:solidFill>
                            <a:srgbClr val="FFFFFF"/>
                          </a:solidFill>
                          <a:latin typeface="Arial"/>
                          <a:ea typeface="Arial"/>
                          <a:cs typeface="Arial"/>
                        </a:rPr>
                        <a:t>7</a:t>
                      </a:r>
                    </a:p>
                  </a:txBody>
                  <a:tcPr marL="95250" marR="95250" marT="66675" marB="66675" anchor="ctr">
                    <a:solidFill>
                      <a:srgbClr val="7D4FA1"/>
                    </a:solidFill>
                  </a:tcPr>
                </a:tc>
                <a:tc>
                  <a:txBody>
                    <a:bodyPr vert="horz" wrap="square"/>
                    <a:lstStyle/>
                    <a:p>
                      <a:pPr algn="l"/>
                      <a:r>
                        <a:rPr sz="1125">
                          <a:solidFill>
                            <a:srgbClr val="1F2D3D"/>
                          </a:solidFill>
                          <a:latin typeface="Arial"/>
                          <a:ea typeface="Arial"/>
                          <a:cs typeface="Arial"/>
                        </a:rPr>
                        <a:t>All six groups</a:t>
                      </a:r>
                    </a:p>
                  </a:txBody>
                  <a:tcPr marL="95250" marR="95250" marT="66675" marB="66675" anchor="ctr">
                    <a:solidFill>
                      <a:srgbClr val="FFFFFF"/>
                    </a:solidFill>
                  </a:tcPr>
                </a:tc>
                <a:tc>
                  <a:txBody>
                    <a:bodyPr vert="horz" wrap="square"/>
                    <a:lstStyle/>
                    <a:p>
                      <a:pPr algn="l"/>
                      <a:r>
                        <a:rPr sz="1125">
                          <a:solidFill>
                            <a:srgbClr val="1F2D3D"/>
                          </a:solidFill>
                          <a:latin typeface="Arial"/>
                          <a:ea typeface="Arial"/>
                          <a:cs typeface="Arial"/>
                        </a:rPr>
                        <a:t>RPL11, RPS15, and related genes that help ribosomes outside mitochondria make proteins are connected to nuclear-encoded OXPHOS genes.</a:t>
                      </a:r>
                    </a:p>
                  </a:txBody>
                  <a:tcPr marL="95250" marR="95250" marT="66675" marB="66675" anchor="ctr">
                    <a:solidFill>
                      <a:srgbClr val="FFFFFF"/>
                    </a:solidFill>
                  </a:tcPr>
                </a:tc>
                <a:tc>
                  <a:txBody>
                    <a:bodyPr vert="horz" wrap="square"/>
                    <a:lstStyle/>
                    <a:p>
                      <a:pPr algn="l"/>
                      <a:r>
                        <a:rPr sz="1125">
                          <a:solidFill>
                            <a:srgbClr val="1F2D3D"/>
                          </a:solidFill>
                          <a:latin typeface="Arial"/>
                          <a:ea typeface="Arial"/>
                          <a:cs typeface="Arial"/>
                        </a:rPr>
                        <a:t>Found across all six sex/APOE groups</a:t>
                      </a:r>
                    </a:p>
                  </a:txBody>
                  <a:tcPr marL="95250" marR="95250" marT="66675" marB="66675" anchor="ctr">
                    <a:solidFill>
                      <a:srgbClr val="FFFFFF"/>
                    </a:solidFill>
                  </a:tcPr>
                </a:tc>
                <a:tc>
                  <a:txBody>
                    <a:bodyPr vert="horz" wrap="square"/>
                    <a:lstStyle/>
                    <a:p>
                      <a:pPr algn="ctr"/>
                      <a:r>
                        <a:rPr sz="1125" b="1">
                          <a:solidFill>
                            <a:srgbClr val="005E82"/>
                          </a:solidFill>
                          <a:latin typeface="Arial"/>
                          <a:ea typeface="Arial"/>
                          <a:cs typeface="Arial"/>
                        </a:rPr>
                        <a:t>Moderate</a:t>
                      </a:r>
                    </a:p>
                  </a:txBody>
                  <a:tcPr marL="95250" marR="95250" marT="66675" marB="66675" anchor="ctr">
                    <a:solidFill>
                      <a:srgbClr val="E5F2FA"/>
                    </a:solidFill>
                  </a:tcPr>
                </a:tc>
                <a:extLst>
                  <a:ext uri="{0D108BD9-81ED-4DB2-BD59-A6C34878D82A}">
                    <a16:rowId xmlns:a16="http://schemas.microsoft.com/office/drawing/2014/main" val="10001"/>
                  </a:ext>
                </a:extLst>
              </a:tr>
              <a:tr h="1800225">
                <a:tc>
                  <a:txBody>
                    <a:bodyPr vert="horz" wrap="square"/>
                    <a:lstStyle/>
                    <a:p>
                      <a:pPr algn="ctr"/>
                      <a:r>
                        <a:rPr sz="1125" b="1">
                          <a:solidFill>
                            <a:srgbClr val="FFFFFF"/>
                          </a:solidFill>
                          <a:latin typeface="Arial"/>
                          <a:ea typeface="Arial"/>
                          <a:cs typeface="Arial"/>
                        </a:rPr>
                        <a:t>10</a:t>
                      </a:r>
                    </a:p>
                  </a:txBody>
                  <a:tcPr marL="95250" marR="95250" marT="66675" marB="66675" anchor="ctr">
                    <a:solidFill>
                      <a:srgbClr val="7D4FA1"/>
                    </a:solidFill>
                  </a:tcPr>
                </a:tc>
                <a:tc>
                  <a:txBody>
                    <a:bodyPr vert="horz" wrap="square"/>
                    <a:lstStyle/>
                    <a:p>
                      <a:pPr algn="l"/>
                      <a:r>
                        <a:rPr sz="1125">
                          <a:solidFill>
                            <a:srgbClr val="1F2D3D"/>
                          </a:solidFill>
                          <a:latin typeface="Arial"/>
                          <a:ea typeface="Arial"/>
                          <a:cs typeface="Arial"/>
                        </a:rPr>
                        <a:t>All six groups</a:t>
                      </a:r>
                    </a:p>
                  </a:txBody>
                  <a:tcPr marL="95250" marR="95250" marT="66675" marB="66675" anchor="ctr">
                    <a:solidFill>
                      <a:srgbClr val="F7FAFD"/>
                    </a:solidFill>
                  </a:tcPr>
                </a:tc>
                <a:tc>
                  <a:txBody>
                    <a:bodyPr vert="horz" wrap="square"/>
                    <a:lstStyle/>
                    <a:p>
                      <a:pPr algn="l"/>
                      <a:r>
                        <a:rPr sz="1125">
                          <a:solidFill>
                            <a:srgbClr val="1F2D3D"/>
                          </a:solidFill>
                          <a:latin typeface="Arial"/>
                          <a:ea typeface="Arial"/>
                          <a:cs typeface="Arial"/>
                        </a:rPr>
                        <a:t>SELENOM, which helps control oxidative stress and calcium inside the endoplasmic reticulum, is connected to genes used for mitochondrial protein production.</a:t>
                      </a:r>
                    </a:p>
                  </a:txBody>
                  <a:tcPr marL="95250" marR="95250" marT="66675" marB="66675" anchor="ctr">
                    <a:solidFill>
                      <a:srgbClr val="F7FAFD"/>
                    </a:solidFill>
                  </a:tcPr>
                </a:tc>
                <a:tc>
                  <a:txBody>
                    <a:bodyPr vert="horz" wrap="square"/>
                    <a:lstStyle/>
                    <a:p>
                      <a:pPr algn="l"/>
                      <a:r>
                        <a:rPr sz="1125">
                          <a:solidFill>
                            <a:srgbClr val="1F2D3D"/>
                          </a:solidFill>
                          <a:latin typeface="Arial"/>
                          <a:ea typeface="Arial"/>
                          <a:cs typeface="Arial"/>
                        </a:rPr>
                        <a:t>Found across all six sex/APOE groups</a:t>
                      </a:r>
                    </a:p>
                  </a:txBody>
                  <a:tcPr marL="95250" marR="95250" marT="66675" marB="66675" anchor="ctr">
                    <a:solidFill>
                      <a:srgbClr val="F7FAFD"/>
                    </a:solidFill>
                  </a:tcPr>
                </a:tc>
                <a:tc>
                  <a:txBody>
                    <a:bodyPr vert="horz" wrap="square"/>
                    <a:lstStyle/>
                    <a:p>
                      <a:pPr algn="ctr"/>
                      <a:r>
                        <a:rPr sz="1125" b="1">
                          <a:solidFill>
                            <a:srgbClr val="8A4A00"/>
                          </a:solidFill>
                          <a:latin typeface="Arial"/>
                          <a:ea typeface="Arial"/>
                          <a:cs typeface="Arial"/>
                        </a:rPr>
                        <a:t>High</a:t>
                      </a:r>
                    </a:p>
                  </a:txBody>
                  <a:tcPr marL="95250" marR="95250" marT="66675" marB="66675" anchor="ctr">
                    <a:solidFill>
                      <a:srgbClr val="FFF1CE"/>
                    </a:solidFill>
                  </a:tcPr>
                </a:tc>
                <a:extLst>
                  <a:ext uri="{0D108BD9-81ED-4DB2-BD59-A6C34878D82A}">
                    <a16:rowId xmlns:a16="http://schemas.microsoft.com/office/drawing/2014/main" val="10002"/>
                  </a:ext>
                </a:extLst>
              </a:tr>
            </a:tbl>
          </a:graphicData>
        </a:graphic>
      </p:graphicFrame>
    </p:spTree>
    <p:extLst>
      <p:ext uri="{BB962C8B-B14F-4D97-AF65-F5344CB8AC3E}">
        <p14:creationId val="115123652"/>
      </p:ext>
    </p:extLst>
  </p:cSld>
  <p:clrMapOvr>
    <a:masterClrMapping/>
  </p:clrMapOvr>
  <p:transition/>
  <p:timing/>
</p:sld>
</file>

<file path=ppt/slides/slide5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0F233D"/>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E2EAEA5C-C8A9-4613-8C0C-F852EA9F568B}"/>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050" b="1" i="0">
                <a:solidFill>
                  <a:srgbClr val="E69F00"/>
                </a:solidFill>
                <a:latin typeface="Arial"/>
                <a:ea typeface="Arial"/>
                <a:cs typeface="Arial"/>
              </a:rPr>
              <a:t>FINDING 1</a:t>
            </a:r>
          </a:p>
        </p:txBody>
      </p:sp>
      <p:sp>
        <p:nvSpPr>
          <p:cNvPr id="3" name="Rectangle 2">
            <a:extLst>
              <a:ext uri="{FF2B5EF4-FFF2-40B4-BE49-F238E27FC236}">
                <a16:creationId xmlns:a16="http://schemas.microsoft.com/office/drawing/2014/main" id="{3B5CE9DA-02F6-45CB-82B1-5B51626912F2}"/>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2C82376-515E-4BC4-AB74-CDB0A113DFE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2300" b="1" i="0">
                <a:solidFill>
                  <a:srgbClr val="FFFFFF"/>
                </a:solidFill>
                <a:latin typeface="Arial"/>
                <a:ea typeface="Arial"/>
                <a:cs typeface="Arial"/>
              </a:rPr>
              <a:t>Female APOE ε3/ε3 cells show strong core MT gene upregulation</a:t>
            </a:r>
          </a:p>
        </p:txBody>
      </p:sp>
      <p:sp>
        <p:nvSpPr>
          <p:cNvPr id="5" name="TextBox 4">
            <a:extLst>
              <a:ext uri="{FF2B5EF4-FFF2-40B4-BE49-F238E27FC236}">
                <a16:creationId xmlns:a16="http://schemas.microsoft.com/office/drawing/2014/main" id="{ABD64F1D-6D65-4657-8920-B21C23BC4133}"/>
              </a:ext>
            </a:extLst>
          </p:cNvPr>
          <p:cNvSpPr>
            <a:spLocks noGrp="1"/>
          </p:cNvSpPr>
          <p:nvPr/>
        </p:nvSpPr>
        <p:spPr>
          <a:xfrm>
            <a:off x="1097280" y="2468880"/>
            <a:ext cx="7406640" cy="512064"/>
          </a:xfrm>
          <a:prstGeom prst="rect">
            <a:avLst/>
          </a:prstGeom>
          <a:noFill/>
        </p:spPr>
        <p:txBody>
          <a:bodyPr wrap="square" lIns="0" tIns="0" rIns="0" bIns="0" anchor="t">
            <a:normAutofit/>
          </a:bodyPr>
          <a:lstStyle/>
          <a:p>
            <a:pPr algn="l">
              <a:lnSpc>
                <a:spcPct val="100000"/>
              </a:lnSpc>
              <a:spcBef>
                <a:spcPct val="0"/>
              </a:spcBef>
              <a:spcAft>
                <a:spcPct val="0"/>
              </a:spcAft>
              <a:buNone/>
              <a:defRPr sz="1350" b="1">
                <a:solidFill>
                  <a:srgbClr val="E6A700"/>
                </a:solidFill>
                <a:latin typeface="Arial"/>
                <a:ea typeface="Arial"/>
                <a:cs typeface="Arial"/>
              </a:defRPr>
            </a:pPr>
            <a:r>
              <a:rPr sz="1350" b="1" i="0">
                <a:solidFill>
                  <a:srgbClr val="E6A700"/>
                </a:solidFill>
                <a:latin typeface="Arial"/>
                <a:ea typeface="Arial"/>
                <a:cs typeface="Arial"/>
              </a:rPr>
              <a:t>Observed in: female ε3/ε3</a:t>
            </a:r>
          </a:p>
        </p:txBody>
      </p:sp>
      <p:sp>
        <p:nvSpPr>
          <p:cNvPr id="6" name="Rounded Rectangle 5">
            <a:extLst>
              <a:ext uri="{FF2B5EF4-FFF2-40B4-BE49-F238E27FC236}">
                <a16:creationId xmlns:a16="http://schemas.microsoft.com/office/drawing/2014/main" id="{34E0ABAC-67E4-40F8-9669-78A49DD798D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94795F-DBCB-4875-AB3A-F194EC1F06F1}"/>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D54CAFC9-5CFB-41BD-BDA0-EF2426297699}"/>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B93F141-862A-46A7-8709-1CD099813C3D}"/>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86E4D91-2C00-493D-807F-3794CDCD150B}"/>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0750FA47-1898-4838-BE6A-74C319AE052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ED5175-98F8-43D7-8773-283594ABBDE3}"/>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2133B16D-F51E-4BE2-BBD2-081AF8E3C22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222AAAA-C164-425B-9350-3F447103C87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9078990-BE1C-48B0-A6B8-29581B7E1CAA}"/>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F6663891-7441-48F4-B939-1E71CD727891}"/>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SEA-AD support</a:t>
            </a:r>
          </a:p>
        </p:txBody>
      </p:sp>
      <p:sp>
        <p:nvSpPr>
          <p:cNvPr id="17" name="Oval 16">
            <a:extLst>
              <a:ext uri="{FF2B5EF4-FFF2-40B4-BE49-F238E27FC236}">
                <a16:creationId xmlns:a16="http://schemas.microsoft.com/office/drawing/2014/main" id="{80EBB8DB-43E2-4F2A-97AF-E1463B5EFB2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90F30C7-B84D-4FB0-A4DE-1A5FC5698B4E}"/>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787F9A3-3CAD-449B-AA09-9C76EAFDB58E}"/>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85323ECB-521C-4237-AF84-44BE8F32CD4D}"/>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B802350-BEC6-48F2-870F-29D8C0D5C40A}"/>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20" b="1" i="0">
                <a:solidFill>
                  <a:srgbClr val="FFFFFF"/>
                </a:solidFill>
                <a:latin typeface="Arial"/>
                <a:ea typeface="Arial"/>
                <a:cs typeface="Arial"/>
              </a:rPr>
              <a:t>SEA-AD supports the core MT gene pattern. Nuclear-encoded OXPHOS support is currently ROSMAP-only.</a:t>
            </a:r>
          </a:p>
        </p:txBody>
      </p:sp>
    </p:spTree>
    <p:extLst>
      <p:ext uri="{BB962C8B-B14F-4D97-AF65-F5344CB8AC3E}">
        <p14:creationId val="425918138"/>
      </p:ext>
    </p:extLst>
  </p:cSld>
  <p:clrMapOvr>
    <a:masterClrMapping/>
  </p:clrMapOvr>
  <p:transition/>
  <p:timing/>
</p:sld>
</file>

<file path=ppt/slides/slide5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8B044F1F-1ABD-4D0A-8F0B-681D66C1A916}"/>
              </a:ext>
            </a:extLst>
          </p:cNvPr>
          <p:cNvSpPr>
            <a:spLocks noGrp="1"/>
          </p:cNvSpPr>
          <p:nvPr/>
        </p:nvSpPr>
        <p:spPr>
          <a:xfrm>
            <a:off x="530352" y="292608"/>
            <a:ext cx="11064240" cy="36317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000" b="1" i="0">
                <a:solidFill>
                  <a:srgbClr val="0F233D"/>
                </a:solidFill>
                <a:latin typeface="Arial"/>
                <a:ea typeface="Arial"/>
                <a:cs typeface="Arial"/>
              </a:rPr>
              <a:t>Female ε3/ε3 cells show higher core MT gene expression in AD</a:t>
            </a:r>
          </a:p>
        </p:txBody>
      </p:sp>
      <p:sp>
        <p:nvSpPr>
          <p:cNvPr id="3" name="TextBox 2">
            <a:extLst>
              <a:ext uri="{FF2B5EF4-FFF2-40B4-BE49-F238E27FC236}">
                <a16:creationId xmlns:a16="http://schemas.microsoft.com/office/drawing/2014/main" id="{515E76ED-6A59-406E-8089-417BDE580C2F}"/>
              </a:ext>
            </a:extLst>
          </p:cNvPr>
          <p:cNvSpPr>
            <a:spLocks noGrp="1"/>
          </p:cNvSpPr>
          <p:nvPr/>
        </p:nvSpPr>
        <p:spPr>
          <a:xfrm>
            <a:off x="548640" y="969264"/>
            <a:ext cx="10927080" cy="221599"/>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080" b="0" i="0">
                <a:solidFill>
                  <a:srgbClr val="4E5A68"/>
                </a:solidFill>
                <a:latin typeface="Arial"/>
                <a:ea typeface="Arial"/>
                <a:cs typeface="Arial"/>
              </a:rPr>
              <a:t>The core MT gene result repeats across ROSMAP fine-cell comparisons and receives support from SEA-AD.</a:t>
            </a:r>
          </a:p>
        </p:txBody>
      </p:sp>
      <p:sp>
        <p:nvSpPr>
          <p:cNvPr id="4" name="Rounded Rectangle 3">
            <a:extLst>
              <a:ext uri="{FF2B5EF4-FFF2-40B4-BE49-F238E27FC236}">
                <a16:creationId xmlns:a16="http://schemas.microsoft.com/office/drawing/2014/main" id="{AA4AC83A-3FBC-485B-880B-B5B0458B8079}"/>
              </a:ext>
            </a:extLst>
          </p:cNvPr>
          <p:cNvSpPr>
            <a:spLocks noGrp="1"/>
          </p:cNvSpPr>
          <p:nvPr/>
        </p:nvSpPr>
        <p:spPr>
          <a:xfrm>
            <a:off x="1024128" y="1353312"/>
            <a:ext cx="1920240"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27D5D64-ED97-4494-BE56-EBEEE62CD4D0}"/>
              </a:ext>
            </a:extLst>
          </p:cNvPr>
          <p:cNvSpPr>
            <a:spLocks noGrp="1"/>
          </p:cNvSpPr>
          <p:nvPr/>
        </p:nvSpPr>
        <p:spPr>
          <a:xfrm>
            <a:off x="1115568" y="1453896"/>
            <a:ext cx="1737360"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12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D0B0C734-01ED-475F-B954-0FE60F88F2C2}"/>
              </a:ext>
            </a:extLst>
          </p:cNvPr>
          <p:cNvSpPr>
            <a:spLocks noGrp="1"/>
          </p:cNvSpPr>
          <p:nvPr/>
        </p:nvSpPr>
        <p:spPr>
          <a:xfrm>
            <a:off x="3218688" y="1353312"/>
            <a:ext cx="2212848"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85DC248-7CF2-4975-9306-53F576C3A3F3}"/>
              </a:ext>
            </a:extLst>
          </p:cNvPr>
          <p:cNvSpPr>
            <a:spLocks noGrp="1"/>
          </p:cNvSpPr>
          <p:nvPr/>
        </p:nvSpPr>
        <p:spPr>
          <a:xfrm>
            <a:off x="3310128" y="1453896"/>
            <a:ext cx="2029967"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120" b="1" i="0">
                <a:solidFill>
                  <a:srgbClr val="00684D"/>
                </a:solidFill>
                <a:latin typeface="Arial"/>
                <a:ea typeface="Arial"/>
                <a:cs typeface="Arial"/>
              </a:rPr>
              <a:t>APOE ε3/ε3</a:t>
            </a:r>
          </a:p>
        </p:txBody>
      </p:sp>
      <p:sp>
        <p:nvSpPr>
          <p:cNvPr id="8" name="Rounded Rectangle 7">
            <a:extLst>
              <a:ext uri="{FF2B5EF4-FFF2-40B4-BE49-F238E27FC236}">
                <a16:creationId xmlns:a16="http://schemas.microsoft.com/office/drawing/2014/main" id="{3AB56433-6330-4E5B-A03A-0D04DD099496}"/>
              </a:ext>
            </a:extLst>
          </p:cNvPr>
          <p:cNvSpPr>
            <a:spLocks noGrp="1"/>
          </p:cNvSpPr>
          <p:nvPr/>
        </p:nvSpPr>
        <p:spPr>
          <a:xfrm>
            <a:off x="5705856" y="1353312"/>
            <a:ext cx="2432304"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2A1115-4137-4A36-A46A-41F40755B622}"/>
              </a:ext>
            </a:extLst>
          </p:cNvPr>
          <p:cNvSpPr>
            <a:spLocks noGrp="1"/>
          </p:cNvSpPr>
          <p:nvPr/>
        </p:nvSpPr>
        <p:spPr>
          <a:xfrm>
            <a:off x="5797296" y="1453896"/>
            <a:ext cx="2249424"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120" b="1" i="0">
                <a:solidFill>
                  <a:srgbClr val="895600"/>
                </a:solidFill>
                <a:latin typeface="Arial"/>
                <a:ea typeface="Arial"/>
                <a:cs typeface="Arial"/>
              </a:rPr>
              <a:t>Excitatory neurons</a:t>
            </a:r>
          </a:p>
        </p:txBody>
      </p:sp>
      <p:sp>
        <p:nvSpPr>
          <p:cNvPr id="10" name="Rounded Rectangle 9">
            <a:extLst>
              <a:ext uri="{FF2B5EF4-FFF2-40B4-BE49-F238E27FC236}">
                <a16:creationId xmlns:a16="http://schemas.microsoft.com/office/drawing/2014/main" id="{574799C2-CF17-459D-91E9-70B819B78EB9}"/>
              </a:ext>
            </a:extLst>
          </p:cNvPr>
          <p:cNvSpPr>
            <a:spLocks noGrp="1"/>
          </p:cNvSpPr>
          <p:nvPr/>
        </p:nvSpPr>
        <p:spPr>
          <a:xfrm>
            <a:off x="8412480" y="1353312"/>
            <a:ext cx="2578608"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0D7B8DD-CD91-47E6-9973-24078DC4CF8B}"/>
              </a:ext>
            </a:extLst>
          </p:cNvPr>
          <p:cNvSpPr>
            <a:spLocks noGrp="1"/>
          </p:cNvSpPr>
          <p:nvPr/>
        </p:nvSpPr>
        <p:spPr>
          <a:xfrm>
            <a:off x="8503919" y="1453896"/>
            <a:ext cx="2395727"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120" b="1" i="0">
                <a:solidFill>
                  <a:srgbClr val="9E3A00"/>
                </a:solidFill>
                <a:latin typeface="Arial"/>
                <a:ea typeface="Arial"/>
                <a:cs typeface="Arial"/>
              </a:rPr>
              <a:t>Alzheimer’s disease</a:t>
            </a:r>
          </a:p>
        </p:txBody>
      </p:sp>
      <p:sp>
        <p:nvSpPr>
          <p:cNvPr id="12" name="Rounded Rectangle 11">
            <a:extLst>
              <a:ext uri="{FF2B5EF4-FFF2-40B4-BE49-F238E27FC236}">
                <a16:creationId xmlns:a16="http://schemas.microsoft.com/office/drawing/2014/main" id="{6B01C44E-8A6D-4ACD-B5B0-6312A120CBC1}"/>
              </a:ext>
            </a:extLst>
          </p:cNvPr>
          <p:cNvSpPr>
            <a:spLocks noGrp="1"/>
          </p:cNvSpPr>
          <p:nvPr/>
        </p:nvSpPr>
        <p:spPr>
          <a:xfrm>
            <a:off x="749808" y="2066543"/>
            <a:ext cx="10698480" cy="283464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F36BA67-ED29-41BE-BD84-B18FABE2CA22}"/>
              </a:ext>
            </a:extLst>
          </p:cNvPr>
          <p:cNvSpPr>
            <a:spLocks noGrp="1"/>
          </p:cNvSpPr>
          <p:nvPr/>
        </p:nvSpPr>
        <p:spPr>
          <a:xfrm>
            <a:off x="1115568" y="2532888"/>
            <a:ext cx="3017520" cy="38404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800" b="1" i="0">
                <a:solidFill>
                  <a:srgbClr val="0F233D"/>
                </a:solidFill>
                <a:latin typeface="Arial"/>
                <a:ea typeface="Arial"/>
                <a:cs typeface="Arial"/>
              </a:rPr>
              <a:t>CORE MT GENES</a:t>
            </a:r>
          </a:p>
        </p:txBody>
      </p:sp>
      <p:sp>
        <p:nvSpPr>
          <p:cNvPr id="14" name="TextBox 13">
            <a:extLst>
              <a:ext uri="{FF2B5EF4-FFF2-40B4-BE49-F238E27FC236}">
                <a16:creationId xmlns:a16="http://schemas.microsoft.com/office/drawing/2014/main" id="{B808481D-718F-4842-807C-5AA9E803C37D}"/>
              </a:ext>
            </a:extLst>
          </p:cNvPr>
          <p:cNvSpPr>
            <a:spLocks noGrp="1"/>
          </p:cNvSpPr>
          <p:nvPr/>
        </p:nvSpPr>
        <p:spPr>
          <a:xfrm>
            <a:off x="1115568" y="3108960"/>
            <a:ext cx="3017520" cy="74980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400" b="1" i="0">
                <a:solidFill>
                  <a:srgbClr val="1F2730"/>
                </a:solidFill>
                <a:latin typeface="Arial"/>
                <a:ea typeface="Arial"/>
                <a:cs typeface="Arial"/>
              </a:rPr>
              <a:t>13 protein-coding genes
encoded by mtDNA</a:t>
            </a:r>
          </a:p>
        </p:txBody>
      </p:sp>
      <p:sp>
        <p:nvSpPr>
          <p:cNvPr id="15" name="TextBox 14">
            <a:extLst>
              <a:ext uri="{FF2B5EF4-FFF2-40B4-BE49-F238E27FC236}">
                <a16:creationId xmlns:a16="http://schemas.microsoft.com/office/drawing/2014/main" id="{34A38E06-808B-4DBC-84B7-B0DCCCE65514}"/>
              </a:ext>
            </a:extLst>
          </p:cNvPr>
          <p:cNvSpPr>
            <a:spLocks noGrp="1"/>
          </p:cNvSpPr>
          <p:nvPr/>
        </p:nvSpPr>
        <p:spPr>
          <a:xfrm>
            <a:off x="4590288" y="2880360"/>
            <a:ext cx="914400" cy="676656"/>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3400" b="1" i="0">
                <a:solidFill>
                  <a:srgbClr val="0072B2"/>
                </a:solidFill>
                <a:latin typeface="Arial"/>
                <a:ea typeface="Arial"/>
                <a:cs typeface="Arial"/>
              </a:rPr>
              <a:t>→</a:t>
            </a:r>
          </a:p>
        </p:txBody>
      </p:sp>
      <p:sp>
        <p:nvSpPr>
          <p:cNvPr id="16" name="TextBox 15">
            <a:extLst>
              <a:ext uri="{FF2B5EF4-FFF2-40B4-BE49-F238E27FC236}">
                <a16:creationId xmlns:a16="http://schemas.microsoft.com/office/drawing/2014/main" id="{C07D0BB6-E278-4ED9-873F-178358A80ED7}"/>
              </a:ext>
            </a:extLst>
          </p:cNvPr>
          <p:cNvSpPr>
            <a:spLocks noGrp="1"/>
          </p:cNvSpPr>
          <p:nvPr/>
        </p:nvSpPr>
        <p:spPr>
          <a:xfrm>
            <a:off x="5833872" y="2532888"/>
            <a:ext cx="2926080" cy="38404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800" b="1" i="0">
                <a:solidFill>
                  <a:srgbClr val="0F233D"/>
                </a:solidFill>
                <a:latin typeface="Arial"/>
                <a:ea typeface="Arial"/>
                <a:cs typeface="Arial"/>
              </a:rPr>
              <a:t>RNA abundance</a:t>
            </a:r>
          </a:p>
        </p:txBody>
      </p:sp>
      <p:sp>
        <p:nvSpPr>
          <p:cNvPr id="17" name="TextBox 16">
            <a:extLst>
              <a:ext uri="{FF2B5EF4-FFF2-40B4-BE49-F238E27FC236}">
                <a16:creationId xmlns:a16="http://schemas.microsoft.com/office/drawing/2014/main" id="{FB189D88-BC57-415E-BBA7-B40A4B0E74B3}"/>
              </a:ext>
            </a:extLst>
          </p:cNvPr>
          <p:cNvSpPr>
            <a:spLocks noGrp="1"/>
          </p:cNvSpPr>
          <p:nvPr/>
        </p:nvSpPr>
        <p:spPr>
          <a:xfrm>
            <a:off x="8887968" y="2587752"/>
            <a:ext cx="1133856" cy="1152144"/>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5200" b="1" i="0">
                <a:solidFill>
                  <a:srgbClr val="00684D"/>
                </a:solidFill>
                <a:latin typeface="Arial"/>
                <a:ea typeface="Arial"/>
                <a:cs typeface="Arial"/>
              </a:rPr>
              <a:t>↑</a:t>
            </a:r>
          </a:p>
        </p:txBody>
      </p:sp>
      <p:sp>
        <p:nvSpPr>
          <p:cNvPr id="18" name="TextBox 17">
            <a:extLst>
              <a:ext uri="{FF2B5EF4-FFF2-40B4-BE49-F238E27FC236}">
                <a16:creationId xmlns:a16="http://schemas.microsoft.com/office/drawing/2014/main" id="{B59759B8-2C33-455B-AA6A-ADCAEDC593E8}"/>
              </a:ext>
            </a:extLst>
          </p:cNvPr>
          <p:cNvSpPr>
            <a:spLocks noGrp="1"/>
          </p:cNvSpPr>
          <p:nvPr/>
        </p:nvSpPr>
        <p:spPr>
          <a:xfrm>
            <a:off x="5596128" y="3136392"/>
            <a:ext cx="3401568" cy="713232"/>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380" b="1" i="0">
                <a:solidFill>
                  <a:srgbClr val="1F2730"/>
                </a:solidFill>
                <a:latin typeface="Arial"/>
                <a:ea typeface="Arial"/>
                <a:cs typeface="Arial"/>
              </a:rPr>
              <a:t>higher core MT gene expression
in AD than in the comparison group</a:t>
            </a:r>
          </a:p>
        </p:txBody>
      </p:sp>
      <p:sp>
        <p:nvSpPr>
          <p:cNvPr id="19" name="Rounded Rectangle 18">
            <a:extLst>
              <a:ext uri="{FF2B5EF4-FFF2-40B4-BE49-F238E27FC236}">
                <a16:creationId xmlns:a16="http://schemas.microsoft.com/office/drawing/2014/main" id="{DF0611BE-3342-4FDE-A989-60D2197AE405}"/>
              </a:ext>
            </a:extLst>
          </p:cNvPr>
          <p:cNvSpPr>
            <a:spLocks noGrp="1"/>
          </p:cNvSpPr>
          <p:nvPr/>
        </p:nvSpPr>
        <p:spPr>
          <a:xfrm>
            <a:off x="749808" y="5230368"/>
            <a:ext cx="10698480" cy="69494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167EC3F6-1DCC-4C95-8C82-A4F04FD76544}"/>
              </a:ext>
            </a:extLst>
          </p:cNvPr>
          <p:cNvSpPr>
            <a:spLocks noGrp="1"/>
          </p:cNvSpPr>
          <p:nvPr/>
        </p:nvSpPr>
        <p:spPr>
          <a:xfrm>
            <a:off x="987552" y="5431536"/>
            <a:ext cx="10222992" cy="481584"/>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400" b="1">
                <a:solidFill>
                  <a:srgbClr val="7E4C9A"/>
                </a:solidFill>
                <a:latin typeface="Arial"/>
                <a:ea typeface="Arial"/>
                <a:cs typeface="Arial"/>
              </a:rPr>
              <a:t>Nuclear-encoded OXPHOS gene expression also rises in ROSMAP, but cross-cohort support is strongest for core MT genes.</a:t>
            </a:r>
          </a:p>
        </p:txBody>
      </p:sp>
    </p:spTree>
    <p:extLst>
      <p:ext uri="{BB962C8B-B14F-4D97-AF65-F5344CB8AC3E}">
        <p14:creationId val="1892964177"/>
      </p:ext>
    </p:extLst>
  </p:cSld>
  <p:clrMapOvr>
    <a:masterClrMapping/>
  </p:clrMapOvr>
  <p:transition/>
  <p:timing/>
</p:sld>
</file>

<file path=ppt/slides/slide6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AE9A384A-7A4A-4863-A573-B5BF9F11190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ROSMAP: female ε3/ε3 OXPHOS signals are predominantly AD-up</a:t>
            </a:r>
          </a:p>
        </p:txBody>
      </p:sp>
      <p:sp>
        <p:nvSpPr>
          <p:cNvPr id="4" name="Rounded Rectangle 3">
            <a:extLst>
              <a:ext uri="{FF2B5EF4-FFF2-40B4-BE49-F238E27FC236}">
                <a16:creationId xmlns:a16="http://schemas.microsoft.com/office/drawing/2014/main" id="{ECBBD7C1-5CD4-4521-8FF3-D64CCD516E5C}"/>
              </a:ext>
            </a:extLst>
          </p:cNvPr>
          <p:cNvSpPr>
            <a:spLocks noGrp="1"/>
          </p:cNvSpPr>
          <p:nvPr/>
        </p:nvSpPr>
        <p:spPr>
          <a:xfrm>
            <a:off x="658368" y="2402699"/>
            <a:ext cx="10881360" cy="11338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57C5A574-BC49-484D-9EE8-4581842795EE}"/>
              </a:ext>
            </a:extLst>
          </p:cNvPr>
          <p:cNvSpPr>
            <a:spLocks noGrp="1"/>
          </p:cNvSpPr>
          <p:nvPr/>
        </p:nvSpPr>
        <p:spPr>
          <a:xfrm>
            <a:off x="987552" y="2727763"/>
            <a:ext cx="4946904" cy="670953"/>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000" b="1" i="0">
                <a:solidFill>
                  <a:srgbClr val="0072B2"/>
                </a:solidFill>
                <a:latin typeface="Arial"/>
                <a:ea typeface="Arial"/>
                <a:cs typeface="Arial"/>
              </a:rPr>
              <a:t>Core MT genes</a:t>
            </a:r>
          </a:p>
          <a:p>
            <a:pPr algn="ctr">
              <a:lnSpc>
                <a:spcPct val="100000"/>
              </a:lnSpc>
              <a:spcBef>
                <a:spcPct val="0"/>
              </a:spcBef>
              <a:spcAft>
                <a:spcPct val="0"/>
              </a:spcAft>
              <a:buNone/>
            </a:pPr>
            <a:r>
              <a:rPr sz="2000" b="1" i="0">
                <a:solidFill>
                  <a:srgbClr val="0072B2"/>
                </a:solidFill>
                <a:latin typeface="Arial"/>
                <a:ea typeface="Arial"/>
                <a:cs typeface="Arial"/>
              </a:rPr>
              <a:t>217/217 occurrences are AD-up</a:t>
            </a:r>
          </a:p>
        </p:txBody>
      </p:sp>
      <p:sp>
        <p:nvSpPr>
          <p:cNvPr id="7" name="TextBox 6">
            <a:extLst>
              <a:ext uri="{FF2B5EF4-FFF2-40B4-BE49-F238E27FC236}">
                <a16:creationId xmlns:a16="http://schemas.microsoft.com/office/drawing/2014/main" id="{8557A361-83E3-46C3-9ED2-8824F70BA33C}"/>
              </a:ext>
            </a:extLst>
          </p:cNvPr>
          <p:cNvSpPr>
            <a:spLocks noGrp="1"/>
          </p:cNvSpPr>
          <p:nvPr/>
        </p:nvSpPr>
        <p:spPr>
          <a:xfrm>
            <a:off x="6263640" y="2578608"/>
            <a:ext cx="4901184" cy="424732"/>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200" b="1" i="0">
                <a:solidFill>
                  <a:srgbClr val="4E5A68"/>
                </a:solidFill>
                <a:latin typeface="Arial"/>
                <a:ea typeface="Arial"/>
                <a:cs typeface="Arial"/>
              </a:rPr>
              <a:t>Nuclear-encoded OXPHOS genes</a:t>
            </a:r>
          </a:p>
          <a:p>
            <a:pPr algn="ctr">
              <a:lnSpc>
                <a:spcPct val="100000"/>
              </a:lnSpc>
              <a:spcBef>
                <a:spcPct val="0"/>
              </a:spcBef>
              <a:spcAft>
                <a:spcPct val="0"/>
              </a:spcAft>
              <a:buNone/>
            </a:pPr>
            <a:r>
              <a:rPr sz="1200" b="1" i="0">
                <a:solidFill>
                  <a:srgbClr val="4E5A68"/>
                </a:solidFill>
                <a:latin typeface="Arial"/>
                <a:ea typeface="Arial"/>
                <a:cs typeface="Arial"/>
              </a:rPr>
              <a:t>76/89 occurrences are AD-up (85%)</a:t>
            </a:r>
          </a:p>
        </p:txBody>
      </p:sp>
      <p:sp>
        <p:nvSpPr>
          <p:cNvPr id="8" name="Rectangle 7">
            <a:extLst>
              <a:ext uri="{FF2B5EF4-FFF2-40B4-BE49-F238E27FC236}">
                <a16:creationId xmlns:a16="http://schemas.microsoft.com/office/drawing/2014/main" id="{DDFC3800-4C7F-4A91-8AB1-911E83C21F47}"/>
              </a:ext>
            </a:extLst>
          </p:cNvPr>
          <p:cNvSpPr>
            <a:spLocks noGrp="1"/>
          </p:cNvSpPr>
          <p:nvPr/>
        </p:nvSpPr>
        <p:spPr>
          <a:xfrm>
            <a:off x="822960" y="3911459"/>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B033C06-FC81-48EB-A493-B65D6F687FB5}"/>
              </a:ext>
            </a:extLst>
          </p:cNvPr>
          <p:cNvSpPr>
            <a:spLocks noGrp="1"/>
          </p:cNvSpPr>
          <p:nvPr/>
        </p:nvSpPr>
        <p:spPr>
          <a:xfrm>
            <a:off x="969264" y="3884027"/>
            <a:ext cx="10387584" cy="28931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520" b="1" i="0">
                <a:solidFill>
                  <a:srgbClr val="0F233D"/>
                </a:solidFill>
                <a:latin typeface="Arial"/>
                <a:ea typeface="Arial"/>
                <a:cs typeface="Arial"/>
              </a:rPr>
              <a:t>Within </a:t>
            </a:r>
            <a:r>
              <a:rPr sz="1520" b="1">
                <a:solidFill>
                  <a:srgbClr val="0F233D"/>
                </a:solidFill>
                <a:latin typeface="Arial"/>
                <a:ea typeface="Arial"/>
                <a:cs typeface="Arial"/>
              </a:rPr>
              <a:t>excitatory</a:t>
            </a:r>
            <a:r>
              <a:rPr sz="1520" b="1" i="0">
                <a:solidFill>
                  <a:srgbClr val="0F233D"/>
                </a:solidFill>
                <a:latin typeface="Arial"/>
                <a:ea typeface="Arial"/>
                <a:cs typeface="Arial"/>
              </a:rPr>
              <a:t> neurons</a:t>
            </a:r>
          </a:p>
        </p:txBody>
      </p:sp>
      <p:sp>
        <p:nvSpPr>
          <p:cNvPr id="10" name="Rounded Rectangle 9">
            <a:extLst>
              <a:ext uri="{FF2B5EF4-FFF2-40B4-BE49-F238E27FC236}">
                <a16:creationId xmlns:a16="http://schemas.microsoft.com/office/drawing/2014/main" id="{37072A8D-E6F1-4F46-A677-AF6EC3872EAF}"/>
              </a:ext>
            </a:extLst>
          </p:cNvPr>
          <p:cNvSpPr>
            <a:spLocks noGrp="1"/>
          </p:cNvSpPr>
          <p:nvPr/>
        </p:nvSpPr>
        <p:spPr>
          <a:xfrm>
            <a:off x="2622890" y="4432667"/>
            <a:ext cx="3255264"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940C169-80D6-4CCC-B256-D0096F52BA60}"/>
              </a:ext>
            </a:extLst>
          </p:cNvPr>
          <p:cNvSpPr>
            <a:spLocks noGrp="1"/>
          </p:cNvSpPr>
          <p:nvPr/>
        </p:nvSpPr>
        <p:spPr>
          <a:xfrm>
            <a:off x="2787482" y="4560683"/>
            <a:ext cx="2926080" cy="4846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800" b="1" i="0">
                <a:solidFill>
                  <a:srgbClr val="00684D"/>
                </a:solidFill>
                <a:latin typeface="Arial"/>
                <a:ea typeface="Arial"/>
                <a:cs typeface="Arial"/>
              </a:rPr>
              <a:t>14</a:t>
            </a:r>
          </a:p>
        </p:txBody>
      </p:sp>
      <p:sp>
        <p:nvSpPr>
          <p:cNvPr id="12" name="TextBox 11">
            <a:extLst>
              <a:ext uri="{FF2B5EF4-FFF2-40B4-BE49-F238E27FC236}">
                <a16:creationId xmlns:a16="http://schemas.microsoft.com/office/drawing/2014/main" id="{131575DD-DCF1-470C-AFD7-7261A2130067}"/>
              </a:ext>
            </a:extLst>
          </p:cNvPr>
          <p:cNvSpPr>
            <a:spLocks noGrp="1"/>
          </p:cNvSpPr>
          <p:nvPr/>
        </p:nvSpPr>
        <p:spPr>
          <a:xfrm>
            <a:off x="2787482" y="5091035"/>
            <a:ext cx="2926080" cy="21223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19" b="1">
                <a:solidFill>
                  <a:srgbClr val="0F233D"/>
                </a:solidFill>
                <a:latin typeface="Arial"/>
                <a:ea typeface="Arial"/>
                <a:cs typeface="Arial"/>
              </a:rPr>
              <a:t>f</a:t>
            </a:r>
            <a:r>
              <a:rPr sz="1019" b="1" i="0">
                <a:solidFill>
                  <a:srgbClr val="0F233D"/>
                </a:solidFill>
                <a:latin typeface="Arial"/>
                <a:ea typeface="Arial"/>
                <a:cs typeface="Arial"/>
              </a:rPr>
              <a:t>ine-cell DEG lists included</a:t>
            </a:r>
          </a:p>
        </p:txBody>
      </p:sp>
      <p:sp>
        <p:nvSpPr>
          <p:cNvPr id="13" name="Rounded Rectangle 12">
            <a:extLst>
              <a:ext uri="{FF2B5EF4-FFF2-40B4-BE49-F238E27FC236}">
                <a16:creationId xmlns:a16="http://schemas.microsoft.com/office/drawing/2014/main" id="{21900610-13B3-4EB5-B45E-381F8D68E466}"/>
              </a:ext>
            </a:extLst>
          </p:cNvPr>
          <p:cNvSpPr>
            <a:spLocks noGrp="1"/>
          </p:cNvSpPr>
          <p:nvPr/>
        </p:nvSpPr>
        <p:spPr>
          <a:xfrm>
            <a:off x="6262202" y="4432667"/>
            <a:ext cx="3255264"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EE7BE3BB-092A-435E-AE34-69336CCD976C}"/>
              </a:ext>
            </a:extLst>
          </p:cNvPr>
          <p:cNvSpPr>
            <a:spLocks noGrp="1"/>
          </p:cNvSpPr>
          <p:nvPr/>
        </p:nvSpPr>
        <p:spPr>
          <a:xfrm>
            <a:off x="6426794" y="4560683"/>
            <a:ext cx="2926080" cy="4846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800" b="1" i="0">
                <a:solidFill>
                  <a:srgbClr val="0072B2"/>
                </a:solidFill>
                <a:latin typeface="Arial"/>
                <a:ea typeface="Arial"/>
                <a:cs typeface="Arial"/>
              </a:rPr>
              <a:t>123</a:t>
            </a:r>
          </a:p>
        </p:txBody>
      </p:sp>
      <p:sp>
        <p:nvSpPr>
          <p:cNvPr id="15" name="TextBox 14">
            <a:extLst>
              <a:ext uri="{FF2B5EF4-FFF2-40B4-BE49-F238E27FC236}">
                <a16:creationId xmlns:a16="http://schemas.microsoft.com/office/drawing/2014/main" id="{874B3382-6DE7-4669-98B0-2EBBCFE51CA5}"/>
              </a:ext>
            </a:extLst>
          </p:cNvPr>
          <p:cNvSpPr>
            <a:spLocks noGrp="1"/>
          </p:cNvSpPr>
          <p:nvPr/>
        </p:nvSpPr>
        <p:spPr>
          <a:xfrm>
            <a:off x="6426794" y="5091035"/>
            <a:ext cx="2926080" cy="3108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19" b="1" i="0">
                <a:solidFill>
                  <a:srgbClr val="0F233D"/>
                </a:solidFill>
                <a:latin typeface="Arial"/>
                <a:ea typeface="Arial"/>
                <a:cs typeface="Arial"/>
              </a:rPr>
              <a:t>core MT gene DEG occurrences</a:t>
            </a:r>
          </a:p>
        </p:txBody>
      </p:sp>
      <p:sp>
        <p:nvSpPr>
          <p:cNvPr id="19" name="Rounded Rectangle 18">
            <a:extLst>
              <a:ext uri="{FF2B5EF4-FFF2-40B4-BE49-F238E27FC236}">
                <a16:creationId xmlns:a16="http://schemas.microsoft.com/office/drawing/2014/main" id="{111CC3A6-1B5D-4A64-8308-AD8C656EC246}"/>
              </a:ext>
            </a:extLst>
          </p:cNvPr>
          <p:cNvSpPr>
            <a:spLocks noGrp="1"/>
          </p:cNvSpPr>
          <p:nvPr/>
        </p:nvSpPr>
        <p:spPr>
          <a:xfrm>
            <a:off x="822960" y="5880464"/>
            <a:ext cx="10533888" cy="6035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Rectangle 19">
            <a:extLst>
              <a:ext uri="{FF2B5EF4-FFF2-40B4-BE49-F238E27FC236}">
                <a16:creationId xmlns:a16="http://schemas.microsoft.com/office/drawing/2014/main" id="{B9432BB9-196A-4B83-BF88-F362828F559D}"/>
              </a:ext>
            </a:extLst>
          </p:cNvPr>
          <p:cNvSpPr>
            <a:spLocks noGrp="1"/>
          </p:cNvSpPr>
          <p:nvPr/>
        </p:nvSpPr>
        <p:spPr>
          <a:xfrm>
            <a:off x="1042415" y="6142595"/>
            <a:ext cx="8924544" cy="182880"/>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8F193D5-6095-4F4D-A363-B705B9523607}"/>
              </a:ext>
            </a:extLst>
          </p:cNvPr>
          <p:cNvSpPr>
            <a:spLocks noGrp="1"/>
          </p:cNvSpPr>
          <p:nvPr/>
        </p:nvSpPr>
        <p:spPr>
          <a:xfrm>
            <a:off x="1042415" y="5895707"/>
            <a:ext cx="219456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050" b="1" i="0">
                <a:solidFill>
                  <a:srgbClr val="00684D"/>
                </a:solidFill>
                <a:latin typeface="Arial"/>
                <a:ea typeface="Arial"/>
                <a:cs typeface="Arial"/>
              </a:rPr>
              <a:t>123 AD-up</a:t>
            </a:r>
          </a:p>
        </p:txBody>
      </p:sp>
      <p:sp>
        <p:nvSpPr>
          <p:cNvPr id="22" name="TextBox 21">
            <a:extLst>
              <a:ext uri="{FF2B5EF4-FFF2-40B4-BE49-F238E27FC236}">
                <a16:creationId xmlns:a16="http://schemas.microsoft.com/office/drawing/2014/main" id="{C5F40C86-C6A3-4BF6-98A0-CD69CC071E4B}"/>
              </a:ext>
            </a:extLst>
          </p:cNvPr>
          <p:cNvSpPr>
            <a:spLocks noGrp="1"/>
          </p:cNvSpPr>
          <p:nvPr/>
        </p:nvSpPr>
        <p:spPr>
          <a:xfrm>
            <a:off x="9948672" y="5895707"/>
            <a:ext cx="1133856" cy="219456"/>
          </a:xfrm>
          <a:prstGeom prst="rect">
            <a:avLst/>
          </a:prstGeom>
          <a:noFill/>
        </p:spPr>
        <p:txBody>
          <a:bodyPr wrap="square" lIns="27432" tIns="27432" rIns="27432" bIns="27432" anchor="t">
            <a:spAutoFit/>
          </a:bodyPr>
          <a:lstStyle/>
          <a:p>
            <a:pPr algn="r">
              <a:lnSpc>
                <a:spcPct val="100000"/>
              </a:lnSpc>
              <a:spcBef>
                <a:spcPct val="0"/>
              </a:spcBef>
              <a:spcAft>
                <a:spcPct val="0"/>
              </a:spcAft>
              <a:buNone/>
            </a:pPr>
            <a:r>
              <a:rPr sz="1050" b="1" i="0">
                <a:solidFill>
                  <a:srgbClr val="9E3A00"/>
                </a:solidFill>
                <a:latin typeface="Arial"/>
                <a:ea typeface="Arial"/>
                <a:cs typeface="Arial"/>
              </a:rPr>
              <a:t>0 AD-down</a:t>
            </a:r>
          </a:p>
        </p:txBody>
      </p:sp>
      <p:sp>
        <p:nvSpPr>
          <p:cNvPr id="26" name="Rectangle 25">
            <a:extLst>
              <a:ext uri="{FF2B5EF4-FFF2-40B4-BE49-F238E27FC236}">
                <a16:creationId xmlns:a16="http://schemas.microsoft.com/office/drawing/2014/main" id="{A3EE13A9-22D5-50A2-11CE-AB3CAD176957}"/>
              </a:ext>
            </a:extLst>
          </p:cNvPr>
          <p:cNvSpPr>
            <a:spLocks noGrp="1"/>
          </p:cNvSpPr>
          <p:nvPr/>
        </p:nvSpPr>
        <p:spPr>
          <a:xfrm>
            <a:off x="809895" y="2008624"/>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15B8895-9C9B-00FA-D032-13DF052A1BD1}"/>
              </a:ext>
            </a:extLst>
          </p:cNvPr>
          <p:cNvSpPr>
            <a:spLocks noGrp="1"/>
          </p:cNvSpPr>
          <p:nvPr/>
        </p:nvSpPr>
        <p:spPr>
          <a:xfrm>
            <a:off x="956199" y="1981192"/>
            <a:ext cx="10387584" cy="28931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520" b="1" i="0">
                <a:solidFill>
                  <a:srgbClr val="0F233D"/>
                </a:solidFill>
                <a:latin typeface="Arial"/>
                <a:ea typeface="Arial"/>
                <a:cs typeface="Arial"/>
              </a:rPr>
              <a:t>All included female ε3/ε3 DEG lists</a:t>
            </a:r>
          </a:p>
        </p:txBody>
      </p:sp>
    </p:spTree>
    <p:extLst>
      <p:ext uri="{BB962C8B-B14F-4D97-AF65-F5344CB8AC3E}">
        <p14:creationId val="331932660"/>
      </p:ext>
    </p:extLst>
  </p:cSld>
  <p:clrMapOvr>
    <a:masterClrMapping/>
  </p:clrMapOvr>
  <p:transition/>
  <p:timing/>
</p:sld>
</file>

<file path=ppt/slides/slide6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356D2DCA-6440-4FC8-ADC6-70416DB822CC}"/>
              </a:ext>
            </a:extLst>
          </p:cNvPr>
          <p:cNvSpPr>
            <a:spLocks noGrp="1"/>
          </p:cNvSpPr>
          <p:nvPr/>
        </p:nvSpPr>
        <p:spPr>
          <a:xfrm>
            <a:off x="530352" y="292608"/>
            <a:ext cx="11064240" cy="39395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SEA-AD adds strong support for the excitatory-neuron core MT gene pattern</a:t>
            </a:r>
          </a:p>
        </p:txBody>
      </p:sp>
      <p:sp>
        <p:nvSpPr>
          <p:cNvPr id="3" name="TextBox 2">
            <a:extLst>
              <a:ext uri="{FF2B5EF4-FFF2-40B4-BE49-F238E27FC236}">
                <a16:creationId xmlns:a16="http://schemas.microsoft.com/office/drawing/2014/main" id="{57C75997-8929-4D69-A9F0-62952DF2C73C}"/>
              </a:ext>
            </a:extLst>
          </p:cNvPr>
          <p:cNvSpPr>
            <a:spLocks noGrp="1"/>
          </p:cNvSpPr>
          <p:nvPr/>
        </p:nvSpPr>
        <p:spPr>
          <a:xfrm>
            <a:off x="548640" y="969264"/>
            <a:ext cx="10927080" cy="24006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200" b="1" i="0">
                <a:latin typeface="Arial"/>
                <a:ea typeface="Arial"/>
                <a:cs typeface="Arial"/>
              </a:rPr>
              <a:t>Only one SEA-AD fine-cell DEG list contributed to the matched female ε3/ε3 excitatory-neuron comparison, so coverage is limited.</a:t>
            </a:r>
          </a:p>
        </p:txBody>
      </p:sp>
      <p:sp>
        <p:nvSpPr>
          <p:cNvPr id="4" name="Rounded Rectangle 3">
            <a:extLst>
              <a:ext uri="{FF2B5EF4-FFF2-40B4-BE49-F238E27FC236}">
                <a16:creationId xmlns:a16="http://schemas.microsoft.com/office/drawing/2014/main" id="{8C4139BF-7618-4986-9D53-5EF567B29CD6}"/>
              </a:ext>
            </a:extLst>
          </p:cNvPr>
          <p:cNvSpPr>
            <a:spLocks noGrp="1"/>
          </p:cNvSpPr>
          <p:nvPr/>
        </p:nvSpPr>
        <p:spPr>
          <a:xfrm>
            <a:off x="713232" y="1371600"/>
            <a:ext cx="3273552"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BE2FF06-B7A9-4AEC-9585-668D9E48A9C9}"/>
              </a:ext>
            </a:extLst>
          </p:cNvPr>
          <p:cNvSpPr>
            <a:spLocks noGrp="1"/>
          </p:cNvSpPr>
          <p:nvPr/>
        </p:nvSpPr>
        <p:spPr>
          <a:xfrm>
            <a:off x="877824" y="1499616"/>
            <a:ext cx="2944368" cy="4846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800" b="1" i="0">
                <a:solidFill>
                  <a:srgbClr val="0072B2"/>
                </a:solidFill>
                <a:latin typeface="Arial"/>
                <a:ea typeface="Arial"/>
                <a:cs typeface="Arial"/>
              </a:rPr>
              <a:t>9/10</a:t>
            </a:r>
          </a:p>
        </p:txBody>
      </p:sp>
      <p:sp>
        <p:nvSpPr>
          <p:cNvPr id="6" name="TextBox 5">
            <a:extLst>
              <a:ext uri="{FF2B5EF4-FFF2-40B4-BE49-F238E27FC236}">
                <a16:creationId xmlns:a16="http://schemas.microsoft.com/office/drawing/2014/main" id="{6BA52C5B-057E-49B8-8749-CCB6EA7832A8}"/>
              </a:ext>
            </a:extLst>
          </p:cNvPr>
          <p:cNvSpPr>
            <a:spLocks noGrp="1"/>
          </p:cNvSpPr>
          <p:nvPr/>
        </p:nvSpPr>
        <p:spPr>
          <a:xfrm>
            <a:off x="877824" y="2029967"/>
            <a:ext cx="2944368" cy="365455"/>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19" b="1" i="0">
                <a:solidFill>
                  <a:srgbClr val="0F233D"/>
                </a:solidFill>
                <a:latin typeface="Arial"/>
                <a:ea typeface="Arial"/>
                <a:cs typeface="Arial"/>
              </a:rPr>
              <a:t>SEA-AD MitoCarta MT DEGs also found in ROSMAP</a:t>
            </a:r>
          </a:p>
        </p:txBody>
      </p:sp>
      <p:sp>
        <p:nvSpPr>
          <p:cNvPr id="7" name="Rounded Rectangle 6">
            <a:extLst>
              <a:ext uri="{FF2B5EF4-FFF2-40B4-BE49-F238E27FC236}">
                <a16:creationId xmlns:a16="http://schemas.microsoft.com/office/drawing/2014/main" id="{90943F31-8715-48FB-9D25-65D2570FE648}"/>
              </a:ext>
            </a:extLst>
          </p:cNvPr>
          <p:cNvSpPr>
            <a:spLocks noGrp="1"/>
          </p:cNvSpPr>
          <p:nvPr/>
        </p:nvSpPr>
        <p:spPr>
          <a:xfrm>
            <a:off x="713232" y="2807208"/>
            <a:ext cx="3273552"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ACECCD25-F81C-44BD-B1BE-6CCD007CCAFF}"/>
              </a:ext>
            </a:extLst>
          </p:cNvPr>
          <p:cNvSpPr>
            <a:spLocks noGrp="1"/>
          </p:cNvSpPr>
          <p:nvPr/>
        </p:nvSpPr>
        <p:spPr>
          <a:xfrm>
            <a:off x="877824" y="2935224"/>
            <a:ext cx="2944368" cy="4846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800" b="1" i="0">
                <a:solidFill>
                  <a:srgbClr val="00684D"/>
                </a:solidFill>
                <a:latin typeface="Arial"/>
                <a:ea typeface="Arial"/>
                <a:cs typeface="Arial"/>
              </a:rPr>
              <a:t>9/9</a:t>
            </a:r>
          </a:p>
        </p:txBody>
      </p:sp>
      <p:sp>
        <p:nvSpPr>
          <p:cNvPr id="9" name="TextBox 8">
            <a:extLst>
              <a:ext uri="{FF2B5EF4-FFF2-40B4-BE49-F238E27FC236}">
                <a16:creationId xmlns:a16="http://schemas.microsoft.com/office/drawing/2014/main" id="{B2BC4AF6-22C0-4101-A1EC-194EF2F07DA1}"/>
              </a:ext>
            </a:extLst>
          </p:cNvPr>
          <p:cNvSpPr>
            <a:spLocks noGrp="1"/>
          </p:cNvSpPr>
          <p:nvPr/>
        </p:nvSpPr>
        <p:spPr>
          <a:xfrm>
            <a:off x="877824" y="3465576"/>
            <a:ext cx="2944368" cy="3108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19" b="1" i="0">
                <a:solidFill>
                  <a:srgbClr val="0F233D"/>
                </a:solidFill>
                <a:latin typeface="Arial"/>
                <a:ea typeface="Arial"/>
                <a:cs typeface="Arial"/>
              </a:rPr>
              <a:t>shared genes are AD-up in both cohorts</a:t>
            </a:r>
          </a:p>
        </p:txBody>
      </p:sp>
      <p:sp>
        <p:nvSpPr>
          <p:cNvPr id="10" name="Rounded Rectangle 9">
            <a:extLst>
              <a:ext uri="{FF2B5EF4-FFF2-40B4-BE49-F238E27FC236}">
                <a16:creationId xmlns:a16="http://schemas.microsoft.com/office/drawing/2014/main" id="{EAA86796-15D8-42E8-A625-E146CA6C3481}"/>
              </a:ext>
            </a:extLst>
          </p:cNvPr>
          <p:cNvSpPr>
            <a:spLocks noGrp="1"/>
          </p:cNvSpPr>
          <p:nvPr/>
        </p:nvSpPr>
        <p:spPr>
          <a:xfrm>
            <a:off x="713232" y="4242816"/>
            <a:ext cx="327355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15DA7CE-911F-44E8-9A2F-474FE65548FF}"/>
              </a:ext>
            </a:extLst>
          </p:cNvPr>
          <p:cNvSpPr>
            <a:spLocks noGrp="1"/>
          </p:cNvSpPr>
          <p:nvPr/>
        </p:nvSpPr>
        <p:spPr>
          <a:xfrm>
            <a:off x="877824" y="4370831"/>
            <a:ext cx="2944368" cy="4846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300" b="1" i="0">
                <a:solidFill>
                  <a:srgbClr val="895600"/>
                </a:solidFill>
                <a:latin typeface="Arial"/>
                <a:ea typeface="Arial"/>
                <a:cs typeface="Arial"/>
              </a:rPr>
              <a:t>Adjusted P = 0.005</a:t>
            </a:r>
          </a:p>
        </p:txBody>
      </p:sp>
      <p:sp>
        <p:nvSpPr>
          <p:cNvPr id="12" name="TextBox 11">
            <a:extLst>
              <a:ext uri="{FF2B5EF4-FFF2-40B4-BE49-F238E27FC236}">
                <a16:creationId xmlns:a16="http://schemas.microsoft.com/office/drawing/2014/main" id="{9ADD6921-AD74-4B94-AB0A-D0B2CFFAC018}"/>
              </a:ext>
            </a:extLst>
          </p:cNvPr>
          <p:cNvSpPr>
            <a:spLocks noGrp="1"/>
          </p:cNvSpPr>
          <p:nvPr/>
        </p:nvSpPr>
        <p:spPr>
          <a:xfrm>
            <a:off x="877824" y="4901183"/>
            <a:ext cx="2944368" cy="3108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19" b="1" i="0">
                <a:solidFill>
                  <a:srgbClr val="0F233D"/>
                </a:solidFill>
                <a:latin typeface="Arial"/>
                <a:ea typeface="Arial"/>
                <a:cs typeface="Arial"/>
              </a:rPr>
              <a:t>shared-gene overlap between cohorts</a:t>
            </a:r>
          </a:p>
        </p:txBody>
      </p:sp>
      <p:sp>
        <p:nvSpPr>
          <p:cNvPr id="13" name="TextBox 12">
            <a:extLst>
              <a:ext uri="{FF2B5EF4-FFF2-40B4-BE49-F238E27FC236}">
                <a16:creationId xmlns:a16="http://schemas.microsoft.com/office/drawing/2014/main" id="{04AF87D9-8701-44A2-A573-D4F8BFC9199F}"/>
              </a:ext>
            </a:extLst>
          </p:cNvPr>
          <p:cNvSpPr>
            <a:spLocks noGrp="1"/>
          </p:cNvSpPr>
          <p:nvPr/>
        </p:nvSpPr>
        <p:spPr>
          <a:xfrm>
            <a:off x="877824" y="5230368"/>
            <a:ext cx="2944368" cy="21945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880" b="0" i="0">
                <a:solidFill>
                  <a:srgbClr val="4E5A68"/>
                </a:solidFill>
                <a:latin typeface="Arial"/>
                <a:ea typeface="Arial"/>
                <a:cs typeface="Arial"/>
              </a:rPr>
              <a:t>9 shared versus 3.83 expected</a:t>
            </a:r>
          </a:p>
        </p:txBody>
      </p:sp>
      <p:sp>
        <p:nvSpPr>
          <p:cNvPr id="14" name="Rounded Rectangle 13">
            <a:extLst>
              <a:ext uri="{FF2B5EF4-FFF2-40B4-BE49-F238E27FC236}">
                <a16:creationId xmlns:a16="http://schemas.microsoft.com/office/drawing/2014/main" id="{41A2725F-0694-4957-AE4A-FD6EC15292FD}"/>
              </a:ext>
            </a:extLst>
          </p:cNvPr>
          <p:cNvSpPr>
            <a:spLocks noGrp="1"/>
          </p:cNvSpPr>
          <p:nvPr/>
        </p:nvSpPr>
        <p:spPr>
          <a:xfrm>
            <a:off x="4315968" y="1371600"/>
            <a:ext cx="7150608" cy="433425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Rectangle 14">
            <a:extLst>
              <a:ext uri="{FF2B5EF4-FFF2-40B4-BE49-F238E27FC236}">
                <a16:creationId xmlns:a16="http://schemas.microsoft.com/office/drawing/2014/main" id="{ACEB790C-B7A7-447A-8FDC-7C5664E31F24}"/>
              </a:ext>
            </a:extLst>
          </p:cNvPr>
          <p:cNvSpPr>
            <a:spLocks noGrp="1"/>
          </p:cNvSpPr>
          <p:nvPr/>
        </p:nvSpPr>
        <p:spPr>
          <a:xfrm>
            <a:off x="4608576" y="169164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4F275946-0725-45E6-843F-95BBC8C7CAFC}"/>
              </a:ext>
            </a:extLst>
          </p:cNvPr>
          <p:cNvSpPr>
            <a:spLocks noGrp="1"/>
          </p:cNvSpPr>
          <p:nvPr/>
        </p:nvSpPr>
        <p:spPr>
          <a:xfrm>
            <a:off x="4754880" y="1664208"/>
            <a:ext cx="6364224" cy="32918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520" b="1" i="0">
                <a:solidFill>
                  <a:srgbClr val="0F233D"/>
                </a:solidFill>
                <a:latin typeface="Arial"/>
                <a:ea typeface="Arial"/>
                <a:cs typeface="Arial"/>
              </a:rPr>
              <a:t>Nine shared core MT genes</a:t>
            </a:r>
          </a:p>
        </p:txBody>
      </p:sp>
      <p:sp>
        <p:nvSpPr>
          <p:cNvPr id="17" name="Rounded Rectangle 16">
            <a:extLst>
              <a:ext uri="{FF2B5EF4-FFF2-40B4-BE49-F238E27FC236}">
                <a16:creationId xmlns:a16="http://schemas.microsoft.com/office/drawing/2014/main" id="{CAD8F1F9-49BD-489B-A42F-855641139CE9}"/>
              </a:ext>
            </a:extLst>
          </p:cNvPr>
          <p:cNvSpPr>
            <a:spLocks noGrp="1"/>
          </p:cNvSpPr>
          <p:nvPr/>
        </p:nvSpPr>
        <p:spPr>
          <a:xfrm>
            <a:off x="4626864"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11F70E4-676B-43C5-B532-4C6DDBAE917C}"/>
              </a:ext>
            </a:extLst>
          </p:cNvPr>
          <p:cNvSpPr>
            <a:spLocks noGrp="1"/>
          </p:cNvSpPr>
          <p:nvPr/>
        </p:nvSpPr>
        <p:spPr>
          <a:xfrm>
            <a:off x="4718303" y="2359152"/>
            <a:ext cx="1664208"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60" b="1" i="0">
                <a:solidFill>
                  <a:srgbClr val="0072B2"/>
                </a:solidFill>
                <a:latin typeface="Arial"/>
                <a:ea typeface="Arial"/>
                <a:cs typeface="Arial"/>
              </a:rPr>
              <a:t>MT-ATP6</a:t>
            </a:r>
          </a:p>
        </p:txBody>
      </p:sp>
      <p:sp>
        <p:nvSpPr>
          <p:cNvPr id="19" name="Rounded Rectangle 18">
            <a:extLst>
              <a:ext uri="{FF2B5EF4-FFF2-40B4-BE49-F238E27FC236}">
                <a16:creationId xmlns:a16="http://schemas.microsoft.com/office/drawing/2014/main" id="{28889E98-08F5-4EA2-B5E9-BF6C95FC4AE3}"/>
              </a:ext>
            </a:extLst>
          </p:cNvPr>
          <p:cNvSpPr>
            <a:spLocks noGrp="1"/>
          </p:cNvSpPr>
          <p:nvPr/>
        </p:nvSpPr>
        <p:spPr>
          <a:xfrm>
            <a:off x="6729983"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13AF5785-B372-4F0A-B5EE-9CA243B074C7}"/>
              </a:ext>
            </a:extLst>
          </p:cNvPr>
          <p:cNvSpPr>
            <a:spLocks noGrp="1"/>
          </p:cNvSpPr>
          <p:nvPr/>
        </p:nvSpPr>
        <p:spPr>
          <a:xfrm>
            <a:off x="6821423" y="2359152"/>
            <a:ext cx="1664208"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60" b="1" i="0">
                <a:solidFill>
                  <a:srgbClr val="0072B2"/>
                </a:solidFill>
                <a:latin typeface="Arial"/>
                <a:ea typeface="Arial"/>
                <a:cs typeface="Arial"/>
              </a:rPr>
              <a:t>MT-CO1</a:t>
            </a:r>
          </a:p>
        </p:txBody>
      </p:sp>
      <p:sp>
        <p:nvSpPr>
          <p:cNvPr id="21" name="Rounded Rectangle 20">
            <a:extLst>
              <a:ext uri="{FF2B5EF4-FFF2-40B4-BE49-F238E27FC236}">
                <a16:creationId xmlns:a16="http://schemas.microsoft.com/office/drawing/2014/main" id="{53655F11-2343-48DD-91C0-608962052EEA}"/>
              </a:ext>
            </a:extLst>
          </p:cNvPr>
          <p:cNvSpPr>
            <a:spLocks noGrp="1"/>
          </p:cNvSpPr>
          <p:nvPr/>
        </p:nvSpPr>
        <p:spPr>
          <a:xfrm>
            <a:off x="8833104"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9F497667-459B-41E4-A14A-F2D5989BAC9F}"/>
              </a:ext>
            </a:extLst>
          </p:cNvPr>
          <p:cNvSpPr>
            <a:spLocks noGrp="1"/>
          </p:cNvSpPr>
          <p:nvPr/>
        </p:nvSpPr>
        <p:spPr>
          <a:xfrm>
            <a:off x="8924544" y="2359152"/>
            <a:ext cx="1664208"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60" b="1" i="0">
                <a:solidFill>
                  <a:srgbClr val="0072B2"/>
                </a:solidFill>
                <a:latin typeface="Arial"/>
                <a:ea typeface="Arial"/>
                <a:cs typeface="Arial"/>
              </a:rPr>
              <a:t>MT-CO2</a:t>
            </a:r>
          </a:p>
        </p:txBody>
      </p:sp>
      <p:sp>
        <p:nvSpPr>
          <p:cNvPr id="23" name="Rounded Rectangle 22">
            <a:extLst>
              <a:ext uri="{FF2B5EF4-FFF2-40B4-BE49-F238E27FC236}">
                <a16:creationId xmlns:a16="http://schemas.microsoft.com/office/drawing/2014/main" id="{88514EA0-9428-48CB-BEA4-1FC3FCA51D15}"/>
              </a:ext>
            </a:extLst>
          </p:cNvPr>
          <p:cNvSpPr>
            <a:spLocks noGrp="1"/>
          </p:cNvSpPr>
          <p:nvPr/>
        </p:nvSpPr>
        <p:spPr>
          <a:xfrm>
            <a:off x="4626864"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65BFBB08-39FF-42FC-8B5C-979C25BA3C13}"/>
              </a:ext>
            </a:extLst>
          </p:cNvPr>
          <p:cNvSpPr>
            <a:spLocks noGrp="1"/>
          </p:cNvSpPr>
          <p:nvPr/>
        </p:nvSpPr>
        <p:spPr>
          <a:xfrm>
            <a:off x="4718303" y="3163824"/>
            <a:ext cx="1664208"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60" b="1" i="0">
                <a:solidFill>
                  <a:srgbClr val="0072B2"/>
                </a:solidFill>
                <a:latin typeface="Arial"/>
                <a:ea typeface="Arial"/>
                <a:cs typeface="Arial"/>
              </a:rPr>
              <a:t>MT-CO3</a:t>
            </a:r>
          </a:p>
        </p:txBody>
      </p:sp>
      <p:sp>
        <p:nvSpPr>
          <p:cNvPr id="25" name="Rounded Rectangle 24">
            <a:extLst>
              <a:ext uri="{FF2B5EF4-FFF2-40B4-BE49-F238E27FC236}">
                <a16:creationId xmlns:a16="http://schemas.microsoft.com/office/drawing/2014/main" id="{1FB03E35-E519-4ABD-A350-B0B73DEF330D}"/>
              </a:ext>
            </a:extLst>
          </p:cNvPr>
          <p:cNvSpPr>
            <a:spLocks noGrp="1"/>
          </p:cNvSpPr>
          <p:nvPr/>
        </p:nvSpPr>
        <p:spPr>
          <a:xfrm>
            <a:off x="6729983"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BC938378-EC21-405A-9015-88126D16BFF6}"/>
              </a:ext>
            </a:extLst>
          </p:cNvPr>
          <p:cNvSpPr>
            <a:spLocks noGrp="1"/>
          </p:cNvSpPr>
          <p:nvPr/>
        </p:nvSpPr>
        <p:spPr>
          <a:xfrm>
            <a:off x="6821423" y="3163824"/>
            <a:ext cx="1664208"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60" b="1" i="0">
                <a:solidFill>
                  <a:srgbClr val="0072B2"/>
                </a:solidFill>
                <a:latin typeface="Arial"/>
                <a:ea typeface="Arial"/>
                <a:cs typeface="Arial"/>
              </a:rPr>
              <a:t>MT-CYB</a:t>
            </a:r>
          </a:p>
        </p:txBody>
      </p:sp>
      <p:sp>
        <p:nvSpPr>
          <p:cNvPr id="27" name="Rounded Rectangle 26">
            <a:extLst>
              <a:ext uri="{FF2B5EF4-FFF2-40B4-BE49-F238E27FC236}">
                <a16:creationId xmlns:a16="http://schemas.microsoft.com/office/drawing/2014/main" id="{654B293A-1D64-4775-A6A4-BE65C26A1FF7}"/>
              </a:ext>
            </a:extLst>
          </p:cNvPr>
          <p:cNvSpPr>
            <a:spLocks noGrp="1"/>
          </p:cNvSpPr>
          <p:nvPr/>
        </p:nvSpPr>
        <p:spPr>
          <a:xfrm>
            <a:off x="8833104"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6B52AD8F-EDD8-4C34-A877-8829A680EF2B}"/>
              </a:ext>
            </a:extLst>
          </p:cNvPr>
          <p:cNvSpPr>
            <a:spLocks noGrp="1"/>
          </p:cNvSpPr>
          <p:nvPr/>
        </p:nvSpPr>
        <p:spPr>
          <a:xfrm>
            <a:off x="8924544" y="3163824"/>
            <a:ext cx="1664208"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60" b="1" i="0">
                <a:solidFill>
                  <a:srgbClr val="0072B2"/>
                </a:solidFill>
                <a:latin typeface="Arial"/>
                <a:ea typeface="Arial"/>
                <a:cs typeface="Arial"/>
              </a:rPr>
              <a:t>MT-ND1</a:t>
            </a:r>
          </a:p>
        </p:txBody>
      </p:sp>
      <p:sp>
        <p:nvSpPr>
          <p:cNvPr id="29" name="Rounded Rectangle 28">
            <a:extLst>
              <a:ext uri="{FF2B5EF4-FFF2-40B4-BE49-F238E27FC236}">
                <a16:creationId xmlns:a16="http://schemas.microsoft.com/office/drawing/2014/main" id="{163336B0-1C3F-47A7-9CF3-B5551FCC3669}"/>
              </a:ext>
            </a:extLst>
          </p:cNvPr>
          <p:cNvSpPr>
            <a:spLocks noGrp="1"/>
          </p:cNvSpPr>
          <p:nvPr/>
        </p:nvSpPr>
        <p:spPr>
          <a:xfrm>
            <a:off x="4626864"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21463F87-EB9A-4B85-8E11-C5961CA95310}"/>
              </a:ext>
            </a:extLst>
          </p:cNvPr>
          <p:cNvSpPr>
            <a:spLocks noGrp="1"/>
          </p:cNvSpPr>
          <p:nvPr/>
        </p:nvSpPr>
        <p:spPr>
          <a:xfrm>
            <a:off x="4718303" y="3968496"/>
            <a:ext cx="1664208"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60" b="1" i="0">
                <a:solidFill>
                  <a:srgbClr val="0072B2"/>
                </a:solidFill>
                <a:latin typeface="Arial"/>
                <a:ea typeface="Arial"/>
                <a:cs typeface="Arial"/>
              </a:rPr>
              <a:t>MT-ND2</a:t>
            </a:r>
          </a:p>
        </p:txBody>
      </p:sp>
      <p:sp>
        <p:nvSpPr>
          <p:cNvPr id="31" name="Rounded Rectangle 30">
            <a:extLst>
              <a:ext uri="{FF2B5EF4-FFF2-40B4-BE49-F238E27FC236}">
                <a16:creationId xmlns:a16="http://schemas.microsoft.com/office/drawing/2014/main" id="{DA78BB86-560D-465E-853B-8709711AC76C}"/>
              </a:ext>
            </a:extLst>
          </p:cNvPr>
          <p:cNvSpPr>
            <a:spLocks noGrp="1"/>
          </p:cNvSpPr>
          <p:nvPr/>
        </p:nvSpPr>
        <p:spPr>
          <a:xfrm>
            <a:off x="6729983"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CD6E3EF-3EA1-45FC-8A36-71F17563A453}"/>
              </a:ext>
            </a:extLst>
          </p:cNvPr>
          <p:cNvSpPr>
            <a:spLocks noGrp="1"/>
          </p:cNvSpPr>
          <p:nvPr/>
        </p:nvSpPr>
        <p:spPr>
          <a:xfrm>
            <a:off x="6821423" y="3968496"/>
            <a:ext cx="1664208"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60" b="1" i="0">
                <a:solidFill>
                  <a:srgbClr val="0072B2"/>
                </a:solidFill>
                <a:latin typeface="Arial"/>
                <a:ea typeface="Arial"/>
                <a:cs typeface="Arial"/>
              </a:rPr>
              <a:t>MT-ND4</a:t>
            </a:r>
          </a:p>
        </p:txBody>
      </p:sp>
      <p:sp>
        <p:nvSpPr>
          <p:cNvPr id="33" name="Rounded Rectangle 32">
            <a:extLst>
              <a:ext uri="{FF2B5EF4-FFF2-40B4-BE49-F238E27FC236}">
                <a16:creationId xmlns:a16="http://schemas.microsoft.com/office/drawing/2014/main" id="{DB2F1ABD-2547-4C59-8D56-6E9F4049067B}"/>
              </a:ext>
            </a:extLst>
          </p:cNvPr>
          <p:cNvSpPr>
            <a:spLocks noGrp="1"/>
          </p:cNvSpPr>
          <p:nvPr/>
        </p:nvSpPr>
        <p:spPr>
          <a:xfrm>
            <a:off x="8833104"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2B3495B9-FC33-4BB1-BD9D-AEA2D3999F0E}"/>
              </a:ext>
            </a:extLst>
          </p:cNvPr>
          <p:cNvSpPr>
            <a:spLocks noGrp="1"/>
          </p:cNvSpPr>
          <p:nvPr/>
        </p:nvSpPr>
        <p:spPr>
          <a:xfrm>
            <a:off x="8924544" y="3968496"/>
            <a:ext cx="1664208"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60" b="1" i="0">
                <a:solidFill>
                  <a:srgbClr val="0072B2"/>
                </a:solidFill>
                <a:latin typeface="Arial"/>
                <a:ea typeface="Arial"/>
                <a:cs typeface="Arial"/>
              </a:rPr>
              <a:t>MT-ND5</a:t>
            </a:r>
          </a:p>
        </p:txBody>
      </p:sp>
      <p:sp>
        <p:nvSpPr>
          <p:cNvPr id="35" name="Rounded Rectangle 34">
            <a:extLst>
              <a:ext uri="{FF2B5EF4-FFF2-40B4-BE49-F238E27FC236}">
                <a16:creationId xmlns:a16="http://schemas.microsoft.com/office/drawing/2014/main" id="{B37771B0-73EB-4918-A9F6-1BC3F202E5AA}"/>
              </a:ext>
            </a:extLst>
          </p:cNvPr>
          <p:cNvSpPr>
            <a:spLocks noGrp="1"/>
          </p:cNvSpPr>
          <p:nvPr/>
        </p:nvSpPr>
        <p:spPr>
          <a:xfrm>
            <a:off x="4626864" y="4828032"/>
            <a:ext cx="6272784" cy="54864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1B6AB063-6B63-4EA7-9907-FC63046875D9}"/>
              </a:ext>
            </a:extLst>
          </p:cNvPr>
          <p:cNvSpPr>
            <a:spLocks noGrp="1"/>
          </p:cNvSpPr>
          <p:nvPr/>
        </p:nvSpPr>
        <p:spPr>
          <a:xfrm>
            <a:off x="4828032" y="4992624"/>
            <a:ext cx="5870448" cy="237744"/>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200" b="1" i="0">
                <a:solidFill>
                  <a:srgbClr val="00684D"/>
                </a:solidFill>
                <a:latin typeface="Arial"/>
                <a:ea typeface="Arial"/>
                <a:cs typeface="Arial"/>
              </a:rPr>
              <a:t>All nine core MT genes are upregulated in both cohorts.</a:t>
            </a:r>
          </a:p>
        </p:txBody>
      </p:sp>
    </p:spTree>
    <p:extLst>
      <p:ext uri="{BB962C8B-B14F-4D97-AF65-F5344CB8AC3E}">
        <p14:creationId val="1110494785"/>
      </p:ext>
    </p:extLst>
  </p:cSld>
  <p:clrMapOvr>
    <a:masterClrMapping/>
  </p:clrMapOvr>
  <p:transition/>
  <p:timing/>
</p:sld>
</file>

<file path=ppt/slides/slide6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7CCA654A-AB07-4E8B-BA1D-A8745CB8ECC8}"/>
              </a:ext>
            </a:extLst>
          </p:cNvPr>
          <p:cNvSpPr>
            <a:spLocks noGrp="1"/>
          </p:cNvSpPr>
          <p:nvPr/>
        </p:nvSpPr>
        <p:spPr>
          <a:xfrm>
            <a:off x="530352" y="292608"/>
            <a:ext cx="11064240" cy="670953"/>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000" b="1" i="0">
                <a:solidFill>
                  <a:srgbClr val="0F233D"/>
                </a:solidFill>
                <a:latin typeface="Arial"/>
                <a:ea typeface="Arial"/>
                <a:cs typeface="Arial"/>
              </a:rPr>
              <a:t>Why this matters: excitatory neurons may be conducting a coordinated mitochondrial response</a:t>
            </a:r>
          </a:p>
        </p:txBody>
      </p:sp>
      <p:sp>
        <p:nvSpPr>
          <p:cNvPr id="3" name="TextBox 2">
            <a:extLst>
              <a:ext uri="{FF2B5EF4-FFF2-40B4-BE49-F238E27FC236}">
                <a16:creationId xmlns:a16="http://schemas.microsoft.com/office/drawing/2014/main" id="{B99129EA-A2AE-46B0-8E3F-650537ACB88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080" b="0" i="0">
                <a:solidFill>
                  <a:srgbClr val="4E5A68"/>
                </a:solidFill>
                <a:latin typeface="Arial"/>
                <a:ea typeface="Arial"/>
                <a:cs typeface="Arial"/>
              </a:rPr>
              <a:t>The repeated direction is biologically informative even though its functional meaning remains open.</a:t>
            </a:r>
          </a:p>
        </p:txBody>
      </p:sp>
      <p:sp>
        <p:nvSpPr>
          <p:cNvPr id="4" name="Rounded Rectangle 3">
            <a:extLst>
              <a:ext uri="{FF2B5EF4-FFF2-40B4-BE49-F238E27FC236}">
                <a16:creationId xmlns:a16="http://schemas.microsoft.com/office/drawing/2014/main" id="{3F1E3BBD-14B7-4A02-B94E-67585B5D8D48}"/>
              </a:ext>
            </a:extLst>
          </p:cNvPr>
          <p:cNvSpPr>
            <a:spLocks noGrp="1"/>
          </p:cNvSpPr>
          <p:nvPr/>
        </p:nvSpPr>
        <p:spPr>
          <a:xfrm>
            <a:off x="658368" y="1444752"/>
            <a:ext cx="3456432" cy="29260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8F5142AC-4C6A-4EA2-AFC8-2728EB6DF64F}"/>
              </a:ext>
            </a:extLst>
          </p:cNvPr>
          <p:cNvSpPr>
            <a:spLocks noGrp="1"/>
          </p:cNvSpPr>
          <p:nvPr/>
        </p:nvSpPr>
        <p:spPr>
          <a:xfrm>
            <a:off x="914400" y="1755648"/>
            <a:ext cx="512064" cy="51206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82E2D5C6-C022-45AF-B4C2-A43A7FF17B8B}"/>
              </a:ext>
            </a:extLst>
          </p:cNvPr>
          <p:cNvSpPr>
            <a:spLocks noGrp="1"/>
          </p:cNvSpPr>
          <p:nvPr/>
        </p:nvSpPr>
        <p:spPr>
          <a:xfrm>
            <a:off x="914400" y="1874519"/>
            <a:ext cx="512064" cy="219456"/>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30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380516AF-6A39-4FEB-BB55-12201169B8D9}"/>
              </a:ext>
            </a:extLst>
          </p:cNvPr>
          <p:cNvSpPr>
            <a:spLocks noGrp="1"/>
          </p:cNvSpPr>
          <p:nvPr/>
        </p:nvSpPr>
        <p:spPr>
          <a:xfrm>
            <a:off x="1572768" y="1773936"/>
            <a:ext cx="2249424" cy="34747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600" b="1" i="0">
                <a:solidFill>
                  <a:srgbClr val="0F233D"/>
                </a:solidFill>
                <a:latin typeface="Arial"/>
                <a:ea typeface="Arial"/>
                <a:cs typeface="Arial"/>
              </a:rPr>
              <a:t>High energy demand</a:t>
            </a:r>
          </a:p>
        </p:txBody>
      </p:sp>
      <p:sp>
        <p:nvSpPr>
          <p:cNvPr id="8" name="TextBox 7">
            <a:extLst>
              <a:ext uri="{FF2B5EF4-FFF2-40B4-BE49-F238E27FC236}">
                <a16:creationId xmlns:a16="http://schemas.microsoft.com/office/drawing/2014/main" id="{73B618EF-651F-449B-9C83-89A5D4523DA3}"/>
              </a:ext>
            </a:extLst>
          </p:cNvPr>
          <p:cNvSpPr>
            <a:spLocks noGrp="1"/>
          </p:cNvSpPr>
          <p:nvPr/>
        </p:nvSpPr>
        <p:spPr>
          <a:xfrm>
            <a:off x="950976" y="2542032"/>
            <a:ext cx="2871216" cy="1042415"/>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00" b="0" i="0">
                <a:solidFill>
                  <a:srgbClr val="1F2730"/>
                </a:solidFill>
                <a:latin typeface="Arial"/>
                <a:ea typeface="Arial"/>
                <a:cs typeface="Arial"/>
              </a:rPr>
              <a:t>Excitatory neurons spend substantial energy sending and restoring electrical signals.</a:t>
            </a:r>
          </a:p>
        </p:txBody>
      </p:sp>
      <p:sp>
        <p:nvSpPr>
          <p:cNvPr id="9" name="Rounded Rectangle 8">
            <a:extLst>
              <a:ext uri="{FF2B5EF4-FFF2-40B4-BE49-F238E27FC236}">
                <a16:creationId xmlns:a16="http://schemas.microsoft.com/office/drawing/2014/main" id="{BEB91B40-BDC4-472D-9374-07C6725FDCBD}"/>
              </a:ext>
            </a:extLst>
          </p:cNvPr>
          <p:cNvSpPr>
            <a:spLocks noGrp="1"/>
          </p:cNvSpPr>
          <p:nvPr/>
        </p:nvSpPr>
        <p:spPr>
          <a:xfrm>
            <a:off x="4453128" y="1444752"/>
            <a:ext cx="3456432" cy="292608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Oval 9">
            <a:extLst>
              <a:ext uri="{FF2B5EF4-FFF2-40B4-BE49-F238E27FC236}">
                <a16:creationId xmlns:a16="http://schemas.microsoft.com/office/drawing/2014/main" id="{9A65E5DC-1AAC-4450-AFD0-D7826B5DEAE0}"/>
              </a:ext>
            </a:extLst>
          </p:cNvPr>
          <p:cNvSpPr>
            <a:spLocks noGrp="1"/>
          </p:cNvSpPr>
          <p:nvPr/>
        </p:nvSpPr>
        <p:spPr>
          <a:xfrm>
            <a:off x="4709160" y="1755648"/>
            <a:ext cx="512064" cy="51206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B2D1F9B-9B71-49A6-9999-3FE1F8A78E7C}"/>
              </a:ext>
            </a:extLst>
          </p:cNvPr>
          <p:cNvSpPr>
            <a:spLocks noGrp="1"/>
          </p:cNvSpPr>
          <p:nvPr/>
        </p:nvSpPr>
        <p:spPr>
          <a:xfrm>
            <a:off x="4709160" y="1874519"/>
            <a:ext cx="512064" cy="219456"/>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300" b="1" i="0">
                <a:solidFill>
                  <a:srgbClr val="FFFFFF"/>
                </a:solidFill>
                <a:latin typeface="Arial"/>
                <a:ea typeface="Arial"/>
                <a:cs typeface="Arial"/>
              </a:rPr>
              <a:t>2</a:t>
            </a:r>
          </a:p>
        </p:txBody>
      </p:sp>
      <p:sp>
        <p:nvSpPr>
          <p:cNvPr id="12" name="TextBox 11">
            <a:extLst>
              <a:ext uri="{FF2B5EF4-FFF2-40B4-BE49-F238E27FC236}">
                <a16:creationId xmlns:a16="http://schemas.microsoft.com/office/drawing/2014/main" id="{969D0F82-104E-4BEF-B341-49D46A6D1A8C}"/>
              </a:ext>
            </a:extLst>
          </p:cNvPr>
          <p:cNvSpPr>
            <a:spLocks noGrp="1"/>
          </p:cNvSpPr>
          <p:nvPr/>
        </p:nvSpPr>
        <p:spPr>
          <a:xfrm>
            <a:off x="5367528" y="1773936"/>
            <a:ext cx="2249424" cy="54254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600" b="1" i="0">
                <a:solidFill>
                  <a:srgbClr val="0F233D"/>
                </a:solidFill>
                <a:latin typeface="Arial"/>
                <a:ea typeface="Arial"/>
                <a:cs typeface="Arial"/>
              </a:rPr>
              <a:t>Essential core MT genes</a:t>
            </a:r>
          </a:p>
        </p:txBody>
      </p:sp>
      <p:sp>
        <p:nvSpPr>
          <p:cNvPr id="13" name="TextBox 12">
            <a:extLst>
              <a:ext uri="{FF2B5EF4-FFF2-40B4-BE49-F238E27FC236}">
                <a16:creationId xmlns:a16="http://schemas.microsoft.com/office/drawing/2014/main" id="{AD5164C9-0653-483A-A83B-798C6BD58C43}"/>
              </a:ext>
            </a:extLst>
          </p:cNvPr>
          <p:cNvSpPr>
            <a:spLocks noGrp="1"/>
          </p:cNvSpPr>
          <p:nvPr/>
        </p:nvSpPr>
        <p:spPr>
          <a:xfrm>
            <a:off x="4745736" y="2542032"/>
            <a:ext cx="2871216" cy="1042415"/>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00" b="0" i="0">
                <a:solidFill>
                  <a:srgbClr val="1F2730"/>
                </a:solidFill>
                <a:latin typeface="Arial"/>
                <a:ea typeface="Arial"/>
                <a:cs typeface="Arial"/>
              </a:rPr>
              <a:t>The 13 core MT genes encode structural OXPHOS subunits needed for respiration.</a:t>
            </a:r>
          </a:p>
        </p:txBody>
      </p:sp>
      <p:sp>
        <p:nvSpPr>
          <p:cNvPr id="14" name="Rounded Rectangle 13">
            <a:extLst>
              <a:ext uri="{FF2B5EF4-FFF2-40B4-BE49-F238E27FC236}">
                <a16:creationId xmlns:a16="http://schemas.microsoft.com/office/drawing/2014/main" id="{A63BD49F-492F-49A8-8701-D94C1DE8F87D}"/>
              </a:ext>
            </a:extLst>
          </p:cNvPr>
          <p:cNvSpPr>
            <a:spLocks noGrp="1"/>
          </p:cNvSpPr>
          <p:nvPr/>
        </p:nvSpPr>
        <p:spPr>
          <a:xfrm>
            <a:off x="8247888" y="1444752"/>
            <a:ext cx="3456432" cy="29260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Oval 14">
            <a:extLst>
              <a:ext uri="{FF2B5EF4-FFF2-40B4-BE49-F238E27FC236}">
                <a16:creationId xmlns:a16="http://schemas.microsoft.com/office/drawing/2014/main" id="{4DA3D490-7D99-463B-8604-7EDF75732275}"/>
              </a:ext>
            </a:extLst>
          </p:cNvPr>
          <p:cNvSpPr>
            <a:spLocks noGrp="1"/>
          </p:cNvSpPr>
          <p:nvPr/>
        </p:nvSpPr>
        <p:spPr>
          <a:xfrm>
            <a:off x="8503920" y="1755648"/>
            <a:ext cx="512064" cy="51206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12242748-53CE-4A4C-BCD5-10502CC6D3BD}"/>
              </a:ext>
            </a:extLst>
          </p:cNvPr>
          <p:cNvSpPr>
            <a:spLocks noGrp="1"/>
          </p:cNvSpPr>
          <p:nvPr/>
        </p:nvSpPr>
        <p:spPr>
          <a:xfrm>
            <a:off x="8503920" y="1874519"/>
            <a:ext cx="512064" cy="219456"/>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300" b="1" i="0">
                <a:solidFill>
                  <a:srgbClr val="FFFFFF"/>
                </a:solidFill>
                <a:latin typeface="Arial"/>
                <a:ea typeface="Arial"/>
                <a:cs typeface="Arial"/>
              </a:rPr>
              <a:t>3</a:t>
            </a:r>
          </a:p>
        </p:txBody>
      </p:sp>
      <p:sp>
        <p:nvSpPr>
          <p:cNvPr id="17" name="TextBox 16">
            <a:extLst>
              <a:ext uri="{FF2B5EF4-FFF2-40B4-BE49-F238E27FC236}">
                <a16:creationId xmlns:a16="http://schemas.microsoft.com/office/drawing/2014/main" id="{588883E8-7003-4329-BB64-A8502198D660}"/>
              </a:ext>
            </a:extLst>
          </p:cNvPr>
          <p:cNvSpPr>
            <a:spLocks noGrp="1"/>
          </p:cNvSpPr>
          <p:nvPr/>
        </p:nvSpPr>
        <p:spPr>
          <a:xfrm>
            <a:off x="9162288" y="1773936"/>
            <a:ext cx="2249424" cy="34747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600" b="1" i="0">
                <a:solidFill>
                  <a:srgbClr val="0F233D"/>
                </a:solidFill>
                <a:latin typeface="Arial"/>
                <a:ea typeface="Arial"/>
                <a:cs typeface="Arial"/>
              </a:rPr>
              <a:t>Repeated AD response</a:t>
            </a:r>
          </a:p>
        </p:txBody>
      </p:sp>
      <p:sp>
        <p:nvSpPr>
          <p:cNvPr id="18" name="TextBox 17">
            <a:extLst>
              <a:ext uri="{FF2B5EF4-FFF2-40B4-BE49-F238E27FC236}">
                <a16:creationId xmlns:a16="http://schemas.microsoft.com/office/drawing/2014/main" id="{5F19A3CD-3D44-4938-90FF-50898D83B761}"/>
              </a:ext>
            </a:extLst>
          </p:cNvPr>
          <p:cNvSpPr>
            <a:spLocks noGrp="1"/>
          </p:cNvSpPr>
          <p:nvPr/>
        </p:nvSpPr>
        <p:spPr>
          <a:xfrm>
            <a:off x="8540496" y="2542032"/>
            <a:ext cx="2871216" cy="1042415"/>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00" b="0" i="0">
                <a:solidFill>
                  <a:srgbClr val="1F2730"/>
                </a:solidFill>
                <a:latin typeface="Arial"/>
                <a:ea typeface="Arial"/>
                <a:cs typeface="Arial"/>
              </a:rPr>
              <a:t>Core MT genes are mostly upregulated in both cohorts. Nuclear-encoded OXPHOS genes are also mostly upregulated in ROSMAP.</a:t>
            </a:r>
          </a:p>
        </p:txBody>
      </p:sp>
      <p:sp>
        <p:nvSpPr>
          <p:cNvPr id="19" name="Rounded Rectangle 18">
            <a:extLst>
              <a:ext uri="{FF2B5EF4-FFF2-40B4-BE49-F238E27FC236}">
                <a16:creationId xmlns:a16="http://schemas.microsoft.com/office/drawing/2014/main" id="{E2D5DF43-11A8-4F0E-9BBD-EFE3CF9F45F3}"/>
              </a:ext>
            </a:extLst>
          </p:cNvPr>
          <p:cNvSpPr>
            <a:spLocks noGrp="1"/>
          </p:cNvSpPr>
          <p:nvPr/>
        </p:nvSpPr>
        <p:spPr>
          <a:xfrm>
            <a:off x="658368" y="4736592"/>
            <a:ext cx="10881360" cy="1042415"/>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CC970E90-991B-45D4-B5BD-5B5891C6F68C}"/>
              </a:ext>
            </a:extLst>
          </p:cNvPr>
          <p:cNvSpPr>
            <a:spLocks noGrp="1"/>
          </p:cNvSpPr>
          <p:nvPr/>
        </p:nvSpPr>
        <p:spPr>
          <a:xfrm>
            <a:off x="896112" y="4992624"/>
            <a:ext cx="2194560" cy="27432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200" b="1" i="0">
                <a:solidFill>
                  <a:srgbClr val="9E3A00"/>
                </a:solidFill>
                <a:latin typeface="Arial"/>
                <a:ea typeface="Arial"/>
                <a:cs typeface="Arial"/>
              </a:rPr>
              <a:t>Most cautious interpretation</a:t>
            </a:r>
          </a:p>
        </p:txBody>
      </p:sp>
      <p:sp>
        <p:nvSpPr>
          <p:cNvPr id="21" name="TextBox 20">
            <a:extLst>
              <a:ext uri="{FF2B5EF4-FFF2-40B4-BE49-F238E27FC236}">
                <a16:creationId xmlns:a16="http://schemas.microsoft.com/office/drawing/2014/main" id="{7EB9ECA3-37D5-4D30-BB16-F102C2520C90}"/>
              </a:ext>
            </a:extLst>
          </p:cNvPr>
          <p:cNvSpPr>
            <a:spLocks noGrp="1"/>
          </p:cNvSpPr>
          <p:nvPr/>
        </p:nvSpPr>
        <p:spPr>
          <a:xfrm>
            <a:off x="3246120" y="4886641"/>
            <a:ext cx="7836408" cy="486287"/>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400" b="1" i="0">
                <a:solidFill>
                  <a:srgbClr val="1F2730"/>
                </a:solidFill>
                <a:latin typeface="Arial"/>
                <a:ea typeface="Arial"/>
                <a:cs typeface="Arial"/>
              </a:rPr>
              <a:t>The increase may be compensation or a stress response. It is not evidence that mitochondria make more ATP.</a:t>
            </a:r>
          </a:p>
        </p:txBody>
      </p:sp>
    </p:spTree>
    <p:extLst>
      <p:ext uri="{BB962C8B-B14F-4D97-AF65-F5344CB8AC3E}">
        <p14:creationId val="118677421"/>
      </p:ext>
    </p:extLst>
  </p:cSld>
  <p:clrMapOvr>
    <a:masterClrMapping/>
  </p:clrMapOvr>
  <p:transition/>
  <p:timing/>
</p:sld>
</file>

<file path=ppt/slides/slide6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BE78B5F9-322B-4386-A785-C37404D5BAC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Prior research makes the result plausible—but does not duplicate it</a:t>
            </a:r>
          </a:p>
        </p:txBody>
      </p:sp>
      <p:sp>
        <p:nvSpPr>
          <p:cNvPr id="3" name="TextBox 2">
            <a:extLst>
              <a:ext uri="{FF2B5EF4-FFF2-40B4-BE49-F238E27FC236}">
                <a16:creationId xmlns:a16="http://schemas.microsoft.com/office/drawing/2014/main" id="{81CF9610-7B95-4B5F-B65C-16227BB579F7}"/>
              </a:ext>
            </a:extLst>
          </p:cNvPr>
          <p:cNvSpPr>
            <a:spLocks noGrp="1"/>
          </p:cNvSpPr>
          <p:nvPr/>
        </p:nvSpPr>
        <p:spPr>
          <a:xfrm>
            <a:off x="548640" y="872550"/>
            <a:ext cx="10927080" cy="24006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200" b="1" i="0">
                <a:solidFill>
                  <a:srgbClr val="4E5A68"/>
                </a:solidFill>
                <a:latin typeface="Arial"/>
                <a:ea typeface="Arial"/>
                <a:cs typeface="Arial"/>
              </a:rPr>
              <a:t>Each study supports one part of the interpretation; none establishes this exact female ε3/ε3 excitatory-neuron pattern.</a:t>
            </a:r>
          </a:p>
        </p:txBody>
      </p:sp>
      <p:sp>
        <p:nvSpPr>
          <p:cNvPr id="4" name="Rounded Rectangle 3">
            <a:extLst>
              <a:ext uri="{FF2B5EF4-FFF2-40B4-BE49-F238E27FC236}">
                <a16:creationId xmlns:a16="http://schemas.microsoft.com/office/drawing/2014/main" id="{394C9100-E676-4B83-BBF5-208FF175DCC7}"/>
              </a:ext>
            </a:extLst>
          </p:cNvPr>
          <p:cNvSpPr>
            <a:spLocks noGrp="1"/>
          </p:cNvSpPr>
          <p:nvPr/>
        </p:nvSpPr>
        <p:spPr>
          <a:xfrm>
            <a:off x="658368" y="1353312"/>
            <a:ext cx="3456432" cy="4169663"/>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E71738A-BFCA-46D3-B314-8F7BC03CEBF9}"/>
              </a:ext>
            </a:extLst>
          </p:cNvPr>
          <p:cNvSpPr>
            <a:spLocks noGrp="1"/>
          </p:cNvSpPr>
          <p:nvPr/>
        </p:nvSpPr>
        <p:spPr>
          <a:xfrm>
            <a:off x="932688" y="1664208"/>
            <a:ext cx="2907792" cy="329184"/>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600" b="1" i="0">
                <a:solidFill>
                  <a:srgbClr val="0072B2"/>
                </a:solidFill>
                <a:latin typeface="Arial"/>
                <a:ea typeface="Arial"/>
                <a:cs typeface="Arial"/>
              </a:rPr>
              <a:t>Guo et al. 2023</a:t>
            </a:r>
          </a:p>
        </p:txBody>
      </p:sp>
      <p:sp>
        <p:nvSpPr>
          <p:cNvPr id="6" name="TextBox 5">
            <a:extLst>
              <a:ext uri="{FF2B5EF4-FFF2-40B4-BE49-F238E27FC236}">
                <a16:creationId xmlns:a16="http://schemas.microsoft.com/office/drawing/2014/main" id="{C6B97ED5-851E-44EE-BCBE-CD2D5F21106D}"/>
              </a:ext>
            </a:extLst>
          </p:cNvPr>
          <p:cNvSpPr>
            <a:spLocks noGrp="1"/>
          </p:cNvSpPr>
          <p:nvPr/>
        </p:nvSpPr>
        <p:spPr>
          <a:xfrm>
            <a:off x="932688" y="2231136"/>
            <a:ext cx="2907792" cy="420624"/>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400" b="1" i="0">
                <a:solidFill>
                  <a:srgbClr val="0F233D"/>
                </a:solidFill>
                <a:latin typeface="Arial"/>
                <a:ea typeface="Arial"/>
                <a:cs typeface="Arial"/>
              </a:rPr>
              <a:t>Sex-specific AD networks</a:t>
            </a:r>
          </a:p>
        </p:txBody>
      </p:sp>
      <p:sp>
        <p:nvSpPr>
          <p:cNvPr id="7" name="TextBox 6">
            <a:extLst>
              <a:ext uri="{FF2B5EF4-FFF2-40B4-BE49-F238E27FC236}">
                <a16:creationId xmlns:a16="http://schemas.microsoft.com/office/drawing/2014/main" id="{3F863A1C-2D8D-4748-BAD0-697A8716AA65}"/>
              </a:ext>
            </a:extLst>
          </p:cNvPr>
          <p:cNvSpPr>
            <a:spLocks noGrp="1"/>
          </p:cNvSpPr>
          <p:nvPr/>
        </p:nvSpPr>
        <p:spPr>
          <a:xfrm>
            <a:off x="950976" y="2926080"/>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248D306-76C9-45EB-960F-CD5C7D675957}"/>
              </a:ext>
            </a:extLst>
          </p:cNvPr>
          <p:cNvSpPr>
            <a:spLocks noGrp="1"/>
          </p:cNvSpPr>
          <p:nvPr/>
        </p:nvSpPr>
        <p:spPr>
          <a:xfrm>
            <a:off x="950976" y="3218688"/>
            <a:ext cx="2871216" cy="65836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20" b="0" i="0">
                <a:solidFill>
                  <a:srgbClr val="1F2730"/>
                </a:solidFill>
                <a:latin typeface="Arial"/>
                <a:ea typeface="Arial"/>
                <a:cs typeface="Arial"/>
              </a:rPr>
              <a:t>Supports analyzing AD networks separately by sex.</a:t>
            </a:r>
          </a:p>
        </p:txBody>
      </p:sp>
      <p:sp>
        <p:nvSpPr>
          <p:cNvPr id="9" name="TextBox 8">
            <a:extLst>
              <a:ext uri="{FF2B5EF4-FFF2-40B4-BE49-F238E27FC236}">
                <a16:creationId xmlns:a16="http://schemas.microsoft.com/office/drawing/2014/main" id="{FE198E2D-1E7A-47A1-ABD2-F6EB57BDE7D1}"/>
              </a:ext>
            </a:extLst>
          </p:cNvPr>
          <p:cNvSpPr>
            <a:spLocks noGrp="1"/>
          </p:cNvSpPr>
          <p:nvPr/>
        </p:nvSpPr>
        <p:spPr>
          <a:xfrm>
            <a:off x="950976" y="4096512"/>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A62546F6-86E1-4B50-A624-902AFFE83666}"/>
              </a:ext>
            </a:extLst>
          </p:cNvPr>
          <p:cNvSpPr>
            <a:spLocks noGrp="1"/>
          </p:cNvSpPr>
          <p:nvPr/>
        </p:nvSpPr>
        <p:spPr>
          <a:xfrm>
            <a:off x="950976" y="4389120"/>
            <a:ext cx="2871216" cy="65836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80" b="0" i="0">
                <a:solidFill>
                  <a:srgbClr val="4E5A68"/>
                </a:solidFill>
                <a:latin typeface="Arial"/>
                <a:ea typeface="Arial"/>
                <a:cs typeface="Arial"/>
              </a:rPr>
              <a:t>Does not test this exact core MT gene pattern.</a:t>
            </a:r>
          </a:p>
        </p:txBody>
      </p:sp>
      <p:sp>
        <p:nvSpPr>
          <p:cNvPr id="11" name="Rounded Rectangle 10">
            <a:extLst>
              <a:ext uri="{FF2B5EF4-FFF2-40B4-BE49-F238E27FC236}">
                <a16:creationId xmlns:a16="http://schemas.microsoft.com/office/drawing/2014/main" id="{99DA58C5-0667-4403-9E80-28206F6D5529}"/>
              </a:ext>
            </a:extLst>
          </p:cNvPr>
          <p:cNvSpPr>
            <a:spLocks noGrp="1"/>
          </p:cNvSpPr>
          <p:nvPr/>
        </p:nvSpPr>
        <p:spPr>
          <a:xfrm>
            <a:off x="4453128" y="1353312"/>
            <a:ext cx="3456432" cy="4169663"/>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9D63C74-7D1D-4243-A747-9DFFB3A7A462}"/>
              </a:ext>
            </a:extLst>
          </p:cNvPr>
          <p:cNvSpPr>
            <a:spLocks noGrp="1"/>
          </p:cNvSpPr>
          <p:nvPr/>
        </p:nvSpPr>
        <p:spPr>
          <a:xfrm>
            <a:off x="4727448" y="1664208"/>
            <a:ext cx="2907792" cy="329184"/>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600" b="1" i="0">
                <a:solidFill>
                  <a:srgbClr val="00684D"/>
                </a:solidFill>
                <a:latin typeface="Arial"/>
                <a:ea typeface="Arial"/>
                <a:cs typeface="Arial"/>
              </a:rPr>
              <a:t>Mathys et al. 2024</a:t>
            </a:r>
          </a:p>
        </p:txBody>
      </p:sp>
      <p:sp>
        <p:nvSpPr>
          <p:cNvPr id="13" name="TextBox 12">
            <a:extLst>
              <a:ext uri="{FF2B5EF4-FFF2-40B4-BE49-F238E27FC236}">
                <a16:creationId xmlns:a16="http://schemas.microsoft.com/office/drawing/2014/main" id="{8B139909-1E60-4B7D-9E5A-7BE7C0E71598}"/>
              </a:ext>
            </a:extLst>
          </p:cNvPr>
          <p:cNvSpPr>
            <a:spLocks noGrp="1"/>
          </p:cNvSpPr>
          <p:nvPr/>
        </p:nvSpPr>
        <p:spPr>
          <a:xfrm>
            <a:off x="4727448" y="2231136"/>
            <a:ext cx="2907792" cy="420624"/>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400" b="1" i="0">
                <a:solidFill>
                  <a:srgbClr val="0F233D"/>
                </a:solidFill>
                <a:latin typeface="Arial"/>
                <a:ea typeface="Arial"/>
                <a:cs typeface="Arial"/>
              </a:rPr>
              <a:t>Cell-resolved AD responses</a:t>
            </a:r>
          </a:p>
        </p:txBody>
      </p:sp>
      <p:sp>
        <p:nvSpPr>
          <p:cNvPr id="14" name="TextBox 13">
            <a:extLst>
              <a:ext uri="{FF2B5EF4-FFF2-40B4-BE49-F238E27FC236}">
                <a16:creationId xmlns:a16="http://schemas.microsoft.com/office/drawing/2014/main" id="{D07D753A-5819-43D5-9D8E-692D4BCC19D7}"/>
              </a:ext>
            </a:extLst>
          </p:cNvPr>
          <p:cNvSpPr>
            <a:spLocks noGrp="1"/>
          </p:cNvSpPr>
          <p:nvPr/>
        </p:nvSpPr>
        <p:spPr>
          <a:xfrm>
            <a:off x="4745736" y="2926080"/>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094C5EDA-62A5-4BA8-9214-4716D14A290F}"/>
              </a:ext>
            </a:extLst>
          </p:cNvPr>
          <p:cNvSpPr>
            <a:spLocks noGrp="1"/>
          </p:cNvSpPr>
          <p:nvPr/>
        </p:nvSpPr>
        <p:spPr>
          <a:xfrm>
            <a:off x="4745736" y="3218688"/>
            <a:ext cx="2871216" cy="65836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20" b="0" i="0">
                <a:solidFill>
                  <a:srgbClr val="1F2730"/>
                </a:solidFill>
                <a:latin typeface="Arial"/>
                <a:ea typeface="Arial"/>
                <a:cs typeface="Arial"/>
              </a:rPr>
              <a:t>Supports strong cell-type heterogeneity.</a:t>
            </a:r>
          </a:p>
        </p:txBody>
      </p:sp>
      <p:sp>
        <p:nvSpPr>
          <p:cNvPr id="16" name="TextBox 15">
            <a:extLst>
              <a:ext uri="{FF2B5EF4-FFF2-40B4-BE49-F238E27FC236}">
                <a16:creationId xmlns:a16="http://schemas.microsoft.com/office/drawing/2014/main" id="{88F43116-0C65-4488-A9FA-1811F9FE34AD}"/>
              </a:ext>
            </a:extLst>
          </p:cNvPr>
          <p:cNvSpPr>
            <a:spLocks noGrp="1"/>
          </p:cNvSpPr>
          <p:nvPr/>
        </p:nvSpPr>
        <p:spPr>
          <a:xfrm>
            <a:off x="4745736" y="4096512"/>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7F77D202-D2A9-435A-BC07-B5EFCE7D469E}"/>
              </a:ext>
            </a:extLst>
          </p:cNvPr>
          <p:cNvSpPr>
            <a:spLocks noGrp="1"/>
          </p:cNvSpPr>
          <p:nvPr/>
        </p:nvSpPr>
        <p:spPr>
          <a:xfrm>
            <a:off x="4745736" y="4389120"/>
            <a:ext cx="2871216" cy="65836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80" b="0" i="0">
                <a:solidFill>
                  <a:srgbClr val="4E5A68"/>
                </a:solidFill>
                <a:latin typeface="Arial"/>
                <a:ea typeface="Arial"/>
                <a:cs typeface="Arial"/>
              </a:rPr>
              <a:t>Uses ROSMAP, so it is not independent.</a:t>
            </a:r>
          </a:p>
        </p:txBody>
      </p:sp>
      <p:sp>
        <p:nvSpPr>
          <p:cNvPr id="18" name="Rounded Rectangle 17">
            <a:extLst>
              <a:ext uri="{FF2B5EF4-FFF2-40B4-BE49-F238E27FC236}">
                <a16:creationId xmlns:a16="http://schemas.microsoft.com/office/drawing/2014/main" id="{6B8728A4-00D1-4FE0-B181-2C5422370349}"/>
              </a:ext>
            </a:extLst>
          </p:cNvPr>
          <p:cNvSpPr>
            <a:spLocks noGrp="1"/>
          </p:cNvSpPr>
          <p:nvPr/>
        </p:nvSpPr>
        <p:spPr>
          <a:xfrm>
            <a:off x="8247888" y="1353312"/>
            <a:ext cx="3456432" cy="4169663"/>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7DD6AA2-4D33-4522-829A-91B4C555BCB3}"/>
              </a:ext>
            </a:extLst>
          </p:cNvPr>
          <p:cNvSpPr>
            <a:spLocks noGrp="1"/>
          </p:cNvSpPr>
          <p:nvPr/>
        </p:nvSpPr>
        <p:spPr>
          <a:xfrm>
            <a:off x="8522208" y="1664208"/>
            <a:ext cx="2907792" cy="329184"/>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600" b="1" i="0">
                <a:solidFill>
                  <a:srgbClr val="895600"/>
                </a:solidFill>
                <a:latin typeface="Arial"/>
                <a:ea typeface="Arial"/>
                <a:cs typeface="Arial"/>
              </a:rPr>
              <a:t>Lee et al. 2023</a:t>
            </a:r>
          </a:p>
        </p:txBody>
      </p:sp>
      <p:sp>
        <p:nvSpPr>
          <p:cNvPr id="20" name="TextBox 19">
            <a:extLst>
              <a:ext uri="{FF2B5EF4-FFF2-40B4-BE49-F238E27FC236}">
                <a16:creationId xmlns:a16="http://schemas.microsoft.com/office/drawing/2014/main" id="{D3350B37-7599-494A-99BD-AE1E6AAD4AA5}"/>
              </a:ext>
            </a:extLst>
          </p:cNvPr>
          <p:cNvSpPr>
            <a:spLocks noGrp="1"/>
          </p:cNvSpPr>
          <p:nvPr/>
        </p:nvSpPr>
        <p:spPr>
          <a:xfrm>
            <a:off x="8522208" y="2231136"/>
            <a:ext cx="2907792" cy="420624"/>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400" b="1" i="0">
                <a:solidFill>
                  <a:srgbClr val="0F233D"/>
                </a:solidFill>
                <a:latin typeface="Arial"/>
                <a:ea typeface="Arial"/>
                <a:cs typeface="Arial"/>
              </a:rPr>
              <a:t>APOE and mitochondria</a:t>
            </a:r>
          </a:p>
        </p:txBody>
      </p:sp>
      <p:sp>
        <p:nvSpPr>
          <p:cNvPr id="21" name="TextBox 20">
            <a:extLst>
              <a:ext uri="{FF2B5EF4-FFF2-40B4-BE49-F238E27FC236}">
                <a16:creationId xmlns:a16="http://schemas.microsoft.com/office/drawing/2014/main" id="{5772E729-F288-432E-B988-644CE4473BF0}"/>
              </a:ext>
            </a:extLst>
          </p:cNvPr>
          <p:cNvSpPr>
            <a:spLocks noGrp="1"/>
          </p:cNvSpPr>
          <p:nvPr/>
        </p:nvSpPr>
        <p:spPr>
          <a:xfrm>
            <a:off x="8540496" y="2926080"/>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37A3CE70-752E-44EA-8215-399BC87A0B06}"/>
              </a:ext>
            </a:extLst>
          </p:cNvPr>
          <p:cNvSpPr>
            <a:spLocks noGrp="1"/>
          </p:cNvSpPr>
          <p:nvPr/>
        </p:nvSpPr>
        <p:spPr>
          <a:xfrm>
            <a:off x="8540496" y="3218688"/>
            <a:ext cx="2871216" cy="65836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20" b="0" i="0">
                <a:solidFill>
                  <a:srgbClr val="1F2730"/>
                </a:solidFill>
                <a:latin typeface="Arial"/>
                <a:ea typeface="Arial"/>
                <a:cs typeface="Arial"/>
              </a:rPr>
              <a:t>Links APOE4 astrocytes to impaired mitochondrial homeostasis.</a:t>
            </a:r>
          </a:p>
        </p:txBody>
      </p:sp>
      <p:sp>
        <p:nvSpPr>
          <p:cNvPr id="23" name="TextBox 22">
            <a:extLst>
              <a:ext uri="{FF2B5EF4-FFF2-40B4-BE49-F238E27FC236}">
                <a16:creationId xmlns:a16="http://schemas.microsoft.com/office/drawing/2014/main" id="{1D0B974E-5CAB-4B97-9C99-4892975302B5}"/>
              </a:ext>
            </a:extLst>
          </p:cNvPr>
          <p:cNvSpPr>
            <a:spLocks noGrp="1"/>
          </p:cNvSpPr>
          <p:nvPr/>
        </p:nvSpPr>
        <p:spPr>
          <a:xfrm>
            <a:off x="8540496" y="4096512"/>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CB1EF16E-4104-415B-9EE6-BFEB0DEE37AA}"/>
              </a:ext>
            </a:extLst>
          </p:cNvPr>
          <p:cNvSpPr>
            <a:spLocks noGrp="1"/>
          </p:cNvSpPr>
          <p:nvPr/>
        </p:nvSpPr>
        <p:spPr>
          <a:xfrm>
            <a:off x="8540496" y="4389120"/>
            <a:ext cx="2871216" cy="65836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80" b="0" i="0">
                <a:solidFill>
                  <a:srgbClr val="4E5A68"/>
                </a:solidFill>
                <a:latin typeface="Arial"/>
                <a:ea typeface="Arial"/>
                <a:cs typeface="Arial"/>
              </a:rPr>
              <a:t>Different APOE group and cell type.</a:t>
            </a:r>
          </a:p>
        </p:txBody>
      </p:sp>
      <p:sp>
        <p:nvSpPr>
          <p:cNvPr id="25" name="Rounded Rectangle 24">
            <a:extLst>
              <a:ext uri="{FF2B5EF4-FFF2-40B4-BE49-F238E27FC236}">
                <a16:creationId xmlns:a16="http://schemas.microsoft.com/office/drawing/2014/main" id="{99DC217A-C5DA-41D7-BA8B-F4026C1DFE30}"/>
              </a:ext>
            </a:extLst>
          </p:cNvPr>
          <p:cNvSpPr>
            <a:spLocks noGrp="1"/>
          </p:cNvSpPr>
          <p:nvPr/>
        </p:nvSpPr>
        <p:spPr>
          <a:xfrm>
            <a:off x="658368" y="5742432"/>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8B586943-769E-49E5-85F0-0DDD8D4EDDA4}"/>
              </a:ext>
            </a:extLst>
          </p:cNvPr>
          <p:cNvSpPr>
            <a:spLocks noGrp="1"/>
          </p:cNvSpPr>
          <p:nvPr/>
        </p:nvSpPr>
        <p:spPr>
          <a:xfrm>
            <a:off x="896112" y="5897880"/>
            <a:ext cx="10405872" cy="224677"/>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00" b="1" i="0">
                <a:solidFill>
                  <a:srgbClr val="7E4C9A"/>
                </a:solidFill>
                <a:latin typeface="Arial"/>
                <a:ea typeface="Arial"/>
                <a:cs typeface="Arial"/>
              </a:rPr>
              <a:t>Novelty: moderate</a:t>
            </a:r>
            <a:r>
              <a:rPr lang="en-US" sz="1100" b="1" i="0">
                <a:solidFill>
                  <a:srgbClr val="7E4C9A"/>
                </a:solidFill>
                <a:latin typeface="Arial"/>
                <a:ea typeface="Arial"/>
                <a:cs typeface="Arial"/>
              </a:rPr>
              <a:t>. </a:t>
            </a:r>
            <a:r>
              <a:rPr lang="en-US" sz="1100" b="1">
                <a:solidFill>
                  <a:srgbClr val="7E4C9A"/>
                </a:solidFill>
                <a:latin typeface="Arial"/>
                <a:ea typeface="Arial"/>
                <a:cs typeface="Arial"/>
              </a:rPr>
              <a:t>K</a:t>
            </a:r>
            <a:r>
              <a:rPr sz="1100" b="1" i="0">
                <a:solidFill>
                  <a:srgbClr val="7E4C9A"/>
                </a:solidFill>
                <a:latin typeface="Arial"/>
                <a:ea typeface="Arial"/>
                <a:cs typeface="Arial"/>
              </a:rPr>
              <a:t>nown mitochondrial biology in a less-established sex/APOE/cell context.</a:t>
            </a:r>
          </a:p>
        </p:txBody>
      </p:sp>
    </p:spTree>
    <p:extLst>
      <p:ext uri="{BB962C8B-B14F-4D97-AF65-F5344CB8AC3E}">
        <p14:creationId val="348113769"/>
      </p:ext>
    </p:extLst>
  </p:cSld>
  <p:clrMapOvr>
    <a:masterClrMapping/>
  </p:clrMapOvr>
  <p:transition/>
  <p:timing/>
</p:sld>
</file>

<file path=ppt/slides/slide6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0F233D"/>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91F9124A-1A92-4E9C-B8C1-0F36083BD1D0}"/>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050" b="1" i="0">
                <a:solidFill>
                  <a:srgbClr val="E69F00"/>
                </a:solidFill>
                <a:latin typeface="Arial"/>
                <a:ea typeface="Arial"/>
                <a:cs typeface="Arial"/>
              </a:rPr>
              <a:t>FINDING 2</a:t>
            </a:r>
          </a:p>
        </p:txBody>
      </p:sp>
      <p:sp>
        <p:nvSpPr>
          <p:cNvPr id="3" name="Rectangle 2">
            <a:extLst>
              <a:ext uri="{FF2B5EF4-FFF2-40B4-BE49-F238E27FC236}">
                <a16:creationId xmlns:a16="http://schemas.microsoft.com/office/drawing/2014/main" id="{F29E777B-DE41-4CC4-A223-0DAE0AF9458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AAF2EE16-EB2B-4E46-B9D4-E66404F13B03}"/>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2300" b="1" i="0">
                <a:solidFill>
                  <a:srgbClr val="FFFFFF"/>
                </a:solidFill>
                <a:latin typeface="Arial"/>
                <a:ea typeface="Arial"/>
                <a:cs typeface="Arial"/>
              </a:rPr>
              <a:t>Male APOE ε3/ε3 cells show opposite core MT and nuclear-encoded OXPHOS directions</a:t>
            </a:r>
          </a:p>
        </p:txBody>
      </p:sp>
      <p:sp>
        <p:nvSpPr>
          <p:cNvPr id="5" name="TextBox 4">
            <a:extLst>
              <a:ext uri="{FF2B5EF4-FFF2-40B4-BE49-F238E27FC236}">
                <a16:creationId xmlns:a16="http://schemas.microsoft.com/office/drawing/2014/main" id="{A588FD2C-EB60-4577-8821-E5F5021BA1C8}"/>
              </a:ext>
            </a:extLst>
          </p:cNvPr>
          <p:cNvSpPr>
            <a:spLocks noGrp="1"/>
          </p:cNvSpPr>
          <p:nvPr/>
        </p:nvSpPr>
        <p:spPr>
          <a:xfrm>
            <a:off x="1097280" y="2468880"/>
            <a:ext cx="7406640" cy="914400"/>
          </a:xfrm>
          <a:prstGeom prst="rect">
            <a:avLst/>
          </a:prstGeom>
          <a:noFill/>
        </p:spPr>
        <p:txBody>
          <a:bodyPr wrap="square" lIns="0" tIns="0" rIns="0" bIns="0" anchor="t">
            <a:normAutofit/>
          </a:bodyPr>
          <a:lstStyle/>
          <a:p>
            <a:pPr algn="l">
              <a:lnSpc>
                <a:spcPct val="100000"/>
              </a:lnSpc>
              <a:spcBef>
                <a:spcPct val="0"/>
              </a:spcBef>
              <a:spcAft>
                <a:spcPct val="0"/>
              </a:spcAft>
              <a:buNone/>
              <a:defRPr sz="1350" b="1">
                <a:solidFill>
                  <a:srgbClr val="E6A700"/>
                </a:solidFill>
                <a:latin typeface="Arial"/>
                <a:ea typeface="Arial"/>
                <a:cs typeface="Arial"/>
              </a:defRPr>
            </a:pPr>
            <a:r>
              <a:rPr sz="1350" b="1" i="0">
                <a:solidFill>
                  <a:srgbClr val="E6A700"/>
                </a:solidFill>
                <a:latin typeface="Arial"/>
                <a:ea typeface="Arial"/>
                <a:cs typeface="Arial"/>
              </a:rPr>
              <a:t>Observed in: male ε3/ε3</a:t>
            </a:r>
          </a:p>
        </p:txBody>
      </p:sp>
      <p:sp>
        <p:nvSpPr>
          <p:cNvPr id="6" name="Rounded Rectangle 5">
            <a:extLst>
              <a:ext uri="{FF2B5EF4-FFF2-40B4-BE49-F238E27FC236}">
                <a16:creationId xmlns:a16="http://schemas.microsoft.com/office/drawing/2014/main" id="{4AB68BF7-738C-44F8-84C1-D77201484E6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D86FA87E-93AC-45B3-84EA-A3CA04235AE7}"/>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97A04348-1C76-4D1C-B8AC-3EAF85E045F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52F1C3F-7A36-4E03-A6C4-0613900CEA2D}"/>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B552BAB4-2207-4F4D-8992-69750669E91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7A656E3B-C25F-4358-8744-6B69A65324AB}"/>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857FEE0-4FA6-4463-9B7D-74746D463189}"/>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A57F751B-861E-4858-BE4F-8A6DD59F1938}"/>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D973D29A-9145-4E4D-89F5-AC1BCDB8D5B2}"/>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D7D48CD-32D2-496C-BA2E-A10C4966E0B8}"/>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698853C-FD5E-4454-95DC-0E479B798FB5}"/>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SEA-AD support</a:t>
            </a:r>
          </a:p>
        </p:txBody>
      </p:sp>
      <p:sp>
        <p:nvSpPr>
          <p:cNvPr id="17" name="Oval 16">
            <a:extLst>
              <a:ext uri="{FF2B5EF4-FFF2-40B4-BE49-F238E27FC236}">
                <a16:creationId xmlns:a16="http://schemas.microsoft.com/office/drawing/2014/main" id="{AE991DE2-7759-4369-BB68-091CD975BA85}"/>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5E18EF7-8353-4915-84F5-D0AADCED05F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1059528-957D-41CF-8D38-5860BE5B5CD5}"/>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19783892-98D7-4CBA-9CBA-83A45F37F2E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E3B01D2-604E-44C2-A51B-87CA43C45395}"/>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20" b="1" i="0">
                <a:solidFill>
                  <a:srgbClr val="FFFFFF"/>
                </a:solidFill>
                <a:latin typeface="Arial"/>
                <a:ea typeface="Arial"/>
                <a:cs typeface="Arial"/>
              </a:rPr>
              <a:t>SEA-AD supports the inhibitory-neuron pattern through shared DEGs with matching AD directions.</a:t>
            </a:r>
          </a:p>
        </p:txBody>
      </p:sp>
    </p:spTree>
    <p:extLst>
      <p:ext uri="{BB962C8B-B14F-4D97-AF65-F5344CB8AC3E}">
        <p14:creationId val="1980501130"/>
      </p:ext>
    </p:extLst>
  </p:cSld>
  <p:clrMapOvr>
    <a:masterClrMapping/>
  </p:clrMapOvr>
  <p:transition/>
  <p:timing/>
</p:sld>
</file>

<file path=ppt/slides/slide6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8B3EDD71-7F75-4FE2-8F11-10F0B9E568D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000" b="1" i="0">
                <a:solidFill>
                  <a:srgbClr val="0F233D"/>
                </a:solidFill>
                <a:latin typeface="Arial"/>
                <a:ea typeface="Arial"/>
                <a:cs typeface="Arial"/>
              </a:rPr>
              <a:t>Male ε3/ε3 cells show opposite directions in OXPHOS gene expression</a:t>
            </a:r>
          </a:p>
        </p:txBody>
      </p:sp>
      <p:sp>
        <p:nvSpPr>
          <p:cNvPr id="3" name="TextBox 2">
            <a:extLst>
              <a:ext uri="{FF2B5EF4-FFF2-40B4-BE49-F238E27FC236}">
                <a16:creationId xmlns:a16="http://schemas.microsoft.com/office/drawing/2014/main" id="{02698264-837A-4235-8D99-EC3D63D97BD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080" b="0" i="0">
                <a:solidFill>
                  <a:srgbClr val="4E5A68"/>
                </a:solidFill>
                <a:latin typeface="Arial"/>
                <a:ea typeface="Arial"/>
                <a:cs typeface="Arial"/>
              </a:rPr>
              <a:t>The two OXPHOS gene sets often move in opposite directions. Matched inhibitory neurons show the pattern in SEA-AD.</a:t>
            </a:r>
          </a:p>
        </p:txBody>
      </p:sp>
      <p:sp>
        <p:nvSpPr>
          <p:cNvPr id="4" name="Rounded Rectangle 3">
            <a:extLst>
              <a:ext uri="{FF2B5EF4-FFF2-40B4-BE49-F238E27FC236}">
                <a16:creationId xmlns:a16="http://schemas.microsoft.com/office/drawing/2014/main" id="{397E169F-A1C0-44A6-9812-A2BC35F60F22}"/>
              </a:ext>
            </a:extLst>
          </p:cNvPr>
          <p:cNvSpPr>
            <a:spLocks noGrp="1"/>
          </p:cNvSpPr>
          <p:nvPr/>
        </p:nvSpPr>
        <p:spPr>
          <a:xfrm>
            <a:off x="1024128" y="1353312"/>
            <a:ext cx="1920240"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2C7E636-8347-42FB-B8CE-ECB30E056362}"/>
              </a:ext>
            </a:extLst>
          </p:cNvPr>
          <p:cNvSpPr>
            <a:spLocks noGrp="1"/>
          </p:cNvSpPr>
          <p:nvPr/>
        </p:nvSpPr>
        <p:spPr>
          <a:xfrm>
            <a:off x="1115568" y="1453896"/>
            <a:ext cx="1737360"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12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080E6272-1353-49C9-9122-5FE680AC7958}"/>
              </a:ext>
            </a:extLst>
          </p:cNvPr>
          <p:cNvSpPr>
            <a:spLocks noGrp="1"/>
          </p:cNvSpPr>
          <p:nvPr/>
        </p:nvSpPr>
        <p:spPr>
          <a:xfrm>
            <a:off x="3218688" y="1353312"/>
            <a:ext cx="2212848"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7F5CC54D-8B7F-4617-A22B-EA9AB2170A91}"/>
              </a:ext>
            </a:extLst>
          </p:cNvPr>
          <p:cNvSpPr>
            <a:spLocks noGrp="1"/>
          </p:cNvSpPr>
          <p:nvPr/>
        </p:nvSpPr>
        <p:spPr>
          <a:xfrm>
            <a:off x="3310128" y="1453896"/>
            <a:ext cx="2029967"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120" b="1" i="0">
                <a:solidFill>
                  <a:srgbClr val="00684D"/>
                </a:solidFill>
                <a:latin typeface="Arial"/>
                <a:ea typeface="Arial"/>
                <a:cs typeface="Arial"/>
              </a:rPr>
              <a:t>APOE ε3/ε3</a:t>
            </a:r>
          </a:p>
        </p:txBody>
      </p:sp>
      <p:sp>
        <p:nvSpPr>
          <p:cNvPr id="8" name="Rounded Rectangle 7">
            <a:extLst>
              <a:ext uri="{FF2B5EF4-FFF2-40B4-BE49-F238E27FC236}">
                <a16:creationId xmlns:a16="http://schemas.microsoft.com/office/drawing/2014/main" id="{E37D0E96-E63A-4D64-B1AD-FFEF11108557}"/>
              </a:ext>
            </a:extLst>
          </p:cNvPr>
          <p:cNvSpPr>
            <a:spLocks noGrp="1"/>
          </p:cNvSpPr>
          <p:nvPr/>
        </p:nvSpPr>
        <p:spPr>
          <a:xfrm>
            <a:off x="5705856" y="1353312"/>
            <a:ext cx="2432304"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2EC3789-9769-4D18-A494-38C1F2CBEFD3}"/>
              </a:ext>
            </a:extLst>
          </p:cNvPr>
          <p:cNvSpPr>
            <a:spLocks noGrp="1"/>
          </p:cNvSpPr>
          <p:nvPr/>
        </p:nvSpPr>
        <p:spPr>
          <a:xfrm>
            <a:off x="5797296" y="1453896"/>
            <a:ext cx="2249424"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120" b="1" i="0">
                <a:solidFill>
                  <a:srgbClr val="895600"/>
                </a:solidFill>
                <a:latin typeface="Arial"/>
                <a:ea typeface="Arial"/>
                <a:cs typeface="Arial"/>
              </a:rPr>
              <a:t>Inhibitory neurons</a:t>
            </a:r>
          </a:p>
        </p:txBody>
      </p:sp>
      <p:sp>
        <p:nvSpPr>
          <p:cNvPr id="10" name="Rounded Rectangle 9">
            <a:extLst>
              <a:ext uri="{FF2B5EF4-FFF2-40B4-BE49-F238E27FC236}">
                <a16:creationId xmlns:a16="http://schemas.microsoft.com/office/drawing/2014/main" id="{60146EAA-D4F4-45A4-9355-40543682B813}"/>
              </a:ext>
            </a:extLst>
          </p:cNvPr>
          <p:cNvSpPr>
            <a:spLocks noGrp="1"/>
          </p:cNvSpPr>
          <p:nvPr/>
        </p:nvSpPr>
        <p:spPr>
          <a:xfrm>
            <a:off x="8412480" y="1353312"/>
            <a:ext cx="2578608"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96D18F2-A872-41A6-97F4-F5C7EF050809}"/>
              </a:ext>
            </a:extLst>
          </p:cNvPr>
          <p:cNvSpPr>
            <a:spLocks noGrp="1"/>
          </p:cNvSpPr>
          <p:nvPr/>
        </p:nvSpPr>
        <p:spPr>
          <a:xfrm>
            <a:off x="8503919" y="1453896"/>
            <a:ext cx="2395727"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120" b="1" i="0">
                <a:solidFill>
                  <a:srgbClr val="9E3A00"/>
                </a:solidFill>
                <a:latin typeface="Arial"/>
                <a:ea typeface="Arial"/>
                <a:cs typeface="Arial"/>
              </a:rPr>
              <a:t>Alzheimer’s disease</a:t>
            </a:r>
          </a:p>
        </p:txBody>
      </p:sp>
      <p:sp>
        <p:nvSpPr>
          <p:cNvPr id="12" name="Rounded Rectangle 11">
            <a:extLst>
              <a:ext uri="{FF2B5EF4-FFF2-40B4-BE49-F238E27FC236}">
                <a16:creationId xmlns:a16="http://schemas.microsoft.com/office/drawing/2014/main" id="{6D84102F-E14A-43A2-A63D-C515B39DDDC8}"/>
              </a:ext>
            </a:extLst>
          </p:cNvPr>
          <p:cNvSpPr>
            <a:spLocks noGrp="1"/>
          </p:cNvSpPr>
          <p:nvPr/>
        </p:nvSpPr>
        <p:spPr>
          <a:xfrm>
            <a:off x="749808" y="2084831"/>
            <a:ext cx="5047488" cy="276148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9273371-8277-45C0-BF8D-3E927D545CAB}"/>
              </a:ext>
            </a:extLst>
          </p:cNvPr>
          <p:cNvSpPr>
            <a:spLocks noGrp="1"/>
          </p:cNvSpPr>
          <p:nvPr/>
        </p:nvSpPr>
        <p:spPr>
          <a:xfrm>
            <a:off x="1024128" y="2468880"/>
            <a:ext cx="4498848" cy="36576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800" b="1" i="0">
                <a:solidFill>
                  <a:srgbClr val="0F233D"/>
                </a:solidFill>
                <a:latin typeface="Arial"/>
                <a:ea typeface="Arial"/>
                <a:cs typeface="Arial"/>
              </a:rPr>
              <a:t>CORE MT GENES</a:t>
            </a:r>
          </a:p>
        </p:txBody>
      </p:sp>
      <p:sp>
        <p:nvSpPr>
          <p:cNvPr id="14" name="TextBox 13">
            <a:extLst>
              <a:ext uri="{FF2B5EF4-FFF2-40B4-BE49-F238E27FC236}">
                <a16:creationId xmlns:a16="http://schemas.microsoft.com/office/drawing/2014/main" id="{EC86CDF9-4226-49D3-AC82-153B477F37E8}"/>
              </a:ext>
            </a:extLst>
          </p:cNvPr>
          <p:cNvSpPr>
            <a:spLocks noGrp="1"/>
          </p:cNvSpPr>
          <p:nvPr/>
        </p:nvSpPr>
        <p:spPr>
          <a:xfrm>
            <a:off x="1188720" y="2953512"/>
            <a:ext cx="1188720" cy="960120"/>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4800" b="1" i="0">
                <a:solidFill>
                  <a:srgbClr val="00684D"/>
                </a:solidFill>
                <a:latin typeface="Arial"/>
                <a:ea typeface="Arial"/>
                <a:cs typeface="Arial"/>
              </a:rPr>
              <a:t>↑</a:t>
            </a:r>
          </a:p>
        </p:txBody>
      </p:sp>
      <p:sp>
        <p:nvSpPr>
          <p:cNvPr id="15" name="TextBox 14">
            <a:extLst>
              <a:ext uri="{FF2B5EF4-FFF2-40B4-BE49-F238E27FC236}">
                <a16:creationId xmlns:a16="http://schemas.microsoft.com/office/drawing/2014/main" id="{10DFCD5E-8BA6-4D59-9D89-DB09251C5134}"/>
              </a:ext>
            </a:extLst>
          </p:cNvPr>
          <p:cNvSpPr>
            <a:spLocks noGrp="1"/>
          </p:cNvSpPr>
          <p:nvPr/>
        </p:nvSpPr>
        <p:spPr>
          <a:xfrm>
            <a:off x="2267712" y="3099816"/>
            <a:ext cx="2944368" cy="740664"/>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500" b="1" i="0">
                <a:solidFill>
                  <a:srgbClr val="1F2730"/>
                </a:solidFill>
                <a:latin typeface="Arial"/>
                <a:ea typeface="Arial"/>
                <a:cs typeface="Arial"/>
              </a:rPr>
              <a:t>core MT gene expression</a:t>
            </a:r>
          </a:p>
        </p:txBody>
      </p:sp>
      <p:sp>
        <p:nvSpPr>
          <p:cNvPr id="16" name="Rounded Rectangle 15">
            <a:extLst>
              <a:ext uri="{FF2B5EF4-FFF2-40B4-BE49-F238E27FC236}">
                <a16:creationId xmlns:a16="http://schemas.microsoft.com/office/drawing/2014/main" id="{F2C9BFD7-5374-4B5C-A818-B7754BFF8571}"/>
              </a:ext>
            </a:extLst>
          </p:cNvPr>
          <p:cNvSpPr>
            <a:spLocks noGrp="1"/>
          </p:cNvSpPr>
          <p:nvPr/>
        </p:nvSpPr>
        <p:spPr>
          <a:xfrm>
            <a:off x="6382512" y="2084831"/>
            <a:ext cx="5065776" cy="276148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B10E5A-F95E-4833-9E71-C100046AE67B}"/>
              </a:ext>
            </a:extLst>
          </p:cNvPr>
          <p:cNvSpPr>
            <a:spLocks noGrp="1"/>
          </p:cNvSpPr>
          <p:nvPr/>
        </p:nvSpPr>
        <p:spPr>
          <a:xfrm>
            <a:off x="6656832" y="2468880"/>
            <a:ext cx="4517136" cy="36576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8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3FB05672-2D66-45B7-9F63-D10F46741A3D}"/>
              </a:ext>
            </a:extLst>
          </p:cNvPr>
          <p:cNvSpPr>
            <a:spLocks noGrp="1"/>
          </p:cNvSpPr>
          <p:nvPr/>
        </p:nvSpPr>
        <p:spPr>
          <a:xfrm>
            <a:off x="6821424" y="2953512"/>
            <a:ext cx="1188720" cy="960120"/>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4800" b="1" i="0">
                <a:solidFill>
                  <a:srgbClr val="9E3A00"/>
                </a:solidFill>
                <a:latin typeface="Arial"/>
                <a:ea typeface="Arial"/>
                <a:cs typeface="Arial"/>
              </a:rPr>
              <a:t>↓</a:t>
            </a:r>
          </a:p>
        </p:txBody>
      </p:sp>
      <p:sp>
        <p:nvSpPr>
          <p:cNvPr id="19" name="TextBox 18">
            <a:extLst>
              <a:ext uri="{FF2B5EF4-FFF2-40B4-BE49-F238E27FC236}">
                <a16:creationId xmlns:a16="http://schemas.microsoft.com/office/drawing/2014/main" id="{951C76EB-DABD-49D9-AD3C-D22A60A26F75}"/>
              </a:ext>
            </a:extLst>
          </p:cNvPr>
          <p:cNvSpPr>
            <a:spLocks noGrp="1"/>
          </p:cNvSpPr>
          <p:nvPr/>
        </p:nvSpPr>
        <p:spPr>
          <a:xfrm>
            <a:off x="7900416" y="3099816"/>
            <a:ext cx="2962656" cy="740664"/>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500" b="1" i="0">
                <a:solidFill>
                  <a:srgbClr val="1F2730"/>
                </a:solidFill>
                <a:latin typeface="Arial"/>
                <a:ea typeface="Arial"/>
                <a:cs typeface="Arial"/>
              </a:rPr>
              <a:t>nuclear-encoded OXPHOS gene expression</a:t>
            </a:r>
          </a:p>
        </p:txBody>
      </p:sp>
      <p:sp>
        <p:nvSpPr>
          <p:cNvPr id="20" name="Rounded Rectangle 19">
            <a:extLst>
              <a:ext uri="{FF2B5EF4-FFF2-40B4-BE49-F238E27FC236}">
                <a16:creationId xmlns:a16="http://schemas.microsoft.com/office/drawing/2014/main" id="{9191A2DE-8434-4DED-9FA6-D055D1E9F3CC}"/>
              </a:ext>
            </a:extLst>
          </p:cNvPr>
          <p:cNvSpPr>
            <a:spLocks noGrp="1"/>
          </p:cNvSpPr>
          <p:nvPr/>
        </p:nvSpPr>
        <p:spPr>
          <a:xfrm>
            <a:off x="749808" y="5230368"/>
            <a:ext cx="10698480" cy="69494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916A2FE-9DEB-444D-B9B7-8EF09A72E49E}"/>
              </a:ext>
            </a:extLst>
          </p:cNvPr>
          <p:cNvSpPr>
            <a:spLocks noGrp="1"/>
          </p:cNvSpPr>
          <p:nvPr/>
        </p:nvSpPr>
        <p:spPr>
          <a:xfrm>
            <a:off x="987552" y="5422392"/>
            <a:ext cx="10222992" cy="29260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340" b="1" i="0">
                <a:solidFill>
                  <a:srgbClr val="7E4C9A"/>
                </a:solidFill>
                <a:latin typeface="Arial"/>
                <a:ea typeface="Arial"/>
                <a:cs typeface="Arial"/>
              </a:rPr>
              <a:t>Plain meaning: the two sets of respiratory genes show opposite expression directions.</a:t>
            </a:r>
          </a:p>
        </p:txBody>
      </p:sp>
      <p:sp>
        <p:nvSpPr>
          <p:cNvPr id="22" name="TextBox 21">
            <a:extLst>
              <a:ext uri="{FF2B5EF4-FFF2-40B4-BE49-F238E27FC236}">
                <a16:creationId xmlns:a16="http://schemas.microsoft.com/office/drawing/2014/main" id="{8B9BB39C-2AD4-4988-96CB-DE0217C23F63}"/>
              </a:ext>
            </a:extLst>
          </p:cNvPr>
          <p:cNvSpPr>
            <a:spLocks noGrp="1"/>
          </p:cNvSpPr>
          <p:nvPr/>
        </p:nvSpPr>
        <p:spPr>
          <a:xfrm>
            <a:off x="658368" y="6473952"/>
            <a:ext cx="10881360" cy="166116"/>
          </a:xfrm>
          <a:prstGeom prst="rect">
            <a:avLst/>
          </a:prstGeom>
          <a:noFill/>
        </p:spPr>
        <p:txBody>
          <a:bodyPr wrap="square" lIns="27432" tIns="27432" rIns="27432" bIns="27432" anchor="t">
            <a:spAutoFit/>
          </a:bodyPr>
          <a:lstStyle/>
          <a:p>
            <a:pPr algn="r">
              <a:lnSpc>
                <a:spcPct val="100000"/>
              </a:lnSpc>
              <a:spcBef>
                <a:spcPct val="0"/>
              </a:spcBef>
              <a:spcAft>
                <a:spcPct val="0"/>
              </a:spcAft>
              <a:buNone/>
            </a:pPr>
            <a:r>
              <a:rPr sz="730" b="0" i="0">
                <a:solidFill>
                  <a:srgbClr val="4E5A68"/>
                </a:solidFill>
                <a:latin typeface="Arial"/>
                <a:ea typeface="Arial"/>
                <a:cs typeface="Arial"/>
              </a:rPr>
              <a:t>ROSMAP provides the primary evidence. SEA-AD adds support from matched inhibitory-neuron DEGs.</a:t>
            </a:r>
          </a:p>
        </p:txBody>
      </p:sp>
    </p:spTree>
    <p:extLst>
      <p:ext uri="{BB962C8B-B14F-4D97-AF65-F5344CB8AC3E}">
        <p14:creationId val="1336706137"/>
      </p:ext>
    </p:extLst>
  </p:cSld>
  <p:clrMapOvr>
    <a:masterClrMapping/>
  </p:clrMapOvr>
  <p:transition/>
  <p:timing/>
</p:sld>
</file>

<file path=ppt/slides/slide6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20DF3AA2-2949-4CB9-BFD3-1140A994245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ROSMAP: male ε3/ε3 cells show opposite directions in OXPHOS gene expression</a:t>
            </a:r>
          </a:p>
        </p:txBody>
      </p:sp>
      <p:sp>
        <p:nvSpPr>
          <p:cNvPr id="3" name="TextBox 2">
            <a:extLst>
              <a:ext uri="{FF2B5EF4-FFF2-40B4-BE49-F238E27FC236}">
                <a16:creationId xmlns:a16="http://schemas.microsoft.com/office/drawing/2014/main" id="{8F0EBA17-C3F1-4CBE-BFAA-4125E846F848}"/>
              </a:ext>
            </a:extLst>
          </p:cNvPr>
          <p:cNvSpPr>
            <a:spLocks noGrp="1"/>
          </p:cNvSpPr>
          <p:nvPr/>
        </p:nvSpPr>
        <p:spPr>
          <a:xfrm>
            <a:off x="548640" y="969264"/>
            <a:ext cx="10927080" cy="270843"/>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00" b="1" i="0">
                <a:latin typeface="Arial"/>
                <a:ea typeface="Arial"/>
                <a:cs typeface="Arial"/>
              </a:rPr>
              <a:t>Across 31 included fine-cell DEG lists. The same gene can recur in different comparisons.</a:t>
            </a:r>
          </a:p>
        </p:txBody>
      </p:sp>
      <p:sp>
        <p:nvSpPr>
          <p:cNvPr id="4" name="Rounded Rectangle 3">
            <a:extLst>
              <a:ext uri="{FF2B5EF4-FFF2-40B4-BE49-F238E27FC236}">
                <a16:creationId xmlns:a16="http://schemas.microsoft.com/office/drawing/2014/main" id="{A7492153-533E-45DD-89CE-40239C37D7DC}"/>
              </a:ext>
            </a:extLst>
          </p:cNvPr>
          <p:cNvSpPr>
            <a:spLocks noGrp="1"/>
          </p:cNvSpPr>
          <p:nvPr/>
        </p:nvSpPr>
        <p:spPr>
          <a:xfrm>
            <a:off x="658368" y="1649771"/>
            <a:ext cx="5285232" cy="4370832"/>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BD24C7C6-C67A-4444-91EC-6C3A647E6A12}"/>
              </a:ext>
            </a:extLst>
          </p:cNvPr>
          <p:cNvSpPr>
            <a:spLocks noGrp="1"/>
          </p:cNvSpPr>
          <p:nvPr/>
        </p:nvSpPr>
        <p:spPr>
          <a:xfrm>
            <a:off x="950976" y="1988099"/>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60C00B9-577D-4DCA-AA58-174B80A2AF4E}"/>
              </a:ext>
            </a:extLst>
          </p:cNvPr>
          <p:cNvSpPr>
            <a:spLocks noGrp="1"/>
          </p:cNvSpPr>
          <p:nvPr/>
        </p:nvSpPr>
        <p:spPr>
          <a:xfrm>
            <a:off x="1097280" y="1960667"/>
            <a:ext cx="4517136" cy="32918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520" b="1" i="0">
                <a:solidFill>
                  <a:srgbClr val="0F233D"/>
                </a:solidFill>
                <a:latin typeface="Arial"/>
                <a:ea typeface="Arial"/>
                <a:cs typeface="Arial"/>
              </a:rPr>
              <a:t>Core MT genes</a:t>
            </a:r>
          </a:p>
        </p:txBody>
      </p:sp>
      <p:sp>
        <p:nvSpPr>
          <p:cNvPr id="7" name="TextBox 6">
            <a:extLst>
              <a:ext uri="{FF2B5EF4-FFF2-40B4-BE49-F238E27FC236}">
                <a16:creationId xmlns:a16="http://schemas.microsoft.com/office/drawing/2014/main" id="{F47E809B-8CCD-4960-984D-A19B502F51A9}"/>
              </a:ext>
            </a:extLst>
          </p:cNvPr>
          <p:cNvSpPr>
            <a:spLocks noGrp="1"/>
          </p:cNvSpPr>
          <p:nvPr/>
        </p:nvSpPr>
        <p:spPr>
          <a:xfrm>
            <a:off x="987552" y="2408723"/>
            <a:ext cx="1444752" cy="603504"/>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3100" b="1" i="0">
                <a:solidFill>
                  <a:srgbClr val="0072B2"/>
                </a:solidFill>
                <a:latin typeface="Arial"/>
                <a:ea typeface="Arial"/>
                <a:cs typeface="Arial"/>
              </a:rPr>
              <a:t>81</a:t>
            </a:r>
          </a:p>
        </p:txBody>
      </p:sp>
      <p:sp>
        <p:nvSpPr>
          <p:cNvPr id="8" name="TextBox 7">
            <a:extLst>
              <a:ext uri="{FF2B5EF4-FFF2-40B4-BE49-F238E27FC236}">
                <a16:creationId xmlns:a16="http://schemas.microsoft.com/office/drawing/2014/main" id="{C3665464-878D-4BEE-A99A-4A05CF1AB15F}"/>
              </a:ext>
            </a:extLst>
          </p:cNvPr>
          <p:cNvSpPr>
            <a:spLocks noGrp="1"/>
          </p:cNvSpPr>
          <p:nvPr/>
        </p:nvSpPr>
        <p:spPr>
          <a:xfrm>
            <a:off x="2432304" y="2600747"/>
            <a:ext cx="2724912" cy="25603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200" b="1" i="0">
                <a:solidFill>
                  <a:srgbClr val="1F2730"/>
                </a:solidFill>
                <a:latin typeface="Arial"/>
                <a:ea typeface="Arial"/>
                <a:cs typeface="Arial"/>
              </a:rPr>
              <a:t>DEG occurrences</a:t>
            </a:r>
          </a:p>
        </p:txBody>
      </p:sp>
      <p:sp>
        <p:nvSpPr>
          <p:cNvPr id="9" name="TextBox 8">
            <a:extLst>
              <a:ext uri="{FF2B5EF4-FFF2-40B4-BE49-F238E27FC236}">
                <a16:creationId xmlns:a16="http://schemas.microsoft.com/office/drawing/2014/main" id="{1FB611C5-B6CD-4E54-A575-ACB7B18BADA9}"/>
              </a:ext>
            </a:extLst>
          </p:cNvPr>
          <p:cNvSpPr>
            <a:spLocks noGrp="1"/>
          </p:cNvSpPr>
          <p:nvPr/>
        </p:nvSpPr>
        <p:spPr>
          <a:xfrm>
            <a:off x="1024128" y="3277403"/>
            <a:ext cx="4572000" cy="27432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300" b="1" i="0">
                <a:solidFill>
                  <a:srgbClr val="1F2730"/>
                </a:solidFill>
                <a:latin typeface="Arial"/>
                <a:ea typeface="Arial"/>
                <a:cs typeface="Arial"/>
              </a:rPr>
              <a:t>70 AD-up  •  11 AD-down</a:t>
            </a:r>
          </a:p>
        </p:txBody>
      </p:sp>
      <p:sp>
        <p:nvSpPr>
          <p:cNvPr id="10" name="Rounded Rectangle 9">
            <a:extLst>
              <a:ext uri="{FF2B5EF4-FFF2-40B4-BE49-F238E27FC236}">
                <a16:creationId xmlns:a16="http://schemas.microsoft.com/office/drawing/2014/main" id="{FCE84EFA-3452-4D3C-9141-37E6717F9FE4}"/>
              </a:ext>
            </a:extLst>
          </p:cNvPr>
          <p:cNvSpPr>
            <a:spLocks noGrp="1"/>
          </p:cNvSpPr>
          <p:nvPr/>
        </p:nvSpPr>
        <p:spPr>
          <a:xfrm>
            <a:off x="1024128" y="3734603"/>
            <a:ext cx="4315968"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0D57644E-EF30-480F-8C6B-15E9084154A8}"/>
              </a:ext>
            </a:extLst>
          </p:cNvPr>
          <p:cNvSpPr>
            <a:spLocks noGrp="1"/>
          </p:cNvSpPr>
          <p:nvPr/>
        </p:nvSpPr>
        <p:spPr>
          <a:xfrm>
            <a:off x="1024128" y="3734603"/>
            <a:ext cx="3730752" cy="31089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Rectangle 11">
            <a:extLst>
              <a:ext uri="{FF2B5EF4-FFF2-40B4-BE49-F238E27FC236}">
                <a16:creationId xmlns:a16="http://schemas.microsoft.com/office/drawing/2014/main" id="{D9E5B954-A61F-42C6-BC7E-E70F51280E4C}"/>
              </a:ext>
            </a:extLst>
          </p:cNvPr>
          <p:cNvSpPr>
            <a:spLocks noGrp="1"/>
          </p:cNvSpPr>
          <p:nvPr/>
        </p:nvSpPr>
        <p:spPr>
          <a:xfrm>
            <a:off x="4754880" y="3734603"/>
            <a:ext cx="585216" cy="31089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2656C86-8A13-48BD-A01D-EE40E47DD509}"/>
              </a:ext>
            </a:extLst>
          </p:cNvPr>
          <p:cNvSpPr>
            <a:spLocks noGrp="1"/>
          </p:cNvSpPr>
          <p:nvPr/>
        </p:nvSpPr>
        <p:spPr>
          <a:xfrm>
            <a:off x="1078992" y="4127795"/>
            <a:ext cx="1847088"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040" b="1" i="0">
                <a:solidFill>
                  <a:srgbClr val="00684D"/>
                </a:solidFill>
                <a:latin typeface="Arial"/>
                <a:ea typeface="Arial"/>
                <a:cs typeface="Arial"/>
              </a:rPr>
              <a:t>86% up</a:t>
            </a:r>
          </a:p>
        </p:txBody>
      </p:sp>
      <p:sp>
        <p:nvSpPr>
          <p:cNvPr id="16" name="Rounded Rectangle 15">
            <a:extLst>
              <a:ext uri="{FF2B5EF4-FFF2-40B4-BE49-F238E27FC236}">
                <a16:creationId xmlns:a16="http://schemas.microsoft.com/office/drawing/2014/main" id="{78B2F20E-1F38-4D6E-866C-62A34CC13AC4}"/>
              </a:ext>
            </a:extLst>
          </p:cNvPr>
          <p:cNvSpPr>
            <a:spLocks noGrp="1"/>
          </p:cNvSpPr>
          <p:nvPr/>
        </p:nvSpPr>
        <p:spPr>
          <a:xfrm>
            <a:off x="6236208" y="1649771"/>
            <a:ext cx="5303520" cy="437083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Rectangle 16">
            <a:extLst>
              <a:ext uri="{FF2B5EF4-FFF2-40B4-BE49-F238E27FC236}">
                <a16:creationId xmlns:a16="http://schemas.microsoft.com/office/drawing/2014/main" id="{5D3AD0A4-50E9-47AC-A0A1-2293894B4878}"/>
              </a:ext>
            </a:extLst>
          </p:cNvPr>
          <p:cNvSpPr>
            <a:spLocks noGrp="1"/>
          </p:cNvSpPr>
          <p:nvPr/>
        </p:nvSpPr>
        <p:spPr>
          <a:xfrm>
            <a:off x="6528816" y="1988099"/>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BABEF69A-04D3-462A-802D-2ACC8A25F572}"/>
              </a:ext>
            </a:extLst>
          </p:cNvPr>
          <p:cNvSpPr>
            <a:spLocks noGrp="1"/>
          </p:cNvSpPr>
          <p:nvPr/>
        </p:nvSpPr>
        <p:spPr>
          <a:xfrm>
            <a:off x="6675120" y="1960667"/>
            <a:ext cx="4535424" cy="32918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520" b="1" i="0">
                <a:solidFill>
                  <a:srgbClr val="0F233D"/>
                </a:solidFill>
                <a:latin typeface="Arial"/>
                <a:ea typeface="Arial"/>
                <a:cs typeface="Arial"/>
              </a:rPr>
              <a:t>Nuclear-encoded OXPHOS genes</a:t>
            </a:r>
          </a:p>
        </p:txBody>
      </p:sp>
      <p:sp>
        <p:nvSpPr>
          <p:cNvPr id="19" name="TextBox 18">
            <a:extLst>
              <a:ext uri="{FF2B5EF4-FFF2-40B4-BE49-F238E27FC236}">
                <a16:creationId xmlns:a16="http://schemas.microsoft.com/office/drawing/2014/main" id="{98AB4C81-D082-4C02-A468-F1B3B6B33BB4}"/>
              </a:ext>
            </a:extLst>
          </p:cNvPr>
          <p:cNvSpPr>
            <a:spLocks noGrp="1"/>
          </p:cNvSpPr>
          <p:nvPr/>
        </p:nvSpPr>
        <p:spPr>
          <a:xfrm>
            <a:off x="6565392" y="2408723"/>
            <a:ext cx="1444752" cy="603504"/>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3100" b="1" i="0">
                <a:solidFill>
                  <a:srgbClr val="9E3A00"/>
                </a:solidFill>
                <a:latin typeface="Arial"/>
                <a:ea typeface="Arial"/>
                <a:cs typeface="Arial"/>
              </a:rPr>
              <a:t>68</a:t>
            </a:r>
          </a:p>
        </p:txBody>
      </p:sp>
      <p:sp>
        <p:nvSpPr>
          <p:cNvPr id="20" name="TextBox 19">
            <a:extLst>
              <a:ext uri="{FF2B5EF4-FFF2-40B4-BE49-F238E27FC236}">
                <a16:creationId xmlns:a16="http://schemas.microsoft.com/office/drawing/2014/main" id="{D27BC3EE-2871-40FE-B812-4BFA9C23525E}"/>
              </a:ext>
            </a:extLst>
          </p:cNvPr>
          <p:cNvSpPr>
            <a:spLocks noGrp="1"/>
          </p:cNvSpPr>
          <p:nvPr/>
        </p:nvSpPr>
        <p:spPr>
          <a:xfrm>
            <a:off x="8010144" y="2600747"/>
            <a:ext cx="2724912" cy="25603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200" b="1" i="0">
                <a:solidFill>
                  <a:srgbClr val="1F2730"/>
                </a:solidFill>
                <a:latin typeface="Arial"/>
                <a:ea typeface="Arial"/>
                <a:cs typeface="Arial"/>
              </a:rPr>
              <a:t>DEG occurrences</a:t>
            </a:r>
          </a:p>
        </p:txBody>
      </p:sp>
      <p:sp>
        <p:nvSpPr>
          <p:cNvPr id="21" name="TextBox 20">
            <a:extLst>
              <a:ext uri="{FF2B5EF4-FFF2-40B4-BE49-F238E27FC236}">
                <a16:creationId xmlns:a16="http://schemas.microsoft.com/office/drawing/2014/main" id="{ADFD6B79-6388-463F-833F-96BF45701DE8}"/>
              </a:ext>
            </a:extLst>
          </p:cNvPr>
          <p:cNvSpPr>
            <a:spLocks noGrp="1"/>
          </p:cNvSpPr>
          <p:nvPr/>
        </p:nvSpPr>
        <p:spPr>
          <a:xfrm>
            <a:off x="6601968" y="3277403"/>
            <a:ext cx="4572000" cy="27432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300" b="1" i="0">
                <a:solidFill>
                  <a:srgbClr val="1F2730"/>
                </a:solidFill>
                <a:latin typeface="Arial"/>
                <a:ea typeface="Arial"/>
                <a:cs typeface="Arial"/>
              </a:rPr>
              <a:t>8 AD-up  •  60 AD-down</a:t>
            </a:r>
          </a:p>
        </p:txBody>
      </p:sp>
      <p:sp>
        <p:nvSpPr>
          <p:cNvPr id="22" name="Rounded Rectangle 21">
            <a:extLst>
              <a:ext uri="{FF2B5EF4-FFF2-40B4-BE49-F238E27FC236}">
                <a16:creationId xmlns:a16="http://schemas.microsoft.com/office/drawing/2014/main" id="{CBD8C23D-E7E8-4741-B714-1B48EBCA084D}"/>
              </a:ext>
            </a:extLst>
          </p:cNvPr>
          <p:cNvSpPr>
            <a:spLocks noGrp="1"/>
          </p:cNvSpPr>
          <p:nvPr/>
        </p:nvSpPr>
        <p:spPr>
          <a:xfrm>
            <a:off x="6601968" y="3734603"/>
            <a:ext cx="4315968"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Rectangle 22">
            <a:extLst>
              <a:ext uri="{FF2B5EF4-FFF2-40B4-BE49-F238E27FC236}">
                <a16:creationId xmlns:a16="http://schemas.microsoft.com/office/drawing/2014/main" id="{E3E38530-2E12-4E4C-9B74-8EA94064FF94}"/>
              </a:ext>
            </a:extLst>
          </p:cNvPr>
          <p:cNvSpPr>
            <a:spLocks noGrp="1"/>
          </p:cNvSpPr>
          <p:nvPr/>
        </p:nvSpPr>
        <p:spPr>
          <a:xfrm>
            <a:off x="6601968" y="3734603"/>
            <a:ext cx="512064" cy="31089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9D1FA94D-B10C-490A-94FA-1D28EA88EA4D}"/>
              </a:ext>
            </a:extLst>
          </p:cNvPr>
          <p:cNvSpPr>
            <a:spLocks noGrp="1"/>
          </p:cNvSpPr>
          <p:nvPr/>
        </p:nvSpPr>
        <p:spPr>
          <a:xfrm>
            <a:off x="7114032" y="3734603"/>
            <a:ext cx="3803904" cy="31089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524F91E6-E18B-4D94-90DF-F8F2769C0BE2}"/>
              </a:ext>
            </a:extLst>
          </p:cNvPr>
          <p:cNvSpPr>
            <a:spLocks noGrp="1"/>
          </p:cNvSpPr>
          <p:nvPr/>
        </p:nvSpPr>
        <p:spPr>
          <a:xfrm>
            <a:off x="9070848" y="4127795"/>
            <a:ext cx="1847088" cy="219456"/>
          </a:xfrm>
          <a:prstGeom prst="rect">
            <a:avLst/>
          </a:prstGeom>
          <a:noFill/>
        </p:spPr>
        <p:txBody>
          <a:bodyPr wrap="square" lIns="27432" tIns="27432" rIns="27432" bIns="27432" anchor="t">
            <a:spAutoFit/>
          </a:bodyPr>
          <a:lstStyle/>
          <a:p>
            <a:pPr algn="r">
              <a:lnSpc>
                <a:spcPct val="100000"/>
              </a:lnSpc>
              <a:spcBef>
                <a:spcPct val="0"/>
              </a:spcBef>
              <a:spcAft>
                <a:spcPct val="0"/>
              </a:spcAft>
              <a:buNone/>
            </a:pPr>
            <a:r>
              <a:rPr sz="1040" b="1" i="0">
                <a:solidFill>
                  <a:srgbClr val="9E3A00"/>
                </a:solidFill>
                <a:latin typeface="Arial"/>
                <a:ea typeface="Arial"/>
                <a:cs typeface="Arial"/>
              </a:rPr>
              <a:t>88% down</a:t>
            </a:r>
          </a:p>
        </p:txBody>
      </p:sp>
    </p:spTree>
    <p:extLst>
      <p:ext uri="{BB962C8B-B14F-4D97-AF65-F5344CB8AC3E}">
        <p14:creationId val="705907239"/>
      </p:ext>
    </p:extLst>
  </p:cSld>
  <p:clrMapOvr>
    <a:masterClrMapping/>
  </p:clrMapOvr>
  <p:transition/>
  <p:timing/>
</p:sld>
</file>

<file path=ppt/slides/slide6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6F228AE8-F522-4A04-90BB-C26467E300B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SEA-AD supports the matched male ε3/ε3 inhibitory-neuron DEG pattern</a:t>
            </a:r>
          </a:p>
        </p:txBody>
      </p:sp>
      <p:sp>
        <p:nvSpPr>
          <p:cNvPr id="3" name="TextBox 2">
            <a:extLst>
              <a:ext uri="{FF2B5EF4-FFF2-40B4-BE49-F238E27FC236}">
                <a16:creationId xmlns:a16="http://schemas.microsoft.com/office/drawing/2014/main" id="{D73F4564-F934-415C-B6E2-00B42ED64D58}"/>
              </a:ext>
            </a:extLst>
          </p:cNvPr>
          <p:cNvSpPr>
            <a:spLocks noGrp="1"/>
          </p:cNvSpPr>
          <p:nvPr/>
        </p:nvSpPr>
        <p:spPr>
          <a:xfrm>
            <a:off x="548640" y="969264"/>
            <a:ext cx="10927080" cy="270843"/>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00" b="1" i="0">
                <a:latin typeface="Arial"/>
                <a:ea typeface="Arial"/>
                <a:cs typeface="Arial"/>
              </a:rPr>
              <a:t>Eight SEA-AD fine-cell DEG lists contributed. Support comes from shared MitoCarta MT DEGs with the same AD direction.</a:t>
            </a:r>
          </a:p>
        </p:txBody>
      </p:sp>
      <p:sp>
        <p:nvSpPr>
          <p:cNvPr id="4" name="Rounded Rectangle 3">
            <a:extLst>
              <a:ext uri="{FF2B5EF4-FFF2-40B4-BE49-F238E27FC236}">
                <a16:creationId xmlns:a16="http://schemas.microsoft.com/office/drawing/2014/main" id="{9B84C10C-3569-44E6-ACF0-AA947B15657B}"/>
              </a:ext>
            </a:extLst>
          </p:cNvPr>
          <p:cNvSpPr>
            <a:spLocks noGrp="1"/>
          </p:cNvSpPr>
          <p:nvPr/>
        </p:nvSpPr>
        <p:spPr>
          <a:xfrm>
            <a:off x="658368" y="1447639"/>
            <a:ext cx="3456432"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70DED24-64B1-41A2-B72D-E56FEA529086}"/>
              </a:ext>
            </a:extLst>
          </p:cNvPr>
          <p:cNvSpPr>
            <a:spLocks noGrp="1"/>
          </p:cNvSpPr>
          <p:nvPr/>
        </p:nvSpPr>
        <p:spPr>
          <a:xfrm>
            <a:off x="822959" y="1575655"/>
            <a:ext cx="3127248" cy="4846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800" b="1" i="0">
                <a:solidFill>
                  <a:srgbClr val="0072B2"/>
                </a:solidFill>
                <a:latin typeface="Arial"/>
                <a:ea typeface="Arial"/>
                <a:cs typeface="Arial"/>
              </a:rPr>
              <a:t>22</a:t>
            </a:r>
          </a:p>
        </p:txBody>
      </p:sp>
      <p:sp>
        <p:nvSpPr>
          <p:cNvPr id="6" name="TextBox 5">
            <a:extLst>
              <a:ext uri="{FF2B5EF4-FFF2-40B4-BE49-F238E27FC236}">
                <a16:creationId xmlns:a16="http://schemas.microsoft.com/office/drawing/2014/main" id="{D93AB62E-39C3-4E0C-BBF9-9AF87160AC38}"/>
              </a:ext>
            </a:extLst>
          </p:cNvPr>
          <p:cNvSpPr>
            <a:spLocks noGrp="1"/>
          </p:cNvSpPr>
          <p:nvPr/>
        </p:nvSpPr>
        <p:spPr>
          <a:xfrm>
            <a:off x="822959" y="2106007"/>
            <a:ext cx="3127248" cy="3108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19" b="1" i="0">
                <a:solidFill>
                  <a:srgbClr val="0F233D"/>
                </a:solidFill>
                <a:latin typeface="Arial"/>
                <a:ea typeface="Arial"/>
                <a:cs typeface="Arial"/>
              </a:rPr>
              <a:t>shared MitoCarta MT DEGs</a:t>
            </a:r>
          </a:p>
        </p:txBody>
      </p:sp>
      <p:sp>
        <p:nvSpPr>
          <p:cNvPr id="7" name="Rounded Rectangle 6">
            <a:extLst>
              <a:ext uri="{FF2B5EF4-FFF2-40B4-BE49-F238E27FC236}">
                <a16:creationId xmlns:a16="http://schemas.microsoft.com/office/drawing/2014/main" id="{0D99DAC8-4944-4587-9967-2F5576FB7CF0}"/>
              </a:ext>
            </a:extLst>
          </p:cNvPr>
          <p:cNvSpPr>
            <a:spLocks noGrp="1"/>
          </p:cNvSpPr>
          <p:nvPr/>
        </p:nvSpPr>
        <p:spPr>
          <a:xfrm>
            <a:off x="4370832" y="1447639"/>
            <a:ext cx="3456432"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8405ABA6-E07E-40BB-B8D7-F8A0ACDCD496}"/>
              </a:ext>
            </a:extLst>
          </p:cNvPr>
          <p:cNvSpPr>
            <a:spLocks noGrp="1"/>
          </p:cNvSpPr>
          <p:nvPr/>
        </p:nvSpPr>
        <p:spPr>
          <a:xfrm>
            <a:off x="4535424" y="1575655"/>
            <a:ext cx="3127248" cy="4846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800" b="1" i="0">
                <a:solidFill>
                  <a:srgbClr val="00684D"/>
                </a:solidFill>
                <a:latin typeface="Arial"/>
                <a:ea typeface="Arial"/>
                <a:cs typeface="Arial"/>
              </a:rPr>
              <a:t>19/22</a:t>
            </a:r>
          </a:p>
        </p:txBody>
      </p:sp>
      <p:sp>
        <p:nvSpPr>
          <p:cNvPr id="9" name="TextBox 8">
            <a:extLst>
              <a:ext uri="{FF2B5EF4-FFF2-40B4-BE49-F238E27FC236}">
                <a16:creationId xmlns:a16="http://schemas.microsoft.com/office/drawing/2014/main" id="{88943738-AAC9-4816-8E05-B0BF5F0B3367}"/>
              </a:ext>
            </a:extLst>
          </p:cNvPr>
          <p:cNvSpPr>
            <a:spLocks noGrp="1"/>
          </p:cNvSpPr>
          <p:nvPr/>
        </p:nvSpPr>
        <p:spPr>
          <a:xfrm>
            <a:off x="4535424" y="2106007"/>
            <a:ext cx="3127248" cy="3108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19" b="1" i="0">
                <a:solidFill>
                  <a:srgbClr val="0F233D"/>
                </a:solidFill>
                <a:latin typeface="Arial"/>
                <a:ea typeface="Arial"/>
                <a:cs typeface="Arial"/>
              </a:rPr>
              <a:t>shared genes have the same AD direction</a:t>
            </a:r>
          </a:p>
        </p:txBody>
      </p:sp>
      <p:sp>
        <p:nvSpPr>
          <p:cNvPr id="10" name="Rounded Rectangle 9">
            <a:extLst>
              <a:ext uri="{FF2B5EF4-FFF2-40B4-BE49-F238E27FC236}">
                <a16:creationId xmlns:a16="http://schemas.microsoft.com/office/drawing/2014/main" id="{9C09C538-8BDC-4B39-80AB-2D30E7263B31}"/>
              </a:ext>
            </a:extLst>
          </p:cNvPr>
          <p:cNvSpPr>
            <a:spLocks noGrp="1"/>
          </p:cNvSpPr>
          <p:nvPr/>
        </p:nvSpPr>
        <p:spPr>
          <a:xfrm>
            <a:off x="8083296" y="1447639"/>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7A8EBF3-50B2-4CC3-BEC8-2FAAB654E0FB}"/>
              </a:ext>
            </a:extLst>
          </p:cNvPr>
          <p:cNvSpPr>
            <a:spLocks noGrp="1"/>
          </p:cNvSpPr>
          <p:nvPr/>
        </p:nvSpPr>
        <p:spPr>
          <a:xfrm>
            <a:off x="8247888" y="1575655"/>
            <a:ext cx="3127248" cy="4846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300" b="1" i="0">
                <a:solidFill>
                  <a:srgbClr val="895600"/>
                </a:solidFill>
                <a:latin typeface="Arial"/>
                <a:ea typeface="Arial"/>
                <a:cs typeface="Arial"/>
              </a:rPr>
              <a:t>Adjusted P = 0.0417</a:t>
            </a:r>
          </a:p>
        </p:txBody>
      </p:sp>
      <p:sp>
        <p:nvSpPr>
          <p:cNvPr id="12" name="TextBox 11">
            <a:extLst>
              <a:ext uri="{FF2B5EF4-FFF2-40B4-BE49-F238E27FC236}">
                <a16:creationId xmlns:a16="http://schemas.microsoft.com/office/drawing/2014/main" id="{1E1FC778-0DBC-4885-802B-F114AFCC49FF}"/>
              </a:ext>
            </a:extLst>
          </p:cNvPr>
          <p:cNvSpPr>
            <a:spLocks noGrp="1"/>
          </p:cNvSpPr>
          <p:nvPr/>
        </p:nvSpPr>
        <p:spPr>
          <a:xfrm>
            <a:off x="8247888" y="2106007"/>
            <a:ext cx="3127248" cy="3108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19" b="1" i="0">
                <a:solidFill>
                  <a:srgbClr val="0F233D"/>
                </a:solidFill>
                <a:latin typeface="Arial"/>
                <a:ea typeface="Arial"/>
                <a:cs typeface="Arial"/>
              </a:rPr>
              <a:t>shared-gene overlap between cohorts</a:t>
            </a:r>
          </a:p>
        </p:txBody>
      </p:sp>
      <p:sp>
        <p:nvSpPr>
          <p:cNvPr id="13" name="TextBox 12">
            <a:extLst>
              <a:ext uri="{FF2B5EF4-FFF2-40B4-BE49-F238E27FC236}">
                <a16:creationId xmlns:a16="http://schemas.microsoft.com/office/drawing/2014/main" id="{729EEACE-7AB7-49AB-8CFE-8379EA3FAF06}"/>
              </a:ext>
            </a:extLst>
          </p:cNvPr>
          <p:cNvSpPr>
            <a:spLocks noGrp="1"/>
          </p:cNvSpPr>
          <p:nvPr/>
        </p:nvSpPr>
        <p:spPr>
          <a:xfrm>
            <a:off x="8247888" y="2435191"/>
            <a:ext cx="3127248" cy="21945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880" b="0" i="0">
                <a:solidFill>
                  <a:srgbClr val="4E5A68"/>
                </a:solidFill>
                <a:latin typeface="Arial"/>
                <a:ea typeface="Arial"/>
                <a:cs typeface="Arial"/>
              </a:rPr>
              <a:t>22 shared versus 15.17 expected</a:t>
            </a:r>
          </a:p>
        </p:txBody>
      </p:sp>
      <p:sp>
        <p:nvSpPr>
          <p:cNvPr id="14" name="Rounded Rectangle 13">
            <a:extLst>
              <a:ext uri="{FF2B5EF4-FFF2-40B4-BE49-F238E27FC236}">
                <a16:creationId xmlns:a16="http://schemas.microsoft.com/office/drawing/2014/main" id="{C52CC1AA-C592-409D-9C8F-C4C7C5796C52}"/>
              </a:ext>
            </a:extLst>
          </p:cNvPr>
          <p:cNvSpPr>
            <a:spLocks noGrp="1"/>
          </p:cNvSpPr>
          <p:nvPr/>
        </p:nvSpPr>
        <p:spPr>
          <a:xfrm>
            <a:off x="658368" y="3005006"/>
            <a:ext cx="5285232" cy="25786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EC22928-71CD-4979-B6FD-7044B29A7691}"/>
              </a:ext>
            </a:extLst>
          </p:cNvPr>
          <p:cNvSpPr>
            <a:spLocks noGrp="1"/>
          </p:cNvSpPr>
          <p:nvPr/>
        </p:nvSpPr>
        <p:spPr>
          <a:xfrm>
            <a:off x="969264" y="3352478"/>
            <a:ext cx="3273552" cy="34747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700" b="1" i="0">
                <a:solidFill>
                  <a:srgbClr val="0F233D"/>
                </a:solidFill>
                <a:latin typeface="Arial"/>
                <a:ea typeface="Arial"/>
                <a:cs typeface="Arial"/>
              </a:rPr>
              <a:t>CORE MT GENES</a:t>
            </a:r>
          </a:p>
        </p:txBody>
      </p:sp>
      <p:sp>
        <p:nvSpPr>
          <p:cNvPr id="16" name="TextBox 15">
            <a:extLst>
              <a:ext uri="{FF2B5EF4-FFF2-40B4-BE49-F238E27FC236}">
                <a16:creationId xmlns:a16="http://schemas.microsoft.com/office/drawing/2014/main" id="{05E7B790-23B2-4282-8021-0D8ED01E8BE6}"/>
              </a:ext>
            </a:extLst>
          </p:cNvPr>
          <p:cNvSpPr>
            <a:spLocks noGrp="1"/>
          </p:cNvSpPr>
          <p:nvPr/>
        </p:nvSpPr>
        <p:spPr>
          <a:xfrm>
            <a:off x="4370832" y="3242750"/>
            <a:ext cx="987552" cy="74980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3800" b="1" i="0">
                <a:solidFill>
                  <a:srgbClr val="00684D"/>
                </a:solidFill>
                <a:latin typeface="Arial"/>
                <a:ea typeface="Arial"/>
                <a:cs typeface="Arial"/>
              </a:rPr>
              <a:t>↑</a:t>
            </a:r>
          </a:p>
        </p:txBody>
      </p:sp>
      <p:sp>
        <p:nvSpPr>
          <p:cNvPr id="17" name="TextBox 16">
            <a:extLst>
              <a:ext uri="{FF2B5EF4-FFF2-40B4-BE49-F238E27FC236}">
                <a16:creationId xmlns:a16="http://schemas.microsoft.com/office/drawing/2014/main" id="{21EBDE05-7773-43CF-99DF-996AA2B14BF8}"/>
              </a:ext>
            </a:extLst>
          </p:cNvPr>
          <p:cNvSpPr>
            <a:spLocks noGrp="1"/>
          </p:cNvSpPr>
          <p:nvPr/>
        </p:nvSpPr>
        <p:spPr>
          <a:xfrm>
            <a:off x="969264" y="4138862"/>
            <a:ext cx="4663440" cy="640080"/>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500" b="1" i="0">
                <a:solidFill>
                  <a:srgbClr val="1F2730"/>
                </a:solidFill>
                <a:latin typeface="Arial"/>
                <a:ea typeface="Arial"/>
                <a:cs typeface="Arial"/>
              </a:rPr>
              <a:t>9 core MT genes are AD-up in both cohorts</a:t>
            </a:r>
          </a:p>
        </p:txBody>
      </p:sp>
      <p:sp>
        <p:nvSpPr>
          <p:cNvPr id="18" name="Rounded Rectangle 17">
            <a:extLst>
              <a:ext uri="{FF2B5EF4-FFF2-40B4-BE49-F238E27FC236}">
                <a16:creationId xmlns:a16="http://schemas.microsoft.com/office/drawing/2014/main" id="{21A736C1-D371-4DFB-85A3-D5F9EC58CEDA}"/>
              </a:ext>
            </a:extLst>
          </p:cNvPr>
          <p:cNvSpPr>
            <a:spLocks noGrp="1"/>
          </p:cNvSpPr>
          <p:nvPr/>
        </p:nvSpPr>
        <p:spPr>
          <a:xfrm>
            <a:off x="6236208" y="3005006"/>
            <a:ext cx="5303520" cy="25786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AEA45A9-E7D1-44D5-8311-0C8E2001C095}"/>
              </a:ext>
            </a:extLst>
          </p:cNvPr>
          <p:cNvSpPr>
            <a:spLocks noGrp="1"/>
          </p:cNvSpPr>
          <p:nvPr/>
        </p:nvSpPr>
        <p:spPr>
          <a:xfrm>
            <a:off x="6547104" y="3352478"/>
            <a:ext cx="3456432" cy="34747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700" b="1" i="0">
                <a:solidFill>
                  <a:srgbClr val="0F233D"/>
                </a:solidFill>
                <a:latin typeface="Arial"/>
                <a:ea typeface="Arial"/>
                <a:cs typeface="Arial"/>
              </a:rPr>
              <a:t>Nuclear-encoded MT genes</a:t>
            </a:r>
          </a:p>
        </p:txBody>
      </p:sp>
      <p:sp>
        <p:nvSpPr>
          <p:cNvPr id="20" name="TextBox 19">
            <a:extLst>
              <a:ext uri="{FF2B5EF4-FFF2-40B4-BE49-F238E27FC236}">
                <a16:creationId xmlns:a16="http://schemas.microsoft.com/office/drawing/2014/main" id="{05A97C27-82B4-45D6-B9F2-F51E224B071E}"/>
              </a:ext>
            </a:extLst>
          </p:cNvPr>
          <p:cNvSpPr>
            <a:spLocks noGrp="1"/>
          </p:cNvSpPr>
          <p:nvPr/>
        </p:nvSpPr>
        <p:spPr>
          <a:xfrm>
            <a:off x="10094976" y="3242750"/>
            <a:ext cx="987552" cy="74980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3800" b="1" i="0">
                <a:solidFill>
                  <a:srgbClr val="9E3A00"/>
                </a:solidFill>
                <a:latin typeface="Arial"/>
                <a:ea typeface="Arial"/>
                <a:cs typeface="Arial"/>
              </a:rPr>
              <a:t>↓</a:t>
            </a:r>
          </a:p>
        </p:txBody>
      </p:sp>
      <p:sp>
        <p:nvSpPr>
          <p:cNvPr id="21" name="TextBox 20">
            <a:extLst>
              <a:ext uri="{FF2B5EF4-FFF2-40B4-BE49-F238E27FC236}">
                <a16:creationId xmlns:a16="http://schemas.microsoft.com/office/drawing/2014/main" id="{FEDF88CC-C203-439A-A4B9-853512E75892}"/>
              </a:ext>
            </a:extLst>
          </p:cNvPr>
          <p:cNvSpPr>
            <a:spLocks noGrp="1"/>
          </p:cNvSpPr>
          <p:nvPr/>
        </p:nvSpPr>
        <p:spPr>
          <a:xfrm>
            <a:off x="6547104" y="4047422"/>
            <a:ext cx="4663440" cy="822960"/>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400" b="1" i="0">
                <a:solidFill>
                  <a:srgbClr val="1F2730"/>
                </a:solidFill>
                <a:latin typeface="Arial"/>
                <a:ea typeface="Arial"/>
                <a:cs typeface="Arial"/>
              </a:rPr>
              <a:t>Genes for OXPHOS, protein import, mitochondrial ribosomes, and DNA/RNA maintenance are AD-down in both cohorts</a:t>
            </a:r>
          </a:p>
        </p:txBody>
      </p:sp>
      <p:sp>
        <p:nvSpPr>
          <p:cNvPr id="22" name="Rounded Rectangle 21">
            <a:extLst>
              <a:ext uri="{FF2B5EF4-FFF2-40B4-BE49-F238E27FC236}">
                <a16:creationId xmlns:a16="http://schemas.microsoft.com/office/drawing/2014/main" id="{52E1BD7B-24E1-436E-8704-3A9BB378E2B3}"/>
              </a:ext>
            </a:extLst>
          </p:cNvPr>
          <p:cNvSpPr>
            <a:spLocks noGrp="1"/>
          </p:cNvSpPr>
          <p:nvPr/>
        </p:nvSpPr>
        <p:spPr>
          <a:xfrm>
            <a:off x="658368" y="5912798"/>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5D11F732-E17F-4B19-A6DF-B3E7019864C6}"/>
              </a:ext>
            </a:extLst>
          </p:cNvPr>
          <p:cNvSpPr>
            <a:spLocks noGrp="1"/>
          </p:cNvSpPr>
          <p:nvPr/>
        </p:nvSpPr>
        <p:spPr>
          <a:xfrm>
            <a:off x="896112" y="6059102"/>
            <a:ext cx="10405872" cy="270843"/>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400" b="1" i="0">
                <a:solidFill>
                  <a:srgbClr val="7E4C9A"/>
                </a:solidFill>
                <a:latin typeface="Arial"/>
                <a:ea typeface="Arial"/>
                <a:cs typeface="Arial"/>
              </a:rPr>
              <a:t>Sensitivity check excluding genes with uncertain mitochondrial identity: 21 shared, adjusted P = 0.0486.</a:t>
            </a:r>
          </a:p>
        </p:txBody>
      </p:sp>
    </p:spTree>
    <p:extLst>
      <p:ext uri="{BB962C8B-B14F-4D97-AF65-F5344CB8AC3E}">
        <p14:creationId val="1930367788"/>
      </p:ext>
    </p:extLst>
  </p:cSld>
  <p:clrMapOvr>
    <a:masterClrMapping/>
  </p:clrMapOvr>
  <p:transition/>
  <p:timing/>
</p:sld>
</file>

<file path=ppt/slides/slide6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07141920-9135-499A-86FA-022B8A4032B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Which genes account for the matched inhibitory-neuron pattern?</a:t>
            </a:r>
          </a:p>
        </p:txBody>
      </p:sp>
      <p:sp>
        <p:nvSpPr>
          <p:cNvPr id="3" name="TextBox 2">
            <a:extLst>
              <a:ext uri="{FF2B5EF4-FFF2-40B4-BE49-F238E27FC236}">
                <a16:creationId xmlns:a16="http://schemas.microsoft.com/office/drawing/2014/main" id="{73C71CD7-CDF5-47CA-9D73-AF47E6DC1D79}"/>
              </a:ext>
            </a:extLst>
          </p:cNvPr>
          <p:cNvSpPr>
            <a:spLocks noGrp="1"/>
          </p:cNvSpPr>
          <p:nvPr/>
        </p:nvSpPr>
        <p:spPr>
          <a:xfrm>
            <a:off x="548640" y="873013"/>
            <a:ext cx="10927080" cy="270843"/>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00" b="1" i="0">
                <a:latin typeface="Arial"/>
                <a:ea typeface="Arial"/>
                <a:cs typeface="Arial"/>
              </a:rPr>
              <a:t>Shared genes include OXPHOS subunits and genes for protein import, mitochondrial ribosomes, and DNA/RNA maintenance.</a:t>
            </a:r>
          </a:p>
        </p:txBody>
      </p:sp>
      <p:sp>
        <p:nvSpPr>
          <p:cNvPr id="4" name="Rounded Rectangle 3">
            <a:extLst>
              <a:ext uri="{FF2B5EF4-FFF2-40B4-BE49-F238E27FC236}">
                <a16:creationId xmlns:a16="http://schemas.microsoft.com/office/drawing/2014/main" id="{A238567A-BE19-4CB9-9289-BCA988D2517D}"/>
              </a:ext>
            </a:extLst>
          </p:cNvPr>
          <p:cNvSpPr>
            <a:spLocks noGrp="1"/>
          </p:cNvSpPr>
          <p:nvPr/>
        </p:nvSpPr>
        <p:spPr>
          <a:xfrm>
            <a:off x="658368" y="1353312"/>
            <a:ext cx="5285232" cy="360273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F0BB154C-7586-4643-B485-3B1EEAAD8995}"/>
              </a:ext>
            </a:extLst>
          </p:cNvPr>
          <p:cNvSpPr>
            <a:spLocks noGrp="1"/>
          </p:cNvSpPr>
          <p:nvPr/>
        </p:nvSpPr>
        <p:spPr>
          <a:xfrm>
            <a:off x="950976" y="169164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C8E6BC7-981A-43D3-8A45-EB2FCC434A4E}"/>
              </a:ext>
            </a:extLst>
          </p:cNvPr>
          <p:cNvSpPr>
            <a:spLocks noGrp="1"/>
          </p:cNvSpPr>
          <p:nvPr/>
        </p:nvSpPr>
        <p:spPr>
          <a:xfrm>
            <a:off x="1097280" y="1664208"/>
            <a:ext cx="4517136" cy="32918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520" b="1" i="0">
                <a:solidFill>
                  <a:srgbClr val="0F233D"/>
                </a:solidFill>
                <a:latin typeface="Arial"/>
                <a:ea typeface="Arial"/>
                <a:cs typeface="Arial"/>
              </a:rPr>
              <a:t>9 core MT genes ↑ in both</a:t>
            </a:r>
          </a:p>
        </p:txBody>
      </p:sp>
      <p:sp>
        <p:nvSpPr>
          <p:cNvPr id="7" name="Rounded Rectangle 6">
            <a:extLst>
              <a:ext uri="{FF2B5EF4-FFF2-40B4-BE49-F238E27FC236}">
                <a16:creationId xmlns:a16="http://schemas.microsoft.com/office/drawing/2014/main" id="{574FAC51-7F33-40DB-AE27-D43AFD85E769}"/>
              </a:ext>
            </a:extLst>
          </p:cNvPr>
          <p:cNvSpPr>
            <a:spLocks noGrp="1"/>
          </p:cNvSpPr>
          <p:nvPr/>
        </p:nvSpPr>
        <p:spPr>
          <a:xfrm>
            <a:off x="950976"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20E6F877-FE86-45C8-84AA-40630E895549}"/>
              </a:ext>
            </a:extLst>
          </p:cNvPr>
          <p:cNvSpPr>
            <a:spLocks noGrp="1"/>
          </p:cNvSpPr>
          <p:nvPr/>
        </p:nvSpPr>
        <p:spPr>
          <a:xfrm>
            <a:off x="1042416" y="2368296"/>
            <a:ext cx="1143000"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00" b="1" i="0">
                <a:solidFill>
                  <a:srgbClr val="0072B2"/>
                </a:solidFill>
                <a:latin typeface="Arial"/>
                <a:ea typeface="Arial"/>
                <a:cs typeface="Arial"/>
              </a:rPr>
              <a:t>MT-ATP6</a:t>
            </a:r>
          </a:p>
        </p:txBody>
      </p:sp>
      <p:sp>
        <p:nvSpPr>
          <p:cNvPr id="9" name="Rounded Rectangle 8">
            <a:extLst>
              <a:ext uri="{FF2B5EF4-FFF2-40B4-BE49-F238E27FC236}">
                <a16:creationId xmlns:a16="http://schemas.microsoft.com/office/drawing/2014/main" id="{5BBFD0A2-393E-4060-9F36-FD8B6C9BFA65}"/>
              </a:ext>
            </a:extLst>
          </p:cNvPr>
          <p:cNvSpPr>
            <a:spLocks noGrp="1"/>
          </p:cNvSpPr>
          <p:nvPr/>
        </p:nvSpPr>
        <p:spPr>
          <a:xfrm>
            <a:off x="2478024"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E3E93762-9440-458A-8CFC-05D7BA1BFC2D}"/>
              </a:ext>
            </a:extLst>
          </p:cNvPr>
          <p:cNvSpPr>
            <a:spLocks noGrp="1"/>
          </p:cNvSpPr>
          <p:nvPr/>
        </p:nvSpPr>
        <p:spPr>
          <a:xfrm>
            <a:off x="2569464" y="2368296"/>
            <a:ext cx="1143000"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00" b="1" i="0">
                <a:solidFill>
                  <a:srgbClr val="0072B2"/>
                </a:solidFill>
                <a:latin typeface="Arial"/>
                <a:ea typeface="Arial"/>
                <a:cs typeface="Arial"/>
              </a:rPr>
              <a:t>MT-CO2</a:t>
            </a:r>
          </a:p>
        </p:txBody>
      </p:sp>
      <p:sp>
        <p:nvSpPr>
          <p:cNvPr id="11" name="Rounded Rectangle 10">
            <a:extLst>
              <a:ext uri="{FF2B5EF4-FFF2-40B4-BE49-F238E27FC236}">
                <a16:creationId xmlns:a16="http://schemas.microsoft.com/office/drawing/2014/main" id="{1171B2B7-9E0A-4A84-8B7F-BA91C1AB4279}"/>
              </a:ext>
            </a:extLst>
          </p:cNvPr>
          <p:cNvSpPr>
            <a:spLocks noGrp="1"/>
          </p:cNvSpPr>
          <p:nvPr/>
        </p:nvSpPr>
        <p:spPr>
          <a:xfrm>
            <a:off x="4005072"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B3EC02D-C44E-4392-BB9E-1AA71DDB5D93}"/>
              </a:ext>
            </a:extLst>
          </p:cNvPr>
          <p:cNvSpPr>
            <a:spLocks noGrp="1"/>
          </p:cNvSpPr>
          <p:nvPr/>
        </p:nvSpPr>
        <p:spPr>
          <a:xfrm>
            <a:off x="4096511" y="2368296"/>
            <a:ext cx="1143000"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00" b="1" i="0">
                <a:solidFill>
                  <a:srgbClr val="0072B2"/>
                </a:solidFill>
                <a:latin typeface="Arial"/>
                <a:ea typeface="Arial"/>
                <a:cs typeface="Arial"/>
              </a:rPr>
              <a:t>MT-CO3</a:t>
            </a:r>
          </a:p>
        </p:txBody>
      </p:sp>
      <p:sp>
        <p:nvSpPr>
          <p:cNvPr id="13" name="Rounded Rectangle 12">
            <a:extLst>
              <a:ext uri="{FF2B5EF4-FFF2-40B4-BE49-F238E27FC236}">
                <a16:creationId xmlns:a16="http://schemas.microsoft.com/office/drawing/2014/main" id="{C8783C2B-A917-46AB-A1EE-C734B385F2E4}"/>
              </a:ext>
            </a:extLst>
          </p:cNvPr>
          <p:cNvSpPr>
            <a:spLocks noGrp="1"/>
          </p:cNvSpPr>
          <p:nvPr/>
        </p:nvSpPr>
        <p:spPr>
          <a:xfrm>
            <a:off x="950976"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DED2432E-722A-42AA-A1E2-8B74EE2A28D8}"/>
              </a:ext>
            </a:extLst>
          </p:cNvPr>
          <p:cNvSpPr>
            <a:spLocks noGrp="1"/>
          </p:cNvSpPr>
          <p:nvPr/>
        </p:nvSpPr>
        <p:spPr>
          <a:xfrm>
            <a:off x="1042416" y="3118103"/>
            <a:ext cx="1143000"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00" b="1" i="0">
                <a:solidFill>
                  <a:srgbClr val="0072B2"/>
                </a:solidFill>
                <a:latin typeface="Arial"/>
                <a:ea typeface="Arial"/>
                <a:cs typeface="Arial"/>
              </a:rPr>
              <a:t>MT-CYB</a:t>
            </a:r>
          </a:p>
        </p:txBody>
      </p:sp>
      <p:sp>
        <p:nvSpPr>
          <p:cNvPr id="15" name="Rounded Rectangle 14">
            <a:extLst>
              <a:ext uri="{FF2B5EF4-FFF2-40B4-BE49-F238E27FC236}">
                <a16:creationId xmlns:a16="http://schemas.microsoft.com/office/drawing/2014/main" id="{BDF2196C-1BD1-4FF0-B623-2E82FCDEC8C3}"/>
              </a:ext>
            </a:extLst>
          </p:cNvPr>
          <p:cNvSpPr>
            <a:spLocks noGrp="1"/>
          </p:cNvSpPr>
          <p:nvPr/>
        </p:nvSpPr>
        <p:spPr>
          <a:xfrm>
            <a:off x="2478024"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091A08BF-16AF-4B58-A566-0552A3C0164B}"/>
              </a:ext>
            </a:extLst>
          </p:cNvPr>
          <p:cNvSpPr>
            <a:spLocks noGrp="1"/>
          </p:cNvSpPr>
          <p:nvPr/>
        </p:nvSpPr>
        <p:spPr>
          <a:xfrm>
            <a:off x="2569464" y="3118103"/>
            <a:ext cx="1143000"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00" b="1" i="0">
                <a:solidFill>
                  <a:srgbClr val="0072B2"/>
                </a:solidFill>
                <a:latin typeface="Arial"/>
                <a:ea typeface="Arial"/>
                <a:cs typeface="Arial"/>
              </a:rPr>
              <a:t>MT-ND1</a:t>
            </a:r>
          </a:p>
        </p:txBody>
      </p:sp>
      <p:sp>
        <p:nvSpPr>
          <p:cNvPr id="17" name="Rounded Rectangle 16">
            <a:extLst>
              <a:ext uri="{FF2B5EF4-FFF2-40B4-BE49-F238E27FC236}">
                <a16:creationId xmlns:a16="http://schemas.microsoft.com/office/drawing/2014/main" id="{A09B3222-631D-4C02-BD7C-C8B4F6716921}"/>
              </a:ext>
            </a:extLst>
          </p:cNvPr>
          <p:cNvSpPr>
            <a:spLocks noGrp="1"/>
          </p:cNvSpPr>
          <p:nvPr/>
        </p:nvSpPr>
        <p:spPr>
          <a:xfrm>
            <a:off x="4005072"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A70FDBD-B0EE-475D-B398-3015AEA676E3}"/>
              </a:ext>
            </a:extLst>
          </p:cNvPr>
          <p:cNvSpPr>
            <a:spLocks noGrp="1"/>
          </p:cNvSpPr>
          <p:nvPr/>
        </p:nvSpPr>
        <p:spPr>
          <a:xfrm>
            <a:off x="4096511" y="3118103"/>
            <a:ext cx="1143000"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00" b="1" i="0">
                <a:solidFill>
                  <a:srgbClr val="0072B2"/>
                </a:solidFill>
                <a:latin typeface="Arial"/>
                <a:ea typeface="Arial"/>
                <a:cs typeface="Arial"/>
              </a:rPr>
              <a:t>MT-ND2</a:t>
            </a:r>
          </a:p>
        </p:txBody>
      </p:sp>
      <p:sp>
        <p:nvSpPr>
          <p:cNvPr id="19" name="Rounded Rectangle 18">
            <a:extLst>
              <a:ext uri="{FF2B5EF4-FFF2-40B4-BE49-F238E27FC236}">
                <a16:creationId xmlns:a16="http://schemas.microsoft.com/office/drawing/2014/main" id="{9E4EDCEE-330A-4C30-B731-B4AFFDA016A9}"/>
              </a:ext>
            </a:extLst>
          </p:cNvPr>
          <p:cNvSpPr>
            <a:spLocks noGrp="1"/>
          </p:cNvSpPr>
          <p:nvPr/>
        </p:nvSpPr>
        <p:spPr>
          <a:xfrm>
            <a:off x="950976"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93B357DB-153B-4294-B85A-B8EB8A00302C}"/>
              </a:ext>
            </a:extLst>
          </p:cNvPr>
          <p:cNvSpPr>
            <a:spLocks noGrp="1"/>
          </p:cNvSpPr>
          <p:nvPr/>
        </p:nvSpPr>
        <p:spPr>
          <a:xfrm>
            <a:off x="1042416" y="3867912"/>
            <a:ext cx="1143000"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00" b="1" i="0">
                <a:solidFill>
                  <a:srgbClr val="0072B2"/>
                </a:solidFill>
                <a:latin typeface="Arial"/>
                <a:ea typeface="Arial"/>
                <a:cs typeface="Arial"/>
              </a:rPr>
              <a:t>MT-ND3</a:t>
            </a:r>
          </a:p>
        </p:txBody>
      </p:sp>
      <p:sp>
        <p:nvSpPr>
          <p:cNvPr id="21" name="Rounded Rectangle 20">
            <a:extLst>
              <a:ext uri="{FF2B5EF4-FFF2-40B4-BE49-F238E27FC236}">
                <a16:creationId xmlns:a16="http://schemas.microsoft.com/office/drawing/2014/main" id="{DCA6CB8D-35EC-45D1-B544-B245023B6A11}"/>
              </a:ext>
            </a:extLst>
          </p:cNvPr>
          <p:cNvSpPr>
            <a:spLocks noGrp="1"/>
          </p:cNvSpPr>
          <p:nvPr/>
        </p:nvSpPr>
        <p:spPr>
          <a:xfrm>
            <a:off x="2478024"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30CB0331-FFB8-4D19-87C8-C8EB747B2B72}"/>
              </a:ext>
            </a:extLst>
          </p:cNvPr>
          <p:cNvSpPr>
            <a:spLocks noGrp="1"/>
          </p:cNvSpPr>
          <p:nvPr/>
        </p:nvSpPr>
        <p:spPr>
          <a:xfrm>
            <a:off x="2569464" y="3867912"/>
            <a:ext cx="1143000"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00" b="1" i="0">
                <a:solidFill>
                  <a:srgbClr val="0072B2"/>
                </a:solidFill>
                <a:latin typeface="Arial"/>
                <a:ea typeface="Arial"/>
                <a:cs typeface="Arial"/>
              </a:rPr>
              <a:t>MT-ND4</a:t>
            </a:r>
          </a:p>
        </p:txBody>
      </p:sp>
      <p:sp>
        <p:nvSpPr>
          <p:cNvPr id="23" name="Rounded Rectangle 22">
            <a:extLst>
              <a:ext uri="{FF2B5EF4-FFF2-40B4-BE49-F238E27FC236}">
                <a16:creationId xmlns:a16="http://schemas.microsoft.com/office/drawing/2014/main" id="{04029D47-3EA5-4D85-9276-1AC2B5CC904A}"/>
              </a:ext>
            </a:extLst>
          </p:cNvPr>
          <p:cNvSpPr>
            <a:spLocks noGrp="1"/>
          </p:cNvSpPr>
          <p:nvPr/>
        </p:nvSpPr>
        <p:spPr>
          <a:xfrm>
            <a:off x="4005072"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A0A26401-7BFB-4C8F-9EA3-C4B6F0E212CA}"/>
              </a:ext>
            </a:extLst>
          </p:cNvPr>
          <p:cNvSpPr>
            <a:spLocks noGrp="1"/>
          </p:cNvSpPr>
          <p:nvPr/>
        </p:nvSpPr>
        <p:spPr>
          <a:xfrm>
            <a:off x="4096511" y="3867912"/>
            <a:ext cx="1143000"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00" b="1" i="0">
                <a:solidFill>
                  <a:srgbClr val="0072B2"/>
                </a:solidFill>
                <a:latin typeface="Arial"/>
                <a:ea typeface="Arial"/>
                <a:cs typeface="Arial"/>
              </a:rPr>
              <a:t>MT-ND4L</a:t>
            </a:r>
          </a:p>
        </p:txBody>
      </p:sp>
      <p:sp>
        <p:nvSpPr>
          <p:cNvPr id="25" name="Rounded Rectangle 24">
            <a:extLst>
              <a:ext uri="{FF2B5EF4-FFF2-40B4-BE49-F238E27FC236}">
                <a16:creationId xmlns:a16="http://schemas.microsoft.com/office/drawing/2014/main" id="{20673662-2E76-4EEE-AD3E-DBC5A8F792CC}"/>
              </a:ext>
            </a:extLst>
          </p:cNvPr>
          <p:cNvSpPr>
            <a:spLocks noGrp="1"/>
          </p:cNvSpPr>
          <p:nvPr/>
        </p:nvSpPr>
        <p:spPr>
          <a:xfrm>
            <a:off x="6236208" y="1353312"/>
            <a:ext cx="5303520" cy="3602736"/>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BA34ED79-956B-413D-B5CE-FEFFF8D61234}"/>
              </a:ext>
            </a:extLst>
          </p:cNvPr>
          <p:cNvSpPr>
            <a:spLocks noGrp="1"/>
          </p:cNvSpPr>
          <p:nvPr/>
        </p:nvSpPr>
        <p:spPr>
          <a:xfrm>
            <a:off x="6528816" y="169164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ECCD7B4-D946-4D83-A898-FA961ED119BE}"/>
              </a:ext>
            </a:extLst>
          </p:cNvPr>
          <p:cNvSpPr>
            <a:spLocks noGrp="1"/>
          </p:cNvSpPr>
          <p:nvPr/>
        </p:nvSpPr>
        <p:spPr>
          <a:xfrm>
            <a:off x="6675120" y="1664208"/>
            <a:ext cx="4535424" cy="32918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520" b="1" i="0">
                <a:solidFill>
                  <a:srgbClr val="0F233D"/>
                </a:solidFill>
                <a:latin typeface="Arial"/>
                <a:ea typeface="Arial"/>
                <a:cs typeface="Arial"/>
              </a:rPr>
              <a:t>8 nuclear-encoded MitoCarta MT genes ↓ in both</a:t>
            </a:r>
          </a:p>
        </p:txBody>
      </p:sp>
      <p:sp>
        <p:nvSpPr>
          <p:cNvPr id="28" name="Rounded Rectangle 27">
            <a:extLst>
              <a:ext uri="{FF2B5EF4-FFF2-40B4-BE49-F238E27FC236}">
                <a16:creationId xmlns:a16="http://schemas.microsoft.com/office/drawing/2014/main" id="{FAA68ABB-712A-45AE-862F-5D741259402E}"/>
              </a:ext>
            </a:extLst>
          </p:cNvPr>
          <p:cNvSpPr>
            <a:spLocks noGrp="1"/>
          </p:cNvSpPr>
          <p:nvPr/>
        </p:nvSpPr>
        <p:spPr>
          <a:xfrm>
            <a:off x="6565392" y="2139696"/>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CE661190-7927-4A73-8473-F125B946518C}"/>
              </a:ext>
            </a:extLst>
          </p:cNvPr>
          <p:cNvSpPr>
            <a:spLocks noGrp="1"/>
          </p:cNvSpPr>
          <p:nvPr/>
        </p:nvSpPr>
        <p:spPr>
          <a:xfrm>
            <a:off x="6656831" y="2240279"/>
            <a:ext cx="1810512"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30" b="1" i="0">
                <a:solidFill>
                  <a:srgbClr val="9E3A00"/>
                </a:solidFill>
                <a:latin typeface="Arial"/>
                <a:ea typeface="Arial"/>
                <a:cs typeface="Arial"/>
              </a:rPr>
              <a:t>UQCRFS1</a:t>
            </a:r>
          </a:p>
        </p:txBody>
      </p:sp>
      <p:sp>
        <p:nvSpPr>
          <p:cNvPr id="30" name="Rounded Rectangle 29">
            <a:extLst>
              <a:ext uri="{FF2B5EF4-FFF2-40B4-BE49-F238E27FC236}">
                <a16:creationId xmlns:a16="http://schemas.microsoft.com/office/drawing/2014/main" id="{BBABDB61-D35F-4ED9-994F-9A0CF5B82E15}"/>
              </a:ext>
            </a:extLst>
          </p:cNvPr>
          <p:cNvSpPr>
            <a:spLocks noGrp="1"/>
          </p:cNvSpPr>
          <p:nvPr/>
        </p:nvSpPr>
        <p:spPr>
          <a:xfrm>
            <a:off x="8833104" y="2139696"/>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740B0317-278F-4347-92F7-6319EB85A48D}"/>
              </a:ext>
            </a:extLst>
          </p:cNvPr>
          <p:cNvSpPr>
            <a:spLocks noGrp="1"/>
          </p:cNvSpPr>
          <p:nvPr/>
        </p:nvSpPr>
        <p:spPr>
          <a:xfrm>
            <a:off x="8924544" y="2240279"/>
            <a:ext cx="1810512"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30" b="1" i="0">
                <a:solidFill>
                  <a:srgbClr val="9E3A00"/>
                </a:solidFill>
                <a:latin typeface="Arial"/>
                <a:ea typeface="Arial"/>
                <a:cs typeface="Arial"/>
              </a:rPr>
              <a:t>SLC25A5</a:t>
            </a:r>
          </a:p>
        </p:txBody>
      </p:sp>
      <p:sp>
        <p:nvSpPr>
          <p:cNvPr id="32" name="Rounded Rectangle 31">
            <a:extLst>
              <a:ext uri="{FF2B5EF4-FFF2-40B4-BE49-F238E27FC236}">
                <a16:creationId xmlns:a16="http://schemas.microsoft.com/office/drawing/2014/main" id="{1D48AAAC-0032-4DDD-83FE-48AE10AEA4C4}"/>
              </a:ext>
            </a:extLst>
          </p:cNvPr>
          <p:cNvSpPr>
            <a:spLocks noGrp="1"/>
          </p:cNvSpPr>
          <p:nvPr/>
        </p:nvSpPr>
        <p:spPr>
          <a:xfrm>
            <a:off x="6565392" y="2761488"/>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E53ADCE1-CA88-4B3F-80B5-7456C4A245FC}"/>
              </a:ext>
            </a:extLst>
          </p:cNvPr>
          <p:cNvSpPr>
            <a:spLocks noGrp="1"/>
          </p:cNvSpPr>
          <p:nvPr/>
        </p:nvSpPr>
        <p:spPr>
          <a:xfrm>
            <a:off x="6656831" y="2862072"/>
            <a:ext cx="1810512"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30" b="1" i="0">
                <a:solidFill>
                  <a:srgbClr val="9E3A00"/>
                </a:solidFill>
                <a:latin typeface="Arial"/>
                <a:ea typeface="Arial"/>
                <a:cs typeface="Arial"/>
              </a:rPr>
              <a:t>TIMM13</a:t>
            </a:r>
          </a:p>
        </p:txBody>
      </p:sp>
      <p:sp>
        <p:nvSpPr>
          <p:cNvPr id="34" name="Rounded Rectangle 33">
            <a:extLst>
              <a:ext uri="{FF2B5EF4-FFF2-40B4-BE49-F238E27FC236}">
                <a16:creationId xmlns:a16="http://schemas.microsoft.com/office/drawing/2014/main" id="{A6ED0EB4-CC97-4758-9DE0-4B394B4EE270}"/>
              </a:ext>
            </a:extLst>
          </p:cNvPr>
          <p:cNvSpPr>
            <a:spLocks noGrp="1"/>
          </p:cNvSpPr>
          <p:nvPr/>
        </p:nvSpPr>
        <p:spPr>
          <a:xfrm>
            <a:off x="8833104" y="2761488"/>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0E25720A-91FC-49D1-8D91-9088C37BC187}"/>
              </a:ext>
            </a:extLst>
          </p:cNvPr>
          <p:cNvSpPr>
            <a:spLocks noGrp="1"/>
          </p:cNvSpPr>
          <p:nvPr/>
        </p:nvSpPr>
        <p:spPr>
          <a:xfrm>
            <a:off x="8924544" y="2862072"/>
            <a:ext cx="1810512"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30" b="1" i="0">
                <a:solidFill>
                  <a:srgbClr val="9E3A00"/>
                </a:solidFill>
                <a:latin typeface="Arial"/>
                <a:ea typeface="Arial"/>
                <a:cs typeface="Arial"/>
              </a:rPr>
              <a:t>TIMM17A</a:t>
            </a:r>
          </a:p>
        </p:txBody>
      </p:sp>
      <p:sp>
        <p:nvSpPr>
          <p:cNvPr id="36" name="Rounded Rectangle 35">
            <a:extLst>
              <a:ext uri="{FF2B5EF4-FFF2-40B4-BE49-F238E27FC236}">
                <a16:creationId xmlns:a16="http://schemas.microsoft.com/office/drawing/2014/main" id="{8D0EAADA-EA66-48E7-B3F4-1F04C0904F51}"/>
              </a:ext>
            </a:extLst>
          </p:cNvPr>
          <p:cNvSpPr>
            <a:spLocks noGrp="1"/>
          </p:cNvSpPr>
          <p:nvPr/>
        </p:nvSpPr>
        <p:spPr>
          <a:xfrm>
            <a:off x="6565392" y="3383280"/>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D73FE672-1675-4AFF-B10F-F3C3DA4C0FD6}"/>
              </a:ext>
            </a:extLst>
          </p:cNvPr>
          <p:cNvSpPr>
            <a:spLocks noGrp="1"/>
          </p:cNvSpPr>
          <p:nvPr/>
        </p:nvSpPr>
        <p:spPr>
          <a:xfrm>
            <a:off x="6656831" y="3483864"/>
            <a:ext cx="1810512"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30" b="1" i="0">
                <a:solidFill>
                  <a:srgbClr val="9E3A00"/>
                </a:solidFill>
                <a:latin typeface="Arial"/>
                <a:ea typeface="Arial"/>
                <a:cs typeface="Arial"/>
              </a:rPr>
              <a:t>MRPL16</a:t>
            </a:r>
          </a:p>
        </p:txBody>
      </p:sp>
      <p:sp>
        <p:nvSpPr>
          <p:cNvPr id="38" name="Rounded Rectangle 37">
            <a:extLst>
              <a:ext uri="{FF2B5EF4-FFF2-40B4-BE49-F238E27FC236}">
                <a16:creationId xmlns:a16="http://schemas.microsoft.com/office/drawing/2014/main" id="{9465C8DE-8788-4B61-894D-1FA77641511B}"/>
              </a:ext>
            </a:extLst>
          </p:cNvPr>
          <p:cNvSpPr>
            <a:spLocks noGrp="1"/>
          </p:cNvSpPr>
          <p:nvPr/>
        </p:nvSpPr>
        <p:spPr>
          <a:xfrm>
            <a:off x="8833104" y="3383280"/>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0D14650F-E567-4F55-9B53-A70E1B67177B}"/>
              </a:ext>
            </a:extLst>
          </p:cNvPr>
          <p:cNvSpPr>
            <a:spLocks noGrp="1"/>
          </p:cNvSpPr>
          <p:nvPr/>
        </p:nvSpPr>
        <p:spPr>
          <a:xfrm>
            <a:off x="8924544" y="3483864"/>
            <a:ext cx="1810512"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30" b="1" i="0">
                <a:solidFill>
                  <a:srgbClr val="9E3A00"/>
                </a:solidFill>
                <a:latin typeface="Arial"/>
                <a:ea typeface="Arial"/>
                <a:cs typeface="Arial"/>
              </a:rPr>
              <a:t>MRPS34</a:t>
            </a:r>
          </a:p>
        </p:txBody>
      </p:sp>
      <p:sp>
        <p:nvSpPr>
          <p:cNvPr id="40" name="Rounded Rectangle 39">
            <a:extLst>
              <a:ext uri="{FF2B5EF4-FFF2-40B4-BE49-F238E27FC236}">
                <a16:creationId xmlns:a16="http://schemas.microsoft.com/office/drawing/2014/main" id="{FC6DA421-533E-419C-9152-C997B7449409}"/>
              </a:ext>
            </a:extLst>
          </p:cNvPr>
          <p:cNvSpPr>
            <a:spLocks noGrp="1"/>
          </p:cNvSpPr>
          <p:nvPr/>
        </p:nvSpPr>
        <p:spPr>
          <a:xfrm>
            <a:off x="6565392" y="4005072"/>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086D0335-838E-466D-88BE-65362C921125}"/>
              </a:ext>
            </a:extLst>
          </p:cNvPr>
          <p:cNvSpPr>
            <a:spLocks noGrp="1"/>
          </p:cNvSpPr>
          <p:nvPr/>
        </p:nvSpPr>
        <p:spPr>
          <a:xfrm>
            <a:off x="6656831" y="4105656"/>
            <a:ext cx="1810512"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30" b="1" i="0">
                <a:solidFill>
                  <a:srgbClr val="9E3A00"/>
                </a:solidFill>
                <a:latin typeface="Arial"/>
                <a:ea typeface="Arial"/>
                <a:cs typeface="Arial"/>
              </a:rPr>
              <a:t>ENDOG</a:t>
            </a:r>
          </a:p>
        </p:txBody>
      </p:sp>
      <p:sp>
        <p:nvSpPr>
          <p:cNvPr id="42" name="Rounded Rectangle 41">
            <a:extLst>
              <a:ext uri="{FF2B5EF4-FFF2-40B4-BE49-F238E27FC236}">
                <a16:creationId xmlns:a16="http://schemas.microsoft.com/office/drawing/2014/main" id="{10CD3535-2950-4B88-B210-BE54B8A346C8}"/>
              </a:ext>
            </a:extLst>
          </p:cNvPr>
          <p:cNvSpPr>
            <a:spLocks noGrp="1"/>
          </p:cNvSpPr>
          <p:nvPr/>
        </p:nvSpPr>
        <p:spPr>
          <a:xfrm>
            <a:off x="8833104" y="4005072"/>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281CBB33-160C-4C25-9404-B8B4781F70F5}"/>
              </a:ext>
            </a:extLst>
          </p:cNvPr>
          <p:cNvSpPr>
            <a:spLocks noGrp="1"/>
          </p:cNvSpPr>
          <p:nvPr/>
        </p:nvSpPr>
        <p:spPr>
          <a:xfrm>
            <a:off x="8924544" y="4105656"/>
            <a:ext cx="1810512"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30" b="1" i="0">
                <a:solidFill>
                  <a:srgbClr val="9E3A00"/>
                </a:solidFill>
                <a:latin typeface="Arial"/>
                <a:ea typeface="Arial"/>
                <a:cs typeface="Arial"/>
              </a:rPr>
              <a:t>MTCH1</a:t>
            </a:r>
          </a:p>
        </p:txBody>
      </p:sp>
      <p:sp>
        <p:nvSpPr>
          <p:cNvPr id="44" name="Rounded Rectangle 43">
            <a:extLst>
              <a:ext uri="{FF2B5EF4-FFF2-40B4-BE49-F238E27FC236}">
                <a16:creationId xmlns:a16="http://schemas.microsoft.com/office/drawing/2014/main" id="{4E440860-7147-4579-B9E0-1945D3EF1CF2}"/>
              </a:ext>
            </a:extLst>
          </p:cNvPr>
          <p:cNvSpPr>
            <a:spLocks noGrp="1"/>
          </p:cNvSpPr>
          <p:nvPr/>
        </p:nvSpPr>
        <p:spPr>
          <a:xfrm>
            <a:off x="658368" y="5230368"/>
            <a:ext cx="5285232" cy="95097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F3E5D0AC-ECBE-445D-8D6B-C4442DCF3908}"/>
              </a:ext>
            </a:extLst>
          </p:cNvPr>
          <p:cNvSpPr>
            <a:spLocks noGrp="1"/>
          </p:cNvSpPr>
          <p:nvPr/>
        </p:nvSpPr>
        <p:spPr>
          <a:xfrm>
            <a:off x="932688" y="5449824"/>
            <a:ext cx="2029968" cy="23774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00" b="1" i="0">
                <a:solidFill>
                  <a:srgbClr val="00684D"/>
                </a:solidFill>
                <a:latin typeface="Arial"/>
                <a:ea typeface="Arial"/>
                <a:cs typeface="Arial"/>
              </a:rPr>
              <a:t>Other genes with the same direction</a:t>
            </a:r>
          </a:p>
        </p:txBody>
      </p:sp>
      <p:sp>
        <p:nvSpPr>
          <p:cNvPr id="46" name="TextBox 45">
            <a:extLst>
              <a:ext uri="{FF2B5EF4-FFF2-40B4-BE49-F238E27FC236}">
                <a16:creationId xmlns:a16="http://schemas.microsoft.com/office/drawing/2014/main" id="{D8AC2C88-E4B4-4FB6-8956-990AD7AE975A}"/>
              </a:ext>
            </a:extLst>
          </p:cNvPr>
          <p:cNvSpPr>
            <a:spLocks noGrp="1"/>
          </p:cNvSpPr>
          <p:nvPr/>
        </p:nvSpPr>
        <p:spPr>
          <a:xfrm>
            <a:off x="2816352" y="5422392"/>
            <a:ext cx="2779776" cy="3108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200" b="1" i="0">
                <a:solidFill>
                  <a:srgbClr val="1F2730"/>
                </a:solidFill>
                <a:latin typeface="Arial"/>
                <a:ea typeface="Arial"/>
                <a:cs typeface="Arial"/>
              </a:rPr>
              <a:t>DBP ↓   •   PRELID2 ↑</a:t>
            </a:r>
          </a:p>
        </p:txBody>
      </p:sp>
      <p:sp>
        <p:nvSpPr>
          <p:cNvPr id="47" name="Rounded Rectangle 46">
            <a:extLst>
              <a:ext uri="{FF2B5EF4-FFF2-40B4-BE49-F238E27FC236}">
                <a16:creationId xmlns:a16="http://schemas.microsoft.com/office/drawing/2014/main" id="{663F6E21-C900-4814-90AB-BA9EE26BB292}"/>
              </a:ext>
            </a:extLst>
          </p:cNvPr>
          <p:cNvSpPr>
            <a:spLocks noGrp="1"/>
          </p:cNvSpPr>
          <p:nvPr/>
        </p:nvSpPr>
        <p:spPr>
          <a:xfrm>
            <a:off x="6236208" y="5230368"/>
            <a:ext cx="5303520" cy="95097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8" name="TextBox 47">
            <a:extLst>
              <a:ext uri="{FF2B5EF4-FFF2-40B4-BE49-F238E27FC236}">
                <a16:creationId xmlns:a16="http://schemas.microsoft.com/office/drawing/2014/main" id="{08C11003-7189-4AE0-B9A7-977E6461EB5C}"/>
              </a:ext>
            </a:extLst>
          </p:cNvPr>
          <p:cNvSpPr>
            <a:spLocks noGrp="1"/>
          </p:cNvSpPr>
          <p:nvPr/>
        </p:nvSpPr>
        <p:spPr>
          <a:xfrm>
            <a:off x="6510528" y="5449824"/>
            <a:ext cx="1773936" cy="23774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00" b="1" i="0">
                <a:solidFill>
                  <a:srgbClr val="895600"/>
                </a:solidFill>
                <a:latin typeface="Arial"/>
                <a:ea typeface="Arial"/>
                <a:cs typeface="Arial"/>
              </a:rPr>
              <a:t>3 genes with opposite directions</a:t>
            </a:r>
          </a:p>
        </p:txBody>
      </p:sp>
      <p:sp>
        <p:nvSpPr>
          <p:cNvPr id="49" name="TextBox 48">
            <a:extLst>
              <a:ext uri="{FF2B5EF4-FFF2-40B4-BE49-F238E27FC236}">
                <a16:creationId xmlns:a16="http://schemas.microsoft.com/office/drawing/2014/main" id="{D84AABC3-9771-44B1-9E16-FCE13BC2D2E5}"/>
              </a:ext>
            </a:extLst>
          </p:cNvPr>
          <p:cNvSpPr>
            <a:spLocks noGrp="1"/>
          </p:cNvSpPr>
          <p:nvPr/>
        </p:nvSpPr>
        <p:spPr>
          <a:xfrm>
            <a:off x="8174736" y="5422392"/>
            <a:ext cx="3054096" cy="3108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80" b="1" i="0">
                <a:solidFill>
                  <a:srgbClr val="1F2730"/>
                </a:solidFill>
                <a:latin typeface="Arial"/>
                <a:ea typeface="Arial"/>
                <a:cs typeface="Arial"/>
              </a:rPr>
              <a:t>HIBCH   •   ISCU   •   TMEM126B</a:t>
            </a:r>
          </a:p>
        </p:txBody>
      </p:sp>
    </p:spTree>
    <p:extLst>
      <p:ext uri="{BB962C8B-B14F-4D97-AF65-F5344CB8AC3E}">
        <p14:creationId val="1617469554"/>
      </p:ext>
    </p:extLst>
  </p:cSld>
  <p:clrMapOvr>
    <a:masterClrMapping/>
  </p:clrMapOvr>
  <p:transition/>
  <p:timing/>
</p:sld>
</file>

<file path=ppt/slides/slide6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9F89BDDB-19F9-43E6-B898-18332942BF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Why this matters: one respiratory system depends on two genomes</a:t>
            </a:r>
          </a:p>
        </p:txBody>
      </p:sp>
      <p:sp>
        <p:nvSpPr>
          <p:cNvPr id="3" name="TextBox 2">
            <a:extLst>
              <a:ext uri="{FF2B5EF4-FFF2-40B4-BE49-F238E27FC236}">
                <a16:creationId xmlns:a16="http://schemas.microsoft.com/office/drawing/2014/main" id="{C6E31DFF-652B-4442-ADF2-A5AB65F6F94A}"/>
              </a:ext>
            </a:extLst>
          </p:cNvPr>
          <p:cNvSpPr>
            <a:spLocks noGrp="1"/>
          </p:cNvSpPr>
          <p:nvPr/>
        </p:nvSpPr>
        <p:spPr>
          <a:xfrm>
            <a:off x="548640" y="930764"/>
            <a:ext cx="10927080" cy="24006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200" b="1" i="0">
                <a:latin typeface="Arial"/>
                <a:ea typeface="Arial"/>
                <a:cs typeface="Arial"/>
              </a:rPr>
              <a:t>Opposite directions in OXPHOS gene expression could challenge coordination, but the functional outcome remains unknown.</a:t>
            </a:r>
          </a:p>
        </p:txBody>
      </p:sp>
      <p:sp>
        <p:nvSpPr>
          <p:cNvPr id="4" name="Rounded Rectangle 3">
            <a:extLst>
              <a:ext uri="{FF2B5EF4-FFF2-40B4-BE49-F238E27FC236}">
                <a16:creationId xmlns:a16="http://schemas.microsoft.com/office/drawing/2014/main" id="{80FA1F4E-346A-40E9-A30B-0C83C1DD8C40}"/>
              </a:ext>
            </a:extLst>
          </p:cNvPr>
          <p:cNvSpPr>
            <a:spLocks noGrp="1"/>
          </p:cNvSpPr>
          <p:nvPr/>
        </p:nvSpPr>
        <p:spPr>
          <a:xfrm>
            <a:off x="658368" y="1444752"/>
            <a:ext cx="3456432" cy="29260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5F4915F5-1C46-40F3-8E59-A43B43378EA6}"/>
              </a:ext>
            </a:extLst>
          </p:cNvPr>
          <p:cNvSpPr>
            <a:spLocks noGrp="1"/>
          </p:cNvSpPr>
          <p:nvPr/>
        </p:nvSpPr>
        <p:spPr>
          <a:xfrm>
            <a:off x="914400" y="1755648"/>
            <a:ext cx="512064" cy="51206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B51B34E-EBD8-4101-9893-44567F046DBE}"/>
              </a:ext>
            </a:extLst>
          </p:cNvPr>
          <p:cNvSpPr>
            <a:spLocks noGrp="1"/>
          </p:cNvSpPr>
          <p:nvPr/>
        </p:nvSpPr>
        <p:spPr>
          <a:xfrm>
            <a:off x="914400" y="1874519"/>
            <a:ext cx="512064" cy="219456"/>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30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AC336E15-6B87-4A24-BC94-2175198B6CB6}"/>
              </a:ext>
            </a:extLst>
          </p:cNvPr>
          <p:cNvSpPr>
            <a:spLocks noGrp="1"/>
          </p:cNvSpPr>
          <p:nvPr/>
        </p:nvSpPr>
        <p:spPr>
          <a:xfrm>
            <a:off x="1572768" y="1773936"/>
            <a:ext cx="2249424" cy="28623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500" b="1" i="0">
                <a:solidFill>
                  <a:srgbClr val="0F233D"/>
                </a:solidFill>
                <a:latin typeface="Arial"/>
                <a:ea typeface="Arial"/>
                <a:cs typeface="Arial"/>
              </a:rPr>
              <a:t>Two genomes</a:t>
            </a:r>
          </a:p>
        </p:txBody>
      </p:sp>
      <p:sp>
        <p:nvSpPr>
          <p:cNvPr id="8" name="TextBox 7">
            <a:extLst>
              <a:ext uri="{FF2B5EF4-FFF2-40B4-BE49-F238E27FC236}">
                <a16:creationId xmlns:a16="http://schemas.microsoft.com/office/drawing/2014/main" id="{68925F42-4398-4E11-B6EF-79DA1E2328C2}"/>
              </a:ext>
            </a:extLst>
          </p:cNvPr>
          <p:cNvSpPr>
            <a:spLocks noGrp="1"/>
          </p:cNvSpPr>
          <p:nvPr/>
        </p:nvSpPr>
        <p:spPr>
          <a:xfrm>
            <a:off x="950976" y="2542032"/>
            <a:ext cx="2871216" cy="11704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160" b="0" i="0">
                <a:solidFill>
                  <a:srgbClr val="1F2730"/>
                </a:solidFill>
                <a:latin typeface="Arial"/>
                <a:ea typeface="Arial"/>
                <a:cs typeface="Arial"/>
              </a:rPr>
              <a:t>OXPHOS complexes combine proteins encoded by core MT genes and nuclear-encoded OXPHOS genes.</a:t>
            </a:r>
          </a:p>
        </p:txBody>
      </p:sp>
      <p:sp>
        <p:nvSpPr>
          <p:cNvPr id="9" name="Rounded Rectangle 8">
            <a:extLst>
              <a:ext uri="{FF2B5EF4-FFF2-40B4-BE49-F238E27FC236}">
                <a16:creationId xmlns:a16="http://schemas.microsoft.com/office/drawing/2014/main" id="{8C8F44F2-A583-41BD-8AAE-D065D0E3A44C}"/>
              </a:ext>
            </a:extLst>
          </p:cNvPr>
          <p:cNvSpPr>
            <a:spLocks noGrp="1"/>
          </p:cNvSpPr>
          <p:nvPr/>
        </p:nvSpPr>
        <p:spPr>
          <a:xfrm>
            <a:off x="4453128" y="1444752"/>
            <a:ext cx="3456432" cy="2926080"/>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Oval 9">
            <a:extLst>
              <a:ext uri="{FF2B5EF4-FFF2-40B4-BE49-F238E27FC236}">
                <a16:creationId xmlns:a16="http://schemas.microsoft.com/office/drawing/2014/main" id="{55535B3C-9025-4877-AE27-4F730F4EDCEB}"/>
              </a:ext>
            </a:extLst>
          </p:cNvPr>
          <p:cNvSpPr>
            <a:spLocks noGrp="1"/>
          </p:cNvSpPr>
          <p:nvPr/>
        </p:nvSpPr>
        <p:spPr>
          <a:xfrm>
            <a:off x="4709160" y="1755648"/>
            <a:ext cx="512064" cy="51206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7B9ADB5A-D665-478D-A4C2-D6F552769A60}"/>
              </a:ext>
            </a:extLst>
          </p:cNvPr>
          <p:cNvSpPr>
            <a:spLocks noGrp="1"/>
          </p:cNvSpPr>
          <p:nvPr/>
        </p:nvSpPr>
        <p:spPr>
          <a:xfrm>
            <a:off x="4709160" y="1874519"/>
            <a:ext cx="512064" cy="219456"/>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300" b="1" i="0">
                <a:solidFill>
                  <a:srgbClr val="FFFFFF"/>
                </a:solidFill>
                <a:latin typeface="Arial"/>
                <a:ea typeface="Arial"/>
                <a:cs typeface="Arial"/>
              </a:rPr>
              <a:t>2</a:t>
            </a:r>
          </a:p>
        </p:txBody>
      </p:sp>
      <p:sp>
        <p:nvSpPr>
          <p:cNvPr id="12" name="TextBox 11">
            <a:extLst>
              <a:ext uri="{FF2B5EF4-FFF2-40B4-BE49-F238E27FC236}">
                <a16:creationId xmlns:a16="http://schemas.microsoft.com/office/drawing/2014/main" id="{A52A05AC-F6B3-4522-9E9D-440CF3FD3009}"/>
              </a:ext>
            </a:extLst>
          </p:cNvPr>
          <p:cNvSpPr>
            <a:spLocks noGrp="1"/>
          </p:cNvSpPr>
          <p:nvPr/>
        </p:nvSpPr>
        <p:spPr>
          <a:xfrm>
            <a:off x="5367528" y="1773936"/>
            <a:ext cx="2249424" cy="43891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500" b="1" i="0">
                <a:solidFill>
                  <a:srgbClr val="0F233D"/>
                </a:solidFill>
                <a:latin typeface="Arial"/>
                <a:ea typeface="Arial"/>
                <a:cs typeface="Arial"/>
              </a:rPr>
              <a:t>Other mitochondrial processes also decrease</a:t>
            </a:r>
          </a:p>
        </p:txBody>
      </p:sp>
      <p:sp>
        <p:nvSpPr>
          <p:cNvPr id="13" name="TextBox 12">
            <a:extLst>
              <a:ext uri="{FF2B5EF4-FFF2-40B4-BE49-F238E27FC236}">
                <a16:creationId xmlns:a16="http://schemas.microsoft.com/office/drawing/2014/main" id="{737F4522-E85C-4374-8AFE-3C93CC6427A3}"/>
              </a:ext>
            </a:extLst>
          </p:cNvPr>
          <p:cNvSpPr>
            <a:spLocks noGrp="1"/>
          </p:cNvSpPr>
          <p:nvPr/>
        </p:nvSpPr>
        <p:spPr>
          <a:xfrm>
            <a:off x="4745736" y="2542032"/>
            <a:ext cx="2871216" cy="11704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160" b="0" i="0">
                <a:solidFill>
                  <a:srgbClr val="1F2730"/>
                </a:solidFill>
                <a:latin typeface="Arial"/>
                <a:ea typeface="Arial"/>
                <a:cs typeface="Arial"/>
              </a:rPr>
              <a:t>Genes for protein import, mitochondrial ribosomes, metabolite transport, and DNA/RNA maintenance are down in both cohorts.</a:t>
            </a:r>
          </a:p>
        </p:txBody>
      </p:sp>
      <p:sp>
        <p:nvSpPr>
          <p:cNvPr id="14" name="Rounded Rectangle 13">
            <a:extLst>
              <a:ext uri="{FF2B5EF4-FFF2-40B4-BE49-F238E27FC236}">
                <a16:creationId xmlns:a16="http://schemas.microsoft.com/office/drawing/2014/main" id="{4E5AE5C1-CACE-4CDD-BA6B-58AFC97688E0}"/>
              </a:ext>
            </a:extLst>
          </p:cNvPr>
          <p:cNvSpPr>
            <a:spLocks noGrp="1"/>
          </p:cNvSpPr>
          <p:nvPr/>
        </p:nvSpPr>
        <p:spPr>
          <a:xfrm>
            <a:off x="8247888" y="1444752"/>
            <a:ext cx="3456432" cy="29260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Oval 14">
            <a:extLst>
              <a:ext uri="{FF2B5EF4-FFF2-40B4-BE49-F238E27FC236}">
                <a16:creationId xmlns:a16="http://schemas.microsoft.com/office/drawing/2014/main" id="{3C73238A-1805-4B14-9818-C3823CA03A84}"/>
              </a:ext>
            </a:extLst>
          </p:cNvPr>
          <p:cNvSpPr>
            <a:spLocks noGrp="1"/>
          </p:cNvSpPr>
          <p:nvPr/>
        </p:nvSpPr>
        <p:spPr>
          <a:xfrm>
            <a:off x="8503920" y="1755648"/>
            <a:ext cx="512064" cy="51206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3937DE2F-CA42-4B1A-BBD9-9BDE6CE438CA}"/>
              </a:ext>
            </a:extLst>
          </p:cNvPr>
          <p:cNvSpPr>
            <a:spLocks noGrp="1"/>
          </p:cNvSpPr>
          <p:nvPr/>
        </p:nvSpPr>
        <p:spPr>
          <a:xfrm>
            <a:off x="8503920" y="1874519"/>
            <a:ext cx="512064" cy="219456"/>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300" b="1" i="0">
                <a:solidFill>
                  <a:srgbClr val="FFFFFF"/>
                </a:solidFill>
                <a:latin typeface="Arial"/>
                <a:ea typeface="Arial"/>
                <a:cs typeface="Arial"/>
              </a:rPr>
              <a:t>3</a:t>
            </a:r>
          </a:p>
        </p:txBody>
      </p:sp>
      <p:sp>
        <p:nvSpPr>
          <p:cNvPr id="17" name="TextBox 16">
            <a:extLst>
              <a:ext uri="{FF2B5EF4-FFF2-40B4-BE49-F238E27FC236}">
                <a16:creationId xmlns:a16="http://schemas.microsoft.com/office/drawing/2014/main" id="{C903F3CC-926C-4B85-B76F-E6FC31B3195D}"/>
              </a:ext>
            </a:extLst>
          </p:cNvPr>
          <p:cNvSpPr>
            <a:spLocks noGrp="1"/>
          </p:cNvSpPr>
          <p:nvPr/>
        </p:nvSpPr>
        <p:spPr>
          <a:xfrm>
            <a:off x="9162288" y="1773936"/>
            <a:ext cx="2249424" cy="43891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500" b="1" i="0">
                <a:solidFill>
                  <a:srgbClr val="0F233D"/>
                </a:solidFill>
                <a:latin typeface="Arial"/>
                <a:ea typeface="Arial"/>
                <a:cs typeface="Arial"/>
              </a:rPr>
              <a:t>Possible cellular strain</a:t>
            </a:r>
          </a:p>
        </p:txBody>
      </p:sp>
      <p:sp>
        <p:nvSpPr>
          <p:cNvPr id="18" name="TextBox 17">
            <a:extLst>
              <a:ext uri="{FF2B5EF4-FFF2-40B4-BE49-F238E27FC236}">
                <a16:creationId xmlns:a16="http://schemas.microsoft.com/office/drawing/2014/main" id="{B5EE971D-CCA3-40AB-B239-DC9FA51E5711}"/>
              </a:ext>
            </a:extLst>
          </p:cNvPr>
          <p:cNvSpPr>
            <a:spLocks noGrp="1"/>
          </p:cNvSpPr>
          <p:nvPr/>
        </p:nvSpPr>
        <p:spPr>
          <a:xfrm>
            <a:off x="8540496" y="2542032"/>
            <a:ext cx="2871216" cy="11704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160" b="0" i="0">
                <a:solidFill>
                  <a:srgbClr val="1F2730"/>
                </a:solidFill>
                <a:latin typeface="Arial"/>
                <a:ea typeface="Arial"/>
                <a:cs typeface="Arial"/>
              </a:rPr>
              <a:t>The pattern could reflect compensation, unassembled parts, altered cell state, or mitochondrial stress.</a:t>
            </a:r>
          </a:p>
        </p:txBody>
      </p:sp>
      <p:sp>
        <p:nvSpPr>
          <p:cNvPr id="19" name="Rounded Rectangle 18">
            <a:extLst>
              <a:ext uri="{FF2B5EF4-FFF2-40B4-BE49-F238E27FC236}">
                <a16:creationId xmlns:a16="http://schemas.microsoft.com/office/drawing/2014/main" id="{A96C6193-504C-4278-BE8F-B54E3187356F}"/>
              </a:ext>
            </a:extLst>
          </p:cNvPr>
          <p:cNvSpPr>
            <a:spLocks noGrp="1"/>
          </p:cNvSpPr>
          <p:nvPr/>
        </p:nvSpPr>
        <p:spPr>
          <a:xfrm>
            <a:off x="658368" y="4736592"/>
            <a:ext cx="10881360" cy="1042415"/>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44DB96F8-B5A0-4FA3-808C-4E1766C0D259}"/>
              </a:ext>
            </a:extLst>
          </p:cNvPr>
          <p:cNvSpPr>
            <a:spLocks noGrp="1"/>
          </p:cNvSpPr>
          <p:nvPr/>
        </p:nvSpPr>
        <p:spPr>
          <a:xfrm>
            <a:off x="896112" y="4992624"/>
            <a:ext cx="2194560" cy="27432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200" b="1" i="0">
                <a:solidFill>
                  <a:srgbClr val="9E3A00"/>
                </a:solidFill>
                <a:latin typeface="Arial"/>
                <a:ea typeface="Arial"/>
                <a:cs typeface="Arial"/>
              </a:rPr>
              <a:t>Most cautious interpretation</a:t>
            </a:r>
          </a:p>
        </p:txBody>
      </p:sp>
      <p:sp>
        <p:nvSpPr>
          <p:cNvPr id="21" name="TextBox 20">
            <a:extLst>
              <a:ext uri="{FF2B5EF4-FFF2-40B4-BE49-F238E27FC236}">
                <a16:creationId xmlns:a16="http://schemas.microsoft.com/office/drawing/2014/main" id="{C4612D2D-EB94-410E-98BE-66523814461D}"/>
              </a:ext>
            </a:extLst>
          </p:cNvPr>
          <p:cNvSpPr>
            <a:spLocks noGrp="1"/>
          </p:cNvSpPr>
          <p:nvPr/>
        </p:nvSpPr>
        <p:spPr>
          <a:xfrm>
            <a:off x="3246120" y="4882896"/>
            <a:ext cx="7836408" cy="512064"/>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360" b="1" i="0">
                <a:solidFill>
                  <a:srgbClr val="1F2730"/>
                </a:solidFill>
                <a:latin typeface="Arial"/>
                <a:ea typeface="Arial"/>
                <a:cs typeface="Arial"/>
              </a:rPr>
              <a:t>This is an RNA-level difference between the two OXPHOS gene sets, not proof that respiratory proteins or ATP production are unbalanced.</a:t>
            </a:r>
          </a:p>
        </p:txBody>
      </p:sp>
    </p:spTree>
    <p:extLst>
      <p:ext uri="{BB962C8B-B14F-4D97-AF65-F5344CB8AC3E}">
        <p14:creationId val="1344276869"/>
      </p:ext>
    </p:extLst>
  </p:cSld>
  <p:clrMapOvr>
    <a:masterClrMapping/>
  </p:clrMapOvr>
  <p:transition/>
  <p:timing/>
</p:sld>
</file>

<file path=ppt/slides/slide7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0A1E831F-9C83-460B-A9F6-F57B4FD91C2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Prior research supports the biological context, but not this exact pattern</a:t>
            </a:r>
          </a:p>
        </p:txBody>
      </p:sp>
      <p:sp>
        <p:nvSpPr>
          <p:cNvPr id="3" name="TextBox 2">
            <a:extLst>
              <a:ext uri="{FF2B5EF4-FFF2-40B4-BE49-F238E27FC236}">
                <a16:creationId xmlns:a16="http://schemas.microsoft.com/office/drawing/2014/main" id="{FFC3B33B-FA26-4DB3-90A1-C59CD3B5D429}"/>
              </a:ext>
            </a:extLst>
          </p:cNvPr>
          <p:cNvSpPr>
            <a:spLocks noGrp="1"/>
          </p:cNvSpPr>
          <p:nvPr/>
        </p:nvSpPr>
        <p:spPr>
          <a:xfrm>
            <a:off x="548640" y="892264"/>
            <a:ext cx="10927080" cy="270843"/>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00" b="1" i="0">
                <a:latin typeface="Arial"/>
                <a:ea typeface="Arial"/>
                <a:cs typeface="Arial"/>
              </a:rPr>
              <a:t>Two-genome OXPHOS biology and cell-resolved AD studies make the finding plausible without independently reproducing it.</a:t>
            </a:r>
          </a:p>
        </p:txBody>
      </p:sp>
      <p:sp>
        <p:nvSpPr>
          <p:cNvPr id="4" name="Rounded Rectangle 3">
            <a:extLst>
              <a:ext uri="{FF2B5EF4-FFF2-40B4-BE49-F238E27FC236}">
                <a16:creationId xmlns:a16="http://schemas.microsoft.com/office/drawing/2014/main" id="{F9060371-20DB-4C6A-8FCA-CF7D5B51DB8B}"/>
              </a:ext>
            </a:extLst>
          </p:cNvPr>
          <p:cNvSpPr>
            <a:spLocks noGrp="1"/>
          </p:cNvSpPr>
          <p:nvPr/>
        </p:nvSpPr>
        <p:spPr>
          <a:xfrm>
            <a:off x="658368" y="1353312"/>
            <a:ext cx="3456432" cy="4169663"/>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39C4ABF-05B2-4485-B2CB-5AC16080D05A}"/>
              </a:ext>
            </a:extLst>
          </p:cNvPr>
          <p:cNvSpPr>
            <a:spLocks noGrp="1"/>
          </p:cNvSpPr>
          <p:nvPr/>
        </p:nvSpPr>
        <p:spPr>
          <a:xfrm>
            <a:off x="932688" y="1645920"/>
            <a:ext cx="2907792" cy="27432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19" b="1" i="0">
                <a:solidFill>
                  <a:srgbClr val="0072B2"/>
                </a:solidFill>
                <a:latin typeface="Arial"/>
                <a:ea typeface="Arial"/>
                <a:cs typeface="Arial"/>
              </a:rPr>
              <a:t>Two-genome OXPHOS biology</a:t>
            </a:r>
          </a:p>
        </p:txBody>
      </p:sp>
      <p:sp>
        <p:nvSpPr>
          <p:cNvPr id="6" name="TextBox 5">
            <a:extLst>
              <a:ext uri="{FF2B5EF4-FFF2-40B4-BE49-F238E27FC236}">
                <a16:creationId xmlns:a16="http://schemas.microsoft.com/office/drawing/2014/main" id="{E4E8C0BF-18CE-4AFE-A685-EE6B952528DC}"/>
              </a:ext>
            </a:extLst>
          </p:cNvPr>
          <p:cNvSpPr>
            <a:spLocks noGrp="1"/>
          </p:cNvSpPr>
          <p:nvPr/>
        </p:nvSpPr>
        <p:spPr>
          <a:xfrm>
            <a:off x="932688" y="2231136"/>
            <a:ext cx="2907792" cy="420624"/>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400" b="1" i="0">
                <a:solidFill>
                  <a:srgbClr val="0F233D"/>
                </a:solidFill>
                <a:latin typeface="Arial"/>
                <a:ea typeface="Arial"/>
                <a:cs typeface="Arial"/>
              </a:rPr>
              <a:t>Two-genome assembly</a:t>
            </a:r>
          </a:p>
        </p:txBody>
      </p:sp>
      <p:sp>
        <p:nvSpPr>
          <p:cNvPr id="7" name="TextBox 6">
            <a:extLst>
              <a:ext uri="{FF2B5EF4-FFF2-40B4-BE49-F238E27FC236}">
                <a16:creationId xmlns:a16="http://schemas.microsoft.com/office/drawing/2014/main" id="{AFF2BC40-434D-4FBA-A545-2D12E535E323}"/>
              </a:ext>
            </a:extLst>
          </p:cNvPr>
          <p:cNvSpPr>
            <a:spLocks noGrp="1"/>
          </p:cNvSpPr>
          <p:nvPr/>
        </p:nvSpPr>
        <p:spPr>
          <a:xfrm>
            <a:off x="950976" y="2926080"/>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3449C21F-77B6-4B10-A6D6-BCE8CD5DBF86}"/>
              </a:ext>
            </a:extLst>
          </p:cNvPr>
          <p:cNvSpPr>
            <a:spLocks noGrp="1"/>
          </p:cNvSpPr>
          <p:nvPr/>
        </p:nvSpPr>
        <p:spPr>
          <a:xfrm>
            <a:off x="950976" y="3218688"/>
            <a:ext cx="2871216" cy="65836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00" b="0" i="0">
                <a:solidFill>
                  <a:srgbClr val="1F2730"/>
                </a:solidFill>
                <a:latin typeface="Arial"/>
                <a:ea typeface="Arial"/>
                <a:cs typeface="Arial"/>
              </a:rPr>
              <a:t>OXPHOS requires coordinated core MT and nuclear-encoded OXPHOS subunits.</a:t>
            </a:r>
          </a:p>
        </p:txBody>
      </p:sp>
      <p:sp>
        <p:nvSpPr>
          <p:cNvPr id="9" name="TextBox 8">
            <a:extLst>
              <a:ext uri="{FF2B5EF4-FFF2-40B4-BE49-F238E27FC236}">
                <a16:creationId xmlns:a16="http://schemas.microsoft.com/office/drawing/2014/main" id="{4601FF6A-C67F-4716-A237-7D321428E363}"/>
              </a:ext>
            </a:extLst>
          </p:cNvPr>
          <p:cNvSpPr>
            <a:spLocks noGrp="1"/>
          </p:cNvSpPr>
          <p:nvPr/>
        </p:nvSpPr>
        <p:spPr>
          <a:xfrm>
            <a:off x="950976" y="4096512"/>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B86DC17D-EE6F-4D02-827E-650F8C66C97D}"/>
              </a:ext>
            </a:extLst>
          </p:cNvPr>
          <p:cNvSpPr>
            <a:spLocks noGrp="1"/>
          </p:cNvSpPr>
          <p:nvPr/>
        </p:nvSpPr>
        <p:spPr>
          <a:xfrm>
            <a:off x="950976" y="4389120"/>
            <a:ext cx="2871216" cy="65836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70" b="0" i="0">
                <a:solidFill>
                  <a:srgbClr val="4E5A68"/>
                </a:solidFill>
                <a:latin typeface="Arial"/>
                <a:ea typeface="Arial"/>
                <a:cs typeface="Arial"/>
              </a:rPr>
              <a:t>Does not show protein imbalance in these samples.</a:t>
            </a:r>
          </a:p>
        </p:txBody>
      </p:sp>
      <p:sp>
        <p:nvSpPr>
          <p:cNvPr id="11" name="Rounded Rectangle 10">
            <a:extLst>
              <a:ext uri="{FF2B5EF4-FFF2-40B4-BE49-F238E27FC236}">
                <a16:creationId xmlns:a16="http://schemas.microsoft.com/office/drawing/2014/main" id="{0B2A38F5-FB2D-4CF3-A9F0-F457BE571D03}"/>
              </a:ext>
            </a:extLst>
          </p:cNvPr>
          <p:cNvSpPr>
            <a:spLocks noGrp="1"/>
          </p:cNvSpPr>
          <p:nvPr/>
        </p:nvSpPr>
        <p:spPr>
          <a:xfrm>
            <a:off x="4453128" y="1353312"/>
            <a:ext cx="3456432" cy="4169663"/>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C6BFD020-53F5-4564-97F4-8BD4130FC6FC}"/>
              </a:ext>
            </a:extLst>
          </p:cNvPr>
          <p:cNvSpPr>
            <a:spLocks noGrp="1"/>
          </p:cNvSpPr>
          <p:nvPr/>
        </p:nvSpPr>
        <p:spPr>
          <a:xfrm>
            <a:off x="4727448" y="1645920"/>
            <a:ext cx="2907792" cy="27432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19"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6D0A466B-8AB2-45E9-84F1-FFCD242B7E59}"/>
              </a:ext>
            </a:extLst>
          </p:cNvPr>
          <p:cNvSpPr>
            <a:spLocks noGrp="1"/>
          </p:cNvSpPr>
          <p:nvPr/>
        </p:nvSpPr>
        <p:spPr>
          <a:xfrm>
            <a:off x="4727448" y="2231136"/>
            <a:ext cx="2907792" cy="420624"/>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400" b="1" i="0">
                <a:solidFill>
                  <a:srgbClr val="0F233D"/>
                </a:solidFill>
                <a:latin typeface="Arial"/>
                <a:ea typeface="Arial"/>
                <a:cs typeface="Arial"/>
              </a:rPr>
              <a:t>Sex-aware AD networks</a:t>
            </a:r>
          </a:p>
        </p:txBody>
      </p:sp>
      <p:sp>
        <p:nvSpPr>
          <p:cNvPr id="14" name="TextBox 13">
            <a:extLst>
              <a:ext uri="{FF2B5EF4-FFF2-40B4-BE49-F238E27FC236}">
                <a16:creationId xmlns:a16="http://schemas.microsoft.com/office/drawing/2014/main" id="{586FD83A-3ACD-4F9D-A2A5-4F124A27883A}"/>
              </a:ext>
            </a:extLst>
          </p:cNvPr>
          <p:cNvSpPr>
            <a:spLocks noGrp="1"/>
          </p:cNvSpPr>
          <p:nvPr/>
        </p:nvSpPr>
        <p:spPr>
          <a:xfrm>
            <a:off x="4745736" y="2926080"/>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9EEDF50F-9447-4FD7-800B-EA90B0F6DB82}"/>
              </a:ext>
            </a:extLst>
          </p:cNvPr>
          <p:cNvSpPr>
            <a:spLocks noGrp="1"/>
          </p:cNvSpPr>
          <p:nvPr/>
        </p:nvSpPr>
        <p:spPr>
          <a:xfrm>
            <a:off x="4745736" y="3218688"/>
            <a:ext cx="2871216" cy="65836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00" b="0" i="0">
                <a:solidFill>
                  <a:srgbClr val="1F2730"/>
                </a:solidFill>
                <a:latin typeface="Arial"/>
                <a:ea typeface="Arial"/>
                <a:cs typeface="Arial"/>
              </a:rPr>
              <a:t>Supports analyzing Alzheimer’s biology separately by sex.</a:t>
            </a:r>
          </a:p>
        </p:txBody>
      </p:sp>
      <p:sp>
        <p:nvSpPr>
          <p:cNvPr id="16" name="TextBox 15">
            <a:extLst>
              <a:ext uri="{FF2B5EF4-FFF2-40B4-BE49-F238E27FC236}">
                <a16:creationId xmlns:a16="http://schemas.microsoft.com/office/drawing/2014/main" id="{6384EE38-F467-440F-9FD8-2D72FFA42C82}"/>
              </a:ext>
            </a:extLst>
          </p:cNvPr>
          <p:cNvSpPr>
            <a:spLocks noGrp="1"/>
          </p:cNvSpPr>
          <p:nvPr/>
        </p:nvSpPr>
        <p:spPr>
          <a:xfrm>
            <a:off x="4745736" y="4096512"/>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5A05C343-C7CE-4368-8C99-FBF7A2F6885F}"/>
              </a:ext>
            </a:extLst>
          </p:cNvPr>
          <p:cNvSpPr>
            <a:spLocks noGrp="1"/>
          </p:cNvSpPr>
          <p:nvPr/>
        </p:nvSpPr>
        <p:spPr>
          <a:xfrm>
            <a:off x="4745736" y="4389120"/>
            <a:ext cx="2871216" cy="65836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70" b="0" i="0">
                <a:solidFill>
                  <a:srgbClr val="4E5A68"/>
                </a:solidFill>
                <a:latin typeface="Arial"/>
                <a:ea typeface="Arial"/>
                <a:cs typeface="Arial"/>
              </a:rPr>
              <a:t>Does not test this exact male ε3/ε3 mismatch.</a:t>
            </a:r>
          </a:p>
        </p:txBody>
      </p:sp>
      <p:sp>
        <p:nvSpPr>
          <p:cNvPr id="18" name="Rounded Rectangle 17">
            <a:extLst>
              <a:ext uri="{FF2B5EF4-FFF2-40B4-BE49-F238E27FC236}">
                <a16:creationId xmlns:a16="http://schemas.microsoft.com/office/drawing/2014/main" id="{18EF5C68-B1D9-439B-BE8C-543E06DF563B}"/>
              </a:ext>
            </a:extLst>
          </p:cNvPr>
          <p:cNvSpPr>
            <a:spLocks noGrp="1"/>
          </p:cNvSpPr>
          <p:nvPr/>
        </p:nvSpPr>
        <p:spPr>
          <a:xfrm>
            <a:off x="8247888" y="1353312"/>
            <a:ext cx="3456432" cy="4169663"/>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6B41355-BED5-4D8F-9063-8D53F6E2A4AB}"/>
              </a:ext>
            </a:extLst>
          </p:cNvPr>
          <p:cNvSpPr>
            <a:spLocks noGrp="1"/>
          </p:cNvSpPr>
          <p:nvPr/>
        </p:nvSpPr>
        <p:spPr>
          <a:xfrm>
            <a:off x="8522208" y="1645920"/>
            <a:ext cx="2907792" cy="27432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19"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C801EF30-8F56-4FC1-9D6C-63768761F467}"/>
              </a:ext>
            </a:extLst>
          </p:cNvPr>
          <p:cNvSpPr>
            <a:spLocks noGrp="1"/>
          </p:cNvSpPr>
          <p:nvPr/>
        </p:nvSpPr>
        <p:spPr>
          <a:xfrm>
            <a:off x="8522208" y="2231136"/>
            <a:ext cx="2907792" cy="420624"/>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400" b="1" i="0">
                <a:solidFill>
                  <a:srgbClr val="0F233D"/>
                </a:solidFill>
                <a:latin typeface="Arial"/>
                <a:ea typeface="Arial"/>
                <a:cs typeface="Arial"/>
              </a:rPr>
              <a:t>Cell-resolved AD responses</a:t>
            </a:r>
          </a:p>
        </p:txBody>
      </p:sp>
      <p:sp>
        <p:nvSpPr>
          <p:cNvPr id="21" name="TextBox 20">
            <a:extLst>
              <a:ext uri="{FF2B5EF4-FFF2-40B4-BE49-F238E27FC236}">
                <a16:creationId xmlns:a16="http://schemas.microsoft.com/office/drawing/2014/main" id="{E072959F-CF85-425C-9FCB-B3BFE0AF227D}"/>
              </a:ext>
            </a:extLst>
          </p:cNvPr>
          <p:cNvSpPr>
            <a:spLocks noGrp="1"/>
          </p:cNvSpPr>
          <p:nvPr/>
        </p:nvSpPr>
        <p:spPr>
          <a:xfrm>
            <a:off x="8540496" y="2926080"/>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7F8B516A-AB2C-4A36-8602-CE0E5358BFDC}"/>
              </a:ext>
            </a:extLst>
          </p:cNvPr>
          <p:cNvSpPr>
            <a:spLocks noGrp="1"/>
          </p:cNvSpPr>
          <p:nvPr/>
        </p:nvSpPr>
        <p:spPr>
          <a:xfrm>
            <a:off x="8540496" y="3218688"/>
            <a:ext cx="2871216" cy="65836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00" b="0" i="0">
                <a:solidFill>
                  <a:srgbClr val="1F2730"/>
                </a:solidFill>
                <a:latin typeface="Arial"/>
                <a:ea typeface="Arial"/>
                <a:cs typeface="Arial"/>
              </a:rPr>
              <a:t>Supports strong differences among brain cell populations.</a:t>
            </a:r>
          </a:p>
        </p:txBody>
      </p:sp>
      <p:sp>
        <p:nvSpPr>
          <p:cNvPr id="23" name="TextBox 22">
            <a:extLst>
              <a:ext uri="{FF2B5EF4-FFF2-40B4-BE49-F238E27FC236}">
                <a16:creationId xmlns:a16="http://schemas.microsoft.com/office/drawing/2014/main" id="{A6ECEF22-FABE-410D-8784-E7F2998E20A6}"/>
              </a:ext>
            </a:extLst>
          </p:cNvPr>
          <p:cNvSpPr>
            <a:spLocks noGrp="1"/>
          </p:cNvSpPr>
          <p:nvPr/>
        </p:nvSpPr>
        <p:spPr>
          <a:xfrm>
            <a:off x="8540496" y="4096512"/>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21FD359D-C558-432B-914A-593D1E0168A9}"/>
              </a:ext>
            </a:extLst>
          </p:cNvPr>
          <p:cNvSpPr>
            <a:spLocks noGrp="1"/>
          </p:cNvSpPr>
          <p:nvPr/>
        </p:nvSpPr>
        <p:spPr>
          <a:xfrm>
            <a:off x="8540496" y="4389120"/>
            <a:ext cx="2871216" cy="65836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70" b="0" i="0">
                <a:solidFill>
                  <a:srgbClr val="4E5A68"/>
                </a:solidFill>
                <a:latin typeface="Arial"/>
                <a:ea typeface="Arial"/>
                <a:cs typeface="Arial"/>
              </a:rPr>
              <a:t>Uses ROSMAP, so it is not independent replication.</a:t>
            </a:r>
          </a:p>
        </p:txBody>
      </p:sp>
      <p:sp>
        <p:nvSpPr>
          <p:cNvPr id="25" name="Rounded Rectangle 24">
            <a:extLst>
              <a:ext uri="{FF2B5EF4-FFF2-40B4-BE49-F238E27FC236}">
                <a16:creationId xmlns:a16="http://schemas.microsoft.com/office/drawing/2014/main" id="{B37725D5-7D86-4A21-A63D-7705A5353CB5}"/>
              </a:ext>
            </a:extLst>
          </p:cNvPr>
          <p:cNvSpPr>
            <a:spLocks noGrp="1"/>
          </p:cNvSpPr>
          <p:nvPr/>
        </p:nvSpPr>
        <p:spPr>
          <a:xfrm>
            <a:off x="658368" y="5742432"/>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159CF6FA-4A58-409C-9C1D-D761CE118228}"/>
              </a:ext>
            </a:extLst>
          </p:cNvPr>
          <p:cNvSpPr>
            <a:spLocks noGrp="1"/>
          </p:cNvSpPr>
          <p:nvPr/>
        </p:nvSpPr>
        <p:spPr>
          <a:xfrm>
            <a:off x="896112" y="5852160"/>
            <a:ext cx="10405872" cy="215444"/>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40" b="1" i="0">
                <a:solidFill>
                  <a:srgbClr val="7E4C9A"/>
                </a:solidFill>
                <a:latin typeface="Arial"/>
                <a:ea typeface="Arial"/>
                <a:cs typeface="Arial"/>
              </a:rPr>
              <a:t>Novelty: high. Opposite OXPHOS directions are biologically plausible, but this cross-cohort male ε3/ε3 inhibitory-neuron pattern was not identified previously.</a:t>
            </a:r>
          </a:p>
        </p:txBody>
      </p:sp>
    </p:spTree>
    <p:extLst>
      <p:ext uri="{BB962C8B-B14F-4D97-AF65-F5344CB8AC3E}">
        <p14:creationId val="697186546"/>
      </p:ext>
    </p:extLst>
  </p:cSld>
  <p:clrMapOvr>
    <a:masterClrMapping/>
  </p:clrMapOvr>
  <p:transition/>
  <p:timing/>
</p:sld>
</file>

<file path=ppt/slides/slide7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0F233D"/>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24ECE486-CA54-4977-8625-3EA1DCB44296}"/>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050" b="1" i="0">
                <a:solidFill>
                  <a:srgbClr val="E69F00"/>
                </a:solidFill>
                <a:latin typeface="Arial"/>
                <a:ea typeface="Arial"/>
                <a:cs typeface="Arial"/>
              </a:rPr>
              <a:t>FINDING 3</a:t>
            </a:r>
          </a:p>
        </p:txBody>
      </p:sp>
      <p:sp>
        <p:nvSpPr>
          <p:cNvPr id="3" name="Rectangle 2">
            <a:extLst>
              <a:ext uri="{FF2B5EF4-FFF2-40B4-BE49-F238E27FC236}">
                <a16:creationId xmlns:a16="http://schemas.microsoft.com/office/drawing/2014/main" id="{138471B2-2173-4244-8D10-17BE35E5E136}"/>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4645D77-F763-49F2-A727-2F3A58991A9F}"/>
              </a:ext>
            </a:extLst>
          </p:cNvPr>
          <p:cNvSpPr>
            <a:spLocks noGrp="1"/>
          </p:cNvSpPr>
          <p:nvPr/>
        </p:nvSpPr>
        <p:spPr>
          <a:xfrm>
            <a:off x="1078992" y="1357390"/>
            <a:ext cx="7498079" cy="732508"/>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2200" b="1" i="0">
                <a:solidFill>
                  <a:srgbClr val="FFFFFF"/>
                </a:solidFill>
                <a:latin typeface="Arial"/>
                <a:ea typeface="Arial"/>
                <a:cs typeface="Arial"/>
              </a:rPr>
              <a:t>Both core MT and nuclear-encoded OXPHOS genes were upregulated in Female APOE ε2</a:t>
            </a:r>
          </a:p>
        </p:txBody>
      </p:sp>
      <p:sp>
        <p:nvSpPr>
          <p:cNvPr id="6" name="Rounded Rectangle 5">
            <a:extLst>
              <a:ext uri="{FF2B5EF4-FFF2-40B4-BE49-F238E27FC236}">
                <a16:creationId xmlns:a16="http://schemas.microsoft.com/office/drawing/2014/main" id="{5E40BCAB-0F47-47AB-A9D0-246DD9EA3AFF}"/>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47EE485-852A-4E1F-B149-698806EE7684}"/>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42AB918F-F4EF-4C88-85CD-B16EDBBD6506}"/>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8A4456E-170C-4FFB-AC21-DF2280DD295B}"/>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278BE8F-D6C8-4B5E-9FBA-1D3C52140AE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CD5FFA43-332B-40D2-8B89-D38EFFCAB4BB}"/>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2771F0-C602-4C21-9B3E-92F904F7EF39}"/>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F40AA60-FA3E-4F24-9E55-D64A18F27189}"/>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000DDA4A-5D72-41DD-B527-A35D174524D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DD67D77-8008-4EB2-AAAF-977A95B417F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E19B0672-1812-442D-B01C-B11154BC8AB0}"/>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C0BE10BC-91E1-4F79-9CC6-930A4D220218}"/>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DCFD26F0-03BF-4B2A-B699-0CC95CEC035F}"/>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AFF45227-BD7A-4773-91B1-26BD077F7D7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Meaning, limits, literature</a:t>
            </a:r>
          </a:p>
        </p:txBody>
      </p:sp>
      <p:sp>
        <p:nvSpPr>
          <p:cNvPr id="20" name="TextBox 4">
            <a:extLst>
              <a:ext uri="{FF2B5EF4-FFF2-40B4-BE49-F238E27FC236}">
                <a16:creationId xmlns:a16="http://schemas.microsoft.com/office/drawing/2014/main" id="{9699EF05-4280-4719-BB95-E583D6653721}"/>
              </a:ext>
            </a:extLst>
          </p:cNvPr>
          <p:cNvSpPr>
            <a:spLocks noGrp="1"/>
          </p:cNvSpPr>
          <p:nvPr/>
        </p:nvSpPr>
        <p:spPr>
          <a:xfrm>
            <a:off x="1097280" y="2468880"/>
            <a:ext cx="7406640" cy="914400"/>
          </a:xfrm>
          <a:prstGeom prst="rect">
            <a:avLst/>
          </a:prstGeom>
          <a:noFill/>
          <a:ln w="0">
            <a:noFill/>
            <a:prstDash val="solid"/>
          </a:ln>
        </p:spPr>
        <p:txBody>
          <a:bodyPr wrap="square" lIns="0" tIns="0" rIns="0" bIns="0" anchor="t">
            <a:normAutofit/>
          </a:bodyPr>
          <a:lstStyle/>
          <a:p>
            <a:pPr algn="l">
              <a:defRPr sz="1350" b="1">
                <a:solidFill>
                  <a:srgbClr val="E6A700"/>
                </a:solidFill>
                <a:latin typeface="Arial"/>
                <a:ea typeface="Arial"/>
                <a:cs typeface="Arial"/>
              </a:defRPr>
            </a:pPr>
            <a:r>
              <a:rPr sz="1350" b="1">
                <a:solidFill>
                  <a:srgbClr val="E6A700"/>
                </a:solidFill>
                <a:latin typeface="Arial"/>
                <a:ea typeface="Arial"/>
                <a:cs typeface="Arial"/>
              </a:rPr>
              <a:t>Observed in: female ε2</a:t>
            </a:r>
          </a:p>
        </p:txBody>
      </p:sp>
    </p:spTree>
    <p:extLst>
      <p:ext uri="{BB962C8B-B14F-4D97-AF65-F5344CB8AC3E}">
        <p14:creationId val="1417142778"/>
      </p:ext>
    </p:extLst>
  </p:cSld>
  <p:clrMapOvr>
    <a:masterClrMapping/>
  </p:clrMapOvr>
  <p:transition/>
  <p:timing/>
</p:sld>
</file>

<file path=ppt/slides/slide7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808ADFB2-0905-45C5-8F69-3585DC82971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Female ε2 cells show higher expression of both OXPHOS gene sets in AD</a:t>
            </a:r>
          </a:p>
        </p:txBody>
      </p:sp>
      <p:sp>
        <p:nvSpPr>
          <p:cNvPr id="3" name="TextBox 2">
            <a:extLst>
              <a:ext uri="{FF2B5EF4-FFF2-40B4-BE49-F238E27FC236}">
                <a16:creationId xmlns:a16="http://schemas.microsoft.com/office/drawing/2014/main" id="{45FEE0B3-D031-42B6-AA03-FB4DA928DE3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080" b="0" i="0">
                <a:solidFill>
                  <a:srgbClr val="4E5A68"/>
                </a:solidFill>
                <a:latin typeface="Arial"/>
                <a:ea typeface="Arial"/>
                <a:cs typeface="Arial"/>
              </a:rPr>
              <a:t>The two OXPHOS gene sets move in the same direction at the RNA level, especially in fine excitatory-neuron results.</a:t>
            </a:r>
          </a:p>
        </p:txBody>
      </p:sp>
      <p:sp>
        <p:nvSpPr>
          <p:cNvPr id="4" name="Rounded Rectangle 3">
            <a:extLst>
              <a:ext uri="{FF2B5EF4-FFF2-40B4-BE49-F238E27FC236}">
                <a16:creationId xmlns:a16="http://schemas.microsoft.com/office/drawing/2014/main" id="{615CD607-31E8-4B00-8C02-834BBE7C7BD2}"/>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6C90F5E-0846-4909-9774-8333DBC3088B}"/>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4D522616-4114-4BA1-B5FD-1BF342F326A4}"/>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FB5F3E0-35DB-4F5C-8DA6-E665DF603B1F}"/>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40" b="1" i="0">
                <a:solidFill>
                  <a:srgbClr val="00684D"/>
                </a:solidFill>
                <a:latin typeface="Arial"/>
                <a:ea typeface="Arial"/>
                <a:cs typeface="Arial"/>
              </a:rPr>
              <a:t>APOE ε2</a:t>
            </a:r>
          </a:p>
        </p:txBody>
      </p:sp>
      <p:sp>
        <p:nvSpPr>
          <p:cNvPr id="8" name="Rounded Rectangle 7">
            <a:extLst>
              <a:ext uri="{FF2B5EF4-FFF2-40B4-BE49-F238E27FC236}">
                <a16:creationId xmlns:a16="http://schemas.microsoft.com/office/drawing/2014/main" id="{81AAE375-C85C-434E-9749-A1D973322FD8}"/>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0BAB63-6C86-40F0-A5CF-58DB3379316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40" b="1" i="0">
                <a:solidFill>
                  <a:srgbClr val="895600"/>
                </a:solidFill>
                <a:latin typeface="Arial"/>
                <a:ea typeface="Arial"/>
                <a:cs typeface="Arial"/>
              </a:rPr>
              <a:t>Fine cell types</a:t>
            </a:r>
          </a:p>
        </p:txBody>
      </p:sp>
      <p:sp>
        <p:nvSpPr>
          <p:cNvPr id="10" name="Rounded Rectangle 9">
            <a:extLst>
              <a:ext uri="{FF2B5EF4-FFF2-40B4-BE49-F238E27FC236}">
                <a16:creationId xmlns:a16="http://schemas.microsoft.com/office/drawing/2014/main" id="{640BB072-0DE5-4A4B-8633-40676AC2DD3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9BD09F1-B0CE-49CA-8812-B979165F134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40" b="1" i="0">
                <a:solidFill>
                  <a:srgbClr val="9E3A00"/>
                </a:solidFill>
                <a:latin typeface="Arial"/>
                <a:ea typeface="Arial"/>
                <a:cs typeface="Arial"/>
              </a:rPr>
              <a:t>AD versus no cognitive impairment</a:t>
            </a:r>
          </a:p>
        </p:txBody>
      </p:sp>
      <p:sp>
        <p:nvSpPr>
          <p:cNvPr id="12" name="Rounded Rectangle 11">
            <a:extLst>
              <a:ext uri="{FF2B5EF4-FFF2-40B4-BE49-F238E27FC236}">
                <a16:creationId xmlns:a16="http://schemas.microsoft.com/office/drawing/2014/main" id="{CCFF4350-6F05-4276-B473-B297DCE1FAF6}"/>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E6151C1-09D4-4C23-A48E-921FE70A771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72B2"/>
                </a:solidFill>
                <a:latin typeface="Arial"/>
                <a:ea typeface="Arial"/>
                <a:cs typeface="Arial"/>
              </a:rPr>
              <a:t>CORE MT GENES</a:t>
            </a:r>
          </a:p>
        </p:txBody>
      </p:sp>
      <p:sp>
        <p:nvSpPr>
          <p:cNvPr id="14" name="TextBox 13">
            <a:extLst>
              <a:ext uri="{FF2B5EF4-FFF2-40B4-BE49-F238E27FC236}">
                <a16:creationId xmlns:a16="http://schemas.microsoft.com/office/drawing/2014/main" id="{35B4C088-C07B-495E-8DE3-46A33B87E624}"/>
              </a:ext>
            </a:extLst>
          </p:cNvPr>
          <p:cNvSpPr>
            <a:spLocks noGrp="1"/>
          </p:cNvSpPr>
          <p:nvPr/>
        </p:nvSpPr>
        <p:spPr>
          <a:xfrm>
            <a:off x="932688" y="2930717"/>
            <a:ext cx="2907792" cy="301621"/>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127 of 128 </a:t>
            </a:r>
            <a:r>
              <a:rPr lang="en-US" sz="1600" b="1" i="0" err="1">
                <a:solidFill>
                  <a:srgbClr val="0F233D"/>
                </a:solidFill>
                <a:latin typeface="Arial"/>
                <a:ea typeface="Arial"/>
                <a:cs typeface="Arial"/>
              </a:rPr>
              <a:t>occurrences </a:t>
            </a:r>
            <a:r>
              <a:rPr sz="1600" b="1" i="0">
                <a:solidFill>
                  <a:srgbClr val="0F233D"/>
                </a:solidFill>
                <a:latin typeface="Arial"/>
                <a:ea typeface="Arial"/>
                <a:cs typeface="Arial"/>
              </a:rPr>
              <a:t>up</a:t>
            </a:r>
          </a:p>
        </p:txBody>
      </p:sp>
      <p:sp>
        <p:nvSpPr>
          <p:cNvPr id="15" name="TextBox 14">
            <a:extLst>
              <a:ext uri="{FF2B5EF4-FFF2-40B4-BE49-F238E27FC236}">
                <a16:creationId xmlns:a16="http://schemas.microsoft.com/office/drawing/2014/main" id="{C6F28943-3E6E-4BBB-950C-78E3CFE22210}"/>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The 13 core MT genes encode structural OXPHOS subunits.</a:t>
            </a:r>
          </a:p>
        </p:txBody>
      </p:sp>
      <p:sp>
        <p:nvSpPr>
          <p:cNvPr id="16" name="Rounded Rectangle 15">
            <a:extLst>
              <a:ext uri="{FF2B5EF4-FFF2-40B4-BE49-F238E27FC236}">
                <a16:creationId xmlns:a16="http://schemas.microsoft.com/office/drawing/2014/main" id="{B3F8FAB2-AB08-4807-999C-9A29E0EAD926}"/>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5E57DE2-C8A5-4024-AFEF-21B7B1D37A96}"/>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684D"/>
                </a:solidFill>
                <a:latin typeface="Arial"/>
                <a:ea typeface="Arial"/>
                <a:cs typeface="Arial"/>
              </a:rPr>
              <a:t>NUCLEAR-ENCODED OXPHOS</a:t>
            </a:r>
          </a:p>
        </p:txBody>
      </p:sp>
      <p:sp>
        <p:nvSpPr>
          <p:cNvPr id="18" name="TextBox 17">
            <a:extLst>
              <a:ext uri="{FF2B5EF4-FFF2-40B4-BE49-F238E27FC236}">
                <a16:creationId xmlns:a16="http://schemas.microsoft.com/office/drawing/2014/main" id="{8647837D-D3D4-4731-A23D-F871D75BEB80}"/>
              </a:ext>
            </a:extLst>
          </p:cNvPr>
          <p:cNvSpPr>
            <a:spLocks noGrp="1"/>
          </p:cNvSpPr>
          <p:nvPr/>
        </p:nvSpPr>
        <p:spPr>
          <a:xfrm>
            <a:off x="4727448" y="2930717"/>
            <a:ext cx="2907792" cy="301621"/>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239 of 243 </a:t>
            </a:r>
            <a:r>
              <a:rPr lang="en-US" sz="1600" b="1" i="0">
                <a:solidFill>
                  <a:srgbClr val="0F233D"/>
                </a:solidFill>
                <a:latin typeface="Arial"/>
                <a:ea typeface="Arial"/>
                <a:cs typeface="Arial"/>
              </a:rPr>
              <a:t>occurrences </a:t>
            </a:r>
            <a:r>
              <a:rPr sz="1600" b="1" i="0">
                <a:solidFill>
                  <a:srgbClr val="0F233D"/>
                </a:solidFill>
                <a:latin typeface="Arial"/>
                <a:ea typeface="Arial"/>
                <a:cs typeface="Arial"/>
              </a:rPr>
              <a:t>up</a:t>
            </a:r>
          </a:p>
        </p:txBody>
      </p:sp>
      <p:sp>
        <p:nvSpPr>
          <p:cNvPr id="19" name="TextBox 18">
            <a:extLst>
              <a:ext uri="{FF2B5EF4-FFF2-40B4-BE49-F238E27FC236}">
                <a16:creationId xmlns:a16="http://schemas.microsoft.com/office/drawing/2014/main" id="{81D08820-2DCE-4653-B509-0A6618C668A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The 86 nuclear-encoded OXPHOS genes supply most structural subunits.</a:t>
            </a:r>
          </a:p>
        </p:txBody>
      </p:sp>
      <p:sp>
        <p:nvSpPr>
          <p:cNvPr id="20" name="Rounded Rectangle 19">
            <a:extLst>
              <a:ext uri="{FF2B5EF4-FFF2-40B4-BE49-F238E27FC236}">
                <a16:creationId xmlns:a16="http://schemas.microsoft.com/office/drawing/2014/main" id="{C10ADB4A-6CEB-4F5C-A064-A60E535BCA5C}"/>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382F0BF-8B66-4367-B4E4-02AF2B343585}"/>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895600"/>
                </a:solidFill>
                <a:latin typeface="Arial"/>
                <a:ea typeface="Arial"/>
                <a:cs typeface="Arial"/>
              </a:rPr>
              <a:t>READING</a:t>
            </a:r>
          </a:p>
        </p:txBody>
      </p:sp>
      <p:sp>
        <p:nvSpPr>
          <p:cNvPr id="22" name="TextBox 21">
            <a:extLst>
              <a:ext uri="{FF2B5EF4-FFF2-40B4-BE49-F238E27FC236}">
                <a16:creationId xmlns:a16="http://schemas.microsoft.com/office/drawing/2014/main" id="{86755171-8733-4E22-8C19-C708562A8E36}"/>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Coordinated gene expression</a:t>
            </a:r>
          </a:p>
        </p:txBody>
      </p:sp>
      <p:sp>
        <p:nvSpPr>
          <p:cNvPr id="23" name="TextBox 22">
            <a:extLst>
              <a:ext uri="{FF2B5EF4-FFF2-40B4-BE49-F238E27FC236}">
                <a16:creationId xmlns:a16="http://schemas.microsoft.com/office/drawing/2014/main" id="{56550C95-A42B-4A0A-AF6B-EDAF263C268F}"/>
              </a:ext>
            </a:extLst>
          </p:cNvPr>
          <p:cNvSpPr>
            <a:spLocks noGrp="1"/>
          </p:cNvSpPr>
          <p:nvPr/>
        </p:nvSpPr>
        <p:spPr>
          <a:xfrm>
            <a:off x="8558784" y="4162100"/>
            <a:ext cx="2834640" cy="618631"/>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Both gene sets are upregulated together. Protein assembly and ATP </a:t>
            </a:r>
            <a:r>
              <a:rPr lang="en-US" sz="1220" b="0" i="0">
                <a:solidFill>
                  <a:srgbClr val="1F2730"/>
                </a:solidFill>
                <a:latin typeface="Arial"/>
                <a:ea typeface="Arial"/>
                <a:cs typeface="Arial"/>
              </a:rPr>
              <a:t>are not </a:t>
            </a:r>
            <a:r>
              <a:rPr sz="1220" b="0" i="0">
                <a:solidFill>
                  <a:srgbClr val="1F2730"/>
                </a:solidFill>
                <a:latin typeface="Arial"/>
                <a:ea typeface="Arial"/>
                <a:cs typeface="Arial"/>
              </a:rPr>
              <a:t>measured.</a:t>
            </a:r>
          </a:p>
        </p:txBody>
      </p:sp>
    </p:spTree>
    <p:extLst>
      <p:ext uri="{BB962C8B-B14F-4D97-AF65-F5344CB8AC3E}">
        <p14:creationId val="1783322414"/>
      </p:ext>
    </p:extLst>
  </p:cSld>
  <p:clrMapOvr>
    <a:masterClrMapping/>
  </p:clrMapOvr>
  <p:transition/>
  <p:timing/>
</p:sld>
</file>

<file path=ppt/slides/slide7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BFBC9E2C-A43A-428C-8D32-D565D0C09F7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ROSMAP: female ε2 OXPHOS occurrences are almost uniformly AD-up</a:t>
            </a:r>
          </a:p>
        </p:txBody>
      </p:sp>
      <p:sp>
        <p:nvSpPr>
          <p:cNvPr id="4" name="Rounded Rectangle 3">
            <a:extLst>
              <a:ext uri="{FF2B5EF4-FFF2-40B4-BE49-F238E27FC236}">
                <a16:creationId xmlns:a16="http://schemas.microsoft.com/office/drawing/2014/main" id="{690C6019-63E3-4A80-8A7C-577AC9655D7D}"/>
              </a:ext>
            </a:extLst>
          </p:cNvPr>
          <p:cNvSpPr>
            <a:spLocks noGrp="1"/>
          </p:cNvSpPr>
          <p:nvPr/>
        </p:nvSpPr>
        <p:spPr>
          <a:xfrm>
            <a:off x="2691561"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3979D85-AEF6-4DC8-86D5-170C6E2B4A70}"/>
              </a:ext>
            </a:extLst>
          </p:cNvPr>
          <p:cNvSpPr>
            <a:spLocks noGrp="1"/>
          </p:cNvSpPr>
          <p:nvPr/>
        </p:nvSpPr>
        <p:spPr>
          <a:xfrm>
            <a:off x="2856152" y="1453895"/>
            <a:ext cx="3127248" cy="4846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800" b="1" i="0">
                <a:solidFill>
                  <a:srgbClr val="0072B2"/>
                </a:solidFill>
                <a:latin typeface="Arial"/>
                <a:ea typeface="Arial"/>
                <a:cs typeface="Arial"/>
              </a:rPr>
              <a:t>128</a:t>
            </a:r>
          </a:p>
        </p:txBody>
      </p:sp>
      <p:sp>
        <p:nvSpPr>
          <p:cNvPr id="6" name="TextBox 5">
            <a:extLst>
              <a:ext uri="{FF2B5EF4-FFF2-40B4-BE49-F238E27FC236}">
                <a16:creationId xmlns:a16="http://schemas.microsoft.com/office/drawing/2014/main" id="{25F5AA99-A99A-4836-BDEA-BD8AA79D623E}"/>
              </a:ext>
            </a:extLst>
          </p:cNvPr>
          <p:cNvSpPr>
            <a:spLocks noGrp="1"/>
          </p:cNvSpPr>
          <p:nvPr/>
        </p:nvSpPr>
        <p:spPr>
          <a:xfrm>
            <a:off x="2856152" y="1984248"/>
            <a:ext cx="3127248" cy="3108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0024E1DE-484B-49AC-A43A-45F8CE93BB80}"/>
              </a:ext>
            </a:extLst>
          </p:cNvPr>
          <p:cNvSpPr>
            <a:spLocks noGrp="1"/>
          </p:cNvSpPr>
          <p:nvPr/>
        </p:nvSpPr>
        <p:spPr>
          <a:xfrm>
            <a:off x="2856152" y="2313432"/>
            <a:ext cx="3127248" cy="21945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880" b="0" i="0">
                <a:solidFill>
                  <a:srgbClr val="4E5A68"/>
                </a:solidFill>
                <a:latin typeface="Arial"/>
                <a:ea typeface="Arial"/>
                <a:cs typeface="Arial"/>
              </a:rPr>
              <a:t>127 up, 1 down</a:t>
            </a:r>
          </a:p>
        </p:txBody>
      </p:sp>
      <p:sp>
        <p:nvSpPr>
          <p:cNvPr id="8" name="Rounded Rectangle 7">
            <a:extLst>
              <a:ext uri="{FF2B5EF4-FFF2-40B4-BE49-F238E27FC236}">
                <a16:creationId xmlns:a16="http://schemas.microsoft.com/office/drawing/2014/main" id="{08BFA9F0-5974-463C-A027-995ECDD47DB3}"/>
              </a:ext>
            </a:extLst>
          </p:cNvPr>
          <p:cNvSpPr>
            <a:spLocks noGrp="1"/>
          </p:cNvSpPr>
          <p:nvPr/>
        </p:nvSpPr>
        <p:spPr>
          <a:xfrm>
            <a:off x="6486321"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C42CBD5-2B07-46FC-87C5-DF4702DD9054}"/>
              </a:ext>
            </a:extLst>
          </p:cNvPr>
          <p:cNvSpPr>
            <a:spLocks noGrp="1"/>
          </p:cNvSpPr>
          <p:nvPr/>
        </p:nvSpPr>
        <p:spPr>
          <a:xfrm>
            <a:off x="6650913" y="1453895"/>
            <a:ext cx="3127248" cy="4846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800" b="1" i="0">
                <a:solidFill>
                  <a:srgbClr val="00684D"/>
                </a:solidFill>
                <a:latin typeface="Arial"/>
                <a:ea typeface="Arial"/>
                <a:cs typeface="Arial"/>
              </a:rPr>
              <a:t>243</a:t>
            </a:r>
          </a:p>
        </p:txBody>
      </p:sp>
      <p:sp>
        <p:nvSpPr>
          <p:cNvPr id="10" name="TextBox 9">
            <a:extLst>
              <a:ext uri="{FF2B5EF4-FFF2-40B4-BE49-F238E27FC236}">
                <a16:creationId xmlns:a16="http://schemas.microsoft.com/office/drawing/2014/main" id="{F674C36B-A52D-4CF0-B90D-21A6784CFCB9}"/>
              </a:ext>
            </a:extLst>
          </p:cNvPr>
          <p:cNvSpPr>
            <a:spLocks noGrp="1"/>
          </p:cNvSpPr>
          <p:nvPr/>
        </p:nvSpPr>
        <p:spPr>
          <a:xfrm>
            <a:off x="6650913" y="1984248"/>
            <a:ext cx="3127248" cy="3108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6BBDB451-3509-4807-A5AC-128A5957B884}"/>
              </a:ext>
            </a:extLst>
          </p:cNvPr>
          <p:cNvSpPr>
            <a:spLocks noGrp="1"/>
          </p:cNvSpPr>
          <p:nvPr/>
        </p:nvSpPr>
        <p:spPr>
          <a:xfrm>
            <a:off x="6650913" y="2313432"/>
            <a:ext cx="3127248" cy="21945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880" b="0" i="0">
                <a:solidFill>
                  <a:srgbClr val="4E5A68"/>
                </a:solidFill>
                <a:latin typeface="Arial"/>
                <a:ea typeface="Arial"/>
                <a:cs typeface="Arial"/>
              </a:rPr>
              <a:t>239 up, 4 down</a:t>
            </a:r>
          </a:p>
        </p:txBody>
      </p:sp>
      <p:sp>
        <p:nvSpPr>
          <p:cNvPr id="16" name="Rounded Rectangle 15">
            <a:extLst>
              <a:ext uri="{FF2B5EF4-FFF2-40B4-BE49-F238E27FC236}">
                <a16:creationId xmlns:a16="http://schemas.microsoft.com/office/drawing/2014/main" id="{082648EB-DE55-4599-9CE8-1ED13F13BBB2}"/>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5D3823A-19DE-4472-860E-72CC4D79ACA7}"/>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BB547348-8D7D-4F53-8F7B-7E679F66C989}"/>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600" b="1" i="0">
                <a:solidFill>
                  <a:srgbClr val="00684D"/>
                </a:solidFill>
                <a:latin typeface="Arial"/>
                <a:ea typeface="Arial"/>
                <a:cs typeface="Arial"/>
              </a:rPr>
              <a:t>99% up</a:t>
            </a:r>
          </a:p>
        </p:txBody>
      </p:sp>
      <p:sp>
        <p:nvSpPr>
          <p:cNvPr id="19" name="TextBox 18">
            <a:extLst>
              <a:ext uri="{FF2B5EF4-FFF2-40B4-BE49-F238E27FC236}">
                <a16:creationId xmlns:a16="http://schemas.microsoft.com/office/drawing/2014/main" id="{6FF06687-1865-42AE-B585-878BF683F694}"/>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150" b="0" i="0">
                <a:solidFill>
                  <a:srgbClr val="1F2730"/>
                </a:solidFill>
                <a:latin typeface="Arial"/>
                <a:ea typeface="Arial"/>
                <a:cs typeface="Arial"/>
              </a:rPr>
              <a:t>127 AD-up and 1 AD-down occurrence across included fine-cell comparisons</a:t>
            </a:r>
          </a:p>
        </p:txBody>
      </p:sp>
      <p:sp>
        <p:nvSpPr>
          <p:cNvPr id="20" name="Rounded Rectangle 19">
            <a:extLst>
              <a:ext uri="{FF2B5EF4-FFF2-40B4-BE49-F238E27FC236}">
                <a16:creationId xmlns:a16="http://schemas.microsoft.com/office/drawing/2014/main" id="{1DBC9E74-A637-4BB2-A479-E6D6BDAF3B58}"/>
              </a:ext>
            </a:extLst>
          </p:cNvPr>
          <p:cNvSpPr>
            <a:spLocks noGrp="1"/>
          </p:cNvSpPr>
          <p:nvPr/>
        </p:nvSpPr>
        <p:spPr>
          <a:xfrm>
            <a:off x="749808" y="388620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A7F0D26-0619-47EA-A6A1-8C19ADC3A018}"/>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8C2B5561-5EC5-4B47-BB0A-B05F6D88826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600" b="1" i="0">
                <a:solidFill>
                  <a:srgbClr val="00684D"/>
                </a:solidFill>
                <a:latin typeface="Arial"/>
                <a:ea typeface="Arial"/>
                <a:cs typeface="Arial"/>
              </a:rPr>
              <a:t>98% up</a:t>
            </a:r>
          </a:p>
        </p:txBody>
      </p:sp>
      <p:sp>
        <p:nvSpPr>
          <p:cNvPr id="23" name="TextBox 22">
            <a:extLst>
              <a:ext uri="{FF2B5EF4-FFF2-40B4-BE49-F238E27FC236}">
                <a16:creationId xmlns:a16="http://schemas.microsoft.com/office/drawing/2014/main" id="{597D4E02-CBE3-4430-9468-C95E08B5BC15}"/>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150" b="0" i="0">
                <a:solidFill>
                  <a:srgbClr val="1F2730"/>
                </a:solidFill>
                <a:latin typeface="Arial"/>
                <a:ea typeface="Arial"/>
                <a:cs typeface="Arial"/>
              </a:rPr>
              <a:t>239 AD-up and 4 AD-down occurrences across included fine-cell comparisons</a:t>
            </a:r>
          </a:p>
        </p:txBody>
      </p:sp>
    </p:spTree>
    <p:extLst>
      <p:ext uri="{BB962C8B-B14F-4D97-AF65-F5344CB8AC3E}">
        <p14:creationId val="458075466"/>
      </p:ext>
    </p:extLst>
  </p:cSld>
  <p:clrMapOvr>
    <a:masterClrMapping/>
  </p:clrMapOvr>
  <p:transition/>
  <p:timing/>
</p:sld>
</file>

<file path=ppt/slides/slide7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DB1853A5-994E-46E2-BCD9-22CA9C32B780}"/>
              </a:ext>
            </a:extLst>
          </p:cNvPr>
          <p:cNvSpPr>
            <a:spLocks noGrp="1"/>
          </p:cNvSpPr>
          <p:nvPr/>
        </p:nvSpPr>
        <p:spPr>
          <a:xfrm>
            <a:off x="530352" y="292608"/>
            <a:ext cx="11064240" cy="39395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Fine-cell </a:t>
            </a:r>
            <a:r>
              <a:rPr lang="en-US" sz="2200" b="1" i="0">
                <a:solidFill>
                  <a:srgbClr val="0F233D"/>
                </a:solidFill>
                <a:latin typeface="Arial"/>
                <a:ea typeface="Arial"/>
                <a:cs typeface="Arial"/>
              </a:rPr>
              <a:t>and broad-cell </a:t>
            </a:r>
            <a:r>
              <a:rPr sz="2200" b="1" i="0">
                <a:solidFill>
                  <a:srgbClr val="0F233D"/>
                </a:solidFill>
                <a:latin typeface="Arial"/>
                <a:ea typeface="Arial"/>
                <a:cs typeface="Arial"/>
              </a:rPr>
              <a:t>evidence support</a:t>
            </a:r>
          </a:p>
        </p:txBody>
      </p:sp>
      <p:sp>
        <p:nvSpPr>
          <p:cNvPr id="4" name="Rounded Rectangle 3">
            <a:extLst>
              <a:ext uri="{FF2B5EF4-FFF2-40B4-BE49-F238E27FC236}">
                <a16:creationId xmlns:a16="http://schemas.microsoft.com/office/drawing/2014/main" id="{3A6C7F85-F045-4386-B7A4-EA6B72A70754}"/>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B52520A-0047-4427-91B1-3EE62DE3F104}"/>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684D"/>
                </a:solidFill>
                <a:latin typeface="Arial"/>
                <a:ea typeface="Arial"/>
                <a:cs typeface="Arial"/>
              </a:rPr>
              <a:t>FINE-CELL ROSMAP</a:t>
            </a:r>
          </a:p>
        </p:txBody>
      </p:sp>
      <p:sp>
        <p:nvSpPr>
          <p:cNvPr id="6" name="TextBox 5">
            <a:extLst>
              <a:ext uri="{FF2B5EF4-FFF2-40B4-BE49-F238E27FC236}">
                <a16:creationId xmlns:a16="http://schemas.microsoft.com/office/drawing/2014/main" id="{ABC276E4-FF64-4D51-AE53-9D60FB423C9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Excitatory localization</a:t>
            </a:r>
          </a:p>
        </p:txBody>
      </p:sp>
      <p:sp>
        <p:nvSpPr>
          <p:cNvPr id="7" name="TextBox 6">
            <a:extLst>
              <a:ext uri="{FF2B5EF4-FFF2-40B4-BE49-F238E27FC236}">
                <a16:creationId xmlns:a16="http://schemas.microsoft.com/office/drawing/2014/main" id="{441224C6-C4A4-4EE8-8AAB-5BF6A3FE672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Significant enrichment of upregulated genes appeared in 9 of 12 fine cell types for core MT genes and 8 of 12 for nuclear-encoded OXPHOS genes.</a:t>
            </a:r>
          </a:p>
        </p:txBody>
      </p:sp>
      <p:sp>
        <p:nvSpPr>
          <p:cNvPr id="8" name="Rounded Rectangle 7">
            <a:extLst>
              <a:ext uri="{FF2B5EF4-FFF2-40B4-BE49-F238E27FC236}">
                <a16:creationId xmlns:a16="http://schemas.microsoft.com/office/drawing/2014/main" id="{E191E617-D79A-4B13-B3AE-72E76F97CD0F}"/>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04144AD-9907-4814-B2E3-280F7CF3C2E8}"/>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895600"/>
                </a:solidFill>
                <a:latin typeface="Arial"/>
                <a:ea typeface="Arial"/>
                <a:cs typeface="Arial"/>
              </a:rPr>
              <a:t>DIRECT BROAD ROSMAP</a:t>
            </a:r>
          </a:p>
        </p:txBody>
      </p:sp>
      <p:sp>
        <p:nvSpPr>
          <p:cNvPr id="10" name="TextBox 9">
            <a:extLst>
              <a:ext uri="{FF2B5EF4-FFF2-40B4-BE49-F238E27FC236}">
                <a16:creationId xmlns:a16="http://schemas.microsoft.com/office/drawing/2014/main" id="{856D1FAC-D9FA-4090-840C-9579AFAD082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Only the nuclear side persists</a:t>
            </a:r>
          </a:p>
        </p:txBody>
      </p:sp>
      <p:sp>
        <p:nvSpPr>
          <p:cNvPr id="11" name="TextBox 10">
            <a:extLst>
              <a:ext uri="{FF2B5EF4-FFF2-40B4-BE49-F238E27FC236}">
                <a16:creationId xmlns:a16="http://schemas.microsoft.com/office/drawing/2014/main" id="{2CA38377-BFA0-4F99-B085-CDE6E588C02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Excitatory nuclear-encoded OXPHOS remained strongly up, while the core MT component was not significant.</a:t>
            </a:r>
          </a:p>
        </p:txBody>
      </p:sp>
      <p:sp>
        <p:nvSpPr>
          <p:cNvPr id="12" name="Rounded Rectangle 11">
            <a:extLst>
              <a:ext uri="{FF2B5EF4-FFF2-40B4-BE49-F238E27FC236}">
                <a16:creationId xmlns:a16="http://schemas.microsoft.com/office/drawing/2014/main" id="{5EEFC995-60E4-4876-8C6A-EADB6260D5BF}"/>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625C7E5-16CD-4D93-B551-4008E19FAD33}"/>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8914A330-5E1F-4013-B018-561B8F4493B6}"/>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No matched DEG result</a:t>
            </a:r>
          </a:p>
        </p:txBody>
      </p:sp>
      <p:sp>
        <p:nvSpPr>
          <p:cNvPr id="15" name="TextBox 14">
            <a:extLst>
              <a:ext uri="{FF2B5EF4-FFF2-40B4-BE49-F238E27FC236}">
                <a16:creationId xmlns:a16="http://schemas.microsoft.com/office/drawing/2014/main" id="{23A27A98-4197-4AFA-B5BB-F540A02FF31C}"/>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No matched female ε2 fine-cell DEG result was available. This adds no evidence for or against the finding.</a:t>
            </a:r>
          </a:p>
        </p:txBody>
      </p:sp>
      <p:sp>
        <p:nvSpPr>
          <p:cNvPr id="16" name="Rounded Rectangle 15">
            <a:extLst>
              <a:ext uri="{FF2B5EF4-FFF2-40B4-BE49-F238E27FC236}">
                <a16:creationId xmlns:a16="http://schemas.microsoft.com/office/drawing/2014/main" id="{1A6898F8-61A4-4041-BEDA-98E3CB5D4509}"/>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A85A977-FC6A-4379-959A-9714301A1434}"/>
              </a:ext>
            </a:extLst>
          </p:cNvPr>
          <p:cNvSpPr>
            <a:spLocks noGrp="1"/>
          </p:cNvSpPr>
          <p:nvPr/>
        </p:nvSpPr>
        <p:spPr>
          <a:xfrm>
            <a:off x="896112" y="5888736"/>
            <a:ext cx="10405872" cy="229294"/>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30" b="1" i="0">
                <a:solidFill>
                  <a:srgbClr val="7E4C9A"/>
                </a:solidFill>
                <a:latin typeface="Arial"/>
                <a:ea typeface="Arial"/>
                <a:cs typeface="Arial"/>
              </a:rPr>
              <a:t>The two-gene-set pattern </a:t>
            </a:r>
            <a:r>
              <a:rPr lang="en-US" sz="1130" b="1" i="0">
                <a:solidFill>
                  <a:srgbClr val="7E4C9A"/>
                </a:solidFill>
                <a:latin typeface="Arial"/>
                <a:ea typeface="Arial"/>
                <a:cs typeface="Arial"/>
              </a:rPr>
              <a:t>is </a:t>
            </a:r>
            <a:r>
              <a:rPr sz="1130" b="1" i="0">
                <a:solidFill>
                  <a:srgbClr val="7E4C9A"/>
                </a:solidFill>
                <a:latin typeface="Arial"/>
                <a:ea typeface="Arial"/>
                <a:cs typeface="Arial"/>
              </a:rPr>
              <a:t>mainly </a:t>
            </a:r>
            <a:r>
              <a:rPr lang="en-US" sz="1130" b="1" i="0">
                <a:solidFill>
                  <a:srgbClr val="7E4C9A"/>
                </a:solidFill>
                <a:latin typeface="Arial"/>
                <a:ea typeface="Arial"/>
                <a:cs typeface="Arial"/>
              </a:rPr>
              <a:t>supported by</a:t>
            </a:r>
            <a:r>
              <a:rPr sz="1130" b="1" i="0">
                <a:solidFill>
                  <a:srgbClr val="7E4C9A"/>
                </a:solidFill>
                <a:latin typeface="Arial"/>
                <a:ea typeface="Arial"/>
                <a:cs typeface="Arial"/>
              </a:rPr>
              <a:t> fine-cell ROSMAP evidence.</a:t>
            </a:r>
          </a:p>
        </p:txBody>
      </p:sp>
    </p:spTree>
    <p:extLst>
      <p:ext uri="{BB962C8B-B14F-4D97-AF65-F5344CB8AC3E}">
        <p14:creationId val="2042796816"/>
      </p:ext>
    </p:extLst>
  </p:cSld>
  <p:clrMapOvr>
    <a:masterClrMapping/>
  </p:clrMapOvr>
  <p:transition/>
  <p:timing/>
</p:sld>
</file>

<file path=ppt/slides/slide7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2A601813-29EF-4238-9DCE-E978BA98BEA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000" b="1" i="0">
                <a:solidFill>
                  <a:srgbClr val="0F233D"/>
                </a:solidFill>
                <a:latin typeface="Arial"/>
                <a:ea typeface="Arial"/>
                <a:cs typeface="Arial"/>
              </a:rPr>
              <a:t>Why this matters: an ε2-associated response may coordinate both OXPHOS gene sets</a:t>
            </a:r>
          </a:p>
        </p:txBody>
      </p:sp>
      <p:sp>
        <p:nvSpPr>
          <p:cNvPr id="3" name="TextBox 2">
            <a:extLst>
              <a:ext uri="{FF2B5EF4-FFF2-40B4-BE49-F238E27FC236}">
                <a16:creationId xmlns:a16="http://schemas.microsoft.com/office/drawing/2014/main" id="{E9093F75-875C-4040-980C-59BF7BF94D9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080" b="0" i="0">
                <a:solidFill>
                  <a:srgbClr val="4E5A68"/>
                </a:solidFill>
                <a:latin typeface="Arial"/>
                <a:ea typeface="Arial"/>
                <a:cs typeface="Arial"/>
              </a:rPr>
              <a:t>APOE ε2 lowers population risk, but a molecular pattern in diseased tissue can still reflect compensation or stress.</a:t>
            </a:r>
          </a:p>
        </p:txBody>
      </p:sp>
      <p:sp>
        <p:nvSpPr>
          <p:cNvPr id="4" name="Rounded Rectangle 3">
            <a:extLst>
              <a:ext uri="{FF2B5EF4-FFF2-40B4-BE49-F238E27FC236}">
                <a16:creationId xmlns:a16="http://schemas.microsoft.com/office/drawing/2014/main" id="{F8F3EA24-6E25-44FD-8895-B1D141F1500C}"/>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0D8776F-F3E6-4C8A-ACC7-D490392899F6}"/>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72B2"/>
                </a:solidFill>
                <a:latin typeface="Arial"/>
                <a:ea typeface="Arial"/>
                <a:cs typeface="Arial"/>
              </a:rPr>
              <a:t>BIOLOGICAL CONTRAST</a:t>
            </a:r>
          </a:p>
        </p:txBody>
      </p:sp>
      <p:sp>
        <p:nvSpPr>
          <p:cNvPr id="6" name="TextBox 5">
            <a:extLst>
              <a:ext uri="{FF2B5EF4-FFF2-40B4-BE49-F238E27FC236}">
                <a16:creationId xmlns:a16="http://schemas.microsoft.com/office/drawing/2014/main" id="{A645CCA1-BA20-45BD-B5F1-31701CBF696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400" b="1" i="0">
                <a:solidFill>
                  <a:srgbClr val="0F233D"/>
                </a:solidFill>
                <a:latin typeface="Arial"/>
                <a:ea typeface="Arial"/>
                <a:cs typeface="Arial"/>
              </a:rPr>
              <a:t>Different from the male ε3/ε3 mismatch</a:t>
            </a:r>
          </a:p>
        </p:txBody>
      </p:sp>
      <p:sp>
        <p:nvSpPr>
          <p:cNvPr id="7" name="TextBox 6">
            <a:extLst>
              <a:ext uri="{FF2B5EF4-FFF2-40B4-BE49-F238E27FC236}">
                <a16:creationId xmlns:a16="http://schemas.microsoft.com/office/drawing/2014/main" id="{C5A86D1A-7A19-481B-944C-00BB512EEA55}"/>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Both OXPHOS gene sets move upward instead of separating.</a:t>
            </a:r>
          </a:p>
        </p:txBody>
      </p:sp>
      <p:sp>
        <p:nvSpPr>
          <p:cNvPr id="8" name="Rounded Rectangle 7">
            <a:extLst>
              <a:ext uri="{FF2B5EF4-FFF2-40B4-BE49-F238E27FC236}">
                <a16:creationId xmlns:a16="http://schemas.microsoft.com/office/drawing/2014/main" id="{9A4BCC61-9636-4A2B-A2CE-63EEE69E6E38}"/>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96F0F40-70A6-4848-A3C8-4C32BE1D34E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684D"/>
                </a:solidFill>
                <a:latin typeface="Arial"/>
                <a:ea typeface="Arial"/>
                <a:cs typeface="Arial"/>
              </a:rPr>
              <a:t>POSSIBLE MEANING</a:t>
            </a:r>
          </a:p>
        </p:txBody>
      </p:sp>
      <p:sp>
        <p:nvSpPr>
          <p:cNvPr id="10" name="TextBox 9">
            <a:extLst>
              <a:ext uri="{FF2B5EF4-FFF2-40B4-BE49-F238E27FC236}">
                <a16:creationId xmlns:a16="http://schemas.microsoft.com/office/drawing/2014/main" id="{C8101B43-A67E-4665-B80D-079DAC2C323C}"/>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400" b="1" i="0">
                <a:solidFill>
                  <a:srgbClr val="0F233D"/>
                </a:solidFill>
                <a:latin typeface="Arial"/>
                <a:ea typeface="Arial"/>
                <a:cs typeface="Arial"/>
              </a:rPr>
              <a:t>Compensation or altered disease state</a:t>
            </a:r>
          </a:p>
        </p:txBody>
      </p:sp>
      <p:sp>
        <p:nvSpPr>
          <p:cNvPr id="11" name="TextBox 10">
            <a:extLst>
              <a:ext uri="{FF2B5EF4-FFF2-40B4-BE49-F238E27FC236}">
                <a16:creationId xmlns:a16="http://schemas.microsoft.com/office/drawing/2014/main" id="{F13BEB7D-9922-4326-BA53-236575A05E4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The cells may increase respiratory instructions in response to inefficient mitochondria.</a:t>
            </a:r>
          </a:p>
        </p:txBody>
      </p:sp>
      <p:sp>
        <p:nvSpPr>
          <p:cNvPr id="12" name="Rounded Rectangle 11">
            <a:extLst>
              <a:ext uri="{FF2B5EF4-FFF2-40B4-BE49-F238E27FC236}">
                <a16:creationId xmlns:a16="http://schemas.microsoft.com/office/drawing/2014/main" id="{BF7D3617-7BB7-40B0-AA73-01C21E72DE8F}"/>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1DA468E-DF43-40D4-BB38-376AF1C7C9B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895600"/>
                </a:solidFill>
                <a:latin typeface="Arial"/>
                <a:ea typeface="Arial"/>
                <a:cs typeface="Arial"/>
              </a:rPr>
              <a:t>REQUIRED CAUTION</a:t>
            </a:r>
          </a:p>
        </p:txBody>
      </p:sp>
      <p:sp>
        <p:nvSpPr>
          <p:cNvPr id="14" name="TextBox 13">
            <a:extLst>
              <a:ext uri="{FF2B5EF4-FFF2-40B4-BE49-F238E27FC236}">
                <a16:creationId xmlns:a16="http://schemas.microsoft.com/office/drawing/2014/main" id="{351080BB-A239-4C80-997C-2A88CDB161A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Protection is not established</a:t>
            </a:r>
          </a:p>
        </p:txBody>
      </p:sp>
      <p:sp>
        <p:nvSpPr>
          <p:cNvPr id="15" name="TextBox 14">
            <a:extLst>
              <a:ext uri="{FF2B5EF4-FFF2-40B4-BE49-F238E27FC236}">
                <a16:creationId xmlns:a16="http://schemas.microsoft.com/office/drawing/2014/main" id="{FC9545C3-7A2A-4865-823B-BFE5DB57A6C8}"/>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Population-level ε2 protection does not make this gene-expression pattern protective by itself.</a:t>
            </a:r>
          </a:p>
        </p:txBody>
      </p:sp>
      <p:sp>
        <p:nvSpPr>
          <p:cNvPr id="16" name="Rounded Rectangle 15">
            <a:extLst>
              <a:ext uri="{FF2B5EF4-FFF2-40B4-BE49-F238E27FC236}">
                <a16:creationId xmlns:a16="http://schemas.microsoft.com/office/drawing/2014/main" id="{72B95D4F-865C-4AA6-B047-94D15301D1AE}"/>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804DB52-7FA7-4AAB-8877-BE461C0F6E7A}"/>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CB5FEA1-0D6F-449C-AC3F-4A75E5EEEF19}"/>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20" b="1" i="0">
                <a:solidFill>
                  <a:srgbClr val="1F2730"/>
                </a:solidFill>
                <a:latin typeface="Arial"/>
                <a:ea typeface="Arial"/>
                <a:cs typeface="Arial"/>
              </a:rPr>
              <a:t>The result motivates a protective-response hypothesis but does not demonstrate a protective mechanism.</a:t>
            </a:r>
          </a:p>
        </p:txBody>
      </p:sp>
    </p:spTree>
    <p:extLst>
      <p:ext uri="{BB962C8B-B14F-4D97-AF65-F5344CB8AC3E}">
        <p14:creationId val="888850860"/>
      </p:ext>
    </p:extLst>
  </p:cSld>
  <p:clrMapOvr>
    <a:masterClrMapping/>
  </p:clrMapOvr>
  <p:transition/>
  <p:timing/>
</p:sld>
</file>

<file path=ppt/slides/slide7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785345D8-743B-4F92-856E-EAD323BC0C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Prior research and evidence context for Finding 3</a:t>
            </a:r>
          </a:p>
        </p:txBody>
      </p:sp>
      <p:sp>
        <p:nvSpPr>
          <p:cNvPr id="3" name="TextBox 2">
            <a:extLst>
              <a:ext uri="{FF2B5EF4-FFF2-40B4-BE49-F238E27FC236}">
                <a16:creationId xmlns:a16="http://schemas.microsoft.com/office/drawing/2014/main" id="{8F063471-6559-4E80-8221-8E8E2AF2B40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38C23AC6-435A-4B38-9349-5942E7DAA4C2}"/>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1BCAEEB-4B50-4ABA-A8B0-141138736D74}"/>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E61D72E2-F3A7-448B-8E28-1B08522E943E}"/>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350" b="1" i="0">
                <a:solidFill>
                  <a:srgbClr val="0F233D"/>
                </a:solidFill>
                <a:latin typeface="Arial"/>
                <a:ea typeface="Arial"/>
                <a:cs typeface="Arial"/>
              </a:rPr>
              <a:t>APOE allele risk</a:t>
            </a:r>
          </a:p>
        </p:txBody>
      </p:sp>
      <p:sp>
        <p:nvSpPr>
          <p:cNvPr id="7" name="TextBox 6">
            <a:extLst>
              <a:ext uri="{FF2B5EF4-FFF2-40B4-BE49-F238E27FC236}">
                <a16:creationId xmlns:a16="http://schemas.microsoft.com/office/drawing/2014/main" id="{D687DE74-4101-4CE6-8670-93675C247769}"/>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454F7115-1BAA-4921-8EA5-3E94FDE49069}"/>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80" b="0" i="0">
                <a:solidFill>
                  <a:srgbClr val="1F2730"/>
                </a:solidFill>
                <a:latin typeface="Arial"/>
                <a:ea typeface="Arial"/>
                <a:cs typeface="Arial"/>
              </a:rPr>
              <a:t>Establishes large Alzheimer’s risk differences among APOE alleles.</a:t>
            </a:r>
          </a:p>
        </p:txBody>
      </p:sp>
      <p:sp>
        <p:nvSpPr>
          <p:cNvPr id="9" name="TextBox 8">
            <a:extLst>
              <a:ext uri="{FF2B5EF4-FFF2-40B4-BE49-F238E27FC236}">
                <a16:creationId xmlns:a16="http://schemas.microsoft.com/office/drawing/2014/main" id="{F7A4BB6B-4371-4A92-B9E3-2A1BD6D0DEE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DFD8B593-B01A-48F9-BB3C-5E3014169FE2}"/>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60" b="0" i="0">
                <a:solidFill>
                  <a:srgbClr val="4E5A68"/>
                </a:solidFill>
                <a:latin typeface="Arial"/>
                <a:ea typeface="Arial"/>
                <a:cs typeface="Arial"/>
              </a:rPr>
              <a:t>Does not explain the observed expression pattern in female ε2 cells.</a:t>
            </a:r>
          </a:p>
        </p:txBody>
      </p:sp>
      <p:sp>
        <p:nvSpPr>
          <p:cNvPr id="11" name="Rounded Rectangle 10">
            <a:extLst>
              <a:ext uri="{FF2B5EF4-FFF2-40B4-BE49-F238E27FC236}">
                <a16:creationId xmlns:a16="http://schemas.microsoft.com/office/drawing/2014/main" id="{48A8DA3D-79F5-4576-B2F1-D754D20871E3}"/>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171C25C-B0DF-4E30-B811-5B7D7B8C2B9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BA2BFD3F-0612-46E2-8E43-4866376D2BC3}"/>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350" b="1" i="0">
                <a:solidFill>
                  <a:srgbClr val="0F233D"/>
                </a:solidFill>
                <a:latin typeface="Arial"/>
                <a:ea typeface="Arial"/>
                <a:cs typeface="Arial"/>
              </a:rPr>
              <a:t>APOE and mitochondria</a:t>
            </a:r>
          </a:p>
        </p:txBody>
      </p:sp>
      <p:sp>
        <p:nvSpPr>
          <p:cNvPr id="14" name="TextBox 13">
            <a:extLst>
              <a:ext uri="{FF2B5EF4-FFF2-40B4-BE49-F238E27FC236}">
                <a16:creationId xmlns:a16="http://schemas.microsoft.com/office/drawing/2014/main" id="{25365557-B7E5-4D1B-87DE-59982CA620AE}"/>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269B6732-CCEE-4283-8AAE-4B009FFC4C19}"/>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80" b="0" i="0">
                <a:solidFill>
                  <a:srgbClr val="1F2730"/>
                </a:solidFill>
                <a:latin typeface="Arial"/>
                <a:ea typeface="Arial"/>
                <a:cs typeface="Arial"/>
              </a:rPr>
              <a:t>Shows that APOE state can alter mitochondrial homeostasis.</a:t>
            </a:r>
          </a:p>
        </p:txBody>
      </p:sp>
      <p:sp>
        <p:nvSpPr>
          <p:cNvPr id="16" name="TextBox 15">
            <a:extLst>
              <a:ext uri="{FF2B5EF4-FFF2-40B4-BE49-F238E27FC236}">
                <a16:creationId xmlns:a16="http://schemas.microsoft.com/office/drawing/2014/main" id="{7EC2DEB2-A3B7-4A7A-B89F-241825498DE1}"/>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C3723745-3BD7-4BE7-8470-6C4A4EBD304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60" b="0" i="0">
                <a:solidFill>
                  <a:srgbClr val="4E5A68"/>
                </a:solidFill>
                <a:latin typeface="Arial"/>
                <a:ea typeface="Arial"/>
                <a:cs typeface="Arial"/>
              </a:rPr>
              <a:t>Uses a different APOE group and experimental context.</a:t>
            </a:r>
          </a:p>
        </p:txBody>
      </p:sp>
      <p:sp>
        <p:nvSpPr>
          <p:cNvPr id="18" name="Rounded Rectangle 17">
            <a:extLst>
              <a:ext uri="{FF2B5EF4-FFF2-40B4-BE49-F238E27FC236}">
                <a16:creationId xmlns:a16="http://schemas.microsoft.com/office/drawing/2014/main" id="{35D9A967-C87D-4290-958C-CD5FAAE4FBB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7082910-6C3F-4CCD-B1B3-2C7AA23783EF}"/>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500" b="1" i="0">
                <a:solidFill>
                  <a:srgbClr val="895600"/>
                </a:solidFill>
                <a:latin typeface="Arial"/>
                <a:ea typeface="Arial"/>
                <a:cs typeface="Arial"/>
              </a:rPr>
              <a:t>Guo et al. 2023</a:t>
            </a:r>
          </a:p>
        </p:txBody>
      </p:sp>
      <p:sp>
        <p:nvSpPr>
          <p:cNvPr id="20" name="TextBox 19">
            <a:extLst>
              <a:ext uri="{FF2B5EF4-FFF2-40B4-BE49-F238E27FC236}">
                <a16:creationId xmlns:a16="http://schemas.microsoft.com/office/drawing/2014/main" id="{123A1DF3-BCAE-45BE-8442-BDD96635F438}"/>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350" b="1" i="0">
                <a:solidFill>
                  <a:srgbClr val="0F233D"/>
                </a:solidFill>
                <a:latin typeface="Arial"/>
                <a:ea typeface="Arial"/>
                <a:cs typeface="Arial"/>
              </a:rPr>
              <a:t>Sex-aware AD networks</a:t>
            </a:r>
          </a:p>
        </p:txBody>
      </p:sp>
      <p:sp>
        <p:nvSpPr>
          <p:cNvPr id="21" name="TextBox 20">
            <a:extLst>
              <a:ext uri="{FF2B5EF4-FFF2-40B4-BE49-F238E27FC236}">
                <a16:creationId xmlns:a16="http://schemas.microsoft.com/office/drawing/2014/main" id="{59F07A75-2EE1-4D60-9786-0F23DF2582DC}"/>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66A71E1-1013-4A2B-A10D-B5DFDBF4D5C7}"/>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80" b="0" i="0">
                <a:solidFill>
                  <a:srgbClr val="1F2730"/>
                </a:solidFill>
                <a:latin typeface="Arial"/>
                <a:ea typeface="Arial"/>
                <a:cs typeface="Arial"/>
              </a:rPr>
              <a:t>Supports analyzing Alzheimer’s biology by sex and cell type.</a:t>
            </a:r>
          </a:p>
        </p:txBody>
      </p:sp>
      <p:sp>
        <p:nvSpPr>
          <p:cNvPr id="23" name="TextBox 22">
            <a:extLst>
              <a:ext uri="{FF2B5EF4-FFF2-40B4-BE49-F238E27FC236}">
                <a16:creationId xmlns:a16="http://schemas.microsoft.com/office/drawing/2014/main" id="{B8AF796C-C116-4095-8204-2CF009C27950}"/>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81CFC136-DBEC-4C06-AE7C-AF8530697833}"/>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60" b="0" i="0">
                <a:solidFill>
                  <a:srgbClr val="4E5A68"/>
                </a:solidFill>
                <a:latin typeface="Arial"/>
                <a:ea typeface="Arial"/>
                <a:cs typeface="Arial"/>
              </a:rPr>
              <a:t>Does not report this exact female ε2 OXPHOS pattern.</a:t>
            </a:r>
          </a:p>
        </p:txBody>
      </p:sp>
      <p:sp>
        <p:nvSpPr>
          <p:cNvPr id="25" name="Rounded Rectangle 24">
            <a:extLst>
              <a:ext uri="{FF2B5EF4-FFF2-40B4-BE49-F238E27FC236}">
                <a16:creationId xmlns:a16="http://schemas.microsoft.com/office/drawing/2014/main" id="{B8DC183B-16BE-40EC-BF0B-B42D31C88BCC}"/>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63212225-CCEC-4FB4-8350-843AC90B44C7}"/>
              </a:ext>
            </a:extLst>
          </p:cNvPr>
          <p:cNvSpPr>
            <a:spLocks noGrp="1"/>
          </p:cNvSpPr>
          <p:nvPr/>
        </p:nvSpPr>
        <p:spPr>
          <a:xfrm>
            <a:off x="896112" y="5952744"/>
            <a:ext cx="10405872" cy="221599"/>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lang="en-US" sz="1080" b="1">
                <a:solidFill>
                  <a:srgbClr val="7E4C9A"/>
                </a:solidFill>
                <a:latin typeface="Arial"/>
                <a:ea typeface="Arial"/>
                <a:cs typeface="Arial"/>
              </a:rPr>
              <a:t>N</a:t>
            </a:r>
            <a:r>
              <a:rPr sz="1080" b="1" i="0">
                <a:solidFill>
                  <a:srgbClr val="7E4C9A"/>
                </a:solidFill>
                <a:latin typeface="Arial"/>
                <a:ea typeface="Arial"/>
                <a:cs typeface="Arial"/>
              </a:rPr>
              <a:t>ovelty: High</a:t>
            </a:r>
          </a:p>
        </p:txBody>
      </p:sp>
    </p:spTree>
    <p:extLst>
      <p:ext uri="{BB962C8B-B14F-4D97-AF65-F5344CB8AC3E}">
        <p14:creationId val="914698688"/>
      </p:ext>
    </p:extLst>
  </p:cSld>
  <p:clrMapOvr>
    <a:masterClrMapping/>
  </p:clrMapOvr>
  <p:transition/>
  <p:timing/>
</p:sld>
</file>

<file path=ppt/slides/slide7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0F233D"/>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739B9759-8C24-40FC-9F64-84570C3254D0}"/>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050" b="1" i="0">
                <a:solidFill>
                  <a:srgbClr val="E69F00"/>
                </a:solidFill>
                <a:latin typeface="Arial"/>
                <a:ea typeface="Arial"/>
                <a:cs typeface="Arial"/>
              </a:rPr>
              <a:t>FINDING 4</a:t>
            </a:r>
          </a:p>
        </p:txBody>
      </p:sp>
      <p:sp>
        <p:nvSpPr>
          <p:cNvPr id="3" name="Rectangle 2">
            <a:extLst>
              <a:ext uri="{FF2B5EF4-FFF2-40B4-BE49-F238E27FC236}">
                <a16:creationId xmlns:a16="http://schemas.microsoft.com/office/drawing/2014/main" id="{5BBDA2B6-748D-41D9-862D-7E18BB2B5EA2}"/>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2D76020A-FCE8-438D-BB31-4DC3B5F14D24}"/>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2200" b="1" i="0">
                <a:solidFill>
                  <a:srgbClr val="FFFFFF"/>
                </a:solidFill>
                <a:latin typeface="Arial"/>
                <a:ea typeface="Arial"/>
                <a:cs typeface="Arial"/>
              </a:rPr>
              <a:t>Female APOE ε4 fine-cell results show a strong nuclear-encoded OXPHOS decrease</a:t>
            </a:r>
          </a:p>
        </p:txBody>
      </p:sp>
      <p:sp>
        <p:nvSpPr>
          <p:cNvPr id="5" name="TextBox 4">
            <a:extLst>
              <a:ext uri="{FF2B5EF4-FFF2-40B4-BE49-F238E27FC236}">
                <a16:creationId xmlns:a16="http://schemas.microsoft.com/office/drawing/2014/main" id="{E6B72473-605E-4B15-A710-E0E87504CEEB}"/>
              </a:ext>
            </a:extLst>
          </p:cNvPr>
          <p:cNvSpPr>
            <a:spLocks noGrp="1"/>
          </p:cNvSpPr>
          <p:nvPr/>
        </p:nvSpPr>
        <p:spPr>
          <a:xfrm>
            <a:off x="1097280" y="2468880"/>
            <a:ext cx="7406640" cy="914400"/>
          </a:xfrm>
          <a:prstGeom prst="rect">
            <a:avLst/>
          </a:prstGeom>
          <a:noFill/>
        </p:spPr>
        <p:txBody>
          <a:bodyPr wrap="square" lIns="0" tIns="0" rIns="0" bIns="0" anchor="t">
            <a:normAutofit/>
          </a:bodyPr>
          <a:lstStyle/>
          <a:p>
            <a:pPr algn="l">
              <a:lnSpc>
                <a:spcPct val="100000"/>
              </a:lnSpc>
              <a:spcBef>
                <a:spcPct val="0"/>
              </a:spcBef>
              <a:spcAft>
                <a:spcPct val="0"/>
              </a:spcAft>
              <a:buNone/>
              <a:defRPr sz="1350" b="1">
                <a:solidFill>
                  <a:srgbClr val="E6A700"/>
                </a:solidFill>
                <a:latin typeface="Arial"/>
                <a:ea typeface="Arial"/>
                <a:cs typeface="Arial"/>
              </a:defRPr>
            </a:pPr>
            <a:r>
              <a:rPr sz="1350" b="1" i="0">
                <a:solidFill>
                  <a:srgbClr val="E6A700"/>
                </a:solidFill>
                <a:latin typeface="Arial"/>
                <a:ea typeface="Arial"/>
                <a:cs typeface="Arial"/>
              </a:rPr>
              <a:t>Observed in: female ε4</a:t>
            </a:r>
          </a:p>
        </p:txBody>
      </p:sp>
      <p:sp>
        <p:nvSpPr>
          <p:cNvPr id="6" name="Rounded Rectangle 5">
            <a:extLst>
              <a:ext uri="{FF2B5EF4-FFF2-40B4-BE49-F238E27FC236}">
                <a16:creationId xmlns:a16="http://schemas.microsoft.com/office/drawing/2014/main" id="{61741430-38B3-41F7-B957-964A801B7A74}"/>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D464EA5-2FB1-41DE-B66E-27CBBCF1682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47EA8D99-C02A-4788-8BAC-19AB7802536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61EBDF4-CC0C-408C-9B6A-191DD08C45B1}"/>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6ED3613-1DE2-4ED9-B304-70C3BF6E2F85}"/>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4D6D3497-1532-43A3-B90B-868123101E8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0AA0014-E189-41F8-9EDA-538A301A2B7E}"/>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85CC86D-E673-4A4D-BCD4-A17C265A93D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DF6ECD27-E612-42B2-A097-22AD5D5F4E1A}"/>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3199226C-0ACA-4C10-9CC3-512A6B88301F}"/>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9ADCB95-7C34-4583-8E5D-733E8F1BC35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D05F1D8-4983-4839-928F-9660ECDD84A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D96C1F8-7416-4C36-AEF3-8C5EC8CB834A}"/>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6D4276BB-3C28-4E39-A937-01C6393F2A2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917F796A-CADC-4639-9BBC-33FD0EE492E7}"/>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03D46ED2-4710-4AF3-A347-5D5DAB51261B}"/>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20" b="1" i="0">
                <a:solidFill>
                  <a:srgbClr val="FFFFFF"/>
                </a:solidFill>
                <a:latin typeface="Arial"/>
                <a:ea typeface="Arial"/>
                <a:cs typeface="Arial"/>
              </a:rPr>
              <a:t>The strongest signal is lower expression of nuclear-encoded OXPHOS genes in fine-cell results.</a:t>
            </a:r>
          </a:p>
        </p:txBody>
      </p:sp>
    </p:spTree>
    <p:extLst>
      <p:ext uri="{BB962C8B-B14F-4D97-AF65-F5344CB8AC3E}">
        <p14:creationId val="1039246802"/>
      </p:ext>
    </p:extLst>
  </p:cSld>
  <p:clrMapOvr>
    <a:masterClrMapping/>
  </p:clrMapOvr>
  <p:transition/>
  <p:timing/>
</p:sld>
</file>

<file path=ppt/slides/slide7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04847B2B-03F0-4340-9874-86C63B1F2554}"/>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Female ε4 fine-cell results show lower nuclear-encoded OXPHOS gene expression in AD</a:t>
            </a:r>
          </a:p>
        </p:txBody>
      </p:sp>
      <p:sp>
        <p:nvSpPr>
          <p:cNvPr id="3" name="TextBox 2">
            <a:extLst>
              <a:ext uri="{FF2B5EF4-FFF2-40B4-BE49-F238E27FC236}">
                <a16:creationId xmlns:a16="http://schemas.microsoft.com/office/drawing/2014/main" id="{896CB3C7-3B59-48DD-B73F-9AD94CF297D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080" b="0" i="0">
                <a:solidFill>
                  <a:srgbClr val="4E5A68"/>
                </a:solidFill>
                <a:latin typeface="Arial"/>
                <a:ea typeface="Arial"/>
                <a:cs typeface="Arial"/>
              </a:rPr>
              <a:t>Nuclear-encoded OXPHOS genes are strongly downward, while core MT genes show mixed directions.</a:t>
            </a:r>
          </a:p>
        </p:txBody>
      </p:sp>
      <p:sp>
        <p:nvSpPr>
          <p:cNvPr id="4" name="Rounded Rectangle 3">
            <a:extLst>
              <a:ext uri="{FF2B5EF4-FFF2-40B4-BE49-F238E27FC236}">
                <a16:creationId xmlns:a16="http://schemas.microsoft.com/office/drawing/2014/main" id="{39A86691-49B6-40BA-9B7E-1D0E4F7208F6}"/>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74921E-CB72-47D6-A24A-B8DE6A60EA37}"/>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898814CC-D61C-4493-ADF0-9F4DC2B35D01}"/>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9D5293A-18E3-40CD-89F3-26829C1D2896}"/>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128528F0-0394-45AD-BC8B-27B5537B1302}"/>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A922C6C-7D42-4015-9F4D-601E45A137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40" b="1" i="0">
                <a:solidFill>
                  <a:srgbClr val="895600"/>
                </a:solidFill>
                <a:latin typeface="Arial"/>
                <a:ea typeface="Arial"/>
                <a:cs typeface="Arial"/>
              </a:rPr>
              <a:t>Fine-cell primary</a:t>
            </a:r>
          </a:p>
        </p:txBody>
      </p:sp>
      <p:sp>
        <p:nvSpPr>
          <p:cNvPr id="10" name="Rounded Rectangle 9">
            <a:extLst>
              <a:ext uri="{FF2B5EF4-FFF2-40B4-BE49-F238E27FC236}">
                <a16:creationId xmlns:a16="http://schemas.microsoft.com/office/drawing/2014/main" id="{1F89F666-EC68-4B12-8245-6A91883251DB}"/>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F0B02DC0-F83E-4862-AFB0-52E4D28EC5CB}"/>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40" b="1" i="0">
                <a:solidFill>
                  <a:srgbClr val="9E3A00"/>
                </a:solidFill>
                <a:latin typeface="Arial"/>
                <a:ea typeface="Arial"/>
                <a:cs typeface="Arial"/>
              </a:rPr>
              <a:t>Resolution-sensitive</a:t>
            </a:r>
          </a:p>
        </p:txBody>
      </p:sp>
      <p:sp>
        <p:nvSpPr>
          <p:cNvPr id="12" name="Rounded Rectangle 11">
            <a:extLst>
              <a:ext uri="{FF2B5EF4-FFF2-40B4-BE49-F238E27FC236}">
                <a16:creationId xmlns:a16="http://schemas.microsoft.com/office/drawing/2014/main" id="{1623AB73-75F2-48FD-B6FD-29F94AEBE1B4}"/>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5AB7C3F-B362-4884-8570-8BC56E4296D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9E3A00"/>
                </a:solidFill>
                <a:latin typeface="Arial"/>
                <a:ea typeface="Arial"/>
                <a:cs typeface="Arial"/>
              </a:rPr>
              <a:t>NUCLEAR-ENCODED OXPHOS</a:t>
            </a:r>
          </a:p>
        </p:txBody>
      </p:sp>
      <p:sp>
        <p:nvSpPr>
          <p:cNvPr id="14" name="TextBox 13">
            <a:extLst>
              <a:ext uri="{FF2B5EF4-FFF2-40B4-BE49-F238E27FC236}">
                <a16:creationId xmlns:a16="http://schemas.microsoft.com/office/drawing/2014/main" id="{037D3A7F-EC93-4850-BC73-94A191C2147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206 of 216 down</a:t>
            </a:r>
          </a:p>
        </p:txBody>
      </p:sp>
      <p:sp>
        <p:nvSpPr>
          <p:cNvPr id="15" name="TextBox 14">
            <a:extLst>
              <a:ext uri="{FF2B5EF4-FFF2-40B4-BE49-F238E27FC236}">
                <a16:creationId xmlns:a16="http://schemas.microsoft.com/office/drawing/2014/main" id="{270E3D63-8EB2-4724-B97D-72CAA1CA22B1}"/>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Most structural respiratory-complex subunit genes are nuclear-encoded.</a:t>
            </a:r>
          </a:p>
        </p:txBody>
      </p:sp>
      <p:sp>
        <p:nvSpPr>
          <p:cNvPr id="16" name="Rounded Rectangle 15">
            <a:extLst>
              <a:ext uri="{FF2B5EF4-FFF2-40B4-BE49-F238E27FC236}">
                <a16:creationId xmlns:a16="http://schemas.microsoft.com/office/drawing/2014/main" id="{534A9EEA-8A5F-4954-B3B2-93AD43A47D87}"/>
              </a:ext>
            </a:extLst>
          </p:cNvPr>
          <p:cNvSpPr>
            <a:spLocks noGrp="1"/>
          </p:cNvSpPr>
          <p:nvPr/>
        </p:nvSpPr>
        <p:spPr>
          <a:xfrm>
            <a:off x="445312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115232-3CD3-4590-A0CD-62FA073A0EE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895600"/>
                </a:solidFill>
                <a:latin typeface="Arial"/>
                <a:ea typeface="Arial"/>
                <a:cs typeface="Arial"/>
              </a:rPr>
              <a:t>CORE MT GENES</a:t>
            </a:r>
          </a:p>
        </p:txBody>
      </p:sp>
      <p:sp>
        <p:nvSpPr>
          <p:cNvPr id="18" name="TextBox 17">
            <a:extLst>
              <a:ext uri="{FF2B5EF4-FFF2-40B4-BE49-F238E27FC236}">
                <a16:creationId xmlns:a16="http://schemas.microsoft.com/office/drawing/2014/main" id="{B30DD619-5891-4A35-AF6F-EF31F4A7E79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Mixed direction</a:t>
            </a:r>
          </a:p>
        </p:txBody>
      </p:sp>
      <p:sp>
        <p:nvSpPr>
          <p:cNvPr id="19" name="TextBox 18">
            <a:extLst>
              <a:ext uri="{FF2B5EF4-FFF2-40B4-BE49-F238E27FC236}">
                <a16:creationId xmlns:a16="http://schemas.microsoft.com/office/drawing/2014/main" id="{A4E26757-5D41-41B5-8F16-6A64F6AC282B}"/>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Core MT genes contribute 26 upregulated and 38 downregulated occurrences.</a:t>
            </a:r>
          </a:p>
        </p:txBody>
      </p:sp>
      <p:sp>
        <p:nvSpPr>
          <p:cNvPr id="20" name="Rounded Rectangle 19">
            <a:extLst>
              <a:ext uri="{FF2B5EF4-FFF2-40B4-BE49-F238E27FC236}">
                <a16:creationId xmlns:a16="http://schemas.microsoft.com/office/drawing/2014/main" id="{EFDE4554-9BE7-4F1C-9EC1-3AE3669AF389}"/>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91C911D-9BE4-4EAD-901C-EB4A7396FDD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72B2"/>
                </a:solidFill>
                <a:latin typeface="Arial"/>
                <a:ea typeface="Arial"/>
                <a:cs typeface="Arial"/>
              </a:rPr>
              <a:t>INTERPRETATION</a:t>
            </a:r>
          </a:p>
        </p:txBody>
      </p:sp>
      <p:sp>
        <p:nvSpPr>
          <p:cNvPr id="22" name="TextBox 21">
            <a:extLst>
              <a:ext uri="{FF2B5EF4-FFF2-40B4-BE49-F238E27FC236}">
                <a16:creationId xmlns:a16="http://schemas.microsoft.com/office/drawing/2014/main" id="{DE347B32-7281-4BAA-9D9B-7BD80806D79B}"/>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Nuclear-encoded OXPHOS decrease</a:t>
            </a:r>
          </a:p>
        </p:txBody>
      </p:sp>
      <p:sp>
        <p:nvSpPr>
          <p:cNvPr id="23" name="TextBox 22">
            <a:extLst>
              <a:ext uri="{FF2B5EF4-FFF2-40B4-BE49-F238E27FC236}">
                <a16:creationId xmlns:a16="http://schemas.microsoft.com/office/drawing/2014/main" id="{8791BB3F-8EB1-406E-ABA1-2F45257FD1DF}"/>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The result should not be described as a uniform decrease of all MitoCarta MT genes.</a:t>
            </a:r>
          </a:p>
        </p:txBody>
      </p:sp>
      <p:sp>
        <p:nvSpPr>
          <p:cNvPr id="24" name="Rounded Rectangle 23">
            <a:extLst>
              <a:ext uri="{FF2B5EF4-FFF2-40B4-BE49-F238E27FC236}">
                <a16:creationId xmlns:a16="http://schemas.microsoft.com/office/drawing/2014/main" id="{58C107E9-3677-45CB-8CAB-1BE1CEDCE97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3B50EAE-DA13-43C2-AD90-0FF977EECBFB}"/>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40" b="1" i="0">
                <a:solidFill>
                  <a:srgbClr val="7E4C9A"/>
                </a:solidFill>
                <a:latin typeface="Arial"/>
                <a:ea typeface="Arial"/>
                <a:cs typeface="Arial"/>
              </a:rPr>
              <a:t>The finding is specific to fine-cell DEG occurrences because direct broad-cell results disagree.</a:t>
            </a:r>
          </a:p>
        </p:txBody>
      </p:sp>
    </p:spTree>
    <p:extLst>
      <p:ext uri="{BB962C8B-B14F-4D97-AF65-F5344CB8AC3E}">
        <p14:creationId val="1262158208"/>
      </p:ext>
    </p:extLst>
  </p:cSld>
  <p:clrMapOvr>
    <a:masterClrMapping/>
  </p:clrMapOvr>
  <p:transition/>
  <p:timing/>
</p:sld>
</file>

<file path=ppt/slides/slide7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D616E7C6-C798-4825-8ADF-356B5B54EA3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ROSMAP: 95% of female ε4 nuclear-encoded OXPHOS occurrences are AD-down</a:t>
            </a:r>
          </a:p>
        </p:txBody>
      </p:sp>
      <p:sp>
        <p:nvSpPr>
          <p:cNvPr id="3" name="TextBox 2">
            <a:extLst>
              <a:ext uri="{FF2B5EF4-FFF2-40B4-BE49-F238E27FC236}">
                <a16:creationId xmlns:a16="http://schemas.microsoft.com/office/drawing/2014/main" id="{A4B8AFD9-E3A2-4DF9-81CD-7C81CE7DADE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080" b="0" i="0">
                <a:solidFill>
                  <a:srgbClr val="4E5A68"/>
                </a:solidFill>
                <a:latin typeface="Arial"/>
                <a:ea typeface="Arial"/>
                <a:cs typeface="Arial"/>
              </a:rPr>
              <a:t>The core MT component is smaller and more mixed than the nuclear-encoded component.</a:t>
            </a:r>
          </a:p>
        </p:txBody>
      </p:sp>
      <p:sp>
        <p:nvSpPr>
          <p:cNvPr id="4" name="Rounded Rectangle 3">
            <a:extLst>
              <a:ext uri="{FF2B5EF4-FFF2-40B4-BE49-F238E27FC236}">
                <a16:creationId xmlns:a16="http://schemas.microsoft.com/office/drawing/2014/main" id="{50746D33-BB30-408B-9C9E-FF12599B34EB}"/>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D214BFD-9CB2-42A4-89AE-8FFD5BC9576C}"/>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800" b="1" i="0">
                <a:solidFill>
                  <a:srgbClr val="0072B2"/>
                </a:solidFill>
                <a:latin typeface="Arial"/>
                <a:ea typeface="Arial"/>
                <a:cs typeface="Arial"/>
              </a:rPr>
              <a:t>216</a:t>
            </a:r>
          </a:p>
        </p:txBody>
      </p:sp>
      <p:sp>
        <p:nvSpPr>
          <p:cNvPr id="6" name="TextBox 5">
            <a:extLst>
              <a:ext uri="{FF2B5EF4-FFF2-40B4-BE49-F238E27FC236}">
                <a16:creationId xmlns:a16="http://schemas.microsoft.com/office/drawing/2014/main" id="{2611586C-DC6A-4FFA-9337-383B37FE6BB7}"/>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19" b="1" i="0">
                <a:solidFill>
                  <a:srgbClr val="0F233D"/>
                </a:solidFill>
                <a:latin typeface="Arial"/>
                <a:ea typeface="Arial"/>
                <a:cs typeface="Arial"/>
              </a:rPr>
              <a:t>nuclear-encoded OXPHOS gene occurrences</a:t>
            </a:r>
          </a:p>
        </p:txBody>
      </p:sp>
      <p:sp>
        <p:nvSpPr>
          <p:cNvPr id="7" name="TextBox 6">
            <a:extLst>
              <a:ext uri="{FF2B5EF4-FFF2-40B4-BE49-F238E27FC236}">
                <a16:creationId xmlns:a16="http://schemas.microsoft.com/office/drawing/2014/main" id="{3FA2DD5C-37CE-47B8-BA0D-4EFF5279FD3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880" b="0" i="0">
                <a:solidFill>
                  <a:srgbClr val="4E5A68"/>
                </a:solidFill>
                <a:latin typeface="Arial"/>
                <a:ea typeface="Arial"/>
                <a:cs typeface="Arial"/>
              </a:rPr>
              <a:t>10 up, 206 down</a:t>
            </a:r>
          </a:p>
        </p:txBody>
      </p:sp>
      <p:sp>
        <p:nvSpPr>
          <p:cNvPr id="8" name="Rounded Rectangle 7">
            <a:extLst>
              <a:ext uri="{FF2B5EF4-FFF2-40B4-BE49-F238E27FC236}">
                <a16:creationId xmlns:a16="http://schemas.microsoft.com/office/drawing/2014/main" id="{C367C7A9-94DC-4D2B-B71F-0FDBE87A16E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E88F76C-26B3-454D-8275-E2E91DB24509}"/>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800" b="1" i="0">
                <a:solidFill>
                  <a:srgbClr val="00684D"/>
                </a:solidFill>
                <a:latin typeface="Arial"/>
                <a:ea typeface="Arial"/>
                <a:cs typeface="Arial"/>
              </a:rPr>
              <a:t>64</a:t>
            </a:r>
          </a:p>
        </p:txBody>
      </p:sp>
      <p:sp>
        <p:nvSpPr>
          <p:cNvPr id="10" name="TextBox 9">
            <a:extLst>
              <a:ext uri="{FF2B5EF4-FFF2-40B4-BE49-F238E27FC236}">
                <a16:creationId xmlns:a16="http://schemas.microsoft.com/office/drawing/2014/main" id="{24F47D21-06A0-49A7-843A-35EF63D4EEB1}"/>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19" b="1" i="0">
                <a:solidFill>
                  <a:srgbClr val="0F233D"/>
                </a:solidFill>
                <a:latin typeface="Arial"/>
                <a:ea typeface="Arial"/>
                <a:cs typeface="Arial"/>
              </a:rPr>
              <a:t>core MT gene occurrences</a:t>
            </a:r>
          </a:p>
        </p:txBody>
      </p:sp>
      <p:sp>
        <p:nvSpPr>
          <p:cNvPr id="11" name="TextBox 10">
            <a:extLst>
              <a:ext uri="{FF2B5EF4-FFF2-40B4-BE49-F238E27FC236}">
                <a16:creationId xmlns:a16="http://schemas.microsoft.com/office/drawing/2014/main" id="{E00687D7-70B0-4750-B1C7-9FF467343380}"/>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880" b="0" i="0">
                <a:solidFill>
                  <a:srgbClr val="4E5A68"/>
                </a:solidFill>
                <a:latin typeface="Arial"/>
                <a:ea typeface="Arial"/>
                <a:cs typeface="Arial"/>
              </a:rPr>
              <a:t>26 up, 38 down</a:t>
            </a:r>
          </a:p>
        </p:txBody>
      </p:sp>
      <p:sp>
        <p:nvSpPr>
          <p:cNvPr id="12" name="Rounded Rectangle 11">
            <a:extLst>
              <a:ext uri="{FF2B5EF4-FFF2-40B4-BE49-F238E27FC236}">
                <a16:creationId xmlns:a16="http://schemas.microsoft.com/office/drawing/2014/main" id="{1FC6D3C9-53C5-436A-80F4-E4C130F41158}"/>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4EFE16A-BBAE-434D-B4D4-F4BBF16D1597}"/>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800" b="1" i="0">
                <a:solidFill>
                  <a:srgbClr val="895600"/>
                </a:solidFill>
                <a:latin typeface="Arial"/>
                <a:ea typeface="Arial"/>
                <a:cs typeface="Arial"/>
              </a:rPr>
              <a:t>95%</a:t>
            </a:r>
          </a:p>
        </p:txBody>
      </p:sp>
      <p:sp>
        <p:nvSpPr>
          <p:cNvPr id="14" name="TextBox 13">
            <a:extLst>
              <a:ext uri="{FF2B5EF4-FFF2-40B4-BE49-F238E27FC236}">
                <a16:creationId xmlns:a16="http://schemas.microsoft.com/office/drawing/2014/main" id="{AC6C476A-D8B0-4988-AB23-A9274BE7A620}"/>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19" b="1" i="0">
                <a:solidFill>
                  <a:srgbClr val="0F233D"/>
                </a:solidFill>
                <a:latin typeface="Arial"/>
                <a:ea typeface="Arial"/>
                <a:cs typeface="Arial"/>
              </a:rPr>
              <a:t>nuclear-encoded OXPHOS occurrences</a:t>
            </a:r>
          </a:p>
        </p:txBody>
      </p:sp>
      <p:sp>
        <p:nvSpPr>
          <p:cNvPr id="15" name="TextBox 14">
            <a:extLst>
              <a:ext uri="{FF2B5EF4-FFF2-40B4-BE49-F238E27FC236}">
                <a16:creationId xmlns:a16="http://schemas.microsoft.com/office/drawing/2014/main" id="{864BD5C9-7313-4258-90C2-44621A549A53}"/>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880" b="0" i="0">
                <a:solidFill>
                  <a:srgbClr val="4E5A68"/>
                </a:solidFill>
                <a:latin typeface="Arial"/>
                <a:ea typeface="Arial"/>
                <a:cs typeface="Arial"/>
              </a:rPr>
              <a:t>AD-down across fine-cell comparisons</a:t>
            </a:r>
          </a:p>
        </p:txBody>
      </p:sp>
      <p:sp>
        <p:nvSpPr>
          <p:cNvPr id="16" name="Rounded Rectangle 15">
            <a:extLst>
              <a:ext uri="{FF2B5EF4-FFF2-40B4-BE49-F238E27FC236}">
                <a16:creationId xmlns:a16="http://schemas.microsoft.com/office/drawing/2014/main" id="{20141D58-A058-4EE4-BC6F-0C603708A55B}"/>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69B384E-3324-406A-9BD4-5866F2601348}"/>
              </a:ext>
            </a:extLst>
          </p:cNvPr>
          <p:cNvSpPr>
            <a:spLocks noGrp="1"/>
          </p:cNvSpPr>
          <p:nvPr/>
        </p:nvSpPr>
        <p:spPr>
          <a:xfrm>
            <a:off x="987552" y="3090672"/>
            <a:ext cx="2331720" cy="45110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3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D711E9C4-E615-4164-8E0E-C48683BB7C4A}"/>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600" b="1" i="0">
                <a:solidFill>
                  <a:srgbClr val="9E3A00"/>
                </a:solidFill>
                <a:latin typeface="Arial"/>
                <a:ea typeface="Arial"/>
                <a:cs typeface="Arial"/>
              </a:rPr>
              <a:t>95% down</a:t>
            </a:r>
          </a:p>
        </p:txBody>
      </p:sp>
      <p:sp>
        <p:nvSpPr>
          <p:cNvPr id="19" name="TextBox 18">
            <a:extLst>
              <a:ext uri="{FF2B5EF4-FFF2-40B4-BE49-F238E27FC236}">
                <a16:creationId xmlns:a16="http://schemas.microsoft.com/office/drawing/2014/main" id="{18248536-6E97-4D19-897C-624A3F6312C2}"/>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150" b="0" i="0">
                <a:solidFill>
                  <a:srgbClr val="1F2730"/>
                </a:solidFill>
                <a:latin typeface="Arial"/>
                <a:ea typeface="Arial"/>
                <a:cs typeface="Arial"/>
              </a:rPr>
              <a:t>206 AD-down and 10 AD-up occurrences</a:t>
            </a:r>
          </a:p>
        </p:txBody>
      </p:sp>
      <p:sp>
        <p:nvSpPr>
          <p:cNvPr id="20" name="Rounded Rectangle 19">
            <a:extLst>
              <a:ext uri="{FF2B5EF4-FFF2-40B4-BE49-F238E27FC236}">
                <a16:creationId xmlns:a16="http://schemas.microsoft.com/office/drawing/2014/main" id="{5E29091D-B675-49BE-A878-6A96D56F4DD7}"/>
              </a:ext>
            </a:extLst>
          </p:cNvPr>
          <p:cNvSpPr>
            <a:spLocks noGrp="1"/>
          </p:cNvSpPr>
          <p:nvPr/>
        </p:nvSpPr>
        <p:spPr>
          <a:xfrm>
            <a:off x="749808" y="388620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C97CA1F7-0F95-4126-9E08-408394415F68}"/>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300" b="1" i="0">
                <a:solidFill>
                  <a:srgbClr val="0F233D"/>
                </a:solidFill>
                <a:latin typeface="Arial"/>
                <a:ea typeface="Arial"/>
                <a:cs typeface="Arial"/>
              </a:rPr>
              <a:t>Core MT genes</a:t>
            </a:r>
          </a:p>
        </p:txBody>
      </p:sp>
      <p:sp>
        <p:nvSpPr>
          <p:cNvPr id="22" name="TextBox 21">
            <a:extLst>
              <a:ext uri="{FF2B5EF4-FFF2-40B4-BE49-F238E27FC236}">
                <a16:creationId xmlns:a16="http://schemas.microsoft.com/office/drawing/2014/main" id="{FAE57504-3744-40A4-B02C-4F8FF1267295}"/>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600" b="1" i="0">
                <a:solidFill>
                  <a:srgbClr val="895600"/>
                </a:solidFill>
                <a:latin typeface="Arial"/>
                <a:ea typeface="Arial"/>
                <a:cs typeface="Arial"/>
              </a:rPr>
              <a:t>59% down</a:t>
            </a:r>
          </a:p>
        </p:txBody>
      </p:sp>
      <p:sp>
        <p:nvSpPr>
          <p:cNvPr id="23" name="TextBox 22">
            <a:extLst>
              <a:ext uri="{FF2B5EF4-FFF2-40B4-BE49-F238E27FC236}">
                <a16:creationId xmlns:a16="http://schemas.microsoft.com/office/drawing/2014/main" id="{FC5B3EDE-C98C-45CA-AB93-D3059D42173E}"/>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150" b="0" i="0">
                <a:solidFill>
                  <a:srgbClr val="1F2730"/>
                </a:solidFill>
                <a:latin typeface="Arial"/>
                <a:ea typeface="Arial"/>
                <a:cs typeface="Arial"/>
              </a:rPr>
              <a:t>38 AD-down and 26 AD-up occurrences</a:t>
            </a:r>
          </a:p>
        </p:txBody>
      </p:sp>
      <p:sp>
        <p:nvSpPr>
          <p:cNvPr id="24" name="Rounded Rectangle 23">
            <a:extLst>
              <a:ext uri="{FF2B5EF4-FFF2-40B4-BE49-F238E27FC236}">
                <a16:creationId xmlns:a16="http://schemas.microsoft.com/office/drawing/2014/main" id="{36BA72D2-3B9D-4CFD-9032-9F25BBDF9111}"/>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54084EDC-C5DD-434C-8042-3C9AE2B51243}"/>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300" b="1" i="0">
                <a:solidFill>
                  <a:srgbClr val="0F233D"/>
                </a:solidFill>
                <a:latin typeface="Arial"/>
                <a:ea typeface="Arial"/>
                <a:cs typeface="Arial"/>
              </a:rPr>
              <a:t>Main DEG pattern</a:t>
            </a:r>
          </a:p>
        </p:txBody>
      </p:sp>
      <p:sp>
        <p:nvSpPr>
          <p:cNvPr id="26" name="TextBox 25">
            <a:extLst>
              <a:ext uri="{FF2B5EF4-FFF2-40B4-BE49-F238E27FC236}">
                <a16:creationId xmlns:a16="http://schemas.microsoft.com/office/drawing/2014/main" id="{C77EC147-AB27-4522-80DF-24CAB245A813}"/>
              </a:ext>
            </a:extLst>
          </p:cNvPr>
          <p:cNvSpPr>
            <a:spLocks noGrp="1"/>
          </p:cNvSpPr>
          <p:nvPr/>
        </p:nvSpPr>
        <p:spPr>
          <a:xfrm>
            <a:off x="3419856" y="4965192"/>
            <a:ext cx="1975104" cy="542544"/>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600" b="1" i="0">
                <a:solidFill>
                  <a:srgbClr val="0072B2"/>
                </a:solidFill>
                <a:latin typeface="Arial"/>
                <a:ea typeface="Arial"/>
                <a:cs typeface="Arial"/>
              </a:rPr>
              <a:t>Nuclear-encoded decrease</a:t>
            </a:r>
          </a:p>
        </p:txBody>
      </p:sp>
      <p:sp>
        <p:nvSpPr>
          <p:cNvPr id="27" name="TextBox 26">
            <a:extLst>
              <a:ext uri="{FF2B5EF4-FFF2-40B4-BE49-F238E27FC236}">
                <a16:creationId xmlns:a16="http://schemas.microsoft.com/office/drawing/2014/main" id="{7EFA35EA-3110-4A6D-B50D-300EE9DE777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150" b="0" i="0">
                <a:solidFill>
                  <a:srgbClr val="1F2730"/>
                </a:solidFill>
                <a:latin typeface="Arial"/>
                <a:ea typeface="Arial"/>
                <a:cs typeface="Arial"/>
              </a:rPr>
              <a:t>The clearest pattern is lower nuclear-encoded OXPHOS expression across female ε4 fine-cell comparisons.</a:t>
            </a:r>
          </a:p>
        </p:txBody>
      </p:sp>
    </p:spTree>
    <p:extLst>
      <p:ext uri="{BB962C8B-B14F-4D97-AF65-F5344CB8AC3E}">
        <p14:creationId val="1352845644"/>
      </p:ext>
    </p:extLst>
  </p:cSld>
  <p:clrMapOvr>
    <a:masterClrMapping/>
  </p:clrMapOvr>
  <p:transition/>
  <p:timing/>
</p:sld>
</file>

<file path=ppt/slides/slide8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BE230396-C711-48F4-9F3F-E125CDE36E8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Direct broad-cell results do not reproduce the female ε4 fine-cell OXPHOS decrease</a:t>
            </a:r>
          </a:p>
        </p:txBody>
      </p:sp>
      <p:sp>
        <p:nvSpPr>
          <p:cNvPr id="3" name="TextBox 2">
            <a:extLst>
              <a:ext uri="{FF2B5EF4-FFF2-40B4-BE49-F238E27FC236}">
                <a16:creationId xmlns:a16="http://schemas.microsoft.com/office/drawing/2014/main" id="{90C9A94E-CA5C-479F-A04F-576DC97C1DC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080" b="0" i="0">
                <a:solidFill>
                  <a:srgbClr val="4E5A68"/>
                </a:solidFill>
                <a:latin typeface="Arial"/>
                <a:ea typeface="Arial"/>
                <a:cs typeface="Arial"/>
              </a:rPr>
              <a:t>This disagreement lowers confidence that the signal generalizes across resolutions.</a:t>
            </a:r>
          </a:p>
        </p:txBody>
      </p:sp>
      <p:sp>
        <p:nvSpPr>
          <p:cNvPr id="4" name="Rounded Rectangle 3">
            <a:extLst>
              <a:ext uri="{FF2B5EF4-FFF2-40B4-BE49-F238E27FC236}">
                <a16:creationId xmlns:a16="http://schemas.microsoft.com/office/drawing/2014/main" id="{F5165143-019E-4190-A879-4C33055182B6}"/>
              </a:ext>
            </a:extLst>
          </p:cNvPr>
          <p:cNvSpPr>
            <a:spLocks noGrp="1"/>
          </p:cNvSpPr>
          <p:nvPr/>
        </p:nvSpPr>
        <p:spPr>
          <a:xfrm>
            <a:off x="65836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5FB12EF-F685-41F0-B76D-A60DE55D51F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4E5A68"/>
                </a:solidFill>
                <a:latin typeface="Arial"/>
                <a:ea typeface="Arial"/>
                <a:cs typeface="Arial"/>
              </a:rPr>
              <a:t>ROSMAP DIRECT BROAD</a:t>
            </a:r>
          </a:p>
        </p:txBody>
      </p:sp>
      <p:sp>
        <p:nvSpPr>
          <p:cNvPr id="6" name="TextBox 5">
            <a:extLst>
              <a:ext uri="{FF2B5EF4-FFF2-40B4-BE49-F238E27FC236}">
                <a16:creationId xmlns:a16="http://schemas.microsoft.com/office/drawing/2014/main" id="{FA677EEF-E3B8-454B-9005-52648E8CD2D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AD-up direction, not significant</a:t>
            </a:r>
          </a:p>
        </p:txBody>
      </p:sp>
      <p:sp>
        <p:nvSpPr>
          <p:cNvPr id="7" name="TextBox 6">
            <a:extLst>
              <a:ext uri="{FF2B5EF4-FFF2-40B4-BE49-F238E27FC236}">
                <a16:creationId xmlns:a16="http://schemas.microsoft.com/office/drawing/2014/main" id="{A9ADC9DF-DE25-4165-9BCE-7FDD7797B58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Excitatory neurons: NES = +0.70 and adjusted P = 0.991. The AD-up direction is not significant.</a:t>
            </a:r>
          </a:p>
        </p:txBody>
      </p:sp>
      <p:sp>
        <p:nvSpPr>
          <p:cNvPr id="8" name="Rounded Rectangle 7">
            <a:extLst>
              <a:ext uri="{FF2B5EF4-FFF2-40B4-BE49-F238E27FC236}">
                <a16:creationId xmlns:a16="http://schemas.microsoft.com/office/drawing/2014/main" id="{889EF010-CCDC-4C5D-8BAC-6BD282885F6D}"/>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B111569-40F8-417C-BE49-30200131459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9E3A00"/>
                </a:solidFill>
                <a:latin typeface="Arial"/>
                <a:ea typeface="Arial"/>
                <a:cs typeface="Arial"/>
              </a:rPr>
              <a:t>SEA-AD DIRECT BROAD</a:t>
            </a:r>
          </a:p>
        </p:txBody>
      </p:sp>
      <p:sp>
        <p:nvSpPr>
          <p:cNvPr id="10" name="TextBox 9">
            <a:extLst>
              <a:ext uri="{FF2B5EF4-FFF2-40B4-BE49-F238E27FC236}">
                <a16:creationId xmlns:a16="http://schemas.microsoft.com/office/drawing/2014/main" id="{C5392091-01E3-4C10-9025-5BFF104E2A5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Nuclear-encoded OXPHOS pathway is significantly AD-up</a:t>
            </a:r>
          </a:p>
        </p:txBody>
      </p:sp>
      <p:sp>
        <p:nvSpPr>
          <p:cNvPr id="11" name="TextBox 10">
            <a:extLst>
              <a:ext uri="{FF2B5EF4-FFF2-40B4-BE49-F238E27FC236}">
                <a16:creationId xmlns:a16="http://schemas.microsoft.com/office/drawing/2014/main" id="{F8AF9F05-3A6A-431E-902C-6B7B0F1A859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Excitatory neurons: NES = +2.01 and adjusted P = 5.62 × 10⁻⁵. The pathway result is significantly AD-up.</a:t>
            </a:r>
          </a:p>
        </p:txBody>
      </p:sp>
      <p:sp>
        <p:nvSpPr>
          <p:cNvPr id="12" name="Rounded Rectangle 11">
            <a:extLst>
              <a:ext uri="{FF2B5EF4-FFF2-40B4-BE49-F238E27FC236}">
                <a16:creationId xmlns:a16="http://schemas.microsoft.com/office/drawing/2014/main" id="{21869939-BD43-4C0D-A433-E130C70A8708}"/>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CCFB44D-1E4B-485C-ACAF-A84BFF5D40C1}"/>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895600"/>
                </a:solidFill>
                <a:latin typeface="Arial"/>
                <a:ea typeface="Arial"/>
                <a:cs typeface="Arial"/>
              </a:rPr>
              <a:t>SEA-AD FINE-CELL DEG CHECK</a:t>
            </a:r>
          </a:p>
        </p:txBody>
      </p:sp>
      <p:sp>
        <p:nvSpPr>
          <p:cNvPr id="14" name="TextBox 13">
            <a:extLst>
              <a:ext uri="{FF2B5EF4-FFF2-40B4-BE49-F238E27FC236}">
                <a16:creationId xmlns:a16="http://schemas.microsoft.com/office/drawing/2014/main" id="{8572C540-E22E-4F44-9781-55EC90D5766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One small astrocyte DEG list</a:t>
            </a:r>
          </a:p>
        </p:txBody>
      </p:sp>
      <p:sp>
        <p:nvSpPr>
          <p:cNvPr id="15" name="TextBox 14">
            <a:extLst>
              <a:ext uri="{FF2B5EF4-FFF2-40B4-BE49-F238E27FC236}">
                <a16:creationId xmlns:a16="http://schemas.microsoft.com/office/drawing/2014/main" id="{10895380-1863-406D-9702-C421FF0FD9ED}"/>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Only two DEGs overlapped with ROSMAP, and the overlap was not significant (adjusted P = 0.819).</a:t>
            </a:r>
          </a:p>
        </p:txBody>
      </p:sp>
      <p:sp>
        <p:nvSpPr>
          <p:cNvPr id="16" name="Rounded Rectangle 15">
            <a:extLst>
              <a:ext uri="{FF2B5EF4-FFF2-40B4-BE49-F238E27FC236}">
                <a16:creationId xmlns:a16="http://schemas.microsoft.com/office/drawing/2014/main" id="{A98D7891-F31E-4753-96F8-2CFBC221DFB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C6F6C08-F66F-45E6-81F4-3E8EE9F63344}"/>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30" b="1" i="0">
                <a:solidFill>
                  <a:srgbClr val="7E4C9A"/>
                </a:solidFill>
                <a:latin typeface="Arial"/>
                <a:ea typeface="Arial"/>
                <a:cs typeface="Arial"/>
              </a:rPr>
              <a:t>The female ε4 decrease is specific to the fine-cell analysis. Direct broad-cell results point upward.</a:t>
            </a:r>
          </a:p>
        </p:txBody>
      </p:sp>
    </p:spTree>
    <p:extLst>
      <p:ext uri="{BB962C8B-B14F-4D97-AF65-F5344CB8AC3E}">
        <p14:creationId val="842948434"/>
      </p:ext>
    </p:extLst>
  </p:cSld>
  <p:clrMapOvr>
    <a:masterClrMapping/>
  </p:clrMapOvr>
  <p:transition/>
  <p:timing/>
</p:sld>
</file>

<file path=ppt/slides/slide8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B8284EB6-DC66-4084-8B6F-64336FD34BA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Why this matters: most respiratory-complex genes are nuclear-encoded</a:t>
            </a:r>
          </a:p>
        </p:txBody>
      </p:sp>
      <p:sp>
        <p:nvSpPr>
          <p:cNvPr id="3" name="TextBox 2">
            <a:extLst>
              <a:ext uri="{FF2B5EF4-FFF2-40B4-BE49-F238E27FC236}">
                <a16:creationId xmlns:a16="http://schemas.microsoft.com/office/drawing/2014/main" id="{C466DD47-872F-4C62-8377-A4EF3A49870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080" b="0" i="0">
                <a:solidFill>
                  <a:srgbClr val="4E5A68"/>
                </a:solidFill>
                <a:latin typeface="Arial"/>
                <a:ea typeface="Arial"/>
                <a:cs typeface="Arial"/>
              </a:rPr>
              <a:t>The decrease may reflect reduced expression of respiratory-complex genes, cellular stress, or a different cell state.</a:t>
            </a:r>
          </a:p>
        </p:txBody>
      </p:sp>
      <p:sp>
        <p:nvSpPr>
          <p:cNvPr id="4" name="Rounded Rectangle 3">
            <a:extLst>
              <a:ext uri="{FF2B5EF4-FFF2-40B4-BE49-F238E27FC236}">
                <a16:creationId xmlns:a16="http://schemas.microsoft.com/office/drawing/2014/main" id="{E3B1B35F-17E4-4DE0-AFDA-4B3ED47BAFA9}"/>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B4DC046-8AA5-4E91-887D-A98906E84090}"/>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9E3A00"/>
                </a:solidFill>
                <a:latin typeface="Arial"/>
                <a:ea typeface="Arial"/>
                <a:cs typeface="Arial"/>
              </a:rPr>
              <a:t>RESPIRATORY MACHINERY</a:t>
            </a:r>
          </a:p>
        </p:txBody>
      </p:sp>
      <p:sp>
        <p:nvSpPr>
          <p:cNvPr id="6" name="TextBox 5">
            <a:extLst>
              <a:ext uri="{FF2B5EF4-FFF2-40B4-BE49-F238E27FC236}">
                <a16:creationId xmlns:a16="http://schemas.microsoft.com/office/drawing/2014/main" id="{874D440F-894C-4273-9AB2-B5D3074AAAE7}"/>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Most subunits are nuclear-encoded</a:t>
            </a:r>
          </a:p>
        </p:txBody>
      </p:sp>
      <p:sp>
        <p:nvSpPr>
          <p:cNvPr id="7" name="TextBox 6">
            <a:extLst>
              <a:ext uri="{FF2B5EF4-FFF2-40B4-BE49-F238E27FC236}">
                <a16:creationId xmlns:a16="http://schemas.microsoft.com/office/drawing/2014/main" id="{23E9BE30-1213-49F7-B09C-1418F354AE1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Lower expression across many nuclear-encoded OXPHOS genes could reduce the supply of respiratory-complex parts.</a:t>
            </a:r>
          </a:p>
        </p:txBody>
      </p:sp>
      <p:sp>
        <p:nvSpPr>
          <p:cNvPr id="8" name="Rounded Rectangle 7">
            <a:extLst>
              <a:ext uri="{FF2B5EF4-FFF2-40B4-BE49-F238E27FC236}">
                <a16:creationId xmlns:a16="http://schemas.microsoft.com/office/drawing/2014/main" id="{04293C45-DC1A-40F9-8632-91036F829E49}"/>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E261050-2EAF-4BA5-AF33-03400EE963A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895600"/>
                </a:solidFill>
                <a:latin typeface="Arial"/>
                <a:ea typeface="Arial"/>
                <a:cs typeface="Arial"/>
              </a:rPr>
              <a:t>APOE CONTEXT</a:t>
            </a:r>
          </a:p>
        </p:txBody>
      </p:sp>
      <p:sp>
        <p:nvSpPr>
          <p:cNvPr id="10" name="TextBox 9">
            <a:extLst>
              <a:ext uri="{FF2B5EF4-FFF2-40B4-BE49-F238E27FC236}">
                <a16:creationId xmlns:a16="http://schemas.microsoft.com/office/drawing/2014/main" id="{09FC0182-46A2-4020-8435-213138674BC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ε4 makes the hypothesis important</a:t>
            </a:r>
          </a:p>
        </p:txBody>
      </p:sp>
      <p:sp>
        <p:nvSpPr>
          <p:cNvPr id="11" name="TextBox 10">
            <a:extLst>
              <a:ext uri="{FF2B5EF4-FFF2-40B4-BE49-F238E27FC236}">
                <a16:creationId xmlns:a16="http://schemas.microsoft.com/office/drawing/2014/main" id="{12D72163-D70F-4797-96D1-5442314CE3D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APOE ε4 strongly increases late-onset Alzheimer’s risk at the population level.</a:t>
            </a:r>
          </a:p>
        </p:txBody>
      </p:sp>
      <p:sp>
        <p:nvSpPr>
          <p:cNvPr id="12" name="Rounded Rectangle 11">
            <a:extLst>
              <a:ext uri="{FF2B5EF4-FFF2-40B4-BE49-F238E27FC236}">
                <a16:creationId xmlns:a16="http://schemas.microsoft.com/office/drawing/2014/main" id="{A71F567C-33CB-4608-886E-DCC40B898C0C}"/>
              </a:ext>
            </a:extLst>
          </p:cNvPr>
          <p:cNvSpPr>
            <a:spLocks noGrp="1"/>
          </p:cNvSpPr>
          <p:nvPr/>
        </p:nvSpPr>
        <p:spPr>
          <a:xfrm>
            <a:off x="824788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F20F9C6-2CBB-4777-8A74-FE8BA83A8D8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72B2"/>
                </a:solidFill>
                <a:latin typeface="Arial"/>
                <a:ea typeface="Arial"/>
                <a:cs typeface="Arial"/>
              </a:rPr>
              <a:t>RESOLUTION WARNING</a:t>
            </a:r>
          </a:p>
        </p:txBody>
      </p:sp>
      <p:sp>
        <p:nvSpPr>
          <p:cNvPr id="14" name="TextBox 13">
            <a:extLst>
              <a:ext uri="{FF2B5EF4-FFF2-40B4-BE49-F238E27FC236}">
                <a16:creationId xmlns:a16="http://schemas.microsoft.com/office/drawing/2014/main" id="{7B508054-B88B-448D-9F25-D5D8DA0F08B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Broad-cell direction reverses</a:t>
            </a:r>
          </a:p>
        </p:txBody>
      </p:sp>
      <p:sp>
        <p:nvSpPr>
          <p:cNvPr id="15" name="TextBox 14">
            <a:extLst>
              <a:ext uri="{FF2B5EF4-FFF2-40B4-BE49-F238E27FC236}">
                <a16:creationId xmlns:a16="http://schemas.microsoft.com/office/drawing/2014/main" id="{A7FF3F70-622D-4082-8EEA-32B4CF420D07}"/>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Differences in the mix of fine cell types may influence the direct broad-cell result.</a:t>
            </a:r>
          </a:p>
        </p:txBody>
      </p:sp>
      <p:sp>
        <p:nvSpPr>
          <p:cNvPr id="16" name="Rounded Rectangle 15">
            <a:extLst>
              <a:ext uri="{FF2B5EF4-FFF2-40B4-BE49-F238E27FC236}">
                <a16:creationId xmlns:a16="http://schemas.microsoft.com/office/drawing/2014/main" id="{8C891208-1195-4DBE-B866-2D4F14AC8FF4}"/>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640AEFF-653E-4E88-BB8D-F975F5126A7F}"/>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E915A7F-791C-41A5-A90B-0BC6B338FEF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20" b="1" i="0">
                <a:solidFill>
                  <a:srgbClr val="1F2730"/>
                </a:solidFill>
                <a:latin typeface="Arial"/>
                <a:ea typeface="Arial"/>
                <a:cs typeface="Arial"/>
              </a:rPr>
              <a:t>The fine-cell signal warrants follow-up, but the broad-cell disagreement must stay visible.</a:t>
            </a:r>
          </a:p>
        </p:txBody>
      </p:sp>
    </p:spTree>
    <p:extLst>
      <p:ext uri="{BB962C8B-B14F-4D97-AF65-F5344CB8AC3E}">
        <p14:creationId val="114857928"/>
      </p:ext>
    </p:extLst>
  </p:cSld>
  <p:clrMapOvr>
    <a:masterClrMapping/>
  </p:clrMapOvr>
  <p:transition/>
  <p:timing/>
</p:sld>
</file>

<file path=ppt/slides/slide8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88C40590-71AC-4C4D-A67D-0830EDF1B98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Prior research and evidence context for Finding 4</a:t>
            </a:r>
          </a:p>
        </p:txBody>
      </p:sp>
      <p:sp>
        <p:nvSpPr>
          <p:cNvPr id="3" name="TextBox 2">
            <a:extLst>
              <a:ext uri="{FF2B5EF4-FFF2-40B4-BE49-F238E27FC236}">
                <a16:creationId xmlns:a16="http://schemas.microsoft.com/office/drawing/2014/main" id="{8B4123C0-53E7-4530-B8FD-83F2DC61A6A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CEFC189B-338C-4FB8-A899-371B4554D071}"/>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3FDB348-D11A-4E1D-B039-68758C28185B}"/>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500" b="1" i="0">
                <a:solidFill>
                  <a:srgbClr val="0072B2"/>
                </a:solidFill>
                <a:latin typeface="Arial"/>
                <a:ea typeface="Arial"/>
                <a:cs typeface="Arial"/>
              </a:rPr>
              <a:t>Schmukler et al. 2020</a:t>
            </a:r>
          </a:p>
        </p:txBody>
      </p:sp>
      <p:sp>
        <p:nvSpPr>
          <p:cNvPr id="6" name="TextBox 5">
            <a:extLst>
              <a:ext uri="{FF2B5EF4-FFF2-40B4-BE49-F238E27FC236}">
                <a16:creationId xmlns:a16="http://schemas.microsoft.com/office/drawing/2014/main" id="{0D4984E5-FAE7-40C9-AE61-3D566A1E0915}"/>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350" b="1" i="0">
                <a:solidFill>
                  <a:srgbClr val="0F233D"/>
                </a:solidFill>
                <a:latin typeface="Arial"/>
                <a:ea typeface="Arial"/>
                <a:cs typeface="Arial"/>
              </a:rPr>
              <a:t>APOE4 and mitochondrial quality control</a:t>
            </a:r>
          </a:p>
        </p:txBody>
      </p:sp>
      <p:sp>
        <p:nvSpPr>
          <p:cNvPr id="7" name="TextBox 6">
            <a:extLst>
              <a:ext uri="{FF2B5EF4-FFF2-40B4-BE49-F238E27FC236}">
                <a16:creationId xmlns:a16="http://schemas.microsoft.com/office/drawing/2014/main" id="{D4FD2E75-1220-441B-926F-DEF7213E5B59}"/>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51666C0A-FAEC-4586-9035-29FCF9C2837C}"/>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80" b="0" i="0">
                <a:solidFill>
                  <a:srgbClr val="1F2730"/>
                </a:solidFill>
                <a:latin typeface="Arial"/>
                <a:ea typeface="Arial"/>
                <a:cs typeface="Arial"/>
              </a:rPr>
              <a:t>Links APOE4 models to mitochondrial dynamics and removal of damaged mitochondria.</a:t>
            </a:r>
          </a:p>
        </p:txBody>
      </p:sp>
      <p:sp>
        <p:nvSpPr>
          <p:cNvPr id="9" name="TextBox 8">
            <a:extLst>
              <a:ext uri="{FF2B5EF4-FFF2-40B4-BE49-F238E27FC236}">
                <a16:creationId xmlns:a16="http://schemas.microsoft.com/office/drawing/2014/main" id="{C20664A6-60FE-4657-B500-B5BF43697864}"/>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9254D0C-D77D-4368-8BB2-4B694D4B1E53}"/>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60" b="0" i="0">
                <a:solidFill>
                  <a:srgbClr val="4E5A68"/>
                </a:solidFill>
                <a:latin typeface="Arial"/>
                <a:ea typeface="Arial"/>
                <a:cs typeface="Arial"/>
              </a:rPr>
              <a:t>Does not reproduce the nuclear-encoded OXPHOS gene-expression pattern.</a:t>
            </a:r>
          </a:p>
        </p:txBody>
      </p:sp>
      <p:sp>
        <p:nvSpPr>
          <p:cNvPr id="11" name="Rounded Rectangle 10">
            <a:extLst>
              <a:ext uri="{FF2B5EF4-FFF2-40B4-BE49-F238E27FC236}">
                <a16:creationId xmlns:a16="http://schemas.microsoft.com/office/drawing/2014/main" id="{FABCE98F-F22F-4B91-91E2-3E4F790D1F85}"/>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DD38BFD6-1BE9-451D-8A76-029AD290F947}"/>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8033BCD3-113D-4007-BB72-3BDF025C0DF2}"/>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350" b="1" i="0">
                <a:solidFill>
                  <a:srgbClr val="0F233D"/>
                </a:solidFill>
                <a:latin typeface="Arial"/>
                <a:ea typeface="Arial"/>
                <a:cs typeface="Arial"/>
              </a:rPr>
              <a:t>APOE4 astrocytes</a:t>
            </a:r>
          </a:p>
        </p:txBody>
      </p:sp>
      <p:sp>
        <p:nvSpPr>
          <p:cNvPr id="14" name="TextBox 13">
            <a:extLst>
              <a:ext uri="{FF2B5EF4-FFF2-40B4-BE49-F238E27FC236}">
                <a16:creationId xmlns:a16="http://schemas.microsoft.com/office/drawing/2014/main" id="{12949E16-F32A-477E-9432-0BF74E8C5FF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50FC22AC-8BBA-448A-BFCA-77D9E8A039B8}"/>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80" b="0" i="0">
                <a:solidFill>
                  <a:srgbClr val="1F2730"/>
                </a:solidFill>
                <a:latin typeface="Arial"/>
                <a:ea typeface="Arial"/>
                <a:cs typeface="Arial"/>
              </a:rPr>
              <a:t>Connects APOE4 state to impaired maintenance of mitochondrial function.</a:t>
            </a:r>
          </a:p>
        </p:txBody>
      </p:sp>
      <p:sp>
        <p:nvSpPr>
          <p:cNvPr id="16" name="TextBox 15">
            <a:extLst>
              <a:ext uri="{FF2B5EF4-FFF2-40B4-BE49-F238E27FC236}">
                <a16:creationId xmlns:a16="http://schemas.microsoft.com/office/drawing/2014/main" id="{63C44BE8-4AF6-40C1-A9AD-C10AC164F936}"/>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B54E93C2-E812-4EE6-8301-A43E5841C1F2}"/>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60" b="0" i="0">
                <a:solidFill>
                  <a:srgbClr val="4E5A68"/>
                </a:solidFill>
                <a:latin typeface="Arial"/>
                <a:ea typeface="Arial"/>
                <a:cs typeface="Arial"/>
              </a:rPr>
              <a:t>Different cell context and experimental design.</a:t>
            </a:r>
          </a:p>
        </p:txBody>
      </p:sp>
      <p:sp>
        <p:nvSpPr>
          <p:cNvPr id="18" name="Rounded Rectangle 17">
            <a:extLst>
              <a:ext uri="{FF2B5EF4-FFF2-40B4-BE49-F238E27FC236}">
                <a16:creationId xmlns:a16="http://schemas.microsoft.com/office/drawing/2014/main" id="{92589BE4-7F80-4DA2-911C-363BA86ADA58}"/>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C661FB0-5058-43DE-B243-D0EF9CF4EF16}"/>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362A90CB-A637-445E-8B51-2350713A7075}"/>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350" b="1" i="0">
                <a:solidFill>
                  <a:srgbClr val="0F233D"/>
                </a:solidFill>
                <a:latin typeface="Arial"/>
                <a:ea typeface="Arial"/>
                <a:cs typeface="Arial"/>
              </a:rPr>
              <a:t>Cell-resolved AD responses</a:t>
            </a:r>
          </a:p>
        </p:txBody>
      </p:sp>
      <p:sp>
        <p:nvSpPr>
          <p:cNvPr id="21" name="TextBox 20">
            <a:extLst>
              <a:ext uri="{FF2B5EF4-FFF2-40B4-BE49-F238E27FC236}">
                <a16:creationId xmlns:a16="http://schemas.microsoft.com/office/drawing/2014/main" id="{597F2BA8-2007-4A85-8BC9-506143C0F9A4}"/>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CB6986F3-CF18-475A-94F9-C9A8F952B1EE}"/>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80" b="0" i="0">
                <a:solidFill>
                  <a:srgbClr val="1F2730"/>
                </a:solidFill>
                <a:latin typeface="Arial"/>
                <a:ea typeface="Arial"/>
                <a:cs typeface="Arial"/>
              </a:rPr>
              <a:t>Supports strong differences among brain cell states.</a:t>
            </a:r>
          </a:p>
        </p:txBody>
      </p:sp>
      <p:sp>
        <p:nvSpPr>
          <p:cNvPr id="23" name="TextBox 22">
            <a:extLst>
              <a:ext uri="{FF2B5EF4-FFF2-40B4-BE49-F238E27FC236}">
                <a16:creationId xmlns:a16="http://schemas.microsoft.com/office/drawing/2014/main" id="{7F919ED5-2F8B-4B99-8353-035EAC9329C6}"/>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37C881AE-9707-4DF5-B032-CB8AD6F94FF0}"/>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60" b="0" i="0">
                <a:solidFill>
                  <a:srgbClr val="4E5A68"/>
                </a:solidFill>
                <a:latin typeface="Arial"/>
                <a:ea typeface="Arial"/>
                <a:cs typeface="Arial"/>
              </a:rPr>
              <a:t>Uses ROSMAP and is not an independent replication.</a:t>
            </a:r>
          </a:p>
        </p:txBody>
      </p:sp>
      <p:sp>
        <p:nvSpPr>
          <p:cNvPr id="25" name="Rounded Rectangle 24">
            <a:extLst>
              <a:ext uri="{FF2B5EF4-FFF2-40B4-BE49-F238E27FC236}">
                <a16:creationId xmlns:a16="http://schemas.microsoft.com/office/drawing/2014/main" id="{D22B9BBF-BCFD-4539-B9CA-7DDE989A13D7}"/>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5BD11175-1C40-4C76-8D0F-A629CB558629}"/>
              </a:ext>
            </a:extLst>
          </p:cNvPr>
          <p:cNvSpPr>
            <a:spLocks noGrp="1"/>
          </p:cNvSpPr>
          <p:nvPr/>
        </p:nvSpPr>
        <p:spPr>
          <a:xfrm>
            <a:off x="896112" y="5952744"/>
            <a:ext cx="10405872" cy="221599"/>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lang="en-US" sz="1080" b="1">
                <a:solidFill>
                  <a:srgbClr val="7E4C9A"/>
                </a:solidFill>
                <a:latin typeface="Arial"/>
                <a:ea typeface="Arial"/>
                <a:cs typeface="Arial"/>
              </a:rPr>
              <a:t>No</a:t>
            </a:r>
            <a:r>
              <a:rPr sz="1080" b="1" i="0">
                <a:solidFill>
                  <a:srgbClr val="7E4C9A"/>
                </a:solidFill>
                <a:latin typeface="Arial"/>
                <a:ea typeface="Arial"/>
                <a:cs typeface="Arial"/>
              </a:rPr>
              <a:t>velty: Moderate</a:t>
            </a:r>
          </a:p>
        </p:txBody>
      </p:sp>
    </p:spTree>
    <p:extLst>
      <p:ext uri="{BB962C8B-B14F-4D97-AF65-F5344CB8AC3E}">
        <p14:creationId val="687861937"/>
      </p:ext>
    </p:extLst>
  </p:cSld>
  <p:clrMapOvr>
    <a:masterClrMapping/>
  </p:clrMapOvr>
  <p:transition/>
  <p:timing/>
</p:sld>
</file>

<file path=ppt/slides/slide8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0F233D"/>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4EF2E26F-2CDF-4E65-8BA1-34F46AD706D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050" b="1" i="0">
                <a:solidFill>
                  <a:srgbClr val="E69F00"/>
                </a:solidFill>
                <a:latin typeface="Arial"/>
                <a:ea typeface="Arial"/>
                <a:cs typeface="Arial"/>
              </a:rPr>
              <a:t>FINDING 5</a:t>
            </a:r>
          </a:p>
        </p:txBody>
      </p:sp>
      <p:sp>
        <p:nvSpPr>
          <p:cNvPr id="3" name="Rectangle 2">
            <a:extLst>
              <a:ext uri="{FF2B5EF4-FFF2-40B4-BE49-F238E27FC236}">
                <a16:creationId xmlns:a16="http://schemas.microsoft.com/office/drawing/2014/main" id="{679FEE76-9C69-4E79-9D0E-33754FA43E21}"/>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AA141759-D659-44D6-8951-9C9972B55106}"/>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2200" b="1" i="0">
                <a:solidFill>
                  <a:srgbClr val="FFFFFF"/>
                </a:solidFill>
                <a:latin typeface="Arial"/>
                <a:ea typeface="Arial"/>
                <a:cs typeface="Arial"/>
              </a:rPr>
              <a:t>Male APOE ε2 cells show broad decreases across both OXPHOS gene sets</a:t>
            </a:r>
          </a:p>
        </p:txBody>
      </p:sp>
      <p:sp>
        <p:nvSpPr>
          <p:cNvPr id="5" name="TextBox 4">
            <a:extLst>
              <a:ext uri="{FF2B5EF4-FFF2-40B4-BE49-F238E27FC236}">
                <a16:creationId xmlns:a16="http://schemas.microsoft.com/office/drawing/2014/main" id="{444133BC-3F24-48B3-8674-96DDA42DC308}"/>
              </a:ext>
            </a:extLst>
          </p:cNvPr>
          <p:cNvSpPr>
            <a:spLocks noGrp="1"/>
          </p:cNvSpPr>
          <p:nvPr/>
        </p:nvSpPr>
        <p:spPr>
          <a:xfrm>
            <a:off x="1097280" y="2468880"/>
            <a:ext cx="7406640" cy="914400"/>
          </a:xfrm>
          <a:prstGeom prst="rect">
            <a:avLst/>
          </a:prstGeom>
          <a:noFill/>
        </p:spPr>
        <p:txBody>
          <a:bodyPr wrap="square" lIns="0" tIns="0" rIns="0" bIns="0" anchor="t">
            <a:normAutofit/>
          </a:bodyPr>
          <a:lstStyle/>
          <a:p>
            <a:pPr algn="l">
              <a:lnSpc>
                <a:spcPct val="100000"/>
              </a:lnSpc>
              <a:spcBef>
                <a:spcPct val="0"/>
              </a:spcBef>
              <a:spcAft>
                <a:spcPct val="0"/>
              </a:spcAft>
              <a:buNone/>
              <a:defRPr sz="1350" b="1">
                <a:solidFill>
                  <a:srgbClr val="E6A700"/>
                </a:solidFill>
                <a:latin typeface="Arial"/>
                <a:ea typeface="Arial"/>
                <a:cs typeface="Arial"/>
              </a:defRPr>
            </a:pPr>
            <a:r>
              <a:rPr sz="1350" b="1" i="0">
                <a:solidFill>
                  <a:srgbClr val="E6A700"/>
                </a:solidFill>
                <a:latin typeface="Arial"/>
                <a:ea typeface="Arial"/>
                <a:cs typeface="Arial"/>
              </a:rPr>
              <a:t>Observed in: male ε2</a:t>
            </a:r>
          </a:p>
        </p:txBody>
      </p:sp>
      <p:sp>
        <p:nvSpPr>
          <p:cNvPr id="6" name="Rounded Rectangle 5">
            <a:extLst>
              <a:ext uri="{FF2B5EF4-FFF2-40B4-BE49-F238E27FC236}">
                <a16:creationId xmlns:a16="http://schemas.microsoft.com/office/drawing/2014/main" id="{7D622FD7-0151-4AF9-A487-7DE2060478D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1658018-9D15-438B-8510-E212F9931423}"/>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32E41CE8-CDFA-44D4-A17F-1D85D2DF329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F14DF69-6E24-4830-A88A-57EB39EAA409}"/>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288A9BC0-42FC-41E9-8C8D-8862108F0703}"/>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886A3D6A-050D-454B-A2A4-F432AE04DA3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81E439F-F7F3-4C2D-9AED-A1B048E90A44}"/>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62023D3E-15BB-4049-A8AD-079F9744095B}"/>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B5C00B5F-F220-4649-BE0A-E55B74FD74DA}"/>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D486C808-47D2-42CB-AACF-203A868DF3F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0CEEC43C-DBFF-4642-9E0A-F21A82A46B5C}"/>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8A202477-1FEE-4A36-810D-A2539DCF225C}"/>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D363E3D9-9544-4D85-BFEB-2823E795F07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10748D0A-7A11-478D-861B-3D0939C13BAA}"/>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184BAA67-2B8F-485F-9374-B6D5A8BAC42F}"/>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D09FD795-F30A-4125-BD47-A454AEFBD2C8}"/>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20" b="1" i="0">
                <a:solidFill>
                  <a:srgbClr val="FFFFFF"/>
                </a:solidFill>
                <a:latin typeface="Arial"/>
                <a:ea typeface="Arial"/>
                <a:cs typeface="Arial"/>
              </a:rPr>
              <a:t>Both OXPHOS gene sets show lower expression across fine-cell DEG occurrences.</a:t>
            </a:r>
          </a:p>
        </p:txBody>
      </p:sp>
    </p:spTree>
    <p:extLst>
      <p:ext uri="{BB962C8B-B14F-4D97-AF65-F5344CB8AC3E}">
        <p14:creationId val="683266284"/>
      </p:ext>
    </p:extLst>
  </p:cSld>
  <p:clrMapOvr>
    <a:masterClrMapping/>
  </p:clrMapOvr>
  <p:transition/>
  <p:timing/>
</p:sld>
</file>

<file path=ppt/slides/slide8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2C286BED-F564-486A-BCC8-11405F5499E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Male ε2 cells show lower expression of both OXPHOS gene sets in AD</a:t>
            </a:r>
          </a:p>
        </p:txBody>
      </p:sp>
      <p:sp>
        <p:nvSpPr>
          <p:cNvPr id="3" name="TextBox 2">
            <a:extLst>
              <a:ext uri="{FF2B5EF4-FFF2-40B4-BE49-F238E27FC236}">
                <a16:creationId xmlns:a16="http://schemas.microsoft.com/office/drawing/2014/main" id="{3D2C08D8-D9F5-4F06-B850-B7758BAABFF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080" b="0" i="0">
                <a:solidFill>
                  <a:srgbClr val="4E5A68"/>
                </a:solidFill>
                <a:latin typeface="Arial"/>
                <a:ea typeface="Arial"/>
                <a:cs typeface="Arial"/>
              </a:rPr>
              <a:t>This is the strongest coordinated downward OXPHOS pattern in ROSMAP.</a:t>
            </a:r>
          </a:p>
        </p:txBody>
      </p:sp>
      <p:sp>
        <p:nvSpPr>
          <p:cNvPr id="4" name="Rounded Rectangle 3">
            <a:extLst>
              <a:ext uri="{FF2B5EF4-FFF2-40B4-BE49-F238E27FC236}">
                <a16:creationId xmlns:a16="http://schemas.microsoft.com/office/drawing/2014/main" id="{AF633511-2899-4B97-9AB6-D15EDC6E6558}"/>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44AC28-46AD-4350-B6AE-F9533B31B94F}"/>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4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E0A46577-F0BD-402F-8EC0-3EA55F4145E5}"/>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CC54C5A-2B30-48CC-AA93-BD5183BD696A}"/>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40" b="1" i="0">
                <a:solidFill>
                  <a:srgbClr val="00684D"/>
                </a:solidFill>
                <a:latin typeface="Arial"/>
                <a:ea typeface="Arial"/>
                <a:cs typeface="Arial"/>
              </a:rPr>
              <a:t>APOE ε2</a:t>
            </a:r>
          </a:p>
        </p:txBody>
      </p:sp>
      <p:sp>
        <p:nvSpPr>
          <p:cNvPr id="8" name="Rounded Rectangle 7">
            <a:extLst>
              <a:ext uri="{FF2B5EF4-FFF2-40B4-BE49-F238E27FC236}">
                <a16:creationId xmlns:a16="http://schemas.microsoft.com/office/drawing/2014/main" id="{50151338-65D5-4E79-A86F-F25D1C48D69A}"/>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C526B50-273F-448E-82DE-6DA8ECEE9FC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40" b="1" i="0">
                <a:solidFill>
                  <a:srgbClr val="895600"/>
                </a:solidFill>
                <a:latin typeface="Arial"/>
                <a:ea typeface="Arial"/>
                <a:cs typeface="Arial"/>
              </a:rPr>
              <a:t>Both gene sets down</a:t>
            </a:r>
          </a:p>
        </p:txBody>
      </p:sp>
      <p:sp>
        <p:nvSpPr>
          <p:cNvPr id="10" name="Rounded Rectangle 9">
            <a:extLst>
              <a:ext uri="{FF2B5EF4-FFF2-40B4-BE49-F238E27FC236}">
                <a16:creationId xmlns:a16="http://schemas.microsoft.com/office/drawing/2014/main" id="{0B34286A-226C-482A-A665-5A8CD6EC5CFC}"/>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90E08D2-330A-472E-8033-832F01D56BAE}"/>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40" b="1" i="0">
                <a:solidFill>
                  <a:srgbClr val="9E3A00"/>
                </a:solidFill>
                <a:latin typeface="Arial"/>
                <a:ea typeface="Arial"/>
                <a:cs typeface="Arial"/>
              </a:rPr>
              <a:t>Large DEG sets</a:t>
            </a:r>
          </a:p>
        </p:txBody>
      </p:sp>
      <p:sp>
        <p:nvSpPr>
          <p:cNvPr id="12" name="Rounded Rectangle 11">
            <a:extLst>
              <a:ext uri="{FF2B5EF4-FFF2-40B4-BE49-F238E27FC236}">
                <a16:creationId xmlns:a16="http://schemas.microsoft.com/office/drawing/2014/main" id="{54262262-A93C-4CDF-AB68-A8E1F318B890}"/>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73E70AAA-A0B8-4007-BA8D-B263820634C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9E3A00"/>
                </a:solidFill>
                <a:latin typeface="Arial"/>
                <a:ea typeface="Arial"/>
                <a:cs typeface="Arial"/>
              </a:rPr>
              <a:t>CORE MT GENES</a:t>
            </a:r>
          </a:p>
        </p:txBody>
      </p:sp>
      <p:sp>
        <p:nvSpPr>
          <p:cNvPr id="14" name="TextBox 13">
            <a:extLst>
              <a:ext uri="{FF2B5EF4-FFF2-40B4-BE49-F238E27FC236}">
                <a16:creationId xmlns:a16="http://schemas.microsoft.com/office/drawing/2014/main" id="{8076B748-9DA2-4800-A2FF-5A4ED6F02FBF}"/>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119 of 132 down</a:t>
            </a:r>
          </a:p>
        </p:txBody>
      </p:sp>
      <p:sp>
        <p:nvSpPr>
          <p:cNvPr id="15" name="TextBox 14">
            <a:extLst>
              <a:ext uri="{FF2B5EF4-FFF2-40B4-BE49-F238E27FC236}">
                <a16:creationId xmlns:a16="http://schemas.microsoft.com/office/drawing/2014/main" id="{38BFA3FB-E15C-416C-9B94-C74F2F0ADFCD}"/>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About 90% of core MT gene occurrences were lower in AD.</a:t>
            </a:r>
          </a:p>
        </p:txBody>
      </p:sp>
      <p:sp>
        <p:nvSpPr>
          <p:cNvPr id="16" name="Rounded Rectangle 15">
            <a:extLst>
              <a:ext uri="{FF2B5EF4-FFF2-40B4-BE49-F238E27FC236}">
                <a16:creationId xmlns:a16="http://schemas.microsoft.com/office/drawing/2014/main" id="{27F1F4AA-18FD-4180-9D37-EEB5D5304B45}"/>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94082EB-264B-4B5A-8297-C444A4D08140}"/>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9E3A00"/>
                </a:solidFill>
                <a:latin typeface="Arial"/>
                <a:ea typeface="Arial"/>
                <a:cs typeface="Arial"/>
              </a:rPr>
              <a:t>NUCLEAR-ENCODED OXPHOS</a:t>
            </a:r>
          </a:p>
        </p:txBody>
      </p:sp>
      <p:sp>
        <p:nvSpPr>
          <p:cNvPr id="18" name="TextBox 17">
            <a:extLst>
              <a:ext uri="{FF2B5EF4-FFF2-40B4-BE49-F238E27FC236}">
                <a16:creationId xmlns:a16="http://schemas.microsoft.com/office/drawing/2014/main" id="{118FE9BB-5E81-4FCC-B356-42F37286EB45}"/>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404 of 467 down</a:t>
            </a:r>
          </a:p>
        </p:txBody>
      </p:sp>
      <p:sp>
        <p:nvSpPr>
          <p:cNvPr id="19" name="TextBox 18">
            <a:extLst>
              <a:ext uri="{FF2B5EF4-FFF2-40B4-BE49-F238E27FC236}">
                <a16:creationId xmlns:a16="http://schemas.microsoft.com/office/drawing/2014/main" id="{294A6B3A-48A7-41A4-9C9F-DD509BA8951E}"/>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About 87% of nuclear-encoded OXPHOS gene occurrences were lower in AD.</a:t>
            </a:r>
          </a:p>
        </p:txBody>
      </p:sp>
      <p:sp>
        <p:nvSpPr>
          <p:cNvPr id="20" name="Rounded Rectangle 19">
            <a:extLst>
              <a:ext uri="{FF2B5EF4-FFF2-40B4-BE49-F238E27FC236}">
                <a16:creationId xmlns:a16="http://schemas.microsoft.com/office/drawing/2014/main" id="{58AA7E7F-69E0-4505-8E3C-62A2BB94F23D}"/>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5ADE7F7-B4AE-44FC-847A-765D98C65B77}"/>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72B2"/>
                </a:solidFill>
                <a:latin typeface="Arial"/>
                <a:ea typeface="Arial"/>
                <a:cs typeface="Arial"/>
              </a:rPr>
              <a:t>KEY DISTINCTION</a:t>
            </a:r>
          </a:p>
        </p:txBody>
      </p:sp>
      <p:sp>
        <p:nvSpPr>
          <p:cNvPr id="22" name="TextBox 21">
            <a:extLst>
              <a:ext uri="{FF2B5EF4-FFF2-40B4-BE49-F238E27FC236}">
                <a16:creationId xmlns:a16="http://schemas.microsoft.com/office/drawing/2014/main" id="{E6CD5148-E748-4F6A-B1D0-98451BF00C5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Coordinated decrease</a:t>
            </a:r>
          </a:p>
        </p:txBody>
      </p:sp>
      <p:sp>
        <p:nvSpPr>
          <p:cNvPr id="23" name="TextBox 22">
            <a:extLst>
              <a:ext uri="{FF2B5EF4-FFF2-40B4-BE49-F238E27FC236}">
                <a16:creationId xmlns:a16="http://schemas.microsoft.com/office/drawing/2014/main" id="{414D44C9-D8CE-4D80-B982-C37B9274C8CE}"/>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Both OXPHOS gene sets move downward, unlike the opposite-direction pattern in male ε3/ε3.</a:t>
            </a:r>
          </a:p>
        </p:txBody>
      </p:sp>
      <p:sp>
        <p:nvSpPr>
          <p:cNvPr id="24" name="Rounded Rectangle 23">
            <a:extLst>
              <a:ext uri="{FF2B5EF4-FFF2-40B4-BE49-F238E27FC236}">
                <a16:creationId xmlns:a16="http://schemas.microsoft.com/office/drawing/2014/main" id="{35B557CF-AC23-44D3-8493-322B013D4621}"/>
              </a:ext>
            </a:extLst>
          </p:cNvPr>
          <p:cNvSpPr>
            <a:spLocks noGrp="1"/>
          </p:cNvSpPr>
          <p:nvPr/>
        </p:nvSpPr>
        <p:spPr>
          <a:xfrm>
            <a:off x="658368" y="6205669"/>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DA97776B-399C-4369-BD4F-5FAE65064E55}"/>
              </a:ext>
            </a:extLst>
          </p:cNvPr>
          <p:cNvSpPr>
            <a:spLocks noGrp="1"/>
          </p:cNvSpPr>
          <p:nvPr/>
        </p:nvSpPr>
        <p:spPr>
          <a:xfrm>
            <a:off x="896112" y="6333685"/>
            <a:ext cx="10405872" cy="237744"/>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40" b="1" i="0">
                <a:solidFill>
                  <a:srgbClr val="7E4C9A"/>
                </a:solidFill>
                <a:latin typeface="Arial"/>
                <a:ea typeface="Arial"/>
                <a:cs typeface="Arial"/>
              </a:rPr>
              <a:t>An ε2 allele can be protective at the population level while diseased tissue still shows lower OXPHOS gene expression.</a:t>
            </a:r>
          </a:p>
        </p:txBody>
      </p:sp>
    </p:spTree>
    <p:extLst>
      <p:ext uri="{BB962C8B-B14F-4D97-AF65-F5344CB8AC3E}">
        <p14:creationId val="453965622"/>
      </p:ext>
    </p:extLst>
  </p:cSld>
  <p:clrMapOvr>
    <a:masterClrMapping/>
  </p:clrMapOvr>
  <p:transition/>
  <p:timing/>
</p:sld>
</file>

<file path=ppt/slides/slide8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4FBD277D-7431-4A7A-A1C7-72AF1F26B21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ROSMAP: male ε2 has the most downward OXPHOS DEG occurrences</a:t>
            </a:r>
          </a:p>
        </p:txBody>
      </p:sp>
      <p:sp>
        <p:nvSpPr>
          <p:cNvPr id="3" name="TextBox 2">
            <a:extLst>
              <a:ext uri="{FF2B5EF4-FFF2-40B4-BE49-F238E27FC236}">
                <a16:creationId xmlns:a16="http://schemas.microsoft.com/office/drawing/2014/main" id="{90923344-F35D-4EFF-A0E6-1084F7A5BE5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080" b="0" i="0">
                <a:solidFill>
                  <a:srgbClr val="4E5A68"/>
                </a:solidFill>
                <a:latin typeface="Arial"/>
                <a:ea typeface="Arial"/>
                <a:cs typeface="Arial"/>
              </a:rPr>
              <a:t>Fine-cell DEG occurrences and direct broad-cell sensitivity point mainly downward.</a:t>
            </a:r>
          </a:p>
        </p:txBody>
      </p:sp>
      <p:sp>
        <p:nvSpPr>
          <p:cNvPr id="4" name="Rounded Rectangle 3">
            <a:extLst>
              <a:ext uri="{FF2B5EF4-FFF2-40B4-BE49-F238E27FC236}">
                <a16:creationId xmlns:a16="http://schemas.microsoft.com/office/drawing/2014/main" id="{815A4D51-038B-4DB5-BB9D-C51DE16B673D}"/>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624508B-2051-4B1C-8CFD-BB759936A4B0}"/>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800" b="1" i="0">
                <a:solidFill>
                  <a:srgbClr val="0072B2"/>
                </a:solidFill>
                <a:latin typeface="Arial"/>
                <a:ea typeface="Arial"/>
                <a:cs typeface="Arial"/>
              </a:rPr>
              <a:t>132</a:t>
            </a:r>
          </a:p>
        </p:txBody>
      </p:sp>
      <p:sp>
        <p:nvSpPr>
          <p:cNvPr id="6" name="TextBox 5">
            <a:extLst>
              <a:ext uri="{FF2B5EF4-FFF2-40B4-BE49-F238E27FC236}">
                <a16:creationId xmlns:a16="http://schemas.microsoft.com/office/drawing/2014/main" id="{8CF85EEA-A167-43C8-AFCD-1D6C63543861}"/>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E9B93EE7-DD66-498F-A3CB-2420119AF29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880" b="0" i="0">
                <a:solidFill>
                  <a:srgbClr val="4E5A68"/>
                </a:solidFill>
                <a:latin typeface="Arial"/>
                <a:ea typeface="Arial"/>
                <a:cs typeface="Arial"/>
              </a:rPr>
              <a:t>13 up, 119 down</a:t>
            </a:r>
          </a:p>
        </p:txBody>
      </p:sp>
      <p:sp>
        <p:nvSpPr>
          <p:cNvPr id="8" name="Rounded Rectangle 7">
            <a:extLst>
              <a:ext uri="{FF2B5EF4-FFF2-40B4-BE49-F238E27FC236}">
                <a16:creationId xmlns:a16="http://schemas.microsoft.com/office/drawing/2014/main" id="{67A0F397-F140-4D64-B92B-A6E3A29C0C89}"/>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FFD5BF0-813B-49E9-A0B0-0F89CDDD3B97}"/>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800" b="1" i="0">
                <a:solidFill>
                  <a:srgbClr val="00684D"/>
                </a:solidFill>
                <a:latin typeface="Arial"/>
                <a:ea typeface="Arial"/>
                <a:cs typeface="Arial"/>
              </a:rPr>
              <a:t>467</a:t>
            </a:r>
          </a:p>
        </p:txBody>
      </p:sp>
      <p:sp>
        <p:nvSpPr>
          <p:cNvPr id="10" name="TextBox 9">
            <a:extLst>
              <a:ext uri="{FF2B5EF4-FFF2-40B4-BE49-F238E27FC236}">
                <a16:creationId xmlns:a16="http://schemas.microsoft.com/office/drawing/2014/main" id="{ED6BE81B-2B7A-40DB-904F-8CC485792EC9}"/>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3D970A38-BB5D-47A0-B7C7-04DD293709E6}"/>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880" b="0" i="0">
                <a:solidFill>
                  <a:srgbClr val="4E5A68"/>
                </a:solidFill>
                <a:latin typeface="Arial"/>
                <a:ea typeface="Arial"/>
                <a:cs typeface="Arial"/>
              </a:rPr>
              <a:t>63 up, 404 down</a:t>
            </a:r>
          </a:p>
        </p:txBody>
      </p:sp>
      <p:sp>
        <p:nvSpPr>
          <p:cNvPr id="12" name="Rounded Rectangle 11">
            <a:extLst>
              <a:ext uri="{FF2B5EF4-FFF2-40B4-BE49-F238E27FC236}">
                <a16:creationId xmlns:a16="http://schemas.microsoft.com/office/drawing/2014/main" id="{6496313E-1382-41C2-BA3E-34797C73115E}"/>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73DE1FB-C935-4CE6-AEFC-33DD5D47F466}"/>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800" b="1" i="0">
                <a:solidFill>
                  <a:srgbClr val="895600"/>
                </a:solidFill>
                <a:latin typeface="Arial"/>
                <a:ea typeface="Arial"/>
                <a:cs typeface="Arial"/>
              </a:rPr>
              <a:t>523</a:t>
            </a:r>
          </a:p>
        </p:txBody>
      </p:sp>
      <p:sp>
        <p:nvSpPr>
          <p:cNvPr id="14" name="TextBox 13">
            <a:extLst>
              <a:ext uri="{FF2B5EF4-FFF2-40B4-BE49-F238E27FC236}">
                <a16:creationId xmlns:a16="http://schemas.microsoft.com/office/drawing/2014/main" id="{CF18A02B-0A7A-418F-A578-702C906E2E90}"/>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19" b="1" i="0">
                <a:solidFill>
                  <a:srgbClr val="0F233D"/>
                </a:solidFill>
                <a:latin typeface="Arial"/>
                <a:ea typeface="Arial"/>
                <a:cs typeface="Arial"/>
              </a:rPr>
              <a:t>AD-down OXPHOS occurrences</a:t>
            </a:r>
          </a:p>
        </p:txBody>
      </p:sp>
      <p:sp>
        <p:nvSpPr>
          <p:cNvPr id="15" name="TextBox 14">
            <a:extLst>
              <a:ext uri="{FF2B5EF4-FFF2-40B4-BE49-F238E27FC236}">
                <a16:creationId xmlns:a16="http://schemas.microsoft.com/office/drawing/2014/main" id="{768B58E6-3DE9-4A64-ADE5-DAE50470903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880" b="0" i="0">
                <a:solidFill>
                  <a:srgbClr val="4E5A68"/>
                </a:solidFill>
                <a:latin typeface="Arial"/>
                <a:ea typeface="Arial"/>
                <a:cs typeface="Arial"/>
              </a:rPr>
              <a:t>119 core MT + 404 nuclear-encoded</a:t>
            </a:r>
          </a:p>
        </p:txBody>
      </p:sp>
      <p:sp>
        <p:nvSpPr>
          <p:cNvPr id="16" name="Rounded Rectangle 15">
            <a:extLst>
              <a:ext uri="{FF2B5EF4-FFF2-40B4-BE49-F238E27FC236}">
                <a16:creationId xmlns:a16="http://schemas.microsoft.com/office/drawing/2014/main" id="{E5A95870-C1EA-4EB8-9CF4-5203996357A7}"/>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4573671-11D6-4F8E-B1D0-41F33E45DE3A}"/>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8CD198EE-16C1-4164-9FD9-20D0FAB36B4E}"/>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600" b="1" i="0">
                <a:solidFill>
                  <a:srgbClr val="9E3A00"/>
                </a:solidFill>
                <a:latin typeface="Arial"/>
                <a:ea typeface="Arial"/>
                <a:cs typeface="Arial"/>
              </a:rPr>
              <a:t>90% down</a:t>
            </a:r>
          </a:p>
        </p:txBody>
      </p:sp>
      <p:sp>
        <p:nvSpPr>
          <p:cNvPr id="19" name="TextBox 18">
            <a:extLst>
              <a:ext uri="{FF2B5EF4-FFF2-40B4-BE49-F238E27FC236}">
                <a16:creationId xmlns:a16="http://schemas.microsoft.com/office/drawing/2014/main" id="{A5C5029B-3122-4C07-94E1-F116864314BE}"/>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150" b="0" i="0">
                <a:solidFill>
                  <a:srgbClr val="1F2730"/>
                </a:solidFill>
                <a:latin typeface="Arial"/>
                <a:ea typeface="Arial"/>
                <a:cs typeface="Arial"/>
              </a:rPr>
              <a:t>119 AD-down and 13 AD-up occurrences</a:t>
            </a:r>
          </a:p>
        </p:txBody>
      </p:sp>
      <p:sp>
        <p:nvSpPr>
          <p:cNvPr id="20" name="Rounded Rectangle 19">
            <a:extLst>
              <a:ext uri="{FF2B5EF4-FFF2-40B4-BE49-F238E27FC236}">
                <a16:creationId xmlns:a16="http://schemas.microsoft.com/office/drawing/2014/main" id="{71D52A82-59E2-4945-8028-CA41F6C9A11E}"/>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C947D7A2-4F91-4259-82A1-BB0EA1CBB01C}"/>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A11BD4C5-04ED-4483-9A6B-20C61A55CD80}"/>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600" b="1" i="0">
                <a:solidFill>
                  <a:srgbClr val="9E3A00"/>
                </a:solidFill>
                <a:latin typeface="Arial"/>
                <a:ea typeface="Arial"/>
                <a:cs typeface="Arial"/>
              </a:rPr>
              <a:t>87% down</a:t>
            </a:r>
          </a:p>
        </p:txBody>
      </p:sp>
      <p:sp>
        <p:nvSpPr>
          <p:cNvPr id="23" name="TextBox 22">
            <a:extLst>
              <a:ext uri="{FF2B5EF4-FFF2-40B4-BE49-F238E27FC236}">
                <a16:creationId xmlns:a16="http://schemas.microsoft.com/office/drawing/2014/main" id="{92AD0BB7-7863-4F61-9BD7-B2D2ED0A88E4}"/>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150" b="0" i="0">
                <a:solidFill>
                  <a:srgbClr val="1F2730"/>
                </a:solidFill>
                <a:latin typeface="Arial"/>
                <a:ea typeface="Arial"/>
                <a:cs typeface="Arial"/>
              </a:rPr>
              <a:t>404 AD-down and 63 AD-up occurrences</a:t>
            </a:r>
          </a:p>
        </p:txBody>
      </p:sp>
      <p:sp>
        <p:nvSpPr>
          <p:cNvPr id="24" name="Rounded Rectangle 23">
            <a:extLst>
              <a:ext uri="{FF2B5EF4-FFF2-40B4-BE49-F238E27FC236}">
                <a16:creationId xmlns:a16="http://schemas.microsoft.com/office/drawing/2014/main" id="{A93000DB-86CF-4280-A9AF-87FD1D9D7947}"/>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41DBCA1F-5166-40A9-9CAB-5643CEBFD245}"/>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300" b="1" i="0">
                <a:solidFill>
                  <a:srgbClr val="0F233D"/>
                </a:solidFill>
                <a:latin typeface="Arial"/>
                <a:ea typeface="Arial"/>
                <a:cs typeface="Arial"/>
              </a:rPr>
              <a:t>Overall DEG direction</a:t>
            </a:r>
          </a:p>
        </p:txBody>
      </p:sp>
      <p:sp>
        <p:nvSpPr>
          <p:cNvPr id="26" name="TextBox 25">
            <a:extLst>
              <a:ext uri="{FF2B5EF4-FFF2-40B4-BE49-F238E27FC236}">
                <a16:creationId xmlns:a16="http://schemas.microsoft.com/office/drawing/2014/main" id="{2262FB5A-6F52-47C7-A4ED-CE564717D573}"/>
              </a:ext>
            </a:extLst>
          </p:cNvPr>
          <p:cNvSpPr>
            <a:spLocks noGrp="1"/>
          </p:cNvSpPr>
          <p:nvPr/>
        </p:nvSpPr>
        <p:spPr>
          <a:xfrm>
            <a:off x="3419856" y="4965192"/>
            <a:ext cx="1975104" cy="542544"/>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600" b="1" i="0">
                <a:solidFill>
                  <a:srgbClr val="0072B2"/>
                </a:solidFill>
                <a:latin typeface="Arial"/>
                <a:ea typeface="Arial"/>
                <a:cs typeface="Arial"/>
              </a:rPr>
              <a:t>Both gene sets down</a:t>
            </a:r>
          </a:p>
        </p:txBody>
      </p:sp>
      <p:sp>
        <p:nvSpPr>
          <p:cNvPr id="27" name="TextBox 26">
            <a:extLst>
              <a:ext uri="{FF2B5EF4-FFF2-40B4-BE49-F238E27FC236}">
                <a16:creationId xmlns:a16="http://schemas.microsoft.com/office/drawing/2014/main" id="{B8F6995F-6CE2-4495-A815-7B8D5120FB1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150" b="0" i="0">
                <a:solidFill>
                  <a:srgbClr val="1F2730"/>
                </a:solidFill>
                <a:latin typeface="Arial"/>
                <a:ea typeface="Arial"/>
                <a:cs typeface="Arial"/>
              </a:rPr>
              <a:t>Core MT and nuclear-encoded OXPHOS occurrences are predominantly AD-down.</a:t>
            </a:r>
          </a:p>
        </p:txBody>
      </p:sp>
    </p:spTree>
    <p:extLst>
      <p:ext uri="{BB962C8B-B14F-4D97-AF65-F5344CB8AC3E}">
        <p14:creationId val="1552304605"/>
      </p:ext>
    </p:extLst>
  </p:cSld>
  <p:clrMapOvr>
    <a:masterClrMapping/>
  </p:clrMapOvr>
  <p:transition/>
  <p:timing/>
</p:sld>
</file>

<file path=ppt/slides/slide8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36A0A466-65B9-4B02-9FC4-4A0CF223C3C8}"/>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Male ε2 has unusually large MitoCarta MT DEG sets</a:t>
            </a:r>
          </a:p>
        </p:txBody>
      </p:sp>
      <p:sp>
        <p:nvSpPr>
          <p:cNvPr id="3" name="TextBox 2">
            <a:extLst>
              <a:ext uri="{FF2B5EF4-FFF2-40B4-BE49-F238E27FC236}">
                <a16:creationId xmlns:a16="http://schemas.microsoft.com/office/drawing/2014/main" id="{678755B5-2808-464C-BE3F-F32B109D9C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080" b="0" i="0">
                <a:solidFill>
                  <a:srgbClr val="4E5A68"/>
                </a:solidFill>
                <a:latin typeface="Arial"/>
                <a:ea typeface="Arial"/>
                <a:cs typeface="Arial"/>
              </a:rPr>
              <a:t>Larger DEG sets help explain why male ε2 contributes many DEG occurrences.</a:t>
            </a:r>
          </a:p>
        </p:txBody>
      </p:sp>
      <p:sp>
        <p:nvSpPr>
          <p:cNvPr id="4" name="Rounded Rectangle 3">
            <a:extLst>
              <a:ext uri="{FF2B5EF4-FFF2-40B4-BE49-F238E27FC236}">
                <a16:creationId xmlns:a16="http://schemas.microsoft.com/office/drawing/2014/main" id="{BDCABD88-CDF9-4096-9BD8-9FD4BD2BD3B8}"/>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C8BCB1-D1DE-4C49-93A0-C071B997ADB5}"/>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9E3A00"/>
                </a:solidFill>
                <a:latin typeface="Arial"/>
                <a:ea typeface="Arial"/>
                <a:cs typeface="Arial"/>
              </a:rPr>
              <a:t>MALE Ε2 MEDIAN</a:t>
            </a:r>
          </a:p>
        </p:txBody>
      </p:sp>
      <p:sp>
        <p:nvSpPr>
          <p:cNvPr id="6" name="TextBox 5">
            <a:extLst>
              <a:ext uri="{FF2B5EF4-FFF2-40B4-BE49-F238E27FC236}">
                <a16:creationId xmlns:a16="http://schemas.microsoft.com/office/drawing/2014/main" id="{4625E702-DCA4-444B-B0B0-7901133E832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85 MitoCarta MT DEGs</a:t>
            </a:r>
          </a:p>
        </p:txBody>
      </p:sp>
      <p:sp>
        <p:nvSpPr>
          <p:cNvPr id="7" name="TextBox 6">
            <a:extLst>
              <a:ext uri="{FF2B5EF4-FFF2-40B4-BE49-F238E27FC236}">
                <a16:creationId xmlns:a16="http://schemas.microsoft.com/office/drawing/2014/main" id="{D8DB4B45-4487-4D5E-9743-9C36A6B0B6CE}"/>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The median male ε2 DEG set was more than five times the overall median.</a:t>
            </a:r>
          </a:p>
        </p:txBody>
      </p:sp>
      <p:sp>
        <p:nvSpPr>
          <p:cNvPr id="8" name="Rounded Rectangle 7">
            <a:extLst>
              <a:ext uri="{FF2B5EF4-FFF2-40B4-BE49-F238E27FC236}">
                <a16:creationId xmlns:a16="http://schemas.microsoft.com/office/drawing/2014/main" id="{D2DEE9FA-A444-440D-B9EC-4568849FCEDD}"/>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5E2B186-5E0C-47B5-8F7B-C775F6D95A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72B2"/>
                </a:solidFill>
                <a:latin typeface="Arial"/>
                <a:ea typeface="Arial"/>
                <a:cs typeface="Arial"/>
              </a:rPr>
              <a:t>ALL INCLUDED FINE-CELL COMPARISONS</a:t>
            </a:r>
          </a:p>
        </p:txBody>
      </p:sp>
      <p:sp>
        <p:nvSpPr>
          <p:cNvPr id="10" name="TextBox 9">
            <a:extLst>
              <a:ext uri="{FF2B5EF4-FFF2-40B4-BE49-F238E27FC236}">
                <a16:creationId xmlns:a16="http://schemas.microsoft.com/office/drawing/2014/main" id="{E927D0C2-C1BB-44DE-94D7-B63E61AAD4D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16.5 MitoCarta MT DEGs</a:t>
            </a:r>
          </a:p>
        </p:txBody>
      </p:sp>
      <p:sp>
        <p:nvSpPr>
          <p:cNvPr id="11" name="TextBox 10">
            <a:extLst>
              <a:ext uri="{FF2B5EF4-FFF2-40B4-BE49-F238E27FC236}">
                <a16:creationId xmlns:a16="http://schemas.microsoft.com/office/drawing/2014/main" id="{7B2BB62E-46AF-4ACF-B00A-E6BF76693164}"/>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The overall median shows how unusual the male ε2 DEG-set size was.</a:t>
            </a:r>
          </a:p>
        </p:txBody>
      </p:sp>
      <p:sp>
        <p:nvSpPr>
          <p:cNvPr id="12" name="Rounded Rectangle 11">
            <a:extLst>
              <a:ext uri="{FF2B5EF4-FFF2-40B4-BE49-F238E27FC236}">
                <a16:creationId xmlns:a16="http://schemas.microsoft.com/office/drawing/2014/main" id="{65F6F61B-5B86-4ED5-B8F5-5A13FAEC2D31}"/>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80B7689-4FA7-48F5-9F40-9D61578285F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D7A8BAE3-2CF9-4C3A-8F56-DE08415FB22D}"/>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No matched DEG result</a:t>
            </a:r>
          </a:p>
        </p:txBody>
      </p:sp>
      <p:sp>
        <p:nvSpPr>
          <p:cNvPr id="15" name="TextBox 14">
            <a:extLst>
              <a:ext uri="{FF2B5EF4-FFF2-40B4-BE49-F238E27FC236}">
                <a16:creationId xmlns:a16="http://schemas.microsoft.com/office/drawing/2014/main" id="{C90626B7-0775-4368-BF4A-E28B97D6014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No matched male ε2 fine-cell DEG result was available, so SEA-AD adds no evidence in either direction.</a:t>
            </a:r>
          </a:p>
        </p:txBody>
      </p:sp>
      <p:sp>
        <p:nvSpPr>
          <p:cNvPr id="16" name="Rounded Rectangle 15">
            <a:extLst>
              <a:ext uri="{FF2B5EF4-FFF2-40B4-BE49-F238E27FC236}">
                <a16:creationId xmlns:a16="http://schemas.microsoft.com/office/drawing/2014/main" id="{05306AF1-7D7C-4CF2-B3B2-D39FE71A3E60}"/>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324E6BE-8240-49F9-A3F0-81F96F86B214}"/>
              </a:ext>
            </a:extLst>
          </p:cNvPr>
          <p:cNvSpPr>
            <a:spLocks noGrp="1"/>
          </p:cNvSpPr>
          <p:nvPr/>
        </p:nvSpPr>
        <p:spPr>
          <a:xfrm>
            <a:off x="896112" y="5888736"/>
            <a:ext cx="10405872" cy="39928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30" b="1" i="0">
                <a:solidFill>
                  <a:srgbClr val="7E4C9A"/>
                </a:solidFill>
                <a:latin typeface="Arial"/>
                <a:ea typeface="Arial"/>
                <a:cs typeface="Arial"/>
              </a:rPr>
              <a:t>Larger DEG sets can produce more DEG occurrences across fine-cell comparisons. This does not change the direction percentages on the preceding slide.</a:t>
            </a:r>
          </a:p>
        </p:txBody>
      </p:sp>
    </p:spTree>
    <p:extLst>
      <p:ext uri="{BB962C8B-B14F-4D97-AF65-F5344CB8AC3E}">
        <p14:creationId val="2045540987"/>
      </p:ext>
    </p:extLst>
  </p:cSld>
  <p:clrMapOvr>
    <a:masterClrMapping/>
  </p:clrMapOvr>
  <p:transition/>
  <p:timing/>
</p:sld>
</file>

<file path=ppt/slides/slide8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D51EA402-C5A0-4E1B-B43F-EED1CD22F6C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Why this matters: molecular direction does not directly equal inherited risk</a:t>
            </a:r>
          </a:p>
        </p:txBody>
      </p:sp>
      <p:sp>
        <p:nvSpPr>
          <p:cNvPr id="3" name="TextBox 2">
            <a:extLst>
              <a:ext uri="{FF2B5EF4-FFF2-40B4-BE49-F238E27FC236}">
                <a16:creationId xmlns:a16="http://schemas.microsoft.com/office/drawing/2014/main" id="{067D81D1-DE61-49CF-B923-71CE71FBCB8D}"/>
              </a:ext>
            </a:extLst>
          </p:cNvPr>
          <p:cNvSpPr>
            <a:spLocks noGrp="1"/>
          </p:cNvSpPr>
          <p:nvPr/>
        </p:nvSpPr>
        <p:spPr>
          <a:xfrm>
            <a:off x="548640" y="969264"/>
            <a:ext cx="10927080" cy="270843"/>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00" b="1" i="0">
                <a:latin typeface="Arial"/>
                <a:ea typeface="Arial"/>
                <a:cs typeface="Arial"/>
              </a:rPr>
              <a:t>The downward OXPHOS pattern could reflect respiratory reduction, altered cell state, or selective survival.</a:t>
            </a:r>
          </a:p>
        </p:txBody>
      </p:sp>
      <p:sp>
        <p:nvSpPr>
          <p:cNvPr id="4" name="Rounded Rectangle 3">
            <a:extLst>
              <a:ext uri="{FF2B5EF4-FFF2-40B4-BE49-F238E27FC236}">
                <a16:creationId xmlns:a16="http://schemas.microsoft.com/office/drawing/2014/main" id="{011FB5E7-B20B-4700-B4B3-EC4194685D75}"/>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6C5AD6E-D080-4D27-AFE6-E57173C9CCD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684D"/>
                </a:solidFill>
                <a:latin typeface="Arial"/>
                <a:ea typeface="Arial"/>
                <a:cs typeface="Arial"/>
              </a:rPr>
              <a:t>POPULATION GENETICS</a:t>
            </a:r>
          </a:p>
        </p:txBody>
      </p:sp>
      <p:sp>
        <p:nvSpPr>
          <p:cNvPr id="6" name="TextBox 5">
            <a:extLst>
              <a:ext uri="{FF2B5EF4-FFF2-40B4-BE49-F238E27FC236}">
                <a16:creationId xmlns:a16="http://schemas.microsoft.com/office/drawing/2014/main" id="{9DCBD8C7-6EF5-4D51-A91D-4C2BE9AFFAE3}"/>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ε2 lowers average AD risk</a:t>
            </a:r>
          </a:p>
        </p:txBody>
      </p:sp>
      <p:sp>
        <p:nvSpPr>
          <p:cNvPr id="7" name="TextBox 6">
            <a:extLst>
              <a:ext uri="{FF2B5EF4-FFF2-40B4-BE49-F238E27FC236}">
                <a16:creationId xmlns:a16="http://schemas.microsoft.com/office/drawing/2014/main" id="{881A60AA-37D5-4EAD-AA8D-B931443EB1C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Risk protection does not predict every molecular state after disease develops.</a:t>
            </a:r>
          </a:p>
        </p:txBody>
      </p:sp>
      <p:sp>
        <p:nvSpPr>
          <p:cNvPr id="8" name="Rounded Rectangle 7">
            <a:extLst>
              <a:ext uri="{FF2B5EF4-FFF2-40B4-BE49-F238E27FC236}">
                <a16:creationId xmlns:a16="http://schemas.microsoft.com/office/drawing/2014/main" id="{6B2AE7DB-C180-4953-A160-763D03A45080}"/>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F2C5F2C-F92E-4969-B5FF-EFC20A09DA8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895600"/>
                </a:solidFill>
                <a:latin typeface="Arial"/>
                <a:ea typeface="Arial"/>
                <a:cs typeface="Arial"/>
              </a:rPr>
              <a:t>TISSUE BIOLOGY</a:t>
            </a:r>
          </a:p>
        </p:txBody>
      </p:sp>
      <p:sp>
        <p:nvSpPr>
          <p:cNvPr id="10" name="TextBox 9">
            <a:extLst>
              <a:ext uri="{FF2B5EF4-FFF2-40B4-BE49-F238E27FC236}">
                <a16:creationId xmlns:a16="http://schemas.microsoft.com/office/drawing/2014/main" id="{4257C55A-E6B2-47C9-848A-CFBFA9DC333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Surviving cells may differ</a:t>
            </a:r>
          </a:p>
        </p:txBody>
      </p:sp>
      <p:sp>
        <p:nvSpPr>
          <p:cNvPr id="11" name="TextBox 10">
            <a:extLst>
              <a:ext uri="{FF2B5EF4-FFF2-40B4-BE49-F238E27FC236}">
                <a16:creationId xmlns:a16="http://schemas.microsoft.com/office/drawing/2014/main" id="{F5AFB380-15C5-4EF8-AEE9-52CA21D4B29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The observed nuclei may represent cells that persist under a particular disease state.</a:t>
            </a:r>
          </a:p>
        </p:txBody>
      </p:sp>
      <p:sp>
        <p:nvSpPr>
          <p:cNvPr id="12" name="Rounded Rectangle 11">
            <a:extLst>
              <a:ext uri="{FF2B5EF4-FFF2-40B4-BE49-F238E27FC236}">
                <a16:creationId xmlns:a16="http://schemas.microsoft.com/office/drawing/2014/main" id="{D168868F-90BB-4DF9-B31E-58060BC6C9F8}"/>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A567D2E-D3C8-4434-AF52-FAF6402709B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9E3A00"/>
                </a:solidFill>
                <a:latin typeface="Arial"/>
                <a:ea typeface="Arial"/>
                <a:cs typeface="Arial"/>
              </a:rPr>
              <a:t>DEG INTERPRETATION</a:t>
            </a:r>
          </a:p>
        </p:txBody>
      </p:sp>
      <p:sp>
        <p:nvSpPr>
          <p:cNvPr id="14" name="TextBox 13">
            <a:extLst>
              <a:ext uri="{FF2B5EF4-FFF2-40B4-BE49-F238E27FC236}">
                <a16:creationId xmlns:a16="http://schemas.microsoft.com/office/drawing/2014/main" id="{276D68BD-1C7A-4A2D-A6ED-68F1E132DCAB}"/>
              </a:ext>
            </a:extLst>
          </p:cNvPr>
          <p:cNvSpPr>
            <a:spLocks noGrp="1"/>
          </p:cNvSpPr>
          <p:nvPr/>
        </p:nvSpPr>
        <p:spPr>
          <a:xfrm>
            <a:off x="8522208" y="2176272"/>
            <a:ext cx="2907792" cy="786384"/>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Direction, not function</a:t>
            </a:r>
          </a:p>
        </p:txBody>
      </p:sp>
      <p:sp>
        <p:nvSpPr>
          <p:cNvPr id="15" name="TextBox 14">
            <a:extLst>
              <a:ext uri="{FF2B5EF4-FFF2-40B4-BE49-F238E27FC236}">
                <a16:creationId xmlns:a16="http://schemas.microsoft.com/office/drawing/2014/main" id="{7D52DBC3-B64D-4B83-982C-4BC08043281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Lower gene expression does not by itself show lower respiration, ATP production, or mitochondrial fitness.</a:t>
            </a:r>
          </a:p>
        </p:txBody>
      </p:sp>
      <p:sp>
        <p:nvSpPr>
          <p:cNvPr id="16" name="Rounded Rectangle 15">
            <a:extLst>
              <a:ext uri="{FF2B5EF4-FFF2-40B4-BE49-F238E27FC236}">
                <a16:creationId xmlns:a16="http://schemas.microsoft.com/office/drawing/2014/main" id="{492E22EF-A767-4394-AB9C-6A374B84A562}"/>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3BA675F-8177-4E3B-A875-82424698D527}"/>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5E87659E-1E7C-4EAF-BEA0-DF9393F5C275}"/>
              </a:ext>
            </a:extLst>
          </p:cNvPr>
          <p:cNvSpPr>
            <a:spLocks noGrp="1"/>
          </p:cNvSpPr>
          <p:nvPr/>
        </p:nvSpPr>
        <p:spPr>
          <a:xfrm>
            <a:off x="2788920" y="5870182"/>
            <a:ext cx="8321040" cy="3108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20" b="1" i="0">
                <a:solidFill>
                  <a:srgbClr val="1F2730"/>
                </a:solidFill>
                <a:latin typeface="Arial"/>
                <a:ea typeface="Arial"/>
                <a:cs typeface="Arial"/>
              </a:rPr>
              <a:t>The coordinated DEG decrease is biologically interesting and needs protein or functional follow-up.</a:t>
            </a:r>
          </a:p>
        </p:txBody>
      </p:sp>
    </p:spTree>
    <p:extLst>
      <p:ext uri="{BB962C8B-B14F-4D97-AF65-F5344CB8AC3E}">
        <p14:creationId val="1904794792"/>
      </p:ext>
    </p:extLst>
  </p:cSld>
  <p:clrMapOvr>
    <a:masterClrMapping/>
  </p:clrMapOvr>
  <p:transition/>
  <p:timing/>
</p:sld>
</file>

<file path=ppt/slides/slide8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12EECCD3-32E9-4799-B078-0328186A382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Prior research and evidence context for Finding 5</a:t>
            </a:r>
          </a:p>
        </p:txBody>
      </p:sp>
      <p:sp>
        <p:nvSpPr>
          <p:cNvPr id="3" name="TextBox 2">
            <a:extLst>
              <a:ext uri="{FF2B5EF4-FFF2-40B4-BE49-F238E27FC236}">
                <a16:creationId xmlns:a16="http://schemas.microsoft.com/office/drawing/2014/main" id="{B83245C9-1A4F-4159-A55B-06835EB2C15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FEE309FE-2CC6-4645-81A1-9CA70B59ECCB}"/>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D9CF9D7-C2B8-4D10-B60E-EBD8E3E4D121}"/>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F39FA4C9-46FF-4AF9-A8A0-9F057D7A6B47}"/>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350" b="1" i="0">
                <a:solidFill>
                  <a:srgbClr val="0F233D"/>
                </a:solidFill>
                <a:latin typeface="Arial"/>
                <a:ea typeface="Arial"/>
                <a:cs typeface="Arial"/>
              </a:rPr>
              <a:t>APOE allele risk</a:t>
            </a:r>
          </a:p>
        </p:txBody>
      </p:sp>
      <p:sp>
        <p:nvSpPr>
          <p:cNvPr id="7" name="TextBox 6">
            <a:extLst>
              <a:ext uri="{FF2B5EF4-FFF2-40B4-BE49-F238E27FC236}">
                <a16:creationId xmlns:a16="http://schemas.microsoft.com/office/drawing/2014/main" id="{E3BB55D8-B954-4C37-B212-71FDD0B75B20}"/>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39850BBF-2F52-401A-8F19-4C831D1C735E}"/>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80" b="0" i="0">
                <a:solidFill>
                  <a:srgbClr val="1F2730"/>
                </a:solidFill>
                <a:latin typeface="Arial"/>
                <a:ea typeface="Arial"/>
                <a:cs typeface="Arial"/>
              </a:rPr>
              <a:t>Establishes population-level protection associated with ε2.</a:t>
            </a:r>
          </a:p>
        </p:txBody>
      </p:sp>
      <p:sp>
        <p:nvSpPr>
          <p:cNvPr id="9" name="TextBox 8">
            <a:extLst>
              <a:ext uri="{FF2B5EF4-FFF2-40B4-BE49-F238E27FC236}">
                <a16:creationId xmlns:a16="http://schemas.microsoft.com/office/drawing/2014/main" id="{2FC401E3-803C-46BE-8656-4375034AA842}"/>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946D9350-046E-4CC6-BA4A-B02DB049C1F4}"/>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60" b="0" i="0">
                <a:solidFill>
                  <a:srgbClr val="4E5A68"/>
                </a:solidFill>
                <a:latin typeface="Arial"/>
                <a:ea typeface="Arial"/>
                <a:cs typeface="Arial"/>
              </a:rPr>
              <a:t>Does not predict the molecular state of diseased male ε2 cells.</a:t>
            </a:r>
          </a:p>
        </p:txBody>
      </p:sp>
      <p:sp>
        <p:nvSpPr>
          <p:cNvPr id="11" name="Rounded Rectangle 10">
            <a:extLst>
              <a:ext uri="{FF2B5EF4-FFF2-40B4-BE49-F238E27FC236}">
                <a16:creationId xmlns:a16="http://schemas.microsoft.com/office/drawing/2014/main" id="{F3D49414-E866-4051-8C1E-2CF5C9B0B5D0}"/>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350ADC2B-B8E2-4CBD-8FD8-133E6FF0BAAF}"/>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500"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DCCF2D89-9588-4B41-AE19-2380E965678D}"/>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350" b="1" i="0">
                <a:solidFill>
                  <a:srgbClr val="0F233D"/>
                </a:solidFill>
                <a:latin typeface="Arial"/>
                <a:ea typeface="Arial"/>
                <a:cs typeface="Arial"/>
              </a:rPr>
              <a:t>Sex-specific AD networks</a:t>
            </a:r>
          </a:p>
        </p:txBody>
      </p:sp>
      <p:sp>
        <p:nvSpPr>
          <p:cNvPr id="14" name="TextBox 13">
            <a:extLst>
              <a:ext uri="{FF2B5EF4-FFF2-40B4-BE49-F238E27FC236}">
                <a16:creationId xmlns:a16="http://schemas.microsoft.com/office/drawing/2014/main" id="{B7F6D7F7-B557-4536-BF32-AB8C0AADCE78}"/>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BDB25E9D-229E-4B2C-B4A3-C88164419555}"/>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80" b="0" i="0">
                <a:solidFill>
                  <a:srgbClr val="1F2730"/>
                </a:solidFill>
                <a:latin typeface="Arial"/>
                <a:ea typeface="Arial"/>
                <a:cs typeface="Arial"/>
              </a:rPr>
              <a:t>Supports sex-aware cell-resolved analysis.</a:t>
            </a:r>
          </a:p>
        </p:txBody>
      </p:sp>
      <p:sp>
        <p:nvSpPr>
          <p:cNvPr id="16" name="TextBox 15">
            <a:extLst>
              <a:ext uri="{FF2B5EF4-FFF2-40B4-BE49-F238E27FC236}">
                <a16:creationId xmlns:a16="http://schemas.microsoft.com/office/drawing/2014/main" id="{5FF9F344-78A9-4C9C-B23C-F5E2EF6EFCCB}"/>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73559057-2595-45C1-8AF9-C068FC58D80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60" b="0" i="0">
                <a:solidFill>
                  <a:srgbClr val="4E5A68"/>
                </a:solidFill>
                <a:latin typeface="Arial"/>
                <a:ea typeface="Arial"/>
                <a:cs typeface="Arial"/>
              </a:rPr>
              <a:t>Does not report this exact male ε2 decrease.</a:t>
            </a:r>
          </a:p>
        </p:txBody>
      </p:sp>
      <p:sp>
        <p:nvSpPr>
          <p:cNvPr id="18" name="Rounded Rectangle 17">
            <a:extLst>
              <a:ext uri="{FF2B5EF4-FFF2-40B4-BE49-F238E27FC236}">
                <a16:creationId xmlns:a16="http://schemas.microsoft.com/office/drawing/2014/main" id="{3440115D-D044-4790-A7C4-56C39B0C4628}"/>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CFD44C0-79A2-42FD-A8CD-CCE2A07859D7}"/>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EB7DAED1-A768-40A3-B470-2623950E9D32}"/>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350" b="1" i="0">
                <a:solidFill>
                  <a:srgbClr val="0F233D"/>
                </a:solidFill>
                <a:latin typeface="Arial"/>
                <a:ea typeface="Arial"/>
                <a:cs typeface="Arial"/>
              </a:rPr>
              <a:t>Cell-state heterogeneity</a:t>
            </a:r>
          </a:p>
        </p:txBody>
      </p:sp>
      <p:sp>
        <p:nvSpPr>
          <p:cNvPr id="21" name="TextBox 20">
            <a:extLst>
              <a:ext uri="{FF2B5EF4-FFF2-40B4-BE49-F238E27FC236}">
                <a16:creationId xmlns:a16="http://schemas.microsoft.com/office/drawing/2014/main" id="{DDEA53DF-F394-4E28-8387-CDB3D64F7849}"/>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F1BF8061-0CE4-4A14-92B2-C14E1CCF93F8}"/>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80" b="0" i="0">
                <a:solidFill>
                  <a:srgbClr val="1F2730"/>
                </a:solidFill>
                <a:latin typeface="Arial"/>
                <a:ea typeface="Arial"/>
                <a:cs typeface="Arial"/>
              </a:rPr>
              <a:t>Shows that Alzheimer’s responses differ among brain cell populations.</a:t>
            </a:r>
          </a:p>
        </p:txBody>
      </p:sp>
      <p:sp>
        <p:nvSpPr>
          <p:cNvPr id="23" name="TextBox 22">
            <a:extLst>
              <a:ext uri="{FF2B5EF4-FFF2-40B4-BE49-F238E27FC236}">
                <a16:creationId xmlns:a16="http://schemas.microsoft.com/office/drawing/2014/main" id="{A8F93BE3-227F-4761-ACCD-4E2651C422DC}"/>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E5E719CF-4F66-44AD-875C-18F417D34923}"/>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60" b="0" i="0">
                <a:solidFill>
                  <a:srgbClr val="4E5A68"/>
                </a:solidFill>
                <a:latin typeface="Arial"/>
                <a:ea typeface="Arial"/>
                <a:cs typeface="Arial"/>
              </a:rPr>
              <a:t>Uses ROSMAP and cannot independently validate this pattern.</a:t>
            </a:r>
          </a:p>
        </p:txBody>
      </p:sp>
      <p:sp>
        <p:nvSpPr>
          <p:cNvPr id="25" name="Rounded Rectangle 24">
            <a:extLst>
              <a:ext uri="{FF2B5EF4-FFF2-40B4-BE49-F238E27FC236}">
                <a16:creationId xmlns:a16="http://schemas.microsoft.com/office/drawing/2014/main" id="{DE86A240-4B7B-42CC-BD80-2A8B031010EC}"/>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465DF215-5B13-44E3-9C3B-0D412781BBE1}"/>
              </a:ext>
            </a:extLst>
          </p:cNvPr>
          <p:cNvSpPr>
            <a:spLocks noGrp="1"/>
          </p:cNvSpPr>
          <p:nvPr/>
        </p:nvSpPr>
        <p:spPr>
          <a:xfrm>
            <a:off x="896112" y="5952744"/>
            <a:ext cx="10405872" cy="221599"/>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lang="en-US" sz="1080" b="1">
                <a:solidFill>
                  <a:srgbClr val="7E4C9A"/>
                </a:solidFill>
                <a:latin typeface="Arial"/>
                <a:ea typeface="Arial"/>
                <a:cs typeface="Arial"/>
              </a:rPr>
              <a:t>N</a:t>
            </a:r>
            <a:r>
              <a:rPr sz="1080" b="1" i="0">
                <a:solidFill>
                  <a:srgbClr val="7E4C9A"/>
                </a:solidFill>
                <a:latin typeface="Arial"/>
                <a:ea typeface="Arial"/>
                <a:cs typeface="Arial"/>
              </a:rPr>
              <a:t>ovelty: High</a:t>
            </a:r>
          </a:p>
        </p:txBody>
      </p:sp>
    </p:spTree>
    <p:extLst>
      <p:ext uri="{BB962C8B-B14F-4D97-AF65-F5344CB8AC3E}">
        <p14:creationId val="1790777695"/>
      </p:ext>
    </p:extLst>
  </p:cSld>
  <p:clrMapOvr>
    <a:masterClrMapping/>
  </p:clrMapOvr>
  <p:transition/>
  <p:timing/>
</p:sld>
</file>

<file path=ppt/slides/slide8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0F233D"/>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BBE19B05-BA8A-4AAD-8256-41950FD1AE8D}"/>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050" b="1" i="0">
                <a:solidFill>
                  <a:srgbClr val="E69F00"/>
                </a:solidFill>
                <a:latin typeface="Arial"/>
                <a:ea typeface="Arial"/>
                <a:cs typeface="Arial"/>
              </a:rPr>
              <a:t>FINDING 6</a:t>
            </a:r>
          </a:p>
        </p:txBody>
      </p:sp>
      <p:sp>
        <p:nvSpPr>
          <p:cNvPr id="3" name="Rectangle 2">
            <a:extLst>
              <a:ext uri="{FF2B5EF4-FFF2-40B4-BE49-F238E27FC236}">
                <a16:creationId xmlns:a16="http://schemas.microsoft.com/office/drawing/2014/main" id="{9C414A89-DDB8-42A0-9EC6-D293FB14A02B}"/>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6B6825F1-FF14-4CD5-96CA-6ADABC833E68}"/>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2200" b="1" i="0">
                <a:solidFill>
                  <a:srgbClr val="FFFFFF"/>
                </a:solidFill>
                <a:latin typeface="Arial"/>
                <a:ea typeface="Arial"/>
                <a:cs typeface="Arial"/>
              </a:rPr>
              <a:t>Male APOE ε4 cells may show opposite core MT and nuclear-encoded OXPHOS directions</a:t>
            </a:r>
          </a:p>
        </p:txBody>
      </p:sp>
      <p:sp>
        <p:nvSpPr>
          <p:cNvPr id="5" name="TextBox 4">
            <a:extLst>
              <a:ext uri="{FF2B5EF4-FFF2-40B4-BE49-F238E27FC236}">
                <a16:creationId xmlns:a16="http://schemas.microsoft.com/office/drawing/2014/main" id="{5D9D1649-587C-4456-8166-A21874057840}"/>
              </a:ext>
            </a:extLst>
          </p:cNvPr>
          <p:cNvSpPr>
            <a:spLocks noGrp="1"/>
          </p:cNvSpPr>
          <p:nvPr/>
        </p:nvSpPr>
        <p:spPr>
          <a:xfrm>
            <a:off x="1097280" y="2468880"/>
            <a:ext cx="7406640" cy="914400"/>
          </a:xfrm>
          <a:prstGeom prst="rect">
            <a:avLst/>
          </a:prstGeom>
          <a:noFill/>
        </p:spPr>
        <p:txBody>
          <a:bodyPr wrap="square" lIns="0" tIns="0" rIns="0" bIns="0" anchor="t">
            <a:normAutofit/>
          </a:bodyPr>
          <a:lstStyle/>
          <a:p>
            <a:pPr algn="l">
              <a:lnSpc>
                <a:spcPct val="100000"/>
              </a:lnSpc>
              <a:spcBef>
                <a:spcPct val="0"/>
              </a:spcBef>
              <a:spcAft>
                <a:spcPct val="0"/>
              </a:spcAft>
              <a:buNone/>
              <a:defRPr sz="1350" b="1">
                <a:solidFill>
                  <a:srgbClr val="E6A700"/>
                </a:solidFill>
                <a:latin typeface="Arial"/>
                <a:ea typeface="Arial"/>
                <a:cs typeface="Arial"/>
              </a:defRPr>
            </a:pPr>
            <a:r>
              <a:rPr sz="1350" b="1" i="0">
                <a:solidFill>
                  <a:srgbClr val="E6A700"/>
                </a:solidFill>
                <a:latin typeface="Arial"/>
                <a:ea typeface="Arial"/>
                <a:cs typeface="Arial"/>
              </a:rPr>
              <a:t>Observed in: male ε4</a:t>
            </a:r>
          </a:p>
        </p:txBody>
      </p:sp>
      <p:sp>
        <p:nvSpPr>
          <p:cNvPr id="6" name="Rounded Rectangle 5">
            <a:extLst>
              <a:ext uri="{FF2B5EF4-FFF2-40B4-BE49-F238E27FC236}">
                <a16:creationId xmlns:a16="http://schemas.microsoft.com/office/drawing/2014/main" id="{33A304A7-B58D-4C4E-A99B-7833A7FA23FA}"/>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BEE6627-F54D-4C1B-AE70-D3BFAE6C28A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B651492E-D736-49FB-BB72-A69322B800BF}"/>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B114C09-DD52-47D4-9524-99BEFDE7BF25}"/>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4D7426F-91F4-4023-8BA9-3061DDF9557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5270CF31-5481-440D-B33F-BADDCF5D132C}"/>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82C89362-138A-4072-BCF2-AC08AE17FCD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7458DE17-7623-4714-9E30-190E103E7D83}"/>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1F52A3A3-A0C6-4294-A8A8-435411787EDF}"/>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C1B79BF-C986-4D02-BD2E-C7260DE1D23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CEBC224F-844D-49AA-8950-F906778CD2E8}"/>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CF549B9-704B-48D1-A9CC-6A29B7C9DD16}"/>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B7F4820-68C4-4DBF-8007-85F4C1EC83AD}"/>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5AE5697A-FEB6-42FE-8F43-0AB15C40E286}"/>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C4B01E0B-2F27-4747-ACB5-C2FD2A0C2721}"/>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F03B32E-B45F-4290-8A68-D9149DD41445}"/>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20" b="1" i="0">
                <a:solidFill>
                  <a:srgbClr val="FFFFFF"/>
                </a:solidFill>
                <a:latin typeface="Arial"/>
                <a:ea typeface="Arial"/>
                <a:cs typeface="Arial"/>
              </a:rPr>
              <a:t>Core MT genes are mostly upregulated and nuclear-encoded OXPHOS genes are modestly downregulated, with mixed cross-cohort sensitivity.</a:t>
            </a:r>
          </a:p>
        </p:txBody>
      </p:sp>
    </p:spTree>
    <p:extLst>
      <p:ext uri="{BB962C8B-B14F-4D97-AF65-F5344CB8AC3E}">
        <p14:creationId val="1192407308"/>
      </p:ext>
    </p:extLst>
  </p:cSld>
  <p:clrMapOvr>
    <a:masterClrMapping/>
  </p:clrMapOvr>
  <p:transition/>
  <p:timing/>
</p:sld>
</file>

<file path=ppt/slides/slide9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0F51D327-FE6B-4D0A-BADE-FE0B68D28D3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Male ε4 cells may show opposite directions in OXPHOS gene expression</a:t>
            </a:r>
          </a:p>
        </p:txBody>
      </p:sp>
      <p:sp>
        <p:nvSpPr>
          <p:cNvPr id="3" name="TextBox 2">
            <a:extLst>
              <a:ext uri="{FF2B5EF4-FFF2-40B4-BE49-F238E27FC236}">
                <a16:creationId xmlns:a16="http://schemas.microsoft.com/office/drawing/2014/main" id="{866E4AAE-C2DA-4F9B-94EA-3819FFE96433}"/>
              </a:ext>
            </a:extLst>
          </p:cNvPr>
          <p:cNvSpPr>
            <a:spLocks noGrp="1"/>
          </p:cNvSpPr>
          <p:nvPr/>
        </p:nvSpPr>
        <p:spPr>
          <a:xfrm>
            <a:off x="548640" y="907118"/>
            <a:ext cx="10927080" cy="270843"/>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00" b="1" i="0">
                <a:latin typeface="Arial"/>
                <a:ea typeface="Arial"/>
                <a:cs typeface="Arial"/>
              </a:rPr>
              <a:t>The direction split resembles male ε3/ε3, but the nuclear decrease is weaker and cross-cohort broad-cell evidence disagrees.</a:t>
            </a:r>
          </a:p>
        </p:txBody>
      </p:sp>
      <p:sp>
        <p:nvSpPr>
          <p:cNvPr id="4" name="Rounded Rectangle 3">
            <a:extLst>
              <a:ext uri="{FF2B5EF4-FFF2-40B4-BE49-F238E27FC236}">
                <a16:creationId xmlns:a16="http://schemas.microsoft.com/office/drawing/2014/main" id="{DBB05C66-5366-4F96-BB98-5A2B16F87ADC}"/>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6908346-AE80-496F-B440-A54BBFED468C}"/>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4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B9FD771D-AE09-4B06-B711-5406E8C28D3F}"/>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1CD4C10-E134-428F-985D-8F02AF10B30D}"/>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D4E877AF-D3FE-4F76-B9A0-902C832EF70E}"/>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FEC5E80-C583-4798-9C40-FF744018F62B}"/>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40" b="1" i="0">
                <a:solidFill>
                  <a:srgbClr val="895600"/>
                </a:solidFill>
                <a:latin typeface="Arial"/>
                <a:ea typeface="Arial"/>
                <a:cs typeface="Arial"/>
              </a:rPr>
              <a:t>Possible mismatch</a:t>
            </a:r>
          </a:p>
        </p:txBody>
      </p:sp>
      <p:sp>
        <p:nvSpPr>
          <p:cNvPr id="10" name="Rounded Rectangle 9">
            <a:extLst>
              <a:ext uri="{FF2B5EF4-FFF2-40B4-BE49-F238E27FC236}">
                <a16:creationId xmlns:a16="http://schemas.microsoft.com/office/drawing/2014/main" id="{CF923EF2-BD44-484F-9B6C-6EE0E7F4FD97}"/>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828C884-CF67-4323-BBA1-48B292856B1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40" b="1" i="0">
                <a:solidFill>
                  <a:srgbClr val="9E3A00"/>
                </a:solidFill>
                <a:latin typeface="Arial"/>
                <a:ea typeface="Arial"/>
                <a:cs typeface="Arial"/>
              </a:rPr>
              <a:t>Needs replication</a:t>
            </a:r>
          </a:p>
        </p:txBody>
      </p:sp>
      <p:sp>
        <p:nvSpPr>
          <p:cNvPr id="12" name="Rounded Rectangle 11">
            <a:extLst>
              <a:ext uri="{FF2B5EF4-FFF2-40B4-BE49-F238E27FC236}">
                <a16:creationId xmlns:a16="http://schemas.microsoft.com/office/drawing/2014/main" id="{019B40E9-BFC8-4286-BBE1-85E17BAD1A8C}"/>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DDFE37A-0F2D-41E1-A604-F71E6B424F5F}"/>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72B2"/>
                </a:solidFill>
                <a:latin typeface="Arial"/>
                <a:ea typeface="Arial"/>
                <a:cs typeface="Arial"/>
              </a:rPr>
              <a:t>CORE MT GENES</a:t>
            </a:r>
          </a:p>
        </p:txBody>
      </p:sp>
      <p:sp>
        <p:nvSpPr>
          <p:cNvPr id="14" name="TextBox 13">
            <a:extLst>
              <a:ext uri="{FF2B5EF4-FFF2-40B4-BE49-F238E27FC236}">
                <a16:creationId xmlns:a16="http://schemas.microsoft.com/office/drawing/2014/main" id="{E94F56C6-CAC0-4C2A-9D04-AB1C93AB477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87 of 110 up</a:t>
            </a:r>
          </a:p>
        </p:txBody>
      </p:sp>
      <p:sp>
        <p:nvSpPr>
          <p:cNvPr id="15" name="TextBox 14">
            <a:extLst>
              <a:ext uri="{FF2B5EF4-FFF2-40B4-BE49-F238E27FC236}">
                <a16:creationId xmlns:a16="http://schemas.microsoft.com/office/drawing/2014/main" id="{3B12252E-94C2-421D-B8E5-BC76C9CD82BE}"/>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Core MT gene expression mostly increases in AD.</a:t>
            </a:r>
          </a:p>
        </p:txBody>
      </p:sp>
      <p:sp>
        <p:nvSpPr>
          <p:cNvPr id="16" name="Rounded Rectangle 15">
            <a:extLst>
              <a:ext uri="{FF2B5EF4-FFF2-40B4-BE49-F238E27FC236}">
                <a16:creationId xmlns:a16="http://schemas.microsoft.com/office/drawing/2014/main" id="{9AFA687E-D246-4A14-8D2E-A6635ECDA8CD}"/>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7BF302F-CECB-4A9F-A24A-E027071673A0}"/>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9E3A00"/>
                </a:solidFill>
                <a:latin typeface="Arial"/>
                <a:ea typeface="Arial"/>
                <a:cs typeface="Arial"/>
              </a:rPr>
              <a:t>NUCLEAR-ENCODED OXPHOS</a:t>
            </a:r>
          </a:p>
        </p:txBody>
      </p:sp>
      <p:sp>
        <p:nvSpPr>
          <p:cNvPr id="18" name="TextBox 17">
            <a:extLst>
              <a:ext uri="{FF2B5EF4-FFF2-40B4-BE49-F238E27FC236}">
                <a16:creationId xmlns:a16="http://schemas.microsoft.com/office/drawing/2014/main" id="{A2A1D15B-EA5F-477D-AF2B-21FB5A93F2A7}"/>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55 of 89 down</a:t>
            </a:r>
          </a:p>
        </p:txBody>
      </p:sp>
      <p:sp>
        <p:nvSpPr>
          <p:cNvPr id="19" name="TextBox 18">
            <a:extLst>
              <a:ext uri="{FF2B5EF4-FFF2-40B4-BE49-F238E27FC236}">
                <a16:creationId xmlns:a16="http://schemas.microsoft.com/office/drawing/2014/main" id="{A471FEAF-08F4-405F-9F71-ACEA3114684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Nuclear-encoded OXPHOS gene expression tends to decrease, but less consistently.</a:t>
            </a:r>
          </a:p>
        </p:txBody>
      </p:sp>
      <p:sp>
        <p:nvSpPr>
          <p:cNvPr id="20" name="Rounded Rectangle 19">
            <a:extLst>
              <a:ext uri="{FF2B5EF4-FFF2-40B4-BE49-F238E27FC236}">
                <a16:creationId xmlns:a16="http://schemas.microsoft.com/office/drawing/2014/main" id="{127EC019-DEAF-4830-9BDF-E8FC4E5D6C9F}"/>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01E40FA-D200-4AB8-9D14-C59E36BACC7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895600"/>
                </a:solidFill>
                <a:latin typeface="Arial"/>
                <a:ea typeface="Arial"/>
                <a:cs typeface="Arial"/>
              </a:rPr>
              <a:t>READING</a:t>
            </a:r>
          </a:p>
        </p:txBody>
      </p:sp>
      <p:sp>
        <p:nvSpPr>
          <p:cNvPr id="22" name="TextBox 21">
            <a:extLst>
              <a:ext uri="{FF2B5EF4-FFF2-40B4-BE49-F238E27FC236}">
                <a16:creationId xmlns:a16="http://schemas.microsoft.com/office/drawing/2014/main" id="{847AB25A-4A19-469E-B083-E1E9AECA12F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Weaker mismatch</a:t>
            </a:r>
          </a:p>
        </p:txBody>
      </p:sp>
      <p:sp>
        <p:nvSpPr>
          <p:cNvPr id="23" name="TextBox 22">
            <a:extLst>
              <a:ext uri="{FF2B5EF4-FFF2-40B4-BE49-F238E27FC236}">
                <a16:creationId xmlns:a16="http://schemas.microsoft.com/office/drawing/2014/main" id="{32530C92-1924-49DF-8A13-2600E990EAE4}"/>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The two sides differ, but the evidence does not support a definitive mismatch claim.</a:t>
            </a:r>
          </a:p>
        </p:txBody>
      </p:sp>
    </p:spTree>
    <p:extLst>
      <p:ext uri="{BB962C8B-B14F-4D97-AF65-F5344CB8AC3E}">
        <p14:creationId val="438493806"/>
      </p:ext>
    </p:extLst>
  </p:cSld>
  <p:clrMapOvr>
    <a:masterClrMapping/>
  </p:clrMapOvr>
  <p:transition/>
  <p:timing/>
</p:sld>
</file>

<file path=ppt/slides/slide9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BDA58526-89F3-4E38-BF49-AEBBD936060E}"/>
              </a:ext>
            </a:extLst>
          </p:cNvPr>
          <p:cNvSpPr>
            <a:spLocks noGrp="1"/>
          </p:cNvSpPr>
          <p:nvPr/>
        </p:nvSpPr>
        <p:spPr>
          <a:xfrm>
            <a:off x="530352" y="292608"/>
            <a:ext cx="11064240" cy="66446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000" b="1" i="0">
                <a:solidFill>
                  <a:srgbClr val="0F233D"/>
                </a:solidFill>
                <a:latin typeface="Arial"/>
                <a:ea typeface="Arial"/>
                <a:cs typeface="Arial"/>
              </a:rPr>
              <a:t>ROSMAP: male ε4 shows clear core MT upregulation and modest nuclear-encoded OXPHOS downregulation</a:t>
            </a:r>
          </a:p>
        </p:txBody>
      </p:sp>
      <p:sp>
        <p:nvSpPr>
          <p:cNvPr id="3" name="TextBox 2">
            <a:extLst>
              <a:ext uri="{FF2B5EF4-FFF2-40B4-BE49-F238E27FC236}">
                <a16:creationId xmlns:a16="http://schemas.microsoft.com/office/drawing/2014/main" id="{ECFA4E0E-884F-4652-96F2-167C56BD9EE7}"/>
              </a:ext>
            </a:extLst>
          </p:cNvPr>
          <p:cNvSpPr>
            <a:spLocks noGrp="1"/>
          </p:cNvSpPr>
          <p:nvPr/>
        </p:nvSpPr>
        <p:spPr>
          <a:xfrm>
            <a:off x="548640" y="969264"/>
            <a:ext cx="10927080" cy="270843"/>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00" b="1" i="0">
                <a:latin typeface="Arial"/>
                <a:ea typeface="Arial"/>
                <a:cs typeface="Arial"/>
              </a:rPr>
              <a:t>The nuclear direction is substantially less one-sided than in male ε3/ε3.</a:t>
            </a:r>
          </a:p>
        </p:txBody>
      </p:sp>
      <p:sp>
        <p:nvSpPr>
          <p:cNvPr id="4" name="Rounded Rectangle 3">
            <a:extLst>
              <a:ext uri="{FF2B5EF4-FFF2-40B4-BE49-F238E27FC236}">
                <a16:creationId xmlns:a16="http://schemas.microsoft.com/office/drawing/2014/main" id="{8839F25B-91B3-46BE-887D-E61B8C50F23C}"/>
              </a:ext>
            </a:extLst>
          </p:cNvPr>
          <p:cNvSpPr>
            <a:spLocks noGrp="1"/>
          </p:cNvSpPr>
          <p:nvPr/>
        </p:nvSpPr>
        <p:spPr>
          <a:xfrm>
            <a:off x="658368" y="1672111"/>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C7138D0-B75E-406D-B74A-89AFB1B13312}"/>
              </a:ext>
            </a:extLst>
          </p:cNvPr>
          <p:cNvSpPr>
            <a:spLocks noGrp="1"/>
          </p:cNvSpPr>
          <p:nvPr/>
        </p:nvSpPr>
        <p:spPr>
          <a:xfrm>
            <a:off x="822959" y="1800126"/>
            <a:ext cx="3127248" cy="4846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800" b="1" i="0">
                <a:solidFill>
                  <a:srgbClr val="0072B2"/>
                </a:solidFill>
                <a:latin typeface="Arial"/>
                <a:ea typeface="Arial"/>
                <a:cs typeface="Arial"/>
              </a:rPr>
              <a:t>110</a:t>
            </a:r>
          </a:p>
        </p:txBody>
      </p:sp>
      <p:sp>
        <p:nvSpPr>
          <p:cNvPr id="6" name="TextBox 5">
            <a:extLst>
              <a:ext uri="{FF2B5EF4-FFF2-40B4-BE49-F238E27FC236}">
                <a16:creationId xmlns:a16="http://schemas.microsoft.com/office/drawing/2014/main" id="{35317A91-B5E5-4086-970C-D8770C8A9AAE}"/>
              </a:ext>
            </a:extLst>
          </p:cNvPr>
          <p:cNvSpPr>
            <a:spLocks noGrp="1"/>
          </p:cNvSpPr>
          <p:nvPr/>
        </p:nvSpPr>
        <p:spPr>
          <a:xfrm>
            <a:off x="822959" y="2330479"/>
            <a:ext cx="3127248" cy="3108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FB5B17FA-E20B-417B-B6BD-6FAEE0CBA6F0}"/>
              </a:ext>
            </a:extLst>
          </p:cNvPr>
          <p:cNvSpPr>
            <a:spLocks noGrp="1"/>
          </p:cNvSpPr>
          <p:nvPr/>
        </p:nvSpPr>
        <p:spPr>
          <a:xfrm>
            <a:off x="822959" y="2659663"/>
            <a:ext cx="3127248" cy="21945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880" b="0" i="0">
                <a:solidFill>
                  <a:srgbClr val="4E5A68"/>
                </a:solidFill>
                <a:latin typeface="Arial"/>
                <a:ea typeface="Arial"/>
                <a:cs typeface="Arial"/>
              </a:rPr>
              <a:t>87 up, 23 down</a:t>
            </a:r>
          </a:p>
        </p:txBody>
      </p:sp>
      <p:sp>
        <p:nvSpPr>
          <p:cNvPr id="8" name="Rounded Rectangle 7">
            <a:extLst>
              <a:ext uri="{FF2B5EF4-FFF2-40B4-BE49-F238E27FC236}">
                <a16:creationId xmlns:a16="http://schemas.microsoft.com/office/drawing/2014/main" id="{5B61249A-9F51-456A-BDD9-B5D54681952E}"/>
              </a:ext>
            </a:extLst>
          </p:cNvPr>
          <p:cNvSpPr>
            <a:spLocks noGrp="1"/>
          </p:cNvSpPr>
          <p:nvPr/>
        </p:nvSpPr>
        <p:spPr>
          <a:xfrm>
            <a:off x="4453128" y="1672111"/>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BDCA7DC-736C-442B-8A2B-26A895ECD844}"/>
              </a:ext>
            </a:extLst>
          </p:cNvPr>
          <p:cNvSpPr>
            <a:spLocks noGrp="1"/>
          </p:cNvSpPr>
          <p:nvPr/>
        </p:nvSpPr>
        <p:spPr>
          <a:xfrm>
            <a:off x="4617720" y="1800126"/>
            <a:ext cx="3127248" cy="4846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800" b="1" i="0">
                <a:solidFill>
                  <a:srgbClr val="00684D"/>
                </a:solidFill>
                <a:latin typeface="Arial"/>
                <a:ea typeface="Arial"/>
                <a:cs typeface="Arial"/>
              </a:rPr>
              <a:t>89</a:t>
            </a:r>
          </a:p>
        </p:txBody>
      </p:sp>
      <p:sp>
        <p:nvSpPr>
          <p:cNvPr id="10" name="TextBox 9">
            <a:extLst>
              <a:ext uri="{FF2B5EF4-FFF2-40B4-BE49-F238E27FC236}">
                <a16:creationId xmlns:a16="http://schemas.microsoft.com/office/drawing/2014/main" id="{D30E1E56-4519-4229-853B-C5AC802C6F5B}"/>
              </a:ext>
            </a:extLst>
          </p:cNvPr>
          <p:cNvSpPr>
            <a:spLocks noGrp="1"/>
          </p:cNvSpPr>
          <p:nvPr/>
        </p:nvSpPr>
        <p:spPr>
          <a:xfrm>
            <a:off x="4617720" y="2330479"/>
            <a:ext cx="3127248" cy="3108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1A25E093-3DDF-4EAE-9E85-E28645A8669C}"/>
              </a:ext>
            </a:extLst>
          </p:cNvPr>
          <p:cNvSpPr>
            <a:spLocks noGrp="1"/>
          </p:cNvSpPr>
          <p:nvPr/>
        </p:nvSpPr>
        <p:spPr>
          <a:xfrm>
            <a:off x="4617720" y="2659663"/>
            <a:ext cx="3127248" cy="21945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880" b="0" i="0">
                <a:solidFill>
                  <a:srgbClr val="4E5A68"/>
                </a:solidFill>
                <a:latin typeface="Arial"/>
                <a:ea typeface="Arial"/>
                <a:cs typeface="Arial"/>
              </a:rPr>
              <a:t>34 up, 55 down</a:t>
            </a:r>
          </a:p>
        </p:txBody>
      </p:sp>
      <p:sp>
        <p:nvSpPr>
          <p:cNvPr id="12" name="Rounded Rectangle 11">
            <a:extLst>
              <a:ext uri="{FF2B5EF4-FFF2-40B4-BE49-F238E27FC236}">
                <a16:creationId xmlns:a16="http://schemas.microsoft.com/office/drawing/2014/main" id="{D457E9F9-CA25-410E-B050-7D1E6E146DC3}"/>
              </a:ext>
            </a:extLst>
          </p:cNvPr>
          <p:cNvSpPr>
            <a:spLocks noGrp="1"/>
          </p:cNvSpPr>
          <p:nvPr/>
        </p:nvSpPr>
        <p:spPr>
          <a:xfrm>
            <a:off x="8247888" y="1672111"/>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D72DAD8-ADBF-4AAD-B91E-03EC7BC07290}"/>
              </a:ext>
            </a:extLst>
          </p:cNvPr>
          <p:cNvSpPr>
            <a:spLocks noGrp="1"/>
          </p:cNvSpPr>
          <p:nvPr/>
        </p:nvSpPr>
        <p:spPr>
          <a:xfrm>
            <a:off x="8412480" y="1800126"/>
            <a:ext cx="3127248" cy="4846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800" b="1" i="0">
                <a:solidFill>
                  <a:srgbClr val="895600"/>
                </a:solidFill>
                <a:latin typeface="Arial"/>
                <a:ea typeface="Arial"/>
                <a:cs typeface="Arial"/>
              </a:rPr>
              <a:t>11/13</a:t>
            </a:r>
          </a:p>
        </p:txBody>
      </p:sp>
      <p:sp>
        <p:nvSpPr>
          <p:cNvPr id="14" name="TextBox 13">
            <a:extLst>
              <a:ext uri="{FF2B5EF4-FFF2-40B4-BE49-F238E27FC236}">
                <a16:creationId xmlns:a16="http://schemas.microsoft.com/office/drawing/2014/main" id="{7CC83DB0-9BCF-47E2-8983-1478D16862E8}"/>
              </a:ext>
            </a:extLst>
          </p:cNvPr>
          <p:cNvSpPr>
            <a:spLocks noGrp="1"/>
          </p:cNvSpPr>
          <p:nvPr/>
        </p:nvSpPr>
        <p:spPr>
          <a:xfrm>
            <a:off x="8412480" y="2330479"/>
            <a:ext cx="3127248" cy="3108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19" b="1" i="0">
                <a:solidFill>
                  <a:srgbClr val="0F233D"/>
                </a:solidFill>
                <a:latin typeface="Arial"/>
                <a:ea typeface="Arial"/>
                <a:cs typeface="Arial"/>
              </a:rPr>
              <a:t>excitatory fine types</a:t>
            </a:r>
          </a:p>
        </p:txBody>
      </p:sp>
      <p:sp>
        <p:nvSpPr>
          <p:cNvPr id="15" name="TextBox 14">
            <a:extLst>
              <a:ext uri="{FF2B5EF4-FFF2-40B4-BE49-F238E27FC236}">
                <a16:creationId xmlns:a16="http://schemas.microsoft.com/office/drawing/2014/main" id="{4EDDD363-790B-4679-91A8-652C214FE2A1}"/>
              </a:ext>
            </a:extLst>
          </p:cNvPr>
          <p:cNvSpPr>
            <a:spLocks noGrp="1"/>
          </p:cNvSpPr>
          <p:nvPr/>
        </p:nvSpPr>
        <p:spPr>
          <a:xfrm>
            <a:off x="8412480" y="2659663"/>
            <a:ext cx="3127248" cy="21945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880" b="0" i="0">
                <a:solidFill>
                  <a:srgbClr val="4E5A68"/>
                </a:solidFill>
                <a:latin typeface="Arial"/>
                <a:ea typeface="Arial"/>
                <a:cs typeface="Arial"/>
              </a:rPr>
              <a:t>core MT gene enrichment</a:t>
            </a:r>
          </a:p>
        </p:txBody>
      </p:sp>
      <p:sp>
        <p:nvSpPr>
          <p:cNvPr id="16" name="Rounded Rectangle 15">
            <a:extLst>
              <a:ext uri="{FF2B5EF4-FFF2-40B4-BE49-F238E27FC236}">
                <a16:creationId xmlns:a16="http://schemas.microsoft.com/office/drawing/2014/main" id="{8B5F62F4-DC64-47A1-A18A-5FD88265ED93}"/>
              </a:ext>
            </a:extLst>
          </p:cNvPr>
          <p:cNvSpPr>
            <a:spLocks noGrp="1"/>
          </p:cNvSpPr>
          <p:nvPr/>
        </p:nvSpPr>
        <p:spPr>
          <a:xfrm>
            <a:off x="749808" y="3272311"/>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093E008-61D7-40F6-9A6F-BC2FF076758D}"/>
              </a:ext>
            </a:extLst>
          </p:cNvPr>
          <p:cNvSpPr>
            <a:spLocks noGrp="1"/>
          </p:cNvSpPr>
          <p:nvPr/>
        </p:nvSpPr>
        <p:spPr>
          <a:xfrm>
            <a:off x="987552" y="3436903"/>
            <a:ext cx="2331720" cy="29260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B707857E-E969-4440-A759-25E1BA124429}"/>
              </a:ext>
            </a:extLst>
          </p:cNvPr>
          <p:cNvSpPr>
            <a:spLocks noGrp="1"/>
          </p:cNvSpPr>
          <p:nvPr/>
        </p:nvSpPr>
        <p:spPr>
          <a:xfrm>
            <a:off x="3419856" y="3391183"/>
            <a:ext cx="1975104" cy="36576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600" b="1" i="0">
                <a:solidFill>
                  <a:srgbClr val="00684D"/>
                </a:solidFill>
                <a:latin typeface="Arial"/>
                <a:ea typeface="Arial"/>
                <a:cs typeface="Arial"/>
              </a:rPr>
              <a:t>79% up</a:t>
            </a:r>
          </a:p>
        </p:txBody>
      </p:sp>
      <p:sp>
        <p:nvSpPr>
          <p:cNvPr id="19" name="TextBox 18">
            <a:extLst>
              <a:ext uri="{FF2B5EF4-FFF2-40B4-BE49-F238E27FC236}">
                <a16:creationId xmlns:a16="http://schemas.microsoft.com/office/drawing/2014/main" id="{825E04B9-EB02-49C9-AD11-CA5CE1282DFD}"/>
              </a:ext>
            </a:extLst>
          </p:cNvPr>
          <p:cNvSpPr>
            <a:spLocks noGrp="1"/>
          </p:cNvSpPr>
          <p:nvPr/>
        </p:nvSpPr>
        <p:spPr>
          <a:xfrm>
            <a:off x="5596128" y="3391183"/>
            <a:ext cx="5468112" cy="438912"/>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150" b="0" i="0">
                <a:solidFill>
                  <a:srgbClr val="1F2730"/>
                </a:solidFill>
                <a:latin typeface="Arial"/>
                <a:ea typeface="Arial"/>
                <a:cs typeface="Arial"/>
              </a:rPr>
              <a:t>Fifteen eligible KDA calls showed significant enrichment</a:t>
            </a:r>
          </a:p>
        </p:txBody>
      </p:sp>
      <p:sp>
        <p:nvSpPr>
          <p:cNvPr id="20" name="Rounded Rectangle 19">
            <a:extLst>
              <a:ext uri="{FF2B5EF4-FFF2-40B4-BE49-F238E27FC236}">
                <a16:creationId xmlns:a16="http://schemas.microsoft.com/office/drawing/2014/main" id="{1EEF9F57-B4FE-490B-8BD7-9C11F26EC805}"/>
              </a:ext>
            </a:extLst>
          </p:cNvPr>
          <p:cNvSpPr>
            <a:spLocks noGrp="1"/>
          </p:cNvSpPr>
          <p:nvPr/>
        </p:nvSpPr>
        <p:spPr>
          <a:xfrm>
            <a:off x="749808" y="4232431"/>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87777A6-286D-4DA8-9447-43A8BD798CE7}"/>
              </a:ext>
            </a:extLst>
          </p:cNvPr>
          <p:cNvSpPr>
            <a:spLocks noGrp="1"/>
          </p:cNvSpPr>
          <p:nvPr/>
        </p:nvSpPr>
        <p:spPr>
          <a:xfrm>
            <a:off x="987552" y="4397022"/>
            <a:ext cx="2331720" cy="45110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426D93DF-FA27-484D-978D-B97329F1FB30}"/>
              </a:ext>
            </a:extLst>
          </p:cNvPr>
          <p:cNvSpPr>
            <a:spLocks noGrp="1"/>
          </p:cNvSpPr>
          <p:nvPr/>
        </p:nvSpPr>
        <p:spPr>
          <a:xfrm>
            <a:off x="3419856" y="4351303"/>
            <a:ext cx="1975104" cy="36576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600" b="1" i="0">
                <a:solidFill>
                  <a:srgbClr val="9E3A00"/>
                </a:solidFill>
                <a:latin typeface="Arial"/>
                <a:ea typeface="Arial"/>
                <a:cs typeface="Arial"/>
              </a:rPr>
              <a:t>62% down</a:t>
            </a:r>
          </a:p>
        </p:txBody>
      </p:sp>
      <p:sp>
        <p:nvSpPr>
          <p:cNvPr id="23" name="TextBox 22">
            <a:extLst>
              <a:ext uri="{FF2B5EF4-FFF2-40B4-BE49-F238E27FC236}">
                <a16:creationId xmlns:a16="http://schemas.microsoft.com/office/drawing/2014/main" id="{FCF53A21-6035-4E39-BA20-E4B69FCE5D94}"/>
              </a:ext>
            </a:extLst>
          </p:cNvPr>
          <p:cNvSpPr>
            <a:spLocks noGrp="1"/>
          </p:cNvSpPr>
          <p:nvPr/>
        </p:nvSpPr>
        <p:spPr>
          <a:xfrm>
            <a:off x="5596128" y="4351303"/>
            <a:ext cx="5468112" cy="438912"/>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150" b="0" i="0">
                <a:solidFill>
                  <a:srgbClr val="1F2730"/>
                </a:solidFill>
                <a:latin typeface="Arial"/>
                <a:ea typeface="Arial"/>
                <a:cs typeface="Arial"/>
              </a:rPr>
              <a:t>Only three eligible KDA calls showed significant enrichment</a:t>
            </a:r>
          </a:p>
        </p:txBody>
      </p:sp>
      <p:sp>
        <p:nvSpPr>
          <p:cNvPr id="24" name="Rounded Rectangle 23">
            <a:extLst>
              <a:ext uri="{FF2B5EF4-FFF2-40B4-BE49-F238E27FC236}">
                <a16:creationId xmlns:a16="http://schemas.microsoft.com/office/drawing/2014/main" id="{C35569EA-A504-4FEF-A234-A7B52E09A639}"/>
              </a:ext>
            </a:extLst>
          </p:cNvPr>
          <p:cNvSpPr>
            <a:spLocks noGrp="1"/>
          </p:cNvSpPr>
          <p:nvPr/>
        </p:nvSpPr>
        <p:spPr>
          <a:xfrm>
            <a:off x="749808" y="5192551"/>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1E2A3A88-02E2-4D5C-8DC6-503323D5E5C5}"/>
              </a:ext>
            </a:extLst>
          </p:cNvPr>
          <p:cNvSpPr>
            <a:spLocks noGrp="1"/>
          </p:cNvSpPr>
          <p:nvPr/>
        </p:nvSpPr>
        <p:spPr>
          <a:xfrm>
            <a:off x="987552" y="5357143"/>
            <a:ext cx="2331720" cy="455509"/>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lang="en-US" sz="1300" b="1" i="0">
                <a:solidFill>
                  <a:srgbClr val="0F233D"/>
                </a:solidFill>
                <a:latin typeface="Arial"/>
                <a:ea typeface="Arial"/>
                <a:cs typeface="Arial"/>
              </a:rPr>
              <a:t>Evidence of opposite direction</a:t>
            </a:r>
            <a:endParaRPr sz="1300" b="1" i="0">
              <a:solidFill>
                <a:srgbClr val="0F233D"/>
              </a:solidFill>
              <a:latin typeface="Arial"/>
              <a:ea typeface="Arial"/>
              <a:cs typeface="Arial"/>
            </a:endParaRPr>
          </a:p>
        </p:txBody>
      </p:sp>
      <p:sp>
        <p:nvSpPr>
          <p:cNvPr id="26" name="TextBox 25">
            <a:extLst>
              <a:ext uri="{FF2B5EF4-FFF2-40B4-BE49-F238E27FC236}">
                <a16:creationId xmlns:a16="http://schemas.microsoft.com/office/drawing/2014/main" id="{B161D71B-8C91-4EA5-AAFD-66B5A5D14474}"/>
              </a:ext>
            </a:extLst>
          </p:cNvPr>
          <p:cNvSpPr>
            <a:spLocks noGrp="1"/>
          </p:cNvSpPr>
          <p:nvPr/>
        </p:nvSpPr>
        <p:spPr>
          <a:xfrm>
            <a:off x="3419856" y="5311423"/>
            <a:ext cx="1975104" cy="36576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600" b="1" i="0">
                <a:solidFill>
                  <a:srgbClr val="895600"/>
                </a:solidFill>
                <a:latin typeface="Arial"/>
                <a:ea typeface="Arial"/>
                <a:cs typeface="Arial"/>
              </a:rPr>
              <a:t>Possible, not definitive</a:t>
            </a:r>
          </a:p>
        </p:txBody>
      </p:sp>
      <p:sp>
        <p:nvSpPr>
          <p:cNvPr id="27" name="TextBox 26">
            <a:extLst>
              <a:ext uri="{FF2B5EF4-FFF2-40B4-BE49-F238E27FC236}">
                <a16:creationId xmlns:a16="http://schemas.microsoft.com/office/drawing/2014/main" id="{323F2BA4-0FC2-4EFB-8919-5680A33994A4}"/>
              </a:ext>
            </a:extLst>
          </p:cNvPr>
          <p:cNvSpPr>
            <a:spLocks noGrp="1"/>
          </p:cNvSpPr>
          <p:nvPr/>
        </p:nvSpPr>
        <p:spPr>
          <a:xfrm>
            <a:off x="5596128" y="5414693"/>
            <a:ext cx="5468112" cy="232371"/>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150" b="0" i="0">
                <a:solidFill>
                  <a:srgbClr val="1F2730"/>
                </a:solidFill>
                <a:latin typeface="Arial"/>
                <a:ea typeface="Arial"/>
                <a:cs typeface="Arial"/>
              </a:rPr>
              <a:t>The nuclear side is too mixed</a:t>
            </a:r>
            <a:r>
              <a:rPr lang="en-US" sz="1150" b="0" i="0">
                <a:solidFill>
                  <a:srgbClr val="1F2730"/>
                </a:solidFill>
                <a:latin typeface="Arial"/>
                <a:ea typeface="Arial"/>
                <a:cs typeface="Arial"/>
              </a:rPr>
              <a:t>, so weaker than</a:t>
            </a:r>
            <a:r>
              <a:rPr sz="1150" b="0" i="0">
                <a:solidFill>
                  <a:srgbClr val="1F2730"/>
                </a:solidFill>
                <a:latin typeface="Arial"/>
                <a:ea typeface="Arial"/>
                <a:cs typeface="Arial"/>
              </a:rPr>
              <a:t> Finding 2</a:t>
            </a:r>
          </a:p>
        </p:txBody>
      </p:sp>
    </p:spTree>
    <p:extLst>
      <p:ext uri="{BB962C8B-B14F-4D97-AF65-F5344CB8AC3E}">
        <p14:creationId val="238565285"/>
      </p:ext>
    </p:extLst>
  </p:cSld>
  <p:clrMapOvr>
    <a:masterClrMapping/>
  </p:clrMapOvr>
  <p:transition/>
  <p:timing/>
</p:sld>
</file>

<file path=ppt/slides/slide9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AB9C1982-3E55-4313-9CE5-CFD54282201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Direct broad-cell evidence agrees in ROSMAP but reverses in SEA-AD</a:t>
            </a:r>
          </a:p>
        </p:txBody>
      </p:sp>
      <p:sp>
        <p:nvSpPr>
          <p:cNvPr id="3" name="TextBox 2">
            <a:extLst>
              <a:ext uri="{FF2B5EF4-FFF2-40B4-BE49-F238E27FC236}">
                <a16:creationId xmlns:a16="http://schemas.microsoft.com/office/drawing/2014/main" id="{D5AA194A-7D48-410F-B140-EDD62AD58FB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080" b="0" i="0">
                <a:solidFill>
                  <a:srgbClr val="4E5A68"/>
                </a:solidFill>
                <a:latin typeface="Arial"/>
                <a:ea typeface="Arial"/>
                <a:cs typeface="Arial"/>
              </a:rPr>
              <a:t>Cross-resolution disagreement keeps the male ε4 mismatch provisional.</a:t>
            </a:r>
          </a:p>
        </p:txBody>
      </p:sp>
      <p:sp>
        <p:nvSpPr>
          <p:cNvPr id="4" name="Rounded Rectangle 3">
            <a:extLst>
              <a:ext uri="{FF2B5EF4-FFF2-40B4-BE49-F238E27FC236}">
                <a16:creationId xmlns:a16="http://schemas.microsoft.com/office/drawing/2014/main" id="{73F80850-1DD1-48CA-9C04-41340D4E44B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248C75F-F33A-4A18-9BE1-6D4E87512E57}"/>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72B2"/>
                </a:solidFill>
                <a:latin typeface="Arial"/>
                <a:ea typeface="Arial"/>
                <a:cs typeface="Arial"/>
              </a:rPr>
              <a:t>ROSMAP EXCITATORY</a:t>
            </a:r>
          </a:p>
        </p:txBody>
      </p:sp>
      <p:sp>
        <p:nvSpPr>
          <p:cNvPr id="6" name="TextBox 5">
            <a:extLst>
              <a:ext uri="{FF2B5EF4-FFF2-40B4-BE49-F238E27FC236}">
                <a16:creationId xmlns:a16="http://schemas.microsoft.com/office/drawing/2014/main" id="{864C8E28-1A3C-4699-ADBE-859F3C0D8C9C}"/>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+2.03 core MT NES</a:t>
            </a:r>
          </a:p>
        </p:txBody>
      </p:sp>
      <p:sp>
        <p:nvSpPr>
          <p:cNvPr id="7" name="TextBox 6">
            <a:extLst>
              <a:ext uri="{FF2B5EF4-FFF2-40B4-BE49-F238E27FC236}">
                <a16:creationId xmlns:a16="http://schemas.microsoft.com/office/drawing/2014/main" id="{03F655E6-FFC7-4631-970A-44D7AFB7CF6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The core MT upregulation component survived composition adjustment.</a:t>
            </a:r>
          </a:p>
        </p:txBody>
      </p:sp>
      <p:sp>
        <p:nvSpPr>
          <p:cNvPr id="8" name="Rounded Rectangle 7">
            <a:extLst>
              <a:ext uri="{FF2B5EF4-FFF2-40B4-BE49-F238E27FC236}">
                <a16:creationId xmlns:a16="http://schemas.microsoft.com/office/drawing/2014/main" id="{7E6B98DB-8D6C-4CAB-BF4E-9C7F83465275}"/>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EEE532F-578A-4EA2-8AA2-22F222211B6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9E3A00"/>
                </a:solidFill>
                <a:latin typeface="Arial"/>
                <a:ea typeface="Arial"/>
                <a:cs typeface="Arial"/>
              </a:rPr>
              <a:t>ROSMAP EXCITATORY</a:t>
            </a:r>
          </a:p>
        </p:txBody>
      </p:sp>
      <p:sp>
        <p:nvSpPr>
          <p:cNvPr id="10" name="TextBox 9">
            <a:extLst>
              <a:ext uri="{FF2B5EF4-FFF2-40B4-BE49-F238E27FC236}">
                <a16:creationId xmlns:a16="http://schemas.microsoft.com/office/drawing/2014/main" id="{32654655-8723-4E99-BD57-5845AA5E34A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−1.72 nuclear NES</a:t>
            </a:r>
          </a:p>
        </p:txBody>
      </p:sp>
      <p:sp>
        <p:nvSpPr>
          <p:cNvPr id="11" name="TextBox 10">
            <a:extLst>
              <a:ext uri="{FF2B5EF4-FFF2-40B4-BE49-F238E27FC236}">
                <a16:creationId xmlns:a16="http://schemas.microsoft.com/office/drawing/2014/main" id="{D4FE3084-A79F-4FDE-8D72-2E973ED4F01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The nuclear-down component also survived composition adjustment.</a:t>
            </a:r>
          </a:p>
        </p:txBody>
      </p:sp>
      <p:sp>
        <p:nvSpPr>
          <p:cNvPr id="12" name="Rounded Rectangle 11">
            <a:extLst>
              <a:ext uri="{FF2B5EF4-FFF2-40B4-BE49-F238E27FC236}">
                <a16:creationId xmlns:a16="http://schemas.microsoft.com/office/drawing/2014/main" id="{833837A4-38EF-47FE-AB96-23F07DD25D5A}"/>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75B039C5-F3B5-4569-B1E5-C8A190B4B196}"/>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895600"/>
                </a:solidFill>
                <a:latin typeface="Arial"/>
                <a:ea typeface="Arial"/>
                <a:cs typeface="Arial"/>
              </a:rPr>
              <a:t>SEA-AD EXCITATORY</a:t>
            </a:r>
          </a:p>
        </p:txBody>
      </p:sp>
      <p:sp>
        <p:nvSpPr>
          <p:cNvPr id="14" name="TextBox 13">
            <a:extLst>
              <a:ext uri="{FF2B5EF4-FFF2-40B4-BE49-F238E27FC236}">
                <a16:creationId xmlns:a16="http://schemas.microsoft.com/office/drawing/2014/main" id="{E255F907-3726-4ED6-BA97-1B56DA232D5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+2.46 nuclear NES</a:t>
            </a:r>
          </a:p>
        </p:txBody>
      </p:sp>
      <p:sp>
        <p:nvSpPr>
          <p:cNvPr id="15" name="TextBox 14">
            <a:extLst>
              <a:ext uri="{FF2B5EF4-FFF2-40B4-BE49-F238E27FC236}">
                <a16:creationId xmlns:a16="http://schemas.microsoft.com/office/drawing/2014/main" id="{826F063C-28A4-4A84-B6BB-4F74EAADF36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SEA-AD showed the opposite nuclear direction and no active male ε4 fine-cell KDA query.</a:t>
            </a:r>
          </a:p>
        </p:txBody>
      </p:sp>
      <p:sp>
        <p:nvSpPr>
          <p:cNvPr id="16" name="Rounded Rectangle 15">
            <a:extLst>
              <a:ext uri="{FF2B5EF4-FFF2-40B4-BE49-F238E27FC236}">
                <a16:creationId xmlns:a16="http://schemas.microsoft.com/office/drawing/2014/main" id="{300DBFEC-3417-4C51-B020-FF44A48774A1}"/>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2029546-FCA5-418B-A6A9-3321BA3150B0}"/>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30" b="1" i="0">
                <a:solidFill>
                  <a:srgbClr val="7E4C9A"/>
                </a:solidFill>
                <a:latin typeface="Arial"/>
                <a:ea typeface="Arial"/>
                <a:cs typeface="Arial"/>
              </a:rPr>
              <a:t>The broad-cell mismatch is not robust across cohorts, and SEA-AD cannot test it at fine-cell KDA resolution.</a:t>
            </a:r>
          </a:p>
        </p:txBody>
      </p:sp>
    </p:spTree>
    <p:extLst>
      <p:ext uri="{BB962C8B-B14F-4D97-AF65-F5344CB8AC3E}">
        <p14:creationId val="1069416022"/>
      </p:ext>
    </p:extLst>
  </p:cSld>
  <p:clrMapOvr>
    <a:masterClrMapping/>
  </p:clrMapOvr>
  <p:transition/>
  <p:timing/>
</p:sld>
</file>

<file path=ppt/slides/slide9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2405641A-583C-4992-BB25-C4C9E643239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Why this matters: a mismatch outside ε3/ε3 would broaden the hypothesis</a:t>
            </a:r>
          </a:p>
        </p:txBody>
      </p:sp>
      <p:sp>
        <p:nvSpPr>
          <p:cNvPr id="3" name="TextBox 2">
            <a:extLst>
              <a:ext uri="{FF2B5EF4-FFF2-40B4-BE49-F238E27FC236}">
                <a16:creationId xmlns:a16="http://schemas.microsoft.com/office/drawing/2014/main" id="{58633844-E6EF-4BE9-970C-B818B8CC1EFE}"/>
              </a:ext>
            </a:extLst>
          </p:cNvPr>
          <p:cNvSpPr>
            <a:spLocks noGrp="1"/>
          </p:cNvSpPr>
          <p:nvPr/>
        </p:nvSpPr>
        <p:spPr>
          <a:xfrm>
            <a:off x="548640" y="898242"/>
            <a:ext cx="10927080" cy="270843"/>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00" b="1" i="0">
                <a:latin typeface="Arial"/>
                <a:ea typeface="Arial"/>
                <a:cs typeface="Arial"/>
              </a:rPr>
              <a:t>If confirmed, the split could represent a general male response or an APOE-dependent gradient.</a:t>
            </a:r>
          </a:p>
        </p:txBody>
      </p:sp>
      <p:sp>
        <p:nvSpPr>
          <p:cNvPr id="4" name="Rounded Rectangle 3">
            <a:extLst>
              <a:ext uri="{FF2B5EF4-FFF2-40B4-BE49-F238E27FC236}">
                <a16:creationId xmlns:a16="http://schemas.microsoft.com/office/drawing/2014/main" id="{FBF3FBD6-C6C0-4535-80F5-8E418D24ECCB}"/>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821D29E-021F-40F6-88D9-1738C9BDB4B9}"/>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72B2"/>
                </a:solidFill>
                <a:latin typeface="Arial"/>
                <a:ea typeface="Arial"/>
                <a:cs typeface="Arial"/>
              </a:rPr>
              <a:t>COMPARISON</a:t>
            </a:r>
          </a:p>
        </p:txBody>
      </p:sp>
      <p:sp>
        <p:nvSpPr>
          <p:cNvPr id="6" name="TextBox 5">
            <a:extLst>
              <a:ext uri="{FF2B5EF4-FFF2-40B4-BE49-F238E27FC236}">
                <a16:creationId xmlns:a16="http://schemas.microsoft.com/office/drawing/2014/main" id="{9B95D7C0-68A2-44B6-8AE3-10803B0BEF75}"/>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Related to Finding 2</a:t>
            </a:r>
          </a:p>
        </p:txBody>
      </p:sp>
      <p:sp>
        <p:nvSpPr>
          <p:cNvPr id="7" name="TextBox 6">
            <a:extLst>
              <a:ext uri="{FF2B5EF4-FFF2-40B4-BE49-F238E27FC236}">
                <a16:creationId xmlns:a16="http://schemas.microsoft.com/office/drawing/2014/main" id="{3C634A4A-98EB-4C7E-90DD-E2FD0C6976C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Both findings place core MT genes upward and nuclear-encoded OXPHOS genes downward.</a:t>
            </a:r>
          </a:p>
        </p:txBody>
      </p:sp>
      <p:sp>
        <p:nvSpPr>
          <p:cNvPr id="8" name="Rounded Rectangle 7">
            <a:extLst>
              <a:ext uri="{FF2B5EF4-FFF2-40B4-BE49-F238E27FC236}">
                <a16:creationId xmlns:a16="http://schemas.microsoft.com/office/drawing/2014/main" id="{44A3155E-5365-4F5E-AFD2-554245C06004}"/>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A644B14-4140-4C64-8588-8E8B9A63FFF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895600"/>
                </a:solidFill>
                <a:latin typeface="Arial"/>
                <a:ea typeface="Arial"/>
                <a:cs typeface="Arial"/>
              </a:rPr>
              <a:t>DIFFERENCE</a:t>
            </a:r>
          </a:p>
        </p:txBody>
      </p:sp>
      <p:sp>
        <p:nvSpPr>
          <p:cNvPr id="10" name="TextBox 9">
            <a:extLst>
              <a:ext uri="{FF2B5EF4-FFF2-40B4-BE49-F238E27FC236}">
                <a16:creationId xmlns:a16="http://schemas.microsoft.com/office/drawing/2014/main" id="{97870FB4-2C51-4BE1-B022-2E22607B8047}"/>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The ε4 split is weaker</a:t>
            </a:r>
          </a:p>
        </p:txBody>
      </p:sp>
      <p:sp>
        <p:nvSpPr>
          <p:cNvPr id="11" name="TextBox 10">
            <a:extLst>
              <a:ext uri="{FF2B5EF4-FFF2-40B4-BE49-F238E27FC236}">
                <a16:creationId xmlns:a16="http://schemas.microsoft.com/office/drawing/2014/main" id="{0917A412-A9D7-4B98-842E-4C1E412EED3C}"/>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The nuclear component contains many more up occurrences than the male ε3/ε3 result.</a:t>
            </a:r>
          </a:p>
        </p:txBody>
      </p:sp>
      <p:sp>
        <p:nvSpPr>
          <p:cNvPr id="12" name="Rounded Rectangle 11">
            <a:extLst>
              <a:ext uri="{FF2B5EF4-FFF2-40B4-BE49-F238E27FC236}">
                <a16:creationId xmlns:a16="http://schemas.microsoft.com/office/drawing/2014/main" id="{20DB37EA-5442-450B-925E-213927510EE6}"/>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95C0462-B63B-42A0-A2F9-871984922E23}"/>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9E3A00"/>
                </a:solidFill>
                <a:latin typeface="Arial"/>
                <a:ea typeface="Arial"/>
                <a:cs typeface="Arial"/>
              </a:rPr>
              <a:t>INFERENCE</a:t>
            </a:r>
          </a:p>
        </p:txBody>
      </p:sp>
      <p:sp>
        <p:nvSpPr>
          <p:cNvPr id="14" name="TextBox 13">
            <a:extLst>
              <a:ext uri="{FF2B5EF4-FFF2-40B4-BE49-F238E27FC236}">
                <a16:creationId xmlns:a16="http://schemas.microsoft.com/office/drawing/2014/main" id="{4585C609-7948-4621-91F5-67CE7ED0E18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Direct comparisons are required</a:t>
            </a:r>
          </a:p>
        </p:txBody>
      </p:sp>
      <p:sp>
        <p:nvSpPr>
          <p:cNvPr id="15" name="TextBox 14">
            <a:extLst>
              <a:ext uri="{FF2B5EF4-FFF2-40B4-BE49-F238E27FC236}">
                <a16:creationId xmlns:a16="http://schemas.microsoft.com/office/drawing/2014/main" id="{0BBC561B-EB2C-4DFB-BD6D-952F4250608D}"/>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Separate strata cannot distinguish a general male response from an APOE effect.</a:t>
            </a:r>
          </a:p>
        </p:txBody>
      </p:sp>
      <p:sp>
        <p:nvSpPr>
          <p:cNvPr id="16" name="Rounded Rectangle 15">
            <a:extLst>
              <a:ext uri="{FF2B5EF4-FFF2-40B4-BE49-F238E27FC236}">
                <a16:creationId xmlns:a16="http://schemas.microsoft.com/office/drawing/2014/main" id="{3D286636-188B-4CE3-950A-6F3D38DF3FDD}"/>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4682283-93A0-457E-86E4-942B19E5A046}"/>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A3BAB5CC-C225-4EBE-BB90-009213F7E394}"/>
              </a:ext>
            </a:extLst>
          </p:cNvPr>
          <p:cNvSpPr>
            <a:spLocks noGrp="1"/>
          </p:cNvSpPr>
          <p:nvPr/>
        </p:nvSpPr>
        <p:spPr>
          <a:xfrm>
            <a:off x="2788920" y="5861304"/>
            <a:ext cx="8321040" cy="227755"/>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20" b="1" i="0">
                <a:solidFill>
                  <a:srgbClr val="1F2730"/>
                </a:solidFill>
                <a:latin typeface="Arial"/>
                <a:ea typeface="Arial"/>
                <a:cs typeface="Arial"/>
              </a:rPr>
              <a:t>A prespecified balance score would test the </a:t>
            </a:r>
            <a:r>
              <a:rPr lang="en-US" sz="1120" b="1" i="0">
                <a:solidFill>
                  <a:srgbClr val="1F2730"/>
                </a:solidFill>
                <a:latin typeface="Arial"/>
                <a:ea typeface="Arial"/>
                <a:cs typeface="Arial"/>
              </a:rPr>
              <a:t>evidence</a:t>
            </a:r>
            <a:r>
              <a:rPr sz="1120" b="1" i="0">
                <a:solidFill>
                  <a:srgbClr val="1F2730"/>
                </a:solidFill>
                <a:latin typeface="Arial"/>
                <a:ea typeface="Arial"/>
                <a:cs typeface="Arial"/>
              </a:rPr>
              <a:t> of </a:t>
            </a:r>
            <a:r>
              <a:rPr lang="en-US" sz="1120" b="1" i="0">
                <a:solidFill>
                  <a:srgbClr val="1F2730"/>
                </a:solidFill>
                <a:latin typeface="Arial"/>
                <a:ea typeface="Arial"/>
                <a:cs typeface="Arial"/>
              </a:rPr>
              <a:t>opposite direction</a:t>
            </a:r>
            <a:r>
              <a:rPr sz="1120" b="1" i="0">
                <a:solidFill>
                  <a:srgbClr val="1F2730"/>
                </a:solidFill>
                <a:latin typeface="Arial"/>
                <a:ea typeface="Arial"/>
                <a:cs typeface="Arial"/>
              </a:rPr>
              <a:t> directly across groups.</a:t>
            </a:r>
          </a:p>
        </p:txBody>
      </p:sp>
    </p:spTree>
    <p:extLst>
      <p:ext uri="{BB962C8B-B14F-4D97-AF65-F5344CB8AC3E}">
        <p14:creationId val="620284458"/>
      </p:ext>
    </p:extLst>
  </p:cSld>
  <p:clrMapOvr>
    <a:masterClrMapping/>
  </p:clrMapOvr>
  <p:transition/>
  <p:timing/>
</p:sld>
</file>

<file path=ppt/slides/slide9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FA2A71E9-ACDA-4765-A7F9-B0CEB1DF662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Prior research and evidence context for Finding 6</a:t>
            </a:r>
          </a:p>
        </p:txBody>
      </p:sp>
      <p:sp>
        <p:nvSpPr>
          <p:cNvPr id="3" name="TextBox 2">
            <a:extLst>
              <a:ext uri="{FF2B5EF4-FFF2-40B4-BE49-F238E27FC236}">
                <a16:creationId xmlns:a16="http://schemas.microsoft.com/office/drawing/2014/main" id="{48F05558-F943-4C0C-9C78-73E3EBC443DF}"/>
              </a:ext>
            </a:extLst>
          </p:cNvPr>
          <p:cNvSpPr>
            <a:spLocks noGrp="1"/>
          </p:cNvSpPr>
          <p:nvPr/>
        </p:nvSpPr>
        <p:spPr>
          <a:xfrm>
            <a:off x="548640" y="915996"/>
            <a:ext cx="10927080" cy="270843"/>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00" b="1" i="0">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0C903E9D-C867-4E6D-B6F1-2D65D2917DF6}"/>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17AE226-23F7-4507-B0B8-8C300C84E9AE}"/>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CE5FF710-8136-46D7-B9C6-284FD0953E34}"/>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350" b="1" i="0">
                <a:solidFill>
                  <a:srgbClr val="0F233D"/>
                </a:solidFill>
                <a:latin typeface="Arial"/>
                <a:ea typeface="Arial"/>
                <a:cs typeface="Arial"/>
              </a:rPr>
              <a:t>APOE ε4 risk</a:t>
            </a:r>
          </a:p>
        </p:txBody>
      </p:sp>
      <p:sp>
        <p:nvSpPr>
          <p:cNvPr id="7" name="TextBox 6">
            <a:extLst>
              <a:ext uri="{FF2B5EF4-FFF2-40B4-BE49-F238E27FC236}">
                <a16:creationId xmlns:a16="http://schemas.microsoft.com/office/drawing/2014/main" id="{BE9C768D-62BE-407B-828D-D02B15976982}"/>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9BAE84CC-1156-45D1-B3EC-2DE3677830A1}"/>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80" b="0" i="0">
                <a:solidFill>
                  <a:srgbClr val="1F2730"/>
                </a:solidFill>
                <a:latin typeface="Arial"/>
                <a:ea typeface="Arial"/>
                <a:cs typeface="Arial"/>
              </a:rPr>
              <a:t>Establishes ε4 as a major common risk allele for late-onset AD.</a:t>
            </a:r>
          </a:p>
        </p:txBody>
      </p:sp>
      <p:sp>
        <p:nvSpPr>
          <p:cNvPr id="9" name="TextBox 8">
            <a:extLst>
              <a:ext uri="{FF2B5EF4-FFF2-40B4-BE49-F238E27FC236}">
                <a16:creationId xmlns:a16="http://schemas.microsoft.com/office/drawing/2014/main" id="{86212FEB-C905-4023-B4CE-3E39222AAF43}"/>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A6DF6AFE-5D1D-4221-BE74-25CA572331ED}"/>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60" b="0" i="0">
                <a:solidFill>
                  <a:srgbClr val="4E5A68"/>
                </a:solidFill>
                <a:latin typeface="Arial"/>
                <a:ea typeface="Arial"/>
                <a:cs typeface="Arial"/>
              </a:rPr>
              <a:t>Risk association does not validate the gene-expression mismatch.</a:t>
            </a:r>
          </a:p>
        </p:txBody>
      </p:sp>
      <p:sp>
        <p:nvSpPr>
          <p:cNvPr id="11" name="Rounded Rectangle 10">
            <a:extLst>
              <a:ext uri="{FF2B5EF4-FFF2-40B4-BE49-F238E27FC236}">
                <a16:creationId xmlns:a16="http://schemas.microsoft.com/office/drawing/2014/main" id="{FA5A70B5-ED40-4A94-9C96-69CF00AAD108}"/>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619859B-7770-4E65-9610-E6F7B16750F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A6B440C9-AFA2-4622-B717-DF2B9BEE1DDA}"/>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350" b="1" i="0">
                <a:solidFill>
                  <a:srgbClr val="0F233D"/>
                </a:solidFill>
                <a:latin typeface="Arial"/>
                <a:ea typeface="Arial"/>
                <a:cs typeface="Arial"/>
              </a:rPr>
              <a:t>APOE4 mitochondrial biology</a:t>
            </a:r>
          </a:p>
        </p:txBody>
      </p:sp>
      <p:sp>
        <p:nvSpPr>
          <p:cNvPr id="14" name="TextBox 13">
            <a:extLst>
              <a:ext uri="{FF2B5EF4-FFF2-40B4-BE49-F238E27FC236}">
                <a16:creationId xmlns:a16="http://schemas.microsoft.com/office/drawing/2014/main" id="{20C1216D-627E-4BAF-93EC-FF63B2D2A9AB}"/>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F7CF12F-A69F-4AE5-8842-F672880271B2}"/>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80" b="0" i="0">
                <a:solidFill>
                  <a:srgbClr val="1F2730"/>
                </a:solidFill>
                <a:latin typeface="Arial"/>
                <a:ea typeface="Arial"/>
                <a:cs typeface="Arial"/>
              </a:rPr>
              <a:t>Shows that APOE4 can alter mitochondrial homeostasis.</a:t>
            </a:r>
          </a:p>
        </p:txBody>
      </p:sp>
      <p:sp>
        <p:nvSpPr>
          <p:cNvPr id="16" name="TextBox 15">
            <a:extLst>
              <a:ext uri="{FF2B5EF4-FFF2-40B4-BE49-F238E27FC236}">
                <a16:creationId xmlns:a16="http://schemas.microsoft.com/office/drawing/2014/main" id="{D60C0674-C91F-4F95-B95A-6EDEAF6B2D83}"/>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DFEF089C-4CF8-487F-BC4B-57340E96F366}"/>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60" b="0" i="0">
                <a:solidFill>
                  <a:srgbClr val="4E5A68"/>
                </a:solidFill>
                <a:latin typeface="Arial"/>
                <a:ea typeface="Arial"/>
                <a:cs typeface="Arial"/>
              </a:rPr>
              <a:t>Uses astrocyte models rather than this male cell context.</a:t>
            </a:r>
          </a:p>
        </p:txBody>
      </p:sp>
      <p:sp>
        <p:nvSpPr>
          <p:cNvPr id="18" name="Rounded Rectangle 17">
            <a:extLst>
              <a:ext uri="{FF2B5EF4-FFF2-40B4-BE49-F238E27FC236}">
                <a16:creationId xmlns:a16="http://schemas.microsoft.com/office/drawing/2014/main" id="{087EB3B4-9294-4423-B7F0-8277CEE7876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7CBDB310-912D-46D4-9AA6-6CD32DDC683A}"/>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500" b="1" i="0">
                <a:solidFill>
                  <a:srgbClr val="895600"/>
                </a:solidFill>
                <a:latin typeface="Arial"/>
                <a:ea typeface="Arial"/>
                <a:cs typeface="Arial"/>
              </a:rPr>
              <a:t>Guo et al. 2023</a:t>
            </a:r>
          </a:p>
        </p:txBody>
      </p:sp>
      <p:sp>
        <p:nvSpPr>
          <p:cNvPr id="20" name="TextBox 19">
            <a:extLst>
              <a:ext uri="{FF2B5EF4-FFF2-40B4-BE49-F238E27FC236}">
                <a16:creationId xmlns:a16="http://schemas.microsoft.com/office/drawing/2014/main" id="{B57CC57B-E52D-4903-8DEE-48C40C4A2597}"/>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350" b="1" i="0">
                <a:solidFill>
                  <a:srgbClr val="0F233D"/>
                </a:solidFill>
                <a:latin typeface="Arial"/>
                <a:ea typeface="Arial"/>
                <a:cs typeface="Arial"/>
              </a:rPr>
              <a:t>Sex-aware networks</a:t>
            </a:r>
          </a:p>
        </p:txBody>
      </p:sp>
      <p:sp>
        <p:nvSpPr>
          <p:cNvPr id="21" name="TextBox 20">
            <a:extLst>
              <a:ext uri="{FF2B5EF4-FFF2-40B4-BE49-F238E27FC236}">
                <a16:creationId xmlns:a16="http://schemas.microsoft.com/office/drawing/2014/main" id="{517E81FA-421A-4304-A594-F165D93BA2F1}"/>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209B394-6AA7-4AE2-B249-1B9166E9C76C}"/>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80" b="0" i="0">
                <a:solidFill>
                  <a:srgbClr val="1F2730"/>
                </a:solidFill>
                <a:latin typeface="Arial"/>
                <a:ea typeface="Arial"/>
                <a:cs typeface="Arial"/>
              </a:rPr>
              <a:t>Supports testing Alzheimer’s molecular patterns separately by sex.</a:t>
            </a:r>
          </a:p>
        </p:txBody>
      </p:sp>
      <p:sp>
        <p:nvSpPr>
          <p:cNvPr id="23" name="TextBox 22">
            <a:extLst>
              <a:ext uri="{FF2B5EF4-FFF2-40B4-BE49-F238E27FC236}">
                <a16:creationId xmlns:a16="http://schemas.microsoft.com/office/drawing/2014/main" id="{C90C4C24-932F-41F6-B2ED-490C4F59A28D}"/>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14A7C164-EF61-40AF-86A9-58D75AA0F8B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60" b="0" i="0">
                <a:solidFill>
                  <a:srgbClr val="4E5A68"/>
                </a:solidFill>
                <a:latin typeface="Arial"/>
                <a:ea typeface="Arial"/>
                <a:cs typeface="Arial"/>
              </a:rPr>
              <a:t>Does not establish the male ε4 mitonuclear split.</a:t>
            </a:r>
          </a:p>
        </p:txBody>
      </p:sp>
      <p:sp>
        <p:nvSpPr>
          <p:cNvPr id="25" name="Rounded Rectangle 24">
            <a:extLst>
              <a:ext uri="{FF2B5EF4-FFF2-40B4-BE49-F238E27FC236}">
                <a16:creationId xmlns:a16="http://schemas.microsoft.com/office/drawing/2014/main" id="{AF22BE5D-53D8-4A84-8D39-F3A1BF013D0F}"/>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4CE44620-9CD4-47D3-984A-8DA730CB5F67}"/>
              </a:ext>
            </a:extLst>
          </p:cNvPr>
          <p:cNvSpPr>
            <a:spLocks noGrp="1"/>
          </p:cNvSpPr>
          <p:nvPr/>
        </p:nvSpPr>
        <p:spPr>
          <a:xfrm>
            <a:off x="896112" y="5952744"/>
            <a:ext cx="10405872" cy="221599"/>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lang="en-US" sz="1080" b="1">
                <a:solidFill>
                  <a:srgbClr val="7E4C9A"/>
                </a:solidFill>
                <a:latin typeface="Arial"/>
                <a:ea typeface="Arial"/>
                <a:cs typeface="Arial"/>
              </a:rPr>
              <a:t>N</a:t>
            </a:r>
            <a:r>
              <a:rPr sz="1080" b="1" i="0">
                <a:solidFill>
                  <a:srgbClr val="7E4C9A"/>
                </a:solidFill>
                <a:latin typeface="Arial"/>
                <a:ea typeface="Arial"/>
                <a:cs typeface="Arial"/>
              </a:rPr>
              <a:t>ovelty: Moderate</a:t>
            </a:r>
          </a:p>
        </p:txBody>
      </p:sp>
    </p:spTree>
    <p:extLst>
      <p:ext uri="{BB962C8B-B14F-4D97-AF65-F5344CB8AC3E}">
        <p14:creationId val="669556895"/>
      </p:ext>
    </p:extLst>
  </p:cSld>
  <p:clrMapOvr>
    <a:masterClrMapping/>
  </p:clrMapOvr>
  <p:transition/>
  <p:timing/>
</p:sld>
</file>

<file path=ppt/slides/slide9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0F233D"/>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BA30096C-D55D-4ABE-BE88-C387D0BC82F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050" b="1" i="0">
                <a:solidFill>
                  <a:srgbClr val="E69F00"/>
                </a:solidFill>
                <a:latin typeface="Arial"/>
                <a:ea typeface="Arial"/>
                <a:cs typeface="Arial"/>
              </a:rPr>
              <a:t>FINDING 7</a:t>
            </a:r>
          </a:p>
        </p:txBody>
      </p:sp>
      <p:sp>
        <p:nvSpPr>
          <p:cNvPr id="3" name="Rectangle 2">
            <a:extLst>
              <a:ext uri="{FF2B5EF4-FFF2-40B4-BE49-F238E27FC236}">
                <a16:creationId xmlns:a16="http://schemas.microsoft.com/office/drawing/2014/main" id="{07B0CE75-22FC-4100-8313-E4706E44D4A7}"/>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C3C69431-9FF7-455D-B05B-FDEFC565A9F3}"/>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2200" b="1" i="0">
                <a:solidFill>
                  <a:srgbClr val="FFFFFF"/>
                </a:solidFill>
                <a:latin typeface="Arial"/>
                <a:ea typeface="Arial"/>
                <a:cs typeface="Arial"/>
              </a:rPr>
              <a:t>Cytosolic ribosome genes repeatedly connect with nuclear-encoded OXPHOS genes</a:t>
            </a:r>
          </a:p>
        </p:txBody>
      </p:sp>
      <p:sp>
        <p:nvSpPr>
          <p:cNvPr id="6" name="Rounded Rectangle 5">
            <a:extLst>
              <a:ext uri="{FF2B5EF4-FFF2-40B4-BE49-F238E27FC236}">
                <a16:creationId xmlns:a16="http://schemas.microsoft.com/office/drawing/2014/main" id="{5E0DD4EE-16C5-4B5E-8D67-C37838FD31DB}"/>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992BAB1-4CF7-49F2-A7F6-F7C44F5441D2}"/>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7D2E195A-3D64-4006-9A64-A4891184F27E}"/>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EDFA596-292D-43DA-A9B2-AC8E7D6DCF6A}"/>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64A5EBE7-AA63-4C62-B3E7-BE1548BF254A}"/>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5D94ECA2-C6DC-47D4-A59B-8706C781052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E636E218-D1FF-479C-B0D8-E316DCA8565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538101FC-12F6-4201-B4F7-40718E74E9F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A3949646-4552-4DCA-8126-1D1729BF38F6}"/>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CD2DD9D-3B14-4251-A7B1-CDF917C09991}"/>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4557481F-5C9A-45C6-B1DC-49C44F3B9F5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3ABF24A2-A5FD-43C9-9B7C-7067C81CCBDC}"/>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2634772-17BE-4470-B29B-9F033C6E0A2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E70C0E51-8788-4D9D-BD42-EE7F7D56DFD1}"/>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7BA88BDA-1487-4601-96AB-7683EE0DB8DE}"/>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9022C60-AB20-43D1-B804-5E0878689463}"/>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20" b="1" i="0">
                <a:solidFill>
                  <a:srgbClr val="FFFFFF"/>
                </a:solidFill>
                <a:latin typeface="Arial"/>
                <a:ea typeface="Arial"/>
                <a:cs typeface="Arial"/>
              </a:rPr>
              <a:t>RPL11, RPS15, and related cytosolic ribosome genes are repeatedly connected to nuclear-encoded OXPHOS genes in KDA calls.</a:t>
            </a:r>
          </a:p>
        </p:txBody>
      </p:sp>
      <p:sp>
        <p:nvSpPr>
          <p:cNvPr id="22" name="TextBox 4">
            <a:extLst>
              <a:ext uri="{FF2B5EF4-FFF2-40B4-BE49-F238E27FC236}">
                <a16:creationId xmlns:a16="http://schemas.microsoft.com/office/drawing/2014/main" id="{233BCDDB-C25D-47FA-8F89-FB34793B4221}"/>
              </a:ext>
            </a:extLst>
          </p:cNvPr>
          <p:cNvSpPr>
            <a:spLocks noGrp="1"/>
          </p:cNvSpPr>
          <p:nvPr/>
        </p:nvSpPr>
        <p:spPr>
          <a:xfrm>
            <a:off x="1097280" y="2468880"/>
            <a:ext cx="7406640" cy="914400"/>
          </a:xfrm>
          <a:prstGeom prst="rect">
            <a:avLst/>
          </a:prstGeom>
          <a:noFill/>
          <a:ln w="0">
            <a:noFill/>
            <a:prstDash val="solid"/>
          </a:ln>
        </p:spPr>
        <p:txBody>
          <a:bodyPr wrap="square" lIns="0" tIns="0" rIns="0" bIns="0" anchor="t">
            <a:normAutofit/>
          </a:bodyPr>
          <a:lstStyle/>
          <a:p>
            <a:pPr algn="l">
              <a:buNone/>
              <a:defRPr sz="1350" b="1">
                <a:solidFill>
                  <a:srgbClr val="E6A700"/>
                </a:solidFill>
                <a:latin typeface="Arial"/>
                <a:ea typeface="Arial"/>
                <a:cs typeface="Arial"/>
              </a:defRPr>
            </a:pPr>
            <a:r>
              <a:rPr sz="1350" b="1">
                <a:solidFill>
                  <a:srgbClr val="E6A700"/>
                </a:solidFill>
                <a:latin typeface="Arial"/>
                <a:ea typeface="Arial"/>
                <a:cs typeface="Arial"/>
              </a:rPr>
              <a:t>Not sex/APOE-specific; observed across all six groups</a:t>
            </a:r>
          </a:p>
        </p:txBody>
      </p:sp>
    </p:spTree>
    <p:extLst>
      <p:ext uri="{BB962C8B-B14F-4D97-AF65-F5344CB8AC3E}">
        <p14:creationId val="1360297034"/>
      </p:ext>
    </p:extLst>
  </p:cSld>
  <p:clrMapOvr>
    <a:masterClrMapping/>
  </p:clrMapOvr>
  <p:transition/>
  <p:timing/>
</p:sld>
</file>

<file path=ppt/slides/slide9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8DFBB544-D8F6-4A23-8F92-A0EF20B5404B}"/>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Cytosolic ribosome genes repeatedly connect to nuclear-encoded OXPHOS genes</a:t>
            </a:r>
          </a:p>
        </p:txBody>
      </p:sp>
      <p:sp>
        <p:nvSpPr>
          <p:cNvPr id="3" name="TextBox 2">
            <a:extLst>
              <a:ext uri="{FF2B5EF4-FFF2-40B4-BE49-F238E27FC236}">
                <a16:creationId xmlns:a16="http://schemas.microsoft.com/office/drawing/2014/main" id="{F5F948E9-1AF0-4521-BF33-5C488EBD0DF9}"/>
              </a:ext>
            </a:extLst>
          </p:cNvPr>
          <p:cNvSpPr>
            <a:spLocks noGrp="1"/>
          </p:cNvSpPr>
          <p:nvPr/>
        </p:nvSpPr>
        <p:spPr>
          <a:xfrm>
            <a:off x="548640" y="969264"/>
            <a:ext cx="10927080" cy="486287"/>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00" b="1" i="0">
                <a:latin typeface="Arial"/>
                <a:ea typeface="Arial"/>
                <a:cs typeface="Arial"/>
              </a:rPr>
              <a:t>The cytosolic ribosome builds most cellular proteins. The result is more credible as one recurring group of related genes than as 20 independent genes returned from KDA calls.</a:t>
            </a:r>
          </a:p>
        </p:txBody>
      </p:sp>
      <p:sp>
        <p:nvSpPr>
          <p:cNvPr id="4" name="Rounded Rectangle 3">
            <a:extLst>
              <a:ext uri="{FF2B5EF4-FFF2-40B4-BE49-F238E27FC236}">
                <a16:creationId xmlns:a16="http://schemas.microsoft.com/office/drawing/2014/main" id="{7B5F358A-4756-4D54-A5C1-0832FF4DB8B9}"/>
              </a:ext>
            </a:extLst>
          </p:cNvPr>
          <p:cNvSpPr>
            <a:spLocks noGrp="1"/>
          </p:cNvSpPr>
          <p:nvPr/>
        </p:nvSpPr>
        <p:spPr>
          <a:xfrm>
            <a:off x="749808" y="1465502"/>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F618BE8-344B-4EF7-BC67-F133103B2DDE}"/>
              </a:ext>
            </a:extLst>
          </p:cNvPr>
          <p:cNvSpPr>
            <a:spLocks noGrp="1"/>
          </p:cNvSpPr>
          <p:nvPr/>
        </p:nvSpPr>
        <p:spPr>
          <a:xfrm>
            <a:off x="841247" y="1566086"/>
            <a:ext cx="2359151"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40" b="1" i="0">
                <a:solidFill>
                  <a:srgbClr val="0072B2"/>
                </a:solidFill>
                <a:latin typeface="Arial"/>
                <a:ea typeface="Arial"/>
                <a:cs typeface="Arial"/>
              </a:rPr>
              <a:t>20 ribosome genes</a:t>
            </a:r>
          </a:p>
        </p:txBody>
      </p:sp>
      <p:sp>
        <p:nvSpPr>
          <p:cNvPr id="6" name="Rounded Rectangle 5">
            <a:extLst>
              <a:ext uri="{FF2B5EF4-FFF2-40B4-BE49-F238E27FC236}">
                <a16:creationId xmlns:a16="http://schemas.microsoft.com/office/drawing/2014/main" id="{E89E6262-E83F-468C-B5C3-934B522C060F}"/>
              </a:ext>
            </a:extLst>
          </p:cNvPr>
          <p:cNvSpPr>
            <a:spLocks noGrp="1"/>
          </p:cNvSpPr>
          <p:nvPr/>
        </p:nvSpPr>
        <p:spPr>
          <a:xfrm>
            <a:off x="3566160" y="1465502"/>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02F4112-022A-4367-9B1E-F8B0600D2E81}"/>
              </a:ext>
            </a:extLst>
          </p:cNvPr>
          <p:cNvSpPr>
            <a:spLocks noGrp="1"/>
          </p:cNvSpPr>
          <p:nvPr/>
        </p:nvSpPr>
        <p:spPr>
          <a:xfrm>
            <a:off x="3657600" y="1566086"/>
            <a:ext cx="2359151"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40" b="1" i="0">
                <a:solidFill>
                  <a:srgbClr val="00684D"/>
                </a:solidFill>
                <a:latin typeface="Arial"/>
                <a:ea typeface="Arial"/>
                <a:cs typeface="Arial"/>
              </a:rPr>
              <a:t>19 categories</a:t>
            </a:r>
          </a:p>
        </p:txBody>
      </p:sp>
      <p:sp>
        <p:nvSpPr>
          <p:cNvPr id="8" name="Rounded Rectangle 7">
            <a:extLst>
              <a:ext uri="{FF2B5EF4-FFF2-40B4-BE49-F238E27FC236}">
                <a16:creationId xmlns:a16="http://schemas.microsoft.com/office/drawing/2014/main" id="{9F478587-B06E-4AAE-AD39-1B83458A175C}"/>
              </a:ext>
            </a:extLst>
          </p:cNvPr>
          <p:cNvSpPr>
            <a:spLocks noGrp="1"/>
          </p:cNvSpPr>
          <p:nvPr/>
        </p:nvSpPr>
        <p:spPr>
          <a:xfrm>
            <a:off x="6382512" y="1465502"/>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D447518-AEF0-4634-A75A-F701EB753193}"/>
              </a:ext>
            </a:extLst>
          </p:cNvPr>
          <p:cNvSpPr>
            <a:spLocks noGrp="1"/>
          </p:cNvSpPr>
          <p:nvPr/>
        </p:nvSpPr>
        <p:spPr>
          <a:xfrm>
            <a:off x="6473952" y="1566086"/>
            <a:ext cx="2359151"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40" b="1" i="0">
                <a:solidFill>
                  <a:srgbClr val="895600"/>
                </a:solidFill>
                <a:latin typeface="Arial"/>
                <a:ea typeface="Arial"/>
                <a:cs typeface="Arial"/>
              </a:rPr>
              <a:t>RPL11 and RPS15</a:t>
            </a:r>
          </a:p>
        </p:txBody>
      </p:sp>
      <p:sp>
        <p:nvSpPr>
          <p:cNvPr id="10" name="Rounded Rectangle 9">
            <a:extLst>
              <a:ext uri="{FF2B5EF4-FFF2-40B4-BE49-F238E27FC236}">
                <a16:creationId xmlns:a16="http://schemas.microsoft.com/office/drawing/2014/main" id="{C1064A77-A287-4464-8DB0-F4D1D1C92B61}"/>
              </a:ext>
            </a:extLst>
          </p:cNvPr>
          <p:cNvSpPr>
            <a:spLocks noGrp="1"/>
          </p:cNvSpPr>
          <p:nvPr/>
        </p:nvSpPr>
        <p:spPr>
          <a:xfrm>
            <a:off x="9198864" y="1465502"/>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A360CBE-6388-4CE9-AD62-23D21E880FC1}"/>
              </a:ext>
            </a:extLst>
          </p:cNvPr>
          <p:cNvSpPr>
            <a:spLocks noGrp="1"/>
          </p:cNvSpPr>
          <p:nvPr/>
        </p:nvSpPr>
        <p:spPr>
          <a:xfrm>
            <a:off x="9290304" y="1566086"/>
            <a:ext cx="2359151" cy="213360"/>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40" b="1" i="0">
                <a:solidFill>
                  <a:srgbClr val="9E3A00"/>
                </a:solidFill>
                <a:latin typeface="Arial"/>
                <a:ea typeface="Arial"/>
                <a:cs typeface="Arial"/>
              </a:rPr>
              <a:t>Group-level interpretation</a:t>
            </a:r>
          </a:p>
        </p:txBody>
      </p:sp>
      <p:sp>
        <p:nvSpPr>
          <p:cNvPr id="12" name="Rounded Rectangle 11">
            <a:extLst>
              <a:ext uri="{FF2B5EF4-FFF2-40B4-BE49-F238E27FC236}">
                <a16:creationId xmlns:a16="http://schemas.microsoft.com/office/drawing/2014/main" id="{7C4A4FEE-B5D0-4C1C-BC2A-C9D3CC159D54}"/>
              </a:ext>
            </a:extLst>
          </p:cNvPr>
          <p:cNvSpPr>
            <a:spLocks noGrp="1"/>
          </p:cNvSpPr>
          <p:nvPr/>
        </p:nvSpPr>
        <p:spPr>
          <a:xfrm>
            <a:off x="658368" y="2089405"/>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29C9D1E-DFCA-49A2-B24F-8A510720E7DD}"/>
              </a:ext>
            </a:extLst>
          </p:cNvPr>
          <p:cNvSpPr>
            <a:spLocks noGrp="1"/>
          </p:cNvSpPr>
          <p:nvPr/>
        </p:nvSpPr>
        <p:spPr>
          <a:xfrm>
            <a:off x="932688" y="2382013"/>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72B2"/>
                </a:solidFill>
                <a:latin typeface="Arial"/>
                <a:ea typeface="Arial"/>
                <a:cs typeface="Arial"/>
              </a:rPr>
              <a:t>PROTEIN PRODUCTION</a:t>
            </a:r>
          </a:p>
        </p:txBody>
      </p:sp>
      <p:sp>
        <p:nvSpPr>
          <p:cNvPr id="14" name="TextBox 13">
            <a:extLst>
              <a:ext uri="{FF2B5EF4-FFF2-40B4-BE49-F238E27FC236}">
                <a16:creationId xmlns:a16="http://schemas.microsoft.com/office/drawing/2014/main" id="{6046503C-D1FF-484C-B6DD-48E57AB617F6}"/>
              </a:ext>
            </a:extLst>
          </p:cNvPr>
          <p:cNvSpPr>
            <a:spLocks noGrp="1"/>
          </p:cNvSpPr>
          <p:nvPr/>
        </p:nvSpPr>
        <p:spPr>
          <a:xfrm>
            <a:off x="932688" y="2839213"/>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Cytosolic ribosome</a:t>
            </a:r>
          </a:p>
        </p:txBody>
      </p:sp>
      <p:sp>
        <p:nvSpPr>
          <p:cNvPr id="15" name="TextBox 14">
            <a:extLst>
              <a:ext uri="{FF2B5EF4-FFF2-40B4-BE49-F238E27FC236}">
                <a16:creationId xmlns:a16="http://schemas.microsoft.com/office/drawing/2014/main" id="{AF24597A-943C-4FBA-8507-31BB0E72E474}"/>
              </a:ext>
            </a:extLst>
          </p:cNvPr>
          <p:cNvSpPr>
            <a:spLocks noGrp="1"/>
          </p:cNvSpPr>
          <p:nvPr/>
        </p:nvSpPr>
        <p:spPr>
          <a:xfrm>
            <a:off x="969264" y="3845053"/>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This molecular machine builds most proteins outside mitochondria.</a:t>
            </a:r>
          </a:p>
        </p:txBody>
      </p:sp>
      <p:sp>
        <p:nvSpPr>
          <p:cNvPr id="16" name="Rounded Rectangle 15">
            <a:extLst>
              <a:ext uri="{FF2B5EF4-FFF2-40B4-BE49-F238E27FC236}">
                <a16:creationId xmlns:a16="http://schemas.microsoft.com/office/drawing/2014/main" id="{839150BF-0612-4C7E-8DE5-4D72DF1AC83E}"/>
              </a:ext>
            </a:extLst>
          </p:cNvPr>
          <p:cNvSpPr>
            <a:spLocks noGrp="1"/>
          </p:cNvSpPr>
          <p:nvPr/>
        </p:nvSpPr>
        <p:spPr>
          <a:xfrm>
            <a:off x="4453128" y="2089405"/>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CB9F65F-8DEB-4394-8293-29C490762A83}"/>
              </a:ext>
            </a:extLst>
          </p:cNvPr>
          <p:cNvSpPr>
            <a:spLocks noGrp="1"/>
          </p:cNvSpPr>
          <p:nvPr/>
        </p:nvSpPr>
        <p:spPr>
          <a:xfrm>
            <a:off x="4727448" y="2382013"/>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684D"/>
                </a:solidFill>
                <a:latin typeface="Arial"/>
                <a:ea typeface="Arial"/>
                <a:cs typeface="Arial"/>
              </a:rPr>
              <a:t>NETWORK CONNECTIONS</a:t>
            </a:r>
          </a:p>
        </p:txBody>
      </p:sp>
      <p:sp>
        <p:nvSpPr>
          <p:cNvPr id="18" name="TextBox 17">
            <a:extLst>
              <a:ext uri="{FF2B5EF4-FFF2-40B4-BE49-F238E27FC236}">
                <a16:creationId xmlns:a16="http://schemas.microsoft.com/office/drawing/2014/main" id="{F2E56F0C-C337-4213-AF26-E3694C5C497C}"/>
              </a:ext>
            </a:extLst>
          </p:cNvPr>
          <p:cNvSpPr>
            <a:spLocks noGrp="1"/>
          </p:cNvSpPr>
          <p:nvPr/>
        </p:nvSpPr>
        <p:spPr>
          <a:xfrm>
            <a:off x="4727448" y="2839213"/>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Nuclear-encoded OXPHOS genes</a:t>
            </a:r>
          </a:p>
        </p:txBody>
      </p:sp>
      <p:sp>
        <p:nvSpPr>
          <p:cNvPr id="19" name="TextBox 18">
            <a:extLst>
              <a:ext uri="{FF2B5EF4-FFF2-40B4-BE49-F238E27FC236}">
                <a16:creationId xmlns:a16="http://schemas.microsoft.com/office/drawing/2014/main" id="{98BC256B-4C52-4B77-89A0-46093E677641}"/>
              </a:ext>
            </a:extLst>
          </p:cNvPr>
          <p:cNvSpPr>
            <a:spLocks noGrp="1"/>
          </p:cNvSpPr>
          <p:nvPr/>
        </p:nvSpPr>
        <p:spPr>
          <a:xfrm>
            <a:off x="4764024" y="3845053"/>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Many ribosome genes returned from KDA calls are connected to nuclear genes that encode parts of the respiratory system.</a:t>
            </a:r>
          </a:p>
        </p:txBody>
      </p:sp>
      <p:sp>
        <p:nvSpPr>
          <p:cNvPr id="20" name="Rounded Rectangle 19">
            <a:extLst>
              <a:ext uri="{FF2B5EF4-FFF2-40B4-BE49-F238E27FC236}">
                <a16:creationId xmlns:a16="http://schemas.microsoft.com/office/drawing/2014/main" id="{E192E207-FA87-4FBB-8BF7-AC2FBF7243AC}"/>
              </a:ext>
            </a:extLst>
          </p:cNvPr>
          <p:cNvSpPr>
            <a:spLocks noGrp="1"/>
          </p:cNvSpPr>
          <p:nvPr/>
        </p:nvSpPr>
        <p:spPr>
          <a:xfrm>
            <a:off x="8247888" y="2089405"/>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72387CA-D53D-43E0-BB76-1EA94052DE20}"/>
              </a:ext>
            </a:extLst>
          </p:cNvPr>
          <p:cNvSpPr>
            <a:spLocks noGrp="1"/>
          </p:cNvSpPr>
          <p:nvPr/>
        </p:nvSpPr>
        <p:spPr>
          <a:xfrm>
            <a:off x="8522208" y="2382013"/>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895600"/>
                </a:solidFill>
                <a:latin typeface="Arial"/>
                <a:ea typeface="Arial"/>
                <a:cs typeface="Arial"/>
              </a:rPr>
              <a:t>INTERPRETATION</a:t>
            </a:r>
          </a:p>
        </p:txBody>
      </p:sp>
      <p:sp>
        <p:nvSpPr>
          <p:cNvPr id="22" name="TextBox 21">
            <a:extLst>
              <a:ext uri="{FF2B5EF4-FFF2-40B4-BE49-F238E27FC236}">
                <a16:creationId xmlns:a16="http://schemas.microsoft.com/office/drawing/2014/main" id="{E7B1DBBA-A9DD-4A8A-9D9F-3C29084EB6F5}"/>
              </a:ext>
            </a:extLst>
          </p:cNvPr>
          <p:cNvSpPr>
            <a:spLocks noGrp="1"/>
          </p:cNvSpPr>
          <p:nvPr/>
        </p:nvSpPr>
        <p:spPr>
          <a:xfrm>
            <a:off x="8522208" y="2839213"/>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One recurring gene group</a:t>
            </a:r>
          </a:p>
        </p:txBody>
      </p:sp>
      <p:sp>
        <p:nvSpPr>
          <p:cNvPr id="23" name="TextBox 22">
            <a:extLst>
              <a:ext uri="{FF2B5EF4-FFF2-40B4-BE49-F238E27FC236}">
                <a16:creationId xmlns:a16="http://schemas.microsoft.com/office/drawing/2014/main" id="{666C867F-9E8C-4E47-997A-A993B62C5C1D}"/>
              </a:ext>
            </a:extLst>
          </p:cNvPr>
          <p:cNvSpPr>
            <a:spLocks noGrp="1"/>
          </p:cNvSpPr>
          <p:nvPr/>
        </p:nvSpPr>
        <p:spPr>
          <a:xfrm>
            <a:off x="8558784" y="3845053"/>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Because these genes perform related functions and share network connections, they should not be treated as independent findings.</a:t>
            </a:r>
          </a:p>
        </p:txBody>
      </p:sp>
      <p:sp>
        <p:nvSpPr>
          <p:cNvPr id="24" name="Rounded Rectangle 23">
            <a:extLst>
              <a:ext uri="{FF2B5EF4-FFF2-40B4-BE49-F238E27FC236}">
                <a16:creationId xmlns:a16="http://schemas.microsoft.com/office/drawing/2014/main" id="{86D1A0DC-0847-4936-9BD9-E2D134167017}"/>
              </a:ext>
            </a:extLst>
          </p:cNvPr>
          <p:cNvSpPr>
            <a:spLocks noGrp="1"/>
          </p:cNvSpPr>
          <p:nvPr/>
        </p:nvSpPr>
        <p:spPr>
          <a:xfrm>
            <a:off x="658368" y="6249539"/>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698503D-46AA-46F9-AFE6-331ADBF50747}"/>
              </a:ext>
            </a:extLst>
          </p:cNvPr>
          <p:cNvSpPr>
            <a:spLocks noGrp="1"/>
          </p:cNvSpPr>
          <p:nvPr/>
        </p:nvSpPr>
        <p:spPr>
          <a:xfrm>
            <a:off x="896112" y="6377555"/>
            <a:ext cx="10405872" cy="237744"/>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40" b="1" i="0">
                <a:solidFill>
                  <a:srgbClr val="7E4C9A"/>
                </a:solidFill>
                <a:latin typeface="Arial"/>
                <a:ea typeface="Arial"/>
                <a:cs typeface="Arial"/>
              </a:rPr>
              <a:t>The analysis points to a recurring connection between ribosome genes and OXPHOS genes, not 20 separately proven mitochondrial regulators.</a:t>
            </a:r>
          </a:p>
        </p:txBody>
      </p:sp>
    </p:spTree>
    <p:extLst>
      <p:ext uri="{BB962C8B-B14F-4D97-AF65-F5344CB8AC3E}">
        <p14:creationId val="1213571903"/>
      </p:ext>
    </p:extLst>
  </p:cSld>
  <p:clrMapOvr>
    <a:masterClrMapping/>
  </p:clrMapOvr>
  <p:transition/>
  <p:timing/>
</p:sld>
</file>

<file path=ppt/slides/slide9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4F03088E-7B7F-40A5-A318-955B4FE00037}"/>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ROSMAP: cytosolic ribosome genes are strongly over-represented among genes returned from KDA calls</a:t>
            </a:r>
          </a:p>
        </p:txBody>
      </p:sp>
      <p:sp>
        <p:nvSpPr>
          <p:cNvPr id="3" name="TextBox 2">
            <a:extLst>
              <a:ext uri="{FF2B5EF4-FFF2-40B4-BE49-F238E27FC236}">
                <a16:creationId xmlns:a16="http://schemas.microsoft.com/office/drawing/2014/main" id="{04DDBCE3-B07A-4DD9-AFA8-CBAD55D2B798}"/>
              </a:ext>
            </a:extLst>
          </p:cNvPr>
          <p:cNvSpPr>
            <a:spLocks noGrp="1"/>
          </p:cNvSpPr>
          <p:nvPr/>
        </p:nvSpPr>
        <p:spPr>
          <a:xfrm>
            <a:off x="548640" y="1058040"/>
            <a:ext cx="10927080" cy="48158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00" b="1" i="0">
                <a:latin typeface="Arial"/>
                <a:ea typeface="Arial"/>
                <a:cs typeface="Arial"/>
              </a:rPr>
              <a:t>The enrichment test compares 228 unique non-MitoCarta genes returned from KDA calls with all 11,478 genes available for selection in the same networks.</a:t>
            </a:r>
          </a:p>
        </p:txBody>
      </p:sp>
      <p:sp>
        <p:nvSpPr>
          <p:cNvPr id="4" name="Rounded Rectangle 3">
            <a:extLst>
              <a:ext uri="{FF2B5EF4-FFF2-40B4-BE49-F238E27FC236}">
                <a16:creationId xmlns:a16="http://schemas.microsoft.com/office/drawing/2014/main" id="{070465E0-6370-475D-909C-DF9DE1A646C5}"/>
              </a:ext>
            </a:extLst>
          </p:cNvPr>
          <p:cNvSpPr>
            <a:spLocks noGrp="1"/>
          </p:cNvSpPr>
          <p:nvPr/>
        </p:nvSpPr>
        <p:spPr>
          <a:xfrm>
            <a:off x="658368" y="1805274"/>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B9C1632-7C2F-4B62-B2DA-D1237A884F2C}"/>
              </a:ext>
            </a:extLst>
          </p:cNvPr>
          <p:cNvSpPr>
            <a:spLocks noGrp="1"/>
          </p:cNvSpPr>
          <p:nvPr/>
        </p:nvSpPr>
        <p:spPr>
          <a:xfrm>
            <a:off x="822959" y="1933289"/>
            <a:ext cx="3127248" cy="4846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800" b="1" i="0">
                <a:solidFill>
                  <a:srgbClr val="0072B2"/>
                </a:solidFill>
                <a:latin typeface="Arial"/>
                <a:ea typeface="Arial"/>
                <a:cs typeface="Arial"/>
              </a:rPr>
              <a:t>20/228</a:t>
            </a:r>
          </a:p>
        </p:txBody>
      </p:sp>
      <p:sp>
        <p:nvSpPr>
          <p:cNvPr id="6" name="TextBox 5">
            <a:extLst>
              <a:ext uri="{FF2B5EF4-FFF2-40B4-BE49-F238E27FC236}">
                <a16:creationId xmlns:a16="http://schemas.microsoft.com/office/drawing/2014/main" id="{B45BD6CB-3B2D-45FA-9C27-691CD049C09C}"/>
              </a:ext>
            </a:extLst>
          </p:cNvPr>
          <p:cNvSpPr>
            <a:spLocks noGrp="1"/>
          </p:cNvSpPr>
          <p:nvPr/>
        </p:nvSpPr>
        <p:spPr>
          <a:xfrm>
            <a:off x="822959" y="2463642"/>
            <a:ext cx="3127248" cy="3108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19" b="1" i="0">
                <a:solidFill>
                  <a:srgbClr val="0F233D"/>
                </a:solidFill>
                <a:latin typeface="Arial"/>
                <a:ea typeface="Arial"/>
                <a:cs typeface="Arial"/>
              </a:rPr>
              <a:t>returned genes in KEGG ribosome</a:t>
            </a:r>
          </a:p>
        </p:txBody>
      </p:sp>
      <p:sp>
        <p:nvSpPr>
          <p:cNvPr id="7" name="TextBox 6">
            <a:extLst>
              <a:ext uri="{FF2B5EF4-FFF2-40B4-BE49-F238E27FC236}">
                <a16:creationId xmlns:a16="http://schemas.microsoft.com/office/drawing/2014/main" id="{26B151A9-D7BA-4BBA-A3CD-5C6147453967}"/>
              </a:ext>
            </a:extLst>
          </p:cNvPr>
          <p:cNvSpPr>
            <a:spLocks noGrp="1"/>
          </p:cNvSpPr>
          <p:nvPr/>
        </p:nvSpPr>
        <p:spPr>
          <a:xfrm>
            <a:off x="822959" y="2792826"/>
            <a:ext cx="3127248" cy="21945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880" b="0" i="0">
                <a:solidFill>
                  <a:srgbClr val="4E5A68"/>
                </a:solidFill>
                <a:latin typeface="Arial"/>
                <a:ea typeface="Arial"/>
                <a:cs typeface="Arial"/>
              </a:rPr>
              <a:t>8.8% of returned genes</a:t>
            </a:r>
          </a:p>
        </p:txBody>
      </p:sp>
      <p:sp>
        <p:nvSpPr>
          <p:cNvPr id="8" name="Rounded Rectangle 7">
            <a:extLst>
              <a:ext uri="{FF2B5EF4-FFF2-40B4-BE49-F238E27FC236}">
                <a16:creationId xmlns:a16="http://schemas.microsoft.com/office/drawing/2014/main" id="{18E7AB4F-91F3-4F21-A0E9-33F0E55BCC4B}"/>
              </a:ext>
            </a:extLst>
          </p:cNvPr>
          <p:cNvSpPr>
            <a:spLocks noGrp="1"/>
          </p:cNvSpPr>
          <p:nvPr/>
        </p:nvSpPr>
        <p:spPr>
          <a:xfrm>
            <a:off x="4453128" y="1805274"/>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BEC5A8B-0959-4C55-8BFE-AB540D794AA5}"/>
              </a:ext>
            </a:extLst>
          </p:cNvPr>
          <p:cNvSpPr>
            <a:spLocks noGrp="1"/>
          </p:cNvSpPr>
          <p:nvPr/>
        </p:nvSpPr>
        <p:spPr>
          <a:xfrm>
            <a:off x="4617720" y="1933289"/>
            <a:ext cx="3127248" cy="4846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300" b="1" i="0">
                <a:solidFill>
                  <a:srgbClr val="00684D"/>
                </a:solidFill>
                <a:latin typeface="Arial"/>
                <a:ea typeface="Arial"/>
                <a:cs typeface="Arial"/>
              </a:rPr>
              <a:t>71/11,478</a:t>
            </a:r>
          </a:p>
        </p:txBody>
      </p:sp>
      <p:sp>
        <p:nvSpPr>
          <p:cNvPr id="10" name="TextBox 9">
            <a:extLst>
              <a:ext uri="{FF2B5EF4-FFF2-40B4-BE49-F238E27FC236}">
                <a16:creationId xmlns:a16="http://schemas.microsoft.com/office/drawing/2014/main" id="{76178430-4303-4D2F-AFC8-9EB6B75A56E2}"/>
              </a:ext>
            </a:extLst>
          </p:cNvPr>
          <p:cNvSpPr>
            <a:spLocks noGrp="1"/>
          </p:cNvSpPr>
          <p:nvPr/>
        </p:nvSpPr>
        <p:spPr>
          <a:xfrm>
            <a:off x="4617720" y="2463642"/>
            <a:ext cx="3127248" cy="3108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19" b="1" i="0">
                <a:solidFill>
                  <a:srgbClr val="0F233D"/>
                </a:solidFill>
                <a:latin typeface="Arial"/>
                <a:ea typeface="Arial"/>
                <a:cs typeface="Arial"/>
              </a:rPr>
              <a:t>ribosome genes among available network genes</a:t>
            </a:r>
          </a:p>
        </p:txBody>
      </p:sp>
      <p:sp>
        <p:nvSpPr>
          <p:cNvPr id="11" name="TextBox 10">
            <a:extLst>
              <a:ext uri="{FF2B5EF4-FFF2-40B4-BE49-F238E27FC236}">
                <a16:creationId xmlns:a16="http://schemas.microsoft.com/office/drawing/2014/main" id="{36DA09F3-D6BA-4B92-B7B5-D214C36B1071}"/>
              </a:ext>
            </a:extLst>
          </p:cNvPr>
          <p:cNvSpPr>
            <a:spLocks noGrp="1"/>
          </p:cNvSpPr>
          <p:nvPr/>
        </p:nvSpPr>
        <p:spPr>
          <a:xfrm>
            <a:off x="4617720" y="2792826"/>
            <a:ext cx="3127248" cy="21945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880" b="0" i="0">
                <a:solidFill>
                  <a:srgbClr val="4E5A68"/>
                </a:solidFill>
                <a:latin typeface="Arial"/>
                <a:ea typeface="Arial"/>
                <a:cs typeface="Arial"/>
              </a:rPr>
              <a:t>0.62% of available genes</a:t>
            </a:r>
          </a:p>
        </p:txBody>
      </p:sp>
      <p:sp>
        <p:nvSpPr>
          <p:cNvPr id="12" name="Rounded Rectangle 11">
            <a:extLst>
              <a:ext uri="{FF2B5EF4-FFF2-40B4-BE49-F238E27FC236}">
                <a16:creationId xmlns:a16="http://schemas.microsoft.com/office/drawing/2014/main" id="{B868E2BB-FEAE-47E4-95C6-3CF71804D148}"/>
              </a:ext>
            </a:extLst>
          </p:cNvPr>
          <p:cNvSpPr>
            <a:spLocks noGrp="1"/>
          </p:cNvSpPr>
          <p:nvPr/>
        </p:nvSpPr>
        <p:spPr>
          <a:xfrm>
            <a:off x="8247888" y="1805274"/>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2C19F39-395A-4FC9-999E-31EA61BC569F}"/>
              </a:ext>
            </a:extLst>
          </p:cNvPr>
          <p:cNvSpPr>
            <a:spLocks noGrp="1"/>
          </p:cNvSpPr>
          <p:nvPr/>
        </p:nvSpPr>
        <p:spPr>
          <a:xfrm>
            <a:off x="8412480" y="1933289"/>
            <a:ext cx="3127248" cy="4846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300" b="1" i="0">
                <a:solidFill>
                  <a:srgbClr val="895600"/>
                </a:solidFill>
                <a:latin typeface="Arial"/>
                <a:ea typeface="Arial"/>
                <a:cs typeface="Arial"/>
              </a:rPr>
              <a:t>3.56 × 10⁻¹⁵</a:t>
            </a:r>
          </a:p>
        </p:txBody>
      </p:sp>
      <p:sp>
        <p:nvSpPr>
          <p:cNvPr id="14" name="TextBox 13">
            <a:extLst>
              <a:ext uri="{FF2B5EF4-FFF2-40B4-BE49-F238E27FC236}">
                <a16:creationId xmlns:a16="http://schemas.microsoft.com/office/drawing/2014/main" id="{5C6F3150-E512-4764-9B62-2F030B27B8D6}"/>
              </a:ext>
            </a:extLst>
          </p:cNvPr>
          <p:cNvSpPr>
            <a:spLocks noGrp="1"/>
          </p:cNvSpPr>
          <p:nvPr/>
        </p:nvSpPr>
        <p:spPr>
          <a:xfrm>
            <a:off x="8412480" y="2463642"/>
            <a:ext cx="3127248" cy="3108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19" b="1" i="0">
                <a:solidFill>
                  <a:srgbClr val="0F233D"/>
                </a:solidFill>
                <a:latin typeface="Arial"/>
                <a:ea typeface="Arial"/>
                <a:cs typeface="Arial"/>
              </a:rPr>
              <a:t>multiple-testing-adjusted P value</a:t>
            </a:r>
          </a:p>
        </p:txBody>
      </p:sp>
      <p:sp>
        <p:nvSpPr>
          <p:cNvPr id="15" name="TextBox 14">
            <a:extLst>
              <a:ext uri="{FF2B5EF4-FFF2-40B4-BE49-F238E27FC236}">
                <a16:creationId xmlns:a16="http://schemas.microsoft.com/office/drawing/2014/main" id="{C5479A13-DB3C-423D-A352-1DA9C260821E}"/>
              </a:ext>
            </a:extLst>
          </p:cNvPr>
          <p:cNvSpPr>
            <a:spLocks noGrp="1"/>
          </p:cNvSpPr>
          <p:nvPr/>
        </p:nvSpPr>
        <p:spPr>
          <a:xfrm>
            <a:off x="8412480" y="2792826"/>
            <a:ext cx="3127248" cy="21945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880" b="0" i="0">
                <a:solidFill>
                  <a:srgbClr val="4E5A68"/>
                </a:solidFill>
                <a:latin typeface="Arial"/>
                <a:ea typeface="Arial"/>
                <a:cs typeface="Arial"/>
              </a:rPr>
              <a:t>one-sided enrichment test</a:t>
            </a:r>
          </a:p>
        </p:txBody>
      </p:sp>
      <p:sp>
        <p:nvSpPr>
          <p:cNvPr id="16" name="Rounded Rectangle 15">
            <a:extLst>
              <a:ext uri="{FF2B5EF4-FFF2-40B4-BE49-F238E27FC236}">
                <a16:creationId xmlns:a16="http://schemas.microsoft.com/office/drawing/2014/main" id="{3527DFDE-BA14-4702-BCD8-C301A7AEB06E}"/>
              </a:ext>
            </a:extLst>
          </p:cNvPr>
          <p:cNvSpPr>
            <a:spLocks noGrp="1"/>
          </p:cNvSpPr>
          <p:nvPr/>
        </p:nvSpPr>
        <p:spPr>
          <a:xfrm>
            <a:off x="749808" y="3405474"/>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F21CF7D-A077-43C8-ACA9-72B49E036694}"/>
              </a:ext>
            </a:extLst>
          </p:cNvPr>
          <p:cNvSpPr>
            <a:spLocks noGrp="1"/>
          </p:cNvSpPr>
          <p:nvPr/>
        </p:nvSpPr>
        <p:spPr>
          <a:xfrm>
            <a:off x="987552" y="3570066"/>
            <a:ext cx="2331720" cy="45110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300" b="1" i="0">
                <a:solidFill>
                  <a:srgbClr val="0F233D"/>
                </a:solidFill>
                <a:latin typeface="Arial"/>
                <a:ea typeface="Arial"/>
                <a:cs typeface="Arial"/>
              </a:rPr>
              <a:t>Categories with ribosome genes</a:t>
            </a:r>
          </a:p>
        </p:txBody>
      </p:sp>
      <p:sp>
        <p:nvSpPr>
          <p:cNvPr id="18" name="TextBox 17">
            <a:extLst>
              <a:ext uri="{FF2B5EF4-FFF2-40B4-BE49-F238E27FC236}">
                <a16:creationId xmlns:a16="http://schemas.microsoft.com/office/drawing/2014/main" id="{9BD0921F-6F38-4B9F-8885-64432A51DA65}"/>
              </a:ext>
            </a:extLst>
          </p:cNvPr>
          <p:cNvSpPr>
            <a:spLocks noGrp="1"/>
          </p:cNvSpPr>
          <p:nvPr/>
        </p:nvSpPr>
        <p:spPr>
          <a:xfrm>
            <a:off x="3419856" y="3524346"/>
            <a:ext cx="1975104" cy="36576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600" b="1" i="0">
                <a:solidFill>
                  <a:srgbClr val="0072B2"/>
                </a:solidFill>
                <a:latin typeface="Arial"/>
                <a:ea typeface="Arial"/>
                <a:cs typeface="Arial"/>
              </a:rPr>
              <a:t>19 of 29</a:t>
            </a:r>
          </a:p>
        </p:txBody>
      </p:sp>
      <p:sp>
        <p:nvSpPr>
          <p:cNvPr id="19" name="TextBox 18">
            <a:extLst>
              <a:ext uri="{FF2B5EF4-FFF2-40B4-BE49-F238E27FC236}">
                <a16:creationId xmlns:a16="http://schemas.microsoft.com/office/drawing/2014/main" id="{FF69B278-636A-4731-9D5B-E83CEE98A550}"/>
              </a:ext>
            </a:extLst>
          </p:cNvPr>
          <p:cNvSpPr>
            <a:spLocks noGrp="1"/>
          </p:cNvSpPr>
          <p:nvPr/>
        </p:nvSpPr>
        <p:spPr>
          <a:xfrm>
            <a:off x="5596128" y="3524346"/>
            <a:ext cx="5468112" cy="438912"/>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150" b="0" i="0">
                <a:solidFill>
                  <a:srgbClr val="1F2730"/>
                </a:solidFill>
                <a:latin typeface="Arial"/>
                <a:ea typeface="Arial"/>
                <a:cs typeface="Arial"/>
              </a:rPr>
              <a:t>Ribosome genes occur in 19 categories containing non-MitoCarta genes returned from KDA calls</a:t>
            </a:r>
          </a:p>
        </p:txBody>
      </p:sp>
      <p:sp>
        <p:nvSpPr>
          <p:cNvPr id="20" name="Rounded Rectangle 19">
            <a:extLst>
              <a:ext uri="{FF2B5EF4-FFF2-40B4-BE49-F238E27FC236}">
                <a16:creationId xmlns:a16="http://schemas.microsoft.com/office/drawing/2014/main" id="{27237102-88B2-4F21-8E41-73E22D11A1A8}"/>
              </a:ext>
            </a:extLst>
          </p:cNvPr>
          <p:cNvSpPr>
            <a:spLocks noGrp="1"/>
          </p:cNvSpPr>
          <p:nvPr/>
        </p:nvSpPr>
        <p:spPr>
          <a:xfrm>
            <a:off x="749808" y="4365594"/>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4501BF3-DDC5-4C55-B9F7-27CADF7206C6}"/>
              </a:ext>
            </a:extLst>
          </p:cNvPr>
          <p:cNvSpPr>
            <a:spLocks noGrp="1"/>
          </p:cNvSpPr>
          <p:nvPr/>
        </p:nvSpPr>
        <p:spPr>
          <a:xfrm>
            <a:off x="987552" y="4530185"/>
            <a:ext cx="2331720" cy="29260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300" b="1" i="0">
                <a:solidFill>
                  <a:srgbClr val="0F233D"/>
                </a:solidFill>
                <a:latin typeface="Arial"/>
                <a:ea typeface="Arial"/>
                <a:cs typeface="Arial"/>
              </a:rPr>
              <a:t>Gene–category pairs</a:t>
            </a:r>
          </a:p>
        </p:txBody>
      </p:sp>
      <p:sp>
        <p:nvSpPr>
          <p:cNvPr id="22" name="TextBox 21">
            <a:extLst>
              <a:ext uri="{FF2B5EF4-FFF2-40B4-BE49-F238E27FC236}">
                <a16:creationId xmlns:a16="http://schemas.microsoft.com/office/drawing/2014/main" id="{6803D6A2-450E-47B3-AFAC-1F54A320FDE1}"/>
              </a:ext>
            </a:extLst>
          </p:cNvPr>
          <p:cNvSpPr>
            <a:spLocks noGrp="1"/>
          </p:cNvSpPr>
          <p:nvPr/>
        </p:nvSpPr>
        <p:spPr>
          <a:xfrm>
            <a:off x="3419856" y="4484466"/>
            <a:ext cx="1975104" cy="36576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600" b="1" i="0">
                <a:solidFill>
                  <a:srgbClr val="0072B2"/>
                </a:solidFill>
                <a:latin typeface="Arial"/>
                <a:ea typeface="Arial"/>
                <a:cs typeface="Arial"/>
              </a:rPr>
              <a:t>70 of 381</a:t>
            </a:r>
          </a:p>
        </p:txBody>
      </p:sp>
      <p:sp>
        <p:nvSpPr>
          <p:cNvPr id="23" name="TextBox 22">
            <a:extLst>
              <a:ext uri="{FF2B5EF4-FFF2-40B4-BE49-F238E27FC236}">
                <a16:creationId xmlns:a16="http://schemas.microsoft.com/office/drawing/2014/main" id="{F3762E1C-DCD7-4394-9FCB-80052C34923A}"/>
              </a:ext>
            </a:extLst>
          </p:cNvPr>
          <p:cNvSpPr>
            <a:spLocks noGrp="1"/>
          </p:cNvSpPr>
          <p:nvPr/>
        </p:nvSpPr>
        <p:spPr>
          <a:xfrm>
            <a:off x="5596128" y="4484466"/>
            <a:ext cx="5468112" cy="438912"/>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150" b="0" i="0">
                <a:solidFill>
                  <a:srgbClr val="1F2730"/>
                </a:solidFill>
                <a:latin typeface="Arial"/>
                <a:ea typeface="Arial"/>
                <a:cs typeface="Arial"/>
              </a:rPr>
              <a:t>Ribosome genes make up 18.4% of non-MitoCarta gene–category pairs</a:t>
            </a:r>
          </a:p>
        </p:txBody>
      </p:sp>
      <p:sp>
        <p:nvSpPr>
          <p:cNvPr id="24" name="Rounded Rectangle 23">
            <a:extLst>
              <a:ext uri="{FF2B5EF4-FFF2-40B4-BE49-F238E27FC236}">
                <a16:creationId xmlns:a16="http://schemas.microsoft.com/office/drawing/2014/main" id="{305784A7-FB06-45B2-91E0-70535D7D4D3F}"/>
              </a:ext>
            </a:extLst>
          </p:cNvPr>
          <p:cNvSpPr>
            <a:spLocks noGrp="1"/>
          </p:cNvSpPr>
          <p:nvPr/>
        </p:nvSpPr>
        <p:spPr>
          <a:xfrm>
            <a:off x="749808" y="5325714"/>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1477520-6929-4135-B126-74E8CF9A7BF1}"/>
              </a:ext>
            </a:extLst>
          </p:cNvPr>
          <p:cNvSpPr>
            <a:spLocks noGrp="1"/>
          </p:cNvSpPr>
          <p:nvPr/>
        </p:nvSpPr>
        <p:spPr>
          <a:xfrm>
            <a:off x="987552" y="5490306"/>
            <a:ext cx="2331720" cy="45110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300" b="1" i="0">
                <a:solidFill>
                  <a:srgbClr val="0F233D"/>
                </a:solidFill>
                <a:latin typeface="Arial"/>
                <a:ea typeface="Arial"/>
                <a:cs typeface="Arial"/>
              </a:rPr>
              <a:t>Gene occurrences within KDA calls</a:t>
            </a:r>
          </a:p>
        </p:txBody>
      </p:sp>
      <p:sp>
        <p:nvSpPr>
          <p:cNvPr id="26" name="TextBox 25">
            <a:extLst>
              <a:ext uri="{FF2B5EF4-FFF2-40B4-BE49-F238E27FC236}">
                <a16:creationId xmlns:a16="http://schemas.microsoft.com/office/drawing/2014/main" id="{FAD1FA64-59DA-44CB-8DCE-1D0AAA93DBA0}"/>
              </a:ext>
            </a:extLst>
          </p:cNvPr>
          <p:cNvSpPr>
            <a:spLocks noGrp="1"/>
          </p:cNvSpPr>
          <p:nvPr/>
        </p:nvSpPr>
        <p:spPr>
          <a:xfrm>
            <a:off x="3419856" y="5444586"/>
            <a:ext cx="1975104" cy="36576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600" b="1" i="0">
                <a:solidFill>
                  <a:srgbClr val="0072B2"/>
                </a:solidFill>
                <a:latin typeface="Arial"/>
                <a:ea typeface="Arial"/>
                <a:cs typeface="Arial"/>
              </a:rPr>
              <a:t>133 of 623</a:t>
            </a:r>
          </a:p>
        </p:txBody>
      </p:sp>
      <p:sp>
        <p:nvSpPr>
          <p:cNvPr id="27" name="TextBox 26">
            <a:extLst>
              <a:ext uri="{FF2B5EF4-FFF2-40B4-BE49-F238E27FC236}">
                <a16:creationId xmlns:a16="http://schemas.microsoft.com/office/drawing/2014/main" id="{6259C5B6-DA10-404B-B8FF-6098C752DAF3}"/>
              </a:ext>
            </a:extLst>
          </p:cNvPr>
          <p:cNvSpPr>
            <a:spLocks noGrp="1"/>
          </p:cNvSpPr>
          <p:nvPr/>
        </p:nvSpPr>
        <p:spPr>
          <a:xfrm>
            <a:off x="5596128" y="5444586"/>
            <a:ext cx="5468112" cy="438912"/>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150" b="0" i="0">
                <a:solidFill>
                  <a:srgbClr val="1F2730"/>
                </a:solidFill>
                <a:latin typeface="Arial"/>
                <a:ea typeface="Arial"/>
                <a:cs typeface="Arial"/>
              </a:rPr>
              <a:t>Ribosome genes make up 21.3% of non-MitoCarta returned-gene occurrences</a:t>
            </a:r>
          </a:p>
        </p:txBody>
      </p:sp>
    </p:spTree>
    <p:extLst>
      <p:ext uri="{BB962C8B-B14F-4D97-AF65-F5344CB8AC3E}">
        <p14:creationId val="984656830"/>
      </p:ext>
    </p:extLst>
  </p:cSld>
  <p:clrMapOvr>
    <a:masterClrMapping/>
  </p:clrMapOvr>
  <p:transition/>
  <p:timing/>
</p:sld>
</file>

<file path=ppt/slides/slide9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91ECEB0D-82E5-4A68-A750-B6FFB744DF9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RPL11 and RPS15 are the most recurrent ribosome genes</a:t>
            </a:r>
          </a:p>
        </p:txBody>
      </p:sp>
      <p:sp>
        <p:nvSpPr>
          <p:cNvPr id="3" name="TextBox 2">
            <a:extLst>
              <a:ext uri="{FF2B5EF4-FFF2-40B4-BE49-F238E27FC236}">
                <a16:creationId xmlns:a16="http://schemas.microsoft.com/office/drawing/2014/main" id="{9C4B00F1-7172-4E70-B7A6-4FE0B604F08B}"/>
              </a:ext>
            </a:extLst>
          </p:cNvPr>
          <p:cNvSpPr>
            <a:spLocks noGrp="1"/>
          </p:cNvSpPr>
          <p:nvPr/>
        </p:nvSpPr>
        <p:spPr>
          <a:xfrm>
            <a:off x="548640" y="969264"/>
            <a:ext cx="10927080" cy="270843"/>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00" b="1" i="0">
                <a:latin typeface="Arial"/>
                <a:ea typeface="Arial"/>
                <a:cs typeface="Arial"/>
              </a:rPr>
              <a:t>RPL11 is connected to many nuclear-encoded OXPHOS genes, while RPS15 appears in the largest number of categories.</a:t>
            </a:r>
          </a:p>
        </p:txBody>
      </p:sp>
      <p:sp>
        <p:nvSpPr>
          <p:cNvPr id="4" name="Rounded Rectangle 3">
            <a:extLst>
              <a:ext uri="{FF2B5EF4-FFF2-40B4-BE49-F238E27FC236}">
                <a16:creationId xmlns:a16="http://schemas.microsoft.com/office/drawing/2014/main" id="{A94105D6-9B82-4584-9332-A1A86CF5C026}"/>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D41EB52-46A9-4F9F-8911-18CA06570A68}"/>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72B2"/>
                </a:solidFill>
                <a:latin typeface="Arial"/>
                <a:ea typeface="Arial"/>
                <a:cs typeface="Arial"/>
              </a:rPr>
              <a:t>RPL11 ACROSS KDA CALLS</a:t>
            </a:r>
          </a:p>
        </p:txBody>
      </p:sp>
      <p:sp>
        <p:nvSpPr>
          <p:cNvPr id="6" name="TextBox 5">
            <a:extLst>
              <a:ext uri="{FF2B5EF4-FFF2-40B4-BE49-F238E27FC236}">
                <a16:creationId xmlns:a16="http://schemas.microsoft.com/office/drawing/2014/main" id="{84FA191D-3DA5-4D7C-8A90-3A882FB297A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24 KDA calls, 10 categories</a:t>
            </a:r>
          </a:p>
        </p:txBody>
      </p:sp>
      <p:sp>
        <p:nvSpPr>
          <p:cNvPr id="7" name="TextBox 6">
            <a:extLst>
              <a:ext uri="{FF2B5EF4-FFF2-40B4-BE49-F238E27FC236}">
                <a16:creationId xmlns:a16="http://schemas.microsoft.com/office/drawing/2014/main" id="{5C7198F6-4A48-4023-906E-67C94CAD078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The KDA calls span all six sex/APOE groups and four broad networks.</a:t>
            </a:r>
          </a:p>
        </p:txBody>
      </p:sp>
      <p:sp>
        <p:nvSpPr>
          <p:cNvPr id="8" name="Rounded Rectangle 7">
            <a:extLst>
              <a:ext uri="{FF2B5EF4-FFF2-40B4-BE49-F238E27FC236}">
                <a16:creationId xmlns:a16="http://schemas.microsoft.com/office/drawing/2014/main" id="{BD8980A6-18D0-49D1-93F4-4D2C46CEFC19}"/>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B6BAFD5-50B5-404C-B88E-7BE7ECB81A72}"/>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9E3A00"/>
                </a:solidFill>
                <a:latin typeface="Arial"/>
                <a:ea typeface="Arial"/>
                <a:cs typeface="Arial"/>
              </a:rPr>
              <a:t>GENES CONNECTED TO RPL11</a:t>
            </a:r>
          </a:p>
        </p:txBody>
      </p:sp>
      <p:sp>
        <p:nvSpPr>
          <p:cNvPr id="10" name="TextBox 9">
            <a:extLst>
              <a:ext uri="{FF2B5EF4-FFF2-40B4-BE49-F238E27FC236}">
                <a16:creationId xmlns:a16="http://schemas.microsoft.com/office/drawing/2014/main" id="{1FE26178-FBD9-48F2-88CD-95EE39996AD6}"/>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253 gene connections across 37 genes</a:t>
            </a:r>
          </a:p>
        </p:txBody>
      </p:sp>
      <p:sp>
        <p:nvSpPr>
          <p:cNvPr id="11" name="TextBox 10">
            <a:extLst>
              <a:ext uri="{FF2B5EF4-FFF2-40B4-BE49-F238E27FC236}">
                <a16:creationId xmlns:a16="http://schemas.microsoft.com/office/drawing/2014/main" id="{23309AD4-C1DB-40A5-B36C-B8B541EA27BB}"/>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Nuclear-encoded OXPHOS genes account for 151 connections; 100 involve lower expression in AD.</a:t>
            </a:r>
          </a:p>
        </p:txBody>
      </p:sp>
      <p:sp>
        <p:nvSpPr>
          <p:cNvPr id="12" name="Rounded Rectangle 11">
            <a:extLst>
              <a:ext uri="{FF2B5EF4-FFF2-40B4-BE49-F238E27FC236}">
                <a16:creationId xmlns:a16="http://schemas.microsoft.com/office/drawing/2014/main" id="{DC5F9ACF-3048-4799-BFC7-1446758F7C58}"/>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9751D64-CD33-4E47-B920-0DCC8F68C20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684D"/>
                </a:solidFill>
                <a:latin typeface="Arial"/>
                <a:ea typeface="Arial"/>
                <a:cs typeface="Arial"/>
              </a:rPr>
              <a:t>RPS15 ACROSS KDA CALLS</a:t>
            </a:r>
          </a:p>
        </p:txBody>
      </p:sp>
      <p:sp>
        <p:nvSpPr>
          <p:cNvPr id="14" name="TextBox 13">
            <a:extLst>
              <a:ext uri="{FF2B5EF4-FFF2-40B4-BE49-F238E27FC236}">
                <a16:creationId xmlns:a16="http://schemas.microsoft.com/office/drawing/2014/main" id="{271013E1-5CAF-4208-8AD3-4CE6E39C89DD}"/>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22 KDA calls, 11 categories</a:t>
            </a:r>
          </a:p>
        </p:txBody>
      </p:sp>
      <p:sp>
        <p:nvSpPr>
          <p:cNvPr id="15" name="TextBox 14">
            <a:extLst>
              <a:ext uri="{FF2B5EF4-FFF2-40B4-BE49-F238E27FC236}">
                <a16:creationId xmlns:a16="http://schemas.microsoft.com/office/drawing/2014/main" id="{1AE2C159-7217-451E-B2C5-CE86DDC2A68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RPS15 appears across the largest number of categories.</a:t>
            </a:r>
          </a:p>
        </p:txBody>
      </p:sp>
      <p:sp>
        <p:nvSpPr>
          <p:cNvPr id="16" name="Rounded Rectangle 15">
            <a:extLst>
              <a:ext uri="{FF2B5EF4-FFF2-40B4-BE49-F238E27FC236}">
                <a16:creationId xmlns:a16="http://schemas.microsoft.com/office/drawing/2014/main" id="{BECF2EDB-75A0-4EA0-936D-1D86C5C8B0D2}"/>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78829E4-8A6A-4094-9DD9-26775597AB03}"/>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30" b="1" i="0">
                <a:solidFill>
                  <a:srgbClr val="7E4C9A"/>
                </a:solidFill>
                <a:latin typeface="Arial"/>
                <a:ea typeface="Arial"/>
                <a:cs typeface="Arial"/>
              </a:rPr>
              <a:t>Frequently connected RPL11 genes include COX7C, UQCRQ, NDUFS5, NDUFA1, ATP5PF, NDUFB9, and NDUFB3.</a:t>
            </a:r>
          </a:p>
        </p:txBody>
      </p:sp>
    </p:spTree>
    <p:extLst>
      <p:ext uri="{BB962C8B-B14F-4D97-AF65-F5344CB8AC3E}">
        <p14:creationId val="192445171"/>
      </p:ext>
    </p:extLst>
  </p:cSld>
  <p:clrMapOvr>
    <a:masterClrMapping/>
  </p:clrMapOvr>
  <p:transition/>
  <p:timing/>
</p:sld>
</file>

<file path=ppt/slides/slide9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B840BC72-964A-4CD2-B5F9-2B0F797DACE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000" b="1" i="0">
                <a:solidFill>
                  <a:srgbClr val="0F233D"/>
                </a:solidFill>
                <a:latin typeface="Arial"/>
                <a:ea typeface="Arial"/>
                <a:cs typeface="Arial"/>
              </a:rPr>
              <a:t>Why this matters: cellular protein production may track mitochondrial respiratory stress</a:t>
            </a:r>
          </a:p>
        </p:txBody>
      </p:sp>
      <p:sp>
        <p:nvSpPr>
          <p:cNvPr id="3" name="TextBox 2">
            <a:extLst>
              <a:ext uri="{FF2B5EF4-FFF2-40B4-BE49-F238E27FC236}">
                <a16:creationId xmlns:a16="http://schemas.microsoft.com/office/drawing/2014/main" id="{3F8C7EFD-4F1B-431D-AAAE-56EE2E0D66F2}"/>
              </a:ext>
            </a:extLst>
          </p:cNvPr>
          <p:cNvSpPr>
            <a:spLocks noGrp="1"/>
          </p:cNvSpPr>
          <p:nvPr/>
        </p:nvSpPr>
        <p:spPr>
          <a:xfrm>
            <a:off x="548640" y="827221"/>
            <a:ext cx="10927080" cy="486287"/>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00" b="1" i="0">
                <a:latin typeface="Arial"/>
                <a:ea typeface="Arial"/>
                <a:cs typeface="Arial"/>
              </a:rPr>
              <a:t>Ribosome stress and OXPHOS changes may be biologically linked, but the network’s connection pattern could also explain the result.</a:t>
            </a:r>
          </a:p>
        </p:txBody>
      </p:sp>
      <p:sp>
        <p:nvSpPr>
          <p:cNvPr id="4" name="Rounded Rectangle 3">
            <a:extLst>
              <a:ext uri="{FF2B5EF4-FFF2-40B4-BE49-F238E27FC236}">
                <a16:creationId xmlns:a16="http://schemas.microsoft.com/office/drawing/2014/main" id="{9619287F-EE6E-41B9-AF6C-20A166E90580}"/>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A503887-5DA6-4131-95DF-76140003FFE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684D"/>
                </a:solidFill>
                <a:latin typeface="Arial"/>
                <a:ea typeface="Arial"/>
                <a:cs typeface="Arial"/>
              </a:rPr>
              <a:t>BIOLOGICAL MODEL</a:t>
            </a:r>
          </a:p>
        </p:txBody>
      </p:sp>
      <p:sp>
        <p:nvSpPr>
          <p:cNvPr id="6" name="TextBox 5">
            <a:extLst>
              <a:ext uri="{FF2B5EF4-FFF2-40B4-BE49-F238E27FC236}">
                <a16:creationId xmlns:a16="http://schemas.microsoft.com/office/drawing/2014/main" id="{38DF7140-D0BF-4FD4-BD8E-888370115E53}"/>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400" b="1" i="0">
                <a:solidFill>
                  <a:srgbClr val="0F233D"/>
                </a:solidFill>
                <a:latin typeface="Arial"/>
                <a:ea typeface="Arial"/>
                <a:cs typeface="Arial"/>
              </a:rPr>
              <a:t>Protein production and respiration are connected</a:t>
            </a:r>
          </a:p>
        </p:txBody>
      </p:sp>
      <p:sp>
        <p:nvSpPr>
          <p:cNvPr id="7" name="TextBox 6">
            <a:extLst>
              <a:ext uri="{FF2B5EF4-FFF2-40B4-BE49-F238E27FC236}">
                <a16:creationId xmlns:a16="http://schemas.microsoft.com/office/drawing/2014/main" id="{F5DD6E54-2AB9-4B9D-9D36-74720FEFCEE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Cells must produce nuclear-encoded OXPHOS proteins before respiratory complexes can assemble.</a:t>
            </a:r>
          </a:p>
        </p:txBody>
      </p:sp>
      <p:sp>
        <p:nvSpPr>
          <p:cNvPr id="8" name="Rounded Rectangle 7">
            <a:extLst>
              <a:ext uri="{FF2B5EF4-FFF2-40B4-BE49-F238E27FC236}">
                <a16:creationId xmlns:a16="http://schemas.microsoft.com/office/drawing/2014/main" id="{24F967C4-333E-41D0-8D8C-DD422AE4005D}"/>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81D10F2-B23C-4EC9-96A3-5F3D82C6BC5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895600"/>
                </a:solidFill>
                <a:latin typeface="Arial"/>
                <a:ea typeface="Arial"/>
                <a:cs typeface="Arial"/>
              </a:rPr>
              <a:t>STRESS MODEL</a:t>
            </a:r>
          </a:p>
        </p:txBody>
      </p:sp>
      <p:sp>
        <p:nvSpPr>
          <p:cNvPr id="10" name="TextBox 9">
            <a:extLst>
              <a:ext uri="{FF2B5EF4-FFF2-40B4-BE49-F238E27FC236}">
                <a16:creationId xmlns:a16="http://schemas.microsoft.com/office/drawing/2014/main" id="{BC0E480D-53C1-4786-9F48-53A6D896EEC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RPL11 can signal ribosomal stress</a:t>
            </a:r>
          </a:p>
        </p:txBody>
      </p:sp>
      <p:sp>
        <p:nvSpPr>
          <p:cNvPr id="11" name="TextBox 10">
            <a:extLst>
              <a:ext uri="{FF2B5EF4-FFF2-40B4-BE49-F238E27FC236}">
                <a16:creationId xmlns:a16="http://schemas.microsoft.com/office/drawing/2014/main" id="{0615F3DB-50FE-4882-803F-E8F4A376C28E}"/>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Experimental systems connect RPL11 with MDM2 and p53 signaling.</a:t>
            </a:r>
          </a:p>
        </p:txBody>
      </p:sp>
      <p:sp>
        <p:nvSpPr>
          <p:cNvPr id="12" name="Rounded Rectangle 11">
            <a:extLst>
              <a:ext uri="{FF2B5EF4-FFF2-40B4-BE49-F238E27FC236}">
                <a16:creationId xmlns:a16="http://schemas.microsoft.com/office/drawing/2014/main" id="{CFB3EC32-C6DD-4A23-85B8-FF8FEC1A9AA3}"/>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E484985-B36C-43D8-8C42-091DB1208684}"/>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9E3A00"/>
                </a:solidFill>
                <a:latin typeface="Arial"/>
                <a:ea typeface="Arial"/>
                <a:cs typeface="Arial"/>
              </a:rPr>
              <a:t>TECHNICAL MODEL</a:t>
            </a:r>
          </a:p>
        </p:txBody>
      </p:sp>
      <p:sp>
        <p:nvSpPr>
          <p:cNvPr id="14" name="TextBox 13">
            <a:extLst>
              <a:ext uri="{FF2B5EF4-FFF2-40B4-BE49-F238E27FC236}">
                <a16:creationId xmlns:a16="http://schemas.microsoft.com/office/drawing/2014/main" id="{7D64DB26-CCC4-4DEA-BCE1-0B4A73CC971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Genes with many connections may rank highly</a:t>
            </a:r>
          </a:p>
        </p:txBody>
      </p:sp>
      <p:sp>
        <p:nvSpPr>
          <p:cNvPr id="15" name="TextBox 14">
            <a:extLst>
              <a:ext uri="{FF2B5EF4-FFF2-40B4-BE49-F238E27FC236}">
                <a16:creationId xmlns:a16="http://schemas.microsoft.com/office/drawing/2014/main" id="{7A21DBE8-3B71-4E73-961E-D4E529837872}"/>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Highly expressed ribosome genes may be selected more often by network-based methods.</a:t>
            </a:r>
          </a:p>
        </p:txBody>
      </p:sp>
      <p:sp>
        <p:nvSpPr>
          <p:cNvPr id="16" name="Rounded Rectangle 15">
            <a:extLst>
              <a:ext uri="{FF2B5EF4-FFF2-40B4-BE49-F238E27FC236}">
                <a16:creationId xmlns:a16="http://schemas.microsoft.com/office/drawing/2014/main" id="{18D03085-4147-44B0-9DA5-45ED7C667777}"/>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BDFD376-0BC0-4A41-8A6D-1E5DAD72A905}"/>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11ACFECC-ECC3-4DA5-BE84-F64FE94253F2}"/>
              </a:ext>
            </a:extLst>
          </p:cNvPr>
          <p:cNvSpPr>
            <a:spLocks noGrp="1"/>
          </p:cNvSpPr>
          <p:nvPr/>
        </p:nvSpPr>
        <p:spPr>
          <a:xfrm>
            <a:off x="2788920" y="5861304"/>
            <a:ext cx="8321040" cy="39624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20" b="1" i="0">
                <a:solidFill>
                  <a:srgbClr val="1F2730"/>
                </a:solidFill>
                <a:latin typeface="Arial"/>
                <a:ea typeface="Arial"/>
                <a:cs typeface="Arial"/>
              </a:rPr>
              <a:t>Tests that compare genes with similar numbers of network connections are needed before treating recurring ribosome genes as regulators.</a:t>
            </a:r>
          </a:p>
        </p:txBody>
      </p:sp>
    </p:spTree>
    <p:extLst>
      <p:ext uri="{BB962C8B-B14F-4D97-AF65-F5344CB8AC3E}">
        <p14:creationId val="2054249622"/>
      </p:ext>
    </p:extLst>
  </p:cSld>
  <p:clrMapOvr>
    <a:masterClrMapping/>
  </p:clrMapOvr>
  <p:transition/>
  <p:timing/>
</p:sld>
</file>

<file path=ppt/slides/slide10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FC333D30-89FA-4312-AEC1-36B8E06C111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How prior research supports and limits Finding 7</a:t>
            </a:r>
          </a:p>
        </p:txBody>
      </p:sp>
      <p:sp>
        <p:nvSpPr>
          <p:cNvPr id="3" name="TextBox 2">
            <a:extLst>
              <a:ext uri="{FF2B5EF4-FFF2-40B4-BE49-F238E27FC236}">
                <a16:creationId xmlns:a16="http://schemas.microsoft.com/office/drawing/2014/main" id="{9EACC32D-13D1-49F2-8DF6-04E8F20B0B35}"/>
              </a:ext>
            </a:extLst>
          </p:cNvPr>
          <p:cNvSpPr>
            <a:spLocks noGrp="1"/>
          </p:cNvSpPr>
          <p:nvPr/>
        </p:nvSpPr>
        <p:spPr>
          <a:xfrm>
            <a:off x="548640" y="898241"/>
            <a:ext cx="10927080" cy="270843"/>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00" b="1" i="0">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5EF66AB3-A9AD-446A-BC67-5E08F1F79B96}"/>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7FC84C1-18EE-41D8-A7A8-FADA2B4FEEB9}"/>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500" b="1" i="0">
                <a:solidFill>
                  <a:srgbClr val="0072B2"/>
                </a:solidFill>
                <a:latin typeface="Arial"/>
                <a:ea typeface="Arial"/>
                <a:cs typeface="Arial"/>
              </a:rPr>
              <a:t>Ding et al. 2005</a:t>
            </a:r>
          </a:p>
        </p:txBody>
      </p:sp>
      <p:sp>
        <p:nvSpPr>
          <p:cNvPr id="6" name="TextBox 5">
            <a:extLst>
              <a:ext uri="{FF2B5EF4-FFF2-40B4-BE49-F238E27FC236}">
                <a16:creationId xmlns:a16="http://schemas.microsoft.com/office/drawing/2014/main" id="{66CFE5F6-A264-4A47-8139-41A633D3601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350" b="1" i="0">
                <a:solidFill>
                  <a:srgbClr val="0F233D"/>
                </a:solidFill>
                <a:latin typeface="Arial"/>
                <a:ea typeface="Arial"/>
                <a:cs typeface="Arial"/>
              </a:rPr>
              <a:t>Ribosome dysfunction in AD</a:t>
            </a:r>
          </a:p>
        </p:txBody>
      </p:sp>
      <p:sp>
        <p:nvSpPr>
          <p:cNvPr id="7" name="TextBox 6">
            <a:extLst>
              <a:ext uri="{FF2B5EF4-FFF2-40B4-BE49-F238E27FC236}">
                <a16:creationId xmlns:a16="http://schemas.microsoft.com/office/drawing/2014/main" id="{28EC7146-2BD3-47B3-90B9-27D3EEF8C065}"/>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BA28E06B-C23B-4967-9643-E071B00D26FF}"/>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80" b="0" i="0">
                <a:solidFill>
                  <a:srgbClr val="1F2730"/>
                </a:solidFill>
                <a:latin typeface="Arial"/>
                <a:ea typeface="Arial"/>
                <a:cs typeface="Arial"/>
              </a:rPr>
              <a:t>Reports impaired protein synthesis and RNA oxidation in human AD tissue.</a:t>
            </a:r>
          </a:p>
        </p:txBody>
      </p:sp>
      <p:sp>
        <p:nvSpPr>
          <p:cNvPr id="9" name="TextBox 8">
            <a:extLst>
              <a:ext uri="{FF2B5EF4-FFF2-40B4-BE49-F238E27FC236}">
                <a16:creationId xmlns:a16="http://schemas.microsoft.com/office/drawing/2014/main" id="{3E18336E-B058-4640-9654-6F33E58BFAD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365DBFD-4FA2-4235-BB81-17867B61871F}"/>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60" b="0" i="0">
                <a:solidFill>
                  <a:srgbClr val="4E5A68"/>
                </a:solidFill>
                <a:latin typeface="Arial"/>
                <a:ea typeface="Arial"/>
                <a:cs typeface="Arial"/>
              </a:rPr>
              <a:t>Does not establish the ROSMAP ribosome-to-OXPHOS network.</a:t>
            </a:r>
          </a:p>
        </p:txBody>
      </p:sp>
      <p:sp>
        <p:nvSpPr>
          <p:cNvPr id="11" name="Rounded Rectangle 10">
            <a:extLst>
              <a:ext uri="{FF2B5EF4-FFF2-40B4-BE49-F238E27FC236}">
                <a16:creationId xmlns:a16="http://schemas.microsoft.com/office/drawing/2014/main" id="{4BB403BE-68DA-4AC0-8655-DD54541523E0}"/>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D7F784D-F01C-4793-9367-C4AF8701C956}"/>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500" b="1" i="0">
                <a:solidFill>
                  <a:srgbClr val="00684D"/>
                </a:solidFill>
                <a:latin typeface="Arial"/>
                <a:ea typeface="Arial"/>
                <a:cs typeface="Arial"/>
              </a:rPr>
              <a:t>Zhang et al. 2003</a:t>
            </a:r>
          </a:p>
        </p:txBody>
      </p:sp>
      <p:sp>
        <p:nvSpPr>
          <p:cNvPr id="13" name="TextBox 12">
            <a:extLst>
              <a:ext uri="{FF2B5EF4-FFF2-40B4-BE49-F238E27FC236}">
                <a16:creationId xmlns:a16="http://schemas.microsoft.com/office/drawing/2014/main" id="{E7E32300-4DD4-4EBA-8FA7-189731843BB5}"/>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350" b="1" i="0">
                <a:solidFill>
                  <a:srgbClr val="0F233D"/>
                </a:solidFill>
                <a:latin typeface="Arial"/>
                <a:ea typeface="Arial"/>
                <a:cs typeface="Arial"/>
              </a:rPr>
              <a:t>RPL11 stress signaling</a:t>
            </a:r>
          </a:p>
        </p:txBody>
      </p:sp>
      <p:sp>
        <p:nvSpPr>
          <p:cNvPr id="14" name="TextBox 13">
            <a:extLst>
              <a:ext uri="{FF2B5EF4-FFF2-40B4-BE49-F238E27FC236}">
                <a16:creationId xmlns:a16="http://schemas.microsoft.com/office/drawing/2014/main" id="{4DEC5479-E630-463C-B82E-67D97BA3BD11}"/>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316CD5EF-B007-4055-A7A5-A1954BC81614}"/>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80" b="0" i="0">
                <a:solidFill>
                  <a:srgbClr val="1F2730"/>
                </a:solidFill>
                <a:latin typeface="Arial"/>
                <a:ea typeface="Arial"/>
                <a:cs typeface="Arial"/>
              </a:rPr>
              <a:t>Shows that RPL11 can signal through the MDM2 and p53 pathway.</a:t>
            </a:r>
          </a:p>
        </p:txBody>
      </p:sp>
      <p:sp>
        <p:nvSpPr>
          <p:cNvPr id="16" name="TextBox 15">
            <a:extLst>
              <a:ext uri="{FF2B5EF4-FFF2-40B4-BE49-F238E27FC236}">
                <a16:creationId xmlns:a16="http://schemas.microsoft.com/office/drawing/2014/main" id="{1EBEB420-E72A-4D33-8191-B41B784A29E1}"/>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9E47C3D-56D9-43BA-B268-5ED4837DD607}"/>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60" b="0" i="0">
                <a:solidFill>
                  <a:srgbClr val="4E5A68"/>
                </a:solidFill>
                <a:latin typeface="Arial"/>
                <a:ea typeface="Arial"/>
                <a:cs typeface="Arial"/>
              </a:rPr>
              <a:t>Experimental stress biology does not prove mitochondrial regulation.</a:t>
            </a:r>
          </a:p>
        </p:txBody>
      </p:sp>
      <p:sp>
        <p:nvSpPr>
          <p:cNvPr id="18" name="Rounded Rectangle 17">
            <a:extLst>
              <a:ext uri="{FF2B5EF4-FFF2-40B4-BE49-F238E27FC236}">
                <a16:creationId xmlns:a16="http://schemas.microsoft.com/office/drawing/2014/main" id="{BD79985C-21FE-48A3-95BB-E7BEA42CECDC}"/>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2896DA6-7088-4B6B-9EEA-0F4503A01F67}"/>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AB561183-F25C-4F85-B3D0-E28D72ED050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350" b="1" i="0">
                <a:solidFill>
                  <a:srgbClr val="0F233D"/>
                </a:solidFill>
                <a:latin typeface="Arial"/>
                <a:ea typeface="Arial"/>
                <a:cs typeface="Arial"/>
              </a:rPr>
              <a:t>Recurring ribosome genes</a:t>
            </a:r>
          </a:p>
        </p:txBody>
      </p:sp>
      <p:sp>
        <p:nvSpPr>
          <p:cNvPr id="21" name="TextBox 20">
            <a:extLst>
              <a:ext uri="{FF2B5EF4-FFF2-40B4-BE49-F238E27FC236}">
                <a16:creationId xmlns:a16="http://schemas.microsoft.com/office/drawing/2014/main" id="{621BFD6C-6867-4FDD-BCE1-A374D40526AE}"/>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B5588C7B-010A-4359-A5D4-23378BA6C9E0}"/>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80" b="0" i="0">
                <a:solidFill>
                  <a:srgbClr val="1F2730"/>
                </a:solidFill>
                <a:latin typeface="Arial"/>
                <a:ea typeface="Arial"/>
                <a:cs typeface="Arial"/>
              </a:rPr>
              <a:t>Several ribosome genes appear across categories and connect repeatedly to OXPHOS genes.</a:t>
            </a:r>
          </a:p>
        </p:txBody>
      </p:sp>
      <p:sp>
        <p:nvSpPr>
          <p:cNvPr id="23" name="TextBox 22">
            <a:extLst>
              <a:ext uri="{FF2B5EF4-FFF2-40B4-BE49-F238E27FC236}">
                <a16:creationId xmlns:a16="http://schemas.microsoft.com/office/drawing/2014/main" id="{7CDE4019-B2BE-4F28-B4F7-4BD2131ED408}"/>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0114D933-4627-4A99-B116-A7F6254C8621}"/>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60" b="0" i="0">
                <a:solidFill>
                  <a:srgbClr val="4E5A68"/>
                </a:solidFill>
                <a:latin typeface="Arial"/>
                <a:ea typeface="Arial"/>
                <a:cs typeface="Arial"/>
              </a:rPr>
              <a:t>Some comparisons share donors, and highly connected genes can be selected more often; the observations are therefore not independent.</a:t>
            </a:r>
          </a:p>
        </p:txBody>
      </p:sp>
      <p:sp>
        <p:nvSpPr>
          <p:cNvPr id="25" name="Rounded Rectangle 24">
            <a:extLst>
              <a:ext uri="{FF2B5EF4-FFF2-40B4-BE49-F238E27FC236}">
                <a16:creationId xmlns:a16="http://schemas.microsoft.com/office/drawing/2014/main" id="{C552AB3A-E34F-40D0-BEC3-7292C27F6EE8}"/>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CA0B9314-4708-4685-9F69-7142B6ECC13C}"/>
              </a:ext>
            </a:extLst>
          </p:cNvPr>
          <p:cNvSpPr>
            <a:spLocks noGrp="1"/>
          </p:cNvSpPr>
          <p:nvPr/>
        </p:nvSpPr>
        <p:spPr>
          <a:xfrm>
            <a:off x="896112" y="5952744"/>
            <a:ext cx="10405872" cy="221599"/>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80" b="1">
                <a:solidFill>
                  <a:srgbClr val="7E4C9A"/>
                </a:solidFill>
                <a:latin typeface="Arial"/>
                <a:ea typeface="Arial"/>
                <a:cs typeface="Arial"/>
              </a:rPr>
              <a:t>N</a:t>
            </a:r>
            <a:r>
              <a:rPr sz="1080" b="1" i="0">
                <a:solidFill>
                  <a:srgbClr val="7E4C9A"/>
                </a:solidFill>
                <a:latin typeface="Arial"/>
                <a:ea typeface="Arial"/>
                <a:cs typeface="Arial"/>
              </a:rPr>
              <a:t>ovelty: Moderate</a:t>
            </a:r>
          </a:p>
        </p:txBody>
      </p:sp>
    </p:spTree>
    <p:extLst>
      <p:ext uri="{BB962C8B-B14F-4D97-AF65-F5344CB8AC3E}">
        <p14:creationId val="813181377"/>
      </p:ext>
    </p:extLst>
  </p:cSld>
  <p:clrMapOvr>
    <a:masterClrMapping/>
  </p:clrMapOvr>
  <p:transition/>
  <p:timing/>
</p:sld>
</file>

<file path=ppt/slides/slide10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0F233D"/>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58C82DA3-855D-4B60-9FDB-23AF3878CB6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050" b="1" i="0">
                <a:solidFill>
                  <a:srgbClr val="E69F00"/>
                </a:solidFill>
                <a:latin typeface="Arial"/>
                <a:ea typeface="Arial"/>
                <a:cs typeface="Arial"/>
              </a:rPr>
              <a:t>FINDING 8</a:t>
            </a:r>
          </a:p>
        </p:txBody>
      </p:sp>
      <p:sp>
        <p:nvSpPr>
          <p:cNvPr id="3" name="Rectangle 2">
            <a:extLst>
              <a:ext uri="{FF2B5EF4-FFF2-40B4-BE49-F238E27FC236}">
                <a16:creationId xmlns:a16="http://schemas.microsoft.com/office/drawing/2014/main" id="{D0A03960-B5C1-46DA-AA0B-605DB7F9871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80942F9A-53CF-4DFE-87B9-5C9F500963A2}"/>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2200" b="1" i="0">
                <a:solidFill>
                  <a:srgbClr val="FFFFFF"/>
                </a:solidFill>
                <a:latin typeface="Arial"/>
                <a:ea typeface="Arial"/>
                <a:cs typeface="Arial"/>
              </a:rPr>
              <a:t>LAMTOR5 links lysosomal nutrient sensing to OXPHOS</a:t>
            </a:r>
          </a:p>
        </p:txBody>
      </p:sp>
      <p:sp>
        <p:nvSpPr>
          <p:cNvPr id="5" name="TextBox 4">
            <a:extLst>
              <a:ext uri="{FF2B5EF4-FFF2-40B4-BE49-F238E27FC236}">
                <a16:creationId xmlns:a16="http://schemas.microsoft.com/office/drawing/2014/main" id="{EA1BD881-943D-4E87-A6AA-2F687CA5502E}"/>
              </a:ext>
            </a:extLst>
          </p:cNvPr>
          <p:cNvSpPr>
            <a:spLocks noGrp="1"/>
          </p:cNvSpPr>
          <p:nvPr/>
        </p:nvSpPr>
        <p:spPr>
          <a:xfrm>
            <a:off x="1097280" y="2468880"/>
            <a:ext cx="7406640" cy="914400"/>
          </a:xfrm>
          <a:prstGeom prst="rect">
            <a:avLst/>
          </a:prstGeom>
          <a:noFill/>
        </p:spPr>
        <p:txBody>
          <a:bodyPr wrap="square" lIns="0" tIns="0" rIns="0" bIns="0" anchor="t">
            <a:normAutofit/>
          </a:bodyPr>
          <a:lstStyle/>
          <a:p>
            <a:pPr algn="l">
              <a:lnSpc>
                <a:spcPct val="100000"/>
              </a:lnSpc>
              <a:spcBef>
                <a:spcPct val="0"/>
              </a:spcBef>
              <a:spcAft>
                <a:spcPct val="0"/>
              </a:spcAft>
              <a:buNone/>
              <a:defRPr sz="1200" b="1">
                <a:solidFill>
                  <a:srgbClr val="E6A700"/>
                </a:solidFill>
                <a:latin typeface="Arial"/>
                <a:ea typeface="Arial"/>
                <a:cs typeface="Arial"/>
              </a:defRPr>
            </a:pPr>
            <a:r>
              <a:rPr sz="1200" b="1" i="0">
                <a:solidFill>
                  <a:srgbClr val="E6A700"/>
                </a:solidFill>
                <a:latin typeface="Arial"/>
                <a:ea typeface="Arial"/>
                <a:cs typeface="Arial"/>
              </a:rPr>
              <a:t>Observed in: female ε2, female ε3/ε3, female ε4, and male ε2</a:t>
            </a:r>
          </a:p>
        </p:txBody>
      </p:sp>
      <p:sp>
        <p:nvSpPr>
          <p:cNvPr id="6" name="Rounded Rectangle 5">
            <a:extLst>
              <a:ext uri="{FF2B5EF4-FFF2-40B4-BE49-F238E27FC236}">
                <a16:creationId xmlns:a16="http://schemas.microsoft.com/office/drawing/2014/main" id="{DCEE8990-4014-4F1D-9D00-7427414F357C}"/>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A0B9090-3EB6-47B0-AA7A-C29081739B7E}"/>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A16C7C97-0645-44E7-A27D-2B37C78A107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BCDA1B8-001C-4A44-8D2D-DB5A24930E59}"/>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6DFBCD45-7C59-4FD1-810E-9DF341A99ADB}"/>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61CB01AA-225D-47AB-BE13-CAE5873456BF}"/>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B8BE7EE-9A92-4DDA-B9BF-1EAA5578E42B}"/>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6CDCEE71-D334-445F-8A60-5CC03FA405F2}"/>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AFEC7FB8-3F63-4DB6-A355-64743A007950}"/>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1174472-58A2-40B0-97F9-807994C7098A}"/>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0ED415DF-CD9D-4C53-9B25-F064E25ED7CD}"/>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5F33F28C-E14F-458F-B7B2-22741C587BB0}"/>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5577357-C5FB-4D5E-8048-0436DAA50F4B}"/>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AE73047E-159F-4BBB-A7A7-11C0661695A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49D2232A-4B6B-4BAB-A528-B6DE729A2F80}"/>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D79C19BF-F4D9-429D-BE0C-6E00EDB0D50D}"/>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20" b="1" i="0">
                <a:solidFill>
                  <a:srgbClr val="FFFFFF"/>
                </a:solidFill>
                <a:latin typeface="Arial"/>
                <a:ea typeface="Arial"/>
                <a:cs typeface="Arial"/>
              </a:rPr>
              <a:t>LAMTOR5 repeatedly links lysosomal nutrient sensing with mostly decreased nuclear-encoded OXPHOS genes.</a:t>
            </a:r>
          </a:p>
        </p:txBody>
      </p:sp>
    </p:spTree>
    <p:extLst>
      <p:ext uri="{BB962C8B-B14F-4D97-AF65-F5344CB8AC3E}">
        <p14:creationId val="1546403724"/>
      </p:ext>
    </p:extLst>
  </p:cSld>
  <p:clrMapOvr>
    <a:masterClrMapping/>
  </p:clrMapOvr>
  <p:transition/>
  <p:timing/>
</p:sld>
</file>

<file path=ppt/slides/slide10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2A121AF4-5F17-4383-B99F-23608A038B9C}"/>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LAMTOR5 connects lysosomal nutrient sensing with nuclear-encoded OXPHOS genes</a:t>
            </a:r>
          </a:p>
        </p:txBody>
      </p:sp>
      <p:sp>
        <p:nvSpPr>
          <p:cNvPr id="3" name="TextBox 2">
            <a:extLst>
              <a:ext uri="{FF2B5EF4-FFF2-40B4-BE49-F238E27FC236}">
                <a16:creationId xmlns:a16="http://schemas.microsoft.com/office/drawing/2014/main" id="{F359CD9C-D123-4C59-A0AC-15CDDFEF9093}"/>
              </a:ext>
            </a:extLst>
          </p:cNvPr>
          <p:cNvSpPr>
            <a:spLocks noGrp="1"/>
          </p:cNvSpPr>
          <p:nvPr/>
        </p:nvSpPr>
        <p:spPr>
          <a:xfrm>
            <a:off x="548640" y="1004776"/>
            <a:ext cx="10927080" cy="486287"/>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00" b="1" i="0">
                <a:latin typeface="Arial"/>
                <a:ea typeface="Arial"/>
                <a:cs typeface="Arial"/>
              </a:rPr>
              <a:t>Lysosomes recycle cell material and sense nutrients. LAMTOR5 relays this information to mTORC1, a pathway that regulates cell growth and protein production.</a:t>
            </a:r>
          </a:p>
        </p:txBody>
      </p:sp>
      <p:sp>
        <p:nvSpPr>
          <p:cNvPr id="4" name="Rounded Rectangle 3">
            <a:extLst>
              <a:ext uri="{FF2B5EF4-FFF2-40B4-BE49-F238E27FC236}">
                <a16:creationId xmlns:a16="http://schemas.microsoft.com/office/drawing/2014/main" id="{C0686943-6724-43E0-9D97-D072207B5F56}"/>
              </a:ext>
            </a:extLst>
          </p:cNvPr>
          <p:cNvSpPr>
            <a:spLocks noGrp="1"/>
          </p:cNvSpPr>
          <p:nvPr/>
        </p:nvSpPr>
        <p:spPr>
          <a:xfrm>
            <a:off x="749808" y="1511511"/>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2F75C9D-8F57-4357-9096-351B2F7929E4}"/>
              </a:ext>
            </a:extLst>
          </p:cNvPr>
          <p:cNvSpPr>
            <a:spLocks noGrp="1"/>
          </p:cNvSpPr>
          <p:nvPr/>
        </p:nvSpPr>
        <p:spPr>
          <a:xfrm>
            <a:off x="841247" y="1612095"/>
            <a:ext cx="2359151" cy="213360"/>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40" b="1" i="0">
                <a:solidFill>
                  <a:srgbClr val="0072B2"/>
                </a:solidFill>
                <a:latin typeface="Arial"/>
                <a:ea typeface="Arial"/>
                <a:cs typeface="Arial"/>
              </a:rPr>
              <a:t>17 neuronal KDA calls</a:t>
            </a:r>
          </a:p>
        </p:txBody>
      </p:sp>
      <p:sp>
        <p:nvSpPr>
          <p:cNvPr id="6" name="Rounded Rectangle 5">
            <a:extLst>
              <a:ext uri="{FF2B5EF4-FFF2-40B4-BE49-F238E27FC236}">
                <a16:creationId xmlns:a16="http://schemas.microsoft.com/office/drawing/2014/main" id="{6447CFFB-9A99-460C-A181-6A7F299921A0}"/>
              </a:ext>
            </a:extLst>
          </p:cNvPr>
          <p:cNvSpPr>
            <a:spLocks noGrp="1"/>
          </p:cNvSpPr>
          <p:nvPr/>
        </p:nvSpPr>
        <p:spPr>
          <a:xfrm>
            <a:off x="3566160" y="1511511"/>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6D333C4-9214-492E-A053-2B16782FB7D1}"/>
              </a:ext>
            </a:extLst>
          </p:cNvPr>
          <p:cNvSpPr>
            <a:spLocks noGrp="1"/>
          </p:cNvSpPr>
          <p:nvPr/>
        </p:nvSpPr>
        <p:spPr>
          <a:xfrm>
            <a:off x="3657600" y="1612095"/>
            <a:ext cx="2359151"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40" b="1" i="0">
                <a:solidFill>
                  <a:srgbClr val="00684D"/>
                </a:solidFill>
                <a:latin typeface="Arial"/>
                <a:ea typeface="Arial"/>
                <a:cs typeface="Arial"/>
              </a:rPr>
              <a:t>Six categories</a:t>
            </a:r>
          </a:p>
        </p:txBody>
      </p:sp>
      <p:sp>
        <p:nvSpPr>
          <p:cNvPr id="8" name="Rounded Rectangle 7">
            <a:extLst>
              <a:ext uri="{FF2B5EF4-FFF2-40B4-BE49-F238E27FC236}">
                <a16:creationId xmlns:a16="http://schemas.microsoft.com/office/drawing/2014/main" id="{B50DB23B-F923-49BD-808D-BEACEC89E56F}"/>
              </a:ext>
            </a:extLst>
          </p:cNvPr>
          <p:cNvSpPr>
            <a:spLocks noGrp="1"/>
          </p:cNvSpPr>
          <p:nvPr/>
        </p:nvSpPr>
        <p:spPr>
          <a:xfrm>
            <a:off x="6382512" y="1511511"/>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B59CAE3-8450-44F6-9E1E-AEB731EE7A7E}"/>
              </a:ext>
            </a:extLst>
          </p:cNvPr>
          <p:cNvSpPr>
            <a:spLocks noGrp="1"/>
          </p:cNvSpPr>
          <p:nvPr/>
        </p:nvSpPr>
        <p:spPr>
          <a:xfrm>
            <a:off x="6473952" y="1612095"/>
            <a:ext cx="2359151"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40" b="1" i="0">
                <a:solidFill>
                  <a:srgbClr val="895600"/>
                </a:solidFill>
                <a:latin typeface="Arial"/>
                <a:ea typeface="Arial"/>
                <a:cs typeface="Arial"/>
              </a:rPr>
              <a:t>Lysosome and mTORC1</a:t>
            </a:r>
          </a:p>
        </p:txBody>
      </p:sp>
      <p:sp>
        <p:nvSpPr>
          <p:cNvPr id="10" name="Rounded Rectangle 9">
            <a:extLst>
              <a:ext uri="{FF2B5EF4-FFF2-40B4-BE49-F238E27FC236}">
                <a16:creationId xmlns:a16="http://schemas.microsoft.com/office/drawing/2014/main" id="{DA6980E2-6984-4D38-A5F2-1C7582EA1EB2}"/>
              </a:ext>
            </a:extLst>
          </p:cNvPr>
          <p:cNvSpPr>
            <a:spLocks noGrp="1"/>
          </p:cNvSpPr>
          <p:nvPr/>
        </p:nvSpPr>
        <p:spPr>
          <a:xfrm>
            <a:off x="9198864" y="1511511"/>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0EA3F30F-888D-4836-BDCB-FE8E0D1BB166}"/>
              </a:ext>
            </a:extLst>
          </p:cNvPr>
          <p:cNvSpPr>
            <a:spLocks noGrp="1"/>
          </p:cNvSpPr>
          <p:nvPr/>
        </p:nvSpPr>
        <p:spPr>
          <a:xfrm>
            <a:off x="9290304" y="1612095"/>
            <a:ext cx="2359151" cy="213360"/>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40" b="1" i="0">
                <a:solidFill>
                  <a:srgbClr val="9E3A00"/>
                </a:solidFill>
                <a:latin typeface="Arial"/>
                <a:ea typeface="Arial"/>
                <a:cs typeface="Arial"/>
              </a:rPr>
              <a:t>Nuclear-encoded OXPHOS genes</a:t>
            </a:r>
          </a:p>
        </p:txBody>
      </p:sp>
      <p:sp>
        <p:nvSpPr>
          <p:cNvPr id="12" name="Rounded Rectangle 11">
            <a:extLst>
              <a:ext uri="{FF2B5EF4-FFF2-40B4-BE49-F238E27FC236}">
                <a16:creationId xmlns:a16="http://schemas.microsoft.com/office/drawing/2014/main" id="{1274827F-6508-41D8-ABCA-BBDBD2E11D5B}"/>
              </a:ext>
            </a:extLst>
          </p:cNvPr>
          <p:cNvSpPr>
            <a:spLocks noGrp="1"/>
          </p:cNvSpPr>
          <p:nvPr/>
        </p:nvSpPr>
        <p:spPr>
          <a:xfrm>
            <a:off x="658368" y="2055003"/>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2D6327C-B1D3-494F-9F63-F095ADAE2EB4}"/>
              </a:ext>
            </a:extLst>
          </p:cNvPr>
          <p:cNvSpPr>
            <a:spLocks noGrp="1"/>
          </p:cNvSpPr>
          <p:nvPr/>
        </p:nvSpPr>
        <p:spPr>
          <a:xfrm>
            <a:off x="932688" y="2347611"/>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72B2"/>
                </a:solidFill>
                <a:latin typeface="Arial"/>
                <a:ea typeface="Arial"/>
                <a:cs typeface="Arial"/>
              </a:rPr>
              <a:t>LYSOSOME</a:t>
            </a:r>
          </a:p>
        </p:txBody>
      </p:sp>
      <p:sp>
        <p:nvSpPr>
          <p:cNvPr id="14" name="TextBox 13">
            <a:extLst>
              <a:ext uri="{FF2B5EF4-FFF2-40B4-BE49-F238E27FC236}">
                <a16:creationId xmlns:a16="http://schemas.microsoft.com/office/drawing/2014/main" id="{EFEDAECC-6737-4DED-930C-A05E00FB3767}"/>
              </a:ext>
            </a:extLst>
          </p:cNvPr>
          <p:cNvSpPr>
            <a:spLocks noGrp="1"/>
          </p:cNvSpPr>
          <p:nvPr/>
        </p:nvSpPr>
        <p:spPr>
          <a:xfrm>
            <a:off x="932688" y="2804811"/>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Recycling material and sensing nutrients</a:t>
            </a:r>
          </a:p>
        </p:txBody>
      </p:sp>
      <p:sp>
        <p:nvSpPr>
          <p:cNvPr id="15" name="TextBox 14">
            <a:extLst>
              <a:ext uri="{FF2B5EF4-FFF2-40B4-BE49-F238E27FC236}">
                <a16:creationId xmlns:a16="http://schemas.microsoft.com/office/drawing/2014/main" id="{FB2E5AFE-33E8-41B1-9867-C2CDC19830A8}"/>
              </a:ext>
            </a:extLst>
          </p:cNvPr>
          <p:cNvSpPr>
            <a:spLocks noGrp="1"/>
          </p:cNvSpPr>
          <p:nvPr/>
        </p:nvSpPr>
        <p:spPr>
          <a:xfrm>
            <a:off x="969264" y="3810651"/>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The lysosome breaks down material and helps the cell judge nutrient availability.</a:t>
            </a:r>
          </a:p>
        </p:txBody>
      </p:sp>
      <p:sp>
        <p:nvSpPr>
          <p:cNvPr id="16" name="Rounded Rectangle 15">
            <a:extLst>
              <a:ext uri="{FF2B5EF4-FFF2-40B4-BE49-F238E27FC236}">
                <a16:creationId xmlns:a16="http://schemas.microsoft.com/office/drawing/2014/main" id="{7E93B811-023D-413F-BA28-9FF12B93E72B}"/>
              </a:ext>
            </a:extLst>
          </p:cNvPr>
          <p:cNvSpPr>
            <a:spLocks noGrp="1"/>
          </p:cNvSpPr>
          <p:nvPr/>
        </p:nvSpPr>
        <p:spPr>
          <a:xfrm>
            <a:off x="4453128" y="2055003"/>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13FB113-87E2-4F79-9D8D-6A60FFEF266A}"/>
              </a:ext>
            </a:extLst>
          </p:cNvPr>
          <p:cNvSpPr>
            <a:spLocks noGrp="1"/>
          </p:cNvSpPr>
          <p:nvPr/>
        </p:nvSpPr>
        <p:spPr>
          <a:xfrm>
            <a:off x="4727448" y="2347611"/>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684D"/>
                </a:solidFill>
                <a:latin typeface="Arial"/>
                <a:ea typeface="Arial"/>
                <a:cs typeface="Arial"/>
              </a:rPr>
              <a:t>LAMTOR5</a:t>
            </a:r>
          </a:p>
        </p:txBody>
      </p:sp>
      <p:sp>
        <p:nvSpPr>
          <p:cNvPr id="18" name="TextBox 17">
            <a:extLst>
              <a:ext uri="{FF2B5EF4-FFF2-40B4-BE49-F238E27FC236}">
                <a16:creationId xmlns:a16="http://schemas.microsoft.com/office/drawing/2014/main" id="{6AB71A9D-6ECB-4E5B-955A-1E89D770EEAE}"/>
              </a:ext>
            </a:extLst>
          </p:cNvPr>
          <p:cNvSpPr>
            <a:spLocks noGrp="1"/>
          </p:cNvSpPr>
          <p:nvPr/>
        </p:nvSpPr>
        <p:spPr>
          <a:xfrm>
            <a:off x="4727448" y="2804811"/>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Part of the lysosomal nutrient-sensing complex</a:t>
            </a:r>
          </a:p>
        </p:txBody>
      </p:sp>
      <p:sp>
        <p:nvSpPr>
          <p:cNvPr id="19" name="TextBox 18">
            <a:extLst>
              <a:ext uri="{FF2B5EF4-FFF2-40B4-BE49-F238E27FC236}">
                <a16:creationId xmlns:a16="http://schemas.microsoft.com/office/drawing/2014/main" id="{F936FED7-6000-4CEA-90A0-B1565794E309}"/>
              </a:ext>
            </a:extLst>
          </p:cNvPr>
          <p:cNvSpPr>
            <a:spLocks noGrp="1"/>
          </p:cNvSpPr>
          <p:nvPr/>
        </p:nvSpPr>
        <p:spPr>
          <a:xfrm>
            <a:off x="4764024" y="3810651"/>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LAMTOR5 helps the cell use amino-acid availability at lysosomes to regulate mTORC1.</a:t>
            </a:r>
          </a:p>
        </p:txBody>
      </p:sp>
      <p:sp>
        <p:nvSpPr>
          <p:cNvPr id="20" name="Rounded Rectangle 19">
            <a:extLst>
              <a:ext uri="{FF2B5EF4-FFF2-40B4-BE49-F238E27FC236}">
                <a16:creationId xmlns:a16="http://schemas.microsoft.com/office/drawing/2014/main" id="{E7CFBBF7-D2CB-46BA-9933-B93BE7AD21C6}"/>
              </a:ext>
            </a:extLst>
          </p:cNvPr>
          <p:cNvSpPr>
            <a:spLocks noGrp="1"/>
          </p:cNvSpPr>
          <p:nvPr/>
        </p:nvSpPr>
        <p:spPr>
          <a:xfrm>
            <a:off x="8247888" y="2055003"/>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146252F-853E-4B38-A203-08AB81BCFD44}"/>
              </a:ext>
            </a:extLst>
          </p:cNvPr>
          <p:cNvSpPr>
            <a:spLocks noGrp="1"/>
          </p:cNvSpPr>
          <p:nvPr/>
        </p:nvSpPr>
        <p:spPr>
          <a:xfrm>
            <a:off x="8522208" y="2347611"/>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9E3A00"/>
                </a:solidFill>
                <a:latin typeface="Arial"/>
                <a:ea typeface="Arial"/>
                <a:cs typeface="Arial"/>
              </a:rPr>
              <a:t>MITOCHONDRIA</a:t>
            </a:r>
          </a:p>
        </p:txBody>
      </p:sp>
      <p:sp>
        <p:nvSpPr>
          <p:cNvPr id="22" name="TextBox 21">
            <a:extLst>
              <a:ext uri="{FF2B5EF4-FFF2-40B4-BE49-F238E27FC236}">
                <a16:creationId xmlns:a16="http://schemas.microsoft.com/office/drawing/2014/main" id="{56B4B593-96E2-4789-AE03-4282F26DC2AE}"/>
              </a:ext>
            </a:extLst>
          </p:cNvPr>
          <p:cNvSpPr>
            <a:spLocks noGrp="1"/>
          </p:cNvSpPr>
          <p:nvPr/>
        </p:nvSpPr>
        <p:spPr>
          <a:xfrm>
            <a:off x="8522208" y="2804811"/>
            <a:ext cx="2907792" cy="786384"/>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Mostly decreased nuclear-encoded OXPHOS genes</a:t>
            </a:r>
          </a:p>
        </p:txBody>
      </p:sp>
      <p:sp>
        <p:nvSpPr>
          <p:cNvPr id="23" name="TextBox 22">
            <a:extLst>
              <a:ext uri="{FF2B5EF4-FFF2-40B4-BE49-F238E27FC236}">
                <a16:creationId xmlns:a16="http://schemas.microsoft.com/office/drawing/2014/main" id="{A749FEA7-7B20-45A2-8571-B5BDA43C267E}"/>
              </a:ext>
            </a:extLst>
          </p:cNvPr>
          <p:cNvSpPr>
            <a:spLocks noGrp="1"/>
          </p:cNvSpPr>
          <p:nvPr/>
        </p:nvSpPr>
        <p:spPr>
          <a:xfrm>
            <a:off x="8558784" y="4241999"/>
            <a:ext cx="2834640" cy="618631"/>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Genes connected to LAMTOR5 suggest a relationship with how much the cell </a:t>
            </a:r>
            <a:r>
              <a:rPr lang="en-US" sz="1220" b="0" i="0">
                <a:solidFill>
                  <a:srgbClr val="1F2730"/>
                </a:solidFill>
                <a:latin typeface="Arial"/>
                <a:ea typeface="Arial"/>
                <a:cs typeface="Arial"/>
              </a:rPr>
              <a:t>does</a:t>
            </a:r>
            <a:r>
              <a:rPr sz="1220" b="0" i="0">
                <a:solidFill>
                  <a:srgbClr val="1F2730"/>
                </a:solidFill>
                <a:latin typeface="Arial"/>
                <a:ea typeface="Arial"/>
                <a:cs typeface="Arial"/>
              </a:rPr>
              <a:t> mitochondrial respiration.</a:t>
            </a:r>
          </a:p>
        </p:txBody>
      </p:sp>
      <p:sp>
        <p:nvSpPr>
          <p:cNvPr id="24" name="Rounded Rectangle 23">
            <a:extLst>
              <a:ext uri="{FF2B5EF4-FFF2-40B4-BE49-F238E27FC236}">
                <a16:creationId xmlns:a16="http://schemas.microsoft.com/office/drawing/2014/main" id="{B6CE5C23-5CCE-4CB4-AEB9-ADA1B3113CFB}"/>
              </a:ext>
            </a:extLst>
          </p:cNvPr>
          <p:cNvSpPr>
            <a:spLocks noGrp="1"/>
          </p:cNvSpPr>
          <p:nvPr/>
        </p:nvSpPr>
        <p:spPr>
          <a:xfrm>
            <a:off x="658368" y="6244749"/>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268397F-3844-4D11-A2F2-7D68DBB8EC77}"/>
              </a:ext>
            </a:extLst>
          </p:cNvPr>
          <p:cNvSpPr>
            <a:spLocks noGrp="1"/>
          </p:cNvSpPr>
          <p:nvPr/>
        </p:nvSpPr>
        <p:spPr>
          <a:xfrm>
            <a:off x="896112" y="6372765"/>
            <a:ext cx="10405872" cy="230832"/>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40" b="1" i="0">
                <a:solidFill>
                  <a:srgbClr val="7E4C9A"/>
                </a:solidFill>
                <a:latin typeface="Arial"/>
                <a:ea typeface="Arial"/>
                <a:cs typeface="Arial"/>
              </a:rPr>
              <a:t>The result suggests a possible connection between lysosomal nutrient sensing and mitochondrial respiration.</a:t>
            </a:r>
          </a:p>
        </p:txBody>
      </p:sp>
    </p:spTree>
    <p:extLst>
      <p:ext uri="{BB962C8B-B14F-4D97-AF65-F5344CB8AC3E}">
        <p14:creationId val="340319728"/>
      </p:ext>
    </p:extLst>
  </p:cSld>
  <p:clrMapOvr>
    <a:masterClrMapping/>
  </p:clrMapOvr>
  <p:transition/>
  <p:timing/>
</p:sld>
</file>

<file path=ppt/slides/slide10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FE618DA0-DD00-42B7-8B97-160374CEBD87}"/>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ROSMAP: LAMTOR5 recurs in neuronal KDA calls and connects repeatedly to OXPHOS genes</a:t>
            </a:r>
          </a:p>
        </p:txBody>
      </p:sp>
      <p:sp>
        <p:nvSpPr>
          <p:cNvPr id="3" name="TextBox 2">
            <a:extLst>
              <a:ext uri="{FF2B5EF4-FFF2-40B4-BE49-F238E27FC236}">
                <a16:creationId xmlns:a16="http://schemas.microsoft.com/office/drawing/2014/main" id="{01F8EF43-5476-4423-AEE5-45AEFB4FB7C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080" b="0" i="0">
                <a:solidFill>
                  <a:srgbClr val="4E5A68"/>
                </a:solidFill>
                <a:latin typeface="Arial"/>
                <a:ea typeface="Arial"/>
                <a:cs typeface="Arial"/>
              </a:rPr>
              <a:t>The largest scores occur in male ε2 neurons, where the DEG input to KDA contained unusually many genes.</a:t>
            </a:r>
          </a:p>
        </p:txBody>
      </p:sp>
      <p:sp>
        <p:nvSpPr>
          <p:cNvPr id="4" name="Rounded Rectangle 3">
            <a:extLst>
              <a:ext uri="{FF2B5EF4-FFF2-40B4-BE49-F238E27FC236}">
                <a16:creationId xmlns:a16="http://schemas.microsoft.com/office/drawing/2014/main" id="{5B6610EF-EE09-4BBC-888D-3918D4DEA2FE}"/>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9E3E1BC-9FE3-4023-9242-6BD6511C5152}"/>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800" b="1" i="0">
                <a:solidFill>
                  <a:srgbClr val="0072B2"/>
                </a:solidFill>
                <a:latin typeface="Arial"/>
                <a:ea typeface="Arial"/>
                <a:cs typeface="Arial"/>
              </a:rPr>
              <a:t>17</a:t>
            </a:r>
          </a:p>
        </p:txBody>
      </p:sp>
      <p:sp>
        <p:nvSpPr>
          <p:cNvPr id="6" name="TextBox 5">
            <a:extLst>
              <a:ext uri="{FF2B5EF4-FFF2-40B4-BE49-F238E27FC236}">
                <a16:creationId xmlns:a16="http://schemas.microsoft.com/office/drawing/2014/main" id="{200A218C-6159-401C-B82A-9A4416E08542}"/>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19" b="1" i="0">
                <a:solidFill>
                  <a:srgbClr val="0F233D"/>
                </a:solidFill>
                <a:latin typeface="Arial"/>
                <a:ea typeface="Arial"/>
                <a:cs typeface="Arial"/>
              </a:rPr>
              <a:t>supporting neuronal KDA calls</a:t>
            </a:r>
          </a:p>
        </p:txBody>
      </p:sp>
      <p:sp>
        <p:nvSpPr>
          <p:cNvPr id="7" name="TextBox 6">
            <a:extLst>
              <a:ext uri="{FF2B5EF4-FFF2-40B4-BE49-F238E27FC236}">
                <a16:creationId xmlns:a16="http://schemas.microsoft.com/office/drawing/2014/main" id="{35D93A9F-FD86-4ED2-94D0-7E25DE52C255}"/>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880" b="0" i="0">
                <a:solidFill>
                  <a:srgbClr val="4E5A68"/>
                </a:solidFill>
                <a:latin typeface="Arial"/>
                <a:ea typeface="Arial"/>
                <a:cs typeface="Arial"/>
              </a:rPr>
              <a:t>six categories, four sex/APOE groups</a:t>
            </a:r>
          </a:p>
        </p:txBody>
      </p:sp>
      <p:sp>
        <p:nvSpPr>
          <p:cNvPr id="8" name="Rounded Rectangle 7">
            <a:extLst>
              <a:ext uri="{FF2B5EF4-FFF2-40B4-BE49-F238E27FC236}">
                <a16:creationId xmlns:a16="http://schemas.microsoft.com/office/drawing/2014/main" id="{67640710-8B6F-4AB4-ABCE-B8454C29855F}"/>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D7A83D0-92A8-4A15-835C-AD73A46C8A68}"/>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800" b="1" i="0">
                <a:solidFill>
                  <a:srgbClr val="00684D"/>
                </a:solidFill>
                <a:latin typeface="Arial"/>
                <a:ea typeface="Arial"/>
                <a:cs typeface="Arial"/>
              </a:rPr>
              <a:t>87</a:t>
            </a:r>
          </a:p>
        </p:txBody>
      </p:sp>
      <p:sp>
        <p:nvSpPr>
          <p:cNvPr id="10" name="TextBox 9">
            <a:extLst>
              <a:ext uri="{FF2B5EF4-FFF2-40B4-BE49-F238E27FC236}">
                <a16:creationId xmlns:a16="http://schemas.microsoft.com/office/drawing/2014/main" id="{93D960B7-3A3E-4AAE-B921-94D7F1D663E6}"/>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19" b="1" i="0">
                <a:solidFill>
                  <a:srgbClr val="0F233D"/>
                </a:solidFill>
                <a:latin typeface="Arial"/>
                <a:ea typeface="Arial"/>
                <a:cs typeface="Arial"/>
              </a:rPr>
              <a:t>connections to MitoCarta MT genes</a:t>
            </a:r>
          </a:p>
        </p:txBody>
      </p:sp>
      <p:sp>
        <p:nvSpPr>
          <p:cNvPr id="11" name="TextBox 10">
            <a:extLst>
              <a:ext uri="{FF2B5EF4-FFF2-40B4-BE49-F238E27FC236}">
                <a16:creationId xmlns:a16="http://schemas.microsoft.com/office/drawing/2014/main" id="{6A0553C6-6AF6-4034-B1C1-3E7A6C423354}"/>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880" b="0" i="0">
                <a:solidFill>
                  <a:srgbClr val="4E5A68"/>
                </a:solidFill>
                <a:latin typeface="Arial"/>
                <a:ea typeface="Arial"/>
                <a:cs typeface="Arial"/>
              </a:rPr>
              <a:t>39 nuclear-encoded OXPHOS</a:t>
            </a:r>
          </a:p>
        </p:txBody>
      </p:sp>
      <p:sp>
        <p:nvSpPr>
          <p:cNvPr id="12" name="Rounded Rectangle 11">
            <a:extLst>
              <a:ext uri="{FF2B5EF4-FFF2-40B4-BE49-F238E27FC236}">
                <a16:creationId xmlns:a16="http://schemas.microsoft.com/office/drawing/2014/main" id="{4EEC72E9-2837-4155-9F47-73542548BE5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9156942-89A3-4B13-AB69-795AF9179B7D}"/>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800" b="1" i="0">
                <a:solidFill>
                  <a:srgbClr val="895600"/>
                </a:solidFill>
                <a:latin typeface="Arial"/>
                <a:ea typeface="Arial"/>
                <a:cs typeface="Arial"/>
              </a:rPr>
              <a:t>14/17</a:t>
            </a:r>
          </a:p>
        </p:txBody>
      </p:sp>
      <p:sp>
        <p:nvSpPr>
          <p:cNvPr id="14" name="TextBox 13">
            <a:extLst>
              <a:ext uri="{FF2B5EF4-FFF2-40B4-BE49-F238E27FC236}">
                <a16:creationId xmlns:a16="http://schemas.microsoft.com/office/drawing/2014/main" id="{0AE85854-4DFB-4782-BBC6-801B2488FBD8}"/>
              </a:ext>
            </a:extLst>
          </p:cNvPr>
          <p:cNvSpPr>
            <a:spLocks noGrp="1"/>
          </p:cNvSpPr>
          <p:nvPr/>
        </p:nvSpPr>
        <p:spPr>
          <a:xfrm>
            <a:off x="8412480" y="1984248"/>
            <a:ext cx="3127248" cy="365455"/>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19" b="1" i="0">
                <a:solidFill>
                  <a:srgbClr val="0F233D"/>
                </a:solidFill>
                <a:latin typeface="Arial"/>
                <a:ea typeface="Arial"/>
                <a:cs typeface="Arial"/>
              </a:rPr>
              <a:t>input DEG sets with significant OXPHOS enrichment</a:t>
            </a:r>
          </a:p>
        </p:txBody>
      </p:sp>
      <p:sp>
        <p:nvSpPr>
          <p:cNvPr id="15" name="TextBox 14">
            <a:extLst>
              <a:ext uri="{FF2B5EF4-FFF2-40B4-BE49-F238E27FC236}">
                <a16:creationId xmlns:a16="http://schemas.microsoft.com/office/drawing/2014/main" id="{24A0DDAE-34C1-4254-B5B5-A21E0B2DE4A0}"/>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63BBC23D-B8DA-4EC9-85EE-B8C8AA56DB85}"/>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884227B-DBEB-4EBC-B6EC-C9FB3634F17E}"/>
              </a:ext>
            </a:extLst>
          </p:cNvPr>
          <p:cNvSpPr>
            <a:spLocks noGrp="1"/>
          </p:cNvSpPr>
          <p:nvPr/>
        </p:nvSpPr>
        <p:spPr>
          <a:xfrm>
            <a:off x="987552" y="3090672"/>
            <a:ext cx="2331720" cy="45110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3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7FC7A39A-7538-4092-AF60-7ED08CB90D11}"/>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600" b="1" i="0">
                <a:solidFill>
                  <a:srgbClr val="9E3A00"/>
                </a:solidFill>
                <a:latin typeface="Arial"/>
                <a:ea typeface="Arial"/>
                <a:cs typeface="Arial"/>
              </a:rPr>
              <a:t>30 of 39 down</a:t>
            </a:r>
          </a:p>
        </p:txBody>
      </p:sp>
      <p:sp>
        <p:nvSpPr>
          <p:cNvPr id="19" name="TextBox 18">
            <a:extLst>
              <a:ext uri="{FF2B5EF4-FFF2-40B4-BE49-F238E27FC236}">
                <a16:creationId xmlns:a16="http://schemas.microsoft.com/office/drawing/2014/main" id="{EE2A3DAB-129C-4E11-B570-BB69456AF5C7}"/>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150" b="0" i="0">
                <a:solidFill>
                  <a:srgbClr val="1F2730"/>
                </a:solidFill>
                <a:latin typeface="Arial"/>
                <a:ea typeface="Arial"/>
                <a:cs typeface="Arial"/>
              </a:rPr>
              <a:t>Most connected nuclear-encoded OXPHOS genes show lower expression in AD</a:t>
            </a:r>
          </a:p>
        </p:txBody>
      </p:sp>
      <p:sp>
        <p:nvSpPr>
          <p:cNvPr id="20" name="Rounded Rectangle 19">
            <a:extLst>
              <a:ext uri="{FF2B5EF4-FFF2-40B4-BE49-F238E27FC236}">
                <a16:creationId xmlns:a16="http://schemas.microsoft.com/office/drawing/2014/main" id="{8D50F26C-3B9E-432A-85A1-6CB3EB4AE652}"/>
              </a:ext>
            </a:extLst>
          </p:cNvPr>
          <p:cNvSpPr>
            <a:spLocks noGrp="1"/>
          </p:cNvSpPr>
          <p:nvPr/>
        </p:nvSpPr>
        <p:spPr>
          <a:xfrm>
            <a:off x="749808" y="3886200"/>
            <a:ext cx="10698480" cy="8260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FDDFEE9-2C9B-49EB-83FB-D942B50AA95D}"/>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300" b="1" i="0">
                <a:solidFill>
                  <a:srgbClr val="0F233D"/>
                </a:solidFill>
                <a:latin typeface="Arial"/>
                <a:ea typeface="Arial"/>
                <a:cs typeface="Arial"/>
              </a:rPr>
              <a:t>Frequently connected genes</a:t>
            </a:r>
          </a:p>
        </p:txBody>
      </p:sp>
      <p:sp>
        <p:nvSpPr>
          <p:cNvPr id="22" name="TextBox 21">
            <a:extLst>
              <a:ext uri="{FF2B5EF4-FFF2-40B4-BE49-F238E27FC236}">
                <a16:creationId xmlns:a16="http://schemas.microsoft.com/office/drawing/2014/main" id="{FB4E30BB-A429-4D43-8B29-50E0FBFAF62B}"/>
              </a:ext>
            </a:extLst>
          </p:cNvPr>
          <p:cNvSpPr>
            <a:spLocks noGrp="1"/>
          </p:cNvSpPr>
          <p:nvPr/>
        </p:nvSpPr>
        <p:spPr>
          <a:xfrm>
            <a:off x="3419856" y="4074787"/>
            <a:ext cx="1975104" cy="486287"/>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400" b="1" i="0">
                <a:solidFill>
                  <a:srgbClr val="0072B2"/>
                </a:solidFill>
                <a:latin typeface="Arial"/>
                <a:ea typeface="Arial"/>
                <a:cs typeface="Arial"/>
              </a:rPr>
              <a:t>ATP5IF1, CHCHD10, ATP5MC2</a:t>
            </a:r>
          </a:p>
        </p:txBody>
      </p:sp>
      <p:sp>
        <p:nvSpPr>
          <p:cNvPr id="23" name="TextBox 22">
            <a:extLst>
              <a:ext uri="{FF2B5EF4-FFF2-40B4-BE49-F238E27FC236}">
                <a16:creationId xmlns:a16="http://schemas.microsoft.com/office/drawing/2014/main" id="{6E044256-F590-4040-9072-85C788DC52F6}"/>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150" b="0" i="0">
                <a:solidFill>
                  <a:srgbClr val="1F2730"/>
                </a:solidFill>
                <a:latin typeface="Arial"/>
                <a:ea typeface="Arial"/>
                <a:cs typeface="Arial"/>
              </a:rPr>
              <a:t>Additional repeated genes include NDUFA6, NDUFB6, TMEM11, and MRPL4</a:t>
            </a:r>
          </a:p>
        </p:txBody>
      </p:sp>
      <p:sp>
        <p:nvSpPr>
          <p:cNvPr id="24" name="Rounded Rectangle 23">
            <a:extLst>
              <a:ext uri="{FF2B5EF4-FFF2-40B4-BE49-F238E27FC236}">
                <a16:creationId xmlns:a16="http://schemas.microsoft.com/office/drawing/2014/main" id="{97E598F9-1D9C-4BC1-919E-ED62F946486D}"/>
              </a:ext>
            </a:extLst>
          </p:cNvPr>
          <p:cNvSpPr>
            <a:spLocks noGrp="1"/>
          </p:cNvSpPr>
          <p:nvPr/>
        </p:nvSpPr>
        <p:spPr>
          <a:xfrm>
            <a:off x="749808" y="4908466"/>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6102808-6A62-441A-A105-24DE4EE3966D}"/>
              </a:ext>
            </a:extLst>
          </p:cNvPr>
          <p:cNvSpPr>
            <a:spLocks noGrp="1"/>
          </p:cNvSpPr>
          <p:nvPr/>
        </p:nvSpPr>
        <p:spPr>
          <a:xfrm>
            <a:off x="987552" y="5073058"/>
            <a:ext cx="2331720" cy="29260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300" b="1" i="0">
                <a:solidFill>
                  <a:srgbClr val="0F233D"/>
                </a:solidFill>
                <a:latin typeface="Arial"/>
                <a:ea typeface="Arial"/>
                <a:cs typeface="Arial"/>
              </a:rPr>
              <a:t>LAMTOR5 itself</a:t>
            </a:r>
          </a:p>
        </p:txBody>
      </p:sp>
      <p:sp>
        <p:nvSpPr>
          <p:cNvPr id="26" name="TextBox 25">
            <a:extLst>
              <a:ext uri="{FF2B5EF4-FFF2-40B4-BE49-F238E27FC236}">
                <a16:creationId xmlns:a16="http://schemas.microsoft.com/office/drawing/2014/main" id="{D5F21F3A-6495-4024-AFDC-B6370080963F}"/>
              </a:ext>
            </a:extLst>
          </p:cNvPr>
          <p:cNvSpPr>
            <a:spLocks noGrp="1"/>
          </p:cNvSpPr>
          <p:nvPr/>
        </p:nvSpPr>
        <p:spPr>
          <a:xfrm>
            <a:off x="3419856" y="5125950"/>
            <a:ext cx="1975104" cy="36576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600" b="1" i="0">
                <a:solidFill>
                  <a:srgbClr val="895600"/>
                </a:solidFill>
                <a:latin typeface="Arial"/>
                <a:ea typeface="Arial"/>
                <a:cs typeface="Arial"/>
              </a:rPr>
              <a:t>DEG in 11 of 17</a:t>
            </a:r>
          </a:p>
        </p:txBody>
      </p:sp>
      <p:sp>
        <p:nvSpPr>
          <p:cNvPr id="27" name="TextBox 26">
            <a:extLst>
              <a:ext uri="{FF2B5EF4-FFF2-40B4-BE49-F238E27FC236}">
                <a16:creationId xmlns:a16="http://schemas.microsoft.com/office/drawing/2014/main" id="{8FE10D41-31AC-42AA-9565-1A339F415CC2}"/>
              </a:ext>
            </a:extLst>
          </p:cNvPr>
          <p:cNvSpPr>
            <a:spLocks noGrp="1"/>
          </p:cNvSpPr>
          <p:nvPr/>
        </p:nvSpPr>
        <p:spPr>
          <a:xfrm>
            <a:off x="5596128" y="5027338"/>
            <a:ext cx="5468112" cy="438912"/>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150" b="0" i="0">
                <a:solidFill>
                  <a:srgbClr val="1F2730"/>
                </a:solidFill>
                <a:latin typeface="Arial"/>
                <a:ea typeface="Arial"/>
                <a:cs typeface="Arial"/>
              </a:rPr>
              <a:t>Up in female ε2 excitatory KDA calls and down in the strongest male ε2 KDA calls</a:t>
            </a:r>
          </a:p>
        </p:txBody>
      </p:sp>
    </p:spTree>
    <p:extLst>
      <p:ext uri="{BB962C8B-B14F-4D97-AF65-F5344CB8AC3E}">
        <p14:creationId val="1796382022"/>
      </p:ext>
    </p:extLst>
  </p:cSld>
  <p:clrMapOvr>
    <a:masterClrMapping/>
  </p:clrMapOvr>
  <p:transition/>
  <p:timing/>
</p:sld>
</file>

<file path=ppt/slides/slide10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B69ADDD6-6FED-4518-ADC4-61AB5B43B3EE}"/>
              </a:ext>
            </a:extLst>
          </p:cNvPr>
          <p:cNvSpPr>
            <a:spLocks noGrp="1"/>
          </p:cNvSpPr>
          <p:nvPr/>
        </p:nvSpPr>
        <p:spPr>
          <a:xfrm>
            <a:off x="530352" y="292608"/>
            <a:ext cx="11064240" cy="732508"/>
          </a:xfrm>
          <a:prstGeom prst="rect">
            <a:avLst/>
          </a:prstGeom>
          <a:noFill/>
        </p:spPr>
        <p:txBody>
          <a:bodyPr wrap="square" lIns="27432" tIns="27432" rIns="27432" bIns="27432" anchor="t">
            <a:spAutoFit/>
          </a:bodyPr>
          <a:lstStyle/>
          <a:p>
            <a:r>
              <a:rPr lang="en-US" sz="2200" b="1">
                <a:solidFill>
                  <a:srgbClr val="0F233D"/>
                </a:solidFill>
                <a:latin typeface="Arial"/>
                <a:cs typeface="Arial"/>
              </a:rPr>
              <a:t>Other lysosomal and autophagy genes returned from KDA calls also connect to mitochondrial genes</a:t>
            </a:r>
            <a:endParaRPr sz="2200" b="1">
              <a:solidFill>
                <a:srgbClr val="0F233D"/>
              </a:solidFill>
              <a:latin typeface="Arial"/>
              <a:cs typeface="Arial"/>
            </a:endParaRPr>
          </a:p>
        </p:txBody>
      </p:sp>
      <p:sp>
        <p:nvSpPr>
          <p:cNvPr id="3" name="TextBox 2">
            <a:extLst>
              <a:ext uri="{FF2B5EF4-FFF2-40B4-BE49-F238E27FC236}">
                <a16:creationId xmlns:a16="http://schemas.microsoft.com/office/drawing/2014/main" id="{A71DAF7A-FC33-4250-B132-374EDD7426B1}"/>
              </a:ext>
            </a:extLst>
          </p:cNvPr>
          <p:cNvSpPr>
            <a:spLocks noGrp="1"/>
          </p:cNvSpPr>
          <p:nvPr/>
        </p:nvSpPr>
        <p:spPr>
          <a:xfrm>
            <a:off x="548640" y="1067878"/>
            <a:ext cx="10927080" cy="486287"/>
          </a:xfrm>
          <a:prstGeom prst="rect">
            <a:avLst/>
          </a:prstGeom>
          <a:noFill/>
        </p:spPr>
        <p:txBody>
          <a:bodyPr wrap="square" lIns="27432" tIns="27432" rIns="27432" bIns="27432" anchor="t">
            <a:spAutoFit/>
          </a:bodyPr>
          <a:lstStyle/>
          <a:p>
            <a:r>
              <a:rPr lang="en-US" sz="1400" b="1">
                <a:latin typeface="Arial"/>
                <a:cs typeface="Arial"/>
              </a:rPr>
              <a:t>GABARAPL2, ATG101, and ATP6AP2 were identified independently of LAMTOR5. Their functions and network connections support a broader relationship among lysosome function, autophagy, and mitochondria.</a:t>
            </a:r>
            <a:endParaRPr sz="1400" b="1">
              <a:latin typeface="Arial"/>
              <a:cs typeface="Arial"/>
            </a:endParaRPr>
          </a:p>
        </p:txBody>
      </p:sp>
      <p:sp>
        <p:nvSpPr>
          <p:cNvPr id="4" name="Rounded Rectangle 3">
            <a:extLst>
              <a:ext uri="{FF2B5EF4-FFF2-40B4-BE49-F238E27FC236}">
                <a16:creationId xmlns:a16="http://schemas.microsoft.com/office/drawing/2014/main" id="{F91FC570-216D-46E9-ABB2-8246A7DAD243}"/>
              </a:ext>
            </a:extLst>
          </p:cNvPr>
          <p:cNvSpPr>
            <a:spLocks noGrp="1"/>
          </p:cNvSpPr>
          <p:nvPr/>
        </p:nvSpPr>
        <p:spPr>
          <a:xfrm>
            <a:off x="658368" y="1686443"/>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04346BE-47C9-4272-9553-138E219F50AC}"/>
              </a:ext>
            </a:extLst>
          </p:cNvPr>
          <p:cNvSpPr>
            <a:spLocks noGrp="1"/>
          </p:cNvSpPr>
          <p:nvPr/>
        </p:nvSpPr>
        <p:spPr>
          <a:xfrm>
            <a:off x="932688" y="1979051"/>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684D"/>
                </a:solidFill>
                <a:latin typeface="Arial"/>
                <a:ea typeface="Arial"/>
                <a:cs typeface="Arial"/>
              </a:rPr>
              <a:t>GABARAPL2</a:t>
            </a:r>
          </a:p>
        </p:txBody>
      </p:sp>
      <p:sp>
        <p:nvSpPr>
          <p:cNvPr id="6" name="TextBox 5">
            <a:extLst>
              <a:ext uri="{FF2B5EF4-FFF2-40B4-BE49-F238E27FC236}">
                <a16:creationId xmlns:a16="http://schemas.microsoft.com/office/drawing/2014/main" id="{C339804A-F7E7-417C-A6F8-D9252341FD0F}"/>
              </a:ext>
            </a:extLst>
          </p:cNvPr>
          <p:cNvSpPr>
            <a:spLocks noGrp="1"/>
          </p:cNvSpPr>
          <p:nvPr/>
        </p:nvSpPr>
        <p:spPr>
          <a:xfrm>
            <a:off x="932688" y="2436251"/>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13 KDA calls, five categories</a:t>
            </a:r>
          </a:p>
        </p:txBody>
      </p:sp>
      <p:sp>
        <p:nvSpPr>
          <p:cNvPr id="7" name="TextBox 6">
            <a:extLst>
              <a:ext uri="{FF2B5EF4-FFF2-40B4-BE49-F238E27FC236}">
                <a16:creationId xmlns:a16="http://schemas.microsoft.com/office/drawing/2014/main" id="{13A0E292-077A-4A48-9860-B08FEBDADA7B}"/>
              </a:ext>
            </a:extLst>
          </p:cNvPr>
          <p:cNvSpPr>
            <a:spLocks noGrp="1"/>
          </p:cNvSpPr>
          <p:nvPr/>
        </p:nvSpPr>
        <p:spPr>
          <a:xfrm>
            <a:off x="969264" y="3442091"/>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Genes connected to GABARAPL2 include CHCHD2, ATP5MC3, PARK7, and mitochondrial-ribosome genes.</a:t>
            </a:r>
          </a:p>
        </p:txBody>
      </p:sp>
      <p:sp>
        <p:nvSpPr>
          <p:cNvPr id="8" name="Rounded Rectangle 7">
            <a:extLst>
              <a:ext uri="{FF2B5EF4-FFF2-40B4-BE49-F238E27FC236}">
                <a16:creationId xmlns:a16="http://schemas.microsoft.com/office/drawing/2014/main" id="{A47BA0A2-94C9-4B9E-A118-40501FBFCE1A}"/>
              </a:ext>
            </a:extLst>
          </p:cNvPr>
          <p:cNvSpPr>
            <a:spLocks noGrp="1"/>
          </p:cNvSpPr>
          <p:nvPr/>
        </p:nvSpPr>
        <p:spPr>
          <a:xfrm>
            <a:off x="4453128" y="1686443"/>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DCBA099-7F42-4EA1-89A4-B7C1D4ED97FE}"/>
              </a:ext>
            </a:extLst>
          </p:cNvPr>
          <p:cNvSpPr>
            <a:spLocks noGrp="1"/>
          </p:cNvSpPr>
          <p:nvPr/>
        </p:nvSpPr>
        <p:spPr>
          <a:xfrm>
            <a:off x="4727448" y="1979051"/>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72B2"/>
                </a:solidFill>
                <a:latin typeface="Arial"/>
                <a:ea typeface="Arial"/>
                <a:cs typeface="Arial"/>
              </a:rPr>
              <a:t>ATG101</a:t>
            </a:r>
          </a:p>
        </p:txBody>
      </p:sp>
      <p:sp>
        <p:nvSpPr>
          <p:cNvPr id="10" name="TextBox 9">
            <a:extLst>
              <a:ext uri="{FF2B5EF4-FFF2-40B4-BE49-F238E27FC236}">
                <a16:creationId xmlns:a16="http://schemas.microsoft.com/office/drawing/2014/main" id="{258D499A-CA8E-414D-AE1A-38C1AB43F0CC}"/>
              </a:ext>
            </a:extLst>
          </p:cNvPr>
          <p:cNvSpPr>
            <a:spLocks noGrp="1"/>
          </p:cNvSpPr>
          <p:nvPr/>
        </p:nvSpPr>
        <p:spPr>
          <a:xfrm>
            <a:off x="4727448" y="2436251"/>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Six KDA calls, three categories</a:t>
            </a:r>
          </a:p>
        </p:txBody>
      </p:sp>
      <p:sp>
        <p:nvSpPr>
          <p:cNvPr id="11" name="TextBox 10">
            <a:extLst>
              <a:ext uri="{FF2B5EF4-FFF2-40B4-BE49-F238E27FC236}">
                <a16:creationId xmlns:a16="http://schemas.microsoft.com/office/drawing/2014/main" id="{4E00DD08-A1BA-4244-AA29-9792AE047B26}"/>
              </a:ext>
            </a:extLst>
          </p:cNvPr>
          <p:cNvSpPr>
            <a:spLocks noGrp="1"/>
          </p:cNvSpPr>
          <p:nvPr/>
        </p:nvSpPr>
        <p:spPr>
          <a:xfrm>
            <a:off x="4764024" y="3442091"/>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Genes connected to ATG101 include MRPS34, UQCRFS1, CLPP, and PINK1.</a:t>
            </a:r>
          </a:p>
        </p:txBody>
      </p:sp>
      <p:sp>
        <p:nvSpPr>
          <p:cNvPr id="12" name="Rounded Rectangle 11">
            <a:extLst>
              <a:ext uri="{FF2B5EF4-FFF2-40B4-BE49-F238E27FC236}">
                <a16:creationId xmlns:a16="http://schemas.microsoft.com/office/drawing/2014/main" id="{487A7ABE-01C7-4C69-94D7-AC83C0C40D13}"/>
              </a:ext>
            </a:extLst>
          </p:cNvPr>
          <p:cNvSpPr>
            <a:spLocks noGrp="1"/>
          </p:cNvSpPr>
          <p:nvPr/>
        </p:nvSpPr>
        <p:spPr>
          <a:xfrm>
            <a:off x="8247888" y="1686443"/>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9DA3052-4ECB-4DE7-A611-F1AAF9A03EA7}"/>
              </a:ext>
            </a:extLst>
          </p:cNvPr>
          <p:cNvSpPr>
            <a:spLocks noGrp="1"/>
          </p:cNvSpPr>
          <p:nvPr/>
        </p:nvSpPr>
        <p:spPr>
          <a:xfrm>
            <a:off x="8522208" y="1979051"/>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895600"/>
                </a:solidFill>
                <a:latin typeface="Arial"/>
                <a:ea typeface="Arial"/>
                <a:cs typeface="Arial"/>
              </a:rPr>
              <a:t>ATP6AP2</a:t>
            </a:r>
          </a:p>
        </p:txBody>
      </p:sp>
      <p:sp>
        <p:nvSpPr>
          <p:cNvPr id="14" name="TextBox 13">
            <a:extLst>
              <a:ext uri="{FF2B5EF4-FFF2-40B4-BE49-F238E27FC236}">
                <a16:creationId xmlns:a16="http://schemas.microsoft.com/office/drawing/2014/main" id="{4F6181FC-CA8D-4CD6-8320-59C7AC43DFEC}"/>
              </a:ext>
            </a:extLst>
          </p:cNvPr>
          <p:cNvSpPr>
            <a:spLocks noGrp="1"/>
          </p:cNvSpPr>
          <p:nvPr/>
        </p:nvSpPr>
        <p:spPr>
          <a:xfrm>
            <a:off x="8522208" y="2436251"/>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Six KDA calls, three categories</a:t>
            </a:r>
          </a:p>
        </p:txBody>
      </p:sp>
      <p:sp>
        <p:nvSpPr>
          <p:cNvPr id="15" name="TextBox 14">
            <a:extLst>
              <a:ext uri="{FF2B5EF4-FFF2-40B4-BE49-F238E27FC236}">
                <a16:creationId xmlns:a16="http://schemas.microsoft.com/office/drawing/2014/main" id="{882217B3-ECB9-4298-8BF8-98AA9655911E}"/>
              </a:ext>
            </a:extLst>
          </p:cNvPr>
          <p:cNvSpPr>
            <a:spLocks noGrp="1"/>
          </p:cNvSpPr>
          <p:nvPr/>
        </p:nvSpPr>
        <p:spPr>
          <a:xfrm>
            <a:off x="8558784" y="3442091"/>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ATP6AP2 connects lysosomal acidification through the V-ATPase with OXPHOS and mitochondrial protein import.</a:t>
            </a:r>
          </a:p>
        </p:txBody>
      </p:sp>
      <p:sp>
        <p:nvSpPr>
          <p:cNvPr id="16" name="Rounded Rectangle 15">
            <a:extLst>
              <a:ext uri="{FF2B5EF4-FFF2-40B4-BE49-F238E27FC236}">
                <a16:creationId xmlns:a16="http://schemas.microsoft.com/office/drawing/2014/main" id="{113A5B04-46B9-4535-9497-5F32F45F75A4}"/>
              </a:ext>
            </a:extLst>
          </p:cNvPr>
          <p:cNvSpPr>
            <a:spLocks noGrp="1"/>
          </p:cNvSpPr>
          <p:nvPr/>
        </p:nvSpPr>
        <p:spPr>
          <a:xfrm>
            <a:off x="658368" y="6020699"/>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99DDA78-675A-4FF5-AD9C-85182EE852C9}"/>
              </a:ext>
            </a:extLst>
          </p:cNvPr>
          <p:cNvSpPr>
            <a:spLocks noGrp="1"/>
          </p:cNvSpPr>
          <p:nvPr/>
        </p:nvSpPr>
        <p:spPr>
          <a:xfrm>
            <a:off x="896112" y="6148715"/>
            <a:ext cx="10405872" cy="27432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30" b="1" i="0">
                <a:solidFill>
                  <a:srgbClr val="7E4C9A"/>
                </a:solidFill>
                <a:latin typeface="Arial"/>
                <a:ea typeface="Arial"/>
                <a:cs typeface="Arial"/>
              </a:rPr>
              <a:t>SEA-AD had no KDA call for the same sex/APOE and cell categories, so it could not test this result directly.</a:t>
            </a:r>
          </a:p>
        </p:txBody>
      </p:sp>
    </p:spTree>
    <p:extLst>
      <p:ext uri="{BB962C8B-B14F-4D97-AF65-F5344CB8AC3E}">
        <p14:creationId val="1222871662"/>
      </p:ext>
    </p:extLst>
  </p:cSld>
  <p:clrMapOvr>
    <a:masterClrMapping/>
  </p:clrMapOvr>
  <p:transition/>
  <p:timing/>
</p:sld>
</file>

<file path=ppt/slides/slide10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C5808FA7-0724-4CE1-A90E-0D6AC164396B}"/>
              </a:ext>
            </a:extLst>
          </p:cNvPr>
          <p:cNvSpPr>
            <a:spLocks noGrp="1"/>
          </p:cNvSpPr>
          <p:nvPr/>
        </p:nvSpPr>
        <p:spPr>
          <a:xfrm>
            <a:off x="530352" y="292608"/>
            <a:ext cx="11064240" cy="66446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000" b="1" i="0">
                <a:solidFill>
                  <a:srgbClr val="0F233D"/>
                </a:solidFill>
                <a:latin typeface="Arial"/>
                <a:ea typeface="Arial"/>
                <a:cs typeface="Arial"/>
              </a:rPr>
              <a:t>Why this matters: nutrient sensing can coordinate protein production and mitochondrial respiration</a:t>
            </a:r>
          </a:p>
        </p:txBody>
      </p:sp>
      <p:sp>
        <p:nvSpPr>
          <p:cNvPr id="3" name="TextBox 2">
            <a:extLst>
              <a:ext uri="{FF2B5EF4-FFF2-40B4-BE49-F238E27FC236}">
                <a16:creationId xmlns:a16="http://schemas.microsoft.com/office/drawing/2014/main" id="{25715E06-95E2-4FAF-8B17-707536FE4336}"/>
              </a:ext>
            </a:extLst>
          </p:cNvPr>
          <p:cNvSpPr>
            <a:spLocks noGrp="1"/>
          </p:cNvSpPr>
          <p:nvPr/>
        </p:nvSpPr>
        <p:spPr>
          <a:xfrm>
            <a:off x="548640" y="969264"/>
            <a:ext cx="10927080" cy="270843"/>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00" b="1" i="0">
                <a:latin typeface="Arial"/>
                <a:ea typeface="Arial"/>
                <a:cs typeface="Arial"/>
              </a:rPr>
              <a:t>LAMTOR5 is positioned between lysosomes, mTORC1, and mitochondria, which is consistent with known biology.</a:t>
            </a:r>
          </a:p>
        </p:txBody>
      </p:sp>
      <p:sp>
        <p:nvSpPr>
          <p:cNvPr id="4" name="Rounded Rectangle 3">
            <a:extLst>
              <a:ext uri="{FF2B5EF4-FFF2-40B4-BE49-F238E27FC236}">
                <a16:creationId xmlns:a16="http://schemas.microsoft.com/office/drawing/2014/main" id="{344EE80B-4EFE-4C99-9B5B-6104A03D109A}"/>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2A3DC2D-52FA-4702-BC18-C9DBD83C75D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72B2"/>
                </a:solidFill>
                <a:latin typeface="Arial"/>
                <a:ea typeface="Arial"/>
                <a:cs typeface="Arial"/>
              </a:rPr>
              <a:t>NUTRIENT SIGNAL</a:t>
            </a:r>
          </a:p>
        </p:txBody>
      </p:sp>
      <p:sp>
        <p:nvSpPr>
          <p:cNvPr id="6" name="TextBox 5">
            <a:extLst>
              <a:ext uri="{FF2B5EF4-FFF2-40B4-BE49-F238E27FC236}">
                <a16:creationId xmlns:a16="http://schemas.microsoft.com/office/drawing/2014/main" id="{18FCC223-B68E-4B86-A617-35B83FDA7D0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Amino acids activate mTORC1</a:t>
            </a:r>
          </a:p>
        </p:txBody>
      </p:sp>
      <p:sp>
        <p:nvSpPr>
          <p:cNvPr id="7" name="TextBox 6">
            <a:extLst>
              <a:ext uri="{FF2B5EF4-FFF2-40B4-BE49-F238E27FC236}">
                <a16:creationId xmlns:a16="http://schemas.microsoft.com/office/drawing/2014/main" id="{22BF6CE5-05B5-43E1-B59E-E5BB6506147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The Ragulator protein complex helps position nutrient signals at the lysosome.</a:t>
            </a:r>
          </a:p>
        </p:txBody>
      </p:sp>
      <p:sp>
        <p:nvSpPr>
          <p:cNvPr id="8" name="Rounded Rectangle 7">
            <a:extLst>
              <a:ext uri="{FF2B5EF4-FFF2-40B4-BE49-F238E27FC236}">
                <a16:creationId xmlns:a16="http://schemas.microsoft.com/office/drawing/2014/main" id="{31398985-4842-402E-A559-42903A21FA1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8A77284-753F-40D9-9781-52777D83B6E5}"/>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684D"/>
                </a:solidFill>
                <a:latin typeface="Arial"/>
                <a:ea typeface="Arial"/>
                <a:cs typeface="Arial"/>
              </a:rPr>
              <a:t>CELLULAR RESPONSE</a:t>
            </a:r>
          </a:p>
        </p:txBody>
      </p:sp>
      <p:sp>
        <p:nvSpPr>
          <p:cNvPr id="10" name="TextBox 9">
            <a:extLst>
              <a:ext uri="{FF2B5EF4-FFF2-40B4-BE49-F238E27FC236}">
                <a16:creationId xmlns:a16="http://schemas.microsoft.com/office/drawing/2014/main" id="{89814C3A-1FE9-4A28-B230-438E76E7E5E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mTORC1 adjusts protein production</a:t>
            </a:r>
          </a:p>
        </p:txBody>
      </p:sp>
      <p:sp>
        <p:nvSpPr>
          <p:cNvPr id="11" name="TextBox 10">
            <a:extLst>
              <a:ext uri="{FF2B5EF4-FFF2-40B4-BE49-F238E27FC236}">
                <a16:creationId xmlns:a16="http://schemas.microsoft.com/office/drawing/2014/main" id="{2AF010EB-1765-46EE-8869-44E43F0973E5}"/>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mTORC1 can change the production of nuclear-encoded mitochondrial proteins and the cell’s capacity for respiration.</a:t>
            </a:r>
          </a:p>
        </p:txBody>
      </p:sp>
      <p:sp>
        <p:nvSpPr>
          <p:cNvPr id="12" name="Rounded Rectangle 11">
            <a:extLst>
              <a:ext uri="{FF2B5EF4-FFF2-40B4-BE49-F238E27FC236}">
                <a16:creationId xmlns:a16="http://schemas.microsoft.com/office/drawing/2014/main" id="{1BB90CF3-8865-47A4-A44A-C8B564622900}"/>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9CF768-5BAF-4664-B9DE-9FE3C3FE6F6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895600"/>
                </a:solidFill>
                <a:latin typeface="Arial"/>
                <a:ea typeface="Arial"/>
                <a:cs typeface="Arial"/>
              </a:rPr>
              <a:t>AD RELEVANCE</a:t>
            </a:r>
          </a:p>
        </p:txBody>
      </p:sp>
      <p:sp>
        <p:nvSpPr>
          <p:cNvPr id="14" name="TextBox 13">
            <a:extLst>
              <a:ext uri="{FF2B5EF4-FFF2-40B4-BE49-F238E27FC236}">
                <a16:creationId xmlns:a16="http://schemas.microsoft.com/office/drawing/2014/main" id="{CCF3F909-BF96-4102-9FDD-9FA219E51F4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Amyloid-β can disrupt this communication</a:t>
            </a:r>
          </a:p>
        </p:txBody>
      </p:sp>
      <p:sp>
        <p:nvSpPr>
          <p:cNvPr id="15" name="TextBox 14">
            <a:extLst>
              <a:ext uri="{FF2B5EF4-FFF2-40B4-BE49-F238E27FC236}">
                <a16:creationId xmlns:a16="http://schemas.microsoft.com/office/drawing/2014/main" id="{FB7F615E-B862-4ECF-BABA-A02AFB8A887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Experimental work links disrupted communication between lysosomes and mitochondria in neurons with tau-related stress.</a:t>
            </a:r>
          </a:p>
        </p:txBody>
      </p:sp>
      <p:sp>
        <p:nvSpPr>
          <p:cNvPr id="16" name="Rounded Rectangle 15">
            <a:extLst>
              <a:ext uri="{FF2B5EF4-FFF2-40B4-BE49-F238E27FC236}">
                <a16:creationId xmlns:a16="http://schemas.microsoft.com/office/drawing/2014/main" id="{6B8A541C-CA1C-4F66-9B0F-F86F5507FF19}"/>
              </a:ext>
            </a:extLst>
          </p:cNvPr>
          <p:cNvSpPr>
            <a:spLocks noGrp="1"/>
          </p:cNvSpPr>
          <p:nvPr/>
        </p:nvSpPr>
        <p:spPr>
          <a:xfrm>
            <a:off x="658368" y="5760720"/>
            <a:ext cx="10881360" cy="80467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4DF2460-0AC6-49CF-9635-A1084195692B}"/>
              </a:ext>
            </a:extLst>
          </p:cNvPr>
          <p:cNvSpPr>
            <a:spLocks noGrp="1"/>
          </p:cNvSpPr>
          <p:nvPr/>
        </p:nvSpPr>
        <p:spPr>
          <a:xfrm>
            <a:off x="1317812" y="5861304"/>
            <a:ext cx="9792148" cy="60939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lang="en-US" sz="1200" b="1">
                <a:latin typeface="Arial" panose="020b0604020202020204" pitchFamily="34" charset="0"/>
                <a:cs typeface="Arial" panose="020b0604020202020204" pitchFamily="34" charset="0"/>
              </a:rPr>
              <a:t>Previous experiments show that LAMTOR5 participates in lysosomal nutrient sensing, making it reasonable to test whether changing LAMTOR5 alters OXPHOS gene expression and respiration. However, they have not shown that LAMTOR5 directly regulates the mitochondrial genes connected to it in our ROSMAP KDA results.</a:t>
            </a:r>
            <a:endParaRPr sz="1120" b="1" i="0">
              <a:latin typeface="Arial" panose="020b0604020202020204" pitchFamily="34" charset="0"/>
              <a:ea typeface="Arial"/>
              <a:cs typeface="Arial" panose="020b0604020202020204" pitchFamily="34" charset="0"/>
            </a:endParaRPr>
          </a:p>
        </p:txBody>
      </p:sp>
    </p:spTree>
    <p:extLst>
      <p:ext uri="{BB962C8B-B14F-4D97-AF65-F5344CB8AC3E}">
        <p14:creationId val="828377380"/>
      </p:ext>
    </p:extLst>
  </p:cSld>
  <p:clrMapOvr>
    <a:masterClrMapping/>
  </p:clrMapOvr>
  <p:transition/>
  <p:timing/>
</p:sld>
</file>

<file path=ppt/slides/slide10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AE0606DE-1031-4133-BC4E-9B718D40342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How prior research supports and limits Finding 8</a:t>
            </a:r>
          </a:p>
        </p:txBody>
      </p:sp>
      <p:sp>
        <p:nvSpPr>
          <p:cNvPr id="3" name="TextBox 2">
            <a:extLst>
              <a:ext uri="{FF2B5EF4-FFF2-40B4-BE49-F238E27FC236}">
                <a16:creationId xmlns:a16="http://schemas.microsoft.com/office/drawing/2014/main" id="{D620462D-1240-4841-B4E5-B075D059C38D}"/>
              </a:ext>
            </a:extLst>
          </p:cNvPr>
          <p:cNvSpPr>
            <a:spLocks noGrp="1"/>
          </p:cNvSpPr>
          <p:nvPr/>
        </p:nvSpPr>
        <p:spPr>
          <a:xfrm>
            <a:off x="548640" y="889364"/>
            <a:ext cx="10927080" cy="270843"/>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00" b="1" i="0">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97344BDF-884D-4191-A1AF-13033991DC8A}"/>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B16D4E4-0CAE-47DE-B06F-A9DA580B1E08}"/>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500" b="1" i="0">
                <a:solidFill>
                  <a:srgbClr val="0072B2"/>
                </a:solidFill>
                <a:latin typeface="Arial"/>
                <a:ea typeface="Arial"/>
                <a:cs typeface="Arial"/>
              </a:rPr>
              <a:t>Bar-Peled et al. 2012</a:t>
            </a:r>
          </a:p>
        </p:txBody>
      </p:sp>
      <p:sp>
        <p:nvSpPr>
          <p:cNvPr id="6" name="TextBox 5">
            <a:extLst>
              <a:ext uri="{FF2B5EF4-FFF2-40B4-BE49-F238E27FC236}">
                <a16:creationId xmlns:a16="http://schemas.microsoft.com/office/drawing/2014/main" id="{8678EFDD-D533-49C7-AAB3-34D93C4C237B}"/>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350" b="1" i="0">
                <a:solidFill>
                  <a:srgbClr val="0F233D"/>
                </a:solidFill>
                <a:latin typeface="Arial"/>
                <a:ea typeface="Arial"/>
                <a:cs typeface="Arial"/>
              </a:rPr>
              <a:t>LAMTOR5 and mTORC1 nutrient signaling</a:t>
            </a:r>
          </a:p>
        </p:txBody>
      </p:sp>
      <p:sp>
        <p:nvSpPr>
          <p:cNvPr id="7" name="TextBox 6">
            <a:extLst>
              <a:ext uri="{FF2B5EF4-FFF2-40B4-BE49-F238E27FC236}">
                <a16:creationId xmlns:a16="http://schemas.microsoft.com/office/drawing/2014/main" id="{D4232848-0C8E-4412-B915-836BBE7332E0}"/>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56CD44B-9F47-46B4-AD6B-1057CC4B5DD8}"/>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80" b="0" i="0">
                <a:solidFill>
                  <a:srgbClr val="1F2730"/>
                </a:solidFill>
                <a:latin typeface="Arial"/>
                <a:ea typeface="Arial"/>
                <a:cs typeface="Arial"/>
              </a:rPr>
              <a:t>Shows that LAMTOR5 helps sense amino acids at lysosomes.</a:t>
            </a:r>
          </a:p>
        </p:txBody>
      </p:sp>
      <p:sp>
        <p:nvSpPr>
          <p:cNvPr id="9" name="TextBox 8">
            <a:extLst>
              <a:ext uri="{FF2B5EF4-FFF2-40B4-BE49-F238E27FC236}">
                <a16:creationId xmlns:a16="http://schemas.microsoft.com/office/drawing/2014/main" id="{9A995592-C07A-483B-AF82-A7E0605F5BF0}"/>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77CE5BE1-FF84-4909-8C9B-F14CAE8773E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60" b="0" i="0">
                <a:solidFill>
                  <a:srgbClr val="4E5A68"/>
                </a:solidFill>
                <a:latin typeface="Arial"/>
                <a:ea typeface="Arial"/>
                <a:cs typeface="Arial"/>
              </a:rPr>
              <a:t>Does not test Alzheimer’s neurons or connections to OXPHOS genes.</a:t>
            </a:r>
          </a:p>
        </p:txBody>
      </p:sp>
      <p:sp>
        <p:nvSpPr>
          <p:cNvPr id="11" name="Rounded Rectangle 10">
            <a:extLst>
              <a:ext uri="{FF2B5EF4-FFF2-40B4-BE49-F238E27FC236}">
                <a16:creationId xmlns:a16="http://schemas.microsoft.com/office/drawing/2014/main" id="{FA0293C0-6906-4FE3-884E-8C0ACB608591}"/>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D30869E2-CDF6-48FF-9F14-65C2C6F177AC}"/>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500" b="1" i="0">
                <a:solidFill>
                  <a:srgbClr val="00684D"/>
                </a:solidFill>
                <a:latin typeface="Arial"/>
                <a:ea typeface="Arial"/>
                <a:cs typeface="Arial"/>
              </a:rPr>
              <a:t>Morita et al. 2013</a:t>
            </a:r>
          </a:p>
        </p:txBody>
      </p:sp>
      <p:sp>
        <p:nvSpPr>
          <p:cNvPr id="13" name="TextBox 12">
            <a:extLst>
              <a:ext uri="{FF2B5EF4-FFF2-40B4-BE49-F238E27FC236}">
                <a16:creationId xmlns:a16="http://schemas.microsoft.com/office/drawing/2014/main" id="{E0ADE300-B1CD-44F4-9F95-83E47F9E7C25}"/>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350" b="1" i="0">
                <a:solidFill>
                  <a:srgbClr val="0F233D"/>
                </a:solidFill>
                <a:latin typeface="Arial"/>
                <a:ea typeface="Arial"/>
                <a:cs typeface="Arial"/>
              </a:rPr>
              <a:t>mTORC1 and mitochondria</a:t>
            </a:r>
          </a:p>
        </p:txBody>
      </p:sp>
      <p:sp>
        <p:nvSpPr>
          <p:cNvPr id="14" name="TextBox 13">
            <a:extLst>
              <a:ext uri="{FF2B5EF4-FFF2-40B4-BE49-F238E27FC236}">
                <a16:creationId xmlns:a16="http://schemas.microsoft.com/office/drawing/2014/main" id="{52EBF4CC-FDD5-4062-BB1B-5ABE8CD31826}"/>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C86DF77A-F54C-43D3-BE1B-B6C80E9FBBCD}"/>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80" b="0" i="0">
                <a:solidFill>
                  <a:srgbClr val="1F2730"/>
                </a:solidFill>
                <a:latin typeface="Arial"/>
                <a:ea typeface="Arial"/>
                <a:cs typeface="Arial"/>
              </a:rPr>
              <a:t>Links mTORC1 with mitochondrial protein production and capacity for respiration.</a:t>
            </a:r>
          </a:p>
        </p:txBody>
      </p:sp>
      <p:sp>
        <p:nvSpPr>
          <p:cNvPr id="16" name="TextBox 15">
            <a:extLst>
              <a:ext uri="{FF2B5EF4-FFF2-40B4-BE49-F238E27FC236}">
                <a16:creationId xmlns:a16="http://schemas.microsoft.com/office/drawing/2014/main" id="{FF113B61-5D92-4ECE-AFCA-E9B61834C2B7}"/>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0ECC58D-3CF0-461A-94CC-2874B851EE9A}"/>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60" b="0" i="0">
                <a:solidFill>
                  <a:srgbClr val="4E5A68"/>
                </a:solidFill>
                <a:latin typeface="Arial"/>
                <a:ea typeface="Arial"/>
                <a:cs typeface="Arial"/>
              </a:rPr>
              <a:t>Does not show that LAMTOR5 causes the relationship observed here.</a:t>
            </a:r>
          </a:p>
        </p:txBody>
      </p:sp>
      <p:sp>
        <p:nvSpPr>
          <p:cNvPr id="18" name="Rounded Rectangle 17">
            <a:extLst>
              <a:ext uri="{FF2B5EF4-FFF2-40B4-BE49-F238E27FC236}">
                <a16:creationId xmlns:a16="http://schemas.microsoft.com/office/drawing/2014/main" id="{E99D3638-F002-4BE6-B773-53917FDD777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2FCB6618-8E29-4F15-8133-79011DE5CBF3}"/>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500" b="1" i="0">
                <a:solidFill>
                  <a:srgbClr val="895600"/>
                </a:solidFill>
                <a:latin typeface="Arial"/>
                <a:ea typeface="Arial"/>
                <a:cs typeface="Arial"/>
              </a:rPr>
              <a:t>Norambuena et al. 2018</a:t>
            </a:r>
          </a:p>
        </p:txBody>
      </p:sp>
      <p:sp>
        <p:nvSpPr>
          <p:cNvPr id="20" name="TextBox 19">
            <a:extLst>
              <a:ext uri="{FF2B5EF4-FFF2-40B4-BE49-F238E27FC236}">
                <a16:creationId xmlns:a16="http://schemas.microsoft.com/office/drawing/2014/main" id="{AB0E36CC-A8B5-4F06-A941-F2B3BCD8CE11}"/>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350" b="1" i="0">
                <a:solidFill>
                  <a:srgbClr val="0F233D"/>
                </a:solidFill>
                <a:latin typeface="Arial"/>
                <a:ea typeface="Arial"/>
                <a:cs typeface="Arial"/>
              </a:rPr>
              <a:t>AD nutrient signaling</a:t>
            </a:r>
          </a:p>
        </p:txBody>
      </p:sp>
      <p:sp>
        <p:nvSpPr>
          <p:cNvPr id="21" name="TextBox 20">
            <a:extLst>
              <a:ext uri="{FF2B5EF4-FFF2-40B4-BE49-F238E27FC236}">
                <a16:creationId xmlns:a16="http://schemas.microsoft.com/office/drawing/2014/main" id="{250F9EFA-B34F-41A8-BB3B-4D0C5D0F340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670960B3-93A8-4E82-AF92-7C52E57B062B}"/>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80" b="0" i="0">
                <a:solidFill>
                  <a:srgbClr val="1F2730"/>
                </a:solidFill>
                <a:latin typeface="Arial"/>
                <a:ea typeface="Arial"/>
                <a:cs typeface="Arial"/>
              </a:rPr>
              <a:t>Shows that amyloid-β disrupts communication between lysosomes and mitochondria in neurons.</a:t>
            </a:r>
          </a:p>
        </p:txBody>
      </p:sp>
      <p:sp>
        <p:nvSpPr>
          <p:cNvPr id="23" name="TextBox 22">
            <a:extLst>
              <a:ext uri="{FF2B5EF4-FFF2-40B4-BE49-F238E27FC236}">
                <a16:creationId xmlns:a16="http://schemas.microsoft.com/office/drawing/2014/main" id="{F7D8AF45-F4FE-403E-AB41-485EDED38951}"/>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FE5E292C-94ED-43A9-9CD7-271A8618E93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60" b="0" i="0">
                <a:solidFill>
                  <a:srgbClr val="4E5A68"/>
                </a:solidFill>
                <a:latin typeface="Arial"/>
                <a:ea typeface="Arial"/>
                <a:cs typeface="Arial"/>
              </a:rPr>
              <a:t>LAMTOR5 was not manipulated in that study.</a:t>
            </a:r>
          </a:p>
        </p:txBody>
      </p:sp>
      <p:sp>
        <p:nvSpPr>
          <p:cNvPr id="25" name="Rounded Rectangle 24">
            <a:extLst>
              <a:ext uri="{FF2B5EF4-FFF2-40B4-BE49-F238E27FC236}">
                <a16:creationId xmlns:a16="http://schemas.microsoft.com/office/drawing/2014/main" id="{FD73361F-A8F3-4098-AD2F-28191F9609A9}"/>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6D6AA771-BFEA-4960-8190-3B8B934AD539}"/>
              </a:ext>
            </a:extLst>
          </p:cNvPr>
          <p:cNvSpPr>
            <a:spLocks noGrp="1"/>
          </p:cNvSpPr>
          <p:nvPr/>
        </p:nvSpPr>
        <p:spPr>
          <a:xfrm>
            <a:off x="896112" y="5952744"/>
            <a:ext cx="10405872" cy="221599"/>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80" b="1">
                <a:solidFill>
                  <a:srgbClr val="7E4C9A"/>
                </a:solidFill>
                <a:latin typeface="Arial"/>
                <a:ea typeface="Arial"/>
                <a:cs typeface="Arial"/>
              </a:rPr>
              <a:t>N</a:t>
            </a:r>
            <a:r>
              <a:rPr sz="1080" b="1" i="0">
                <a:solidFill>
                  <a:srgbClr val="7E4C9A"/>
                </a:solidFill>
                <a:latin typeface="Arial"/>
                <a:ea typeface="Arial"/>
                <a:cs typeface="Arial"/>
              </a:rPr>
              <a:t>ovelty: High</a:t>
            </a:r>
          </a:p>
        </p:txBody>
      </p:sp>
    </p:spTree>
    <p:extLst>
      <p:ext uri="{BB962C8B-B14F-4D97-AF65-F5344CB8AC3E}">
        <p14:creationId val="1798133656"/>
      </p:ext>
    </p:extLst>
  </p:cSld>
  <p:clrMapOvr>
    <a:masterClrMapping/>
  </p:clrMapOvr>
  <p:transition/>
  <p:timing/>
</p:sld>
</file>

<file path=ppt/slides/slide10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0F233D"/>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BA6DE2F4-C6B3-44D8-857B-952970A51AFF}"/>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050" b="1" i="0">
                <a:solidFill>
                  <a:srgbClr val="E69F00"/>
                </a:solidFill>
                <a:latin typeface="Arial"/>
                <a:ea typeface="Arial"/>
                <a:cs typeface="Arial"/>
              </a:rPr>
              <a:t>FINDING 9</a:t>
            </a:r>
          </a:p>
        </p:txBody>
      </p:sp>
      <p:sp>
        <p:nvSpPr>
          <p:cNvPr id="3" name="Rectangle 2">
            <a:extLst>
              <a:ext uri="{FF2B5EF4-FFF2-40B4-BE49-F238E27FC236}">
                <a16:creationId xmlns:a16="http://schemas.microsoft.com/office/drawing/2014/main" id="{F9261DC5-E2AF-4832-A098-ACAC8644BA4C}"/>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237819F4-9571-433D-85CD-29ECE42A4D16}"/>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2200" b="1" i="0">
                <a:solidFill>
                  <a:srgbClr val="FFFFFF"/>
                </a:solidFill>
                <a:latin typeface="Arial"/>
                <a:ea typeface="Arial"/>
                <a:cs typeface="Arial"/>
              </a:rPr>
              <a:t>WDR82 is linked to a small group of upregulated core MT genes in excitatory neurons</a:t>
            </a:r>
          </a:p>
        </p:txBody>
      </p:sp>
      <p:sp>
        <p:nvSpPr>
          <p:cNvPr id="5" name="TextBox 4">
            <a:extLst>
              <a:ext uri="{FF2B5EF4-FFF2-40B4-BE49-F238E27FC236}">
                <a16:creationId xmlns:a16="http://schemas.microsoft.com/office/drawing/2014/main" id="{E1C76D5E-5A45-4A22-B050-6AF0B40A6D0C}"/>
              </a:ext>
            </a:extLst>
          </p:cNvPr>
          <p:cNvSpPr>
            <a:spLocks noGrp="1"/>
          </p:cNvSpPr>
          <p:nvPr/>
        </p:nvSpPr>
        <p:spPr>
          <a:xfrm>
            <a:off x="1097280" y="2468880"/>
            <a:ext cx="7406640" cy="914400"/>
          </a:xfrm>
          <a:prstGeom prst="rect">
            <a:avLst/>
          </a:prstGeom>
          <a:noFill/>
        </p:spPr>
        <p:txBody>
          <a:bodyPr wrap="square" lIns="0" tIns="0" rIns="0" bIns="0" anchor="t">
            <a:normAutofit/>
          </a:bodyPr>
          <a:lstStyle/>
          <a:p>
            <a:pPr algn="l">
              <a:lnSpc>
                <a:spcPct val="100000"/>
              </a:lnSpc>
              <a:spcBef>
                <a:spcPct val="0"/>
              </a:spcBef>
              <a:spcAft>
                <a:spcPct val="0"/>
              </a:spcAft>
              <a:buNone/>
              <a:defRPr sz="1200" b="1">
                <a:solidFill>
                  <a:srgbClr val="E6A700"/>
                </a:solidFill>
                <a:latin typeface="Arial"/>
                <a:ea typeface="Arial"/>
                <a:cs typeface="Arial"/>
              </a:defRPr>
            </a:pPr>
            <a:r>
              <a:rPr sz="1200" b="1" i="0">
                <a:solidFill>
                  <a:srgbClr val="E6A700"/>
                </a:solidFill>
                <a:latin typeface="Arial"/>
                <a:ea typeface="Arial"/>
                <a:cs typeface="Arial"/>
              </a:rPr>
              <a:t>Observed in: female ε2, female ε3/ε3, male ε3/ε3, and male ε4</a:t>
            </a:r>
          </a:p>
        </p:txBody>
      </p:sp>
      <p:sp>
        <p:nvSpPr>
          <p:cNvPr id="6" name="Rounded Rectangle 5">
            <a:extLst>
              <a:ext uri="{FF2B5EF4-FFF2-40B4-BE49-F238E27FC236}">
                <a16:creationId xmlns:a16="http://schemas.microsoft.com/office/drawing/2014/main" id="{E01B366B-55F5-4EB3-BC06-3DAB98158FB0}"/>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41554B8-509E-4465-85E2-807035C36D08}"/>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B27ABC8F-91F5-4265-9920-8F5A6E88530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BE7B6EB-3F0A-4753-8783-5D19EA285717}"/>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8A0443E2-41E7-439E-BEEC-D287382D0614}"/>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05736036-4C6F-499A-8FAD-DD3C6BA3FCAC}"/>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BB60235-261F-4CCC-A521-22428F842443}"/>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45C7DE15-D12F-4F80-A19F-EEB5A98EB77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C2160E2-9246-454A-90A3-46E834C22C4E}"/>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05A7196A-6B65-4D83-893D-895BC44D309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86D1155-C7D0-4983-A64D-42A0F351DCC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AD283F2-C660-41EE-9766-307D2F38D656}"/>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1623316-45E1-477F-93B3-7B772E2E2C08}"/>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DD0F5029-7AE9-4DC6-A9DA-2A6ACE5F69A4}"/>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F029BB7B-150C-4C1D-AD53-95A2732CCCA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CF83B68-0D98-4486-8337-05D44ED914D4}"/>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20" b="1" i="0">
                <a:solidFill>
                  <a:srgbClr val="FFFFFF"/>
                </a:solidFill>
                <a:latin typeface="Arial"/>
                <a:ea typeface="Arial"/>
                <a:cs typeface="Arial"/>
              </a:rPr>
              <a:t>WDR82 appears only in excitatory neurons and is connected to four upregulated core MT genes.</a:t>
            </a:r>
          </a:p>
        </p:txBody>
      </p:sp>
    </p:spTree>
    <p:extLst>
      <p:ext uri="{BB962C8B-B14F-4D97-AF65-F5344CB8AC3E}">
        <p14:creationId val="1085807738"/>
      </p:ext>
    </p:extLst>
  </p:cSld>
  <p:clrMapOvr>
    <a:masterClrMapping/>
  </p:clrMapOvr>
  <p:transition/>
  <p:timing/>
</p:sld>
</file>

<file path=ppt/slides/slide10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72B6F843-65D3-4DC2-AECA-814829ECEEE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WDR82 sits near a focused core MT upregulation signal in excitatory neurons</a:t>
            </a:r>
          </a:p>
        </p:txBody>
      </p:sp>
      <p:sp>
        <p:nvSpPr>
          <p:cNvPr id="3" name="TextBox 2">
            <a:extLst>
              <a:ext uri="{FF2B5EF4-FFF2-40B4-BE49-F238E27FC236}">
                <a16:creationId xmlns:a16="http://schemas.microsoft.com/office/drawing/2014/main" id="{09CDB6A8-B057-4011-BD78-1953592D7AEF}"/>
              </a:ext>
            </a:extLst>
          </p:cNvPr>
          <p:cNvSpPr>
            <a:spLocks noGrp="1"/>
          </p:cNvSpPr>
          <p:nvPr/>
        </p:nvSpPr>
        <p:spPr>
          <a:xfrm>
            <a:off x="548640" y="880486"/>
            <a:ext cx="10927080" cy="270843"/>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00" b="1" i="0">
                <a:latin typeface="Arial"/>
                <a:ea typeface="Arial"/>
                <a:cs typeface="Arial"/>
              </a:rPr>
              <a:t>WDR82 is directly connected to only four recurring core MT genes, all produced from one long mitochondrial RNA.</a:t>
            </a:r>
          </a:p>
        </p:txBody>
      </p:sp>
      <p:sp>
        <p:nvSpPr>
          <p:cNvPr id="4" name="Rounded Rectangle 3">
            <a:extLst>
              <a:ext uri="{FF2B5EF4-FFF2-40B4-BE49-F238E27FC236}">
                <a16:creationId xmlns:a16="http://schemas.microsoft.com/office/drawing/2014/main" id="{47F264EC-8CC9-4984-AFD8-786596DC0677}"/>
              </a:ext>
            </a:extLst>
          </p:cNvPr>
          <p:cNvSpPr>
            <a:spLocks noGrp="1"/>
          </p:cNvSpPr>
          <p:nvPr/>
        </p:nvSpPr>
        <p:spPr>
          <a:xfrm>
            <a:off x="2037072"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0FFC7A2-A032-43D6-B811-027913372F87}"/>
              </a:ext>
            </a:extLst>
          </p:cNvPr>
          <p:cNvSpPr>
            <a:spLocks noGrp="1"/>
          </p:cNvSpPr>
          <p:nvPr/>
        </p:nvSpPr>
        <p:spPr>
          <a:xfrm>
            <a:off x="2128511" y="1399032"/>
            <a:ext cx="2359151"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40" b="1" i="0">
                <a:solidFill>
                  <a:srgbClr val="0072B2"/>
                </a:solidFill>
                <a:latin typeface="Arial"/>
                <a:ea typeface="Arial"/>
                <a:cs typeface="Arial"/>
              </a:rPr>
              <a:t>Excitatory only</a:t>
            </a:r>
          </a:p>
        </p:txBody>
      </p:sp>
      <p:sp>
        <p:nvSpPr>
          <p:cNvPr id="6" name="Rounded Rectangle 5">
            <a:extLst>
              <a:ext uri="{FF2B5EF4-FFF2-40B4-BE49-F238E27FC236}">
                <a16:creationId xmlns:a16="http://schemas.microsoft.com/office/drawing/2014/main" id="{FD23F777-13D8-4393-BF91-AC4CC27761EB}"/>
              </a:ext>
            </a:extLst>
          </p:cNvPr>
          <p:cNvSpPr>
            <a:spLocks noGrp="1"/>
          </p:cNvSpPr>
          <p:nvPr/>
        </p:nvSpPr>
        <p:spPr>
          <a:xfrm>
            <a:off x="4853424"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AE3EA2A-8F47-4B4F-8B65-9DAF2B0959BB}"/>
              </a:ext>
            </a:extLst>
          </p:cNvPr>
          <p:cNvSpPr>
            <a:spLocks noGrp="1"/>
          </p:cNvSpPr>
          <p:nvPr/>
        </p:nvSpPr>
        <p:spPr>
          <a:xfrm>
            <a:off x="4944864" y="1399032"/>
            <a:ext cx="2359151" cy="213360"/>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40" b="1" i="0">
                <a:solidFill>
                  <a:srgbClr val="00684D"/>
                </a:solidFill>
                <a:latin typeface="Arial"/>
                <a:ea typeface="Arial"/>
                <a:cs typeface="Arial"/>
              </a:rPr>
              <a:t>18 KDA calls</a:t>
            </a:r>
          </a:p>
        </p:txBody>
      </p:sp>
      <p:sp>
        <p:nvSpPr>
          <p:cNvPr id="8" name="Rounded Rectangle 7">
            <a:extLst>
              <a:ext uri="{FF2B5EF4-FFF2-40B4-BE49-F238E27FC236}">
                <a16:creationId xmlns:a16="http://schemas.microsoft.com/office/drawing/2014/main" id="{862B976E-1A09-4A7A-A113-9BB339C4F9F4}"/>
              </a:ext>
            </a:extLst>
          </p:cNvPr>
          <p:cNvSpPr>
            <a:spLocks noGrp="1"/>
          </p:cNvSpPr>
          <p:nvPr/>
        </p:nvSpPr>
        <p:spPr>
          <a:xfrm>
            <a:off x="7669776"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561A465-3D17-4C9A-840B-FCA69CC8FBA1}"/>
              </a:ext>
            </a:extLst>
          </p:cNvPr>
          <p:cNvSpPr>
            <a:spLocks noGrp="1"/>
          </p:cNvSpPr>
          <p:nvPr/>
        </p:nvSpPr>
        <p:spPr>
          <a:xfrm>
            <a:off x="7761216" y="1399032"/>
            <a:ext cx="2359151" cy="213360"/>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40" b="1" i="0">
                <a:solidFill>
                  <a:srgbClr val="895600"/>
                </a:solidFill>
                <a:latin typeface="Arial"/>
                <a:ea typeface="Arial"/>
                <a:cs typeface="Arial"/>
              </a:rPr>
              <a:t>Four core MT genes</a:t>
            </a:r>
          </a:p>
        </p:txBody>
      </p:sp>
      <p:sp>
        <p:nvSpPr>
          <p:cNvPr id="12" name="Rounded Rectangle 11">
            <a:extLst>
              <a:ext uri="{FF2B5EF4-FFF2-40B4-BE49-F238E27FC236}">
                <a16:creationId xmlns:a16="http://schemas.microsoft.com/office/drawing/2014/main" id="{60570FE2-97FF-4F30-BE56-76C7E595F286}"/>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0723DBB-7C4D-48A6-9FFF-3C2845BDC606}"/>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72B2"/>
                </a:solidFill>
                <a:latin typeface="Arial"/>
                <a:ea typeface="Arial"/>
                <a:cs typeface="Arial"/>
              </a:rPr>
              <a:t>WDR82</a:t>
            </a:r>
          </a:p>
        </p:txBody>
      </p:sp>
      <p:sp>
        <p:nvSpPr>
          <p:cNvPr id="14" name="TextBox 13">
            <a:extLst>
              <a:ext uri="{FF2B5EF4-FFF2-40B4-BE49-F238E27FC236}">
                <a16:creationId xmlns:a16="http://schemas.microsoft.com/office/drawing/2014/main" id="{401487DF-461F-4067-9C22-DAE704EBD00A}"/>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Gene involved in nuclear gene regulation</a:t>
            </a:r>
          </a:p>
        </p:txBody>
      </p:sp>
      <p:sp>
        <p:nvSpPr>
          <p:cNvPr id="15" name="TextBox 14">
            <a:extLst>
              <a:ext uri="{FF2B5EF4-FFF2-40B4-BE49-F238E27FC236}">
                <a16:creationId xmlns:a16="http://schemas.microsoft.com/office/drawing/2014/main" id="{A9817818-1B1F-47C2-92C0-B450F5FD7683}"/>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WDR82 helps regulate which nuclear genes are active; it is not part of the mitochondrial ribosome.</a:t>
            </a:r>
          </a:p>
        </p:txBody>
      </p:sp>
      <p:sp>
        <p:nvSpPr>
          <p:cNvPr id="16" name="Rounded Rectangle 15">
            <a:extLst>
              <a:ext uri="{FF2B5EF4-FFF2-40B4-BE49-F238E27FC236}">
                <a16:creationId xmlns:a16="http://schemas.microsoft.com/office/drawing/2014/main" id="{DD4B88B4-4666-43BD-89C6-D379BB4E8C12}"/>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6E28FC7-1275-4747-9941-6E647C2BD34C}"/>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684D"/>
                </a:solidFill>
                <a:latin typeface="Arial"/>
                <a:ea typeface="Arial"/>
                <a:cs typeface="Arial"/>
              </a:rPr>
              <a:t>GENES DIRECTLY CONNECTED TO WDR82</a:t>
            </a:r>
          </a:p>
        </p:txBody>
      </p:sp>
      <p:sp>
        <p:nvSpPr>
          <p:cNvPr id="18" name="TextBox 17">
            <a:extLst>
              <a:ext uri="{FF2B5EF4-FFF2-40B4-BE49-F238E27FC236}">
                <a16:creationId xmlns:a16="http://schemas.microsoft.com/office/drawing/2014/main" id="{DB27678E-ED00-49A1-A302-2F3ABEDE6D8D}"/>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MT-ND1, ND3, ND4L, ND5</a:t>
            </a:r>
          </a:p>
        </p:txBody>
      </p:sp>
      <p:sp>
        <p:nvSpPr>
          <p:cNvPr id="19" name="TextBox 18">
            <a:extLst>
              <a:ext uri="{FF2B5EF4-FFF2-40B4-BE49-F238E27FC236}">
                <a16:creationId xmlns:a16="http://schemas.microsoft.com/office/drawing/2014/main" id="{4A03DAC7-8CD7-4C42-80AC-4E41F060FADC}"/>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These four core MT genes account for nearly every direct mitochondrial connection to WDR82.</a:t>
            </a:r>
          </a:p>
        </p:txBody>
      </p:sp>
      <p:sp>
        <p:nvSpPr>
          <p:cNvPr id="20" name="Rounded Rectangle 19">
            <a:extLst>
              <a:ext uri="{FF2B5EF4-FFF2-40B4-BE49-F238E27FC236}">
                <a16:creationId xmlns:a16="http://schemas.microsoft.com/office/drawing/2014/main" id="{65594A46-3A96-418C-B524-C4840B8F104F}"/>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B9A2061-C4E3-492B-9B80-6A7A2140BCD0}"/>
              </a:ext>
            </a:extLst>
          </p:cNvPr>
          <p:cNvSpPr>
            <a:spLocks noGrp="1"/>
          </p:cNvSpPr>
          <p:nvPr/>
        </p:nvSpPr>
        <p:spPr>
          <a:xfrm>
            <a:off x="8522208" y="2267712"/>
            <a:ext cx="2907792" cy="34137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895600"/>
                </a:solidFill>
                <a:latin typeface="Arial"/>
                <a:ea typeface="Arial"/>
                <a:cs typeface="Arial"/>
              </a:rPr>
              <a:t>WHY THESE ARE NOT FOUR INDEPENDENT SIGNALS</a:t>
            </a:r>
          </a:p>
        </p:txBody>
      </p:sp>
      <p:sp>
        <p:nvSpPr>
          <p:cNvPr id="22" name="TextBox 21">
            <a:extLst>
              <a:ext uri="{FF2B5EF4-FFF2-40B4-BE49-F238E27FC236}">
                <a16:creationId xmlns:a16="http://schemas.microsoft.com/office/drawing/2014/main" id="{2BAAECB7-AA89-4F07-B1DD-11DB6DC05CFF}"/>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One long starting RNA</a:t>
            </a:r>
          </a:p>
        </p:txBody>
      </p:sp>
      <p:sp>
        <p:nvSpPr>
          <p:cNvPr id="23" name="TextBox 22">
            <a:extLst>
              <a:ext uri="{FF2B5EF4-FFF2-40B4-BE49-F238E27FC236}">
                <a16:creationId xmlns:a16="http://schemas.microsoft.com/office/drawing/2014/main" id="{D5FDC23C-31E2-4E5F-AC3E-A1891C015365}"/>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The mitochondrial heavy strand produces a long RNA that is later cut into gene products.</a:t>
            </a:r>
          </a:p>
        </p:txBody>
      </p:sp>
      <p:sp>
        <p:nvSpPr>
          <p:cNvPr id="24" name="Rounded Rectangle 23">
            <a:extLst>
              <a:ext uri="{FF2B5EF4-FFF2-40B4-BE49-F238E27FC236}">
                <a16:creationId xmlns:a16="http://schemas.microsoft.com/office/drawing/2014/main" id="{FDFF0E3F-E441-4EAB-9592-E47BE4B0D44B}"/>
              </a:ext>
            </a:extLst>
          </p:cNvPr>
          <p:cNvSpPr>
            <a:spLocks noGrp="1"/>
          </p:cNvSpPr>
          <p:nvPr/>
        </p:nvSpPr>
        <p:spPr>
          <a:xfrm>
            <a:off x="658368" y="6201743"/>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FC360B10-0AD0-4C46-86B9-F15B37E225D3}"/>
              </a:ext>
            </a:extLst>
          </p:cNvPr>
          <p:cNvSpPr>
            <a:spLocks noGrp="1"/>
          </p:cNvSpPr>
          <p:nvPr/>
        </p:nvSpPr>
        <p:spPr>
          <a:xfrm>
            <a:off x="896112" y="6329759"/>
            <a:ext cx="10405872" cy="237744"/>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40" b="1" i="0">
                <a:solidFill>
                  <a:srgbClr val="7E4C9A"/>
                </a:solidFill>
                <a:latin typeface="Arial"/>
                <a:ea typeface="Arial"/>
                <a:cs typeface="Arial"/>
              </a:rPr>
              <a:t>Four gene names do not provide four independent regulatory observations when they share one starting transcript.</a:t>
            </a:r>
          </a:p>
        </p:txBody>
      </p:sp>
    </p:spTree>
    <p:extLst>
      <p:ext uri="{BB962C8B-B14F-4D97-AF65-F5344CB8AC3E}">
        <p14:creationId val="1706994587"/>
      </p:ext>
    </p:extLst>
  </p:cSld>
  <p:clrMapOvr>
    <a:masterClrMapping/>
  </p:clrMapOvr>
  <p:transition/>
  <p:timing/>
</p:sld>
</file>

<file path=ppt/slides/slide10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D796B948-329C-415E-9CF6-26C4094BD2E5}"/>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ROSMAP: every WDR82 KDA input shows significant enrichment of upregulated core MT genes</a:t>
            </a:r>
          </a:p>
        </p:txBody>
      </p:sp>
      <p:sp>
        <p:nvSpPr>
          <p:cNvPr id="4" name="Rounded Rectangle 3">
            <a:extLst>
              <a:ext uri="{FF2B5EF4-FFF2-40B4-BE49-F238E27FC236}">
                <a16:creationId xmlns:a16="http://schemas.microsoft.com/office/drawing/2014/main" id="{8FD6FF4E-746E-45F3-A081-166CF533595B}"/>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51D04D5-6BCD-4354-B043-BCE629EE33C4}"/>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800" b="1" i="0">
                <a:solidFill>
                  <a:srgbClr val="0072B2"/>
                </a:solidFill>
                <a:latin typeface="Arial"/>
                <a:ea typeface="Arial"/>
                <a:cs typeface="Arial"/>
              </a:rPr>
              <a:t>18</a:t>
            </a:r>
          </a:p>
        </p:txBody>
      </p:sp>
      <p:sp>
        <p:nvSpPr>
          <p:cNvPr id="6" name="TextBox 5">
            <a:extLst>
              <a:ext uri="{FF2B5EF4-FFF2-40B4-BE49-F238E27FC236}">
                <a16:creationId xmlns:a16="http://schemas.microsoft.com/office/drawing/2014/main" id="{2236BBA9-91A7-40CE-A0BB-AEFC68CD8EEE}"/>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19" b="1" i="0">
                <a:solidFill>
                  <a:srgbClr val="0F233D"/>
                </a:solidFill>
                <a:latin typeface="Arial"/>
                <a:ea typeface="Arial"/>
                <a:cs typeface="Arial"/>
              </a:rPr>
              <a:t>supporting excitatory KDA calls</a:t>
            </a:r>
          </a:p>
        </p:txBody>
      </p:sp>
      <p:sp>
        <p:nvSpPr>
          <p:cNvPr id="7" name="TextBox 6">
            <a:extLst>
              <a:ext uri="{FF2B5EF4-FFF2-40B4-BE49-F238E27FC236}">
                <a16:creationId xmlns:a16="http://schemas.microsoft.com/office/drawing/2014/main" id="{D8B6C167-1229-499D-95C6-945479D9FC7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880" b="0" i="0">
                <a:solidFill>
                  <a:srgbClr val="4E5A68"/>
                </a:solidFill>
                <a:latin typeface="Arial"/>
                <a:ea typeface="Arial"/>
                <a:cs typeface="Arial"/>
              </a:rPr>
              <a:t>four sex/APOE groups</a:t>
            </a:r>
          </a:p>
        </p:txBody>
      </p:sp>
      <p:sp>
        <p:nvSpPr>
          <p:cNvPr id="8" name="Rounded Rectangle 7">
            <a:extLst>
              <a:ext uri="{FF2B5EF4-FFF2-40B4-BE49-F238E27FC236}">
                <a16:creationId xmlns:a16="http://schemas.microsoft.com/office/drawing/2014/main" id="{25DACDB5-BB63-416B-BC49-EB0D9D8FC7E4}"/>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1370508-08F2-441C-AE02-6B6D3B856F5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800" b="1" i="0">
                <a:solidFill>
                  <a:srgbClr val="00684D"/>
                </a:solidFill>
                <a:latin typeface="Arial"/>
                <a:ea typeface="Arial"/>
                <a:cs typeface="Arial"/>
              </a:rPr>
              <a:t>172</a:t>
            </a:r>
          </a:p>
        </p:txBody>
      </p:sp>
      <p:sp>
        <p:nvSpPr>
          <p:cNvPr id="10" name="TextBox 9">
            <a:extLst>
              <a:ext uri="{FF2B5EF4-FFF2-40B4-BE49-F238E27FC236}">
                <a16:creationId xmlns:a16="http://schemas.microsoft.com/office/drawing/2014/main" id="{14E6401D-BAFC-4A6C-A669-F6A94CFA353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19" b="1" i="0">
                <a:solidFill>
                  <a:srgbClr val="0F233D"/>
                </a:solidFill>
                <a:latin typeface="Arial"/>
                <a:ea typeface="Arial"/>
                <a:cs typeface="Arial"/>
              </a:rPr>
              <a:t>core MT gene occurrences</a:t>
            </a:r>
          </a:p>
        </p:txBody>
      </p:sp>
      <p:sp>
        <p:nvSpPr>
          <p:cNvPr id="11" name="TextBox 10">
            <a:extLst>
              <a:ext uri="{FF2B5EF4-FFF2-40B4-BE49-F238E27FC236}">
                <a16:creationId xmlns:a16="http://schemas.microsoft.com/office/drawing/2014/main" id="{4D9D31F6-550A-48F1-8FC4-D4EBEC8A003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880" b="0" i="0">
                <a:solidFill>
                  <a:srgbClr val="4E5A68"/>
                </a:solidFill>
                <a:latin typeface="Arial"/>
                <a:ea typeface="Arial"/>
                <a:cs typeface="Arial"/>
              </a:rPr>
              <a:t>all 172 AD-up</a:t>
            </a:r>
          </a:p>
        </p:txBody>
      </p:sp>
      <p:sp>
        <p:nvSpPr>
          <p:cNvPr id="12" name="Rounded Rectangle 11">
            <a:extLst>
              <a:ext uri="{FF2B5EF4-FFF2-40B4-BE49-F238E27FC236}">
                <a16:creationId xmlns:a16="http://schemas.microsoft.com/office/drawing/2014/main" id="{BDE3E703-E12A-4F9D-92C9-1E0ABF94737B}"/>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CB5A99A-1A79-4DBC-B388-2428F770EC65}"/>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800" b="1" i="0">
                <a:solidFill>
                  <a:srgbClr val="895600"/>
                </a:solidFill>
                <a:latin typeface="Arial"/>
                <a:ea typeface="Arial"/>
                <a:cs typeface="Arial"/>
              </a:rPr>
              <a:t>18/18</a:t>
            </a:r>
          </a:p>
        </p:txBody>
      </p:sp>
      <p:sp>
        <p:nvSpPr>
          <p:cNvPr id="14" name="TextBox 13">
            <a:extLst>
              <a:ext uri="{FF2B5EF4-FFF2-40B4-BE49-F238E27FC236}">
                <a16:creationId xmlns:a16="http://schemas.microsoft.com/office/drawing/2014/main" id="{86A07C68-3DBC-4C49-985D-4B0E890749E2}"/>
              </a:ext>
            </a:extLst>
          </p:cNvPr>
          <p:cNvSpPr>
            <a:spLocks noGrp="1"/>
          </p:cNvSpPr>
          <p:nvPr/>
        </p:nvSpPr>
        <p:spPr>
          <a:xfrm>
            <a:off x="8412480" y="1984248"/>
            <a:ext cx="3127248" cy="365455"/>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19" b="1" i="0">
                <a:solidFill>
                  <a:srgbClr val="0F233D"/>
                </a:solidFill>
                <a:latin typeface="Arial"/>
                <a:ea typeface="Arial"/>
                <a:cs typeface="Arial"/>
              </a:rPr>
              <a:t>input DEG sets with significant core MT enrichment</a:t>
            </a:r>
          </a:p>
        </p:txBody>
      </p:sp>
      <p:sp>
        <p:nvSpPr>
          <p:cNvPr id="15" name="TextBox 14">
            <a:extLst>
              <a:ext uri="{FF2B5EF4-FFF2-40B4-BE49-F238E27FC236}">
                <a16:creationId xmlns:a16="http://schemas.microsoft.com/office/drawing/2014/main" id="{177DB582-E05C-4993-A604-8C3A4861DC52}"/>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880" b="0" i="0">
                <a:solidFill>
                  <a:srgbClr val="4E5A68"/>
                </a:solidFill>
                <a:latin typeface="Arial"/>
                <a:ea typeface="Arial"/>
                <a:cs typeface="Arial"/>
              </a:rPr>
              <a:t>Core MT genes</a:t>
            </a:r>
          </a:p>
        </p:txBody>
      </p:sp>
      <p:sp>
        <p:nvSpPr>
          <p:cNvPr id="16" name="Rounded Rectangle 15">
            <a:extLst>
              <a:ext uri="{FF2B5EF4-FFF2-40B4-BE49-F238E27FC236}">
                <a16:creationId xmlns:a16="http://schemas.microsoft.com/office/drawing/2014/main" id="{64ADBA97-2591-4917-8655-CB19C351EE42}"/>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A577C3C-ABD3-4F70-B11B-19BCD15774DE}"/>
              </a:ext>
            </a:extLst>
          </p:cNvPr>
          <p:cNvSpPr>
            <a:spLocks noGrp="1"/>
          </p:cNvSpPr>
          <p:nvPr/>
        </p:nvSpPr>
        <p:spPr>
          <a:xfrm>
            <a:off x="987552" y="3090672"/>
            <a:ext cx="2331720" cy="45110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300" b="1" i="0">
                <a:solidFill>
                  <a:srgbClr val="0F233D"/>
                </a:solidFill>
                <a:latin typeface="Arial"/>
                <a:ea typeface="Arial"/>
                <a:cs typeface="Arial"/>
              </a:rPr>
              <a:t>Core MT genes directly connected to WDR82</a:t>
            </a:r>
          </a:p>
        </p:txBody>
      </p:sp>
      <p:sp>
        <p:nvSpPr>
          <p:cNvPr id="18" name="TextBox 17">
            <a:extLst>
              <a:ext uri="{FF2B5EF4-FFF2-40B4-BE49-F238E27FC236}">
                <a16:creationId xmlns:a16="http://schemas.microsoft.com/office/drawing/2014/main" id="{3D653BD3-3075-442E-9DC0-00010DD938FE}"/>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600" b="1" i="0">
                <a:solidFill>
                  <a:srgbClr val="00684D"/>
                </a:solidFill>
                <a:latin typeface="Arial"/>
                <a:ea typeface="Arial"/>
                <a:cs typeface="Arial"/>
              </a:rPr>
              <a:t>68 of 70</a:t>
            </a:r>
          </a:p>
        </p:txBody>
      </p:sp>
      <p:sp>
        <p:nvSpPr>
          <p:cNvPr id="19" name="TextBox 18">
            <a:extLst>
              <a:ext uri="{FF2B5EF4-FFF2-40B4-BE49-F238E27FC236}">
                <a16:creationId xmlns:a16="http://schemas.microsoft.com/office/drawing/2014/main" id="{A714C674-5A8A-4546-8B4C-250F4DFA3F91}"/>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150" b="0" i="0">
                <a:solidFill>
                  <a:srgbClr val="1F2730"/>
                </a:solidFill>
                <a:latin typeface="Arial"/>
                <a:ea typeface="Arial"/>
                <a:cs typeface="Arial"/>
              </a:rPr>
              <a:t>Occurrences are MT-ND1, MT-ND3, MT-ND4L, or MT-ND5</a:t>
            </a:r>
          </a:p>
        </p:txBody>
      </p:sp>
      <p:sp>
        <p:nvSpPr>
          <p:cNvPr id="20" name="Rounded Rectangle 19">
            <a:extLst>
              <a:ext uri="{FF2B5EF4-FFF2-40B4-BE49-F238E27FC236}">
                <a16:creationId xmlns:a16="http://schemas.microsoft.com/office/drawing/2014/main" id="{6E8E0C8C-7F4B-4E2C-9AC4-00B0E122210F}"/>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813D908-77AA-4EC2-8457-2F3AA27C7FE7}"/>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300" b="1" i="0">
                <a:solidFill>
                  <a:srgbClr val="0F233D"/>
                </a:solidFill>
                <a:latin typeface="Arial"/>
                <a:ea typeface="Arial"/>
                <a:cs typeface="Arial"/>
              </a:rPr>
              <a:t>Other directly connected gene</a:t>
            </a:r>
          </a:p>
        </p:txBody>
      </p:sp>
      <p:sp>
        <p:nvSpPr>
          <p:cNvPr id="22" name="TextBox 21">
            <a:extLst>
              <a:ext uri="{FF2B5EF4-FFF2-40B4-BE49-F238E27FC236}">
                <a16:creationId xmlns:a16="http://schemas.microsoft.com/office/drawing/2014/main" id="{9D28BF30-E253-4B89-A5E5-63303F7F09AD}"/>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600" b="1" i="0">
                <a:solidFill>
                  <a:srgbClr val="0072B2"/>
                </a:solidFill>
                <a:latin typeface="Arial"/>
                <a:ea typeface="Arial"/>
                <a:cs typeface="Arial"/>
              </a:rPr>
              <a:t>2 of 70</a:t>
            </a:r>
          </a:p>
        </p:txBody>
      </p:sp>
      <p:sp>
        <p:nvSpPr>
          <p:cNvPr id="23" name="TextBox 22">
            <a:extLst>
              <a:ext uri="{FF2B5EF4-FFF2-40B4-BE49-F238E27FC236}">
                <a16:creationId xmlns:a16="http://schemas.microsoft.com/office/drawing/2014/main" id="{B22B4619-F3BE-4FE8-B56E-A179B0E73336}"/>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150" b="0" i="0">
                <a:solidFill>
                  <a:srgbClr val="1F2730"/>
                </a:solidFill>
                <a:latin typeface="Arial"/>
                <a:ea typeface="Arial"/>
                <a:cs typeface="Arial"/>
              </a:rPr>
              <a:t>PIM1 is the only other directly connected gene</a:t>
            </a:r>
          </a:p>
        </p:txBody>
      </p:sp>
      <p:sp>
        <p:nvSpPr>
          <p:cNvPr id="24" name="Rounded Rectangle 23">
            <a:extLst>
              <a:ext uri="{FF2B5EF4-FFF2-40B4-BE49-F238E27FC236}">
                <a16:creationId xmlns:a16="http://schemas.microsoft.com/office/drawing/2014/main" id="{6DA145B3-3CC8-42EB-A1CB-383A6D840DC1}"/>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15BAB0A-9470-4A54-A38A-A18DAAE9A1A8}"/>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300" b="1" i="0">
                <a:solidFill>
                  <a:srgbClr val="0F233D"/>
                </a:solidFill>
                <a:latin typeface="Arial"/>
                <a:ea typeface="Arial"/>
                <a:cs typeface="Arial"/>
              </a:rPr>
              <a:t>WDR82 expression</a:t>
            </a:r>
          </a:p>
        </p:txBody>
      </p:sp>
      <p:sp>
        <p:nvSpPr>
          <p:cNvPr id="26" name="TextBox 25">
            <a:extLst>
              <a:ext uri="{FF2B5EF4-FFF2-40B4-BE49-F238E27FC236}">
                <a16:creationId xmlns:a16="http://schemas.microsoft.com/office/drawing/2014/main" id="{80C6E07F-2F04-4085-92BF-E42B8450CA75}"/>
              </a:ext>
            </a:extLst>
          </p:cNvPr>
          <p:cNvSpPr>
            <a:spLocks noGrp="1"/>
          </p:cNvSpPr>
          <p:nvPr/>
        </p:nvSpPr>
        <p:spPr>
          <a:xfrm>
            <a:off x="3419856" y="4965192"/>
            <a:ext cx="1975104" cy="786384"/>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600" b="1" i="0">
                <a:solidFill>
                  <a:srgbClr val="895600"/>
                </a:solidFill>
                <a:latin typeface="Arial"/>
                <a:ea typeface="Arial"/>
                <a:cs typeface="Arial"/>
              </a:rPr>
              <a:t>0 of 18 met DEG criteria</a:t>
            </a:r>
          </a:p>
        </p:txBody>
      </p:sp>
      <p:sp>
        <p:nvSpPr>
          <p:cNvPr id="27" name="TextBox 26">
            <a:extLst>
              <a:ext uri="{FF2B5EF4-FFF2-40B4-BE49-F238E27FC236}">
                <a16:creationId xmlns:a16="http://schemas.microsoft.com/office/drawing/2014/main" id="{D629ABC0-05A9-41EF-AD94-0E662EC14FA0}"/>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150" b="0" i="0">
                <a:solidFill>
                  <a:srgbClr val="1F2730"/>
                </a:solidFill>
                <a:latin typeface="Arial"/>
                <a:ea typeface="Arial"/>
                <a:cs typeface="Arial"/>
              </a:rPr>
              <a:t>Thirteen KDA calls had FDR below 0.05, but WDR82 expression changes were too small to meet the DEG effect-size cutoff</a:t>
            </a:r>
          </a:p>
        </p:txBody>
      </p:sp>
    </p:spTree>
    <p:extLst>
      <p:ext uri="{BB962C8B-B14F-4D97-AF65-F5344CB8AC3E}">
        <p14:creationId val="11946571"/>
      </p:ext>
    </p:extLst>
  </p:cSld>
  <p:clrMapOvr>
    <a:masterClrMapping/>
  </p:clrMapOvr>
  <p:transition/>
  <p:timing/>
</p:sld>
</file>

<file path=ppt/slides/slide11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ED3577BC-B712-49C5-8783-0ED5DDDA082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Most WDR82 KDA calls come from female ε3/ε3 excitatory neurons</a:t>
            </a:r>
          </a:p>
        </p:txBody>
      </p:sp>
      <p:sp>
        <p:nvSpPr>
          <p:cNvPr id="3" name="TextBox 2">
            <a:extLst>
              <a:ext uri="{FF2B5EF4-FFF2-40B4-BE49-F238E27FC236}">
                <a16:creationId xmlns:a16="http://schemas.microsoft.com/office/drawing/2014/main" id="{55BC1B4F-CAE8-42A2-8371-AE7622605D17}"/>
              </a:ext>
            </a:extLst>
          </p:cNvPr>
          <p:cNvSpPr>
            <a:spLocks noGrp="1"/>
          </p:cNvSpPr>
          <p:nvPr/>
        </p:nvSpPr>
        <p:spPr>
          <a:xfrm>
            <a:off x="548640" y="915997"/>
            <a:ext cx="10927080" cy="270843"/>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00" b="1" i="0">
                <a:latin typeface="Arial"/>
                <a:ea typeface="Arial"/>
                <a:cs typeface="Arial"/>
              </a:rPr>
              <a:t>WDR82 was returned in four sex/APOE groups, but most KDA calls come from </a:t>
            </a:r>
            <a:r>
              <a:rPr sz="1400" b="1" i="0">
                <a:solidFill>
                  <a:srgbClr val="FF0000"/>
                </a:solidFill>
                <a:latin typeface="Arial"/>
                <a:ea typeface="Arial"/>
                <a:cs typeface="Arial"/>
              </a:rPr>
              <a:t>female ε3/ε3</a:t>
            </a:r>
            <a:r>
              <a:rPr sz="1400" b="1" i="0">
                <a:latin typeface="Arial"/>
                <a:ea typeface="Arial"/>
                <a:cs typeface="Arial"/>
              </a:rPr>
              <a:t>.</a:t>
            </a:r>
          </a:p>
        </p:txBody>
      </p:sp>
      <p:sp>
        <p:nvSpPr>
          <p:cNvPr id="4" name="Rounded Rectangle 3">
            <a:extLst>
              <a:ext uri="{FF2B5EF4-FFF2-40B4-BE49-F238E27FC236}">
                <a16:creationId xmlns:a16="http://schemas.microsoft.com/office/drawing/2014/main" id="{00CB042C-54F6-4FBA-985B-24824879868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EB25C6F-53B8-41E4-8AB2-B73C933DFE82}"/>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72B2"/>
                </a:solidFill>
                <a:latin typeface="Arial"/>
                <a:ea typeface="Arial"/>
                <a:cs typeface="Arial"/>
              </a:rPr>
              <a:t>FEMALE Ε2</a:t>
            </a:r>
          </a:p>
        </p:txBody>
      </p:sp>
      <p:sp>
        <p:nvSpPr>
          <p:cNvPr id="6" name="TextBox 5">
            <a:extLst>
              <a:ext uri="{FF2B5EF4-FFF2-40B4-BE49-F238E27FC236}">
                <a16:creationId xmlns:a16="http://schemas.microsoft.com/office/drawing/2014/main" id="{F000513F-0312-46CD-A648-A26CBE5522B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2 KDA calls</a:t>
            </a:r>
          </a:p>
        </p:txBody>
      </p:sp>
      <p:sp>
        <p:nvSpPr>
          <p:cNvPr id="7" name="TextBox 6">
            <a:extLst>
              <a:ext uri="{FF2B5EF4-FFF2-40B4-BE49-F238E27FC236}">
                <a16:creationId xmlns:a16="http://schemas.microsoft.com/office/drawing/2014/main" id="{164AF88A-EA03-4310-BAB3-81FC5ACED44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WDR82 appears in two excitatory fine-cell queries.</a:t>
            </a:r>
          </a:p>
        </p:txBody>
      </p:sp>
      <p:sp>
        <p:nvSpPr>
          <p:cNvPr id="8" name="Rounded Rectangle 7">
            <a:extLst>
              <a:ext uri="{FF2B5EF4-FFF2-40B4-BE49-F238E27FC236}">
                <a16:creationId xmlns:a16="http://schemas.microsoft.com/office/drawing/2014/main" id="{E362C373-5357-46CE-9D06-755B64ED7110}"/>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19EC43-6F1F-451C-9E54-6595672D0CC8}"/>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684D"/>
                </a:solidFill>
                <a:latin typeface="Arial"/>
                <a:ea typeface="Arial"/>
                <a:cs typeface="Arial"/>
              </a:rPr>
              <a:t>FEMALE Ε3/Ε3</a:t>
            </a:r>
          </a:p>
        </p:txBody>
      </p:sp>
      <p:sp>
        <p:nvSpPr>
          <p:cNvPr id="10" name="TextBox 9">
            <a:extLst>
              <a:ext uri="{FF2B5EF4-FFF2-40B4-BE49-F238E27FC236}">
                <a16:creationId xmlns:a16="http://schemas.microsoft.com/office/drawing/2014/main" id="{9606A6E2-34B7-4693-8D6C-43D85ABAE7C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11 KDA calls</a:t>
            </a:r>
          </a:p>
        </p:txBody>
      </p:sp>
      <p:sp>
        <p:nvSpPr>
          <p:cNvPr id="11" name="TextBox 10">
            <a:extLst>
              <a:ext uri="{FF2B5EF4-FFF2-40B4-BE49-F238E27FC236}">
                <a16:creationId xmlns:a16="http://schemas.microsoft.com/office/drawing/2014/main" id="{4D0ECC26-9E6E-47FB-B8DD-87842386620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This group provides most WDR82 KDA calls and the strongest core MT gene-set support.</a:t>
            </a:r>
          </a:p>
        </p:txBody>
      </p:sp>
      <p:sp>
        <p:nvSpPr>
          <p:cNvPr id="12" name="Rounded Rectangle 11">
            <a:extLst>
              <a:ext uri="{FF2B5EF4-FFF2-40B4-BE49-F238E27FC236}">
                <a16:creationId xmlns:a16="http://schemas.microsoft.com/office/drawing/2014/main" id="{9A7C7EEB-D71B-456A-BAA9-0E523A953F41}"/>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B739942-0EB5-4188-8FF6-288E39BF17B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895600"/>
                </a:solidFill>
                <a:latin typeface="Arial"/>
                <a:ea typeface="Arial"/>
                <a:cs typeface="Arial"/>
              </a:rPr>
              <a:t>MALE GROUPS</a:t>
            </a:r>
          </a:p>
        </p:txBody>
      </p:sp>
      <p:sp>
        <p:nvSpPr>
          <p:cNvPr id="14" name="TextBox 13">
            <a:extLst>
              <a:ext uri="{FF2B5EF4-FFF2-40B4-BE49-F238E27FC236}">
                <a16:creationId xmlns:a16="http://schemas.microsoft.com/office/drawing/2014/main" id="{B395D5CF-F802-42FB-B9C1-D6270E06E6E3}"/>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5 KDA calls</a:t>
            </a:r>
          </a:p>
        </p:txBody>
      </p:sp>
      <p:sp>
        <p:nvSpPr>
          <p:cNvPr id="15" name="TextBox 14">
            <a:extLst>
              <a:ext uri="{FF2B5EF4-FFF2-40B4-BE49-F238E27FC236}">
                <a16:creationId xmlns:a16="http://schemas.microsoft.com/office/drawing/2014/main" id="{8A7ED49C-3956-4B2A-B158-7C40AE0E050F}"/>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WDR82 was also returned from two male ε3/ε3 and three male ε4 excitatory KDA calls.</a:t>
            </a:r>
          </a:p>
        </p:txBody>
      </p:sp>
      <p:sp>
        <p:nvSpPr>
          <p:cNvPr id="16" name="Rounded Rectangle 15">
            <a:extLst>
              <a:ext uri="{FF2B5EF4-FFF2-40B4-BE49-F238E27FC236}">
                <a16:creationId xmlns:a16="http://schemas.microsoft.com/office/drawing/2014/main" id="{98310792-F3F2-490C-B04A-C84A298FCEE4}"/>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03A01EF-6750-4D05-9993-77C0638107B4}"/>
              </a:ext>
            </a:extLst>
          </p:cNvPr>
          <p:cNvSpPr>
            <a:spLocks noGrp="1"/>
          </p:cNvSpPr>
          <p:nvPr/>
        </p:nvSpPr>
        <p:spPr>
          <a:xfrm>
            <a:off x="896112" y="5888736"/>
            <a:ext cx="10405872" cy="39928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30" b="1" i="0">
                <a:solidFill>
                  <a:srgbClr val="7E4C9A"/>
                </a:solidFill>
                <a:latin typeface="Arial"/>
                <a:ea typeface="Arial"/>
                <a:cs typeface="Arial"/>
              </a:rPr>
              <a:t>SEA-AD had 11 matching excitatory-neuron networks in which WDR82 could have been returned, but it was not. SEA-AD still supports the female ε3/ε3 core MT gene pattern.</a:t>
            </a:r>
          </a:p>
        </p:txBody>
      </p:sp>
    </p:spTree>
    <p:extLst>
      <p:ext uri="{BB962C8B-B14F-4D97-AF65-F5344CB8AC3E}">
        <p14:creationId val="1328813139"/>
      </p:ext>
    </p:extLst>
  </p:cSld>
  <p:clrMapOvr>
    <a:masterClrMapping/>
  </p:clrMapOvr>
  <p:transition/>
  <p:timing/>
</p:sld>
</file>

<file path=ppt/slides/slide11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6E57B15C-FA8E-42D0-B963-DC46025F0D00}"/>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Why this matters: a nuclear gene regulator may track mitochondrial RNA abundance</a:t>
            </a:r>
          </a:p>
        </p:txBody>
      </p:sp>
      <p:sp>
        <p:nvSpPr>
          <p:cNvPr id="3" name="TextBox 2">
            <a:extLst>
              <a:ext uri="{FF2B5EF4-FFF2-40B4-BE49-F238E27FC236}">
                <a16:creationId xmlns:a16="http://schemas.microsoft.com/office/drawing/2014/main" id="{B06C8095-1533-4338-A18C-FFDA6CA2D4FD}"/>
              </a:ext>
            </a:extLst>
          </p:cNvPr>
          <p:cNvSpPr>
            <a:spLocks noGrp="1"/>
          </p:cNvSpPr>
          <p:nvPr/>
        </p:nvSpPr>
        <p:spPr>
          <a:xfrm>
            <a:off x="548640" y="1155696"/>
            <a:ext cx="10927080" cy="486287"/>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00" b="1" i="0">
                <a:latin typeface="Arial"/>
                <a:ea typeface="Arial"/>
                <a:cs typeface="Arial"/>
              </a:rPr>
              <a:t>The pattern could reflect coordinated RNA production, overall mitochondrial RNA abundance, or how the network was constructed.</a:t>
            </a:r>
          </a:p>
        </p:txBody>
      </p:sp>
      <p:sp>
        <p:nvSpPr>
          <p:cNvPr id="4" name="Rounded Rectangle 3">
            <a:extLst>
              <a:ext uri="{FF2B5EF4-FFF2-40B4-BE49-F238E27FC236}">
                <a16:creationId xmlns:a16="http://schemas.microsoft.com/office/drawing/2014/main" id="{895C1DF2-F876-4518-965C-3A5512E7F96F}"/>
              </a:ext>
            </a:extLst>
          </p:cNvPr>
          <p:cNvSpPr>
            <a:spLocks noGrp="1"/>
          </p:cNvSpPr>
          <p:nvPr/>
        </p:nvSpPr>
        <p:spPr>
          <a:xfrm>
            <a:off x="658368" y="1754940"/>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9610171-ADDC-4D5A-BC4E-290CD0825C21}"/>
              </a:ext>
            </a:extLst>
          </p:cNvPr>
          <p:cNvSpPr>
            <a:spLocks noGrp="1"/>
          </p:cNvSpPr>
          <p:nvPr/>
        </p:nvSpPr>
        <p:spPr>
          <a:xfrm>
            <a:off x="932688" y="2047548"/>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72B2"/>
                </a:solidFill>
                <a:latin typeface="Arial"/>
                <a:ea typeface="Arial"/>
                <a:cs typeface="Arial"/>
              </a:rPr>
              <a:t>POSSIBLE BIOLOGICAL EXPLANATION</a:t>
            </a:r>
          </a:p>
        </p:txBody>
      </p:sp>
      <p:sp>
        <p:nvSpPr>
          <p:cNvPr id="6" name="TextBox 5">
            <a:extLst>
              <a:ext uri="{FF2B5EF4-FFF2-40B4-BE49-F238E27FC236}">
                <a16:creationId xmlns:a16="http://schemas.microsoft.com/office/drawing/2014/main" id="{089ABC3D-679B-4132-9B68-3959E398190A}"/>
              </a:ext>
            </a:extLst>
          </p:cNvPr>
          <p:cNvSpPr>
            <a:spLocks noGrp="1"/>
          </p:cNvSpPr>
          <p:nvPr/>
        </p:nvSpPr>
        <p:spPr>
          <a:xfrm>
            <a:off x="932688" y="2504748"/>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400" b="1" i="0">
                <a:solidFill>
                  <a:srgbClr val="0F233D"/>
                </a:solidFill>
                <a:latin typeface="Arial"/>
                <a:ea typeface="Arial"/>
                <a:cs typeface="Arial"/>
              </a:rPr>
              <a:t>Nuclear gene regulation may influence mitochondrial RNA</a:t>
            </a:r>
          </a:p>
        </p:txBody>
      </p:sp>
      <p:sp>
        <p:nvSpPr>
          <p:cNvPr id="7" name="TextBox 6">
            <a:extLst>
              <a:ext uri="{FF2B5EF4-FFF2-40B4-BE49-F238E27FC236}">
                <a16:creationId xmlns:a16="http://schemas.microsoft.com/office/drawing/2014/main" id="{70C692F7-A208-403E-82B4-1E71D81F50D8}"/>
              </a:ext>
            </a:extLst>
          </p:cNvPr>
          <p:cNvSpPr>
            <a:spLocks noGrp="1"/>
          </p:cNvSpPr>
          <p:nvPr/>
        </p:nvSpPr>
        <p:spPr>
          <a:xfrm>
            <a:off x="969264" y="3510588"/>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WDR82 could indirectly affect mitochondrial pathways through nuclear regulation.</a:t>
            </a:r>
          </a:p>
        </p:txBody>
      </p:sp>
      <p:sp>
        <p:nvSpPr>
          <p:cNvPr id="8" name="Rounded Rectangle 7">
            <a:extLst>
              <a:ext uri="{FF2B5EF4-FFF2-40B4-BE49-F238E27FC236}">
                <a16:creationId xmlns:a16="http://schemas.microsoft.com/office/drawing/2014/main" id="{9C86A597-D8D9-4B11-8F54-91E488B89F2B}"/>
              </a:ext>
            </a:extLst>
          </p:cNvPr>
          <p:cNvSpPr>
            <a:spLocks noGrp="1"/>
          </p:cNvSpPr>
          <p:nvPr/>
        </p:nvSpPr>
        <p:spPr>
          <a:xfrm>
            <a:off x="4453128" y="1754940"/>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6ADC6BE-4EC5-4984-825C-2ADFE79B3730}"/>
              </a:ext>
            </a:extLst>
          </p:cNvPr>
          <p:cNvSpPr>
            <a:spLocks noGrp="1"/>
          </p:cNvSpPr>
          <p:nvPr/>
        </p:nvSpPr>
        <p:spPr>
          <a:xfrm>
            <a:off x="4727448" y="2047548"/>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9E3A00"/>
                </a:solidFill>
                <a:latin typeface="Arial"/>
                <a:ea typeface="Arial"/>
                <a:cs typeface="Arial"/>
              </a:rPr>
              <a:t>ALTERNATIVE EXPLANATION</a:t>
            </a:r>
          </a:p>
        </p:txBody>
      </p:sp>
      <p:sp>
        <p:nvSpPr>
          <p:cNvPr id="10" name="TextBox 9">
            <a:extLst>
              <a:ext uri="{FF2B5EF4-FFF2-40B4-BE49-F238E27FC236}">
                <a16:creationId xmlns:a16="http://schemas.microsoft.com/office/drawing/2014/main" id="{98BAF5EC-0F0B-45F0-A2A0-3909E4877337}"/>
              </a:ext>
            </a:extLst>
          </p:cNvPr>
          <p:cNvSpPr>
            <a:spLocks noGrp="1"/>
          </p:cNvSpPr>
          <p:nvPr/>
        </p:nvSpPr>
        <p:spPr>
          <a:xfrm>
            <a:off x="4727448" y="2504748"/>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Overall mitochondrial RNA abundance</a:t>
            </a:r>
          </a:p>
        </p:txBody>
      </p:sp>
      <p:sp>
        <p:nvSpPr>
          <p:cNvPr id="11" name="TextBox 10">
            <a:extLst>
              <a:ext uri="{FF2B5EF4-FFF2-40B4-BE49-F238E27FC236}">
                <a16:creationId xmlns:a16="http://schemas.microsoft.com/office/drawing/2014/main" id="{0B3042C7-B44D-4868-8AD0-8FD9708723E2}"/>
              </a:ext>
            </a:extLst>
          </p:cNvPr>
          <p:cNvSpPr>
            <a:spLocks noGrp="1"/>
          </p:cNvSpPr>
          <p:nvPr/>
        </p:nvSpPr>
        <p:spPr>
          <a:xfrm>
            <a:off x="4764024" y="3510588"/>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Repeated core MT genes may reflect the overall amount of mitochondrial RNA or sample quality.</a:t>
            </a:r>
          </a:p>
        </p:txBody>
      </p:sp>
      <p:sp>
        <p:nvSpPr>
          <p:cNvPr id="12" name="Rounded Rectangle 11">
            <a:extLst>
              <a:ext uri="{FF2B5EF4-FFF2-40B4-BE49-F238E27FC236}">
                <a16:creationId xmlns:a16="http://schemas.microsoft.com/office/drawing/2014/main" id="{79E4BDE7-F785-401E-A218-544AE994E86D}"/>
              </a:ext>
            </a:extLst>
          </p:cNvPr>
          <p:cNvSpPr>
            <a:spLocks noGrp="1"/>
          </p:cNvSpPr>
          <p:nvPr/>
        </p:nvSpPr>
        <p:spPr>
          <a:xfrm>
            <a:off x="8247888" y="1754940"/>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4A6AAC8-7EC5-49C1-8DFB-5FF71E47E44E}"/>
              </a:ext>
            </a:extLst>
          </p:cNvPr>
          <p:cNvSpPr>
            <a:spLocks noGrp="1"/>
          </p:cNvSpPr>
          <p:nvPr/>
        </p:nvSpPr>
        <p:spPr>
          <a:xfrm>
            <a:off x="8522208" y="2047548"/>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895600"/>
                </a:solidFill>
                <a:latin typeface="Arial"/>
                <a:ea typeface="Arial"/>
                <a:cs typeface="Arial"/>
              </a:rPr>
              <a:t>NETWORK-BASED EXPLANATION</a:t>
            </a:r>
          </a:p>
        </p:txBody>
      </p:sp>
      <p:sp>
        <p:nvSpPr>
          <p:cNvPr id="14" name="TextBox 13">
            <a:extLst>
              <a:ext uri="{FF2B5EF4-FFF2-40B4-BE49-F238E27FC236}">
                <a16:creationId xmlns:a16="http://schemas.microsoft.com/office/drawing/2014/main" id="{53677C3F-1BC2-4324-9638-5FB2DFC538B4}"/>
              </a:ext>
            </a:extLst>
          </p:cNvPr>
          <p:cNvSpPr>
            <a:spLocks noGrp="1"/>
          </p:cNvSpPr>
          <p:nvPr/>
        </p:nvSpPr>
        <p:spPr>
          <a:xfrm>
            <a:off x="8522208" y="2504748"/>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Four connected genes dominate</a:t>
            </a:r>
          </a:p>
        </p:txBody>
      </p:sp>
      <p:sp>
        <p:nvSpPr>
          <p:cNvPr id="15" name="TextBox 14">
            <a:extLst>
              <a:ext uri="{FF2B5EF4-FFF2-40B4-BE49-F238E27FC236}">
                <a16:creationId xmlns:a16="http://schemas.microsoft.com/office/drawing/2014/main" id="{F0319EB6-B457-4138-A236-1FCA73010574}"/>
              </a:ext>
            </a:extLst>
          </p:cNvPr>
          <p:cNvSpPr>
            <a:spLocks noGrp="1"/>
          </p:cNvSpPr>
          <p:nvPr/>
        </p:nvSpPr>
        <p:spPr>
          <a:xfrm>
            <a:off x="8558784" y="3510588"/>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The small set of connections may reflect one shared long mitochondrial RNA rather than four separate mechanisms.</a:t>
            </a:r>
          </a:p>
        </p:txBody>
      </p:sp>
    </p:spTree>
    <p:extLst>
      <p:ext uri="{BB962C8B-B14F-4D97-AF65-F5344CB8AC3E}">
        <p14:creationId val="1229176844"/>
      </p:ext>
    </p:extLst>
  </p:cSld>
  <p:clrMapOvr>
    <a:masterClrMapping/>
  </p:clrMapOvr>
  <p:transition/>
  <p:timing/>
</p:sld>
</file>

<file path=ppt/slides/slide11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C339ADA1-1264-4D43-BF84-FE3F6710FB7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How prior research supports and limits Finding 9</a:t>
            </a:r>
          </a:p>
        </p:txBody>
      </p:sp>
      <p:sp>
        <p:nvSpPr>
          <p:cNvPr id="3" name="TextBox 2">
            <a:extLst>
              <a:ext uri="{FF2B5EF4-FFF2-40B4-BE49-F238E27FC236}">
                <a16:creationId xmlns:a16="http://schemas.microsoft.com/office/drawing/2014/main" id="{9FF69022-10FC-43B0-BAA5-4043EF6DA077}"/>
              </a:ext>
            </a:extLst>
          </p:cNvPr>
          <p:cNvSpPr>
            <a:spLocks noGrp="1"/>
          </p:cNvSpPr>
          <p:nvPr/>
        </p:nvSpPr>
        <p:spPr>
          <a:xfrm>
            <a:off x="548640" y="933752"/>
            <a:ext cx="10927080" cy="270843"/>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00" b="1" i="0">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D261BC36-F294-488B-B684-312D777F957E}"/>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EBEDEAE-B995-40CF-91AF-682213E514F1}"/>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500" b="1" i="0">
                <a:solidFill>
                  <a:srgbClr val="0072B2"/>
                </a:solidFill>
                <a:latin typeface="Arial"/>
                <a:ea typeface="Arial"/>
                <a:cs typeface="Arial"/>
              </a:rPr>
              <a:t>Lee and Skalnik 2008</a:t>
            </a:r>
          </a:p>
        </p:txBody>
      </p:sp>
      <p:sp>
        <p:nvSpPr>
          <p:cNvPr id="6" name="TextBox 5">
            <a:extLst>
              <a:ext uri="{FF2B5EF4-FFF2-40B4-BE49-F238E27FC236}">
                <a16:creationId xmlns:a16="http://schemas.microsoft.com/office/drawing/2014/main" id="{21F7AFCC-881A-4B36-B978-92626603BBFE}"/>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350" b="1" i="0">
                <a:solidFill>
                  <a:srgbClr val="0F233D"/>
                </a:solidFill>
                <a:latin typeface="Arial"/>
                <a:ea typeface="Arial"/>
                <a:cs typeface="Arial"/>
              </a:rPr>
              <a:t>WDR82 and nuclear gene regulation</a:t>
            </a:r>
          </a:p>
        </p:txBody>
      </p:sp>
      <p:sp>
        <p:nvSpPr>
          <p:cNvPr id="7" name="TextBox 6">
            <a:extLst>
              <a:ext uri="{FF2B5EF4-FFF2-40B4-BE49-F238E27FC236}">
                <a16:creationId xmlns:a16="http://schemas.microsoft.com/office/drawing/2014/main" id="{84B82749-6E60-431C-A6D8-3B5817954A25}"/>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6C21AFCE-3C0C-4917-B701-2522EC77B7BC}"/>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80" b="0" i="0">
                <a:solidFill>
                  <a:srgbClr val="1F2730"/>
                </a:solidFill>
                <a:latin typeface="Arial"/>
                <a:ea typeface="Arial"/>
                <a:cs typeface="Arial"/>
              </a:rPr>
              <a:t>Shows that WDR82 helps regulate which nuclear genes are active through SETD1A/B protein complexes.</a:t>
            </a:r>
          </a:p>
        </p:txBody>
      </p:sp>
      <p:sp>
        <p:nvSpPr>
          <p:cNvPr id="9" name="TextBox 8">
            <a:extLst>
              <a:ext uri="{FF2B5EF4-FFF2-40B4-BE49-F238E27FC236}">
                <a16:creationId xmlns:a16="http://schemas.microsoft.com/office/drawing/2014/main" id="{838C3FFA-354C-4870-8119-095EF82C9F44}"/>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EFCB5B94-737A-422A-A1C9-2F6170977A37}"/>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60" b="0" i="0">
                <a:solidFill>
                  <a:srgbClr val="4E5A68"/>
                </a:solidFill>
                <a:latin typeface="Arial"/>
                <a:ea typeface="Arial"/>
                <a:cs typeface="Arial"/>
              </a:rPr>
              <a:t>Provides no direct mitochondrial mechanism.</a:t>
            </a:r>
          </a:p>
        </p:txBody>
      </p:sp>
      <p:sp>
        <p:nvSpPr>
          <p:cNvPr id="11" name="Rounded Rectangle 10">
            <a:extLst>
              <a:ext uri="{FF2B5EF4-FFF2-40B4-BE49-F238E27FC236}">
                <a16:creationId xmlns:a16="http://schemas.microsoft.com/office/drawing/2014/main" id="{E36E3500-90C9-4469-8EBA-F3BD35B5B277}"/>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CC744286-96AC-4427-83BD-3370ACCD3866}"/>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500" b="1" i="0">
                <a:solidFill>
                  <a:srgbClr val="00684D"/>
                </a:solidFill>
                <a:latin typeface="Arial"/>
                <a:ea typeface="Arial"/>
                <a:cs typeface="Arial"/>
              </a:rPr>
              <a:t>Mercer et al. 2011</a:t>
            </a:r>
          </a:p>
        </p:txBody>
      </p:sp>
      <p:sp>
        <p:nvSpPr>
          <p:cNvPr id="13" name="TextBox 12">
            <a:extLst>
              <a:ext uri="{FF2B5EF4-FFF2-40B4-BE49-F238E27FC236}">
                <a16:creationId xmlns:a16="http://schemas.microsoft.com/office/drawing/2014/main" id="{BE5F6A61-72D0-46CE-9F9D-E47F5BC9C60C}"/>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350" b="1" i="0">
                <a:solidFill>
                  <a:srgbClr val="0F233D"/>
                </a:solidFill>
                <a:latin typeface="Arial"/>
                <a:ea typeface="Arial"/>
                <a:cs typeface="Arial"/>
              </a:rPr>
              <a:t>Mitochondrial RNA processing</a:t>
            </a:r>
          </a:p>
        </p:txBody>
      </p:sp>
      <p:sp>
        <p:nvSpPr>
          <p:cNvPr id="14" name="TextBox 13">
            <a:extLst>
              <a:ext uri="{FF2B5EF4-FFF2-40B4-BE49-F238E27FC236}">
                <a16:creationId xmlns:a16="http://schemas.microsoft.com/office/drawing/2014/main" id="{1F36A31B-0769-4CE5-9CC2-0B9057CF0A4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576A8C47-E8F0-4044-9210-F9C8370B4443}"/>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80" b="0" i="0">
                <a:solidFill>
                  <a:srgbClr val="1F2730"/>
                </a:solidFill>
                <a:latin typeface="Arial"/>
                <a:ea typeface="Arial"/>
                <a:cs typeface="Arial"/>
              </a:rPr>
              <a:t>Shows that core MT genes are produced from long mitochondrial RNAs that are later cut into individual gene products.</a:t>
            </a:r>
          </a:p>
        </p:txBody>
      </p:sp>
      <p:sp>
        <p:nvSpPr>
          <p:cNvPr id="16" name="TextBox 15">
            <a:extLst>
              <a:ext uri="{FF2B5EF4-FFF2-40B4-BE49-F238E27FC236}">
                <a16:creationId xmlns:a16="http://schemas.microsoft.com/office/drawing/2014/main" id="{DD92914E-7AC8-4F6F-9A77-054D9D11213E}"/>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8287521-685F-47B2-9192-4DEA7A0BBA76}"/>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60" b="0" i="0">
                <a:solidFill>
                  <a:srgbClr val="4E5A68"/>
                </a:solidFill>
                <a:latin typeface="Arial"/>
                <a:ea typeface="Arial"/>
                <a:cs typeface="Arial"/>
              </a:rPr>
              <a:t>Does not connect WDR82 with mitochondrial transcription.</a:t>
            </a:r>
          </a:p>
        </p:txBody>
      </p:sp>
      <p:sp>
        <p:nvSpPr>
          <p:cNvPr id="18" name="Rounded Rectangle 17">
            <a:extLst>
              <a:ext uri="{FF2B5EF4-FFF2-40B4-BE49-F238E27FC236}">
                <a16:creationId xmlns:a16="http://schemas.microsoft.com/office/drawing/2014/main" id="{C0B7FC5B-68CB-4457-A32D-CBAEF6AB0E07}"/>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D5EA5C3E-6315-490E-AC21-CDCEF0907C52}"/>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500" b="1" i="0">
                <a:solidFill>
                  <a:srgbClr val="895600"/>
                </a:solidFill>
                <a:latin typeface="Arial"/>
                <a:ea typeface="Arial"/>
                <a:cs typeface="Arial"/>
              </a:rPr>
              <a:t>Zhu et al. 2015</a:t>
            </a:r>
          </a:p>
        </p:txBody>
      </p:sp>
      <p:sp>
        <p:nvSpPr>
          <p:cNvPr id="20" name="TextBox 19">
            <a:extLst>
              <a:ext uri="{FF2B5EF4-FFF2-40B4-BE49-F238E27FC236}">
                <a16:creationId xmlns:a16="http://schemas.microsoft.com/office/drawing/2014/main" id="{A0F99D78-6E4B-43F8-8F49-3B164C77437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350" b="1" i="0">
                <a:solidFill>
                  <a:srgbClr val="0F233D"/>
                </a:solidFill>
                <a:latin typeface="Arial"/>
                <a:ea typeface="Arial"/>
                <a:cs typeface="Arial"/>
              </a:rPr>
              <a:t>WDR82 in AD gene expression</a:t>
            </a:r>
          </a:p>
        </p:txBody>
      </p:sp>
      <p:sp>
        <p:nvSpPr>
          <p:cNvPr id="21" name="TextBox 20">
            <a:extLst>
              <a:ext uri="{FF2B5EF4-FFF2-40B4-BE49-F238E27FC236}">
                <a16:creationId xmlns:a16="http://schemas.microsoft.com/office/drawing/2014/main" id="{96D7A8A8-DF2A-439A-8112-C04F8AE18408}"/>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6B4F1E2-E827-4E5A-8E29-E08154D910DA}"/>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80" b="0" i="0">
                <a:solidFill>
                  <a:srgbClr val="1F2730"/>
                </a:solidFill>
                <a:latin typeface="Arial"/>
                <a:ea typeface="Arial"/>
                <a:cs typeface="Arial"/>
              </a:rPr>
              <a:t>Reports increased WDR82 expression and many network connections in a reanalysis of mixed-cell hippocampal tissue.</a:t>
            </a:r>
          </a:p>
        </p:txBody>
      </p:sp>
      <p:sp>
        <p:nvSpPr>
          <p:cNvPr id="23" name="TextBox 22">
            <a:extLst>
              <a:ext uri="{FF2B5EF4-FFF2-40B4-BE49-F238E27FC236}">
                <a16:creationId xmlns:a16="http://schemas.microsoft.com/office/drawing/2014/main" id="{4426865A-B1FE-455C-A9EA-65BF458826C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C3D5CCAB-FB1D-47FA-91EB-C11D14641679}"/>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60" b="0" i="0">
                <a:solidFill>
                  <a:srgbClr val="4E5A68"/>
                </a:solidFill>
                <a:latin typeface="Arial"/>
                <a:ea typeface="Arial"/>
                <a:cs typeface="Arial"/>
              </a:rPr>
              <a:t>The mixed-cell analysis does not show which cell types drive the result and has not been confirmed in another cohort.</a:t>
            </a:r>
          </a:p>
        </p:txBody>
      </p:sp>
      <p:sp>
        <p:nvSpPr>
          <p:cNvPr id="25" name="Rounded Rectangle 24">
            <a:extLst>
              <a:ext uri="{FF2B5EF4-FFF2-40B4-BE49-F238E27FC236}">
                <a16:creationId xmlns:a16="http://schemas.microsoft.com/office/drawing/2014/main" id="{EA36AB37-E771-4BE9-8277-71CF154B6892}"/>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6E150D6-F7CB-4C52-90FF-95731FB4C30B}"/>
              </a:ext>
            </a:extLst>
          </p:cNvPr>
          <p:cNvSpPr>
            <a:spLocks noGrp="1"/>
          </p:cNvSpPr>
          <p:nvPr/>
        </p:nvSpPr>
        <p:spPr>
          <a:xfrm>
            <a:off x="896112" y="5952744"/>
            <a:ext cx="10405872" cy="221599"/>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lang="en-US" sz="1080" b="1">
                <a:solidFill>
                  <a:srgbClr val="7E4C9A"/>
                </a:solidFill>
                <a:latin typeface="Arial"/>
                <a:ea typeface="Arial"/>
                <a:cs typeface="Arial"/>
              </a:rPr>
              <a:t>N</a:t>
            </a:r>
            <a:r>
              <a:rPr sz="1080" b="1" i="0">
                <a:solidFill>
                  <a:srgbClr val="7E4C9A"/>
                </a:solidFill>
                <a:latin typeface="Arial"/>
                <a:ea typeface="Arial"/>
                <a:cs typeface="Arial"/>
              </a:rPr>
              <a:t>ovelty: High</a:t>
            </a:r>
          </a:p>
        </p:txBody>
      </p:sp>
    </p:spTree>
    <p:extLst>
      <p:ext uri="{BB962C8B-B14F-4D97-AF65-F5344CB8AC3E}">
        <p14:creationId val="1766384617"/>
      </p:ext>
    </p:extLst>
  </p:cSld>
  <p:clrMapOvr>
    <a:masterClrMapping/>
  </p:clrMapOvr>
  <p:transition/>
  <p:timing/>
</p:sld>
</file>

<file path=ppt/slides/slide11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0F233D"/>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8A37315F-4C9F-42A5-998B-201DF7342692}"/>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050" b="1" i="0">
                <a:solidFill>
                  <a:srgbClr val="E69F00"/>
                </a:solidFill>
                <a:latin typeface="Arial"/>
                <a:ea typeface="Arial"/>
                <a:cs typeface="Arial"/>
              </a:rPr>
              <a:t>FINDING 10</a:t>
            </a:r>
          </a:p>
        </p:txBody>
      </p:sp>
      <p:sp>
        <p:nvSpPr>
          <p:cNvPr id="3" name="Rectangle 2">
            <a:extLst>
              <a:ext uri="{FF2B5EF4-FFF2-40B4-BE49-F238E27FC236}">
                <a16:creationId xmlns:a16="http://schemas.microsoft.com/office/drawing/2014/main" id="{D82A6CED-CB25-4C33-866D-9CBDC645DA68}"/>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73FB08E8-8956-4827-88DB-F3103173F137}"/>
              </a:ext>
            </a:extLst>
          </p:cNvPr>
          <p:cNvSpPr>
            <a:spLocks noGrp="1"/>
          </p:cNvSpPr>
          <p:nvPr/>
        </p:nvSpPr>
        <p:spPr>
          <a:xfrm>
            <a:off x="1078992" y="1172724"/>
            <a:ext cx="7498079" cy="1101840"/>
          </a:xfrm>
          <a:prstGeom prst="rect">
            <a:avLst/>
          </a:prstGeom>
          <a:noFill/>
        </p:spPr>
        <p:txBody>
          <a:bodyPr wrap="square" lIns="27432" tIns="27432" rIns="27432" bIns="27432" anchor="ctr">
            <a:spAutoFit/>
          </a:bodyPr>
          <a:lstStyle/>
          <a:p>
            <a:r>
              <a:rPr sz="2200" b="1" i="0">
                <a:solidFill>
                  <a:srgbClr val="FFFFFF"/>
                </a:solidFill>
                <a:latin typeface="Arial"/>
                <a:ea typeface="Arial"/>
                <a:cs typeface="Arial"/>
              </a:rPr>
              <a:t>SELENOM connects oxidation control in the </a:t>
            </a:r>
            <a:r>
              <a:rPr lang="en-US" sz="2200" b="1">
                <a:solidFill>
                  <a:srgbClr val="FFFFFF"/>
                </a:solidFill>
                <a:latin typeface="Arial"/>
                <a:cs typeface="Arial"/>
              </a:rPr>
              <a:t>endoplasmic reticulum</a:t>
            </a:r>
            <a:r>
              <a:rPr sz="2200" b="1">
                <a:solidFill>
                  <a:srgbClr val="FFFFFF"/>
                </a:solidFill>
                <a:latin typeface="Arial"/>
                <a:cs typeface="Arial"/>
              </a:rPr>
              <a:t> with </a:t>
            </a:r>
            <a:r>
              <a:rPr sz="2200" b="1" i="0">
                <a:solidFill>
                  <a:srgbClr val="FFFFFF"/>
                </a:solidFill>
                <a:latin typeface="Arial"/>
                <a:ea typeface="Arial"/>
                <a:cs typeface="Arial"/>
              </a:rPr>
              <a:t>mitochondrial protein production</a:t>
            </a:r>
          </a:p>
        </p:txBody>
      </p:sp>
      <p:sp>
        <p:nvSpPr>
          <p:cNvPr id="5" name="TextBox 4">
            <a:extLst>
              <a:ext uri="{FF2B5EF4-FFF2-40B4-BE49-F238E27FC236}">
                <a16:creationId xmlns:a16="http://schemas.microsoft.com/office/drawing/2014/main" id="{44021B8F-8A41-425E-9D1C-4F81E8BCEE92}"/>
              </a:ext>
            </a:extLst>
          </p:cNvPr>
          <p:cNvSpPr>
            <a:spLocks noGrp="1"/>
          </p:cNvSpPr>
          <p:nvPr/>
        </p:nvSpPr>
        <p:spPr>
          <a:xfrm>
            <a:off x="1097280" y="2468880"/>
            <a:ext cx="7406640" cy="914400"/>
          </a:xfrm>
          <a:prstGeom prst="rect">
            <a:avLst/>
          </a:prstGeom>
          <a:noFill/>
        </p:spPr>
        <p:txBody>
          <a:bodyPr wrap="square" lIns="0" tIns="0" rIns="0" bIns="0" anchor="t">
            <a:normAutofit/>
          </a:bodyPr>
          <a:lstStyle/>
          <a:p>
            <a:pPr algn="l">
              <a:lnSpc>
                <a:spcPct val="100000"/>
              </a:lnSpc>
              <a:spcBef>
                <a:spcPct val="0"/>
              </a:spcBef>
              <a:spcAft>
                <a:spcPct val="0"/>
              </a:spcAft>
              <a:buNone/>
              <a:defRPr sz="1350" b="1">
                <a:solidFill>
                  <a:srgbClr val="E6A700"/>
                </a:solidFill>
                <a:latin typeface="Arial"/>
                <a:ea typeface="Arial"/>
                <a:cs typeface="Arial"/>
              </a:defRPr>
            </a:pPr>
            <a:r>
              <a:rPr sz="1350" b="1" i="0">
                <a:solidFill>
                  <a:srgbClr val="E6A700"/>
                </a:solidFill>
                <a:latin typeface="Arial"/>
                <a:ea typeface="Arial"/>
                <a:cs typeface="Arial"/>
              </a:rPr>
              <a:t>Not sex/APOE-specific; observed across all six groups</a:t>
            </a:r>
          </a:p>
        </p:txBody>
      </p:sp>
      <p:sp>
        <p:nvSpPr>
          <p:cNvPr id="6" name="Rounded Rectangle 5">
            <a:extLst>
              <a:ext uri="{FF2B5EF4-FFF2-40B4-BE49-F238E27FC236}">
                <a16:creationId xmlns:a16="http://schemas.microsoft.com/office/drawing/2014/main" id="{AAF8E368-C796-44BA-99C7-F77398635149}"/>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C1AD072C-DCFB-460C-92ED-834DD7B72F5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82DD8406-EFB2-466C-A95A-4F375E658C1D}"/>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169A47A-0070-4249-A45B-C63957021AF8}"/>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1034924A-8F59-439F-A417-A857F4EAFE25}"/>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8AB65C9B-9A68-49FA-AE5E-0207D2669CF0}"/>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E55D9C9-AE40-4312-BFB9-3F1575A02950}"/>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6438963-E7CC-421C-AA39-E9324CC389F8}"/>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23B3C5F-F468-44E8-A6C2-C11568E8ED10}"/>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B50CB4E-D4FD-4820-928D-07586863E902}"/>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205388F7-7912-49C2-8E12-D36B5FCB51DA}"/>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E3ACC1A0-7A63-4223-A381-1F2CE3B28115}"/>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39B44996-3F63-4110-A49E-1DF8EC29FC4E}"/>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D87BBFCC-07BA-4EFB-BCC0-068D2E0FFF6E}"/>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54571236-B70A-47CE-92CB-D719BDAF2B9D}"/>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0F627F4-DFA9-42C4-AF9D-C3BADE0E4AF6}"/>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20" b="1" i="0">
                <a:solidFill>
                  <a:srgbClr val="FFFFFF"/>
                </a:solidFill>
                <a:latin typeface="Arial"/>
                <a:ea typeface="Arial"/>
                <a:cs typeface="Arial"/>
              </a:rPr>
              <a:t>SELENOM repeatedly connects to genes used for protein production inside mitochondria, and most have lower expression in AD.</a:t>
            </a:r>
          </a:p>
        </p:txBody>
      </p:sp>
    </p:spTree>
    <p:extLst>
      <p:ext uri="{BB962C8B-B14F-4D97-AF65-F5344CB8AC3E}">
        <p14:creationId val="574884667"/>
      </p:ext>
    </p:extLst>
  </p:cSld>
  <p:clrMapOvr>
    <a:masterClrMapping/>
  </p:clrMapOvr>
  <p:transition/>
  <p:timing/>
</p:sld>
</file>

<file path=ppt/slides/slide11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7925048A-935D-4BFD-BEEC-32E294D8B831}"/>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SELENOM connects oxidation control in the ER with mitochondrial protein production</a:t>
            </a:r>
          </a:p>
        </p:txBody>
      </p:sp>
      <p:sp>
        <p:nvSpPr>
          <p:cNvPr id="3" name="TextBox 2">
            <a:extLst>
              <a:ext uri="{FF2B5EF4-FFF2-40B4-BE49-F238E27FC236}">
                <a16:creationId xmlns:a16="http://schemas.microsoft.com/office/drawing/2014/main" id="{D3BC54F8-229E-4612-9FCF-BB8F5AB9B0AF}"/>
              </a:ext>
            </a:extLst>
          </p:cNvPr>
          <p:cNvSpPr>
            <a:spLocks noGrp="1"/>
          </p:cNvSpPr>
          <p:nvPr/>
        </p:nvSpPr>
        <p:spPr>
          <a:xfrm>
            <a:off x="548640" y="1022531"/>
            <a:ext cx="10927080" cy="270843"/>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00" b="1" i="0">
                <a:latin typeface="Arial"/>
                <a:ea typeface="Arial"/>
                <a:cs typeface="Arial"/>
              </a:rPr>
              <a:t>The endoplasmic reticulum, or ER, folds many proteins and helps regulate calcium and oxidation.</a:t>
            </a:r>
          </a:p>
        </p:txBody>
      </p:sp>
      <p:sp>
        <p:nvSpPr>
          <p:cNvPr id="4" name="Rounded Rectangle 3">
            <a:extLst>
              <a:ext uri="{FF2B5EF4-FFF2-40B4-BE49-F238E27FC236}">
                <a16:creationId xmlns:a16="http://schemas.microsoft.com/office/drawing/2014/main" id="{0CCC3B6B-D7D9-4C2B-A320-6946B7746EA8}"/>
              </a:ext>
            </a:extLst>
          </p:cNvPr>
          <p:cNvSpPr>
            <a:spLocks noGrp="1"/>
          </p:cNvSpPr>
          <p:nvPr/>
        </p:nvSpPr>
        <p:spPr>
          <a:xfrm>
            <a:off x="749808" y="141385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F861887-F1EC-40A3-87E2-912C717D303A}"/>
              </a:ext>
            </a:extLst>
          </p:cNvPr>
          <p:cNvSpPr>
            <a:spLocks noGrp="1"/>
          </p:cNvSpPr>
          <p:nvPr/>
        </p:nvSpPr>
        <p:spPr>
          <a:xfrm>
            <a:off x="841247" y="1514442"/>
            <a:ext cx="2359151" cy="213360"/>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40" b="1" i="0">
                <a:solidFill>
                  <a:srgbClr val="0072B2"/>
                </a:solidFill>
                <a:latin typeface="Arial"/>
                <a:ea typeface="Arial"/>
                <a:cs typeface="Arial"/>
              </a:rPr>
              <a:t>12 neuronal KDA calls</a:t>
            </a:r>
          </a:p>
        </p:txBody>
      </p:sp>
      <p:sp>
        <p:nvSpPr>
          <p:cNvPr id="6" name="Rounded Rectangle 5">
            <a:extLst>
              <a:ext uri="{FF2B5EF4-FFF2-40B4-BE49-F238E27FC236}">
                <a16:creationId xmlns:a16="http://schemas.microsoft.com/office/drawing/2014/main" id="{759D17D2-1868-4FEE-B8F9-F0E95F5E4FEA}"/>
              </a:ext>
            </a:extLst>
          </p:cNvPr>
          <p:cNvSpPr>
            <a:spLocks noGrp="1"/>
          </p:cNvSpPr>
          <p:nvPr/>
        </p:nvSpPr>
        <p:spPr>
          <a:xfrm>
            <a:off x="3566160" y="141385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E524B19-F525-4D2A-92D8-58C0AE86562C}"/>
              </a:ext>
            </a:extLst>
          </p:cNvPr>
          <p:cNvSpPr>
            <a:spLocks noGrp="1"/>
          </p:cNvSpPr>
          <p:nvPr/>
        </p:nvSpPr>
        <p:spPr>
          <a:xfrm>
            <a:off x="3657600" y="1514442"/>
            <a:ext cx="2359151" cy="213360"/>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40" b="1" i="0">
                <a:solidFill>
                  <a:srgbClr val="00684D"/>
                </a:solidFill>
                <a:latin typeface="Arial"/>
                <a:ea typeface="Arial"/>
                <a:cs typeface="Arial"/>
              </a:rPr>
              <a:t>All six sex/APOE groups</a:t>
            </a:r>
          </a:p>
        </p:txBody>
      </p:sp>
      <p:sp>
        <p:nvSpPr>
          <p:cNvPr id="8" name="Rounded Rectangle 7">
            <a:extLst>
              <a:ext uri="{FF2B5EF4-FFF2-40B4-BE49-F238E27FC236}">
                <a16:creationId xmlns:a16="http://schemas.microsoft.com/office/drawing/2014/main" id="{59B65B70-174B-43A0-8922-9C3EDAAB180F}"/>
              </a:ext>
            </a:extLst>
          </p:cNvPr>
          <p:cNvSpPr>
            <a:spLocks noGrp="1"/>
          </p:cNvSpPr>
          <p:nvPr/>
        </p:nvSpPr>
        <p:spPr>
          <a:xfrm>
            <a:off x="6382512" y="141385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D30C86C-895A-44E3-94A8-4383A84CC8B2}"/>
              </a:ext>
            </a:extLst>
          </p:cNvPr>
          <p:cNvSpPr>
            <a:spLocks noGrp="1"/>
          </p:cNvSpPr>
          <p:nvPr/>
        </p:nvSpPr>
        <p:spPr>
          <a:xfrm>
            <a:off x="6473952" y="1514442"/>
            <a:ext cx="2359151" cy="371856"/>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40" b="1" i="0">
                <a:solidFill>
                  <a:srgbClr val="895600"/>
                </a:solidFill>
                <a:latin typeface="Arial"/>
                <a:ea typeface="Arial"/>
                <a:cs typeface="Arial"/>
              </a:rPr>
              <a:t>Oxidation and calcium control in the ER</a:t>
            </a:r>
          </a:p>
        </p:txBody>
      </p:sp>
      <p:sp>
        <p:nvSpPr>
          <p:cNvPr id="10" name="Rounded Rectangle 9">
            <a:extLst>
              <a:ext uri="{FF2B5EF4-FFF2-40B4-BE49-F238E27FC236}">
                <a16:creationId xmlns:a16="http://schemas.microsoft.com/office/drawing/2014/main" id="{7B952B3E-3848-4CD9-B2AF-BE8178835C90}"/>
              </a:ext>
            </a:extLst>
          </p:cNvPr>
          <p:cNvSpPr>
            <a:spLocks noGrp="1"/>
          </p:cNvSpPr>
          <p:nvPr/>
        </p:nvSpPr>
        <p:spPr>
          <a:xfrm>
            <a:off x="9198864" y="141385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C5917DD-50E9-4250-81C9-51928DC52E77}"/>
              </a:ext>
            </a:extLst>
          </p:cNvPr>
          <p:cNvSpPr>
            <a:spLocks noGrp="1"/>
          </p:cNvSpPr>
          <p:nvPr/>
        </p:nvSpPr>
        <p:spPr>
          <a:xfrm>
            <a:off x="9290304" y="1514442"/>
            <a:ext cx="2359151" cy="371856"/>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40" b="1" i="0">
                <a:solidFill>
                  <a:srgbClr val="9E3A00"/>
                </a:solidFill>
                <a:latin typeface="Arial"/>
                <a:ea typeface="Arial"/>
                <a:cs typeface="Arial"/>
              </a:rPr>
              <a:t>Protein production inside mitochondria</a:t>
            </a:r>
          </a:p>
        </p:txBody>
      </p:sp>
      <p:sp>
        <p:nvSpPr>
          <p:cNvPr id="12" name="Rounded Rectangle 11">
            <a:extLst>
              <a:ext uri="{FF2B5EF4-FFF2-40B4-BE49-F238E27FC236}">
                <a16:creationId xmlns:a16="http://schemas.microsoft.com/office/drawing/2014/main" id="{4DE8C956-CF25-43E4-AE67-1382D39027EC}"/>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F06D35F-BCAC-40EF-B246-C1D6799A872E}"/>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72B2"/>
                </a:solidFill>
                <a:latin typeface="Arial"/>
                <a:ea typeface="Arial"/>
                <a:cs typeface="Arial"/>
              </a:rPr>
              <a:t>SELENOM</a:t>
            </a:r>
          </a:p>
        </p:txBody>
      </p:sp>
      <p:sp>
        <p:nvSpPr>
          <p:cNvPr id="14" name="TextBox 13">
            <a:extLst>
              <a:ext uri="{FF2B5EF4-FFF2-40B4-BE49-F238E27FC236}">
                <a16:creationId xmlns:a16="http://schemas.microsoft.com/office/drawing/2014/main" id="{442295C3-B4A3-460A-ACB4-FCC56A7F1FE0}"/>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Protein that controls oxidation in the ER</a:t>
            </a:r>
          </a:p>
        </p:txBody>
      </p:sp>
      <p:sp>
        <p:nvSpPr>
          <p:cNvPr id="15" name="TextBox 14">
            <a:extLst>
              <a:ext uri="{FF2B5EF4-FFF2-40B4-BE49-F238E27FC236}">
                <a16:creationId xmlns:a16="http://schemas.microsoft.com/office/drawing/2014/main" id="{37911221-0597-4BC4-8833-2698A7CE0348}"/>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This selenium-containing protein helps control reversible oxidation reactions inside the ER.</a:t>
            </a:r>
          </a:p>
        </p:txBody>
      </p:sp>
      <p:sp>
        <p:nvSpPr>
          <p:cNvPr id="16" name="Rounded Rectangle 15">
            <a:extLst>
              <a:ext uri="{FF2B5EF4-FFF2-40B4-BE49-F238E27FC236}">
                <a16:creationId xmlns:a16="http://schemas.microsoft.com/office/drawing/2014/main" id="{03CC68D1-D9DA-442E-824B-8ED476870935}"/>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86DE238-E9DF-4EB3-9A36-4E6E50BBF8CA}"/>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684D"/>
                </a:solidFill>
                <a:latin typeface="Arial"/>
                <a:ea typeface="Arial"/>
                <a:cs typeface="Arial"/>
              </a:rPr>
              <a:t>PROTEIN PRODUCTION INSIDE MITOCHONDRIA</a:t>
            </a:r>
          </a:p>
        </p:txBody>
      </p:sp>
      <p:sp>
        <p:nvSpPr>
          <p:cNvPr id="18" name="TextBox 17">
            <a:extLst>
              <a:ext uri="{FF2B5EF4-FFF2-40B4-BE49-F238E27FC236}">
                <a16:creationId xmlns:a16="http://schemas.microsoft.com/office/drawing/2014/main" id="{77CED781-C8E6-47BF-A3AC-F2754A772C8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400" b="1" i="0">
                <a:solidFill>
                  <a:srgbClr val="0F233D"/>
                </a:solidFill>
                <a:latin typeface="Arial"/>
                <a:ea typeface="Arial"/>
                <a:cs typeface="Arial"/>
              </a:rPr>
              <a:t>Protein production inside mitochondria</a:t>
            </a:r>
          </a:p>
        </p:txBody>
      </p:sp>
      <p:sp>
        <p:nvSpPr>
          <p:cNvPr id="19" name="TextBox 18">
            <a:extLst>
              <a:ext uri="{FF2B5EF4-FFF2-40B4-BE49-F238E27FC236}">
                <a16:creationId xmlns:a16="http://schemas.microsoft.com/office/drawing/2014/main" id="{2459F011-6AB6-4E7D-9FBF-8BE2A2ECCE28}"/>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Mitochondrial ribosomes and factors build proteins encoded by core MT genes.</a:t>
            </a:r>
          </a:p>
        </p:txBody>
      </p:sp>
      <p:sp>
        <p:nvSpPr>
          <p:cNvPr id="20" name="Rounded Rectangle 19">
            <a:extLst>
              <a:ext uri="{FF2B5EF4-FFF2-40B4-BE49-F238E27FC236}">
                <a16:creationId xmlns:a16="http://schemas.microsoft.com/office/drawing/2014/main" id="{C8C1AA6C-8E07-44FC-BA6D-4D8952303E58}"/>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0BA2804-00A6-4362-9CF6-B4442CA667FB}"/>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9E3A00"/>
                </a:solidFill>
                <a:latin typeface="Arial"/>
                <a:ea typeface="Arial"/>
                <a:cs typeface="Arial"/>
              </a:rPr>
              <a:t>OBSERVED LINK</a:t>
            </a:r>
          </a:p>
        </p:txBody>
      </p:sp>
      <p:sp>
        <p:nvSpPr>
          <p:cNvPr id="22" name="TextBox 21">
            <a:extLst>
              <a:ext uri="{FF2B5EF4-FFF2-40B4-BE49-F238E27FC236}">
                <a16:creationId xmlns:a16="http://schemas.microsoft.com/office/drawing/2014/main" id="{D9D9C46E-1536-47F7-92D7-F3910985FE2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Protein-production genes mostly down</a:t>
            </a:r>
          </a:p>
        </p:txBody>
      </p:sp>
      <p:sp>
        <p:nvSpPr>
          <p:cNvPr id="23" name="TextBox 22">
            <a:extLst>
              <a:ext uri="{FF2B5EF4-FFF2-40B4-BE49-F238E27FC236}">
                <a16:creationId xmlns:a16="http://schemas.microsoft.com/office/drawing/2014/main" id="{6AA0E181-361D-48CB-9FB5-FF568E55A4D6}"/>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Genes directly connected to SELENOM are mostly mitochondrial protein-production genes with lower expression in AD.</a:t>
            </a:r>
          </a:p>
        </p:txBody>
      </p:sp>
      <p:sp>
        <p:nvSpPr>
          <p:cNvPr id="24" name="Rounded Rectangle 23">
            <a:extLst>
              <a:ext uri="{FF2B5EF4-FFF2-40B4-BE49-F238E27FC236}">
                <a16:creationId xmlns:a16="http://schemas.microsoft.com/office/drawing/2014/main" id="{0592564E-9542-4F5F-9B24-4FB9546E4AC7}"/>
              </a:ext>
            </a:extLst>
          </p:cNvPr>
          <p:cNvSpPr>
            <a:spLocks noGrp="1"/>
          </p:cNvSpPr>
          <p:nvPr/>
        </p:nvSpPr>
        <p:spPr>
          <a:xfrm>
            <a:off x="658368" y="6205669"/>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66ECDC3-B901-402A-BFB6-301059DDAB37}"/>
              </a:ext>
            </a:extLst>
          </p:cNvPr>
          <p:cNvSpPr>
            <a:spLocks noGrp="1"/>
          </p:cNvSpPr>
          <p:nvPr/>
        </p:nvSpPr>
        <p:spPr>
          <a:xfrm>
            <a:off x="896112" y="6333685"/>
            <a:ext cx="10405872" cy="237744"/>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40" b="1" i="0">
                <a:solidFill>
                  <a:srgbClr val="7E4C9A"/>
                </a:solidFill>
                <a:latin typeface="Arial"/>
                <a:ea typeface="Arial"/>
                <a:cs typeface="Arial"/>
              </a:rPr>
              <a:t>SELENOM is not part of the mitochondrial ribosome. KDA links the two systems because their genes are close in the network.</a:t>
            </a:r>
          </a:p>
        </p:txBody>
      </p:sp>
    </p:spTree>
    <p:extLst>
      <p:ext uri="{BB962C8B-B14F-4D97-AF65-F5344CB8AC3E}">
        <p14:creationId val="1446232377"/>
      </p:ext>
    </p:extLst>
  </p:cSld>
  <p:clrMapOvr>
    <a:masterClrMapping/>
  </p:clrMapOvr>
  <p:transition/>
  <p:timing/>
</p:sld>
</file>

<file path=ppt/slides/slide11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021B74E3-AB8F-48D2-8577-5E207E6BE41F}"/>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ROSMAP: genes for mitochondrial protein production dominate SELENOM’s connections</a:t>
            </a:r>
          </a:p>
        </p:txBody>
      </p:sp>
      <p:sp>
        <p:nvSpPr>
          <p:cNvPr id="3" name="TextBox 2">
            <a:extLst>
              <a:ext uri="{FF2B5EF4-FFF2-40B4-BE49-F238E27FC236}">
                <a16:creationId xmlns:a16="http://schemas.microsoft.com/office/drawing/2014/main" id="{EAF1DA34-721D-4B7F-BC6B-284728F64E1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080" b="0" i="0">
                <a:solidFill>
                  <a:srgbClr val="4E5A68"/>
                </a:solidFill>
                <a:latin typeface="Arial"/>
                <a:ea typeface="Arial"/>
                <a:cs typeface="Arial"/>
              </a:rPr>
              <a:t>SELENOM recurs across groups, so the result is not sex- or APOE-specific.</a:t>
            </a:r>
          </a:p>
        </p:txBody>
      </p:sp>
      <p:sp>
        <p:nvSpPr>
          <p:cNvPr id="4" name="Rounded Rectangle 3">
            <a:extLst>
              <a:ext uri="{FF2B5EF4-FFF2-40B4-BE49-F238E27FC236}">
                <a16:creationId xmlns:a16="http://schemas.microsoft.com/office/drawing/2014/main" id="{B80902C0-095D-493F-960E-5450F231C91F}"/>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9F4C998-1FAE-4AD5-8F7C-E78DD528019F}"/>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800" b="1" i="0">
                <a:solidFill>
                  <a:srgbClr val="0072B2"/>
                </a:solidFill>
                <a:latin typeface="Arial"/>
                <a:ea typeface="Arial"/>
                <a:cs typeface="Arial"/>
              </a:rPr>
              <a:t>12</a:t>
            </a:r>
          </a:p>
        </p:txBody>
      </p:sp>
      <p:sp>
        <p:nvSpPr>
          <p:cNvPr id="6" name="TextBox 5">
            <a:extLst>
              <a:ext uri="{FF2B5EF4-FFF2-40B4-BE49-F238E27FC236}">
                <a16:creationId xmlns:a16="http://schemas.microsoft.com/office/drawing/2014/main" id="{E059FF04-A750-46F7-83F4-009DDFB6FCE2}"/>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19" b="1" i="0">
                <a:solidFill>
                  <a:srgbClr val="0F233D"/>
                </a:solidFill>
                <a:latin typeface="Arial"/>
                <a:ea typeface="Arial"/>
                <a:cs typeface="Arial"/>
              </a:rPr>
              <a:t>supporting KDA calls</a:t>
            </a:r>
          </a:p>
        </p:txBody>
      </p:sp>
      <p:sp>
        <p:nvSpPr>
          <p:cNvPr id="7" name="TextBox 6">
            <a:extLst>
              <a:ext uri="{FF2B5EF4-FFF2-40B4-BE49-F238E27FC236}">
                <a16:creationId xmlns:a16="http://schemas.microsoft.com/office/drawing/2014/main" id="{4D021A94-834F-451B-B75F-D8F125B70D7B}"/>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880" b="0" i="0">
                <a:solidFill>
                  <a:srgbClr val="4E5A68"/>
                </a:solidFill>
                <a:latin typeface="Arial"/>
                <a:ea typeface="Arial"/>
                <a:cs typeface="Arial"/>
              </a:rPr>
              <a:t>10 excitatory, 2 inhibitory</a:t>
            </a:r>
          </a:p>
        </p:txBody>
      </p:sp>
      <p:sp>
        <p:nvSpPr>
          <p:cNvPr id="8" name="Rounded Rectangle 7">
            <a:extLst>
              <a:ext uri="{FF2B5EF4-FFF2-40B4-BE49-F238E27FC236}">
                <a16:creationId xmlns:a16="http://schemas.microsoft.com/office/drawing/2014/main" id="{479C9FF7-EC84-454E-B87F-996E75E637D9}"/>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039420D-4087-467E-A9C4-B27E45272B19}"/>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800" b="1" i="0">
                <a:solidFill>
                  <a:srgbClr val="00684D"/>
                </a:solidFill>
                <a:latin typeface="Arial"/>
                <a:ea typeface="Arial"/>
                <a:cs typeface="Arial"/>
              </a:rPr>
              <a:t>51</a:t>
            </a:r>
          </a:p>
        </p:txBody>
      </p:sp>
      <p:sp>
        <p:nvSpPr>
          <p:cNvPr id="10" name="TextBox 9">
            <a:extLst>
              <a:ext uri="{FF2B5EF4-FFF2-40B4-BE49-F238E27FC236}">
                <a16:creationId xmlns:a16="http://schemas.microsoft.com/office/drawing/2014/main" id="{01E3F8C2-F2E3-45F5-8BEA-59E9C2467A8D}"/>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19" b="1" i="0">
                <a:solidFill>
                  <a:srgbClr val="0F233D"/>
                </a:solidFill>
                <a:latin typeface="Arial"/>
                <a:ea typeface="Arial"/>
                <a:cs typeface="Arial"/>
              </a:rPr>
              <a:t>connections to MitoCarta MT genes</a:t>
            </a:r>
          </a:p>
        </p:txBody>
      </p:sp>
      <p:sp>
        <p:nvSpPr>
          <p:cNvPr id="11" name="TextBox 10">
            <a:extLst>
              <a:ext uri="{FF2B5EF4-FFF2-40B4-BE49-F238E27FC236}">
                <a16:creationId xmlns:a16="http://schemas.microsoft.com/office/drawing/2014/main" id="{2CBEA001-8398-49D8-B802-AC7DBDAAD21D}"/>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880" b="0" i="0">
                <a:solidFill>
                  <a:srgbClr val="4E5A68"/>
                </a:solidFill>
                <a:latin typeface="Arial"/>
                <a:ea typeface="Arial"/>
                <a:cs typeface="Arial"/>
              </a:rPr>
              <a:t>27 genes for protein production</a:t>
            </a:r>
          </a:p>
        </p:txBody>
      </p:sp>
      <p:sp>
        <p:nvSpPr>
          <p:cNvPr id="12" name="Rounded Rectangle 11">
            <a:extLst>
              <a:ext uri="{FF2B5EF4-FFF2-40B4-BE49-F238E27FC236}">
                <a16:creationId xmlns:a16="http://schemas.microsoft.com/office/drawing/2014/main" id="{3FF76E23-954D-4A34-BFF3-E01B70C8B1F4}"/>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776E1F0-8D9D-45F2-8002-F8952774B882}"/>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800" b="1" i="0">
                <a:solidFill>
                  <a:srgbClr val="895600"/>
                </a:solidFill>
                <a:latin typeface="Arial"/>
                <a:ea typeface="Arial"/>
                <a:cs typeface="Arial"/>
              </a:rPr>
              <a:t>11/12</a:t>
            </a:r>
          </a:p>
        </p:txBody>
      </p:sp>
      <p:sp>
        <p:nvSpPr>
          <p:cNvPr id="14" name="TextBox 13">
            <a:extLst>
              <a:ext uri="{FF2B5EF4-FFF2-40B4-BE49-F238E27FC236}">
                <a16:creationId xmlns:a16="http://schemas.microsoft.com/office/drawing/2014/main" id="{7A776ADF-02EC-4E24-8FA5-673EA89B9BC4}"/>
              </a:ext>
            </a:extLst>
          </p:cNvPr>
          <p:cNvSpPr>
            <a:spLocks noGrp="1"/>
          </p:cNvSpPr>
          <p:nvPr/>
        </p:nvSpPr>
        <p:spPr>
          <a:xfrm>
            <a:off x="8412480" y="1984248"/>
            <a:ext cx="3127248" cy="365455"/>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19" b="1" i="0">
                <a:solidFill>
                  <a:srgbClr val="0F233D"/>
                </a:solidFill>
                <a:latin typeface="Arial"/>
                <a:ea typeface="Arial"/>
                <a:cs typeface="Arial"/>
              </a:rPr>
              <a:t>input DEG sets with significant OXPHOS enrichment</a:t>
            </a:r>
          </a:p>
        </p:txBody>
      </p:sp>
      <p:sp>
        <p:nvSpPr>
          <p:cNvPr id="15" name="TextBox 14">
            <a:extLst>
              <a:ext uri="{FF2B5EF4-FFF2-40B4-BE49-F238E27FC236}">
                <a16:creationId xmlns:a16="http://schemas.microsoft.com/office/drawing/2014/main" id="{7C88409E-0F7C-476E-A00A-66C6D8E5315D}"/>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AB81D0D4-8592-477D-9387-D054683E8367}"/>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C1054FA-D0A0-41E1-845D-89EDCC1076DA}"/>
              </a:ext>
            </a:extLst>
          </p:cNvPr>
          <p:cNvSpPr>
            <a:spLocks noGrp="1"/>
          </p:cNvSpPr>
          <p:nvPr/>
        </p:nvSpPr>
        <p:spPr>
          <a:xfrm>
            <a:off x="987552" y="3090672"/>
            <a:ext cx="2331720" cy="45110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300" b="1" i="0">
                <a:solidFill>
                  <a:srgbClr val="0F233D"/>
                </a:solidFill>
                <a:latin typeface="Arial"/>
                <a:ea typeface="Arial"/>
                <a:cs typeface="Arial"/>
              </a:rPr>
              <a:t>Direction of expression change</a:t>
            </a:r>
          </a:p>
        </p:txBody>
      </p:sp>
      <p:sp>
        <p:nvSpPr>
          <p:cNvPr id="18" name="TextBox 17">
            <a:extLst>
              <a:ext uri="{FF2B5EF4-FFF2-40B4-BE49-F238E27FC236}">
                <a16:creationId xmlns:a16="http://schemas.microsoft.com/office/drawing/2014/main" id="{B27210B7-C4CC-41A0-829C-2D6549BAB350}"/>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600" b="1" i="0">
                <a:solidFill>
                  <a:srgbClr val="9E3A00"/>
                </a:solidFill>
                <a:latin typeface="Arial"/>
                <a:ea typeface="Arial"/>
                <a:cs typeface="Arial"/>
              </a:rPr>
              <a:t>22 of 27 down</a:t>
            </a:r>
          </a:p>
        </p:txBody>
      </p:sp>
      <p:sp>
        <p:nvSpPr>
          <p:cNvPr id="19" name="TextBox 18">
            <a:extLst>
              <a:ext uri="{FF2B5EF4-FFF2-40B4-BE49-F238E27FC236}">
                <a16:creationId xmlns:a16="http://schemas.microsoft.com/office/drawing/2014/main" id="{FFB330F5-B8B2-418A-81AD-1C58BAA57F90}"/>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150" b="0" i="0">
                <a:solidFill>
                  <a:srgbClr val="1F2730"/>
                </a:solidFill>
                <a:latin typeface="Arial"/>
                <a:ea typeface="Arial"/>
                <a:cs typeface="Arial"/>
              </a:rPr>
              <a:t>Most connected mitochondrial protein-production genes have lower expression in AD</a:t>
            </a:r>
          </a:p>
        </p:txBody>
      </p:sp>
      <p:sp>
        <p:nvSpPr>
          <p:cNvPr id="20" name="Rounded Rectangle 19">
            <a:extLst>
              <a:ext uri="{FF2B5EF4-FFF2-40B4-BE49-F238E27FC236}">
                <a16:creationId xmlns:a16="http://schemas.microsoft.com/office/drawing/2014/main" id="{5124F938-A41A-4805-BD42-7FA0ED50CEBC}"/>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0E69DA5F-5A06-4327-8981-A6CA33BA674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300" b="1" i="0">
                <a:solidFill>
                  <a:srgbClr val="0F233D"/>
                </a:solidFill>
                <a:latin typeface="Arial"/>
                <a:ea typeface="Arial"/>
                <a:cs typeface="Arial"/>
              </a:rPr>
              <a:t>Frequently connected genes</a:t>
            </a:r>
          </a:p>
        </p:txBody>
      </p:sp>
      <p:sp>
        <p:nvSpPr>
          <p:cNvPr id="22" name="TextBox 21">
            <a:extLst>
              <a:ext uri="{FF2B5EF4-FFF2-40B4-BE49-F238E27FC236}">
                <a16:creationId xmlns:a16="http://schemas.microsoft.com/office/drawing/2014/main" id="{8FF084EE-59CB-4E89-96FE-CB67147C78B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600" b="1" i="0">
                <a:solidFill>
                  <a:srgbClr val="0072B2"/>
                </a:solidFill>
                <a:latin typeface="Arial"/>
                <a:ea typeface="Arial"/>
                <a:cs typeface="Arial"/>
              </a:rPr>
              <a:t>MRPS34, TUFM, MRPS7</a:t>
            </a:r>
          </a:p>
        </p:txBody>
      </p:sp>
      <p:sp>
        <p:nvSpPr>
          <p:cNvPr id="23" name="TextBox 22">
            <a:extLst>
              <a:ext uri="{FF2B5EF4-FFF2-40B4-BE49-F238E27FC236}">
                <a16:creationId xmlns:a16="http://schemas.microsoft.com/office/drawing/2014/main" id="{BCF5FACD-DCE9-4190-8C0C-1B3D2F8BDD93}"/>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150" b="0" i="0">
                <a:solidFill>
                  <a:srgbClr val="1F2730"/>
                </a:solidFill>
                <a:latin typeface="Arial"/>
                <a:ea typeface="Arial"/>
                <a:cs typeface="Arial"/>
              </a:rPr>
              <a:t>CLPP and MRPS26 are also repeatedly connected to SELENOM</a:t>
            </a:r>
          </a:p>
        </p:txBody>
      </p:sp>
      <p:sp>
        <p:nvSpPr>
          <p:cNvPr id="24" name="Rounded Rectangle 23">
            <a:extLst>
              <a:ext uri="{FF2B5EF4-FFF2-40B4-BE49-F238E27FC236}">
                <a16:creationId xmlns:a16="http://schemas.microsoft.com/office/drawing/2014/main" id="{57AF983D-0F7E-4804-BC13-D1AE82663D19}"/>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B76E8CF5-5C1A-4EC2-ABD3-78A13094D488}"/>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300" b="1" i="0">
                <a:solidFill>
                  <a:srgbClr val="0F233D"/>
                </a:solidFill>
                <a:latin typeface="Arial"/>
                <a:ea typeface="Arial"/>
                <a:cs typeface="Arial"/>
              </a:rPr>
              <a:t>SELENOM itself</a:t>
            </a:r>
          </a:p>
        </p:txBody>
      </p:sp>
      <p:sp>
        <p:nvSpPr>
          <p:cNvPr id="26" name="TextBox 25">
            <a:extLst>
              <a:ext uri="{FF2B5EF4-FFF2-40B4-BE49-F238E27FC236}">
                <a16:creationId xmlns:a16="http://schemas.microsoft.com/office/drawing/2014/main" id="{3D1F4111-3C4B-46FA-A9AF-1148415B2D36}"/>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600" b="1" i="0">
                <a:solidFill>
                  <a:srgbClr val="895600"/>
                </a:solidFill>
                <a:latin typeface="Arial"/>
                <a:ea typeface="Arial"/>
                <a:cs typeface="Arial"/>
              </a:rPr>
              <a:t>DEG in 10 of 12</a:t>
            </a:r>
          </a:p>
        </p:txBody>
      </p:sp>
      <p:sp>
        <p:nvSpPr>
          <p:cNvPr id="27" name="TextBox 26">
            <a:extLst>
              <a:ext uri="{FF2B5EF4-FFF2-40B4-BE49-F238E27FC236}">
                <a16:creationId xmlns:a16="http://schemas.microsoft.com/office/drawing/2014/main" id="{7B93D71D-961F-4FB5-A06E-D4A15158ADD1}"/>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150" b="0" i="0">
                <a:solidFill>
                  <a:srgbClr val="1F2730"/>
                </a:solidFill>
                <a:latin typeface="Arial"/>
                <a:ea typeface="Arial"/>
                <a:cs typeface="Arial"/>
              </a:rPr>
              <a:t>SELENOM itself also changes expression in most supporting KDA calls</a:t>
            </a:r>
          </a:p>
        </p:txBody>
      </p:sp>
    </p:spTree>
    <p:extLst>
      <p:ext uri="{BB962C8B-B14F-4D97-AF65-F5344CB8AC3E}">
        <p14:creationId val="1738462503"/>
      </p:ext>
    </p:extLst>
  </p:cSld>
  <p:clrMapOvr>
    <a:masterClrMapping/>
  </p:clrMapOvr>
  <p:transition/>
  <p:timing/>
</p:sld>
</file>

<file path=ppt/slides/slide11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A0A4EE6E-0343-4FDF-BCD2-55656C5CE61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Cross-cohort and genetic evidence do not yet support SELENOM directly</a:t>
            </a:r>
          </a:p>
        </p:txBody>
      </p:sp>
      <p:sp>
        <p:nvSpPr>
          <p:cNvPr id="3" name="TextBox 2">
            <a:extLst>
              <a:ext uri="{FF2B5EF4-FFF2-40B4-BE49-F238E27FC236}">
                <a16:creationId xmlns:a16="http://schemas.microsoft.com/office/drawing/2014/main" id="{58FC2311-DB43-4F16-B2F5-7C5FA0E224E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080" b="0" i="0">
                <a:solidFill>
                  <a:srgbClr val="4E5A68"/>
                </a:solidFill>
                <a:latin typeface="Arial"/>
                <a:ea typeface="Arial"/>
                <a:cs typeface="Arial"/>
              </a:rPr>
              <a:t>Repeated ROSMAP KDA calls and repeated connections to mitochondrial protein-production genes are still the main evidence.</a:t>
            </a:r>
          </a:p>
        </p:txBody>
      </p:sp>
      <p:sp>
        <p:nvSpPr>
          <p:cNvPr id="4" name="Rounded Rectangle 3">
            <a:extLst>
              <a:ext uri="{FF2B5EF4-FFF2-40B4-BE49-F238E27FC236}">
                <a16:creationId xmlns:a16="http://schemas.microsoft.com/office/drawing/2014/main" id="{911ABC21-FD78-4DEE-A5D3-635418BB528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62159CA-286E-4728-A718-AAC584AB721D}"/>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72B2"/>
                </a:solidFill>
                <a:latin typeface="Arial"/>
                <a:ea typeface="Arial"/>
                <a:cs typeface="Arial"/>
              </a:rPr>
              <a:t>SEA-AD OPPORTUNITY TO TEST</a:t>
            </a:r>
          </a:p>
        </p:txBody>
      </p:sp>
      <p:sp>
        <p:nvSpPr>
          <p:cNvPr id="6" name="TextBox 5">
            <a:extLst>
              <a:ext uri="{FF2B5EF4-FFF2-40B4-BE49-F238E27FC236}">
                <a16:creationId xmlns:a16="http://schemas.microsoft.com/office/drawing/2014/main" id="{48E0EAD5-1B12-4153-9406-C3BF595AA83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10 matching networks</a:t>
            </a:r>
          </a:p>
        </p:txBody>
      </p:sp>
      <p:sp>
        <p:nvSpPr>
          <p:cNvPr id="7" name="TextBox 6">
            <a:extLst>
              <a:ext uri="{FF2B5EF4-FFF2-40B4-BE49-F238E27FC236}">
                <a16:creationId xmlns:a16="http://schemas.microsoft.com/office/drawing/2014/main" id="{42B67F14-65F8-4619-B9B6-E7F88A3BCF44}"/>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SELENOM was available in all male ε3/ε3 excitatory networks.</a:t>
            </a:r>
          </a:p>
        </p:txBody>
      </p:sp>
      <p:sp>
        <p:nvSpPr>
          <p:cNvPr id="8" name="Rounded Rectangle 7">
            <a:extLst>
              <a:ext uri="{FF2B5EF4-FFF2-40B4-BE49-F238E27FC236}">
                <a16:creationId xmlns:a16="http://schemas.microsoft.com/office/drawing/2014/main" id="{7A2F2BC8-BA8C-4ABC-9D2F-2AA2A653D16C}"/>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F25B389-5C17-4BAA-B051-AD0BE181FFA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895600"/>
                </a:solidFill>
                <a:latin typeface="Arial"/>
                <a:ea typeface="Arial"/>
                <a:cs typeface="Arial"/>
              </a:rPr>
              <a:t>RETURNED FROM SEA-AD KDA CALLS</a:t>
            </a:r>
          </a:p>
        </p:txBody>
      </p:sp>
      <p:sp>
        <p:nvSpPr>
          <p:cNvPr id="10" name="TextBox 9">
            <a:extLst>
              <a:ext uri="{FF2B5EF4-FFF2-40B4-BE49-F238E27FC236}">
                <a16:creationId xmlns:a16="http://schemas.microsoft.com/office/drawing/2014/main" id="{26F8A0E1-7CBA-4146-8FA6-44E6BACC4EC0}"/>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0 of 10</a:t>
            </a:r>
          </a:p>
        </p:txBody>
      </p:sp>
      <p:sp>
        <p:nvSpPr>
          <p:cNvPr id="11" name="TextBox 10">
            <a:extLst>
              <a:ext uri="{FF2B5EF4-FFF2-40B4-BE49-F238E27FC236}">
                <a16:creationId xmlns:a16="http://schemas.microsoft.com/office/drawing/2014/main" id="{6B3E71B3-D882-4840-B944-B21828D430BC}"/>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SELENOM was not returned from those SEA-AD KDA calls.</a:t>
            </a:r>
          </a:p>
        </p:txBody>
      </p:sp>
      <p:sp>
        <p:nvSpPr>
          <p:cNvPr id="12" name="Rounded Rectangle 11">
            <a:extLst>
              <a:ext uri="{FF2B5EF4-FFF2-40B4-BE49-F238E27FC236}">
                <a16:creationId xmlns:a16="http://schemas.microsoft.com/office/drawing/2014/main" id="{B20FD01D-B845-4216-AC5B-BE46305DA9B6}"/>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1B46D3D-636D-496F-9DFC-23FA75F81B41}"/>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4E5A68"/>
                </a:solidFill>
                <a:latin typeface="Arial"/>
                <a:ea typeface="Arial"/>
                <a:cs typeface="Arial"/>
              </a:rPr>
              <a:t>HUMAN GENETICS</a:t>
            </a:r>
          </a:p>
        </p:txBody>
      </p:sp>
      <p:sp>
        <p:nvSpPr>
          <p:cNvPr id="14" name="TextBox 13">
            <a:extLst>
              <a:ext uri="{FF2B5EF4-FFF2-40B4-BE49-F238E27FC236}">
                <a16:creationId xmlns:a16="http://schemas.microsoft.com/office/drawing/2014/main" id="{08D00B65-EE3E-410C-AB29-675883E6AB38}"/>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No qualifying gene-level evidence</a:t>
            </a:r>
          </a:p>
        </p:txBody>
      </p:sp>
      <p:sp>
        <p:nvSpPr>
          <p:cNvPr id="15" name="TextBox 14">
            <a:extLst>
              <a:ext uri="{FF2B5EF4-FFF2-40B4-BE49-F238E27FC236}">
                <a16:creationId xmlns:a16="http://schemas.microsoft.com/office/drawing/2014/main" id="{C26F7CB6-9F28-4BD4-A3B1-DDEC1898AD00}"/>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The local genetic screen did not find qualifying genetic evidence for SELENOM.</a:t>
            </a:r>
          </a:p>
        </p:txBody>
      </p:sp>
      <p:sp>
        <p:nvSpPr>
          <p:cNvPr id="16" name="Rounded Rectangle 15">
            <a:extLst>
              <a:ext uri="{FF2B5EF4-FFF2-40B4-BE49-F238E27FC236}">
                <a16:creationId xmlns:a16="http://schemas.microsoft.com/office/drawing/2014/main" id="{88A9747E-F53C-41AF-860E-A637215130D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32C4961-AB50-4144-8348-7E6E55FCEB16}"/>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30" b="1" i="0">
                <a:solidFill>
                  <a:srgbClr val="7E4C9A"/>
                </a:solidFill>
                <a:latin typeface="Arial"/>
                <a:ea typeface="Arial"/>
                <a:cs typeface="Arial"/>
              </a:rPr>
              <a:t>The lack of support in SEA-AD or human genetics lowers confidence outside ROSMAP, but the repeated ROSMAP result remains.</a:t>
            </a:r>
          </a:p>
        </p:txBody>
      </p:sp>
    </p:spTree>
    <p:extLst>
      <p:ext uri="{BB962C8B-B14F-4D97-AF65-F5344CB8AC3E}">
        <p14:creationId val="1705880487"/>
      </p:ext>
    </p:extLst>
  </p:cSld>
  <p:clrMapOvr>
    <a:masterClrMapping/>
  </p:clrMapOvr>
  <p:transition/>
  <p:timing/>
</p:sld>
</file>

<file path=ppt/slides/slide11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2D961931-DB1A-4D8D-9E59-4FF664EFC7D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Why this matters: ER and mitochondrial stress responses depend on each other</a:t>
            </a:r>
          </a:p>
        </p:txBody>
      </p:sp>
      <p:sp>
        <p:nvSpPr>
          <p:cNvPr id="3" name="TextBox 2">
            <a:extLst>
              <a:ext uri="{FF2B5EF4-FFF2-40B4-BE49-F238E27FC236}">
                <a16:creationId xmlns:a16="http://schemas.microsoft.com/office/drawing/2014/main" id="{9030C8CA-04A9-4663-8E2C-46DC881652F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080" b="0" i="0">
                <a:solidFill>
                  <a:srgbClr val="4E5A68"/>
                </a:solidFill>
                <a:latin typeface="Arial"/>
                <a:ea typeface="Arial"/>
                <a:cs typeface="Arial"/>
              </a:rPr>
              <a:t>Calcium and oxidation move between the ER and mitochondria, influencing protein folding and energy production.</a:t>
            </a:r>
          </a:p>
        </p:txBody>
      </p:sp>
      <p:sp>
        <p:nvSpPr>
          <p:cNvPr id="4" name="Rounded Rectangle 3">
            <a:extLst>
              <a:ext uri="{FF2B5EF4-FFF2-40B4-BE49-F238E27FC236}">
                <a16:creationId xmlns:a16="http://schemas.microsoft.com/office/drawing/2014/main" id="{084602C6-90C6-454C-BB1E-C05872F85CC4}"/>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4B183CB-8DE4-4569-B23B-5B4DD3B5D25E}"/>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72B2"/>
                </a:solidFill>
                <a:latin typeface="Arial"/>
                <a:ea typeface="Arial"/>
                <a:cs typeface="Arial"/>
              </a:rPr>
              <a:t>ER FUNCTION</a:t>
            </a:r>
          </a:p>
        </p:txBody>
      </p:sp>
      <p:sp>
        <p:nvSpPr>
          <p:cNvPr id="6" name="TextBox 5">
            <a:extLst>
              <a:ext uri="{FF2B5EF4-FFF2-40B4-BE49-F238E27FC236}">
                <a16:creationId xmlns:a16="http://schemas.microsoft.com/office/drawing/2014/main" id="{69D73032-F8F4-4986-B4CB-2E2A57F516E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Protein folding and calcium</a:t>
            </a:r>
          </a:p>
        </p:txBody>
      </p:sp>
      <p:sp>
        <p:nvSpPr>
          <p:cNvPr id="7" name="TextBox 6">
            <a:extLst>
              <a:ext uri="{FF2B5EF4-FFF2-40B4-BE49-F238E27FC236}">
                <a16:creationId xmlns:a16="http://schemas.microsoft.com/office/drawing/2014/main" id="{DC4A171B-45B3-4A7C-812C-62F3F557E30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Disrupted ER balance can alter cellular stress signaling.</a:t>
            </a:r>
          </a:p>
        </p:txBody>
      </p:sp>
      <p:sp>
        <p:nvSpPr>
          <p:cNvPr id="8" name="Rounded Rectangle 7">
            <a:extLst>
              <a:ext uri="{FF2B5EF4-FFF2-40B4-BE49-F238E27FC236}">
                <a16:creationId xmlns:a16="http://schemas.microsoft.com/office/drawing/2014/main" id="{64D82D6D-D8D3-4638-8CBD-F209431DC4F5}"/>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CED050F-F90E-4C37-B63C-51F32FE48A3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9E3A00"/>
                </a:solidFill>
                <a:latin typeface="Arial"/>
                <a:ea typeface="Arial"/>
                <a:cs typeface="Arial"/>
              </a:rPr>
              <a:t>MITOCHONDRIAL FUNCTION</a:t>
            </a:r>
          </a:p>
        </p:txBody>
      </p:sp>
      <p:sp>
        <p:nvSpPr>
          <p:cNvPr id="10" name="TextBox 9">
            <a:extLst>
              <a:ext uri="{FF2B5EF4-FFF2-40B4-BE49-F238E27FC236}">
                <a16:creationId xmlns:a16="http://schemas.microsoft.com/office/drawing/2014/main" id="{BB6D8CA6-6F93-404C-A02B-E57A9FC9FE39}"/>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Protein production supplies core MT proteins</a:t>
            </a:r>
          </a:p>
        </p:txBody>
      </p:sp>
      <p:sp>
        <p:nvSpPr>
          <p:cNvPr id="11" name="TextBox 10">
            <a:extLst>
              <a:ext uri="{FF2B5EF4-FFF2-40B4-BE49-F238E27FC236}">
                <a16:creationId xmlns:a16="http://schemas.microsoft.com/office/drawing/2014/main" id="{9C18F9AA-D02B-41C1-BBFB-8DDCCD7C054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Lower expression of this machinery could reduce assembly of mitochondrial respiratory complexes.</a:t>
            </a:r>
          </a:p>
        </p:txBody>
      </p:sp>
      <p:sp>
        <p:nvSpPr>
          <p:cNvPr id="12" name="Rounded Rectangle 11">
            <a:extLst>
              <a:ext uri="{FF2B5EF4-FFF2-40B4-BE49-F238E27FC236}">
                <a16:creationId xmlns:a16="http://schemas.microsoft.com/office/drawing/2014/main" id="{C938B0A7-F1D5-4BF9-908E-FE01BFA437CF}"/>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289F945-FB3C-4F88-8EC0-7460C543298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684D"/>
                </a:solidFill>
                <a:latin typeface="Arial"/>
                <a:ea typeface="Arial"/>
                <a:cs typeface="Arial"/>
              </a:rPr>
              <a:t>POSSIBLE BIOLOGICAL EXPLANATION</a:t>
            </a:r>
          </a:p>
        </p:txBody>
      </p:sp>
      <p:sp>
        <p:nvSpPr>
          <p:cNvPr id="14" name="TextBox 13">
            <a:extLst>
              <a:ext uri="{FF2B5EF4-FFF2-40B4-BE49-F238E27FC236}">
                <a16:creationId xmlns:a16="http://schemas.microsoft.com/office/drawing/2014/main" id="{BA2E20E9-9A03-4905-9B10-3AE5DC6CBCD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Stress shared between the ER and mitochondria</a:t>
            </a:r>
          </a:p>
        </p:txBody>
      </p:sp>
      <p:sp>
        <p:nvSpPr>
          <p:cNvPr id="15" name="TextBox 14">
            <a:extLst>
              <a:ext uri="{FF2B5EF4-FFF2-40B4-BE49-F238E27FC236}">
                <a16:creationId xmlns:a16="http://schemas.microsoft.com/office/drawing/2014/main" id="{70FE139F-123B-4EDA-9549-D0FC6C9E9E16}"/>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SELENOM could affect mitochondria indirectly by changing oxidation or calcium control in the ER.</a:t>
            </a:r>
          </a:p>
        </p:txBody>
      </p:sp>
      <p:sp>
        <p:nvSpPr>
          <p:cNvPr id="16" name="Rounded Rectangle 15">
            <a:extLst>
              <a:ext uri="{FF2B5EF4-FFF2-40B4-BE49-F238E27FC236}">
                <a16:creationId xmlns:a16="http://schemas.microsoft.com/office/drawing/2014/main" id="{0B195959-579A-4FAC-8465-45BF60AF65C8}"/>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C8773B5-1324-420E-AC08-9270056E69AD}"/>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F92D06E9-C383-4E1A-BF39-EF8478DCEC5C}"/>
              </a:ext>
            </a:extLst>
          </p:cNvPr>
          <p:cNvSpPr>
            <a:spLocks noGrp="1"/>
          </p:cNvSpPr>
          <p:nvPr/>
        </p:nvSpPr>
        <p:spPr>
          <a:xfrm>
            <a:off x="2788920" y="5861304"/>
            <a:ext cx="8321040" cy="39624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20" b="1" i="0">
                <a:solidFill>
                  <a:srgbClr val="1F2730"/>
                </a:solidFill>
                <a:latin typeface="Arial"/>
                <a:ea typeface="Arial"/>
                <a:cs typeface="Arial"/>
              </a:rPr>
              <a:t>An experiment that changes SELENOM and measures both ER and mitochondrial responses can distinguish a specific connection from general cell stress.</a:t>
            </a:r>
          </a:p>
        </p:txBody>
      </p:sp>
    </p:spTree>
    <p:extLst>
      <p:ext uri="{BB962C8B-B14F-4D97-AF65-F5344CB8AC3E}">
        <p14:creationId val="625634126"/>
      </p:ext>
    </p:extLst>
  </p:cSld>
  <p:clrMapOvr>
    <a:masterClrMapping/>
  </p:clrMapOvr>
  <p:transition/>
  <p:timing/>
</p:sld>
</file>

<file path=ppt/slides/slide11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39D8F2BA-EA13-4344-BB28-DCEA1268D94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How prior research supports and limits Finding 10</a:t>
            </a:r>
          </a:p>
        </p:txBody>
      </p:sp>
      <p:sp>
        <p:nvSpPr>
          <p:cNvPr id="3" name="TextBox 2">
            <a:extLst>
              <a:ext uri="{FF2B5EF4-FFF2-40B4-BE49-F238E27FC236}">
                <a16:creationId xmlns:a16="http://schemas.microsoft.com/office/drawing/2014/main" id="{CC084186-73EE-4850-AE7A-77F15A65910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57A73BA5-9171-4E9A-95B6-AF859E9BCD40}"/>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3A1B4E3-73DE-4DB1-8E23-438B4390052D}"/>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500" b="1" i="0">
                <a:solidFill>
                  <a:srgbClr val="0072B2"/>
                </a:solidFill>
                <a:latin typeface="Arial"/>
                <a:ea typeface="Arial"/>
                <a:cs typeface="Arial"/>
              </a:rPr>
              <a:t>Ferguson et al. 2006</a:t>
            </a:r>
          </a:p>
        </p:txBody>
      </p:sp>
      <p:sp>
        <p:nvSpPr>
          <p:cNvPr id="6" name="TextBox 5">
            <a:extLst>
              <a:ext uri="{FF2B5EF4-FFF2-40B4-BE49-F238E27FC236}">
                <a16:creationId xmlns:a16="http://schemas.microsoft.com/office/drawing/2014/main" id="{B7E6A33E-B068-4D68-9276-D8E4243CBAFF}"/>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350" b="1" i="0">
                <a:solidFill>
                  <a:srgbClr val="0F233D"/>
                </a:solidFill>
                <a:latin typeface="Arial"/>
                <a:ea typeface="Arial"/>
                <a:cs typeface="Arial"/>
              </a:rPr>
              <a:t>What SELENOM does</a:t>
            </a:r>
          </a:p>
        </p:txBody>
      </p:sp>
      <p:sp>
        <p:nvSpPr>
          <p:cNvPr id="7" name="TextBox 6">
            <a:extLst>
              <a:ext uri="{FF2B5EF4-FFF2-40B4-BE49-F238E27FC236}">
                <a16:creationId xmlns:a16="http://schemas.microsoft.com/office/drawing/2014/main" id="{B423AADD-68F7-42DC-8C55-173CBC52095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0742ECA0-2C00-4E88-8789-BF08A61F8F6D}"/>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80" b="0" i="0">
                <a:solidFill>
                  <a:srgbClr val="1F2730"/>
                </a:solidFill>
                <a:latin typeface="Arial"/>
                <a:ea typeface="Arial"/>
                <a:cs typeface="Arial"/>
              </a:rPr>
              <a:t>Shows that SELENOM is a protein inside the ER that helps control reversible oxidation reactions.</a:t>
            </a:r>
          </a:p>
        </p:txBody>
      </p:sp>
      <p:sp>
        <p:nvSpPr>
          <p:cNvPr id="9" name="TextBox 8">
            <a:extLst>
              <a:ext uri="{FF2B5EF4-FFF2-40B4-BE49-F238E27FC236}">
                <a16:creationId xmlns:a16="http://schemas.microsoft.com/office/drawing/2014/main" id="{F5C681ED-C22F-409B-8F4A-087032B5111B}"/>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3C10CD6C-F45D-4932-8331-D7AA10FBBDE3}"/>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60" b="0" i="0">
                <a:solidFill>
                  <a:srgbClr val="4E5A68"/>
                </a:solidFill>
                <a:latin typeface="Arial"/>
                <a:ea typeface="Arial"/>
                <a:cs typeface="Arial"/>
              </a:rPr>
              <a:t>Does not establish mitochondrial regulation in AD.</a:t>
            </a:r>
          </a:p>
        </p:txBody>
      </p:sp>
      <p:sp>
        <p:nvSpPr>
          <p:cNvPr id="11" name="Rounded Rectangle 10">
            <a:extLst>
              <a:ext uri="{FF2B5EF4-FFF2-40B4-BE49-F238E27FC236}">
                <a16:creationId xmlns:a16="http://schemas.microsoft.com/office/drawing/2014/main" id="{B1E1B27D-FD26-45EE-8154-2B16B1018FAB}"/>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1EEDCAD3-328B-4EC4-94C3-316A45E9B3C9}"/>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500" b="1" i="0">
                <a:solidFill>
                  <a:srgbClr val="00684D"/>
                </a:solidFill>
                <a:latin typeface="Arial"/>
                <a:ea typeface="Arial"/>
                <a:cs typeface="Arial"/>
              </a:rPr>
              <a:t>Yim et al. 2009</a:t>
            </a:r>
          </a:p>
        </p:txBody>
      </p:sp>
      <p:sp>
        <p:nvSpPr>
          <p:cNvPr id="13" name="TextBox 12">
            <a:extLst>
              <a:ext uri="{FF2B5EF4-FFF2-40B4-BE49-F238E27FC236}">
                <a16:creationId xmlns:a16="http://schemas.microsoft.com/office/drawing/2014/main" id="{A5841D23-41FA-429A-9D1F-29AC1219A37D}"/>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350" b="1" i="0">
                <a:solidFill>
                  <a:srgbClr val="0F233D"/>
                </a:solidFill>
                <a:latin typeface="Arial"/>
                <a:ea typeface="Arial"/>
                <a:cs typeface="Arial"/>
              </a:rPr>
              <a:t>Oxidation and calcium in neurons</a:t>
            </a:r>
          </a:p>
        </p:txBody>
      </p:sp>
      <p:sp>
        <p:nvSpPr>
          <p:cNvPr id="14" name="TextBox 13">
            <a:extLst>
              <a:ext uri="{FF2B5EF4-FFF2-40B4-BE49-F238E27FC236}">
                <a16:creationId xmlns:a16="http://schemas.microsoft.com/office/drawing/2014/main" id="{BAF7FCCB-92E1-4224-BF2D-D70FDB407B6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B737E11E-28F5-4D49-B55D-0CBB650C860B}"/>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80" b="0" i="0">
                <a:solidFill>
                  <a:srgbClr val="1F2730"/>
                </a:solidFill>
                <a:latin typeface="Arial"/>
                <a:ea typeface="Arial"/>
                <a:cs typeface="Arial"/>
              </a:rPr>
              <a:t>Shows that SELENOM helps regulate oxidation and calcium in neurons.</a:t>
            </a:r>
          </a:p>
        </p:txBody>
      </p:sp>
      <p:sp>
        <p:nvSpPr>
          <p:cNvPr id="16" name="TextBox 15">
            <a:extLst>
              <a:ext uri="{FF2B5EF4-FFF2-40B4-BE49-F238E27FC236}">
                <a16:creationId xmlns:a16="http://schemas.microsoft.com/office/drawing/2014/main" id="{AE4E3E12-130F-4733-8F0E-5766C63E1678}"/>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136EF260-BB56-4396-AA72-743B3C7C95E5}"/>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60" b="0" i="0">
                <a:solidFill>
                  <a:srgbClr val="4E5A68"/>
                </a:solidFill>
                <a:latin typeface="Arial"/>
                <a:ea typeface="Arial"/>
                <a:cs typeface="Arial"/>
              </a:rPr>
              <a:t>Experimental evidence does not reproduce the human network.</a:t>
            </a:r>
          </a:p>
        </p:txBody>
      </p:sp>
      <p:sp>
        <p:nvSpPr>
          <p:cNvPr id="18" name="Rounded Rectangle 17">
            <a:extLst>
              <a:ext uri="{FF2B5EF4-FFF2-40B4-BE49-F238E27FC236}">
                <a16:creationId xmlns:a16="http://schemas.microsoft.com/office/drawing/2014/main" id="{5885393C-5225-4F0A-BED9-7115AC38A846}"/>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00AC170-5527-4A10-9192-E94ECFE18EB5}"/>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500" b="1" i="0">
                <a:solidFill>
                  <a:srgbClr val="895600"/>
                </a:solidFill>
                <a:latin typeface="Arial"/>
                <a:ea typeface="Arial"/>
                <a:cs typeface="Arial"/>
              </a:rPr>
              <a:t>Experimental Aβ study</a:t>
            </a:r>
          </a:p>
        </p:txBody>
      </p:sp>
      <p:sp>
        <p:nvSpPr>
          <p:cNvPr id="20" name="TextBox 19">
            <a:extLst>
              <a:ext uri="{FF2B5EF4-FFF2-40B4-BE49-F238E27FC236}">
                <a16:creationId xmlns:a16="http://schemas.microsoft.com/office/drawing/2014/main" id="{ECA4BFE1-40FC-448E-BA23-245BF5C47412}"/>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350" b="1" i="0">
                <a:solidFill>
                  <a:srgbClr val="0F233D"/>
                </a:solidFill>
                <a:latin typeface="Arial"/>
                <a:ea typeface="Arial"/>
                <a:cs typeface="Arial"/>
              </a:rPr>
              <a:t>SELENOM and AD-related outcomes</a:t>
            </a:r>
          </a:p>
        </p:txBody>
      </p:sp>
      <p:sp>
        <p:nvSpPr>
          <p:cNvPr id="21" name="TextBox 20">
            <a:extLst>
              <a:ext uri="{FF2B5EF4-FFF2-40B4-BE49-F238E27FC236}">
                <a16:creationId xmlns:a16="http://schemas.microsoft.com/office/drawing/2014/main" id="{32415A96-B758-41C0-8122-D6B4D052504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5D4E651-D6ED-4FDB-8C57-33BF50D036AF}"/>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80" b="0" i="0">
                <a:solidFill>
                  <a:srgbClr val="1F2730"/>
                </a:solidFill>
                <a:latin typeface="Arial"/>
                <a:ea typeface="Arial"/>
                <a:cs typeface="Arial"/>
              </a:rPr>
              <a:t>Reports effects on amyloid-β-related and mitochondrial outcomes in cells or animals.</a:t>
            </a:r>
          </a:p>
        </p:txBody>
      </p:sp>
      <p:sp>
        <p:nvSpPr>
          <p:cNvPr id="23" name="TextBox 22">
            <a:extLst>
              <a:ext uri="{FF2B5EF4-FFF2-40B4-BE49-F238E27FC236}">
                <a16:creationId xmlns:a16="http://schemas.microsoft.com/office/drawing/2014/main" id="{AACB4F48-A51D-48D7-950D-0931989352BB}"/>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44A4F606-21B2-44D9-A8D0-C2319281231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60" b="0" i="0">
                <a:solidFill>
                  <a:srgbClr val="4E5A68"/>
                </a:solidFill>
                <a:latin typeface="Arial"/>
                <a:ea typeface="Arial"/>
                <a:cs typeface="Arial"/>
              </a:rPr>
              <a:t>Results from cells or animals do not prove the network connections observed in ROSMAP.</a:t>
            </a:r>
          </a:p>
        </p:txBody>
      </p:sp>
      <p:sp>
        <p:nvSpPr>
          <p:cNvPr id="25" name="Rounded Rectangle 24">
            <a:extLst>
              <a:ext uri="{FF2B5EF4-FFF2-40B4-BE49-F238E27FC236}">
                <a16:creationId xmlns:a16="http://schemas.microsoft.com/office/drawing/2014/main" id="{89980199-0156-448F-B7C6-E4FDFC8F3595}"/>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FB7570F-8D64-454C-B200-26CB726C53F9}"/>
              </a:ext>
            </a:extLst>
          </p:cNvPr>
          <p:cNvSpPr>
            <a:spLocks noGrp="1"/>
          </p:cNvSpPr>
          <p:nvPr/>
        </p:nvSpPr>
        <p:spPr>
          <a:xfrm>
            <a:off x="896112" y="5952744"/>
            <a:ext cx="10405872" cy="221599"/>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lang="en-US" sz="1080" b="1" i="0">
                <a:solidFill>
                  <a:srgbClr val="7E4C9A"/>
                </a:solidFill>
                <a:latin typeface="Arial"/>
                <a:ea typeface="Arial"/>
                <a:cs typeface="Arial"/>
              </a:rPr>
              <a:t>N</a:t>
            </a:r>
            <a:r>
              <a:rPr sz="1080" b="1" i="0">
                <a:solidFill>
                  <a:srgbClr val="7E4C9A"/>
                </a:solidFill>
                <a:latin typeface="Arial"/>
                <a:ea typeface="Arial"/>
                <a:cs typeface="Arial"/>
              </a:rPr>
              <a:t>ovelty: High</a:t>
            </a:r>
          </a:p>
        </p:txBody>
      </p:sp>
    </p:spTree>
    <p:extLst>
      <p:ext uri="{BB962C8B-B14F-4D97-AF65-F5344CB8AC3E}">
        <p14:creationId val="157916035"/>
      </p:ext>
    </p:extLst>
  </p:cSld>
  <p:clrMapOvr>
    <a:masterClrMapping/>
  </p:clrMapOvr>
  <p:transition/>
  <p:timing/>
</p:sld>
</file>

<file path=ppt/slides/slide11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0F233D"/>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28AE71C3-B903-4E26-A80F-F179F437B99F}"/>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050" b="1" i="0">
                <a:solidFill>
                  <a:srgbClr val="E69F00"/>
                </a:solidFill>
                <a:latin typeface="Arial"/>
                <a:ea typeface="Arial"/>
                <a:cs typeface="Arial"/>
              </a:rPr>
              <a:t>FINDING 11</a:t>
            </a:r>
          </a:p>
        </p:txBody>
      </p:sp>
      <p:sp>
        <p:nvSpPr>
          <p:cNvPr id="3" name="Rectangle 2">
            <a:extLst>
              <a:ext uri="{FF2B5EF4-FFF2-40B4-BE49-F238E27FC236}">
                <a16:creationId xmlns:a16="http://schemas.microsoft.com/office/drawing/2014/main" id="{2AF96CC5-472B-4533-A22E-A5C552FA5415}"/>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49DE99C8-9D8F-416F-8040-BDD70E3EBABD}"/>
              </a:ext>
            </a:extLst>
          </p:cNvPr>
          <p:cNvSpPr>
            <a:spLocks noGrp="1"/>
          </p:cNvSpPr>
          <p:nvPr/>
        </p:nvSpPr>
        <p:spPr>
          <a:xfrm>
            <a:off x="1078992" y="1243584"/>
            <a:ext cx="7498079" cy="1060704"/>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2200" b="1" i="0">
                <a:solidFill>
                  <a:srgbClr val="FFFFFF"/>
                </a:solidFill>
                <a:latin typeface="Arial"/>
                <a:ea typeface="Arial"/>
                <a:cs typeface="Arial"/>
              </a:rPr>
              <a:t>SELENOW connects oxidative-stress control, mitochondrial respiration, and removal of damaged proteins</a:t>
            </a:r>
          </a:p>
        </p:txBody>
      </p:sp>
      <p:sp>
        <p:nvSpPr>
          <p:cNvPr id="5" name="TextBox 4">
            <a:extLst>
              <a:ext uri="{FF2B5EF4-FFF2-40B4-BE49-F238E27FC236}">
                <a16:creationId xmlns:a16="http://schemas.microsoft.com/office/drawing/2014/main" id="{9452CEC1-6E1B-4A65-8B79-583802130A07}"/>
              </a:ext>
            </a:extLst>
          </p:cNvPr>
          <p:cNvSpPr>
            <a:spLocks noGrp="1"/>
          </p:cNvSpPr>
          <p:nvPr/>
        </p:nvSpPr>
        <p:spPr>
          <a:xfrm>
            <a:off x="1097280" y="2468880"/>
            <a:ext cx="7406640" cy="914400"/>
          </a:xfrm>
          <a:prstGeom prst="rect">
            <a:avLst/>
          </a:prstGeom>
          <a:noFill/>
        </p:spPr>
        <p:txBody>
          <a:bodyPr wrap="square" lIns="0" tIns="0" rIns="0" bIns="0" anchor="t">
            <a:normAutofit/>
          </a:bodyPr>
          <a:lstStyle/>
          <a:p>
            <a:pPr algn="l">
              <a:lnSpc>
                <a:spcPct val="100000"/>
              </a:lnSpc>
              <a:spcBef>
                <a:spcPct val="0"/>
              </a:spcBef>
              <a:spcAft>
                <a:spcPct val="0"/>
              </a:spcAft>
              <a:buNone/>
              <a:defRPr sz="1350" b="1">
                <a:solidFill>
                  <a:srgbClr val="E6A700"/>
                </a:solidFill>
                <a:latin typeface="Arial"/>
                <a:ea typeface="Arial"/>
                <a:cs typeface="Arial"/>
              </a:defRPr>
            </a:pPr>
            <a:r>
              <a:rPr sz="1350" b="1" i="0">
                <a:solidFill>
                  <a:srgbClr val="E6A700"/>
                </a:solidFill>
                <a:latin typeface="Arial"/>
                <a:ea typeface="Arial"/>
                <a:cs typeface="Arial"/>
              </a:rPr>
              <a:t>Observed in: female ε2, female ε4, male ε2, and male ε3/ε3</a:t>
            </a:r>
          </a:p>
        </p:txBody>
      </p:sp>
      <p:sp>
        <p:nvSpPr>
          <p:cNvPr id="6" name="Rounded Rectangle 5">
            <a:extLst>
              <a:ext uri="{FF2B5EF4-FFF2-40B4-BE49-F238E27FC236}">
                <a16:creationId xmlns:a16="http://schemas.microsoft.com/office/drawing/2014/main" id="{E22CBE5B-0DE4-47C3-99AC-3A553184D181}"/>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8E6DEDB-C735-4E80-BC67-4AECA14A669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0263190D-3F71-4A68-B64B-DE0557DE3B75}"/>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286501B-5C6D-4F2B-A603-95FC5F42608A}"/>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43878683-A7A6-4791-9464-99AD1AD7FA6F}"/>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DC5220BB-36F0-4523-96B5-FEDC73F3ADF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07B96EE4-E690-4F74-BE82-E4AA97E7B8D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F2625498-03E7-4191-8344-1B2B354EB22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00F69BB-A3A7-40E1-B493-89E56D9D52EB}"/>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405D5331-ED92-4E62-9E2B-A5607D6CC74F}"/>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7EB28AC4-F9F6-4819-B3D0-1D2617FD7B2A}"/>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01EE904-01D1-4D0D-B66C-E1B718E0E174}"/>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CBB69BA-0A80-4C2F-9339-EB12447333EF}"/>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0A1FC943-E13B-4F93-A7A5-812008EECEC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3BCD8BF1-8926-49EE-BAF2-80D6283B87BA}"/>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9FB8FB4-1B1F-49D7-9D34-1F1262EE2FF9}"/>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20" b="1" i="0">
                <a:solidFill>
                  <a:srgbClr val="FFFFFF"/>
                </a:solidFill>
                <a:latin typeface="Arial"/>
                <a:ea typeface="Arial"/>
                <a:cs typeface="Arial"/>
              </a:rPr>
              <a:t>SELENOW is connected to genes involved in mitochondrial respiration, protein production, and removal of damaged mitochondrial proteins.</a:t>
            </a:r>
          </a:p>
        </p:txBody>
      </p:sp>
    </p:spTree>
    <p:extLst>
      <p:ext uri="{BB962C8B-B14F-4D97-AF65-F5344CB8AC3E}">
        <p14:creationId val="1371807081"/>
      </p:ext>
    </p:extLst>
  </p:cSld>
  <p:clrMapOvr>
    <a:masterClrMapping/>
  </p:clrMapOvr>
  <p:transition/>
  <p:timing/>
</p:sld>
</file>

<file path=ppt/slides/slide12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D71092ED-78A0-4E0A-B7D8-E9C8BB682A60}"/>
              </a:ext>
            </a:extLst>
          </p:cNvPr>
          <p:cNvSpPr>
            <a:spLocks noGrp="1"/>
          </p:cNvSpPr>
          <p:nvPr/>
        </p:nvSpPr>
        <p:spPr>
          <a:xfrm>
            <a:off x="530352" y="292608"/>
            <a:ext cx="11064240" cy="66446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000" b="1" i="0">
                <a:solidFill>
                  <a:srgbClr val="0F233D"/>
                </a:solidFill>
                <a:latin typeface="Arial"/>
                <a:ea typeface="Arial"/>
                <a:cs typeface="Arial"/>
              </a:rPr>
              <a:t>SELENOW connects oxidative-stress control with mitochondrial respiration and damaged-protein removal</a:t>
            </a:r>
          </a:p>
        </p:txBody>
      </p:sp>
      <p:sp>
        <p:nvSpPr>
          <p:cNvPr id="3" name="TextBox 2">
            <a:extLst>
              <a:ext uri="{FF2B5EF4-FFF2-40B4-BE49-F238E27FC236}">
                <a16:creationId xmlns:a16="http://schemas.microsoft.com/office/drawing/2014/main" id="{14097AC4-DF0C-4E5B-8288-18A112672EE2}"/>
              </a:ext>
            </a:extLst>
          </p:cNvPr>
          <p:cNvSpPr>
            <a:spLocks noGrp="1"/>
          </p:cNvSpPr>
          <p:nvPr/>
        </p:nvSpPr>
        <p:spPr>
          <a:xfrm>
            <a:off x="548640" y="907119"/>
            <a:ext cx="10927080" cy="486287"/>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00" b="1" i="0">
                <a:latin typeface="Arial"/>
                <a:ea typeface="Arial"/>
                <a:cs typeface="Arial"/>
              </a:rPr>
              <a:t>Cells must control oxidation to prevent damaging oxidative stress. SELENOW should not be treated as the same mechanism as SELENOM.</a:t>
            </a:r>
          </a:p>
        </p:txBody>
      </p:sp>
      <p:sp>
        <p:nvSpPr>
          <p:cNvPr id="4" name="Rounded Rectangle 3">
            <a:extLst>
              <a:ext uri="{FF2B5EF4-FFF2-40B4-BE49-F238E27FC236}">
                <a16:creationId xmlns:a16="http://schemas.microsoft.com/office/drawing/2014/main" id="{3BA7FE4B-6C76-456F-B1A5-EEC56BB91FFF}"/>
              </a:ext>
            </a:extLst>
          </p:cNvPr>
          <p:cNvSpPr>
            <a:spLocks noGrp="1"/>
          </p:cNvSpPr>
          <p:nvPr/>
        </p:nvSpPr>
        <p:spPr>
          <a:xfrm>
            <a:off x="749808" y="1422739"/>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3B94E2F-9849-4C59-AA76-9518695ABE29}"/>
              </a:ext>
            </a:extLst>
          </p:cNvPr>
          <p:cNvSpPr>
            <a:spLocks noGrp="1"/>
          </p:cNvSpPr>
          <p:nvPr/>
        </p:nvSpPr>
        <p:spPr>
          <a:xfrm>
            <a:off x="841247" y="1523323"/>
            <a:ext cx="2359151" cy="213360"/>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40" b="1" i="0">
                <a:solidFill>
                  <a:srgbClr val="0072B2"/>
                </a:solidFill>
                <a:latin typeface="Arial"/>
                <a:ea typeface="Arial"/>
                <a:cs typeface="Arial"/>
              </a:rPr>
              <a:t>16 neuronal KDA calls</a:t>
            </a:r>
          </a:p>
        </p:txBody>
      </p:sp>
      <p:sp>
        <p:nvSpPr>
          <p:cNvPr id="6" name="Rounded Rectangle 5">
            <a:extLst>
              <a:ext uri="{FF2B5EF4-FFF2-40B4-BE49-F238E27FC236}">
                <a16:creationId xmlns:a16="http://schemas.microsoft.com/office/drawing/2014/main" id="{61B89432-C079-4B9E-BA7C-C5A9F080EB91}"/>
              </a:ext>
            </a:extLst>
          </p:cNvPr>
          <p:cNvSpPr>
            <a:spLocks noGrp="1"/>
          </p:cNvSpPr>
          <p:nvPr/>
        </p:nvSpPr>
        <p:spPr>
          <a:xfrm>
            <a:off x="3566160" y="1422739"/>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C16F0CA-8684-4D40-B1DD-AAFAB6760928}"/>
              </a:ext>
            </a:extLst>
          </p:cNvPr>
          <p:cNvSpPr>
            <a:spLocks noGrp="1"/>
          </p:cNvSpPr>
          <p:nvPr/>
        </p:nvSpPr>
        <p:spPr>
          <a:xfrm>
            <a:off x="3657600" y="1523323"/>
            <a:ext cx="2359151"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40" b="1" i="0">
                <a:solidFill>
                  <a:srgbClr val="00684D"/>
                </a:solidFill>
                <a:latin typeface="Arial"/>
                <a:ea typeface="Arial"/>
                <a:cs typeface="Arial"/>
              </a:rPr>
              <a:t>Six categories</a:t>
            </a:r>
          </a:p>
        </p:txBody>
      </p:sp>
      <p:sp>
        <p:nvSpPr>
          <p:cNvPr id="8" name="Rounded Rectangle 7">
            <a:extLst>
              <a:ext uri="{FF2B5EF4-FFF2-40B4-BE49-F238E27FC236}">
                <a16:creationId xmlns:a16="http://schemas.microsoft.com/office/drawing/2014/main" id="{3A01FA95-8520-4130-A2B9-131EF843A4BD}"/>
              </a:ext>
            </a:extLst>
          </p:cNvPr>
          <p:cNvSpPr>
            <a:spLocks noGrp="1"/>
          </p:cNvSpPr>
          <p:nvPr/>
        </p:nvSpPr>
        <p:spPr>
          <a:xfrm>
            <a:off x="6382512" y="1422739"/>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5B5A533-E38B-4593-9033-C841FC610423}"/>
              </a:ext>
            </a:extLst>
          </p:cNvPr>
          <p:cNvSpPr>
            <a:spLocks noGrp="1"/>
          </p:cNvSpPr>
          <p:nvPr/>
        </p:nvSpPr>
        <p:spPr>
          <a:xfrm>
            <a:off x="6473952" y="1523323"/>
            <a:ext cx="2359151" cy="213360"/>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40" b="1" i="0">
                <a:solidFill>
                  <a:srgbClr val="895600"/>
                </a:solidFill>
                <a:latin typeface="Arial"/>
                <a:ea typeface="Arial"/>
                <a:cs typeface="Arial"/>
              </a:rPr>
              <a:t>Control of oxidative stress</a:t>
            </a:r>
          </a:p>
        </p:txBody>
      </p:sp>
      <p:sp>
        <p:nvSpPr>
          <p:cNvPr id="10" name="Rounded Rectangle 9">
            <a:extLst>
              <a:ext uri="{FF2B5EF4-FFF2-40B4-BE49-F238E27FC236}">
                <a16:creationId xmlns:a16="http://schemas.microsoft.com/office/drawing/2014/main" id="{8601A96E-7703-47A2-BFCC-D0BDBA431D9E}"/>
              </a:ext>
            </a:extLst>
          </p:cNvPr>
          <p:cNvSpPr>
            <a:spLocks noGrp="1"/>
          </p:cNvSpPr>
          <p:nvPr/>
        </p:nvSpPr>
        <p:spPr>
          <a:xfrm>
            <a:off x="9198864" y="1422739"/>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382BF97E-2C7A-4803-A63F-21DB76A05EC0}"/>
              </a:ext>
            </a:extLst>
          </p:cNvPr>
          <p:cNvSpPr>
            <a:spLocks noGrp="1"/>
          </p:cNvSpPr>
          <p:nvPr/>
        </p:nvSpPr>
        <p:spPr>
          <a:xfrm>
            <a:off x="9290304" y="1523323"/>
            <a:ext cx="2359151" cy="371856"/>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40" b="1" i="0">
                <a:solidFill>
                  <a:srgbClr val="9E3A00"/>
                </a:solidFill>
                <a:latin typeface="Arial"/>
                <a:ea typeface="Arial"/>
                <a:cs typeface="Arial"/>
              </a:rPr>
              <a:t>Genes from several mitochondrial functions</a:t>
            </a:r>
          </a:p>
        </p:txBody>
      </p:sp>
      <p:sp>
        <p:nvSpPr>
          <p:cNvPr id="12" name="Rounded Rectangle 11">
            <a:extLst>
              <a:ext uri="{FF2B5EF4-FFF2-40B4-BE49-F238E27FC236}">
                <a16:creationId xmlns:a16="http://schemas.microsoft.com/office/drawing/2014/main" id="{EA650C1E-A510-40C3-BA62-61E4A8A0C16A}"/>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F9CAEDA-41E6-437C-B7AD-C4610C4CF98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72B2"/>
                </a:solidFill>
                <a:latin typeface="Arial"/>
                <a:ea typeface="Arial"/>
                <a:cs typeface="Arial"/>
              </a:rPr>
              <a:t>RESPIRATION</a:t>
            </a:r>
          </a:p>
        </p:txBody>
      </p:sp>
      <p:sp>
        <p:nvSpPr>
          <p:cNvPr id="14" name="TextBox 13">
            <a:extLst>
              <a:ext uri="{FF2B5EF4-FFF2-40B4-BE49-F238E27FC236}">
                <a16:creationId xmlns:a16="http://schemas.microsoft.com/office/drawing/2014/main" id="{8605780C-D738-4FE1-93F6-BDEC83006E8A}"/>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NDUFB11, COA3, CYC1</a:t>
            </a:r>
          </a:p>
        </p:txBody>
      </p:sp>
      <p:sp>
        <p:nvSpPr>
          <p:cNvPr id="15" name="TextBox 14">
            <a:extLst>
              <a:ext uri="{FF2B5EF4-FFF2-40B4-BE49-F238E27FC236}">
                <a16:creationId xmlns:a16="http://schemas.microsoft.com/office/drawing/2014/main" id="{0633BAC4-C298-4D36-B837-91837F4CFD14}"/>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These genes support respiratory-complex function.</a:t>
            </a:r>
          </a:p>
        </p:txBody>
      </p:sp>
      <p:sp>
        <p:nvSpPr>
          <p:cNvPr id="16" name="Rounded Rectangle 15">
            <a:extLst>
              <a:ext uri="{FF2B5EF4-FFF2-40B4-BE49-F238E27FC236}">
                <a16:creationId xmlns:a16="http://schemas.microsoft.com/office/drawing/2014/main" id="{6293577D-DCF4-4591-8017-096DE898038F}"/>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AE82BB7-AEB2-4F81-AFB4-170F4C2B4526}"/>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684D"/>
                </a:solidFill>
                <a:latin typeface="Arial"/>
                <a:ea typeface="Arial"/>
                <a:cs typeface="Arial"/>
              </a:rPr>
              <a:t>PROTEIN PRODUCTION</a:t>
            </a:r>
          </a:p>
        </p:txBody>
      </p:sp>
      <p:sp>
        <p:nvSpPr>
          <p:cNvPr id="18" name="TextBox 17">
            <a:extLst>
              <a:ext uri="{FF2B5EF4-FFF2-40B4-BE49-F238E27FC236}">
                <a16:creationId xmlns:a16="http://schemas.microsoft.com/office/drawing/2014/main" id="{F464E1D9-5B66-422B-899F-F374D2023D85}"/>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MRPS34 and MRPL34</a:t>
            </a:r>
          </a:p>
        </p:txBody>
      </p:sp>
      <p:sp>
        <p:nvSpPr>
          <p:cNvPr id="19" name="TextBox 18">
            <a:extLst>
              <a:ext uri="{FF2B5EF4-FFF2-40B4-BE49-F238E27FC236}">
                <a16:creationId xmlns:a16="http://schemas.microsoft.com/office/drawing/2014/main" id="{E4B8A19B-713B-4AD9-92F7-5B0AB19683DD}"/>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These genes help mitochondria make their own encoded proteins.</a:t>
            </a:r>
          </a:p>
        </p:txBody>
      </p:sp>
      <p:sp>
        <p:nvSpPr>
          <p:cNvPr id="20" name="Rounded Rectangle 19">
            <a:extLst>
              <a:ext uri="{FF2B5EF4-FFF2-40B4-BE49-F238E27FC236}">
                <a16:creationId xmlns:a16="http://schemas.microsoft.com/office/drawing/2014/main" id="{738A54D0-AE13-4F8F-8F23-CEF987131147}"/>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772BFD78-5A7B-436C-84D8-22B50F10DAD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895600"/>
                </a:solidFill>
                <a:latin typeface="Arial"/>
                <a:ea typeface="Arial"/>
                <a:cs typeface="Arial"/>
              </a:rPr>
              <a:t>REMOVAL OF DAMAGED PROTEINS</a:t>
            </a:r>
          </a:p>
        </p:txBody>
      </p:sp>
      <p:sp>
        <p:nvSpPr>
          <p:cNvPr id="22" name="TextBox 21">
            <a:extLst>
              <a:ext uri="{FF2B5EF4-FFF2-40B4-BE49-F238E27FC236}">
                <a16:creationId xmlns:a16="http://schemas.microsoft.com/office/drawing/2014/main" id="{51AE5BD1-B7D5-4571-8956-2D6D677DDFC8}"/>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CLPP and inner-membrane genes</a:t>
            </a:r>
          </a:p>
        </p:txBody>
      </p:sp>
      <p:sp>
        <p:nvSpPr>
          <p:cNvPr id="23" name="TextBox 22">
            <a:extLst>
              <a:ext uri="{FF2B5EF4-FFF2-40B4-BE49-F238E27FC236}">
                <a16:creationId xmlns:a16="http://schemas.microsoft.com/office/drawing/2014/main" id="{02630CB0-F4F1-4249-A163-4B8506441031}"/>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Connected genes include CLPP, which removes damaged mitochondrial proteins, and genes that transport molecules across the inner membrane.</a:t>
            </a:r>
          </a:p>
        </p:txBody>
      </p:sp>
      <p:sp>
        <p:nvSpPr>
          <p:cNvPr id="24" name="Rounded Rectangle 23">
            <a:extLst>
              <a:ext uri="{FF2B5EF4-FFF2-40B4-BE49-F238E27FC236}">
                <a16:creationId xmlns:a16="http://schemas.microsoft.com/office/drawing/2014/main" id="{F3190ED8-2490-4867-B33B-748A0C59A89D}"/>
              </a:ext>
            </a:extLst>
          </p:cNvPr>
          <p:cNvSpPr>
            <a:spLocks noGrp="1"/>
          </p:cNvSpPr>
          <p:nvPr/>
        </p:nvSpPr>
        <p:spPr>
          <a:xfrm>
            <a:off x="658368" y="6179039"/>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1FC7F13-ECFE-4404-A16B-553577B13920}"/>
              </a:ext>
            </a:extLst>
          </p:cNvPr>
          <p:cNvSpPr>
            <a:spLocks noGrp="1"/>
          </p:cNvSpPr>
          <p:nvPr/>
        </p:nvSpPr>
        <p:spPr>
          <a:xfrm>
            <a:off x="896112" y="6307055"/>
            <a:ext cx="10405872" cy="40233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40" b="1" i="0">
                <a:solidFill>
                  <a:srgbClr val="7E4C9A"/>
                </a:solidFill>
                <a:latin typeface="Arial"/>
                <a:ea typeface="Arial"/>
                <a:cs typeface="Arial"/>
              </a:rPr>
              <a:t>The connected genes span oxidative-stress control, respiration, protein production, and removal of damaged proteins rather than one narrow OXPHOS connection.</a:t>
            </a:r>
          </a:p>
        </p:txBody>
      </p:sp>
    </p:spTree>
    <p:extLst>
      <p:ext uri="{BB962C8B-B14F-4D97-AF65-F5344CB8AC3E}">
        <p14:creationId val="989651908"/>
      </p:ext>
    </p:extLst>
  </p:cSld>
  <p:clrMapOvr>
    <a:masterClrMapping/>
  </p:clrMapOvr>
  <p:transition/>
  <p:timing/>
</p:sld>
</file>

<file path=ppt/slides/slide12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4D6F3676-589A-4AF1-B6F5-35E35897C6A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000" b="1" i="0">
                <a:solidFill>
                  <a:srgbClr val="0F233D"/>
                </a:solidFill>
                <a:latin typeface="Arial"/>
                <a:ea typeface="Arial"/>
                <a:cs typeface="Arial"/>
              </a:rPr>
              <a:t>ROSMAP: SELENOW recurs in neurons and has 123 connections to MitoCarta MT genes</a:t>
            </a:r>
          </a:p>
        </p:txBody>
      </p:sp>
      <p:sp>
        <p:nvSpPr>
          <p:cNvPr id="3" name="TextBox 2">
            <a:extLst>
              <a:ext uri="{FF2B5EF4-FFF2-40B4-BE49-F238E27FC236}">
                <a16:creationId xmlns:a16="http://schemas.microsoft.com/office/drawing/2014/main" id="{05B7C524-54A8-402E-88EC-7DF2B8A07EEF}"/>
              </a:ext>
            </a:extLst>
          </p:cNvPr>
          <p:cNvSpPr>
            <a:spLocks noGrp="1"/>
          </p:cNvSpPr>
          <p:nvPr/>
        </p:nvSpPr>
        <p:spPr>
          <a:xfrm>
            <a:off x="548640" y="898242"/>
            <a:ext cx="10927080" cy="270843"/>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00" b="1" i="0">
                <a:latin typeface="Arial"/>
                <a:ea typeface="Arial"/>
                <a:cs typeface="Arial"/>
              </a:rPr>
              <a:t>The supporting KDA calls cover excitatory and inhibitory neurons in four sex/APOE groups.</a:t>
            </a:r>
          </a:p>
        </p:txBody>
      </p:sp>
      <p:sp>
        <p:nvSpPr>
          <p:cNvPr id="4" name="Rounded Rectangle 3">
            <a:extLst>
              <a:ext uri="{FF2B5EF4-FFF2-40B4-BE49-F238E27FC236}">
                <a16:creationId xmlns:a16="http://schemas.microsoft.com/office/drawing/2014/main" id="{ADC752C9-1673-4D21-A3F9-B202B5C67789}"/>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25F003C-1610-43EE-96A0-1B9801259E3B}"/>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800" b="1" i="0">
                <a:solidFill>
                  <a:srgbClr val="0072B2"/>
                </a:solidFill>
                <a:latin typeface="Arial"/>
                <a:ea typeface="Arial"/>
                <a:cs typeface="Arial"/>
              </a:rPr>
              <a:t>16</a:t>
            </a:r>
          </a:p>
        </p:txBody>
      </p:sp>
      <p:sp>
        <p:nvSpPr>
          <p:cNvPr id="6" name="TextBox 5">
            <a:extLst>
              <a:ext uri="{FF2B5EF4-FFF2-40B4-BE49-F238E27FC236}">
                <a16:creationId xmlns:a16="http://schemas.microsoft.com/office/drawing/2014/main" id="{13711D29-916C-4E5D-9910-E3FE21D3B2C5}"/>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19" b="1" i="0">
                <a:solidFill>
                  <a:srgbClr val="0F233D"/>
                </a:solidFill>
                <a:latin typeface="Arial"/>
                <a:ea typeface="Arial"/>
                <a:cs typeface="Arial"/>
              </a:rPr>
              <a:t>supporting neuronal KDA calls</a:t>
            </a:r>
          </a:p>
        </p:txBody>
      </p:sp>
      <p:sp>
        <p:nvSpPr>
          <p:cNvPr id="7" name="TextBox 6">
            <a:extLst>
              <a:ext uri="{FF2B5EF4-FFF2-40B4-BE49-F238E27FC236}">
                <a16:creationId xmlns:a16="http://schemas.microsoft.com/office/drawing/2014/main" id="{AA6447BB-5C78-4AE1-BC98-8FDA71692C8E}"/>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880" b="0" i="0">
                <a:solidFill>
                  <a:srgbClr val="4E5A68"/>
                </a:solidFill>
                <a:latin typeface="Arial"/>
                <a:ea typeface="Arial"/>
                <a:cs typeface="Arial"/>
              </a:rPr>
              <a:t>six categories, four sex/APOE groups</a:t>
            </a:r>
          </a:p>
        </p:txBody>
      </p:sp>
      <p:sp>
        <p:nvSpPr>
          <p:cNvPr id="8" name="Rounded Rectangle 7">
            <a:extLst>
              <a:ext uri="{FF2B5EF4-FFF2-40B4-BE49-F238E27FC236}">
                <a16:creationId xmlns:a16="http://schemas.microsoft.com/office/drawing/2014/main" id="{40D1835E-0C75-464F-8555-03A8ED2937F7}"/>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E3D9FF1-3B53-4FA6-8C9C-7C880F4EBD86}"/>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800" b="1" i="0">
                <a:solidFill>
                  <a:srgbClr val="00684D"/>
                </a:solidFill>
                <a:latin typeface="Arial"/>
                <a:ea typeface="Arial"/>
                <a:cs typeface="Arial"/>
              </a:rPr>
              <a:t>123</a:t>
            </a:r>
          </a:p>
        </p:txBody>
      </p:sp>
      <p:sp>
        <p:nvSpPr>
          <p:cNvPr id="10" name="TextBox 9">
            <a:extLst>
              <a:ext uri="{FF2B5EF4-FFF2-40B4-BE49-F238E27FC236}">
                <a16:creationId xmlns:a16="http://schemas.microsoft.com/office/drawing/2014/main" id="{E417C5CA-2976-4AD4-8BC8-563C6F7AE21F}"/>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19" b="1" i="0">
                <a:solidFill>
                  <a:srgbClr val="0F233D"/>
                </a:solidFill>
                <a:latin typeface="Arial"/>
                <a:ea typeface="Arial"/>
                <a:cs typeface="Arial"/>
              </a:rPr>
              <a:t>connections to MitoCarta MT genes</a:t>
            </a:r>
          </a:p>
        </p:txBody>
      </p:sp>
      <p:sp>
        <p:nvSpPr>
          <p:cNvPr id="11" name="TextBox 10">
            <a:extLst>
              <a:ext uri="{FF2B5EF4-FFF2-40B4-BE49-F238E27FC236}">
                <a16:creationId xmlns:a16="http://schemas.microsoft.com/office/drawing/2014/main" id="{36C19E73-754E-4921-A460-711FAEAB9054}"/>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880" b="0" i="0">
                <a:solidFill>
                  <a:srgbClr val="4E5A68"/>
                </a:solidFill>
                <a:latin typeface="Arial"/>
                <a:ea typeface="Arial"/>
                <a:cs typeface="Arial"/>
              </a:rPr>
              <a:t>genes from several mitochondrial functions</a:t>
            </a:r>
          </a:p>
        </p:txBody>
      </p:sp>
      <p:sp>
        <p:nvSpPr>
          <p:cNvPr id="12" name="Rounded Rectangle 11">
            <a:extLst>
              <a:ext uri="{FF2B5EF4-FFF2-40B4-BE49-F238E27FC236}">
                <a16:creationId xmlns:a16="http://schemas.microsoft.com/office/drawing/2014/main" id="{794412BA-44E5-480A-9907-57FE1FFFC65E}"/>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E0C033A-2030-4E05-9D00-89F6B6450D7C}"/>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800" b="1" i="0">
                <a:solidFill>
                  <a:srgbClr val="895600"/>
                </a:solidFill>
                <a:latin typeface="Arial"/>
                <a:ea typeface="Arial"/>
                <a:cs typeface="Arial"/>
              </a:rPr>
              <a:t>13/16</a:t>
            </a:r>
          </a:p>
        </p:txBody>
      </p:sp>
      <p:sp>
        <p:nvSpPr>
          <p:cNvPr id="14" name="TextBox 13">
            <a:extLst>
              <a:ext uri="{FF2B5EF4-FFF2-40B4-BE49-F238E27FC236}">
                <a16:creationId xmlns:a16="http://schemas.microsoft.com/office/drawing/2014/main" id="{AE6DDBDB-F681-4F8A-8135-23AD18DED5C9}"/>
              </a:ext>
            </a:extLst>
          </p:cNvPr>
          <p:cNvSpPr>
            <a:spLocks noGrp="1"/>
          </p:cNvSpPr>
          <p:nvPr/>
        </p:nvSpPr>
        <p:spPr>
          <a:xfrm>
            <a:off x="8412480" y="1984248"/>
            <a:ext cx="3127248" cy="365455"/>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19" b="1" i="0">
                <a:solidFill>
                  <a:srgbClr val="0F233D"/>
                </a:solidFill>
                <a:latin typeface="Arial"/>
                <a:ea typeface="Arial"/>
                <a:cs typeface="Arial"/>
              </a:rPr>
              <a:t>input DEG sets with significant OXPHOS enrichment</a:t>
            </a:r>
          </a:p>
        </p:txBody>
      </p:sp>
      <p:sp>
        <p:nvSpPr>
          <p:cNvPr id="15" name="TextBox 14">
            <a:extLst>
              <a:ext uri="{FF2B5EF4-FFF2-40B4-BE49-F238E27FC236}">
                <a16:creationId xmlns:a16="http://schemas.microsoft.com/office/drawing/2014/main" id="{24806FA7-26E3-450B-BC4D-B6C733064EF4}"/>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A2BF0066-25F5-449B-827B-C177C6ADDDBD}"/>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0A29D4D-9BA5-4DC7-B1B4-59C1D1123CA7}"/>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300" b="1" i="0">
                <a:solidFill>
                  <a:srgbClr val="0F233D"/>
                </a:solidFill>
                <a:latin typeface="Arial"/>
                <a:ea typeface="Arial"/>
                <a:cs typeface="Arial"/>
              </a:rPr>
              <a:t>Respiration</a:t>
            </a:r>
          </a:p>
        </p:txBody>
      </p:sp>
      <p:sp>
        <p:nvSpPr>
          <p:cNvPr id="18" name="TextBox 17">
            <a:extLst>
              <a:ext uri="{FF2B5EF4-FFF2-40B4-BE49-F238E27FC236}">
                <a16:creationId xmlns:a16="http://schemas.microsoft.com/office/drawing/2014/main" id="{87D61885-4DE4-4045-9A37-5D789A39518B}"/>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600" b="1" i="0">
                <a:solidFill>
                  <a:srgbClr val="0072B2"/>
                </a:solidFill>
                <a:latin typeface="Arial"/>
                <a:ea typeface="Arial"/>
                <a:cs typeface="Arial"/>
              </a:rPr>
              <a:t>NDUFB11, COA3, CYC1</a:t>
            </a:r>
          </a:p>
        </p:txBody>
      </p:sp>
      <p:sp>
        <p:nvSpPr>
          <p:cNvPr id="19" name="TextBox 18">
            <a:extLst>
              <a:ext uri="{FF2B5EF4-FFF2-40B4-BE49-F238E27FC236}">
                <a16:creationId xmlns:a16="http://schemas.microsoft.com/office/drawing/2014/main" id="{79F5BAA8-8BAF-4E1A-8303-7C9B8C28E183}"/>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150" b="0" i="0">
                <a:solidFill>
                  <a:srgbClr val="1F2730"/>
                </a:solidFill>
                <a:latin typeface="Arial"/>
                <a:ea typeface="Arial"/>
                <a:cs typeface="Arial"/>
              </a:rPr>
              <a:t>Frequently connected genes support mitochondrial respiration</a:t>
            </a:r>
          </a:p>
        </p:txBody>
      </p:sp>
      <p:sp>
        <p:nvSpPr>
          <p:cNvPr id="20" name="Rounded Rectangle 19">
            <a:extLst>
              <a:ext uri="{FF2B5EF4-FFF2-40B4-BE49-F238E27FC236}">
                <a16:creationId xmlns:a16="http://schemas.microsoft.com/office/drawing/2014/main" id="{C18E4912-EA5E-44C5-A0CD-1041605918A3}"/>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97C2BA3-D769-4542-AB72-27952583562C}"/>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300" b="1" i="0">
                <a:solidFill>
                  <a:srgbClr val="0F233D"/>
                </a:solidFill>
                <a:latin typeface="Arial"/>
                <a:ea typeface="Arial"/>
                <a:cs typeface="Arial"/>
              </a:rPr>
              <a:t>Protein production and damaged-protein removal</a:t>
            </a:r>
          </a:p>
        </p:txBody>
      </p:sp>
      <p:sp>
        <p:nvSpPr>
          <p:cNvPr id="22" name="TextBox 21">
            <a:extLst>
              <a:ext uri="{FF2B5EF4-FFF2-40B4-BE49-F238E27FC236}">
                <a16:creationId xmlns:a16="http://schemas.microsoft.com/office/drawing/2014/main" id="{A3F84135-6E23-4160-A1AD-7D9E236F701B}"/>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600" b="1" i="0">
                <a:solidFill>
                  <a:srgbClr val="0072B2"/>
                </a:solidFill>
                <a:latin typeface="Arial"/>
                <a:ea typeface="Arial"/>
                <a:cs typeface="Arial"/>
              </a:rPr>
              <a:t>MRPS34, MRPL34, CLPP</a:t>
            </a:r>
          </a:p>
        </p:txBody>
      </p:sp>
      <p:sp>
        <p:nvSpPr>
          <p:cNvPr id="23" name="TextBox 22">
            <a:extLst>
              <a:ext uri="{FF2B5EF4-FFF2-40B4-BE49-F238E27FC236}">
                <a16:creationId xmlns:a16="http://schemas.microsoft.com/office/drawing/2014/main" id="{6A053250-5A03-4CEB-A9A6-1F682A5A6781}"/>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150" b="0" i="0">
                <a:solidFill>
                  <a:srgbClr val="1F2730"/>
                </a:solidFill>
                <a:latin typeface="Arial"/>
                <a:ea typeface="Arial"/>
                <a:cs typeface="Arial"/>
              </a:rPr>
              <a:t>Connected genes include mitochondrial ribosome genes and CLPP, which removes damaged proteins</a:t>
            </a:r>
          </a:p>
        </p:txBody>
      </p:sp>
      <p:sp>
        <p:nvSpPr>
          <p:cNvPr id="24" name="Rounded Rectangle 23">
            <a:extLst>
              <a:ext uri="{FF2B5EF4-FFF2-40B4-BE49-F238E27FC236}">
                <a16:creationId xmlns:a16="http://schemas.microsoft.com/office/drawing/2014/main" id="{18A826BF-A0CC-470F-A7A9-C979E9A778DC}"/>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C875E17-90E8-4EDD-A9EC-AFCADB08D079}"/>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300" b="1" i="0">
                <a:solidFill>
                  <a:srgbClr val="0F233D"/>
                </a:solidFill>
                <a:latin typeface="Arial"/>
                <a:ea typeface="Arial"/>
                <a:cs typeface="Arial"/>
              </a:rPr>
              <a:t>SELENOW itself</a:t>
            </a:r>
          </a:p>
        </p:txBody>
      </p:sp>
      <p:sp>
        <p:nvSpPr>
          <p:cNvPr id="26" name="TextBox 25">
            <a:extLst>
              <a:ext uri="{FF2B5EF4-FFF2-40B4-BE49-F238E27FC236}">
                <a16:creationId xmlns:a16="http://schemas.microsoft.com/office/drawing/2014/main" id="{94A72B70-9EAE-47BD-89DC-2ED6E49C7817}"/>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600" b="1" i="0">
                <a:solidFill>
                  <a:srgbClr val="895600"/>
                </a:solidFill>
                <a:latin typeface="Arial"/>
                <a:ea typeface="Arial"/>
                <a:cs typeface="Arial"/>
              </a:rPr>
              <a:t>DEG in 10 of 16</a:t>
            </a:r>
          </a:p>
        </p:txBody>
      </p:sp>
      <p:sp>
        <p:nvSpPr>
          <p:cNvPr id="27" name="TextBox 26">
            <a:extLst>
              <a:ext uri="{FF2B5EF4-FFF2-40B4-BE49-F238E27FC236}">
                <a16:creationId xmlns:a16="http://schemas.microsoft.com/office/drawing/2014/main" id="{D5A4D0BB-353B-4C43-9C04-13BB200592DD}"/>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150" b="0" i="0">
                <a:solidFill>
                  <a:srgbClr val="1F2730"/>
                </a:solidFill>
                <a:latin typeface="Arial"/>
                <a:ea typeface="Arial"/>
                <a:cs typeface="Arial"/>
              </a:rPr>
              <a:t>SELENOW itself also changes expression in most supporting KDA calls</a:t>
            </a:r>
          </a:p>
        </p:txBody>
      </p:sp>
    </p:spTree>
    <p:extLst>
      <p:ext uri="{BB962C8B-B14F-4D97-AF65-F5344CB8AC3E}">
        <p14:creationId val="405486821"/>
      </p:ext>
    </p:extLst>
  </p:cSld>
  <p:clrMapOvr>
    <a:masterClrMapping/>
  </p:clrMapOvr>
  <p:transition/>
  <p:timing/>
</p:sld>
</file>

<file path=ppt/slides/slide12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657B449E-C3E5-4225-9432-95F6F127109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SEA-AD returns a different selenium-related gene, not SELENOW</a:t>
            </a:r>
          </a:p>
        </p:txBody>
      </p:sp>
      <p:sp>
        <p:nvSpPr>
          <p:cNvPr id="3" name="TextBox 2">
            <a:extLst>
              <a:ext uri="{FF2B5EF4-FFF2-40B4-BE49-F238E27FC236}">
                <a16:creationId xmlns:a16="http://schemas.microsoft.com/office/drawing/2014/main" id="{47C0287B-86C7-432C-B01B-483400C8E54A}"/>
              </a:ext>
            </a:extLst>
          </p:cNvPr>
          <p:cNvSpPr>
            <a:spLocks noGrp="1"/>
          </p:cNvSpPr>
          <p:nvPr/>
        </p:nvSpPr>
        <p:spPr>
          <a:xfrm>
            <a:off x="548640" y="969264"/>
            <a:ext cx="10927080" cy="270843"/>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00" b="1" i="0">
                <a:latin typeface="Arial"/>
                <a:ea typeface="Arial"/>
                <a:cs typeface="Arial"/>
              </a:rPr>
              <a:t>Returning the same gene would be stronger evidence than returning a different gene with a related function.</a:t>
            </a:r>
          </a:p>
        </p:txBody>
      </p:sp>
      <p:sp>
        <p:nvSpPr>
          <p:cNvPr id="4" name="Rounded Rectangle 3">
            <a:extLst>
              <a:ext uri="{FF2B5EF4-FFF2-40B4-BE49-F238E27FC236}">
                <a16:creationId xmlns:a16="http://schemas.microsoft.com/office/drawing/2014/main" id="{F28D5C44-6B91-45DF-B918-3EC41353C43B}"/>
              </a:ext>
            </a:extLst>
          </p:cNvPr>
          <p:cNvSpPr>
            <a:spLocks noGrp="1"/>
          </p:cNvSpPr>
          <p:nvPr/>
        </p:nvSpPr>
        <p:spPr>
          <a:xfrm>
            <a:off x="658368" y="1568507"/>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842EBB1-0A0E-4045-869A-8653C41C2FD0}"/>
              </a:ext>
            </a:extLst>
          </p:cNvPr>
          <p:cNvSpPr>
            <a:spLocks noGrp="1"/>
          </p:cNvSpPr>
          <p:nvPr/>
        </p:nvSpPr>
        <p:spPr>
          <a:xfrm>
            <a:off x="932688" y="1861115"/>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895600"/>
                </a:solidFill>
                <a:latin typeface="Arial"/>
                <a:ea typeface="Arial"/>
                <a:cs typeface="Arial"/>
              </a:rPr>
              <a:t>SEA-AD EXCITATORY</a:t>
            </a:r>
          </a:p>
        </p:txBody>
      </p:sp>
      <p:sp>
        <p:nvSpPr>
          <p:cNvPr id="6" name="TextBox 5">
            <a:extLst>
              <a:ext uri="{FF2B5EF4-FFF2-40B4-BE49-F238E27FC236}">
                <a16:creationId xmlns:a16="http://schemas.microsoft.com/office/drawing/2014/main" id="{06A30C0A-B785-4BA0-AF86-1E772E295CC5}"/>
              </a:ext>
            </a:extLst>
          </p:cNvPr>
          <p:cNvSpPr>
            <a:spLocks noGrp="1"/>
          </p:cNvSpPr>
          <p:nvPr/>
        </p:nvSpPr>
        <p:spPr>
          <a:xfrm>
            <a:off x="932688" y="2318315"/>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0 of 10 returned</a:t>
            </a:r>
          </a:p>
        </p:txBody>
      </p:sp>
      <p:sp>
        <p:nvSpPr>
          <p:cNvPr id="7" name="TextBox 6">
            <a:extLst>
              <a:ext uri="{FF2B5EF4-FFF2-40B4-BE49-F238E27FC236}">
                <a16:creationId xmlns:a16="http://schemas.microsoft.com/office/drawing/2014/main" id="{E1436B3A-3F03-4B74-AABB-CC4A6325188C}"/>
              </a:ext>
            </a:extLst>
          </p:cNvPr>
          <p:cNvSpPr>
            <a:spLocks noGrp="1"/>
          </p:cNvSpPr>
          <p:nvPr/>
        </p:nvSpPr>
        <p:spPr>
          <a:xfrm>
            <a:off x="969264" y="3324155"/>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SELENOW was present in matching male ε3/ε3 excitatory networks but was not returned from KDA calls.</a:t>
            </a:r>
          </a:p>
        </p:txBody>
      </p:sp>
      <p:sp>
        <p:nvSpPr>
          <p:cNvPr id="8" name="Rounded Rectangle 7">
            <a:extLst>
              <a:ext uri="{FF2B5EF4-FFF2-40B4-BE49-F238E27FC236}">
                <a16:creationId xmlns:a16="http://schemas.microsoft.com/office/drawing/2014/main" id="{966FC93E-F48B-46D5-AD33-5779EB041C1E}"/>
              </a:ext>
            </a:extLst>
          </p:cNvPr>
          <p:cNvSpPr>
            <a:spLocks noGrp="1"/>
          </p:cNvSpPr>
          <p:nvPr/>
        </p:nvSpPr>
        <p:spPr>
          <a:xfrm>
            <a:off x="4453128" y="1568507"/>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704F28D-7331-42F2-AD7C-D7CB1207105B}"/>
              </a:ext>
            </a:extLst>
          </p:cNvPr>
          <p:cNvSpPr>
            <a:spLocks noGrp="1"/>
          </p:cNvSpPr>
          <p:nvPr/>
        </p:nvSpPr>
        <p:spPr>
          <a:xfrm>
            <a:off x="4727448" y="1861115"/>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895600"/>
                </a:solidFill>
                <a:latin typeface="Arial"/>
                <a:ea typeface="Arial"/>
                <a:cs typeface="Arial"/>
              </a:rPr>
              <a:t>SEA-AD INHIBITORY</a:t>
            </a:r>
          </a:p>
        </p:txBody>
      </p:sp>
      <p:sp>
        <p:nvSpPr>
          <p:cNvPr id="10" name="TextBox 9">
            <a:extLst>
              <a:ext uri="{FF2B5EF4-FFF2-40B4-BE49-F238E27FC236}">
                <a16:creationId xmlns:a16="http://schemas.microsoft.com/office/drawing/2014/main" id="{42461E13-DFF5-4ED0-AEC4-DE6582EB802B}"/>
              </a:ext>
            </a:extLst>
          </p:cNvPr>
          <p:cNvSpPr>
            <a:spLocks noGrp="1"/>
          </p:cNvSpPr>
          <p:nvPr/>
        </p:nvSpPr>
        <p:spPr>
          <a:xfrm>
            <a:off x="4727448" y="2318315"/>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0 of 8 returned</a:t>
            </a:r>
          </a:p>
        </p:txBody>
      </p:sp>
      <p:sp>
        <p:nvSpPr>
          <p:cNvPr id="11" name="TextBox 10">
            <a:extLst>
              <a:ext uri="{FF2B5EF4-FFF2-40B4-BE49-F238E27FC236}">
                <a16:creationId xmlns:a16="http://schemas.microsoft.com/office/drawing/2014/main" id="{135310D6-601C-4EA9-A2A9-ABC77DA17DE0}"/>
              </a:ext>
            </a:extLst>
          </p:cNvPr>
          <p:cNvSpPr>
            <a:spLocks noGrp="1"/>
          </p:cNvSpPr>
          <p:nvPr/>
        </p:nvSpPr>
        <p:spPr>
          <a:xfrm>
            <a:off x="4764024" y="3324155"/>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SELENOW was present in matching inhibitory networks but was not returned from KDA calls.</a:t>
            </a:r>
          </a:p>
        </p:txBody>
      </p:sp>
      <p:sp>
        <p:nvSpPr>
          <p:cNvPr id="12" name="Rounded Rectangle 11">
            <a:extLst>
              <a:ext uri="{FF2B5EF4-FFF2-40B4-BE49-F238E27FC236}">
                <a16:creationId xmlns:a16="http://schemas.microsoft.com/office/drawing/2014/main" id="{83D1287A-43DB-45DC-A829-57F718A77A9A}"/>
              </a:ext>
            </a:extLst>
          </p:cNvPr>
          <p:cNvSpPr>
            <a:spLocks noGrp="1"/>
          </p:cNvSpPr>
          <p:nvPr/>
        </p:nvSpPr>
        <p:spPr>
          <a:xfrm>
            <a:off x="8247888" y="1568507"/>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127B9DF-C7E9-40DF-8D17-8944091BA58A}"/>
              </a:ext>
            </a:extLst>
          </p:cNvPr>
          <p:cNvSpPr>
            <a:spLocks noGrp="1"/>
          </p:cNvSpPr>
          <p:nvPr/>
        </p:nvSpPr>
        <p:spPr>
          <a:xfrm>
            <a:off x="8522208" y="1861115"/>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72B2"/>
                </a:solidFill>
                <a:latin typeface="Arial"/>
                <a:ea typeface="Arial"/>
                <a:cs typeface="Arial"/>
              </a:rPr>
              <a:t>RELATED GENE IN SEA-AD</a:t>
            </a:r>
          </a:p>
        </p:txBody>
      </p:sp>
      <p:sp>
        <p:nvSpPr>
          <p:cNvPr id="14" name="TextBox 13">
            <a:extLst>
              <a:ext uri="{FF2B5EF4-FFF2-40B4-BE49-F238E27FC236}">
                <a16:creationId xmlns:a16="http://schemas.microsoft.com/office/drawing/2014/main" id="{78B4B3E3-905B-4EED-983A-EA79158DB9A0}"/>
              </a:ext>
            </a:extLst>
          </p:cNvPr>
          <p:cNvSpPr>
            <a:spLocks noGrp="1"/>
          </p:cNvSpPr>
          <p:nvPr/>
        </p:nvSpPr>
        <p:spPr>
          <a:xfrm>
            <a:off x="8522208" y="2318315"/>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SECISBP2 returned from one KDA call</a:t>
            </a:r>
          </a:p>
        </p:txBody>
      </p:sp>
      <p:sp>
        <p:nvSpPr>
          <p:cNvPr id="15" name="TextBox 14">
            <a:extLst>
              <a:ext uri="{FF2B5EF4-FFF2-40B4-BE49-F238E27FC236}">
                <a16:creationId xmlns:a16="http://schemas.microsoft.com/office/drawing/2014/main" id="{5647C513-4AFF-404B-853D-B17F8B91373A}"/>
              </a:ext>
            </a:extLst>
          </p:cNvPr>
          <p:cNvSpPr>
            <a:spLocks noGrp="1"/>
          </p:cNvSpPr>
          <p:nvPr/>
        </p:nvSpPr>
        <p:spPr>
          <a:xfrm>
            <a:off x="8558784" y="3324155"/>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A different selenium-related gene gives only weak support for related biology.</a:t>
            </a:r>
          </a:p>
        </p:txBody>
      </p:sp>
    </p:spTree>
    <p:extLst>
      <p:ext uri="{BB962C8B-B14F-4D97-AF65-F5344CB8AC3E}">
        <p14:creationId val="2090255547"/>
      </p:ext>
    </p:extLst>
  </p:cSld>
  <p:clrMapOvr>
    <a:masterClrMapping/>
  </p:clrMapOvr>
  <p:transition/>
  <p:timing/>
</p:sld>
</file>

<file path=ppt/slides/slide12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A59C4F7C-3E3A-4074-93EA-54418CF1317F}"/>
              </a:ext>
            </a:extLst>
          </p:cNvPr>
          <p:cNvSpPr>
            <a:spLocks noGrp="1"/>
          </p:cNvSpPr>
          <p:nvPr/>
        </p:nvSpPr>
        <p:spPr>
          <a:xfrm>
            <a:off x="530352" y="292608"/>
            <a:ext cx="11064240" cy="66446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000" b="1" i="0">
                <a:solidFill>
                  <a:srgbClr val="0F233D"/>
                </a:solidFill>
                <a:latin typeface="Arial"/>
                <a:ea typeface="Arial"/>
                <a:cs typeface="Arial"/>
              </a:rPr>
              <a:t>Why this matters: oxidative stress, removal of tau, and mitochondrial function may be connected</a:t>
            </a:r>
          </a:p>
        </p:txBody>
      </p:sp>
      <p:sp>
        <p:nvSpPr>
          <p:cNvPr id="3" name="TextBox 2">
            <a:extLst>
              <a:ext uri="{FF2B5EF4-FFF2-40B4-BE49-F238E27FC236}">
                <a16:creationId xmlns:a16="http://schemas.microsoft.com/office/drawing/2014/main" id="{026E6A23-3C80-4CAF-AA9D-B75EB07C7525}"/>
              </a:ext>
            </a:extLst>
          </p:cNvPr>
          <p:cNvSpPr>
            <a:spLocks noGrp="1"/>
          </p:cNvSpPr>
          <p:nvPr/>
        </p:nvSpPr>
        <p:spPr>
          <a:xfrm>
            <a:off x="548640" y="1004776"/>
            <a:ext cx="10927080" cy="270843"/>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00" b="1" i="0">
                <a:latin typeface="Arial"/>
                <a:ea typeface="Arial"/>
                <a:cs typeface="Arial"/>
              </a:rPr>
              <a:t>Prior experiments connect SELENOW with respiration in immune cells and tau clearance in an AD mouse model.</a:t>
            </a:r>
          </a:p>
        </p:txBody>
      </p:sp>
      <p:sp>
        <p:nvSpPr>
          <p:cNvPr id="4" name="Rounded Rectangle 3">
            <a:extLst>
              <a:ext uri="{FF2B5EF4-FFF2-40B4-BE49-F238E27FC236}">
                <a16:creationId xmlns:a16="http://schemas.microsoft.com/office/drawing/2014/main" id="{B6205866-6E27-4598-8F97-E971AE4FE051}"/>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FAE0FC9-CBFE-422D-A551-D9FC13EB50CE}"/>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72B2"/>
                </a:solidFill>
                <a:latin typeface="Arial"/>
                <a:ea typeface="Arial"/>
                <a:cs typeface="Arial"/>
              </a:rPr>
              <a:t>CONTROL OF OXIDATIVE STRESS</a:t>
            </a:r>
          </a:p>
        </p:txBody>
      </p:sp>
      <p:sp>
        <p:nvSpPr>
          <p:cNvPr id="6" name="TextBox 5">
            <a:extLst>
              <a:ext uri="{FF2B5EF4-FFF2-40B4-BE49-F238E27FC236}">
                <a16:creationId xmlns:a16="http://schemas.microsoft.com/office/drawing/2014/main" id="{1E31C8A3-0EF2-4BD1-8258-FD1DCE9FBBE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400" b="1" i="0">
                <a:solidFill>
                  <a:srgbClr val="0F233D"/>
                </a:solidFill>
                <a:latin typeface="Arial"/>
                <a:ea typeface="Arial"/>
                <a:cs typeface="Arial"/>
              </a:rPr>
              <a:t>Mitochondria depend on oxidation reactions and can generate oxidative stress</a:t>
            </a:r>
          </a:p>
        </p:txBody>
      </p:sp>
      <p:sp>
        <p:nvSpPr>
          <p:cNvPr id="7" name="TextBox 6">
            <a:extLst>
              <a:ext uri="{FF2B5EF4-FFF2-40B4-BE49-F238E27FC236}">
                <a16:creationId xmlns:a16="http://schemas.microsoft.com/office/drawing/2014/main" id="{280918D3-265F-4964-9D21-20776EFCB15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Oxidative imbalance can damage proteins and respiratory machinery.</a:t>
            </a:r>
          </a:p>
        </p:txBody>
      </p:sp>
      <p:sp>
        <p:nvSpPr>
          <p:cNvPr id="8" name="Rounded Rectangle 7">
            <a:extLst>
              <a:ext uri="{FF2B5EF4-FFF2-40B4-BE49-F238E27FC236}">
                <a16:creationId xmlns:a16="http://schemas.microsoft.com/office/drawing/2014/main" id="{2700DAFB-494F-45AC-9C21-B9F24971AFD7}"/>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B4C4E9-8BFD-44FD-B33F-2542E5AE6DCF}"/>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684D"/>
                </a:solidFill>
                <a:latin typeface="Arial"/>
                <a:ea typeface="Arial"/>
                <a:cs typeface="Arial"/>
              </a:rPr>
              <a:t>REMOVAL OF DAMAGED PROTEINS</a:t>
            </a:r>
          </a:p>
        </p:txBody>
      </p:sp>
      <p:sp>
        <p:nvSpPr>
          <p:cNvPr id="10" name="TextBox 9">
            <a:extLst>
              <a:ext uri="{FF2B5EF4-FFF2-40B4-BE49-F238E27FC236}">
                <a16:creationId xmlns:a16="http://schemas.microsoft.com/office/drawing/2014/main" id="{CDEA8F95-B30F-4290-A0A7-BBBBEB20D9D2}"/>
              </a:ext>
            </a:extLst>
          </p:cNvPr>
          <p:cNvSpPr>
            <a:spLocks noGrp="1"/>
          </p:cNvSpPr>
          <p:nvPr/>
        </p:nvSpPr>
        <p:spPr>
          <a:xfrm>
            <a:off x="4727448" y="2176272"/>
            <a:ext cx="2907792" cy="1030224"/>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CLPP removes damaged mitochondrial proteins; prior mouse work links SELENOW to tau removal</a:t>
            </a:r>
          </a:p>
        </p:txBody>
      </p:sp>
      <p:sp>
        <p:nvSpPr>
          <p:cNvPr id="11" name="TextBox 10">
            <a:extLst>
              <a:ext uri="{FF2B5EF4-FFF2-40B4-BE49-F238E27FC236}">
                <a16:creationId xmlns:a16="http://schemas.microsoft.com/office/drawing/2014/main" id="{B5B935A5-C288-4A52-A86E-38A947DCD04F}"/>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SELENOW may connect removal of damaged mitochondrial proteins with broader removal of damaged proteins in the cell.</a:t>
            </a:r>
          </a:p>
        </p:txBody>
      </p:sp>
      <p:sp>
        <p:nvSpPr>
          <p:cNvPr id="12" name="Rounded Rectangle 11">
            <a:extLst>
              <a:ext uri="{FF2B5EF4-FFF2-40B4-BE49-F238E27FC236}">
                <a16:creationId xmlns:a16="http://schemas.microsoft.com/office/drawing/2014/main" id="{0221743A-EADC-45F4-A2FD-074B7252A228}"/>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B97555B-F50F-410B-A290-E24A5D0A3954}"/>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895600"/>
                </a:solidFill>
                <a:latin typeface="Arial"/>
                <a:ea typeface="Arial"/>
                <a:cs typeface="Arial"/>
              </a:rPr>
              <a:t>LIMIT OF PRIOR EXPERIMENTS</a:t>
            </a:r>
          </a:p>
        </p:txBody>
      </p:sp>
      <p:sp>
        <p:nvSpPr>
          <p:cNvPr id="14" name="TextBox 13">
            <a:extLst>
              <a:ext uri="{FF2B5EF4-FFF2-40B4-BE49-F238E27FC236}">
                <a16:creationId xmlns:a16="http://schemas.microsoft.com/office/drawing/2014/main" id="{03124096-C258-43D0-B354-EF4521E2B2A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Prior models differ</a:t>
            </a:r>
          </a:p>
        </p:txBody>
      </p:sp>
      <p:sp>
        <p:nvSpPr>
          <p:cNvPr id="15" name="TextBox 14">
            <a:extLst>
              <a:ext uri="{FF2B5EF4-FFF2-40B4-BE49-F238E27FC236}">
                <a16:creationId xmlns:a16="http://schemas.microsoft.com/office/drawing/2014/main" id="{8A30B23A-A43A-4DF4-8D39-DB14F2E185D9}"/>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Macrophage and mouse evidence cannot establish a human neuronal mechanism.</a:t>
            </a:r>
          </a:p>
        </p:txBody>
      </p:sp>
      <p:sp>
        <p:nvSpPr>
          <p:cNvPr id="16" name="Rounded Rectangle 15">
            <a:extLst>
              <a:ext uri="{FF2B5EF4-FFF2-40B4-BE49-F238E27FC236}">
                <a16:creationId xmlns:a16="http://schemas.microsoft.com/office/drawing/2014/main" id="{5F74BBFF-9AB2-48E0-9DE5-36F181160B2A}"/>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48073B91-CFF3-471C-8606-5BF4CB427370}"/>
              </a:ext>
            </a:extLst>
          </p:cNvPr>
          <p:cNvSpPr>
            <a:spLocks noGrp="1"/>
          </p:cNvSpPr>
          <p:nvPr/>
        </p:nvSpPr>
        <p:spPr>
          <a:xfrm>
            <a:off x="1083076" y="5861304"/>
            <a:ext cx="10026884" cy="227755"/>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20" b="1" i="0">
                <a:solidFill>
                  <a:srgbClr val="1F2730"/>
                </a:solidFill>
                <a:latin typeface="Arial"/>
                <a:ea typeface="Arial"/>
                <a:cs typeface="Arial"/>
              </a:rPr>
              <a:t>SELENOW and SELENOM are both selenium-related, but they connect to different genes and should remain separate hypotheses.</a:t>
            </a:r>
          </a:p>
        </p:txBody>
      </p:sp>
    </p:spTree>
    <p:extLst>
      <p:ext uri="{BB962C8B-B14F-4D97-AF65-F5344CB8AC3E}">
        <p14:creationId val="1519536507"/>
      </p:ext>
    </p:extLst>
  </p:cSld>
  <p:clrMapOvr>
    <a:masterClrMapping/>
  </p:clrMapOvr>
  <p:transition/>
  <p:timing/>
</p:sld>
</file>

<file path=ppt/slides/slide12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BD4C1B13-F082-4CDC-A4AF-9CF4CA419A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How prior research supports and limits Finding 11</a:t>
            </a:r>
          </a:p>
        </p:txBody>
      </p:sp>
      <p:sp>
        <p:nvSpPr>
          <p:cNvPr id="3" name="TextBox 2">
            <a:extLst>
              <a:ext uri="{FF2B5EF4-FFF2-40B4-BE49-F238E27FC236}">
                <a16:creationId xmlns:a16="http://schemas.microsoft.com/office/drawing/2014/main" id="{96D5F005-6A5A-4651-B68E-63AD17BBE989}"/>
              </a:ext>
            </a:extLst>
          </p:cNvPr>
          <p:cNvSpPr>
            <a:spLocks noGrp="1"/>
          </p:cNvSpPr>
          <p:nvPr/>
        </p:nvSpPr>
        <p:spPr>
          <a:xfrm>
            <a:off x="548640" y="880487"/>
            <a:ext cx="10927080" cy="270843"/>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00" b="1" i="0">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F0FED5C9-94CD-4D86-A2D8-8AD51C417D71}"/>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EB54504-3A9E-474A-9C5B-C2221EC2F142}"/>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500" b="1" i="0">
                <a:solidFill>
                  <a:srgbClr val="0072B2"/>
                </a:solidFill>
                <a:latin typeface="Arial"/>
                <a:ea typeface="Arial"/>
                <a:cs typeface="Arial"/>
              </a:rPr>
              <a:t>Misra et al. 2023</a:t>
            </a:r>
          </a:p>
        </p:txBody>
      </p:sp>
      <p:sp>
        <p:nvSpPr>
          <p:cNvPr id="6" name="TextBox 5">
            <a:extLst>
              <a:ext uri="{FF2B5EF4-FFF2-40B4-BE49-F238E27FC236}">
                <a16:creationId xmlns:a16="http://schemas.microsoft.com/office/drawing/2014/main" id="{9295E1F1-CEE8-4582-AA06-AE190214E32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350" b="1" i="0">
                <a:solidFill>
                  <a:srgbClr val="0F233D"/>
                </a:solidFill>
                <a:latin typeface="Arial"/>
                <a:ea typeface="Arial"/>
                <a:cs typeface="Arial"/>
              </a:rPr>
              <a:t>SELENOW and respiration</a:t>
            </a:r>
          </a:p>
        </p:txBody>
      </p:sp>
      <p:sp>
        <p:nvSpPr>
          <p:cNvPr id="7" name="TextBox 6">
            <a:extLst>
              <a:ext uri="{FF2B5EF4-FFF2-40B4-BE49-F238E27FC236}">
                <a16:creationId xmlns:a16="http://schemas.microsoft.com/office/drawing/2014/main" id="{59D511DE-3F6F-4A68-945C-2E6477BE6D21}"/>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EFC0DA10-90E5-4254-839D-3385C115238A}"/>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80" b="0" i="0">
                <a:solidFill>
                  <a:srgbClr val="1F2730"/>
                </a:solidFill>
                <a:latin typeface="Arial"/>
                <a:ea typeface="Arial"/>
                <a:cs typeface="Arial"/>
              </a:rPr>
              <a:t>Shows that loss of SELENOW changes oxidative stress and mitochondrial respiration.</a:t>
            </a:r>
          </a:p>
        </p:txBody>
      </p:sp>
      <p:sp>
        <p:nvSpPr>
          <p:cNvPr id="9" name="TextBox 8">
            <a:extLst>
              <a:ext uri="{FF2B5EF4-FFF2-40B4-BE49-F238E27FC236}">
                <a16:creationId xmlns:a16="http://schemas.microsoft.com/office/drawing/2014/main" id="{AC3A5FEE-019C-4C64-8AA2-7C354EAF703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05E63B8B-098A-4DA1-88AC-4E736F8DC4D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60" b="0" i="0">
                <a:solidFill>
                  <a:srgbClr val="4E5A68"/>
                </a:solidFill>
                <a:latin typeface="Arial"/>
                <a:ea typeface="Arial"/>
                <a:cs typeface="Arial"/>
              </a:rPr>
              <a:t>The experiment used macrophages rather than neurons.</a:t>
            </a:r>
          </a:p>
        </p:txBody>
      </p:sp>
      <p:sp>
        <p:nvSpPr>
          <p:cNvPr id="11" name="Rounded Rectangle 10">
            <a:extLst>
              <a:ext uri="{FF2B5EF4-FFF2-40B4-BE49-F238E27FC236}">
                <a16:creationId xmlns:a16="http://schemas.microsoft.com/office/drawing/2014/main" id="{37B53BB3-FD78-4B18-9876-8FDDEFD2FB91}"/>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F77C85D-3C0C-4B66-81B2-43CD83A207F4}"/>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500" b="1" i="0">
                <a:solidFill>
                  <a:srgbClr val="00684D"/>
                </a:solidFill>
                <a:latin typeface="Arial"/>
                <a:ea typeface="Arial"/>
                <a:cs typeface="Arial"/>
              </a:rPr>
              <a:t>Ren et al. 2024</a:t>
            </a:r>
          </a:p>
        </p:txBody>
      </p:sp>
      <p:sp>
        <p:nvSpPr>
          <p:cNvPr id="13" name="TextBox 12">
            <a:extLst>
              <a:ext uri="{FF2B5EF4-FFF2-40B4-BE49-F238E27FC236}">
                <a16:creationId xmlns:a16="http://schemas.microsoft.com/office/drawing/2014/main" id="{2EECD59F-9AC5-496F-8566-2FB6497259D4}"/>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350" b="1" i="0">
                <a:solidFill>
                  <a:srgbClr val="0F233D"/>
                </a:solidFill>
                <a:latin typeface="Arial"/>
                <a:ea typeface="Arial"/>
                <a:cs typeface="Arial"/>
              </a:rPr>
              <a:t>SELENOW and tau</a:t>
            </a:r>
          </a:p>
        </p:txBody>
      </p:sp>
      <p:sp>
        <p:nvSpPr>
          <p:cNvPr id="14" name="TextBox 13">
            <a:extLst>
              <a:ext uri="{FF2B5EF4-FFF2-40B4-BE49-F238E27FC236}">
                <a16:creationId xmlns:a16="http://schemas.microsoft.com/office/drawing/2014/main" id="{1D979244-175D-41BA-924D-A31542990FFA}"/>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3CCA367C-5739-441A-85DA-B1ECF37998D0}"/>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80" b="0" i="0">
                <a:solidFill>
                  <a:srgbClr val="1F2730"/>
                </a:solidFill>
                <a:latin typeface="Arial"/>
                <a:ea typeface="Arial"/>
                <a:cs typeface="Arial"/>
              </a:rPr>
              <a:t>Reports improved tau clearance and phenotypes after SELENOW overexpression.</a:t>
            </a:r>
          </a:p>
        </p:txBody>
      </p:sp>
      <p:sp>
        <p:nvSpPr>
          <p:cNvPr id="16" name="TextBox 15">
            <a:extLst>
              <a:ext uri="{FF2B5EF4-FFF2-40B4-BE49-F238E27FC236}">
                <a16:creationId xmlns:a16="http://schemas.microsoft.com/office/drawing/2014/main" id="{0CD0E5AC-C960-42E4-829C-810A332C4F1A}"/>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64869D1-82F0-431C-B250-BAF278B240F4}"/>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60" b="0" i="0">
                <a:solidFill>
                  <a:srgbClr val="4E5A68"/>
                </a:solidFill>
                <a:latin typeface="Arial"/>
                <a:ea typeface="Arial"/>
                <a:cs typeface="Arial"/>
              </a:rPr>
              <a:t>Evidence comes from a 3×Tg-AD mouse model.</a:t>
            </a:r>
          </a:p>
        </p:txBody>
      </p:sp>
      <p:sp>
        <p:nvSpPr>
          <p:cNvPr id="18" name="Rounded Rectangle 17">
            <a:extLst>
              <a:ext uri="{FF2B5EF4-FFF2-40B4-BE49-F238E27FC236}">
                <a16:creationId xmlns:a16="http://schemas.microsoft.com/office/drawing/2014/main" id="{D8CC1CED-DDDC-47F0-8FE4-B929AD06AE37}"/>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1F0D2DED-9A5B-4AC5-B7DF-FBF7DB80F25E}"/>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EAB4A8DF-DA0A-443B-A306-D6B44499365C}"/>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350" b="1" i="0">
                <a:solidFill>
                  <a:srgbClr val="0F233D"/>
                </a:solidFill>
                <a:latin typeface="Arial"/>
                <a:ea typeface="Arial"/>
                <a:cs typeface="Arial"/>
              </a:rPr>
              <a:t>Connections observed in human neurons</a:t>
            </a:r>
          </a:p>
        </p:txBody>
      </p:sp>
      <p:sp>
        <p:nvSpPr>
          <p:cNvPr id="21" name="TextBox 20">
            <a:extLst>
              <a:ext uri="{FF2B5EF4-FFF2-40B4-BE49-F238E27FC236}">
                <a16:creationId xmlns:a16="http://schemas.microsoft.com/office/drawing/2014/main" id="{4F1E8FE2-26D2-4DC8-832F-EC7C58FF239E}"/>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216CC7A2-6356-43C1-B57D-08179BB5D352}"/>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80" b="0" i="0">
                <a:solidFill>
                  <a:srgbClr val="1F2730"/>
                </a:solidFill>
                <a:latin typeface="Arial"/>
                <a:ea typeface="Arial"/>
                <a:cs typeface="Arial"/>
              </a:rPr>
              <a:t>Adds cell-type-specific connections to respiration and removal of damaged mitochondrial proteins.</a:t>
            </a:r>
          </a:p>
        </p:txBody>
      </p:sp>
      <p:sp>
        <p:nvSpPr>
          <p:cNvPr id="25" name="Rounded Rectangle 24">
            <a:extLst>
              <a:ext uri="{FF2B5EF4-FFF2-40B4-BE49-F238E27FC236}">
                <a16:creationId xmlns:a16="http://schemas.microsoft.com/office/drawing/2014/main" id="{4F0A4715-DDA2-4CDE-AE71-17CEC7E27051}"/>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11A637B2-7B70-4294-BAD4-A3A3249195B4}"/>
              </a:ext>
            </a:extLst>
          </p:cNvPr>
          <p:cNvSpPr>
            <a:spLocks noGrp="1"/>
          </p:cNvSpPr>
          <p:nvPr/>
        </p:nvSpPr>
        <p:spPr>
          <a:xfrm>
            <a:off x="896112" y="5952744"/>
            <a:ext cx="10405872" cy="221599"/>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lang="en-US" sz="1080" b="1">
                <a:solidFill>
                  <a:srgbClr val="7E4C9A"/>
                </a:solidFill>
                <a:latin typeface="Arial"/>
                <a:ea typeface="Arial"/>
                <a:cs typeface="Arial"/>
              </a:rPr>
              <a:t>N</a:t>
            </a:r>
            <a:r>
              <a:rPr sz="1080" b="1" i="0">
                <a:solidFill>
                  <a:srgbClr val="7E4C9A"/>
                </a:solidFill>
                <a:latin typeface="Arial"/>
                <a:ea typeface="Arial"/>
                <a:cs typeface="Arial"/>
              </a:rPr>
              <a:t>ovelty: Moderate</a:t>
            </a:r>
          </a:p>
        </p:txBody>
      </p:sp>
    </p:spTree>
    <p:extLst>
      <p:ext uri="{BB962C8B-B14F-4D97-AF65-F5344CB8AC3E}">
        <p14:creationId val="1576970783"/>
      </p:ext>
    </p:extLst>
  </p:cSld>
  <p:clrMapOvr>
    <a:masterClrMapping/>
  </p:clrMapOvr>
  <p:transition/>
  <p:timing/>
</p:sld>
</file>

<file path=ppt/slides/slide12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0F233D"/>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7710151A-41BA-4345-B5EA-DBDC0E3EBEC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050" b="1" i="0">
                <a:solidFill>
                  <a:srgbClr val="E69F00"/>
                </a:solidFill>
                <a:latin typeface="Arial"/>
                <a:ea typeface="Arial"/>
                <a:cs typeface="Arial"/>
              </a:rPr>
              <a:t>FINDING 12</a:t>
            </a:r>
          </a:p>
        </p:txBody>
      </p:sp>
      <p:sp>
        <p:nvSpPr>
          <p:cNvPr id="3" name="Rectangle 2">
            <a:extLst>
              <a:ext uri="{FF2B5EF4-FFF2-40B4-BE49-F238E27FC236}">
                <a16:creationId xmlns:a16="http://schemas.microsoft.com/office/drawing/2014/main" id="{E94FA09A-EF68-4F00-A80F-531C6EA3D616}"/>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E2787DBD-8C70-4D25-88D9-72B5E4DACBC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2000" b="1" i="0">
                <a:solidFill>
                  <a:srgbClr val="FFFFFF"/>
                </a:solidFill>
                <a:latin typeface="Arial"/>
                <a:ea typeface="Arial"/>
                <a:cs typeface="Arial"/>
              </a:rPr>
              <a:t>PGK1 connects astrocyte glucose breakdown and low-oxygen signaling with removal of damaged mitochondria</a:t>
            </a:r>
          </a:p>
        </p:txBody>
      </p:sp>
      <p:sp>
        <p:nvSpPr>
          <p:cNvPr id="5" name="TextBox 4">
            <a:extLst>
              <a:ext uri="{FF2B5EF4-FFF2-40B4-BE49-F238E27FC236}">
                <a16:creationId xmlns:a16="http://schemas.microsoft.com/office/drawing/2014/main" id="{ADB10DF0-F101-4520-BF07-F7B7480D7845}"/>
              </a:ext>
            </a:extLst>
          </p:cNvPr>
          <p:cNvSpPr>
            <a:spLocks noGrp="1"/>
          </p:cNvSpPr>
          <p:nvPr/>
        </p:nvSpPr>
        <p:spPr>
          <a:xfrm>
            <a:off x="1097280" y="2468880"/>
            <a:ext cx="7406640" cy="914400"/>
          </a:xfrm>
          <a:prstGeom prst="rect">
            <a:avLst/>
          </a:prstGeom>
          <a:noFill/>
        </p:spPr>
        <p:txBody>
          <a:bodyPr wrap="square" lIns="0" tIns="0" rIns="0" bIns="0" anchor="t">
            <a:normAutofit/>
          </a:bodyPr>
          <a:lstStyle/>
          <a:p>
            <a:pPr algn="l">
              <a:lnSpc>
                <a:spcPct val="100000"/>
              </a:lnSpc>
              <a:spcBef>
                <a:spcPct val="0"/>
              </a:spcBef>
              <a:spcAft>
                <a:spcPct val="0"/>
              </a:spcAft>
              <a:buNone/>
              <a:defRPr sz="1350" b="1">
                <a:solidFill>
                  <a:srgbClr val="E6A700"/>
                </a:solidFill>
                <a:latin typeface="Arial"/>
                <a:ea typeface="Arial"/>
                <a:cs typeface="Arial"/>
              </a:defRPr>
            </a:pPr>
            <a:r>
              <a:rPr sz="1350" b="1" i="0">
                <a:solidFill>
                  <a:srgbClr val="E6A700"/>
                </a:solidFill>
                <a:latin typeface="Arial"/>
                <a:ea typeface="Arial"/>
                <a:cs typeface="Arial"/>
              </a:rPr>
              <a:t>Observed in: female ε3/ε3, female ε4, and male ε4</a:t>
            </a:r>
          </a:p>
        </p:txBody>
      </p:sp>
      <p:sp>
        <p:nvSpPr>
          <p:cNvPr id="6" name="Rounded Rectangle 5">
            <a:extLst>
              <a:ext uri="{FF2B5EF4-FFF2-40B4-BE49-F238E27FC236}">
                <a16:creationId xmlns:a16="http://schemas.microsoft.com/office/drawing/2014/main" id="{7CFB2E04-3813-43FC-9893-5DEE9CCAE05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5B51999-F34D-420B-93B1-A6B614FD43E0}"/>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08F3A2D7-66CE-4568-A5BF-12B1402165B9}"/>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36DD44B-FC09-4191-8DB8-6631B37C4DDC}"/>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2AFDB70E-DD83-4D0B-8843-56D52672B0C9}"/>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E5EB1731-80B6-43FC-91E5-2E3F6EDA398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506AB7E-8D50-4482-A99B-7B95338DCCC7}"/>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C5C56F36-1935-43A4-9BB0-E7CD8C5E8549}"/>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9B76A6D1-153F-4CEB-AFE0-7B5B49C084CD}"/>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1F778557-B9A6-404B-941A-1B8DB03D2641}"/>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CBB27D24-647A-4669-95B8-B6FAFA5BCF4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13B06B5-E934-445A-8FC6-1A87AB9C12A3}"/>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0F4822B-7924-4D23-9A8F-46FB3C48F7F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95AACBF5-703E-4247-81BA-70B08D1DA8D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AC274C91-3AF6-4228-8C48-9D6A636387B3}"/>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67457D6-3123-4DBC-B5AA-71628443DB0E}"/>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20" b="1" i="0">
                <a:solidFill>
                  <a:srgbClr val="FFFFFF"/>
                </a:solidFill>
                <a:latin typeface="Arial"/>
                <a:ea typeface="Arial"/>
                <a:cs typeface="Arial"/>
              </a:rPr>
              <a:t>PGK1 connects astrocyte glucose breakdown with BNIP3, BNIP3L, and FAM162A, three genes that respond to low oxygen or mitochondrial damage.</a:t>
            </a:r>
          </a:p>
        </p:txBody>
      </p:sp>
    </p:spTree>
    <p:extLst>
      <p:ext uri="{BB962C8B-B14F-4D97-AF65-F5344CB8AC3E}">
        <p14:creationId val="1913048432"/>
      </p:ext>
    </p:extLst>
  </p:cSld>
  <p:clrMapOvr>
    <a:masterClrMapping/>
  </p:clrMapOvr>
  <p:transition/>
  <p:timing/>
</p:sld>
</file>

<file path=ppt/slides/slide12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A0B7F558-6829-4CCA-85E9-8EA5B536584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PGK1 links astrocyte sugar breakdown with removal of damaged mitochondria</a:t>
            </a:r>
          </a:p>
        </p:txBody>
      </p:sp>
      <p:sp>
        <p:nvSpPr>
          <p:cNvPr id="3" name="TextBox 2">
            <a:extLst>
              <a:ext uri="{FF2B5EF4-FFF2-40B4-BE49-F238E27FC236}">
                <a16:creationId xmlns:a16="http://schemas.microsoft.com/office/drawing/2014/main" id="{89BAE679-B633-4947-8266-01BA18D70621}"/>
              </a:ext>
            </a:extLst>
          </p:cNvPr>
          <p:cNvSpPr>
            <a:spLocks noGrp="1"/>
          </p:cNvSpPr>
          <p:nvPr/>
        </p:nvSpPr>
        <p:spPr>
          <a:xfrm>
            <a:off x="548640" y="827221"/>
            <a:ext cx="10927080" cy="270843"/>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00" b="1" i="0">
                <a:latin typeface="Arial"/>
                <a:ea typeface="Arial"/>
                <a:cs typeface="Arial"/>
              </a:rPr>
              <a:t>Glycolysis makes energy from sugar outside mitochondria. Mitophagy is the recycling of damaged mitochondria.</a:t>
            </a:r>
          </a:p>
        </p:txBody>
      </p:sp>
      <p:sp>
        <p:nvSpPr>
          <p:cNvPr id="4" name="Rounded Rectangle 3">
            <a:extLst>
              <a:ext uri="{FF2B5EF4-FFF2-40B4-BE49-F238E27FC236}">
                <a16:creationId xmlns:a16="http://schemas.microsoft.com/office/drawing/2014/main" id="{47ED80FA-BFC2-43F4-8AAF-62F387718225}"/>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9903C65-BA88-486E-894D-945D8EE3AC3E}"/>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40" b="1" i="0">
                <a:solidFill>
                  <a:srgbClr val="0072B2"/>
                </a:solidFill>
                <a:latin typeface="Arial"/>
                <a:ea typeface="Arial"/>
                <a:cs typeface="Arial"/>
              </a:rPr>
              <a:t>Astrocytes</a:t>
            </a:r>
          </a:p>
        </p:txBody>
      </p:sp>
      <p:sp>
        <p:nvSpPr>
          <p:cNvPr id="6" name="Rounded Rectangle 5">
            <a:extLst>
              <a:ext uri="{FF2B5EF4-FFF2-40B4-BE49-F238E27FC236}">
                <a16:creationId xmlns:a16="http://schemas.microsoft.com/office/drawing/2014/main" id="{573FB060-EB71-44AC-8C31-9FBCCF787A3C}"/>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1689922-1AFD-482B-A71B-C8C8CD42BB45}"/>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40" b="1" i="0">
                <a:solidFill>
                  <a:srgbClr val="00684D"/>
                </a:solidFill>
                <a:latin typeface="Arial"/>
                <a:ea typeface="Arial"/>
                <a:cs typeface="Arial"/>
              </a:rPr>
              <a:t>Three KDA calls</a:t>
            </a:r>
          </a:p>
        </p:txBody>
      </p:sp>
      <p:sp>
        <p:nvSpPr>
          <p:cNvPr id="8" name="Rounded Rectangle 7">
            <a:extLst>
              <a:ext uri="{FF2B5EF4-FFF2-40B4-BE49-F238E27FC236}">
                <a16:creationId xmlns:a16="http://schemas.microsoft.com/office/drawing/2014/main" id="{39CAED9D-8232-4695-A11B-D04EA2D5A22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19FBA6-3B16-41CF-B91A-0B1301AB159A}"/>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40" b="1" i="0">
                <a:solidFill>
                  <a:srgbClr val="895600"/>
                </a:solidFill>
                <a:latin typeface="Arial"/>
                <a:ea typeface="Arial"/>
                <a:cs typeface="Arial"/>
              </a:rPr>
              <a:t>Glycolysis</a:t>
            </a:r>
          </a:p>
        </p:txBody>
      </p:sp>
      <p:sp>
        <p:nvSpPr>
          <p:cNvPr id="10" name="Rounded Rectangle 9">
            <a:extLst>
              <a:ext uri="{FF2B5EF4-FFF2-40B4-BE49-F238E27FC236}">
                <a16:creationId xmlns:a16="http://schemas.microsoft.com/office/drawing/2014/main" id="{DC571AE3-E827-48D6-8006-A3BBC12F4F3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33CB9581-3A5C-435D-AE95-E23A83F8B585}"/>
              </a:ext>
            </a:extLst>
          </p:cNvPr>
          <p:cNvSpPr>
            <a:spLocks noGrp="1"/>
          </p:cNvSpPr>
          <p:nvPr/>
        </p:nvSpPr>
        <p:spPr>
          <a:xfrm>
            <a:off x="9290304" y="1345765"/>
            <a:ext cx="2359151" cy="371856"/>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40" b="1" i="0">
                <a:solidFill>
                  <a:srgbClr val="9E3A00"/>
                </a:solidFill>
                <a:latin typeface="Arial"/>
                <a:ea typeface="Arial"/>
                <a:cs typeface="Arial"/>
              </a:rPr>
              <a:t>Low oxygen and removal of damaged mitochondria</a:t>
            </a:r>
          </a:p>
        </p:txBody>
      </p:sp>
      <p:sp>
        <p:nvSpPr>
          <p:cNvPr id="12" name="Rounded Rectangle 11">
            <a:extLst>
              <a:ext uri="{FF2B5EF4-FFF2-40B4-BE49-F238E27FC236}">
                <a16:creationId xmlns:a16="http://schemas.microsoft.com/office/drawing/2014/main" id="{9EAD06E1-6770-4024-918D-B31A9AFD8229}"/>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39649F30-009B-4A33-89C9-FAAD0B421D2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72B2"/>
                </a:solidFill>
                <a:latin typeface="Arial"/>
                <a:ea typeface="Arial"/>
                <a:cs typeface="Arial"/>
              </a:rPr>
              <a:t>PGK1</a:t>
            </a:r>
          </a:p>
        </p:txBody>
      </p:sp>
      <p:sp>
        <p:nvSpPr>
          <p:cNvPr id="14" name="TextBox 13">
            <a:extLst>
              <a:ext uri="{FF2B5EF4-FFF2-40B4-BE49-F238E27FC236}">
                <a16:creationId xmlns:a16="http://schemas.microsoft.com/office/drawing/2014/main" id="{EB010982-E7FF-4A27-8D2E-698ED72713F3}"/>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Glycolysis gene</a:t>
            </a:r>
          </a:p>
        </p:txBody>
      </p:sp>
      <p:sp>
        <p:nvSpPr>
          <p:cNvPr id="15" name="TextBox 14">
            <a:extLst>
              <a:ext uri="{FF2B5EF4-FFF2-40B4-BE49-F238E27FC236}">
                <a16:creationId xmlns:a16="http://schemas.microsoft.com/office/drawing/2014/main" id="{FB9899F7-137A-49E3-92E2-593E731D713A}"/>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PGK1 participates in the pathway that breaks down glucose outside mitochondria.</a:t>
            </a:r>
          </a:p>
        </p:txBody>
      </p:sp>
      <p:sp>
        <p:nvSpPr>
          <p:cNvPr id="16" name="Rounded Rectangle 15">
            <a:extLst>
              <a:ext uri="{FF2B5EF4-FFF2-40B4-BE49-F238E27FC236}">
                <a16:creationId xmlns:a16="http://schemas.microsoft.com/office/drawing/2014/main" id="{F2A82254-E0D0-4592-B2C8-BD2CE3F65455}"/>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97F7430-EFBA-4174-8B86-141500AB5194}"/>
              </a:ext>
            </a:extLst>
          </p:cNvPr>
          <p:cNvSpPr>
            <a:spLocks noGrp="1"/>
          </p:cNvSpPr>
          <p:nvPr/>
        </p:nvSpPr>
        <p:spPr>
          <a:xfrm>
            <a:off x="4727448" y="2267712"/>
            <a:ext cx="2907792" cy="34137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9E3A00"/>
                </a:solidFill>
                <a:latin typeface="Arial"/>
                <a:ea typeface="Arial"/>
                <a:cs typeface="Arial"/>
              </a:rPr>
              <a:t>GENES RESPONDING TO LOW OXYGEN OR DAMAGE</a:t>
            </a:r>
          </a:p>
        </p:txBody>
      </p:sp>
      <p:sp>
        <p:nvSpPr>
          <p:cNvPr id="18" name="TextBox 17">
            <a:extLst>
              <a:ext uri="{FF2B5EF4-FFF2-40B4-BE49-F238E27FC236}">
                <a16:creationId xmlns:a16="http://schemas.microsoft.com/office/drawing/2014/main" id="{4956E081-DD2C-4B86-890B-15AAED8FEB6A}"/>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FAM162A and BNIP3</a:t>
            </a:r>
          </a:p>
        </p:txBody>
      </p:sp>
      <p:sp>
        <p:nvSpPr>
          <p:cNvPr id="19" name="TextBox 18">
            <a:extLst>
              <a:ext uri="{FF2B5EF4-FFF2-40B4-BE49-F238E27FC236}">
                <a16:creationId xmlns:a16="http://schemas.microsoft.com/office/drawing/2014/main" id="{E4B6BE57-7B21-46EB-B4B8-07C7047BE0B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These genes respond to low oxygen and mitochondrial damage.</a:t>
            </a:r>
          </a:p>
        </p:txBody>
      </p:sp>
      <p:sp>
        <p:nvSpPr>
          <p:cNvPr id="20" name="Rounded Rectangle 19">
            <a:extLst>
              <a:ext uri="{FF2B5EF4-FFF2-40B4-BE49-F238E27FC236}">
                <a16:creationId xmlns:a16="http://schemas.microsoft.com/office/drawing/2014/main" id="{B5B0454C-87F7-46D9-AC9D-C258F8FE505C}"/>
              </a:ext>
            </a:extLst>
          </p:cNvPr>
          <p:cNvSpPr>
            <a:spLocks noGrp="1"/>
          </p:cNvSpPr>
          <p:nvPr/>
        </p:nvSpPr>
        <p:spPr>
          <a:xfrm>
            <a:off x="824788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4A31876-F730-41A3-82E1-26C44DB10FC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684D"/>
                </a:solidFill>
                <a:latin typeface="Arial"/>
                <a:ea typeface="Arial"/>
                <a:cs typeface="Arial"/>
              </a:rPr>
              <a:t>MITOCHONDRIAL CLEANUP</a:t>
            </a:r>
          </a:p>
        </p:txBody>
      </p:sp>
      <p:sp>
        <p:nvSpPr>
          <p:cNvPr id="22" name="TextBox 21">
            <a:extLst>
              <a:ext uri="{FF2B5EF4-FFF2-40B4-BE49-F238E27FC236}">
                <a16:creationId xmlns:a16="http://schemas.microsoft.com/office/drawing/2014/main" id="{0B36BB3D-8B3E-4FE2-92A5-2C31F99320E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BNIP3L</a:t>
            </a:r>
          </a:p>
        </p:txBody>
      </p:sp>
      <p:sp>
        <p:nvSpPr>
          <p:cNvPr id="23" name="TextBox 22">
            <a:extLst>
              <a:ext uri="{FF2B5EF4-FFF2-40B4-BE49-F238E27FC236}">
                <a16:creationId xmlns:a16="http://schemas.microsoft.com/office/drawing/2014/main" id="{80957CE9-3905-4E15-87B7-36C2E3BB9A61}"/>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BNIP3L can help mark damaged mitochondria for recycling.</a:t>
            </a:r>
          </a:p>
        </p:txBody>
      </p:sp>
      <p:sp>
        <p:nvSpPr>
          <p:cNvPr id="24" name="Rounded Rectangle 23">
            <a:extLst>
              <a:ext uri="{FF2B5EF4-FFF2-40B4-BE49-F238E27FC236}">
                <a16:creationId xmlns:a16="http://schemas.microsoft.com/office/drawing/2014/main" id="{9E619A25-60EB-4338-89D1-FDE97321B67D}"/>
              </a:ext>
            </a:extLst>
          </p:cNvPr>
          <p:cNvSpPr>
            <a:spLocks noGrp="1"/>
          </p:cNvSpPr>
          <p:nvPr/>
        </p:nvSpPr>
        <p:spPr>
          <a:xfrm>
            <a:off x="658368" y="6214545"/>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DE2785D-97BD-473E-94DD-1C0B3B017144}"/>
              </a:ext>
            </a:extLst>
          </p:cNvPr>
          <p:cNvSpPr>
            <a:spLocks noGrp="1"/>
          </p:cNvSpPr>
          <p:nvPr/>
        </p:nvSpPr>
        <p:spPr>
          <a:xfrm>
            <a:off x="896112" y="6307049"/>
            <a:ext cx="10405872" cy="40233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40" b="1" i="0">
                <a:solidFill>
                  <a:srgbClr val="7E4C9A"/>
                </a:solidFill>
                <a:latin typeface="Arial"/>
                <a:ea typeface="Arial"/>
                <a:cs typeface="Arial"/>
              </a:rPr>
              <a:t>This small set of connected genes suggests a link between glucose breakdown and recycling of damaged mitochondria, not broad control of all OXPHOS genes.</a:t>
            </a:r>
          </a:p>
        </p:txBody>
      </p:sp>
    </p:spTree>
    <p:extLst>
      <p:ext uri="{BB962C8B-B14F-4D97-AF65-F5344CB8AC3E}">
        <p14:creationId val="1189913297"/>
      </p:ext>
    </p:extLst>
  </p:cSld>
  <p:clrMapOvr>
    <a:masterClrMapping/>
  </p:clrMapOvr>
  <p:transition/>
  <p:timing/>
</p:sld>
</file>

<file path=ppt/slides/slide12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D634ECCD-3005-43E7-8A12-A62269DF1A3C}"/>
              </a:ext>
            </a:extLst>
          </p:cNvPr>
          <p:cNvSpPr>
            <a:spLocks noGrp="1"/>
          </p:cNvSpPr>
          <p:nvPr/>
        </p:nvSpPr>
        <p:spPr>
          <a:xfrm>
            <a:off x="530352" y="292608"/>
            <a:ext cx="11064240" cy="66446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000" b="1" i="0">
                <a:solidFill>
                  <a:srgbClr val="0F233D"/>
                </a:solidFill>
                <a:latin typeface="Arial"/>
                <a:ea typeface="Arial"/>
                <a:cs typeface="Arial"/>
              </a:rPr>
              <a:t>ROSMAP: PGK1 appears in three astrocyte groups and connects to three stress-response genes</a:t>
            </a:r>
          </a:p>
        </p:txBody>
      </p:sp>
      <p:sp>
        <p:nvSpPr>
          <p:cNvPr id="3" name="TextBox 2">
            <a:extLst>
              <a:ext uri="{FF2B5EF4-FFF2-40B4-BE49-F238E27FC236}">
                <a16:creationId xmlns:a16="http://schemas.microsoft.com/office/drawing/2014/main" id="{B1237EA6-8A72-4ABB-8504-3CA9DA6E9F48}"/>
              </a:ext>
            </a:extLst>
          </p:cNvPr>
          <p:cNvSpPr>
            <a:spLocks noGrp="1"/>
          </p:cNvSpPr>
          <p:nvPr/>
        </p:nvSpPr>
        <p:spPr>
          <a:xfrm>
            <a:off x="548640" y="1031409"/>
            <a:ext cx="10927080" cy="270843"/>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00" b="1" i="0">
                <a:latin typeface="Arial"/>
                <a:ea typeface="Arial"/>
                <a:cs typeface="Arial"/>
              </a:rPr>
              <a:t>The summary scores rank candidates for follow-up but are exploratory and are not multiple-testing-adjusted q values.</a:t>
            </a:r>
          </a:p>
        </p:txBody>
      </p:sp>
      <p:sp>
        <p:nvSpPr>
          <p:cNvPr id="4" name="Rounded Rectangle 3">
            <a:extLst>
              <a:ext uri="{FF2B5EF4-FFF2-40B4-BE49-F238E27FC236}">
                <a16:creationId xmlns:a16="http://schemas.microsoft.com/office/drawing/2014/main" id="{4EB4B218-2773-4039-97D9-0594082EFDE3}"/>
              </a:ext>
            </a:extLst>
          </p:cNvPr>
          <p:cNvSpPr>
            <a:spLocks noGrp="1"/>
          </p:cNvSpPr>
          <p:nvPr/>
        </p:nvSpPr>
        <p:spPr>
          <a:xfrm>
            <a:off x="658368" y="1494557"/>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A6A47F5-78EC-4613-9887-AC2E40047FAD}"/>
              </a:ext>
            </a:extLst>
          </p:cNvPr>
          <p:cNvSpPr>
            <a:spLocks noGrp="1"/>
          </p:cNvSpPr>
          <p:nvPr/>
        </p:nvSpPr>
        <p:spPr>
          <a:xfrm>
            <a:off x="822959" y="1622572"/>
            <a:ext cx="3127248" cy="4846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800" b="1" i="0">
                <a:solidFill>
                  <a:srgbClr val="0072B2"/>
                </a:solidFill>
                <a:latin typeface="Arial"/>
                <a:ea typeface="Arial"/>
                <a:cs typeface="Arial"/>
              </a:rPr>
              <a:t>3</a:t>
            </a:r>
          </a:p>
        </p:txBody>
      </p:sp>
      <p:sp>
        <p:nvSpPr>
          <p:cNvPr id="6" name="TextBox 5">
            <a:extLst>
              <a:ext uri="{FF2B5EF4-FFF2-40B4-BE49-F238E27FC236}">
                <a16:creationId xmlns:a16="http://schemas.microsoft.com/office/drawing/2014/main" id="{9AF3B4E6-7A86-4790-B7EC-A9935BB2ED18}"/>
              </a:ext>
            </a:extLst>
          </p:cNvPr>
          <p:cNvSpPr>
            <a:spLocks noGrp="1"/>
          </p:cNvSpPr>
          <p:nvPr/>
        </p:nvSpPr>
        <p:spPr>
          <a:xfrm>
            <a:off x="822959" y="2152925"/>
            <a:ext cx="3127248" cy="3108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19" b="1" i="0">
                <a:solidFill>
                  <a:srgbClr val="0F233D"/>
                </a:solidFill>
                <a:latin typeface="Arial"/>
                <a:ea typeface="Arial"/>
                <a:cs typeface="Arial"/>
              </a:rPr>
              <a:t>supporting astrocyte KDA calls</a:t>
            </a:r>
          </a:p>
        </p:txBody>
      </p:sp>
      <p:sp>
        <p:nvSpPr>
          <p:cNvPr id="7" name="TextBox 6">
            <a:extLst>
              <a:ext uri="{FF2B5EF4-FFF2-40B4-BE49-F238E27FC236}">
                <a16:creationId xmlns:a16="http://schemas.microsoft.com/office/drawing/2014/main" id="{13242BF1-09E7-4CAB-9664-0FD69FED9A20}"/>
              </a:ext>
            </a:extLst>
          </p:cNvPr>
          <p:cNvSpPr>
            <a:spLocks noGrp="1"/>
          </p:cNvSpPr>
          <p:nvPr/>
        </p:nvSpPr>
        <p:spPr>
          <a:xfrm>
            <a:off x="822959" y="2482109"/>
            <a:ext cx="3127248" cy="21945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880" b="0" i="0">
                <a:solidFill>
                  <a:srgbClr val="4E5A68"/>
                </a:solidFill>
                <a:latin typeface="Arial"/>
                <a:ea typeface="Arial"/>
                <a:cs typeface="Arial"/>
              </a:rPr>
              <a:t>F_e33, F_e4, M_e4</a:t>
            </a:r>
          </a:p>
        </p:txBody>
      </p:sp>
      <p:sp>
        <p:nvSpPr>
          <p:cNvPr id="8" name="Rounded Rectangle 7">
            <a:extLst>
              <a:ext uri="{FF2B5EF4-FFF2-40B4-BE49-F238E27FC236}">
                <a16:creationId xmlns:a16="http://schemas.microsoft.com/office/drawing/2014/main" id="{A77D6C01-7389-436C-BC46-33941816E951}"/>
              </a:ext>
            </a:extLst>
          </p:cNvPr>
          <p:cNvSpPr>
            <a:spLocks noGrp="1"/>
          </p:cNvSpPr>
          <p:nvPr/>
        </p:nvSpPr>
        <p:spPr>
          <a:xfrm>
            <a:off x="4453128" y="1494557"/>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D6D1F92-7286-4B38-89BB-33A8D7D2C59A}"/>
              </a:ext>
            </a:extLst>
          </p:cNvPr>
          <p:cNvSpPr>
            <a:spLocks noGrp="1"/>
          </p:cNvSpPr>
          <p:nvPr/>
        </p:nvSpPr>
        <p:spPr>
          <a:xfrm>
            <a:off x="4617720" y="1622572"/>
            <a:ext cx="3127248" cy="4846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800" b="1" i="0">
                <a:solidFill>
                  <a:srgbClr val="00684D"/>
                </a:solidFill>
                <a:latin typeface="Arial"/>
                <a:ea typeface="Arial"/>
                <a:cs typeface="Arial"/>
              </a:rPr>
              <a:t>8</a:t>
            </a:r>
          </a:p>
        </p:txBody>
      </p:sp>
      <p:sp>
        <p:nvSpPr>
          <p:cNvPr id="10" name="TextBox 9">
            <a:extLst>
              <a:ext uri="{FF2B5EF4-FFF2-40B4-BE49-F238E27FC236}">
                <a16:creationId xmlns:a16="http://schemas.microsoft.com/office/drawing/2014/main" id="{CE45EA34-F632-4FAF-9783-05EB53CC1CCC}"/>
              </a:ext>
            </a:extLst>
          </p:cNvPr>
          <p:cNvSpPr>
            <a:spLocks noGrp="1"/>
          </p:cNvSpPr>
          <p:nvPr/>
        </p:nvSpPr>
        <p:spPr>
          <a:xfrm>
            <a:off x="4617720" y="2152925"/>
            <a:ext cx="3127248" cy="3108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19" b="1" i="0">
                <a:solidFill>
                  <a:srgbClr val="0F233D"/>
                </a:solidFill>
                <a:latin typeface="Arial"/>
                <a:ea typeface="Arial"/>
                <a:cs typeface="Arial"/>
              </a:rPr>
              <a:t>directly connected gene occurrences</a:t>
            </a:r>
          </a:p>
        </p:txBody>
      </p:sp>
      <p:sp>
        <p:nvSpPr>
          <p:cNvPr id="11" name="TextBox 10">
            <a:extLst>
              <a:ext uri="{FF2B5EF4-FFF2-40B4-BE49-F238E27FC236}">
                <a16:creationId xmlns:a16="http://schemas.microsoft.com/office/drawing/2014/main" id="{2EDDE8DE-BC59-4E4F-B94F-FA088B4109B7}"/>
              </a:ext>
            </a:extLst>
          </p:cNvPr>
          <p:cNvSpPr>
            <a:spLocks noGrp="1"/>
          </p:cNvSpPr>
          <p:nvPr/>
        </p:nvSpPr>
        <p:spPr>
          <a:xfrm>
            <a:off x="4617720" y="2482109"/>
            <a:ext cx="3127248" cy="21945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880" b="0" i="0">
                <a:solidFill>
                  <a:srgbClr val="4E5A68"/>
                </a:solidFill>
                <a:latin typeface="Arial"/>
                <a:ea typeface="Arial"/>
                <a:cs typeface="Arial"/>
              </a:rPr>
              <a:t>three genes</a:t>
            </a:r>
          </a:p>
        </p:txBody>
      </p:sp>
      <p:sp>
        <p:nvSpPr>
          <p:cNvPr id="12" name="Rounded Rectangle 11">
            <a:extLst>
              <a:ext uri="{FF2B5EF4-FFF2-40B4-BE49-F238E27FC236}">
                <a16:creationId xmlns:a16="http://schemas.microsoft.com/office/drawing/2014/main" id="{2A433B62-D50C-42CE-807D-6EE2C629C3CD}"/>
              </a:ext>
            </a:extLst>
          </p:cNvPr>
          <p:cNvSpPr>
            <a:spLocks noGrp="1"/>
          </p:cNvSpPr>
          <p:nvPr/>
        </p:nvSpPr>
        <p:spPr>
          <a:xfrm>
            <a:off x="8247888" y="1494557"/>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B38FB59-7DDF-4CF3-8FA2-3AC7890FA51F}"/>
              </a:ext>
            </a:extLst>
          </p:cNvPr>
          <p:cNvSpPr>
            <a:spLocks noGrp="1"/>
          </p:cNvSpPr>
          <p:nvPr/>
        </p:nvSpPr>
        <p:spPr>
          <a:xfrm>
            <a:off x="8412480" y="1622572"/>
            <a:ext cx="3127248" cy="4846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800" b="1" i="0">
                <a:solidFill>
                  <a:srgbClr val="895600"/>
                </a:solidFill>
                <a:latin typeface="Arial"/>
                <a:ea typeface="Arial"/>
                <a:cs typeface="Arial"/>
              </a:rPr>
              <a:t>3</a:t>
            </a:r>
          </a:p>
        </p:txBody>
      </p:sp>
      <p:sp>
        <p:nvSpPr>
          <p:cNvPr id="14" name="TextBox 13">
            <a:extLst>
              <a:ext uri="{FF2B5EF4-FFF2-40B4-BE49-F238E27FC236}">
                <a16:creationId xmlns:a16="http://schemas.microsoft.com/office/drawing/2014/main" id="{A21E4E72-49CB-4F47-8158-894559B2D233}"/>
              </a:ext>
            </a:extLst>
          </p:cNvPr>
          <p:cNvSpPr>
            <a:spLocks noGrp="1"/>
          </p:cNvSpPr>
          <p:nvPr/>
        </p:nvSpPr>
        <p:spPr>
          <a:xfrm>
            <a:off x="8412480" y="2152925"/>
            <a:ext cx="3127248" cy="3108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19" b="1" i="0">
                <a:solidFill>
                  <a:srgbClr val="0F233D"/>
                </a:solidFill>
                <a:latin typeface="Arial"/>
                <a:ea typeface="Arial"/>
                <a:cs typeface="Arial"/>
              </a:rPr>
              <a:t>directly connected genes</a:t>
            </a:r>
          </a:p>
        </p:txBody>
      </p:sp>
      <p:sp>
        <p:nvSpPr>
          <p:cNvPr id="15" name="TextBox 14">
            <a:extLst>
              <a:ext uri="{FF2B5EF4-FFF2-40B4-BE49-F238E27FC236}">
                <a16:creationId xmlns:a16="http://schemas.microsoft.com/office/drawing/2014/main" id="{4EC346BC-0759-4F0B-A2D9-D69060EC70D7}"/>
              </a:ext>
            </a:extLst>
          </p:cNvPr>
          <p:cNvSpPr>
            <a:spLocks noGrp="1"/>
          </p:cNvSpPr>
          <p:nvPr/>
        </p:nvSpPr>
        <p:spPr>
          <a:xfrm>
            <a:off x="8412480" y="2482109"/>
            <a:ext cx="3127248" cy="21945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880" b="0" i="0">
                <a:solidFill>
                  <a:srgbClr val="4E5A68"/>
                </a:solidFill>
                <a:latin typeface="Arial"/>
                <a:ea typeface="Arial"/>
                <a:cs typeface="Arial"/>
              </a:rPr>
              <a:t>FAM162A, BNIP3, BNIP3L</a:t>
            </a:r>
          </a:p>
        </p:txBody>
      </p:sp>
      <p:sp>
        <p:nvSpPr>
          <p:cNvPr id="16" name="Rounded Rectangle 15">
            <a:extLst>
              <a:ext uri="{FF2B5EF4-FFF2-40B4-BE49-F238E27FC236}">
                <a16:creationId xmlns:a16="http://schemas.microsoft.com/office/drawing/2014/main" id="{F7462905-94EB-45AA-A9C1-76483A544358}"/>
              </a:ext>
            </a:extLst>
          </p:cNvPr>
          <p:cNvSpPr>
            <a:spLocks noGrp="1"/>
          </p:cNvSpPr>
          <p:nvPr/>
        </p:nvSpPr>
        <p:spPr>
          <a:xfrm>
            <a:off x="749808" y="3094757"/>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FA5032A-67CF-4A27-807B-6CC6E486B9FC}"/>
              </a:ext>
            </a:extLst>
          </p:cNvPr>
          <p:cNvSpPr>
            <a:spLocks noGrp="1"/>
          </p:cNvSpPr>
          <p:nvPr/>
        </p:nvSpPr>
        <p:spPr>
          <a:xfrm>
            <a:off x="987552" y="3259349"/>
            <a:ext cx="2331720" cy="29260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300" b="1" i="0">
                <a:solidFill>
                  <a:srgbClr val="0F233D"/>
                </a:solidFill>
                <a:latin typeface="Arial"/>
                <a:ea typeface="Arial"/>
                <a:cs typeface="Arial"/>
              </a:rPr>
              <a:t>Female ε3/ε3</a:t>
            </a:r>
          </a:p>
        </p:txBody>
      </p:sp>
      <p:sp>
        <p:nvSpPr>
          <p:cNvPr id="18" name="TextBox 17">
            <a:extLst>
              <a:ext uri="{FF2B5EF4-FFF2-40B4-BE49-F238E27FC236}">
                <a16:creationId xmlns:a16="http://schemas.microsoft.com/office/drawing/2014/main" id="{A248D179-49EF-48D7-8640-B8E54FD0980F}"/>
              </a:ext>
            </a:extLst>
          </p:cNvPr>
          <p:cNvSpPr>
            <a:spLocks noGrp="1"/>
          </p:cNvSpPr>
          <p:nvPr/>
        </p:nvSpPr>
        <p:spPr>
          <a:xfrm>
            <a:off x="3419856" y="3213629"/>
            <a:ext cx="1975104" cy="36576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600" b="1" i="0">
                <a:solidFill>
                  <a:srgbClr val="00684D"/>
                </a:solidFill>
                <a:latin typeface="Arial"/>
                <a:ea typeface="Arial"/>
                <a:cs typeface="Arial"/>
              </a:rPr>
              <a:t>logFC +1.06</a:t>
            </a:r>
          </a:p>
        </p:txBody>
      </p:sp>
      <p:sp>
        <p:nvSpPr>
          <p:cNvPr id="19" name="TextBox 18">
            <a:extLst>
              <a:ext uri="{FF2B5EF4-FFF2-40B4-BE49-F238E27FC236}">
                <a16:creationId xmlns:a16="http://schemas.microsoft.com/office/drawing/2014/main" id="{CEFE52EB-E3A8-437E-BFB1-C446A7456136}"/>
              </a:ext>
            </a:extLst>
          </p:cNvPr>
          <p:cNvSpPr>
            <a:spLocks noGrp="1"/>
          </p:cNvSpPr>
          <p:nvPr/>
        </p:nvSpPr>
        <p:spPr>
          <a:xfrm>
            <a:off x="5596128" y="3213629"/>
            <a:ext cx="5468112" cy="438912"/>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150" b="0" i="0">
                <a:solidFill>
                  <a:srgbClr val="1F2730"/>
                </a:solidFill>
                <a:latin typeface="Arial"/>
                <a:ea typeface="Arial"/>
                <a:cs typeface="Arial"/>
              </a:rPr>
              <a:t>PGK1 was AD-up and met the report’s DEG threshold</a:t>
            </a:r>
          </a:p>
        </p:txBody>
      </p:sp>
      <p:sp>
        <p:nvSpPr>
          <p:cNvPr id="20" name="Rounded Rectangle 19">
            <a:extLst>
              <a:ext uri="{FF2B5EF4-FFF2-40B4-BE49-F238E27FC236}">
                <a16:creationId xmlns:a16="http://schemas.microsoft.com/office/drawing/2014/main" id="{163C2D99-61C4-4609-B9F5-A41BE06E79D3}"/>
              </a:ext>
            </a:extLst>
          </p:cNvPr>
          <p:cNvSpPr>
            <a:spLocks noGrp="1"/>
          </p:cNvSpPr>
          <p:nvPr/>
        </p:nvSpPr>
        <p:spPr>
          <a:xfrm>
            <a:off x="749808" y="4054877"/>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B62CE896-82E2-414F-BCE7-4E4EE5C9FDF2}"/>
              </a:ext>
            </a:extLst>
          </p:cNvPr>
          <p:cNvSpPr>
            <a:spLocks noGrp="1"/>
          </p:cNvSpPr>
          <p:nvPr/>
        </p:nvSpPr>
        <p:spPr>
          <a:xfrm>
            <a:off x="987552" y="4219468"/>
            <a:ext cx="2331720" cy="29260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300" b="1" i="0">
                <a:solidFill>
                  <a:srgbClr val="0F233D"/>
                </a:solidFill>
                <a:latin typeface="Arial"/>
                <a:ea typeface="Arial"/>
                <a:cs typeface="Arial"/>
              </a:rPr>
              <a:t>Female ε4</a:t>
            </a:r>
          </a:p>
        </p:txBody>
      </p:sp>
      <p:sp>
        <p:nvSpPr>
          <p:cNvPr id="22" name="TextBox 21">
            <a:extLst>
              <a:ext uri="{FF2B5EF4-FFF2-40B4-BE49-F238E27FC236}">
                <a16:creationId xmlns:a16="http://schemas.microsoft.com/office/drawing/2014/main" id="{3D617E52-6E88-4F32-A270-C23075F37CEE}"/>
              </a:ext>
            </a:extLst>
          </p:cNvPr>
          <p:cNvSpPr>
            <a:spLocks noGrp="1"/>
          </p:cNvSpPr>
          <p:nvPr/>
        </p:nvSpPr>
        <p:spPr>
          <a:xfrm>
            <a:off x="3419856" y="4173749"/>
            <a:ext cx="1975104" cy="36576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600" b="1" i="0">
                <a:solidFill>
                  <a:srgbClr val="895600"/>
                </a:solidFill>
                <a:latin typeface="Arial"/>
                <a:ea typeface="Arial"/>
                <a:cs typeface="Arial"/>
              </a:rPr>
              <a:t>logFC +0.03</a:t>
            </a:r>
          </a:p>
        </p:txBody>
      </p:sp>
      <p:sp>
        <p:nvSpPr>
          <p:cNvPr id="23" name="TextBox 22">
            <a:extLst>
              <a:ext uri="{FF2B5EF4-FFF2-40B4-BE49-F238E27FC236}">
                <a16:creationId xmlns:a16="http://schemas.microsoft.com/office/drawing/2014/main" id="{DFAE37E3-B0DD-4A9E-AD0B-213D2BABEFB1}"/>
              </a:ext>
            </a:extLst>
          </p:cNvPr>
          <p:cNvSpPr>
            <a:spLocks noGrp="1"/>
          </p:cNvSpPr>
          <p:nvPr/>
        </p:nvSpPr>
        <p:spPr>
          <a:xfrm>
            <a:off x="5596128" y="4173749"/>
            <a:ext cx="5468112" cy="438912"/>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150" b="0" i="0">
                <a:solidFill>
                  <a:srgbClr val="1F2730"/>
                </a:solidFill>
                <a:latin typeface="Arial"/>
                <a:ea typeface="Arial"/>
                <a:cs typeface="Arial"/>
              </a:rPr>
              <a:t>PGK1 showed almost no expression change and did not meet the report’s DEG criteria</a:t>
            </a:r>
          </a:p>
        </p:txBody>
      </p:sp>
      <p:sp>
        <p:nvSpPr>
          <p:cNvPr id="24" name="Rounded Rectangle 23">
            <a:extLst>
              <a:ext uri="{FF2B5EF4-FFF2-40B4-BE49-F238E27FC236}">
                <a16:creationId xmlns:a16="http://schemas.microsoft.com/office/drawing/2014/main" id="{56E5093A-5C54-4EFC-BC39-17063F9BEFE2}"/>
              </a:ext>
            </a:extLst>
          </p:cNvPr>
          <p:cNvSpPr>
            <a:spLocks noGrp="1"/>
          </p:cNvSpPr>
          <p:nvPr/>
        </p:nvSpPr>
        <p:spPr>
          <a:xfrm>
            <a:off x="749808" y="5014997"/>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967871F-BBF0-43C9-B9DC-FDA1E86BA9E7}"/>
              </a:ext>
            </a:extLst>
          </p:cNvPr>
          <p:cNvSpPr>
            <a:spLocks noGrp="1"/>
          </p:cNvSpPr>
          <p:nvPr/>
        </p:nvSpPr>
        <p:spPr>
          <a:xfrm>
            <a:off x="987552" y="5179589"/>
            <a:ext cx="2331720" cy="29260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300" b="1" i="0">
                <a:solidFill>
                  <a:srgbClr val="0F233D"/>
                </a:solidFill>
                <a:latin typeface="Arial"/>
                <a:ea typeface="Arial"/>
                <a:cs typeface="Arial"/>
              </a:rPr>
              <a:t>Male ε4</a:t>
            </a:r>
          </a:p>
        </p:txBody>
      </p:sp>
      <p:sp>
        <p:nvSpPr>
          <p:cNvPr id="26" name="TextBox 25">
            <a:extLst>
              <a:ext uri="{FF2B5EF4-FFF2-40B4-BE49-F238E27FC236}">
                <a16:creationId xmlns:a16="http://schemas.microsoft.com/office/drawing/2014/main" id="{6C1D427A-C9F7-40EE-A46C-C6DCBC736DEB}"/>
              </a:ext>
            </a:extLst>
          </p:cNvPr>
          <p:cNvSpPr>
            <a:spLocks noGrp="1"/>
          </p:cNvSpPr>
          <p:nvPr/>
        </p:nvSpPr>
        <p:spPr>
          <a:xfrm>
            <a:off x="3419856" y="5133869"/>
            <a:ext cx="1975104" cy="36576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600" b="1" i="0">
                <a:solidFill>
                  <a:srgbClr val="00684D"/>
                </a:solidFill>
                <a:latin typeface="Arial"/>
                <a:ea typeface="Arial"/>
                <a:cs typeface="Arial"/>
              </a:rPr>
              <a:t>logFC +0.95</a:t>
            </a:r>
          </a:p>
        </p:txBody>
      </p:sp>
      <p:sp>
        <p:nvSpPr>
          <p:cNvPr id="27" name="TextBox 26">
            <a:extLst>
              <a:ext uri="{FF2B5EF4-FFF2-40B4-BE49-F238E27FC236}">
                <a16:creationId xmlns:a16="http://schemas.microsoft.com/office/drawing/2014/main" id="{29D3692D-C336-456D-88CD-3A2ECEEEA0C2}"/>
              </a:ext>
            </a:extLst>
          </p:cNvPr>
          <p:cNvSpPr>
            <a:spLocks noGrp="1"/>
          </p:cNvSpPr>
          <p:nvPr/>
        </p:nvSpPr>
        <p:spPr>
          <a:xfrm>
            <a:off x="5596128" y="5133869"/>
            <a:ext cx="5468112" cy="438912"/>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150" b="0" i="0">
                <a:solidFill>
                  <a:srgbClr val="1F2730"/>
                </a:solidFill>
                <a:latin typeface="Arial"/>
                <a:ea typeface="Arial"/>
                <a:cs typeface="Arial"/>
              </a:rPr>
              <a:t>PGK1 was AD-up and met the report’s DEG threshold</a:t>
            </a:r>
          </a:p>
        </p:txBody>
      </p:sp>
    </p:spTree>
    <p:extLst>
      <p:ext uri="{BB962C8B-B14F-4D97-AF65-F5344CB8AC3E}">
        <p14:creationId val="220810099"/>
      </p:ext>
    </p:extLst>
  </p:cSld>
  <p:clrMapOvr>
    <a:masterClrMapping/>
  </p:clrMapOvr>
  <p:transition/>
  <p:timing/>
</p:sld>
</file>

<file path=ppt/slides/slide12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34A312CB-5F0B-4345-92DD-4F0394E290B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The same three genes recur, but support outside ROSMAP remains limited</a:t>
            </a:r>
          </a:p>
        </p:txBody>
      </p:sp>
      <p:sp>
        <p:nvSpPr>
          <p:cNvPr id="3" name="TextBox 2">
            <a:extLst>
              <a:ext uri="{FF2B5EF4-FFF2-40B4-BE49-F238E27FC236}">
                <a16:creationId xmlns:a16="http://schemas.microsoft.com/office/drawing/2014/main" id="{34F96E17-5704-4968-8FFC-4A9E6293D587}"/>
              </a:ext>
            </a:extLst>
          </p:cNvPr>
          <p:cNvSpPr>
            <a:spLocks noGrp="1"/>
          </p:cNvSpPr>
          <p:nvPr/>
        </p:nvSpPr>
        <p:spPr>
          <a:xfrm>
            <a:off x="548640" y="950014"/>
            <a:ext cx="10927080" cy="270843"/>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00" b="1" i="0">
                <a:latin typeface="Arial"/>
                <a:ea typeface="Arial"/>
                <a:cs typeface="Arial"/>
              </a:rPr>
              <a:t>A result based on only three connected genes gives a focused hypothesis but depends heavily on those genes.</a:t>
            </a:r>
          </a:p>
        </p:txBody>
      </p:sp>
      <p:sp>
        <p:nvSpPr>
          <p:cNvPr id="4" name="Rounded Rectangle 3">
            <a:extLst>
              <a:ext uri="{FF2B5EF4-FFF2-40B4-BE49-F238E27FC236}">
                <a16:creationId xmlns:a16="http://schemas.microsoft.com/office/drawing/2014/main" id="{2D5AFA68-09C1-4160-BFBC-2E55ECA39EA1}"/>
              </a:ext>
            </a:extLst>
          </p:cNvPr>
          <p:cNvSpPr>
            <a:spLocks noGrp="1"/>
          </p:cNvSpPr>
          <p:nvPr/>
        </p:nvSpPr>
        <p:spPr>
          <a:xfrm>
            <a:off x="658368" y="1522717"/>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485003D-DE1C-4590-B184-70967E3A99AA}"/>
              </a:ext>
            </a:extLst>
          </p:cNvPr>
          <p:cNvSpPr>
            <a:spLocks noGrp="1"/>
          </p:cNvSpPr>
          <p:nvPr/>
        </p:nvSpPr>
        <p:spPr>
          <a:xfrm>
            <a:off x="932688" y="1815325"/>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684D"/>
                </a:solidFill>
                <a:latin typeface="Arial"/>
                <a:ea typeface="Arial"/>
                <a:cs typeface="Arial"/>
              </a:rPr>
              <a:t>DIRECTLY CONNECTED GENES</a:t>
            </a:r>
          </a:p>
        </p:txBody>
      </p:sp>
      <p:sp>
        <p:nvSpPr>
          <p:cNvPr id="6" name="TextBox 5">
            <a:extLst>
              <a:ext uri="{FF2B5EF4-FFF2-40B4-BE49-F238E27FC236}">
                <a16:creationId xmlns:a16="http://schemas.microsoft.com/office/drawing/2014/main" id="{EF558C3A-0504-4E58-9BD1-4A923DDCD21E}"/>
              </a:ext>
            </a:extLst>
          </p:cNvPr>
          <p:cNvSpPr>
            <a:spLocks noGrp="1"/>
          </p:cNvSpPr>
          <p:nvPr/>
        </p:nvSpPr>
        <p:spPr>
          <a:xfrm>
            <a:off x="932688" y="2272525"/>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FAM162A in 3 KDA calls, BNIP3 in 3, BNIP3L in 2</a:t>
            </a:r>
          </a:p>
        </p:txBody>
      </p:sp>
      <p:sp>
        <p:nvSpPr>
          <p:cNvPr id="7" name="TextBox 6">
            <a:extLst>
              <a:ext uri="{FF2B5EF4-FFF2-40B4-BE49-F238E27FC236}">
                <a16:creationId xmlns:a16="http://schemas.microsoft.com/office/drawing/2014/main" id="{A9C49C52-BD4E-420E-94E4-96753C7A2C0F}"/>
              </a:ext>
            </a:extLst>
          </p:cNvPr>
          <p:cNvSpPr>
            <a:spLocks noGrp="1"/>
          </p:cNvSpPr>
          <p:nvPr/>
        </p:nvSpPr>
        <p:spPr>
          <a:xfrm>
            <a:off x="969264" y="3278365"/>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All eight gene connections involve response to low oxygen or removal of damaged mitochondria.</a:t>
            </a:r>
          </a:p>
        </p:txBody>
      </p:sp>
      <p:sp>
        <p:nvSpPr>
          <p:cNvPr id="8" name="Rounded Rectangle 7">
            <a:extLst>
              <a:ext uri="{FF2B5EF4-FFF2-40B4-BE49-F238E27FC236}">
                <a16:creationId xmlns:a16="http://schemas.microsoft.com/office/drawing/2014/main" id="{4BC3BC37-F1EF-4116-9612-1C28E5F66893}"/>
              </a:ext>
            </a:extLst>
          </p:cNvPr>
          <p:cNvSpPr>
            <a:spLocks noGrp="1"/>
          </p:cNvSpPr>
          <p:nvPr/>
        </p:nvSpPr>
        <p:spPr>
          <a:xfrm>
            <a:off x="4453128" y="1522717"/>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BAEC80D-36F8-4C7E-B96D-17BF8A9893A7}"/>
              </a:ext>
            </a:extLst>
          </p:cNvPr>
          <p:cNvSpPr>
            <a:spLocks noGrp="1"/>
          </p:cNvSpPr>
          <p:nvPr/>
        </p:nvSpPr>
        <p:spPr>
          <a:xfrm>
            <a:off x="4727448" y="1815325"/>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895600"/>
                </a:solidFill>
                <a:latin typeface="Arial"/>
                <a:ea typeface="Arial"/>
                <a:cs typeface="Arial"/>
              </a:rPr>
              <a:t>SEA-AD TEST</a:t>
            </a:r>
          </a:p>
        </p:txBody>
      </p:sp>
      <p:sp>
        <p:nvSpPr>
          <p:cNvPr id="10" name="TextBox 9">
            <a:extLst>
              <a:ext uri="{FF2B5EF4-FFF2-40B4-BE49-F238E27FC236}">
                <a16:creationId xmlns:a16="http://schemas.microsoft.com/office/drawing/2014/main" id="{1117AB6D-06AA-4C3A-94B4-03661EA80071}"/>
              </a:ext>
            </a:extLst>
          </p:cNvPr>
          <p:cNvSpPr>
            <a:spLocks noGrp="1"/>
          </p:cNvSpPr>
          <p:nvPr/>
        </p:nvSpPr>
        <p:spPr>
          <a:xfrm>
            <a:off x="4727448" y="2272525"/>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PGK1 present but not returned</a:t>
            </a:r>
          </a:p>
        </p:txBody>
      </p:sp>
      <p:sp>
        <p:nvSpPr>
          <p:cNvPr id="11" name="TextBox 10">
            <a:extLst>
              <a:ext uri="{FF2B5EF4-FFF2-40B4-BE49-F238E27FC236}">
                <a16:creationId xmlns:a16="http://schemas.microsoft.com/office/drawing/2014/main" id="{DD6B5843-D1D2-420E-8C82-1520D4903537}"/>
              </a:ext>
            </a:extLst>
          </p:cNvPr>
          <p:cNvSpPr>
            <a:spLocks noGrp="1"/>
          </p:cNvSpPr>
          <p:nvPr/>
        </p:nvSpPr>
        <p:spPr>
          <a:xfrm>
            <a:off x="4764024" y="3278365"/>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PGK1 was present in the only female ε4 astrocyte network available for testing, but the KDA input contained only five DEGs.</a:t>
            </a:r>
          </a:p>
        </p:txBody>
      </p:sp>
      <p:sp>
        <p:nvSpPr>
          <p:cNvPr id="12" name="Rounded Rectangle 11">
            <a:extLst>
              <a:ext uri="{FF2B5EF4-FFF2-40B4-BE49-F238E27FC236}">
                <a16:creationId xmlns:a16="http://schemas.microsoft.com/office/drawing/2014/main" id="{2B9E94F1-54CA-4A52-AA6A-E5C109DD507C}"/>
              </a:ext>
            </a:extLst>
          </p:cNvPr>
          <p:cNvSpPr>
            <a:spLocks noGrp="1"/>
          </p:cNvSpPr>
          <p:nvPr/>
        </p:nvSpPr>
        <p:spPr>
          <a:xfrm>
            <a:off x="8247888" y="1522717"/>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8986F0A-AD85-43D2-A63B-73E9D8239DFA}"/>
              </a:ext>
            </a:extLst>
          </p:cNvPr>
          <p:cNvSpPr>
            <a:spLocks noGrp="1"/>
          </p:cNvSpPr>
          <p:nvPr/>
        </p:nvSpPr>
        <p:spPr>
          <a:xfrm>
            <a:off x="8522208" y="1815325"/>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4E5A68"/>
                </a:solidFill>
                <a:latin typeface="Arial"/>
                <a:ea typeface="Arial"/>
                <a:cs typeface="Arial"/>
              </a:rPr>
              <a:t>INDEPENDENCE OF PRIOR STUDY</a:t>
            </a:r>
          </a:p>
        </p:txBody>
      </p:sp>
      <p:sp>
        <p:nvSpPr>
          <p:cNvPr id="14" name="TextBox 13">
            <a:extLst>
              <a:ext uri="{FF2B5EF4-FFF2-40B4-BE49-F238E27FC236}">
                <a16:creationId xmlns:a16="http://schemas.microsoft.com/office/drawing/2014/main" id="{155E189E-0AC7-4D49-929A-D785A6EDF02E}"/>
              </a:ext>
            </a:extLst>
          </p:cNvPr>
          <p:cNvSpPr>
            <a:spLocks noGrp="1"/>
          </p:cNvSpPr>
          <p:nvPr/>
        </p:nvSpPr>
        <p:spPr>
          <a:xfrm>
            <a:off x="8522208" y="2272525"/>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Mathys et al. also uses ROSMAP</a:t>
            </a:r>
          </a:p>
        </p:txBody>
      </p:sp>
      <p:sp>
        <p:nvSpPr>
          <p:cNvPr id="15" name="TextBox 14">
            <a:extLst>
              <a:ext uri="{FF2B5EF4-FFF2-40B4-BE49-F238E27FC236}">
                <a16:creationId xmlns:a16="http://schemas.microsoft.com/office/drawing/2014/main" id="{43DA6F94-8431-4149-9553-A5AD0E0D73EA}"/>
              </a:ext>
            </a:extLst>
          </p:cNvPr>
          <p:cNvSpPr>
            <a:spLocks noGrp="1"/>
          </p:cNvSpPr>
          <p:nvPr/>
        </p:nvSpPr>
        <p:spPr>
          <a:xfrm>
            <a:off x="8558784" y="3278365"/>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Related evidence about glucose breakdown in glial cells may include some of the same donors, so it is not independent validation.</a:t>
            </a:r>
          </a:p>
        </p:txBody>
      </p:sp>
    </p:spTree>
    <p:extLst>
      <p:ext uri="{BB962C8B-B14F-4D97-AF65-F5344CB8AC3E}">
        <p14:creationId val="928381432"/>
      </p:ext>
    </p:extLst>
  </p:cSld>
  <p:clrMapOvr>
    <a:masterClrMapping/>
  </p:clrMapOvr>
  <p:transition/>
  <p:timing/>
</p:sld>
</file>

<file path=ppt/slides/slide12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6F6017EF-9EA4-4B57-B318-A497FEECDA6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000" b="1" i="0">
                <a:solidFill>
                  <a:srgbClr val="0F233D"/>
                </a:solidFill>
                <a:latin typeface="Arial"/>
                <a:ea typeface="Arial"/>
                <a:cs typeface="Arial"/>
              </a:rPr>
              <a:t>Why this matters: astrocytes can shift glucose use and remove damaged mitochondria</a:t>
            </a:r>
          </a:p>
        </p:txBody>
      </p:sp>
      <p:sp>
        <p:nvSpPr>
          <p:cNvPr id="3" name="TextBox 2">
            <a:extLst>
              <a:ext uri="{FF2B5EF4-FFF2-40B4-BE49-F238E27FC236}">
                <a16:creationId xmlns:a16="http://schemas.microsoft.com/office/drawing/2014/main" id="{EBB140CF-AE96-471A-8FAA-A1B8D0A2348B}"/>
              </a:ext>
            </a:extLst>
          </p:cNvPr>
          <p:cNvSpPr>
            <a:spLocks noGrp="1"/>
          </p:cNvSpPr>
          <p:nvPr/>
        </p:nvSpPr>
        <p:spPr>
          <a:xfrm>
            <a:off x="548640" y="911513"/>
            <a:ext cx="10927080" cy="270843"/>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00" b="1" i="0">
                <a:latin typeface="Arial"/>
                <a:ea typeface="Arial"/>
                <a:cs typeface="Arial"/>
              </a:rPr>
              <a:t>Astrocytes help regulate energy supply for neurons and respond strongly to Alzheimer’s pathology.</a:t>
            </a:r>
          </a:p>
        </p:txBody>
      </p:sp>
      <p:sp>
        <p:nvSpPr>
          <p:cNvPr id="4" name="Rounded Rectangle 3">
            <a:extLst>
              <a:ext uri="{FF2B5EF4-FFF2-40B4-BE49-F238E27FC236}">
                <a16:creationId xmlns:a16="http://schemas.microsoft.com/office/drawing/2014/main" id="{5E726C50-2F3E-427E-A57E-1B69F087D0A4}"/>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3C51008-16CE-431B-94F1-A86C527D75A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72B2"/>
                </a:solidFill>
                <a:latin typeface="Arial"/>
                <a:ea typeface="Arial"/>
                <a:cs typeface="Arial"/>
              </a:rPr>
              <a:t>ENERGY ROUTING</a:t>
            </a:r>
          </a:p>
        </p:txBody>
      </p:sp>
      <p:sp>
        <p:nvSpPr>
          <p:cNvPr id="6" name="TextBox 5">
            <a:extLst>
              <a:ext uri="{FF2B5EF4-FFF2-40B4-BE49-F238E27FC236}">
                <a16:creationId xmlns:a16="http://schemas.microsoft.com/office/drawing/2014/main" id="{BE031E6D-135D-4F09-874E-FA2CF701A9E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400" b="1" i="0">
                <a:solidFill>
                  <a:srgbClr val="0F233D"/>
                </a:solidFill>
                <a:latin typeface="Arial"/>
                <a:ea typeface="Arial"/>
                <a:cs typeface="Arial"/>
              </a:rPr>
              <a:t>More glucose breakdown outside mitochondria may reduce mitochondrial demand</a:t>
            </a:r>
          </a:p>
        </p:txBody>
      </p:sp>
      <p:sp>
        <p:nvSpPr>
          <p:cNvPr id="7" name="TextBox 6">
            <a:extLst>
              <a:ext uri="{FF2B5EF4-FFF2-40B4-BE49-F238E27FC236}">
                <a16:creationId xmlns:a16="http://schemas.microsoft.com/office/drawing/2014/main" id="{ED255D3E-6D1A-4D3D-A762-664215183CF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Cells can shift ATP production toward glucose breakdown outside mitochondria.</a:t>
            </a:r>
          </a:p>
        </p:txBody>
      </p:sp>
      <p:sp>
        <p:nvSpPr>
          <p:cNvPr id="8" name="Rounded Rectangle 7">
            <a:extLst>
              <a:ext uri="{FF2B5EF4-FFF2-40B4-BE49-F238E27FC236}">
                <a16:creationId xmlns:a16="http://schemas.microsoft.com/office/drawing/2014/main" id="{CDFC2C7B-D347-481B-AD76-71D110281DFC}"/>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92DABB1-44F0-4374-96C8-F946BC4B608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684D"/>
                </a:solidFill>
                <a:latin typeface="Arial"/>
                <a:ea typeface="Arial"/>
                <a:cs typeface="Arial"/>
              </a:rPr>
              <a:t>RESPONSE TO MITOCHONDRIAL DAMAGE</a:t>
            </a:r>
          </a:p>
        </p:txBody>
      </p:sp>
      <p:sp>
        <p:nvSpPr>
          <p:cNvPr id="10" name="TextBox 9">
            <a:extLst>
              <a:ext uri="{FF2B5EF4-FFF2-40B4-BE49-F238E27FC236}">
                <a16:creationId xmlns:a16="http://schemas.microsoft.com/office/drawing/2014/main" id="{9640C069-87DE-4B35-AE5E-77E1C893AD9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BNIP3 and BNIP3L respond to low oxygen and damage</a:t>
            </a:r>
          </a:p>
        </p:txBody>
      </p:sp>
      <p:sp>
        <p:nvSpPr>
          <p:cNvPr id="11" name="TextBox 10">
            <a:extLst>
              <a:ext uri="{FF2B5EF4-FFF2-40B4-BE49-F238E27FC236}">
                <a16:creationId xmlns:a16="http://schemas.microsoft.com/office/drawing/2014/main" id="{271D10B8-AD24-4DAF-990A-FAD4840513A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These genes can help remove damaged mitochondria.</a:t>
            </a:r>
          </a:p>
        </p:txBody>
      </p:sp>
      <p:sp>
        <p:nvSpPr>
          <p:cNvPr id="12" name="Rounded Rectangle 11">
            <a:extLst>
              <a:ext uri="{FF2B5EF4-FFF2-40B4-BE49-F238E27FC236}">
                <a16:creationId xmlns:a16="http://schemas.microsoft.com/office/drawing/2014/main" id="{845E213E-D488-4151-BC36-F972CF4AA0D6}"/>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9C0DF5-3B57-4BA0-AB28-51A2B176A785}"/>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895600"/>
                </a:solidFill>
                <a:latin typeface="Arial"/>
                <a:ea typeface="Arial"/>
                <a:cs typeface="Arial"/>
              </a:rPr>
              <a:t>AMBIGUOUS CONSEQUENCE</a:t>
            </a:r>
          </a:p>
        </p:txBody>
      </p:sp>
      <p:sp>
        <p:nvSpPr>
          <p:cNvPr id="14" name="TextBox 13">
            <a:extLst>
              <a:ext uri="{FF2B5EF4-FFF2-40B4-BE49-F238E27FC236}">
                <a16:creationId xmlns:a16="http://schemas.microsoft.com/office/drawing/2014/main" id="{59F13C28-E00C-4C60-B952-145C57CF8A8F}"/>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Could be protective or harmful</a:t>
            </a:r>
          </a:p>
        </p:txBody>
      </p:sp>
      <p:sp>
        <p:nvSpPr>
          <p:cNvPr id="15" name="TextBox 14">
            <a:extLst>
              <a:ext uri="{FF2B5EF4-FFF2-40B4-BE49-F238E27FC236}">
                <a16:creationId xmlns:a16="http://schemas.microsoft.com/office/drawing/2014/main" id="{CD556C10-4E1A-425E-AAB5-FAB1C75172D3}"/>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Increased glucose breakdown and removal of damaged mitochondria can protect cells or indicate severe stress.</a:t>
            </a:r>
          </a:p>
        </p:txBody>
      </p:sp>
      <p:sp>
        <p:nvSpPr>
          <p:cNvPr id="16" name="Rounded Rectangle 15">
            <a:extLst>
              <a:ext uri="{FF2B5EF4-FFF2-40B4-BE49-F238E27FC236}">
                <a16:creationId xmlns:a16="http://schemas.microsoft.com/office/drawing/2014/main" id="{63BAF420-B9FE-4A44-A13F-0D02A8A9A64A}"/>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3CAB94A-B4F6-4406-81BE-FD2E512C2323}"/>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A01A1458-C04C-42F4-BA43-C198050F5E5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20" b="1" i="0">
                <a:solidFill>
                  <a:srgbClr val="1F2730"/>
                </a:solidFill>
                <a:latin typeface="Arial"/>
                <a:ea typeface="Arial"/>
                <a:cs typeface="Arial"/>
              </a:rPr>
              <a:t>An experiment that changes PGK1 and then rescues the response can test whether PGK1 acts before BNIP3 and BNIP3L.</a:t>
            </a:r>
          </a:p>
        </p:txBody>
      </p:sp>
    </p:spTree>
    <p:extLst>
      <p:ext uri="{BB962C8B-B14F-4D97-AF65-F5344CB8AC3E}">
        <p14:creationId val="1534842305"/>
      </p:ext>
    </p:extLst>
  </p:cSld>
  <p:clrMapOvr>
    <a:masterClrMapping/>
  </p:clrMapOvr>
  <p:transition/>
  <p:timing/>
</p:sld>
</file>

<file path=ppt/slides/slide13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AAA72472-335B-421D-8BFE-877C12AA8D0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How prior research supports and limits Finding 12</a:t>
            </a:r>
          </a:p>
        </p:txBody>
      </p:sp>
      <p:sp>
        <p:nvSpPr>
          <p:cNvPr id="3" name="TextBox 2">
            <a:extLst>
              <a:ext uri="{FF2B5EF4-FFF2-40B4-BE49-F238E27FC236}">
                <a16:creationId xmlns:a16="http://schemas.microsoft.com/office/drawing/2014/main" id="{C1974586-B6F4-444C-BD73-69D0205D12D9}"/>
              </a:ext>
            </a:extLst>
          </p:cNvPr>
          <p:cNvSpPr>
            <a:spLocks noGrp="1"/>
          </p:cNvSpPr>
          <p:nvPr/>
        </p:nvSpPr>
        <p:spPr>
          <a:xfrm>
            <a:off x="548640" y="908302"/>
            <a:ext cx="10927080" cy="270843"/>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00" b="1" i="0">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63AF9718-FEB6-4EDB-89BD-8E7C9BB67BBC}"/>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5037E10-1714-4269-8944-52D55D8B0610}"/>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500" b="1" i="0">
                <a:solidFill>
                  <a:srgbClr val="0072B2"/>
                </a:solidFill>
                <a:latin typeface="Arial"/>
                <a:ea typeface="Arial"/>
                <a:cs typeface="Arial"/>
              </a:rPr>
              <a:t>Mathys et al. 2024</a:t>
            </a:r>
          </a:p>
        </p:txBody>
      </p:sp>
      <p:sp>
        <p:nvSpPr>
          <p:cNvPr id="6" name="TextBox 5">
            <a:extLst>
              <a:ext uri="{FF2B5EF4-FFF2-40B4-BE49-F238E27FC236}">
                <a16:creationId xmlns:a16="http://schemas.microsoft.com/office/drawing/2014/main" id="{A0399F64-B103-4065-8020-6637B2FAB67D}"/>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350" b="1" i="0">
                <a:solidFill>
                  <a:srgbClr val="0F233D"/>
                </a:solidFill>
                <a:latin typeface="Arial"/>
                <a:ea typeface="Arial"/>
                <a:cs typeface="Arial"/>
              </a:rPr>
              <a:t>Changes in glucose breakdown in glial cells</a:t>
            </a:r>
          </a:p>
        </p:txBody>
      </p:sp>
      <p:sp>
        <p:nvSpPr>
          <p:cNvPr id="7" name="TextBox 6">
            <a:extLst>
              <a:ext uri="{FF2B5EF4-FFF2-40B4-BE49-F238E27FC236}">
                <a16:creationId xmlns:a16="http://schemas.microsoft.com/office/drawing/2014/main" id="{AF89A854-4A7E-4A1D-90D0-6B168ECEE337}"/>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FFB07D12-DE55-4C63-8310-242ECC43E331}"/>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80" b="0" i="0">
                <a:solidFill>
                  <a:srgbClr val="1F2730"/>
                </a:solidFill>
                <a:latin typeface="Arial"/>
                <a:ea typeface="Arial"/>
                <a:cs typeface="Arial"/>
              </a:rPr>
              <a:t>Reports groups of glial genes that include PGK1 and BNIP3L and change together in human AD.</a:t>
            </a:r>
          </a:p>
        </p:txBody>
      </p:sp>
      <p:sp>
        <p:nvSpPr>
          <p:cNvPr id="9" name="TextBox 8">
            <a:extLst>
              <a:ext uri="{FF2B5EF4-FFF2-40B4-BE49-F238E27FC236}">
                <a16:creationId xmlns:a16="http://schemas.microsoft.com/office/drawing/2014/main" id="{832660BC-486E-4BBF-8DB9-DA681105A42F}"/>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EEAA9EDC-3BA0-4734-9DE4-DD92E8C7DADA}"/>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60" b="0" i="0">
                <a:solidFill>
                  <a:srgbClr val="4E5A68"/>
                </a:solidFill>
                <a:latin typeface="Arial"/>
                <a:ea typeface="Arial"/>
                <a:cs typeface="Arial"/>
              </a:rPr>
              <a:t>Uses ROSMAP, so some donors may be the same as in the current analysis.</a:t>
            </a:r>
          </a:p>
        </p:txBody>
      </p:sp>
      <p:sp>
        <p:nvSpPr>
          <p:cNvPr id="11" name="Rounded Rectangle 10">
            <a:extLst>
              <a:ext uri="{FF2B5EF4-FFF2-40B4-BE49-F238E27FC236}">
                <a16:creationId xmlns:a16="http://schemas.microsoft.com/office/drawing/2014/main" id="{F2C96634-4AEB-45EF-A344-E44980237E46}"/>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B80C256-A5CF-41EB-ACCF-4920B93F418E}"/>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500" b="1" i="0">
                <a:solidFill>
                  <a:srgbClr val="00684D"/>
                </a:solidFill>
                <a:latin typeface="Arial"/>
                <a:ea typeface="Arial"/>
                <a:cs typeface="Arial"/>
              </a:rPr>
              <a:t>Schmukler et al. 2020</a:t>
            </a:r>
          </a:p>
        </p:txBody>
      </p:sp>
      <p:sp>
        <p:nvSpPr>
          <p:cNvPr id="13" name="TextBox 12">
            <a:extLst>
              <a:ext uri="{FF2B5EF4-FFF2-40B4-BE49-F238E27FC236}">
                <a16:creationId xmlns:a16="http://schemas.microsoft.com/office/drawing/2014/main" id="{E98BE54E-0057-433C-B95C-C382524CD479}"/>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350" b="1" i="0">
                <a:solidFill>
                  <a:srgbClr val="0F233D"/>
                </a:solidFill>
                <a:latin typeface="Arial"/>
                <a:ea typeface="Arial"/>
                <a:cs typeface="Arial"/>
              </a:rPr>
              <a:t>APOE4 astrocytes and removal of damaged mitochondria</a:t>
            </a:r>
          </a:p>
        </p:txBody>
      </p:sp>
      <p:sp>
        <p:nvSpPr>
          <p:cNvPr id="14" name="TextBox 13">
            <a:extLst>
              <a:ext uri="{FF2B5EF4-FFF2-40B4-BE49-F238E27FC236}">
                <a16:creationId xmlns:a16="http://schemas.microsoft.com/office/drawing/2014/main" id="{BFB74E40-3B89-4965-9442-92050071C5C4}"/>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60CE8E85-1C91-4C53-822E-470C06C7B016}"/>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80" b="0" i="0">
                <a:solidFill>
                  <a:srgbClr val="1F2730"/>
                </a:solidFill>
                <a:latin typeface="Arial"/>
                <a:ea typeface="Arial"/>
                <a:cs typeface="Arial"/>
              </a:rPr>
              <a:t>Connects APOE4 astrocytes with changes in mitochondrial shape and removal of damaged mitochondria.</a:t>
            </a:r>
          </a:p>
        </p:txBody>
      </p:sp>
      <p:sp>
        <p:nvSpPr>
          <p:cNvPr id="16" name="TextBox 15">
            <a:extLst>
              <a:ext uri="{FF2B5EF4-FFF2-40B4-BE49-F238E27FC236}">
                <a16:creationId xmlns:a16="http://schemas.microsoft.com/office/drawing/2014/main" id="{325AF80C-79E3-4D0F-9B2D-C2268452039A}"/>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C33808C9-A74C-45AC-945C-B9AB5BFF9ACA}"/>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60" b="0" i="0">
                <a:solidFill>
                  <a:srgbClr val="4E5A68"/>
                </a:solidFill>
                <a:latin typeface="Arial"/>
                <a:ea typeface="Arial"/>
                <a:cs typeface="Arial"/>
              </a:rPr>
              <a:t>Does not demonstrate PGK1 control of BNIP3 genes.</a:t>
            </a:r>
          </a:p>
        </p:txBody>
      </p:sp>
      <p:sp>
        <p:nvSpPr>
          <p:cNvPr id="18" name="Rounded Rectangle 17">
            <a:extLst>
              <a:ext uri="{FF2B5EF4-FFF2-40B4-BE49-F238E27FC236}">
                <a16:creationId xmlns:a16="http://schemas.microsoft.com/office/drawing/2014/main" id="{16EB823E-A46B-42BA-AA56-439FC30DC0B3}"/>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6624454F-B613-439F-9007-3441866F3B01}"/>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500" b="1" i="0">
                <a:solidFill>
                  <a:srgbClr val="895600"/>
                </a:solidFill>
                <a:latin typeface="Arial"/>
                <a:ea typeface="Arial"/>
                <a:cs typeface="Arial"/>
              </a:rPr>
              <a:t>Lee et al. 2023</a:t>
            </a:r>
          </a:p>
        </p:txBody>
      </p:sp>
      <p:sp>
        <p:nvSpPr>
          <p:cNvPr id="20" name="TextBox 19">
            <a:extLst>
              <a:ext uri="{FF2B5EF4-FFF2-40B4-BE49-F238E27FC236}">
                <a16:creationId xmlns:a16="http://schemas.microsoft.com/office/drawing/2014/main" id="{F344A294-12BB-4EE7-A2FF-32DB6F9156D9}"/>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350" b="1" i="0">
                <a:solidFill>
                  <a:srgbClr val="0F233D"/>
                </a:solidFill>
                <a:latin typeface="Arial"/>
                <a:ea typeface="Arial"/>
                <a:cs typeface="Arial"/>
              </a:rPr>
              <a:t>Removal of damaged mitochondria by astrocytes</a:t>
            </a:r>
          </a:p>
        </p:txBody>
      </p:sp>
      <p:sp>
        <p:nvSpPr>
          <p:cNvPr id="21" name="TextBox 20">
            <a:extLst>
              <a:ext uri="{FF2B5EF4-FFF2-40B4-BE49-F238E27FC236}">
                <a16:creationId xmlns:a16="http://schemas.microsoft.com/office/drawing/2014/main" id="{6FFF97F4-62D3-4364-952F-BA90793F01D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5E196C6C-A208-4C35-860C-3560592FB001}"/>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80" b="0" i="0">
                <a:solidFill>
                  <a:srgbClr val="1F2730"/>
                </a:solidFill>
                <a:latin typeface="Arial"/>
                <a:ea typeface="Arial"/>
                <a:cs typeface="Arial"/>
              </a:rPr>
              <a:t>Connects lysosomal cholesterol with reduced removal of damaged mitochondria and impaired respiration.</a:t>
            </a:r>
          </a:p>
        </p:txBody>
      </p:sp>
      <p:sp>
        <p:nvSpPr>
          <p:cNvPr id="23" name="TextBox 22">
            <a:extLst>
              <a:ext uri="{FF2B5EF4-FFF2-40B4-BE49-F238E27FC236}">
                <a16:creationId xmlns:a16="http://schemas.microsoft.com/office/drawing/2014/main" id="{1E48C5CE-B24A-443C-876F-2E5245D6731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FB8778A3-C083-44C9-974E-D4DEEFC7C0AA}"/>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60" b="0" i="0">
                <a:solidFill>
                  <a:srgbClr val="4E5A68"/>
                </a:solidFill>
                <a:latin typeface="Arial"/>
                <a:ea typeface="Arial"/>
                <a:cs typeface="Arial"/>
              </a:rPr>
              <a:t>Uses an experimental APOE4 model rather than these three groups.</a:t>
            </a:r>
          </a:p>
        </p:txBody>
      </p:sp>
      <p:sp>
        <p:nvSpPr>
          <p:cNvPr id="25" name="Rounded Rectangle 24">
            <a:extLst>
              <a:ext uri="{FF2B5EF4-FFF2-40B4-BE49-F238E27FC236}">
                <a16:creationId xmlns:a16="http://schemas.microsoft.com/office/drawing/2014/main" id="{2E39FECE-7E07-4FBF-BF87-99029D63CED6}"/>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CD7C171E-1E72-48F5-9911-0CA46AD94889}"/>
              </a:ext>
            </a:extLst>
          </p:cNvPr>
          <p:cNvSpPr>
            <a:spLocks noGrp="1"/>
          </p:cNvSpPr>
          <p:nvPr/>
        </p:nvSpPr>
        <p:spPr>
          <a:xfrm>
            <a:off x="896112" y="5952744"/>
            <a:ext cx="10405872" cy="221599"/>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lang="en-US" sz="1080" b="1" i="0">
                <a:solidFill>
                  <a:srgbClr val="7E4C9A"/>
                </a:solidFill>
                <a:latin typeface="Arial"/>
                <a:ea typeface="Arial"/>
                <a:cs typeface="Arial"/>
              </a:rPr>
              <a:t>Novelty</a:t>
            </a:r>
            <a:r>
              <a:rPr sz="1080" b="1" i="0">
                <a:solidFill>
                  <a:srgbClr val="7E4C9A"/>
                </a:solidFill>
                <a:latin typeface="Arial"/>
                <a:ea typeface="Arial"/>
                <a:cs typeface="Arial"/>
              </a:rPr>
              <a:t>: Moderate</a:t>
            </a:r>
          </a:p>
        </p:txBody>
      </p:sp>
    </p:spTree>
    <p:extLst>
      <p:ext uri="{BB962C8B-B14F-4D97-AF65-F5344CB8AC3E}">
        <p14:creationId val="129583006"/>
      </p:ext>
    </p:extLst>
  </p:cSld>
  <p:clrMapOvr>
    <a:masterClrMapping/>
  </p:clrMapOvr>
  <p:transition/>
  <p:timing/>
</p:sld>
</file>

<file path=ppt/slides/slide13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0F233D"/>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D5F76A8A-F354-48DB-AE5E-549D2446A38E}"/>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050" b="1" i="0">
                <a:solidFill>
                  <a:srgbClr val="E69F00"/>
                </a:solidFill>
                <a:latin typeface="Arial"/>
                <a:ea typeface="Arial"/>
                <a:cs typeface="Arial"/>
              </a:rPr>
              <a:t>FINDING 13</a:t>
            </a:r>
          </a:p>
        </p:txBody>
      </p:sp>
      <p:sp>
        <p:nvSpPr>
          <p:cNvPr id="3" name="Rectangle 2">
            <a:extLst>
              <a:ext uri="{FF2B5EF4-FFF2-40B4-BE49-F238E27FC236}">
                <a16:creationId xmlns:a16="http://schemas.microsoft.com/office/drawing/2014/main" id="{3F6CDD18-C317-45FC-992F-203E3DFD6C61}"/>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37BF0920-6207-4318-8DD2-CE736A6128CF}"/>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2200" b="1" i="0">
                <a:solidFill>
                  <a:srgbClr val="FFFFFF"/>
                </a:solidFill>
                <a:latin typeface="Arial"/>
                <a:ea typeface="Arial"/>
                <a:cs typeface="Arial"/>
              </a:rPr>
              <a:t>FTL and ANKRD11 connect iron storage, protection from lipid damage, and cellular recycling in OPCs</a:t>
            </a:r>
          </a:p>
        </p:txBody>
      </p:sp>
      <p:sp>
        <p:nvSpPr>
          <p:cNvPr id="5" name="TextBox 4">
            <a:extLst>
              <a:ext uri="{FF2B5EF4-FFF2-40B4-BE49-F238E27FC236}">
                <a16:creationId xmlns:a16="http://schemas.microsoft.com/office/drawing/2014/main" id="{494CBC75-8C44-499A-AD20-C9BF8080560F}"/>
              </a:ext>
            </a:extLst>
          </p:cNvPr>
          <p:cNvSpPr>
            <a:spLocks noGrp="1"/>
          </p:cNvSpPr>
          <p:nvPr/>
        </p:nvSpPr>
        <p:spPr>
          <a:xfrm>
            <a:off x="1097280" y="2468880"/>
            <a:ext cx="7406640" cy="914400"/>
          </a:xfrm>
          <a:prstGeom prst="rect">
            <a:avLst/>
          </a:prstGeom>
          <a:noFill/>
        </p:spPr>
        <p:txBody>
          <a:bodyPr wrap="square" lIns="0" tIns="0" rIns="0" bIns="0" anchor="t">
            <a:normAutofit/>
          </a:bodyPr>
          <a:lstStyle/>
          <a:p>
            <a:pPr algn="l">
              <a:lnSpc>
                <a:spcPct val="100000"/>
              </a:lnSpc>
              <a:spcBef>
                <a:spcPct val="0"/>
              </a:spcBef>
              <a:spcAft>
                <a:spcPct val="0"/>
              </a:spcAft>
              <a:buNone/>
              <a:defRPr sz="1350" b="1">
                <a:solidFill>
                  <a:srgbClr val="E6A700"/>
                </a:solidFill>
                <a:latin typeface="Arial"/>
                <a:ea typeface="Arial"/>
                <a:cs typeface="Arial"/>
              </a:defRPr>
            </a:pPr>
            <a:r>
              <a:rPr sz="1350" b="1" i="0">
                <a:solidFill>
                  <a:srgbClr val="E6A700"/>
                </a:solidFill>
                <a:latin typeface="Arial"/>
                <a:ea typeface="Arial"/>
                <a:cs typeface="Arial"/>
              </a:rPr>
              <a:t>Observed in: female ε3/ε3 and male ε2</a:t>
            </a:r>
          </a:p>
        </p:txBody>
      </p:sp>
      <p:sp>
        <p:nvSpPr>
          <p:cNvPr id="6" name="Rounded Rectangle 5">
            <a:extLst>
              <a:ext uri="{FF2B5EF4-FFF2-40B4-BE49-F238E27FC236}">
                <a16:creationId xmlns:a16="http://schemas.microsoft.com/office/drawing/2014/main" id="{43DDCB73-D997-47AF-828E-7AFD1C6D5EB1}"/>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B92767D-A62F-4697-B971-45A54282D2E2}"/>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965AFF38-DA6F-4225-8265-7BF89C948035}"/>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1489CB2-B02C-462C-925C-B4A4EC9C8C02}"/>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9E7D0E4-FBAB-4096-8BAC-9039126D8EE4}"/>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C08FC1B6-4642-4657-AA88-CFC0EA366B19}"/>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5BBCEBA-F878-42CC-B19F-6A62620CD398}"/>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EFC41CC4-E9F8-4D57-9340-821A6BA5CA5B}"/>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0EB0EA8E-025A-41A1-84F1-0AD484E7627B}"/>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0476EB50-25BD-4677-BF35-A1A6E00FE03C}"/>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E6AFA8F8-AC9D-4AD1-B57A-B3C6DEE3DA4D}"/>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D1981B82-1DB9-40EB-88F5-0AAC561935D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D504762-0C6A-4DA2-96C0-FFA4B01040A3}"/>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70B9C167-AB72-4F29-AC97-E34A47848704}"/>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76ACDFA9-4BAD-4B4F-918B-C03D0C1AA8C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3DB4A9E-B0AF-4D27-8DAC-E3046968A791}"/>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20" b="1" i="0">
                <a:solidFill>
                  <a:srgbClr val="FFFFFF"/>
                </a:solidFill>
                <a:latin typeface="Arial"/>
                <a:ea typeface="Arial"/>
                <a:cs typeface="Arial"/>
              </a:rPr>
              <a:t>FTL and ANKRD11 connect iron storage in OPCs with GPX4 protection from lipid damage and genes that recycle damaged cell components.</a:t>
            </a:r>
          </a:p>
        </p:txBody>
      </p:sp>
    </p:spTree>
    <p:extLst>
      <p:ext uri="{BB962C8B-B14F-4D97-AF65-F5344CB8AC3E}">
        <p14:creationId val="1745542392"/>
      </p:ext>
    </p:extLst>
  </p:cSld>
  <p:clrMapOvr>
    <a:masterClrMapping/>
  </p:clrMapOvr>
  <p:transition/>
  <p:timing/>
</p:sld>
</file>

<file path=ppt/slides/slide13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684D26B4-7711-49C3-85EE-A076C12FED11}"/>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FTL and ANKRD11 connect iron storage with protection from lipid damage and mitochondrial cleanup in OPCs</a:t>
            </a:r>
          </a:p>
        </p:txBody>
      </p:sp>
      <p:sp>
        <p:nvSpPr>
          <p:cNvPr id="3" name="TextBox 2">
            <a:extLst>
              <a:ext uri="{FF2B5EF4-FFF2-40B4-BE49-F238E27FC236}">
                <a16:creationId xmlns:a16="http://schemas.microsoft.com/office/drawing/2014/main" id="{5E1D4E7A-86B1-4168-B437-CA984DE9C8FD}"/>
              </a:ext>
            </a:extLst>
          </p:cNvPr>
          <p:cNvSpPr>
            <a:spLocks noGrp="1"/>
          </p:cNvSpPr>
          <p:nvPr/>
        </p:nvSpPr>
        <p:spPr>
          <a:xfrm>
            <a:off x="548640" y="998139"/>
            <a:ext cx="10927080" cy="270843"/>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00" b="1" i="0">
                <a:latin typeface="Arial"/>
                <a:ea typeface="Arial"/>
                <a:cs typeface="Arial"/>
              </a:rPr>
              <a:t>OPCs</a:t>
            </a:r>
            <a:r>
              <a:rPr lang="en-US" sz="1400" b="1" i="0">
                <a:latin typeface="Arial"/>
                <a:ea typeface="Arial"/>
                <a:cs typeface="Arial"/>
              </a:rPr>
              <a:t> become </a:t>
            </a:r>
            <a:r>
              <a:rPr sz="1400" b="1" i="0">
                <a:latin typeface="Arial"/>
                <a:ea typeface="Arial"/>
                <a:cs typeface="Arial"/>
              </a:rPr>
              <a:t>myelin-producing cells. Ferroptosis is cell death caused by iron-dependent damage to membrane fats.</a:t>
            </a:r>
          </a:p>
        </p:txBody>
      </p:sp>
      <p:sp>
        <p:nvSpPr>
          <p:cNvPr id="4" name="Rounded Rectangle 3">
            <a:extLst>
              <a:ext uri="{FF2B5EF4-FFF2-40B4-BE49-F238E27FC236}">
                <a16:creationId xmlns:a16="http://schemas.microsoft.com/office/drawing/2014/main" id="{A21A3532-B9CC-4F0A-8070-64D137C73AFA}"/>
              </a:ext>
            </a:extLst>
          </p:cNvPr>
          <p:cNvSpPr>
            <a:spLocks noGrp="1"/>
          </p:cNvSpPr>
          <p:nvPr/>
        </p:nvSpPr>
        <p:spPr>
          <a:xfrm>
            <a:off x="749808" y="1356199"/>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1CB731B-850F-4D22-859E-0A272DE37783}"/>
              </a:ext>
            </a:extLst>
          </p:cNvPr>
          <p:cNvSpPr>
            <a:spLocks noGrp="1"/>
          </p:cNvSpPr>
          <p:nvPr/>
        </p:nvSpPr>
        <p:spPr>
          <a:xfrm>
            <a:off x="841247" y="1456783"/>
            <a:ext cx="2359151"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40" b="1" i="0">
                <a:solidFill>
                  <a:srgbClr val="0072B2"/>
                </a:solidFill>
                <a:latin typeface="Arial"/>
                <a:ea typeface="Arial"/>
                <a:cs typeface="Arial"/>
              </a:rPr>
              <a:t>OPCs</a:t>
            </a:r>
          </a:p>
        </p:txBody>
      </p:sp>
      <p:sp>
        <p:nvSpPr>
          <p:cNvPr id="6" name="Rounded Rectangle 5">
            <a:extLst>
              <a:ext uri="{FF2B5EF4-FFF2-40B4-BE49-F238E27FC236}">
                <a16:creationId xmlns:a16="http://schemas.microsoft.com/office/drawing/2014/main" id="{F20BB2FD-99F0-407B-8023-231B2A90106D}"/>
              </a:ext>
            </a:extLst>
          </p:cNvPr>
          <p:cNvSpPr>
            <a:spLocks noGrp="1"/>
          </p:cNvSpPr>
          <p:nvPr/>
        </p:nvSpPr>
        <p:spPr>
          <a:xfrm>
            <a:off x="3566160" y="1356199"/>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EDA9FC6-A03A-4D97-9E80-3573E4F595D6}"/>
              </a:ext>
            </a:extLst>
          </p:cNvPr>
          <p:cNvSpPr>
            <a:spLocks noGrp="1"/>
          </p:cNvSpPr>
          <p:nvPr/>
        </p:nvSpPr>
        <p:spPr>
          <a:xfrm>
            <a:off x="3657600" y="1456783"/>
            <a:ext cx="2359151"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40" b="1" i="0">
                <a:solidFill>
                  <a:srgbClr val="00684D"/>
                </a:solidFill>
                <a:latin typeface="Arial"/>
                <a:ea typeface="Arial"/>
                <a:cs typeface="Arial"/>
              </a:rPr>
              <a:t>FTL and ANKRD11</a:t>
            </a:r>
          </a:p>
        </p:txBody>
      </p:sp>
      <p:sp>
        <p:nvSpPr>
          <p:cNvPr id="8" name="Rounded Rectangle 7">
            <a:extLst>
              <a:ext uri="{FF2B5EF4-FFF2-40B4-BE49-F238E27FC236}">
                <a16:creationId xmlns:a16="http://schemas.microsoft.com/office/drawing/2014/main" id="{7B6FCEEA-78A3-49D5-B642-625D0BACDB0B}"/>
              </a:ext>
            </a:extLst>
          </p:cNvPr>
          <p:cNvSpPr>
            <a:spLocks noGrp="1"/>
          </p:cNvSpPr>
          <p:nvPr/>
        </p:nvSpPr>
        <p:spPr>
          <a:xfrm>
            <a:off x="6382512" y="1356199"/>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C2110A9-1EE6-4DEF-872F-1E676E6DBB31}"/>
              </a:ext>
            </a:extLst>
          </p:cNvPr>
          <p:cNvSpPr>
            <a:spLocks noGrp="1"/>
          </p:cNvSpPr>
          <p:nvPr/>
        </p:nvSpPr>
        <p:spPr>
          <a:xfrm>
            <a:off x="6473952" y="1408658"/>
            <a:ext cx="2359151" cy="371856"/>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40" b="1" i="0">
                <a:solidFill>
                  <a:srgbClr val="895600"/>
                </a:solidFill>
                <a:latin typeface="Arial"/>
                <a:ea typeface="Arial"/>
                <a:cs typeface="Arial"/>
              </a:rPr>
              <a:t>Protection from iron-related lipid damage</a:t>
            </a:r>
          </a:p>
        </p:txBody>
      </p:sp>
      <p:sp>
        <p:nvSpPr>
          <p:cNvPr id="10" name="Rounded Rectangle 9">
            <a:extLst>
              <a:ext uri="{FF2B5EF4-FFF2-40B4-BE49-F238E27FC236}">
                <a16:creationId xmlns:a16="http://schemas.microsoft.com/office/drawing/2014/main" id="{FA402AC8-451F-49FE-8AE9-DB591F6CADE0}"/>
              </a:ext>
            </a:extLst>
          </p:cNvPr>
          <p:cNvSpPr>
            <a:spLocks noGrp="1"/>
          </p:cNvSpPr>
          <p:nvPr/>
        </p:nvSpPr>
        <p:spPr>
          <a:xfrm>
            <a:off x="9198864" y="1356199"/>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3BB57BE-BEF3-46E9-AA4C-B450E2461D23}"/>
              </a:ext>
            </a:extLst>
          </p:cNvPr>
          <p:cNvSpPr>
            <a:spLocks noGrp="1"/>
          </p:cNvSpPr>
          <p:nvPr/>
        </p:nvSpPr>
        <p:spPr>
          <a:xfrm>
            <a:off x="9290304" y="1456783"/>
            <a:ext cx="2359151" cy="213360"/>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40" b="1" i="0">
                <a:solidFill>
                  <a:srgbClr val="9E3A00"/>
                </a:solidFill>
                <a:latin typeface="Arial"/>
                <a:ea typeface="Arial"/>
                <a:cs typeface="Arial"/>
              </a:rPr>
              <a:t>Ferroptosis requires direct testing</a:t>
            </a:r>
          </a:p>
        </p:txBody>
      </p:sp>
      <p:sp>
        <p:nvSpPr>
          <p:cNvPr id="12" name="Rounded Rectangle 11">
            <a:extLst>
              <a:ext uri="{FF2B5EF4-FFF2-40B4-BE49-F238E27FC236}">
                <a16:creationId xmlns:a16="http://schemas.microsoft.com/office/drawing/2014/main" id="{84E7A8DD-6394-43FC-99D3-B0C4ADCBD4C8}"/>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4E9292C-3823-47A3-9C3F-C382BFD56681}"/>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72B2"/>
                </a:solidFill>
                <a:latin typeface="Arial"/>
                <a:ea typeface="Arial"/>
                <a:cs typeface="Arial"/>
              </a:rPr>
              <a:t>IRON STORAGE</a:t>
            </a:r>
          </a:p>
        </p:txBody>
      </p:sp>
      <p:sp>
        <p:nvSpPr>
          <p:cNvPr id="14" name="TextBox 13">
            <a:extLst>
              <a:ext uri="{FF2B5EF4-FFF2-40B4-BE49-F238E27FC236}">
                <a16:creationId xmlns:a16="http://schemas.microsoft.com/office/drawing/2014/main" id="{F9F0A80B-3BDA-4E44-BF59-0CBB054C3E3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FTL and FTH1</a:t>
            </a:r>
          </a:p>
        </p:txBody>
      </p:sp>
      <p:sp>
        <p:nvSpPr>
          <p:cNvPr id="15" name="TextBox 14">
            <a:extLst>
              <a:ext uri="{FF2B5EF4-FFF2-40B4-BE49-F238E27FC236}">
                <a16:creationId xmlns:a16="http://schemas.microsoft.com/office/drawing/2014/main" id="{F761B7ED-5FD2-4D44-9F67-717668C9C060}"/>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Ferritin stores iron in a safer form and limits damaging free iron.</a:t>
            </a:r>
          </a:p>
        </p:txBody>
      </p:sp>
      <p:sp>
        <p:nvSpPr>
          <p:cNvPr id="16" name="Rounded Rectangle 15">
            <a:extLst>
              <a:ext uri="{FF2B5EF4-FFF2-40B4-BE49-F238E27FC236}">
                <a16:creationId xmlns:a16="http://schemas.microsoft.com/office/drawing/2014/main" id="{6E20F4ED-5088-4271-8BD3-46AE92E23244}"/>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B56F6015-84E4-475A-AD79-F20BFAA2EC7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684D"/>
                </a:solidFill>
                <a:latin typeface="Arial"/>
                <a:ea typeface="Arial"/>
                <a:cs typeface="Arial"/>
              </a:rPr>
              <a:t>LIPID PROTECTION</a:t>
            </a:r>
          </a:p>
        </p:txBody>
      </p:sp>
      <p:sp>
        <p:nvSpPr>
          <p:cNvPr id="18" name="TextBox 17">
            <a:extLst>
              <a:ext uri="{FF2B5EF4-FFF2-40B4-BE49-F238E27FC236}">
                <a16:creationId xmlns:a16="http://schemas.microsoft.com/office/drawing/2014/main" id="{CF043283-65B2-4BE6-ABB1-C641E33B07F3}"/>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GPX4</a:t>
            </a:r>
          </a:p>
        </p:txBody>
      </p:sp>
      <p:sp>
        <p:nvSpPr>
          <p:cNvPr id="19" name="TextBox 18">
            <a:extLst>
              <a:ext uri="{FF2B5EF4-FFF2-40B4-BE49-F238E27FC236}">
                <a16:creationId xmlns:a16="http://schemas.microsoft.com/office/drawing/2014/main" id="{DE8EF361-2531-429E-A404-B3404C55BDD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GPX4 helps prevent oxidation of membrane fats.</a:t>
            </a:r>
          </a:p>
        </p:txBody>
      </p:sp>
      <p:sp>
        <p:nvSpPr>
          <p:cNvPr id="20" name="Rounded Rectangle 19">
            <a:extLst>
              <a:ext uri="{FF2B5EF4-FFF2-40B4-BE49-F238E27FC236}">
                <a16:creationId xmlns:a16="http://schemas.microsoft.com/office/drawing/2014/main" id="{5DA5BE98-9CAA-4AEE-BD02-893380534CA4}"/>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BC534A6-CF9A-4E6A-9AF5-C46405FFD458}"/>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895600"/>
                </a:solidFill>
                <a:latin typeface="Arial"/>
                <a:ea typeface="Arial"/>
                <a:cs typeface="Arial"/>
              </a:rPr>
              <a:t>REMOVAL OF DAMAGED CELL COMPONENTS</a:t>
            </a:r>
          </a:p>
        </p:txBody>
      </p:sp>
      <p:sp>
        <p:nvSpPr>
          <p:cNvPr id="22" name="TextBox 21">
            <a:extLst>
              <a:ext uri="{FF2B5EF4-FFF2-40B4-BE49-F238E27FC236}">
                <a16:creationId xmlns:a16="http://schemas.microsoft.com/office/drawing/2014/main" id="{9A78A060-4F1C-4798-AE00-C0ABDF63D762}"/>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Genes that recycle damaged cell components</a:t>
            </a:r>
          </a:p>
        </p:txBody>
      </p:sp>
      <p:sp>
        <p:nvSpPr>
          <p:cNvPr id="23" name="TextBox 22">
            <a:extLst>
              <a:ext uri="{FF2B5EF4-FFF2-40B4-BE49-F238E27FC236}">
                <a16:creationId xmlns:a16="http://schemas.microsoft.com/office/drawing/2014/main" id="{6E800DCB-E8BC-40A0-9DB7-CA52245745BA}"/>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FIS1, PARK7, and PHB2 connect FTL and ANKRD11 with genes involved in mitochondrial stress and recycling damaged cell components.</a:t>
            </a:r>
          </a:p>
        </p:txBody>
      </p:sp>
      <p:sp>
        <p:nvSpPr>
          <p:cNvPr id="24" name="Rounded Rectangle 23">
            <a:extLst>
              <a:ext uri="{FF2B5EF4-FFF2-40B4-BE49-F238E27FC236}">
                <a16:creationId xmlns:a16="http://schemas.microsoft.com/office/drawing/2014/main" id="{9E20BEBD-65A2-4045-8CD1-C369C5FC3D2A}"/>
              </a:ext>
            </a:extLst>
          </p:cNvPr>
          <p:cNvSpPr>
            <a:spLocks noGrp="1"/>
          </p:cNvSpPr>
          <p:nvPr/>
        </p:nvSpPr>
        <p:spPr>
          <a:xfrm>
            <a:off x="658368" y="6179033"/>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14B2D07-6FC5-47E4-B3EC-8C9153932F06}"/>
              </a:ext>
            </a:extLst>
          </p:cNvPr>
          <p:cNvSpPr>
            <a:spLocks noGrp="1"/>
          </p:cNvSpPr>
          <p:nvPr/>
        </p:nvSpPr>
        <p:spPr>
          <a:xfrm>
            <a:off x="896112" y="6278174"/>
            <a:ext cx="10405872" cy="40233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40" b="1" i="0">
                <a:solidFill>
                  <a:srgbClr val="7E4C9A"/>
                </a:solidFill>
                <a:latin typeface="Arial"/>
                <a:ea typeface="Arial"/>
                <a:cs typeface="Arial"/>
              </a:rPr>
              <a:t>The data suggest a link between iron storage and recycling of damaged cell components. Ferroptosis would require direct measurement of lipid damage and rescue by a ferroptosis inhibitor.</a:t>
            </a:r>
          </a:p>
        </p:txBody>
      </p:sp>
    </p:spTree>
    <p:extLst>
      <p:ext uri="{BB962C8B-B14F-4D97-AF65-F5344CB8AC3E}">
        <p14:creationId val="2067618088"/>
      </p:ext>
    </p:extLst>
  </p:cSld>
  <p:clrMapOvr>
    <a:masterClrMapping/>
  </p:clrMapOvr>
  <p:transition/>
  <p:timing/>
</p:sld>
</file>

<file path=ppt/slides/slide13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50A3A515-B127-46B4-BC2D-130B02BFA19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ROSMAP: FTL and ANKRD11 connect to almost the same genes in OPCs</a:t>
            </a:r>
          </a:p>
        </p:txBody>
      </p:sp>
      <p:sp>
        <p:nvSpPr>
          <p:cNvPr id="3" name="TextBox 2">
            <a:extLst>
              <a:ext uri="{FF2B5EF4-FFF2-40B4-BE49-F238E27FC236}">
                <a16:creationId xmlns:a16="http://schemas.microsoft.com/office/drawing/2014/main" id="{80C59182-90D5-4B9B-950D-3F3DABEC7171}"/>
              </a:ext>
            </a:extLst>
          </p:cNvPr>
          <p:cNvSpPr>
            <a:spLocks noGrp="1"/>
          </p:cNvSpPr>
          <p:nvPr/>
        </p:nvSpPr>
        <p:spPr>
          <a:xfrm>
            <a:off x="548640" y="901888"/>
            <a:ext cx="10927080" cy="270843"/>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00" b="1" i="0">
                <a:latin typeface="Arial"/>
                <a:ea typeface="Arial"/>
                <a:cs typeface="Arial"/>
              </a:rPr>
              <a:t>ROSMAP contains one OPC fine type, so the two group-specific KDA calls do not provide broad subtype replication.</a:t>
            </a:r>
          </a:p>
        </p:txBody>
      </p:sp>
      <p:sp>
        <p:nvSpPr>
          <p:cNvPr id="4" name="Rounded Rectangle 3">
            <a:extLst>
              <a:ext uri="{FF2B5EF4-FFF2-40B4-BE49-F238E27FC236}">
                <a16:creationId xmlns:a16="http://schemas.microsoft.com/office/drawing/2014/main" id="{807A3378-950F-4FB8-B21D-216C8BD17B29}"/>
              </a:ext>
            </a:extLst>
          </p:cNvPr>
          <p:cNvSpPr>
            <a:spLocks noGrp="1"/>
          </p:cNvSpPr>
          <p:nvPr/>
        </p:nvSpPr>
        <p:spPr>
          <a:xfrm>
            <a:off x="658368" y="1402882"/>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AA1BF9D-CBDF-4F52-BE37-97C8F287C9F9}"/>
              </a:ext>
            </a:extLst>
          </p:cNvPr>
          <p:cNvSpPr>
            <a:spLocks noGrp="1"/>
          </p:cNvSpPr>
          <p:nvPr/>
        </p:nvSpPr>
        <p:spPr>
          <a:xfrm>
            <a:off x="822959" y="1530897"/>
            <a:ext cx="3127248" cy="4846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800" b="1" i="0">
                <a:solidFill>
                  <a:srgbClr val="0072B2"/>
                </a:solidFill>
                <a:latin typeface="Arial"/>
                <a:ea typeface="Arial"/>
                <a:cs typeface="Arial"/>
              </a:rPr>
              <a:t>2</a:t>
            </a:r>
          </a:p>
        </p:txBody>
      </p:sp>
      <p:sp>
        <p:nvSpPr>
          <p:cNvPr id="6" name="TextBox 5">
            <a:extLst>
              <a:ext uri="{FF2B5EF4-FFF2-40B4-BE49-F238E27FC236}">
                <a16:creationId xmlns:a16="http://schemas.microsoft.com/office/drawing/2014/main" id="{A976AFD5-979B-4EFF-9132-718313DFD364}"/>
              </a:ext>
            </a:extLst>
          </p:cNvPr>
          <p:cNvSpPr>
            <a:spLocks noGrp="1"/>
          </p:cNvSpPr>
          <p:nvPr/>
        </p:nvSpPr>
        <p:spPr>
          <a:xfrm>
            <a:off x="822959" y="2061250"/>
            <a:ext cx="3127248" cy="3108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19" b="1" i="0">
                <a:solidFill>
                  <a:srgbClr val="0F233D"/>
                </a:solidFill>
                <a:latin typeface="Arial"/>
                <a:ea typeface="Arial"/>
                <a:cs typeface="Arial"/>
              </a:rPr>
              <a:t>supporting OPC KDA calls</a:t>
            </a:r>
          </a:p>
        </p:txBody>
      </p:sp>
      <p:sp>
        <p:nvSpPr>
          <p:cNvPr id="7" name="TextBox 6">
            <a:extLst>
              <a:ext uri="{FF2B5EF4-FFF2-40B4-BE49-F238E27FC236}">
                <a16:creationId xmlns:a16="http://schemas.microsoft.com/office/drawing/2014/main" id="{A081650B-2C0A-4497-AEB2-FEAD8AEE1D47}"/>
              </a:ext>
            </a:extLst>
          </p:cNvPr>
          <p:cNvSpPr>
            <a:spLocks noGrp="1"/>
          </p:cNvSpPr>
          <p:nvPr/>
        </p:nvSpPr>
        <p:spPr>
          <a:xfrm>
            <a:off x="822959" y="2390434"/>
            <a:ext cx="3127248" cy="21945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880" b="0" i="0">
                <a:solidFill>
                  <a:srgbClr val="4E5A68"/>
                </a:solidFill>
                <a:latin typeface="Arial"/>
                <a:ea typeface="Arial"/>
                <a:cs typeface="Arial"/>
              </a:rPr>
              <a:t>F_e33 and M_e2</a:t>
            </a:r>
          </a:p>
        </p:txBody>
      </p:sp>
      <p:sp>
        <p:nvSpPr>
          <p:cNvPr id="8" name="Rounded Rectangle 7">
            <a:extLst>
              <a:ext uri="{FF2B5EF4-FFF2-40B4-BE49-F238E27FC236}">
                <a16:creationId xmlns:a16="http://schemas.microsoft.com/office/drawing/2014/main" id="{7E5E9991-22C7-4F85-9299-7C2D4225BC6D}"/>
              </a:ext>
            </a:extLst>
          </p:cNvPr>
          <p:cNvSpPr>
            <a:spLocks noGrp="1"/>
          </p:cNvSpPr>
          <p:nvPr/>
        </p:nvSpPr>
        <p:spPr>
          <a:xfrm>
            <a:off x="4453128" y="1402882"/>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C930B26-315E-40A1-B589-F86D7E5BDA2C}"/>
              </a:ext>
            </a:extLst>
          </p:cNvPr>
          <p:cNvSpPr>
            <a:spLocks noGrp="1"/>
          </p:cNvSpPr>
          <p:nvPr/>
        </p:nvSpPr>
        <p:spPr>
          <a:xfrm>
            <a:off x="4617720" y="1530897"/>
            <a:ext cx="3127248" cy="4846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800" b="1" i="0">
                <a:solidFill>
                  <a:srgbClr val="00684D"/>
                </a:solidFill>
                <a:latin typeface="Arial"/>
                <a:ea typeface="Arial"/>
                <a:cs typeface="Arial"/>
              </a:rPr>
              <a:t>4</a:t>
            </a:r>
          </a:p>
        </p:txBody>
      </p:sp>
      <p:sp>
        <p:nvSpPr>
          <p:cNvPr id="10" name="TextBox 9">
            <a:extLst>
              <a:ext uri="{FF2B5EF4-FFF2-40B4-BE49-F238E27FC236}">
                <a16:creationId xmlns:a16="http://schemas.microsoft.com/office/drawing/2014/main" id="{F494C914-2D0F-461A-807D-3662B9AE615B}"/>
              </a:ext>
            </a:extLst>
          </p:cNvPr>
          <p:cNvSpPr>
            <a:spLocks noGrp="1"/>
          </p:cNvSpPr>
          <p:nvPr/>
        </p:nvSpPr>
        <p:spPr>
          <a:xfrm>
            <a:off x="4617720" y="2061250"/>
            <a:ext cx="3127248" cy="3108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19" b="1" i="0">
                <a:solidFill>
                  <a:srgbClr val="0F233D"/>
                </a:solidFill>
                <a:latin typeface="Arial"/>
                <a:ea typeface="Arial"/>
                <a:cs typeface="Arial"/>
              </a:rPr>
              <a:t>shared directly connected genes</a:t>
            </a:r>
          </a:p>
        </p:txBody>
      </p:sp>
      <p:sp>
        <p:nvSpPr>
          <p:cNvPr id="11" name="TextBox 10">
            <a:extLst>
              <a:ext uri="{FF2B5EF4-FFF2-40B4-BE49-F238E27FC236}">
                <a16:creationId xmlns:a16="http://schemas.microsoft.com/office/drawing/2014/main" id="{8F22BCF5-0C17-4D5F-9294-81EE9037A4CC}"/>
              </a:ext>
            </a:extLst>
          </p:cNvPr>
          <p:cNvSpPr>
            <a:spLocks noGrp="1"/>
          </p:cNvSpPr>
          <p:nvPr/>
        </p:nvSpPr>
        <p:spPr>
          <a:xfrm>
            <a:off x="4617720" y="2390434"/>
            <a:ext cx="3127248" cy="21945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880" b="0" i="0">
                <a:solidFill>
                  <a:srgbClr val="4E5A68"/>
                </a:solidFill>
                <a:latin typeface="Arial"/>
                <a:ea typeface="Arial"/>
                <a:cs typeface="Arial"/>
              </a:rPr>
              <a:t>FTH1, GPX4, COX5B, UQCR10</a:t>
            </a:r>
          </a:p>
        </p:txBody>
      </p:sp>
      <p:sp>
        <p:nvSpPr>
          <p:cNvPr id="12" name="Rounded Rectangle 11">
            <a:extLst>
              <a:ext uri="{FF2B5EF4-FFF2-40B4-BE49-F238E27FC236}">
                <a16:creationId xmlns:a16="http://schemas.microsoft.com/office/drawing/2014/main" id="{8180B172-2F6E-4700-95F8-331684066057}"/>
              </a:ext>
            </a:extLst>
          </p:cNvPr>
          <p:cNvSpPr>
            <a:spLocks noGrp="1"/>
          </p:cNvSpPr>
          <p:nvPr/>
        </p:nvSpPr>
        <p:spPr>
          <a:xfrm>
            <a:off x="8247888" y="1402882"/>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CEA1114-C969-4C9F-A44B-B9C657EB76CB}"/>
              </a:ext>
            </a:extLst>
          </p:cNvPr>
          <p:cNvSpPr>
            <a:spLocks noGrp="1"/>
          </p:cNvSpPr>
          <p:nvPr/>
        </p:nvSpPr>
        <p:spPr>
          <a:xfrm>
            <a:off x="8412480" y="1530897"/>
            <a:ext cx="3127248" cy="4846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800" b="1" i="0">
                <a:solidFill>
                  <a:srgbClr val="895600"/>
                </a:solidFill>
                <a:latin typeface="Arial"/>
                <a:ea typeface="Arial"/>
                <a:cs typeface="Arial"/>
              </a:rPr>
              <a:t>2/2</a:t>
            </a:r>
          </a:p>
        </p:txBody>
      </p:sp>
      <p:sp>
        <p:nvSpPr>
          <p:cNvPr id="14" name="TextBox 13">
            <a:extLst>
              <a:ext uri="{FF2B5EF4-FFF2-40B4-BE49-F238E27FC236}">
                <a16:creationId xmlns:a16="http://schemas.microsoft.com/office/drawing/2014/main" id="{FE776920-1A4D-4870-A8F1-D035D6520961}"/>
              </a:ext>
            </a:extLst>
          </p:cNvPr>
          <p:cNvSpPr>
            <a:spLocks noGrp="1"/>
          </p:cNvSpPr>
          <p:nvPr/>
        </p:nvSpPr>
        <p:spPr>
          <a:xfrm>
            <a:off x="8412480" y="2061250"/>
            <a:ext cx="3127248" cy="3108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19" b="1" i="0">
                <a:solidFill>
                  <a:srgbClr val="0F233D"/>
                </a:solidFill>
                <a:latin typeface="Arial"/>
                <a:ea typeface="Arial"/>
                <a:cs typeface="Arial"/>
              </a:rPr>
              <a:t>input DEG sets with significant enrichment</a:t>
            </a:r>
          </a:p>
        </p:txBody>
      </p:sp>
      <p:sp>
        <p:nvSpPr>
          <p:cNvPr id="15" name="TextBox 14">
            <a:extLst>
              <a:ext uri="{FF2B5EF4-FFF2-40B4-BE49-F238E27FC236}">
                <a16:creationId xmlns:a16="http://schemas.microsoft.com/office/drawing/2014/main" id="{A0848A86-711F-4106-83A1-685D7F59221C}"/>
              </a:ext>
            </a:extLst>
          </p:cNvPr>
          <p:cNvSpPr>
            <a:spLocks noGrp="1"/>
          </p:cNvSpPr>
          <p:nvPr/>
        </p:nvSpPr>
        <p:spPr>
          <a:xfrm>
            <a:off x="8412480" y="2390434"/>
            <a:ext cx="3127248" cy="21945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880" b="0" i="0">
                <a:solidFill>
                  <a:srgbClr val="4E5A68"/>
                </a:solidFill>
                <a:latin typeface="Arial"/>
                <a:ea typeface="Arial"/>
                <a:cs typeface="Arial"/>
              </a:rPr>
              <a:t>core MT and nuclear-encoded OXPHOS genes</a:t>
            </a:r>
          </a:p>
        </p:txBody>
      </p:sp>
      <p:sp>
        <p:nvSpPr>
          <p:cNvPr id="16" name="Rounded Rectangle 15">
            <a:extLst>
              <a:ext uri="{FF2B5EF4-FFF2-40B4-BE49-F238E27FC236}">
                <a16:creationId xmlns:a16="http://schemas.microsoft.com/office/drawing/2014/main" id="{698475F8-CE69-46B6-8314-D74BD6764F93}"/>
              </a:ext>
            </a:extLst>
          </p:cNvPr>
          <p:cNvSpPr>
            <a:spLocks noGrp="1"/>
          </p:cNvSpPr>
          <p:nvPr/>
        </p:nvSpPr>
        <p:spPr>
          <a:xfrm>
            <a:off x="749808" y="3003082"/>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83567AB-A7FA-4822-AD40-3C4A945410D9}"/>
              </a:ext>
            </a:extLst>
          </p:cNvPr>
          <p:cNvSpPr>
            <a:spLocks noGrp="1"/>
          </p:cNvSpPr>
          <p:nvPr/>
        </p:nvSpPr>
        <p:spPr>
          <a:xfrm>
            <a:off x="987552" y="3167674"/>
            <a:ext cx="2331720" cy="29260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300" b="1" i="0">
                <a:solidFill>
                  <a:srgbClr val="0F233D"/>
                </a:solidFill>
                <a:latin typeface="Arial"/>
                <a:ea typeface="Arial"/>
                <a:cs typeface="Arial"/>
              </a:rPr>
              <a:t>Female ε3/ε3</a:t>
            </a:r>
          </a:p>
        </p:txBody>
      </p:sp>
      <p:sp>
        <p:nvSpPr>
          <p:cNvPr id="18" name="TextBox 17">
            <a:extLst>
              <a:ext uri="{FF2B5EF4-FFF2-40B4-BE49-F238E27FC236}">
                <a16:creationId xmlns:a16="http://schemas.microsoft.com/office/drawing/2014/main" id="{7D7FCAE9-A983-468D-9001-004BEC178932}"/>
              </a:ext>
            </a:extLst>
          </p:cNvPr>
          <p:cNvSpPr>
            <a:spLocks noGrp="1"/>
          </p:cNvSpPr>
          <p:nvPr/>
        </p:nvSpPr>
        <p:spPr>
          <a:xfrm>
            <a:off x="3419856" y="3121954"/>
            <a:ext cx="1975104" cy="36576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600" b="1" i="0">
                <a:solidFill>
                  <a:srgbClr val="00684D"/>
                </a:solidFill>
                <a:latin typeface="Arial"/>
                <a:ea typeface="Arial"/>
                <a:cs typeface="Arial"/>
              </a:rPr>
              <a:t>FTL up</a:t>
            </a:r>
          </a:p>
        </p:txBody>
      </p:sp>
      <p:sp>
        <p:nvSpPr>
          <p:cNvPr id="19" name="TextBox 18">
            <a:extLst>
              <a:ext uri="{FF2B5EF4-FFF2-40B4-BE49-F238E27FC236}">
                <a16:creationId xmlns:a16="http://schemas.microsoft.com/office/drawing/2014/main" id="{A2261362-E5FD-4C3C-96E9-F15D49870ACF}"/>
              </a:ext>
            </a:extLst>
          </p:cNvPr>
          <p:cNvSpPr>
            <a:spLocks noGrp="1"/>
          </p:cNvSpPr>
          <p:nvPr/>
        </p:nvSpPr>
        <p:spPr>
          <a:xfrm>
            <a:off x="5596128" y="3121954"/>
            <a:ext cx="5468112" cy="438912"/>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150" b="0" i="0">
                <a:solidFill>
                  <a:srgbClr val="1F2730"/>
                </a:solidFill>
                <a:latin typeface="Arial"/>
                <a:ea typeface="Arial"/>
                <a:cs typeface="Arial"/>
              </a:rPr>
              <a:t>FTL met the DEG threshold in the shared OPC fine type</a:t>
            </a:r>
          </a:p>
        </p:txBody>
      </p:sp>
      <p:sp>
        <p:nvSpPr>
          <p:cNvPr id="20" name="Rounded Rectangle 19">
            <a:extLst>
              <a:ext uri="{FF2B5EF4-FFF2-40B4-BE49-F238E27FC236}">
                <a16:creationId xmlns:a16="http://schemas.microsoft.com/office/drawing/2014/main" id="{AC6EC929-80B9-4F30-A4D2-A22F90751C8D}"/>
              </a:ext>
            </a:extLst>
          </p:cNvPr>
          <p:cNvSpPr>
            <a:spLocks noGrp="1"/>
          </p:cNvSpPr>
          <p:nvPr/>
        </p:nvSpPr>
        <p:spPr>
          <a:xfrm>
            <a:off x="749808" y="3963202"/>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EE455E2-B24A-4140-BA61-9999BDCA9E0C}"/>
              </a:ext>
            </a:extLst>
          </p:cNvPr>
          <p:cNvSpPr>
            <a:spLocks noGrp="1"/>
          </p:cNvSpPr>
          <p:nvPr/>
        </p:nvSpPr>
        <p:spPr>
          <a:xfrm>
            <a:off x="987552" y="4127793"/>
            <a:ext cx="2331720" cy="29260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300" b="1" i="0">
                <a:solidFill>
                  <a:srgbClr val="0F233D"/>
                </a:solidFill>
                <a:latin typeface="Arial"/>
                <a:ea typeface="Arial"/>
                <a:cs typeface="Arial"/>
              </a:rPr>
              <a:t>Male ε2</a:t>
            </a:r>
          </a:p>
        </p:txBody>
      </p:sp>
      <p:sp>
        <p:nvSpPr>
          <p:cNvPr id="22" name="TextBox 21">
            <a:extLst>
              <a:ext uri="{FF2B5EF4-FFF2-40B4-BE49-F238E27FC236}">
                <a16:creationId xmlns:a16="http://schemas.microsoft.com/office/drawing/2014/main" id="{4B1D064E-ADA8-4CFC-9518-8EA5D75A48DA}"/>
              </a:ext>
            </a:extLst>
          </p:cNvPr>
          <p:cNvSpPr>
            <a:spLocks noGrp="1"/>
          </p:cNvSpPr>
          <p:nvPr/>
        </p:nvSpPr>
        <p:spPr>
          <a:xfrm>
            <a:off x="3419856" y="4082074"/>
            <a:ext cx="1975104" cy="36576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600" b="1" i="0">
                <a:solidFill>
                  <a:srgbClr val="9E3A00"/>
                </a:solidFill>
                <a:latin typeface="Arial"/>
                <a:ea typeface="Arial"/>
                <a:cs typeface="Arial"/>
              </a:rPr>
              <a:t>FTL down</a:t>
            </a:r>
          </a:p>
        </p:txBody>
      </p:sp>
      <p:sp>
        <p:nvSpPr>
          <p:cNvPr id="23" name="TextBox 22">
            <a:extLst>
              <a:ext uri="{FF2B5EF4-FFF2-40B4-BE49-F238E27FC236}">
                <a16:creationId xmlns:a16="http://schemas.microsoft.com/office/drawing/2014/main" id="{9099361F-A8A9-4F96-B281-D4BC483674E9}"/>
              </a:ext>
            </a:extLst>
          </p:cNvPr>
          <p:cNvSpPr>
            <a:spLocks noGrp="1"/>
          </p:cNvSpPr>
          <p:nvPr/>
        </p:nvSpPr>
        <p:spPr>
          <a:xfrm>
            <a:off x="5596128" y="4082074"/>
            <a:ext cx="5468112" cy="438912"/>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150" b="0" i="0">
                <a:solidFill>
                  <a:srgbClr val="1F2730"/>
                </a:solidFill>
                <a:latin typeface="Arial"/>
                <a:ea typeface="Arial"/>
                <a:cs typeface="Arial"/>
              </a:rPr>
              <a:t>FTL changed in the opposite direction in the male ε2 KDA call</a:t>
            </a:r>
          </a:p>
        </p:txBody>
      </p:sp>
      <p:sp>
        <p:nvSpPr>
          <p:cNvPr id="24" name="Rounded Rectangle 23">
            <a:extLst>
              <a:ext uri="{FF2B5EF4-FFF2-40B4-BE49-F238E27FC236}">
                <a16:creationId xmlns:a16="http://schemas.microsoft.com/office/drawing/2014/main" id="{0EC46CC7-76C7-472F-B0D1-58FEE97A84DF}"/>
              </a:ext>
            </a:extLst>
          </p:cNvPr>
          <p:cNvSpPr>
            <a:spLocks noGrp="1"/>
          </p:cNvSpPr>
          <p:nvPr/>
        </p:nvSpPr>
        <p:spPr>
          <a:xfrm>
            <a:off x="749808" y="4923322"/>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DCE61E4-F5B3-40A8-A7C4-999E6B82621F}"/>
              </a:ext>
            </a:extLst>
          </p:cNvPr>
          <p:cNvSpPr>
            <a:spLocks noGrp="1"/>
          </p:cNvSpPr>
          <p:nvPr/>
        </p:nvSpPr>
        <p:spPr>
          <a:xfrm>
            <a:off x="987552" y="5087914"/>
            <a:ext cx="2331720" cy="29260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300" b="1" i="0">
                <a:solidFill>
                  <a:srgbClr val="0F233D"/>
                </a:solidFill>
                <a:latin typeface="Arial"/>
                <a:ea typeface="Arial"/>
                <a:cs typeface="Arial"/>
              </a:rPr>
              <a:t>ANKRD11</a:t>
            </a:r>
          </a:p>
        </p:txBody>
      </p:sp>
      <p:sp>
        <p:nvSpPr>
          <p:cNvPr id="26" name="TextBox 25">
            <a:extLst>
              <a:ext uri="{FF2B5EF4-FFF2-40B4-BE49-F238E27FC236}">
                <a16:creationId xmlns:a16="http://schemas.microsoft.com/office/drawing/2014/main" id="{3D6B138C-3F34-4E27-9C4A-5FD0366EB0CF}"/>
              </a:ext>
            </a:extLst>
          </p:cNvPr>
          <p:cNvSpPr>
            <a:spLocks noGrp="1"/>
          </p:cNvSpPr>
          <p:nvPr/>
        </p:nvSpPr>
        <p:spPr>
          <a:xfrm>
            <a:off x="3419856" y="5042194"/>
            <a:ext cx="1975104" cy="542544"/>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600" b="1" i="0">
                <a:solidFill>
                  <a:srgbClr val="895600"/>
                </a:solidFill>
                <a:latin typeface="Arial"/>
                <a:ea typeface="Arial"/>
                <a:cs typeface="Arial"/>
              </a:rPr>
              <a:t>Returned from both KDA calls</a:t>
            </a:r>
          </a:p>
        </p:txBody>
      </p:sp>
      <p:sp>
        <p:nvSpPr>
          <p:cNvPr id="27" name="TextBox 26">
            <a:extLst>
              <a:ext uri="{FF2B5EF4-FFF2-40B4-BE49-F238E27FC236}">
                <a16:creationId xmlns:a16="http://schemas.microsoft.com/office/drawing/2014/main" id="{ACA51FA8-E100-4D8C-8271-0B0575CE4DC5}"/>
              </a:ext>
            </a:extLst>
          </p:cNvPr>
          <p:cNvSpPr>
            <a:spLocks noGrp="1"/>
          </p:cNvSpPr>
          <p:nvPr/>
        </p:nvSpPr>
        <p:spPr>
          <a:xfrm>
            <a:off x="5596128" y="5042194"/>
            <a:ext cx="5468112" cy="438912"/>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150" b="0" i="0">
                <a:solidFill>
                  <a:srgbClr val="1F2730"/>
                </a:solidFill>
                <a:latin typeface="Arial"/>
                <a:ea typeface="Arial"/>
                <a:cs typeface="Arial"/>
              </a:rPr>
              <a:t>DEG only in male ε2: +0.42 log2FC versus −0.09 in female ε3/ε3</a:t>
            </a:r>
          </a:p>
        </p:txBody>
      </p:sp>
    </p:spTree>
    <p:extLst>
      <p:ext uri="{BB962C8B-B14F-4D97-AF65-F5344CB8AC3E}">
        <p14:creationId val="562558821"/>
      </p:ext>
    </p:extLst>
  </p:cSld>
  <p:clrMapOvr>
    <a:masterClrMapping/>
  </p:clrMapOvr>
  <p:transition/>
  <p:timing/>
</p:sld>
</file>

<file path=ppt/slides/slide13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A33D3C8D-631F-46DF-846E-1A1208BFC171}"/>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Genes returned from OPC KDA calls emphasize recycling of damaged cell components and iron handling</a:t>
            </a:r>
          </a:p>
        </p:txBody>
      </p:sp>
      <p:sp>
        <p:nvSpPr>
          <p:cNvPr id="3" name="TextBox 2">
            <a:extLst>
              <a:ext uri="{FF2B5EF4-FFF2-40B4-BE49-F238E27FC236}">
                <a16:creationId xmlns:a16="http://schemas.microsoft.com/office/drawing/2014/main" id="{FB6AE97F-F788-4ABD-A408-FA9502CC3983}"/>
              </a:ext>
            </a:extLst>
          </p:cNvPr>
          <p:cNvSpPr>
            <a:spLocks noGrp="1"/>
          </p:cNvSpPr>
          <p:nvPr/>
        </p:nvSpPr>
        <p:spPr>
          <a:xfrm>
            <a:off x="548640" y="1004100"/>
            <a:ext cx="10927080" cy="270843"/>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00" b="1" i="0">
                <a:latin typeface="Arial"/>
                <a:ea typeface="Arial"/>
                <a:cs typeface="Arial"/>
              </a:rPr>
              <a:t>Several pathway terms contain many of the same genes, including widely used ubiquitin and tubulin genes.</a:t>
            </a:r>
          </a:p>
        </p:txBody>
      </p:sp>
      <p:sp>
        <p:nvSpPr>
          <p:cNvPr id="4" name="Rounded Rectangle 3">
            <a:extLst>
              <a:ext uri="{FF2B5EF4-FFF2-40B4-BE49-F238E27FC236}">
                <a16:creationId xmlns:a16="http://schemas.microsoft.com/office/drawing/2014/main" id="{AD4BFB6F-8E39-41B2-A029-D59C0714CC60}"/>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A44C3B8-2E5B-4119-8242-C3F578C37BE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684D"/>
                </a:solidFill>
                <a:latin typeface="Arial"/>
                <a:ea typeface="Arial"/>
                <a:cs typeface="Arial"/>
              </a:rPr>
              <a:t>RECYCLING SPECIFIC CELL COMPONENTS</a:t>
            </a:r>
          </a:p>
        </p:txBody>
      </p:sp>
      <p:sp>
        <p:nvSpPr>
          <p:cNvPr id="6" name="TextBox 5">
            <a:extLst>
              <a:ext uri="{FF2B5EF4-FFF2-40B4-BE49-F238E27FC236}">
                <a16:creationId xmlns:a16="http://schemas.microsoft.com/office/drawing/2014/main" id="{DBF89FCE-59C4-4DE9-AD0A-3B73C97C187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BH 9.00 × 10⁻⁵</a:t>
            </a:r>
          </a:p>
        </p:txBody>
      </p:sp>
      <p:sp>
        <p:nvSpPr>
          <p:cNvPr id="7" name="TextBox 6">
            <a:extLst>
              <a:ext uri="{FF2B5EF4-FFF2-40B4-BE49-F238E27FC236}">
                <a16:creationId xmlns:a16="http://schemas.microsoft.com/office/drawing/2014/main" id="{6A65FDE6-6991-4C06-BA04-0260F8C29B32}"/>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This is the strongest exploratory pathway result among genes returned from OPC KDA calls.</a:t>
            </a:r>
          </a:p>
        </p:txBody>
      </p:sp>
      <p:sp>
        <p:nvSpPr>
          <p:cNvPr id="8" name="Rounded Rectangle 7">
            <a:extLst>
              <a:ext uri="{FF2B5EF4-FFF2-40B4-BE49-F238E27FC236}">
                <a16:creationId xmlns:a16="http://schemas.microsoft.com/office/drawing/2014/main" id="{CF6117FB-950A-44F0-BA24-B1A818AC51AA}"/>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CE2E68C-781B-4070-A809-32BF6ACA970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72B2"/>
                </a:solidFill>
                <a:latin typeface="Arial"/>
                <a:ea typeface="Arial"/>
                <a:cs typeface="Arial"/>
              </a:rPr>
              <a:t>REMOVAL OF DAMAGED MITOCHONDRIA</a:t>
            </a:r>
          </a:p>
        </p:txBody>
      </p:sp>
      <p:sp>
        <p:nvSpPr>
          <p:cNvPr id="10" name="TextBox 9">
            <a:extLst>
              <a:ext uri="{FF2B5EF4-FFF2-40B4-BE49-F238E27FC236}">
                <a16:creationId xmlns:a16="http://schemas.microsoft.com/office/drawing/2014/main" id="{E45FBE5E-432B-442E-A759-7E7748346D9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BH 0.00233</a:t>
            </a:r>
          </a:p>
        </p:txBody>
      </p:sp>
      <p:sp>
        <p:nvSpPr>
          <p:cNvPr id="11" name="TextBox 10">
            <a:extLst>
              <a:ext uri="{FF2B5EF4-FFF2-40B4-BE49-F238E27FC236}">
                <a16:creationId xmlns:a16="http://schemas.microsoft.com/office/drawing/2014/main" id="{84F9E9EC-72CB-405B-809E-88723EE9A78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Genes returned from OPC KDA calls include genes associated with removing damaged mitochondria.</a:t>
            </a:r>
          </a:p>
        </p:txBody>
      </p:sp>
      <p:sp>
        <p:nvSpPr>
          <p:cNvPr id="12" name="Rounded Rectangle 11">
            <a:extLst>
              <a:ext uri="{FF2B5EF4-FFF2-40B4-BE49-F238E27FC236}">
                <a16:creationId xmlns:a16="http://schemas.microsoft.com/office/drawing/2014/main" id="{C8E5D028-3638-416D-B044-0094ED1E5664}"/>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868C8D7-3409-432D-9F05-01E42EC93372}"/>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895600"/>
                </a:solidFill>
                <a:latin typeface="Arial"/>
                <a:ea typeface="Arial"/>
                <a:cs typeface="Arial"/>
              </a:rPr>
              <a:t>IRON UPTAKE AND TRANSPORT</a:t>
            </a:r>
          </a:p>
        </p:txBody>
      </p:sp>
      <p:sp>
        <p:nvSpPr>
          <p:cNvPr id="14" name="TextBox 13">
            <a:extLst>
              <a:ext uri="{FF2B5EF4-FFF2-40B4-BE49-F238E27FC236}">
                <a16:creationId xmlns:a16="http://schemas.microsoft.com/office/drawing/2014/main" id="{A7E76BEF-91FC-400C-9DFB-7C1DC9C4F06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BH 0.00968</a:t>
            </a:r>
          </a:p>
        </p:txBody>
      </p:sp>
      <p:sp>
        <p:nvSpPr>
          <p:cNvPr id="15" name="TextBox 14">
            <a:extLst>
              <a:ext uri="{FF2B5EF4-FFF2-40B4-BE49-F238E27FC236}">
                <a16:creationId xmlns:a16="http://schemas.microsoft.com/office/drawing/2014/main" id="{7557BA89-E344-4BD1-B941-1607D2F8E42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FTL, UBB, and UBC are the genes behind this pathway result.</a:t>
            </a:r>
          </a:p>
        </p:txBody>
      </p:sp>
      <p:sp>
        <p:nvSpPr>
          <p:cNvPr id="16" name="Rounded Rectangle 15">
            <a:extLst>
              <a:ext uri="{FF2B5EF4-FFF2-40B4-BE49-F238E27FC236}">
                <a16:creationId xmlns:a16="http://schemas.microsoft.com/office/drawing/2014/main" id="{8958CAEE-C55A-448F-97CE-3A27EC1327A8}"/>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43B4E1E-0506-4FDE-BEE3-B927A0A8609F}"/>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30" b="1" i="0">
                <a:solidFill>
                  <a:srgbClr val="7E4C9A"/>
                </a:solidFill>
                <a:latin typeface="Arial"/>
                <a:ea typeface="Arial"/>
                <a:cs typeface="Arial"/>
              </a:rPr>
              <a:t>SEA-AD had no OPC category for KDA, so this result could not be tested in that cohort.</a:t>
            </a:r>
          </a:p>
        </p:txBody>
      </p:sp>
    </p:spTree>
    <p:extLst>
      <p:ext uri="{BB962C8B-B14F-4D97-AF65-F5344CB8AC3E}">
        <p14:creationId val="1428804894"/>
      </p:ext>
    </p:extLst>
  </p:cSld>
  <p:clrMapOvr>
    <a:masterClrMapping/>
  </p:clrMapOvr>
  <p:transition/>
  <p:timing/>
</p:sld>
</file>

<file path=ppt/slides/slide13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0506CFD8-63A4-45DF-A66D-F65C9CAC0589}"/>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Why this matters: OPCs may be vulnerable to iron-dependent lipid damage</a:t>
            </a:r>
          </a:p>
        </p:txBody>
      </p:sp>
      <p:sp>
        <p:nvSpPr>
          <p:cNvPr id="3" name="TextBox 2">
            <a:extLst>
              <a:ext uri="{FF2B5EF4-FFF2-40B4-BE49-F238E27FC236}">
                <a16:creationId xmlns:a16="http://schemas.microsoft.com/office/drawing/2014/main" id="{BA881331-5CBB-41BB-8E29-F74B82E9BB84}"/>
              </a:ext>
            </a:extLst>
          </p:cNvPr>
          <p:cNvSpPr>
            <a:spLocks noGrp="1"/>
          </p:cNvSpPr>
          <p:nvPr/>
        </p:nvSpPr>
        <p:spPr>
          <a:xfrm>
            <a:off x="548640" y="934428"/>
            <a:ext cx="10927080" cy="270843"/>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00" b="1" i="0">
                <a:latin typeface="Arial"/>
                <a:ea typeface="Arial"/>
                <a:cs typeface="Arial"/>
              </a:rPr>
              <a:t>Iron storage, GPX4 protection from lipid damage, and removal of damaged mitochondria combine into a testable model.</a:t>
            </a:r>
          </a:p>
        </p:txBody>
      </p:sp>
      <p:sp>
        <p:nvSpPr>
          <p:cNvPr id="4" name="Rounded Rectangle 3">
            <a:extLst>
              <a:ext uri="{FF2B5EF4-FFF2-40B4-BE49-F238E27FC236}">
                <a16:creationId xmlns:a16="http://schemas.microsoft.com/office/drawing/2014/main" id="{3FBEF97B-4949-4D0B-9762-39D1E229189C}"/>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D2B3AD8-E634-4B41-9516-C9AA21D6132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9E3A00"/>
                </a:solidFill>
                <a:latin typeface="Arial"/>
                <a:ea typeface="Arial"/>
                <a:cs typeface="Arial"/>
              </a:rPr>
              <a:t>IRON PRESSURE</a:t>
            </a:r>
          </a:p>
        </p:txBody>
      </p:sp>
      <p:sp>
        <p:nvSpPr>
          <p:cNvPr id="6" name="TextBox 5">
            <a:extLst>
              <a:ext uri="{FF2B5EF4-FFF2-40B4-BE49-F238E27FC236}">
                <a16:creationId xmlns:a16="http://schemas.microsoft.com/office/drawing/2014/main" id="{BB564195-FE95-412B-9253-888383533B70}"/>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Free iron can promote oxidation</a:t>
            </a:r>
          </a:p>
        </p:txBody>
      </p:sp>
      <p:sp>
        <p:nvSpPr>
          <p:cNvPr id="7" name="TextBox 6">
            <a:extLst>
              <a:ext uri="{FF2B5EF4-FFF2-40B4-BE49-F238E27FC236}">
                <a16:creationId xmlns:a16="http://schemas.microsoft.com/office/drawing/2014/main" id="{51427753-039B-440F-A451-5F4CDB5A4E3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Ferritin changes may indicate altered iron storage or a compensatory response.</a:t>
            </a:r>
          </a:p>
        </p:txBody>
      </p:sp>
      <p:sp>
        <p:nvSpPr>
          <p:cNvPr id="8" name="Rounded Rectangle 7">
            <a:extLst>
              <a:ext uri="{FF2B5EF4-FFF2-40B4-BE49-F238E27FC236}">
                <a16:creationId xmlns:a16="http://schemas.microsoft.com/office/drawing/2014/main" id="{86705461-EAF2-42EB-B6FB-E62C9D107DD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D58AA05-8D16-4BCB-A79E-4BA97156B32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684D"/>
                </a:solidFill>
                <a:latin typeface="Arial"/>
                <a:ea typeface="Arial"/>
                <a:cs typeface="Arial"/>
              </a:rPr>
              <a:t>MEMBRANE DEFENSE</a:t>
            </a:r>
          </a:p>
        </p:txBody>
      </p:sp>
      <p:sp>
        <p:nvSpPr>
          <p:cNvPr id="10" name="TextBox 9">
            <a:extLst>
              <a:ext uri="{FF2B5EF4-FFF2-40B4-BE49-F238E27FC236}">
                <a16:creationId xmlns:a16="http://schemas.microsoft.com/office/drawing/2014/main" id="{DDF09B92-2A69-4387-AD40-827E4B37FD88}"/>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GPX4 limits lipid damage</a:t>
            </a:r>
          </a:p>
        </p:txBody>
      </p:sp>
      <p:sp>
        <p:nvSpPr>
          <p:cNvPr id="11" name="TextBox 10">
            <a:extLst>
              <a:ext uri="{FF2B5EF4-FFF2-40B4-BE49-F238E27FC236}">
                <a16:creationId xmlns:a16="http://schemas.microsoft.com/office/drawing/2014/main" id="{2852A216-72CF-47EA-BA49-A6DD74A1642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Reduced GPX4 activity can make OPCs vulnerable to iron-dependent injury.</a:t>
            </a:r>
          </a:p>
        </p:txBody>
      </p:sp>
      <p:sp>
        <p:nvSpPr>
          <p:cNvPr id="12" name="Rounded Rectangle 11">
            <a:extLst>
              <a:ext uri="{FF2B5EF4-FFF2-40B4-BE49-F238E27FC236}">
                <a16:creationId xmlns:a16="http://schemas.microsoft.com/office/drawing/2014/main" id="{D29539D8-DFC5-4066-8AF7-A2B2BBBECF24}"/>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F961A44-187B-41C6-A6CD-441F5EC747F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895600"/>
                </a:solidFill>
                <a:latin typeface="Arial"/>
                <a:ea typeface="Arial"/>
                <a:cs typeface="Arial"/>
              </a:rPr>
              <a:t>WHAT WOULD PROVE FERROPTOSIS</a:t>
            </a:r>
          </a:p>
        </p:txBody>
      </p:sp>
      <p:sp>
        <p:nvSpPr>
          <p:cNvPr id="14" name="TextBox 13">
            <a:extLst>
              <a:ext uri="{FF2B5EF4-FFF2-40B4-BE49-F238E27FC236}">
                <a16:creationId xmlns:a16="http://schemas.microsoft.com/office/drawing/2014/main" id="{6175BC97-30CA-4A35-BAA4-A416015A9769}"/>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Rescue by a ferroptosis inhibitor</a:t>
            </a:r>
          </a:p>
        </p:txBody>
      </p:sp>
      <p:sp>
        <p:nvSpPr>
          <p:cNvPr id="15" name="TextBox 14">
            <a:extLst>
              <a:ext uri="{FF2B5EF4-FFF2-40B4-BE49-F238E27FC236}">
                <a16:creationId xmlns:a16="http://schemas.microsoft.com/office/drawing/2014/main" id="{901ECCA5-4DE6-43C7-9A2C-20520B9AB3E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A ferroptosis inhibitor must rescue lipid damage and survival before using that label.</a:t>
            </a:r>
          </a:p>
        </p:txBody>
      </p:sp>
      <p:sp>
        <p:nvSpPr>
          <p:cNvPr id="16" name="Rounded Rectangle 15">
            <a:extLst>
              <a:ext uri="{FF2B5EF4-FFF2-40B4-BE49-F238E27FC236}">
                <a16:creationId xmlns:a16="http://schemas.microsoft.com/office/drawing/2014/main" id="{1E8D6100-EE81-4131-9B8B-9DB33F9906D2}"/>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B45C713-43BC-4D38-A1B3-C03B628049ED}"/>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5E9BE2D8-C487-4C2B-92F7-2FB49A1DD7CC}"/>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20" b="1" i="0">
                <a:solidFill>
                  <a:srgbClr val="1F2730"/>
                </a:solidFill>
                <a:latin typeface="Arial"/>
                <a:ea typeface="Arial"/>
                <a:cs typeface="Arial"/>
              </a:rPr>
              <a:t>Opposite FTL directions warn against one simple model across sex/APOE groups.</a:t>
            </a:r>
          </a:p>
        </p:txBody>
      </p:sp>
    </p:spTree>
    <p:extLst>
      <p:ext uri="{BB962C8B-B14F-4D97-AF65-F5344CB8AC3E}">
        <p14:creationId val="582230443"/>
      </p:ext>
    </p:extLst>
  </p:cSld>
  <p:clrMapOvr>
    <a:masterClrMapping/>
  </p:clrMapOvr>
  <p:transition/>
  <p:timing/>
</p:sld>
</file>

<file path=ppt/slides/slide13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CDB20F4B-8982-4FA8-860C-C5109ADC0F5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How prior research supports and limits Finding 13</a:t>
            </a:r>
          </a:p>
        </p:txBody>
      </p:sp>
      <p:sp>
        <p:nvSpPr>
          <p:cNvPr id="3" name="TextBox 2">
            <a:extLst>
              <a:ext uri="{FF2B5EF4-FFF2-40B4-BE49-F238E27FC236}">
                <a16:creationId xmlns:a16="http://schemas.microsoft.com/office/drawing/2014/main" id="{BF0E0F79-8798-4112-A21C-783A6BAF1FFC}"/>
              </a:ext>
            </a:extLst>
          </p:cNvPr>
          <p:cNvSpPr>
            <a:spLocks noGrp="1"/>
          </p:cNvSpPr>
          <p:nvPr/>
        </p:nvSpPr>
        <p:spPr>
          <a:xfrm>
            <a:off x="548640" y="856049"/>
            <a:ext cx="10927080" cy="270843"/>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00" b="1" i="0">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97356E32-6223-422E-92DF-B7A980878552}"/>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B860031-C0EF-4EFB-8CE0-45F1BCBB2EF8}"/>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500" b="1" i="0">
                <a:solidFill>
                  <a:srgbClr val="0072B2"/>
                </a:solidFill>
                <a:latin typeface="Arial"/>
                <a:ea typeface="Arial"/>
                <a:cs typeface="Arial"/>
              </a:rPr>
              <a:t>OPC ferroptosis study</a:t>
            </a:r>
          </a:p>
        </p:txBody>
      </p:sp>
      <p:sp>
        <p:nvSpPr>
          <p:cNvPr id="6" name="TextBox 5">
            <a:extLst>
              <a:ext uri="{FF2B5EF4-FFF2-40B4-BE49-F238E27FC236}">
                <a16:creationId xmlns:a16="http://schemas.microsoft.com/office/drawing/2014/main" id="{FE783941-7E0B-479B-A83E-07D00160FD63}"/>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350" b="1" i="0">
                <a:solidFill>
                  <a:srgbClr val="0F233D"/>
                </a:solidFill>
                <a:latin typeface="Arial"/>
                <a:ea typeface="Arial"/>
                <a:cs typeface="Arial"/>
              </a:rPr>
              <a:t>GPX4-dependent OPC vulnerability</a:t>
            </a:r>
          </a:p>
        </p:txBody>
      </p:sp>
      <p:sp>
        <p:nvSpPr>
          <p:cNvPr id="7" name="TextBox 6">
            <a:extLst>
              <a:ext uri="{FF2B5EF4-FFF2-40B4-BE49-F238E27FC236}">
                <a16:creationId xmlns:a16="http://schemas.microsoft.com/office/drawing/2014/main" id="{753F0604-3FB8-40D3-943E-B83654D4F8B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857ED14-1F46-4E46-BBAE-47A89F0ECD36}"/>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80" b="0" i="0">
                <a:solidFill>
                  <a:srgbClr val="1F2730"/>
                </a:solidFill>
                <a:latin typeface="Arial"/>
                <a:ea typeface="Arial"/>
                <a:cs typeface="Arial"/>
              </a:rPr>
              <a:t>Shows that impaired GPX4 protection can expose OPCs to iron-dependent lipid damage.</a:t>
            </a:r>
          </a:p>
        </p:txBody>
      </p:sp>
      <p:sp>
        <p:nvSpPr>
          <p:cNvPr id="9" name="TextBox 8">
            <a:extLst>
              <a:ext uri="{FF2B5EF4-FFF2-40B4-BE49-F238E27FC236}">
                <a16:creationId xmlns:a16="http://schemas.microsoft.com/office/drawing/2014/main" id="{A5C0E162-DE28-4F0B-ABDF-C5A103FCD9F2}"/>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2C96941D-F1B6-41BD-AD36-D9B83E14D76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60" b="0" i="0">
                <a:solidFill>
                  <a:srgbClr val="4E5A68"/>
                </a:solidFill>
                <a:latin typeface="Arial"/>
                <a:ea typeface="Arial"/>
                <a:cs typeface="Arial"/>
              </a:rPr>
              <a:t>Experimental OPC vulnerability does not prove human AD ferroptosis.</a:t>
            </a:r>
          </a:p>
        </p:txBody>
      </p:sp>
      <p:sp>
        <p:nvSpPr>
          <p:cNvPr id="11" name="Rounded Rectangle 10">
            <a:extLst>
              <a:ext uri="{FF2B5EF4-FFF2-40B4-BE49-F238E27FC236}">
                <a16:creationId xmlns:a16="http://schemas.microsoft.com/office/drawing/2014/main" id="{B1360B0C-0DDB-4895-AFDB-A6932C1A0986}"/>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9194F53-DA5A-4929-A9C1-685561AB8BEB}"/>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500" b="1" i="0">
                <a:solidFill>
                  <a:srgbClr val="00684D"/>
                </a:solidFill>
                <a:latin typeface="Arial"/>
                <a:ea typeface="Arial"/>
                <a:cs typeface="Arial"/>
              </a:rPr>
              <a:t>BMC Biology 2025</a:t>
            </a:r>
          </a:p>
        </p:txBody>
      </p:sp>
      <p:sp>
        <p:nvSpPr>
          <p:cNvPr id="13" name="TextBox 12">
            <a:extLst>
              <a:ext uri="{FF2B5EF4-FFF2-40B4-BE49-F238E27FC236}">
                <a16:creationId xmlns:a16="http://schemas.microsoft.com/office/drawing/2014/main" id="{32CF6EC9-0361-4C75-9564-6DFCAD75FA9B}"/>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350" b="1" i="0">
                <a:solidFill>
                  <a:srgbClr val="0F233D"/>
                </a:solidFill>
                <a:latin typeface="Arial"/>
                <a:ea typeface="Arial"/>
                <a:cs typeface="Arial"/>
              </a:rPr>
              <a:t>Ferroptosis signatures in AD</a:t>
            </a:r>
          </a:p>
        </p:txBody>
      </p:sp>
      <p:sp>
        <p:nvSpPr>
          <p:cNvPr id="14" name="TextBox 13">
            <a:extLst>
              <a:ext uri="{FF2B5EF4-FFF2-40B4-BE49-F238E27FC236}">
                <a16:creationId xmlns:a16="http://schemas.microsoft.com/office/drawing/2014/main" id="{69C660CB-5216-4274-BA99-484E9794052A}"/>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CE60262E-B510-4DDD-9D57-A6C65E271C3B}"/>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80" b="0" i="0">
                <a:solidFill>
                  <a:srgbClr val="1F2730"/>
                </a:solidFill>
                <a:latin typeface="Arial"/>
                <a:ea typeface="Arial"/>
                <a:cs typeface="Arial"/>
              </a:rPr>
              <a:t>Reports oxytosis and ferroptosis-related transcriptomic signatures in AD datasets.</a:t>
            </a:r>
          </a:p>
        </p:txBody>
      </p:sp>
      <p:sp>
        <p:nvSpPr>
          <p:cNvPr id="16" name="TextBox 15">
            <a:extLst>
              <a:ext uri="{FF2B5EF4-FFF2-40B4-BE49-F238E27FC236}">
                <a16:creationId xmlns:a16="http://schemas.microsoft.com/office/drawing/2014/main" id="{9FD1F9B7-04E3-41EC-AB41-FBEED10720CD}"/>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F792BB6C-631D-441C-B442-7A313AAFD8D1}"/>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60" b="0" i="0">
                <a:solidFill>
                  <a:srgbClr val="4E5A68"/>
                </a:solidFill>
                <a:latin typeface="Arial"/>
                <a:ea typeface="Arial"/>
                <a:cs typeface="Arial"/>
              </a:rPr>
              <a:t>A transcriptomic signature is not direct cell-death evidence.</a:t>
            </a:r>
          </a:p>
        </p:txBody>
      </p:sp>
      <p:sp>
        <p:nvSpPr>
          <p:cNvPr id="18" name="Rounded Rectangle 17">
            <a:extLst>
              <a:ext uri="{FF2B5EF4-FFF2-40B4-BE49-F238E27FC236}">
                <a16:creationId xmlns:a16="http://schemas.microsoft.com/office/drawing/2014/main" id="{5702C021-366E-45EC-86A3-C070303EE211}"/>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B39BD72D-3D48-40FA-AD94-BCE12137087A}"/>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E27AB1F1-AF08-4E1E-BBDB-F54DEE9E32CB}"/>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350" b="1" i="0">
                <a:solidFill>
                  <a:srgbClr val="0F233D"/>
                </a:solidFill>
                <a:latin typeface="Arial"/>
                <a:ea typeface="Arial"/>
                <a:cs typeface="Arial"/>
              </a:rPr>
              <a:t>Connections in human OPCs</a:t>
            </a:r>
          </a:p>
        </p:txBody>
      </p:sp>
      <p:sp>
        <p:nvSpPr>
          <p:cNvPr id="21" name="TextBox 20">
            <a:extLst>
              <a:ext uri="{FF2B5EF4-FFF2-40B4-BE49-F238E27FC236}">
                <a16:creationId xmlns:a16="http://schemas.microsoft.com/office/drawing/2014/main" id="{07999494-00E0-40EC-AD4F-A2FB7DC6EE3D}"/>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580469AE-BE22-456D-B839-7112A6670513}"/>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80" b="0" i="0">
                <a:solidFill>
                  <a:srgbClr val="1F2730"/>
                </a:solidFill>
                <a:latin typeface="Arial"/>
                <a:ea typeface="Arial"/>
                <a:cs typeface="Arial"/>
              </a:rPr>
              <a:t>Adds focused connections among FTL, ANKRD11, GPX4, and genes that recycle damaged cell components.</a:t>
            </a:r>
          </a:p>
        </p:txBody>
      </p:sp>
      <p:sp>
        <p:nvSpPr>
          <p:cNvPr id="23" name="TextBox 22">
            <a:extLst>
              <a:ext uri="{FF2B5EF4-FFF2-40B4-BE49-F238E27FC236}">
                <a16:creationId xmlns:a16="http://schemas.microsoft.com/office/drawing/2014/main" id="{C87DD507-DC24-419A-AD6C-DB24564E6A1B}"/>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9166348B-6EA7-4736-8A8C-DA247F38FF25}"/>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60" b="0" i="0">
                <a:solidFill>
                  <a:srgbClr val="4E5A68"/>
                </a:solidFill>
                <a:latin typeface="Arial"/>
                <a:ea typeface="Arial"/>
                <a:cs typeface="Arial"/>
              </a:rPr>
              <a:t>Only one OPC fine type contributes to the result.</a:t>
            </a:r>
          </a:p>
        </p:txBody>
      </p:sp>
      <p:sp>
        <p:nvSpPr>
          <p:cNvPr id="25" name="Rounded Rectangle 24">
            <a:extLst>
              <a:ext uri="{FF2B5EF4-FFF2-40B4-BE49-F238E27FC236}">
                <a16:creationId xmlns:a16="http://schemas.microsoft.com/office/drawing/2014/main" id="{D99DE60E-4C10-49A8-AA49-9A3C923404E9}"/>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5BCD1A6B-D0E6-4AA8-9FC0-DFA60254BEE7}"/>
              </a:ext>
            </a:extLst>
          </p:cNvPr>
          <p:cNvSpPr>
            <a:spLocks noGrp="1"/>
          </p:cNvSpPr>
          <p:nvPr/>
        </p:nvSpPr>
        <p:spPr>
          <a:xfrm>
            <a:off x="896112" y="5952744"/>
            <a:ext cx="10405872" cy="221599"/>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lang="en-US" sz="1080" b="1" i="0">
                <a:solidFill>
                  <a:srgbClr val="7E4C9A"/>
                </a:solidFill>
                <a:latin typeface="Arial"/>
                <a:ea typeface="Arial"/>
                <a:cs typeface="Arial"/>
              </a:rPr>
              <a:t>Novelty</a:t>
            </a:r>
            <a:r>
              <a:rPr sz="1080" b="1" i="0">
                <a:solidFill>
                  <a:srgbClr val="7E4C9A"/>
                </a:solidFill>
                <a:latin typeface="Arial"/>
                <a:ea typeface="Arial"/>
                <a:cs typeface="Arial"/>
              </a:rPr>
              <a:t>: High</a:t>
            </a:r>
          </a:p>
        </p:txBody>
      </p:sp>
    </p:spTree>
    <p:extLst>
      <p:ext uri="{BB962C8B-B14F-4D97-AF65-F5344CB8AC3E}">
        <p14:creationId val="37462826"/>
      </p:ext>
    </p:extLst>
  </p:cSld>
  <p:clrMapOvr>
    <a:masterClrMapping/>
  </p:clrMapOvr>
  <p:transition/>
  <p:timing/>
</p:sld>
</file>

<file path=ppt/slides/slide13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0F233D"/>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06010793-3F76-4FAE-A528-E47F6DB6BA1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050" b="1" i="0">
                <a:solidFill>
                  <a:srgbClr val="E69F00"/>
                </a:solidFill>
                <a:latin typeface="Arial"/>
                <a:ea typeface="Arial"/>
                <a:cs typeface="Arial"/>
              </a:rPr>
              <a:t>FINDING 14</a:t>
            </a:r>
          </a:p>
        </p:txBody>
      </p:sp>
      <p:sp>
        <p:nvSpPr>
          <p:cNvPr id="3" name="Rectangle 2">
            <a:extLst>
              <a:ext uri="{FF2B5EF4-FFF2-40B4-BE49-F238E27FC236}">
                <a16:creationId xmlns:a16="http://schemas.microsoft.com/office/drawing/2014/main" id="{3F7B492D-5F19-4E63-83A8-197F4599BBB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E7235171-10F1-4FCD-B81B-603DA32E66F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2200" b="1" i="0">
                <a:solidFill>
                  <a:srgbClr val="FFFFFF"/>
                </a:solidFill>
                <a:latin typeface="Arial"/>
                <a:ea typeface="Arial"/>
                <a:cs typeface="Arial"/>
              </a:rPr>
              <a:t>PLCG2 has strong genetic evidence, but its mitochondrial KDA result depends on one gene</a:t>
            </a:r>
          </a:p>
        </p:txBody>
      </p:sp>
      <p:sp>
        <p:nvSpPr>
          <p:cNvPr id="5" name="TextBox 4">
            <a:extLst>
              <a:ext uri="{FF2B5EF4-FFF2-40B4-BE49-F238E27FC236}">
                <a16:creationId xmlns:a16="http://schemas.microsoft.com/office/drawing/2014/main" id="{816B547B-D083-4134-99DC-A6695DA013FD}"/>
              </a:ext>
            </a:extLst>
          </p:cNvPr>
          <p:cNvSpPr>
            <a:spLocks noGrp="1"/>
          </p:cNvSpPr>
          <p:nvPr/>
        </p:nvSpPr>
        <p:spPr>
          <a:xfrm>
            <a:off x="1097280" y="2468880"/>
            <a:ext cx="7406640" cy="914400"/>
          </a:xfrm>
          <a:prstGeom prst="rect">
            <a:avLst/>
          </a:prstGeom>
          <a:noFill/>
        </p:spPr>
        <p:txBody>
          <a:bodyPr wrap="square" lIns="0" tIns="0" rIns="0" bIns="0" anchor="t">
            <a:normAutofit/>
          </a:bodyPr>
          <a:lstStyle/>
          <a:p>
            <a:pPr algn="l">
              <a:lnSpc>
                <a:spcPct val="100000"/>
              </a:lnSpc>
              <a:spcBef>
                <a:spcPct val="0"/>
              </a:spcBef>
              <a:spcAft>
                <a:spcPct val="0"/>
              </a:spcAft>
              <a:buNone/>
              <a:defRPr sz="1350" b="1">
                <a:solidFill>
                  <a:srgbClr val="E6A700"/>
                </a:solidFill>
                <a:latin typeface="Arial"/>
                <a:ea typeface="Arial"/>
                <a:cs typeface="Arial"/>
              </a:defRPr>
            </a:pPr>
            <a:r>
              <a:rPr sz="1350" b="1" i="0">
                <a:solidFill>
                  <a:srgbClr val="E6A700"/>
                </a:solidFill>
                <a:latin typeface="Arial"/>
                <a:ea typeface="Arial"/>
                <a:cs typeface="Arial"/>
              </a:rPr>
              <a:t>Observed in: female ε2, female ε3/ε3, and female ε4</a:t>
            </a:r>
          </a:p>
        </p:txBody>
      </p:sp>
      <p:sp>
        <p:nvSpPr>
          <p:cNvPr id="6" name="Rounded Rectangle 5">
            <a:extLst>
              <a:ext uri="{FF2B5EF4-FFF2-40B4-BE49-F238E27FC236}">
                <a16:creationId xmlns:a16="http://schemas.microsoft.com/office/drawing/2014/main" id="{AC106D8A-BE5E-4BC5-9D07-1CEC1C4D2553}"/>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9530756-BF9F-477F-8F72-8DCDDC4EF07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22E85BC3-EA19-4C30-B58D-C0E7E7599A4F}"/>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A17FFE-22D8-4710-8A94-7D00E036C76E}"/>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BD28ADA-ECEC-4C24-A1F5-805FAEC3C453}"/>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925330FA-890C-44A3-BA9C-64776956BF1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0259FA27-E202-4E92-8E89-0E02D1DD53F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DC7384A-0610-48B3-9235-81A0F081902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E5A0CED-A94C-4FC4-BE4F-A13890A2D0DF}"/>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8D3A9D37-FF64-4363-A566-B550E0A2662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A02C0FDD-1763-4292-8FDA-0DDAB119FB4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B773E74F-2C80-4552-9C74-57D94F85640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36518937-36D3-4B75-90C1-938D5B5FBB9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20E33752-EF78-4A42-82A7-3F9F387FD14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2C0BF287-2411-45FA-9CE4-F456BD2471DE}"/>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E86F8EB-44AA-475F-A1DE-E4E69DD9DB9D}"/>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20" b="1" i="0">
                <a:solidFill>
                  <a:srgbClr val="FFFFFF"/>
                </a:solidFill>
                <a:latin typeface="Arial"/>
                <a:ea typeface="Arial"/>
                <a:cs typeface="Arial"/>
              </a:rPr>
              <a:t>PLCG2 has strong Alzheimer’s genetic evidence, but MT-CO1 is the only MitoCarta MT gene directly connected to it in these KDA calls.</a:t>
            </a:r>
          </a:p>
        </p:txBody>
      </p:sp>
    </p:spTree>
    <p:extLst>
      <p:ext uri="{BB962C8B-B14F-4D97-AF65-F5344CB8AC3E}">
        <p14:creationId val="1845175475"/>
      </p:ext>
    </p:extLst>
  </p:cSld>
  <p:clrMapOvr>
    <a:masterClrMapping/>
  </p:clrMapOvr>
  <p:transition/>
  <p:timing/>
</p:sld>
</file>

<file path=ppt/slides/slide13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6093D325-92D5-4B5C-BA2D-143040A4BA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PLCG2 has strong genetic support, but only one connected mitochondrial gene</a:t>
            </a:r>
          </a:p>
        </p:txBody>
      </p:sp>
      <p:sp>
        <p:nvSpPr>
          <p:cNvPr id="3" name="TextBox 2">
            <a:extLst>
              <a:ext uri="{FF2B5EF4-FFF2-40B4-BE49-F238E27FC236}">
                <a16:creationId xmlns:a16="http://schemas.microsoft.com/office/drawing/2014/main" id="{44B461C5-DE2E-4CE4-B5C6-1DA14ACBFE31}"/>
              </a:ext>
            </a:extLst>
          </p:cNvPr>
          <p:cNvSpPr>
            <a:spLocks noGrp="1"/>
          </p:cNvSpPr>
          <p:nvPr/>
        </p:nvSpPr>
        <p:spPr>
          <a:xfrm>
            <a:off x="548640" y="856051"/>
            <a:ext cx="10927080" cy="270843"/>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00" b="1" i="0">
                <a:latin typeface="Arial"/>
                <a:ea typeface="Arial"/>
                <a:cs typeface="Arial"/>
              </a:rPr>
              <a:t>PLCG2 encodes a signaling enzyme. KDA can return a gene because of its network connections even when it is not a DEG.</a:t>
            </a:r>
          </a:p>
        </p:txBody>
      </p:sp>
      <p:sp>
        <p:nvSpPr>
          <p:cNvPr id="4" name="Rounded Rectangle 3">
            <a:extLst>
              <a:ext uri="{FF2B5EF4-FFF2-40B4-BE49-F238E27FC236}">
                <a16:creationId xmlns:a16="http://schemas.microsoft.com/office/drawing/2014/main" id="{166E4F90-9AE6-449F-A475-233D8B609702}"/>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F44AD01-AF1B-4C22-97B0-553B8EA27251}"/>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40" b="1" i="0">
                <a:solidFill>
                  <a:srgbClr val="0072B2"/>
                </a:solidFill>
                <a:latin typeface="Arial"/>
                <a:ea typeface="Arial"/>
                <a:cs typeface="Arial"/>
              </a:rPr>
              <a:t>Female inhibitory neurons</a:t>
            </a:r>
          </a:p>
        </p:txBody>
      </p:sp>
      <p:sp>
        <p:nvSpPr>
          <p:cNvPr id="6" name="Rounded Rectangle 5">
            <a:extLst>
              <a:ext uri="{FF2B5EF4-FFF2-40B4-BE49-F238E27FC236}">
                <a16:creationId xmlns:a16="http://schemas.microsoft.com/office/drawing/2014/main" id="{F5C00C36-CC9F-4640-A455-354A655E2507}"/>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51DDA22-987F-441E-BF92-D1A170FB56FD}"/>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40" b="1" i="0">
                <a:solidFill>
                  <a:srgbClr val="00684D"/>
                </a:solidFill>
                <a:latin typeface="Arial"/>
                <a:ea typeface="Arial"/>
                <a:cs typeface="Arial"/>
              </a:rPr>
              <a:t>Six KDA calls</a:t>
            </a:r>
          </a:p>
        </p:txBody>
      </p:sp>
      <p:sp>
        <p:nvSpPr>
          <p:cNvPr id="8" name="Rounded Rectangle 7">
            <a:extLst>
              <a:ext uri="{FF2B5EF4-FFF2-40B4-BE49-F238E27FC236}">
                <a16:creationId xmlns:a16="http://schemas.microsoft.com/office/drawing/2014/main" id="{7E36A6DD-1894-44EA-839F-DF0A7B4AF68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5503480-4166-4D38-9EB0-7EFBEAC658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40" b="1" i="0">
                <a:solidFill>
                  <a:srgbClr val="895600"/>
                </a:solidFill>
                <a:latin typeface="Arial"/>
                <a:ea typeface="Arial"/>
                <a:cs typeface="Arial"/>
              </a:rPr>
              <a:t>MT-CO1 only</a:t>
            </a:r>
          </a:p>
        </p:txBody>
      </p:sp>
      <p:sp>
        <p:nvSpPr>
          <p:cNvPr id="10" name="Rounded Rectangle 9">
            <a:extLst>
              <a:ext uri="{FF2B5EF4-FFF2-40B4-BE49-F238E27FC236}">
                <a16:creationId xmlns:a16="http://schemas.microsoft.com/office/drawing/2014/main" id="{F2511350-D2E6-4EA1-BB4C-05C5C141EF6F}"/>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1A7FDBA1-A6D7-45ED-92AB-42AE2DA2B5B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40" b="1" i="0">
                <a:solidFill>
                  <a:srgbClr val="9E3A00"/>
                </a:solidFill>
                <a:latin typeface="Arial"/>
                <a:ea typeface="Arial"/>
                <a:cs typeface="Arial"/>
              </a:rPr>
              <a:t>Strong gene-level genetics</a:t>
            </a:r>
          </a:p>
        </p:txBody>
      </p:sp>
      <p:sp>
        <p:nvSpPr>
          <p:cNvPr id="12" name="Rounded Rectangle 11">
            <a:extLst>
              <a:ext uri="{FF2B5EF4-FFF2-40B4-BE49-F238E27FC236}">
                <a16:creationId xmlns:a16="http://schemas.microsoft.com/office/drawing/2014/main" id="{90BA8C6D-D78C-4A4B-926F-45B932056B8C}"/>
              </a:ext>
            </a:extLst>
          </p:cNvPr>
          <p:cNvSpPr>
            <a:spLocks noGrp="1"/>
          </p:cNvSpPr>
          <p:nvPr/>
        </p:nvSpPr>
        <p:spPr>
          <a:xfrm>
            <a:off x="65836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582B67C-C4D0-476D-AAD9-0A6339471D35}"/>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684D"/>
                </a:solidFill>
                <a:latin typeface="Arial"/>
                <a:ea typeface="Arial"/>
                <a:cs typeface="Arial"/>
              </a:rPr>
              <a:t>WHY PLCG2 MATTERS</a:t>
            </a:r>
          </a:p>
        </p:txBody>
      </p:sp>
      <p:sp>
        <p:nvSpPr>
          <p:cNvPr id="14" name="TextBox 13">
            <a:extLst>
              <a:ext uri="{FF2B5EF4-FFF2-40B4-BE49-F238E27FC236}">
                <a16:creationId xmlns:a16="http://schemas.microsoft.com/office/drawing/2014/main" id="{62DF46C9-2AF4-4AD2-B322-185265C6D62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Established AD genetics</a:t>
            </a:r>
          </a:p>
        </p:txBody>
      </p:sp>
      <p:sp>
        <p:nvSpPr>
          <p:cNvPr id="15" name="TextBox 14">
            <a:extLst>
              <a:ext uri="{FF2B5EF4-FFF2-40B4-BE49-F238E27FC236}">
                <a16:creationId xmlns:a16="http://schemas.microsoft.com/office/drawing/2014/main" id="{540053AF-2D35-47B4-8435-1E270D5963D2}"/>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Human variants make PLCG2 an important Alzheimer’s gene to study.</a:t>
            </a:r>
          </a:p>
        </p:txBody>
      </p:sp>
      <p:sp>
        <p:nvSpPr>
          <p:cNvPr id="16" name="Rounded Rectangle 15">
            <a:extLst>
              <a:ext uri="{FF2B5EF4-FFF2-40B4-BE49-F238E27FC236}">
                <a16:creationId xmlns:a16="http://schemas.microsoft.com/office/drawing/2014/main" id="{7693E574-1BAD-42F9-82B1-1CC8E1799847}"/>
              </a:ext>
            </a:extLst>
          </p:cNvPr>
          <p:cNvSpPr>
            <a:spLocks noGrp="1"/>
          </p:cNvSpPr>
          <p:nvPr/>
        </p:nvSpPr>
        <p:spPr>
          <a:xfrm>
            <a:off x="445312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2AFD2A8-3A62-41D3-9692-BF2E2DC69F39}"/>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72B2"/>
                </a:solidFill>
                <a:latin typeface="Arial"/>
                <a:ea typeface="Arial"/>
                <a:cs typeface="Arial"/>
              </a:rPr>
              <a:t>WHAT KDA FOUND</a:t>
            </a:r>
          </a:p>
        </p:txBody>
      </p:sp>
      <p:sp>
        <p:nvSpPr>
          <p:cNvPr id="18" name="TextBox 17">
            <a:extLst>
              <a:ext uri="{FF2B5EF4-FFF2-40B4-BE49-F238E27FC236}">
                <a16:creationId xmlns:a16="http://schemas.microsoft.com/office/drawing/2014/main" id="{10C01778-A627-4E41-A9AB-869A2A6C16D9}"/>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Six female inhibitory KDA calls</a:t>
            </a:r>
          </a:p>
        </p:txBody>
      </p:sp>
      <p:sp>
        <p:nvSpPr>
          <p:cNvPr id="19" name="TextBox 18">
            <a:extLst>
              <a:ext uri="{FF2B5EF4-FFF2-40B4-BE49-F238E27FC236}">
                <a16:creationId xmlns:a16="http://schemas.microsoft.com/office/drawing/2014/main" id="{4B8FBA5F-3B26-4920-A946-B02839B9D338}"/>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PLCG2 appears in ε2, ε3/ε3, and ε4 female groups.</a:t>
            </a:r>
          </a:p>
        </p:txBody>
      </p:sp>
      <p:sp>
        <p:nvSpPr>
          <p:cNvPr id="20" name="Rounded Rectangle 19">
            <a:extLst>
              <a:ext uri="{FF2B5EF4-FFF2-40B4-BE49-F238E27FC236}">
                <a16:creationId xmlns:a16="http://schemas.microsoft.com/office/drawing/2014/main" id="{DFBEE552-C268-4A09-BAA9-6528EA10624C}"/>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884ADC8-52AA-4F3E-8212-D7C0B8EC976D}"/>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9E3A00"/>
                </a:solidFill>
                <a:latin typeface="Arial"/>
                <a:ea typeface="Arial"/>
                <a:cs typeface="Arial"/>
              </a:rPr>
              <a:t>WHY THE NETWORK RESULT IS UNCERTAIN</a:t>
            </a:r>
          </a:p>
        </p:txBody>
      </p:sp>
      <p:sp>
        <p:nvSpPr>
          <p:cNvPr id="22" name="TextBox 21">
            <a:extLst>
              <a:ext uri="{FF2B5EF4-FFF2-40B4-BE49-F238E27FC236}">
                <a16:creationId xmlns:a16="http://schemas.microsoft.com/office/drawing/2014/main" id="{EAEBF9DD-7C2A-4F53-9FB5-5C4E8518AF8F}"/>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One repeatedly connected gene</a:t>
            </a:r>
          </a:p>
        </p:txBody>
      </p:sp>
      <p:sp>
        <p:nvSpPr>
          <p:cNvPr id="23" name="TextBox 22">
            <a:extLst>
              <a:ext uri="{FF2B5EF4-FFF2-40B4-BE49-F238E27FC236}">
                <a16:creationId xmlns:a16="http://schemas.microsoft.com/office/drawing/2014/main" id="{E6E52BAF-6385-43CF-8AB1-373935A78755}"/>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MT-CO1 is the only MitoCarta MT gene directly connected to PLCG2 across these KDA calls.</a:t>
            </a:r>
          </a:p>
        </p:txBody>
      </p:sp>
      <p:sp>
        <p:nvSpPr>
          <p:cNvPr id="24" name="Rounded Rectangle 23">
            <a:extLst>
              <a:ext uri="{FF2B5EF4-FFF2-40B4-BE49-F238E27FC236}">
                <a16:creationId xmlns:a16="http://schemas.microsoft.com/office/drawing/2014/main" id="{B931485C-64FB-4192-8190-7CD79DA1C4E7}"/>
              </a:ext>
            </a:extLst>
          </p:cNvPr>
          <p:cNvSpPr>
            <a:spLocks noGrp="1"/>
          </p:cNvSpPr>
          <p:nvPr/>
        </p:nvSpPr>
        <p:spPr>
          <a:xfrm>
            <a:off x="658368" y="6205669"/>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54F2E07-3DA0-4C85-B7F0-98E886449C05}"/>
              </a:ext>
            </a:extLst>
          </p:cNvPr>
          <p:cNvSpPr>
            <a:spLocks noGrp="1"/>
          </p:cNvSpPr>
          <p:nvPr/>
        </p:nvSpPr>
        <p:spPr>
          <a:xfrm>
            <a:off x="896112" y="6281432"/>
            <a:ext cx="10405872" cy="406265"/>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40" b="1" i="0">
                <a:solidFill>
                  <a:srgbClr val="7E4C9A"/>
                </a:solidFill>
                <a:latin typeface="Arial"/>
                <a:ea typeface="Arial"/>
                <a:cs typeface="Arial"/>
              </a:rPr>
              <a:t>Strong genetics supports PLCG2 as an AD gene</a:t>
            </a:r>
            <a:r>
              <a:rPr lang="en-US" sz="1140" b="1">
                <a:solidFill>
                  <a:srgbClr val="7E4C9A"/>
                </a:solidFill>
                <a:latin typeface="Arial"/>
                <a:ea typeface="Arial"/>
                <a:cs typeface="Arial"/>
              </a:rPr>
              <a:t>,</a:t>
            </a:r>
            <a:r>
              <a:rPr sz="1140" b="1" i="0">
                <a:solidFill>
                  <a:srgbClr val="7E4C9A"/>
                </a:solidFill>
                <a:latin typeface="Arial"/>
                <a:ea typeface="Arial"/>
                <a:cs typeface="Arial"/>
              </a:rPr>
              <a:t> but does not confirm this PLCG2–MT-CO1 connection in inhibitory neurons.</a:t>
            </a:r>
            <a:endParaRPr lang="en-US" sz="1140" b="1" i="0">
              <a:solidFill>
                <a:srgbClr val="7E4C9A"/>
              </a:solidFill>
              <a:latin typeface="Arial"/>
              <a:ea typeface="Arial"/>
              <a:cs typeface="Arial"/>
            </a:endParaRPr>
          </a:p>
          <a:p>
            <a:pPr algn="ctr">
              <a:lnSpc>
                <a:spcPct val="100000"/>
              </a:lnSpc>
              <a:spcBef>
                <a:spcPct val="0"/>
              </a:spcBef>
              <a:spcAft>
                <a:spcPct val="0"/>
              </a:spcAft>
              <a:buNone/>
            </a:pPr>
            <a:r>
              <a:rPr lang="en-US" sz="1140" b="1" i="0">
                <a:solidFill>
                  <a:srgbClr val="7E4C9A"/>
                </a:solidFill>
                <a:latin typeface="Arial"/>
                <a:ea typeface="Arial"/>
                <a:cs typeface="Arial"/>
              </a:rPr>
              <a:t>Genetic support is not sex/APOE specific.</a:t>
            </a:r>
            <a:endParaRPr sz="1140" b="1" i="0">
              <a:solidFill>
                <a:srgbClr val="7E4C9A"/>
              </a:solidFill>
              <a:latin typeface="Arial"/>
              <a:ea typeface="Arial"/>
              <a:cs typeface="Arial"/>
            </a:endParaRPr>
          </a:p>
        </p:txBody>
      </p:sp>
    </p:spTree>
    <p:extLst>
      <p:ext uri="{BB962C8B-B14F-4D97-AF65-F5344CB8AC3E}">
        <p14:creationId val="140466383"/>
      </p:ext>
    </p:extLst>
  </p:cSld>
  <p:clrMapOvr>
    <a:masterClrMapping/>
  </p:clrMapOvr>
  <p:transition/>
  <p:timing/>
</p:sld>
</file>

<file path=ppt/slides/slide13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1AEAB08A-21F4-40DC-84DC-1C44C9E09D58}"/>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ROSMAP: PLCG2 recurs across six KDA calls, but only MT-CO1 is directly connected</a:t>
            </a:r>
          </a:p>
        </p:txBody>
      </p:sp>
      <p:sp>
        <p:nvSpPr>
          <p:cNvPr id="4" name="Rounded Rectangle 3">
            <a:extLst>
              <a:ext uri="{FF2B5EF4-FFF2-40B4-BE49-F238E27FC236}">
                <a16:creationId xmlns:a16="http://schemas.microsoft.com/office/drawing/2014/main" id="{B0D59BDB-5D21-458F-8EE1-A6FFA6D98A62}"/>
              </a:ext>
            </a:extLst>
          </p:cNvPr>
          <p:cNvSpPr>
            <a:spLocks noGrp="1"/>
          </p:cNvSpPr>
          <p:nvPr/>
        </p:nvSpPr>
        <p:spPr>
          <a:xfrm>
            <a:off x="658368" y="163939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4D2DCB4-7B01-4D15-8937-3A28B0BBC964}"/>
              </a:ext>
            </a:extLst>
          </p:cNvPr>
          <p:cNvSpPr>
            <a:spLocks noGrp="1"/>
          </p:cNvSpPr>
          <p:nvPr/>
        </p:nvSpPr>
        <p:spPr>
          <a:xfrm>
            <a:off x="822959" y="1767405"/>
            <a:ext cx="3127248" cy="4846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800" b="1" i="0">
                <a:solidFill>
                  <a:srgbClr val="0072B2"/>
                </a:solidFill>
                <a:latin typeface="Arial"/>
                <a:ea typeface="Arial"/>
                <a:cs typeface="Arial"/>
              </a:rPr>
              <a:t>6</a:t>
            </a:r>
          </a:p>
        </p:txBody>
      </p:sp>
      <p:sp>
        <p:nvSpPr>
          <p:cNvPr id="6" name="TextBox 5">
            <a:extLst>
              <a:ext uri="{FF2B5EF4-FFF2-40B4-BE49-F238E27FC236}">
                <a16:creationId xmlns:a16="http://schemas.microsoft.com/office/drawing/2014/main" id="{2755BBAF-968F-4751-BA96-47E8F29801B7}"/>
              </a:ext>
            </a:extLst>
          </p:cNvPr>
          <p:cNvSpPr>
            <a:spLocks noGrp="1"/>
          </p:cNvSpPr>
          <p:nvPr/>
        </p:nvSpPr>
        <p:spPr>
          <a:xfrm>
            <a:off x="822959" y="2297758"/>
            <a:ext cx="3127248" cy="3108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19" b="1" i="0">
                <a:solidFill>
                  <a:srgbClr val="0F233D"/>
                </a:solidFill>
                <a:latin typeface="Arial"/>
                <a:ea typeface="Arial"/>
                <a:cs typeface="Arial"/>
              </a:rPr>
              <a:t>supporting inhibitory KDA calls</a:t>
            </a:r>
          </a:p>
        </p:txBody>
      </p:sp>
      <p:sp>
        <p:nvSpPr>
          <p:cNvPr id="7" name="TextBox 6">
            <a:extLst>
              <a:ext uri="{FF2B5EF4-FFF2-40B4-BE49-F238E27FC236}">
                <a16:creationId xmlns:a16="http://schemas.microsoft.com/office/drawing/2014/main" id="{6CB66C7D-7DEE-440A-98B9-AE2CF48947FC}"/>
              </a:ext>
            </a:extLst>
          </p:cNvPr>
          <p:cNvSpPr>
            <a:spLocks noGrp="1"/>
          </p:cNvSpPr>
          <p:nvPr/>
        </p:nvSpPr>
        <p:spPr>
          <a:xfrm>
            <a:off x="822959" y="2626942"/>
            <a:ext cx="3127248" cy="21945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880" b="0" i="0">
                <a:solidFill>
                  <a:srgbClr val="4E5A68"/>
                </a:solidFill>
                <a:latin typeface="Arial"/>
                <a:ea typeface="Arial"/>
                <a:cs typeface="Arial"/>
              </a:rPr>
              <a:t>all in female sex/APOE groups</a:t>
            </a:r>
          </a:p>
        </p:txBody>
      </p:sp>
      <p:sp>
        <p:nvSpPr>
          <p:cNvPr id="8" name="Rounded Rectangle 7">
            <a:extLst>
              <a:ext uri="{FF2B5EF4-FFF2-40B4-BE49-F238E27FC236}">
                <a16:creationId xmlns:a16="http://schemas.microsoft.com/office/drawing/2014/main" id="{67FD2B28-9644-4040-AB8C-97FAA7487221}"/>
              </a:ext>
            </a:extLst>
          </p:cNvPr>
          <p:cNvSpPr>
            <a:spLocks noGrp="1"/>
          </p:cNvSpPr>
          <p:nvPr/>
        </p:nvSpPr>
        <p:spPr>
          <a:xfrm>
            <a:off x="4453128" y="163939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CBDAFE1-E11A-4FED-B4D4-AB18A892C0D1}"/>
              </a:ext>
            </a:extLst>
          </p:cNvPr>
          <p:cNvSpPr>
            <a:spLocks noGrp="1"/>
          </p:cNvSpPr>
          <p:nvPr/>
        </p:nvSpPr>
        <p:spPr>
          <a:xfrm>
            <a:off x="4617720" y="1767405"/>
            <a:ext cx="3127248" cy="4846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800" b="1" i="0">
                <a:solidFill>
                  <a:srgbClr val="00684D"/>
                </a:solidFill>
                <a:latin typeface="Arial"/>
                <a:ea typeface="Arial"/>
                <a:cs typeface="Arial"/>
              </a:rPr>
              <a:t>1</a:t>
            </a:r>
          </a:p>
        </p:txBody>
      </p:sp>
      <p:sp>
        <p:nvSpPr>
          <p:cNvPr id="10" name="TextBox 9">
            <a:extLst>
              <a:ext uri="{FF2B5EF4-FFF2-40B4-BE49-F238E27FC236}">
                <a16:creationId xmlns:a16="http://schemas.microsoft.com/office/drawing/2014/main" id="{637DBB47-0857-4E64-A042-684D0606E8AC}"/>
              </a:ext>
            </a:extLst>
          </p:cNvPr>
          <p:cNvSpPr>
            <a:spLocks noGrp="1"/>
          </p:cNvSpPr>
          <p:nvPr/>
        </p:nvSpPr>
        <p:spPr>
          <a:xfrm>
            <a:off x="4617720" y="2297758"/>
            <a:ext cx="3127248" cy="3108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19" b="1" i="0">
                <a:solidFill>
                  <a:srgbClr val="0F233D"/>
                </a:solidFill>
                <a:latin typeface="Arial"/>
                <a:ea typeface="Arial"/>
                <a:cs typeface="Arial"/>
              </a:rPr>
              <a:t>unique directly connected MitoCarta MT gene</a:t>
            </a:r>
          </a:p>
        </p:txBody>
      </p:sp>
      <p:sp>
        <p:nvSpPr>
          <p:cNvPr id="11" name="TextBox 10">
            <a:extLst>
              <a:ext uri="{FF2B5EF4-FFF2-40B4-BE49-F238E27FC236}">
                <a16:creationId xmlns:a16="http://schemas.microsoft.com/office/drawing/2014/main" id="{AC32FC3E-DC02-43FA-81FE-0850DC422BEE}"/>
              </a:ext>
            </a:extLst>
          </p:cNvPr>
          <p:cNvSpPr>
            <a:spLocks noGrp="1"/>
          </p:cNvSpPr>
          <p:nvPr/>
        </p:nvSpPr>
        <p:spPr>
          <a:xfrm>
            <a:off x="4617720" y="2626942"/>
            <a:ext cx="3127248" cy="21945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880" b="0" i="0">
                <a:solidFill>
                  <a:srgbClr val="4E5A68"/>
                </a:solidFill>
                <a:latin typeface="Arial"/>
                <a:ea typeface="Arial"/>
                <a:cs typeface="Arial"/>
              </a:rPr>
              <a:t>MT-CO1</a:t>
            </a:r>
          </a:p>
        </p:txBody>
      </p:sp>
      <p:sp>
        <p:nvSpPr>
          <p:cNvPr id="12" name="Rounded Rectangle 11">
            <a:extLst>
              <a:ext uri="{FF2B5EF4-FFF2-40B4-BE49-F238E27FC236}">
                <a16:creationId xmlns:a16="http://schemas.microsoft.com/office/drawing/2014/main" id="{BF13CB20-1965-450E-885F-C37BDFC33F76}"/>
              </a:ext>
            </a:extLst>
          </p:cNvPr>
          <p:cNvSpPr>
            <a:spLocks noGrp="1"/>
          </p:cNvSpPr>
          <p:nvPr/>
        </p:nvSpPr>
        <p:spPr>
          <a:xfrm>
            <a:off x="8247888" y="163939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10C21AD-8A71-4266-A5E5-63D53E1BF9F3}"/>
              </a:ext>
            </a:extLst>
          </p:cNvPr>
          <p:cNvSpPr>
            <a:spLocks noGrp="1"/>
          </p:cNvSpPr>
          <p:nvPr/>
        </p:nvSpPr>
        <p:spPr>
          <a:xfrm>
            <a:off x="8412480" y="1767405"/>
            <a:ext cx="3127248" cy="4846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800" b="1" i="0">
                <a:solidFill>
                  <a:srgbClr val="895600"/>
                </a:solidFill>
                <a:latin typeface="Arial"/>
                <a:ea typeface="Arial"/>
                <a:cs typeface="Arial"/>
              </a:rPr>
              <a:t>0/6</a:t>
            </a:r>
          </a:p>
        </p:txBody>
      </p:sp>
      <p:sp>
        <p:nvSpPr>
          <p:cNvPr id="14" name="TextBox 13">
            <a:extLst>
              <a:ext uri="{FF2B5EF4-FFF2-40B4-BE49-F238E27FC236}">
                <a16:creationId xmlns:a16="http://schemas.microsoft.com/office/drawing/2014/main" id="{B7689B35-1D42-4D78-AD77-B81A9E11E1A5}"/>
              </a:ext>
            </a:extLst>
          </p:cNvPr>
          <p:cNvSpPr>
            <a:spLocks noGrp="1"/>
          </p:cNvSpPr>
          <p:nvPr/>
        </p:nvSpPr>
        <p:spPr>
          <a:xfrm>
            <a:off x="8412480" y="2297758"/>
            <a:ext cx="3127248" cy="3108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19" b="1" i="0">
                <a:solidFill>
                  <a:srgbClr val="0F233D"/>
                </a:solidFill>
                <a:latin typeface="Arial"/>
                <a:ea typeface="Arial"/>
                <a:cs typeface="Arial"/>
              </a:rPr>
              <a:t>PLCG2 met DEG criteria</a:t>
            </a:r>
          </a:p>
        </p:txBody>
      </p:sp>
      <p:sp>
        <p:nvSpPr>
          <p:cNvPr id="15" name="TextBox 14">
            <a:extLst>
              <a:ext uri="{FF2B5EF4-FFF2-40B4-BE49-F238E27FC236}">
                <a16:creationId xmlns:a16="http://schemas.microsoft.com/office/drawing/2014/main" id="{B348852C-CD76-4997-88B7-EF5C78BE9B1C}"/>
              </a:ext>
            </a:extLst>
          </p:cNvPr>
          <p:cNvSpPr>
            <a:spLocks noGrp="1"/>
          </p:cNvSpPr>
          <p:nvPr/>
        </p:nvSpPr>
        <p:spPr>
          <a:xfrm>
            <a:off x="8412480" y="2626942"/>
            <a:ext cx="3127248" cy="21945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880" b="0" i="0">
                <a:solidFill>
                  <a:srgbClr val="4E5A68"/>
                </a:solidFill>
                <a:latin typeface="Arial"/>
                <a:ea typeface="Arial"/>
                <a:cs typeface="Arial"/>
              </a:rPr>
              <a:t>PLCG2 returned by KDA only; not a DEG</a:t>
            </a:r>
          </a:p>
        </p:txBody>
      </p:sp>
      <p:sp>
        <p:nvSpPr>
          <p:cNvPr id="16" name="Rounded Rectangle 15">
            <a:extLst>
              <a:ext uri="{FF2B5EF4-FFF2-40B4-BE49-F238E27FC236}">
                <a16:creationId xmlns:a16="http://schemas.microsoft.com/office/drawing/2014/main" id="{7BE7666F-65B3-416B-AA25-3E43369A9BF4}"/>
              </a:ext>
            </a:extLst>
          </p:cNvPr>
          <p:cNvSpPr>
            <a:spLocks noGrp="1"/>
          </p:cNvSpPr>
          <p:nvPr/>
        </p:nvSpPr>
        <p:spPr>
          <a:xfrm>
            <a:off x="749808" y="323959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8D5D83A-A540-4951-B7AE-4AE211818B25}"/>
              </a:ext>
            </a:extLst>
          </p:cNvPr>
          <p:cNvSpPr>
            <a:spLocks noGrp="1"/>
          </p:cNvSpPr>
          <p:nvPr/>
        </p:nvSpPr>
        <p:spPr>
          <a:xfrm>
            <a:off x="987552" y="3404182"/>
            <a:ext cx="2331720" cy="29260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300" b="1" i="0">
                <a:solidFill>
                  <a:srgbClr val="0F233D"/>
                </a:solidFill>
                <a:latin typeface="Arial"/>
                <a:ea typeface="Arial"/>
                <a:cs typeface="Arial"/>
              </a:rPr>
              <a:t>Female ε2</a:t>
            </a:r>
          </a:p>
        </p:txBody>
      </p:sp>
      <p:sp>
        <p:nvSpPr>
          <p:cNvPr id="18" name="TextBox 17">
            <a:extLst>
              <a:ext uri="{FF2B5EF4-FFF2-40B4-BE49-F238E27FC236}">
                <a16:creationId xmlns:a16="http://schemas.microsoft.com/office/drawing/2014/main" id="{7F9B7E88-0219-4542-900F-66664AEAC494}"/>
              </a:ext>
            </a:extLst>
          </p:cNvPr>
          <p:cNvSpPr>
            <a:spLocks noGrp="1"/>
          </p:cNvSpPr>
          <p:nvPr/>
        </p:nvSpPr>
        <p:spPr>
          <a:xfrm>
            <a:off x="3419856" y="3358462"/>
            <a:ext cx="1975104" cy="36576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600" b="1" i="0">
                <a:solidFill>
                  <a:srgbClr val="0072B2"/>
                </a:solidFill>
                <a:latin typeface="Arial"/>
                <a:ea typeface="Arial"/>
                <a:cs typeface="Arial"/>
              </a:rPr>
              <a:t>1 KDA call</a:t>
            </a:r>
          </a:p>
        </p:txBody>
      </p:sp>
      <p:sp>
        <p:nvSpPr>
          <p:cNvPr id="19" name="TextBox 18">
            <a:extLst>
              <a:ext uri="{FF2B5EF4-FFF2-40B4-BE49-F238E27FC236}">
                <a16:creationId xmlns:a16="http://schemas.microsoft.com/office/drawing/2014/main" id="{52F1F161-1620-433E-84E8-165DF8FE30BC}"/>
              </a:ext>
            </a:extLst>
          </p:cNvPr>
          <p:cNvSpPr>
            <a:spLocks noGrp="1"/>
          </p:cNvSpPr>
          <p:nvPr/>
        </p:nvSpPr>
        <p:spPr>
          <a:xfrm>
            <a:off x="5596128" y="3358462"/>
            <a:ext cx="5468112" cy="438912"/>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150" b="0" i="0">
                <a:solidFill>
                  <a:srgbClr val="1F2730"/>
                </a:solidFill>
                <a:latin typeface="Arial"/>
                <a:ea typeface="Arial"/>
                <a:cs typeface="Arial"/>
              </a:rPr>
              <a:t>MT-CO1 is the directly connected mitochondrial gene</a:t>
            </a:r>
          </a:p>
        </p:txBody>
      </p:sp>
      <p:sp>
        <p:nvSpPr>
          <p:cNvPr id="20" name="Rounded Rectangle 19">
            <a:extLst>
              <a:ext uri="{FF2B5EF4-FFF2-40B4-BE49-F238E27FC236}">
                <a16:creationId xmlns:a16="http://schemas.microsoft.com/office/drawing/2014/main" id="{826A56B8-23C7-4F38-A631-CC68B533EFA3}"/>
              </a:ext>
            </a:extLst>
          </p:cNvPr>
          <p:cNvSpPr>
            <a:spLocks noGrp="1"/>
          </p:cNvSpPr>
          <p:nvPr/>
        </p:nvSpPr>
        <p:spPr>
          <a:xfrm>
            <a:off x="749808" y="419971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3BB00AC-49FA-4154-A137-C26A47EEE246}"/>
              </a:ext>
            </a:extLst>
          </p:cNvPr>
          <p:cNvSpPr>
            <a:spLocks noGrp="1"/>
          </p:cNvSpPr>
          <p:nvPr/>
        </p:nvSpPr>
        <p:spPr>
          <a:xfrm>
            <a:off x="987552" y="4364301"/>
            <a:ext cx="2331720" cy="29260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300" b="1" i="0">
                <a:solidFill>
                  <a:srgbClr val="0F233D"/>
                </a:solidFill>
                <a:latin typeface="Arial"/>
                <a:ea typeface="Arial"/>
                <a:cs typeface="Arial"/>
              </a:rPr>
              <a:t>Female ε3/ε3</a:t>
            </a:r>
          </a:p>
        </p:txBody>
      </p:sp>
      <p:sp>
        <p:nvSpPr>
          <p:cNvPr id="22" name="TextBox 21">
            <a:extLst>
              <a:ext uri="{FF2B5EF4-FFF2-40B4-BE49-F238E27FC236}">
                <a16:creationId xmlns:a16="http://schemas.microsoft.com/office/drawing/2014/main" id="{D3F4B366-363C-4DF3-9E1A-46E18955BB5F}"/>
              </a:ext>
            </a:extLst>
          </p:cNvPr>
          <p:cNvSpPr>
            <a:spLocks noGrp="1"/>
          </p:cNvSpPr>
          <p:nvPr/>
        </p:nvSpPr>
        <p:spPr>
          <a:xfrm>
            <a:off x="3419856" y="4318582"/>
            <a:ext cx="1975104" cy="36576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600" b="1" i="0">
                <a:solidFill>
                  <a:srgbClr val="0072B2"/>
                </a:solidFill>
                <a:latin typeface="Arial"/>
                <a:ea typeface="Arial"/>
                <a:cs typeface="Arial"/>
              </a:rPr>
              <a:t>4 KDA calls</a:t>
            </a:r>
          </a:p>
        </p:txBody>
      </p:sp>
      <p:sp>
        <p:nvSpPr>
          <p:cNvPr id="23" name="TextBox 22">
            <a:extLst>
              <a:ext uri="{FF2B5EF4-FFF2-40B4-BE49-F238E27FC236}">
                <a16:creationId xmlns:a16="http://schemas.microsoft.com/office/drawing/2014/main" id="{664C3C66-112F-4275-8763-AB8A07C0427F}"/>
              </a:ext>
            </a:extLst>
          </p:cNvPr>
          <p:cNvSpPr>
            <a:spLocks noGrp="1"/>
          </p:cNvSpPr>
          <p:nvPr/>
        </p:nvSpPr>
        <p:spPr>
          <a:xfrm>
            <a:off x="5596128" y="4318582"/>
            <a:ext cx="5468112" cy="438912"/>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150" b="0" i="0">
                <a:solidFill>
                  <a:srgbClr val="1F2730"/>
                </a:solidFill>
                <a:latin typeface="Arial"/>
                <a:ea typeface="Arial"/>
                <a:cs typeface="Arial"/>
              </a:rPr>
              <a:t>All four KDA calls directly connect PLCG2 with MT-CO1</a:t>
            </a:r>
          </a:p>
        </p:txBody>
      </p:sp>
      <p:sp>
        <p:nvSpPr>
          <p:cNvPr id="24" name="Rounded Rectangle 23">
            <a:extLst>
              <a:ext uri="{FF2B5EF4-FFF2-40B4-BE49-F238E27FC236}">
                <a16:creationId xmlns:a16="http://schemas.microsoft.com/office/drawing/2014/main" id="{0F3A0BBD-284A-4FF2-89B0-B5B197511974}"/>
              </a:ext>
            </a:extLst>
          </p:cNvPr>
          <p:cNvSpPr>
            <a:spLocks noGrp="1"/>
          </p:cNvSpPr>
          <p:nvPr/>
        </p:nvSpPr>
        <p:spPr>
          <a:xfrm>
            <a:off x="749808" y="515983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BD1D858-583B-4461-9856-361B336432C3}"/>
              </a:ext>
            </a:extLst>
          </p:cNvPr>
          <p:cNvSpPr>
            <a:spLocks noGrp="1"/>
          </p:cNvSpPr>
          <p:nvPr/>
        </p:nvSpPr>
        <p:spPr>
          <a:xfrm>
            <a:off x="987552" y="5324422"/>
            <a:ext cx="2331720" cy="29260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300" b="1" i="0">
                <a:solidFill>
                  <a:srgbClr val="0F233D"/>
                </a:solidFill>
                <a:latin typeface="Arial"/>
                <a:ea typeface="Arial"/>
                <a:cs typeface="Arial"/>
              </a:rPr>
              <a:t>Female ε4</a:t>
            </a:r>
          </a:p>
        </p:txBody>
      </p:sp>
      <p:sp>
        <p:nvSpPr>
          <p:cNvPr id="26" name="TextBox 25">
            <a:extLst>
              <a:ext uri="{FF2B5EF4-FFF2-40B4-BE49-F238E27FC236}">
                <a16:creationId xmlns:a16="http://schemas.microsoft.com/office/drawing/2014/main" id="{7432B381-69F1-45BC-80C4-4DF6211ABD2B}"/>
              </a:ext>
            </a:extLst>
          </p:cNvPr>
          <p:cNvSpPr>
            <a:spLocks noGrp="1"/>
          </p:cNvSpPr>
          <p:nvPr/>
        </p:nvSpPr>
        <p:spPr>
          <a:xfrm>
            <a:off x="3419856" y="5278702"/>
            <a:ext cx="1975104" cy="36576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600" b="1" i="0">
                <a:solidFill>
                  <a:srgbClr val="895600"/>
                </a:solidFill>
                <a:latin typeface="Arial"/>
                <a:ea typeface="Arial"/>
                <a:cs typeface="Arial"/>
              </a:rPr>
              <a:t>1 KDA call</a:t>
            </a:r>
          </a:p>
        </p:txBody>
      </p:sp>
      <p:sp>
        <p:nvSpPr>
          <p:cNvPr id="27" name="TextBox 26">
            <a:extLst>
              <a:ext uri="{FF2B5EF4-FFF2-40B4-BE49-F238E27FC236}">
                <a16:creationId xmlns:a16="http://schemas.microsoft.com/office/drawing/2014/main" id="{C13C57DF-789B-41DF-B6B9-E715042468D9}"/>
              </a:ext>
            </a:extLst>
          </p:cNvPr>
          <p:cNvSpPr>
            <a:spLocks noGrp="1"/>
          </p:cNvSpPr>
          <p:nvPr/>
        </p:nvSpPr>
        <p:spPr>
          <a:xfrm>
            <a:off x="5596128" y="5381972"/>
            <a:ext cx="5468112" cy="232371"/>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150" b="0" i="0">
                <a:solidFill>
                  <a:srgbClr val="1F2730"/>
                </a:solidFill>
                <a:latin typeface="Arial"/>
                <a:ea typeface="Arial"/>
                <a:cs typeface="Arial"/>
              </a:rPr>
              <a:t>MT-CO1 </a:t>
            </a:r>
            <a:r>
              <a:rPr lang="en-US" sz="1150" b="0" i="0">
                <a:solidFill>
                  <a:srgbClr val="1F2730"/>
                </a:solidFill>
                <a:latin typeface="Arial"/>
                <a:ea typeface="Arial"/>
                <a:cs typeface="Arial"/>
              </a:rPr>
              <a:t>was downregulated in AD</a:t>
            </a:r>
            <a:endParaRPr sz="1150" b="0" i="0">
              <a:solidFill>
                <a:srgbClr val="1F2730"/>
              </a:solidFill>
              <a:latin typeface="Arial"/>
              <a:ea typeface="Arial"/>
              <a:cs typeface="Arial"/>
            </a:endParaRPr>
          </a:p>
        </p:txBody>
      </p:sp>
      <p:sp>
        <p:nvSpPr>
          <p:cNvPr id="29" name="TextBox 2">
            <a:extLst>
              <a:ext uri="{FF2B5EF4-FFF2-40B4-BE49-F238E27FC236}">
                <a16:creationId xmlns:a16="http://schemas.microsoft.com/office/drawing/2014/main" id="{8C28442F-00ED-AD8D-4AE7-EE7F1A75B8CF}"/>
              </a:ext>
            </a:extLst>
          </p:cNvPr>
          <p:cNvSpPr>
            <a:spLocks noGrp="1"/>
          </p:cNvSpPr>
          <p:nvPr/>
        </p:nvSpPr>
        <p:spPr>
          <a:xfrm>
            <a:off x="548640" y="1082475"/>
            <a:ext cx="10927080" cy="270843"/>
          </a:xfrm>
          <a:prstGeom prst="rect">
            <a:avLst/>
          </a:prstGeom>
          <a:noFill/>
        </p:spPr>
        <p:txBody>
          <a:bodyPr wrap="square" lIns="27432" tIns="27432" rIns="27432" bIns="27432" anchor="t">
            <a:spAutoFit/>
          </a:bodyPr>
          <a:lstStyle/>
          <a:p>
            <a:r>
              <a:rPr sz="1400" b="1" i="0" err="1">
                <a:latin typeface="Arial" panose="020b0604020202020204" pitchFamily="34" charset="0"/>
                <a:ea typeface="Arial"/>
                <a:cs typeface="Arial" panose="020b0604020202020204" pitchFamily="34" charset="0"/>
              </a:rPr>
              <a:t>P</a:t>
            </a:r>
            <a:r>
              <a:rPr lang="en-US" sz="1400" b="1" err="1">
                <a:latin typeface="Arial" panose="020b0604020202020204" pitchFamily="34" charset="0"/>
                <a:cs typeface="Arial" panose="020b0604020202020204" pitchFamily="34" charset="0"/>
              </a:rPr>
              <a:t>Across six KDA calls: MT-CO1 was upregulated in five and downregulated in one.</a:t>
            </a:r>
          </a:p>
        </p:txBody>
      </p:sp>
    </p:spTree>
    <p:extLst>
      <p:ext uri="{BB962C8B-B14F-4D97-AF65-F5344CB8AC3E}">
        <p14:creationId val="2078655035"/>
      </p:ext>
    </p:extLst>
  </p:cSld>
  <p:clrMapOvr>
    <a:masterClrMapping/>
  </p:clrMapOvr>
  <p:transition/>
  <p:timing/>
</p:sld>
</file>

<file path=ppt/slides/slide14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6EDE1364-D7CA-4CF1-B2AE-EF408DFA2AFD}"/>
              </a:ext>
            </a:extLst>
          </p:cNvPr>
          <p:cNvSpPr>
            <a:spLocks noGrp="1"/>
          </p:cNvSpPr>
          <p:nvPr/>
        </p:nvSpPr>
        <p:spPr>
          <a:xfrm>
            <a:off x="530352" y="292608"/>
            <a:ext cx="11064240" cy="73250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lang="en-US" sz="2200" b="1" i="0">
                <a:solidFill>
                  <a:srgbClr val="0F233D"/>
                </a:solidFill>
                <a:latin typeface="Arial"/>
                <a:ea typeface="Arial"/>
                <a:cs typeface="Arial"/>
              </a:rPr>
              <a:t>Core MT genes are common in </a:t>
            </a:r>
            <a:r>
              <a:rPr lang="en-US" sz="2200" b="1">
                <a:solidFill>
                  <a:srgbClr val="0F233D"/>
                </a:solidFill>
                <a:latin typeface="Arial"/>
                <a:ea typeface="Arial"/>
                <a:cs typeface="Arial"/>
              </a:rPr>
              <a:t>t</a:t>
            </a:r>
            <a:r>
              <a:rPr sz="2200" b="1" i="0">
                <a:solidFill>
                  <a:srgbClr val="0F233D"/>
                </a:solidFill>
                <a:latin typeface="Arial"/>
                <a:ea typeface="Arial"/>
                <a:cs typeface="Arial"/>
              </a:rPr>
              <a:t>he KDA input</a:t>
            </a:r>
            <a:r>
              <a:rPr lang="en-US" sz="2200" b="1" i="0">
                <a:solidFill>
                  <a:srgbClr val="0F233D"/>
                </a:solidFill>
                <a:latin typeface="Arial"/>
                <a:ea typeface="Arial"/>
                <a:cs typeface="Arial"/>
              </a:rPr>
              <a:t>s, while </a:t>
            </a:r>
            <a:r>
              <a:rPr sz="2200" b="1" i="0">
                <a:solidFill>
                  <a:srgbClr val="0F233D"/>
                </a:solidFill>
                <a:latin typeface="Arial"/>
                <a:ea typeface="Arial"/>
                <a:cs typeface="Arial"/>
              </a:rPr>
              <a:t>PLCG2</a:t>
            </a:r>
            <a:r>
              <a:rPr lang="en-US" sz="2200" b="1" i="0">
                <a:solidFill>
                  <a:srgbClr val="0F233D"/>
                </a:solidFill>
                <a:latin typeface="Arial"/>
                <a:ea typeface="Arial"/>
                <a:cs typeface="Arial"/>
              </a:rPr>
              <a:t> connects directly only to </a:t>
            </a:r>
            <a:r>
              <a:rPr sz="2200" b="1" i="0">
                <a:solidFill>
                  <a:srgbClr val="0F233D"/>
                </a:solidFill>
                <a:latin typeface="Arial"/>
                <a:ea typeface="Arial"/>
                <a:cs typeface="Arial"/>
              </a:rPr>
              <a:t>MT-CO1</a:t>
            </a:r>
          </a:p>
        </p:txBody>
      </p:sp>
      <p:sp>
        <p:nvSpPr>
          <p:cNvPr id="3" name="TextBox 2">
            <a:extLst>
              <a:ext uri="{FF2B5EF4-FFF2-40B4-BE49-F238E27FC236}">
                <a16:creationId xmlns:a16="http://schemas.microsoft.com/office/drawing/2014/main" id="{9E63CBB6-266E-497C-ABE6-E48954301162}"/>
              </a:ext>
            </a:extLst>
          </p:cNvPr>
          <p:cNvSpPr>
            <a:spLocks noGrp="1"/>
          </p:cNvSpPr>
          <p:nvPr/>
        </p:nvSpPr>
        <p:spPr>
          <a:xfrm>
            <a:off x="548640" y="1099898"/>
            <a:ext cx="10927080" cy="270843"/>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00" b="1" i="0">
                <a:latin typeface="Arial"/>
                <a:ea typeface="Arial"/>
                <a:cs typeface="Arial"/>
              </a:rPr>
              <a:t>Enrichment in the full DEG input and direct connections to PLCG2 answer different questions.</a:t>
            </a:r>
          </a:p>
        </p:txBody>
      </p:sp>
      <p:sp>
        <p:nvSpPr>
          <p:cNvPr id="4" name="Rounded Rectangle 3">
            <a:extLst>
              <a:ext uri="{FF2B5EF4-FFF2-40B4-BE49-F238E27FC236}">
                <a16:creationId xmlns:a16="http://schemas.microsoft.com/office/drawing/2014/main" id="{E6EBD8D5-C6F5-4450-8909-B37FF7534469}"/>
              </a:ext>
            </a:extLst>
          </p:cNvPr>
          <p:cNvSpPr>
            <a:spLocks noGrp="1"/>
          </p:cNvSpPr>
          <p:nvPr/>
        </p:nvSpPr>
        <p:spPr>
          <a:xfrm>
            <a:off x="658368" y="1626763"/>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1347019-5245-4640-AF94-19E9A8BD164B}"/>
              </a:ext>
            </a:extLst>
          </p:cNvPr>
          <p:cNvSpPr>
            <a:spLocks noGrp="1"/>
          </p:cNvSpPr>
          <p:nvPr/>
        </p:nvSpPr>
        <p:spPr>
          <a:xfrm>
            <a:off x="932688" y="1919371"/>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72B2"/>
                </a:solidFill>
                <a:latin typeface="Arial"/>
                <a:ea typeface="Arial"/>
                <a:cs typeface="Arial"/>
              </a:rPr>
              <a:t>FULL KDA INPUT DEG SETS</a:t>
            </a:r>
          </a:p>
        </p:txBody>
      </p:sp>
      <p:sp>
        <p:nvSpPr>
          <p:cNvPr id="6" name="TextBox 5">
            <a:extLst>
              <a:ext uri="{FF2B5EF4-FFF2-40B4-BE49-F238E27FC236}">
                <a16:creationId xmlns:a16="http://schemas.microsoft.com/office/drawing/2014/main" id="{A73733C9-0E33-4D29-AB20-07CA04C488F9}"/>
              </a:ext>
            </a:extLst>
          </p:cNvPr>
          <p:cNvSpPr>
            <a:spLocks noGrp="1"/>
          </p:cNvSpPr>
          <p:nvPr/>
        </p:nvSpPr>
        <p:spPr>
          <a:xfrm>
            <a:off x="932688" y="2376571"/>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41 core MT DEG occurrences</a:t>
            </a:r>
          </a:p>
        </p:txBody>
      </p:sp>
      <p:sp>
        <p:nvSpPr>
          <p:cNvPr id="7" name="TextBox 6">
            <a:extLst>
              <a:ext uri="{FF2B5EF4-FFF2-40B4-BE49-F238E27FC236}">
                <a16:creationId xmlns:a16="http://schemas.microsoft.com/office/drawing/2014/main" id="{9C99F37D-6A64-4BB5-A356-E3A984932740}"/>
              </a:ext>
            </a:extLst>
          </p:cNvPr>
          <p:cNvSpPr>
            <a:spLocks noGrp="1"/>
          </p:cNvSpPr>
          <p:nvPr/>
        </p:nvSpPr>
        <p:spPr>
          <a:xfrm>
            <a:off x="969264" y="3382411"/>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Across the six KDA input DEG sets, core MT genes are upregulated in 36 occurrences and downregulated in five.</a:t>
            </a:r>
          </a:p>
        </p:txBody>
      </p:sp>
      <p:sp>
        <p:nvSpPr>
          <p:cNvPr id="8" name="Rounded Rectangle 7">
            <a:extLst>
              <a:ext uri="{FF2B5EF4-FFF2-40B4-BE49-F238E27FC236}">
                <a16:creationId xmlns:a16="http://schemas.microsoft.com/office/drawing/2014/main" id="{58CDD5B0-AB19-4D80-90C0-CD4344D7000E}"/>
              </a:ext>
            </a:extLst>
          </p:cNvPr>
          <p:cNvSpPr>
            <a:spLocks noGrp="1"/>
          </p:cNvSpPr>
          <p:nvPr/>
        </p:nvSpPr>
        <p:spPr>
          <a:xfrm>
            <a:off x="4453128" y="1626763"/>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CD33928-E298-4036-90FE-D66CA9054DD1}"/>
              </a:ext>
            </a:extLst>
          </p:cNvPr>
          <p:cNvSpPr>
            <a:spLocks noGrp="1"/>
          </p:cNvSpPr>
          <p:nvPr/>
        </p:nvSpPr>
        <p:spPr>
          <a:xfrm>
            <a:off x="4727448" y="1919371"/>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684D"/>
                </a:solidFill>
                <a:latin typeface="Arial"/>
                <a:ea typeface="Arial"/>
                <a:cs typeface="Arial"/>
              </a:rPr>
              <a:t>SIGNIFICANT CORE MT ENRICHMENT</a:t>
            </a:r>
          </a:p>
        </p:txBody>
      </p:sp>
      <p:sp>
        <p:nvSpPr>
          <p:cNvPr id="10" name="TextBox 9">
            <a:extLst>
              <a:ext uri="{FF2B5EF4-FFF2-40B4-BE49-F238E27FC236}">
                <a16:creationId xmlns:a16="http://schemas.microsoft.com/office/drawing/2014/main" id="{C487B9B2-2279-4D72-AFCC-2C7FA261D983}"/>
              </a:ext>
            </a:extLst>
          </p:cNvPr>
          <p:cNvSpPr>
            <a:spLocks noGrp="1"/>
          </p:cNvSpPr>
          <p:nvPr/>
        </p:nvSpPr>
        <p:spPr>
          <a:xfrm>
            <a:off x="4727448" y="2376571"/>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6 of 6 KDA calls</a:t>
            </a:r>
          </a:p>
        </p:txBody>
      </p:sp>
      <p:sp>
        <p:nvSpPr>
          <p:cNvPr id="11" name="TextBox 10">
            <a:extLst>
              <a:ext uri="{FF2B5EF4-FFF2-40B4-BE49-F238E27FC236}">
                <a16:creationId xmlns:a16="http://schemas.microsoft.com/office/drawing/2014/main" id="{FF9D7348-86D0-4A2F-8FBF-9FA163317FC0}"/>
              </a:ext>
            </a:extLst>
          </p:cNvPr>
          <p:cNvSpPr>
            <a:spLocks noGrp="1"/>
          </p:cNvSpPr>
          <p:nvPr/>
        </p:nvSpPr>
        <p:spPr>
          <a:xfrm>
            <a:off x="4764024" y="3382411"/>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All six KDA input DEG sets contain more core MT genes than expected by chance.</a:t>
            </a:r>
          </a:p>
        </p:txBody>
      </p:sp>
      <p:sp>
        <p:nvSpPr>
          <p:cNvPr id="12" name="Rounded Rectangle 11">
            <a:extLst>
              <a:ext uri="{FF2B5EF4-FFF2-40B4-BE49-F238E27FC236}">
                <a16:creationId xmlns:a16="http://schemas.microsoft.com/office/drawing/2014/main" id="{7D216FCD-28AC-4783-AA63-93B016EA6F97}"/>
              </a:ext>
            </a:extLst>
          </p:cNvPr>
          <p:cNvSpPr>
            <a:spLocks noGrp="1"/>
          </p:cNvSpPr>
          <p:nvPr/>
        </p:nvSpPr>
        <p:spPr>
          <a:xfrm>
            <a:off x="8247888" y="1626763"/>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09FDC78-DEB5-4DF3-973A-A4E3AE4ED526}"/>
              </a:ext>
            </a:extLst>
          </p:cNvPr>
          <p:cNvSpPr>
            <a:spLocks noGrp="1"/>
          </p:cNvSpPr>
          <p:nvPr/>
        </p:nvSpPr>
        <p:spPr>
          <a:xfrm>
            <a:off x="8522208" y="1919371"/>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19A186B2-77EF-4FDD-9F45-DA99A9E980CE}"/>
              </a:ext>
            </a:extLst>
          </p:cNvPr>
          <p:cNvSpPr>
            <a:spLocks noGrp="1"/>
          </p:cNvSpPr>
          <p:nvPr/>
        </p:nvSpPr>
        <p:spPr>
          <a:xfrm>
            <a:off x="8522208" y="2376571"/>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SEA-AD could not test this result</a:t>
            </a:r>
          </a:p>
        </p:txBody>
      </p:sp>
      <p:sp>
        <p:nvSpPr>
          <p:cNvPr id="15" name="TextBox 14">
            <a:extLst>
              <a:ext uri="{FF2B5EF4-FFF2-40B4-BE49-F238E27FC236}">
                <a16:creationId xmlns:a16="http://schemas.microsoft.com/office/drawing/2014/main" id="{454CA942-628E-477D-9881-8D337B0D5101}"/>
              </a:ext>
            </a:extLst>
          </p:cNvPr>
          <p:cNvSpPr>
            <a:spLocks noGrp="1"/>
          </p:cNvSpPr>
          <p:nvPr/>
        </p:nvSpPr>
        <p:spPr>
          <a:xfrm>
            <a:off x="8558784" y="3382411"/>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SEA-AD had no female inhibitory KDA category, so it could not test the same sex/APOE and cell context.</a:t>
            </a:r>
          </a:p>
        </p:txBody>
      </p:sp>
    </p:spTree>
    <p:extLst>
      <p:ext uri="{BB962C8B-B14F-4D97-AF65-F5344CB8AC3E}">
        <p14:creationId val="1415672655"/>
      </p:ext>
    </p:extLst>
  </p:cSld>
  <p:clrMapOvr>
    <a:masterClrMapping/>
  </p:clrMapOvr>
  <p:transition/>
  <p:timing/>
</p:sld>
</file>

<file path=ppt/slides/slide14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92CFA5DF-9BE5-4F46-94F7-35E07D62E40E}"/>
              </a:ext>
            </a:extLst>
          </p:cNvPr>
          <p:cNvSpPr>
            <a:spLocks noGrp="1"/>
          </p:cNvSpPr>
          <p:nvPr/>
        </p:nvSpPr>
        <p:spPr>
          <a:xfrm>
            <a:off x="530352" y="292608"/>
            <a:ext cx="11064240" cy="978729"/>
          </a:xfrm>
          <a:prstGeom prst="rect">
            <a:avLst/>
          </a:prstGeom>
          <a:noFill/>
        </p:spPr>
        <p:txBody>
          <a:bodyPr wrap="square" lIns="27432" tIns="27432" rIns="27432" bIns="27432" anchor="t">
            <a:spAutoFit/>
          </a:bodyPr>
          <a:lstStyle/>
          <a:p>
            <a:r>
              <a:rPr lang="en-US" sz="2000" b="1">
                <a:latin typeface="Arial" panose="020b0604020202020204" pitchFamily="34" charset="0"/>
                <a:cs typeface="Arial" panose="020b0604020202020204" pitchFamily="34" charset="0"/>
              </a:rPr>
              <a:t>PLCG2 genetics supports the gene, while its inhibitory-neuron MT-CO1 connection remains uncertain</a:t>
            </a:r>
            <a:endParaRPr lang="en-US" sz="2000">
              <a:latin typeface="Arial" panose="020b0604020202020204" pitchFamily="34" charset="0"/>
              <a:cs typeface="Arial" panose="020b0604020202020204" pitchFamily="34" charset="0"/>
            </a:endParaRPr>
          </a:p>
          <a:p>
            <a:pPr algn="l">
              <a:lnSpc>
                <a:spcPct val="100000"/>
              </a:lnSpc>
              <a:spcBef>
                <a:spcPct val="0"/>
              </a:spcBef>
              <a:spcAft>
                <a:spcPct val="0"/>
              </a:spcAft>
              <a:buNone/>
            </a:pPr>
            <a:endParaRPr sz="2000" b="1" i="0">
              <a:solidFill>
                <a:srgbClr val="0F233D"/>
              </a:solidFill>
              <a:latin typeface="Arial"/>
              <a:ea typeface="Arial"/>
              <a:cs typeface="Arial"/>
            </a:endParaRPr>
          </a:p>
        </p:txBody>
      </p:sp>
      <p:sp>
        <p:nvSpPr>
          <p:cNvPr id="3" name="TextBox 2">
            <a:extLst>
              <a:ext uri="{FF2B5EF4-FFF2-40B4-BE49-F238E27FC236}">
                <a16:creationId xmlns:a16="http://schemas.microsoft.com/office/drawing/2014/main" id="{8E4681D4-3C89-4D4C-B8FE-83320DC6AD79}"/>
              </a:ext>
            </a:extLst>
          </p:cNvPr>
          <p:cNvSpPr>
            <a:spLocks noGrp="1"/>
          </p:cNvSpPr>
          <p:nvPr/>
        </p:nvSpPr>
        <p:spPr>
          <a:xfrm>
            <a:off x="548640" y="1004100"/>
            <a:ext cx="10927080" cy="270843"/>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00" b="1" i="0">
                <a:latin typeface="Arial"/>
                <a:ea typeface="Arial"/>
                <a:cs typeface="Arial"/>
              </a:rPr>
              <a:t>A well-established AD gene can still have uncertain activity in a particular cell type or uncertain network connections.</a:t>
            </a:r>
          </a:p>
        </p:txBody>
      </p:sp>
      <p:sp>
        <p:nvSpPr>
          <p:cNvPr id="4" name="Rounded Rectangle 3">
            <a:extLst>
              <a:ext uri="{FF2B5EF4-FFF2-40B4-BE49-F238E27FC236}">
                <a16:creationId xmlns:a16="http://schemas.microsoft.com/office/drawing/2014/main" id="{CC389AAE-30B5-4CD6-85A0-6C200FA7AF4E}"/>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C3D0DB9-8948-44F9-9AF8-6AB61DCC8A1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684D"/>
                </a:solidFill>
                <a:latin typeface="Arial"/>
                <a:ea typeface="Arial"/>
                <a:cs typeface="Arial"/>
              </a:rPr>
              <a:t>GENETIC EVIDENCE</a:t>
            </a:r>
          </a:p>
        </p:txBody>
      </p:sp>
      <p:sp>
        <p:nvSpPr>
          <p:cNvPr id="6" name="TextBox 5">
            <a:extLst>
              <a:ext uri="{FF2B5EF4-FFF2-40B4-BE49-F238E27FC236}">
                <a16:creationId xmlns:a16="http://schemas.microsoft.com/office/drawing/2014/main" id="{A2C11D2D-BF74-4B47-AC1A-3FF8ADC0246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PLCG2 variants affect AD risk</a:t>
            </a:r>
          </a:p>
        </p:txBody>
      </p:sp>
      <p:sp>
        <p:nvSpPr>
          <p:cNvPr id="7" name="TextBox 6">
            <a:extLst>
              <a:ext uri="{FF2B5EF4-FFF2-40B4-BE49-F238E27FC236}">
                <a16:creationId xmlns:a16="http://schemas.microsoft.com/office/drawing/2014/main" id="{CCEB27C8-4B86-4AA3-AD17-CC8177BB0944}"/>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The protective P522R variant produces a small increase in PLCG2 activity.</a:t>
            </a:r>
          </a:p>
        </p:txBody>
      </p:sp>
      <p:sp>
        <p:nvSpPr>
          <p:cNvPr id="8" name="Rounded Rectangle 7">
            <a:extLst>
              <a:ext uri="{FF2B5EF4-FFF2-40B4-BE49-F238E27FC236}">
                <a16:creationId xmlns:a16="http://schemas.microsoft.com/office/drawing/2014/main" id="{3032B4B7-61D3-466B-9833-0956A0371120}"/>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EB79A6C-E23C-4871-AA83-E46FFF31B8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895600"/>
                </a:solidFill>
                <a:latin typeface="Arial"/>
                <a:ea typeface="Arial"/>
                <a:cs typeface="Arial"/>
              </a:rPr>
              <a:t>CELL-TYPE QUESTION</a:t>
            </a:r>
          </a:p>
        </p:txBody>
      </p:sp>
      <p:sp>
        <p:nvSpPr>
          <p:cNvPr id="10" name="TextBox 9">
            <a:extLst>
              <a:ext uri="{FF2B5EF4-FFF2-40B4-BE49-F238E27FC236}">
                <a16:creationId xmlns:a16="http://schemas.microsoft.com/office/drawing/2014/main" id="{A4029145-61A7-4103-A718-9BB28910410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Unexpected result in inhibitory neurons</a:t>
            </a:r>
          </a:p>
        </p:txBody>
      </p:sp>
      <p:sp>
        <p:nvSpPr>
          <p:cNvPr id="11" name="TextBox 10">
            <a:extLst>
              <a:ext uri="{FF2B5EF4-FFF2-40B4-BE49-F238E27FC236}">
                <a16:creationId xmlns:a16="http://schemas.microsoft.com/office/drawing/2014/main" id="{00E7B8D1-27EB-4039-96AA-AB103412252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PLCG2 has historically received more attention in microglia and dentate granule cells.</a:t>
            </a:r>
          </a:p>
        </p:txBody>
      </p:sp>
      <p:sp>
        <p:nvSpPr>
          <p:cNvPr id="12" name="Rounded Rectangle 11">
            <a:extLst>
              <a:ext uri="{FF2B5EF4-FFF2-40B4-BE49-F238E27FC236}">
                <a16:creationId xmlns:a16="http://schemas.microsoft.com/office/drawing/2014/main" id="{694FC633-9AB1-416E-AB0D-C64EF1E10A69}"/>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B4695FC-7E5D-4628-A40B-8CDAE00EE405}"/>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9E3A00"/>
                </a:solidFill>
                <a:latin typeface="Arial"/>
                <a:ea typeface="Arial"/>
                <a:cs typeface="Arial"/>
              </a:rPr>
              <a:t>NETWORK CONNECTION QUESTION</a:t>
            </a:r>
          </a:p>
        </p:txBody>
      </p:sp>
      <p:sp>
        <p:nvSpPr>
          <p:cNvPr id="14" name="TextBox 13">
            <a:extLst>
              <a:ext uri="{FF2B5EF4-FFF2-40B4-BE49-F238E27FC236}">
                <a16:creationId xmlns:a16="http://schemas.microsoft.com/office/drawing/2014/main" id="{C84FA76D-D420-49BA-8331-0B207A23336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The PLCG2–MT-CO1 connection may be unstable</a:t>
            </a:r>
          </a:p>
        </p:txBody>
      </p:sp>
      <p:sp>
        <p:nvSpPr>
          <p:cNvPr id="15" name="TextBox 14">
            <a:extLst>
              <a:ext uri="{FF2B5EF4-FFF2-40B4-BE49-F238E27FC236}">
                <a16:creationId xmlns:a16="http://schemas.microsoft.com/office/drawing/2014/main" id="{4077158F-19BE-4C8C-8EF7-D30F5379B364}"/>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RNA from nearby cells, droplets containing more than one cell, cell-label errors, or network structure could create the repeated connection.</a:t>
            </a:r>
          </a:p>
        </p:txBody>
      </p:sp>
      <p:sp>
        <p:nvSpPr>
          <p:cNvPr id="16" name="Rounded Rectangle 15">
            <a:extLst>
              <a:ext uri="{FF2B5EF4-FFF2-40B4-BE49-F238E27FC236}">
                <a16:creationId xmlns:a16="http://schemas.microsoft.com/office/drawing/2014/main" id="{E8F3ECFB-24B9-44D4-A828-458BFB092CDF}"/>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B5431DE-D4B3-4E96-8789-721CAF751565}"/>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7D088FFC-4965-4BFB-B4BB-74D4D1B7833D}"/>
              </a:ext>
            </a:extLst>
          </p:cNvPr>
          <p:cNvSpPr>
            <a:spLocks noGrp="1"/>
          </p:cNvSpPr>
          <p:nvPr/>
        </p:nvSpPr>
        <p:spPr>
          <a:xfrm>
            <a:off x="2788920" y="5861304"/>
            <a:ext cx="8321040" cy="39624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20" b="1" i="0">
                <a:solidFill>
                  <a:srgbClr val="1F2730"/>
                </a:solidFill>
                <a:latin typeface="Arial"/>
                <a:ea typeface="Arial"/>
                <a:cs typeface="Arial"/>
              </a:rPr>
              <a:t>PLCG2 remains worth testing, but first we should verify that inhibitory neurons express PLCG2 and that the PLCG2–MT-CO1 connection is reproducible.</a:t>
            </a:r>
          </a:p>
        </p:txBody>
      </p:sp>
    </p:spTree>
    <p:extLst>
      <p:ext uri="{BB962C8B-B14F-4D97-AF65-F5344CB8AC3E}">
        <p14:creationId val="851008826"/>
      </p:ext>
    </p:extLst>
  </p:cSld>
  <p:clrMapOvr>
    <a:masterClrMapping/>
  </p:clrMapOvr>
  <p:transition/>
  <p:timing/>
</p:sld>
</file>

<file path=ppt/slides/slide14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41C631C8-2EDF-46B0-8AF1-CCF8CEA2CF2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How prior research supports and limits Finding 14</a:t>
            </a:r>
          </a:p>
        </p:txBody>
      </p:sp>
      <p:sp>
        <p:nvSpPr>
          <p:cNvPr id="3" name="TextBox 2">
            <a:extLst>
              <a:ext uri="{FF2B5EF4-FFF2-40B4-BE49-F238E27FC236}">
                <a16:creationId xmlns:a16="http://schemas.microsoft.com/office/drawing/2014/main" id="{77127680-C722-445E-B41F-60BFF2DD028C}"/>
              </a:ext>
            </a:extLst>
          </p:cNvPr>
          <p:cNvSpPr>
            <a:spLocks noGrp="1"/>
          </p:cNvSpPr>
          <p:nvPr/>
        </p:nvSpPr>
        <p:spPr>
          <a:xfrm>
            <a:off x="548640" y="899594"/>
            <a:ext cx="10927080" cy="270843"/>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00" b="1" i="0">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664907A1-2207-45BA-A984-59615E6C39EB}"/>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78AA1AF-2CAD-4886-8DD5-14A443471E4A}"/>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500" b="1" i="0">
                <a:solidFill>
                  <a:srgbClr val="0072B2"/>
                </a:solidFill>
                <a:latin typeface="Arial"/>
                <a:ea typeface="Arial"/>
                <a:cs typeface="Arial"/>
              </a:rPr>
              <a:t>Phase 19b genetic screen</a:t>
            </a:r>
          </a:p>
        </p:txBody>
      </p:sp>
      <p:sp>
        <p:nvSpPr>
          <p:cNvPr id="6" name="TextBox 5">
            <a:extLst>
              <a:ext uri="{FF2B5EF4-FFF2-40B4-BE49-F238E27FC236}">
                <a16:creationId xmlns:a16="http://schemas.microsoft.com/office/drawing/2014/main" id="{16F7CB15-6864-4BA6-A771-9D6E37506E9D}"/>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350" b="1" i="0">
                <a:solidFill>
                  <a:srgbClr val="0F233D"/>
                </a:solidFill>
                <a:latin typeface="Arial"/>
                <a:ea typeface="Arial"/>
                <a:cs typeface="Arial"/>
              </a:rPr>
              <a:t>Human gene-level support</a:t>
            </a:r>
          </a:p>
        </p:txBody>
      </p:sp>
      <p:sp>
        <p:nvSpPr>
          <p:cNvPr id="7" name="TextBox 6">
            <a:extLst>
              <a:ext uri="{FF2B5EF4-FFF2-40B4-BE49-F238E27FC236}">
                <a16:creationId xmlns:a16="http://schemas.microsoft.com/office/drawing/2014/main" id="{117E638B-49DC-4CC6-9C75-A0299E66923F}"/>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51EA66D2-00A0-4D7B-8ADD-C25CAD44987A}"/>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80" b="0" i="0">
                <a:solidFill>
                  <a:srgbClr val="1F2730"/>
                </a:solidFill>
                <a:latin typeface="Arial"/>
                <a:ea typeface="Arial"/>
                <a:cs typeface="Arial"/>
              </a:rPr>
              <a:t>Provides strong local Alzheimer’s support for PLCG2.</a:t>
            </a:r>
          </a:p>
        </p:txBody>
      </p:sp>
      <p:sp>
        <p:nvSpPr>
          <p:cNvPr id="9" name="TextBox 8">
            <a:extLst>
              <a:ext uri="{FF2B5EF4-FFF2-40B4-BE49-F238E27FC236}">
                <a16:creationId xmlns:a16="http://schemas.microsoft.com/office/drawing/2014/main" id="{6D610A15-B29E-477B-BCA8-3A8E452ECA2A}"/>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3C9F7CD-E8B8-46FA-A7E6-1C0EF03C4D47}"/>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60" b="0" i="0">
                <a:solidFill>
                  <a:srgbClr val="4E5A68"/>
                </a:solidFill>
                <a:latin typeface="Arial"/>
                <a:ea typeface="Arial"/>
                <a:cs typeface="Arial"/>
              </a:rPr>
              <a:t>Gene-level support does not validate cell context or network edges.</a:t>
            </a:r>
          </a:p>
        </p:txBody>
      </p:sp>
      <p:sp>
        <p:nvSpPr>
          <p:cNvPr id="11" name="Rounded Rectangle 10">
            <a:extLst>
              <a:ext uri="{FF2B5EF4-FFF2-40B4-BE49-F238E27FC236}">
                <a16:creationId xmlns:a16="http://schemas.microsoft.com/office/drawing/2014/main" id="{6C5F8BD3-7B4B-4DCB-8BC6-A6DC2006561A}"/>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FD8CF9C-F2C4-4DEE-A65E-901036E185CE}"/>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500" b="1" i="0">
                <a:solidFill>
                  <a:srgbClr val="00684D"/>
                </a:solidFill>
                <a:latin typeface="Arial"/>
                <a:ea typeface="Arial"/>
                <a:cs typeface="Arial"/>
              </a:rPr>
              <a:t>PLCG2 P522R study 2019</a:t>
            </a:r>
          </a:p>
        </p:txBody>
      </p:sp>
      <p:sp>
        <p:nvSpPr>
          <p:cNvPr id="13" name="TextBox 12">
            <a:extLst>
              <a:ext uri="{FF2B5EF4-FFF2-40B4-BE49-F238E27FC236}">
                <a16:creationId xmlns:a16="http://schemas.microsoft.com/office/drawing/2014/main" id="{CE7A865B-2AF4-4D9F-B0BE-358713BB370F}"/>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350" b="1" i="0">
                <a:solidFill>
                  <a:srgbClr val="0F233D"/>
                </a:solidFill>
                <a:latin typeface="Arial"/>
                <a:ea typeface="Arial"/>
                <a:cs typeface="Arial"/>
              </a:rPr>
              <a:t>Protective variant with a small activity increase</a:t>
            </a:r>
          </a:p>
        </p:txBody>
      </p:sp>
      <p:sp>
        <p:nvSpPr>
          <p:cNvPr id="14" name="TextBox 13">
            <a:extLst>
              <a:ext uri="{FF2B5EF4-FFF2-40B4-BE49-F238E27FC236}">
                <a16:creationId xmlns:a16="http://schemas.microsoft.com/office/drawing/2014/main" id="{E20C52E4-96D0-4718-A639-D29FA6607D5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E0111B5-56EC-46DC-B12B-9AD05E5DFDA6}"/>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80" b="0" i="0">
                <a:solidFill>
                  <a:srgbClr val="1F2730"/>
                </a:solidFill>
                <a:latin typeface="Arial"/>
                <a:ea typeface="Arial"/>
                <a:cs typeface="Arial"/>
              </a:rPr>
              <a:t>Shows that the protective variant slightly increases a PLCG2 function.</a:t>
            </a:r>
          </a:p>
        </p:txBody>
      </p:sp>
      <p:sp>
        <p:nvSpPr>
          <p:cNvPr id="16" name="TextBox 15">
            <a:extLst>
              <a:ext uri="{FF2B5EF4-FFF2-40B4-BE49-F238E27FC236}">
                <a16:creationId xmlns:a16="http://schemas.microsoft.com/office/drawing/2014/main" id="{E32E7CA4-28FA-4DEA-81B5-709C26725135}"/>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230F760-D54C-42AC-A71B-1A78BE69E220}"/>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60" b="0" i="0">
                <a:solidFill>
                  <a:srgbClr val="4E5A68"/>
                </a:solidFill>
                <a:latin typeface="Arial"/>
                <a:ea typeface="Arial"/>
                <a:cs typeface="Arial"/>
              </a:rPr>
              <a:t>Variant biology does not establish the MT-CO1 relationship.</a:t>
            </a:r>
          </a:p>
        </p:txBody>
      </p:sp>
      <p:sp>
        <p:nvSpPr>
          <p:cNvPr id="18" name="Rounded Rectangle 17">
            <a:extLst>
              <a:ext uri="{FF2B5EF4-FFF2-40B4-BE49-F238E27FC236}">
                <a16:creationId xmlns:a16="http://schemas.microsoft.com/office/drawing/2014/main" id="{CD4DADFC-4659-4311-BBE7-E68B8E8F4029}"/>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CBE2566-BCF2-48CE-B018-6E90E35EC359}"/>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500" b="1" i="0">
                <a:solidFill>
                  <a:srgbClr val="895600"/>
                </a:solidFill>
                <a:latin typeface="Arial"/>
                <a:ea typeface="Arial"/>
                <a:cs typeface="Arial"/>
              </a:rPr>
              <a:t>Nature Genetics 2026</a:t>
            </a:r>
          </a:p>
        </p:txBody>
      </p:sp>
      <p:sp>
        <p:nvSpPr>
          <p:cNvPr id="20" name="TextBox 19">
            <a:extLst>
              <a:ext uri="{FF2B5EF4-FFF2-40B4-BE49-F238E27FC236}">
                <a16:creationId xmlns:a16="http://schemas.microsoft.com/office/drawing/2014/main" id="{EC258E68-6FAF-4CF7-95B2-0E762C7E816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350" b="1" i="0">
                <a:solidFill>
                  <a:srgbClr val="0F233D"/>
                </a:solidFill>
                <a:latin typeface="Arial"/>
                <a:ea typeface="Arial"/>
                <a:cs typeface="Arial"/>
              </a:rPr>
              <a:t>Neuron-intrinsic PLCG2</a:t>
            </a:r>
          </a:p>
        </p:txBody>
      </p:sp>
      <p:sp>
        <p:nvSpPr>
          <p:cNvPr id="21" name="TextBox 20">
            <a:extLst>
              <a:ext uri="{FF2B5EF4-FFF2-40B4-BE49-F238E27FC236}">
                <a16:creationId xmlns:a16="http://schemas.microsoft.com/office/drawing/2014/main" id="{063E57AE-A5DC-4E29-9318-AA92F7B5A0C9}"/>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1BCAC311-89A2-4FEA-8508-A815E65C476B}"/>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80" b="0" i="0">
                <a:solidFill>
                  <a:srgbClr val="1F2730"/>
                </a:solidFill>
                <a:latin typeface="Arial"/>
                <a:ea typeface="Arial"/>
                <a:cs typeface="Arial"/>
              </a:rPr>
              <a:t>Reports neuronal PLCG2 effects on synapses, Aβ, and tau.</a:t>
            </a:r>
          </a:p>
        </p:txBody>
      </p:sp>
      <p:sp>
        <p:nvSpPr>
          <p:cNvPr id="23" name="TextBox 22">
            <a:extLst>
              <a:ext uri="{FF2B5EF4-FFF2-40B4-BE49-F238E27FC236}">
                <a16:creationId xmlns:a16="http://schemas.microsoft.com/office/drawing/2014/main" id="{5A2F7B27-A175-45BF-9382-456EE13E2A6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3E4D5A57-793B-4838-BC0B-1CB691D59EEE}"/>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60" b="0" i="0">
                <a:solidFill>
                  <a:srgbClr val="4E5A68"/>
                </a:solidFill>
                <a:latin typeface="Arial"/>
                <a:ea typeface="Arial"/>
                <a:cs typeface="Arial"/>
              </a:rPr>
              <a:t>Does not confirm that PLCG2 regulates MT-CO1.</a:t>
            </a:r>
          </a:p>
        </p:txBody>
      </p:sp>
      <p:sp>
        <p:nvSpPr>
          <p:cNvPr id="25" name="Rounded Rectangle 24">
            <a:extLst>
              <a:ext uri="{FF2B5EF4-FFF2-40B4-BE49-F238E27FC236}">
                <a16:creationId xmlns:a16="http://schemas.microsoft.com/office/drawing/2014/main" id="{5D350C6C-64CF-487B-8E13-FFDA91D5B740}"/>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27A34C37-51D8-4B08-BBFF-7B9D5FDC0B38}"/>
              </a:ext>
            </a:extLst>
          </p:cNvPr>
          <p:cNvSpPr>
            <a:spLocks noGrp="1"/>
          </p:cNvSpPr>
          <p:nvPr/>
        </p:nvSpPr>
        <p:spPr>
          <a:xfrm>
            <a:off x="896112" y="5952744"/>
            <a:ext cx="10405872" cy="221599"/>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lang="en-US" sz="1080" b="1" i="0">
                <a:solidFill>
                  <a:srgbClr val="7E4C9A"/>
                </a:solidFill>
                <a:latin typeface="Arial"/>
                <a:ea typeface="Arial"/>
                <a:cs typeface="Arial"/>
              </a:rPr>
              <a:t>Novelty</a:t>
            </a:r>
            <a:r>
              <a:rPr sz="1080" b="1" i="0">
                <a:solidFill>
                  <a:srgbClr val="7E4C9A"/>
                </a:solidFill>
                <a:latin typeface="Arial"/>
                <a:ea typeface="Arial"/>
                <a:cs typeface="Arial"/>
              </a:rPr>
              <a:t>: High</a:t>
            </a:r>
          </a:p>
        </p:txBody>
      </p:sp>
    </p:spTree>
    <p:extLst>
      <p:ext uri="{BB962C8B-B14F-4D97-AF65-F5344CB8AC3E}">
        <p14:creationId val="1707979883"/>
      </p:ext>
    </p:extLst>
  </p:cSld>
  <p:clrMapOvr>
    <a:masterClrMapping/>
  </p:clrMapOvr>
  <p:transition/>
  <p:timing/>
</p:sld>
</file>

<file path=ppt/slides/slide14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0F233D"/>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437E3CB1-5775-438D-9DA1-49CAC992F6B6}"/>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050" b="1" i="0">
                <a:solidFill>
                  <a:srgbClr val="E69F00"/>
                </a:solidFill>
                <a:latin typeface="Arial"/>
                <a:ea typeface="Arial"/>
                <a:cs typeface="Arial"/>
              </a:rPr>
              <a:t>FINDING 15</a:t>
            </a:r>
          </a:p>
        </p:txBody>
      </p:sp>
      <p:sp>
        <p:nvSpPr>
          <p:cNvPr id="3" name="Rectangle 2">
            <a:extLst>
              <a:ext uri="{FF2B5EF4-FFF2-40B4-BE49-F238E27FC236}">
                <a16:creationId xmlns:a16="http://schemas.microsoft.com/office/drawing/2014/main" id="{92C43A80-2136-442C-B384-C35B1CB1B359}"/>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B600C980-BD9D-4BF8-8952-22A53D4AC471}"/>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2200" b="1" i="0">
                <a:solidFill>
                  <a:srgbClr val="FFFFFF"/>
                </a:solidFill>
                <a:latin typeface="Arial"/>
                <a:ea typeface="Arial"/>
                <a:cs typeface="Arial"/>
              </a:rPr>
              <a:t>Astrocyte APOE results differ by sex/APOE group and are not specific to ε4</a:t>
            </a:r>
          </a:p>
        </p:txBody>
      </p:sp>
      <p:sp>
        <p:nvSpPr>
          <p:cNvPr id="5" name="TextBox 4">
            <a:extLst>
              <a:ext uri="{FF2B5EF4-FFF2-40B4-BE49-F238E27FC236}">
                <a16:creationId xmlns:a16="http://schemas.microsoft.com/office/drawing/2014/main" id="{D9227460-C166-42D2-8252-5AEC381D73D7}"/>
              </a:ext>
            </a:extLst>
          </p:cNvPr>
          <p:cNvSpPr>
            <a:spLocks noGrp="1"/>
          </p:cNvSpPr>
          <p:nvPr/>
        </p:nvSpPr>
        <p:spPr>
          <a:xfrm>
            <a:off x="1097280" y="2468880"/>
            <a:ext cx="7406640" cy="914400"/>
          </a:xfrm>
          <a:prstGeom prst="rect">
            <a:avLst/>
          </a:prstGeom>
          <a:noFill/>
        </p:spPr>
        <p:txBody>
          <a:bodyPr wrap="square" lIns="0" tIns="0" rIns="0" bIns="0" anchor="t">
            <a:normAutofit/>
          </a:bodyPr>
          <a:lstStyle/>
          <a:p>
            <a:pPr algn="l">
              <a:lnSpc>
                <a:spcPct val="100000"/>
              </a:lnSpc>
              <a:spcBef>
                <a:spcPct val="0"/>
              </a:spcBef>
              <a:spcAft>
                <a:spcPct val="0"/>
              </a:spcAft>
              <a:buNone/>
              <a:defRPr sz="1350" b="1">
                <a:solidFill>
                  <a:srgbClr val="E6A700"/>
                </a:solidFill>
                <a:latin typeface="Arial"/>
                <a:ea typeface="Arial"/>
                <a:cs typeface="Arial"/>
              </a:defRPr>
            </a:pPr>
            <a:r>
              <a:rPr sz="1350" b="1" i="0">
                <a:solidFill>
                  <a:srgbClr val="E6A700"/>
                </a:solidFill>
                <a:latin typeface="Arial"/>
                <a:ea typeface="Arial"/>
                <a:cs typeface="Arial"/>
              </a:rPr>
              <a:t>Observed in: female ε2, male ε2, and male ε4</a:t>
            </a:r>
          </a:p>
        </p:txBody>
      </p:sp>
      <p:sp>
        <p:nvSpPr>
          <p:cNvPr id="6" name="Rounded Rectangle 5">
            <a:extLst>
              <a:ext uri="{FF2B5EF4-FFF2-40B4-BE49-F238E27FC236}">
                <a16:creationId xmlns:a16="http://schemas.microsoft.com/office/drawing/2014/main" id="{63A64C98-D3C6-4584-B347-47B63E386EE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23FB803D-05FE-4881-9E4A-E8ABBC59A62A}"/>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521AF801-B4B7-4207-A11B-476DF2A29DB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58E3DBA-D04D-4726-BCE3-6B2DC58D21CF}"/>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A27A970D-8949-4225-88C7-1642F5C06F86}"/>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1F84447D-D66D-4F11-A0D0-72AEA39AD2B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4BEA45-7C29-4617-B503-C0D1286DF475}"/>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948F1B9-A97F-475B-9FF3-61F5B1CFCBDC}"/>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5E35E94-21F7-44CB-A341-3251C3E16D8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E1B840A5-8348-4B5D-9835-0D4E6B17F936}"/>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D056DB8-6E32-4682-9E21-BB6F5CF80FB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5E0845AE-340A-450E-B185-1DF3905E513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01DC2A4-409E-4A41-9E48-12F29BB5EA0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0A28C22-AE2B-4D16-A08C-9EAF4D1EA02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4E807728-37B0-453E-AA4F-D0058207C394}"/>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4CAB60B-36D0-40BC-BDAF-D91627809850}"/>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20" b="1" i="0">
                <a:solidFill>
                  <a:srgbClr val="FFFFFF"/>
                </a:solidFill>
                <a:latin typeface="Arial"/>
                <a:ea typeface="Arial"/>
                <a:cs typeface="Arial"/>
              </a:rPr>
              <a:t>APOE is returned in three astrocyte groups with opposite expression directions and different connected mitochondrial genes.</a:t>
            </a:r>
          </a:p>
        </p:txBody>
      </p:sp>
    </p:spTree>
    <p:extLst>
      <p:ext uri="{BB962C8B-B14F-4D97-AF65-F5344CB8AC3E}">
        <p14:creationId val="610186053"/>
      </p:ext>
    </p:extLst>
  </p:cSld>
  <p:clrMapOvr>
    <a:masterClrMapping/>
  </p:clrMapOvr>
  <p:transition/>
  <p:timing/>
</p:sld>
</file>

<file path=ppt/slides/slide14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6A7BDBBD-F2E8-4E21-A986-B4C42B049672}"/>
              </a:ext>
            </a:extLst>
          </p:cNvPr>
          <p:cNvSpPr>
            <a:spLocks noGrp="1"/>
          </p:cNvSpPr>
          <p:nvPr/>
        </p:nvSpPr>
        <p:spPr>
          <a:xfrm>
            <a:off x="530352" y="292608"/>
            <a:ext cx="11064240" cy="39395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Astrocyte APOE </a:t>
            </a:r>
            <a:r>
              <a:rPr lang="en-US" sz="2200" b="1" i="0">
                <a:solidFill>
                  <a:srgbClr val="0F233D"/>
                </a:solidFill>
                <a:latin typeface="Arial"/>
                <a:ea typeface="Arial"/>
                <a:cs typeface="Arial"/>
              </a:rPr>
              <a:t>DEG </a:t>
            </a:r>
            <a:r>
              <a:rPr sz="2200" b="1" i="0">
                <a:solidFill>
                  <a:srgbClr val="0F233D"/>
                </a:solidFill>
                <a:latin typeface="Arial"/>
                <a:ea typeface="Arial"/>
                <a:cs typeface="Arial"/>
              </a:rPr>
              <a:t>changes direction across sex and APOE groups</a:t>
            </a:r>
          </a:p>
        </p:txBody>
      </p:sp>
      <p:sp>
        <p:nvSpPr>
          <p:cNvPr id="4" name="Rounded Rectangle 3">
            <a:extLst>
              <a:ext uri="{FF2B5EF4-FFF2-40B4-BE49-F238E27FC236}">
                <a16:creationId xmlns:a16="http://schemas.microsoft.com/office/drawing/2014/main" id="{DD8DF232-1982-4274-AA47-1C936C7412A1}"/>
              </a:ext>
            </a:extLst>
          </p:cNvPr>
          <p:cNvSpPr>
            <a:spLocks noGrp="1"/>
          </p:cNvSpPr>
          <p:nvPr/>
        </p:nvSpPr>
        <p:spPr>
          <a:xfrm>
            <a:off x="688847" y="1063315"/>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0356C74-7804-4F66-BF51-3515A780AF01}"/>
              </a:ext>
            </a:extLst>
          </p:cNvPr>
          <p:cNvSpPr>
            <a:spLocks noGrp="1"/>
          </p:cNvSpPr>
          <p:nvPr/>
        </p:nvSpPr>
        <p:spPr>
          <a:xfrm>
            <a:off x="780286" y="1163899"/>
            <a:ext cx="2359151"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40" b="1" i="0">
                <a:solidFill>
                  <a:srgbClr val="0072B2"/>
                </a:solidFill>
                <a:latin typeface="Arial"/>
                <a:ea typeface="Arial"/>
                <a:cs typeface="Arial"/>
              </a:rPr>
              <a:t>Astrocytes</a:t>
            </a:r>
          </a:p>
        </p:txBody>
      </p:sp>
      <p:sp>
        <p:nvSpPr>
          <p:cNvPr id="6" name="Rounded Rectangle 5">
            <a:extLst>
              <a:ext uri="{FF2B5EF4-FFF2-40B4-BE49-F238E27FC236}">
                <a16:creationId xmlns:a16="http://schemas.microsoft.com/office/drawing/2014/main" id="{C58BFC2A-77CB-4882-BAA3-2AD0C1B84862}"/>
              </a:ext>
            </a:extLst>
          </p:cNvPr>
          <p:cNvSpPr>
            <a:spLocks noGrp="1"/>
          </p:cNvSpPr>
          <p:nvPr/>
        </p:nvSpPr>
        <p:spPr>
          <a:xfrm>
            <a:off x="3505199" y="1063315"/>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4413CA0-E7E7-43FF-9E07-E1DEBC407F4B}"/>
              </a:ext>
            </a:extLst>
          </p:cNvPr>
          <p:cNvSpPr>
            <a:spLocks noGrp="1"/>
          </p:cNvSpPr>
          <p:nvPr/>
        </p:nvSpPr>
        <p:spPr>
          <a:xfrm>
            <a:off x="3596639" y="1163899"/>
            <a:ext cx="2359151"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40" b="1" i="0">
                <a:solidFill>
                  <a:srgbClr val="00684D"/>
                </a:solidFill>
                <a:latin typeface="Arial"/>
                <a:ea typeface="Arial"/>
                <a:cs typeface="Arial"/>
              </a:rPr>
              <a:t>Three groups</a:t>
            </a:r>
          </a:p>
        </p:txBody>
      </p:sp>
      <p:sp>
        <p:nvSpPr>
          <p:cNvPr id="8" name="Rounded Rectangle 7">
            <a:extLst>
              <a:ext uri="{FF2B5EF4-FFF2-40B4-BE49-F238E27FC236}">
                <a16:creationId xmlns:a16="http://schemas.microsoft.com/office/drawing/2014/main" id="{732AC20B-75E3-455D-946E-3D5BB678EE37}"/>
              </a:ext>
            </a:extLst>
          </p:cNvPr>
          <p:cNvSpPr>
            <a:spLocks noGrp="1"/>
          </p:cNvSpPr>
          <p:nvPr/>
        </p:nvSpPr>
        <p:spPr>
          <a:xfrm>
            <a:off x="6321551" y="1063315"/>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D437F9F-EB3D-479F-8B5C-6AD920AC6D1F}"/>
              </a:ext>
            </a:extLst>
          </p:cNvPr>
          <p:cNvSpPr>
            <a:spLocks noGrp="1"/>
          </p:cNvSpPr>
          <p:nvPr/>
        </p:nvSpPr>
        <p:spPr>
          <a:xfrm>
            <a:off x="6412991" y="1163899"/>
            <a:ext cx="2359151"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40" b="1" i="0">
                <a:solidFill>
                  <a:srgbClr val="895600"/>
                </a:solidFill>
                <a:latin typeface="Arial"/>
                <a:ea typeface="Arial"/>
                <a:cs typeface="Arial"/>
              </a:rPr>
              <a:t>Opposite directions</a:t>
            </a:r>
          </a:p>
        </p:txBody>
      </p:sp>
      <p:sp>
        <p:nvSpPr>
          <p:cNvPr id="10" name="Rounded Rectangle 9">
            <a:extLst>
              <a:ext uri="{FF2B5EF4-FFF2-40B4-BE49-F238E27FC236}">
                <a16:creationId xmlns:a16="http://schemas.microsoft.com/office/drawing/2014/main" id="{D236E57E-D15D-4571-A5E7-0BAB19891F49}"/>
              </a:ext>
            </a:extLst>
          </p:cNvPr>
          <p:cNvSpPr>
            <a:spLocks noGrp="1"/>
          </p:cNvSpPr>
          <p:nvPr/>
        </p:nvSpPr>
        <p:spPr>
          <a:xfrm>
            <a:off x="9137903" y="1063315"/>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4987A813-A649-48A9-B99F-090F4B17E439}"/>
              </a:ext>
            </a:extLst>
          </p:cNvPr>
          <p:cNvSpPr>
            <a:spLocks noGrp="1"/>
          </p:cNvSpPr>
          <p:nvPr/>
        </p:nvSpPr>
        <p:spPr>
          <a:xfrm>
            <a:off x="9229343" y="1163899"/>
            <a:ext cx="2359151"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40" b="1" i="0">
                <a:solidFill>
                  <a:srgbClr val="9E3A00"/>
                </a:solidFill>
                <a:latin typeface="Arial"/>
                <a:ea typeface="Arial"/>
                <a:cs typeface="Arial"/>
              </a:rPr>
              <a:t>Not ε4-only</a:t>
            </a:r>
          </a:p>
        </p:txBody>
      </p:sp>
      <p:sp>
        <p:nvSpPr>
          <p:cNvPr id="12" name="Rounded Rectangle 11">
            <a:extLst>
              <a:ext uri="{FF2B5EF4-FFF2-40B4-BE49-F238E27FC236}">
                <a16:creationId xmlns:a16="http://schemas.microsoft.com/office/drawing/2014/main" id="{B020C3B4-F40F-4DE3-93E3-E76DF0958D26}"/>
              </a:ext>
            </a:extLst>
          </p:cNvPr>
          <p:cNvSpPr>
            <a:spLocks noGrp="1"/>
          </p:cNvSpPr>
          <p:nvPr/>
        </p:nvSpPr>
        <p:spPr>
          <a:xfrm>
            <a:off x="65836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5AF1611-9C08-490C-BED2-DD4F6D5FADDE}"/>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684D"/>
                </a:solidFill>
                <a:latin typeface="Arial"/>
                <a:ea typeface="Arial"/>
                <a:cs typeface="Arial"/>
              </a:rPr>
              <a:t>FEMALE Ε2</a:t>
            </a:r>
          </a:p>
        </p:txBody>
      </p:sp>
      <p:sp>
        <p:nvSpPr>
          <p:cNvPr id="14" name="TextBox 13">
            <a:extLst>
              <a:ext uri="{FF2B5EF4-FFF2-40B4-BE49-F238E27FC236}">
                <a16:creationId xmlns:a16="http://schemas.microsoft.com/office/drawing/2014/main" id="{8FFC821C-3412-4A25-B682-AAC3A24FAD17}"/>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APOE up</a:t>
            </a:r>
          </a:p>
        </p:txBody>
      </p:sp>
      <p:sp>
        <p:nvSpPr>
          <p:cNvPr id="15" name="TextBox 14">
            <a:extLst>
              <a:ext uri="{FF2B5EF4-FFF2-40B4-BE49-F238E27FC236}">
                <a16:creationId xmlns:a16="http://schemas.microsoft.com/office/drawing/2014/main" id="{75418366-6455-4017-BAD7-5B75CD3C1B6B}"/>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APOE logFC is +0.79 in the supporting astrocyte KDA call.</a:t>
            </a:r>
          </a:p>
        </p:txBody>
      </p:sp>
      <p:sp>
        <p:nvSpPr>
          <p:cNvPr id="16" name="Rounded Rectangle 15">
            <a:extLst>
              <a:ext uri="{FF2B5EF4-FFF2-40B4-BE49-F238E27FC236}">
                <a16:creationId xmlns:a16="http://schemas.microsoft.com/office/drawing/2014/main" id="{28CD9F12-7CEC-4A54-A0C3-22A9B0BE0639}"/>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3E662BE-174F-4E99-80C0-8C0DD68B26AE}"/>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9E3A00"/>
                </a:solidFill>
                <a:latin typeface="Arial"/>
                <a:ea typeface="Arial"/>
                <a:cs typeface="Arial"/>
              </a:rPr>
              <a:t>MALE Ε2</a:t>
            </a:r>
          </a:p>
        </p:txBody>
      </p:sp>
      <p:sp>
        <p:nvSpPr>
          <p:cNvPr id="18" name="TextBox 17">
            <a:extLst>
              <a:ext uri="{FF2B5EF4-FFF2-40B4-BE49-F238E27FC236}">
                <a16:creationId xmlns:a16="http://schemas.microsoft.com/office/drawing/2014/main" id="{8238B63A-5ABD-4C02-87A2-F7BDB4CD4464}"/>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APOE down</a:t>
            </a:r>
          </a:p>
        </p:txBody>
      </p:sp>
      <p:sp>
        <p:nvSpPr>
          <p:cNvPr id="19" name="TextBox 18">
            <a:extLst>
              <a:ext uri="{FF2B5EF4-FFF2-40B4-BE49-F238E27FC236}">
                <a16:creationId xmlns:a16="http://schemas.microsoft.com/office/drawing/2014/main" id="{84544582-FB55-4290-8C62-5870C9B9A4E6}"/>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APOE logFC is −0.51 in the supporting astrocyte KDA call.</a:t>
            </a:r>
          </a:p>
        </p:txBody>
      </p:sp>
      <p:sp>
        <p:nvSpPr>
          <p:cNvPr id="20" name="Rounded Rectangle 19">
            <a:extLst>
              <a:ext uri="{FF2B5EF4-FFF2-40B4-BE49-F238E27FC236}">
                <a16:creationId xmlns:a16="http://schemas.microsoft.com/office/drawing/2014/main" id="{B58BE8CF-1963-497D-B53A-37AD8D79FBC5}"/>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896E67C-A867-4A99-84AF-3DD15270A2E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9E3A00"/>
                </a:solidFill>
                <a:latin typeface="Arial"/>
                <a:ea typeface="Arial"/>
                <a:cs typeface="Arial"/>
              </a:rPr>
              <a:t>MALE Ε4</a:t>
            </a:r>
          </a:p>
        </p:txBody>
      </p:sp>
      <p:sp>
        <p:nvSpPr>
          <p:cNvPr id="22" name="TextBox 21">
            <a:extLst>
              <a:ext uri="{FF2B5EF4-FFF2-40B4-BE49-F238E27FC236}">
                <a16:creationId xmlns:a16="http://schemas.microsoft.com/office/drawing/2014/main" id="{4BD41357-BFF6-43EB-996A-E0C138475321}"/>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APOE down</a:t>
            </a:r>
          </a:p>
        </p:txBody>
      </p:sp>
      <p:sp>
        <p:nvSpPr>
          <p:cNvPr id="23" name="TextBox 22">
            <a:extLst>
              <a:ext uri="{FF2B5EF4-FFF2-40B4-BE49-F238E27FC236}">
                <a16:creationId xmlns:a16="http://schemas.microsoft.com/office/drawing/2014/main" id="{055447C2-7613-4BD9-AAFF-EC9F2F17C8CA}"/>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APOE logFC is −1.25 in the supporting astrocyte KDA call.</a:t>
            </a:r>
          </a:p>
        </p:txBody>
      </p:sp>
      <p:sp>
        <p:nvSpPr>
          <p:cNvPr id="24" name="Rounded Rectangle 23">
            <a:extLst>
              <a:ext uri="{FF2B5EF4-FFF2-40B4-BE49-F238E27FC236}">
                <a16:creationId xmlns:a16="http://schemas.microsoft.com/office/drawing/2014/main" id="{AE33EDB6-0EC7-42DB-96BD-AF35BB41A489}"/>
              </a:ext>
            </a:extLst>
          </p:cNvPr>
          <p:cNvSpPr>
            <a:spLocks noGrp="1"/>
          </p:cNvSpPr>
          <p:nvPr/>
        </p:nvSpPr>
        <p:spPr>
          <a:xfrm>
            <a:off x="658368" y="6214545"/>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00BDF19-611C-405E-BF29-CE5ED24AA916}"/>
              </a:ext>
            </a:extLst>
          </p:cNvPr>
          <p:cNvSpPr>
            <a:spLocks noGrp="1"/>
          </p:cNvSpPr>
          <p:nvPr/>
        </p:nvSpPr>
        <p:spPr>
          <a:xfrm>
            <a:off x="896112" y="6342561"/>
            <a:ext cx="10405872" cy="237744"/>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40" b="1" i="0">
                <a:solidFill>
                  <a:srgbClr val="7E4C9A"/>
                </a:solidFill>
                <a:latin typeface="Arial"/>
                <a:ea typeface="Arial"/>
                <a:cs typeface="Arial"/>
              </a:rPr>
              <a:t>Opposite within-group directions motivate a direct interaction test rather than an ε4-only story.</a:t>
            </a:r>
          </a:p>
        </p:txBody>
      </p:sp>
    </p:spTree>
    <p:extLst>
      <p:ext uri="{BB962C8B-B14F-4D97-AF65-F5344CB8AC3E}">
        <p14:creationId val="1238511375"/>
      </p:ext>
    </p:extLst>
  </p:cSld>
  <p:clrMapOvr>
    <a:masterClrMapping/>
  </p:clrMapOvr>
  <p:transition/>
  <p:timing/>
</p:sld>
</file>

<file path=ppt/slides/slide14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3500DF12-CAFE-40B2-9E9B-85EFD408CEF2}"/>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ROSMAP: APOE is a DEG and is returned </a:t>
            </a:r>
            <a:r>
              <a:rPr lang="en-US" sz="2200" b="1" i="0">
                <a:solidFill>
                  <a:srgbClr val="0F233D"/>
                </a:solidFill>
                <a:latin typeface="Arial"/>
                <a:ea typeface="Arial"/>
                <a:cs typeface="Arial"/>
              </a:rPr>
              <a:t>as a key driver </a:t>
            </a:r>
            <a:r>
              <a:rPr sz="2200" b="1" i="0">
                <a:solidFill>
                  <a:srgbClr val="0F233D"/>
                </a:solidFill>
                <a:latin typeface="Arial"/>
                <a:ea typeface="Arial"/>
                <a:cs typeface="Arial"/>
              </a:rPr>
              <a:t>calls in three astrocyte groups</a:t>
            </a:r>
          </a:p>
        </p:txBody>
      </p:sp>
      <p:sp>
        <p:nvSpPr>
          <p:cNvPr id="4" name="Rounded Rectangle 3">
            <a:extLst>
              <a:ext uri="{FF2B5EF4-FFF2-40B4-BE49-F238E27FC236}">
                <a16:creationId xmlns:a16="http://schemas.microsoft.com/office/drawing/2014/main" id="{1A6B5B46-C3B9-4DC9-9492-CC1F2B1658F7}"/>
              </a:ext>
            </a:extLst>
          </p:cNvPr>
          <p:cNvSpPr>
            <a:spLocks noGrp="1"/>
          </p:cNvSpPr>
          <p:nvPr/>
        </p:nvSpPr>
        <p:spPr>
          <a:xfrm>
            <a:off x="658368" y="1404259"/>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26E5DF5-50E0-4BBF-AC16-B39EBB7C3465}"/>
              </a:ext>
            </a:extLst>
          </p:cNvPr>
          <p:cNvSpPr>
            <a:spLocks noGrp="1"/>
          </p:cNvSpPr>
          <p:nvPr/>
        </p:nvSpPr>
        <p:spPr>
          <a:xfrm>
            <a:off x="822959" y="1532274"/>
            <a:ext cx="3127248" cy="4846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800" b="1" i="0">
                <a:solidFill>
                  <a:srgbClr val="0072B2"/>
                </a:solidFill>
                <a:latin typeface="Arial"/>
                <a:ea typeface="Arial"/>
                <a:cs typeface="Arial"/>
              </a:rPr>
              <a:t>3</a:t>
            </a:r>
          </a:p>
        </p:txBody>
      </p:sp>
      <p:sp>
        <p:nvSpPr>
          <p:cNvPr id="6" name="TextBox 5">
            <a:extLst>
              <a:ext uri="{FF2B5EF4-FFF2-40B4-BE49-F238E27FC236}">
                <a16:creationId xmlns:a16="http://schemas.microsoft.com/office/drawing/2014/main" id="{5C6AB7C5-5EDA-4CB5-89E3-A09B2464A57C}"/>
              </a:ext>
            </a:extLst>
          </p:cNvPr>
          <p:cNvSpPr>
            <a:spLocks noGrp="1"/>
          </p:cNvSpPr>
          <p:nvPr/>
        </p:nvSpPr>
        <p:spPr>
          <a:xfrm>
            <a:off x="822959" y="2062627"/>
            <a:ext cx="3127248" cy="3108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19" b="1" i="0">
                <a:solidFill>
                  <a:srgbClr val="0F233D"/>
                </a:solidFill>
                <a:latin typeface="Arial"/>
                <a:ea typeface="Arial"/>
                <a:cs typeface="Arial"/>
              </a:rPr>
              <a:t>supporting astrocyte KDA calls</a:t>
            </a:r>
          </a:p>
        </p:txBody>
      </p:sp>
      <p:sp>
        <p:nvSpPr>
          <p:cNvPr id="7" name="TextBox 6">
            <a:extLst>
              <a:ext uri="{FF2B5EF4-FFF2-40B4-BE49-F238E27FC236}">
                <a16:creationId xmlns:a16="http://schemas.microsoft.com/office/drawing/2014/main" id="{C6D0E058-BD7E-418E-995F-65CB332C304A}"/>
              </a:ext>
            </a:extLst>
          </p:cNvPr>
          <p:cNvSpPr>
            <a:spLocks noGrp="1"/>
          </p:cNvSpPr>
          <p:nvPr/>
        </p:nvSpPr>
        <p:spPr>
          <a:xfrm>
            <a:off x="822959" y="2391811"/>
            <a:ext cx="3127248" cy="21945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880" b="0" i="0">
                <a:solidFill>
                  <a:srgbClr val="4E5A68"/>
                </a:solidFill>
                <a:latin typeface="Arial"/>
                <a:ea typeface="Arial"/>
                <a:cs typeface="Arial"/>
              </a:rPr>
              <a:t>F_e2, M_e2, M_e4</a:t>
            </a:r>
          </a:p>
        </p:txBody>
      </p:sp>
      <p:sp>
        <p:nvSpPr>
          <p:cNvPr id="8" name="Rounded Rectangle 7">
            <a:extLst>
              <a:ext uri="{FF2B5EF4-FFF2-40B4-BE49-F238E27FC236}">
                <a16:creationId xmlns:a16="http://schemas.microsoft.com/office/drawing/2014/main" id="{F50E9667-E827-4070-B895-A93F3CECBEF7}"/>
              </a:ext>
            </a:extLst>
          </p:cNvPr>
          <p:cNvSpPr>
            <a:spLocks noGrp="1"/>
          </p:cNvSpPr>
          <p:nvPr/>
        </p:nvSpPr>
        <p:spPr>
          <a:xfrm>
            <a:off x="4453128" y="1404259"/>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EBFD0F4-D759-4A63-94DC-744042D90EB0}"/>
              </a:ext>
            </a:extLst>
          </p:cNvPr>
          <p:cNvSpPr>
            <a:spLocks noGrp="1"/>
          </p:cNvSpPr>
          <p:nvPr/>
        </p:nvSpPr>
        <p:spPr>
          <a:xfrm>
            <a:off x="4617720" y="1532274"/>
            <a:ext cx="3127248" cy="4846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800" b="1" i="0">
                <a:solidFill>
                  <a:srgbClr val="00684D"/>
                </a:solidFill>
                <a:latin typeface="Arial"/>
                <a:ea typeface="Arial"/>
                <a:cs typeface="Arial"/>
              </a:rPr>
              <a:t>3/3</a:t>
            </a:r>
          </a:p>
        </p:txBody>
      </p:sp>
      <p:sp>
        <p:nvSpPr>
          <p:cNvPr id="10" name="TextBox 9">
            <a:extLst>
              <a:ext uri="{FF2B5EF4-FFF2-40B4-BE49-F238E27FC236}">
                <a16:creationId xmlns:a16="http://schemas.microsoft.com/office/drawing/2014/main" id="{0D7DE755-0CCB-4FD4-B91E-8477C70A9B8E}"/>
              </a:ext>
            </a:extLst>
          </p:cNvPr>
          <p:cNvSpPr>
            <a:spLocks noGrp="1"/>
          </p:cNvSpPr>
          <p:nvPr/>
        </p:nvSpPr>
        <p:spPr>
          <a:xfrm>
            <a:off x="4617720" y="2062627"/>
            <a:ext cx="3127248" cy="3108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19" b="1" i="0">
                <a:solidFill>
                  <a:srgbClr val="0F233D"/>
                </a:solidFill>
                <a:latin typeface="Arial"/>
                <a:ea typeface="Arial"/>
                <a:cs typeface="Arial"/>
              </a:rPr>
              <a:t>APOE met DEG criteria in 3 of 3</a:t>
            </a:r>
          </a:p>
        </p:txBody>
      </p:sp>
      <p:sp>
        <p:nvSpPr>
          <p:cNvPr id="11" name="TextBox 10">
            <a:extLst>
              <a:ext uri="{FF2B5EF4-FFF2-40B4-BE49-F238E27FC236}">
                <a16:creationId xmlns:a16="http://schemas.microsoft.com/office/drawing/2014/main" id="{38403D78-55E1-43D5-998E-024B779759C7}"/>
              </a:ext>
            </a:extLst>
          </p:cNvPr>
          <p:cNvSpPr>
            <a:spLocks noGrp="1"/>
          </p:cNvSpPr>
          <p:nvPr/>
        </p:nvSpPr>
        <p:spPr>
          <a:xfrm>
            <a:off x="4617720" y="2391811"/>
            <a:ext cx="3127248" cy="21945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880" b="0" i="0">
                <a:solidFill>
                  <a:srgbClr val="4E5A68"/>
                </a:solidFill>
                <a:latin typeface="Arial"/>
                <a:ea typeface="Arial"/>
                <a:cs typeface="Arial"/>
              </a:rPr>
              <a:t>one up, two down</a:t>
            </a:r>
          </a:p>
        </p:txBody>
      </p:sp>
      <p:sp>
        <p:nvSpPr>
          <p:cNvPr id="12" name="Rounded Rectangle 11">
            <a:extLst>
              <a:ext uri="{FF2B5EF4-FFF2-40B4-BE49-F238E27FC236}">
                <a16:creationId xmlns:a16="http://schemas.microsoft.com/office/drawing/2014/main" id="{DAF7FECB-1A36-4DFE-9365-4956E7099C8A}"/>
              </a:ext>
            </a:extLst>
          </p:cNvPr>
          <p:cNvSpPr>
            <a:spLocks noGrp="1"/>
          </p:cNvSpPr>
          <p:nvPr/>
        </p:nvSpPr>
        <p:spPr>
          <a:xfrm>
            <a:off x="8247888" y="1404259"/>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042B230-ED50-4E01-8356-2C12783183A4}"/>
              </a:ext>
            </a:extLst>
          </p:cNvPr>
          <p:cNvSpPr>
            <a:spLocks noGrp="1"/>
          </p:cNvSpPr>
          <p:nvPr/>
        </p:nvSpPr>
        <p:spPr>
          <a:xfrm>
            <a:off x="8412480" y="1532274"/>
            <a:ext cx="3127248" cy="4846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800" b="1" i="0">
                <a:solidFill>
                  <a:srgbClr val="895600"/>
                </a:solidFill>
                <a:latin typeface="Arial"/>
                <a:ea typeface="Arial"/>
                <a:cs typeface="Arial"/>
              </a:rPr>
              <a:t>5</a:t>
            </a:r>
          </a:p>
        </p:txBody>
      </p:sp>
      <p:sp>
        <p:nvSpPr>
          <p:cNvPr id="14" name="TextBox 13">
            <a:extLst>
              <a:ext uri="{FF2B5EF4-FFF2-40B4-BE49-F238E27FC236}">
                <a16:creationId xmlns:a16="http://schemas.microsoft.com/office/drawing/2014/main" id="{A26F21DE-FBAB-41F8-9B41-6761828F62A2}"/>
              </a:ext>
            </a:extLst>
          </p:cNvPr>
          <p:cNvSpPr>
            <a:spLocks noGrp="1"/>
          </p:cNvSpPr>
          <p:nvPr/>
        </p:nvSpPr>
        <p:spPr>
          <a:xfrm>
            <a:off x="8412480" y="2062627"/>
            <a:ext cx="3127248" cy="3108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19" b="1" i="0">
                <a:solidFill>
                  <a:srgbClr val="0F233D"/>
                </a:solidFill>
                <a:latin typeface="Arial"/>
                <a:ea typeface="Arial"/>
                <a:cs typeface="Arial"/>
              </a:rPr>
              <a:t>named directly connected mitochondrial genes</a:t>
            </a:r>
          </a:p>
        </p:txBody>
      </p:sp>
      <p:sp>
        <p:nvSpPr>
          <p:cNvPr id="15" name="TextBox 14">
            <a:extLst>
              <a:ext uri="{FF2B5EF4-FFF2-40B4-BE49-F238E27FC236}">
                <a16:creationId xmlns:a16="http://schemas.microsoft.com/office/drawing/2014/main" id="{5FD3454F-4593-43F8-9BF0-AC615839E2D4}"/>
              </a:ext>
            </a:extLst>
          </p:cNvPr>
          <p:cNvSpPr>
            <a:spLocks noGrp="1"/>
          </p:cNvSpPr>
          <p:nvPr/>
        </p:nvSpPr>
        <p:spPr>
          <a:xfrm>
            <a:off x="8412480" y="2391811"/>
            <a:ext cx="3127248" cy="21945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880" b="0" i="0">
                <a:solidFill>
                  <a:srgbClr val="4E5A68"/>
                </a:solidFill>
                <a:latin typeface="Arial"/>
                <a:ea typeface="Arial"/>
                <a:cs typeface="Arial"/>
              </a:rPr>
              <a:t>across the three KDA calls</a:t>
            </a:r>
          </a:p>
        </p:txBody>
      </p:sp>
      <p:sp>
        <p:nvSpPr>
          <p:cNvPr id="16" name="Rounded Rectangle 15">
            <a:extLst>
              <a:ext uri="{FF2B5EF4-FFF2-40B4-BE49-F238E27FC236}">
                <a16:creationId xmlns:a16="http://schemas.microsoft.com/office/drawing/2014/main" id="{136F3A51-D620-4799-923D-1AE7006E05D1}"/>
              </a:ext>
            </a:extLst>
          </p:cNvPr>
          <p:cNvSpPr>
            <a:spLocks noGrp="1"/>
          </p:cNvSpPr>
          <p:nvPr/>
        </p:nvSpPr>
        <p:spPr>
          <a:xfrm>
            <a:off x="749808" y="3021877"/>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2AE26FD-C1A8-4F06-B9FA-E065C4A0E6EE}"/>
              </a:ext>
            </a:extLst>
          </p:cNvPr>
          <p:cNvSpPr>
            <a:spLocks noGrp="1"/>
          </p:cNvSpPr>
          <p:nvPr/>
        </p:nvSpPr>
        <p:spPr>
          <a:xfrm>
            <a:off x="987552" y="3186469"/>
            <a:ext cx="2331720" cy="45110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300" b="1" i="0">
                <a:solidFill>
                  <a:srgbClr val="0F233D"/>
                </a:solidFill>
                <a:latin typeface="Arial"/>
                <a:ea typeface="Arial"/>
                <a:cs typeface="Arial"/>
              </a:rPr>
              <a:t>Mitochondrial protein production</a:t>
            </a:r>
          </a:p>
        </p:txBody>
      </p:sp>
      <p:sp>
        <p:nvSpPr>
          <p:cNvPr id="18" name="TextBox 17">
            <a:extLst>
              <a:ext uri="{FF2B5EF4-FFF2-40B4-BE49-F238E27FC236}">
                <a16:creationId xmlns:a16="http://schemas.microsoft.com/office/drawing/2014/main" id="{914107AC-8600-4AC6-AE9A-E63906531388}"/>
              </a:ext>
            </a:extLst>
          </p:cNvPr>
          <p:cNvSpPr>
            <a:spLocks noGrp="1"/>
          </p:cNvSpPr>
          <p:nvPr/>
        </p:nvSpPr>
        <p:spPr>
          <a:xfrm>
            <a:off x="3419856" y="3140749"/>
            <a:ext cx="1975104" cy="36576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600" b="1" i="0">
                <a:solidFill>
                  <a:srgbClr val="0072B2"/>
                </a:solidFill>
                <a:latin typeface="Arial"/>
                <a:ea typeface="Arial"/>
                <a:cs typeface="Arial"/>
              </a:rPr>
              <a:t>TUFM</a:t>
            </a:r>
          </a:p>
        </p:txBody>
      </p:sp>
      <p:sp>
        <p:nvSpPr>
          <p:cNvPr id="19" name="TextBox 18">
            <a:extLst>
              <a:ext uri="{FF2B5EF4-FFF2-40B4-BE49-F238E27FC236}">
                <a16:creationId xmlns:a16="http://schemas.microsoft.com/office/drawing/2014/main" id="{4BAEBC81-29FC-4D0F-88D5-9CB5B4B446E2}"/>
              </a:ext>
            </a:extLst>
          </p:cNvPr>
          <p:cNvSpPr>
            <a:spLocks noGrp="1"/>
          </p:cNvSpPr>
          <p:nvPr/>
        </p:nvSpPr>
        <p:spPr>
          <a:xfrm>
            <a:off x="5596128" y="3140749"/>
            <a:ext cx="5468112" cy="438912"/>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150" b="0" i="0">
                <a:solidFill>
                  <a:srgbClr val="1F2730"/>
                </a:solidFill>
                <a:latin typeface="Arial"/>
                <a:ea typeface="Arial"/>
                <a:cs typeface="Arial"/>
              </a:rPr>
              <a:t>TUFM, a gene needed for mitochondrial protein production, is connected to APOE</a:t>
            </a:r>
          </a:p>
        </p:txBody>
      </p:sp>
      <p:sp>
        <p:nvSpPr>
          <p:cNvPr id="20" name="Rounded Rectangle 19">
            <a:extLst>
              <a:ext uri="{FF2B5EF4-FFF2-40B4-BE49-F238E27FC236}">
                <a16:creationId xmlns:a16="http://schemas.microsoft.com/office/drawing/2014/main" id="{E774AF09-D3E3-4192-A558-B6D99539B702}"/>
              </a:ext>
            </a:extLst>
          </p:cNvPr>
          <p:cNvSpPr>
            <a:spLocks noGrp="1"/>
          </p:cNvSpPr>
          <p:nvPr/>
        </p:nvSpPr>
        <p:spPr>
          <a:xfrm>
            <a:off x="749808" y="3981997"/>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D9CB29C-1063-4566-A39E-BF084AFB60DB}"/>
              </a:ext>
            </a:extLst>
          </p:cNvPr>
          <p:cNvSpPr>
            <a:spLocks noGrp="1"/>
          </p:cNvSpPr>
          <p:nvPr/>
        </p:nvSpPr>
        <p:spPr>
          <a:xfrm>
            <a:off x="987552" y="4146588"/>
            <a:ext cx="2331720" cy="45110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300" b="1" i="0">
                <a:solidFill>
                  <a:srgbClr val="0F233D"/>
                </a:solidFill>
                <a:latin typeface="Arial"/>
                <a:ea typeface="Arial"/>
                <a:cs typeface="Arial"/>
              </a:rPr>
              <a:t>Energy production and mitochondrial structure</a:t>
            </a:r>
          </a:p>
        </p:txBody>
      </p:sp>
      <p:sp>
        <p:nvSpPr>
          <p:cNvPr id="22" name="TextBox 21">
            <a:extLst>
              <a:ext uri="{FF2B5EF4-FFF2-40B4-BE49-F238E27FC236}">
                <a16:creationId xmlns:a16="http://schemas.microsoft.com/office/drawing/2014/main" id="{EA479AA6-47B1-4A30-8349-B80F6793DC6F}"/>
              </a:ext>
            </a:extLst>
          </p:cNvPr>
          <p:cNvSpPr>
            <a:spLocks noGrp="1"/>
          </p:cNvSpPr>
          <p:nvPr/>
        </p:nvSpPr>
        <p:spPr>
          <a:xfrm>
            <a:off x="3419856" y="4100869"/>
            <a:ext cx="1975104" cy="36576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600" b="1" i="0">
                <a:solidFill>
                  <a:srgbClr val="0072B2"/>
                </a:solidFill>
                <a:latin typeface="Arial"/>
                <a:ea typeface="Arial"/>
                <a:cs typeface="Arial"/>
              </a:rPr>
              <a:t>LDHB and CHCHD10</a:t>
            </a:r>
          </a:p>
        </p:txBody>
      </p:sp>
      <p:sp>
        <p:nvSpPr>
          <p:cNvPr id="23" name="TextBox 22">
            <a:extLst>
              <a:ext uri="{FF2B5EF4-FFF2-40B4-BE49-F238E27FC236}">
                <a16:creationId xmlns:a16="http://schemas.microsoft.com/office/drawing/2014/main" id="{30111D26-E667-4F44-A292-8905CF92B1BE}"/>
              </a:ext>
            </a:extLst>
          </p:cNvPr>
          <p:cNvSpPr>
            <a:spLocks noGrp="1"/>
          </p:cNvSpPr>
          <p:nvPr/>
        </p:nvSpPr>
        <p:spPr>
          <a:xfrm>
            <a:off x="5596128" y="4100869"/>
            <a:ext cx="5468112" cy="438912"/>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150" b="0" i="0">
                <a:solidFill>
                  <a:srgbClr val="1F2730"/>
                </a:solidFill>
                <a:latin typeface="Arial"/>
                <a:ea typeface="Arial"/>
                <a:cs typeface="Arial"/>
              </a:rPr>
              <a:t>LDHB and CHCHD10 are involved in metabolism, mitochondrial structure, or stress responses</a:t>
            </a:r>
          </a:p>
        </p:txBody>
      </p:sp>
      <p:sp>
        <p:nvSpPr>
          <p:cNvPr id="24" name="Rounded Rectangle 23">
            <a:extLst>
              <a:ext uri="{FF2B5EF4-FFF2-40B4-BE49-F238E27FC236}">
                <a16:creationId xmlns:a16="http://schemas.microsoft.com/office/drawing/2014/main" id="{E4CECC0F-9D05-4241-A674-CA02C47CDF2C}"/>
              </a:ext>
            </a:extLst>
          </p:cNvPr>
          <p:cNvSpPr>
            <a:spLocks noGrp="1"/>
          </p:cNvSpPr>
          <p:nvPr/>
        </p:nvSpPr>
        <p:spPr>
          <a:xfrm>
            <a:off x="749808" y="4942117"/>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F4A2518C-BC25-484E-AEB8-BBC49FBE9802}"/>
              </a:ext>
            </a:extLst>
          </p:cNvPr>
          <p:cNvSpPr>
            <a:spLocks noGrp="1"/>
          </p:cNvSpPr>
          <p:nvPr/>
        </p:nvSpPr>
        <p:spPr>
          <a:xfrm>
            <a:off x="987552" y="5106709"/>
            <a:ext cx="2331720" cy="29260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300" b="1" i="0">
                <a:solidFill>
                  <a:srgbClr val="0F233D"/>
                </a:solidFill>
                <a:latin typeface="Arial"/>
                <a:ea typeface="Arial"/>
                <a:cs typeface="Arial"/>
              </a:rPr>
              <a:t>ATP synthase</a:t>
            </a:r>
          </a:p>
        </p:txBody>
      </p:sp>
      <p:sp>
        <p:nvSpPr>
          <p:cNvPr id="26" name="TextBox 25">
            <a:extLst>
              <a:ext uri="{FF2B5EF4-FFF2-40B4-BE49-F238E27FC236}">
                <a16:creationId xmlns:a16="http://schemas.microsoft.com/office/drawing/2014/main" id="{C8C4D6EB-717C-4205-902E-7935BE129C63}"/>
              </a:ext>
            </a:extLst>
          </p:cNvPr>
          <p:cNvSpPr>
            <a:spLocks noGrp="1"/>
          </p:cNvSpPr>
          <p:nvPr/>
        </p:nvSpPr>
        <p:spPr>
          <a:xfrm>
            <a:off x="3419856" y="5060989"/>
            <a:ext cx="1975104" cy="36576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600" b="1" i="0">
                <a:solidFill>
                  <a:srgbClr val="0072B2"/>
                </a:solidFill>
                <a:latin typeface="Arial"/>
                <a:ea typeface="Arial"/>
                <a:cs typeface="Arial"/>
              </a:rPr>
              <a:t>ATP5PB and ATP5F1A</a:t>
            </a:r>
          </a:p>
        </p:txBody>
      </p:sp>
      <p:sp>
        <p:nvSpPr>
          <p:cNvPr id="27" name="TextBox 26">
            <a:extLst>
              <a:ext uri="{FF2B5EF4-FFF2-40B4-BE49-F238E27FC236}">
                <a16:creationId xmlns:a16="http://schemas.microsoft.com/office/drawing/2014/main" id="{5CC055E4-14B1-4781-BA2D-3B99848B5FCB}"/>
              </a:ext>
            </a:extLst>
          </p:cNvPr>
          <p:cNvSpPr>
            <a:spLocks noGrp="1"/>
          </p:cNvSpPr>
          <p:nvPr/>
        </p:nvSpPr>
        <p:spPr>
          <a:xfrm>
            <a:off x="5596128" y="5060989"/>
            <a:ext cx="5468112" cy="438912"/>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150" b="0" i="0">
                <a:solidFill>
                  <a:srgbClr val="1F2730"/>
                </a:solidFill>
                <a:latin typeface="Arial"/>
                <a:ea typeface="Arial"/>
                <a:cs typeface="Arial"/>
              </a:rPr>
              <a:t>Nuclear-encoded OXPHOS genes also appear</a:t>
            </a:r>
          </a:p>
        </p:txBody>
      </p:sp>
    </p:spTree>
    <p:extLst>
      <p:ext uri="{BB962C8B-B14F-4D97-AF65-F5344CB8AC3E}">
        <p14:creationId val="1056136102"/>
      </p:ext>
    </p:extLst>
  </p:cSld>
  <p:clrMapOvr>
    <a:masterClrMapping/>
  </p:clrMapOvr>
  <p:transition/>
  <p:timing/>
</p:sld>
</file>

<file path=ppt/slides/slide14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08AEB1F6-FE5B-4913-9A43-BCF5AA89590E}"/>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The genes connected to APOE differ across groups rather than forming one repeated pathway</a:t>
            </a:r>
          </a:p>
        </p:txBody>
      </p:sp>
      <p:sp>
        <p:nvSpPr>
          <p:cNvPr id="3" name="TextBox 2">
            <a:extLst>
              <a:ext uri="{FF2B5EF4-FFF2-40B4-BE49-F238E27FC236}">
                <a16:creationId xmlns:a16="http://schemas.microsoft.com/office/drawing/2014/main" id="{7A4044D1-0A9A-437D-AFE1-87F48668077D}"/>
              </a:ext>
            </a:extLst>
          </p:cNvPr>
          <p:cNvSpPr>
            <a:spLocks noGrp="1"/>
          </p:cNvSpPr>
          <p:nvPr/>
        </p:nvSpPr>
        <p:spPr>
          <a:xfrm>
            <a:off x="548640" y="1038934"/>
            <a:ext cx="10927080" cy="486287"/>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00" b="1" i="0">
                <a:latin typeface="Arial"/>
                <a:ea typeface="Arial"/>
                <a:cs typeface="Arial"/>
              </a:rPr>
              <a:t>Opposite expression directions and different connected genes could reflect real group differences, different astrocyte states, or sampling.</a:t>
            </a:r>
          </a:p>
        </p:txBody>
      </p:sp>
      <p:sp>
        <p:nvSpPr>
          <p:cNvPr id="4" name="Rounded Rectangle 3">
            <a:extLst>
              <a:ext uri="{FF2B5EF4-FFF2-40B4-BE49-F238E27FC236}">
                <a16:creationId xmlns:a16="http://schemas.microsoft.com/office/drawing/2014/main" id="{815D1395-6282-423E-ADB6-0612F9F5CB34}"/>
              </a:ext>
            </a:extLst>
          </p:cNvPr>
          <p:cNvSpPr>
            <a:spLocks noGrp="1"/>
          </p:cNvSpPr>
          <p:nvPr/>
        </p:nvSpPr>
        <p:spPr>
          <a:xfrm>
            <a:off x="658368" y="1626763"/>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916557E-3AE2-42DE-BCBE-291165FE28D5}"/>
              </a:ext>
            </a:extLst>
          </p:cNvPr>
          <p:cNvSpPr>
            <a:spLocks noGrp="1"/>
          </p:cNvSpPr>
          <p:nvPr/>
        </p:nvSpPr>
        <p:spPr>
          <a:xfrm>
            <a:off x="932688" y="1919371"/>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684D"/>
                </a:solidFill>
                <a:latin typeface="Arial"/>
                <a:ea typeface="Arial"/>
                <a:cs typeface="Arial"/>
              </a:rPr>
              <a:t>DIRECTION</a:t>
            </a:r>
          </a:p>
        </p:txBody>
      </p:sp>
      <p:sp>
        <p:nvSpPr>
          <p:cNvPr id="6" name="TextBox 5">
            <a:extLst>
              <a:ext uri="{FF2B5EF4-FFF2-40B4-BE49-F238E27FC236}">
                <a16:creationId xmlns:a16="http://schemas.microsoft.com/office/drawing/2014/main" id="{C4B3CF68-50E2-429A-9D0C-A8B7A5493C9A}"/>
              </a:ext>
            </a:extLst>
          </p:cNvPr>
          <p:cNvSpPr>
            <a:spLocks noGrp="1"/>
          </p:cNvSpPr>
          <p:nvPr/>
        </p:nvSpPr>
        <p:spPr>
          <a:xfrm>
            <a:off x="932688" y="2582376"/>
            <a:ext cx="2907792" cy="301621"/>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lang="en-US" sz="1600" b="1" i="0">
                <a:solidFill>
                  <a:srgbClr val="0F233D"/>
                </a:solidFill>
                <a:latin typeface="Arial"/>
                <a:ea typeface="Arial"/>
                <a:cs typeface="Arial"/>
              </a:rPr>
              <a:t>log2FC: </a:t>
            </a:r>
            <a:r>
              <a:rPr sz="1600" b="1" i="0">
                <a:solidFill>
                  <a:srgbClr val="0F233D"/>
                </a:solidFill>
                <a:latin typeface="Arial"/>
                <a:ea typeface="Arial"/>
                <a:cs typeface="Arial"/>
              </a:rPr>
              <a:t>+0.79 in F_e2</a:t>
            </a:r>
          </a:p>
        </p:txBody>
      </p:sp>
      <p:sp>
        <p:nvSpPr>
          <p:cNvPr id="7" name="TextBox 6">
            <a:extLst>
              <a:ext uri="{FF2B5EF4-FFF2-40B4-BE49-F238E27FC236}">
                <a16:creationId xmlns:a16="http://schemas.microsoft.com/office/drawing/2014/main" id="{D027D810-EE0F-4ADC-AC3F-2B76724C3ABF}"/>
              </a:ext>
            </a:extLst>
          </p:cNvPr>
          <p:cNvSpPr>
            <a:spLocks noGrp="1"/>
          </p:cNvSpPr>
          <p:nvPr/>
        </p:nvSpPr>
        <p:spPr>
          <a:xfrm>
            <a:off x="969264" y="3382411"/>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The female ε2 astrocyte KDA call shows higher APOE expression in AD.</a:t>
            </a:r>
          </a:p>
        </p:txBody>
      </p:sp>
      <p:sp>
        <p:nvSpPr>
          <p:cNvPr id="8" name="Rounded Rectangle 7">
            <a:extLst>
              <a:ext uri="{FF2B5EF4-FFF2-40B4-BE49-F238E27FC236}">
                <a16:creationId xmlns:a16="http://schemas.microsoft.com/office/drawing/2014/main" id="{F0C40F7A-A178-4352-BB35-430AF2FD5537}"/>
              </a:ext>
            </a:extLst>
          </p:cNvPr>
          <p:cNvSpPr>
            <a:spLocks noGrp="1"/>
          </p:cNvSpPr>
          <p:nvPr/>
        </p:nvSpPr>
        <p:spPr>
          <a:xfrm>
            <a:off x="4453128" y="1626763"/>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6F6881C-69D9-4B61-8989-D60024536DDB}"/>
              </a:ext>
            </a:extLst>
          </p:cNvPr>
          <p:cNvSpPr>
            <a:spLocks noGrp="1"/>
          </p:cNvSpPr>
          <p:nvPr/>
        </p:nvSpPr>
        <p:spPr>
          <a:xfrm>
            <a:off x="4727448" y="1919371"/>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9E3A00"/>
                </a:solidFill>
                <a:latin typeface="Arial"/>
                <a:ea typeface="Arial"/>
                <a:cs typeface="Arial"/>
              </a:rPr>
              <a:t>DIRECTION</a:t>
            </a:r>
          </a:p>
        </p:txBody>
      </p:sp>
      <p:sp>
        <p:nvSpPr>
          <p:cNvPr id="10" name="TextBox 9">
            <a:extLst>
              <a:ext uri="{FF2B5EF4-FFF2-40B4-BE49-F238E27FC236}">
                <a16:creationId xmlns:a16="http://schemas.microsoft.com/office/drawing/2014/main" id="{2AAC44C0-938F-414E-8005-F3688A67AA50}"/>
              </a:ext>
            </a:extLst>
          </p:cNvPr>
          <p:cNvSpPr>
            <a:spLocks noGrp="1"/>
          </p:cNvSpPr>
          <p:nvPr/>
        </p:nvSpPr>
        <p:spPr>
          <a:xfrm>
            <a:off x="4727448" y="2582376"/>
            <a:ext cx="2907792" cy="301621"/>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lang="en-US" sz="1600" b="1" i="0">
                <a:solidFill>
                  <a:srgbClr val="0F233D"/>
                </a:solidFill>
                <a:latin typeface="Arial"/>
                <a:ea typeface="Arial"/>
                <a:cs typeface="Arial"/>
              </a:rPr>
              <a:t>log2FC: </a:t>
            </a:r>
            <a:r>
              <a:rPr sz="1600" b="1" i="0">
                <a:solidFill>
                  <a:srgbClr val="0F233D"/>
                </a:solidFill>
                <a:latin typeface="Arial"/>
                <a:ea typeface="Arial"/>
                <a:cs typeface="Arial"/>
              </a:rPr>
              <a:t>−0.51 and −1.25</a:t>
            </a:r>
          </a:p>
        </p:txBody>
      </p:sp>
      <p:sp>
        <p:nvSpPr>
          <p:cNvPr id="11" name="TextBox 10">
            <a:extLst>
              <a:ext uri="{FF2B5EF4-FFF2-40B4-BE49-F238E27FC236}">
                <a16:creationId xmlns:a16="http://schemas.microsoft.com/office/drawing/2014/main" id="{7C608C16-2A75-44EF-A2A5-F167AF6CDC88}"/>
              </a:ext>
            </a:extLst>
          </p:cNvPr>
          <p:cNvSpPr>
            <a:spLocks noGrp="1"/>
          </p:cNvSpPr>
          <p:nvPr/>
        </p:nvSpPr>
        <p:spPr>
          <a:xfrm>
            <a:off x="4764024" y="3382411"/>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The male ε2 and male ε4 astrocyte KDA calls show lower APOE expression in AD.</a:t>
            </a:r>
          </a:p>
        </p:txBody>
      </p:sp>
      <p:sp>
        <p:nvSpPr>
          <p:cNvPr id="12" name="Rounded Rectangle 11">
            <a:extLst>
              <a:ext uri="{FF2B5EF4-FFF2-40B4-BE49-F238E27FC236}">
                <a16:creationId xmlns:a16="http://schemas.microsoft.com/office/drawing/2014/main" id="{75C174F7-932C-4B35-A374-5366A8CDB3E6}"/>
              </a:ext>
            </a:extLst>
          </p:cNvPr>
          <p:cNvSpPr>
            <a:spLocks noGrp="1"/>
          </p:cNvSpPr>
          <p:nvPr/>
        </p:nvSpPr>
        <p:spPr>
          <a:xfrm>
            <a:off x="8247888" y="1626763"/>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5CCBA06-917A-492B-9EE3-C1C457BBA8D0}"/>
              </a:ext>
            </a:extLst>
          </p:cNvPr>
          <p:cNvSpPr>
            <a:spLocks noGrp="1"/>
          </p:cNvSpPr>
          <p:nvPr/>
        </p:nvSpPr>
        <p:spPr>
          <a:xfrm>
            <a:off x="8522208" y="1919371"/>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AAEA81A4-B3D4-4F94-8291-1C7C63377AA7}"/>
              </a:ext>
            </a:extLst>
          </p:cNvPr>
          <p:cNvSpPr>
            <a:spLocks noGrp="1"/>
          </p:cNvSpPr>
          <p:nvPr/>
        </p:nvSpPr>
        <p:spPr>
          <a:xfrm>
            <a:off x="8522208" y="2376571"/>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SEA-AD could not test these results</a:t>
            </a:r>
          </a:p>
        </p:txBody>
      </p:sp>
      <p:sp>
        <p:nvSpPr>
          <p:cNvPr id="15" name="TextBox 14">
            <a:extLst>
              <a:ext uri="{FF2B5EF4-FFF2-40B4-BE49-F238E27FC236}">
                <a16:creationId xmlns:a16="http://schemas.microsoft.com/office/drawing/2014/main" id="{3C2BAC9E-627C-40CC-937A-DA2C3A7A7347}"/>
              </a:ext>
            </a:extLst>
          </p:cNvPr>
          <p:cNvSpPr>
            <a:spLocks noGrp="1"/>
          </p:cNvSpPr>
          <p:nvPr/>
        </p:nvSpPr>
        <p:spPr>
          <a:xfrm>
            <a:off x="8558784" y="3382411"/>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SEA-AD had no KDA calls for the same sex/APOE and cell categories.</a:t>
            </a:r>
          </a:p>
        </p:txBody>
      </p:sp>
      <p:sp>
        <p:nvSpPr>
          <p:cNvPr id="16" name="Rounded Rectangle 15">
            <a:extLst>
              <a:ext uri="{FF2B5EF4-FFF2-40B4-BE49-F238E27FC236}">
                <a16:creationId xmlns:a16="http://schemas.microsoft.com/office/drawing/2014/main" id="{DC734C10-4507-4E7C-A867-39C680E0F7F7}"/>
              </a:ext>
            </a:extLst>
          </p:cNvPr>
          <p:cNvSpPr>
            <a:spLocks noGrp="1"/>
          </p:cNvSpPr>
          <p:nvPr/>
        </p:nvSpPr>
        <p:spPr>
          <a:xfrm>
            <a:off x="658368" y="5961019"/>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FAEE19D-4BA7-4C8E-A9CF-D7ADE1D05857}"/>
              </a:ext>
            </a:extLst>
          </p:cNvPr>
          <p:cNvSpPr>
            <a:spLocks noGrp="1"/>
          </p:cNvSpPr>
          <p:nvPr/>
        </p:nvSpPr>
        <p:spPr>
          <a:xfrm>
            <a:off x="896112" y="6089035"/>
            <a:ext cx="10405872" cy="27432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30" b="1" i="0">
                <a:solidFill>
                  <a:srgbClr val="7E4C9A"/>
                </a:solidFill>
                <a:latin typeface="Arial"/>
                <a:ea typeface="Arial"/>
                <a:cs typeface="Arial"/>
              </a:rPr>
              <a:t>APOE is a well-established AD risk gene, but that does not confirm these expression directions or specific mitochondrial connections.</a:t>
            </a:r>
          </a:p>
        </p:txBody>
      </p:sp>
    </p:spTree>
    <p:extLst>
      <p:ext uri="{BB962C8B-B14F-4D97-AF65-F5344CB8AC3E}">
        <p14:creationId val="435779549"/>
      </p:ext>
    </p:extLst>
  </p:cSld>
  <p:clrMapOvr>
    <a:masterClrMapping/>
  </p:clrMapOvr>
  <p:transition/>
  <p:timing/>
</p:sld>
</file>

<file path=ppt/slides/slide14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9B9989B1-C3B4-4F47-8D5B-5B69F0CEA4E8}"/>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Why this matters: APOE biology depends on cell type, sex, and APOE group</a:t>
            </a:r>
          </a:p>
        </p:txBody>
      </p:sp>
      <p:sp>
        <p:nvSpPr>
          <p:cNvPr id="3" name="TextBox 2">
            <a:extLst>
              <a:ext uri="{FF2B5EF4-FFF2-40B4-BE49-F238E27FC236}">
                <a16:creationId xmlns:a16="http://schemas.microsoft.com/office/drawing/2014/main" id="{E71441AA-787C-42D1-97F7-094466AEFD9C}"/>
              </a:ext>
            </a:extLst>
          </p:cNvPr>
          <p:cNvSpPr>
            <a:spLocks noGrp="1"/>
          </p:cNvSpPr>
          <p:nvPr/>
        </p:nvSpPr>
        <p:spPr>
          <a:xfrm>
            <a:off x="548640" y="899594"/>
            <a:ext cx="10927080" cy="270843"/>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00" b="1" i="0">
                <a:latin typeface="Arial"/>
                <a:ea typeface="Arial"/>
                <a:cs typeface="Arial"/>
              </a:rPr>
              <a:t>The same gene may respond differently across groups even when its population-level risk role is well established.</a:t>
            </a:r>
          </a:p>
        </p:txBody>
      </p:sp>
      <p:sp>
        <p:nvSpPr>
          <p:cNvPr id="4" name="Rounded Rectangle 3">
            <a:extLst>
              <a:ext uri="{FF2B5EF4-FFF2-40B4-BE49-F238E27FC236}">
                <a16:creationId xmlns:a16="http://schemas.microsoft.com/office/drawing/2014/main" id="{FC9BE70D-1331-4F24-BF9F-398170D8CEC8}"/>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9B0D97-B2A0-4F3E-ABBB-390E59F523B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72B2"/>
                </a:solidFill>
                <a:latin typeface="Arial"/>
                <a:ea typeface="Arial"/>
                <a:cs typeface="Arial"/>
              </a:rPr>
              <a:t>CELL SOURCE</a:t>
            </a:r>
          </a:p>
        </p:txBody>
      </p:sp>
      <p:sp>
        <p:nvSpPr>
          <p:cNvPr id="6" name="TextBox 5">
            <a:extLst>
              <a:ext uri="{FF2B5EF4-FFF2-40B4-BE49-F238E27FC236}">
                <a16:creationId xmlns:a16="http://schemas.microsoft.com/office/drawing/2014/main" id="{89DF3344-B6ED-4599-AEB7-05928B8A7782}"/>
              </a:ext>
            </a:extLst>
          </p:cNvPr>
          <p:cNvSpPr>
            <a:spLocks noGrp="1"/>
          </p:cNvSpPr>
          <p:nvPr/>
        </p:nvSpPr>
        <p:spPr>
          <a:xfrm>
            <a:off x="932688" y="2407012"/>
            <a:ext cx="2907792" cy="54784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Astrocytes produce APOE</a:t>
            </a:r>
            <a:r>
              <a:rPr lang="en-US" sz="1600" b="1" i="0">
                <a:solidFill>
                  <a:srgbClr val="0F233D"/>
                </a:solidFill>
                <a:latin typeface="Arial"/>
                <a:ea typeface="Arial"/>
                <a:cs typeface="Arial"/>
              </a:rPr>
              <a:t> protein</a:t>
            </a:r>
            <a:endParaRPr sz="1600" b="1" i="0">
              <a:solidFill>
                <a:srgbClr val="0F233D"/>
              </a:solidFill>
              <a:latin typeface="Arial"/>
              <a:ea typeface="Arial"/>
              <a:cs typeface="Arial"/>
            </a:endParaRPr>
          </a:p>
        </p:txBody>
      </p:sp>
      <p:sp>
        <p:nvSpPr>
          <p:cNvPr id="7" name="TextBox 6">
            <a:extLst>
              <a:ext uri="{FF2B5EF4-FFF2-40B4-BE49-F238E27FC236}">
                <a16:creationId xmlns:a16="http://schemas.microsoft.com/office/drawing/2014/main" id="{E2C3D62B-D0EA-4553-AA4E-075CAE8C61AC}"/>
              </a:ext>
            </a:extLst>
          </p:cNvPr>
          <p:cNvSpPr>
            <a:spLocks noGrp="1"/>
          </p:cNvSpPr>
          <p:nvPr/>
        </p:nvSpPr>
        <p:spPr>
          <a:xfrm>
            <a:off x="969264" y="3707332"/>
            <a:ext cx="2834640" cy="430887"/>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Astrocytes are a well-established source of APOE </a:t>
            </a:r>
            <a:r>
              <a:rPr lang="en-US" sz="1220" b="0" i="0">
                <a:solidFill>
                  <a:srgbClr val="1F2730"/>
                </a:solidFill>
                <a:latin typeface="Arial"/>
                <a:ea typeface="Arial"/>
                <a:cs typeface="Arial"/>
              </a:rPr>
              <a:t>protein </a:t>
            </a:r>
            <a:r>
              <a:rPr sz="1220" b="0" i="0">
                <a:solidFill>
                  <a:srgbClr val="1F2730"/>
                </a:solidFill>
                <a:latin typeface="Arial"/>
                <a:ea typeface="Arial"/>
                <a:cs typeface="Arial"/>
              </a:rPr>
              <a:t>in the brain.</a:t>
            </a:r>
          </a:p>
        </p:txBody>
      </p:sp>
      <p:sp>
        <p:nvSpPr>
          <p:cNvPr id="8" name="Rounded Rectangle 7">
            <a:extLst>
              <a:ext uri="{FF2B5EF4-FFF2-40B4-BE49-F238E27FC236}">
                <a16:creationId xmlns:a16="http://schemas.microsoft.com/office/drawing/2014/main" id="{7A25ACB2-946D-42CA-BFB5-4B8BB7B4A916}"/>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8CAAF42-0B8D-448F-8572-DDB47A8CE6D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895600"/>
                </a:solidFill>
                <a:latin typeface="Arial"/>
                <a:ea typeface="Arial"/>
                <a:cs typeface="Arial"/>
              </a:rPr>
              <a:t>DISEASE RESPONSE</a:t>
            </a:r>
          </a:p>
        </p:txBody>
      </p:sp>
      <p:sp>
        <p:nvSpPr>
          <p:cNvPr id="10" name="TextBox 9">
            <a:extLst>
              <a:ext uri="{FF2B5EF4-FFF2-40B4-BE49-F238E27FC236}">
                <a16:creationId xmlns:a16="http://schemas.microsoft.com/office/drawing/2014/main" id="{1E500922-1AFB-4A6E-A5B6-D943617FC939}"/>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Direction changes by group</a:t>
            </a:r>
          </a:p>
        </p:txBody>
      </p:sp>
      <p:sp>
        <p:nvSpPr>
          <p:cNvPr id="11" name="TextBox 10">
            <a:extLst>
              <a:ext uri="{FF2B5EF4-FFF2-40B4-BE49-F238E27FC236}">
                <a16:creationId xmlns:a16="http://schemas.microsoft.com/office/drawing/2014/main" id="{2BD67977-451C-4627-A3CA-CB36DCA04868}"/>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APOE expression may reflect different astrocyte states or responses to pathology.</a:t>
            </a:r>
          </a:p>
        </p:txBody>
      </p:sp>
      <p:sp>
        <p:nvSpPr>
          <p:cNvPr id="12" name="Rounded Rectangle 11">
            <a:extLst>
              <a:ext uri="{FF2B5EF4-FFF2-40B4-BE49-F238E27FC236}">
                <a16:creationId xmlns:a16="http://schemas.microsoft.com/office/drawing/2014/main" id="{91392F38-86F6-4BD3-BEAB-0303DDC5FA1F}"/>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55FD709-F7B7-45FF-ADC0-227F35E7FF2C}"/>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9E3A00"/>
                </a:solidFill>
                <a:latin typeface="Arial"/>
                <a:ea typeface="Arial"/>
                <a:cs typeface="Arial"/>
              </a:rPr>
              <a:t>INFERENCE LIMIT</a:t>
            </a:r>
          </a:p>
        </p:txBody>
      </p:sp>
      <p:sp>
        <p:nvSpPr>
          <p:cNvPr id="14" name="TextBox 13">
            <a:extLst>
              <a:ext uri="{FF2B5EF4-FFF2-40B4-BE49-F238E27FC236}">
                <a16:creationId xmlns:a16="http://schemas.microsoft.com/office/drawing/2014/main" id="{F8609CD8-9955-412A-B034-DD97427671F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400" b="1" i="0">
                <a:solidFill>
                  <a:srgbClr val="0F233D"/>
                </a:solidFill>
                <a:latin typeface="Arial"/>
                <a:ea typeface="Arial"/>
                <a:cs typeface="Arial"/>
              </a:rPr>
              <a:t>Separate group analyses do not prove that the groups differ</a:t>
            </a:r>
          </a:p>
        </p:txBody>
      </p:sp>
      <p:sp>
        <p:nvSpPr>
          <p:cNvPr id="15" name="TextBox 14">
            <a:extLst>
              <a:ext uri="{FF2B5EF4-FFF2-40B4-BE49-F238E27FC236}">
                <a16:creationId xmlns:a16="http://schemas.microsoft.com/office/drawing/2014/main" id="{6218D191-E4F4-47BC-B8D7-622238F8C1AF}"/>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A formal interaction model must directly compare disease effects across sex and APOE groups.</a:t>
            </a:r>
          </a:p>
        </p:txBody>
      </p:sp>
      <p:sp>
        <p:nvSpPr>
          <p:cNvPr id="16" name="Rounded Rectangle 15">
            <a:extLst>
              <a:ext uri="{FF2B5EF4-FFF2-40B4-BE49-F238E27FC236}">
                <a16:creationId xmlns:a16="http://schemas.microsoft.com/office/drawing/2014/main" id="{3BDAA785-1AE5-4B5F-835A-224D59960F5F}"/>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15A4360-632D-4FB4-94F0-E3C3B9B3E4B1}"/>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70060E39-0F8F-4142-ADEC-FC7BEE9A57A3}"/>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20" b="1" i="0">
                <a:solidFill>
                  <a:srgbClr val="1F2730"/>
                </a:solidFill>
                <a:latin typeface="Arial"/>
                <a:ea typeface="Arial"/>
                <a:cs typeface="Arial"/>
              </a:rPr>
              <a:t>The result supports testing separate APOE models by sex and genotype rather than assuming an ε4-only effect.</a:t>
            </a:r>
          </a:p>
        </p:txBody>
      </p:sp>
    </p:spTree>
    <p:extLst>
      <p:ext uri="{BB962C8B-B14F-4D97-AF65-F5344CB8AC3E}">
        <p14:creationId val="1264404184"/>
      </p:ext>
    </p:extLst>
  </p:cSld>
  <p:clrMapOvr>
    <a:masterClrMapping/>
  </p:clrMapOvr>
  <p:transition/>
  <p:timing/>
</p:sld>
</file>

<file path=ppt/slides/slide14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7D780075-3F37-4C2D-91EB-6EC672CDDE4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How prior research supports and limits Finding 15</a:t>
            </a:r>
          </a:p>
        </p:txBody>
      </p:sp>
      <p:sp>
        <p:nvSpPr>
          <p:cNvPr id="3" name="TextBox 2">
            <a:extLst>
              <a:ext uri="{FF2B5EF4-FFF2-40B4-BE49-F238E27FC236}">
                <a16:creationId xmlns:a16="http://schemas.microsoft.com/office/drawing/2014/main" id="{123A4D24-4729-4F17-91A0-BDAB0DE9F5F1}"/>
              </a:ext>
            </a:extLst>
          </p:cNvPr>
          <p:cNvSpPr>
            <a:spLocks noGrp="1"/>
          </p:cNvSpPr>
          <p:nvPr/>
        </p:nvSpPr>
        <p:spPr>
          <a:xfrm>
            <a:off x="548640" y="873468"/>
            <a:ext cx="10927080" cy="270843"/>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00" b="1" i="0">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2AD410D3-778D-4257-B4F7-C935FC1BCB1A}"/>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5326824-3182-4E74-9E13-A66E89DB648A}"/>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ECF8B858-D6B5-4236-8831-BB23F0CA62A2}"/>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350" b="1" i="0">
                <a:solidFill>
                  <a:srgbClr val="0F233D"/>
                </a:solidFill>
                <a:latin typeface="Arial"/>
                <a:ea typeface="Arial"/>
                <a:cs typeface="Arial"/>
              </a:rPr>
              <a:t>APOE and AD risk</a:t>
            </a:r>
          </a:p>
        </p:txBody>
      </p:sp>
      <p:sp>
        <p:nvSpPr>
          <p:cNvPr id="7" name="TextBox 6">
            <a:extLst>
              <a:ext uri="{FF2B5EF4-FFF2-40B4-BE49-F238E27FC236}">
                <a16:creationId xmlns:a16="http://schemas.microsoft.com/office/drawing/2014/main" id="{A88A4FAF-9035-489D-AC1D-1C65BACF196E}"/>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BE66AE4-9945-413A-BA03-2EC63C51EEF6}"/>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80" b="0" i="0">
                <a:solidFill>
                  <a:srgbClr val="1F2730"/>
                </a:solidFill>
                <a:latin typeface="Arial"/>
                <a:ea typeface="Arial"/>
                <a:cs typeface="Arial"/>
              </a:rPr>
              <a:t>Establishes APOE as the strongest common late-onset AD risk locus.</a:t>
            </a:r>
          </a:p>
        </p:txBody>
      </p:sp>
      <p:sp>
        <p:nvSpPr>
          <p:cNvPr id="9" name="TextBox 8">
            <a:extLst>
              <a:ext uri="{FF2B5EF4-FFF2-40B4-BE49-F238E27FC236}">
                <a16:creationId xmlns:a16="http://schemas.microsoft.com/office/drawing/2014/main" id="{DB7FDA31-6C12-47A2-A130-A99CBE0FCA86}"/>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788D60E7-973F-445B-BF2B-1D31A5383862}"/>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60" b="0" i="0">
                <a:solidFill>
                  <a:srgbClr val="4E5A68"/>
                </a:solidFill>
                <a:latin typeface="Arial"/>
                <a:ea typeface="Arial"/>
                <a:cs typeface="Arial"/>
              </a:rPr>
              <a:t>Genetics does not confirm the three sets of network connections shown here.</a:t>
            </a:r>
          </a:p>
        </p:txBody>
      </p:sp>
      <p:sp>
        <p:nvSpPr>
          <p:cNvPr id="11" name="Rounded Rectangle 10">
            <a:extLst>
              <a:ext uri="{FF2B5EF4-FFF2-40B4-BE49-F238E27FC236}">
                <a16:creationId xmlns:a16="http://schemas.microsoft.com/office/drawing/2014/main" id="{38BA0748-4ADD-492F-89D1-7136F555CC08}"/>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AB2B353-F721-4AB1-B4E5-562BCC266B2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0937C6E6-8D88-4EEF-8381-F79A59F97C10}"/>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350" b="1" i="0">
                <a:solidFill>
                  <a:srgbClr val="0F233D"/>
                </a:solidFill>
                <a:latin typeface="Arial"/>
                <a:ea typeface="Arial"/>
                <a:cs typeface="Arial"/>
              </a:rPr>
              <a:t>APOE4 astrocyte biology</a:t>
            </a:r>
          </a:p>
        </p:txBody>
      </p:sp>
      <p:sp>
        <p:nvSpPr>
          <p:cNvPr id="14" name="TextBox 13">
            <a:extLst>
              <a:ext uri="{FF2B5EF4-FFF2-40B4-BE49-F238E27FC236}">
                <a16:creationId xmlns:a16="http://schemas.microsoft.com/office/drawing/2014/main" id="{24D5D30A-BCCB-45BB-AC2C-B4F43B5137A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6C3C85B5-A178-449A-BB94-D3DF6B0EF275}"/>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80" b="0" i="0">
                <a:solidFill>
                  <a:srgbClr val="1F2730"/>
                </a:solidFill>
                <a:latin typeface="Arial"/>
                <a:ea typeface="Arial"/>
                <a:cs typeface="Arial"/>
              </a:rPr>
              <a:t>Shows that APOE-related changes in astrocytes can alter normal mitochondrial function.</a:t>
            </a:r>
          </a:p>
        </p:txBody>
      </p:sp>
      <p:sp>
        <p:nvSpPr>
          <p:cNvPr id="16" name="TextBox 15">
            <a:extLst>
              <a:ext uri="{FF2B5EF4-FFF2-40B4-BE49-F238E27FC236}">
                <a16:creationId xmlns:a16="http://schemas.microsoft.com/office/drawing/2014/main" id="{93E2BBD8-4F2B-42C7-80D9-B9CB222771AB}"/>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AEB4A02-DAF8-4032-BFEE-C42BB179A865}"/>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60" b="0" i="0">
                <a:solidFill>
                  <a:srgbClr val="4E5A68"/>
                </a:solidFill>
                <a:latin typeface="Arial"/>
                <a:ea typeface="Arial"/>
                <a:cs typeface="Arial"/>
              </a:rPr>
              <a:t>Does not explain opposite directions across these groups.</a:t>
            </a:r>
          </a:p>
        </p:txBody>
      </p:sp>
      <p:sp>
        <p:nvSpPr>
          <p:cNvPr id="18" name="Rounded Rectangle 17">
            <a:extLst>
              <a:ext uri="{FF2B5EF4-FFF2-40B4-BE49-F238E27FC236}">
                <a16:creationId xmlns:a16="http://schemas.microsoft.com/office/drawing/2014/main" id="{C0890806-8E84-482F-B541-F5432EC20A51}"/>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F9B2D66C-60E9-4247-BDCA-713D0EF20938}"/>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500" b="1" i="0">
                <a:solidFill>
                  <a:srgbClr val="895600"/>
                </a:solidFill>
                <a:latin typeface="Arial"/>
                <a:ea typeface="Arial"/>
                <a:cs typeface="Arial"/>
              </a:rPr>
              <a:t>Schmukler et al. 2020</a:t>
            </a:r>
          </a:p>
        </p:txBody>
      </p:sp>
      <p:sp>
        <p:nvSpPr>
          <p:cNvPr id="20" name="TextBox 19">
            <a:extLst>
              <a:ext uri="{FF2B5EF4-FFF2-40B4-BE49-F238E27FC236}">
                <a16:creationId xmlns:a16="http://schemas.microsoft.com/office/drawing/2014/main" id="{342703C5-4F16-4BA3-B9D3-8F9BB5197C0F}"/>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350" b="1" i="0">
                <a:solidFill>
                  <a:srgbClr val="0F233D"/>
                </a:solidFill>
                <a:latin typeface="Arial"/>
                <a:ea typeface="Arial"/>
                <a:cs typeface="Arial"/>
              </a:rPr>
              <a:t>APOE4 and removal of damaged mitochondria</a:t>
            </a:r>
          </a:p>
        </p:txBody>
      </p:sp>
      <p:sp>
        <p:nvSpPr>
          <p:cNvPr id="21" name="TextBox 20">
            <a:extLst>
              <a:ext uri="{FF2B5EF4-FFF2-40B4-BE49-F238E27FC236}">
                <a16:creationId xmlns:a16="http://schemas.microsoft.com/office/drawing/2014/main" id="{82198E31-F28F-4FB5-BE0D-5DDFB64E2555}"/>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9B71BD56-4AA9-480B-AC56-6080662C25EC}"/>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80" b="0" i="0">
                <a:solidFill>
                  <a:srgbClr val="1F2730"/>
                </a:solidFill>
                <a:latin typeface="Arial"/>
                <a:ea typeface="Arial"/>
                <a:cs typeface="Arial"/>
              </a:rPr>
              <a:t>Connects APOE4 astrocytes with changes in mitochondrial shape and removal of damaged mitochondria.</a:t>
            </a:r>
          </a:p>
        </p:txBody>
      </p:sp>
      <p:sp>
        <p:nvSpPr>
          <p:cNvPr id="23" name="TextBox 22">
            <a:extLst>
              <a:ext uri="{FF2B5EF4-FFF2-40B4-BE49-F238E27FC236}">
                <a16:creationId xmlns:a16="http://schemas.microsoft.com/office/drawing/2014/main" id="{EB422183-449C-4AD0-9DA0-68A82C61FEE1}"/>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BA4E32EA-A8B4-48EF-A32B-CAE6FC181CD0}"/>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60" b="0" i="0">
                <a:solidFill>
                  <a:srgbClr val="4E5A68"/>
                </a:solidFill>
                <a:latin typeface="Arial"/>
                <a:ea typeface="Arial"/>
                <a:cs typeface="Arial"/>
              </a:rPr>
              <a:t>The current KDA result also includes ε2 groups.</a:t>
            </a:r>
          </a:p>
        </p:txBody>
      </p:sp>
      <p:sp>
        <p:nvSpPr>
          <p:cNvPr id="25" name="Rounded Rectangle 24">
            <a:extLst>
              <a:ext uri="{FF2B5EF4-FFF2-40B4-BE49-F238E27FC236}">
                <a16:creationId xmlns:a16="http://schemas.microsoft.com/office/drawing/2014/main" id="{E6F9C21B-8A92-4B83-8610-DDF8CE010B35}"/>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953DCC0B-609C-4521-8A64-75B47DDAD632}"/>
              </a:ext>
            </a:extLst>
          </p:cNvPr>
          <p:cNvSpPr>
            <a:spLocks noGrp="1"/>
          </p:cNvSpPr>
          <p:nvPr/>
        </p:nvSpPr>
        <p:spPr>
          <a:xfrm>
            <a:off x="896112" y="5952744"/>
            <a:ext cx="10405872" cy="221599"/>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lang="en-US" sz="1080" b="1" i="0">
                <a:solidFill>
                  <a:srgbClr val="7E4C9A"/>
                </a:solidFill>
                <a:latin typeface="Arial"/>
                <a:ea typeface="Arial"/>
                <a:cs typeface="Arial"/>
              </a:rPr>
              <a:t>Novelty</a:t>
            </a:r>
            <a:r>
              <a:rPr sz="1080" b="1" i="0">
                <a:solidFill>
                  <a:srgbClr val="7E4C9A"/>
                </a:solidFill>
                <a:latin typeface="Arial"/>
                <a:ea typeface="Arial"/>
                <a:cs typeface="Arial"/>
              </a:rPr>
              <a:t>: Moderate</a:t>
            </a:r>
          </a:p>
        </p:txBody>
      </p:sp>
    </p:spTree>
    <p:extLst>
      <p:ext uri="{BB962C8B-B14F-4D97-AF65-F5344CB8AC3E}">
        <p14:creationId val="95123715"/>
      </p:ext>
    </p:extLst>
  </p:cSld>
  <p:clrMapOvr>
    <a:masterClrMapping/>
  </p:clrMapOvr>
  <p:transition/>
  <p:timing/>
</p:sld>
</file>

<file path=ppt/slides/slide14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0F233D"/>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5AB4866B-94BF-4EA4-8293-8F2AF3B4095E}"/>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050" b="1" i="0">
                <a:solidFill>
                  <a:srgbClr val="E69F00"/>
                </a:solidFill>
                <a:latin typeface="Arial"/>
                <a:ea typeface="Arial"/>
                <a:cs typeface="Arial"/>
              </a:rPr>
              <a:t>FINDING 16</a:t>
            </a:r>
          </a:p>
        </p:txBody>
      </p:sp>
      <p:sp>
        <p:nvSpPr>
          <p:cNvPr id="3" name="Rectangle 2">
            <a:extLst>
              <a:ext uri="{FF2B5EF4-FFF2-40B4-BE49-F238E27FC236}">
                <a16:creationId xmlns:a16="http://schemas.microsoft.com/office/drawing/2014/main" id="{280A5786-1857-45E5-B911-7AD43CD3206E}"/>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FBD3E44-910B-4A74-B1F5-06205A628E09}"/>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2200" b="1" i="0">
                <a:solidFill>
                  <a:srgbClr val="FFFFFF"/>
                </a:solidFill>
                <a:latin typeface="Arial"/>
                <a:ea typeface="Arial"/>
                <a:cs typeface="Arial"/>
              </a:rPr>
              <a:t>Vascular stress-response genes in the female APOE ε4 group</a:t>
            </a:r>
          </a:p>
        </p:txBody>
      </p:sp>
      <p:sp>
        <p:nvSpPr>
          <p:cNvPr id="5" name="TextBox 4">
            <a:extLst>
              <a:ext uri="{FF2B5EF4-FFF2-40B4-BE49-F238E27FC236}">
                <a16:creationId xmlns:a16="http://schemas.microsoft.com/office/drawing/2014/main" id="{6B30A585-D160-4363-9CCB-0E4289900B8B}"/>
              </a:ext>
            </a:extLst>
          </p:cNvPr>
          <p:cNvSpPr>
            <a:spLocks noGrp="1"/>
          </p:cNvSpPr>
          <p:nvPr/>
        </p:nvSpPr>
        <p:spPr>
          <a:xfrm>
            <a:off x="1097280" y="2468880"/>
            <a:ext cx="7406640" cy="914400"/>
          </a:xfrm>
          <a:prstGeom prst="rect">
            <a:avLst/>
          </a:prstGeom>
          <a:noFill/>
        </p:spPr>
        <p:txBody>
          <a:bodyPr wrap="square" lIns="0" tIns="0" rIns="0" bIns="0" anchor="t">
            <a:normAutofit/>
          </a:bodyPr>
          <a:lstStyle/>
          <a:p>
            <a:pPr algn="l">
              <a:lnSpc>
                <a:spcPct val="100000"/>
              </a:lnSpc>
              <a:spcBef>
                <a:spcPct val="0"/>
              </a:spcBef>
              <a:spcAft>
                <a:spcPct val="0"/>
              </a:spcAft>
              <a:buNone/>
              <a:defRPr sz="1350" b="1">
                <a:solidFill>
                  <a:srgbClr val="E6A700"/>
                </a:solidFill>
                <a:latin typeface="Arial"/>
                <a:ea typeface="Arial"/>
                <a:cs typeface="Arial"/>
              </a:defRPr>
            </a:pPr>
            <a:r>
              <a:rPr sz="1350" b="1" i="0">
                <a:solidFill>
                  <a:srgbClr val="E6A700"/>
                </a:solidFill>
                <a:latin typeface="Arial"/>
                <a:ea typeface="Arial"/>
                <a:cs typeface="Arial"/>
              </a:rPr>
              <a:t>Donor group: female, APOE ε4-containing</a:t>
            </a:r>
          </a:p>
        </p:txBody>
      </p:sp>
      <p:sp>
        <p:nvSpPr>
          <p:cNvPr id="6" name="Rounded Rectangle 5">
            <a:extLst>
              <a:ext uri="{FF2B5EF4-FFF2-40B4-BE49-F238E27FC236}">
                <a16:creationId xmlns:a16="http://schemas.microsoft.com/office/drawing/2014/main" id="{99ABAAFB-BE5E-4CB6-957F-57B24E968874}"/>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D4951E5-66C5-4A9E-8004-EF5B39EDF480}"/>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C0B97A71-8C0A-42FF-8529-A00BD0B84CFD}"/>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B0E45B0-CD83-48B6-9E78-F0F0CB00A4E1}"/>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F5E762F-15E6-4FA5-94C1-E05A61EADB1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AFBD2A2C-8BDD-4523-A8A0-189BD82A1EB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04EA92A-0C9A-4A26-B2B0-64ECAB11B39F}"/>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01E7F6A4-1233-4269-B326-00125A51F923}"/>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36B5FE0B-270D-4DFA-B384-D70CADDDFA31}"/>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B833B61-1E74-4AA4-B71A-3EC76CE01E12}"/>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BE311415-6D3A-4348-AE42-39600B075F4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781B1453-AD5A-4DEE-8548-821903613EAB}"/>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055413E8-B841-467D-934E-1A334CA8A4F5}"/>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0FFBBD16-97F9-42CB-854B-16B82A57EEE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5616C0C1-C4ED-4097-ACC6-F7FBCB952B23}"/>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187EB02-95FE-45B0-9A86-56BDE382BC71}"/>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20" b="1" i="0">
                <a:solidFill>
                  <a:srgbClr val="FFFFFF"/>
                </a:solidFill>
                <a:latin typeface="Arial"/>
                <a:ea typeface="Arial"/>
                <a:cs typeface="Arial"/>
              </a:rPr>
              <a:t>APOE ε4 identifies the donor group, not a pathway. Two vascular-cell KDA calls return HSPH1, HSPA1A, and PTGES3.</a:t>
            </a:r>
          </a:p>
        </p:txBody>
      </p:sp>
    </p:spTree>
    <p:extLst>
      <p:ext uri="{BB962C8B-B14F-4D97-AF65-F5344CB8AC3E}">
        <p14:creationId val="557967063"/>
      </p:ext>
    </p:extLst>
  </p:cSld>
  <p:clrMapOvr>
    <a:masterClrMapping/>
  </p:clrMapOvr>
  <p:transition/>
  <p:timing/>
</p:sld>
</file>

<file path=ppt/slides/slide15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BFF89202-BCA1-4B9B-931E-675F0016DB8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Vascular KDA calls in the female APOE ε4 group return three protein-stress genes</a:t>
            </a:r>
          </a:p>
        </p:txBody>
      </p:sp>
      <p:sp>
        <p:nvSpPr>
          <p:cNvPr id="3" name="TextBox 2">
            <a:extLst>
              <a:ext uri="{FF2B5EF4-FFF2-40B4-BE49-F238E27FC236}">
                <a16:creationId xmlns:a16="http://schemas.microsoft.com/office/drawing/2014/main" id="{B85E40F5-DDF2-462E-B59D-F2FABD428D7A}"/>
              </a:ext>
            </a:extLst>
          </p:cNvPr>
          <p:cNvSpPr>
            <a:spLocks noGrp="1"/>
          </p:cNvSpPr>
          <p:nvPr/>
        </p:nvSpPr>
        <p:spPr>
          <a:xfrm>
            <a:off x="548640" y="844977"/>
            <a:ext cx="10927080" cy="270843"/>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00" b="1" i="0">
                <a:latin typeface="Arial"/>
                <a:ea typeface="Arial"/>
                <a:cs typeface="Arial"/>
              </a:rPr>
              <a:t>The sex and APOE labels define the donor group. These genes point to protein stress, and literal heat is not required.</a:t>
            </a:r>
          </a:p>
        </p:txBody>
      </p:sp>
      <p:sp>
        <p:nvSpPr>
          <p:cNvPr id="4" name="Rounded Rectangle 3">
            <a:extLst>
              <a:ext uri="{FF2B5EF4-FFF2-40B4-BE49-F238E27FC236}">
                <a16:creationId xmlns:a16="http://schemas.microsoft.com/office/drawing/2014/main" id="{9EE5E1AD-6B10-4685-BC84-5F416399F3FA}"/>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925C89D-2748-49E6-A13D-5C2F53CA3226}"/>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40" b="1" i="0">
                <a:solidFill>
                  <a:srgbClr val="0072B2"/>
                </a:solidFill>
                <a:latin typeface="Arial"/>
                <a:ea typeface="Arial"/>
                <a:cs typeface="Arial"/>
              </a:rPr>
              <a:t>Female donors</a:t>
            </a:r>
          </a:p>
        </p:txBody>
      </p:sp>
      <p:sp>
        <p:nvSpPr>
          <p:cNvPr id="6" name="Rounded Rectangle 5">
            <a:extLst>
              <a:ext uri="{FF2B5EF4-FFF2-40B4-BE49-F238E27FC236}">
                <a16:creationId xmlns:a16="http://schemas.microsoft.com/office/drawing/2014/main" id="{A6CF6F6E-1B6C-41D8-80E5-803DEEEE5785}"/>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BA88055-16B3-44A2-B89E-80332AE7A599}"/>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40" b="1" i="0">
                <a:solidFill>
                  <a:srgbClr val="00684D"/>
                </a:solidFill>
                <a:latin typeface="Arial"/>
                <a:ea typeface="Arial"/>
                <a:cs typeface="Arial"/>
              </a:rPr>
              <a:t>APOE ε4-containing</a:t>
            </a:r>
          </a:p>
        </p:txBody>
      </p:sp>
      <p:sp>
        <p:nvSpPr>
          <p:cNvPr id="8" name="Rounded Rectangle 7">
            <a:extLst>
              <a:ext uri="{FF2B5EF4-FFF2-40B4-BE49-F238E27FC236}">
                <a16:creationId xmlns:a16="http://schemas.microsoft.com/office/drawing/2014/main" id="{0599409E-9766-458C-99BF-6F50ECD33ACE}"/>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2D5B4FD-007D-43B1-8D9A-C067A69A15EA}"/>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40" b="1" i="0">
                <a:solidFill>
                  <a:srgbClr val="895600"/>
                </a:solidFill>
                <a:latin typeface="Arial"/>
                <a:ea typeface="Arial"/>
                <a:cs typeface="Arial"/>
              </a:rPr>
              <a:t>Vascular cells</a:t>
            </a:r>
          </a:p>
        </p:txBody>
      </p:sp>
      <p:sp>
        <p:nvSpPr>
          <p:cNvPr id="10" name="Rounded Rectangle 9">
            <a:extLst>
              <a:ext uri="{FF2B5EF4-FFF2-40B4-BE49-F238E27FC236}">
                <a16:creationId xmlns:a16="http://schemas.microsoft.com/office/drawing/2014/main" id="{B22C3E4F-15FA-4E07-AA6A-D7FA723DE406}"/>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D341FE4F-898E-474E-9062-64BB1223A734}"/>
              </a:ext>
            </a:extLst>
          </p:cNvPr>
          <p:cNvSpPr>
            <a:spLocks noGrp="1"/>
          </p:cNvSpPr>
          <p:nvPr/>
        </p:nvSpPr>
        <p:spPr>
          <a:xfrm>
            <a:off x="9290304" y="1399032"/>
            <a:ext cx="2359151" cy="213360"/>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040" b="1" i="0">
                <a:solidFill>
                  <a:srgbClr val="9E3A00"/>
                </a:solidFill>
                <a:latin typeface="Arial"/>
                <a:ea typeface="Arial"/>
                <a:cs typeface="Arial"/>
              </a:rPr>
              <a:t>Two eligible KDA calls</a:t>
            </a:r>
          </a:p>
        </p:txBody>
      </p:sp>
      <p:sp>
        <p:nvSpPr>
          <p:cNvPr id="12" name="Rounded Rectangle 11">
            <a:extLst>
              <a:ext uri="{FF2B5EF4-FFF2-40B4-BE49-F238E27FC236}">
                <a16:creationId xmlns:a16="http://schemas.microsoft.com/office/drawing/2014/main" id="{49903862-D5B7-4E1C-A89F-F9C1137E4313}"/>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B708D6C-9A1A-4E1D-AD08-CA82139F1683}"/>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72B2"/>
                </a:solidFill>
                <a:latin typeface="Arial"/>
                <a:ea typeface="Arial"/>
                <a:cs typeface="Arial"/>
              </a:rPr>
              <a:t>HSPA1A</a:t>
            </a:r>
          </a:p>
        </p:txBody>
      </p:sp>
      <p:sp>
        <p:nvSpPr>
          <p:cNvPr id="14" name="TextBox 13">
            <a:extLst>
              <a:ext uri="{FF2B5EF4-FFF2-40B4-BE49-F238E27FC236}">
                <a16:creationId xmlns:a16="http://schemas.microsoft.com/office/drawing/2014/main" id="{7FE7E70C-3615-4D52-B19E-9F375F1A177F}"/>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Protein-folding helper during stress</a:t>
            </a:r>
          </a:p>
        </p:txBody>
      </p:sp>
      <p:sp>
        <p:nvSpPr>
          <p:cNvPr id="15" name="TextBox 14">
            <a:extLst>
              <a:ext uri="{FF2B5EF4-FFF2-40B4-BE49-F238E27FC236}">
                <a16:creationId xmlns:a16="http://schemas.microsoft.com/office/drawing/2014/main" id="{9EBADCA5-936B-4174-BFDB-E0D36C179365}"/>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Helps proteins fold correctly or recover after stress.</a:t>
            </a:r>
          </a:p>
        </p:txBody>
      </p:sp>
      <p:sp>
        <p:nvSpPr>
          <p:cNvPr id="16" name="Rounded Rectangle 15">
            <a:extLst>
              <a:ext uri="{FF2B5EF4-FFF2-40B4-BE49-F238E27FC236}">
                <a16:creationId xmlns:a16="http://schemas.microsoft.com/office/drawing/2014/main" id="{39C6970C-FF6E-48C1-938C-B98E548B3586}"/>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5D3CD1F-22E8-4AF5-BAB4-3A5D7F2BD329}"/>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684D"/>
                </a:solidFill>
                <a:latin typeface="Arial"/>
                <a:ea typeface="Arial"/>
                <a:cs typeface="Arial"/>
              </a:rPr>
              <a:t>HSPH1</a:t>
            </a:r>
          </a:p>
        </p:txBody>
      </p:sp>
      <p:sp>
        <p:nvSpPr>
          <p:cNvPr id="18" name="TextBox 17">
            <a:extLst>
              <a:ext uri="{FF2B5EF4-FFF2-40B4-BE49-F238E27FC236}">
                <a16:creationId xmlns:a16="http://schemas.microsoft.com/office/drawing/2014/main" id="{42AF5F4F-AB48-4BC1-8988-EEAE94EB3C3F}"/>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Helps damaged proteins refold</a:t>
            </a:r>
          </a:p>
        </p:txBody>
      </p:sp>
      <p:sp>
        <p:nvSpPr>
          <p:cNvPr id="19" name="TextBox 18">
            <a:extLst>
              <a:ext uri="{FF2B5EF4-FFF2-40B4-BE49-F238E27FC236}">
                <a16:creationId xmlns:a16="http://schemas.microsoft.com/office/drawing/2014/main" id="{113471AA-12ED-4B4A-B97A-D1CB9335CD03}"/>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Works with other heat-shock proteins to protect damaged proteins.</a:t>
            </a:r>
          </a:p>
        </p:txBody>
      </p:sp>
      <p:sp>
        <p:nvSpPr>
          <p:cNvPr id="20" name="Rounded Rectangle 19">
            <a:extLst>
              <a:ext uri="{FF2B5EF4-FFF2-40B4-BE49-F238E27FC236}">
                <a16:creationId xmlns:a16="http://schemas.microsoft.com/office/drawing/2014/main" id="{5B152E72-A344-40C5-8CD9-225BBE48CD26}"/>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E0AC003-F13D-407A-AAFD-91811A16745B}"/>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895600"/>
                </a:solidFill>
                <a:latin typeface="Arial"/>
                <a:ea typeface="Arial"/>
                <a:cs typeface="Arial"/>
              </a:rPr>
              <a:t>PTGES3</a:t>
            </a:r>
          </a:p>
        </p:txBody>
      </p:sp>
      <p:sp>
        <p:nvSpPr>
          <p:cNvPr id="22" name="TextBox 21">
            <a:extLst>
              <a:ext uri="{FF2B5EF4-FFF2-40B4-BE49-F238E27FC236}">
                <a16:creationId xmlns:a16="http://schemas.microsoft.com/office/drawing/2014/main" id="{1CAE43D6-75CE-48A5-B395-7A219029D2E6}"/>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Protein-folding protein</a:t>
            </a:r>
          </a:p>
        </p:txBody>
      </p:sp>
      <p:sp>
        <p:nvSpPr>
          <p:cNvPr id="23" name="TextBox 22">
            <a:extLst>
              <a:ext uri="{FF2B5EF4-FFF2-40B4-BE49-F238E27FC236}">
                <a16:creationId xmlns:a16="http://schemas.microsoft.com/office/drawing/2014/main" id="{2A44BDEA-4451-416A-854C-3838CA6B10A0}"/>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Has protein-folding functions in addition to its other cellular roles.</a:t>
            </a:r>
          </a:p>
        </p:txBody>
      </p:sp>
    </p:spTree>
    <p:extLst>
      <p:ext uri="{BB962C8B-B14F-4D97-AF65-F5344CB8AC3E}">
        <p14:creationId val="197393502"/>
      </p:ext>
    </p:extLst>
  </p:cSld>
  <p:clrMapOvr>
    <a:masterClrMapping/>
  </p:clrMapOvr>
  <p:transition/>
  <p:timing/>
</p:sld>
</file>

<file path=ppt/slides/slide15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AC90BE16-71B8-4733-9DF1-56F21DF7206F}"/>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Three of five returned genes map to two overlapping stress-response pathways</a:t>
            </a:r>
          </a:p>
        </p:txBody>
      </p:sp>
      <p:sp>
        <p:nvSpPr>
          <p:cNvPr id="3" name="TextBox 2">
            <a:extLst>
              <a:ext uri="{FF2B5EF4-FFF2-40B4-BE49-F238E27FC236}">
                <a16:creationId xmlns:a16="http://schemas.microsoft.com/office/drawing/2014/main" id="{427EF456-3FF2-40E7-91C9-5ABBE336057B}"/>
              </a:ext>
            </a:extLst>
          </p:cNvPr>
          <p:cNvSpPr>
            <a:spLocks noGrp="1"/>
          </p:cNvSpPr>
          <p:nvPr/>
        </p:nvSpPr>
        <p:spPr>
          <a:xfrm>
            <a:off x="548640" y="1004433"/>
            <a:ext cx="11113008" cy="270843"/>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00" b="1" i="0">
                <a:latin typeface="Arial"/>
                <a:ea typeface="Arial"/>
                <a:cs typeface="Arial"/>
              </a:rPr>
              <a:t>For this donor group, pathway analysis tests whether the five returned genes occur more often than expected in known gene sets.</a:t>
            </a:r>
          </a:p>
        </p:txBody>
      </p:sp>
      <p:sp>
        <p:nvSpPr>
          <p:cNvPr id="4" name="Rounded Rectangle 3">
            <a:extLst>
              <a:ext uri="{FF2B5EF4-FFF2-40B4-BE49-F238E27FC236}">
                <a16:creationId xmlns:a16="http://schemas.microsoft.com/office/drawing/2014/main" id="{D8E537D8-0A36-40EB-9362-1964AFD9727D}"/>
              </a:ext>
            </a:extLst>
          </p:cNvPr>
          <p:cNvSpPr>
            <a:spLocks noGrp="1"/>
          </p:cNvSpPr>
          <p:nvPr/>
        </p:nvSpPr>
        <p:spPr>
          <a:xfrm>
            <a:off x="658368" y="1730327"/>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1E293BE-D4B1-4C58-853A-22216102DCD5}"/>
              </a:ext>
            </a:extLst>
          </p:cNvPr>
          <p:cNvSpPr>
            <a:spLocks noGrp="1"/>
          </p:cNvSpPr>
          <p:nvPr/>
        </p:nvSpPr>
        <p:spPr>
          <a:xfrm>
            <a:off x="822959" y="1858342"/>
            <a:ext cx="3127248" cy="4846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800" b="1" i="0">
                <a:solidFill>
                  <a:srgbClr val="0072B2"/>
                </a:solidFill>
                <a:latin typeface="Arial"/>
                <a:ea typeface="Arial"/>
                <a:cs typeface="Arial"/>
              </a:rPr>
              <a:t>5</a:t>
            </a:r>
          </a:p>
        </p:txBody>
      </p:sp>
      <p:sp>
        <p:nvSpPr>
          <p:cNvPr id="6" name="TextBox 5">
            <a:extLst>
              <a:ext uri="{FF2B5EF4-FFF2-40B4-BE49-F238E27FC236}">
                <a16:creationId xmlns:a16="http://schemas.microsoft.com/office/drawing/2014/main" id="{08C98539-9F26-40F9-B7CE-3A40AB9C4689}"/>
              </a:ext>
            </a:extLst>
          </p:cNvPr>
          <p:cNvSpPr>
            <a:spLocks noGrp="1"/>
          </p:cNvSpPr>
          <p:nvPr/>
        </p:nvSpPr>
        <p:spPr>
          <a:xfrm>
            <a:off x="822959" y="2388695"/>
            <a:ext cx="3127248" cy="365455"/>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19" b="1" i="0">
                <a:solidFill>
                  <a:srgbClr val="0F233D"/>
                </a:solidFill>
                <a:latin typeface="Arial"/>
                <a:ea typeface="Arial"/>
                <a:cs typeface="Arial"/>
              </a:rPr>
              <a:t>unique non-MitoCarta genes returned from vascular KDA calls</a:t>
            </a:r>
          </a:p>
        </p:txBody>
      </p:sp>
      <p:sp>
        <p:nvSpPr>
          <p:cNvPr id="7" name="TextBox 6">
            <a:extLst>
              <a:ext uri="{FF2B5EF4-FFF2-40B4-BE49-F238E27FC236}">
                <a16:creationId xmlns:a16="http://schemas.microsoft.com/office/drawing/2014/main" id="{C9704254-6633-476E-8841-17132A24BE48}"/>
              </a:ext>
            </a:extLst>
          </p:cNvPr>
          <p:cNvSpPr>
            <a:spLocks noGrp="1"/>
          </p:cNvSpPr>
          <p:nvPr/>
        </p:nvSpPr>
        <p:spPr>
          <a:xfrm>
            <a:off x="822959" y="2717879"/>
            <a:ext cx="3127248" cy="21945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880" b="0" i="0">
                <a:solidFill>
                  <a:srgbClr val="4E5A68"/>
                </a:solidFill>
                <a:latin typeface="Arial"/>
                <a:ea typeface="Arial"/>
                <a:cs typeface="Arial"/>
              </a:rPr>
              <a:t>female APOE ε4-containing donor group</a:t>
            </a:r>
          </a:p>
        </p:txBody>
      </p:sp>
      <p:sp>
        <p:nvSpPr>
          <p:cNvPr id="8" name="Rounded Rectangle 7">
            <a:extLst>
              <a:ext uri="{FF2B5EF4-FFF2-40B4-BE49-F238E27FC236}">
                <a16:creationId xmlns:a16="http://schemas.microsoft.com/office/drawing/2014/main" id="{DDA1DFA2-5DD9-4947-B275-7ECD32063BAD}"/>
              </a:ext>
            </a:extLst>
          </p:cNvPr>
          <p:cNvSpPr>
            <a:spLocks noGrp="1"/>
          </p:cNvSpPr>
          <p:nvPr/>
        </p:nvSpPr>
        <p:spPr>
          <a:xfrm>
            <a:off x="4453128" y="1730327"/>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250FAAA-594C-4947-80E0-E4D846A0BB31}"/>
              </a:ext>
            </a:extLst>
          </p:cNvPr>
          <p:cNvSpPr>
            <a:spLocks noGrp="1"/>
          </p:cNvSpPr>
          <p:nvPr/>
        </p:nvSpPr>
        <p:spPr>
          <a:xfrm>
            <a:off x="4617720" y="1858342"/>
            <a:ext cx="3127248" cy="4846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800" b="1" i="0">
                <a:solidFill>
                  <a:srgbClr val="00684D"/>
                </a:solidFill>
                <a:latin typeface="Arial"/>
                <a:ea typeface="Arial"/>
                <a:cs typeface="Arial"/>
              </a:rPr>
              <a:t>3</a:t>
            </a:r>
          </a:p>
        </p:txBody>
      </p:sp>
      <p:sp>
        <p:nvSpPr>
          <p:cNvPr id="10" name="TextBox 9">
            <a:extLst>
              <a:ext uri="{FF2B5EF4-FFF2-40B4-BE49-F238E27FC236}">
                <a16:creationId xmlns:a16="http://schemas.microsoft.com/office/drawing/2014/main" id="{EC9C26BC-07DB-4E5A-B13A-CEDC1A837F39}"/>
              </a:ext>
            </a:extLst>
          </p:cNvPr>
          <p:cNvSpPr>
            <a:spLocks noGrp="1"/>
          </p:cNvSpPr>
          <p:nvPr/>
        </p:nvSpPr>
        <p:spPr>
          <a:xfrm>
            <a:off x="4617720" y="2388695"/>
            <a:ext cx="3127248" cy="3108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19" b="1" i="0">
                <a:solidFill>
                  <a:srgbClr val="0F233D"/>
                </a:solidFill>
                <a:latin typeface="Arial"/>
                <a:ea typeface="Arial"/>
                <a:cs typeface="Arial"/>
              </a:rPr>
              <a:t>stress-response genes returned from KDA calls</a:t>
            </a:r>
          </a:p>
        </p:txBody>
      </p:sp>
      <p:sp>
        <p:nvSpPr>
          <p:cNvPr id="11" name="TextBox 10">
            <a:extLst>
              <a:ext uri="{FF2B5EF4-FFF2-40B4-BE49-F238E27FC236}">
                <a16:creationId xmlns:a16="http://schemas.microsoft.com/office/drawing/2014/main" id="{529C55DB-158A-43DB-9CCA-72393A0C29D5}"/>
              </a:ext>
            </a:extLst>
          </p:cNvPr>
          <p:cNvSpPr>
            <a:spLocks noGrp="1"/>
          </p:cNvSpPr>
          <p:nvPr/>
        </p:nvSpPr>
        <p:spPr>
          <a:xfrm>
            <a:off x="4617720" y="2717879"/>
            <a:ext cx="3127248" cy="21945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880" b="0" i="0">
                <a:solidFill>
                  <a:srgbClr val="4E5A68"/>
                </a:solidFill>
                <a:latin typeface="Arial"/>
                <a:ea typeface="Arial"/>
                <a:cs typeface="Arial"/>
              </a:rPr>
              <a:t>HSPH1, HSPA1A, PTGES3</a:t>
            </a:r>
          </a:p>
        </p:txBody>
      </p:sp>
      <p:sp>
        <p:nvSpPr>
          <p:cNvPr id="12" name="Rounded Rectangle 11">
            <a:extLst>
              <a:ext uri="{FF2B5EF4-FFF2-40B4-BE49-F238E27FC236}">
                <a16:creationId xmlns:a16="http://schemas.microsoft.com/office/drawing/2014/main" id="{E135656B-22C9-4596-93EF-82BE0911207A}"/>
              </a:ext>
            </a:extLst>
          </p:cNvPr>
          <p:cNvSpPr>
            <a:spLocks noGrp="1"/>
          </p:cNvSpPr>
          <p:nvPr/>
        </p:nvSpPr>
        <p:spPr>
          <a:xfrm>
            <a:off x="8247888" y="1730327"/>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2D0C028-F2B2-4941-B318-541C13E00AF9}"/>
              </a:ext>
            </a:extLst>
          </p:cNvPr>
          <p:cNvSpPr>
            <a:spLocks noGrp="1"/>
          </p:cNvSpPr>
          <p:nvPr/>
        </p:nvSpPr>
        <p:spPr>
          <a:xfrm>
            <a:off x="8412480" y="1858342"/>
            <a:ext cx="3127248" cy="4846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2800" b="1" i="0">
                <a:solidFill>
                  <a:srgbClr val="895600"/>
                </a:solidFill>
                <a:latin typeface="Arial"/>
                <a:ea typeface="Arial"/>
                <a:cs typeface="Arial"/>
              </a:rPr>
              <a:t>2</a:t>
            </a:r>
          </a:p>
        </p:txBody>
      </p:sp>
      <p:sp>
        <p:nvSpPr>
          <p:cNvPr id="14" name="TextBox 13">
            <a:extLst>
              <a:ext uri="{FF2B5EF4-FFF2-40B4-BE49-F238E27FC236}">
                <a16:creationId xmlns:a16="http://schemas.microsoft.com/office/drawing/2014/main" id="{F4C2800E-6766-4123-A2B9-76474E22EACA}"/>
              </a:ext>
            </a:extLst>
          </p:cNvPr>
          <p:cNvSpPr>
            <a:spLocks noGrp="1"/>
          </p:cNvSpPr>
          <p:nvPr/>
        </p:nvSpPr>
        <p:spPr>
          <a:xfrm>
            <a:off x="8412480" y="2388695"/>
            <a:ext cx="3127248" cy="3108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19" b="1" i="0">
                <a:solidFill>
                  <a:srgbClr val="0F233D"/>
                </a:solidFill>
                <a:latin typeface="Arial"/>
                <a:ea typeface="Arial"/>
                <a:cs typeface="Arial"/>
              </a:rPr>
              <a:t>eligible vascular KDA calls</a:t>
            </a:r>
          </a:p>
        </p:txBody>
      </p:sp>
      <p:sp>
        <p:nvSpPr>
          <p:cNvPr id="15" name="TextBox 14">
            <a:extLst>
              <a:ext uri="{FF2B5EF4-FFF2-40B4-BE49-F238E27FC236}">
                <a16:creationId xmlns:a16="http://schemas.microsoft.com/office/drawing/2014/main" id="{4B0C3E05-B64D-46B0-BBBE-B74B0CEB7382}"/>
              </a:ext>
            </a:extLst>
          </p:cNvPr>
          <p:cNvSpPr>
            <a:spLocks noGrp="1"/>
          </p:cNvSpPr>
          <p:nvPr/>
        </p:nvSpPr>
        <p:spPr>
          <a:xfrm>
            <a:off x="8412480" y="2717879"/>
            <a:ext cx="3127248" cy="21945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880" b="0" i="0">
                <a:solidFill>
                  <a:srgbClr val="4E5A68"/>
                </a:solidFill>
                <a:latin typeface="Arial"/>
                <a:ea typeface="Arial"/>
                <a:cs typeface="Arial"/>
              </a:rPr>
              <a:t>only two KDA calls contribute</a:t>
            </a:r>
          </a:p>
        </p:txBody>
      </p:sp>
      <p:sp>
        <p:nvSpPr>
          <p:cNvPr id="16" name="Rounded Rectangle 15">
            <a:extLst>
              <a:ext uri="{FF2B5EF4-FFF2-40B4-BE49-F238E27FC236}">
                <a16:creationId xmlns:a16="http://schemas.microsoft.com/office/drawing/2014/main" id="{80125B71-1B29-498F-ABB1-5203E1F6F8E0}"/>
              </a:ext>
            </a:extLst>
          </p:cNvPr>
          <p:cNvSpPr>
            <a:spLocks noGrp="1"/>
          </p:cNvSpPr>
          <p:nvPr/>
        </p:nvSpPr>
        <p:spPr>
          <a:xfrm>
            <a:off x="749808" y="3330527"/>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D45FCE8-7C10-4078-996C-C2278413CEE2}"/>
              </a:ext>
            </a:extLst>
          </p:cNvPr>
          <p:cNvSpPr>
            <a:spLocks noGrp="1"/>
          </p:cNvSpPr>
          <p:nvPr/>
        </p:nvSpPr>
        <p:spPr>
          <a:xfrm>
            <a:off x="987552" y="3495119"/>
            <a:ext cx="2331720" cy="45110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300" b="1" i="0">
                <a:solidFill>
                  <a:srgbClr val="0F233D"/>
                </a:solidFill>
                <a:latin typeface="Arial"/>
                <a:ea typeface="Arial"/>
                <a:cs typeface="Arial"/>
              </a:rPr>
              <a:t>Pathway result: genes controlled by HSF1</a:t>
            </a:r>
          </a:p>
        </p:txBody>
      </p:sp>
      <p:sp>
        <p:nvSpPr>
          <p:cNvPr id="18" name="TextBox 17">
            <a:extLst>
              <a:ext uri="{FF2B5EF4-FFF2-40B4-BE49-F238E27FC236}">
                <a16:creationId xmlns:a16="http://schemas.microsoft.com/office/drawing/2014/main" id="{8EF4C5EA-BE03-4C0F-A28B-E17A97A1DFD0}"/>
              </a:ext>
            </a:extLst>
          </p:cNvPr>
          <p:cNvSpPr>
            <a:spLocks noGrp="1"/>
          </p:cNvSpPr>
          <p:nvPr/>
        </p:nvSpPr>
        <p:spPr>
          <a:xfrm>
            <a:off x="3419856" y="3449399"/>
            <a:ext cx="1975104" cy="36576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600" b="1" i="0">
                <a:solidFill>
                  <a:srgbClr val="0072B2"/>
                </a:solidFill>
                <a:latin typeface="Arial"/>
                <a:ea typeface="Arial"/>
                <a:cs typeface="Arial"/>
              </a:rPr>
              <a:t>BH 4.07 × 10⁻⁴</a:t>
            </a:r>
          </a:p>
        </p:txBody>
      </p:sp>
      <p:sp>
        <p:nvSpPr>
          <p:cNvPr id="19" name="TextBox 18">
            <a:extLst>
              <a:ext uri="{FF2B5EF4-FFF2-40B4-BE49-F238E27FC236}">
                <a16:creationId xmlns:a16="http://schemas.microsoft.com/office/drawing/2014/main" id="{59D9DCB1-EB33-44EA-A320-F64036E48E46}"/>
              </a:ext>
            </a:extLst>
          </p:cNvPr>
          <p:cNvSpPr>
            <a:spLocks noGrp="1"/>
          </p:cNvSpPr>
          <p:nvPr/>
        </p:nvSpPr>
        <p:spPr>
          <a:xfrm>
            <a:off x="5596128" y="3449399"/>
            <a:ext cx="5468112" cy="438912"/>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150" b="0" i="0">
                <a:solidFill>
                  <a:srgbClr val="1F2730"/>
                </a:solidFill>
                <a:latin typeface="Arial"/>
                <a:ea typeface="Arial"/>
                <a:cs typeface="Arial"/>
              </a:rPr>
              <a:t>HSF1 controls genes that protect proteins during cell stress</a:t>
            </a:r>
          </a:p>
        </p:txBody>
      </p:sp>
      <p:sp>
        <p:nvSpPr>
          <p:cNvPr id="20" name="Rounded Rectangle 19">
            <a:extLst>
              <a:ext uri="{FF2B5EF4-FFF2-40B4-BE49-F238E27FC236}">
                <a16:creationId xmlns:a16="http://schemas.microsoft.com/office/drawing/2014/main" id="{415F7833-5868-41C5-B8E2-B93C67042392}"/>
              </a:ext>
            </a:extLst>
          </p:cNvPr>
          <p:cNvSpPr>
            <a:spLocks noGrp="1"/>
          </p:cNvSpPr>
          <p:nvPr/>
        </p:nvSpPr>
        <p:spPr>
          <a:xfrm>
            <a:off x="749808" y="4290647"/>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0284674-0A41-4BB3-9833-BB53FFF4946C}"/>
              </a:ext>
            </a:extLst>
          </p:cNvPr>
          <p:cNvSpPr>
            <a:spLocks noGrp="1"/>
          </p:cNvSpPr>
          <p:nvPr/>
        </p:nvSpPr>
        <p:spPr>
          <a:xfrm>
            <a:off x="987552" y="4455238"/>
            <a:ext cx="2331720" cy="45110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300" b="1" i="0">
                <a:solidFill>
                  <a:srgbClr val="0F233D"/>
                </a:solidFill>
                <a:latin typeface="Arial"/>
                <a:ea typeface="Arial"/>
                <a:cs typeface="Arial"/>
              </a:rPr>
              <a:t>Pathway result: cellular response to heat stress</a:t>
            </a:r>
          </a:p>
        </p:txBody>
      </p:sp>
      <p:sp>
        <p:nvSpPr>
          <p:cNvPr id="22" name="TextBox 21">
            <a:extLst>
              <a:ext uri="{FF2B5EF4-FFF2-40B4-BE49-F238E27FC236}">
                <a16:creationId xmlns:a16="http://schemas.microsoft.com/office/drawing/2014/main" id="{8EB44782-AD0D-4F23-9F1B-6E3212BA1C7D}"/>
              </a:ext>
            </a:extLst>
          </p:cNvPr>
          <p:cNvSpPr>
            <a:spLocks noGrp="1"/>
          </p:cNvSpPr>
          <p:nvPr/>
        </p:nvSpPr>
        <p:spPr>
          <a:xfrm>
            <a:off x="3419856" y="4409519"/>
            <a:ext cx="1975104" cy="36576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600" b="1" i="0">
                <a:solidFill>
                  <a:srgbClr val="0072B2"/>
                </a:solidFill>
                <a:latin typeface="Arial"/>
                <a:ea typeface="Arial"/>
                <a:cs typeface="Arial"/>
              </a:rPr>
              <a:t>BH 0.00383</a:t>
            </a:r>
          </a:p>
        </p:txBody>
      </p:sp>
      <p:sp>
        <p:nvSpPr>
          <p:cNvPr id="23" name="TextBox 22">
            <a:extLst>
              <a:ext uri="{FF2B5EF4-FFF2-40B4-BE49-F238E27FC236}">
                <a16:creationId xmlns:a16="http://schemas.microsoft.com/office/drawing/2014/main" id="{3E617012-5334-42F1-BD91-44605F77F625}"/>
              </a:ext>
            </a:extLst>
          </p:cNvPr>
          <p:cNvSpPr>
            <a:spLocks noGrp="1"/>
          </p:cNvSpPr>
          <p:nvPr/>
        </p:nvSpPr>
        <p:spPr>
          <a:xfrm>
            <a:off x="5596128" y="4409519"/>
            <a:ext cx="5468112" cy="438912"/>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150" b="0" i="0">
                <a:solidFill>
                  <a:srgbClr val="1F2730"/>
                </a:solidFill>
                <a:latin typeface="Arial"/>
                <a:ea typeface="Arial"/>
                <a:cs typeface="Arial"/>
              </a:rPr>
              <a:t>This pathway contains genes activated by cellular stress, including stress from damaged proteins. It does not imply exposure to high temperature</a:t>
            </a:r>
          </a:p>
        </p:txBody>
      </p:sp>
      <p:sp>
        <p:nvSpPr>
          <p:cNvPr id="24" name="Rounded Rectangle 23">
            <a:extLst>
              <a:ext uri="{FF2B5EF4-FFF2-40B4-BE49-F238E27FC236}">
                <a16:creationId xmlns:a16="http://schemas.microsoft.com/office/drawing/2014/main" id="{82DEC458-90B9-43BD-A56C-08551CCBCDCD}"/>
              </a:ext>
            </a:extLst>
          </p:cNvPr>
          <p:cNvSpPr>
            <a:spLocks noGrp="1"/>
          </p:cNvSpPr>
          <p:nvPr/>
        </p:nvSpPr>
        <p:spPr>
          <a:xfrm>
            <a:off x="749808" y="5250766"/>
            <a:ext cx="10698480" cy="941921"/>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EAB652C-F073-46D1-BFAB-11834D7E9BB7}"/>
              </a:ext>
            </a:extLst>
          </p:cNvPr>
          <p:cNvSpPr>
            <a:spLocks noGrp="1"/>
          </p:cNvSpPr>
          <p:nvPr/>
        </p:nvSpPr>
        <p:spPr>
          <a:xfrm>
            <a:off x="987552" y="5415359"/>
            <a:ext cx="2331720" cy="649224"/>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300" b="1" i="0">
                <a:solidFill>
                  <a:srgbClr val="0F233D"/>
                </a:solidFill>
                <a:latin typeface="Arial"/>
                <a:ea typeface="Arial"/>
                <a:cs typeface="Arial"/>
              </a:rPr>
              <a:t>WHY THE TWO PATHWAY RESULTS OVERLAP</a:t>
            </a:r>
          </a:p>
        </p:txBody>
      </p:sp>
      <p:sp>
        <p:nvSpPr>
          <p:cNvPr id="26" name="TextBox 25">
            <a:extLst>
              <a:ext uri="{FF2B5EF4-FFF2-40B4-BE49-F238E27FC236}">
                <a16:creationId xmlns:a16="http://schemas.microsoft.com/office/drawing/2014/main" id="{EFD43A95-3AD4-4059-BB94-955C9625ED63}"/>
              </a:ext>
            </a:extLst>
          </p:cNvPr>
          <p:cNvSpPr>
            <a:spLocks noGrp="1"/>
          </p:cNvSpPr>
          <p:nvPr/>
        </p:nvSpPr>
        <p:spPr>
          <a:xfrm>
            <a:off x="3419856" y="5369639"/>
            <a:ext cx="1975104" cy="786384"/>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600" b="1" i="0">
                <a:solidFill>
                  <a:srgbClr val="895600"/>
                </a:solidFill>
                <a:latin typeface="Arial"/>
                <a:ea typeface="Arial"/>
                <a:cs typeface="Arial"/>
              </a:rPr>
              <a:t>The same three genes contribute to both</a:t>
            </a:r>
          </a:p>
        </p:txBody>
      </p:sp>
      <p:sp>
        <p:nvSpPr>
          <p:cNvPr id="27" name="TextBox 26">
            <a:extLst>
              <a:ext uri="{FF2B5EF4-FFF2-40B4-BE49-F238E27FC236}">
                <a16:creationId xmlns:a16="http://schemas.microsoft.com/office/drawing/2014/main" id="{782AB354-3D21-4821-894F-A2F0132593FE}"/>
              </a:ext>
            </a:extLst>
          </p:cNvPr>
          <p:cNvSpPr>
            <a:spLocks noGrp="1"/>
          </p:cNvSpPr>
          <p:nvPr/>
        </p:nvSpPr>
        <p:spPr>
          <a:xfrm>
            <a:off x="5596128" y="5369639"/>
            <a:ext cx="5468112" cy="438912"/>
          </a:xfrm>
          <a:prstGeom prst="rect">
            <a:avLst/>
          </a:prstGeom>
          <a:noFill/>
        </p:spPr>
        <p:txBody>
          <a:bodyPr wrap="square" lIns="27432" tIns="27432" rIns="27432" bIns="27432" anchor="ctr">
            <a:spAutoFit/>
          </a:bodyPr>
          <a:lstStyle/>
          <a:p>
            <a:pPr algn="l">
              <a:lnSpc>
                <a:spcPct val="100000"/>
              </a:lnSpc>
              <a:spcBef>
                <a:spcPct val="0"/>
              </a:spcBef>
              <a:spcAft>
                <a:spcPct val="0"/>
              </a:spcAft>
              <a:buNone/>
            </a:pPr>
            <a:r>
              <a:rPr sz="1150" b="0" i="0">
                <a:solidFill>
                  <a:srgbClr val="1F2730"/>
                </a:solidFill>
                <a:latin typeface="Arial"/>
                <a:ea typeface="Arial"/>
                <a:cs typeface="Arial"/>
              </a:rPr>
              <a:t>HSPH1, HSPA1A, and PTGES3 contribute to both the HSF1-controlled and heat-stress pathway results</a:t>
            </a:r>
          </a:p>
        </p:txBody>
      </p:sp>
    </p:spTree>
    <p:extLst>
      <p:ext uri="{BB962C8B-B14F-4D97-AF65-F5344CB8AC3E}">
        <p14:creationId val="1535435366"/>
      </p:ext>
    </p:extLst>
  </p:cSld>
  <p:clrMapOvr>
    <a:masterClrMapping/>
  </p:clrMapOvr>
  <p:transition/>
  <p:timing/>
</p:sld>
</file>

<file path=ppt/slides/slide15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269B8E18-004D-46FF-BDE6-F3A9E2E9CD8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Two KDA calls make the female APOE ε4 subgroup result preliminary</a:t>
            </a:r>
          </a:p>
        </p:txBody>
      </p:sp>
      <p:sp>
        <p:nvSpPr>
          <p:cNvPr id="3" name="TextBox 2">
            <a:extLst>
              <a:ext uri="{FF2B5EF4-FFF2-40B4-BE49-F238E27FC236}">
                <a16:creationId xmlns:a16="http://schemas.microsoft.com/office/drawing/2014/main" id="{1F0B0B1A-FEA0-4948-AAAD-AF979EA027A6}"/>
              </a:ext>
            </a:extLst>
          </p:cNvPr>
          <p:cNvSpPr>
            <a:spLocks noGrp="1"/>
          </p:cNvSpPr>
          <p:nvPr/>
        </p:nvSpPr>
        <p:spPr>
          <a:xfrm>
            <a:off x="548640" y="800588"/>
            <a:ext cx="10927080" cy="486287"/>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00" b="1" i="0">
                <a:latin typeface="Arial"/>
                <a:ea typeface="Arial"/>
                <a:cs typeface="Arial"/>
              </a:rPr>
              <a:t>Only two ROSMAP vascular KDA calls support the two overlapping stress-response pathway results. SEA-AD had no vascular KDA category.</a:t>
            </a:r>
          </a:p>
        </p:txBody>
      </p:sp>
      <p:sp>
        <p:nvSpPr>
          <p:cNvPr id="4" name="Rounded Rectangle 3">
            <a:extLst>
              <a:ext uri="{FF2B5EF4-FFF2-40B4-BE49-F238E27FC236}">
                <a16:creationId xmlns:a16="http://schemas.microsoft.com/office/drawing/2014/main" id="{44320DAE-8F6A-405E-B228-1E52A1E2E336}"/>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3CCFE33-5434-4732-B36E-D684F7C88C4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9E3A00"/>
                </a:solidFill>
                <a:latin typeface="Arial"/>
                <a:ea typeface="Arial"/>
                <a:cs typeface="Arial"/>
              </a:rPr>
              <a:t>ROSMAP EVIDENCE IN THIS GROUP</a:t>
            </a:r>
          </a:p>
        </p:txBody>
      </p:sp>
      <p:sp>
        <p:nvSpPr>
          <p:cNvPr id="6" name="TextBox 5">
            <a:extLst>
              <a:ext uri="{FF2B5EF4-FFF2-40B4-BE49-F238E27FC236}">
                <a16:creationId xmlns:a16="http://schemas.microsoft.com/office/drawing/2014/main" id="{1AAACB3F-ED8E-4016-8A19-390EFA1E074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Two eligible KDA calls</a:t>
            </a:r>
          </a:p>
        </p:txBody>
      </p:sp>
      <p:sp>
        <p:nvSpPr>
          <p:cNvPr id="7" name="TextBox 6">
            <a:extLst>
              <a:ext uri="{FF2B5EF4-FFF2-40B4-BE49-F238E27FC236}">
                <a16:creationId xmlns:a16="http://schemas.microsoft.com/office/drawing/2014/main" id="{D03A716A-9B2B-4819-A4C8-4C5D7D49C117}"/>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Only two fine-cell KDA calls contribute to the vascular result.</a:t>
            </a:r>
          </a:p>
        </p:txBody>
      </p:sp>
      <p:sp>
        <p:nvSpPr>
          <p:cNvPr id="8" name="Rounded Rectangle 7">
            <a:extLst>
              <a:ext uri="{FF2B5EF4-FFF2-40B4-BE49-F238E27FC236}">
                <a16:creationId xmlns:a16="http://schemas.microsoft.com/office/drawing/2014/main" id="{535093A0-6580-48D4-BF71-13F5B5850EE4}"/>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52E2BAB-F91A-4D75-9134-33F7327C88C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895600"/>
                </a:solidFill>
                <a:latin typeface="Arial"/>
                <a:ea typeface="Arial"/>
                <a:cs typeface="Arial"/>
              </a:rPr>
              <a:t>OVERLAPPING PATHWAY RESULTS</a:t>
            </a:r>
          </a:p>
        </p:txBody>
      </p:sp>
      <p:sp>
        <p:nvSpPr>
          <p:cNvPr id="10" name="TextBox 9">
            <a:extLst>
              <a:ext uri="{FF2B5EF4-FFF2-40B4-BE49-F238E27FC236}">
                <a16:creationId xmlns:a16="http://schemas.microsoft.com/office/drawing/2014/main" id="{B54E2D0E-CA7A-49F7-9CAA-3FF9D101855F}"/>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The same three genes drive both results</a:t>
            </a:r>
          </a:p>
        </p:txBody>
      </p:sp>
      <p:sp>
        <p:nvSpPr>
          <p:cNvPr id="11" name="TextBox 10">
            <a:extLst>
              <a:ext uri="{FF2B5EF4-FFF2-40B4-BE49-F238E27FC236}">
                <a16:creationId xmlns:a16="http://schemas.microsoft.com/office/drawing/2014/main" id="{116C05EC-9A65-4ACE-856B-E3A26D92D36F}"/>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The HSF1-controlled and heat-stress pathway results are both driven by HSPH1, HSPA1A, and PTGES3.</a:t>
            </a:r>
          </a:p>
        </p:txBody>
      </p:sp>
      <p:sp>
        <p:nvSpPr>
          <p:cNvPr id="12" name="Rounded Rectangle 11">
            <a:extLst>
              <a:ext uri="{FF2B5EF4-FFF2-40B4-BE49-F238E27FC236}">
                <a16:creationId xmlns:a16="http://schemas.microsoft.com/office/drawing/2014/main" id="{DB6204E1-2E47-409E-8D6B-004289E01DBB}"/>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60300FD-7711-4369-8838-04195227F51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28AC0E7A-F83D-43C6-B1D9-A86AF9D94E1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No SEA-AD vascular KDA analysis</a:t>
            </a:r>
          </a:p>
        </p:txBody>
      </p:sp>
      <p:sp>
        <p:nvSpPr>
          <p:cNvPr id="15" name="TextBox 14">
            <a:extLst>
              <a:ext uri="{FF2B5EF4-FFF2-40B4-BE49-F238E27FC236}">
                <a16:creationId xmlns:a16="http://schemas.microsoft.com/office/drawing/2014/main" id="{81315B00-F390-4BEA-BC5A-F86E8496C2D8}"/>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SEA-AD cannot test this result because no vascular category was available for KDA.</a:t>
            </a:r>
          </a:p>
        </p:txBody>
      </p:sp>
      <p:sp>
        <p:nvSpPr>
          <p:cNvPr id="16" name="Rounded Rectangle 15">
            <a:extLst>
              <a:ext uri="{FF2B5EF4-FFF2-40B4-BE49-F238E27FC236}">
                <a16:creationId xmlns:a16="http://schemas.microsoft.com/office/drawing/2014/main" id="{96170627-5E15-4EB1-8CD7-D8045CA05A4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3F73A42-4714-4795-A615-2934D60CADD9}"/>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130" b="1" i="0">
                <a:solidFill>
                  <a:srgbClr val="7E4C9A"/>
                </a:solidFill>
                <a:latin typeface="Arial"/>
                <a:ea typeface="Arial"/>
                <a:cs typeface="Arial"/>
              </a:rPr>
              <a:t>This remains a low-confidence ROSMAP clue because only two KDA calls support it.</a:t>
            </a:r>
          </a:p>
        </p:txBody>
      </p:sp>
    </p:spTree>
    <p:extLst>
      <p:ext uri="{BB962C8B-B14F-4D97-AF65-F5344CB8AC3E}">
        <p14:creationId val="1888563001"/>
      </p:ext>
    </p:extLst>
  </p:cSld>
  <p:clrMapOvr>
    <a:masterClrMapping/>
  </p:clrMapOvr>
  <p:transition/>
  <p:timing/>
</p:sld>
</file>

<file path=ppt/slides/slide15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ADAC85EA-B106-47F3-B616-4971DD6CE97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000" b="1" i="0">
                <a:solidFill>
                  <a:srgbClr val="0F233D"/>
                </a:solidFill>
                <a:latin typeface="Arial"/>
                <a:ea typeface="Arial"/>
                <a:cs typeface="Arial"/>
              </a:rPr>
              <a:t>Why the HSF1-linked stress response in vascular cells may matter</a:t>
            </a:r>
          </a:p>
        </p:txBody>
      </p:sp>
      <p:sp>
        <p:nvSpPr>
          <p:cNvPr id="3" name="TextBox 2">
            <a:extLst>
              <a:ext uri="{FF2B5EF4-FFF2-40B4-BE49-F238E27FC236}">
                <a16:creationId xmlns:a16="http://schemas.microsoft.com/office/drawing/2014/main" id="{F7D3D0DC-E68C-472A-A2C7-8BA190070AE6}"/>
              </a:ext>
            </a:extLst>
          </p:cNvPr>
          <p:cNvSpPr>
            <a:spLocks noGrp="1"/>
          </p:cNvSpPr>
          <p:nvPr/>
        </p:nvSpPr>
        <p:spPr>
          <a:xfrm>
            <a:off x="548640" y="933752"/>
            <a:ext cx="10927080" cy="270843"/>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00" b="1" i="0">
                <a:latin typeface="Arial"/>
                <a:ea typeface="Arial"/>
                <a:cs typeface="Arial"/>
              </a:rPr>
              <a:t>This hypothesis concerns protein protection in vascular cells. The analysis does not identify the trigger.</a:t>
            </a:r>
          </a:p>
        </p:txBody>
      </p:sp>
      <p:sp>
        <p:nvSpPr>
          <p:cNvPr id="4" name="Rounded Rectangle 3">
            <a:extLst>
              <a:ext uri="{FF2B5EF4-FFF2-40B4-BE49-F238E27FC236}">
                <a16:creationId xmlns:a16="http://schemas.microsoft.com/office/drawing/2014/main" id="{E7F04649-B1B3-4FA2-89D0-F6C01808C668}"/>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0C158D1-43DF-422B-88E1-D753312721F7}"/>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72B2"/>
                </a:solidFill>
                <a:latin typeface="Arial"/>
                <a:ea typeface="Arial"/>
                <a:cs typeface="Arial"/>
              </a:rPr>
              <a:t>VASCULAR ROLE</a:t>
            </a:r>
          </a:p>
        </p:txBody>
      </p:sp>
      <p:sp>
        <p:nvSpPr>
          <p:cNvPr id="6" name="TextBox 5">
            <a:extLst>
              <a:ext uri="{FF2B5EF4-FFF2-40B4-BE49-F238E27FC236}">
                <a16:creationId xmlns:a16="http://schemas.microsoft.com/office/drawing/2014/main" id="{0EEDEEBE-5497-4302-B526-2608A42999BC}"/>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Maintain brain circulation</a:t>
            </a:r>
          </a:p>
        </p:txBody>
      </p:sp>
      <p:sp>
        <p:nvSpPr>
          <p:cNvPr id="7" name="TextBox 6">
            <a:extLst>
              <a:ext uri="{FF2B5EF4-FFF2-40B4-BE49-F238E27FC236}">
                <a16:creationId xmlns:a16="http://schemas.microsoft.com/office/drawing/2014/main" id="{FA17E3DB-03B9-4B52-8987-65F2A21A872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Vascular cells help regulate blood flow and barrier function.</a:t>
            </a:r>
          </a:p>
        </p:txBody>
      </p:sp>
      <p:sp>
        <p:nvSpPr>
          <p:cNvPr id="8" name="Rounded Rectangle 7">
            <a:extLst>
              <a:ext uri="{FF2B5EF4-FFF2-40B4-BE49-F238E27FC236}">
                <a16:creationId xmlns:a16="http://schemas.microsoft.com/office/drawing/2014/main" id="{D7E4F167-CBF3-4549-9A78-B6F26F7A888B}"/>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421CDDF-1E6A-4E19-ACE8-5D56EA611192}"/>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00684D"/>
                </a:solidFill>
                <a:latin typeface="Arial"/>
                <a:ea typeface="Arial"/>
                <a:cs typeface="Arial"/>
              </a:rPr>
              <a:t>STRESS RESPONSE</a:t>
            </a:r>
          </a:p>
        </p:txBody>
      </p:sp>
      <p:sp>
        <p:nvSpPr>
          <p:cNvPr id="10" name="TextBox 9">
            <a:extLst>
              <a:ext uri="{FF2B5EF4-FFF2-40B4-BE49-F238E27FC236}">
                <a16:creationId xmlns:a16="http://schemas.microsoft.com/office/drawing/2014/main" id="{FA3BBC75-0A0D-4D70-8707-2FCE388E22C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Protein-folding helpers protect proteins</a:t>
            </a:r>
          </a:p>
        </p:txBody>
      </p:sp>
      <p:sp>
        <p:nvSpPr>
          <p:cNvPr id="11" name="TextBox 10">
            <a:extLst>
              <a:ext uri="{FF2B5EF4-FFF2-40B4-BE49-F238E27FC236}">
                <a16:creationId xmlns:a16="http://schemas.microsoft.com/office/drawing/2014/main" id="{BEBB1C93-915B-45AF-949F-9E4FE971641B}"/>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These genes may indicate protein damage or a general protective response.</a:t>
            </a:r>
          </a:p>
        </p:txBody>
      </p:sp>
      <p:sp>
        <p:nvSpPr>
          <p:cNvPr id="12" name="Rounded Rectangle 11">
            <a:extLst>
              <a:ext uri="{FF2B5EF4-FFF2-40B4-BE49-F238E27FC236}">
                <a16:creationId xmlns:a16="http://schemas.microsoft.com/office/drawing/2014/main" id="{F457BA7A-3663-4294-850F-F85C1B93F8C3}"/>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F34E08B-BBCB-46BE-9123-C937FE20D4D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40" b="1" i="0">
                <a:solidFill>
                  <a:srgbClr val="895600"/>
                </a:solidFill>
                <a:latin typeface="Arial"/>
                <a:ea typeface="Arial"/>
                <a:cs typeface="Arial"/>
              </a:rPr>
              <a:t>UNKNOWN TRIGGER</a:t>
            </a:r>
          </a:p>
        </p:txBody>
      </p:sp>
      <p:sp>
        <p:nvSpPr>
          <p:cNvPr id="14" name="TextBox 13">
            <a:extLst>
              <a:ext uri="{FF2B5EF4-FFF2-40B4-BE49-F238E27FC236}">
                <a16:creationId xmlns:a16="http://schemas.microsoft.com/office/drawing/2014/main" id="{5BBDFD27-E46B-4ACC-A44E-46666C00A5E5}"/>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600" b="1" i="0">
                <a:solidFill>
                  <a:srgbClr val="0F233D"/>
                </a:solidFill>
                <a:latin typeface="Arial"/>
                <a:ea typeface="Arial"/>
                <a:cs typeface="Arial"/>
              </a:rPr>
              <a:t>Many stresses activate HSF1</a:t>
            </a:r>
          </a:p>
        </p:txBody>
      </p:sp>
      <p:sp>
        <p:nvSpPr>
          <p:cNvPr id="15" name="TextBox 14">
            <a:extLst>
              <a:ext uri="{FF2B5EF4-FFF2-40B4-BE49-F238E27FC236}">
                <a16:creationId xmlns:a16="http://schemas.microsoft.com/office/drawing/2014/main" id="{B96FA72E-2924-43DD-85DE-56D577391139}"/>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220" b="0" i="0">
                <a:solidFill>
                  <a:srgbClr val="1F2730"/>
                </a:solidFill>
                <a:latin typeface="Arial"/>
                <a:ea typeface="Arial"/>
                <a:cs typeface="Arial"/>
              </a:rPr>
              <a:t>Inflammation, oxidative stress, or other insults could produce the same genes.</a:t>
            </a:r>
          </a:p>
        </p:txBody>
      </p:sp>
    </p:spTree>
    <p:extLst>
      <p:ext uri="{BB962C8B-B14F-4D97-AF65-F5344CB8AC3E}">
        <p14:creationId val="780574730"/>
      </p:ext>
    </p:extLst>
  </p:cSld>
  <p:clrMapOvr>
    <a:masterClrMapping/>
  </p:clrMapOvr>
  <p:transition/>
  <p:timing/>
</p:sld>
</file>

<file path=ppt/slides/slide15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solidFill>
          <a:srgbClr val="F7F9FC"/>
        </a:solidFill>
        <a:effectLst/>
      </p:bgPr>
    </p:bg>
    <p:spTree>
      <p:nvGrpSpPr>
        <p:cNvPr id="1" name=""/>
        <p:cNvGrpSpPr/>
        <p:nvPr/>
      </p:nvGrpSpPr>
      <p:grpSpPr>
        <a:xfrm>
          <a:off x="0" y="0"/>
          <a:ext cx="0" cy="0"/>
        </a:xfrm>
      </p:grpSpPr>
      <p:sp>
        <p:nvSpPr>
          <p:cNvPr id="2" name="TextBox 1">
            <a:extLst>
              <a:ext uri="{FF2B5EF4-FFF2-40B4-BE49-F238E27FC236}">
                <a16:creationId xmlns:a16="http://schemas.microsoft.com/office/drawing/2014/main" id="{3508688B-25B0-4073-AD63-62F1465545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2200" b="1" i="0">
                <a:solidFill>
                  <a:srgbClr val="0F233D"/>
                </a:solidFill>
                <a:latin typeface="Arial"/>
                <a:ea typeface="Arial"/>
                <a:cs typeface="Arial"/>
              </a:rPr>
              <a:t>Evidence supporting the HSF1-linked vascular stress-response finding</a:t>
            </a:r>
          </a:p>
        </p:txBody>
      </p:sp>
      <p:sp>
        <p:nvSpPr>
          <p:cNvPr id="3" name="TextBox 2">
            <a:extLst>
              <a:ext uri="{FF2B5EF4-FFF2-40B4-BE49-F238E27FC236}">
                <a16:creationId xmlns:a16="http://schemas.microsoft.com/office/drawing/2014/main" id="{3A41FB36-7742-48B7-AC03-52C491DE8A50}"/>
              </a:ext>
            </a:extLst>
          </p:cNvPr>
          <p:cNvSpPr>
            <a:spLocks noGrp="1"/>
          </p:cNvSpPr>
          <p:nvPr/>
        </p:nvSpPr>
        <p:spPr>
          <a:xfrm>
            <a:off x="548640" y="915997"/>
            <a:ext cx="10927080" cy="270843"/>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1400" b="1" i="0">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8F1A5C18-F0A3-484C-8355-D878AB58E483}"/>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FCB0634-CD4C-49D0-8439-54357424EE06}"/>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500" b="1" i="0">
                <a:solidFill>
                  <a:srgbClr val="0072B2"/>
                </a:solidFill>
                <a:latin typeface="Arial"/>
                <a:ea typeface="Arial"/>
                <a:cs typeface="Arial"/>
              </a:rPr>
              <a:t>Current pathway results</a:t>
            </a:r>
          </a:p>
        </p:txBody>
      </p:sp>
      <p:sp>
        <p:nvSpPr>
          <p:cNvPr id="6" name="TextBox 5">
            <a:extLst>
              <a:ext uri="{FF2B5EF4-FFF2-40B4-BE49-F238E27FC236}">
                <a16:creationId xmlns:a16="http://schemas.microsoft.com/office/drawing/2014/main" id="{721B77BB-735E-4AB9-B934-9D5E277670EC}"/>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350" b="1" i="0">
                <a:solidFill>
                  <a:srgbClr val="0F233D"/>
                </a:solidFill>
                <a:latin typeface="Arial"/>
                <a:ea typeface="Arial"/>
                <a:cs typeface="Arial"/>
              </a:rPr>
              <a:t>HSF1-controlled and heat-stress gene sets</a:t>
            </a:r>
          </a:p>
        </p:txBody>
      </p:sp>
      <p:sp>
        <p:nvSpPr>
          <p:cNvPr id="7" name="TextBox 6">
            <a:extLst>
              <a:ext uri="{FF2B5EF4-FFF2-40B4-BE49-F238E27FC236}">
                <a16:creationId xmlns:a16="http://schemas.microsoft.com/office/drawing/2014/main" id="{57D1B63E-7FED-4F80-BE8D-A69FF07E3C87}"/>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85DB6599-B1DB-4BFF-A9B5-85D4F1974EFD}"/>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80" b="0" i="0">
                <a:solidFill>
                  <a:srgbClr val="1F2730"/>
                </a:solidFill>
                <a:latin typeface="Arial"/>
                <a:ea typeface="Arial"/>
                <a:cs typeface="Arial"/>
              </a:rPr>
              <a:t>Shows that vascular KDA calls from female donors in the APOE ε4-containing group return three genes that contribute to both pathway results.</a:t>
            </a:r>
          </a:p>
        </p:txBody>
      </p:sp>
      <p:sp>
        <p:nvSpPr>
          <p:cNvPr id="9" name="TextBox 8">
            <a:extLst>
              <a:ext uri="{FF2B5EF4-FFF2-40B4-BE49-F238E27FC236}">
                <a16:creationId xmlns:a16="http://schemas.microsoft.com/office/drawing/2014/main" id="{F1A5F1FA-A819-421D-8A1A-27D5F360CDA9}"/>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8E594356-7431-49A8-83CE-22C6021C1D50}"/>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60" b="0" i="0">
                <a:solidFill>
                  <a:srgbClr val="4E5A68"/>
                </a:solidFill>
                <a:latin typeface="Arial"/>
                <a:ea typeface="Arial"/>
                <a:cs typeface="Arial"/>
              </a:rPr>
              <a:t>Only three related genes from two KDA calls produce this result.</a:t>
            </a:r>
          </a:p>
        </p:txBody>
      </p:sp>
      <p:sp>
        <p:nvSpPr>
          <p:cNvPr id="11" name="Rounded Rectangle 10">
            <a:extLst>
              <a:ext uri="{FF2B5EF4-FFF2-40B4-BE49-F238E27FC236}">
                <a16:creationId xmlns:a16="http://schemas.microsoft.com/office/drawing/2014/main" id="{10535B00-4C24-4B62-A381-20486183AF59}"/>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8620659-5161-4996-94EA-EF786B5AB69F}"/>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500"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5FD0FD60-67A9-46A2-A0C2-BD00BFD8E136}"/>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350" b="1" i="0">
                <a:solidFill>
                  <a:srgbClr val="0F233D"/>
                </a:solidFill>
                <a:latin typeface="Arial"/>
                <a:ea typeface="Arial"/>
                <a:cs typeface="Arial"/>
              </a:rPr>
              <a:t>Cell- and sex-specific AD networks</a:t>
            </a:r>
          </a:p>
        </p:txBody>
      </p:sp>
      <p:sp>
        <p:nvSpPr>
          <p:cNvPr id="14" name="TextBox 13">
            <a:extLst>
              <a:ext uri="{FF2B5EF4-FFF2-40B4-BE49-F238E27FC236}">
                <a16:creationId xmlns:a16="http://schemas.microsoft.com/office/drawing/2014/main" id="{FC9A5945-622E-40BE-B724-AAB72173A811}"/>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48320009-CECE-493D-9F64-0DF749B34DA0}"/>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80" b="0" i="0">
                <a:solidFill>
                  <a:srgbClr val="1F2730"/>
                </a:solidFill>
                <a:latin typeface="Arial"/>
                <a:ea typeface="Arial"/>
                <a:cs typeface="Arial"/>
              </a:rPr>
              <a:t>Supports resolving Alzheimer’s responses by cell type and sex.</a:t>
            </a:r>
          </a:p>
        </p:txBody>
      </p:sp>
      <p:sp>
        <p:nvSpPr>
          <p:cNvPr id="16" name="TextBox 15">
            <a:extLst>
              <a:ext uri="{FF2B5EF4-FFF2-40B4-BE49-F238E27FC236}">
                <a16:creationId xmlns:a16="http://schemas.microsoft.com/office/drawing/2014/main" id="{038C98BE-C6DD-4572-9471-1B4F0500497E}"/>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489DFA65-C5A0-4E5D-A248-63CDCD608FC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60" b="0" i="0">
                <a:solidFill>
                  <a:srgbClr val="4E5A68"/>
                </a:solidFill>
                <a:latin typeface="Arial"/>
                <a:ea typeface="Arial"/>
                <a:cs typeface="Arial"/>
              </a:rPr>
              <a:t>Does not report this group of stress-response genes in vascular cells.</a:t>
            </a:r>
          </a:p>
        </p:txBody>
      </p:sp>
      <p:sp>
        <p:nvSpPr>
          <p:cNvPr id="18" name="Rounded Rectangle 17">
            <a:extLst>
              <a:ext uri="{FF2B5EF4-FFF2-40B4-BE49-F238E27FC236}">
                <a16:creationId xmlns:a16="http://schemas.microsoft.com/office/drawing/2014/main" id="{0D3F8FF3-5BE6-40A1-8F16-B9D6958718E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09B16BB0-7772-4660-AD31-F1FA07319990}"/>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406DDA8F-6CA4-4498-A5A5-E31BA22CADE1}"/>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ct val="0"/>
              </a:spcBef>
              <a:spcAft>
                <a:spcPct val="0"/>
              </a:spcAft>
              <a:buNone/>
            </a:pPr>
            <a:r>
              <a:rPr sz="1350" b="1" i="0">
                <a:solidFill>
                  <a:srgbClr val="0F233D"/>
                </a:solidFill>
                <a:latin typeface="Arial"/>
                <a:ea typeface="Arial"/>
                <a:cs typeface="Arial"/>
              </a:rPr>
              <a:t>AD differences among cell populations</a:t>
            </a:r>
          </a:p>
        </p:txBody>
      </p:sp>
      <p:sp>
        <p:nvSpPr>
          <p:cNvPr id="21" name="TextBox 20">
            <a:extLst>
              <a:ext uri="{FF2B5EF4-FFF2-40B4-BE49-F238E27FC236}">
                <a16:creationId xmlns:a16="http://schemas.microsoft.com/office/drawing/2014/main" id="{C769C364-4F69-4CCF-AD7E-FA60268EBAB1}"/>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326090D1-597B-4F2B-9D4E-4B241CA0C409}"/>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80" b="0" i="0">
                <a:solidFill>
                  <a:srgbClr val="1F2730"/>
                </a:solidFill>
                <a:latin typeface="Arial"/>
                <a:ea typeface="Arial"/>
                <a:cs typeface="Arial"/>
              </a:rPr>
              <a:t>Shows that AD-related gene expression differs among brain cell populations.</a:t>
            </a:r>
          </a:p>
        </p:txBody>
      </p:sp>
      <p:sp>
        <p:nvSpPr>
          <p:cNvPr id="23" name="TextBox 22">
            <a:extLst>
              <a:ext uri="{FF2B5EF4-FFF2-40B4-BE49-F238E27FC236}">
                <a16:creationId xmlns:a16="http://schemas.microsoft.com/office/drawing/2014/main" id="{EE9AB56D-B3EA-46D2-8BE8-B9CC6C0E1E96}"/>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ct val="0"/>
              </a:spcBef>
              <a:spcAft>
                <a:spcPct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1954DC6C-F372-4277-9FBD-525101A6EEB1}"/>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60" b="0" i="0">
                <a:solidFill>
                  <a:srgbClr val="4E5A68"/>
                </a:solidFill>
                <a:latin typeface="Arial"/>
                <a:ea typeface="Arial"/>
                <a:cs typeface="Arial"/>
              </a:rPr>
              <a:t>Uses ROSMAP and does not independently confirm this group of genes.</a:t>
            </a:r>
          </a:p>
        </p:txBody>
      </p:sp>
      <p:sp>
        <p:nvSpPr>
          <p:cNvPr id="25" name="Rounded Rectangle 24">
            <a:extLst>
              <a:ext uri="{FF2B5EF4-FFF2-40B4-BE49-F238E27FC236}">
                <a16:creationId xmlns:a16="http://schemas.microsoft.com/office/drawing/2014/main" id="{67D45B71-8398-4BE9-9FDD-5A7ADF10F782}"/>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78701A3A-71A8-430C-BC29-C73627C6FE7E}"/>
              </a:ext>
            </a:extLst>
          </p:cNvPr>
          <p:cNvSpPr>
            <a:spLocks noGrp="1"/>
          </p:cNvSpPr>
          <p:nvPr/>
        </p:nvSpPr>
        <p:spPr>
          <a:xfrm>
            <a:off x="896112" y="5952744"/>
            <a:ext cx="10405872" cy="221599"/>
          </a:xfrm>
          <a:prstGeom prst="rect">
            <a:avLst/>
          </a:prstGeom>
          <a:noFill/>
        </p:spPr>
        <p:txBody>
          <a:bodyPr wrap="square" lIns="27432" tIns="27432" rIns="27432" bIns="27432" anchor="t">
            <a:spAutoFit/>
          </a:bodyPr>
          <a:lstStyle/>
          <a:p>
            <a:pPr algn="ctr">
              <a:lnSpc>
                <a:spcPct val="100000"/>
              </a:lnSpc>
              <a:spcBef>
                <a:spcPct val="0"/>
              </a:spcBef>
              <a:spcAft>
                <a:spcPct val="0"/>
              </a:spcAft>
              <a:buNone/>
            </a:pPr>
            <a:r>
              <a:rPr sz="1080" b="1">
                <a:solidFill>
                  <a:srgbClr val="7E4C9A"/>
                </a:solidFill>
                <a:latin typeface="Arial"/>
                <a:ea typeface="Arial"/>
                <a:cs typeface="Arial"/>
              </a:rPr>
              <a:t>Novelty: Moderate</a:t>
            </a:r>
          </a:p>
        </p:txBody>
      </p:sp>
    </p:spTree>
    <p:extLst>
      <p:ext uri="{BB962C8B-B14F-4D97-AF65-F5344CB8AC3E}">
        <p14:creationId val="685267547"/>
      </p:ext>
    </p:extLst>
  </p:cSld>
  <p:clrMapOvr>
    <a:masterClrMapping/>
  </p:clrMapOvr>
  <p:transition/>
  <p:timing/>
</p:sld>
</file>

<file path=ppt/tags/tag1.xml><?xml version="1.0" encoding="utf-8"?>
<p:tagLst xmlns:p="http://schemas.openxmlformats.org/presentationml/2006/main">
  <p:tag name="AS_NET" val="6.0.36"/>
  <p:tag name="AS_OS" val="Unix 5.4.0.216"/>
  <p:tag name="AS_RELEASE_DATE" val="2025.09.14"/>
  <p:tag name="AS_TITLE" val="Aspose.Slides for .NET Standard 2.0"/>
  <p:tag name="AS_VERSION" val="25.9"/>
</p:tagLst>
</file>

<file path=ppt/theme/theme1.xml><?xml version="1.0" encoding="utf-8"?>
<a:theme xmlns:r="http://schemas.openxmlformats.org/officeDocument/2006/relationships"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Calibri"/>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heme>
</file>

<file path=ppt/theme/theme2.xml><?xml version="1.0" encoding="utf-8"?>
<a:theme xmlns:r="http://schemas.openxmlformats.org/officeDocument/2006/relationships"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Calibri"/>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heme>
</file>

<file path=docProps/app.xml><?xml version="1.0" encoding="utf-8"?>
<Properties xmlns:vt="http://schemas.openxmlformats.org/officeDocument/2006/docPropsVTypes" xmlns="http://schemas.openxmlformats.org/officeDocument/2006/extended-properties">
  <Company/>
  <PresentationFormat>Widescreen</PresentationFormat>
  <Paragraphs>2277</Paragraphs>
  <Slides>154</Slides>
  <Notes>154</Notes>
  <TotalTime>0</TotalTime>
  <HiddenSlides>0</HiddenSlides>
  <MMClips>0</MMClips>
  <ScaleCrop>0</ScaleCrop>
  <HeadingPairs>
    <vt:vector baseType="variant" size="6">
      <vt:variant>
        <vt:lpstr>Fonts Used</vt:lpstr>
      </vt:variant>
      <vt:variant>
        <vt:i4>2</vt:i4>
      </vt:variant>
      <vt:variant>
        <vt:lpstr>Theme</vt:lpstr>
      </vt:variant>
      <vt:variant>
        <vt:i4>1</vt:i4>
      </vt:variant>
      <vt:variant>
        <vt:lpstr>Slide Titles</vt:lpstr>
      </vt:variant>
      <vt:variant>
        <vt:i4>154</vt:i4>
      </vt:variant>
    </vt:vector>
  </HeadingPairs>
  <TitlesOfParts>
    <vt:vector baseType="lpstr" size="157">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0</LinksUpToDate>
  <SharedDoc>0</SharedDoc>
  <HyperlinksChanged>0</HyperlinksChanged>
  <Application>Aspose.Slides for .NET</Application>
  <AppVersion>25.0900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cp:revision>0</cp:revision>
  <dcterms:modified xsi:type="dcterms:W3CDTF">2026-09-23T14:12:41Z</dcterms:modified>
</cp:coreProperties>
</file>