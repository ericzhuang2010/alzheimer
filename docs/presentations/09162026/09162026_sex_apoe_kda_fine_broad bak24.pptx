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1"/>
  </p:notesMasterIdLst>
  <p:sldIdLst>
    <p:sldId id="256" r:id="rId2"/>
    <p:sldId id="417" r:id="rId3"/>
    <p:sldId id="416" r:id="rId4"/>
    <p:sldId id="418" r:id="rId5"/>
    <p:sldId id="261" r:id="rId6"/>
    <p:sldId id="262" r:id="rId7"/>
    <p:sldId id="263" r:id="rId8"/>
    <p:sldId id="258" r:id="rId9"/>
    <p:sldId id="271" r:id="rId10"/>
    <p:sldId id="419" r:id="rId11"/>
    <p:sldId id="257" r:id="rId12"/>
    <p:sldId id="259" r:id="rId13"/>
    <p:sldId id="260" r:id="rId14"/>
    <p:sldId id="420" r:id="rId15"/>
    <p:sldId id="264" r:id="rId16"/>
    <p:sldId id="266" r:id="rId17"/>
    <p:sldId id="267" r:id="rId18"/>
    <p:sldId id="268" r:id="rId19"/>
    <p:sldId id="269" r:id="rId20"/>
    <p:sldId id="270"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7" r:id="rId66"/>
    <p:sldId id="318" r:id="rId67"/>
    <p:sldId id="319" r:id="rId68"/>
    <p:sldId id="320" r:id="rId69"/>
    <p:sldId id="321" r:id="rId70"/>
    <p:sldId id="322" r:id="rId71"/>
    <p:sldId id="324" r:id="rId72"/>
    <p:sldId id="325" r:id="rId73"/>
    <p:sldId id="326" r:id="rId74"/>
    <p:sldId id="327" r:id="rId75"/>
    <p:sldId id="328" r:id="rId76"/>
    <p:sldId id="329" r:id="rId77"/>
    <p:sldId id="331" r:id="rId78"/>
    <p:sldId id="332" r:id="rId79"/>
    <p:sldId id="333" r:id="rId80"/>
    <p:sldId id="334" r:id="rId81"/>
    <p:sldId id="335" r:id="rId82"/>
    <p:sldId id="336" r:id="rId83"/>
    <p:sldId id="338" r:id="rId84"/>
    <p:sldId id="339" r:id="rId85"/>
    <p:sldId id="340" r:id="rId86"/>
    <p:sldId id="341" r:id="rId87"/>
    <p:sldId id="342" r:id="rId88"/>
    <p:sldId id="343" r:id="rId89"/>
    <p:sldId id="345" r:id="rId90"/>
    <p:sldId id="346" r:id="rId91"/>
    <p:sldId id="347" r:id="rId92"/>
    <p:sldId id="348" r:id="rId93"/>
    <p:sldId id="349" r:id="rId94"/>
    <p:sldId id="350" r:id="rId95"/>
    <p:sldId id="352" r:id="rId96"/>
    <p:sldId id="353" r:id="rId97"/>
    <p:sldId id="354" r:id="rId98"/>
    <p:sldId id="355" r:id="rId99"/>
    <p:sldId id="356" r:id="rId100"/>
    <p:sldId id="357" r:id="rId101"/>
    <p:sldId id="359" r:id="rId102"/>
    <p:sldId id="360" r:id="rId103"/>
    <p:sldId id="361" r:id="rId104"/>
    <p:sldId id="362" r:id="rId105"/>
    <p:sldId id="363" r:id="rId106"/>
    <p:sldId id="364" r:id="rId107"/>
    <p:sldId id="366" r:id="rId108"/>
    <p:sldId id="367" r:id="rId109"/>
    <p:sldId id="368" r:id="rId110"/>
    <p:sldId id="369" r:id="rId111"/>
    <p:sldId id="370" r:id="rId112"/>
    <p:sldId id="371" r:id="rId113"/>
    <p:sldId id="373" r:id="rId114"/>
    <p:sldId id="374" r:id="rId115"/>
    <p:sldId id="375" r:id="rId116"/>
    <p:sldId id="376" r:id="rId117"/>
    <p:sldId id="377" r:id="rId118"/>
    <p:sldId id="378" r:id="rId119"/>
    <p:sldId id="380" r:id="rId120"/>
    <p:sldId id="381" r:id="rId121"/>
    <p:sldId id="382" r:id="rId122"/>
    <p:sldId id="383" r:id="rId123"/>
    <p:sldId id="384" r:id="rId124"/>
    <p:sldId id="385" r:id="rId125"/>
    <p:sldId id="387" r:id="rId126"/>
    <p:sldId id="388" r:id="rId127"/>
    <p:sldId id="389" r:id="rId128"/>
    <p:sldId id="390" r:id="rId129"/>
    <p:sldId id="391" r:id="rId130"/>
    <p:sldId id="392" r:id="rId131"/>
    <p:sldId id="394" r:id="rId132"/>
    <p:sldId id="395" r:id="rId133"/>
    <p:sldId id="396" r:id="rId134"/>
    <p:sldId id="397" r:id="rId135"/>
    <p:sldId id="398" r:id="rId136"/>
    <p:sldId id="399" r:id="rId137"/>
    <p:sldId id="401" r:id="rId138"/>
    <p:sldId id="402" r:id="rId139"/>
    <p:sldId id="403" r:id="rId140"/>
    <p:sldId id="404" r:id="rId141"/>
    <p:sldId id="405" r:id="rId142"/>
    <p:sldId id="406" r:id="rId143"/>
    <p:sldId id="408" r:id="rId144"/>
    <p:sldId id="409" r:id="rId145"/>
    <p:sldId id="410" r:id="rId146"/>
    <p:sldId id="411" r:id="rId147"/>
    <p:sldId id="412" r:id="rId148"/>
    <p:sldId id="413" r:id="rId149"/>
    <p:sldId id="415" r:id="rId1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52"/>
    <p:restoredTop sz="94653"/>
  </p:normalViewPr>
  <p:slideViewPr>
    <p:cSldViewPr snapToGrid="0" snapToObjects="1">
      <p:cViewPr varScale="1">
        <p:scale>
          <a:sx n="142" d="100"/>
          <a:sy n="142" d="100"/>
        </p:scale>
        <p:origin x="176"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research question and presentation scope.</a:t>
            </a:r>
          </a:p>
          <a:p>
            <a:endParaRPr/>
          </a:p>
          <a:p>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a:endParaRPr/>
          </a:p>
          <a:p>
            <a:r>
              <a:t>Scientific boundary: The evidence is transcriptomic and exploratory. Separate results within sex/APOE strata do not by themselves establish a disease-by-sex or disease-by-APOE interaction, and RNA abundance does not measure mitochondrial function directly.</a:t>
            </a:r>
          </a:p>
          <a:p>
            <a:endParaRPr/>
          </a:p>
          <a:p>
            <a:r>
              <a:t>Transition: Begin with Part 1, the study 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1, study overview and key concepts.</a:t>
            </a:r>
          </a:p>
          <a:p>
            <a:endParaRPr/>
          </a:p>
          <a:p>
            <a:r>
              <a:t>Walk through: Part 1 presents the overall workflow and the roles of the two human cohorts. It then introduces the mitochondrial gene sets and MitoCarta pathway hierarchy. The section closes by defining contrast, category, and DEG occurrence, the analysis units used later in the presentation.</a:t>
            </a:r>
          </a:p>
          <a:p>
            <a:endParaRPr/>
          </a:p>
          <a:p>
            <a:r>
              <a:t>Scientific boundary: This section defines the study design and analysis inputs. It does not yet present the main biological findings.</a:t>
            </a:r>
          </a:p>
          <a:p>
            <a:endParaRPr/>
          </a:p>
          <a:p>
            <a:r>
              <a:t>Transition: Begin with the overall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analysis moves from cell-level gene expression to validation.</a:t>
            </a:r>
          </a:p>
          <a:p>
            <a:endParaRPr/>
          </a:p>
          <a:p>
            <a:r>
              <a:t>Walk through: First, differential-expression analysis identifies genes with higher or lower RNA abundance in Alzheimer’s disease within each fine-cell, sex, and APOE comparison. Second, pathway analysis summarizes the mitochondrial processes represented among those genes. Third, key driver analysis, abbreviated KDA, uses gene networks to nominate genes connected to the MitoCarta MT DEGs. Fourth, human validation compares the ROSMAP findings with SEA-AD and direct broad-cell analyses. A potential future step is mouse validation of selected candidates and mitochondrial function.</a:t>
            </a:r>
          </a:p>
          <a:p>
            <a:endParaRPr/>
          </a:p>
          <a:p>
            <a:r>
              <a:t>Scientific boundary: The first four stages summarize analyses presented in this deck. Mouse validation is a proposed next step and does not contribute evidence to the current findings.</a:t>
            </a:r>
          </a:p>
          <a:p>
            <a:endParaRPr/>
          </a:p>
          <a:p>
            <a:r>
              <a:t>Transition: Next, introduce the two human brain cohorts.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mitochondrial gene sets and pathway hierarchy defined, next define a contrast.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next define the category used to summarize fine-cell KDA results.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08473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contrast and category defined, next explain what counts as one DEG occurrence.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478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and a DEG occurrence before showing DEG counts and direction percentages.</a:t>
            </a:r>
          </a:p>
          <a:p>
            <a:endParaRPr/>
          </a:p>
          <a:p>
            <a:r>
              <a:t>Walk through: Within one fine-cell contrast, a gene is called a DEG when its BH-adjusted P value is below 0.05 and its absolute log2 fold change is greater than log2 of 1.3, approximately 0.38. Positive fold change means upregulated in AD, and negative fold change means downregulated in AD. One DEG in one fine-cell contrast contributes one DEG occurrence. If the same gene is a DEG in three contrasts, it contributes three DEG occurrences but remains one unique gene.</a:t>
            </a:r>
          </a:p>
          <a:p>
            <a:endParaRPr/>
          </a:p>
          <a:p>
            <a:r>
              <a:t>Scientific boundary: The DEG criteria are evaluated separately within each contrast. A DEG occurrence is a repeated DEG result, not a unique gene, participant, or independent replication. Meeting the DEG criteria does not establish causation.</a:t>
            </a:r>
          </a:p>
          <a:p>
            <a:endParaRPr/>
          </a:p>
          <a:p>
            <a:r>
              <a:t>Transition: With the Part 1 concepts established, begin Part 2 with the overall DEG counts.</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44192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with the overall DEG counts across sex and 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DEG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a DEG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define what counts as a significant pathway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Formally define one significant pathway result before presenting pathway-level summary counts.</a:t>
            </a:r>
          </a:p>
          <a:p>
            <a:endParaRPr/>
          </a:p>
          <a:p>
            <a:r>
              <a:t>Walk through: One result tests one pathway in one DEG list from one fine-cell sex/APOE contrast. N is the number of detectable MitoCarta MT genes in that contrast. M is the number of those detectable genes assigned to the pathway. n is the number of DEGs in the selected list, and k is the number of those DEGs assigned to the pathway. Fold enrichment compares the pathway share among the DEGs, k divided by n, with the pathway share among detectable genes, M divided by N. A value above 1 indicates enrichment. Enrichment describes the observed over-representation. Statistical significance is determined separately: the one-sided hypergeometric test calculates the probability of observing k or more pathway genes under random sampling from the detectable-gene background, and Benjamini-Hochberg correction is applied across all testable pathways in the same pathway collection for the same contrast and DEG list. The primary local result is significant when its BH-adjusted P value, also called the local false-discovery rate, is below 0.05.</a:t>
            </a:r>
          </a:p>
          <a:p>
            <a:endParaRPr/>
          </a:p>
          <a:p>
            <a:r>
              <a:t>Scientific boundary: This result supports pathway over-representation within one specific test. It does not establish altered pathway activity, causation, or a disease-by-sex-by-APOE interaction. Study-wide BH FDR is reported separately as a sensitivity measure.</a:t>
            </a:r>
          </a:p>
          <a:p>
            <a:endParaRPr/>
          </a:p>
          <a:p>
            <a:r>
              <a:t>Transition: Next, review how the pathway analysis tests each fine-cell contrast and summarizes significant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fine-cell pathway analysis and define NES before the direct broad-cell results use it.</a:t>
            </a:r>
          </a:p>
          <a:p>
            <a:endParaRPr/>
          </a:p>
          <a:p>
            <a:r>
              <a:t>Walk through: Each estimable fine-cell sex/APOE contrast was analyzed separately. For each contrast, the analysis created three mitochondrial DEG lists: all DEGs, genes upregulated in AD, and genes downregulated in AD. It then tested each pathway using the over-representation and significance definition on the previous slide. Twelve of the 46 Level 1 and Level 2 pathways and 18 of the 149 complete pathways had at least one significant result. Later direct broad-cell sensitivity analyses use a ranked-gene method and report a normalized enrichment score, or NES. Positive NES means that pathway genes rank toward higher expression in AD, and negative NES means that they rank toward lower expression in AD. An adjusted P value below 0.05 defines significance.</a:t>
            </a:r>
          </a:p>
          <a:p>
            <a:endParaRPr/>
          </a:p>
          <a:p>
            <a:r>
              <a:t>Scientific boundary: The complete 149-pathway collection contains the 46 Level 1 and Level 2 pathways, so the two reported scopes overlap. At least one significant result does not mean significance in every group. NES is a pathway-level ranking statistic, not a fold change, and it does not mean that every gene in the pathway changes significantly.</a:t>
            </a:r>
          </a:p>
          <a:p>
            <a:endParaRPr/>
          </a:p>
          <a:p>
            <a:r>
              <a:t>Transition: Next, define the descriptive pathway-overlap percentage before reading the heatmap.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its worked example, and how descriptive overlap differs from a significant pathway result.</a:t>
            </a:r>
          </a:p>
          <a:p>
            <a:endParaRPr/>
          </a:p>
          <a:p>
            <a:r>
              <a:t>Walk through: This percentage summarizes one pathway within one sex/APOE group. The numerator is the number of unique pathway genes that were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 This pooled overlap starts from the same pathway-gene and DEG membership used in enrichment analysis, but it combines fine cell types and does not perform a statistical test. A significant pathway result instead evaluates one fine-cell contrast against its detectable-gene background and must pass the adjusted P-value threshold.</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Apply this overlap calculation to the four pathway sets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pathway sets through the heatmap and show the breadth of their overlap with the fine-cell DEG results.</a:t>
            </a:r>
          </a:p>
          <a:p>
            <a:endParaRPr/>
          </a:p>
          <a:p>
            <a:r>
              <a:t>Walk through: The four rows summarize the 13 core MT genes, 86 nuclear-encoded structural OXPHOS genes, 155 mitochondrial-translation genes, and 19 inner-membrane-organization genes. For each sex/APOE group, a pathway gene is counted once if it was a DEG in at least one fine-cell comparison. The denominator is the fixed pathway size shown in the corresponding row label.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DEG in one fine-cell comparison. If the same gene is a DEG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OXPHOS DEG direction across sex/APOE groups and highlight the contrasting epsilon-3 homozygous patterns.</a:t>
            </a:r>
          </a:p>
          <a:p>
            <a:endParaRPr/>
          </a:p>
          <a:p>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Now move to Part 4,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4 follows mitochondrial DEGs from one fine-cell contrast into one network query, makes KDA calls, and then aggregates genes returned from repeated fine-cell KDA calls within sex/APOE by broad-cell category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Start with the four-step workflow from a fine-cell DEG contrast to a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at least one gene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SEA-AD excitatory-neuron key drivers recur across the six sex/APOE categories.</a:t>
            </a:r>
          </a:p>
          <a:p>
            <a:endParaRPr/>
          </a:p>
          <a:p>
            <a:r>
              <a:t>Walk through: Rows are the three female groups followed by the three male groups. Columns contain all 27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sensitivity analyses.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section reserved for all harmonized broad-cell KDA sensitivity analyses.</a:t>
            </a:r>
          </a:p>
          <a:p>
            <a:endParaRPr/>
          </a:p>
          <a:p>
            <a:r>
              <a:t>Walk through: Sensitivity checks may address donor support, nuclei-per-profile coverage, DEG query definition, and KDA filtering. The first check raises the disease-arm donor gate from three to five in both cohorts.</a:t>
            </a:r>
          </a:p>
          <a:p>
            <a:endParaRPr/>
          </a:p>
          <a:p>
            <a:r>
              <a:t>Scientific boundary: Each test must change one frozen decision at a time and retain its own interpretation boundary. The current test concerns donors per disease arm, not nuclei.</a:t>
            </a:r>
          </a:p>
          <a:p>
            <a:endParaRPr/>
          </a:p>
          <a:p>
            <a:r>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The number of gene rows returned from KDA calls falls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returned 26 gene rows.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7, the biological findings and discussion.</a:t>
            </a:r>
          </a:p>
          <a:p>
            <a:endParaRPr/>
          </a:p>
          <a:p>
            <a:r>
              <a:t>Walk through: Part 7 translates the DEG, pathway, KDA, and sensitivity results into 17 testable biological findings. It begins with two cross-cohort OXPHOS patterns, then examines additional sex/APOE-associated patterns, candidate key drivers, cross-cell recurrence, and the limits of validation and interpretation.</a:t>
            </a:r>
          </a:p>
          <a:p>
            <a:endParaRPr/>
          </a:p>
          <a:p>
            <a:r>
              <a:t>Scientific boundary: These findings synthesize transcriptomic and network evidence. They do not establish causality or mitochondrial function. SEA-AD support is graded according to matched coverage and may support a broader pathway pattern without reproducing the exact driver gene.</a:t>
            </a:r>
          </a:p>
          <a:p>
            <a:endParaRPr/>
          </a:p>
          <a:p>
            <a:r>
              <a:t>Transition: Begin with Finding 1, the female epsilon-3 homozygous core MT gene increase.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the included fine-cell DEG lists, core MT genes contribute 217 occurrences, and all 217 are upregulated in AD. Nuclear-encoded OXPHOS genes contribute 89 occurrences: 76 upregulated and 13 downregulated, so 85 percent are upregulated. Within excitatory neurons, 14 included fine-cell DEG lists contain 123 core MT gene occurrences, all upregulated. One occurrence means that one gene is a DEG in one fine-cell comparison, so the same gene can contribute multiple occurrences across fine cell types. These counts summarize the fine-cell DEG lists used for the mitochondrial analysis.</a:t>
            </a:r>
          </a:p>
          <a:p>
            <a:endParaRPr/>
          </a:p>
          <a:p>
            <a:r>
              <a:t>Scientific boundary: The occurrence counts do not represent unique genes, expression magnitude, independent donors, or replication. They summarize repeated DEG observations across fine-cell comparisons.</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SEA-AD fine-cell DEG list contributed to the matched female epsilon-3 homozygous excitatory-neuron comparison, so the coverage is narrow. The list contains 10 MitoCarta MT DEGs. Nine are the same core MT genes found in ROSMAP, and all nine are upregulated in AD in both cohorts. The analysis observed nine shared genes compared with 3.83 expected based on genes detectable in the matched comparison. The shared-gene overlap remained significant after multiple-testing correction, with an 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pattern with opposite OXPHOS directions.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two mitochondrial gene sets. It does not prove protein imbalance, mitochondrial dysfunction, or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opposite OXPHOS gene-expression directions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included male epsilon-3 homozygous fine-cell DEG lists, core MT genes contributed 81 occurrences: 70 AD-up and 11 AD-down. Therefore, 86 percent were upregulated. Nuclear-encoded OXPHOS genes contributed 68 occurrences: 8 AD-up and 60 AD-down. Therefore, 88 percent were downregulated. An occurrence is one gene identified as a DEG in one fine-cell comparison, so the same gene can contribute again in another fine cell type.</a:t>
            </a:r>
          </a:p>
          <a:p>
            <a:endParaRPr/>
          </a:p>
          <a:p>
            <a:r>
              <a:t>Scientific boundary: These are repeated DEG occurrences, not counts of unique genes or independent donors.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DEG support and what the same AD direction across cohorts means here.</a:t>
            </a:r>
          </a:p>
          <a:p>
            <a:endParaRPr/>
          </a:p>
          <a:p>
            <a:r>
              <a:t>Walk through: Eight SEA-AD male epsilon-3 homozygous inhibitory-neuron fine-cell DEG lists contributed to this comparison. ROSMAP and SEA-AD shared 22 MitoCarta MT DEGs, and 19 of the 22 had the same AD direction. Nine core MT genes were upregulated in both cohorts. Genes for nuclear-encoded OXPHOS, mitochondrial protein import, mitochondrial ribosomes, metabolite transport, and mitochondrial DNA or RNA maintenance were downregulated in both. The overlap was 22 genes compared with 15.17 expected and remained significant after multiple-testing correction, with an adjusted P value of 0.0417. Excluding genes whose mitochondrial identity was uncertain left 21 shared genes and a similar adjusted P value of 0.0486. The support therefore comes from shared DEGs and their directions across cohorts.</a:t>
            </a:r>
          </a:p>
          <a:p>
            <a:endParaRPr/>
          </a:p>
          <a:p>
            <a:r>
              <a:t>Scientific boundary: This is focused cross-cohort DEG support within the matched inhibitory-neuron context. It does not establish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genes with the same or opposite AD directions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are shared MitoCarta MT DEGs. Matching AD directions do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two-genome OXPHOS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Basic OXPHOS biology establishes that respiratory complexes require coordinated core MT and nuclear-encoded OXPHOS proteins, but it does not show a protein imbalance in these samples. Guo and colleagues support analyzing Alzheimer’s molecular networks separately by sex, but they do not test this exact male epsilon-3 homozygous pattern.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preview the evidence used to support it.</a:t>
            </a:r>
          </a:p>
          <a:p>
            <a:endParaRPr/>
          </a:p>
          <a:p>
            <a:r>
              <a:t>Walk through: Finding 3 concerns female APOE ε2 cells. In ROSMAP fine-cell comparisons of Alzheimer’s disease with no cognitive impairment, core MT genes and nuclear-encoded OXPHOS genes were both predominantly upregulated. This section begins with the direction of gene expression, then presents DEG-occurrence counts, compares fine-cell and direct broad-cell evidence, and ends with a cautious interpretation and literature context.</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Transition: Define the two OXPHOS gene sets and show their direction in female APOE ε2 cells.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both OXPHOS gene sets are described as upregulated together.</a:t>
            </a:r>
          </a:p>
          <a:p>
            <a:endParaRPr/>
          </a:p>
          <a:p>
            <a:r>
              <a:t>Walk through: Core MT genes are the 13 protein-coding genes in mitochondrial DNA that encode structural OXPHOS subunits. Nuclear-encoded OXPHOS genes are the 86 nuclear genes that encode the other structural subunits included in this analysis. Across the included female APOE ε2 fine-cell comparisons, 127 of 128 core MT gene occurrences and 239 of 243 nuclear-encoded OXPHOS gene occurrences were upregulated in AD. The two gene sets therefore show the same direction of gene-expression change.</a:t>
            </a:r>
          </a:p>
          <a:p>
            <a:endParaRPr/>
          </a:p>
          <a:p>
            <a:r>
              <a:t>Scientific boundary: One occurrence means that one gene is a DEG in one included fine-cell comparison. The same gene can contribute another occurrence in another comparison. These counts do not measure unique genes, expression magnitude, protein assembly, respiration, or ATP production.</a:t>
            </a:r>
          </a:p>
          <a:p>
            <a:endParaRPr/>
          </a:p>
          <a:p>
            <a:r>
              <a:t>Transition: Quantify the AD-up and AD-down occurrences for each gene set.</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ROSMAP DEG-occurrence pattern for Finding 3.</a:t>
            </a:r>
          </a:p>
          <a:p>
            <a:endParaRPr/>
          </a:p>
          <a:p>
            <a:r>
              <a:t>Walk through: This slide quantifies the female APOE epsilon-2 pattern. Across the included fine-cell comparisons, core MT genes contribute 128 DEG occurrences: 127 AD-up and one AD-down, so 99 percent are upregulated. Nuclear-encoded OXPHOS genes contribute 243 DEG occurrences: 239 AD-up and four AD-down, so 98 percent are upregulated. Both OXPHOS gene sets therefore show an almost uniform increase in AD.</a:t>
            </a:r>
          </a:p>
          <a:p>
            <a:endParaRPr/>
          </a:p>
          <a:p>
            <a:r>
              <a:t>Scientific boundary: The numbers 128 and 243 are gene-by-comparison occurrences, not counts of unique genes, cells, or donors. The percentages do not measure expression magnitude, OXPHOS protein abundance, respiration, or ATP production.</a:t>
            </a:r>
          </a:p>
          <a:p>
            <a:endParaRPr/>
          </a:p>
          <a:p>
            <a:r>
              <a:t>Transition: Compare this primary fine-cell DEG pattern with the direct broad-cell ROSMAP result and the available SEA-AD coverage.</a:t>
            </a:r>
          </a:p>
          <a:p>
            <a:endParaRPr/>
          </a:p>
          <a:p>
            <a:r>
              <a:t>Sources: docs/analysis/kda_w_human_validation/rosmap_sex_apoe_broad_kda_analysis.md, Finding 3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Compare the fine-cell and direct broad-cell evidence for Finding 3.</a:t>
            </a:r>
          </a:p>
          <a:p>
            <a:endParaRPr/>
          </a:p>
          <a:p>
            <a:r>
              <a:t>Walk through: Fine-cell ROSMAP supports both gene sets. Significant enrichment of upregulated genes appeared in nine of 12 fine cell types for core MT genes and eight of 12 for nuclear-encoded OXPHOS genes. Direct broad-cell ROSMAP supports the nuclear-encoded OXPHOS increase, but the core MT result was not significant. SEA-AD has no matched female APOE ε2 fine-cell DEG result, so it adds neither supporting nor contradictory evidence.</a:t>
            </a:r>
          </a:p>
          <a:p>
            <a:endParaRPr/>
          </a:p>
          <a:p>
            <a:r>
              <a:t>Scientific boundary: The direct broad-cell result partially supports the finding but does not reproduce the coordinated two-gene-set pattern. The complete pattern is therefore supported mainly by fine-cell ROSMAP. Missing SEA-AD coverage is neutral.</a:t>
            </a:r>
          </a:p>
          <a:p>
            <a:endParaRPr/>
          </a:p>
          <a:p>
            <a:r>
              <a:t>Transition: Consider what coordinated upregulation might mean without assuming that it is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biological hypothesis while separating it from the evidence.</a:t>
            </a:r>
          </a:p>
          <a:p>
            <a:endParaRPr/>
          </a:p>
          <a:p>
            <a:r>
              <a:t>Walk through: APOE ε2 is associated with lower Alzheimer’s disease risk at the population level, but these data come from diseased tissue. Both OXPHOS gene sets are upregulated together. This pattern could reflect compensation for inefficient mitochondria or another disease-related state. It supports testing a protective-response hypothesis, but it does not establish one.</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Review the prior research that supports parts of this interpretation.</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which part of the interpretation each cited study supports.</a:t>
            </a:r>
          </a:p>
          <a:p>
            <a:endParaRPr/>
          </a:p>
          <a:p>
            <a:r>
              <a:t>Walk through: Belloy and colleagues establish that Alzheimer’s disease risk differs across APOE alleles, but they do not explain this female APOE ε2 gene-expression pattern. Lee and colleagues show that APOE state can alter mitochondrial homeostasis in another experimental context. Guo and colleagues support sex-aware and cell-type-aware analysis of Alzheimer’s molecular networks, but they do not report this exact OXPHOS result. The novelty rating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and the different OXPHOS direction in female APOE ε4 cells.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4 as a female APOE ε4 DEG-direction result.</a:t>
            </a:r>
          </a:p>
          <a:p>
            <a:endParaRPr/>
          </a:p>
          <a:p>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a:endParaRPr/>
          </a:p>
          <a:p>
            <a:r>
              <a:t>Scientific boundary: This finding describes differential gene expression. It does not directly measure respiratory-complex proteins, oxygen consumption, ATP production, or a causal sex-by-APOE interaction.</a:t>
            </a:r>
          </a:p>
          <a:p>
            <a:endParaRPr/>
          </a:p>
          <a:p>
            <a:r>
              <a:t>Transition: State the two OXPHOS gene-set directions in plain language.</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female APOE ε4 pattern before showing the counts.</a:t>
            </a:r>
          </a:p>
          <a:p>
            <a:endParaRPr/>
          </a:p>
          <a:p>
            <a:r>
              <a:t>Walk through: Nuclear-encoded OXPHOS genes provide the clear signal: 206 of 216 repeated DEG occurrences are lower in AD. Core MT genes are mixed, with 38 AD-down and 26 AD-up occurrences. The result is therefore a decrease in nuclear-encoded OXPHOS gene expression rather than a uniform decrease across all MitoCarta MT genes.</a:t>
            </a:r>
          </a:p>
          <a:p>
            <a:endParaRPr/>
          </a:p>
          <a:p>
            <a:r>
              <a:t>Scientific boundary: An occurrence is one gene observed as a DEG in one fine-cell comparison. Repeated occurrences are not independent donors or unique genes, and the direct broad-cell result points in the opposite direction.</a:t>
            </a:r>
          </a:p>
          <a:p>
            <a:endParaRPr/>
          </a:p>
          <a:p>
            <a:r>
              <a:t>Transition: Show the exact occurrence counts and percentages.</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female APOE ε4 DEG directions without mixing them with pathway statistics.</a:t>
            </a:r>
          </a:p>
          <a:p>
            <a:endParaRPr/>
          </a:p>
          <a:p>
            <a:r>
              <a:t>Walk through: Across included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a:endParaRPr/>
          </a:p>
          <a:p>
            <a:r>
              <a:t>Scientific boundary: These are repeated gene-by-fine-cell DEG occurrences. They are not counts of unique genes, cells, or donors, and they do not quantify the magnitude of expression change.</a:t>
            </a:r>
          </a:p>
          <a:p>
            <a:endParaRPr/>
          </a:p>
          <a:p>
            <a:r>
              <a:t>Transition: Check whether direct broad-cell analysis supports the same direction.</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that the female APOE ε4 result changes with cell-type resolution.</a:t>
            </a:r>
          </a:p>
          <a:p>
            <a:endParaRPr/>
          </a:p>
          <a:p>
            <a:r>
              <a:t>Walk through: The fine-cell DEG result points strongly downward for nuclear-encoded OXPHOS genes. In direct broad-cell analysis, ROSMAP has an AD-up NES of +0.70, but its adjusted P value of 0.991 is not significant. SEA-AD has an AD-up NES of +2.01 with an adjusted P value of 5.62 × 10⁻⁵, so the pathway-level result is significant. This means that the pathway genes collectively rank toward higher expression in AD. It does not mean that every individual OXPHOS gene is significantly upregulated. The available SEA-AD fine-cell check contains only one small astrocyte DEG list, and its overlap with ROSMAP is not significant.</a:t>
            </a:r>
          </a:p>
          <a:p>
            <a:endParaRPr/>
          </a:p>
          <a:p>
            <a:r>
              <a:t>Scientific boundary: The direct broad-cell pathway results point upward, opposite to the fine-cell DEG-occurrence pattern. This disagreement limits Finding 4 to the fine-cell analysis. Differences in the mix of fine cell types and limited matched coverage may contribute, but the current results do not identify the cause.</a:t>
            </a:r>
          </a:p>
          <a:p>
            <a:endParaRPr/>
          </a:p>
          <a:p>
            <a:r>
              <a:t>Transition: Explain the biological importance and the resolution warning together.</a:t>
            </a:r>
          </a:p>
          <a:p>
            <a:endParaRPr/>
          </a:p>
          <a:p>
            <a:r>
              <a:t>Sources: docs/analysis/kda_w_human_validation/rosmap_sex_apoe_broad_kda_analysis.md, Finding 4 and validation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a nuclear-encoded OXPHOS decrease could matter biologically.</a:t>
            </a:r>
          </a:p>
          <a:p>
            <a:endParaRPr/>
          </a:p>
          <a:p>
            <a:r>
              <a:t>Walk through: Most respiratory-complex subunits are encoded by nuclear DNA. Lower expression across many of these genes could reduce the supply of complex components, reflect cellular stress, or mark a different cell state. APOE ε4 makes the hypothesis important because it strongly increases late-onset Alzheimer’s disease risk at the population level.</a:t>
            </a:r>
          </a:p>
          <a:p>
            <a:endParaRPr/>
          </a:p>
          <a:p>
            <a:r>
              <a:t>Scientific boundary: Gene expression alone cannot establish lower respiratory capacity. The direct broad-cell pathway results point in the opposite direction, so the most cautious interpretation is a fine-cell signal that warrants targeted follow-up.</a:t>
            </a:r>
          </a:p>
          <a:p>
            <a:endParaRPr/>
          </a:p>
          <a:p>
            <a:r>
              <a:t>Transition: Place the result in prior research and summarize its evidence level.</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4 in prior research without overstating replication.</a:t>
            </a:r>
          </a:p>
          <a:p>
            <a:endParaRPr/>
          </a:p>
          <a:p>
            <a:r>
              <a:t>Walk through: The cited APOE4 studies support the biological plausibility of altered mitochondrial maintenance. This includes changes in mitochondrial dynamics and in the removal of damaged mitochondria. Cell-resolved Alzheimer’s studies also show that molecular responses differ among brain cell states. None reproduces the exact female APOE ε4 nuclear-encoded OXPHOS DEG pattern shown here.</a:t>
            </a:r>
          </a:p>
          <a:p>
            <a:endParaRPr/>
          </a:p>
          <a:p>
            <a:r>
              <a:t>Scientific boundary: Biological plausibility, novelty, and replication are separate judgments. The current finding remains resolution-sensitive and needs independent confirmation.</a:t>
            </a:r>
          </a:p>
          <a:p>
            <a:endParaRPr/>
          </a:p>
          <a:p>
            <a:r>
              <a:t>Transition: Move to the coordinated downward pattern in male APOE ε2 cells.</a:t>
            </a:r>
          </a:p>
          <a:p>
            <a:endParaRPr/>
          </a:p>
          <a:p>
            <a:r>
              <a:t>Sources: docs/analysis/kda_w_human_validation/rosmap_sex_apoe_broad_kda_analysis.md, Finding 4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5 as a coordinated male APOE ε2 DEG decrease.</a:t>
            </a:r>
          </a:p>
          <a:p>
            <a:endParaRPr/>
          </a:p>
          <a:p>
            <a:r>
              <a:t>Walk through: Unlike Finding 4, both defined OXPHOS gene sets move downward in male APOE ε2 fine-cell comparisons. Core MT genes are predominantly AD-down, and nuclear-encoded OXPHOS genes are also predominantly AD-down. The next slides quantify the repeated DEG occurrences and explain why unusually large MitoCarta MT DEG sets contribute many occurrences.</a:t>
            </a:r>
          </a:p>
          <a:p>
            <a:endParaRPr/>
          </a:p>
          <a:p>
            <a:r>
              <a:t>Scientific boundary: The result describes disease-associated gene expression in observed tissue. It does not imply that APOE ε2 causes the decrease or that lower expression explains APOE ε2 population-level protection.</a:t>
            </a:r>
          </a:p>
          <a:p>
            <a:endParaRPr/>
          </a:p>
          <a:p>
            <a:r>
              <a:t>Transition: State the coordinated direction and its contrast with male APOE ε3/ε3.</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male APOE ε2 decrease in plain language.</a:t>
            </a:r>
          </a:p>
          <a:p>
            <a:endParaRPr/>
          </a:p>
          <a:p>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a:endParaRPr/>
          </a:p>
          <a:p>
            <a:r>
              <a:t>Scientific boundary: APOE ε2 lowers average Alzheimer’s disease risk at the population level, but that does not predict every molecular state after disease develops. The observed expression pattern is descriptive rather than causal.</a:t>
            </a:r>
          </a:p>
          <a:p>
            <a:endParaRPr/>
          </a:p>
          <a:p>
            <a:r>
              <a:t>Transition: Show the exact DEG-occurrence percentages.</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male APOE ε2 DEG burden in both OXPHOS gene sets.</a:t>
            </a:r>
          </a:p>
          <a:p>
            <a:endParaRPr/>
          </a:p>
          <a:p>
            <a:r>
              <a:t>Walk through: Across included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a:endParaRPr/>
          </a:p>
          <a:p>
            <a:r>
              <a:t>Scientific boundary: The 523 value combines repeated gene-by-fine-cell occurrences from two defined gene sets. It is not a count of unique genes, donors, or cells, and it does not measure expression magnitude or mitochondrial function.</a:t>
            </a:r>
          </a:p>
          <a:p>
            <a:endParaRPr/>
          </a:p>
          <a:p>
            <a:r>
              <a:t>Transition: Explain why the male APOE ε2 DEG sets are unusually large.</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DEG-set-size caveat for male APOE ε2.</a:t>
            </a:r>
          </a:p>
          <a:p>
            <a:endParaRPr/>
          </a:p>
          <a:p>
            <a:r>
              <a:t>Walk through: Each included fine-cell comparison contributes one set of MitoCarta MT DEGs. The median male APOE ε2 set contains 85 DEGs, compared with 16.5 across all included fine-cell comparisons. Larger DEG sets can generate more DEG occurrences when results are summarized across fine cell types.</a:t>
            </a:r>
          </a:p>
          <a:p>
            <a:endParaRPr/>
          </a:p>
          <a:p>
            <a:r>
              <a:t>Scientific boundary: This size difference helps explain the large occurrence count, but it does not change the proportion of upregulated versus downregulated occurrences. SEA-AD has no matched male APOE ε2 fine-cell DEG result here.</a:t>
            </a:r>
          </a:p>
          <a:p>
            <a:endParaRPr/>
          </a:p>
          <a:p>
            <a:r>
              <a:t>Transition: Return to the biological meaning of the coordinated DEG direction.</a:t>
            </a:r>
          </a:p>
          <a:p>
            <a:endParaRPr/>
          </a:p>
          <a:p>
            <a:r>
              <a:t>Sources: docs/analysis/kda_w_human_validation/rosmap_sex_apoe_broad_kda_analysis.md, Finding 5 and DEG-set-size diagnostics.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the male APOE ε2 DEG direction from inherited-risk interpretation and mitochondrial function.</a:t>
            </a:r>
          </a:p>
          <a:p>
            <a:endParaRPr/>
          </a:p>
          <a:p>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a:endParaRPr/>
          </a:p>
          <a:p>
            <a:r>
              <a:t>Scientific boundary: Lower gene expression does not by itself demonstrate lower respiratory-complex abundance, respiration, ATP production, or mitochondrial fitness. Protein and functional measurements are needed.</a:t>
            </a:r>
          </a:p>
          <a:p>
            <a:endParaRPr/>
          </a:p>
          <a:p>
            <a:r>
              <a:t>Transition: Place the result in prior research and summarize its evidence level.</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5 in prior research without overstating independent support.</a:t>
            </a:r>
          </a:p>
          <a:p>
            <a:endParaRPr/>
          </a:p>
          <a:p>
            <a:r>
              <a:t>Walk through: Population genetics establishes the average protective association of APOE ε2. Sex-specific network and cell-resolved Alzheimer’s studies support the need to examine molecular responses within sex, genotype, and cell context. None independently reproduces this exact male APOE ε2 coordinated OXPHOS decrease.</a:t>
            </a:r>
          </a:p>
          <a:p>
            <a:endParaRPr/>
          </a:p>
          <a:p>
            <a:r>
              <a:t>Scientific boundary: The finding is potentially novel but currently lacks a matched SEA-AD category and functional validation. Novelty and evidence strength should remain separate.</a:t>
            </a:r>
          </a:p>
          <a:p>
            <a:endParaRPr/>
          </a:p>
          <a:p>
            <a:r>
              <a:t>Transition: Move to Finding 6, where male APOE ε4 shows opposite directions across the two OXPHOS gene sets.</a:t>
            </a:r>
          </a:p>
          <a:p>
            <a:endParaRPr/>
          </a:p>
          <a:p>
            <a:r>
              <a:t>Sources: docs/analysis/kda_w_human_validation/rosmap_sex_apoe_broad_kda_analysis.md, Finding 5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may matter without overstating function.</a:t>
            </a:r>
          </a:p>
          <a:p>
            <a:endParaRPr/>
          </a:p>
          <a:p>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nuclear-encoded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non-MitoCarta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nuclear-encoded 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7 may matter without overstating function.</a:t>
            </a:r>
          </a:p>
          <a:p>
            <a:endParaRPr/>
          </a:p>
          <a:p>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KDA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8 may matter without overstating function.</a:t>
            </a:r>
          </a:p>
          <a:p>
            <a:endParaRPr/>
          </a:p>
          <a:p>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core MT upregulation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core MT genes originate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KDA calls come from one group.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9 may matter without overstating function.</a:t>
            </a:r>
          </a:p>
          <a:p>
            <a:endParaRPr/>
          </a:p>
          <a:p>
            <a:r>
              <a:t>Walk through: The signal could reflect transcriptional coupling, global mitochondrial RNA, or network construction. Removing core MT genes in the query is an important sensitivity test before mechanistic interpretation. Source: docs/analysis/kda_w_human_validation/rosmap_sex_apoe_broad_kda_analysis.md, Finding 9. Literature: https://doi.org/10.1128/MCB.01356-07; https://doi.org/10.1016/j.cell.2011.06.051; https://doi.org/10.3892/mmr.2015.4271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10 may matter without overstating function.</a:t>
            </a:r>
          </a:p>
          <a:p>
            <a:endParaRPr/>
          </a:p>
          <a:p>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11 may matter without overstating function.</a:t>
            </a:r>
          </a:p>
          <a:p>
            <a:endParaRPr/>
          </a:p>
          <a:p>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12 may matter without overstating function.</a:t>
            </a:r>
          </a:p>
          <a:p>
            <a:endParaRPr/>
          </a:p>
          <a:p>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13 may matter without overstating function.</a:t>
            </a:r>
          </a:p>
          <a:p>
            <a:endParaRPr/>
          </a:p>
          <a:p>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14 may matter without overstating function.</a:t>
            </a:r>
          </a:p>
          <a:p>
            <a:endParaRPr/>
          </a:p>
          <a:p>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KDA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15 may matter without overstating function.</a:t>
            </a:r>
          </a:p>
          <a:p>
            <a:endParaRPr/>
          </a:p>
          <a:p>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KDA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16 may matter without overstating function.</a:t>
            </a:r>
          </a:p>
          <a:p>
            <a:endParaRPr/>
          </a:p>
          <a:p>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Mitochondrial gene-set patterns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17 may matter without overstating function.</a:t>
            </a:r>
          </a:p>
          <a:p>
            <a:endParaRPr/>
          </a:p>
          <a:p>
            <a:r>
              <a:t>Walk through: Networks, phenotype labels, available cell types, and query thresholds differ between cohorts. Gene-set support can strengthen a ROSMAP finding without confirming its exact upstream candidate. Source: docs/analysis/kda_w_human_validation/rosmap_sex_apoe_broad_kda_analysis.md, Finding 17.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gene-set-level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9/20/26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9/20/26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9/20/26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50000"/>
            <a:ext cx="10287000" cy="300000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r>
              <a:rPr sz="2000">
                <a:solidFill>
                  <a:srgbClr val="FFFFFF"/>
                </a:solidFill>
                <a:latin typeface="Arial"/>
                <a:ea typeface="Arial"/>
                <a:cs typeface="Arial"/>
              </a:rPr>
              <a:t>Cell-resolved differential-expression, pathway, and key driver analyses with cross-cohort human validation</a:t>
            </a: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D92C61A9-D17A-4A5C-B4F6-F722B8289DF9}">
                <a16:creationId xmlns="" xmlns:a16="http://schemas.microsoft.com/office/drawing/2014/main" id="{6F07DFAB-35BE-479C-9DEF-5CEA7FC8F4F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Study overview and key concepts</a:t>
            </a:r>
            <a:br/>
            <a:endParaRPr sz="2000" b="1">
              <a:solidFill>
                <a:srgbClr val="FFFFFF"/>
              </a:solidFill>
              <a:latin typeface="Arial"/>
              <a:ea typeface="Arial"/>
              <a:cs typeface="Arial"/>
            </a:endParaRPr>
          </a:p>
        </p:txBody>
      </p:sp>
      <p:sp>
        <p:nvSpPr>
          <p:cNvPr id="2" name="TextBox 1">
            <a:extLst>
              <a:ext uri="{2F7840D8-3D57-4DED-BD06-3F8FA78609D6}">
                <a16:creationId xmlns="" xmlns:a16="http://schemas.microsoft.com/office/drawing/2014/main" id="{CB0FABF6-EBA2-422B-ADF2-3900CE13C3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1</a:t>
            </a:r>
          </a:p>
        </p:txBody>
      </p:sp>
    </p:spTree>
    <p:extLst>
      <p:ext uri="{95F04923-0B92-4850-864A-EE0D0FB786E8}">
        <p14:creationId xmlns="" xmlns:p14="http://schemas.microsoft.com/office/powerpoint/2010/main" val="157244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workflow-background">
            <a:extLst>
              <a:ext uri="{FF2B5EF4-FFF2-40B4-BE49-F238E27FC236}">
                <a16:creationId xmlns:a16="http://schemas.microsoft.com/office/drawing/2014/main" id="{4E982020-69A2-4D13-A522-5B7F01820BE9}"/>
              </a:ext>
            </a:extLst>
          </p:cNvPr>
          <p:cNvSpPr>
            <a:spLocks noGrp="1"/>
          </p:cNvSpPr>
          <p:nvPr/>
        </p:nvSpPr>
        <p:spPr>
          <a:xfrm>
            <a:off x="0" y="0"/>
            <a:ext cx="12192000" cy="6858000"/>
          </a:xfrm>
          <a:prstGeom prst="rect">
            <a:avLst/>
          </a:prstGeom>
          <a:solidFill>
            <a:srgbClr val="0F233D"/>
          </a:solidFill>
          <a:ln w="0">
            <a:noFill/>
            <a:prstDash val="solid"/>
          </a:ln>
        </p:spPr>
        <p:txBody>
          <a:bodyPr/>
          <a:lstStyle/>
          <a:p>
            <a:endParaRPr lang="en-US"/>
          </a:p>
        </p:txBody>
      </p:sp>
      <p:sp>
        <p:nvSpPr>
          <p:cNvPr id="2" name="workflow-title">
            <a:extLst>
              <a:ext uri="{FF2B5EF4-FFF2-40B4-BE49-F238E27FC236}">
                <a16:creationId xmlns:a16="http://schemas.microsoft.com/office/drawing/2014/main" id="{79D2C27B-AC4C-4648-BA06-E6F507A7D4A1}"/>
              </a:ext>
            </a:extLst>
          </p:cNvPr>
          <p:cNvSpPr>
            <a:spLocks noGrp="1"/>
          </p:cNvSpPr>
          <p:nvPr/>
        </p:nvSpPr>
        <p:spPr>
          <a:xfrm>
            <a:off x="714375" y="1171575"/>
            <a:ext cx="8096250" cy="666750"/>
          </a:xfrm>
          <a:prstGeom prst="rect">
            <a:avLst/>
          </a:prstGeom>
          <a:noFill/>
          <a:ln w="0">
            <a:noFill/>
            <a:prstDash val="solid"/>
          </a:ln>
        </p:spPr>
        <p:txBody>
          <a:bodyPr wrap="square" lIns="0" tIns="0" rIns="0" bIns="0" anchor="ctr">
            <a:normAutofit/>
          </a:bodyPr>
          <a:lstStyle/>
          <a:p>
            <a:pPr algn="l">
              <a:defRPr sz="3150" b="1">
                <a:solidFill>
                  <a:srgbClr val="FFFFFF"/>
                </a:solidFill>
                <a:latin typeface="Arial"/>
                <a:ea typeface="Arial"/>
                <a:cs typeface="Arial"/>
              </a:defRPr>
            </a:pPr>
            <a:r>
              <a:rPr sz="3150" b="1">
                <a:solidFill>
                  <a:srgbClr val="FFFFFF"/>
                </a:solidFill>
                <a:latin typeface="Arial"/>
                <a:ea typeface="Arial"/>
                <a:cs typeface="Arial"/>
              </a:rPr>
              <a:t>Overall workflow</a:t>
            </a:r>
          </a:p>
        </p:txBody>
      </p:sp>
      <p:sp>
        <p:nvSpPr>
          <p:cNvPr id="3" name="workflow-part-label">
            <a:extLst>
              <a:ext uri="{FF2B5EF4-FFF2-40B4-BE49-F238E27FC236}">
                <a16:creationId xmlns:a16="http://schemas.microsoft.com/office/drawing/2014/main" id="{3F172B43-0978-435C-9EBF-CBF5530D5FBD}"/>
              </a:ext>
            </a:extLst>
          </p:cNvPr>
          <p:cNvSpPr>
            <a:spLocks noGrp="1"/>
          </p:cNvSpPr>
          <p:nvPr/>
        </p:nvSpPr>
        <p:spPr>
          <a:xfrm>
            <a:off x="714375" y="609600"/>
            <a:ext cx="2190750" cy="228600"/>
          </a:xfrm>
          <a:prstGeom prst="rect">
            <a:avLst/>
          </a:prstGeom>
          <a:noFill/>
          <a:ln w="0">
            <a:noFill/>
            <a:prstDash val="solid"/>
          </a:ln>
        </p:spPr>
        <p:txBody>
          <a:bodyPr wrap="square" lIns="0" tIns="0" rIns="0" bIns="0" anchor="ctr">
            <a:normAutofit/>
          </a:bodyPr>
          <a:lstStyle/>
          <a:p>
            <a:pPr algn="l">
              <a:defRPr sz="825" b="1">
                <a:solidFill>
                  <a:srgbClr val="0072B2"/>
                </a:solidFill>
                <a:latin typeface="Arial"/>
                <a:ea typeface="Arial"/>
                <a:cs typeface="Arial"/>
              </a:defRPr>
            </a:pPr>
            <a:r>
              <a:rPr sz="825" b="1">
                <a:solidFill>
                  <a:srgbClr val="0072B2"/>
                </a:solidFill>
                <a:latin typeface="Arial"/>
                <a:ea typeface="Arial"/>
                <a:cs typeface="Arial"/>
              </a:rPr>
              <a:t>PART 1</a:t>
            </a:r>
          </a:p>
        </p:txBody>
      </p:sp>
      <p:sp>
        <p:nvSpPr>
          <p:cNvPr id="4" name="workflow-subtitle">
            <a:extLst>
              <a:ext uri="{FF2B5EF4-FFF2-40B4-BE49-F238E27FC236}">
                <a16:creationId xmlns:a16="http://schemas.microsoft.com/office/drawing/2014/main" id="{9E46C2DA-B029-4646-A9C3-AE3F21F2A92A}"/>
              </a:ext>
            </a:extLst>
          </p:cNvPr>
          <p:cNvSpPr>
            <a:spLocks noGrp="1"/>
          </p:cNvSpPr>
          <p:nvPr/>
        </p:nvSpPr>
        <p:spPr>
          <a:xfrm>
            <a:off x="723900" y="1971675"/>
            <a:ext cx="10668000" cy="400050"/>
          </a:xfrm>
          <a:prstGeom prst="rect">
            <a:avLst/>
          </a:prstGeom>
          <a:noFill/>
          <a:ln w="0">
            <a:noFill/>
            <a:prstDash val="solid"/>
          </a:ln>
        </p:spPr>
        <p:txBody>
          <a:bodyPr wrap="square" lIns="0" tIns="0" rIns="0" bIns="0" anchor="ctr">
            <a:normAutofit/>
          </a:bodyPr>
          <a:lstStyle/>
          <a:p>
            <a:pPr algn="l">
              <a:defRPr sz="1425" b="0">
                <a:solidFill>
                  <a:srgbClr val="CBD8E5"/>
                </a:solidFill>
                <a:latin typeface="Arial"/>
                <a:ea typeface="Arial"/>
                <a:cs typeface="Arial"/>
              </a:defRPr>
            </a:pPr>
            <a:r>
              <a:rPr sz="1425" b="0">
                <a:solidFill>
                  <a:srgbClr val="CBD8E5"/>
                </a:solidFill>
                <a:latin typeface="Arial"/>
                <a:ea typeface="Arial"/>
                <a:cs typeface="Arial"/>
              </a:rPr>
              <a:t>From cell-level gene expression to human validation, with mouse experiments as a potential next step</a:t>
            </a:r>
          </a:p>
        </p:txBody>
      </p:sp>
      <p:sp>
        <p:nvSpPr>
          <p:cNvPr id="5" name="workflow-connector">
            <a:extLst>
              <a:ext uri="{FF2B5EF4-FFF2-40B4-BE49-F238E27FC236}">
                <a16:creationId xmlns:a16="http://schemas.microsoft.com/office/drawing/2014/main" id="{AEA5EE79-2054-447E-92B6-1F87DC91DDD6}"/>
              </a:ext>
            </a:extLst>
          </p:cNvPr>
          <p:cNvSpPr>
            <a:spLocks noGrp="1"/>
          </p:cNvSpPr>
          <p:nvPr/>
        </p:nvSpPr>
        <p:spPr>
          <a:xfrm>
            <a:off x="1390650" y="3238500"/>
            <a:ext cx="9391650" cy="0"/>
          </a:xfrm>
          <a:prstGeom prst="line">
            <a:avLst/>
          </a:prstGeom>
          <a:noFill/>
          <a:ln w="28575">
            <a:solidFill>
              <a:srgbClr val="58718B"/>
            </a:solidFill>
            <a:prstDash val="solid"/>
          </a:ln>
        </p:spPr>
        <p:txBody>
          <a:bodyPr/>
          <a:lstStyle/>
          <a:p>
            <a:endParaRPr lang="en-US"/>
          </a:p>
        </p:txBody>
      </p:sp>
      <p:sp>
        <p:nvSpPr>
          <p:cNvPr id="6" name="workflow-stage-1-node">
            <a:extLst>
              <a:ext uri="{FF2B5EF4-FFF2-40B4-BE49-F238E27FC236}">
                <a16:creationId xmlns:a16="http://schemas.microsoft.com/office/drawing/2014/main" id="{9DB64847-5BB9-4C6D-A7F6-8B634BE8F0D3}"/>
              </a:ext>
            </a:extLst>
          </p:cNvPr>
          <p:cNvSpPr>
            <a:spLocks noGrp="1"/>
          </p:cNvSpPr>
          <p:nvPr/>
        </p:nvSpPr>
        <p:spPr>
          <a:xfrm>
            <a:off x="1162050" y="3009900"/>
            <a:ext cx="457200" cy="457200"/>
          </a:xfrm>
          <a:prstGeom prst="ellipse">
            <a:avLst/>
          </a:prstGeom>
          <a:solidFill>
            <a:srgbClr val="0072B2"/>
          </a:solidFill>
          <a:ln w="0">
            <a:solidFill>
              <a:srgbClr val="0072B2"/>
            </a:solidFill>
            <a:prstDash val="solid"/>
          </a:ln>
        </p:spPr>
        <p:txBody>
          <a:bodyPr/>
          <a:lstStyle/>
          <a:p>
            <a:endParaRPr lang="en-US"/>
          </a:p>
        </p:txBody>
      </p:sp>
      <p:sp>
        <p:nvSpPr>
          <p:cNvPr id="7" name="workflow-stage-1-number">
            <a:extLst>
              <a:ext uri="{FF2B5EF4-FFF2-40B4-BE49-F238E27FC236}">
                <a16:creationId xmlns:a16="http://schemas.microsoft.com/office/drawing/2014/main" id="{815B3806-FAA3-4B16-819C-CE0CB7A81A72}"/>
              </a:ext>
            </a:extLst>
          </p:cNvPr>
          <p:cNvSpPr>
            <a:spLocks noGrp="1"/>
          </p:cNvSpPr>
          <p:nvPr/>
        </p:nvSpPr>
        <p:spPr>
          <a:xfrm>
            <a:off x="11620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workflow-stage-1-title">
            <a:extLst>
              <a:ext uri="{FF2B5EF4-FFF2-40B4-BE49-F238E27FC236}">
                <a16:creationId xmlns:a16="http://schemas.microsoft.com/office/drawing/2014/main" id="{4463EC33-CFA4-42E0-807B-295C5D8F3105}"/>
              </a:ext>
            </a:extLst>
          </p:cNvPr>
          <p:cNvSpPr>
            <a:spLocks noGrp="1"/>
          </p:cNvSpPr>
          <p:nvPr/>
        </p:nvSpPr>
        <p:spPr>
          <a:xfrm>
            <a:off x="4000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9" name="workflow-stage-1-description">
            <a:extLst>
              <a:ext uri="{FF2B5EF4-FFF2-40B4-BE49-F238E27FC236}">
                <a16:creationId xmlns:a16="http://schemas.microsoft.com/office/drawing/2014/main" id="{CB5F5E6D-68FD-4856-A349-3CCE27C3A6E8}"/>
              </a:ext>
            </a:extLst>
          </p:cNvPr>
          <p:cNvSpPr>
            <a:spLocks noGrp="1"/>
          </p:cNvSpPr>
          <p:nvPr/>
        </p:nvSpPr>
        <p:spPr>
          <a:xfrm>
            <a:off x="4000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Find differentially expressed genes with higher or lower RNA abundance in AD.</a:t>
            </a:r>
          </a:p>
        </p:txBody>
      </p:sp>
      <p:sp>
        <p:nvSpPr>
          <p:cNvPr id="10" name="workflow-stage-2-node">
            <a:extLst>
              <a:ext uri="{FF2B5EF4-FFF2-40B4-BE49-F238E27FC236}">
                <a16:creationId xmlns:a16="http://schemas.microsoft.com/office/drawing/2014/main" id="{F16F3B85-5C33-4E33-88D5-2E7355371669}"/>
              </a:ext>
            </a:extLst>
          </p:cNvPr>
          <p:cNvSpPr>
            <a:spLocks noGrp="1"/>
          </p:cNvSpPr>
          <p:nvPr/>
        </p:nvSpPr>
        <p:spPr>
          <a:xfrm>
            <a:off x="3514725" y="3009900"/>
            <a:ext cx="457200" cy="457200"/>
          </a:xfrm>
          <a:prstGeom prst="ellipse">
            <a:avLst/>
          </a:prstGeom>
          <a:solidFill>
            <a:srgbClr val="56B4E9"/>
          </a:solidFill>
          <a:ln w="0">
            <a:solidFill>
              <a:srgbClr val="56B4E9"/>
            </a:solidFill>
            <a:prstDash val="solid"/>
          </a:ln>
        </p:spPr>
        <p:txBody>
          <a:bodyPr/>
          <a:lstStyle/>
          <a:p>
            <a:endParaRPr lang="en-US"/>
          </a:p>
        </p:txBody>
      </p:sp>
      <p:sp>
        <p:nvSpPr>
          <p:cNvPr id="11" name="workflow-stage-2-number">
            <a:extLst>
              <a:ext uri="{FF2B5EF4-FFF2-40B4-BE49-F238E27FC236}">
                <a16:creationId xmlns:a16="http://schemas.microsoft.com/office/drawing/2014/main" id="{00397213-9DE8-4AD8-818B-CCCAC5B96D96}"/>
              </a:ext>
            </a:extLst>
          </p:cNvPr>
          <p:cNvSpPr>
            <a:spLocks noGrp="1"/>
          </p:cNvSpPr>
          <p:nvPr/>
        </p:nvSpPr>
        <p:spPr>
          <a:xfrm>
            <a:off x="351472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workflow-stage-2-title">
            <a:extLst>
              <a:ext uri="{FF2B5EF4-FFF2-40B4-BE49-F238E27FC236}">
                <a16:creationId xmlns:a16="http://schemas.microsoft.com/office/drawing/2014/main" id="{76F5D727-E5F3-4FD5-B247-35A32B305A1B}"/>
              </a:ext>
            </a:extLst>
          </p:cNvPr>
          <p:cNvSpPr>
            <a:spLocks noGrp="1"/>
          </p:cNvSpPr>
          <p:nvPr/>
        </p:nvSpPr>
        <p:spPr>
          <a:xfrm>
            <a:off x="275272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3" name="workflow-stage-2-description">
            <a:extLst>
              <a:ext uri="{FF2B5EF4-FFF2-40B4-BE49-F238E27FC236}">
                <a16:creationId xmlns:a16="http://schemas.microsoft.com/office/drawing/2014/main" id="{6615FB9C-32AD-4F77-A1DA-4617FC13D52C}"/>
              </a:ext>
            </a:extLst>
          </p:cNvPr>
          <p:cNvSpPr>
            <a:spLocks noGrp="1"/>
          </p:cNvSpPr>
          <p:nvPr/>
        </p:nvSpPr>
        <p:spPr>
          <a:xfrm>
            <a:off x="275272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Summarize the mitochondrial processes represented among the DEGs.</a:t>
            </a:r>
          </a:p>
        </p:txBody>
      </p:sp>
      <p:sp>
        <p:nvSpPr>
          <p:cNvPr id="14" name="workflow-stage-3-node">
            <a:extLst>
              <a:ext uri="{FF2B5EF4-FFF2-40B4-BE49-F238E27FC236}">
                <a16:creationId xmlns:a16="http://schemas.microsoft.com/office/drawing/2014/main" id="{1D4AC1EC-2380-42C7-AC84-315B6304331C}"/>
              </a:ext>
            </a:extLst>
          </p:cNvPr>
          <p:cNvSpPr>
            <a:spLocks noGrp="1"/>
          </p:cNvSpPr>
          <p:nvPr/>
        </p:nvSpPr>
        <p:spPr>
          <a:xfrm>
            <a:off x="5867400" y="3009900"/>
            <a:ext cx="457200" cy="457200"/>
          </a:xfrm>
          <a:prstGeom prst="ellipse">
            <a:avLst/>
          </a:prstGeom>
          <a:solidFill>
            <a:srgbClr val="009E73"/>
          </a:solidFill>
          <a:ln w="0">
            <a:solidFill>
              <a:srgbClr val="009E73"/>
            </a:solidFill>
            <a:prstDash val="solid"/>
          </a:ln>
        </p:spPr>
        <p:txBody>
          <a:bodyPr/>
          <a:lstStyle/>
          <a:p>
            <a:endParaRPr lang="en-US"/>
          </a:p>
        </p:txBody>
      </p:sp>
      <p:sp>
        <p:nvSpPr>
          <p:cNvPr id="15" name="workflow-stage-3-number">
            <a:extLst>
              <a:ext uri="{FF2B5EF4-FFF2-40B4-BE49-F238E27FC236}">
                <a16:creationId xmlns:a16="http://schemas.microsoft.com/office/drawing/2014/main" id="{C117132B-92DD-498B-97D2-AD13EFACC402}"/>
              </a:ext>
            </a:extLst>
          </p:cNvPr>
          <p:cNvSpPr>
            <a:spLocks noGrp="1"/>
          </p:cNvSpPr>
          <p:nvPr/>
        </p:nvSpPr>
        <p:spPr>
          <a:xfrm>
            <a:off x="586740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workflow-stage-3-title">
            <a:extLst>
              <a:ext uri="{FF2B5EF4-FFF2-40B4-BE49-F238E27FC236}">
                <a16:creationId xmlns:a16="http://schemas.microsoft.com/office/drawing/2014/main" id="{4B9220B0-8715-4B6F-AB21-0BC6823A4BD8}"/>
              </a:ext>
            </a:extLst>
          </p:cNvPr>
          <p:cNvSpPr>
            <a:spLocks noGrp="1"/>
          </p:cNvSpPr>
          <p:nvPr/>
        </p:nvSpPr>
        <p:spPr>
          <a:xfrm>
            <a:off x="510540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 (KDA)</a:t>
            </a:r>
          </a:p>
        </p:txBody>
      </p:sp>
      <p:sp>
        <p:nvSpPr>
          <p:cNvPr id="17" name="workflow-stage-3-description">
            <a:extLst>
              <a:ext uri="{FF2B5EF4-FFF2-40B4-BE49-F238E27FC236}">
                <a16:creationId xmlns:a16="http://schemas.microsoft.com/office/drawing/2014/main" id="{92CBF553-AE3C-4DC8-BF56-ABEFCFD3FC2B}"/>
              </a:ext>
            </a:extLst>
          </p:cNvPr>
          <p:cNvSpPr>
            <a:spLocks noGrp="1"/>
          </p:cNvSpPr>
          <p:nvPr/>
        </p:nvSpPr>
        <p:spPr>
          <a:xfrm>
            <a:off x="510540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Use gene networks to nominate genes connected to MitoCarta MT DEGs.</a:t>
            </a:r>
          </a:p>
        </p:txBody>
      </p:sp>
      <p:sp>
        <p:nvSpPr>
          <p:cNvPr id="18" name="workflow-stage-4-node">
            <a:extLst>
              <a:ext uri="{FF2B5EF4-FFF2-40B4-BE49-F238E27FC236}">
                <a16:creationId xmlns:a16="http://schemas.microsoft.com/office/drawing/2014/main" id="{5F151541-FD72-4BBC-AA65-6864699C23D0}"/>
              </a:ext>
            </a:extLst>
          </p:cNvPr>
          <p:cNvSpPr>
            <a:spLocks noGrp="1"/>
          </p:cNvSpPr>
          <p:nvPr/>
        </p:nvSpPr>
        <p:spPr>
          <a:xfrm>
            <a:off x="8220075" y="3009900"/>
            <a:ext cx="457200" cy="457200"/>
          </a:xfrm>
          <a:prstGeom prst="ellipse">
            <a:avLst/>
          </a:prstGeom>
          <a:solidFill>
            <a:srgbClr val="E6A700"/>
          </a:solidFill>
          <a:ln w="0">
            <a:solidFill>
              <a:srgbClr val="E6A700"/>
            </a:solidFill>
            <a:prstDash val="solid"/>
          </a:ln>
        </p:spPr>
        <p:txBody>
          <a:bodyPr/>
          <a:lstStyle/>
          <a:p>
            <a:endParaRPr lang="en-US"/>
          </a:p>
        </p:txBody>
      </p:sp>
      <p:sp>
        <p:nvSpPr>
          <p:cNvPr id="19" name="workflow-stage-4-number">
            <a:extLst>
              <a:ext uri="{FF2B5EF4-FFF2-40B4-BE49-F238E27FC236}">
                <a16:creationId xmlns:a16="http://schemas.microsoft.com/office/drawing/2014/main" id="{A54289E8-6F16-4608-BAA7-95A65ED9954E}"/>
              </a:ext>
            </a:extLst>
          </p:cNvPr>
          <p:cNvSpPr>
            <a:spLocks noGrp="1"/>
          </p:cNvSpPr>
          <p:nvPr/>
        </p:nvSpPr>
        <p:spPr>
          <a:xfrm>
            <a:off x="822007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workflow-stage-4-title">
            <a:extLst>
              <a:ext uri="{FF2B5EF4-FFF2-40B4-BE49-F238E27FC236}">
                <a16:creationId xmlns:a16="http://schemas.microsoft.com/office/drawing/2014/main" id="{EB1FFF63-45B8-49FB-B660-61BF7D5F1D52}"/>
              </a:ext>
            </a:extLst>
          </p:cNvPr>
          <p:cNvSpPr>
            <a:spLocks noGrp="1"/>
          </p:cNvSpPr>
          <p:nvPr/>
        </p:nvSpPr>
        <p:spPr>
          <a:xfrm>
            <a:off x="745807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21" name="workflow-stage-4-description">
            <a:extLst>
              <a:ext uri="{FF2B5EF4-FFF2-40B4-BE49-F238E27FC236}">
                <a16:creationId xmlns:a16="http://schemas.microsoft.com/office/drawing/2014/main" id="{1480A0EA-6DCC-4F4C-9206-6C689CD9D62F}"/>
              </a:ext>
            </a:extLst>
          </p:cNvPr>
          <p:cNvSpPr>
            <a:spLocks noGrp="1"/>
          </p:cNvSpPr>
          <p:nvPr/>
        </p:nvSpPr>
        <p:spPr>
          <a:xfrm>
            <a:off x="745807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Compare ROSMAP findings with SEA-AD and direct broad-cell analyses.</a:t>
            </a:r>
          </a:p>
        </p:txBody>
      </p:sp>
      <p:sp>
        <p:nvSpPr>
          <p:cNvPr id="22" name="workflow-stage-5-node">
            <a:extLst>
              <a:ext uri="{FF2B5EF4-FFF2-40B4-BE49-F238E27FC236}">
                <a16:creationId xmlns:a16="http://schemas.microsoft.com/office/drawing/2014/main" id="{5B4BB00C-AA79-4B1D-AD24-83933BEC7148}"/>
              </a:ext>
            </a:extLst>
          </p:cNvPr>
          <p:cNvSpPr>
            <a:spLocks noGrp="1"/>
          </p:cNvSpPr>
          <p:nvPr/>
        </p:nvSpPr>
        <p:spPr>
          <a:xfrm>
            <a:off x="10572750" y="3009900"/>
            <a:ext cx="457200" cy="457200"/>
          </a:xfrm>
          <a:prstGeom prst="ellipse">
            <a:avLst/>
          </a:prstGeom>
          <a:solidFill>
            <a:srgbClr val="193A5A"/>
          </a:solidFill>
          <a:ln w="23813">
            <a:solidFill>
              <a:srgbClr val="D55E00"/>
            </a:solidFill>
            <a:prstDash val="solid"/>
          </a:ln>
        </p:spPr>
        <p:txBody>
          <a:bodyPr/>
          <a:lstStyle/>
          <a:p>
            <a:endParaRPr lang="en-US"/>
          </a:p>
        </p:txBody>
      </p:sp>
      <p:sp>
        <p:nvSpPr>
          <p:cNvPr id="23" name="workflow-stage-5-number">
            <a:extLst>
              <a:ext uri="{FF2B5EF4-FFF2-40B4-BE49-F238E27FC236}">
                <a16:creationId xmlns:a16="http://schemas.microsoft.com/office/drawing/2014/main" id="{D8734508-6E75-4FA5-8434-C0CAB9FEB676}"/>
              </a:ext>
            </a:extLst>
          </p:cNvPr>
          <p:cNvSpPr>
            <a:spLocks noGrp="1"/>
          </p:cNvSpPr>
          <p:nvPr/>
        </p:nvSpPr>
        <p:spPr>
          <a:xfrm>
            <a:off x="105727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4" name="workflow-potential-label">
            <a:extLst>
              <a:ext uri="{FF2B5EF4-FFF2-40B4-BE49-F238E27FC236}">
                <a16:creationId xmlns:a16="http://schemas.microsoft.com/office/drawing/2014/main" id="{778643AA-D9DB-45D3-88E1-093CD050669B}"/>
              </a:ext>
            </a:extLst>
          </p:cNvPr>
          <p:cNvSpPr>
            <a:spLocks noGrp="1"/>
          </p:cNvSpPr>
          <p:nvPr/>
        </p:nvSpPr>
        <p:spPr>
          <a:xfrm>
            <a:off x="9858375" y="2638425"/>
            <a:ext cx="1885950" cy="228600"/>
          </a:xfrm>
          <a:prstGeom prst="rect">
            <a:avLst/>
          </a:prstGeom>
          <a:noFill/>
          <a:ln w="0">
            <a:noFill/>
            <a:prstDash val="solid"/>
          </a:ln>
        </p:spPr>
        <p:txBody>
          <a:bodyPr wrap="square" lIns="0" tIns="0" rIns="0" bIns="0" anchor="ctr">
            <a:normAutofit/>
          </a:bodyPr>
          <a:lstStyle/>
          <a:p>
            <a:pPr algn="ctr">
              <a:defRPr sz="900" b="1">
                <a:solidFill>
                  <a:srgbClr val="D55E00"/>
                </a:solidFill>
                <a:latin typeface="Arial"/>
                <a:ea typeface="Arial"/>
                <a:cs typeface="Arial"/>
              </a:defRPr>
            </a:pPr>
            <a:r>
              <a:rPr sz="900" b="1">
                <a:solidFill>
                  <a:srgbClr val="D55E00"/>
                </a:solidFill>
                <a:latin typeface="Arial"/>
                <a:ea typeface="Arial"/>
                <a:cs typeface="Arial"/>
              </a:rPr>
              <a:t>POTENTIAL NEXT STEP</a:t>
            </a:r>
          </a:p>
        </p:txBody>
      </p:sp>
      <p:sp>
        <p:nvSpPr>
          <p:cNvPr id="25" name="workflow-stage-5-title">
            <a:extLst>
              <a:ext uri="{FF2B5EF4-FFF2-40B4-BE49-F238E27FC236}">
                <a16:creationId xmlns:a16="http://schemas.microsoft.com/office/drawing/2014/main" id="{72CF0FFE-4DB9-42E9-8243-5801C149430C}"/>
              </a:ext>
            </a:extLst>
          </p:cNvPr>
          <p:cNvSpPr>
            <a:spLocks noGrp="1"/>
          </p:cNvSpPr>
          <p:nvPr/>
        </p:nvSpPr>
        <p:spPr>
          <a:xfrm>
            <a:off x="98107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6" name="workflow-stage-5-description">
            <a:extLst>
              <a:ext uri="{FF2B5EF4-FFF2-40B4-BE49-F238E27FC236}">
                <a16:creationId xmlns:a16="http://schemas.microsoft.com/office/drawing/2014/main" id="{3747D9DF-397F-4B55-9F31-0DFC283F1C04}"/>
              </a:ext>
            </a:extLst>
          </p:cNvPr>
          <p:cNvSpPr>
            <a:spLocks noGrp="1"/>
          </p:cNvSpPr>
          <p:nvPr/>
        </p:nvSpPr>
        <p:spPr>
          <a:xfrm>
            <a:off x="98107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Test selected candidates and mitochondrial function in targeted models.</a:t>
            </a:r>
          </a:p>
        </p:txBody>
      </p:sp>
    </p:spTree>
    <p:extLst>
      <p:ext uri="{BB962C8B-B14F-4D97-AF65-F5344CB8AC3E}">
        <p14:creationId xmlns:p14="http://schemas.microsoft.com/office/powerpoint/2010/main" val="1292825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 xmlns:a16="http://schemas.microsoft.com/office/drawing/2014/main"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 xmlns:a16="http://schemas.microsoft.com/office/drawing/2014/main"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 xmlns:a16="http://schemas.microsoft.com/office/drawing/2014/main"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 xmlns:a16="http://schemas.microsoft.com/office/drawing/2014/main"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 xmlns:a16="http://schemas.microsoft.com/office/drawing/2014/main"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 xmlns:a16="http://schemas.microsoft.com/office/drawing/2014/main"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 xmlns:a16="http://schemas.microsoft.com/office/drawing/2014/main"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 xmlns:a16="http://schemas.microsoft.com/office/drawing/2014/main"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 xmlns:a16="http://schemas.microsoft.com/office/drawing/2014/main"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 xmlns:a16="http://schemas.microsoft.com/office/drawing/2014/main"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 xmlns:a16="http://schemas.microsoft.com/office/drawing/2014/main"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 xmlns:a16="http://schemas.microsoft.com/office/drawing/2014/main"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 xmlns:a16="http://schemas.microsoft.com/office/drawing/2014/main"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 xmlns:a16="http://schemas.microsoft.com/office/drawing/2014/main"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 xmlns:a16="http://schemas.microsoft.com/office/drawing/2014/main"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 xmlns:a16="http://schemas.microsoft.com/office/drawing/2014/main"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 xmlns:a16="http://schemas.microsoft.com/office/drawing/2014/main"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 xmlns:a16="http://schemas.microsoft.com/office/drawing/2014/main"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 xmlns:a16="http://schemas.microsoft.com/office/drawing/2014/main"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 xmlns:a16="http://schemas.microsoft.com/office/drawing/2014/main"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 xmlns:a16="http://schemas.microsoft.com/office/drawing/2014/main"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 xmlns:a16="http://schemas.microsoft.com/office/drawing/2014/main"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 xmlns:a16="http://schemas.microsoft.com/office/drawing/2014/main"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 xmlns:a16="http://schemas.microsoft.com/office/drawing/2014/main"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 xmlns:a16="http://schemas.microsoft.com/office/drawing/2014/main"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 xmlns:a16="http://schemas.microsoft.com/office/drawing/2014/main"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 xmlns:a16="http://schemas.microsoft.com/office/drawing/2014/main"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 xmlns:a16="http://schemas.microsoft.com/office/drawing/2014/main"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 xmlns:p14="http://schemas.microsoft.com/office/powerpoint/2010/main" val="91280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2689102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2456595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nvSpPr>
        <p:spPr>
          <a:xfrm>
            <a:off x="530352" y="411480"/>
            <a:ext cx="11000000" cy="52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DEG and DEG occurrence</a:t>
            </a:r>
          </a:p>
        </p:txBody>
      </p:sp>
      <p:sp>
        <p:nvSpPr>
          <p:cNvPr id="4" name="Gene box"/>
          <p:cNvSpPr>
            <a:spLocks noGrp="1"/>
          </p:cNvSpPr>
          <p:nvPr/>
        </p:nvSpPr>
        <p:spPr>
          <a:xfrm>
            <a:off x="760000" y="2416112"/>
            <a:ext cx="2860000" cy="1360000"/>
          </a:xfrm>
          <a:prstGeom prst="roundRect">
            <a:avLst/>
          </a:prstGeom>
          <a:solidFill>
            <a:srgbClr val="EBF7FC"/>
          </a:solidFill>
          <a:ln w="12700">
            <a:solidFill>
              <a:srgbClr val="0072B2"/>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72B2"/>
                </a:solidFill>
                <a:latin typeface="Arial"/>
                <a:ea typeface="Arial"/>
                <a:cs typeface="Arial"/>
              </a:rPr>
              <a:t>1</a:t>
            </a:r>
          </a:p>
          <a:p>
            <a:pPr algn="ctr">
              <a:lnSpc>
                <a:spcPct val="100000"/>
              </a:lnSpc>
              <a:spcBef>
                <a:spcPts val="0"/>
              </a:spcBef>
              <a:spcAft>
                <a:spcPts val="0"/>
              </a:spcAft>
              <a:buNone/>
            </a:pPr>
            <a:r>
              <a:rPr sz="1900" b="1" i="0">
                <a:solidFill>
                  <a:srgbClr val="0072B2"/>
                </a:solidFill>
                <a:latin typeface="Arial"/>
                <a:ea typeface="Arial"/>
                <a:cs typeface="Arial"/>
              </a:rPr>
              <a:t>DEG</a:t>
            </a:r>
          </a:p>
        </p:txBody>
      </p:sp>
      <p:sp>
        <p:nvSpPr>
          <p:cNvPr id="5" name="Times"/>
          <p:cNvSpPr>
            <a:spLocks noGrp="1"/>
          </p:cNvSpPr>
          <p:nvPr/>
        </p:nvSpPr>
        <p:spPr>
          <a:xfrm>
            <a:off x="370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6" name="Contrast box"/>
          <p:cNvSpPr>
            <a:spLocks noGrp="1"/>
          </p:cNvSpPr>
          <p:nvPr/>
        </p:nvSpPr>
        <p:spPr>
          <a:xfrm>
            <a:off x="4200000" y="2416112"/>
            <a:ext cx="3000000" cy="1360000"/>
          </a:xfrm>
          <a:prstGeom prst="roundRect">
            <a:avLst/>
          </a:prstGeom>
          <a:solidFill>
            <a:srgbClr val="E4F4EE"/>
          </a:solidFill>
          <a:ln w="12700">
            <a:solidFill>
              <a:srgbClr val="009E73"/>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684D"/>
                </a:solidFill>
                <a:latin typeface="Arial"/>
                <a:ea typeface="Arial"/>
                <a:cs typeface="Arial"/>
              </a:rPr>
              <a:t>1</a:t>
            </a:r>
          </a:p>
          <a:p>
            <a:pPr algn="ctr">
              <a:lnSpc>
                <a:spcPct val="100000"/>
              </a:lnSpc>
              <a:spcBef>
                <a:spcPts val="0"/>
              </a:spcBef>
              <a:spcAft>
                <a:spcPts val="0"/>
              </a:spcAft>
              <a:buNone/>
            </a:pPr>
            <a:r>
              <a:rPr sz="1900" b="1" i="0">
                <a:solidFill>
                  <a:srgbClr val="00684D"/>
                </a:solidFill>
                <a:latin typeface="Arial"/>
                <a:ea typeface="Arial"/>
                <a:cs typeface="Arial"/>
              </a:rPr>
              <a:t>FINE-CELL CONTRAST</a:t>
            </a:r>
          </a:p>
        </p:txBody>
      </p:sp>
      <p:sp>
        <p:nvSpPr>
          <p:cNvPr id="7" name="Equals"/>
          <p:cNvSpPr>
            <a:spLocks noGrp="1"/>
          </p:cNvSpPr>
          <p:nvPr/>
        </p:nvSpPr>
        <p:spPr>
          <a:xfrm>
            <a:off x="731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8" name="Occurrence box"/>
          <p:cNvSpPr>
            <a:spLocks noGrp="1"/>
          </p:cNvSpPr>
          <p:nvPr/>
        </p:nvSpPr>
        <p:spPr>
          <a:xfrm>
            <a:off x="7800000" y="2416112"/>
            <a:ext cx="3600000" cy="1360000"/>
          </a:xfrm>
          <a:prstGeom prst="roundRect">
            <a:avLst/>
          </a:prstGeom>
          <a:solidFill>
            <a:srgbClr val="FDEBE4"/>
          </a:solidFill>
          <a:ln w="12700">
            <a:solidFill>
              <a:srgbClr val="D55E00"/>
            </a:solidFill>
          </a:ln>
        </p:spPr>
        <p:txBody>
          <a:bodyPr wrap="square" lIns="120000" tIns="120000" rIns="120000" bIns="120000" anchor="ctr">
            <a:spAutoFit/>
          </a:bodyPr>
          <a:lstStyle/>
          <a:p>
            <a:pPr algn="ctr">
              <a:lnSpc>
                <a:spcPct val="100000"/>
              </a:lnSpc>
              <a:spcBef>
                <a:spcPts val="0"/>
              </a:spcBef>
              <a:spcAft>
                <a:spcPts val="0"/>
              </a:spcAft>
              <a:buNone/>
            </a:pPr>
            <a:r>
              <a:rPr sz="1900" b="1" i="0" dirty="0">
                <a:solidFill>
                  <a:srgbClr val="9E3A00"/>
                </a:solidFill>
                <a:latin typeface="Arial"/>
                <a:ea typeface="Arial"/>
                <a:cs typeface="Arial"/>
              </a:rPr>
              <a:t>1</a:t>
            </a:r>
          </a:p>
          <a:p>
            <a:pPr algn="ctr">
              <a:lnSpc>
                <a:spcPct val="100000"/>
              </a:lnSpc>
              <a:spcBef>
                <a:spcPts val="0"/>
              </a:spcBef>
              <a:spcAft>
                <a:spcPts val="0"/>
              </a:spcAft>
              <a:buNone/>
            </a:pPr>
            <a:r>
              <a:rPr sz="1900" b="1" i="0" dirty="0">
                <a:solidFill>
                  <a:srgbClr val="9E3A00"/>
                </a:solidFill>
                <a:latin typeface="Arial"/>
                <a:ea typeface="Arial"/>
                <a:cs typeface="Arial"/>
              </a:rPr>
              <a:t>DEG OCCURRENCE</a:t>
            </a:r>
          </a:p>
        </p:txBody>
      </p:sp>
      <p:sp>
        <p:nvSpPr>
          <p:cNvPr id="9" name="Repeated evidence"/>
          <p:cNvSpPr>
            <a:spLocks noGrp="1"/>
          </p:cNvSpPr>
          <p:nvPr/>
        </p:nvSpPr>
        <p:spPr>
          <a:xfrm>
            <a:off x="950000" y="3894944"/>
            <a:ext cx="10200000" cy="520000"/>
          </a:xfrm>
          <a:prstGeom prst="rect">
            <a:avLst/>
          </a:prstGeom>
          <a:noFill/>
          <a:ln>
            <a:noFill/>
          </a:ln>
        </p:spPr>
        <p:txBody>
          <a:bodyPr wrap="square" lIns="50000" tIns="50000" rIns="50000" bIns="50000" anchor="ctr">
            <a:spAutoFit/>
          </a:bodyPr>
          <a:lstStyle/>
          <a:p>
            <a:pPr algn="ctr">
              <a:lnSpc>
                <a:spcPct val="100000"/>
              </a:lnSpc>
              <a:spcBef>
                <a:spcPts val="0"/>
              </a:spcBef>
              <a:spcAft>
                <a:spcPts val="0"/>
              </a:spcAft>
              <a:buNone/>
            </a:pPr>
            <a:r>
              <a:rPr sz="1500" b="1" i="0" dirty="0">
                <a:solidFill>
                  <a:srgbClr val="0F233D"/>
                </a:solidFill>
                <a:latin typeface="Arial"/>
                <a:ea typeface="Arial"/>
                <a:cs typeface="Arial"/>
              </a:rPr>
              <a:t>The same gene contributes another occurrence when it is a DEG in another fine-cell contrast.</a:t>
            </a:r>
          </a:p>
        </p:txBody>
      </p:sp>
      <p:sp>
        <p:nvSpPr>
          <p:cNvPr id="10" name="Example box"/>
          <p:cNvSpPr>
            <a:spLocks noGrp="1"/>
          </p:cNvSpPr>
          <p:nvPr/>
        </p:nvSpPr>
        <p:spPr>
          <a:xfrm>
            <a:off x="1370000" y="4636072"/>
            <a:ext cx="9450000" cy="1500000"/>
          </a:xfrm>
          <a:prstGeom prst="roundRect">
            <a:avLst/>
          </a:prstGeom>
          <a:solidFill>
            <a:srgbClr val="E4F4EE"/>
          </a:solidFill>
          <a:ln w="12700">
            <a:solidFill>
              <a:srgbClr val="C9DDD7"/>
            </a:solidFill>
          </a:ln>
        </p:spPr>
        <p:txBody>
          <a:bodyPr wrap="square" lIns="180000" tIns="180000" rIns="180000" bIns="180000" anchor="ctr">
            <a:spAutoFit/>
          </a:bodyPr>
          <a:lstStyle/>
          <a:p>
            <a:pPr algn="ctr">
              <a:lnSpc>
                <a:spcPct val="100000"/>
              </a:lnSpc>
              <a:spcBef>
                <a:spcPts val="0"/>
              </a:spcBef>
              <a:spcAft>
                <a:spcPts val="0"/>
              </a:spcAft>
              <a:buNone/>
            </a:pPr>
            <a:r>
              <a:rPr sz="1550" b="1" i="0" dirty="0">
                <a:solidFill>
                  <a:srgbClr val="00684D"/>
                </a:solidFill>
                <a:latin typeface="Arial"/>
                <a:ea typeface="Arial"/>
                <a:cs typeface="Arial"/>
              </a:rPr>
              <a:t>Example: Gene A is a DEG in three fine-cell contrasts</a:t>
            </a:r>
          </a:p>
          <a:p>
            <a:pPr algn="ctr">
              <a:lnSpc>
                <a:spcPct val="100000"/>
              </a:lnSpc>
              <a:spcBef>
                <a:spcPts val="0"/>
              </a:spcBef>
              <a:spcAft>
                <a:spcPts val="0"/>
              </a:spcAft>
              <a:buNone/>
            </a:pPr>
            <a:endParaRPr sz="1550" b="1" i="0" dirty="0">
              <a:solidFill>
                <a:srgbClr val="00684D"/>
              </a:solidFill>
              <a:latin typeface="Arial"/>
              <a:ea typeface="Arial"/>
              <a:cs typeface="Arial"/>
            </a:endParaRPr>
          </a:p>
          <a:p>
            <a:pPr algn="ctr">
              <a:lnSpc>
                <a:spcPct val="100000"/>
              </a:lnSpc>
              <a:spcBef>
                <a:spcPts val="0"/>
              </a:spcBef>
              <a:spcAft>
                <a:spcPts val="0"/>
              </a:spcAft>
              <a:buNone/>
            </a:pPr>
            <a:r>
              <a:rPr sz="1550" b="1" i="0" dirty="0">
                <a:solidFill>
                  <a:srgbClr val="00684D"/>
                </a:solidFill>
                <a:latin typeface="Arial"/>
                <a:ea typeface="Arial"/>
                <a:cs typeface="Arial"/>
              </a:rPr>
              <a:t>3 DEG occurrences     1 unique gene</a:t>
            </a:r>
          </a:p>
        </p:txBody>
      </p:sp>
      <p:sp>
        <p:nvSpPr>
          <p:cNvPr id="11" name="Interpretation"/>
          <p:cNvSpPr>
            <a:spLocks noGrp="1"/>
          </p:cNvSpPr>
          <p:nvPr/>
        </p:nvSpPr>
        <p:spPr>
          <a:xfrm>
            <a:off x="1370000" y="6327295"/>
            <a:ext cx="9450000" cy="350082"/>
          </a:xfrm>
          <a:prstGeom prst="roundRect">
            <a:avLst/>
          </a:prstGeom>
          <a:solidFill>
            <a:srgbClr val="FFFFFF"/>
          </a:solidFill>
          <a:ln w="12700">
            <a:solidFill>
              <a:srgbClr val="D7E1EC"/>
            </a:solidFill>
          </a:ln>
        </p:spPr>
        <p:txBody>
          <a:bodyPr wrap="square" lIns="50000" tIns="50000" rIns="50000" bIns="50000" anchor="ctr">
            <a:spAutoFit/>
          </a:bodyPr>
          <a:lstStyle/>
          <a:p>
            <a:pPr algn="ctr">
              <a:lnSpc>
                <a:spcPct val="100000"/>
              </a:lnSpc>
              <a:spcBef>
                <a:spcPts val="0"/>
              </a:spcBef>
              <a:spcAft>
                <a:spcPts val="0"/>
              </a:spcAft>
              <a:buNone/>
            </a:pPr>
            <a:r>
              <a:rPr sz="1400" b="1" i="0" dirty="0">
                <a:latin typeface="Arial"/>
                <a:ea typeface="Arial"/>
                <a:cs typeface="Arial"/>
              </a:rPr>
              <a:t>Occurrence counts repeat DEGs across contrasts. Unique-gene counts count each gene once.</a:t>
            </a:r>
          </a:p>
        </p:txBody>
      </p:sp>
      <p:sp>
        <p:nvSpPr>
          <p:cNvPr id="12" name="Example box">
            <a:extLst>
              <a:ext uri="{FF2B5EF4-FFF2-40B4-BE49-F238E27FC236}">
                <a16:creationId xmlns:a16="http://schemas.microsoft.com/office/drawing/2014/main" id="{98A82523-6157-948B-7B62-74813E73F3E9}"/>
              </a:ext>
            </a:extLst>
          </p:cNvPr>
          <p:cNvSpPr>
            <a:spLocks noGrp="1"/>
          </p:cNvSpPr>
          <p:nvPr/>
        </p:nvSpPr>
        <p:spPr>
          <a:xfrm>
            <a:off x="760000" y="1111869"/>
            <a:ext cx="10640000" cy="981069"/>
          </a:xfrm>
          <a:prstGeom prst="roundRect">
            <a:avLst/>
          </a:prstGeom>
          <a:solidFill>
            <a:schemeClr val="accent1">
              <a:lumMod val="20000"/>
              <a:lumOff val="80000"/>
            </a:schemeClr>
          </a:solidFill>
          <a:ln w="12700">
            <a:solidFill>
              <a:srgbClr val="C9DDD7"/>
            </a:solidFill>
          </a:ln>
        </p:spPr>
        <p:txBody>
          <a:bodyPr wrap="square" lIns="180000" tIns="180000" rIns="180000" bIns="180000" anchor="ctr">
            <a:spAutoFit/>
          </a:bodyPr>
          <a:lstStyle/>
          <a:p>
            <a:r>
              <a:rPr lang="en-US" sz="1600" dirty="0">
                <a:solidFill>
                  <a:srgbClr val="4E5A68"/>
                </a:solidFill>
                <a:latin typeface="Arial"/>
                <a:ea typeface="Arial"/>
                <a:cs typeface="Arial"/>
              </a:rPr>
              <a:t>A gene is a </a:t>
            </a:r>
            <a:r>
              <a:rPr lang="en-US" sz="1600" b="1" dirty="0">
                <a:solidFill>
                  <a:srgbClr val="FF0000"/>
                </a:solidFill>
                <a:latin typeface="Arial"/>
                <a:ea typeface="Arial"/>
                <a:cs typeface="Arial"/>
              </a:rPr>
              <a:t>DEG</a:t>
            </a:r>
            <a:r>
              <a:rPr lang="en-US" sz="1600" dirty="0">
                <a:solidFill>
                  <a:srgbClr val="4E5A68"/>
                </a:solidFill>
                <a:latin typeface="Arial"/>
                <a:ea typeface="Arial"/>
                <a:cs typeface="Arial"/>
              </a:rPr>
              <a:t> within one fine-cell contrast when it meets both criteria:</a:t>
            </a:r>
          </a:p>
          <a:p>
            <a:r>
              <a:rPr lang="en-US" sz="1600" dirty="0">
                <a:solidFill>
                  <a:srgbClr val="0072B2"/>
                </a:solidFill>
                <a:latin typeface="Arial"/>
                <a:ea typeface="Arial"/>
                <a:cs typeface="Arial"/>
              </a:rPr>
              <a:t>BH-adjusted P &lt; 0.05 and |log₂ fold change| &gt; log₂(1.3) (≈ 0.38).</a:t>
            </a:r>
          </a:p>
        </p:txBody>
      </p:sp>
    </p:spTree>
    <p:extLst>
      <p:ext uri="{BB962C8B-B14F-4D97-AF65-F5344CB8AC3E}">
        <p14:creationId xmlns:p14="http://schemas.microsoft.com/office/powerpoint/2010/main" val="84783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1572448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DEG occurrence from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definition-title"/>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Significant pathway result</a:t>
            </a:r>
          </a:p>
        </p:txBody>
      </p:sp>
      <p:sp>
        <p:nvSpPr>
          <p:cNvPr id="3" name="definition-subtitle"/>
          <p:cNvSpPr>
            <a:spLocks noGrp="1"/>
          </p:cNvSpPr>
          <p:nvPr/>
        </p:nvSpPr>
        <p:spPr>
          <a:xfrm>
            <a:off x="548640" y="886968"/>
            <a:ext cx="10561320" cy="230832"/>
          </a:xfrm>
          <a:prstGeom prst="rect">
            <a:avLst/>
          </a:prstGeom>
          <a:noFill/>
        </p:spPr>
        <p:txBody>
          <a:bodyPr wrap="square" lIns="0" tIns="0" rIns="0" bIns="0" anchor="t">
            <a:spAutoFit/>
          </a:bodyPr>
          <a:lstStyle/>
          <a:p>
            <a:pPr algn="l">
              <a:lnSpc>
                <a:spcPct val="100000"/>
              </a:lnSpc>
              <a:spcBef>
                <a:spcPts val="0"/>
              </a:spcBef>
              <a:spcAft>
                <a:spcPts val="0"/>
              </a:spcAft>
              <a:buNone/>
            </a:pPr>
            <a:r>
              <a:rPr sz="1500" b="0" i="0" dirty="0">
                <a:solidFill>
                  <a:srgbClr val="4E5A68"/>
                </a:solidFill>
                <a:latin typeface="Arial"/>
                <a:ea typeface="Arial"/>
                <a:cs typeface="Arial"/>
              </a:rPr>
              <a:t>One result tests </a:t>
            </a:r>
            <a:r>
              <a:rPr sz="1500" b="1" i="0" dirty="0">
                <a:solidFill>
                  <a:srgbClr val="FF0000"/>
                </a:solidFill>
                <a:latin typeface="Arial"/>
                <a:ea typeface="Arial"/>
                <a:cs typeface="Arial"/>
              </a:rPr>
              <a:t>one</a:t>
            </a:r>
            <a:r>
              <a:rPr sz="1500" b="0" i="0" dirty="0">
                <a:solidFill>
                  <a:srgbClr val="FF0000"/>
                </a:solidFill>
                <a:latin typeface="Arial"/>
                <a:ea typeface="Arial"/>
                <a:cs typeface="Arial"/>
              </a:rPr>
              <a:t> </a:t>
            </a:r>
            <a:r>
              <a:rPr sz="1500" b="1" i="0" dirty="0">
                <a:solidFill>
                  <a:srgbClr val="FF0000"/>
                </a:solidFill>
                <a:latin typeface="Arial"/>
                <a:ea typeface="Arial"/>
                <a:cs typeface="Arial"/>
              </a:rPr>
              <a:t>pathway</a:t>
            </a:r>
            <a:r>
              <a:rPr sz="1500" b="0" i="0" dirty="0">
                <a:solidFill>
                  <a:srgbClr val="FF0000"/>
                </a:solidFill>
                <a:latin typeface="Arial"/>
                <a:ea typeface="Arial"/>
                <a:cs typeface="Arial"/>
              </a:rPr>
              <a:t> </a:t>
            </a:r>
            <a:r>
              <a:rPr sz="1500" b="0" i="0" dirty="0">
                <a:solidFill>
                  <a:srgbClr val="4E5A68"/>
                </a:solidFill>
                <a:latin typeface="Arial"/>
                <a:ea typeface="Arial"/>
                <a:cs typeface="Arial"/>
              </a:rPr>
              <a:t>in one DEG list from one fine-cell sex/APOE </a:t>
            </a:r>
            <a:r>
              <a:rPr sz="1500" b="1" i="0" dirty="0">
                <a:solidFill>
                  <a:srgbClr val="FF0000"/>
                </a:solidFill>
                <a:latin typeface="Arial"/>
                <a:ea typeface="Arial"/>
                <a:cs typeface="Arial"/>
              </a:rPr>
              <a:t>contrast</a:t>
            </a:r>
            <a:r>
              <a:rPr sz="1500" b="0" i="0" dirty="0">
                <a:solidFill>
                  <a:srgbClr val="4E5A68"/>
                </a:solidFill>
                <a:latin typeface="Arial"/>
                <a:ea typeface="Arial"/>
                <a:cs typeface="Arial"/>
              </a:rPr>
              <a:t>.</a:t>
            </a:r>
          </a:p>
        </p:txBody>
      </p:sp>
      <p:sp>
        <p:nvSpPr>
          <p:cNvPr id="4" name="unit-of-analysis-panel"/>
          <p:cNvSpPr>
            <a:spLocks noGrp="1"/>
          </p:cNvSpPr>
          <p:nvPr/>
        </p:nvSpPr>
        <p:spPr>
          <a:xfrm>
            <a:off x="658368" y="1371600"/>
            <a:ext cx="4663440" cy="1837944"/>
          </a:xfrm>
          <a:prstGeom prst="roundRect">
            <a:avLst/>
          </a:prstGeom>
          <a:solidFill>
            <a:srgbClr val="EBF7FC"/>
          </a:solidFill>
          <a:ln w="12700">
            <a:solidFill>
              <a:srgbClr val="D8EAF2"/>
            </a:solidFill>
          </a:ln>
        </p:spPr>
        <p:txBody>
          <a:bodyPr anchor="ctr"/>
          <a:lstStyle/>
          <a:p>
            <a:pPr algn="ctr">
              <a:buNone/>
            </a:pPr>
            <a:endParaRPr/>
          </a:p>
        </p:txBody>
      </p:sp>
      <p:sp>
        <p:nvSpPr>
          <p:cNvPr id="5" name="unit-of-analysis-label"/>
          <p:cNvSpPr>
            <a:spLocks noGrp="1"/>
          </p:cNvSpPr>
          <p:nvPr/>
        </p:nvSpPr>
        <p:spPr>
          <a:xfrm>
            <a:off x="914400" y="1584960"/>
            <a:ext cx="3840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72B2"/>
                </a:solidFill>
                <a:latin typeface="Arial"/>
                <a:ea typeface="Arial"/>
                <a:cs typeface="Arial"/>
              </a:rPr>
              <a:t>ONE RESULT</a:t>
            </a:r>
          </a:p>
        </p:txBody>
      </p:sp>
      <p:sp>
        <p:nvSpPr>
          <p:cNvPr id="6" name="unit-of-analysis-main"/>
          <p:cNvSpPr>
            <a:spLocks noGrp="1"/>
          </p:cNvSpPr>
          <p:nvPr/>
        </p:nvSpPr>
        <p:spPr>
          <a:xfrm>
            <a:off x="914400" y="1950720"/>
            <a:ext cx="3840480" cy="612648"/>
          </a:xfrm>
          <a:prstGeom prst="rect">
            <a:avLst/>
          </a:prstGeom>
          <a:noFill/>
        </p:spPr>
        <p:txBody>
          <a:bodyPr wrap="square" lIns="0" tIns="0" rIns="0" bIns="0" anchor="t">
            <a:spAutoFit/>
          </a:bodyPr>
          <a:lstStyle/>
          <a:p>
            <a:pPr algn="l">
              <a:lnSpc>
                <a:spcPct val="100000"/>
              </a:lnSpc>
              <a:spcBef>
                <a:spcPts val="0"/>
              </a:spcBef>
              <a:spcAft>
                <a:spcPts val="0"/>
              </a:spcAft>
              <a:buNone/>
            </a:pPr>
            <a:r>
              <a:rPr sz="1775" b="1" i="0">
                <a:solidFill>
                  <a:srgbClr val="0F233D"/>
                </a:solidFill>
                <a:latin typeface="Arial"/>
                <a:ea typeface="Arial"/>
                <a:cs typeface="Arial"/>
              </a:rPr>
              <a:t>One pathway</a:t>
            </a:r>
          </a:p>
          <a:p>
            <a:pPr algn="l">
              <a:lnSpc>
                <a:spcPct val="100000"/>
              </a:lnSpc>
              <a:spcBef>
                <a:spcPts val="0"/>
              </a:spcBef>
              <a:spcAft>
                <a:spcPts val="0"/>
              </a:spcAft>
              <a:buNone/>
            </a:pPr>
            <a:r>
              <a:rPr sz="1775" b="1" i="0">
                <a:solidFill>
                  <a:srgbClr val="0F233D"/>
                </a:solidFill>
                <a:latin typeface="Arial"/>
                <a:ea typeface="Arial"/>
                <a:cs typeface="Arial"/>
              </a:rPr>
              <a:t>One DEG list</a:t>
            </a:r>
          </a:p>
          <a:p>
            <a:pPr algn="l">
              <a:lnSpc>
                <a:spcPct val="100000"/>
              </a:lnSpc>
              <a:spcBef>
                <a:spcPts val="0"/>
              </a:spcBef>
              <a:spcAft>
                <a:spcPts val="0"/>
              </a:spcAft>
              <a:buNone/>
            </a:pPr>
            <a:r>
              <a:rPr sz="1775" b="1" i="0">
                <a:solidFill>
                  <a:srgbClr val="0F233D"/>
                </a:solidFill>
                <a:latin typeface="Arial"/>
                <a:ea typeface="Arial"/>
                <a:cs typeface="Arial"/>
              </a:rPr>
              <a:t>One fine-cell sex/APOE contrast</a:t>
            </a:r>
          </a:p>
        </p:txBody>
      </p:sp>
      <p:sp>
        <p:nvSpPr>
          <p:cNvPr id="7" name="unit-of-analysis-detail"/>
          <p:cNvSpPr>
            <a:spLocks noGrp="1"/>
          </p:cNvSpPr>
          <p:nvPr/>
        </p:nvSpPr>
        <p:spPr>
          <a:xfrm>
            <a:off x="914400" y="2731008"/>
            <a:ext cx="38404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DEG lists: all mitochondrial DEGs, upregulated in AD, or downregulated in AD</a:t>
            </a:r>
          </a:p>
        </p:txBody>
      </p:sp>
      <p:sp>
        <p:nvSpPr>
          <p:cNvPr id="8" name="test-counts-panel"/>
          <p:cNvSpPr>
            <a:spLocks noGrp="1"/>
          </p:cNvSpPr>
          <p:nvPr/>
        </p:nvSpPr>
        <p:spPr>
          <a:xfrm>
            <a:off x="5471160" y="1371600"/>
            <a:ext cx="6065520" cy="1837944"/>
          </a:xfrm>
          <a:prstGeom prst="roundRect">
            <a:avLst/>
          </a:prstGeom>
          <a:solidFill>
            <a:srgbClr val="FFFFFF"/>
          </a:solidFill>
          <a:ln w="12700">
            <a:solidFill>
              <a:srgbClr val="E0E7EF"/>
            </a:solidFill>
          </a:ln>
        </p:spPr>
        <p:txBody>
          <a:bodyPr anchor="ctr"/>
          <a:lstStyle/>
          <a:p>
            <a:pPr algn="ctr">
              <a:buNone/>
            </a:pPr>
            <a:endParaRPr/>
          </a:p>
        </p:txBody>
      </p:sp>
      <p:sp>
        <p:nvSpPr>
          <p:cNvPr id="9" name="test-counts-label"/>
          <p:cNvSpPr>
            <a:spLocks noGrp="1"/>
          </p:cNvSpPr>
          <p:nvPr/>
        </p:nvSpPr>
        <p:spPr>
          <a:xfrm>
            <a:off x="5760720" y="1584960"/>
            <a:ext cx="5364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COUNTS USED BY THE TEST</a:t>
            </a:r>
          </a:p>
        </p:txBody>
      </p:sp>
      <p:sp>
        <p:nvSpPr>
          <p:cNvPr id="10" name="count-N"/>
          <p:cNvSpPr>
            <a:spLocks noGrp="1"/>
          </p:cNvSpPr>
          <p:nvPr/>
        </p:nvSpPr>
        <p:spPr>
          <a:xfrm>
            <a:off x="5760720" y="19415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N</a:t>
            </a:r>
            <a:r>
              <a:rPr sz="1100" b="0" i="0">
                <a:solidFill>
                  <a:srgbClr val="1F2730"/>
                </a:solidFill>
                <a:latin typeface="Arial"/>
                <a:ea typeface="Arial"/>
                <a:cs typeface="Arial"/>
              </a:rPr>
              <a:t>  Detectable MitoCarta MT genes in the contrast</a:t>
            </a:r>
          </a:p>
        </p:txBody>
      </p:sp>
      <p:sp>
        <p:nvSpPr>
          <p:cNvPr id="11" name="count-M"/>
          <p:cNvSpPr>
            <a:spLocks noGrp="1"/>
          </p:cNvSpPr>
          <p:nvPr/>
        </p:nvSpPr>
        <p:spPr>
          <a:xfrm>
            <a:off x="8488680" y="19415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M</a:t>
            </a:r>
            <a:r>
              <a:rPr sz="1100" b="0" i="0">
                <a:solidFill>
                  <a:srgbClr val="1F2730"/>
                </a:solidFill>
                <a:latin typeface="Arial"/>
                <a:ea typeface="Arial"/>
                <a:cs typeface="Arial"/>
              </a:rPr>
              <a:t>  Genes in N that belong to the pathway</a:t>
            </a:r>
          </a:p>
        </p:txBody>
      </p:sp>
      <p:sp>
        <p:nvSpPr>
          <p:cNvPr id="12" name="count-n"/>
          <p:cNvSpPr>
            <a:spLocks noGrp="1"/>
          </p:cNvSpPr>
          <p:nvPr/>
        </p:nvSpPr>
        <p:spPr>
          <a:xfrm>
            <a:off x="5760720" y="25511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n</a:t>
            </a:r>
            <a:r>
              <a:rPr sz="1100" b="0" i="0">
                <a:solidFill>
                  <a:srgbClr val="1F2730"/>
                </a:solidFill>
                <a:latin typeface="Arial"/>
                <a:ea typeface="Arial"/>
                <a:cs typeface="Arial"/>
              </a:rPr>
              <a:t>  DEGs in the selected list</a:t>
            </a:r>
          </a:p>
        </p:txBody>
      </p:sp>
      <p:sp>
        <p:nvSpPr>
          <p:cNvPr id="13" name="count-k"/>
          <p:cNvSpPr>
            <a:spLocks noGrp="1"/>
          </p:cNvSpPr>
          <p:nvPr/>
        </p:nvSpPr>
        <p:spPr>
          <a:xfrm>
            <a:off x="8488680" y="25511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k</a:t>
            </a:r>
            <a:r>
              <a:rPr sz="1100" b="0" i="0">
                <a:solidFill>
                  <a:srgbClr val="1F2730"/>
                </a:solidFill>
                <a:latin typeface="Arial"/>
                <a:ea typeface="Arial"/>
                <a:cs typeface="Arial"/>
              </a:rPr>
              <a:t>  Genes in n that belong to the pathway</a:t>
            </a:r>
          </a:p>
        </p:txBody>
      </p:sp>
      <p:sp>
        <p:nvSpPr>
          <p:cNvPr id="14" name="hypergeometric-panel"/>
          <p:cNvSpPr>
            <a:spLocks noGrp="1"/>
          </p:cNvSpPr>
          <p:nvPr/>
        </p:nvSpPr>
        <p:spPr>
          <a:xfrm>
            <a:off x="658368" y="3413760"/>
            <a:ext cx="10881360" cy="1463040"/>
          </a:xfrm>
          <a:prstGeom prst="roundRect">
            <a:avLst/>
          </a:prstGeom>
          <a:solidFill>
            <a:srgbClr val="FFFFFF"/>
          </a:solidFill>
          <a:ln w="12700">
            <a:solidFill>
              <a:srgbClr val="D8E2EC"/>
            </a:solidFill>
          </a:ln>
        </p:spPr>
        <p:txBody>
          <a:bodyPr anchor="ctr"/>
          <a:lstStyle/>
          <a:p>
            <a:pPr algn="ctr">
              <a:buNone/>
            </a:pPr>
            <a:endParaRPr/>
          </a:p>
        </p:txBody>
      </p:sp>
      <p:sp>
        <p:nvSpPr>
          <p:cNvPr id="15" name="hypergeometric-label"/>
          <p:cNvSpPr>
            <a:spLocks noGrp="1"/>
          </p:cNvSpPr>
          <p:nvPr/>
        </p:nvSpPr>
        <p:spPr>
          <a:xfrm>
            <a:off x="914400" y="3596640"/>
            <a:ext cx="548640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7E4C9A"/>
                </a:solidFill>
                <a:latin typeface="Arial"/>
                <a:ea typeface="Arial"/>
                <a:cs typeface="Arial"/>
              </a:rPr>
              <a:t>ONE-SIDED HYPERGEOMETRIC TEST</a:t>
            </a:r>
          </a:p>
        </p:txBody>
      </p:sp>
      <p:sp>
        <p:nvSpPr>
          <p:cNvPr id="16" name="hypergeometric-formula"/>
          <p:cNvSpPr>
            <a:spLocks noGrp="1"/>
          </p:cNvSpPr>
          <p:nvPr/>
        </p:nvSpPr>
        <p:spPr>
          <a:xfrm>
            <a:off x="914400" y="3977640"/>
            <a:ext cx="4389120" cy="365760"/>
          </a:xfrm>
          <a:prstGeom prst="rect">
            <a:avLst/>
          </a:prstGeom>
          <a:noFill/>
        </p:spPr>
        <p:txBody>
          <a:bodyPr wrap="square" lIns="0" tIns="0" rIns="0" bIns="0"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P = Pr(K ≥ k | N, M, n)</a:t>
            </a:r>
          </a:p>
        </p:txBody>
      </p:sp>
      <p:sp>
        <p:nvSpPr>
          <p:cNvPr id="17" name="hypergeometric-explanation"/>
          <p:cNvSpPr>
            <a:spLocks noGrp="1"/>
          </p:cNvSpPr>
          <p:nvPr/>
        </p:nvSpPr>
        <p:spPr>
          <a:xfrm>
            <a:off x="914400" y="4419600"/>
            <a:ext cx="64312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Chance of observing k or more pathway DEGs if n DEGs were randomly drawn from the N detectable genes.</a:t>
            </a:r>
          </a:p>
        </p:txBody>
      </p:sp>
      <p:sp>
        <p:nvSpPr>
          <p:cNvPr id="18" name="enrichment-label"/>
          <p:cNvSpPr>
            <a:spLocks noGrp="1"/>
          </p:cNvSpPr>
          <p:nvPr/>
        </p:nvSpPr>
        <p:spPr>
          <a:xfrm>
            <a:off x="8138160" y="3694176"/>
            <a:ext cx="2743200" cy="237744"/>
          </a:xfrm>
          <a:prstGeom prst="rect">
            <a:avLst/>
          </a:prstGeom>
          <a:noFill/>
        </p:spPr>
        <p:txBody>
          <a:bodyPr wrap="square" lIns="0" tIns="0" rIns="0" bIns="0" anchor="t">
            <a:spAutoFit/>
          </a:bodyPr>
          <a:lstStyle/>
          <a:p>
            <a:pPr algn="ctr">
              <a:lnSpc>
                <a:spcPct val="100000"/>
              </a:lnSpc>
              <a:spcBef>
                <a:spcPts val="0"/>
              </a:spcBef>
              <a:spcAft>
                <a:spcPts val="0"/>
              </a:spcAft>
              <a:buNone/>
            </a:pPr>
            <a:r>
              <a:rPr sz="990" b="1" i="0">
                <a:solidFill>
                  <a:srgbClr val="6C7988"/>
                </a:solidFill>
                <a:latin typeface="Arial"/>
                <a:ea typeface="Arial"/>
                <a:cs typeface="Arial"/>
              </a:rPr>
              <a:t>ENRICHMENT</a:t>
            </a:r>
          </a:p>
        </p:txBody>
      </p:sp>
      <p:sp>
        <p:nvSpPr>
          <p:cNvPr id="19" name="enrichment-formula"/>
          <p:cNvSpPr>
            <a:spLocks noGrp="1"/>
          </p:cNvSpPr>
          <p:nvPr/>
        </p:nvSpPr>
        <p:spPr>
          <a:xfrm>
            <a:off x="8138160" y="4075176"/>
            <a:ext cx="2743200" cy="365760"/>
          </a:xfrm>
          <a:prstGeom prst="rect">
            <a:avLst/>
          </a:prstGeom>
          <a:noFill/>
        </p:spPr>
        <p:txBody>
          <a:bodyPr wrap="square" lIns="0" tIns="0" rIns="0" bIns="0" anchor="t">
            <a:spAutoFit/>
          </a:bodyPr>
          <a:lstStyle/>
          <a:p>
            <a:pPr algn="ctr">
              <a:lnSpc>
                <a:spcPct val="100000"/>
              </a:lnSpc>
              <a:spcBef>
                <a:spcPts val="0"/>
              </a:spcBef>
              <a:spcAft>
                <a:spcPts val="0"/>
              </a:spcAft>
              <a:buNone/>
            </a:pPr>
            <a:r>
              <a:rPr sz="2100" b="1" i="0">
                <a:solidFill>
                  <a:srgbClr val="00684D"/>
                </a:solidFill>
                <a:latin typeface="Arial"/>
                <a:ea typeface="Arial"/>
                <a:cs typeface="Arial"/>
              </a:rPr>
              <a:t>(k / n) ÷ (M / N)</a:t>
            </a:r>
          </a:p>
        </p:txBody>
      </p:sp>
      <p:sp>
        <p:nvSpPr>
          <p:cNvPr id="20" name="bh-correction"/>
          <p:cNvSpPr>
            <a:spLocks noGrp="1"/>
          </p:cNvSpPr>
          <p:nvPr/>
        </p:nvSpPr>
        <p:spPr>
          <a:xfrm>
            <a:off x="777240" y="5074920"/>
            <a:ext cx="10607040" cy="62179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20" b="1" i="0">
                <a:solidFill>
                  <a:srgbClr val="0F233D"/>
                </a:solidFill>
                <a:latin typeface="Arial"/>
                <a:ea typeface="Arial"/>
                <a:cs typeface="Arial"/>
              </a:rPr>
              <a:t>Benjamini-Hochberg correction: </a:t>
            </a:r>
            <a:r>
              <a:rPr sz="1220" b="0" i="0">
                <a:solidFill>
                  <a:srgbClr val="1F2730"/>
                </a:solidFill>
                <a:latin typeface="Arial"/>
                <a:ea typeface="Arial"/>
                <a:cs typeface="Arial"/>
              </a:rPr>
              <a:t>adjust P values across all testable pathways in the same collection for this contrast and DEG list.</a:t>
            </a:r>
          </a:p>
        </p:txBody>
      </p:sp>
      <p:sp>
        <p:nvSpPr>
          <p:cNvPr id="21" name="significance-rule-panel"/>
          <p:cNvSpPr>
            <a:spLocks noGrp="1"/>
          </p:cNvSpPr>
          <p:nvPr/>
        </p:nvSpPr>
        <p:spPr>
          <a:xfrm>
            <a:off x="658368" y="5760720"/>
            <a:ext cx="10881360" cy="731520"/>
          </a:xfrm>
          <a:prstGeom prst="roundRect">
            <a:avLst/>
          </a:prstGeom>
          <a:solidFill>
            <a:srgbClr val="E4F4EE"/>
          </a:solidFill>
          <a:ln w="12700">
            <a:solidFill>
              <a:srgbClr val="C8E5DB"/>
            </a:solidFill>
          </a:ln>
        </p:spPr>
        <p:txBody>
          <a:bodyPr anchor="ctr"/>
          <a:lstStyle/>
          <a:p>
            <a:pPr algn="ctr">
              <a:buNone/>
            </a:pPr>
            <a:endParaRPr/>
          </a:p>
        </p:txBody>
      </p:sp>
      <p:sp>
        <p:nvSpPr>
          <p:cNvPr id="22" name="significance-rule-label"/>
          <p:cNvSpPr>
            <a:spLocks noGrp="1"/>
          </p:cNvSpPr>
          <p:nvPr/>
        </p:nvSpPr>
        <p:spPr>
          <a:xfrm>
            <a:off x="914400" y="5919216"/>
            <a:ext cx="3017520" cy="256032"/>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SIGNIFICANT PATHWAY RESULT</a:t>
            </a:r>
          </a:p>
        </p:txBody>
      </p:sp>
      <p:sp>
        <p:nvSpPr>
          <p:cNvPr id="23" name="significance-rule"/>
          <p:cNvSpPr>
            <a:spLocks noGrp="1"/>
          </p:cNvSpPr>
          <p:nvPr/>
        </p:nvSpPr>
        <p:spPr>
          <a:xfrm>
            <a:off x="3825240" y="5864352"/>
            <a:ext cx="3749040" cy="310896"/>
          </a:xfrm>
          <a:prstGeom prst="rect">
            <a:avLst/>
          </a:prstGeom>
          <a:noFill/>
        </p:spPr>
        <p:txBody>
          <a:bodyPr wrap="square" lIns="0" tIns="0" rIns="0" bIns="0" anchor="t">
            <a:spAutoFit/>
          </a:bodyPr>
          <a:lstStyle/>
          <a:p>
            <a:pPr algn="l">
              <a:lnSpc>
                <a:spcPct val="100000"/>
              </a:lnSpc>
              <a:spcBef>
                <a:spcPts val="0"/>
              </a:spcBef>
              <a:spcAft>
                <a:spcPts val="0"/>
              </a:spcAft>
              <a:buNone/>
            </a:pPr>
            <a:r>
              <a:rPr sz="1550" b="1" i="0">
                <a:solidFill>
                  <a:srgbClr val="0F233D"/>
                </a:solidFill>
                <a:latin typeface="Arial"/>
                <a:ea typeface="Arial"/>
                <a:cs typeface="Arial"/>
              </a:rPr>
              <a:t>Local BH-adjusted P value (FDR) &lt; 0.05</a:t>
            </a:r>
          </a:p>
        </p:txBody>
      </p:sp>
      <p:sp>
        <p:nvSpPr>
          <p:cNvPr id="24" name="significance-boundary"/>
          <p:cNvSpPr>
            <a:spLocks noGrp="1"/>
          </p:cNvSpPr>
          <p:nvPr/>
        </p:nvSpPr>
        <p:spPr>
          <a:xfrm>
            <a:off x="7772400" y="5855208"/>
            <a:ext cx="3474720" cy="347472"/>
          </a:xfrm>
          <a:prstGeom prst="rect">
            <a:avLst/>
          </a:prstGeom>
          <a:noFill/>
        </p:spPr>
        <p:txBody>
          <a:bodyPr wrap="square" lIns="0" tIns="0" rIns="0" bIns="0" anchor="t">
            <a:spAutoFit/>
          </a:bodyPr>
          <a:lstStyle/>
          <a:p>
            <a:pPr algn="l">
              <a:lnSpc>
                <a:spcPct val="100000"/>
              </a:lnSpc>
              <a:spcBef>
                <a:spcPts val="0"/>
              </a:spcBef>
              <a:spcAft>
                <a:spcPts val="0"/>
              </a:spcAft>
              <a:buNone/>
            </a:pPr>
            <a:r>
              <a:rPr sz="950" b="0" i="0">
                <a:solidFill>
                  <a:srgbClr val="4E5A68"/>
                </a:solidFill>
                <a:latin typeface="Arial"/>
                <a:ea typeface="Arial"/>
                <a:cs typeface="Arial"/>
              </a:rPr>
              <a:t>The test assesses over-representation. Pathway activity requires separate evidence.</a:t>
            </a:r>
          </a:p>
        </p:txBody>
      </p:sp>
      <p:sp>
        <p:nvSpPr>
          <p:cNvPr id="25" name="enrichment-explanation"/>
          <p:cNvSpPr>
            <a:spLocks noGrp="1"/>
          </p:cNvSpPr>
          <p:nvPr/>
        </p:nvSpPr>
        <p:spPr>
          <a:xfrm>
            <a:off x="7863840" y="4459224"/>
            <a:ext cx="3383280" cy="365760"/>
          </a:xfrm>
          <a:prstGeom prst="rect">
            <a:avLst/>
          </a:prstGeom>
          <a:noFill/>
        </p:spPr>
        <p:txBody>
          <a:bodyPr wrap="square" lIns="0" tIns="0" rIns="0" bIns="0" anchor="t">
            <a:spAutoFit/>
          </a:bodyPr>
          <a:lstStyle/>
          <a:p>
            <a:pPr algn="ctr">
              <a:lnSpc>
                <a:spcPct val="95000"/>
              </a:lnSpc>
              <a:spcBef>
                <a:spcPts val="0"/>
              </a:spcBef>
              <a:spcAft>
                <a:spcPts val="0"/>
              </a:spcAft>
              <a:buNone/>
            </a:pPr>
            <a:r>
              <a:rPr sz="850" b="0" i="0">
                <a:solidFill>
                  <a:srgbClr val="4E5A68"/>
                </a:solidFill>
                <a:latin typeface="Arial"/>
                <a:ea typeface="Arial"/>
                <a:cs typeface="Arial"/>
              </a:rPr>
              <a:t>Pathway share among DEGs ÷ pathway share among detectable genes</a:t>
            </a:r>
          </a:p>
          <a:p>
            <a:pPr algn="ctr">
              <a:lnSpc>
                <a:spcPct val="95000"/>
              </a:lnSpc>
              <a:spcBef>
                <a:spcPts val="300"/>
              </a:spcBef>
              <a:spcAft>
                <a:spcPts val="0"/>
              </a:spcAft>
              <a:buNone/>
            </a:pPr>
            <a:r>
              <a:rPr sz="950" b="1" i="0">
                <a:solidFill>
                  <a:srgbClr val="00684D"/>
                </a:solidFill>
                <a:latin typeface="Arial"/>
                <a:ea typeface="Arial"/>
                <a:cs typeface="Arial"/>
              </a:rPr>
              <a:t>&gt; 1 indicates enrichment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Direct broad-cell results use NES (normalized enrichment score). Positive = AD-up, negative = AD-down, and adjusted P &lt; 0.05 = significant.</a:t>
            </a:r>
          </a:p>
        </p:txBody>
      </p:sp>
    </p:spTree>
    <p:extLst>
      <p:ext uri="{BB962C8B-B14F-4D97-AF65-F5344CB8AC3E}">
        <p14:creationId xmlns:p14="http://schemas.microsoft.com/office/powerpoint/2010/main" val="1336555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dirty="0">
                <a:solidFill>
                  <a:srgbClr val="0F233D"/>
                </a:solidFill>
                <a:latin typeface="Arial"/>
                <a:ea typeface="Arial"/>
                <a:cs typeface="Arial"/>
              </a:rPr>
              <a:t>How to calculate pathway and sex/APOE </a:t>
            </a:r>
            <a:r>
              <a:rPr lang="en-US" sz="2475" b="1" dirty="0">
                <a:solidFill>
                  <a:srgbClr val="0F233D"/>
                </a:solidFill>
                <a:latin typeface="Arial"/>
                <a:ea typeface="Arial"/>
                <a:cs typeface="Arial"/>
              </a:rPr>
              <a:t>group </a:t>
            </a:r>
            <a:r>
              <a:rPr sz="2475" b="1" dirty="0">
                <a:solidFill>
                  <a:srgbClr val="0F233D"/>
                </a:solidFill>
                <a:latin typeface="Arial"/>
                <a:ea typeface="Arial"/>
                <a:cs typeface="Arial"/>
              </a:rPr>
              <a:t>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DEGs ÷ all genes in that pathway for one sex/APOE group.</a:t>
            </a:r>
          </a:p>
        </p:txBody>
      </p:sp>
      <p:pic>
        <p:nvPicPr>
          <p:cNvPr id="11" name="Heatmap showing the percentage and count of genes from four mitochondrial pathways that were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4</a:t>
            </a: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Upregulated and downregulated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9E73"/>
                </a:solidFill>
                <a:latin typeface="Arial"/>
                <a:ea typeface="Arial"/>
                <a:cs typeface="Arial"/>
              </a:rPr>
              <a:t>PART 5</a:t>
            </a: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rows returned from KDA calls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genes; 2 returned no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are counted before MitoCarta filtering.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7</a:t>
            </a:r>
          </a:p>
        </p:txBody>
      </p:sp>
    </p:spTree>
    <p:extLst>
      <p:ext uri="{BB962C8B-B14F-4D97-AF65-F5344CB8AC3E}">
        <p14:creationId xmlns:p14="http://schemas.microsoft.com/office/powerpoint/2010/main" val="686704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with secondary nuclear-encoded OXPHOS support in ROSMAP.</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Within </a:t>
            </a:r>
            <a:r>
              <a:rPr sz="1520" b="1">
                <a:solidFill>
                  <a:srgbClr val="0F233D"/>
                </a:solidFill>
                <a:latin typeface="Arial"/>
                <a:ea typeface="Arial"/>
                <a:cs typeface="Arial"/>
              </a:rPr>
              <a:t>excitatory</a:t>
            </a:r>
            <a:r>
              <a:rPr sz="1520" b="1" i="0">
                <a:solidFill>
                  <a:srgbClr val="0F233D"/>
                </a:solidFill>
                <a:latin typeface="Arial"/>
                <a:ea typeface="Arial"/>
                <a:cs typeface="Arial"/>
              </a:rPr>
              <a:t> neurons</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f</a:t>
            </a:r>
            <a:r>
              <a:rPr sz="1019" b="1" i="0">
                <a:solidFill>
                  <a:srgbClr val="0F233D"/>
                </a:solidFill>
                <a:latin typeface="Arial"/>
                <a:ea typeface="Arial"/>
                <a:cs typeface="Arial"/>
              </a:rPr>
              <a:t>ine-cell DEG lists included</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All included female ε3/ε3 DEG lists</a:t>
            </a:r>
          </a:p>
        </p:txBody>
      </p:sp>
    </p:spTree>
    <p:extLst>
      <p:ext uri="{BB962C8B-B14F-4D97-AF65-F5344CB8AC3E}">
        <p14:creationId xmlns:p14="http://schemas.microsoft.com/office/powerpoint/2010/main" val="3319326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SEA-AD fine-cell DEG list contributed to the matched female ε3/ε3 excitatory-neuron comparison, so coverage is limited.</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SEA-AD MitoCarta MT DEGs also found in ROSMAP</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Adjusted P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shared-gene overlap between cohorts</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core MT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All nine core MT genes are upregulated in both cohorts.</a:t>
            </a:r>
          </a:p>
        </p:txBody>
      </p:sp>
    </p:spTree>
    <p:extLst>
      <p:ext uri="{BB962C8B-B14F-4D97-AF65-F5344CB8AC3E}">
        <p14:creationId xmlns:p14="http://schemas.microsoft.com/office/powerpoint/2010/main" val="11104947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analyzing AD networks separately by sex.</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based on the directions of two defined OXPHOS gene sets.</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pattern through shared DEGs with matching AD directions.</a:t>
            </a:r>
          </a:p>
        </p:txBody>
      </p:sp>
    </p:spTree>
    <p:extLst>
      <p:ext uri="{BB962C8B-B14F-4D97-AF65-F5344CB8AC3E}">
        <p14:creationId xmlns:p14="http://schemas.microsoft.com/office/powerpoint/2010/main" val="19805011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neurons</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ROSMAP provides the primary evidence. SEA-AD adds support from matched inhibitory-neuron DEGs.</a:t>
            </a:r>
          </a:p>
        </p:txBody>
      </p:sp>
    </p:spTree>
    <p:extLst>
      <p:ext uri="{BB962C8B-B14F-4D97-AF65-F5344CB8AC3E}">
        <p14:creationId xmlns:p14="http://schemas.microsoft.com/office/powerpoint/2010/main" val="13367061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included fine-cell DEG lists. The same gene can recur in different comparisons.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DEG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Eight SEA-AD fine-cell DEG lists contributed. Support comes from shared MitoCarta MT DEGs with the same AD direction.</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DEGs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Adjusted P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shared-gene overlap between cohorts</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Nuclear-encoded MT genes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Genes for OXPHOS, protein import, mitochondrial ribosomes, and DNA/RNA maintenance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Sensitivity check excluding genes with uncertain mitochondrial identity: 21 shared, adjusted P = 0.0486.</a:t>
            </a:r>
          </a:p>
        </p:txBody>
      </p:sp>
    </p:spTree>
    <p:extLst>
      <p:ext uri="{BB962C8B-B14F-4D97-AF65-F5344CB8AC3E}">
        <p14:creationId xmlns:p14="http://schemas.microsoft.com/office/powerpoint/2010/main" val="19303677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account for the matched inhibitory-neuron pattern?</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Shared genes include OXPHOS subunits and genes for protein import, mitochondrial ribosomes, and DNA/RNA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genes with the same direction</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genes with opposite directions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Other mitochondrial processes also decrease</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Genes for protein import, mitochondrial ribosomes, metabolite transport, and DNA/RNA maintenance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biological context, but not this exact pattern</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Two-genome OXPHOS biology and cell-resolved AD studies make the finding plausible without independently reproducing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Two-genome OXPHOS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 Opposite OXPHOS directions are biologically plausible,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lang="en-US" sz="2200" b="1" i="0" dirty="0">
                <a:solidFill>
                  <a:srgbClr val="FFFFFF"/>
                </a:solidFill>
                <a:latin typeface="Arial"/>
                <a:ea typeface="Arial"/>
                <a:cs typeface="Arial"/>
              </a:rPr>
              <a:t>Both core MT and </a:t>
            </a:r>
            <a:r>
              <a:rPr lang="en-US" sz="2200" b="1" i="0" dirty="0" err="1">
                <a:solidFill>
                  <a:srgbClr val="FFFFFF"/>
                </a:solidFill>
                <a:latin typeface="Arial"/>
                <a:ea typeface="Arial"/>
                <a:cs typeface="Arial"/>
              </a:rPr>
              <a:t>nuclear</a:t>
            </a:r>
            <a:r>
              <a:rPr lang="en-US" sz="2200" b="1" i="0" dirty="0">
                <a:solidFill>
                  <a:srgbClr val="FFFFFF"/>
                </a:solidFill>
                <a:latin typeface="Arial"/>
                <a:ea typeface="Arial"/>
                <a:cs typeface="Arial"/>
              </a:rPr>
              <a:t>-encoded OXPHOS genes were upregulated in </a:t>
            </a:r>
            <a:r>
              <a:rPr sz="2200" b="1" i="0" dirty="0">
                <a:solidFill>
                  <a:srgbClr val="FFFFFF"/>
                </a:solidFill>
                <a:latin typeface="Arial"/>
                <a:ea typeface="Arial"/>
                <a:cs typeface="Arial"/>
              </a:rPr>
              <a:t>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Tree>
    <p:extLst>
      <p:ext uri="{BB962C8B-B14F-4D97-AF65-F5344CB8AC3E}">
        <p14:creationId xmlns:p14="http://schemas.microsoft.com/office/powerpoint/2010/main" val="14171427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no cognitive impairment</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occurrences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included fine-cell comparisons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included fine-cell comparisons</a:t>
            </a:r>
          </a:p>
        </p:txBody>
      </p:sp>
    </p:spTree>
    <p:extLst>
      <p:ext uri="{BB962C8B-B14F-4D97-AF65-F5344CB8AC3E}">
        <p14:creationId xmlns:p14="http://schemas.microsoft.com/office/powerpoint/2010/main" val="4580754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dirty="0">
                <a:solidFill>
                  <a:srgbClr val="0F233D"/>
                </a:solidFill>
                <a:latin typeface="Arial"/>
                <a:ea typeface="Arial"/>
                <a:cs typeface="Arial"/>
              </a:rPr>
              <a:t>Fine-cell </a:t>
            </a:r>
            <a:r>
              <a:rPr lang="en-US" sz="2200" b="1" i="0" dirty="0">
                <a:solidFill>
                  <a:srgbClr val="0F233D"/>
                </a:solidFill>
                <a:latin typeface="Arial"/>
                <a:ea typeface="Arial"/>
                <a:cs typeface="Arial"/>
              </a:rPr>
              <a:t>and broad-cell </a:t>
            </a:r>
            <a:r>
              <a:rPr sz="2200" b="1" i="0" dirty="0">
                <a:solidFill>
                  <a:srgbClr val="0F233D"/>
                </a:solidFill>
                <a:latin typeface="Arial"/>
                <a:ea typeface="Arial"/>
                <a:cs typeface="Arial"/>
              </a:rPr>
              <a:t>evidence support</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FINE-CELL ROSMAP</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Significant enrichment of upregulated genes appeared in 9 of 12 fine cell types for core MT genes and 8 of 12 for nuclear-encoded OXPHOS genes.</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matched DEG result</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matched female ε2 fine-cell DEG result was available. This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2929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dirty="0">
                <a:solidFill>
                  <a:srgbClr val="7E4C9A"/>
                </a:solidFill>
                <a:latin typeface="Arial"/>
                <a:ea typeface="Arial"/>
                <a:cs typeface="Arial"/>
              </a:rPr>
              <a:t>The two-gene-set pattern </a:t>
            </a:r>
            <a:r>
              <a:rPr lang="en-US" sz="1130" b="1" i="0" dirty="0">
                <a:solidFill>
                  <a:srgbClr val="7E4C9A"/>
                </a:solidFill>
                <a:latin typeface="Arial"/>
                <a:ea typeface="Arial"/>
                <a:cs typeface="Arial"/>
              </a:rPr>
              <a:t>is </a:t>
            </a:r>
            <a:r>
              <a:rPr sz="1130" b="1" i="0" dirty="0">
                <a:solidFill>
                  <a:srgbClr val="7E4C9A"/>
                </a:solidFill>
                <a:latin typeface="Arial"/>
                <a:ea typeface="Arial"/>
                <a:cs typeface="Arial"/>
              </a:rPr>
              <a:t>mainly </a:t>
            </a:r>
            <a:r>
              <a:rPr lang="en-US" sz="1130" b="1" i="0" dirty="0">
                <a:solidFill>
                  <a:srgbClr val="7E4C9A"/>
                </a:solidFill>
                <a:latin typeface="Arial"/>
                <a:ea typeface="Arial"/>
                <a:cs typeface="Arial"/>
              </a:rPr>
              <a:t>supported by</a:t>
            </a:r>
            <a:r>
              <a:rPr sz="1130" b="1" i="0" dirty="0">
                <a:solidFill>
                  <a:srgbClr val="7E4C9A"/>
                </a:solidFill>
                <a:latin typeface="Arial"/>
                <a:ea typeface="Arial"/>
                <a:cs typeface="Arial"/>
              </a:rPr>
              <a:t> fine-cell ROSMAP evidence.</a:t>
            </a:r>
          </a:p>
        </p:txBody>
      </p:sp>
    </p:spTree>
    <p:extLst>
      <p:ext uri="{BB962C8B-B14F-4D97-AF65-F5344CB8AC3E}">
        <p14:creationId xmlns:p14="http://schemas.microsoft.com/office/powerpoint/2010/main" val="20427968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9B9759-8C24-40FC-9F64-84570C3254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a:ext uri="{FF2B5EF4-FFF2-40B4-BE49-F238E27FC236}">
                <a16:creationId xmlns:a16="http://schemas.microsoft.com/office/drawing/2014/main" id="{5BBDA2B6-748D-41D9-862D-7E18BB2B5EA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D76020A-FCE8-438D-BB31-4DC3B5F14D24}"/>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a:ext uri="{FF2B5EF4-FFF2-40B4-BE49-F238E27FC236}">
                <a16:creationId xmlns:a16="http://schemas.microsoft.com/office/drawing/2014/main" id="{E6B72473-605E-4B15-A710-E0E87504CEE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61741430-38B3-41F7-B957-964A801B7A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D464EA5-2FB1-41DE-B66E-27CBBCF1682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7EA8D99-C02A-4788-8BAC-19AB7802536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61EBDF4-CC0C-408C-9B6A-191DD08C45B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6ED3613-1DE2-4ED9-B304-70C3BF6E2F8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4D6D3497-1532-43A3-B90B-868123101E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AA0014-E189-41F8-9EDA-538A301A2B7E}"/>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85CC86D-E673-4A4D-BCD4-A17C265A93D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F6ECD27-E612-42B2-A097-22AD5D5F4E1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199226C-0ACA-4C10-9CC3-512A6B88301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9ADCB95-7C34-4583-8E5D-733E8F1BC35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D05F1D8-4983-4839-928F-9660ECDD84A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D96C1F8-7416-4C36-AEF3-8C5EC8CB834A}"/>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6D4276BB-3C28-4E39-A937-01C6393F2A2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917F796A-CADC-4639-9BBC-33FD0EE492E7}"/>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3D46ED2-4710-4AF3-A347-5D5DAB51261B}"/>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decrease</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16E7C6-C798-4825-8ADF-356B5B54EA3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a:ext uri="{FF2B5EF4-FFF2-40B4-BE49-F238E27FC236}">
                <a16:creationId xmlns:a16="http://schemas.microsoft.com/office/drawing/2014/main" id="{A4B8AFD9-E3A2-4DF9-81CD-7C81CE7DADE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a:ext uri="{FF2B5EF4-FFF2-40B4-BE49-F238E27FC236}">
                <a16:creationId xmlns:a16="http://schemas.microsoft.com/office/drawing/2014/main" id="{50746D33-BB30-408B-9C9E-FF12599B34E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D214BFD-9CB2-42A4-89AE-8FFD5BC9576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a:ext uri="{FF2B5EF4-FFF2-40B4-BE49-F238E27FC236}">
                <a16:creationId xmlns:a16="http://schemas.microsoft.com/office/drawing/2014/main" id="{2611586C-DC6A-4FFA-9337-383B37FE6B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a:ext uri="{FF2B5EF4-FFF2-40B4-BE49-F238E27FC236}">
                <a16:creationId xmlns:a16="http://schemas.microsoft.com/office/drawing/2014/main" id="{3FA2DD5C-37CE-47B8-BA0D-4EFF5279FD3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a:ext uri="{FF2B5EF4-FFF2-40B4-BE49-F238E27FC236}">
                <a16:creationId xmlns:a16="http://schemas.microsoft.com/office/drawing/2014/main" id="{C367C7A9-94DC-4D2B-B71F-0FDBE87A16E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E88F76C-26B3-454D-8275-E2E91DB2450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a:ext uri="{FF2B5EF4-FFF2-40B4-BE49-F238E27FC236}">
                <a16:creationId xmlns:a16="http://schemas.microsoft.com/office/drawing/2014/main" id="{24F47D21-06A0-49A7-843A-35EF63D4EEB1}"/>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E00687D7-70B0-4750-B1C7-9FF467343380}"/>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a:ext uri="{FF2B5EF4-FFF2-40B4-BE49-F238E27FC236}">
                <a16:creationId xmlns:a16="http://schemas.microsoft.com/office/drawing/2014/main" id="{1FC6D3C9-53C5-436A-80F4-E4C130F4115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EFE16A-BBAE-434D-B4D4-F4BBF16D1597}"/>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a:ext uri="{FF2B5EF4-FFF2-40B4-BE49-F238E27FC236}">
                <a16:creationId xmlns:a16="http://schemas.microsoft.com/office/drawing/2014/main" id="{AC6C476A-D8B0-4988-AB23-A9274BE7A62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a:ext uri="{FF2B5EF4-FFF2-40B4-BE49-F238E27FC236}">
                <a16:creationId xmlns:a16="http://schemas.microsoft.com/office/drawing/2014/main" id="{864BD5C9-7313-4258-90C2-44621A549A53}"/>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a:ext uri="{FF2B5EF4-FFF2-40B4-BE49-F238E27FC236}">
                <a16:creationId xmlns:a16="http://schemas.microsoft.com/office/drawing/2014/main" id="{20141D58-A058-4EE4-BC6F-0C603708A55B}"/>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9B384E-3324-406A-9BD4-5866F2601348}"/>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D711E9C4-E615-4164-8E0E-C48683BB7C4A}"/>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a:ext uri="{FF2B5EF4-FFF2-40B4-BE49-F238E27FC236}">
                <a16:creationId xmlns:a16="http://schemas.microsoft.com/office/drawing/2014/main" id="{18248536-6E97-4D19-897C-624A3F6312C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a:ext uri="{FF2B5EF4-FFF2-40B4-BE49-F238E27FC236}">
                <a16:creationId xmlns:a16="http://schemas.microsoft.com/office/drawing/2014/main" id="{5E29091D-B675-49BE-A878-6A96D56F4DD7}"/>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7CA1F7-0F95-4126-9E08-408394415F68}"/>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a:ext uri="{FF2B5EF4-FFF2-40B4-BE49-F238E27FC236}">
                <a16:creationId xmlns:a16="http://schemas.microsoft.com/office/drawing/2014/main" id="{FAE57504-3744-40A4-B02C-4F8FF1267295}"/>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a:ext uri="{FF2B5EF4-FFF2-40B4-BE49-F238E27FC236}">
                <a16:creationId xmlns:a16="http://schemas.microsoft.com/office/drawing/2014/main" id="{FC5B3EDE-C98C-45CA-AB93-D3059D42173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a:ext uri="{FF2B5EF4-FFF2-40B4-BE49-F238E27FC236}">
                <a16:creationId xmlns:a16="http://schemas.microsoft.com/office/drawing/2014/main" id="{36BA72D2-3B9D-4CFD-9032-9F25BBDF9111}"/>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4084EDC-C5DD-434C-8042-3C9AE2B5124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a:ext uri="{FF2B5EF4-FFF2-40B4-BE49-F238E27FC236}">
                <a16:creationId xmlns:a16="http://schemas.microsoft.com/office/drawing/2014/main" id="{C77EC147-AB27-4522-80DF-24CAB245A81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a:ext uri="{FF2B5EF4-FFF2-40B4-BE49-F238E27FC236}">
                <a16:creationId xmlns:a16="http://schemas.microsoft.com/office/drawing/2014/main" id="{7EFA35EA-3110-4A6D-B50D-300EE9DE777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fine-cell OXPHOS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AD-up direction,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neurons: NES = +0.70 and adjusted P = 0.991. The AD-up direction is not significant.</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pathway is significantly AD-up</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neurons: NES = +2.01 and adjusted P = 5.62 × 10⁻⁵. The pathway result is significantly AD-up.</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DEG CHECK</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small astrocyte DEG list</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Only two DEGs overlapped with ROSMAP, and the overlap was not significant (adjusted P =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female ε4 decrease is specific to the fine-cell analysis. Direct broad-cell results point upward.</a:t>
            </a:r>
          </a:p>
        </p:txBody>
      </p:sp>
    </p:spTree>
    <p:extLst>
      <p:ext uri="{BB962C8B-B14F-4D97-AF65-F5344CB8AC3E}">
        <p14:creationId xmlns:p14="http://schemas.microsoft.com/office/powerpoint/2010/main" val="8429484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decrease may reflect reduced expression of respiratory-complex genes, cellular stress, or a different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Differences in the mix of fine cell types may influence the direct broad-cell result.</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mitochondrial quality control</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removal of damaged mitochondria.</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maintenance of mitochondrial function.</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78619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F2E26F-2CDF-4E65-8BA1-34F46AD706D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a:ext uri="{FF2B5EF4-FFF2-40B4-BE49-F238E27FC236}">
                <a16:creationId xmlns:a16="http://schemas.microsoft.com/office/drawing/2014/main" id="{679FEE76-9C69-4E79-9D0E-33754FA43E2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141759-D659-44D6-8951-9C9972B5510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a:ext uri="{FF2B5EF4-FFF2-40B4-BE49-F238E27FC236}">
                <a16:creationId xmlns:a16="http://schemas.microsoft.com/office/drawing/2014/main" id="{444133BC-3F24-48B3-8674-96DDA42DC30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7D622FD7-0151-4AF9-A487-7DE206047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58018-9D15-438B-8510-E212F9931423}"/>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32E41CE8-CDFA-44D4-A17F-1D85D2DF329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F14DF69-6E24-4830-A88A-57EB39EAA40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88A9BC0-42FC-41E9-8C8D-8862108F070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86A3D6A-050D-454B-A2A4-F432AE04DA3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1E439F-F7F3-4C2D-9AED-A1B048E90A44}"/>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2023D3E-15BB-4049-A8AD-079F974409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B5C00B5F-F220-4649-BE0A-E55B74FD74D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D486C808-47D2-42CB-AACF-203A868DF3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CEEC43C-DBFF-4642-9E0A-F21A82A46B5C}"/>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8A202477-1FEE-4A36-810D-A2539DCF225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363E3D9-9544-4D85-BFEB-2823E795F07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10748D0A-7A11-478D-861B-3D0939C13BAA}"/>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84BAA67-2B8F-485F-9374-B6D5A8BAC42F}"/>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09FD795-F30A-4125-BD47-A454AEFBD2C8}"/>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gene sets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DEG sets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BD277D-7431-4A7A-A1C7-72AF1F26B21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ε2 has the most downward OXPHOS DEG occurrences</a:t>
            </a:r>
          </a:p>
        </p:txBody>
      </p:sp>
      <p:sp>
        <p:nvSpPr>
          <p:cNvPr id="3" name="TextBox 2">
            <a:extLst>
              <a:ext uri="{FF2B5EF4-FFF2-40B4-BE49-F238E27FC236}">
                <a16:creationId xmlns:a16="http://schemas.microsoft.com/office/drawing/2014/main" id="{90923344-F35D-4EFF-A0E6-1084F7A5BE5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a:ext uri="{FF2B5EF4-FFF2-40B4-BE49-F238E27FC236}">
                <a16:creationId xmlns:a16="http://schemas.microsoft.com/office/drawing/2014/main" id="{815A4D51-038B-4DB5-BB9D-C51DE16B673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624508B-2051-4B1C-8CFD-BB759936A4B0}"/>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a:ext uri="{FF2B5EF4-FFF2-40B4-BE49-F238E27FC236}">
                <a16:creationId xmlns:a16="http://schemas.microsoft.com/office/drawing/2014/main" id="{8CF85EEA-A167-43C8-AFCD-1D6C6354386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E9B93EE7-DD66-498F-A3CB-2420119AF29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a:ext uri="{FF2B5EF4-FFF2-40B4-BE49-F238E27FC236}">
                <a16:creationId xmlns:a16="http://schemas.microsoft.com/office/drawing/2014/main" id="{67A0F397-F140-4D64-B92B-A6E3A29C0C8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FD5BF0-813B-49E9-A0B0-0F89CDDD3B97}"/>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a:ext uri="{FF2B5EF4-FFF2-40B4-BE49-F238E27FC236}">
                <a16:creationId xmlns:a16="http://schemas.microsoft.com/office/drawing/2014/main" id="{ED6BE81B-2B7A-40DB-904F-8CC485792EC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3D970A38-BB5D-47A0-B7C7-04DD293709E6}"/>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a:ext uri="{FF2B5EF4-FFF2-40B4-BE49-F238E27FC236}">
                <a16:creationId xmlns:a16="http://schemas.microsoft.com/office/drawing/2014/main" id="{6496313E-1382-41C2-BA3E-34797C7311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73DE1FB-C935-4CE6-AEFC-33DD5D47F466}"/>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a:ext uri="{FF2B5EF4-FFF2-40B4-BE49-F238E27FC236}">
                <a16:creationId xmlns:a16="http://schemas.microsoft.com/office/drawing/2014/main" id="{CF18A02B-0A7A-418F-A578-702C906E2E9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a:ext uri="{FF2B5EF4-FFF2-40B4-BE49-F238E27FC236}">
                <a16:creationId xmlns:a16="http://schemas.microsoft.com/office/drawing/2014/main" id="{768B58E6-3DE9-4A64-ADE5-DAE50470903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a:ext uri="{FF2B5EF4-FFF2-40B4-BE49-F238E27FC236}">
                <a16:creationId xmlns:a16="http://schemas.microsoft.com/office/drawing/2014/main" id="{E5A95870-C1EA-4EB8-9CF4-5203996357A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4573671-11D6-4F8E-B1D0-41F33E45DE3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8CD198EE-16C1-4164-9FD9-20D0FAB36B4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a:ext uri="{FF2B5EF4-FFF2-40B4-BE49-F238E27FC236}">
                <a16:creationId xmlns:a16="http://schemas.microsoft.com/office/drawing/2014/main" id="{A5C5029B-3122-4C07-94E1-F116864314BE}"/>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a:ext uri="{FF2B5EF4-FFF2-40B4-BE49-F238E27FC236}">
                <a16:creationId xmlns:a16="http://schemas.microsoft.com/office/drawing/2014/main" id="{71D52A82-59E2-4945-8028-CA41F6C9A11E}"/>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47D7A2-4F91-4259-82A1-BB0EA1CBB01C}"/>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A11BD4C5-04ED-4483-9A6B-20C61A55CD8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a:ext uri="{FF2B5EF4-FFF2-40B4-BE49-F238E27FC236}">
                <a16:creationId xmlns:a16="http://schemas.microsoft.com/office/drawing/2014/main" id="{92AD0BB7-7863-4F61-9BD7-B2D2ED0A88E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a:ext uri="{FF2B5EF4-FFF2-40B4-BE49-F238E27FC236}">
                <a16:creationId xmlns:a16="http://schemas.microsoft.com/office/drawing/2014/main" id="{A93000DB-86CF-4280-A9AF-87FD1D9D7947}"/>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1DBCA1F-5166-40A9-9CAB-5643CEBFD24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a:ext uri="{FF2B5EF4-FFF2-40B4-BE49-F238E27FC236}">
                <a16:creationId xmlns:a16="http://schemas.microsoft.com/office/drawing/2014/main" id="{2262FB5A-6F52-47C7-A4ED-CE564717D57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a:ext uri="{FF2B5EF4-FFF2-40B4-BE49-F238E27FC236}">
                <a16:creationId xmlns:a16="http://schemas.microsoft.com/office/drawing/2014/main" id="{B8F6995F-6CE2-4495-A815-7B8D5120FB1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A0A466-65B9-4B02-9FC4-4A0CF223C3C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a:ext uri="{FF2B5EF4-FFF2-40B4-BE49-F238E27FC236}">
                <a16:creationId xmlns:a16="http://schemas.microsoft.com/office/drawing/2014/main" id="{678755B5-2808-464C-BE3F-F32B109D9C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Larger DEG sets help explain why male ε2 contributes many DEG occurrences.</a:t>
            </a:r>
          </a:p>
        </p:txBody>
      </p:sp>
      <p:sp>
        <p:nvSpPr>
          <p:cNvPr id="4" name="Rounded Rectangle 3">
            <a:extLst>
              <a:ext uri="{FF2B5EF4-FFF2-40B4-BE49-F238E27FC236}">
                <a16:creationId xmlns:a16="http://schemas.microsoft.com/office/drawing/2014/main" id="{BDCABD88-CDF9-4096-9BD8-9FD4BD2BD3B8}"/>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C8BCB1-D1DE-4C49-93A0-C071B997ADB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a:ext uri="{FF2B5EF4-FFF2-40B4-BE49-F238E27FC236}">
                <a16:creationId xmlns:a16="http://schemas.microsoft.com/office/drawing/2014/main" id="{4625E702-DCA4-444B-B0B0-7901133E832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a:ext uri="{FF2B5EF4-FFF2-40B4-BE49-F238E27FC236}">
                <a16:creationId xmlns:a16="http://schemas.microsoft.com/office/drawing/2014/main" id="{D8DB4B45-4487-4D5E-9743-9C36A6B0B6CE}"/>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median male ε2 DEG set was more than five times the overall median.</a:t>
            </a:r>
          </a:p>
        </p:txBody>
      </p:sp>
      <p:sp>
        <p:nvSpPr>
          <p:cNvPr id="8" name="Rounded Rectangle 7">
            <a:extLst>
              <a:ext uri="{FF2B5EF4-FFF2-40B4-BE49-F238E27FC236}">
                <a16:creationId xmlns:a16="http://schemas.microsoft.com/office/drawing/2014/main" id="{D2DEE9FA-A444-440D-B9EC-4568849FCEDD}"/>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5E2B186-5E0C-47B5-8F7B-C775F6D95A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ALL INCLUDED FINE-CELL COMPARISONS</a:t>
            </a:r>
          </a:p>
        </p:txBody>
      </p:sp>
      <p:sp>
        <p:nvSpPr>
          <p:cNvPr id="10" name="TextBox 9">
            <a:extLst>
              <a:ext uri="{FF2B5EF4-FFF2-40B4-BE49-F238E27FC236}">
                <a16:creationId xmlns:a16="http://schemas.microsoft.com/office/drawing/2014/main" id="{E927D0C2-C1BB-44DE-94D7-B63E61AAD4D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a:ext uri="{FF2B5EF4-FFF2-40B4-BE49-F238E27FC236}">
                <a16:creationId xmlns:a16="http://schemas.microsoft.com/office/drawing/2014/main" id="{7B2BB62E-46AF-4ACF-B00A-E6BF7669316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DEG-set size was.</a:t>
            </a:r>
          </a:p>
        </p:txBody>
      </p:sp>
      <p:sp>
        <p:nvSpPr>
          <p:cNvPr id="12" name="Rounded Rectangle 11">
            <a:extLst>
              <a:ext uri="{FF2B5EF4-FFF2-40B4-BE49-F238E27FC236}">
                <a16:creationId xmlns:a16="http://schemas.microsoft.com/office/drawing/2014/main" id="{65F6F61B-5B86-4ED5-B8F5-5A13FAEC2D31}"/>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0B7689-4FA7-48F5-9F40-9D61578285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D7A8BAE3-2CF9-4C3A-8F56-DE08415FB22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matched DEG result</a:t>
            </a:r>
          </a:p>
        </p:txBody>
      </p:sp>
      <p:sp>
        <p:nvSpPr>
          <p:cNvPr id="15" name="TextBox 14">
            <a:extLst>
              <a:ext uri="{FF2B5EF4-FFF2-40B4-BE49-F238E27FC236}">
                <a16:creationId xmlns:a16="http://schemas.microsoft.com/office/drawing/2014/main" id="{C90626B7-0775-4368-BF4A-E28B97D6014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matched male ε2 fine-cell DEG result was available, so SEA-AD adds no evidence in either direction.</a:t>
            </a:r>
          </a:p>
        </p:txBody>
      </p:sp>
      <p:sp>
        <p:nvSpPr>
          <p:cNvPr id="16" name="Rounded Rectangle 15">
            <a:extLst>
              <a:ext uri="{FF2B5EF4-FFF2-40B4-BE49-F238E27FC236}">
                <a16:creationId xmlns:a16="http://schemas.microsoft.com/office/drawing/2014/main" id="{05306AF1-7D7C-4CF2-B3B2-D39FE71A3E60}"/>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24E6BE-8240-49F9-A3F0-81F96F86B21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Larger DEG sets can produce more DEG occurrences across fine-cell comparisons. This does not change the direction percentages on the preceding slide.</a:t>
            </a:r>
          </a:p>
        </p:txBody>
      </p:sp>
    </p:spTree>
    <p:extLst>
      <p:ext uri="{BB962C8B-B14F-4D97-AF65-F5344CB8AC3E}">
        <p14:creationId xmlns:p14="http://schemas.microsoft.com/office/powerpoint/2010/main" val="20455409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1EA402-C5A0-4E1B-B43F-EED1CD22F6C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a:ext uri="{FF2B5EF4-FFF2-40B4-BE49-F238E27FC236}">
                <a16:creationId xmlns:a16="http://schemas.microsoft.com/office/drawing/2014/main" id="{067D81D1-DE61-49CF-B923-71CE71FBCB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downward OXPHOS pattern could reflect respiratory reduction, altered cell state, or selective survival.</a:t>
            </a:r>
          </a:p>
        </p:txBody>
      </p:sp>
      <p:sp>
        <p:nvSpPr>
          <p:cNvPr id="4" name="Rounded Rectangle 3">
            <a:extLst>
              <a:ext uri="{FF2B5EF4-FFF2-40B4-BE49-F238E27FC236}">
                <a16:creationId xmlns:a16="http://schemas.microsoft.com/office/drawing/2014/main" id="{011FB5E7-B20B-4700-B4B3-EC4194685D75}"/>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6C5AD6E-D080-4D27-AFE6-E57173C9CCD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a:ext uri="{FF2B5EF4-FFF2-40B4-BE49-F238E27FC236}">
                <a16:creationId xmlns:a16="http://schemas.microsoft.com/office/drawing/2014/main" id="{9DCBD8C7-6EF5-4D51-A91D-4C2BE9AFFAE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a:ext uri="{FF2B5EF4-FFF2-40B4-BE49-F238E27FC236}">
                <a16:creationId xmlns:a16="http://schemas.microsoft.com/office/drawing/2014/main" id="{881A60AA-37D5-4EAD-AA8D-B931443EB1C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a:ext uri="{FF2B5EF4-FFF2-40B4-BE49-F238E27FC236}">
                <a16:creationId xmlns:a16="http://schemas.microsoft.com/office/drawing/2014/main" id="{6B2AE7DB-C180-4953-A160-763D03A4508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F2C5F2C-F92E-4969-B5FF-EFC20A09DA8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a:ext uri="{FF2B5EF4-FFF2-40B4-BE49-F238E27FC236}">
                <a16:creationId xmlns:a16="http://schemas.microsoft.com/office/drawing/2014/main" id="{4257C55A-E6B2-47C9-848A-CFBFA9DC333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a:ext uri="{FF2B5EF4-FFF2-40B4-BE49-F238E27FC236}">
                <a16:creationId xmlns:a16="http://schemas.microsoft.com/office/drawing/2014/main" id="{F5AFB380-15C5-4EF8-AEE9-52CA21D4B29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a:ext uri="{FF2B5EF4-FFF2-40B4-BE49-F238E27FC236}">
                <a16:creationId xmlns:a16="http://schemas.microsoft.com/office/drawing/2014/main" id="{D168868F-90BB-4DF9-B31E-58060BC6C9F8}"/>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A567D2E-D3C8-4434-AF52-FAF6402709B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a:ext uri="{FF2B5EF4-FFF2-40B4-BE49-F238E27FC236}">
                <a16:creationId xmlns:a16="http://schemas.microsoft.com/office/drawing/2014/main" id="{276D68BD-1C7A-4A2D-A6ED-68F1E132DCAB}"/>
              </a:ext>
            </a:extLst>
          </p:cNvPr>
          <p:cNvSpPr>
            <a:spLocks noGrp="1"/>
          </p:cNvSpPr>
          <p:nvPr/>
        </p:nvSpPr>
        <p:spPr>
          <a:xfrm>
            <a:off x="8522208" y="217627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a:ext uri="{FF2B5EF4-FFF2-40B4-BE49-F238E27FC236}">
                <a16:creationId xmlns:a16="http://schemas.microsoft.com/office/drawing/2014/main" id="{7D52DBC3-B64D-4B83-982C-4BC0804328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a:ext uri="{FF2B5EF4-FFF2-40B4-BE49-F238E27FC236}">
                <a16:creationId xmlns:a16="http://schemas.microsoft.com/office/drawing/2014/main" id="{492E22EF-A767-4394-AB9C-6A374B84A56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3BA675F-8177-4E3B-A875-82424698D527}"/>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87659E-1E7C-4EAF-BEA0-DF9393F5C275}"/>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07776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pathway finding based on DEGs.</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Tree>
    <p:extLst>
      <p:ext uri="{BB962C8B-B14F-4D97-AF65-F5344CB8AC3E}">
        <p14:creationId xmlns:p14="http://schemas.microsoft.com/office/powerpoint/2010/main" val="4384938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Tree>
    <p:extLst>
      <p:ext uri="{BB962C8B-B14F-4D97-AF65-F5344CB8AC3E}">
        <p14:creationId xmlns:p14="http://schemas.microsoft.com/office/powerpoint/2010/main" val="2385652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Tree>
    <p:extLst>
      <p:ext uri="{BB962C8B-B14F-4D97-AF65-F5344CB8AC3E}">
        <p14:creationId xmlns:p14="http://schemas.microsoft.com/office/powerpoint/2010/main" val="6202844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695568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nuclear-encoded OXPHOS genes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nuclear-encoded OXPHOS query genes.</a:t>
            </a:r>
          </a:p>
        </p:txBody>
      </p:sp>
    </p:spTree>
    <p:extLst>
      <p:ext uri="{BB962C8B-B14F-4D97-AF65-F5344CB8AC3E}">
        <p14:creationId xmlns:p14="http://schemas.microsoft.com/office/powerpoint/2010/main" val="13602970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query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ribosomal genes returned from KDA calls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Tree>
    <p:extLst>
      <p:ext uri="{BB962C8B-B14F-4D97-AF65-F5344CB8AC3E}">
        <p14:creationId xmlns:p14="http://schemas.microsoft.com/office/powerpoint/2010/main" val="12135719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non-MitoCarta genes returned from KDA calls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non-MitoCarta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 each KDA 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non-MitoCarta genes returned from KDA calls</a:t>
            </a:r>
          </a:p>
        </p:txBody>
      </p:sp>
    </p:spTree>
    <p:extLst>
      <p:ext uri="{BB962C8B-B14F-4D97-AF65-F5344CB8AC3E}">
        <p14:creationId xmlns:p14="http://schemas.microsoft.com/office/powerpoint/2010/main" val="9846568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nuclear-encoded 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Tree>
    <p:extLst>
      <p:ext uri="{BB962C8B-B14F-4D97-AF65-F5344CB8AC3E}">
        <p14:creationId xmlns:p14="http://schemas.microsoft.com/office/powerpoint/2010/main" val="2054249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8131813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Tree>
    <p:extLst>
      <p:ext uri="{BB962C8B-B14F-4D97-AF65-F5344CB8AC3E}">
        <p14:creationId xmlns:p14="http://schemas.microsoft.com/office/powerpoint/2010/main" val="3403197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show lower gene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genes returned from KDA calls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KDA call in a matching LAMTOR5 discovery category, so exact-context support is unavailable.</a:t>
            </a:r>
          </a:p>
        </p:txBody>
      </p:sp>
    </p:spTree>
    <p:extLst>
      <p:ext uri="{BB962C8B-B14F-4D97-AF65-F5344CB8AC3E}">
        <p14:creationId xmlns:p14="http://schemas.microsoft.com/office/powerpoint/2010/main" val="12228716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Tree>
    <p:extLst>
      <p:ext uri="{BB962C8B-B14F-4D97-AF65-F5344CB8AC3E}">
        <p14:creationId xmlns:p14="http://schemas.microsoft.com/office/powerpoint/2010/main" val="8283773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81336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core MT upregulation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gene returned from ROSMAP KDA calls.</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core MT upregulation neighborhood.</a:t>
            </a:r>
          </a:p>
        </p:txBody>
      </p:sp>
    </p:spTree>
    <p:extLst>
      <p:ext uri="{BB962C8B-B14F-4D97-AF65-F5344CB8AC3E}">
        <p14:creationId xmlns:p14="http://schemas.microsoft.com/office/powerpoint/2010/main" val="10858077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core MT genes originate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shows enriched core MT upregulation</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can be returned from a KDA call because of its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effects stayed below the stored size threshold</a:t>
            </a:r>
          </a:p>
        </p:txBody>
      </p:sp>
    </p:spTree>
    <p:extLst>
      <p:ext uri="{BB962C8B-B14F-4D97-AF65-F5344CB8AC3E}">
        <p14:creationId xmlns:p14="http://schemas.microsoft.com/office/powerpoint/2010/main" val="1194657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KDA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WDR82 is also returned from these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WDR82 could have been returned from a KDA call in 11 matching SEA-AD excitatory backgrounds but was not, although SEA-AD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core MT gene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core MT genes from the queries is an important sensitivity test before mechanistic interpretation.</a:t>
            </a:r>
          </a:p>
        </p:txBody>
      </p:sp>
    </p:spTree>
    <p:extLst>
      <p:ext uri="{BB962C8B-B14F-4D97-AF65-F5344CB8AC3E}">
        <p14:creationId xmlns:p14="http://schemas.microsoft.com/office/powerpoint/2010/main" val="12291768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transcribed within long polycistronic RNAs.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expression of mitochondrial translation genes.</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Tree>
    <p:extLst>
      <p:ext uri="{BB962C8B-B14F-4D97-AF65-F5344CB8AC3E}">
        <p14:creationId xmlns:p14="http://schemas.microsoft.com/office/powerpoint/2010/main" val="14462323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show lower gene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gene returned from KDA calls also changes expression frequently</a:t>
            </a:r>
          </a:p>
        </p:txBody>
      </p:sp>
    </p:spTree>
    <p:extLst>
      <p:ext uri="{BB962C8B-B14F-4D97-AF65-F5344CB8AC3E}">
        <p14:creationId xmlns:p14="http://schemas.microsoft.com/office/powerpoint/2010/main" val="173846250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Tree>
    <p:extLst>
      <p:ext uri="{BB962C8B-B14F-4D97-AF65-F5344CB8AC3E}">
        <p14:creationId xmlns:p14="http://schemas.microsoft.com/office/powerpoint/2010/main" val="17058804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proteins encoded by core MT genes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Tree>
    <p:extLst>
      <p:ext uri="{BB962C8B-B14F-4D97-AF65-F5344CB8AC3E}">
        <p14:creationId xmlns:p14="http://schemas.microsoft.com/office/powerpoint/2010/main" val="62563412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5791603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Tree>
    <p:extLst>
      <p:ext uri="{BB962C8B-B14F-4D97-AF65-F5344CB8AC3E}">
        <p14:creationId xmlns:p14="http://schemas.microsoft.com/office/powerpoint/2010/main" val="98965190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KDA calls</a:t>
            </a:r>
          </a:p>
        </p:txBody>
      </p:sp>
    </p:spTree>
    <p:extLst>
      <p:ext uri="{BB962C8B-B14F-4D97-AF65-F5344CB8AC3E}">
        <p14:creationId xmlns:p14="http://schemas.microsoft.com/office/powerpoint/2010/main" val="40548682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57697078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Tree>
    <p:extLst>
      <p:ext uri="{BB962C8B-B14F-4D97-AF65-F5344CB8AC3E}">
        <p14:creationId xmlns:p14="http://schemas.microsoft.com/office/powerpoint/2010/main" val="153484230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295830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Tree>
    <p:extLst>
      <p:ext uri="{BB962C8B-B14F-4D97-AF65-F5344CB8AC3E}">
        <p14:creationId xmlns:p14="http://schemas.microsoft.com/office/powerpoint/2010/main" val="206761808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Tree>
    <p:extLst>
      <p:ext uri="{BB962C8B-B14F-4D97-AF65-F5344CB8AC3E}">
        <p14:creationId xmlns:p14="http://schemas.microsoft.com/office/powerpoint/2010/main" val="56255882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Tree>
    <p:extLst>
      <p:ext uri="{BB962C8B-B14F-4D97-AF65-F5344CB8AC3E}">
        <p14:creationId xmlns:p14="http://schemas.microsoft.com/office/powerpoint/2010/main" val="142880489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3746282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Tree>
    <p:extLst>
      <p:ext uri="{BB962C8B-B14F-4D97-AF65-F5344CB8AC3E}">
        <p14:creationId xmlns:p14="http://schemas.microsoft.com/office/powerpoint/2010/main" val="14046638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KDA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Tree>
    <p:extLst>
      <p:ext uri="{BB962C8B-B14F-4D97-AF65-F5344CB8AC3E}">
        <p14:creationId xmlns:p14="http://schemas.microsoft.com/office/powerpoint/2010/main" val="207865503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core MT gene enrichment,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gene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core MT gene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PATHWAY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core MT gene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Tree>
    <p:extLst>
      <p:ext uri="{BB962C8B-B14F-4D97-AF65-F5344CB8AC3E}">
        <p14:creationId xmlns:p14="http://schemas.microsoft.com/office/powerpoint/2010/main" val="141567265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Tree>
    <p:extLst>
      <p:ext uri="{BB962C8B-B14F-4D97-AF65-F5344CB8AC3E}">
        <p14:creationId xmlns:p14="http://schemas.microsoft.com/office/powerpoint/2010/main" val="85100882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Tree>
    <p:extLst>
      <p:ext uri="{BB962C8B-B14F-4D97-AF65-F5344CB8AC3E}">
        <p14:creationId xmlns:p14="http://schemas.microsoft.com/office/powerpoint/2010/main" val="170797988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KDA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Tree>
    <p:extLst>
      <p:ext uri="{BB962C8B-B14F-4D97-AF65-F5344CB8AC3E}">
        <p14:creationId xmlns:p14="http://schemas.microsoft.com/office/powerpoint/2010/main" val="43577954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Tree>
    <p:extLst>
      <p:ext uri="{BB962C8B-B14F-4D97-AF65-F5344CB8AC3E}">
        <p14:creationId xmlns:p14="http://schemas.microsoft.com/office/powerpoint/2010/main" val="126440418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9512371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KDA calls.</a:t>
            </a:r>
          </a:p>
        </p:txBody>
      </p:sp>
    </p:spTree>
    <p:extLst>
      <p:ext uri="{BB962C8B-B14F-4D97-AF65-F5344CB8AC3E}">
        <p14:creationId xmlns:p14="http://schemas.microsoft.com/office/powerpoint/2010/main" val="55796706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Tree>
    <p:extLst>
      <p:ext uri="{BB962C8B-B14F-4D97-AF65-F5344CB8AC3E}">
        <p14:creationId xmlns:p14="http://schemas.microsoft.com/office/powerpoint/2010/main" val="19739350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Tree>
    <p:extLst>
      <p:ext uri="{BB962C8B-B14F-4D97-AF65-F5344CB8AC3E}">
        <p14:creationId xmlns:p14="http://schemas.microsoft.com/office/powerpoint/2010/main" val="153543536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KDA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Tree>
    <p:extLst>
      <p:ext uri="{BB962C8B-B14F-4D97-AF65-F5344CB8AC3E}">
        <p14:creationId xmlns:p14="http://schemas.microsoft.com/office/powerpoint/2010/main" val="188856300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Tree>
    <p:extLst>
      <p:ext uri="{BB962C8B-B14F-4D97-AF65-F5344CB8AC3E}">
        <p14:creationId xmlns:p14="http://schemas.microsoft.com/office/powerpoint/2010/main" val="78057473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KDA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526754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gene-set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Mitochondrial gene-set patterns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gene-set patterns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non-MitoCarta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non-MitoCarta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GENE-SET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gene-set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Tree>
    <p:extLst>
      <p:ext uri="{BB962C8B-B14F-4D97-AF65-F5344CB8AC3E}">
        <p14:creationId xmlns:p14="http://schemas.microsoft.com/office/powerpoint/2010/main" val="155947394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non-MitoCarta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non-MitoCarta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non-MitoCarta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Tree>
    <p:extLst>
      <p:ext uri="{BB962C8B-B14F-4D97-AF65-F5344CB8AC3E}">
        <p14:creationId xmlns:p14="http://schemas.microsoft.com/office/powerpoint/2010/main" val="127200738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Tree>
    <p:extLst>
      <p:ext uri="{BB962C8B-B14F-4D97-AF65-F5344CB8AC3E}">
        <p14:creationId xmlns:p14="http://schemas.microsoft.com/office/powerpoint/2010/main" val="169351498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gene set.</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KDA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KDA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gene-set patterns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Gene-set support can strengthen a ROSMAP finding without confirming its exact upstream candidate.</a:t>
            </a:r>
          </a:p>
        </p:txBody>
      </p:sp>
    </p:spTree>
    <p:extLst>
      <p:ext uri="{BB962C8B-B14F-4D97-AF65-F5344CB8AC3E}">
        <p14:creationId xmlns:p14="http://schemas.microsoft.com/office/powerpoint/2010/main" val="115954017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pattern</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core MT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KDA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pattern</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Tree>
    <p:extLst>
      <p:ext uri="{BB962C8B-B14F-4D97-AF65-F5344CB8AC3E}">
        <p14:creationId xmlns:p14="http://schemas.microsoft.com/office/powerpoint/2010/main" val="1320318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TotalTime>
  <Words>35551</Words>
  <Application>Microsoft Macintosh PowerPoint</Application>
  <DocSecurity>0</DocSecurity>
  <PresentationFormat>Widescreen</PresentationFormat>
  <Paragraphs>3385</Paragraphs>
  <Slides>149</Slides>
  <Notes>149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149</vt:i4>
      </vt:variant>
    </vt:vector>
  </HeadingPairs>
  <TitlesOfParts>
    <vt:vector size="15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13</cp:revision>
  <dcterms:created xsi:type="dcterms:W3CDTF">2026-09-20T15:55:40Z</dcterms:created>
  <dcterms:modified xsi:type="dcterms:W3CDTF">2026-09-21T03:01:54Z</dcterms:modified>
</cp:coreProperties>
</file>