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0"/>
  </p:notesMasterIdLst>
  <p:sldIdLst>
    <p:sldId id="256" r:id="rId2"/>
    <p:sldId id="416" r:id="rId3"/>
    <p:sldId id="418" r:id="rId4"/>
    <p:sldId id="261" r:id="rId5"/>
    <p:sldId id="262" r:id="rId6"/>
    <p:sldId id="263" r:id="rId7"/>
    <p:sldId id="258" r:id="rId8"/>
    <p:sldId id="271" r:id="rId9"/>
    <p:sldId id="419" r:id="rId10"/>
    <p:sldId id="257" r:id="rId11"/>
    <p:sldId id="259" r:id="rId12"/>
    <p:sldId id="260" r:id="rId13"/>
    <p:sldId id="420" r:id="rId14"/>
    <p:sldId id="264" r:id="rId15"/>
    <p:sldId id="266" r:id="rId16"/>
    <p:sldId id="267" r:id="rId17"/>
    <p:sldId id="268" r:id="rId18"/>
    <p:sldId id="269" r:id="rId19"/>
    <p:sldId id="270"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9" r:id="rId37"/>
    <p:sldId id="290" r:id="rId38"/>
    <p:sldId id="421" r:id="rId39"/>
    <p:sldId id="422" r:id="rId40"/>
    <p:sldId id="423" r:id="rId41"/>
    <p:sldId id="427" r:id="rId42"/>
    <p:sldId id="428" r:id="rId43"/>
    <p:sldId id="429" r:id="rId44"/>
    <p:sldId id="297" r:id="rId45"/>
    <p:sldId id="430" r:id="rId46"/>
    <p:sldId id="431" r:id="rId47"/>
    <p:sldId id="432" r:id="rId48"/>
    <p:sldId id="433"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75"/>
    <p:restoredTop sz="93499"/>
  </p:normalViewPr>
  <p:slideViewPr>
    <p:cSldViewPr snapToGrid="0" snapToObjects="1">
      <p:cViewPr varScale="1">
        <p:scale>
          <a:sx n="117" d="100"/>
          <a:sy n="117" d="100"/>
        </p:scale>
        <p:origin x="10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8.7370822010080604E-2"/>
          <c:y val="0.13000066540978153"/>
          <c:w val="0.89964982695747098"/>
          <c:h val="0.77148319840301649"/>
        </c:manualLayout>
      </c:layout>
      <c:barChart>
        <c:barDir val="col"/>
        <c:grouping val="clustered"/>
        <c:varyColors val="0"/>
        <c:ser>
          <c:idx val="0"/>
          <c:order val="0"/>
          <c:tx>
            <c:v>Core MT genes (13)</c:v>
          </c:tx>
          <c:spPr>
            <a:solidFill>
              <a:srgbClr val="0072B2"/>
            </a:solidFill>
            <a:ln w="9525">
              <a:solidFill>
                <a:srgbClr val="0072B2"/>
              </a:solidFill>
              <a:prstDash val="solid"/>
            </a:ln>
          </c:spPr>
          <c:invertIfNegative val="0"/>
          <c:dLbls>
            <c:dLbl>
              <c:idx val="0"/>
              <c:tx>
                <c:rich>
                  <a:bodyPr/>
                  <a:lstStyle/>
                  <a:p>
                    <a:r>
                      <a:rPr lang="en-US" sz="1125" b="1">
                        <a:solidFill>
                          <a:srgbClr val="FFFFFF"/>
                        </a:solidFill>
                        <a:latin typeface="Arial"/>
                        <a:ea typeface="Arial"/>
                        <a:cs typeface="Arial"/>
                      </a:rPr>
                      <a:t>99%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9E9D-094B-8C10-6055E5D992BE}"/>
                </c:ext>
              </c:extLst>
            </c:dLbl>
            <c:dLbl>
              <c:idx val="1"/>
              <c:tx>
                <c:rich>
                  <a:bodyPr/>
                  <a:lstStyle/>
                  <a:p>
                    <a:r>
                      <a:rPr lang="en-US" sz="1125" b="1">
                        <a:solidFill>
                          <a:srgbClr val="FFFFFF"/>
                        </a:solidFill>
                        <a:latin typeface="Arial"/>
                        <a:ea typeface="Arial"/>
                        <a:cs typeface="Arial"/>
                      </a:rPr>
                      <a:t>100%</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9E9D-094B-8C10-6055E5D992BE}"/>
                </c:ext>
              </c:extLst>
            </c:dLbl>
            <c:dLbl>
              <c:idx val="2"/>
              <c:tx>
                <c:rich>
                  <a:bodyPr/>
                  <a:lstStyle/>
                  <a:p>
                    <a:r>
                      <a:rPr lang="en-US" sz="1125" b="1">
                        <a:solidFill>
                          <a:srgbClr val="0072B2"/>
                        </a:solidFill>
                        <a:latin typeface="Arial"/>
                        <a:ea typeface="Arial"/>
                        <a:cs typeface="Arial"/>
                      </a:rPr>
                      <a:t>41%</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9E9D-094B-8C10-6055E5D992BE}"/>
                </c:ext>
              </c:extLst>
            </c:dLbl>
            <c:dLbl>
              <c:idx val="3"/>
              <c:tx>
                <c:rich>
                  <a:bodyPr/>
                  <a:lstStyle/>
                  <a:p>
                    <a:r>
                      <a:rPr lang="en-US" sz="1125" b="1">
                        <a:solidFill>
                          <a:srgbClr val="0072B2"/>
                        </a:solidFill>
                        <a:latin typeface="Arial"/>
                        <a:ea typeface="Arial"/>
                        <a:cs typeface="Arial"/>
                      </a:rPr>
                      <a:t>10%</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9E9D-094B-8C10-6055E5D992BE}"/>
                </c:ext>
              </c:extLst>
            </c:dLbl>
            <c:dLbl>
              <c:idx val="4"/>
              <c:tx>
                <c:rich>
                  <a:bodyPr/>
                  <a:lstStyle/>
                  <a:p>
                    <a:r>
                      <a:rPr lang="en-US" sz="1125" b="1">
                        <a:solidFill>
                          <a:srgbClr val="FFFFFF"/>
                        </a:solidFill>
                        <a:latin typeface="Arial"/>
                        <a:ea typeface="Arial"/>
                        <a:cs typeface="Arial"/>
                      </a:rPr>
                      <a:t>86%</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9E9D-094B-8C10-6055E5D992BE}"/>
                </c:ext>
              </c:extLst>
            </c:dLbl>
            <c:dLbl>
              <c:idx val="5"/>
              <c:tx>
                <c:rich>
                  <a:bodyPr/>
                  <a:lstStyle/>
                  <a:p>
                    <a:r>
                      <a:rPr lang="en-US" sz="1125" b="1">
                        <a:solidFill>
                          <a:srgbClr val="FFFFFF"/>
                        </a:solidFill>
                        <a:latin typeface="Arial"/>
                        <a:ea typeface="Arial"/>
                        <a:cs typeface="Arial"/>
                      </a:rPr>
                      <a:t>79%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Data'!$A$2:$A$7</c:f>
              <c:strCache>
                <c:ptCount val="6"/>
                <c:pt idx="0">
                  <c:v>Female ε2</c:v>
                </c:pt>
                <c:pt idx="1">
                  <c:v>Female ε3/ε3</c:v>
                </c:pt>
                <c:pt idx="2">
                  <c:v>Female ε4</c:v>
                </c:pt>
                <c:pt idx="3">
                  <c:v>Male ε2</c:v>
                </c:pt>
                <c:pt idx="4">
                  <c:v>Male ε3/ε3</c:v>
                </c:pt>
                <c:pt idx="5">
                  <c:v>Male ε4</c:v>
                </c:pt>
              </c:strCache>
            </c:strRef>
          </c:cat>
          <c:val>
            <c:numRef>
              <c:f>'Chart Data'!$B$2:$B$7</c:f>
              <c:numCache>
                <c:formatCode>0" pp"</c:formatCode>
                <c:ptCount val="6"/>
                <c:pt idx="0">
                  <c:v>49</c:v>
                </c:pt>
                <c:pt idx="1">
                  <c:v>50</c:v>
                </c:pt>
                <c:pt idx="2">
                  <c:v>-9</c:v>
                </c:pt>
                <c:pt idx="3">
                  <c:v>-40</c:v>
                </c:pt>
                <c:pt idx="4">
                  <c:v>36</c:v>
                </c:pt>
                <c:pt idx="5">
                  <c:v>29</c:v>
                </c:pt>
              </c:numCache>
            </c:numRef>
          </c:val>
          <c:extLst>
            <c:ext xmlns:c16="http://schemas.microsoft.com/office/drawing/2014/chart" uri="{C3380CC4-5D6E-409C-BE32-E72D297353CC}">
              <c16:uniqueId val="{00000006-9E9D-094B-8C10-6055E5D992BE}"/>
            </c:ext>
          </c:extLst>
        </c:ser>
        <c:ser>
          <c:idx val="1"/>
          <c:order val="1"/>
          <c:tx>
            <c:v>Nuclear-encoded OXPHOS genes (86)</c:v>
          </c:tx>
          <c:spPr>
            <a:solidFill>
              <a:srgbClr val="D55E00"/>
            </a:solidFill>
            <a:ln w="9525">
              <a:solidFill>
                <a:srgbClr val="D55E00"/>
              </a:solidFill>
              <a:prstDash val="solid"/>
            </a:ln>
          </c:spPr>
          <c:invertIfNegative val="0"/>
          <c:dLbls>
            <c:dLbl>
              <c:idx val="0"/>
              <c:tx>
                <c:rich>
                  <a:bodyPr/>
                  <a:lstStyle/>
                  <a:p>
                    <a:r>
                      <a:rPr lang="en-US" sz="1125" b="1">
                        <a:solidFill>
                          <a:srgbClr val="FFFFFF"/>
                        </a:solidFill>
                        <a:latin typeface="Arial"/>
                        <a:ea typeface="Arial"/>
                        <a:cs typeface="Arial"/>
                      </a:rPr>
                      <a:t>98%</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9E9D-094B-8C10-6055E5D992BE}"/>
                </c:ext>
              </c:extLst>
            </c:dLbl>
            <c:dLbl>
              <c:idx val="1"/>
              <c:tx>
                <c:rich>
                  <a:bodyPr/>
                  <a:lstStyle/>
                  <a:p>
                    <a:r>
                      <a:rPr lang="en-US" sz="1125" b="1">
                        <a:solidFill>
                          <a:srgbClr val="FFFFFF"/>
                        </a:solidFill>
                        <a:latin typeface="Arial"/>
                        <a:ea typeface="Arial"/>
                        <a:cs typeface="Arial"/>
                      </a:rPr>
                      <a:t>85%</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9E9D-094B-8C10-6055E5D992BE}"/>
                </c:ext>
              </c:extLst>
            </c:dLbl>
            <c:dLbl>
              <c:idx val="2"/>
              <c:tx>
                <c:rich>
                  <a:bodyPr/>
                  <a:lstStyle/>
                  <a:p>
                    <a:r>
                      <a:rPr lang="en-US" sz="1125" b="1">
                        <a:solidFill>
                          <a:srgbClr val="D55E00"/>
                        </a:solidFill>
                        <a:latin typeface="Arial"/>
                        <a:ea typeface="Arial"/>
                        <a:cs typeface="Arial"/>
                      </a:rPr>
                      <a:t>5%</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9E9D-094B-8C10-6055E5D992BE}"/>
                </c:ext>
              </c:extLst>
            </c:dLbl>
            <c:dLbl>
              <c:idx val="3"/>
              <c:tx>
                <c:rich>
                  <a:bodyPr/>
                  <a:lstStyle/>
                  <a:p>
                    <a:r>
                      <a:rPr lang="en-US" sz="1125" b="1">
                        <a:solidFill>
                          <a:srgbClr val="D55E00"/>
                        </a:solidFill>
                        <a:latin typeface="Arial"/>
                        <a:ea typeface="Arial"/>
                        <a:cs typeface="Arial"/>
                      </a:rPr>
                      <a:t>13%</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9E9D-094B-8C10-6055E5D992BE}"/>
                </c:ext>
              </c:extLst>
            </c:dLbl>
            <c:dLbl>
              <c:idx val="4"/>
              <c:tx>
                <c:rich>
                  <a:bodyPr/>
                  <a:lstStyle/>
                  <a:p>
                    <a:r>
                      <a:rPr lang="en-US" sz="1125" b="1">
                        <a:solidFill>
                          <a:srgbClr val="D55E00"/>
                        </a:solidFill>
                        <a:latin typeface="Arial"/>
                        <a:ea typeface="Arial"/>
                        <a:cs typeface="Arial"/>
                      </a:rPr>
                      <a:t>12%</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9E9D-094B-8C10-6055E5D992BE}"/>
                </c:ext>
              </c:extLst>
            </c:dLbl>
            <c:dLbl>
              <c:idx val="5"/>
              <c:tx>
                <c:rich>
                  <a:bodyPr/>
                  <a:lstStyle/>
                  <a:p>
                    <a:r>
                      <a:rPr lang="en-US" sz="1125" b="1">
                        <a:solidFill>
                          <a:srgbClr val="D55E00"/>
                        </a:solidFill>
                        <a:latin typeface="Arial"/>
                        <a:ea typeface="Arial"/>
                        <a:cs typeface="Arial"/>
                      </a:rPr>
                      <a:t>38%</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Data'!$C$2:$C$7</c:f>
              <c:strCache>
                <c:ptCount val="6"/>
                <c:pt idx="0">
                  <c:v>Female ε2</c:v>
                </c:pt>
                <c:pt idx="1">
                  <c:v>Female ε3/ε3</c:v>
                </c:pt>
                <c:pt idx="2">
                  <c:v>Female ε4</c:v>
                </c:pt>
                <c:pt idx="3">
                  <c:v>Male ε2</c:v>
                </c:pt>
                <c:pt idx="4">
                  <c:v>Male ε3/ε3</c:v>
                </c:pt>
                <c:pt idx="5">
                  <c:v>Male ε4</c:v>
                </c:pt>
              </c:strCache>
            </c:strRef>
          </c:cat>
          <c:val>
            <c:numRef>
              <c:f>'Chart Data'!$D$2:$D$7</c:f>
              <c:numCache>
                <c:formatCode>0" pp"</c:formatCode>
                <c:ptCount val="6"/>
                <c:pt idx="0">
                  <c:v>48</c:v>
                </c:pt>
                <c:pt idx="1">
                  <c:v>35</c:v>
                </c:pt>
                <c:pt idx="2">
                  <c:v>-45</c:v>
                </c:pt>
                <c:pt idx="3">
                  <c:v>-37</c:v>
                </c:pt>
                <c:pt idx="4">
                  <c:v>-38</c:v>
                </c:pt>
                <c:pt idx="5">
                  <c:v>-12</c:v>
                </c:pt>
              </c:numCache>
            </c:numRef>
          </c:val>
          <c:extLst>
            <c:ext xmlns:c16="http://schemas.microsoft.com/office/drawing/2014/chart" uri="{C3380CC4-5D6E-409C-BE32-E72D297353CC}">
              <c16:uniqueId val="{0000000D-9E9D-094B-8C10-6055E5D992BE}"/>
            </c:ext>
          </c:extLst>
        </c:ser>
        <c:dLbls>
          <c:dLblPos val="inEnd"/>
          <c:showLegendKey val="0"/>
          <c:showVal val="1"/>
          <c:showCatName val="0"/>
          <c:showSerName val="0"/>
          <c:showPercent val="0"/>
          <c:showBubbleSize val="0"/>
        </c:dLbls>
        <c:gapWidth val="55"/>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667788"/>
            </a:solidFill>
            <a:prstDash val="solid"/>
          </a:ln>
        </c:spPr>
        <c:txPr>
          <a:bodyPr anchorCtr="1"/>
          <a:lstStyle/>
          <a:p>
            <a:pPr>
              <a:defRPr sz="1125" b="1">
                <a:solidFill>
                  <a:srgbClr val="1F2730"/>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50"/>
          <c:min val="-50"/>
        </c:scaling>
        <c:delete val="0"/>
        <c:axPos val="l"/>
        <c:majorGridlines>
          <c:spPr>
            <a:ln w="9525">
              <a:solidFill>
                <a:srgbClr val="D5DDE6"/>
              </a:solidFill>
              <a:prstDash val="solid"/>
            </a:ln>
          </c:spPr>
        </c:majorGridlines>
        <c:title>
          <c:tx>
            <c:rich>
              <a:bodyPr/>
              <a:lstStyle/>
              <a:p>
                <a:r>
                  <a:rPr lang="en-US" sz="1050">
                    <a:solidFill>
                      <a:srgbClr val="1F2730"/>
                    </a:solidFill>
                    <a:latin typeface="Arial"/>
                    <a:ea typeface="Arial"/>
                    <a:cs typeface="Arial"/>
                  </a:rPr>
                  <a:t>Difference from 50% (percentage points)</a:t>
                </a:r>
              </a:p>
            </c:rich>
          </c:tx>
          <c:layout>
            <c:manualLayout>
              <c:xMode val="edge"/>
              <c:yMode val="edge"/>
              <c:x val="0"/>
              <c:y val="0.16067162027281801"/>
            </c:manualLayout>
          </c:layout>
          <c:overlay val="0"/>
        </c:title>
        <c:numFmt formatCode="\+0&quot; pp&quot;;\-0&quot; pp&quot;;&quot;50% equal&quot;" sourceLinked="0"/>
        <c:majorTickMark val="none"/>
        <c:minorTickMark val="none"/>
        <c:tickLblPos val="nextTo"/>
        <c:spPr>
          <a:ln w="9525">
            <a:solidFill>
              <a:srgbClr val="667788"/>
            </a:solidFill>
            <a:prstDash val="solid"/>
          </a:ln>
        </c:spPr>
        <c:txPr>
          <a:bodyPr anchorCtr="1"/>
          <a:lstStyle/>
          <a:p>
            <a:pPr>
              <a:defRPr sz="975">
                <a:solidFill>
                  <a:srgbClr val="1F2730"/>
                </a:solidFill>
                <a:latin typeface="Arial"/>
                <a:ea typeface="Arial"/>
                <a:cs typeface="Arial"/>
              </a:defRPr>
            </a:pPr>
            <a:endParaRPr lang="en-US"/>
          </a:p>
        </c:txPr>
        <c:crossAx val="48650112"/>
        <c:crosses val="autoZero"/>
        <c:crossBetween val="between"/>
        <c:majorUnit val="25"/>
      </c:valAx>
      <c:spPr>
        <a:solidFill>
          <a:srgbClr val="FFFFFF"/>
        </a:solidFill>
        <a:ln w="0">
          <a:noFill/>
          <a:prstDash val="solid"/>
        </a:ln>
      </c:spPr>
    </c:plotArea>
    <c:legend>
      <c:legendPos val="t"/>
      <c:overlay val="0"/>
      <c:txPr>
        <a:bodyPr anchorCtr="1"/>
        <a:lstStyle/>
        <a:p>
          <a:pPr>
            <a:defRPr sz="1050">
              <a:solidFill>
                <a:srgbClr val="1F2730"/>
              </a:solidFill>
              <a:latin typeface="Arial"/>
              <a:ea typeface="Arial"/>
              <a:cs typeface="Arial"/>
            </a:defRPr>
          </a:pPr>
          <a:endParaRPr lang="en-US"/>
        </a:p>
      </c:txPr>
    </c:legend>
    <c:plotVisOnly val="1"/>
    <c:dispBlanksAs val="zero"/>
    <c:showDLblsOverMax val="1"/>
  </c:chart>
  <c:spPr>
    <a:solidFill>
      <a:srgbClr val="FFFFFF"/>
    </a:solidFill>
    <a:ln w="0">
      <a:noFill/>
      <a:prstDash val="solid"/>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research question and presentation scope.</a:t>
            </a:r>
          </a:p>
          <a:p>
            <a:endParaRPr/>
          </a:p>
          <a:p>
            <a:r>
              <a:t>Walk through: This study asks how sex, APOE genotype, and brain cell type shape mitochondrial gene-expression changes in Alzheimer’s disease. ROSMAP provides the primary analysis, and SEA-AD provides supplemental human support. The presentation begins with the overall workflow, then moves through DEG analysis, pathway analysis, KDA, human validation, sensitivity analyses, and 17 biological findings. Mouse validation is a potential future step.</a:t>
            </a:r>
          </a:p>
          <a:p>
            <a:endParaRPr/>
          </a:p>
          <a:p>
            <a:r>
              <a:t>Scientific boundary: The evidence is transcriptomic and exploratory. Separate results within sex/APOE strata do not by themselves establish a disease-by-sex or disease-by-APOE interaction, and RNA abundance does not measure mitochondrial function directly.</a:t>
            </a:r>
          </a:p>
          <a:p>
            <a:endParaRPr/>
          </a:p>
          <a:p>
            <a:r>
              <a:t>Transition: Begin with Part 1, the study overview.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the study moves from cell-level gene expression to candidate prioritization and validation.</a:t>
            </a:r>
          </a:p>
          <a:p>
            <a:endParaRPr/>
          </a:p>
          <a:p>
            <a:r>
              <a:t>Walk through: First, DEG analysis identifies genes with higher or lower RNA abundance in Alzheimer’s disease within each fine-cell, sex, and APOE comparison. Second, pathway analysis summarizes the mitochondrial processes represented among those DEGs. Third, key driver analysis, abbreviated KDA, uses gene networks to nominate genes connected to the MitoCarta MT DEGs.</a:t>
            </a:r>
          </a:p>
          <a:p>
            <a:endParaRPr/>
          </a:p>
          <a:p>
            <a:r>
              <a:t>Fourth, genetic support evaluates candidate genes using Alzheimer’s genetic-association and gene-regulation evidence. This provides gene-level support. It does not by itself validate the cell type, sex or APOE group, or network connections from the KDA calls.</a:t>
            </a:r>
          </a:p>
          <a:p>
            <a:endParaRPr/>
          </a:p>
          <a:p>
            <a:r>
              <a:t>Fifth, human validation compares the ROSMAP findings with SEA-AD and with direct broad-cell analyses. The final stage shown here is mouse validation, which would test selected candidates and mitochondrial function in targeted models.</a:t>
            </a:r>
          </a:p>
          <a:p>
            <a:endParaRPr/>
          </a:p>
          <a:p>
            <a:r>
              <a:t>Scientific boundary: DEG analysis, pathway analysis, KDA, genetic support, and human validation contribute evidence presented in this deck. Mouse validation remains a potential next step and does not contribute evidence to the current findings.</a:t>
            </a:r>
          </a:p>
          <a:p>
            <a:endParaRPr/>
          </a:p>
          <a:p>
            <a:r>
              <a:t>Transition: Next, introduce the two human brain cohorts.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roles and scales of ROSMAP and SEA-AD before presenting the analyses.</a:t>
            </a:r>
          </a:p>
          <a:p>
            <a:endParaRPr/>
          </a:p>
          <a:p>
            <a:r>
              <a:t>Walk through: ROSMAP is the primary discovery cohort, with 54 fine cell types and 324 planned comparisons across sex and APOE groups. SEA-AD provides supplemental human validation, with 129 fine cell categories called supertypes and 774 planned comparisons. ROSMAP supplies the primary differential-expression, pathway, and KDA findings. SEA-AD tests whether gene-set patterns and KDA candidates recur in another human cohort.</a:t>
            </a:r>
          </a:p>
          <a:p>
            <a:endParaRPr/>
          </a:p>
          <a:p>
            <a:r>
              <a:t>Scientific boundary: Planned comparisons describe the study design. They are not counts of estimable comparisons or completed KDA calls. The cohorts also use cohort-specific network backgrounds, and SEA-AD coverage is uneven across sex and APOE groups.</a:t>
            </a:r>
          </a:p>
          <a:p>
            <a:endParaRPr/>
          </a:p>
          <a:p>
            <a:r>
              <a:t>Transition: Next, define the mitochondrial gene sets used throughout the study.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two mitochondrial protein-gene sets used throughout the study.</a:t>
            </a:r>
          </a:p>
          <a:p>
            <a:endParaRPr/>
          </a:p>
          <a:p>
            <a:r>
              <a:t>Walk through: Start with core MT genes. In this study, that term means the 13 protein-coding genes in mitochondrial DNA. All 13 encode structural subunits of oxidative phosphorylation, or OXPHOS. The broader MitoCarta MT inventory contains 1,136 protein-coding genes associated with mitochondria. It includes the same 13 core MT genes and 1,123 genes encoded by nuclear DNA. We use MitoCarta MT genes to define the mitochondrial pathways and to build the DEG input queries used when we make KDA calls.</a:t>
            </a:r>
          </a:p>
          <a:p>
            <a:endParaRPr/>
          </a:p>
          <a:p>
            <a:r>
              <a:t>Scientific boundary: Mitochondrial DNA contains 37 genes in total. The other 24 encode 22 transfer RNAs and two ribosomal RNAs, so they are not included in the protein-gene sets analyzed here. In this study, core MT genes and mtDNA-encoded structural OXPHOS genes refer to the same 13 genes. Expression of these genes does not measure mtDNA copy number, OXPHOS protein abundance, or mitochondrial function.</a:t>
            </a:r>
          </a:p>
          <a:p>
            <a:endParaRPr/>
          </a:p>
          <a:p>
            <a:r>
              <a:t>Transition: The next slide shows how the 13 core MT genes and the nuclear-encoded OXPHOS genes fit inside MitoCarta.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the structural OXPHOS gene set is contained within the MitoCarta MT inventory.</a:t>
            </a:r>
          </a:p>
          <a:p>
            <a:endParaRPr/>
          </a:p>
          <a:p>
            <a:r>
              <a:t>Walk through: The green outer circle contains all 1,136 MitoCarta MT genes. The gold inner circle sits fully inside it because all 99 structural OXPHOS genes used here are in MitoCarta. The vertical split separates the 13 core MT genes, encoded by mitochondrial DNA, from 86 OXPHOS genes encoded by nuclear DNA. Together, the two groups account for the 99 structural OXPHOS genes. The remaining 1,037 MitoCarta MT genes fall outside the structural OXPHOS set.</a:t>
            </a:r>
          </a:p>
          <a:p>
            <a:endParaRPr/>
          </a:p>
          <a:p>
            <a:r>
              <a:t>Scientific boundary: The circles show gene-set membership only. Nuclear-encoded tells us that the gene is located in nuclear DNA. Its protein still functions in mitochondria. The diagram does not show expression direction, pathway enrichment, protein abundance, or mitochondrial function. Circle area does not represent gene count.</a:t>
            </a:r>
          </a:p>
          <a:p>
            <a:endParaRPr/>
          </a:p>
          <a:p>
            <a:r>
              <a:t>Transition: Next, introduce the three levels used to organize MitoCarta pathways.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three MitoCarta pathway levels used in the analysis.</a:t>
            </a:r>
          </a:p>
          <a:p>
            <a:endParaRPr/>
          </a:p>
          <a:p>
            <a:r>
              <a:t>Walk through: MitoCarta organizes its 1,136 MT genes into a nested hierarchy. Level 1 contains seven broad mitochondrial systems. Level 2 contains 39 pathways within those systems. Level 3 adds 103 more detailed subpathways. For example, oxidative phosphorylation is a Level 1 system, Complex I is a Level 2 pathway within it, and Complex I subunits form a Level 3 pathway. Levels 1 and 2 therefore contain 46 pathways, while the complete hierarchy contains 149.</a:t>
            </a:r>
          </a:p>
          <a:p>
            <a:endParaRPr/>
          </a:p>
          <a:p>
            <a:r>
              <a:t>Scientific boundary: The levels describe biological specificity, not statistical strength. Because the hierarchy is nested, broad and detailed pathways can share genes and can produce related enrichment results. Counts come from the Phase 11 MitoCarta pathway manifest in results/minerva_production/11_pathway_deg_fine.</a:t>
            </a:r>
          </a:p>
          <a:p>
            <a:endParaRPr/>
          </a:p>
          <a:p>
            <a:r>
              <a:t>Transition: With the mitochondrial gene sets and pathway hierarchy defined, next define a contrast.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contrast unit from the KDA call it may generate.</a:t>
            </a:r>
          </a:p>
          <a:p>
            <a:endParaRPr/>
          </a:p>
          <a:p>
            <a:r>
              <a:t>Walk through: A contrast is one AD-versus-NCI comparison within one fine cell type and one sex/APOE group. Therefore, N fine cell types create six N planned contrasts; in ROSMAP, 54 fine types create 324. Source-invalid contrasts are removed, and a valid contrast leads to a KDA call only when its mapped MitoCarta MT query contains at least three genes. One completed KDA call can return a list of genes, with each gene appearing at most once in that KDA call.</a:t>
            </a:r>
          </a:p>
          <a:p>
            <a:endParaRPr/>
          </a:p>
          <a:p>
            <a:r>
              <a:t>Scientific boundary: A planned contrast is a comparison opportunity, not a completed KDA call or an independent biological replication. A skipped contrast is unavailable rather than a completed null result.</a:t>
            </a:r>
          </a:p>
          <a:p>
            <a:endParaRPr/>
          </a:p>
          <a:p>
            <a:r>
              <a:t>Transition: With the contrast defined, next define the category used to summarize fine-cell KDA results.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084734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category unit and the fine-cell-to-broad aggregation.</a:t>
            </a:r>
          </a:p>
          <a:p>
            <a:endParaRPr/>
          </a:p>
          <a:p>
            <a:r>
              <a:t>Walk through: Two sexes crossed with three APOE groups create six sex/APOE groups. Crossing each group with seven frozen broad cell types creates 42 possible categories; M_e33 by excitatory neurons is one example. Contrasts outnumber categories because several fine cell types can map to the same broad cell type. When the same driver returns from multiple fine-cell KDA calls in one category, the returned within each KDA call adjusted P values are combined by equal-weight ACAT into one gene-by-category score.</a:t>
            </a:r>
          </a:p>
          <a:p>
            <a:endParaRPr/>
          </a:p>
          <a:p>
            <a:r>
              <a:t>Scientific boundary: Forty-two is the structural design space, not 42 observed negative or positive results. A category may lack an eligible KDA call or a returned non-MitoCarta driver. The ACAT is returned-only: a KDA call in which the gene was not returned does not contribute P equals one.</a:t>
            </a:r>
          </a:p>
          <a:p>
            <a:endParaRPr/>
          </a:p>
          <a:p>
            <a:r>
              <a:t>Transition: With contrast and category defined, next explain what counts as one DEG occurrence.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94788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DEG and a DEG occurrence before showing DEG counts and direction percentages.</a:t>
            </a:r>
          </a:p>
          <a:p>
            <a:endParaRPr/>
          </a:p>
          <a:p>
            <a:r>
              <a:t>Walk through: Within one fine-cell contrast, a gene is called a DEG when its BH-adjusted P value is below 0.05 and its absolute log2 fold change is greater than log2 of 1.3, approximately 0.38. Positive fold change means upregulated in AD, and negative fold change means downregulated in AD. One DEG in one fine-cell contrast contributes one DEG occurrence. If the same gene is a DEG in three contrasts, it contributes three DEG occurrences but remains one unique gene.</a:t>
            </a:r>
          </a:p>
          <a:p>
            <a:endParaRPr/>
          </a:p>
          <a:p>
            <a:r>
              <a:t>Scientific boundary: The DEG criteria are evaluated separately within each contrast. A DEG occurrence is a repeated DEG result, not a unique gene, participant, or independent replication. Meeting the DEG criteria does not establish causation.</a:t>
            </a:r>
          </a:p>
          <a:p>
            <a:endParaRPr/>
          </a:p>
          <a:p>
            <a:r>
              <a:t>Transition: With the Part 1 concepts established, begin Part 2 with the overall DEG counts.</a:t>
            </a:r>
          </a:p>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441928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differential-expression layer.</a:t>
            </a:r>
          </a:p>
          <a:p>
            <a:endParaRPr/>
          </a:p>
          <a:p>
            <a:r>
              <a:t>Walk through: DEG analysis compares disease with the cohort-specific comparison group inside each fine cell type and sex/APOE stratum. These contrast-level results provide the mitochondrial gene lists used for pathway analysis and for the KDA queries.</a:t>
            </a:r>
          </a:p>
          <a:p>
            <a:endParaRPr/>
          </a:p>
          <a:p>
            <a:r>
              <a:t>Scientific boundary: A DEG is an RNA-abundance difference, not proof of causal regulation, protein change, or altered mitochondrial function. ROSMAP uses AD versus NCI, whereas SEA-AD uses dementia versus no dementia.</a:t>
            </a:r>
          </a:p>
          <a:p>
            <a:endParaRPr/>
          </a:p>
          <a:p>
            <a:r>
              <a:t>Transition: Start with the overall DEG counts across sex and 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complete fine-cell DEG results before pathway analysis.</a:t>
            </a:r>
          </a:p>
          <a:p>
            <a:endParaRPr/>
          </a:p>
          <a:p>
            <a:r>
              <a:t>Walk through: ROSMAP contained 324 planned AD-versus-NCI contrasts: 54 fine cell types crossed with six sex/APOE groups. Three male epsilon-2 contrasts did not have enough cells for the planned DEG model, leaving 321 analyzed contrasts; 277 of those had at least one DEG. Across all genes, there were 118,297 DEG occurrences representing 14,840 distinct genes. The bars divide these occurrences into higher expression in AD and lower expression in AD. Female epsilon-2 had 10,952 occurrences, 65 percent higher in AD. Female epsilon-3 homozygous had 11,236, 47 percent higher. Female epsilon-4 had 20,942, with 76 percent lower in AD. Male epsilon-2 had the largest count, 45,781, with 56 percent higher. Male epsilon-3 homozygous had 13,120, and male epsilon-4 had 16,266; both were close to evenly split.</a:t>
            </a:r>
          </a:p>
          <a:p>
            <a:endParaRPr/>
          </a:p>
          <a:p>
            <a:r>
              <a:t>Scientific boundary: A DEG met the prespecified within-contrast criteria: BH FDR below 0.05, absolute fold change above 1.3, and detection in at least 10 percent of cells in either group. Counts repeat a gene when it is a DEG in another fine-cell comparison. They are descriptive and can reflect sample size, power, and the number of genes tested; they are not donor counts, independent replications, or a formal disease-by-sex/APOE interaction test.</a:t>
            </a:r>
          </a:p>
          <a:p>
            <a:endParaRPr/>
          </a:p>
          <a:p>
            <a:r>
              <a:t>Transition: Move from the all-gene DEG counts to pathway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Position pathway analysis between DEG testing and network analysis.</a:t>
            </a:r>
          </a:p>
          <a:p>
            <a:endParaRPr/>
          </a:p>
          <a:p>
            <a:r>
              <a:t>Walk through: Pathway analysis asks whether mitochondrial DEG results are concentrated in predefined pathways, including the core MT gene set, nuclear-encoded OXPHOS genes, mitochondrial translation, and MICOS or inner-membrane organization. It therefore describes pathway-level signal before network-based driver nomination.</a:t>
            </a:r>
          </a:p>
          <a:p>
            <a:endParaRPr/>
          </a:p>
          <a:p>
            <a:r>
              <a:t>Scientific boundary: Pathway enrichment describes the composition or ranking of gene-level results. It does not identify an upstream driver or prove that a pathway is more or less functional.</a:t>
            </a:r>
          </a:p>
          <a:p>
            <a:endParaRPr/>
          </a:p>
          <a:p>
            <a:r>
              <a:t>Transition: First, define what counts as a significant pathway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Formally define one significant pathway result before presenting pathway-level summary counts.</a:t>
            </a:r>
          </a:p>
          <a:p>
            <a:endParaRPr/>
          </a:p>
          <a:p>
            <a:r>
              <a:t>Walk through: One result tests one pathway in one DEG list from one fine-cell sex/APOE contrast. N is the number of detectable MitoCarta MT genes in that contrast. M is the number of those detectable genes assigned to the pathway. n is the number of DEGs in the selected list, and k is the number of those DEGs assigned to the pathway. Fold enrichment compares the pathway share among the DEGs, k divided by n, with the pathway share among detectable genes, M divided by N. A value above 1 indicates enrichment. Enrichment describes the observed over-representation. Statistical significance is determined separately: the one-sided hypergeometric test calculates the probability of observing k or more pathway genes under random sampling from the detectable-gene background, and Benjamini-Hochberg correction is applied across all testable pathways in the same pathway collection for the same contrast and DEG list. The primary local result is significant when its BH-adjusted P value, also called the local false-discovery rate, is below 0.05.</a:t>
            </a:r>
          </a:p>
          <a:p>
            <a:endParaRPr/>
          </a:p>
          <a:p>
            <a:r>
              <a:t>Scientific boundary: This result supports pathway over-representation within one specific test. It does not establish altered pathway activity, causation, or a disease-by-sex-by-APOE interaction. Study-wide BH FDR is reported separately as a sensitivity measure.</a:t>
            </a:r>
          </a:p>
          <a:p>
            <a:endParaRPr/>
          </a:p>
          <a:p>
            <a:r>
              <a:t>Transition: Next, review how the pathway analysis tests each fine-cell contrast and summarizes significant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goal: Explain the two-stage pathway analysis and summarize how many pathways had at least one significant result.</a:t>
            </a:r>
          </a:p>
          <a:p>
            <a:r>
              <a:rPr lang="en-US" dirty="0"/>
              <a:t>Walk through: Each estimable fine-cell sex/APOE contrast was analyzed separately. For each contrast, the analysis created three mitochondrial DEG lists: all DEGs, genes upregulated in AD, and genes downregulated in AD. It then tested each pathway using the enrichment and significance definition on the previous slide. Twelve of the 46 Level 1 and Level 2 pathways and 18 of the 149 complete pathways had at least one significant result across the tested contrasts and DEG lists. Most significant results involved overlapping OXPHOS pathways. Non-OXPHOS signals were fewer and more localized. The next slide defines a separate descriptive overlap percentage used to summarize four recurring pathway sets across sex/APOE groups.</a:t>
            </a:r>
          </a:p>
          <a:p>
            <a:r>
              <a:rPr lang="en-US" dirty="0"/>
              <a:t>Scientific boundary: The complete 149-pathway collection contains the 46 Level 1 and Level 2 pathways, so the two reported scopes overlap. At least one significant result means enrichment in at least one fine-cell, sex/APOE, and DEG direction list. It does not mean significance in every group or prove altered pathway activity.</a:t>
            </a:r>
          </a:p>
          <a:p>
            <a:r>
              <a:rPr lang="en-US" dirty="0"/>
              <a:t>Transition: Next, define the descriptive pathway-overlap percentage before reading the heatmap.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overlap formula, its worked example, and how descriptive overlap differs from a significant pathway result.</a:t>
            </a:r>
          </a:p>
          <a:p>
            <a:endParaRPr/>
          </a:p>
          <a:p>
            <a:r>
              <a:t>Walk through: This percentage summarizes one pathway within one sex/APOE group. The numerator is the number of unique pathway genes that were DEGs in at least one fine-cell comparison in that group. The denominator is the total number of genes in the pathway. Multiplying by 100 converts the ratio to a percentage. In the male epsilon-2 mitochondrial-translation example, 130 of the 155 pathway genes appeared as DEGs. Therefore, 130 divided by 155 times 100 equals 84 percent. This pooled overlap starts from the same pathway-gene and DEG membership used in enrichment analysis, but it combines fine cell types and does not perform a statistical test. A significant pathway result instead evaluates one fine-cell contrast against its detectable-gene background and must pass the adjusted P-value threshold.</a:t>
            </a:r>
          </a:p>
          <a:p>
            <a:endParaRPr/>
          </a:p>
          <a:p>
            <a:r>
              <a:t>Scientific boundary: Each gene counts once, regardless of how many fine cell types contain it. The percentage does not show the percentage of fine cell types, the direction of change, recurrence across cell types, or pathway enrichment.</a:t>
            </a:r>
          </a:p>
          <a:p>
            <a:endParaRPr/>
          </a:p>
          <a:p>
            <a:r>
              <a:t>Transition: Apply this overlap calculation to the four pathway sets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four pathway sets through the heatmap and show the breadth of their overlap with the fine-cell DEG results.</a:t>
            </a:r>
          </a:p>
          <a:p>
            <a:endParaRPr/>
          </a:p>
          <a:p>
            <a:r>
              <a:t>Walk through: The four rows summarize the 13 core MT genes, 86 nuclear-encoded structural OXPHOS genes, 155 mitochondrial-translation genes, and 19 inner-membrane-organization genes. For each sex/APOE group, a pathway gene is counted once if it was a DEG in at least one fine-cell comparison. The denominator is the fixed pathway size shown in the corresponding row label. Twelve of the 13 core MT genes appeared in every group. Male epsilon-2 had the broadest overlap in the other three pathways: 67 of 86 nuclear-encoded OXPHOS genes, 130 of 155 mitochondrial-translation genes, and 17 of 19 inner-membrane genes. Female epsilon-3 homozygous had narrower overlap in mitochondrial translation and inner-membrane organization.</a:t>
            </a:r>
          </a:p>
          <a:p>
            <a:endParaRPr/>
          </a:p>
          <a:p>
            <a:r>
              <a:t>Scientific boundary: This heatmap collapses across fine cell types and records presence, not direction, recurrence, effect size, or statistical enrichment. Groups with more overall DEGs will tend to overlap more pathway genes. Formal over-representation analysis instead uses the detectable-gene background within each comparison and controls the false-discovery rate.</a:t>
            </a:r>
          </a:p>
          <a:p>
            <a:endParaRPr/>
          </a:p>
          <a:p>
            <a:r>
              <a:t>Transition: Define how the OXPHOS direction percentage is calculated.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DEG occurrence and show how the upregulated OXPHOS occurrence percentage is calculated.</a:t>
            </a:r>
          </a:p>
          <a:p>
            <a:endParaRPr/>
          </a:p>
          <a:p>
            <a:r>
              <a:t>Walk through: Start with the red definition. One occurrence means that one pathway gene is a DEG in one fine-cell comparison. If the same gene is a DEG in another fine cell type, it contributes another occurrence. Calculate the percentage separately for each sex/APOE group and each OXPHOS gene set. Divide the upregulated occurrences by all upregulated plus downregulated occurrences, then multiply by 100. In the male epsilon-3 homozygous core MT genes example, 70 occurrences were upregulated and 11 were downregulated. Seventy divided by 81 equals 86 percent upregulated. A value of 50 percent means that upregulated and downregulated occurrences are equally common. Values above 50 percent favor upregulation, while values below 50 percent favor downregulation.</a:t>
            </a:r>
          </a:p>
          <a:p>
            <a:endParaRPr/>
          </a:p>
          <a:p>
            <a:r>
              <a:t>Scientific boundary: This occurrence-based summary gives more weight to genes that recur across fine-cell comparisons. It is not a fold change, a percentage of unique genes, cells, donors, or fine cell types, an enrichment result, or a measure of OXPHOS activity. Repeated occurrences are not independent biological replications.</a:t>
            </a:r>
          </a:p>
          <a:p>
            <a:endParaRPr/>
          </a:p>
          <a:p>
            <a:r>
              <a:t>Transition: Compare the upregulated occurrence percentage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OXPHOS DEG direction across sex/APOE groups and highlight the contrasting epsilon-3 homozygous patterns.</a:t>
            </a:r>
          </a:p>
          <a:p>
            <a:endParaRPr/>
          </a:p>
          <a:p>
            <a:r>
              <a:t>Walk through: OXPHOS, or oxidative phosphorylation, is the mitochondrial process that produces most cellular ATP. Blue bars summarize the 13 core MT genes, and orange bars summarize 86 nuclear-encoded OXPHOS genes. Every bar starts at the 50 percent line, where upregulated and downregulated occurrences are equally common. Bars extend upward when more than half of the occurrences are upregulated and downward when fewer than half are upregulated. The label at the end of each bar gives the actual upregulated percentage, while bar length shows its percentage-point distance from 50 percent. The key contrast is shown in the callout. In female epsilon-3 homozygous, both gene sets are predominantly upregulated: 100 percent for the core MT gene set and 85 percent for the nuclear-encoded OXPHOS gene set. In male epsilon-3 homozygous, the two sets diverge: 86 percent of core MT gene occurrences are upregulated, but only 12 percent of nuclear-encoded OXPHOS gene occurrences are upregulated, which means 88 percent are downregulated. The broader pattern is that female epsilon-2 is predominantly upregulated in both sets, female epsilon-4 and male epsilon-2 are predominantly downregulated in both, and male epsilon-4 shows a weaker version of the male epsilon-3 homozygous split.</a:t>
            </a:r>
          </a:p>
          <a:p>
            <a:endParaRPr/>
          </a:p>
          <a:p>
            <a:r>
              <a:t>Scientific boundary: The bars show the share of repeated gene-by-fine-cell DEG occurrences that are upregulated. The vertical displacement from 50 percent is a descriptive percentage-point difference, not an effect size. The chart does not show percent expression change, percent of cells or donors, percent of unique genes, pathway enrichment, OXPHOS activity, or a direct statistical interaction between disease, sex, and APOE.</a:t>
            </a:r>
          </a:p>
          <a:p>
            <a:endParaRPr/>
          </a:p>
          <a:p>
            <a:r>
              <a:t>Transition: Now move to Part 4, where mitochondrial DEGs become network-analysis queries.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key-driver-analysis section.</a:t>
            </a:r>
          </a:p>
          <a:p>
            <a:endParaRPr/>
          </a:p>
          <a:p>
            <a:r>
              <a:t>Walk through: Part 4 follows mitochondrial DEGs from one fine-cell contrast into one network query, makes KDA calls, and then aggregates genes returned from repeated fine-cell KDA calls within sex/APOE by broad-cell category using returned-only ACAT.</a:t>
            </a:r>
          </a:p>
          <a:p>
            <a:endParaRPr/>
          </a:p>
          <a:p>
            <a:r>
              <a:t>Scientific boundary: KDA nominates network-associated candidate regulators. It does not prove that a returned gene causally controls the mitochondrial pathway, and it does not pool sex/APOE groups.</a:t>
            </a:r>
          </a:p>
          <a:p>
            <a:endParaRPr/>
          </a:p>
          <a:p>
            <a:r>
              <a:t>Transition: Start with the four-step workflow from a fine-cell DEG contrast to a category-level KDA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contrast, MitoCarta MT query, KDA call, and category result.</a:t>
            </a:r>
          </a:p>
          <a:p>
            <a:endParaRPr/>
          </a:p>
          <a:p>
            <a:r>
              <a:t>Walk through: A contrast is one signed DEG result and contributes one MitoCarta MT DEG query. A mapped query of at least three genes becomes one KDA call. A category is one sex/APOE group crossed with one broad network; non-MitoCarta genes returned from eligible fine-cell KDA calls are aggregated within it.</a:t>
            </a:r>
          </a:p>
          <a:p>
            <a:endParaRPr/>
          </a:p>
          <a:p>
            <a:r>
              <a:t>Scientific boundary: A candidate driver can be a non-DEG network gene outside MitoCarta. Here, non-MitoCarta means that the returned gene is not one of the 1,136 MitoCarta MT genes; it may still influence mitochondrial biology.</a:t>
            </a:r>
          </a:p>
          <a:p>
            <a:endParaRPr/>
          </a:p>
          <a:p>
            <a:r>
              <a:t>Transition: Summarize the ROSMAP branch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ROSMAP as the primary discovery analysis before the detailed funnel.</a:t>
            </a:r>
          </a:p>
          <a:p>
            <a:endParaRPr/>
          </a:p>
          <a:p>
            <a:r>
              <a:t>Walk through: ROSMAP starts with 324 planned fine-cell contrasts. Those contrasts produce 194 executable KDA calls and 381 non-MitoCarta gene-by-category combinations, representing 228 distinct genes across 29 populated categories. Each contrast contributes its MitoCarta MT DEG query, and returned fine-cell evidence is then aggregated within the matching sex/APOE-by-broad-cell category.</a:t>
            </a:r>
          </a:p>
          <a:p>
            <a:endParaRPr/>
          </a:p>
          <a:p>
            <a:r>
              <a:t>Scientific boundary: Planned contrasts, executable KDA calls, and gene-by-category combinations are different units. The category results use returned-only ACAT, and the counts are descriptive rather than independent replication counts.</a:t>
            </a:r>
          </a:p>
          <a:p>
            <a:endParaRPr/>
          </a:p>
          <a:p>
            <a:r>
              <a:t>Transition: Follow the ROSMAP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324 contrasts become 194 KDA calls.</a:t>
            </a:r>
          </a:p>
          <a:p>
            <a:endParaRPr/>
          </a:p>
          <a:p>
            <a:r>
              <a:t>Walk through: Three source contrasts are invalid, 95 valid contrasts have an empty effective query, 32 retain one or two mapped genes, and 194 meet the three-gene floor.</a:t>
            </a:r>
          </a:p>
          <a:p>
            <a:endParaRPr/>
          </a:p>
          <a:p>
            <a:r>
              <a:t>Scientific boundary: Skipped contrasts have no KDA result and are not completed null tests.</a:t>
            </a:r>
          </a:p>
          <a:p>
            <a:endParaRPr/>
          </a:p>
          <a:p>
            <a:r>
              <a:t>Transition: Clarify the execution gate and the source contrasts that could not be fitted.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Clarify the three-gene execution floor and the three invalid source contrasts.</a:t>
            </a:r>
          </a:p>
          <a:p>
            <a:endParaRPr/>
          </a:p>
          <a:p>
            <a:r>
              <a:t>Walk through: All 194 KDA calls meeting the mapped-query floor were completed: 164 returned at least one gene and 30 returned none. The three concrete invalid MAST contrasts remain unavailable.</a:t>
            </a:r>
          </a:p>
          <a:p>
            <a:endParaRPr/>
          </a:p>
          <a:p>
            <a:r>
              <a:t>Scientific boundary: The minimum is an execution rule; small queries and low cell counts still require cautious interpretation.</a:t>
            </a:r>
          </a:p>
          <a:p>
            <a:endParaRPr/>
          </a:p>
          <a:p>
            <a:r>
              <a:t>Transition: Inspect how the MitoCarta MT query is constructed.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ROSMAP differential-expression results become mitochondrial network queries.</a:t>
            </a:r>
          </a:p>
          <a:p>
            <a:endParaRPr/>
          </a:p>
          <a:p>
            <a:r>
              <a:t>Walk through: Start with the DEG rule on the left. A tested gene-by-comparison row must be detected in at least 10 percent of AD or NCI nuclei, have a within-contrast Benjamini-Hochberg false-discovery rate below 0.05, and have an absolute log2 fold change above log2 of 1.3, approximately 0.379. Both AD-upregulated and AD-downregulated DEGs can enter the query. Across all contrasts, 2,864,117 gene-by-comparison rows were tested and 118,297 passed the DEG rule: 58,112 upregulated and 60,185 downregulated. Intersecting those rows with the 1,136-gene MitoCarta MT inventory yields 9,262 provisional MitoCarta MT query memberships, including 4,258 upregulated and 5,004 downregulated memberships. Network mapping removes 1,329 memberships whose genes are absent from the corresponding Bayesian network, leaving 7,933 mapped query memberships. Each contrast contributes its own query.</a:t>
            </a:r>
          </a:p>
          <a:p>
            <a:endParaRPr/>
          </a:p>
          <a:p>
            <a:r>
              <a:t>Scientific boundary: These totals count gene-by-comparison memberships, so the same gene can recur across contrasts. The 7,933 memberships do not form one pooled query, and they are not unique-gene or key-driver counts. RNA direction is defined relative to AD versus NCI.</a:t>
            </a:r>
          </a:p>
          <a:p>
            <a:endParaRPr/>
          </a:p>
          <a:p>
            <a:r>
              <a:t>Transition: Summarize the returned non-MitoCarta KDA results before examining rankings and recurrence.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scale and distribution of the ROSMAP output.</a:t>
            </a:r>
          </a:p>
          <a:p>
            <a:endParaRPr/>
          </a:p>
          <a:p>
            <a:r>
              <a:t>Walk through: The 623 retained non-MitoCarta returned rows form 381 gene-by-category units representing 228 genes across 29 categories. The lower panels show their group, network, and recurrence distributions.</a:t>
            </a:r>
          </a:p>
          <a:p>
            <a:endParaRPr/>
          </a:p>
          <a:p>
            <a:r>
              <a:t>Scientific boundary: Counts condition on significant within each KDA call returns and unequal KDA call opportunities.</a:t>
            </a:r>
          </a:p>
          <a:p>
            <a:endParaRPr/>
          </a:p>
          <a:p>
            <a:r>
              <a:t>Transition: Start with the most recurrent ROSMAP drivers.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returned-only recurrence across ROSMAP sex/APOE-by-broad-cell categories.</a:t>
            </a:r>
          </a:p>
          <a:p>
            <a:endParaRPr/>
          </a:p>
          <a:p>
            <a:r>
              <a:t>Walk through: Each bar counts the number of sex/APOE-by-broad-cell categories in which a non-MitoCarta key driver was returned. A gene counts once in a category even if it was returned by more than one fine-cell KDA call within that category. RPS15 leads with 11 categories, spanning all six sex/APOE groups and four broad-cell Bayesian networks. RPL11 follows with 10 categories, also spanning all six groups and four networks. The remaining genes occur in fewer categories.</a:t>
            </a:r>
          </a:p>
          <a:p>
            <a:endParaRPr/>
          </a:p>
          <a:p>
            <a:r>
              <a:t>Scientific boundary: Returned-only recurrence is descriptive. A KDA KDA call in which a gene was not returned does not contribute an absence or a P value of one. Categories are related summaries rather than independent biological replications, and recurrence does not establish causal regulation.</a:t>
            </a:r>
          </a:p>
          <a:p>
            <a:endParaRPr/>
          </a:p>
          <a:p>
            <a:r>
              <a:t>Transition: Then inspect the ranked top-five display across the 29 populated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top-five results.</a:t>
            </a:r>
          </a:p>
          <a:p>
            <a:endParaRPr/>
          </a:p>
          <a:p>
            <a:r>
              <a:t>Walk through: The figure displays up to five non-MitoCarta drivers in each of 29 populated categories, for 123 displayed entries. For rows containing more than five drivers, n reports the total number of distinct non-MitoCarta driver genes in that category. For a gene returned from one KDA call, the ranking score is the BH-adjusted KDA P value from that KDA call. For a gene returned from at least two KDA calls, the score is the equal-weight ACAT combination of the returned adjusted P values. Lower scores rank more strongly; ties are resolved alphabetically. Female and male rows are aligned by broad cell type and APOE group, with blank counterpart rows where only one sex has returns. Microglia is placed last because no female Microglia category has genes returned from KDA calls. Each broad-cell color is held constant across panels.</a:t>
            </a:r>
          </a:p>
          <a:p>
            <a:endParaRPr/>
          </a:p>
          <a:p>
            <a:r>
              <a:t>Scientific boundary: Top five is a display cap, and returned-only scores are exploratory without final across-gene FDR control.</a:t>
            </a:r>
          </a:p>
          <a:p>
            <a:endParaRPr/>
          </a:p>
          <a:p>
            <a:r>
              <a:t>Transition: Next, view recurrence within each broad cell class, beginning with excitatory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excitatory-neuron key drivers recur across the six sex/APOE categories.</a:t>
            </a:r>
          </a:p>
          <a:p>
            <a:endParaRPr/>
          </a:p>
          <a:p>
            <a:r>
              <a:t>Walk through: Rows are the three female groups followed by the three male groups. Columns contain all 84 distinct non-MitoCarta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excitatory-neuron pattern with inhibitory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inhibitory-neuron key drivers recur across the six sex/APOE categories.</a:t>
            </a:r>
          </a:p>
          <a:p>
            <a:endParaRPr/>
          </a:p>
          <a:p>
            <a:r>
              <a:t>Walk through: Rows are the three female groups followed by the three male groups. Columns contain all 110 distinct non-MitoCarta key-driver genes observed in the inhibitory-neuron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inhibitory-neuron pattern with astrocytes.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astrocyte key drivers recur across the six sex/APOE categories.</a:t>
            </a:r>
          </a:p>
          <a:p>
            <a:endParaRPr/>
          </a:p>
          <a:p>
            <a:r>
              <a:t>Walk through: Rows are the three female groups followed by the three male groups. Columns contain all 21 distinct non-MitoCarta key-driver genes observed in the astrocyte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astrocyte pattern with OPCs.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OPC key drivers recur across the six sex/APOE categories.</a:t>
            </a:r>
          </a:p>
          <a:p>
            <a:endParaRPr/>
          </a:p>
          <a:p>
            <a:r>
              <a:t>Walk through: Rows are the three female groups followed by the three male groups. Columns contain all 18 distinct non-MitoCarta key-driver genes observed in the OPC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SEA-AD validation branch.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SEA-AD-specific-network analysis.</a:t>
            </a:r>
          </a:p>
          <a:p>
            <a:endParaRPr/>
          </a:p>
          <a:p>
            <a:r>
              <a:t>Walk through: The section moves from 774 supertype-by-stratum contrasts to 22 executable KDA calls, then shows top-five, recurrence, and aggregate summaries.</a:t>
            </a:r>
          </a:p>
          <a:p>
            <a:endParaRPr/>
          </a:p>
          <a:p>
            <a:r>
              <a:t>Scientific boundary: The active KDA calls are strongly concentrated in M_e33.</a:t>
            </a:r>
          </a:p>
          <a:p>
            <a:endParaRPr/>
          </a:p>
          <a:p>
            <a:r>
              <a:t>Transition: Summarize SEA-AD coverage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SEA-AD as supplemental human validation before the detailed funnel.</a:t>
            </a:r>
          </a:p>
          <a:p>
            <a:endParaRPr/>
          </a:p>
          <a:p>
            <a:r>
              <a:t>Walk through: SEA-AD starts with 774 planned supertype-level contrasts. Only 22 meet the source-validity and three-gene query requirements for KDA. These KDA calls return 44 non-MitoCarta gene-by-category combinations, representing 43 distinct genes across five populated categories. The analysis uses SEA-AD-specific networks rather than reusing ROSMAP networks.</a:t>
            </a:r>
          </a:p>
          <a:p>
            <a:endParaRPr/>
          </a:p>
          <a:p>
            <a:r>
              <a:t>Scientific boundary: Coverage is sparse and unbalanced: 20 of the 22 KDA calls are in the male epsilon-3 homozygous group. An unavailable category is not a negative validation result, and cohort differences in networks, phenotype, and query coverage limit direct one-to-one comparison.</a:t>
            </a:r>
          </a:p>
          <a:p>
            <a:endParaRPr/>
          </a:p>
          <a:p>
            <a:r>
              <a:t>Transition: Follow the SEA-AD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774 SEA-AD contrasts reduce to 22 executable KDA calls.</a:t>
            </a:r>
          </a:p>
          <a:p>
            <a:endParaRPr/>
          </a:p>
          <a:p>
            <a:r>
              <a:t>Walk through: There are 393 non-estimable source contrasts, 348 estimable contrasts with an empty FDR-only query, 11 with one or two mapped genes, and 22 meeting the three-gene floor.</a:t>
            </a:r>
          </a:p>
          <a:p>
            <a:endParaRPr/>
          </a:p>
          <a:p>
            <a:r>
              <a:t>Scientific boundary: A skipped contrast is unavailable and is not a negative validation result.</a:t>
            </a:r>
          </a:p>
          <a:p>
            <a:endParaRPr/>
          </a:p>
          <a:p>
            <a:r>
              <a:t>Transition: Summarize the returned non-MitoCarta SEA-AD output.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SEA-AD output.</a:t>
            </a:r>
          </a:p>
          <a:p>
            <a:endParaRPr/>
          </a:p>
          <a:p>
            <a:r>
              <a:t>Walk through: The 54 retained rows form 44 category units representing 43 genes across five categories. Thirty-nine units and 20 of 22 active KDA calls are M_e33.</a:t>
            </a:r>
          </a:p>
          <a:p>
            <a:endParaRPr/>
          </a:p>
          <a:p>
            <a:r>
              <a:t>Scientific boundary: Returned-only scores remain exploratory and are not final-FDR controlled across genes.</a:t>
            </a:r>
          </a:p>
          <a:p>
            <a:endParaRPr/>
          </a:p>
          <a:p>
            <a:r>
              <a:t>Transition: Then examine recurrence across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leading SEA-AD non-MitoCarta candidates.</a:t>
            </a:r>
          </a:p>
          <a:p>
            <a:endParaRPr/>
          </a:p>
          <a:p>
            <a:r>
              <a:t>Walk through: Seventeen entries appear across F_e33 excitatory, F_e4 astrocyte, and three M_e33 categories. As on the ROSMAP display, rows are aligned across female and male panels, colors identify broad cell types consistently, and n gives the total non-MitoCarta driver count when a category contains more than five genes. Within each category, one returned KDA call passes through its within each KDA call adjusted KDA P value, while at least two returned KDA calls are combined by ACAT; lower scores rank more strongly.</a:t>
            </a:r>
          </a:p>
          <a:p>
            <a:endParaRPr/>
          </a:p>
          <a:p>
            <a:r>
              <a:t>Scientific boundary: Top five is a display cap and the five populated categories expose strong availability imbalance.</a:t>
            </a:r>
          </a:p>
          <a:p>
            <a:endParaRPr/>
          </a:p>
          <a:p>
            <a:r>
              <a:t>Transition: Finish the SEA-AD branch with excitatory-neuron recurrence across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goal: Show whether SEA-AD excitatory-neuron genes returned from KDA calls recur across the six sex/APOE categories.</a:t>
            </a:r>
          </a:p>
          <a:p>
            <a:r>
              <a:rPr lang="en-US" dirty="0"/>
              <a:t>Walk through: Rows are the three female groups followed by the three male groups. Columns contain all 27 distinct non-MitoCarta genes returned from KDA calls in the excitatory-neuron broad cell type. A colored tile means that the gene appears in that category. Its color gives the total number of categories containing that gene. No gene appears in more than one sex/APOE category.</a:t>
            </a:r>
          </a:p>
          <a:p>
            <a:r>
              <a:rPr lang="en-US" dirty="0"/>
              <a:t>Scientific boundary: Category recurrence is a descriptive summary of returned KDA results. It is not an effect size, an independent replication count, or a sex-by-APOE interaction test.</a:t>
            </a:r>
          </a:p>
          <a:p>
            <a:r>
              <a:rPr lang="en-US" dirty="0"/>
              <a:t>Transition: Move to Part 6, which tests selected findings at direct broad-cell resolution.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purpose and methods of direct broad-cell validation.</a:t>
            </a:r>
          </a:p>
          <a:p>
            <a:endParaRPr/>
          </a:p>
          <a:p>
            <a:r>
              <a:t>Walk through: Part 6 checks selected pathway findings at direct broad-cell resolution. It first distinguishes this analysis from the primary fine-cell workflow. It then explains how donor-level broad-cell expression profiles are compared, how genes are ranked, and how weighted gene set enrichment analysis produces the enrichment score and the normalized enrichment score. These definitions prepare the audience to interpret direct broad-cell results in later findings.</a:t>
            </a:r>
          </a:p>
          <a:p>
            <a:endParaRPr/>
          </a:p>
          <a:p>
            <a:r>
              <a:t>Scientific boundary: Direct broad-cell analysis provides supporting evidence. Combining fine cell types can hide a result confined to one fine cell type or can make the result sensitive to differences in fine-cell composition.</a:t>
            </a:r>
          </a:p>
          <a:p>
            <a:endParaRPr/>
          </a:p>
          <a:p>
            <a:r>
              <a:t>Transition: Compare the fine-cell and direct broad-cell workflows side by side.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two workflows without implying that donor-level aggregation is unique to direct broad-cell analysis.</a:t>
            </a:r>
          </a:p>
          <a:p>
            <a:endParaRPr/>
          </a:p>
          <a:p>
            <a:r>
              <a:t>Walk through: Fine-cell analysis produces one donor-level expression profile for each fine cell type. It tests each fine cell type separately and summarizes the resulting evidence by broad cell class afterward. Direct broad-cell analysis instead combines the contributing fine cell types within each donor to create one profile for the entire broad cell class before differential-expression testing. Both workflows compare donors. They differ in the cell-type resolution retained before the comparison.</a:t>
            </a:r>
          </a:p>
          <a:p>
            <a:endParaRPr/>
          </a:p>
          <a:p>
            <a:r>
              <a:t>Scientific boundary: Agreement supports a result across two resolutions. Disagreement can reflect fine-cell composition or opposing effects among fine cell types and does not by itself invalidate the fine-cell result.</a:t>
            </a:r>
          </a:p>
          <a:p>
            <a:endParaRPr/>
          </a:p>
          <a:p>
            <a:r>
              <a:t>Transition: Follow the direct broad-cell pathway workflow from donor-level expression profiles to pathway testing.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four stages of direct broad-cell pathway validation.</a:t>
            </a:r>
          </a:p>
          <a:p>
            <a:endParaRPr/>
          </a:p>
          <a:p>
            <a:r>
              <a:t>Walk through: First, the analysis combines cells from one broad cell class within each donor. Second, it compares AD with NCI separately within each sex/APOE group and broad cell class. Third, it orders all tested MitoCarta MT genes from stronger AD-up evidence to stronger AD-down evidence. Fourth, ranked-gene pathway analysis calculates an enrichment score and then a normalized enrichment score, or NES, to summarize whether pathway genes concentrate toward the AD-up or AD-down end of the ranking.</a:t>
            </a:r>
          </a:p>
          <a:p>
            <a:endParaRPr/>
          </a:p>
          <a:p>
            <a:r>
              <a:t>Scientific boundary: This workflow ranks every tested MitoCarta MT gene rather than filtering to DEGs first. The fine-cell pathway analysis uses a different method based on overlap between a thresholded DEG list and a pathway.</a:t>
            </a:r>
          </a:p>
          <a:p>
            <a:endParaRPr/>
          </a:p>
          <a:p>
            <a:r>
              <a:t>Transition: The next slide defines the signed score used to rank the tested MitoCarta MT genes.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rank score used to order all tested MitoCarta MT genes for direct broad-cell GSEA.</a:t>
            </a:r>
          </a:p>
          <a:p>
            <a:endParaRPr/>
          </a:p>
          <a:p>
            <a:r>
              <a:t>Walk through: The analysis calculates the sign of the log fold change multiplied by the square root of the edgeR quasi-likelihood F statistic for every tested MitoCarta MT gene. The log fold change compares AD with NCI. Its sign gives direction: a positive score is AD-up and a negative score is AD-down. The F statistic supplies the score magnitude and reflects the strength of evidence for an AD-versus-NCI difference after accounting for variability. For this one-degree-of-freedom contrast, the square root of F gives a t-like scale and preserves the ordering based on F. The analysis ranks genes from the largest positive score to the most negative score. Log fold change alone is less suitable because it describes the estimated effect size without incorporating its uncertainty. A low-expression gene or a gene with high donor-to-donor variability can therefore have a large but unstable log fold change. In the illustrative example, Gene A has logFC plus 2.0 and F 0.25, so its rank score is plus 0.5. Gene B has logFC plus 0.5 and F 16, so its rank score is plus 4.0. Gene B ranks higher because the evidence for its change is stronger.</a:t>
            </a:r>
          </a:p>
          <a:p>
            <a:endParaRPr/>
          </a:p>
          <a:p>
            <a:r>
              <a:t>Scientific boundary: This is the study's ranking rule for targeted MitoCarta preranked GSEA. It ranks every tested MitoCarta MT gene and does not first filter to DEGs. GSEA does not require one universal ranking statistic. The two example genes are illustrative and are not observed study results.</a:t>
            </a:r>
          </a:p>
          <a:p>
            <a:endParaRPr/>
          </a:p>
          <a:p>
            <a:r>
              <a:t>Sources: scripts/11_run_broad_deg_pathway_analysis.R computes rank_score = sign(logFC) multiplied by the square root of F; scripts/08_run_broad_pseudobulk_de.R produces logFC and F with edgeR glmQLFTest.</a:t>
            </a:r>
          </a:p>
          <a:p>
            <a:endParaRPr/>
          </a:p>
          <a:p>
            <a:r>
              <a:t>Transition: The next slide explains what the standard weighted GSEA enrichment score means.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what the standard weighted GSEA enrichment score means for one pathway.</a:t>
            </a:r>
          </a:p>
          <a:p>
            <a:endParaRPr/>
          </a:p>
          <a:p>
            <a:r>
              <a:t>Walk through: GSEA starts at the AD-up end of the ranked MitoCarta MT gene list and moves toward the AD-down end. When it encounters a gene from the pathway, the running score increases. Pathway genes with stronger absolute rank scores have more influence because this analysis uses standard weighted GSEA. Other tested genes decrease the running score evenly. The enrichment score, abbreviated ES, is the most extreme point reached by that running score. A large positive ES means pathway genes cluster near the AD-up end. An ES near zero means the pathway genes are dispersed through the ranked list. A large negative ES means pathway genes cluster near the AD-down end.</a:t>
            </a:r>
          </a:p>
          <a:p>
            <a:endParaRPr/>
          </a:p>
          <a:p>
            <a:r>
              <a:t>Scientific boundary: The ES sign gives direction, and distance from zero describes concentration within that ranked list. The raw ES is not a fold change and does not by itself establish statistical significance. Its magnitude also depends on pathway size and the rank-score distribution, so the normalized enrichment score supports comparisons among pathways.</a:t>
            </a:r>
          </a:p>
          <a:p>
            <a:endParaRPr/>
          </a:p>
          <a:p>
            <a:r>
              <a:t>Method: The analysis uses fgseaMultilevel with scoreType set to std and gseaParam set to 1, the standard weighted GSEA enrichment score.</a:t>
            </a:r>
          </a:p>
          <a:p>
            <a:endParaRPr/>
          </a:p>
          <a:p>
            <a:r>
              <a:t>Sources: Subramanian et al., PNAS 2005, doi:10.1073/pnas.0506580102; Bioconductor fgsea documentation; scripts/lib/phase11_deg_pathway_common.R; config/phase11_pathway_deg_broad.yml.</a:t>
            </a:r>
          </a:p>
          <a:p>
            <a:endParaRPr/>
          </a:p>
          <a:p>
            <a:r>
              <a:t>Transition: The next slide explains how NES rescales the raw 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raw enrichment score from the normalized enrichment score.</a:t>
            </a:r>
          </a:p>
          <a:p>
            <a:endParaRPr/>
          </a:p>
          <a:p>
            <a:r>
              <a:t>Walk through: ES describes where one pathway's genes concentrate in the ranked list. Its sign gives the AD-up or AD-down direction, but its raw magnitude depends partly on pathway size and the distribution of rank scores. To calculate NES, the analysis compares the observed ES with ES values from random gene sets containing the same number of genes. Positive observed ES values are normalized against positive random ES values, and negative observed ES values are normalized against negative random ES values. NES therefore preserves the ES direction while making enrichment strength more comparable across pathways.</a:t>
            </a:r>
          </a:p>
          <a:p>
            <a:endParaRPr/>
          </a:p>
          <a:p>
            <a:r>
              <a:t>Scientific boundary: NES is a normalized pathway-ranking score. It is not a fold change, DEG count, or percentage. NES alone does not establish statistical significance. The adjusted P value determines whether the pathway result is significant after multiple-testing correction. Comparisons across separate cohorts or ranking procedures still require caution.</a:t>
            </a:r>
          </a:p>
          <a:p>
            <a:endParaRPr/>
          </a:p>
          <a:p>
            <a:r>
              <a:t>Sources: Bioconductor fgsea documentation; scripts/lib/phase11_deg_pathway_common.R.</a:t>
            </a:r>
          </a:p>
          <a:p>
            <a:endParaRPr/>
          </a:p>
          <a:p>
            <a:r>
              <a:t>Transition: Part 7 examines how selected analysis thresholds affect the KDA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section presents the remaining findings and explains how much weight to give each type of evidence.</a:t>
            </a:r>
          </a:p>
          <a:p>
            <a:endParaRPr/>
          </a:p>
          <a:p>
            <a:r>
              <a:t>The next five slides provide a map before the detailed findings begin. Findings 1–6 summarize DEG and pathway results. Findings 7–16 and 18 summarize genes returned from KDA calls.</a:t>
            </a:r>
          </a:p>
          <a:p>
            <a:endParaRPr/>
          </a:p>
          <a:p>
            <a:r>
              <a:t>Keep the evidence levels separate. DEG and pathway results describe gene-expression patterns, while KDA calls nominate network candidates. Human validation remains supporting evidence within the relevant findings rather than a separate finding. None of these analyses alone establishes causality or mitochondrial function.</a:t>
            </a:r>
          </a:p>
          <a:p>
            <a:endParaRPr/>
          </a:p>
          <a:p>
            <a:r>
              <a:t>Next, review how the remaining findings are organized.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remaining findings fall into two categories.</a:t>
            </a:r>
          </a:p>
          <a:p>
            <a:endParaRPr/>
          </a:p>
          <a:p>
            <a:r>
              <a:t>Findings 1–6 are the primary DEG and pathway results. They ask how mitochondrial genes and pathways change within each analyzed sex/APOE group before making KDA calls.</a:t>
            </a:r>
          </a:p>
          <a:p>
            <a:endParaRPr/>
          </a:p>
          <a:p>
            <a:r>
              <a:t>Findings 7–16 and 18 come from KDA calls made with MitoCarta MT DEGs. These calls return candidate genes that may help explain the mitochondrial changes. KDA does not show that a candidate gene causes or drives the change. That remains a hypothesis for follow-up.</a:t>
            </a:r>
          </a:p>
          <a:p>
            <a:endParaRPr/>
          </a:p>
          <a:p>
            <a:r>
              <a:t>Fifteen findings are linked to one or more analyzed sex/APOE groups. Findings 7 and 10 recur across all six groups and therefore do not distinguish a particular group. They receive lower priority in this sex/APOE-focused presentation.</a:t>
            </a:r>
          </a:p>
          <a:p>
            <a:endParaRPr/>
          </a:p>
          <a:p>
            <a:r>
              <a:t>A result found in selected groups does not by itself prove a statistical sex or APOE interaction.</a:t>
            </a:r>
          </a:p>
          <a:p>
            <a:endParaRPr/>
          </a:p>
          <a:p>
            <a:r>
              <a:t>Source: docs/analysis/kda_w_human_validation/rosmap_sex_apoe_broad_kda_analysis.md, Findings 1–16 and 18.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Findings 1–6 summarize DEG and pathway results. KDA calls are not involved in these findings.</a:t>
            </a:r>
          </a:p>
          <a:p>
            <a:endParaRPr/>
          </a:p>
          <a:p>
            <a:r>
              <a:t>Female ε3/ε3 shows increased core MT genes, and nuclear-encoded OXPHOS genes also mostly increase in ROSMAP. Male ε3/ε3 shows a mismatch: core MT genes increase while nuclear-encoded OXPHOS genes decrease. Female ε2 shows increases in both sets. Female ε4 shows a strong decrease in nuclear-encoded OXPHOS genes.</a:t>
            </a:r>
          </a:p>
          <a:p>
            <a:endParaRPr/>
          </a:p>
          <a:p>
            <a:r>
              <a:t>For male ε2, the two OXPHOS sets are the 13 core MT genes and the nuclear-encoded OXPHOS genes. Both sets show broad decreases. Male ε4 shows increased core MT genes with a more modest decrease in nuclear-encoded OXPHOS genes.</a:t>
            </a:r>
          </a:p>
          <a:p>
            <a:endParaRPr/>
          </a:p>
          <a:p>
            <a:r>
              <a:t>These patterns summarize DEG occurrences and pathway direction across fine cell types. They do not establish ATP production, mitochondrial performance, or a formal interaction between groups.</a:t>
            </a:r>
          </a:p>
          <a:p>
            <a:endParaRPr/>
          </a:p>
          <a:p>
            <a:r>
              <a:t>Novelty is provisional. It describes how much the specific result adds beyond prior research and is separate from evidence strength. Ratings: Findings 1, 4, and 6 are Moderate; Findings 2, 3, and 5 are High.</a:t>
            </a:r>
          </a:p>
          <a:p>
            <a:endParaRPr/>
          </a:p>
          <a:p>
            <a:r>
              <a:t>Source: docs/analysis/kda_w_human_validation/rosmap_sex_apoe_broad_kda_analysis.md, Findings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summarizes recurring genes returned from KDA calls in selected sex/APOE groups.</a:t>
            </a:r>
          </a:p>
          <a:p>
            <a:endParaRPr/>
          </a:p>
          <a:p>
            <a:r>
              <a:t>LAMTOR5 connects genes that sense nutrients at lysosomes, the cell’s recycling compartments, with OXPHOS genes. WDR82 is connected to a small set of core MT genes that are upregulated in AD in excitatory neurons.</a:t>
            </a:r>
          </a:p>
          <a:p>
            <a:endParaRPr/>
          </a:p>
          <a:p>
            <a:r>
              <a:t>SELENOW helps control oxidative stress. Its network connections include genes involved in mitochondrial respiration and protein production, as well as removal of damaged mitochondrial proteins.</a:t>
            </a:r>
          </a:p>
          <a:p>
            <a:endParaRPr/>
          </a:p>
          <a:p>
            <a:r>
              <a:t>PGK1 connects astrocyte glycolysis and low-oxygen signaling with genes involved in removing damaged mitochondria. FTL and ANKRD11 connect iron handling in oligodendrocyte precursor cells with protection from oxidative damage and recycling of damaged cell components.</a:t>
            </a:r>
          </a:p>
          <a:p>
            <a:endParaRPr/>
          </a:p>
          <a:p>
            <a:r>
              <a:t>Genes returned from KDA calls are candidates. Network connections do not prove that one gene regulates another or causes the AD-related change.</a:t>
            </a:r>
          </a:p>
          <a:p>
            <a:endParaRPr/>
          </a:p>
          <a:p>
            <a:r>
              <a:t>Novelty is provisional. It describes how much the specific result adds beyond prior research and is separate from evidence strength. Ratings: Findings 8, 9, and 13 are High; Findings 11 and 12 are Moderate.</a:t>
            </a:r>
          </a:p>
          <a:p>
            <a:endParaRPr/>
          </a:p>
          <a:p>
            <a:r>
              <a:t>Source: docs/analysis/kda_w_human_validation/rosmap_sex_apoe_broad_kda_analysis.md, Findings 8, 9, and 11–13.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genes remain useful, but each result depends on few genes, few KDA calls, or a pattern that changes across groups.</a:t>
            </a:r>
          </a:p>
          <a:p>
            <a:endParaRPr/>
          </a:p>
          <a:p>
            <a:r>
              <a:t>PLCG2 has strong Alzheimer’s disease genetic evidence, but only one MitoCarta MT gene, MT-CO1, was connected to it in the KDA result. Astrocyte APOE expression changes in opposite directions across groups, so the result is not specific to ε4.</a:t>
            </a:r>
          </a:p>
          <a:p>
            <a:endParaRPr/>
          </a:p>
          <a:p>
            <a:r>
              <a:t>A small group of genes that respond to protein damage and cellular stress appears in only two female ε4 vascular-cell KDA calls. INTS8 was returned from one male ε2 inhibitory-neuron KDA call. Human genetics supports follow-up, but INTS8 was not returned from additional KDA calls.</a:t>
            </a:r>
          </a:p>
          <a:p>
            <a:endParaRPr/>
          </a:p>
          <a:p>
            <a:r>
              <a:t>These findings remain secondary or targeted follow-up candidates. Gene-level genetic evidence does not confirm the cell type, sex/APOE context, or network connection.</a:t>
            </a:r>
          </a:p>
          <a:p>
            <a:endParaRPr/>
          </a:p>
          <a:p>
            <a:r>
              <a:t>Novelty is provisional. It describes how much the specific result adds beyond prior research and is separate from evidence strength. Ratings: Finding 14 is High; Findings 15, 16, and 18 are Moderate. Finding 14 remains a low-confidence network result despite its high novelty.</a:t>
            </a:r>
          </a:p>
          <a:p>
            <a:endParaRPr/>
          </a:p>
          <a:p>
            <a:r>
              <a:t>Source: docs/analysis/kda_w_human_validation/rosmap_sex_apoe_broad_kda_analysis.md, Findings 14–16 and 18.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BA105-4B24-46A8-AF1E-746362AECBED}"/>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9153A9A4-39A0-4527-BCC8-87E8B379E888}"/>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3130D54B-796E-481E-8C08-BA01FBA2FB2F}"/>
              </a:ext>
            </a:extLst>
          </p:cNvPr>
          <p:cNvSpPr>
            <a:spLocks noGrp="1"/>
          </p:cNvSpPr>
          <p:nvPr>
            <p:ph type="dt" idx="10"/>
          </p:nvPr>
        </p:nvSpPr>
        <p:spPr/>
        <p:txBody>
          <a:bodyPr/>
          <a:lstStyle/>
          <a:p>
            <a:fld id="{5BCAD085-E8A6-8845-BD4E-CB4CCA059FC4}" type="datetimeFigureOut">
              <a:t>9/23/26</a:t>
            </a:fld>
            <a:endParaRPr/>
          </a:p>
        </p:txBody>
      </p:sp>
      <p:sp>
        <p:nvSpPr>
          <p:cNvPr id="5" name="Footer Placeholder 4">
            <a:extLst>
              <a:ext uri="{FF2B5EF4-FFF2-40B4-BE49-F238E27FC236}">
                <a16:creationId xmlns:a16="http://schemas.microsoft.com/office/drawing/2014/main" id="{FC8D336F-2113-4BE9-B57A-0B488AA3103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72DB447C-5DD6-487E-8966-80A70E2A140F}"/>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45C28-A521-4016-A859-5CDF15707258}"/>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441D5F0D-3BEC-4F03-B479-F5491D273040}"/>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2B921A8A-5687-460F-8627-57019F2B3024}"/>
              </a:ext>
            </a:extLst>
          </p:cNvPr>
          <p:cNvSpPr>
            <a:spLocks noGrp="1"/>
          </p:cNvSpPr>
          <p:nvPr>
            <p:ph type="dt" idx="10"/>
          </p:nvPr>
        </p:nvSpPr>
        <p:spPr/>
        <p:txBody>
          <a:bodyPr/>
          <a:lstStyle/>
          <a:p>
            <a:fld id="{5BCAD085-E8A6-8845-BD4E-CB4CCA059FC4}" type="datetimeFigureOut">
              <a:t>9/23/26</a:t>
            </a:fld>
            <a:endParaRPr/>
          </a:p>
        </p:txBody>
      </p:sp>
      <p:sp>
        <p:nvSpPr>
          <p:cNvPr id="5" name="Footer Placeholder 4">
            <a:extLst>
              <a:ext uri="{FF2B5EF4-FFF2-40B4-BE49-F238E27FC236}">
                <a16:creationId xmlns:a16="http://schemas.microsoft.com/office/drawing/2014/main" id="{2A32EE1D-CDAC-4B84-9CDA-9E0A2E101C2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86D9969-7263-434E-85BA-616B70F0F695}"/>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E578C-327B-437D-9B83-9555D5872F7C}"/>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4D18478C-FB06-48F7-8BEF-170985AB4892}"/>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AAC0CE1F-9B2E-49D7-8D5C-16F25C9832C2}"/>
              </a:ext>
            </a:extLst>
          </p:cNvPr>
          <p:cNvSpPr>
            <a:spLocks noGrp="1"/>
          </p:cNvSpPr>
          <p:nvPr>
            <p:ph type="dt" idx="10"/>
          </p:nvPr>
        </p:nvSpPr>
        <p:spPr/>
        <p:txBody>
          <a:bodyPr/>
          <a:lstStyle/>
          <a:p>
            <a:fld id="{5BCAD085-E8A6-8845-BD4E-CB4CCA059FC4}" type="datetimeFigureOut">
              <a:t>9/23/26</a:t>
            </a:fld>
            <a:endParaRPr/>
          </a:p>
        </p:txBody>
      </p:sp>
      <p:sp>
        <p:nvSpPr>
          <p:cNvPr id="5" name="Footer Placeholder 4">
            <a:extLst>
              <a:ext uri="{FF2B5EF4-FFF2-40B4-BE49-F238E27FC236}">
                <a16:creationId xmlns:a16="http://schemas.microsoft.com/office/drawing/2014/main" id="{5769DEF4-BD2C-45AE-B50F-F80E3FEF57B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4ABBFF11-CE87-4491-8FE1-B34F6F5D608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E0FD6-7325-4BAE-B158-0AF28703D239}"/>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1B9E55E-5FBD-41FE-A156-FBD61AD2E58F}"/>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092D2BBA-9FF3-4D93-9F11-A7B7707A5CF6}"/>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4C434C50-7A6B-46C2-9F04-8456F2224419}"/>
              </a:ext>
            </a:extLst>
          </p:cNvPr>
          <p:cNvSpPr>
            <a:spLocks noGrp="1"/>
          </p:cNvSpPr>
          <p:nvPr>
            <p:ph type="dt" idx="10"/>
          </p:nvPr>
        </p:nvSpPr>
        <p:spPr/>
        <p:txBody>
          <a:bodyPr/>
          <a:lstStyle/>
          <a:p>
            <a:fld id="{5BCAD085-E8A6-8845-BD4E-CB4CCA059FC4}" type="datetimeFigureOut">
              <a:t>9/23/26</a:t>
            </a:fld>
            <a:endParaRPr/>
          </a:p>
        </p:txBody>
      </p:sp>
      <p:sp>
        <p:nvSpPr>
          <p:cNvPr id="6" name="Footer Placeholder 5">
            <a:extLst>
              <a:ext uri="{FF2B5EF4-FFF2-40B4-BE49-F238E27FC236}">
                <a16:creationId xmlns:a16="http://schemas.microsoft.com/office/drawing/2014/main" id="{4F378908-8C1E-449A-9A0C-21909ADDF7C0}"/>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55FEEC09-795E-489D-9504-3B44CB5AA4D0}"/>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81A13-D01A-4639-9441-9EC57E014091}"/>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96EF0EA9-550A-4D7F-858D-12C4362BC177}"/>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EACA97FA-5666-4E7B-AF25-82C69827DAD9}"/>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181B0157-C047-4AC4-B60B-AC374C2DC854}"/>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162A9E80-ABF2-4CB0-A883-8BAE7511051C}"/>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F5126AB6-169A-4049-B2B0-415A430E173C}"/>
              </a:ext>
            </a:extLst>
          </p:cNvPr>
          <p:cNvSpPr>
            <a:spLocks noGrp="1"/>
          </p:cNvSpPr>
          <p:nvPr>
            <p:ph type="dt" idx="10"/>
          </p:nvPr>
        </p:nvSpPr>
        <p:spPr/>
        <p:txBody>
          <a:bodyPr/>
          <a:lstStyle/>
          <a:p>
            <a:fld id="{5BCAD085-E8A6-8845-BD4E-CB4CCA059FC4}" type="datetimeFigureOut">
              <a:t>9/23/26</a:t>
            </a:fld>
            <a:endParaRPr/>
          </a:p>
        </p:txBody>
      </p:sp>
      <p:sp>
        <p:nvSpPr>
          <p:cNvPr id="8" name="Footer Placeholder 7">
            <a:extLst>
              <a:ext uri="{FF2B5EF4-FFF2-40B4-BE49-F238E27FC236}">
                <a16:creationId xmlns:a16="http://schemas.microsoft.com/office/drawing/2014/main" id="{F7AAF46D-1D70-4152-B3A5-0E25EA8A8C45}"/>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43AE2825-6870-4AFD-8C3D-17D9697BC43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E3350-79AD-454B-BB3B-E54504943299}"/>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8A11277A-119B-4C22-9FC5-1A4217BC4558}"/>
              </a:ext>
            </a:extLst>
          </p:cNvPr>
          <p:cNvSpPr>
            <a:spLocks noGrp="1"/>
          </p:cNvSpPr>
          <p:nvPr>
            <p:ph type="dt" idx="10"/>
          </p:nvPr>
        </p:nvSpPr>
        <p:spPr/>
        <p:txBody>
          <a:bodyPr/>
          <a:lstStyle/>
          <a:p>
            <a:fld id="{5BCAD085-E8A6-8845-BD4E-CB4CCA059FC4}" type="datetimeFigureOut">
              <a:t>9/23/26</a:t>
            </a:fld>
            <a:endParaRPr/>
          </a:p>
        </p:txBody>
      </p:sp>
      <p:sp>
        <p:nvSpPr>
          <p:cNvPr id="4" name="Footer Placeholder 3">
            <a:extLst>
              <a:ext uri="{FF2B5EF4-FFF2-40B4-BE49-F238E27FC236}">
                <a16:creationId xmlns:a16="http://schemas.microsoft.com/office/drawing/2014/main" id="{8F2E988A-0294-4518-9131-4707DAB2542D}"/>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FA7AD5DD-ABB5-44F6-B093-E1499C54A803}"/>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DCC284-4903-4405-85A0-D1A57B9D92F2}"/>
              </a:ext>
            </a:extLst>
          </p:cNvPr>
          <p:cNvSpPr>
            <a:spLocks noGrp="1"/>
          </p:cNvSpPr>
          <p:nvPr>
            <p:ph type="dt" idx="10"/>
          </p:nvPr>
        </p:nvSpPr>
        <p:spPr/>
        <p:txBody>
          <a:bodyPr/>
          <a:lstStyle/>
          <a:p>
            <a:fld id="{5BCAD085-E8A6-8845-BD4E-CB4CCA059FC4}" type="datetimeFigureOut">
              <a:t>9/23/26</a:t>
            </a:fld>
            <a:endParaRPr/>
          </a:p>
        </p:txBody>
      </p:sp>
      <p:sp>
        <p:nvSpPr>
          <p:cNvPr id="3" name="Footer Placeholder 2">
            <a:extLst>
              <a:ext uri="{FF2B5EF4-FFF2-40B4-BE49-F238E27FC236}">
                <a16:creationId xmlns:a16="http://schemas.microsoft.com/office/drawing/2014/main" id="{ED141682-5DE1-4CBF-9569-373FE0B9BAA9}"/>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25914B2A-D7F2-4159-8F69-309A5F773B1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EAE9D-CBCA-4A4B-B8D6-7AA34F8FC57F}"/>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B4DB1A8F-971E-4746-AF4B-BFD89C5FAE14}"/>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BB5F97F2-8320-44DF-AD44-ED692B695938}"/>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5F591FE0-785C-4A07-B472-DEA202AE0F37}"/>
              </a:ext>
            </a:extLst>
          </p:cNvPr>
          <p:cNvSpPr>
            <a:spLocks noGrp="1"/>
          </p:cNvSpPr>
          <p:nvPr>
            <p:ph type="dt" idx="10"/>
          </p:nvPr>
        </p:nvSpPr>
        <p:spPr/>
        <p:txBody>
          <a:bodyPr/>
          <a:lstStyle/>
          <a:p>
            <a:fld id="{5BCAD085-E8A6-8845-BD4E-CB4CCA059FC4}" type="datetimeFigureOut">
              <a:t>9/23/26</a:t>
            </a:fld>
            <a:endParaRPr/>
          </a:p>
        </p:txBody>
      </p:sp>
      <p:sp>
        <p:nvSpPr>
          <p:cNvPr id="6" name="Footer Placeholder 5">
            <a:extLst>
              <a:ext uri="{FF2B5EF4-FFF2-40B4-BE49-F238E27FC236}">
                <a16:creationId xmlns:a16="http://schemas.microsoft.com/office/drawing/2014/main" id="{58C68A51-38CA-43E0-8B25-5C296B6D7209}"/>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30C76129-082E-4010-995E-1A5CAB350128}"/>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2586B-36D9-4D69-B104-4DA42CD2CB4C}"/>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12F09145-3BCD-4CA1-BFED-E06BE6CDF968}"/>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B1E2E8AB-3FDA-4762-9EBF-75E6F952199C}"/>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A7630AB2-0EAA-400F-BBFF-70171F0B77C7}"/>
              </a:ext>
            </a:extLst>
          </p:cNvPr>
          <p:cNvSpPr>
            <a:spLocks noGrp="1"/>
          </p:cNvSpPr>
          <p:nvPr>
            <p:ph type="dt" idx="10"/>
          </p:nvPr>
        </p:nvSpPr>
        <p:spPr/>
        <p:txBody>
          <a:bodyPr/>
          <a:lstStyle/>
          <a:p>
            <a:fld id="{5BCAD085-E8A6-8845-BD4E-CB4CCA059FC4}" type="datetimeFigureOut">
              <a:t>9/23/26</a:t>
            </a:fld>
            <a:endParaRPr/>
          </a:p>
        </p:txBody>
      </p:sp>
      <p:sp>
        <p:nvSpPr>
          <p:cNvPr id="6" name="Footer Placeholder 5">
            <a:extLst>
              <a:ext uri="{FF2B5EF4-FFF2-40B4-BE49-F238E27FC236}">
                <a16:creationId xmlns:a16="http://schemas.microsoft.com/office/drawing/2014/main" id="{27B3CC1A-7049-40A0-8239-F3E24919630B}"/>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7240AA53-86D7-4E25-B6E1-D0C0AA006D9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EBF38-4BA8-4B01-8C99-0E769930C7CE}"/>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804F0F90-D54B-4EF4-8018-5AE775362E9C}"/>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D4096C5B-B3CD-48C2-8D22-17A9C72D9387}"/>
              </a:ext>
            </a:extLst>
          </p:cNvPr>
          <p:cNvSpPr>
            <a:spLocks noGrp="1"/>
          </p:cNvSpPr>
          <p:nvPr>
            <p:ph type="dt" idx="10"/>
          </p:nvPr>
        </p:nvSpPr>
        <p:spPr/>
        <p:txBody>
          <a:bodyPr/>
          <a:lstStyle/>
          <a:p>
            <a:fld id="{5BCAD085-E8A6-8845-BD4E-CB4CCA059FC4}" type="datetimeFigureOut">
              <a:t>9/23/26</a:t>
            </a:fld>
            <a:endParaRPr/>
          </a:p>
        </p:txBody>
      </p:sp>
      <p:sp>
        <p:nvSpPr>
          <p:cNvPr id="5" name="Footer Placeholder 4">
            <a:extLst>
              <a:ext uri="{FF2B5EF4-FFF2-40B4-BE49-F238E27FC236}">
                <a16:creationId xmlns:a16="http://schemas.microsoft.com/office/drawing/2014/main" id="{F4C35787-6E7C-40C7-BA5E-00B865B70B6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E8490C8-CEB3-4CE2-A455-02DB2222343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24AAC7-17EB-4F15-841B-6603F68C7477}"/>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4A072281-7E51-431F-BA06-B1F8B94C45C3}"/>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0FBBD04-DEBB-4D2A-B110-D09DD3DFBA6A}"/>
              </a:ext>
            </a:extLst>
          </p:cNvPr>
          <p:cNvSpPr>
            <a:spLocks noGrp="1"/>
          </p:cNvSpPr>
          <p:nvPr>
            <p:ph type="dt" idx="10"/>
          </p:nvPr>
        </p:nvSpPr>
        <p:spPr/>
        <p:txBody>
          <a:bodyPr/>
          <a:lstStyle/>
          <a:p>
            <a:fld id="{5BCAD085-E8A6-8845-BD4E-CB4CCA059FC4}" type="datetimeFigureOut">
              <a:t>9/23/26</a:t>
            </a:fld>
            <a:endParaRPr/>
          </a:p>
        </p:txBody>
      </p:sp>
      <p:sp>
        <p:nvSpPr>
          <p:cNvPr id="5" name="Footer Placeholder 4">
            <a:extLst>
              <a:ext uri="{FF2B5EF4-FFF2-40B4-BE49-F238E27FC236}">
                <a16:creationId xmlns:a16="http://schemas.microsoft.com/office/drawing/2014/main" id="{B1EAC1E3-8832-4FA1-9E1C-6641B261795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B44CD56-F4C0-4208-A1CD-85495B3AF25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9895C2-58CF-4796-9A2F-60BFF31E6F0B}"/>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57DB0848-96C1-4747-94C1-8CC3A12832BA}"/>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FA3588A0-AE2B-40F4-AA6A-BFC9BE89514C}"/>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9/23/26</a:t>
            </a:fld>
            <a:endParaRPr/>
          </a:p>
        </p:txBody>
      </p:sp>
      <p:sp>
        <p:nvSpPr>
          <p:cNvPr id="5" name="Footer Placeholder 4">
            <a:extLst>
              <a:ext uri="{FF2B5EF4-FFF2-40B4-BE49-F238E27FC236}">
                <a16:creationId xmlns:a16="http://schemas.microsoft.com/office/drawing/2014/main" id="{EC6D0DB2-A037-4EF8-94A0-B6597B8D83CA}"/>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AD5E4468-25E1-4C9F-9E11-193DF27CB836}"/>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116230-CD20-4199-A460-95D3D4C64572}"/>
              </a:ext>
            </a:extLst>
          </p:cNvPr>
          <p:cNvSpPr>
            <a:spLocks noGrp="1"/>
          </p:cNvSpPr>
          <p:nvPr/>
        </p:nvSpPr>
        <p:spPr>
          <a:xfrm>
            <a:off x="713232" y="367974"/>
            <a:ext cx="10287000" cy="3564053"/>
          </a:xfrm>
          <a:prstGeom prst="rect">
            <a:avLst/>
          </a:prstGeom>
          <a:noFill/>
        </p:spPr>
        <p:txBody>
          <a:bodyPr wrap="square" lIns="27432" tIns="27432" rIns="27432" bIns="27432" anchor="ctr">
            <a:spAutoFit/>
          </a:bodyPr>
          <a:lstStyle/>
          <a:p>
            <a:r>
              <a:rPr sz="3400" b="1" dirty="0">
                <a:solidFill>
                  <a:srgbClr val="FFFFFF"/>
                </a:solidFill>
                <a:latin typeface="Arial"/>
                <a:ea typeface="Arial"/>
                <a:cs typeface="Arial"/>
              </a:rPr>
              <a:t>Sex- and APOE-Specific Mitochondrial Gene Expression and Network Analysis in Alzheimer’s Disease</a:t>
            </a:r>
            <a:endParaRPr lang="en-US" sz="3400" b="1" dirty="0">
              <a:solidFill>
                <a:srgbClr val="FFFFFF"/>
              </a:solidFill>
              <a:latin typeface="Arial"/>
              <a:ea typeface="Arial"/>
              <a:cs typeface="Arial"/>
            </a:endParaRPr>
          </a:p>
          <a:p>
            <a:endParaRPr sz="3400" b="1" dirty="0">
              <a:solidFill>
                <a:srgbClr val="FFFFFF"/>
              </a:solidFill>
              <a:latin typeface="Arial"/>
              <a:ea typeface="Arial"/>
              <a:cs typeface="Arial"/>
            </a:endParaRPr>
          </a:p>
          <a:p>
            <a:r>
              <a:rPr sz="2000" dirty="0">
                <a:solidFill>
                  <a:srgbClr val="FFFFFF"/>
                </a:solidFill>
                <a:latin typeface="Arial"/>
                <a:ea typeface="Arial"/>
                <a:cs typeface="Arial"/>
              </a:rPr>
              <a:t>Cell-</a:t>
            </a:r>
            <a:r>
              <a:rPr lang="en-US" sz="2000" dirty="0">
                <a:solidFill>
                  <a:srgbClr val="FFFFFF"/>
                </a:solidFill>
                <a:latin typeface="Arial"/>
                <a:ea typeface="Arial"/>
                <a:cs typeface="Arial"/>
              </a:rPr>
              <a:t>level</a:t>
            </a:r>
            <a:r>
              <a:rPr sz="2000" dirty="0">
                <a:solidFill>
                  <a:srgbClr val="FFFFFF"/>
                </a:solidFill>
                <a:latin typeface="Arial"/>
                <a:ea typeface="Arial"/>
                <a:cs typeface="Arial"/>
              </a:rPr>
              <a:t> differential-expression, pathway, and key driver analyses with cross-cohort human validation</a:t>
            </a:r>
            <a:endParaRPr lang="en-US" sz="2000" dirty="0">
              <a:solidFill>
                <a:srgbClr val="FFFFFF"/>
              </a:solidFill>
              <a:latin typeface="Arial"/>
              <a:ea typeface="Arial"/>
              <a:cs typeface="Arial"/>
            </a:endParaRPr>
          </a:p>
          <a:p>
            <a:endParaRPr sz="2000" dirty="0">
              <a:solidFill>
                <a:srgbClr val="FFFFFF"/>
              </a:solidFill>
              <a:latin typeface="Arial"/>
              <a:ea typeface="Arial"/>
              <a:cs typeface="Arial"/>
            </a:endParaRPr>
          </a:p>
          <a:p>
            <a:endParaRPr sz="1200" dirty="0">
              <a:solidFill>
                <a:srgbClr val="FFFFFF"/>
              </a:solidFill>
              <a:latin typeface="Arial"/>
              <a:ea typeface="Arial"/>
              <a:cs typeface="Arial"/>
            </a:endParaRPr>
          </a:p>
          <a:p>
            <a:r>
              <a:rPr sz="2000" b="1" dirty="0">
                <a:solidFill>
                  <a:srgbClr val="FFFFFF"/>
                </a:solidFill>
                <a:latin typeface="Arial"/>
                <a:ea typeface="Arial"/>
                <a:cs typeface="Arial"/>
              </a:rPr>
              <a:t>--Eric Zhuang</a:t>
            </a:r>
          </a:p>
        </p:txBody>
      </p:sp>
    </p:spTree>
    <p:extLst>
      <p:ext uri="{BB962C8B-B14F-4D97-AF65-F5344CB8AC3E}">
        <p14:creationId xmlns:p14="http://schemas.microsoft.com/office/powerpoint/2010/main" val="206127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1263F"/>
        </a:solidFill>
        <a:effectLst/>
      </p:bgPr>
    </p:bg>
    <p:spTree>
      <p:nvGrpSpPr>
        <p:cNvPr id="1" name=""/>
        <p:cNvGrpSpPr/>
        <p:nvPr/>
      </p:nvGrpSpPr>
      <p:grpSpPr>
        <a:xfrm>
          <a:off x="0" y="0"/>
          <a:ext cx="0" cy="0"/>
          <a:chOff x="0" y="0"/>
          <a:chExt cx="0" cy="0"/>
        </a:xfrm>
      </p:grpSpPr>
      <p:sp>
        <p:nvSpPr>
          <p:cNvPr id="24" name="Part Label">
            <a:extLst>
              <a:ext uri="{FF2B5EF4-FFF2-40B4-BE49-F238E27FC236}">
                <a16:creationId xmlns:a16="http://schemas.microsoft.com/office/drawing/2014/main" id="{11B01C67-2BE9-4553-A938-6B6FFEEDFDF0}"/>
              </a:ext>
            </a:extLst>
          </p:cNvPr>
          <p:cNvSpPr>
            <a:spLocks noGrp="1"/>
          </p:cNvSpPr>
          <p:nvPr/>
        </p:nvSpPr>
        <p:spPr>
          <a:xfrm>
            <a:off x="714375" y="647700"/>
            <a:ext cx="952500" cy="190500"/>
          </a:xfrm>
          <a:prstGeom prst="rect">
            <a:avLst/>
          </a:prstGeom>
          <a:noFill/>
          <a:ln w="0">
            <a:noFill/>
          </a:ln>
        </p:spPr>
        <p:txBody>
          <a:bodyPr wrap="square" lIns="0" tIns="0" rIns="0" bIns="0" anchor="t">
            <a:normAutofit/>
          </a:bodyPr>
          <a:lstStyle/>
          <a:p>
            <a:pPr algn="l">
              <a:defRPr sz="825" b="0">
                <a:solidFill>
                  <a:srgbClr val="0087C8"/>
                </a:solidFill>
                <a:latin typeface="Arial"/>
                <a:ea typeface="Arial"/>
                <a:cs typeface="Arial"/>
              </a:defRPr>
            </a:pPr>
            <a:r>
              <a:rPr sz="825" b="0">
                <a:solidFill>
                  <a:srgbClr val="0087C8"/>
                </a:solidFill>
                <a:latin typeface="Arial"/>
                <a:ea typeface="Arial"/>
                <a:cs typeface="Arial"/>
              </a:rPr>
              <a:t>PART 1</a:t>
            </a:r>
          </a:p>
        </p:txBody>
      </p:sp>
      <p:sp>
        <p:nvSpPr>
          <p:cNvPr id="2" name="Slide Title">
            <a:extLst>
              <a:ext uri="{FF2B5EF4-FFF2-40B4-BE49-F238E27FC236}">
                <a16:creationId xmlns:a16="http://schemas.microsoft.com/office/drawing/2014/main" id="{2903A140-F0FA-4657-A65D-E6427102C17D}"/>
              </a:ext>
            </a:extLst>
          </p:cNvPr>
          <p:cNvSpPr>
            <a:spLocks noGrp="1"/>
          </p:cNvSpPr>
          <p:nvPr/>
        </p:nvSpPr>
        <p:spPr>
          <a:xfrm>
            <a:off x="714375" y="1257300"/>
            <a:ext cx="5715000" cy="552450"/>
          </a:xfrm>
          <a:prstGeom prst="rect">
            <a:avLst/>
          </a:prstGeom>
          <a:noFill/>
          <a:ln w="0">
            <a:noFill/>
          </a:ln>
        </p:spPr>
        <p:txBody>
          <a:bodyPr wrap="square" lIns="0" tIns="0" rIns="0" bIns="0" anchor="t">
            <a:normAutofit/>
          </a:bodyPr>
          <a:lstStyle/>
          <a:p>
            <a:pPr algn="l">
              <a:defRPr sz="3225" b="1">
                <a:solidFill>
                  <a:srgbClr val="FFFFFF"/>
                </a:solidFill>
                <a:latin typeface="Arial"/>
                <a:ea typeface="Arial"/>
                <a:cs typeface="Arial"/>
              </a:defRPr>
            </a:pPr>
            <a:r>
              <a:rPr sz="3225" b="1">
                <a:solidFill>
                  <a:srgbClr val="FFFFFF"/>
                </a:solidFill>
                <a:latin typeface="Arial"/>
                <a:ea typeface="Arial"/>
                <a:cs typeface="Arial"/>
              </a:rPr>
              <a:t>Overall workflow</a:t>
            </a:r>
          </a:p>
        </p:txBody>
      </p:sp>
      <p:sp>
        <p:nvSpPr>
          <p:cNvPr id="3" name="Slide Subtitle">
            <a:extLst>
              <a:ext uri="{FF2B5EF4-FFF2-40B4-BE49-F238E27FC236}">
                <a16:creationId xmlns:a16="http://schemas.microsoft.com/office/drawing/2014/main" id="{28640D70-435C-4D9E-ACAC-5083B9D097B7}"/>
              </a:ext>
            </a:extLst>
          </p:cNvPr>
          <p:cNvSpPr>
            <a:spLocks noGrp="1"/>
          </p:cNvSpPr>
          <p:nvPr/>
        </p:nvSpPr>
        <p:spPr>
          <a:xfrm>
            <a:off x="714375" y="2076450"/>
            <a:ext cx="9715500" cy="323850"/>
          </a:xfrm>
          <a:prstGeom prst="rect">
            <a:avLst/>
          </a:prstGeom>
          <a:noFill/>
          <a:ln w="0">
            <a:noFill/>
          </a:ln>
        </p:spPr>
        <p:txBody>
          <a:bodyPr wrap="square" lIns="0" tIns="0" rIns="0" bIns="0" anchor="t">
            <a:normAutofit/>
          </a:bodyPr>
          <a:lstStyle/>
          <a:p>
            <a:pPr algn="l">
              <a:defRPr sz="1500">
                <a:solidFill>
                  <a:srgbClr val="CED8E5"/>
                </a:solidFill>
                <a:latin typeface="Arial"/>
                <a:ea typeface="Arial"/>
                <a:cs typeface="Arial"/>
              </a:defRPr>
            </a:pPr>
            <a:r>
              <a:rPr sz="1500">
                <a:solidFill>
                  <a:srgbClr val="CED8E5"/>
                </a:solidFill>
                <a:latin typeface="Arial"/>
                <a:ea typeface="Arial"/>
                <a:cs typeface="Arial"/>
              </a:rPr>
              <a:t>From cell-level gene expression to candidate prioritization and validation</a:t>
            </a:r>
          </a:p>
        </p:txBody>
      </p:sp>
      <p:sp>
        <p:nvSpPr>
          <p:cNvPr id="4" name="Workflow Line">
            <a:extLst>
              <a:ext uri="{FF2B5EF4-FFF2-40B4-BE49-F238E27FC236}">
                <a16:creationId xmlns:a16="http://schemas.microsoft.com/office/drawing/2014/main" id="{3E34F6CA-8AA5-47C5-AE0A-4D5AEBB22612}"/>
              </a:ext>
            </a:extLst>
          </p:cNvPr>
          <p:cNvSpPr>
            <a:spLocks noGrp="1"/>
          </p:cNvSpPr>
          <p:nvPr/>
        </p:nvSpPr>
        <p:spPr>
          <a:xfrm>
            <a:off x="1095375" y="3228975"/>
            <a:ext cx="10001250" cy="28575"/>
          </a:xfrm>
          <a:prstGeom prst="rect">
            <a:avLst/>
          </a:prstGeom>
          <a:solidFill>
            <a:srgbClr val="72869C"/>
          </a:solidFill>
          <a:ln w="0">
            <a:noFill/>
          </a:ln>
        </p:spPr>
        <p:txBody>
          <a:bodyPr/>
          <a:lstStyle/>
          <a:p>
            <a:endParaRPr lang="en-US"/>
          </a:p>
        </p:txBody>
      </p:sp>
      <p:sp>
        <p:nvSpPr>
          <p:cNvPr id="5" name="Workflow Step 1">
            <a:extLst>
              <a:ext uri="{FF2B5EF4-FFF2-40B4-BE49-F238E27FC236}">
                <a16:creationId xmlns:a16="http://schemas.microsoft.com/office/drawing/2014/main" id="{396F4314-1CD2-4672-AAC0-A3D7FB884167}"/>
              </a:ext>
            </a:extLst>
          </p:cNvPr>
          <p:cNvSpPr>
            <a:spLocks noGrp="1"/>
          </p:cNvSpPr>
          <p:nvPr/>
        </p:nvSpPr>
        <p:spPr>
          <a:xfrm>
            <a:off x="866775" y="3009900"/>
            <a:ext cx="457200" cy="457200"/>
          </a:xfrm>
          <a:prstGeom prst="ellipse">
            <a:avLst/>
          </a:prstGeom>
          <a:solidFill>
            <a:srgbClr val="0087C8"/>
          </a:solidFill>
          <a:ln w="0">
            <a:noFill/>
          </a:ln>
        </p:spPr>
        <p:txBody>
          <a:bodyPr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6" name="Workflow Step 1 Title">
            <a:extLst>
              <a:ext uri="{FF2B5EF4-FFF2-40B4-BE49-F238E27FC236}">
                <a16:creationId xmlns:a16="http://schemas.microsoft.com/office/drawing/2014/main" id="{45BA1EA2-ECE6-4A3E-939A-79EAF98EC470}"/>
              </a:ext>
            </a:extLst>
          </p:cNvPr>
          <p:cNvSpPr>
            <a:spLocks noGrp="1"/>
          </p:cNvSpPr>
          <p:nvPr/>
        </p:nvSpPr>
        <p:spPr>
          <a:xfrm>
            <a:off x="142875" y="3819525"/>
            <a:ext cx="1905000" cy="514350"/>
          </a:xfrm>
          <a:prstGeom prst="rect">
            <a:avLst/>
          </a:prstGeom>
          <a:noFill/>
          <a:ln w="0">
            <a:noFill/>
          </a:ln>
        </p:spPr>
        <p:txBody>
          <a:bodyPr wrap="square" lIns="0" tIns="0" rIns="0" bIns="0" anchor="t">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DEG analysis</a:t>
            </a:r>
          </a:p>
        </p:txBody>
      </p:sp>
      <p:sp>
        <p:nvSpPr>
          <p:cNvPr id="7" name="Workflow Step 1 Description">
            <a:extLst>
              <a:ext uri="{FF2B5EF4-FFF2-40B4-BE49-F238E27FC236}">
                <a16:creationId xmlns:a16="http://schemas.microsoft.com/office/drawing/2014/main" id="{05C52D86-D7B5-406D-8868-0EA8586074D1}"/>
              </a:ext>
            </a:extLst>
          </p:cNvPr>
          <p:cNvSpPr>
            <a:spLocks noGrp="1"/>
          </p:cNvSpPr>
          <p:nvPr/>
        </p:nvSpPr>
        <p:spPr>
          <a:xfrm>
            <a:off x="180975" y="4324350"/>
            <a:ext cx="1828800" cy="800100"/>
          </a:xfrm>
          <a:prstGeom prst="rect">
            <a:avLst/>
          </a:prstGeom>
          <a:noFill/>
          <a:ln w="0">
            <a:noFill/>
          </a:ln>
        </p:spPr>
        <p:txBody>
          <a:bodyPr wrap="square" lIns="0" tIns="0" rIns="0" bIns="0" anchor="t">
            <a:normAutofit/>
          </a:bodyPr>
          <a:lstStyle/>
          <a:p>
            <a:pPr algn="ctr">
              <a:defRPr sz="1050">
                <a:solidFill>
                  <a:srgbClr val="CED8E5"/>
                </a:solidFill>
                <a:latin typeface="Arial"/>
                <a:ea typeface="Arial"/>
                <a:cs typeface="Arial"/>
              </a:defRPr>
            </a:pPr>
            <a:r>
              <a:rPr sz="1050">
                <a:solidFill>
                  <a:srgbClr val="CED8E5"/>
                </a:solidFill>
                <a:latin typeface="Arial"/>
                <a:ea typeface="Arial"/>
                <a:cs typeface="Arial"/>
              </a:rPr>
              <a:t>Identify genes with higher or lower RNA abundance in AD.</a:t>
            </a:r>
          </a:p>
        </p:txBody>
      </p:sp>
      <p:sp>
        <p:nvSpPr>
          <p:cNvPr id="8" name="Workflow Step 2">
            <a:extLst>
              <a:ext uri="{FF2B5EF4-FFF2-40B4-BE49-F238E27FC236}">
                <a16:creationId xmlns:a16="http://schemas.microsoft.com/office/drawing/2014/main" id="{97C16EB0-2DF6-4CFF-9BB0-A0141C67493D}"/>
              </a:ext>
            </a:extLst>
          </p:cNvPr>
          <p:cNvSpPr>
            <a:spLocks noGrp="1"/>
          </p:cNvSpPr>
          <p:nvPr/>
        </p:nvSpPr>
        <p:spPr>
          <a:xfrm>
            <a:off x="2867025" y="3009900"/>
            <a:ext cx="457200" cy="457200"/>
          </a:xfrm>
          <a:prstGeom prst="ellipse">
            <a:avLst/>
          </a:prstGeom>
          <a:solidFill>
            <a:srgbClr val="55B5E3"/>
          </a:solidFill>
          <a:ln w="0">
            <a:noFill/>
          </a:ln>
        </p:spPr>
        <p:txBody>
          <a:bodyPr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9" name="Workflow Step 2 Title">
            <a:extLst>
              <a:ext uri="{FF2B5EF4-FFF2-40B4-BE49-F238E27FC236}">
                <a16:creationId xmlns:a16="http://schemas.microsoft.com/office/drawing/2014/main" id="{9438841E-A247-4C27-8AB3-C09E01F4999C}"/>
              </a:ext>
            </a:extLst>
          </p:cNvPr>
          <p:cNvSpPr>
            <a:spLocks noGrp="1"/>
          </p:cNvSpPr>
          <p:nvPr/>
        </p:nvSpPr>
        <p:spPr>
          <a:xfrm>
            <a:off x="2143125" y="3819525"/>
            <a:ext cx="1905000" cy="514350"/>
          </a:xfrm>
          <a:prstGeom prst="rect">
            <a:avLst/>
          </a:prstGeom>
          <a:noFill/>
          <a:ln w="0">
            <a:noFill/>
          </a:ln>
        </p:spPr>
        <p:txBody>
          <a:bodyPr wrap="square" lIns="0" tIns="0" rIns="0" bIns="0" anchor="t">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Pathway analysis</a:t>
            </a:r>
          </a:p>
        </p:txBody>
      </p:sp>
      <p:sp>
        <p:nvSpPr>
          <p:cNvPr id="10" name="Workflow Step 2 Description">
            <a:extLst>
              <a:ext uri="{FF2B5EF4-FFF2-40B4-BE49-F238E27FC236}">
                <a16:creationId xmlns:a16="http://schemas.microsoft.com/office/drawing/2014/main" id="{E240C161-BCB7-4707-981F-40BC0FA81B46}"/>
              </a:ext>
            </a:extLst>
          </p:cNvPr>
          <p:cNvSpPr>
            <a:spLocks noGrp="1"/>
          </p:cNvSpPr>
          <p:nvPr/>
        </p:nvSpPr>
        <p:spPr>
          <a:xfrm>
            <a:off x="2181225" y="4324350"/>
            <a:ext cx="1828800" cy="800100"/>
          </a:xfrm>
          <a:prstGeom prst="rect">
            <a:avLst/>
          </a:prstGeom>
          <a:noFill/>
          <a:ln w="0">
            <a:noFill/>
          </a:ln>
        </p:spPr>
        <p:txBody>
          <a:bodyPr wrap="square" lIns="0" tIns="0" rIns="0" bIns="0" anchor="t">
            <a:normAutofit/>
          </a:bodyPr>
          <a:lstStyle/>
          <a:p>
            <a:pPr algn="ctr">
              <a:defRPr sz="1050">
                <a:solidFill>
                  <a:srgbClr val="CED8E5"/>
                </a:solidFill>
                <a:latin typeface="Arial"/>
                <a:ea typeface="Arial"/>
                <a:cs typeface="Arial"/>
              </a:defRPr>
            </a:pPr>
            <a:r>
              <a:rPr sz="1050">
                <a:solidFill>
                  <a:srgbClr val="CED8E5"/>
                </a:solidFill>
                <a:latin typeface="Arial"/>
                <a:ea typeface="Arial"/>
                <a:cs typeface="Arial"/>
              </a:rPr>
              <a:t>Summarize mitochondrial processes represented among the DEGs.</a:t>
            </a:r>
          </a:p>
        </p:txBody>
      </p:sp>
      <p:sp>
        <p:nvSpPr>
          <p:cNvPr id="11" name="Workflow Step 3">
            <a:extLst>
              <a:ext uri="{FF2B5EF4-FFF2-40B4-BE49-F238E27FC236}">
                <a16:creationId xmlns:a16="http://schemas.microsoft.com/office/drawing/2014/main" id="{EDE93D8E-D62F-47FE-9665-437A7945CD93}"/>
              </a:ext>
            </a:extLst>
          </p:cNvPr>
          <p:cNvSpPr>
            <a:spLocks noGrp="1"/>
          </p:cNvSpPr>
          <p:nvPr/>
        </p:nvSpPr>
        <p:spPr>
          <a:xfrm>
            <a:off x="4867275" y="3009900"/>
            <a:ext cx="457200" cy="457200"/>
          </a:xfrm>
          <a:prstGeom prst="ellipse">
            <a:avLst/>
          </a:prstGeom>
          <a:solidFill>
            <a:srgbClr val="00A87E"/>
          </a:solidFill>
          <a:ln w="0">
            <a:noFill/>
          </a:ln>
        </p:spPr>
        <p:txBody>
          <a:bodyPr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2" name="Workflow Step 3 Title">
            <a:extLst>
              <a:ext uri="{FF2B5EF4-FFF2-40B4-BE49-F238E27FC236}">
                <a16:creationId xmlns:a16="http://schemas.microsoft.com/office/drawing/2014/main" id="{05489A92-F28C-49A3-93D8-18DD21C6038E}"/>
              </a:ext>
            </a:extLst>
          </p:cNvPr>
          <p:cNvSpPr>
            <a:spLocks noGrp="1"/>
          </p:cNvSpPr>
          <p:nvPr/>
        </p:nvSpPr>
        <p:spPr>
          <a:xfrm>
            <a:off x="4143375" y="3819525"/>
            <a:ext cx="1905000" cy="514350"/>
          </a:xfrm>
          <a:prstGeom prst="rect">
            <a:avLst/>
          </a:prstGeom>
          <a:noFill/>
          <a:ln w="0">
            <a:noFill/>
          </a:ln>
        </p:spPr>
        <p:txBody>
          <a:bodyPr wrap="square" lIns="0" tIns="0" rIns="0" bIns="0" anchor="t">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Key driver analysis</a:t>
            </a:r>
          </a:p>
          <a:p>
            <a:pPr algn="ctr">
              <a:defRPr sz="1425" b="1">
                <a:solidFill>
                  <a:srgbClr val="FFFFFF"/>
                </a:solidFill>
                <a:latin typeface="Arial"/>
                <a:ea typeface="Arial"/>
                <a:cs typeface="Arial"/>
              </a:defRPr>
            </a:pPr>
            <a:r>
              <a:rPr sz="1425" b="1">
                <a:solidFill>
                  <a:srgbClr val="FFFFFF"/>
                </a:solidFill>
                <a:latin typeface="Arial"/>
                <a:ea typeface="Arial"/>
                <a:cs typeface="Arial"/>
              </a:rPr>
              <a:t>(KDA)</a:t>
            </a:r>
          </a:p>
        </p:txBody>
      </p:sp>
      <p:sp>
        <p:nvSpPr>
          <p:cNvPr id="13" name="Workflow Step 3 Description">
            <a:extLst>
              <a:ext uri="{FF2B5EF4-FFF2-40B4-BE49-F238E27FC236}">
                <a16:creationId xmlns:a16="http://schemas.microsoft.com/office/drawing/2014/main" id="{84E3013A-644D-468E-B714-31EA5CFBBF5E}"/>
              </a:ext>
            </a:extLst>
          </p:cNvPr>
          <p:cNvSpPr>
            <a:spLocks noGrp="1"/>
          </p:cNvSpPr>
          <p:nvPr/>
        </p:nvSpPr>
        <p:spPr>
          <a:xfrm>
            <a:off x="4181475" y="4324350"/>
            <a:ext cx="1828800" cy="800100"/>
          </a:xfrm>
          <a:prstGeom prst="rect">
            <a:avLst/>
          </a:prstGeom>
          <a:noFill/>
          <a:ln w="0">
            <a:noFill/>
          </a:ln>
        </p:spPr>
        <p:txBody>
          <a:bodyPr wrap="square" lIns="0" tIns="0" rIns="0" bIns="0" anchor="t">
            <a:normAutofit/>
          </a:bodyPr>
          <a:lstStyle/>
          <a:p>
            <a:pPr algn="ctr">
              <a:defRPr sz="1050">
                <a:solidFill>
                  <a:srgbClr val="CED8E5"/>
                </a:solidFill>
                <a:latin typeface="Arial"/>
                <a:ea typeface="Arial"/>
                <a:cs typeface="Arial"/>
              </a:defRPr>
            </a:pPr>
            <a:r>
              <a:rPr sz="1050">
                <a:solidFill>
                  <a:srgbClr val="CED8E5"/>
                </a:solidFill>
                <a:latin typeface="Arial"/>
                <a:ea typeface="Arial"/>
                <a:cs typeface="Arial"/>
              </a:rPr>
              <a:t>Use gene networks to nominate genes connected to MitoCarta MT DEGs.</a:t>
            </a:r>
          </a:p>
        </p:txBody>
      </p:sp>
      <p:sp>
        <p:nvSpPr>
          <p:cNvPr id="14" name="Workflow Step 4">
            <a:extLst>
              <a:ext uri="{FF2B5EF4-FFF2-40B4-BE49-F238E27FC236}">
                <a16:creationId xmlns:a16="http://schemas.microsoft.com/office/drawing/2014/main" id="{865DFC26-E58B-43CD-9304-5559645744FA}"/>
              </a:ext>
            </a:extLst>
          </p:cNvPr>
          <p:cNvSpPr>
            <a:spLocks noGrp="1"/>
          </p:cNvSpPr>
          <p:nvPr/>
        </p:nvSpPr>
        <p:spPr>
          <a:xfrm>
            <a:off x="6867525" y="3009900"/>
            <a:ext cx="457200" cy="457200"/>
          </a:xfrm>
          <a:prstGeom prst="ellipse">
            <a:avLst/>
          </a:prstGeom>
          <a:solidFill>
            <a:srgbClr val="7D4FA1"/>
          </a:solidFill>
          <a:ln w="0">
            <a:noFill/>
          </a:ln>
        </p:spPr>
        <p:txBody>
          <a:bodyPr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15" name="Workflow Step 4 Title">
            <a:extLst>
              <a:ext uri="{FF2B5EF4-FFF2-40B4-BE49-F238E27FC236}">
                <a16:creationId xmlns:a16="http://schemas.microsoft.com/office/drawing/2014/main" id="{C9DCB836-B4E6-4791-A768-4E9185A20C92}"/>
              </a:ext>
            </a:extLst>
          </p:cNvPr>
          <p:cNvSpPr>
            <a:spLocks noGrp="1"/>
          </p:cNvSpPr>
          <p:nvPr/>
        </p:nvSpPr>
        <p:spPr>
          <a:xfrm>
            <a:off x="6143625" y="3819525"/>
            <a:ext cx="1905000" cy="514350"/>
          </a:xfrm>
          <a:prstGeom prst="rect">
            <a:avLst/>
          </a:prstGeom>
          <a:noFill/>
          <a:ln w="0">
            <a:noFill/>
          </a:ln>
        </p:spPr>
        <p:txBody>
          <a:bodyPr wrap="square" lIns="0" tIns="0" rIns="0" bIns="0" anchor="t">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Genetic support</a:t>
            </a:r>
          </a:p>
        </p:txBody>
      </p:sp>
      <p:sp>
        <p:nvSpPr>
          <p:cNvPr id="16" name="Workflow Step 4 Description">
            <a:extLst>
              <a:ext uri="{FF2B5EF4-FFF2-40B4-BE49-F238E27FC236}">
                <a16:creationId xmlns:a16="http://schemas.microsoft.com/office/drawing/2014/main" id="{C43A0ADA-5BBB-49BB-8BCF-A5050AB55EA8}"/>
              </a:ext>
            </a:extLst>
          </p:cNvPr>
          <p:cNvSpPr>
            <a:spLocks noGrp="1"/>
          </p:cNvSpPr>
          <p:nvPr/>
        </p:nvSpPr>
        <p:spPr>
          <a:xfrm>
            <a:off x="6181725" y="4324350"/>
            <a:ext cx="1828800" cy="800100"/>
          </a:xfrm>
          <a:prstGeom prst="rect">
            <a:avLst/>
          </a:prstGeom>
          <a:noFill/>
          <a:ln w="0">
            <a:noFill/>
          </a:ln>
        </p:spPr>
        <p:txBody>
          <a:bodyPr wrap="square" lIns="0" tIns="0" rIns="0" bIns="0" anchor="t">
            <a:normAutofit/>
          </a:bodyPr>
          <a:lstStyle/>
          <a:p>
            <a:pPr algn="ctr">
              <a:defRPr sz="1050">
                <a:solidFill>
                  <a:srgbClr val="CED8E5"/>
                </a:solidFill>
                <a:latin typeface="Arial"/>
                <a:ea typeface="Arial"/>
                <a:cs typeface="Arial"/>
              </a:defRPr>
            </a:pPr>
            <a:r>
              <a:rPr sz="1050">
                <a:solidFill>
                  <a:srgbClr val="CED8E5"/>
                </a:solidFill>
                <a:latin typeface="Arial"/>
                <a:ea typeface="Arial"/>
                <a:cs typeface="Arial"/>
              </a:rPr>
              <a:t>Evaluate candidate genes using Alzheimer’s genetic-association and gene-regulation evidence.</a:t>
            </a:r>
          </a:p>
        </p:txBody>
      </p:sp>
      <p:sp>
        <p:nvSpPr>
          <p:cNvPr id="17" name="Workflow Step 5">
            <a:extLst>
              <a:ext uri="{FF2B5EF4-FFF2-40B4-BE49-F238E27FC236}">
                <a16:creationId xmlns:a16="http://schemas.microsoft.com/office/drawing/2014/main" id="{07F03F7B-DCD5-46A3-B1C0-A67DDB0968BC}"/>
              </a:ext>
            </a:extLst>
          </p:cNvPr>
          <p:cNvSpPr>
            <a:spLocks noGrp="1"/>
          </p:cNvSpPr>
          <p:nvPr/>
        </p:nvSpPr>
        <p:spPr>
          <a:xfrm>
            <a:off x="8867775" y="3009900"/>
            <a:ext cx="457200" cy="457200"/>
          </a:xfrm>
          <a:prstGeom prst="ellipse">
            <a:avLst/>
          </a:prstGeom>
          <a:solidFill>
            <a:srgbClr val="F5B000"/>
          </a:solidFill>
          <a:ln w="0">
            <a:noFill/>
          </a:ln>
        </p:spPr>
        <p:txBody>
          <a:bodyPr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5</a:t>
            </a:r>
          </a:p>
        </p:txBody>
      </p:sp>
      <p:sp>
        <p:nvSpPr>
          <p:cNvPr id="18" name="Workflow Step 5 Title">
            <a:extLst>
              <a:ext uri="{FF2B5EF4-FFF2-40B4-BE49-F238E27FC236}">
                <a16:creationId xmlns:a16="http://schemas.microsoft.com/office/drawing/2014/main" id="{9E2FD706-B153-4C71-8A05-9DCC1373B00D}"/>
              </a:ext>
            </a:extLst>
          </p:cNvPr>
          <p:cNvSpPr>
            <a:spLocks noGrp="1"/>
          </p:cNvSpPr>
          <p:nvPr/>
        </p:nvSpPr>
        <p:spPr>
          <a:xfrm>
            <a:off x="8143875" y="3819525"/>
            <a:ext cx="1905000" cy="514350"/>
          </a:xfrm>
          <a:prstGeom prst="rect">
            <a:avLst/>
          </a:prstGeom>
          <a:noFill/>
          <a:ln w="0">
            <a:noFill/>
          </a:ln>
        </p:spPr>
        <p:txBody>
          <a:bodyPr wrap="square" lIns="0" tIns="0" rIns="0" bIns="0" anchor="t">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Human validation</a:t>
            </a:r>
          </a:p>
        </p:txBody>
      </p:sp>
      <p:sp>
        <p:nvSpPr>
          <p:cNvPr id="19" name="Workflow Step 5 Description">
            <a:extLst>
              <a:ext uri="{FF2B5EF4-FFF2-40B4-BE49-F238E27FC236}">
                <a16:creationId xmlns:a16="http://schemas.microsoft.com/office/drawing/2014/main" id="{0FE57129-74A7-44F4-9DE6-EAC7783C2163}"/>
              </a:ext>
            </a:extLst>
          </p:cNvPr>
          <p:cNvSpPr>
            <a:spLocks noGrp="1"/>
          </p:cNvSpPr>
          <p:nvPr/>
        </p:nvSpPr>
        <p:spPr>
          <a:xfrm>
            <a:off x="8181975" y="4324350"/>
            <a:ext cx="1828800" cy="800100"/>
          </a:xfrm>
          <a:prstGeom prst="rect">
            <a:avLst/>
          </a:prstGeom>
          <a:noFill/>
          <a:ln w="0">
            <a:noFill/>
          </a:ln>
        </p:spPr>
        <p:txBody>
          <a:bodyPr wrap="square" lIns="0" tIns="0" rIns="0" bIns="0" anchor="t">
            <a:normAutofit/>
          </a:bodyPr>
          <a:lstStyle/>
          <a:p>
            <a:pPr algn="ctr">
              <a:defRPr sz="1050">
                <a:solidFill>
                  <a:srgbClr val="CED8E5"/>
                </a:solidFill>
                <a:latin typeface="Arial"/>
                <a:ea typeface="Arial"/>
                <a:cs typeface="Arial"/>
              </a:defRPr>
            </a:pPr>
            <a:r>
              <a:rPr sz="1050">
                <a:solidFill>
                  <a:srgbClr val="CED8E5"/>
                </a:solidFill>
                <a:latin typeface="Arial"/>
                <a:ea typeface="Arial"/>
                <a:cs typeface="Arial"/>
              </a:rPr>
              <a:t>Compare ROSMAP findings with SEA-AD and direct broad-cell analyses.</a:t>
            </a:r>
          </a:p>
        </p:txBody>
      </p:sp>
      <p:sp>
        <p:nvSpPr>
          <p:cNvPr id="20" name="Workflow Step 6">
            <a:extLst>
              <a:ext uri="{FF2B5EF4-FFF2-40B4-BE49-F238E27FC236}">
                <a16:creationId xmlns:a16="http://schemas.microsoft.com/office/drawing/2014/main" id="{2123FA3E-4AB9-4098-9D53-E1D18C644D83}"/>
              </a:ext>
            </a:extLst>
          </p:cNvPr>
          <p:cNvSpPr>
            <a:spLocks noGrp="1"/>
          </p:cNvSpPr>
          <p:nvPr/>
        </p:nvSpPr>
        <p:spPr>
          <a:xfrm>
            <a:off x="10868025" y="3009900"/>
            <a:ext cx="457200" cy="457200"/>
          </a:xfrm>
          <a:prstGeom prst="ellipse">
            <a:avLst/>
          </a:prstGeom>
          <a:solidFill>
            <a:srgbClr val="11263F"/>
          </a:solidFill>
          <a:ln w="23813">
            <a:solidFill>
              <a:srgbClr val="F97300"/>
            </a:solidFill>
            <a:prstDash val="solid"/>
          </a:ln>
        </p:spPr>
        <p:txBody>
          <a:bodyPr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6</a:t>
            </a:r>
          </a:p>
        </p:txBody>
      </p:sp>
      <p:sp>
        <p:nvSpPr>
          <p:cNvPr id="21" name="Workflow Step 6 Title">
            <a:extLst>
              <a:ext uri="{FF2B5EF4-FFF2-40B4-BE49-F238E27FC236}">
                <a16:creationId xmlns:a16="http://schemas.microsoft.com/office/drawing/2014/main" id="{EC5D5AEF-3571-4836-A73A-4279C1D9E2D9}"/>
              </a:ext>
            </a:extLst>
          </p:cNvPr>
          <p:cNvSpPr>
            <a:spLocks noGrp="1"/>
          </p:cNvSpPr>
          <p:nvPr/>
        </p:nvSpPr>
        <p:spPr>
          <a:xfrm>
            <a:off x="10144125" y="3819525"/>
            <a:ext cx="1905000" cy="514350"/>
          </a:xfrm>
          <a:prstGeom prst="rect">
            <a:avLst/>
          </a:prstGeom>
          <a:noFill/>
          <a:ln w="0">
            <a:noFill/>
          </a:ln>
        </p:spPr>
        <p:txBody>
          <a:bodyPr wrap="square" lIns="0" tIns="0" rIns="0" bIns="0" anchor="t">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Mouse validation</a:t>
            </a:r>
          </a:p>
        </p:txBody>
      </p:sp>
      <p:sp>
        <p:nvSpPr>
          <p:cNvPr id="22" name="Workflow Step 6 Description">
            <a:extLst>
              <a:ext uri="{FF2B5EF4-FFF2-40B4-BE49-F238E27FC236}">
                <a16:creationId xmlns:a16="http://schemas.microsoft.com/office/drawing/2014/main" id="{F32735DC-C925-4BB6-ACC9-1921D82CFBBC}"/>
              </a:ext>
            </a:extLst>
          </p:cNvPr>
          <p:cNvSpPr>
            <a:spLocks noGrp="1"/>
          </p:cNvSpPr>
          <p:nvPr/>
        </p:nvSpPr>
        <p:spPr>
          <a:xfrm>
            <a:off x="10182225" y="4324350"/>
            <a:ext cx="1828800" cy="800100"/>
          </a:xfrm>
          <a:prstGeom prst="rect">
            <a:avLst/>
          </a:prstGeom>
          <a:noFill/>
          <a:ln w="0">
            <a:noFill/>
          </a:ln>
        </p:spPr>
        <p:txBody>
          <a:bodyPr wrap="square" lIns="0" tIns="0" rIns="0" bIns="0" anchor="t">
            <a:normAutofit/>
          </a:bodyPr>
          <a:lstStyle/>
          <a:p>
            <a:pPr algn="ctr">
              <a:defRPr sz="1050">
                <a:solidFill>
                  <a:srgbClr val="CED8E5"/>
                </a:solidFill>
                <a:latin typeface="Arial"/>
                <a:ea typeface="Arial"/>
                <a:cs typeface="Arial"/>
              </a:defRPr>
            </a:pPr>
            <a:r>
              <a:rPr sz="1050">
                <a:solidFill>
                  <a:srgbClr val="CED8E5"/>
                </a:solidFill>
                <a:latin typeface="Arial"/>
                <a:ea typeface="Arial"/>
                <a:cs typeface="Arial"/>
              </a:rPr>
              <a:t>Test selected candidates and mitochondrial function in targeted models.</a:t>
            </a:r>
          </a:p>
        </p:txBody>
      </p:sp>
      <p:sp>
        <p:nvSpPr>
          <p:cNvPr id="23" name="Potential Next Step Label">
            <a:extLst>
              <a:ext uri="{FF2B5EF4-FFF2-40B4-BE49-F238E27FC236}">
                <a16:creationId xmlns:a16="http://schemas.microsoft.com/office/drawing/2014/main" id="{39DEC7EF-338B-40E8-A081-3188704906B1}"/>
              </a:ext>
            </a:extLst>
          </p:cNvPr>
          <p:cNvSpPr>
            <a:spLocks noGrp="1"/>
          </p:cNvSpPr>
          <p:nvPr/>
        </p:nvSpPr>
        <p:spPr>
          <a:xfrm>
            <a:off x="10096500" y="2676525"/>
            <a:ext cx="2000250" cy="190500"/>
          </a:xfrm>
          <a:prstGeom prst="rect">
            <a:avLst/>
          </a:prstGeom>
          <a:noFill/>
          <a:ln w="0">
            <a:noFill/>
          </a:ln>
        </p:spPr>
        <p:txBody>
          <a:bodyPr wrap="square" lIns="0" tIns="0" rIns="0" bIns="0" anchor="ctr">
            <a:normAutofit/>
          </a:bodyPr>
          <a:lstStyle/>
          <a:p>
            <a:pPr algn="ctr">
              <a:defRPr sz="900" b="1">
                <a:solidFill>
                  <a:srgbClr val="F97300"/>
                </a:solidFill>
                <a:latin typeface="Arial"/>
                <a:ea typeface="Arial"/>
                <a:cs typeface="Arial"/>
              </a:defRPr>
            </a:pPr>
            <a:r>
              <a:rPr sz="900" b="1">
                <a:solidFill>
                  <a:srgbClr val="F97300"/>
                </a:solidFill>
                <a:latin typeface="Arial"/>
                <a:ea typeface="Arial"/>
                <a:cs typeface="Arial"/>
              </a:rPr>
              <a:t>POTENTIAL NEXT STEP</a:t>
            </a:r>
          </a:p>
        </p:txBody>
      </p:sp>
    </p:spTree>
    <p:extLst>
      <p:ext uri="{BB962C8B-B14F-4D97-AF65-F5344CB8AC3E}">
        <p14:creationId xmlns:p14="http://schemas.microsoft.com/office/powerpoint/2010/main" val="12928250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D05A9810-999C-4FD4-AFAB-7B92C5AE64BD}">
                <a16:creationId xmlns:a16="http://schemas.microsoft.com/office/drawing/2014/main" xmlns="" id="{A87F3BD9-318F-409B-AFC1-22A20746C537}"/>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Two human brain cohorts</a:t>
            </a:r>
          </a:p>
        </p:txBody>
      </p:sp>
      <p:sp>
        <p:nvSpPr>
          <p:cNvPr id="3" name="TextBox 2">
            <a:extLst>
              <a:ext uri="{B2952A13-E51A-4967-B9C0-7FEEA980092F}">
                <a16:creationId xmlns:a16="http://schemas.microsoft.com/office/drawing/2014/main" xmlns="" id="{CAA2273C-1602-4A65-B544-947458D5B1FC}"/>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ROSMAP provides the primary analysis. SEA-AD provides supplemental human validation.</a:t>
            </a:r>
          </a:p>
        </p:txBody>
      </p:sp>
      <p:sp>
        <p:nvSpPr>
          <p:cNvPr id="4" name="Rounded Rectangle 3">
            <a:extLst>
              <a:ext uri="{024044BD-987B-4601-8659-76F017E7C3F8}">
                <a16:creationId xmlns:a16="http://schemas.microsoft.com/office/drawing/2014/main" xmlns="" id="{2583F301-FB16-4F7D-A063-1CAEDD443703}"/>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7B5C11F-1786-4899-8B71-2C83AF61C342}">
                <a16:creationId xmlns:a16="http://schemas.microsoft.com/office/drawing/2014/main" xmlns="" id="{FC49C8AE-BE0A-498F-9234-F285AC4CD921}"/>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645DCDDC-A58F-47EE-A183-25CFA44F833C}">
                <a16:creationId xmlns:a16="http://schemas.microsoft.com/office/drawing/2014/main" xmlns="" id="{90666061-2FB7-422D-94B5-22AE877A608D}"/>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58854B51-4AC3-4D7B-8690-F57A25A13D80}">
                <a16:creationId xmlns:a16="http://schemas.microsoft.com/office/drawing/2014/main" xmlns="" id="{9B64A450-35F6-49E7-B896-56E3431DEE1B}"/>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C6DDFA40-0121-4D2A-837F-D01934C419EA}">
                <a16:creationId xmlns:a16="http://schemas.microsoft.com/office/drawing/2014/main" xmlns="" id="{87E75F13-4BEE-49A0-BB02-44F7A674F9A1}"/>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Primary discovery cohort</a:t>
            </a:r>
          </a:p>
        </p:txBody>
      </p:sp>
      <p:sp>
        <p:nvSpPr>
          <p:cNvPr id="9" name="Oval 8">
            <a:extLst>
              <a:ext uri="{22F2B2F1-AC94-4D4B-AA81-212218CB9F73}">
                <a16:creationId xmlns:a16="http://schemas.microsoft.com/office/drawing/2014/main" xmlns="" id="{EB242F70-6173-4ADC-B7E0-C9D41BAF149F}"/>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6CB9F753-CFC1-4F86-BA48-D335CB07E32C}">
                <a16:creationId xmlns:a16="http://schemas.microsoft.com/office/drawing/2014/main" xmlns="" id="{B2EE15F1-10AF-49D1-9764-99452FBDA6BE}"/>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54 fine cell types</a:t>
            </a:r>
          </a:p>
        </p:txBody>
      </p:sp>
      <p:sp>
        <p:nvSpPr>
          <p:cNvPr id="11" name="Oval 10">
            <a:extLst>
              <a:ext uri="{6B54C3E5-3720-4F41-A0EA-8A9368826F30}">
                <a16:creationId xmlns:a16="http://schemas.microsoft.com/office/drawing/2014/main" xmlns="" id="{7DC9B75C-1927-4510-AC8A-1A9AA0DB27FB}"/>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A461FF0B-5C5E-4A84-A775-674874956183}">
                <a16:creationId xmlns:a16="http://schemas.microsoft.com/office/drawing/2014/main" xmlns="" id="{E27DBE8F-4D92-49B0-81BC-C1569A7B8ACC}"/>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324 planned comparisons across sex and APOE groups</a:t>
            </a:r>
          </a:p>
        </p:txBody>
      </p:sp>
      <p:sp>
        <p:nvSpPr>
          <p:cNvPr id="13" name="Oval 12">
            <a:extLst>
              <a:ext uri="{F336CD65-0C04-4CB8-BBA8-4FA4F6B2C040}">
                <a16:creationId xmlns:a16="http://schemas.microsoft.com/office/drawing/2014/main" xmlns="" id="{E2D8EFE8-8D11-408B-A35F-5A43656E2EC8}"/>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9F142B9F-8BB3-4D3D-8809-CACF29FBC41F}">
                <a16:creationId xmlns:a16="http://schemas.microsoft.com/office/drawing/2014/main" xmlns="" id="{9705EE32-BCF4-4AF3-AECB-D0A43DBA2EF6}"/>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Primary source for differential expression, pathway, and KDA findings</a:t>
            </a:r>
          </a:p>
        </p:txBody>
      </p:sp>
      <p:sp>
        <p:nvSpPr>
          <p:cNvPr id="15" name="Rounded Rectangle 14">
            <a:extLst>
              <a:ext uri="{B80BBF35-4D3A-4DD3-B445-FA9D417F75BA}">
                <a16:creationId xmlns:a16="http://schemas.microsoft.com/office/drawing/2014/main" xmlns="" id="{E0A1641C-D135-40DB-B699-75F4F682D8B0}"/>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E3A1603B-AE7D-46D7-903F-7E0FF84F4D77}">
                <a16:creationId xmlns:a16="http://schemas.microsoft.com/office/drawing/2014/main" xmlns="" id="{54181D60-B174-489D-8592-1639F84E3BF0}"/>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9E3A00"/>
                </a:solidFill>
                <a:latin typeface="Arial"/>
                <a:ea typeface="Arial"/>
                <a:cs typeface="Arial"/>
              </a:rPr>
              <a:t>Fine-cell evidence is aggregated to broad cell categories.</a:t>
            </a:r>
          </a:p>
        </p:txBody>
      </p:sp>
      <p:sp>
        <p:nvSpPr>
          <p:cNvPr id="17" name="Rounded Rectangle 16">
            <a:extLst>
              <a:ext uri="{7ED65EA7-F752-4E7E-AF95-21E7A14D3939}">
                <a16:creationId xmlns:a16="http://schemas.microsoft.com/office/drawing/2014/main" xmlns="" id="{3E3AF054-3F60-43C0-8096-4317EA714615}"/>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895473F7-8417-417D-BD90-180F8DAF921F}">
                <a16:creationId xmlns:a16="http://schemas.microsoft.com/office/drawing/2014/main" xmlns="" id="{006E7118-C8A4-47B9-A62A-78B2ADF5CB18}"/>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B6260931-124B-4F79-9C33-A86D9F0C8901}">
                <a16:creationId xmlns:a16="http://schemas.microsoft.com/office/drawing/2014/main" xmlns="" id="{3ADB3342-0EB2-4EBD-9EFC-7EB840DB23D3}"/>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9D2D3051-BC8F-4CE2-B8E9-9C7D45AF313E}">
                <a16:creationId xmlns:a16="http://schemas.microsoft.com/office/drawing/2014/main" xmlns="" id="{5E3459A1-CD38-4B42-A469-075BDE5A391B}"/>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7D74B81D-F7AB-4CCC-BB1A-996EA3394A2A}">
                <a16:creationId xmlns:a16="http://schemas.microsoft.com/office/drawing/2014/main" xmlns="" id="{EA5E5AFB-51EF-4384-9BD4-F94236FDB059}"/>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Supplemental human validation cohort</a:t>
            </a:r>
          </a:p>
        </p:txBody>
      </p:sp>
      <p:sp>
        <p:nvSpPr>
          <p:cNvPr id="22" name="Oval 21">
            <a:extLst>
              <a:ext uri="{62CC7A7B-1F48-40F3-824F-970C5E3D4B13}">
                <a16:creationId xmlns:a16="http://schemas.microsoft.com/office/drawing/2014/main" xmlns="" id="{1CD7A9B7-24FC-4737-8884-CCC8C19D858E}"/>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88F10804-7360-44EC-9B99-8B48644B916B}">
                <a16:creationId xmlns:a16="http://schemas.microsoft.com/office/drawing/2014/main" xmlns="" id="{26D1BAA3-179B-49F2-992D-4BE5733CEB9D}"/>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129 fine cell categories, called supertypes in SEA-AD</a:t>
            </a:r>
          </a:p>
        </p:txBody>
      </p:sp>
      <p:sp>
        <p:nvSpPr>
          <p:cNvPr id="24" name="Oval 23">
            <a:extLst>
              <a:ext uri="{C002F468-5BBD-4C7F-B2F9-C927E44138C8}">
                <a16:creationId xmlns:a16="http://schemas.microsoft.com/office/drawing/2014/main" xmlns="" id="{5D382635-C3A8-44E6-B270-75BC0140AD97}"/>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3D9D053B-2FC7-4FB4-A92E-BA9ED7A02924}">
                <a16:creationId xmlns:a16="http://schemas.microsoft.com/office/drawing/2014/main" xmlns="" id="{E3B061FB-AFD7-4421-9DF5-153113832DCD}"/>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774 planned comparisons across sex and APOE groups</a:t>
            </a:r>
          </a:p>
        </p:txBody>
      </p:sp>
      <p:sp>
        <p:nvSpPr>
          <p:cNvPr id="26" name="Oval 25">
            <a:extLst>
              <a:ext uri="{573C3E81-BA6F-4D43-B542-B227B029DD9C}">
                <a16:creationId xmlns:a16="http://schemas.microsoft.com/office/drawing/2014/main" xmlns="" id="{3D9085F4-5EBB-402B-9E2A-899C11BCCAAB}"/>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10226B5-2CCB-42CB-AB34-ED0CD805B8A6}">
                <a16:creationId xmlns:a16="http://schemas.microsoft.com/office/drawing/2014/main" xmlns="" id="{D3545E6B-B67B-4980-A00D-F0A941E55AF6}"/>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Tests whether ROSMAP gene-set patterns and KDA candidates recur</a:t>
            </a:r>
          </a:p>
        </p:txBody>
      </p:sp>
      <p:sp>
        <p:nvSpPr>
          <p:cNvPr id="28" name="Rounded Rectangle 27">
            <a:extLst>
              <a:ext uri="{2A0AD765-22CE-4FA6-BB8E-254485BC78EF}">
                <a16:creationId xmlns:a16="http://schemas.microsoft.com/office/drawing/2014/main" xmlns="" id="{A2FAC7CB-D0D0-4886-8507-ACF32FA1C832}"/>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AA829E73-3C4E-4DB1-BD8F-A8C6B02BAA5D}">
                <a16:creationId xmlns:a16="http://schemas.microsoft.com/office/drawing/2014/main" xmlns="" id="{84E848BC-5599-4F79-BA63-85B1F3D5621C}"/>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Coverage is narrower and uneven across sex/APOE groups.</a:t>
            </a:r>
          </a:p>
        </p:txBody>
      </p:sp>
    </p:spTree>
    <p:extLst>
      <p:ext uri="{219FDAFA-2EEA-4642-A6A1-F4A0E8D33A44}">
        <p14:creationId xmlns:p14="http://schemas.microsoft.com/office/powerpoint/2010/main" xmlns="" val="9128036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gene-sets-background">
            <a:extLst>
              <a:ext uri="{FF2B5EF4-FFF2-40B4-BE49-F238E27FC236}">
                <a16:creationId xmlns:a16="http://schemas.microsoft.com/office/drawing/2014/main" id="{0DAF11F8-1936-4E3D-B2BF-10C14BD7895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lang="en-US"/>
          </a:p>
        </p:txBody>
      </p:sp>
      <p:sp>
        <p:nvSpPr>
          <p:cNvPr id="2" name="gene-sets-title">
            <a:extLst>
              <a:ext uri="{FF2B5EF4-FFF2-40B4-BE49-F238E27FC236}">
                <a16:creationId xmlns:a16="http://schemas.microsoft.com/office/drawing/2014/main" id="{9AB06EFC-9BE2-4126-B3B9-30B04CC7630C}"/>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Two mitochondrial gene sets used in this study</a:t>
            </a:r>
          </a:p>
        </p:txBody>
      </p:sp>
      <p:sp>
        <p:nvSpPr>
          <p:cNvPr id="3" name="gene-sets-header-term">
            <a:extLst>
              <a:ext uri="{FF2B5EF4-FFF2-40B4-BE49-F238E27FC236}">
                <a16:creationId xmlns:a16="http://schemas.microsoft.com/office/drawing/2014/main" id="{67BEE69B-75B6-4FD7-9A77-9EEA1CAFADBE}"/>
              </a:ext>
            </a:extLst>
          </p:cNvPr>
          <p:cNvSpPr>
            <a:spLocks noGrp="1"/>
          </p:cNvSpPr>
          <p:nvPr/>
        </p:nvSpPr>
        <p:spPr>
          <a:xfrm>
            <a:off x="143827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GENE SET</a:t>
            </a:r>
          </a:p>
        </p:txBody>
      </p:sp>
      <p:sp>
        <p:nvSpPr>
          <p:cNvPr id="4" name="gene-sets-header-meaning">
            <a:extLst>
              <a:ext uri="{FF2B5EF4-FFF2-40B4-BE49-F238E27FC236}">
                <a16:creationId xmlns:a16="http://schemas.microsoft.com/office/drawing/2014/main" id="{7A16E665-E5E6-416E-B401-75881B9F767C}"/>
              </a:ext>
            </a:extLst>
          </p:cNvPr>
          <p:cNvSpPr>
            <a:spLocks noGrp="1"/>
          </p:cNvSpPr>
          <p:nvPr/>
        </p:nvSpPr>
        <p:spPr>
          <a:xfrm>
            <a:off x="4476750" y="1266825"/>
            <a:ext cx="37147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WHAT IT INCLUDES</a:t>
            </a:r>
          </a:p>
        </p:txBody>
      </p:sp>
      <p:sp>
        <p:nvSpPr>
          <p:cNvPr id="5" name="gene-sets-header-role">
            <a:extLst>
              <a:ext uri="{FF2B5EF4-FFF2-40B4-BE49-F238E27FC236}">
                <a16:creationId xmlns:a16="http://schemas.microsoft.com/office/drawing/2014/main" id="{8BBFDC2E-3350-4417-9566-27A74586D511}"/>
              </a:ext>
            </a:extLst>
          </p:cNvPr>
          <p:cNvSpPr>
            <a:spLocks noGrp="1"/>
          </p:cNvSpPr>
          <p:nvPr/>
        </p:nvSpPr>
        <p:spPr>
          <a:xfrm>
            <a:off x="842962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ROLE IN THIS STUDY</a:t>
            </a:r>
          </a:p>
        </p:txBody>
      </p:sp>
      <p:sp>
        <p:nvSpPr>
          <p:cNvPr id="6" name="definition-1-background">
            <a:extLst>
              <a:ext uri="{FF2B5EF4-FFF2-40B4-BE49-F238E27FC236}">
                <a16:creationId xmlns:a16="http://schemas.microsoft.com/office/drawing/2014/main" id="{E1A38498-DD26-4F7A-A777-C5E0719E0EF7}"/>
              </a:ext>
            </a:extLst>
          </p:cNvPr>
          <p:cNvSpPr>
            <a:spLocks noGrp="1"/>
          </p:cNvSpPr>
          <p:nvPr/>
        </p:nvSpPr>
        <p:spPr>
          <a:xfrm>
            <a:off x="609600" y="1552575"/>
            <a:ext cx="10972800" cy="1581150"/>
          </a:xfrm>
          <a:prstGeom prst="roundRect">
            <a:avLst>
              <a:gd name="adj" fmla="val 7229"/>
            </a:avLst>
          </a:prstGeom>
          <a:solidFill>
            <a:srgbClr val="E8F5FB"/>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7" name="definition-1-accent">
            <a:extLst>
              <a:ext uri="{FF2B5EF4-FFF2-40B4-BE49-F238E27FC236}">
                <a16:creationId xmlns:a16="http://schemas.microsoft.com/office/drawing/2014/main" id="{515C9AE4-32E1-4578-8323-69B4D2F9D054}"/>
              </a:ext>
            </a:extLst>
          </p:cNvPr>
          <p:cNvSpPr>
            <a:spLocks noGrp="1"/>
          </p:cNvSpPr>
          <p:nvPr/>
        </p:nvSpPr>
        <p:spPr>
          <a:xfrm>
            <a:off x="609600" y="1762125"/>
            <a:ext cx="76200" cy="1162050"/>
          </a:xfrm>
          <a:prstGeom prst="rect">
            <a:avLst/>
          </a:prstGeom>
          <a:solidFill>
            <a:srgbClr val="0072B2"/>
          </a:solidFill>
          <a:ln w="0">
            <a:noFill/>
            <a:prstDash val="solid"/>
          </a:ln>
        </p:spPr>
        <p:txBody>
          <a:bodyPr/>
          <a:lstStyle/>
          <a:p>
            <a:endParaRPr lang="en-US"/>
          </a:p>
        </p:txBody>
      </p:sp>
      <p:sp>
        <p:nvSpPr>
          <p:cNvPr id="8" name="definition-1-number">
            <a:extLst>
              <a:ext uri="{FF2B5EF4-FFF2-40B4-BE49-F238E27FC236}">
                <a16:creationId xmlns:a16="http://schemas.microsoft.com/office/drawing/2014/main" id="{AE482DA0-5B74-4C4C-A5C7-1B8E837A5105}"/>
              </a:ext>
            </a:extLst>
          </p:cNvPr>
          <p:cNvSpPr>
            <a:spLocks noGrp="1"/>
          </p:cNvSpPr>
          <p:nvPr/>
        </p:nvSpPr>
        <p:spPr>
          <a:xfrm>
            <a:off x="866775" y="2047875"/>
            <a:ext cx="400050" cy="552450"/>
          </a:xfrm>
          <a:prstGeom prst="rect">
            <a:avLst/>
          </a:prstGeom>
          <a:noFill/>
          <a:ln w="0">
            <a:noFill/>
            <a:prstDash val="solid"/>
          </a:ln>
        </p:spPr>
        <p:txBody>
          <a:bodyPr wrap="square" lIns="0" tIns="0" rIns="0" bIns="0" anchor="ctr">
            <a:normAutofit/>
          </a:bodyPr>
          <a:lstStyle/>
          <a:p>
            <a:pPr algn="ctr">
              <a:defRPr sz="2100" b="1">
                <a:solidFill>
                  <a:srgbClr val="0072B2"/>
                </a:solidFill>
                <a:latin typeface="Arial"/>
                <a:ea typeface="Arial"/>
                <a:cs typeface="Arial"/>
              </a:defRPr>
            </a:pPr>
            <a:r>
              <a:rPr sz="2100" b="1">
                <a:solidFill>
                  <a:srgbClr val="0072B2"/>
                </a:solidFill>
                <a:latin typeface="Arial"/>
                <a:ea typeface="Arial"/>
                <a:cs typeface="Arial"/>
              </a:rPr>
              <a:t>1</a:t>
            </a:r>
          </a:p>
        </p:txBody>
      </p:sp>
      <p:sp>
        <p:nvSpPr>
          <p:cNvPr id="9" name="definition-1-term">
            <a:extLst>
              <a:ext uri="{FF2B5EF4-FFF2-40B4-BE49-F238E27FC236}">
                <a16:creationId xmlns:a16="http://schemas.microsoft.com/office/drawing/2014/main" id="{CA639156-A27B-453D-96E5-63AD417BCE0D}"/>
              </a:ext>
            </a:extLst>
          </p:cNvPr>
          <p:cNvSpPr>
            <a:spLocks noGrp="1"/>
          </p:cNvSpPr>
          <p:nvPr/>
        </p:nvSpPr>
        <p:spPr>
          <a:xfrm>
            <a:off x="1438275" y="1819275"/>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Core MT genes</a:t>
            </a:r>
          </a:p>
        </p:txBody>
      </p:sp>
      <p:sp>
        <p:nvSpPr>
          <p:cNvPr id="10" name="definition-1-meaning">
            <a:extLst>
              <a:ext uri="{FF2B5EF4-FFF2-40B4-BE49-F238E27FC236}">
                <a16:creationId xmlns:a16="http://schemas.microsoft.com/office/drawing/2014/main" id="{F8F619A9-BAA4-4743-950E-CB24027CBC36}"/>
              </a:ext>
            </a:extLst>
          </p:cNvPr>
          <p:cNvSpPr>
            <a:spLocks noGrp="1"/>
          </p:cNvSpPr>
          <p:nvPr/>
        </p:nvSpPr>
        <p:spPr>
          <a:xfrm>
            <a:off x="4476750" y="1790700"/>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13 protein-coding genes in mitochondrial DNA (mtDNA). All encode structural oxidative-phosphorylation (OXPHOS) subunits.</a:t>
            </a:r>
          </a:p>
        </p:txBody>
      </p:sp>
      <p:sp>
        <p:nvSpPr>
          <p:cNvPr id="11" name="definition-1-role">
            <a:extLst>
              <a:ext uri="{FF2B5EF4-FFF2-40B4-BE49-F238E27FC236}">
                <a16:creationId xmlns:a16="http://schemas.microsoft.com/office/drawing/2014/main" id="{3ECB5A21-96DB-4629-9F67-189720A7BF8D}"/>
              </a:ext>
            </a:extLst>
          </p:cNvPr>
          <p:cNvSpPr>
            <a:spLocks noGrp="1"/>
          </p:cNvSpPr>
          <p:nvPr/>
        </p:nvSpPr>
        <p:spPr>
          <a:xfrm>
            <a:off x="8429625" y="1790700"/>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mtDNA-encoded OXPHOS results</a:t>
            </a:r>
          </a:p>
        </p:txBody>
      </p:sp>
      <p:sp>
        <p:nvSpPr>
          <p:cNvPr id="12" name="definition-2-background">
            <a:extLst>
              <a:ext uri="{FF2B5EF4-FFF2-40B4-BE49-F238E27FC236}">
                <a16:creationId xmlns:a16="http://schemas.microsoft.com/office/drawing/2014/main" id="{CF20F760-0DF5-4192-990C-BDF098979A06}"/>
              </a:ext>
            </a:extLst>
          </p:cNvPr>
          <p:cNvSpPr>
            <a:spLocks noGrp="1"/>
          </p:cNvSpPr>
          <p:nvPr/>
        </p:nvSpPr>
        <p:spPr>
          <a:xfrm>
            <a:off x="609600" y="3333750"/>
            <a:ext cx="10972800" cy="1581150"/>
          </a:xfrm>
          <a:prstGeom prst="roundRect">
            <a:avLst>
              <a:gd name="adj" fmla="val 722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definition-2-accent">
            <a:extLst>
              <a:ext uri="{FF2B5EF4-FFF2-40B4-BE49-F238E27FC236}">
                <a16:creationId xmlns:a16="http://schemas.microsoft.com/office/drawing/2014/main" id="{BC16FA77-75E8-4A73-AD3E-2B4F0F9E1E7F}"/>
              </a:ext>
            </a:extLst>
          </p:cNvPr>
          <p:cNvSpPr>
            <a:spLocks noGrp="1"/>
          </p:cNvSpPr>
          <p:nvPr/>
        </p:nvSpPr>
        <p:spPr>
          <a:xfrm>
            <a:off x="609600" y="3543300"/>
            <a:ext cx="76200" cy="1162050"/>
          </a:xfrm>
          <a:prstGeom prst="rect">
            <a:avLst/>
          </a:prstGeom>
          <a:solidFill>
            <a:srgbClr val="008A68"/>
          </a:solidFill>
          <a:ln w="0">
            <a:noFill/>
            <a:prstDash val="solid"/>
          </a:ln>
        </p:spPr>
        <p:txBody>
          <a:bodyPr/>
          <a:lstStyle/>
          <a:p>
            <a:endParaRPr lang="en-US"/>
          </a:p>
        </p:txBody>
      </p:sp>
      <p:sp>
        <p:nvSpPr>
          <p:cNvPr id="14" name="definition-2-number">
            <a:extLst>
              <a:ext uri="{FF2B5EF4-FFF2-40B4-BE49-F238E27FC236}">
                <a16:creationId xmlns:a16="http://schemas.microsoft.com/office/drawing/2014/main" id="{FD361AD6-DDE6-4F76-AB13-22CA90CB0B56}"/>
              </a:ext>
            </a:extLst>
          </p:cNvPr>
          <p:cNvSpPr>
            <a:spLocks noGrp="1"/>
          </p:cNvSpPr>
          <p:nvPr/>
        </p:nvSpPr>
        <p:spPr>
          <a:xfrm>
            <a:off x="866775" y="3829050"/>
            <a:ext cx="400050" cy="552450"/>
          </a:xfrm>
          <a:prstGeom prst="rect">
            <a:avLst/>
          </a:prstGeom>
          <a:noFill/>
          <a:ln w="0">
            <a:noFill/>
            <a:prstDash val="solid"/>
          </a:ln>
        </p:spPr>
        <p:txBody>
          <a:bodyPr wrap="square" lIns="0" tIns="0" rIns="0" bIns="0" anchor="ctr">
            <a:normAutofit/>
          </a:bodyPr>
          <a:lstStyle/>
          <a:p>
            <a:pPr algn="ctr">
              <a:defRPr sz="2100" b="1">
                <a:solidFill>
                  <a:srgbClr val="008A68"/>
                </a:solidFill>
                <a:latin typeface="Arial"/>
                <a:ea typeface="Arial"/>
                <a:cs typeface="Arial"/>
              </a:defRPr>
            </a:pPr>
            <a:r>
              <a:rPr sz="2100" b="1">
                <a:solidFill>
                  <a:srgbClr val="008A68"/>
                </a:solidFill>
                <a:latin typeface="Arial"/>
                <a:ea typeface="Arial"/>
                <a:cs typeface="Arial"/>
              </a:rPr>
              <a:t>2</a:t>
            </a:r>
          </a:p>
        </p:txBody>
      </p:sp>
      <p:sp>
        <p:nvSpPr>
          <p:cNvPr id="15" name="definition-2-term">
            <a:extLst>
              <a:ext uri="{FF2B5EF4-FFF2-40B4-BE49-F238E27FC236}">
                <a16:creationId xmlns:a16="http://schemas.microsoft.com/office/drawing/2014/main" id="{E4B1EBB2-B292-438D-B228-6DFBD5B02A61}"/>
              </a:ext>
            </a:extLst>
          </p:cNvPr>
          <p:cNvSpPr>
            <a:spLocks noGrp="1"/>
          </p:cNvSpPr>
          <p:nvPr/>
        </p:nvSpPr>
        <p:spPr>
          <a:xfrm>
            <a:off x="1438275" y="3600450"/>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MitoCarta MT genes</a:t>
            </a:r>
          </a:p>
        </p:txBody>
      </p:sp>
      <p:sp>
        <p:nvSpPr>
          <p:cNvPr id="16" name="definition-2-meaning">
            <a:extLst>
              <a:ext uri="{FF2B5EF4-FFF2-40B4-BE49-F238E27FC236}">
                <a16:creationId xmlns:a16="http://schemas.microsoft.com/office/drawing/2014/main" id="{85BE16B6-5644-4CA3-90D2-6C619D39CEDF}"/>
              </a:ext>
            </a:extLst>
          </p:cNvPr>
          <p:cNvSpPr>
            <a:spLocks noGrp="1"/>
          </p:cNvSpPr>
          <p:nvPr/>
        </p:nvSpPr>
        <p:spPr>
          <a:xfrm>
            <a:off x="4476750" y="3571875"/>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1,136 protein-coding genes assigned to mitochondria by MitoCarta: 13 core MT genes plus 1,123 genes encoded by nuclear DNA.</a:t>
            </a:r>
          </a:p>
        </p:txBody>
      </p:sp>
      <p:sp>
        <p:nvSpPr>
          <p:cNvPr id="17" name="definition-2-role">
            <a:extLst>
              <a:ext uri="{FF2B5EF4-FFF2-40B4-BE49-F238E27FC236}">
                <a16:creationId xmlns:a16="http://schemas.microsoft.com/office/drawing/2014/main" id="{212E9765-FE74-4A6C-AD68-52DC643B7340}"/>
              </a:ext>
            </a:extLst>
          </p:cNvPr>
          <p:cNvSpPr>
            <a:spLocks noGrp="1"/>
          </p:cNvSpPr>
          <p:nvPr/>
        </p:nvSpPr>
        <p:spPr>
          <a:xfrm>
            <a:off x="8429625" y="3571875"/>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Mitochondrial pathway definitions and KDA input queries</a:t>
            </a:r>
          </a:p>
        </p:txBody>
      </p:sp>
      <p:sp>
        <p:nvSpPr>
          <p:cNvPr id="18" name="gene-sets-boundary-note-background">
            <a:extLst>
              <a:ext uri="{FF2B5EF4-FFF2-40B4-BE49-F238E27FC236}">
                <a16:creationId xmlns:a16="http://schemas.microsoft.com/office/drawing/2014/main" id="{A9F00EAD-83AE-454C-8550-8AC091E27E5F}"/>
              </a:ext>
            </a:extLst>
          </p:cNvPr>
          <p:cNvSpPr>
            <a:spLocks noGrp="1"/>
          </p:cNvSpPr>
          <p:nvPr/>
        </p:nvSpPr>
        <p:spPr>
          <a:xfrm>
            <a:off x="1200150" y="5429250"/>
            <a:ext cx="9791700" cy="781050"/>
          </a:xfrm>
          <a:prstGeom prst="roundRect">
            <a:avLst>
              <a:gd name="adj" fmla="val 12195"/>
            </a:avLst>
          </a:prstGeom>
          <a:solidFill>
            <a:srgbClr val="FFF3D6"/>
          </a:solidFill>
          <a:ln w="0">
            <a:noFill/>
            <a:prstDash val="solid"/>
          </a:ln>
        </p:spPr>
        <p:txBody>
          <a:bodyPr/>
          <a:lstStyle/>
          <a:p>
            <a:endParaRPr lang="en-US"/>
          </a:p>
        </p:txBody>
      </p:sp>
      <p:sp>
        <p:nvSpPr>
          <p:cNvPr id="19" name="gene-sets-boundary-note">
            <a:extLst>
              <a:ext uri="{FF2B5EF4-FFF2-40B4-BE49-F238E27FC236}">
                <a16:creationId xmlns:a16="http://schemas.microsoft.com/office/drawing/2014/main" id="{971504CA-4D80-4C9E-A762-03626E16CE01}"/>
              </a:ext>
            </a:extLst>
          </p:cNvPr>
          <p:cNvSpPr>
            <a:spLocks noGrp="1"/>
          </p:cNvSpPr>
          <p:nvPr/>
        </p:nvSpPr>
        <p:spPr>
          <a:xfrm>
            <a:off x="1524000" y="5581650"/>
            <a:ext cx="9144000" cy="476250"/>
          </a:xfrm>
          <a:prstGeom prst="rect">
            <a:avLst/>
          </a:prstGeom>
          <a:noFill/>
          <a:ln w="0">
            <a:noFill/>
            <a:prstDash val="solid"/>
          </a:ln>
        </p:spPr>
        <p:txBody>
          <a:bodyPr wrap="square" lIns="0" tIns="0" rIns="0" bIns="0" anchor="ctr">
            <a:normAutofit/>
          </a:bodyPr>
          <a:lstStyle/>
          <a:p>
            <a:pPr algn="ctr">
              <a:defRPr sz="1350" b="0">
                <a:solidFill>
                  <a:srgbClr val="1F2730"/>
                </a:solidFill>
                <a:latin typeface="Arial"/>
                <a:ea typeface="Arial"/>
                <a:cs typeface="Arial"/>
              </a:defRPr>
            </a:pPr>
            <a:r>
              <a:rPr sz="1350" b="0">
                <a:solidFill>
                  <a:srgbClr val="1F2730"/>
                </a:solidFill>
                <a:latin typeface="Arial"/>
                <a:ea typeface="Arial"/>
                <a:cs typeface="Arial"/>
              </a:rPr>
              <a:t>The other 24 genes in mtDNA encode 22 tRNAs and 2 rRNAs; they are outside the protein-gene sets analyzed here.</a:t>
            </a:r>
          </a:p>
        </p:txBody>
      </p:sp>
    </p:spTree>
    <p:extLst>
      <p:ext uri="{BB962C8B-B14F-4D97-AF65-F5344CB8AC3E}">
        <p14:creationId xmlns:p14="http://schemas.microsoft.com/office/powerpoint/2010/main" val="410428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mitocarta-oxphos-background">
            <a:extLst>
              <a:ext uri="{FF2B5EF4-FFF2-40B4-BE49-F238E27FC236}">
                <a16:creationId xmlns:a16="http://schemas.microsoft.com/office/drawing/2014/main" id="{8BD098F1-D7B9-4881-9766-B74346626A53}"/>
              </a:ext>
            </a:extLst>
          </p:cNvPr>
          <p:cNvSpPr>
            <a:spLocks noGrp="1"/>
          </p:cNvSpPr>
          <p:nvPr/>
        </p:nvSpPr>
        <p:spPr>
          <a:xfrm>
            <a:off x="0" y="57150"/>
            <a:ext cx="12192000" cy="6858000"/>
          </a:xfrm>
          <a:prstGeom prst="rect">
            <a:avLst/>
          </a:prstGeom>
          <a:solidFill>
            <a:srgbClr val="F7F9FC"/>
          </a:solidFill>
          <a:ln w="0">
            <a:noFill/>
            <a:prstDash val="solid"/>
          </a:ln>
        </p:spPr>
        <p:txBody>
          <a:bodyPr/>
          <a:lstStyle/>
          <a:p>
            <a:endParaRPr lang="en-US"/>
          </a:p>
        </p:txBody>
      </p:sp>
      <p:sp>
        <p:nvSpPr>
          <p:cNvPr id="2" name="mitocarta-oxphos-title">
            <a:extLst>
              <a:ext uri="{FF2B5EF4-FFF2-40B4-BE49-F238E27FC236}">
                <a16:creationId xmlns:a16="http://schemas.microsoft.com/office/drawing/2014/main" id="{2CEE02BB-7B54-40EA-B667-8600227DA807}"/>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How the OXPHOS gene sets fit within MitoCarta</a:t>
            </a:r>
          </a:p>
        </p:txBody>
      </p:sp>
      <p:sp>
        <p:nvSpPr>
          <p:cNvPr id="3" name="mitocarta-oxphos-subtitle">
            <a:extLst>
              <a:ext uri="{FF2B5EF4-FFF2-40B4-BE49-F238E27FC236}">
                <a16:creationId xmlns:a16="http://schemas.microsoft.com/office/drawing/2014/main" id="{DD9D4925-A7C1-4544-BB5A-32BB9540712F}"/>
              </a:ext>
            </a:extLst>
          </p:cNvPr>
          <p:cNvSpPr>
            <a:spLocks noGrp="1"/>
          </p:cNvSpPr>
          <p:nvPr/>
        </p:nvSpPr>
        <p:spPr>
          <a:xfrm>
            <a:off x="552450" y="942975"/>
            <a:ext cx="10668000" cy="333375"/>
          </a:xfrm>
          <a:prstGeom prst="rect">
            <a:avLst/>
          </a:prstGeom>
          <a:noFill/>
          <a:ln w="0">
            <a:noFill/>
            <a:prstDash val="solid"/>
          </a:ln>
        </p:spPr>
        <p:txBody>
          <a:bodyPr wrap="square" lIns="0" tIns="0" rIns="0" bIns="0" anchor="ctr">
            <a:normAutofit/>
          </a:bodyPr>
          <a:lstStyle/>
          <a:p>
            <a:pPr algn="l">
              <a:defRPr sz="1350" b="0">
                <a:solidFill>
                  <a:srgbClr val="4E5A68"/>
                </a:solidFill>
                <a:latin typeface="Arial"/>
                <a:ea typeface="Arial"/>
                <a:cs typeface="Arial"/>
              </a:defRPr>
            </a:pPr>
            <a:r>
              <a:rPr sz="1400" b="1" dirty="0">
                <a:latin typeface="Arial"/>
                <a:ea typeface="Arial"/>
                <a:cs typeface="Arial"/>
              </a:rPr>
              <a:t>All 99 structural OXPHOS genes analyzed here are part of the 1,136-gene </a:t>
            </a:r>
            <a:r>
              <a:rPr sz="1400" b="1" dirty="0" err="1">
                <a:latin typeface="Arial"/>
                <a:ea typeface="Arial"/>
                <a:cs typeface="Arial"/>
              </a:rPr>
              <a:t>MitoCarta</a:t>
            </a:r>
            <a:r>
              <a:rPr sz="1400" b="1" dirty="0">
                <a:latin typeface="Arial"/>
                <a:ea typeface="Arial"/>
                <a:cs typeface="Arial"/>
              </a:rPr>
              <a:t> inventory.</a:t>
            </a:r>
          </a:p>
        </p:txBody>
      </p:sp>
      <p:sp>
        <p:nvSpPr>
          <p:cNvPr id="4" name="mitocarta-circle">
            <a:extLst>
              <a:ext uri="{FF2B5EF4-FFF2-40B4-BE49-F238E27FC236}">
                <a16:creationId xmlns:a16="http://schemas.microsoft.com/office/drawing/2014/main" id="{6D89F07B-0923-4C61-BD3E-C2228C4B0F49}"/>
              </a:ext>
            </a:extLst>
          </p:cNvPr>
          <p:cNvSpPr>
            <a:spLocks noGrp="1"/>
          </p:cNvSpPr>
          <p:nvPr/>
        </p:nvSpPr>
        <p:spPr>
          <a:xfrm>
            <a:off x="838200" y="1381125"/>
            <a:ext cx="7524750" cy="4762500"/>
          </a:xfrm>
          <a:prstGeom prst="ellipse">
            <a:avLst/>
          </a:prstGeom>
          <a:solidFill>
            <a:srgbClr val="E4F4EE"/>
          </a:solidFill>
          <a:ln w="28575">
            <a:solidFill>
              <a:srgbClr val="008A68"/>
            </a:solidFill>
            <a:prstDash val="solid"/>
          </a:ln>
        </p:spPr>
        <p:txBody>
          <a:bodyPr/>
          <a:lstStyle/>
          <a:p>
            <a:endParaRPr lang="en-US"/>
          </a:p>
        </p:txBody>
      </p:sp>
      <p:sp>
        <p:nvSpPr>
          <p:cNvPr id="5" name="mitocarta-circle-label">
            <a:extLst>
              <a:ext uri="{FF2B5EF4-FFF2-40B4-BE49-F238E27FC236}">
                <a16:creationId xmlns:a16="http://schemas.microsoft.com/office/drawing/2014/main" id="{55316FDE-78CC-4DBD-8F40-FAFC00A01D62}"/>
              </a:ext>
            </a:extLst>
          </p:cNvPr>
          <p:cNvSpPr>
            <a:spLocks noGrp="1"/>
          </p:cNvSpPr>
          <p:nvPr/>
        </p:nvSpPr>
        <p:spPr>
          <a:xfrm>
            <a:off x="438150" y="1347552"/>
            <a:ext cx="2381250" cy="723900"/>
          </a:xfrm>
          <a:prstGeom prst="rect">
            <a:avLst/>
          </a:prstGeom>
          <a:noFill/>
          <a:ln w="0">
            <a:noFill/>
            <a:prstDash val="solid"/>
          </a:ln>
        </p:spPr>
        <p:txBody>
          <a:bodyPr wrap="square" lIns="0" tIns="0" rIns="0" bIns="0" anchor="ctr">
            <a:normAutofit/>
          </a:bodyPr>
          <a:lstStyle/>
          <a:p>
            <a:pPr algn="ctr">
              <a:defRPr sz="1800" b="1">
                <a:solidFill>
                  <a:srgbClr val="008A68"/>
                </a:solidFill>
                <a:latin typeface="Arial"/>
                <a:ea typeface="Arial"/>
                <a:cs typeface="Arial"/>
              </a:defRPr>
            </a:pPr>
            <a:r>
              <a:rPr sz="1800" b="1" dirty="0" err="1">
                <a:solidFill>
                  <a:srgbClr val="008A68"/>
                </a:solidFill>
                <a:latin typeface="Arial"/>
                <a:ea typeface="Arial"/>
                <a:cs typeface="Arial"/>
              </a:rPr>
              <a:t>MitoCarta</a:t>
            </a:r>
            <a:r>
              <a:rPr sz="1800" b="1" dirty="0">
                <a:solidFill>
                  <a:srgbClr val="008A68"/>
                </a:solidFill>
                <a:latin typeface="Arial"/>
                <a:ea typeface="Arial"/>
                <a:cs typeface="Arial"/>
              </a:rPr>
              <a:t> MT genes</a:t>
            </a:r>
          </a:p>
          <a:p>
            <a:pPr algn="ctr">
              <a:defRPr sz="1800" b="1">
                <a:solidFill>
                  <a:srgbClr val="008A68"/>
                </a:solidFill>
                <a:latin typeface="Arial"/>
                <a:ea typeface="Arial"/>
                <a:cs typeface="Arial"/>
              </a:defRPr>
            </a:pPr>
            <a:r>
              <a:rPr sz="1800" b="1" dirty="0">
                <a:solidFill>
                  <a:srgbClr val="008A68"/>
                </a:solidFill>
                <a:latin typeface="Arial"/>
                <a:ea typeface="Arial"/>
                <a:cs typeface="Arial"/>
              </a:rPr>
              <a:t>1,136</a:t>
            </a:r>
          </a:p>
        </p:txBody>
      </p:sp>
      <p:sp>
        <p:nvSpPr>
          <p:cNvPr id="6" name="oxphos-circle">
            <a:extLst>
              <a:ext uri="{FF2B5EF4-FFF2-40B4-BE49-F238E27FC236}">
                <a16:creationId xmlns:a16="http://schemas.microsoft.com/office/drawing/2014/main" id="{F15C5D05-AC2D-4740-BEED-DA42E385D1B9}"/>
              </a:ext>
            </a:extLst>
          </p:cNvPr>
          <p:cNvSpPr>
            <a:spLocks noGrp="1"/>
          </p:cNvSpPr>
          <p:nvPr/>
        </p:nvSpPr>
        <p:spPr>
          <a:xfrm>
            <a:off x="3238500" y="2095500"/>
            <a:ext cx="4524375" cy="3476625"/>
          </a:xfrm>
          <a:prstGeom prst="ellipse">
            <a:avLst/>
          </a:prstGeom>
          <a:solidFill>
            <a:srgbClr val="FFF3D6"/>
          </a:solidFill>
          <a:ln w="28575">
            <a:solidFill>
              <a:srgbClr val="A56600"/>
            </a:solidFill>
            <a:prstDash val="solid"/>
          </a:ln>
        </p:spPr>
        <p:txBody>
          <a:bodyPr/>
          <a:lstStyle/>
          <a:p>
            <a:endParaRPr lang="en-US"/>
          </a:p>
        </p:txBody>
      </p:sp>
      <p:sp>
        <p:nvSpPr>
          <p:cNvPr id="7" name="oxphos-circle-label">
            <a:extLst>
              <a:ext uri="{FF2B5EF4-FFF2-40B4-BE49-F238E27FC236}">
                <a16:creationId xmlns:a16="http://schemas.microsoft.com/office/drawing/2014/main" id="{406340AF-81D0-41FC-944A-D7279E499107}"/>
              </a:ext>
            </a:extLst>
          </p:cNvPr>
          <p:cNvSpPr>
            <a:spLocks noGrp="1"/>
          </p:cNvSpPr>
          <p:nvPr/>
        </p:nvSpPr>
        <p:spPr>
          <a:xfrm>
            <a:off x="3981450" y="2524125"/>
            <a:ext cx="3048000" cy="666750"/>
          </a:xfrm>
          <a:prstGeom prst="rect">
            <a:avLst/>
          </a:prstGeom>
          <a:noFill/>
          <a:ln w="0">
            <a:noFill/>
            <a:prstDash val="solid"/>
          </a:ln>
        </p:spPr>
        <p:txBody>
          <a:bodyPr wrap="square" lIns="0" tIns="0" rIns="0" bIns="0" anchor="ctr">
            <a:normAutofit/>
          </a:bodyPr>
          <a:lstStyle/>
          <a:p>
            <a:pPr algn="ctr">
              <a:defRPr sz="1875" b="1">
                <a:solidFill>
                  <a:srgbClr val="A56600"/>
                </a:solidFill>
                <a:latin typeface="Arial"/>
                <a:ea typeface="Arial"/>
                <a:cs typeface="Arial"/>
              </a:defRPr>
            </a:pPr>
            <a:r>
              <a:rPr sz="1875" b="1">
                <a:solidFill>
                  <a:srgbClr val="A56600"/>
                </a:solidFill>
                <a:latin typeface="Arial"/>
                <a:ea typeface="Arial"/>
                <a:cs typeface="Arial"/>
              </a:rPr>
              <a:t>Structural OXPHOS genes</a:t>
            </a:r>
          </a:p>
          <a:p>
            <a:pPr algn="ctr">
              <a:defRPr sz="1875" b="1">
                <a:solidFill>
                  <a:srgbClr val="A56600"/>
                </a:solidFill>
                <a:latin typeface="Arial"/>
                <a:ea typeface="Arial"/>
                <a:cs typeface="Arial"/>
              </a:defRPr>
            </a:pPr>
            <a:r>
              <a:rPr sz="1875" b="1">
                <a:solidFill>
                  <a:srgbClr val="A56600"/>
                </a:solidFill>
                <a:latin typeface="Arial"/>
                <a:ea typeface="Arial"/>
                <a:cs typeface="Arial"/>
              </a:rPr>
              <a:t>99</a:t>
            </a:r>
          </a:p>
        </p:txBody>
      </p:sp>
      <p:sp>
        <p:nvSpPr>
          <p:cNvPr id="8" name="oxphos-split-line">
            <a:extLst>
              <a:ext uri="{FF2B5EF4-FFF2-40B4-BE49-F238E27FC236}">
                <a16:creationId xmlns:a16="http://schemas.microsoft.com/office/drawing/2014/main" id="{04C1DBB6-74E1-4F30-905C-8E1BE0A4F2E2}"/>
              </a:ext>
            </a:extLst>
          </p:cNvPr>
          <p:cNvSpPr>
            <a:spLocks noGrp="1"/>
          </p:cNvSpPr>
          <p:nvPr/>
        </p:nvSpPr>
        <p:spPr>
          <a:xfrm>
            <a:off x="5505450" y="3429000"/>
            <a:ext cx="0" cy="1381125"/>
          </a:xfrm>
          <a:prstGeom prst="line">
            <a:avLst/>
          </a:prstGeom>
          <a:noFill/>
          <a:ln w="19050">
            <a:solidFill>
              <a:srgbClr val="A56600"/>
            </a:solidFill>
            <a:prstDash val="solid"/>
          </a:ln>
        </p:spPr>
        <p:txBody>
          <a:bodyPr/>
          <a:lstStyle/>
          <a:p>
            <a:endParaRPr lang="en-US"/>
          </a:p>
        </p:txBody>
      </p:sp>
      <p:sp>
        <p:nvSpPr>
          <p:cNvPr id="9" name="core-mt-region-label">
            <a:extLst>
              <a:ext uri="{FF2B5EF4-FFF2-40B4-BE49-F238E27FC236}">
                <a16:creationId xmlns:a16="http://schemas.microsoft.com/office/drawing/2014/main" id="{57CDC2A8-9156-4479-86CF-D5DE6199FFE9}"/>
              </a:ext>
            </a:extLst>
          </p:cNvPr>
          <p:cNvSpPr>
            <a:spLocks noGrp="1"/>
          </p:cNvSpPr>
          <p:nvPr/>
        </p:nvSpPr>
        <p:spPr>
          <a:xfrm>
            <a:off x="3667125" y="3486150"/>
            <a:ext cx="1619250" cy="1209675"/>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Core MT genes</a:t>
            </a:r>
          </a:p>
          <a:p>
            <a:pPr algn="ctr">
              <a:defRPr sz="1500" b="1">
                <a:solidFill>
                  <a:srgbClr val="0072B2"/>
                </a:solidFill>
                <a:latin typeface="Arial"/>
                <a:ea typeface="Arial"/>
                <a:cs typeface="Arial"/>
              </a:defRPr>
            </a:pPr>
            <a:r>
              <a:rPr sz="1500" b="1">
                <a:solidFill>
                  <a:srgbClr val="0072B2"/>
                </a:solidFill>
                <a:latin typeface="Arial"/>
                <a:ea typeface="Arial"/>
                <a:cs typeface="Arial"/>
              </a:rPr>
              <a:t>13</a:t>
            </a:r>
          </a:p>
          <a:p>
            <a:pPr algn="ctr">
              <a:defRPr sz="1500" b="1">
                <a:solidFill>
                  <a:srgbClr val="0072B2"/>
                </a:solidFill>
                <a:latin typeface="Arial"/>
                <a:ea typeface="Arial"/>
                <a:cs typeface="Arial"/>
              </a:defRPr>
            </a:pPr>
            <a:r>
              <a:rPr sz="1500" b="1">
                <a:solidFill>
                  <a:srgbClr val="0072B2"/>
                </a:solidFill>
                <a:latin typeface="Arial"/>
                <a:ea typeface="Arial"/>
                <a:cs typeface="Arial"/>
              </a:rPr>
              <a:t>encoded by mtDNA</a:t>
            </a:r>
          </a:p>
        </p:txBody>
      </p:sp>
      <p:sp>
        <p:nvSpPr>
          <p:cNvPr id="10" name="nuclear-oxphos-region-label">
            <a:extLst>
              <a:ext uri="{FF2B5EF4-FFF2-40B4-BE49-F238E27FC236}">
                <a16:creationId xmlns:a16="http://schemas.microsoft.com/office/drawing/2014/main" id="{D1E66855-C665-4F0B-A285-F6C1EE8C9A06}"/>
              </a:ext>
            </a:extLst>
          </p:cNvPr>
          <p:cNvSpPr>
            <a:spLocks noGrp="1"/>
          </p:cNvSpPr>
          <p:nvPr/>
        </p:nvSpPr>
        <p:spPr>
          <a:xfrm>
            <a:off x="5715000" y="3486150"/>
            <a:ext cx="1657350" cy="1209675"/>
          </a:xfrm>
          <a:prstGeom prst="rect">
            <a:avLst/>
          </a:prstGeom>
          <a:noFill/>
          <a:ln w="0">
            <a:noFill/>
            <a:prstDash val="solid"/>
          </a:ln>
        </p:spPr>
        <p:txBody>
          <a:bodyPr wrap="square" lIns="0" tIns="0" rIns="0" bIns="0" anchor="ctr">
            <a:normAutofit/>
          </a:bodyPr>
          <a:lstStyle/>
          <a:p>
            <a:pPr algn="ctr">
              <a:defRPr sz="1500" b="1">
                <a:solidFill>
                  <a:srgbClr val="0F233D"/>
                </a:solidFill>
                <a:latin typeface="Arial"/>
                <a:ea typeface="Arial"/>
                <a:cs typeface="Arial"/>
              </a:defRPr>
            </a:pPr>
            <a:r>
              <a:rPr sz="1500" b="1">
                <a:solidFill>
                  <a:srgbClr val="0F233D"/>
                </a:solidFill>
                <a:latin typeface="Arial"/>
                <a:ea typeface="Arial"/>
                <a:cs typeface="Arial"/>
              </a:rPr>
              <a:t>Nuclear-encoded</a:t>
            </a:r>
          </a:p>
          <a:p>
            <a:pPr algn="ctr">
              <a:defRPr sz="1500" b="1">
                <a:solidFill>
                  <a:srgbClr val="0F233D"/>
                </a:solidFill>
                <a:latin typeface="Arial"/>
                <a:ea typeface="Arial"/>
                <a:cs typeface="Arial"/>
              </a:defRPr>
            </a:pPr>
            <a:r>
              <a:rPr sz="1500" b="1">
                <a:solidFill>
                  <a:srgbClr val="0F233D"/>
                </a:solidFill>
                <a:latin typeface="Arial"/>
                <a:ea typeface="Arial"/>
                <a:cs typeface="Arial"/>
              </a:rPr>
              <a:t>OXPHOS genes</a:t>
            </a:r>
          </a:p>
          <a:p>
            <a:pPr algn="ctr">
              <a:defRPr sz="1500" b="1">
                <a:solidFill>
                  <a:srgbClr val="0F233D"/>
                </a:solidFill>
                <a:latin typeface="Arial"/>
                <a:ea typeface="Arial"/>
                <a:cs typeface="Arial"/>
              </a:defRPr>
            </a:pPr>
            <a:r>
              <a:rPr sz="1500" b="1">
                <a:solidFill>
                  <a:srgbClr val="0F233D"/>
                </a:solidFill>
                <a:latin typeface="Arial"/>
                <a:ea typeface="Arial"/>
                <a:cs typeface="Arial"/>
              </a:rPr>
              <a:t>86</a:t>
            </a:r>
          </a:p>
        </p:txBody>
      </p:sp>
      <p:sp>
        <p:nvSpPr>
          <p:cNvPr id="11" name="other-mitocarta-label">
            <a:extLst>
              <a:ext uri="{FF2B5EF4-FFF2-40B4-BE49-F238E27FC236}">
                <a16:creationId xmlns:a16="http://schemas.microsoft.com/office/drawing/2014/main" id="{C7BFE8CC-0CED-4FB5-BADF-C7EE9DEE7D07}"/>
              </a:ext>
            </a:extLst>
          </p:cNvPr>
          <p:cNvSpPr>
            <a:spLocks noGrp="1"/>
          </p:cNvSpPr>
          <p:nvPr/>
        </p:nvSpPr>
        <p:spPr>
          <a:xfrm>
            <a:off x="1204914" y="4352925"/>
            <a:ext cx="2024062" cy="676275"/>
          </a:xfrm>
          <a:prstGeom prst="rect">
            <a:avLst/>
          </a:prstGeom>
          <a:noFill/>
          <a:ln w="0">
            <a:noFill/>
            <a:prstDash val="solid"/>
          </a:ln>
        </p:spPr>
        <p:txBody>
          <a:bodyPr wrap="square" lIns="0" tIns="0" rIns="0" bIns="0" anchor="ctr">
            <a:normAutofit/>
          </a:bodyPr>
          <a:lstStyle/>
          <a:p>
            <a:pPr algn="ctr">
              <a:defRPr sz="1500" b="1">
                <a:solidFill>
                  <a:srgbClr val="008A68"/>
                </a:solidFill>
                <a:latin typeface="Arial"/>
                <a:ea typeface="Arial"/>
                <a:cs typeface="Arial"/>
              </a:defRPr>
            </a:pPr>
            <a:r>
              <a:rPr sz="1500" b="1" dirty="0">
                <a:solidFill>
                  <a:srgbClr val="008A68"/>
                </a:solidFill>
                <a:latin typeface="Arial"/>
                <a:ea typeface="Arial"/>
                <a:cs typeface="Arial"/>
              </a:rPr>
              <a:t>Other </a:t>
            </a:r>
            <a:r>
              <a:rPr sz="1500" b="1" dirty="0" err="1">
                <a:solidFill>
                  <a:srgbClr val="008A68"/>
                </a:solidFill>
                <a:latin typeface="Arial"/>
                <a:ea typeface="Arial"/>
                <a:cs typeface="Arial"/>
              </a:rPr>
              <a:t>MitoCarta</a:t>
            </a:r>
            <a:r>
              <a:rPr sz="1500" b="1" dirty="0">
                <a:solidFill>
                  <a:srgbClr val="008A68"/>
                </a:solidFill>
                <a:latin typeface="Arial"/>
                <a:ea typeface="Arial"/>
                <a:cs typeface="Arial"/>
              </a:rPr>
              <a:t> MT genes</a:t>
            </a:r>
            <a:r>
              <a:rPr lang="en-US" sz="1500" b="1" dirty="0">
                <a:solidFill>
                  <a:srgbClr val="008A68"/>
                </a:solidFill>
                <a:latin typeface="Arial"/>
                <a:ea typeface="Arial"/>
                <a:cs typeface="Arial"/>
              </a:rPr>
              <a:t> </a:t>
            </a:r>
            <a:r>
              <a:rPr sz="1500" b="1" dirty="0">
                <a:solidFill>
                  <a:srgbClr val="008A68"/>
                </a:solidFill>
                <a:latin typeface="Arial"/>
                <a:ea typeface="Arial"/>
                <a:cs typeface="Arial"/>
              </a:rPr>
              <a:t>1,037</a:t>
            </a:r>
          </a:p>
        </p:txBody>
      </p:sp>
      <p:sp>
        <p:nvSpPr>
          <p:cNvPr id="12" name="oxphos-equation-card">
            <a:extLst>
              <a:ext uri="{FF2B5EF4-FFF2-40B4-BE49-F238E27FC236}">
                <a16:creationId xmlns:a16="http://schemas.microsoft.com/office/drawing/2014/main" id="{1AC7A0C8-CBE4-4664-8FB0-E3AEE0B4C104}"/>
              </a:ext>
            </a:extLst>
          </p:cNvPr>
          <p:cNvSpPr>
            <a:spLocks noGrp="1"/>
          </p:cNvSpPr>
          <p:nvPr/>
        </p:nvSpPr>
        <p:spPr>
          <a:xfrm>
            <a:off x="8763000" y="1952625"/>
            <a:ext cx="2781300" cy="1447800"/>
          </a:xfrm>
          <a:prstGeom prst="roundRect">
            <a:avLst>
              <a:gd name="adj" fmla="val 7895"/>
            </a:avLst>
          </a:prstGeom>
          <a:solidFill>
            <a:srgbClr val="FFFFFF"/>
          </a:solidFill>
          <a:ln w="14288">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oxphos-equation">
            <a:extLst>
              <a:ext uri="{FF2B5EF4-FFF2-40B4-BE49-F238E27FC236}">
                <a16:creationId xmlns:a16="http://schemas.microsoft.com/office/drawing/2014/main" id="{D7D3BC97-B2E1-48B8-B8EA-25C6B2E3C59E}"/>
              </a:ext>
            </a:extLst>
          </p:cNvPr>
          <p:cNvSpPr>
            <a:spLocks noGrp="1"/>
          </p:cNvSpPr>
          <p:nvPr/>
        </p:nvSpPr>
        <p:spPr>
          <a:xfrm>
            <a:off x="9010650" y="2209800"/>
            <a:ext cx="2286000" cy="457200"/>
          </a:xfrm>
          <a:prstGeom prst="rect">
            <a:avLst/>
          </a:prstGeom>
          <a:noFill/>
          <a:ln w="0">
            <a:noFill/>
            <a:prstDash val="solid"/>
          </a:ln>
        </p:spPr>
        <p:txBody>
          <a:bodyPr wrap="square" lIns="0" tIns="0" rIns="0" bIns="0" anchor="ctr">
            <a:normAutofit/>
          </a:bodyPr>
          <a:lstStyle/>
          <a:p>
            <a:pPr algn="ctr">
              <a:defRPr sz="2325" b="1">
                <a:solidFill>
                  <a:srgbClr val="0F233D"/>
                </a:solidFill>
                <a:latin typeface="Arial"/>
                <a:ea typeface="Arial"/>
                <a:cs typeface="Arial"/>
              </a:defRPr>
            </a:pPr>
            <a:r>
              <a:rPr sz="2325" b="1">
                <a:solidFill>
                  <a:srgbClr val="0F233D"/>
                </a:solidFill>
                <a:latin typeface="Arial"/>
                <a:ea typeface="Arial"/>
                <a:cs typeface="Arial"/>
              </a:rPr>
              <a:t>13 + 86 = 99</a:t>
            </a:r>
          </a:p>
        </p:txBody>
      </p:sp>
      <p:sp>
        <p:nvSpPr>
          <p:cNvPr id="14" name="oxphos-equation-caption">
            <a:extLst>
              <a:ext uri="{FF2B5EF4-FFF2-40B4-BE49-F238E27FC236}">
                <a16:creationId xmlns:a16="http://schemas.microsoft.com/office/drawing/2014/main" id="{7EAA0B6C-3898-4C88-B8C2-005657C6F73A}"/>
              </a:ext>
            </a:extLst>
          </p:cNvPr>
          <p:cNvSpPr>
            <a:spLocks noGrp="1"/>
          </p:cNvSpPr>
          <p:nvPr/>
        </p:nvSpPr>
        <p:spPr>
          <a:xfrm>
            <a:off x="9010650" y="2752725"/>
            <a:ext cx="2286000" cy="333375"/>
          </a:xfrm>
          <a:prstGeom prst="rect">
            <a:avLst/>
          </a:prstGeom>
          <a:noFill/>
          <a:ln w="0">
            <a:noFill/>
            <a:prstDash val="solid"/>
          </a:ln>
        </p:spPr>
        <p:txBody>
          <a:bodyPr wrap="square" lIns="0" tIns="0" rIns="0" bIns="0" anchor="ctr">
            <a:normAutofit/>
          </a:bodyPr>
          <a:lstStyle/>
          <a:p>
            <a:pPr algn="ctr">
              <a:defRPr sz="1350" b="0">
                <a:solidFill>
                  <a:srgbClr val="4E5A68"/>
                </a:solidFill>
                <a:latin typeface="Arial"/>
                <a:ea typeface="Arial"/>
                <a:cs typeface="Arial"/>
              </a:defRPr>
            </a:pPr>
            <a:r>
              <a:rPr sz="1350" b="0">
                <a:solidFill>
                  <a:srgbClr val="4E5A68"/>
                </a:solidFill>
                <a:latin typeface="Arial"/>
                <a:ea typeface="Arial"/>
                <a:cs typeface="Arial"/>
              </a:rPr>
              <a:t>structural OXPHOS genes</a:t>
            </a:r>
          </a:p>
        </p:txBody>
      </p:sp>
      <p:sp>
        <p:nvSpPr>
          <p:cNvPr id="15" name="nuclear-definition-card">
            <a:extLst>
              <a:ext uri="{FF2B5EF4-FFF2-40B4-BE49-F238E27FC236}">
                <a16:creationId xmlns:a16="http://schemas.microsoft.com/office/drawing/2014/main" id="{7827315D-29FF-4BC2-A1DD-81EC492A0E87}"/>
              </a:ext>
            </a:extLst>
          </p:cNvPr>
          <p:cNvSpPr>
            <a:spLocks noGrp="1"/>
          </p:cNvSpPr>
          <p:nvPr/>
        </p:nvSpPr>
        <p:spPr>
          <a:xfrm>
            <a:off x="8763000" y="3657600"/>
            <a:ext cx="2781300" cy="1600200"/>
          </a:xfrm>
          <a:prstGeom prst="roundRect">
            <a:avLst>
              <a:gd name="adj" fmla="val 7143"/>
            </a:avLst>
          </a:prstGeom>
          <a:solidFill>
            <a:srgbClr val="E8F5FB"/>
          </a:solidFill>
          <a:ln w="9525">
            <a:solidFill>
              <a:srgbClr val="D8E2EC"/>
            </a:solidFill>
            <a:prstDash val="solid"/>
          </a:ln>
        </p:spPr>
        <p:txBody>
          <a:bodyPr/>
          <a:lstStyle/>
          <a:p>
            <a:endParaRPr lang="en-US"/>
          </a:p>
        </p:txBody>
      </p:sp>
      <p:sp>
        <p:nvSpPr>
          <p:cNvPr id="16" name="nuclear-definition-title">
            <a:extLst>
              <a:ext uri="{FF2B5EF4-FFF2-40B4-BE49-F238E27FC236}">
                <a16:creationId xmlns:a16="http://schemas.microsoft.com/office/drawing/2014/main" id="{115E4BE4-E1EC-4B5D-8942-08E716799A93}"/>
              </a:ext>
            </a:extLst>
          </p:cNvPr>
          <p:cNvSpPr>
            <a:spLocks noGrp="1"/>
          </p:cNvSpPr>
          <p:nvPr/>
        </p:nvSpPr>
        <p:spPr>
          <a:xfrm>
            <a:off x="9029700" y="3895725"/>
            <a:ext cx="2247900" cy="304800"/>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Nuclear-encoded</a:t>
            </a:r>
          </a:p>
        </p:txBody>
      </p:sp>
      <p:sp>
        <p:nvSpPr>
          <p:cNvPr id="17" name="nuclear-definition-text">
            <a:extLst>
              <a:ext uri="{FF2B5EF4-FFF2-40B4-BE49-F238E27FC236}">
                <a16:creationId xmlns:a16="http://schemas.microsoft.com/office/drawing/2014/main" id="{3E2593A7-7F57-43B3-8DFB-2A7C254F5A2C}"/>
              </a:ext>
            </a:extLst>
          </p:cNvPr>
          <p:cNvSpPr>
            <a:spLocks noGrp="1"/>
          </p:cNvSpPr>
          <p:nvPr/>
        </p:nvSpPr>
        <p:spPr>
          <a:xfrm>
            <a:off x="9048750" y="4305300"/>
            <a:ext cx="2209800" cy="723900"/>
          </a:xfrm>
          <a:prstGeom prst="rect">
            <a:avLst/>
          </a:prstGeom>
          <a:noFill/>
          <a:ln w="0">
            <a:noFill/>
            <a:prstDash val="solid"/>
          </a:ln>
        </p:spPr>
        <p:txBody>
          <a:bodyPr wrap="square" lIns="0" tIns="0" rIns="0" bIns="0" anchor="ctr">
            <a:normAutofit/>
          </a:bodyPr>
          <a:lstStyle/>
          <a:p>
            <a:pPr algn="ctr">
              <a:defRPr sz="1275" b="0">
                <a:solidFill>
                  <a:srgbClr val="1F2730"/>
                </a:solidFill>
                <a:latin typeface="Arial"/>
                <a:ea typeface="Arial"/>
                <a:cs typeface="Arial"/>
              </a:defRPr>
            </a:pPr>
            <a:r>
              <a:rPr sz="1275" b="0">
                <a:solidFill>
                  <a:srgbClr val="1F2730"/>
                </a:solidFill>
                <a:latin typeface="Arial"/>
                <a:ea typeface="Arial"/>
                <a:cs typeface="Arial"/>
              </a:rPr>
              <a:t>The gene is located in nuclear DNA; its protein functions in mitochondria.</a:t>
            </a:r>
          </a:p>
        </p:txBody>
      </p:sp>
    </p:spTree>
    <p:extLst>
      <p:ext uri="{BB962C8B-B14F-4D97-AF65-F5344CB8AC3E}">
        <p14:creationId xmlns:p14="http://schemas.microsoft.com/office/powerpoint/2010/main" val="8268973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mitocarta-hierarchy-background">
            <a:extLst>
              <a:ext uri="{FF2B5EF4-FFF2-40B4-BE49-F238E27FC236}">
                <a16:creationId xmlns:a16="http://schemas.microsoft.com/office/drawing/2014/main" id="{C32135CE-1DB8-4A86-8CC5-0C743A99463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mitocarta-hierarchy-title">
            <a:extLst>
              <a:ext uri="{FF2B5EF4-FFF2-40B4-BE49-F238E27FC236}">
                <a16:creationId xmlns:a16="http://schemas.microsoft.com/office/drawing/2014/main" id="{D9B4A397-B91D-45E4-A1A7-81D64922ACB6}"/>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Three levels of MitoCarta pathways</a:t>
            </a:r>
          </a:p>
        </p:txBody>
      </p:sp>
      <p:sp>
        <p:nvSpPr>
          <p:cNvPr id="3" name="mitocarta-hierarchy-subtitle">
            <a:extLst>
              <a:ext uri="{FF2B5EF4-FFF2-40B4-BE49-F238E27FC236}">
                <a16:creationId xmlns:a16="http://schemas.microsoft.com/office/drawing/2014/main" id="{28C990DB-3CCC-454A-A0A6-54EC6E9CABC9}"/>
              </a:ext>
            </a:extLst>
          </p:cNvPr>
          <p:cNvSpPr>
            <a:spLocks noGrp="1"/>
          </p:cNvSpPr>
          <p:nvPr/>
        </p:nvSpPr>
        <p:spPr>
          <a:xfrm>
            <a:off x="552450" y="914400"/>
            <a:ext cx="10572750" cy="3619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MitoCarta organizes its 1,136 MT genes into nested pathways, from broad systems to detailed subpathways.</a:t>
            </a:r>
          </a:p>
        </p:txBody>
      </p:sp>
      <p:sp>
        <p:nvSpPr>
          <p:cNvPr id="4" name="mitocarta-level-1-band">
            <a:extLst>
              <a:ext uri="{FF2B5EF4-FFF2-40B4-BE49-F238E27FC236}">
                <a16:creationId xmlns:a16="http://schemas.microsoft.com/office/drawing/2014/main" id="{18A9D7A3-88E9-4952-9CAA-1FC2A1ED5F43}"/>
              </a:ext>
            </a:extLst>
          </p:cNvPr>
          <p:cNvSpPr>
            <a:spLocks noGrp="1"/>
          </p:cNvSpPr>
          <p:nvPr/>
        </p:nvSpPr>
        <p:spPr>
          <a:xfrm>
            <a:off x="857250" y="1543050"/>
            <a:ext cx="10477500" cy="990600"/>
          </a:xfrm>
          <a:prstGeom prst="roundRect">
            <a:avLst>
              <a:gd name="adj" fmla="val 13462"/>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mitocarta-level-1-level">
            <a:extLst>
              <a:ext uri="{FF2B5EF4-FFF2-40B4-BE49-F238E27FC236}">
                <a16:creationId xmlns:a16="http://schemas.microsoft.com/office/drawing/2014/main" id="{E9D0E325-D5F5-4481-8B3B-16271FC0DB6E}"/>
              </a:ext>
            </a:extLst>
          </p:cNvPr>
          <p:cNvSpPr>
            <a:spLocks noGrp="1"/>
          </p:cNvSpPr>
          <p:nvPr/>
        </p:nvSpPr>
        <p:spPr>
          <a:xfrm>
            <a:off x="1123950" y="1724025"/>
            <a:ext cx="1200150" cy="228600"/>
          </a:xfrm>
          <a:prstGeom prst="rect">
            <a:avLst/>
          </a:prstGeom>
          <a:noFill/>
          <a:ln w="0">
            <a:noFill/>
            <a:prstDash val="solid"/>
          </a:ln>
        </p:spPr>
        <p:txBody>
          <a:bodyPr wrap="square" lIns="0" tIns="0" rIns="0" bIns="0" anchor="ctr">
            <a:normAutofit/>
          </a:bodyPr>
          <a:lstStyle/>
          <a:p>
            <a:pPr algn="l">
              <a:buNone/>
              <a:defRPr sz="1125" b="1">
                <a:solidFill>
                  <a:srgbClr val="0072B2"/>
                </a:solidFill>
                <a:latin typeface="Arial"/>
                <a:ea typeface="Arial"/>
                <a:cs typeface="Arial"/>
              </a:defRPr>
            </a:pPr>
            <a:r>
              <a:rPr sz="1125" b="1">
                <a:solidFill>
                  <a:srgbClr val="0072B2"/>
                </a:solidFill>
                <a:latin typeface="Arial"/>
                <a:ea typeface="Arial"/>
                <a:cs typeface="Arial"/>
              </a:rPr>
              <a:t>LEVEL 1</a:t>
            </a:r>
          </a:p>
        </p:txBody>
      </p:sp>
      <p:sp>
        <p:nvSpPr>
          <p:cNvPr id="6" name="mitocarta-level-1-label">
            <a:extLst>
              <a:ext uri="{FF2B5EF4-FFF2-40B4-BE49-F238E27FC236}">
                <a16:creationId xmlns:a16="http://schemas.microsoft.com/office/drawing/2014/main" id="{E9A17CB0-3A4C-45E3-86A2-52E80F61BADE}"/>
              </a:ext>
            </a:extLst>
          </p:cNvPr>
          <p:cNvSpPr>
            <a:spLocks noGrp="1"/>
          </p:cNvSpPr>
          <p:nvPr/>
        </p:nvSpPr>
        <p:spPr>
          <a:xfrm>
            <a:off x="1123950" y="2028825"/>
            <a:ext cx="450532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Broad mitochondrial system</a:t>
            </a:r>
          </a:p>
        </p:txBody>
      </p:sp>
      <p:sp>
        <p:nvSpPr>
          <p:cNvPr id="7" name="mitocarta-level-1-example">
            <a:extLst>
              <a:ext uri="{FF2B5EF4-FFF2-40B4-BE49-F238E27FC236}">
                <a16:creationId xmlns:a16="http://schemas.microsoft.com/office/drawing/2014/main" id="{9CE53DE4-53D8-4F37-89A9-CEB2184F3052}"/>
              </a:ext>
            </a:extLst>
          </p:cNvPr>
          <p:cNvSpPr>
            <a:spLocks noGrp="1"/>
          </p:cNvSpPr>
          <p:nvPr/>
        </p:nvSpPr>
        <p:spPr>
          <a:xfrm>
            <a:off x="5886450" y="1885950"/>
            <a:ext cx="282892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Oxidative phosphorylation (OXPHOS)</a:t>
            </a:r>
          </a:p>
        </p:txBody>
      </p:sp>
      <p:sp>
        <p:nvSpPr>
          <p:cNvPr id="8" name="mitocarta-level-1-count">
            <a:extLst>
              <a:ext uri="{FF2B5EF4-FFF2-40B4-BE49-F238E27FC236}">
                <a16:creationId xmlns:a16="http://schemas.microsoft.com/office/drawing/2014/main" id="{A0B6881E-78F2-46CC-90CB-35966ED6AC8E}"/>
              </a:ext>
            </a:extLst>
          </p:cNvPr>
          <p:cNvSpPr>
            <a:spLocks noGrp="1"/>
          </p:cNvSpPr>
          <p:nvPr/>
        </p:nvSpPr>
        <p:spPr>
          <a:xfrm>
            <a:off x="9620250" y="1819275"/>
            <a:ext cx="1428750" cy="457200"/>
          </a:xfrm>
          <a:prstGeom prst="rect">
            <a:avLst/>
          </a:prstGeom>
          <a:noFill/>
          <a:ln w="0">
            <a:noFill/>
            <a:prstDash val="solid"/>
          </a:ln>
        </p:spPr>
        <p:txBody>
          <a:bodyPr wrap="square" lIns="0" tIns="0" rIns="0" bIns="0" anchor="ctr">
            <a:normAutofit/>
          </a:bodyPr>
          <a:lstStyle/>
          <a:p>
            <a:pPr algn="r">
              <a:buNone/>
              <a:defRPr sz="1725" b="1">
                <a:solidFill>
                  <a:srgbClr val="0072B2"/>
                </a:solidFill>
                <a:latin typeface="Arial"/>
                <a:ea typeface="Arial"/>
                <a:cs typeface="Arial"/>
              </a:defRPr>
            </a:pPr>
            <a:r>
              <a:rPr sz="1725" b="1">
                <a:solidFill>
                  <a:srgbClr val="0072B2"/>
                </a:solidFill>
                <a:latin typeface="Arial"/>
                <a:ea typeface="Arial"/>
                <a:cs typeface="Arial"/>
              </a:rPr>
              <a:t>7 pathways</a:t>
            </a:r>
          </a:p>
        </p:txBody>
      </p:sp>
      <p:sp>
        <p:nvSpPr>
          <p:cNvPr id="9" name="mitocarta-level-2-band">
            <a:extLst>
              <a:ext uri="{FF2B5EF4-FFF2-40B4-BE49-F238E27FC236}">
                <a16:creationId xmlns:a16="http://schemas.microsoft.com/office/drawing/2014/main" id="{5DAF0BA4-AC5A-446A-84BE-194A8EF81A1D}"/>
              </a:ext>
            </a:extLst>
          </p:cNvPr>
          <p:cNvSpPr>
            <a:spLocks noGrp="1"/>
          </p:cNvSpPr>
          <p:nvPr/>
        </p:nvSpPr>
        <p:spPr>
          <a:xfrm>
            <a:off x="1619250" y="2705100"/>
            <a:ext cx="8953500" cy="990600"/>
          </a:xfrm>
          <a:prstGeom prst="roundRect">
            <a:avLst>
              <a:gd name="adj" fmla="val 13462"/>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0" name="mitocarta-level-2-level">
            <a:extLst>
              <a:ext uri="{FF2B5EF4-FFF2-40B4-BE49-F238E27FC236}">
                <a16:creationId xmlns:a16="http://schemas.microsoft.com/office/drawing/2014/main" id="{E307DD48-2E33-4870-AB47-AC61B7104C30}"/>
              </a:ext>
            </a:extLst>
          </p:cNvPr>
          <p:cNvSpPr>
            <a:spLocks noGrp="1"/>
          </p:cNvSpPr>
          <p:nvPr/>
        </p:nvSpPr>
        <p:spPr>
          <a:xfrm>
            <a:off x="1885950" y="2886075"/>
            <a:ext cx="1200150" cy="228600"/>
          </a:xfrm>
          <a:prstGeom prst="rect">
            <a:avLst/>
          </a:prstGeom>
          <a:noFill/>
          <a:ln w="0">
            <a:noFill/>
            <a:prstDash val="solid"/>
          </a:ln>
        </p:spPr>
        <p:txBody>
          <a:bodyPr wrap="square" lIns="0" tIns="0" rIns="0" bIns="0" anchor="ctr">
            <a:normAutofit/>
          </a:bodyPr>
          <a:lstStyle/>
          <a:p>
            <a:pPr algn="l">
              <a:buNone/>
              <a:defRPr sz="1125" b="1">
                <a:solidFill>
                  <a:srgbClr val="00684D"/>
                </a:solidFill>
                <a:latin typeface="Arial"/>
                <a:ea typeface="Arial"/>
                <a:cs typeface="Arial"/>
              </a:defRPr>
            </a:pPr>
            <a:r>
              <a:rPr sz="1125" b="1">
                <a:solidFill>
                  <a:srgbClr val="00684D"/>
                </a:solidFill>
                <a:latin typeface="Arial"/>
                <a:ea typeface="Arial"/>
                <a:cs typeface="Arial"/>
              </a:rPr>
              <a:t>LEVEL 2</a:t>
            </a:r>
          </a:p>
        </p:txBody>
      </p:sp>
      <p:sp>
        <p:nvSpPr>
          <p:cNvPr id="11" name="mitocarta-level-2-label">
            <a:extLst>
              <a:ext uri="{FF2B5EF4-FFF2-40B4-BE49-F238E27FC236}">
                <a16:creationId xmlns:a16="http://schemas.microsoft.com/office/drawing/2014/main" id="{2087C0A6-AC42-45D6-A8DF-F8950D8B57CF}"/>
              </a:ext>
            </a:extLst>
          </p:cNvPr>
          <p:cNvSpPr>
            <a:spLocks noGrp="1"/>
          </p:cNvSpPr>
          <p:nvPr/>
        </p:nvSpPr>
        <p:spPr>
          <a:xfrm>
            <a:off x="1885950" y="3190875"/>
            <a:ext cx="385000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Pathway within a system</a:t>
            </a:r>
          </a:p>
        </p:txBody>
      </p:sp>
      <p:sp>
        <p:nvSpPr>
          <p:cNvPr id="12" name="mitocarta-level-2-example">
            <a:extLst>
              <a:ext uri="{FF2B5EF4-FFF2-40B4-BE49-F238E27FC236}">
                <a16:creationId xmlns:a16="http://schemas.microsoft.com/office/drawing/2014/main" id="{21C35936-7529-43A8-A037-314B375217E3}"/>
              </a:ext>
            </a:extLst>
          </p:cNvPr>
          <p:cNvSpPr>
            <a:spLocks noGrp="1"/>
          </p:cNvSpPr>
          <p:nvPr/>
        </p:nvSpPr>
        <p:spPr>
          <a:xfrm>
            <a:off x="5916930" y="3048000"/>
            <a:ext cx="241744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a:t>
            </a:r>
          </a:p>
        </p:txBody>
      </p:sp>
      <p:sp>
        <p:nvSpPr>
          <p:cNvPr id="13" name="mitocarta-level-2-count">
            <a:extLst>
              <a:ext uri="{FF2B5EF4-FFF2-40B4-BE49-F238E27FC236}">
                <a16:creationId xmlns:a16="http://schemas.microsoft.com/office/drawing/2014/main" id="{D9693E17-B9DB-4D16-B3E6-9AE81C1CE84C}"/>
              </a:ext>
            </a:extLst>
          </p:cNvPr>
          <p:cNvSpPr>
            <a:spLocks noGrp="1"/>
          </p:cNvSpPr>
          <p:nvPr/>
        </p:nvSpPr>
        <p:spPr>
          <a:xfrm>
            <a:off x="8858250" y="2981325"/>
            <a:ext cx="1428750" cy="457200"/>
          </a:xfrm>
          <a:prstGeom prst="rect">
            <a:avLst/>
          </a:prstGeom>
          <a:noFill/>
          <a:ln w="0">
            <a:noFill/>
            <a:prstDash val="solid"/>
          </a:ln>
        </p:spPr>
        <p:txBody>
          <a:bodyPr wrap="square" lIns="0" tIns="0" rIns="0" bIns="0" anchor="ctr">
            <a:normAutofit/>
          </a:bodyPr>
          <a:lstStyle/>
          <a:p>
            <a:pPr algn="r">
              <a:buNone/>
              <a:defRPr sz="1725" b="1">
                <a:solidFill>
                  <a:srgbClr val="00684D"/>
                </a:solidFill>
                <a:latin typeface="Arial"/>
                <a:ea typeface="Arial"/>
                <a:cs typeface="Arial"/>
              </a:defRPr>
            </a:pPr>
            <a:r>
              <a:rPr sz="1725" b="1">
                <a:solidFill>
                  <a:srgbClr val="00684D"/>
                </a:solidFill>
                <a:latin typeface="Arial"/>
                <a:ea typeface="Arial"/>
                <a:cs typeface="Arial"/>
              </a:rPr>
              <a:t>39 pathways</a:t>
            </a:r>
          </a:p>
        </p:txBody>
      </p:sp>
      <p:sp>
        <p:nvSpPr>
          <p:cNvPr id="14" name="mitocarta-level-3-band">
            <a:extLst>
              <a:ext uri="{FF2B5EF4-FFF2-40B4-BE49-F238E27FC236}">
                <a16:creationId xmlns:a16="http://schemas.microsoft.com/office/drawing/2014/main" id="{2A8008ED-6648-4AF0-B933-D57921172975}"/>
              </a:ext>
            </a:extLst>
          </p:cNvPr>
          <p:cNvSpPr>
            <a:spLocks noGrp="1"/>
          </p:cNvSpPr>
          <p:nvPr/>
        </p:nvSpPr>
        <p:spPr>
          <a:xfrm>
            <a:off x="2381250" y="3867150"/>
            <a:ext cx="7429500" cy="990600"/>
          </a:xfrm>
          <a:prstGeom prst="roundRect">
            <a:avLst>
              <a:gd name="adj" fmla="val 13462"/>
            </a:avLst>
          </a:prstGeom>
          <a:solidFill>
            <a:srgbClr val="FFF3D6"/>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mitocarta-level-3-level">
            <a:extLst>
              <a:ext uri="{FF2B5EF4-FFF2-40B4-BE49-F238E27FC236}">
                <a16:creationId xmlns:a16="http://schemas.microsoft.com/office/drawing/2014/main" id="{81DB79D4-CD73-4A5C-963B-057666B719FB}"/>
              </a:ext>
            </a:extLst>
          </p:cNvPr>
          <p:cNvSpPr>
            <a:spLocks noGrp="1"/>
          </p:cNvSpPr>
          <p:nvPr/>
        </p:nvSpPr>
        <p:spPr>
          <a:xfrm>
            <a:off x="2647950" y="4048125"/>
            <a:ext cx="1200150" cy="228600"/>
          </a:xfrm>
          <a:prstGeom prst="rect">
            <a:avLst/>
          </a:prstGeom>
          <a:noFill/>
          <a:ln w="0">
            <a:noFill/>
            <a:prstDash val="solid"/>
          </a:ln>
        </p:spPr>
        <p:txBody>
          <a:bodyPr wrap="square" lIns="0" tIns="0" rIns="0" bIns="0" anchor="ctr">
            <a:normAutofit/>
          </a:bodyPr>
          <a:lstStyle/>
          <a:p>
            <a:pPr algn="l">
              <a:buNone/>
              <a:defRPr sz="1125" b="1">
                <a:solidFill>
                  <a:srgbClr val="9A6200"/>
                </a:solidFill>
                <a:latin typeface="Arial"/>
                <a:ea typeface="Arial"/>
                <a:cs typeface="Arial"/>
              </a:defRPr>
            </a:pPr>
            <a:r>
              <a:rPr sz="1125" b="1">
                <a:solidFill>
                  <a:srgbClr val="9A6200"/>
                </a:solidFill>
                <a:latin typeface="Arial"/>
                <a:ea typeface="Arial"/>
                <a:cs typeface="Arial"/>
              </a:rPr>
              <a:t>LEVEL 3</a:t>
            </a:r>
          </a:p>
        </p:txBody>
      </p:sp>
      <p:sp>
        <p:nvSpPr>
          <p:cNvPr id="16" name="mitocarta-level-3-label">
            <a:extLst>
              <a:ext uri="{FF2B5EF4-FFF2-40B4-BE49-F238E27FC236}">
                <a16:creationId xmlns:a16="http://schemas.microsoft.com/office/drawing/2014/main" id="{140C0801-B7C3-4D31-A665-7222FAAD0F71}"/>
              </a:ext>
            </a:extLst>
          </p:cNvPr>
          <p:cNvSpPr>
            <a:spLocks noGrp="1"/>
          </p:cNvSpPr>
          <p:nvPr/>
        </p:nvSpPr>
        <p:spPr>
          <a:xfrm>
            <a:off x="2647950" y="4352925"/>
            <a:ext cx="319468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Detailed subpathway</a:t>
            </a:r>
          </a:p>
        </p:txBody>
      </p:sp>
      <p:sp>
        <p:nvSpPr>
          <p:cNvPr id="17" name="mitocarta-level-3-example">
            <a:extLst>
              <a:ext uri="{FF2B5EF4-FFF2-40B4-BE49-F238E27FC236}">
                <a16:creationId xmlns:a16="http://schemas.microsoft.com/office/drawing/2014/main" id="{A94DF118-F7D1-4507-9C22-4CD1DDAB2A0A}"/>
              </a:ext>
            </a:extLst>
          </p:cNvPr>
          <p:cNvSpPr>
            <a:spLocks noGrp="1"/>
          </p:cNvSpPr>
          <p:nvPr/>
        </p:nvSpPr>
        <p:spPr>
          <a:xfrm>
            <a:off x="5947410" y="4210050"/>
            <a:ext cx="200596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 subunits</a:t>
            </a:r>
          </a:p>
        </p:txBody>
      </p:sp>
      <p:sp>
        <p:nvSpPr>
          <p:cNvPr id="18" name="mitocarta-level-3-count">
            <a:extLst>
              <a:ext uri="{FF2B5EF4-FFF2-40B4-BE49-F238E27FC236}">
                <a16:creationId xmlns:a16="http://schemas.microsoft.com/office/drawing/2014/main" id="{BB15147C-0D72-4962-85BB-A1B83412BA89}"/>
              </a:ext>
            </a:extLst>
          </p:cNvPr>
          <p:cNvSpPr>
            <a:spLocks noGrp="1"/>
          </p:cNvSpPr>
          <p:nvPr/>
        </p:nvSpPr>
        <p:spPr>
          <a:xfrm>
            <a:off x="8096250" y="4143375"/>
            <a:ext cx="1428750" cy="457200"/>
          </a:xfrm>
          <a:prstGeom prst="rect">
            <a:avLst/>
          </a:prstGeom>
          <a:noFill/>
          <a:ln w="0">
            <a:noFill/>
            <a:prstDash val="solid"/>
          </a:ln>
        </p:spPr>
        <p:txBody>
          <a:bodyPr wrap="square" lIns="0" tIns="0" rIns="0" bIns="0" anchor="ctr">
            <a:normAutofit/>
          </a:bodyPr>
          <a:lstStyle/>
          <a:p>
            <a:pPr algn="r">
              <a:buNone/>
              <a:defRPr sz="1725" b="1">
                <a:solidFill>
                  <a:srgbClr val="9A6200"/>
                </a:solidFill>
                <a:latin typeface="Arial"/>
                <a:ea typeface="Arial"/>
                <a:cs typeface="Arial"/>
              </a:defRPr>
            </a:pPr>
            <a:r>
              <a:rPr sz="1725" b="1">
                <a:solidFill>
                  <a:srgbClr val="9A6200"/>
                </a:solidFill>
                <a:latin typeface="Arial"/>
                <a:ea typeface="Arial"/>
                <a:cs typeface="Arial"/>
              </a:rPr>
              <a:t>103 pathways</a:t>
            </a:r>
          </a:p>
        </p:txBody>
      </p:sp>
      <p:sp>
        <p:nvSpPr>
          <p:cNvPr id="19" name="mitocarta-hierarchy-summary">
            <a:extLst>
              <a:ext uri="{FF2B5EF4-FFF2-40B4-BE49-F238E27FC236}">
                <a16:creationId xmlns:a16="http://schemas.microsoft.com/office/drawing/2014/main" id="{C106CBB7-A914-4CAA-A2D6-1E8DECF94573}"/>
              </a:ext>
            </a:extLst>
          </p:cNvPr>
          <p:cNvSpPr>
            <a:spLocks noGrp="1"/>
          </p:cNvSpPr>
          <p:nvPr/>
        </p:nvSpPr>
        <p:spPr>
          <a:xfrm>
            <a:off x="1238250" y="5362575"/>
            <a:ext cx="9715500" cy="438150"/>
          </a:xfrm>
          <a:prstGeom prst="rect">
            <a:avLst/>
          </a:prstGeom>
          <a:noFill/>
          <a:ln w="0">
            <a:noFill/>
            <a:prstDash val="solid"/>
          </a:ln>
        </p:spPr>
        <p:txBody>
          <a:bodyPr wrap="square" lIns="0" tIns="0" rIns="0" bIns="0" anchor="ctr">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Levels 1 and 2 contain 46 pathways. Including Level 3 gives 149 pathways in total.</a:t>
            </a:r>
          </a:p>
        </p:txBody>
      </p:sp>
      <p:sp>
        <p:nvSpPr>
          <p:cNvPr id="20" name="mitocarta-hierarchy-note">
            <a:extLst>
              <a:ext uri="{FF2B5EF4-FFF2-40B4-BE49-F238E27FC236}">
                <a16:creationId xmlns:a16="http://schemas.microsoft.com/office/drawing/2014/main" id="{8732A8D5-E54F-4818-8258-7BB4F33E4664}"/>
              </a:ext>
            </a:extLst>
          </p:cNvPr>
          <p:cNvSpPr>
            <a:spLocks noGrp="1"/>
          </p:cNvSpPr>
          <p:nvPr/>
        </p:nvSpPr>
        <p:spPr>
          <a:xfrm>
            <a:off x="1714500" y="5915025"/>
            <a:ext cx="8763000" cy="304800"/>
          </a:xfrm>
          <a:prstGeom prst="rect">
            <a:avLst/>
          </a:prstGeom>
          <a:noFill/>
          <a:ln w="0">
            <a:noFill/>
            <a:prstDash val="solid"/>
          </a:ln>
        </p:spPr>
        <p:txBody>
          <a:bodyPr wrap="square" lIns="0" tIns="0" rIns="0" bIns="0" anchor="ctr">
            <a:normAutofit/>
          </a:bodyPr>
          <a:lstStyle/>
          <a:p>
            <a:pPr algn="ctr">
              <a:buNone/>
              <a:defRPr sz="1275" b="0">
                <a:solidFill>
                  <a:srgbClr val="4E5A68"/>
                </a:solidFill>
                <a:latin typeface="Arial"/>
                <a:ea typeface="Arial"/>
                <a:cs typeface="Arial"/>
              </a:defRPr>
            </a:pPr>
            <a:r>
              <a:rPr sz="1275" b="0">
                <a:solidFill>
                  <a:srgbClr val="4E5A68"/>
                </a:solidFill>
                <a:latin typeface="Arial"/>
                <a:ea typeface="Arial"/>
                <a:cs typeface="Arial"/>
              </a:rPr>
              <a:t>The same gene may belong to a broad pathway and one or more nested pathways.</a:t>
            </a:r>
          </a:p>
        </p:txBody>
      </p:sp>
    </p:spTree>
    <p:extLst>
      <p:ext uri="{BB962C8B-B14F-4D97-AF65-F5344CB8AC3E}">
        <p14:creationId xmlns:p14="http://schemas.microsoft.com/office/powerpoint/2010/main" val="20496920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ABE309-C9E3-48FF-A8F2-A0EF08A29372}"/>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contrast</a:t>
            </a:r>
          </a:p>
        </p:txBody>
      </p:sp>
      <p:sp>
        <p:nvSpPr>
          <p:cNvPr id="3" name="TextBox 2">
            <a:extLst>
              <a:ext uri="{FF2B5EF4-FFF2-40B4-BE49-F238E27FC236}">
                <a16:creationId xmlns:a16="http://schemas.microsoft.com/office/drawing/2014/main" id="{AFCB9572-86B4-40FF-8174-14DE2FC5F59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Fine cell type × sex × APOE defines the contrast; broad-cell aggregation happens after KDA calls.</a:t>
            </a:r>
          </a:p>
        </p:txBody>
      </p:sp>
      <p:sp>
        <p:nvSpPr>
          <p:cNvPr id="4" name="Rounded Rectangle 3">
            <a:extLst>
              <a:ext uri="{FF2B5EF4-FFF2-40B4-BE49-F238E27FC236}">
                <a16:creationId xmlns:a16="http://schemas.microsoft.com/office/drawing/2014/main" id="{783C0F05-8BCC-4C1E-99DB-9C95EA400582}"/>
              </a:ext>
            </a:extLst>
          </p:cNvPr>
          <p:cNvSpPr>
            <a:spLocks noGrp="1"/>
          </p:cNvSpPr>
          <p:nvPr/>
        </p:nvSpPr>
        <p:spPr>
          <a:xfrm>
            <a:off x="603504" y="1261872"/>
            <a:ext cx="2157984" cy="841248"/>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2042E1-1881-4A0D-A856-6BD035FB9B6E}"/>
              </a:ext>
            </a:extLst>
          </p:cNvPr>
          <p:cNvSpPr>
            <a:spLocks noGrp="1"/>
          </p:cNvSpPr>
          <p:nvPr/>
        </p:nvSpPr>
        <p:spPr>
          <a:xfrm>
            <a:off x="713232"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N</a:t>
            </a:r>
          </a:p>
        </p:txBody>
      </p:sp>
      <p:sp>
        <p:nvSpPr>
          <p:cNvPr id="6" name="TextBox 5">
            <a:extLst>
              <a:ext uri="{FF2B5EF4-FFF2-40B4-BE49-F238E27FC236}">
                <a16:creationId xmlns:a16="http://schemas.microsoft.com/office/drawing/2014/main" id="{4CA06EC8-5501-4A49-8CF5-CF9C879F44D2}"/>
              </a:ext>
            </a:extLst>
          </p:cNvPr>
          <p:cNvSpPr>
            <a:spLocks noGrp="1"/>
          </p:cNvSpPr>
          <p:nvPr/>
        </p:nvSpPr>
        <p:spPr>
          <a:xfrm>
            <a:off x="1463040"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fine cell types</a:t>
            </a:r>
          </a:p>
        </p:txBody>
      </p:sp>
      <p:sp>
        <p:nvSpPr>
          <p:cNvPr id="7" name="TextBox 6">
            <a:extLst>
              <a:ext uri="{FF2B5EF4-FFF2-40B4-BE49-F238E27FC236}">
                <a16:creationId xmlns:a16="http://schemas.microsoft.com/office/drawing/2014/main" id="{C2A22B25-B9D1-4F1E-B499-772695760BDA}"/>
              </a:ext>
            </a:extLst>
          </p:cNvPr>
          <p:cNvSpPr>
            <a:spLocks noGrp="1"/>
          </p:cNvSpPr>
          <p:nvPr/>
        </p:nvSpPr>
        <p:spPr>
          <a:xfrm>
            <a:off x="2852928"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8" name="Rounded Rectangle 7">
            <a:extLst>
              <a:ext uri="{FF2B5EF4-FFF2-40B4-BE49-F238E27FC236}">
                <a16:creationId xmlns:a16="http://schemas.microsoft.com/office/drawing/2014/main" id="{D2148A89-00B9-4DD8-B7DF-A655AEBC4A4E}"/>
              </a:ext>
            </a:extLst>
          </p:cNvPr>
          <p:cNvSpPr>
            <a:spLocks noGrp="1"/>
          </p:cNvSpPr>
          <p:nvPr/>
        </p:nvSpPr>
        <p:spPr>
          <a:xfrm>
            <a:off x="3310128" y="1261872"/>
            <a:ext cx="1975104" cy="84124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2D9BD53-74AD-440A-877E-734044EEC58A}"/>
              </a:ext>
            </a:extLst>
          </p:cNvPr>
          <p:cNvSpPr>
            <a:spLocks noGrp="1"/>
          </p:cNvSpPr>
          <p:nvPr/>
        </p:nvSpPr>
        <p:spPr>
          <a:xfrm>
            <a:off x="3419856"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2</a:t>
            </a:r>
          </a:p>
        </p:txBody>
      </p:sp>
      <p:sp>
        <p:nvSpPr>
          <p:cNvPr id="10" name="TextBox 9">
            <a:extLst>
              <a:ext uri="{FF2B5EF4-FFF2-40B4-BE49-F238E27FC236}">
                <a16:creationId xmlns:a16="http://schemas.microsoft.com/office/drawing/2014/main" id="{A8D6D415-6CCA-4784-A9AD-1A28B381EBFB}"/>
              </a:ext>
            </a:extLst>
          </p:cNvPr>
          <p:cNvSpPr>
            <a:spLocks noGrp="1"/>
          </p:cNvSpPr>
          <p:nvPr/>
        </p:nvSpPr>
        <p:spPr>
          <a:xfrm>
            <a:off x="4169664" y="1463040"/>
            <a:ext cx="1005840"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sexes</a:t>
            </a:r>
          </a:p>
        </p:txBody>
      </p:sp>
      <p:sp>
        <p:nvSpPr>
          <p:cNvPr id="11" name="TextBox 10">
            <a:extLst>
              <a:ext uri="{FF2B5EF4-FFF2-40B4-BE49-F238E27FC236}">
                <a16:creationId xmlns:a16="http://schemas.microsoft.com/office/drawing/2014/main" id="{82807640-81E0-4A92-92A6-EBB7277467DE}"/>
              </a:ext>
            </a:extLst>
          </p:cNvPr>
          <p:cNvSpPr>
            <a:spLocks noGrp="1"/>
          </p:cNvSpPr>
          <p:nvPr/>
        </p:nvSpPr>
        <p:spPr>
          <a:xfrm>
            <a:off x="5376672"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2" name="Rounded Rectangle 11">
            <a:extLst>
              <a:ext uri="{FF2B5EF4-FFF2-40B4-BE49-F238E27FC236}">
                <a16:creationId xmlns:a16="http://schemas.microsoft.com/office/drawing/2014/main" id="{5C1612BB-C0AB-4676-B620-7CFBF03B12A0}"/>
              </a:ext>
            </a:extLst>
          </p:cNvPr>
          <p:cNvSpPr>
            <a:spLocks noGrp="1"/>
          </p:cNvSpPr>
          <p:nvPr/>
        </p:nvSpPr>
        <p:spPr>
          <a:xfrm>
            <a:off x="5833872" y="1261872"/>
            <a:ext cx="2157984" cy="841248"/>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92F8939-D400-412A-94EF-7BC0FF1FB9B1}"/>
              </a:ext>
            </a:extLst>
          </p:cNvPr>
          <p:cNvSpPr>
            <a:spLocks noGrp="1"/>
          </p:cNvSpPr>
          <p:nvPr/>
        </p:nvSpPr>
        <p:spPr>
          <a:xfrm>
            <a:off x="5943600"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CD39BEE1-7B75-4AC0-B404-2BC9A78F8411}"/>
              </a:ext>
            </a:extLst>
          </p:cNvPr>
          <p:cNvSpPr>
            <a:spLocks noGrp="1"/>
          </p:cNvSpPr>
          <p:nvPr/>
        </p:nvSpPr>
        <p:spPr>
          <a:xfrm>
            <a:off x="6693408"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APOE groups</a:t>
            </a:r>
          </a:p>
        </p:txBody>
      </p:sp>
      <p:sp>
        <p:nvSpPr>
          <p:cNvPr id="15" name="TextBox 14">
            <a:extLst>
              <a:ext uri="{FF2B5EF4-FFF2-40B4-BE49-F238E27FC236}">
                <a16:creationId xmlns:a16="http://schemas.microsoft.com/office/drawing/2014/main" id="{0F149D61-E0B1-43EA-9C60-5C83750A956E}"/>
              </a:ext>
            </a:extLst>
          </p:cNvPr>
          <p:cNvSpPr>
            <a:spLocks noGrp="1"/>
          </p:cNvSpPr>
          <p:nvPr/>
        </p:nvSpPr>
        <p:spPr>
          <a:xfrm>
            <a:off x="8083296"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6" name="Rounded Rectangle 15">
            <a:extLst>
              <a:ext uri="{FF2B5EF4-FFF2-40B4-BE49-F238E27FC236}">
                <a16:creationId xmlns:a16="http://schemas.microsoft.com/office/drawing/2014/main" id="{295304B1-6E48-4817-80DA-93860307ABB8}"/>
              </a:ext>
            </a:extLst>
          </p:cNvPr>
          <p:cNvSpPr>
            <a:spLocks noGrp="1"/>
          </p:cNvSpPr>
          <p:nvPr/>
        </p:nvSpPr>
        <p:spPr>
          <a:xfrm>
            <a:off x="8540496" y="1261872"/>
            <a:ext cx="3044952" cy="841248"/>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01C2CFF-53CF-4D76-A412-6C11E2CA0186}"/>
              </a:ext>
            </a:extLst>
          </p:cNvPr>
          <p:cNvSpPr>
            <a:spLocks noGrp="1"/>
          </p:cNvSpPr>
          <p:nvPr/>
        </p:nvSpPr>
        <p:spPr>
          <a:xfrm>
            <a:off x="8650224"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9E3A00"/>
                </a:solidFill>
                <a:latin typeface="Arial"/>
                <a:ea typeface="Arial"/>
                <a:cs typeface="Arial"/>
              </a:rPr>
              <a:t>6N</a:t>
            </a:r>
          </a:p>
        </p:txBody>
      </p:sp>
      <p:sp>
        <p:nvSpPr>
          <p:cNvPr id="18" name="TextBox 17">
            <a:extLst>
              <a:ext uri="{FF2B5EF4-FFF2-40B4-BE49-F238E27FC236}">
                <a16:creationId xmlns:a16="http://schemas.microsoft.com/office/drawing/2014/main" id="{A7BD88E4-29E5-4E20-9001-225028ABFB98}"/>
              </a:ext>
            </a:extLst>
          </p:cNvPr>
          <p:cNvSpPr>
            <a:spLocks noGrp="1"/>
          </p:cNvSpPr>
          <p:nvPr/>
        </p:nvSpPr>
        <p:spPr>
          <a:xfrm>
            <a:off x="9400032" y="1463040"/>
            <a:ext cx="2075688"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planned contrasts</a:t>
            </a:r>
          </a:p>
        </p:txBody>
      </p:sp>
      <p:sp>
        <p:nvSpPr>
          <p:cNvPr id="19" name="TextBox 18">
            <a:extLst>
              <a:ext uri="{FF2B5EF4-FFF2-40B4-BE49-F238E27FC236}">
                <a16:creationId xmlns:a16="http://schemas.microsoft.com/office/drawing/2014/main" id="{C9776B47-05AA-4A96-8279-73A57EE15FFF}"/>
              </a:ext>
            </a:extLst>
          </p:cNvPr>
          <p:cNvSpPr>
            <a:spLocks noGrp="1"/>
          </p:cNvSpPr>
          <p:nvPr/>
        </p:nvSpPr>
        <p:spPr>
          <a:xfrm>
            <a:off x="621792" y="2212848"/>
            <a:ext cx="10954512" cy="3323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b="1" i="0">
                <a:solidFill>
                  <a:srgbClr val="7E4C9A"/>
                </a:solidFill>
                <a:latin typeface="Arial"/>
                <a:ea typeface="Arial"/>
                <a:cs typeface="Arial"/>
              </a:rPr>
              <a:t>ROSMAP example: 54 fine cell types × 2 sexes × 3 APOE groups = 324 planned contrasts</a:t>
            </a:r>
          </a:p>
        </p:txBody>
      </p:sp>
      <p:sp>
        <p:nvSpPr>
          <p:cNvPr id="20" name="Rounded Rectangle 19">
            <a:extLst>
              <a:ext uri="{FF2B5EF4-FFF2-40B4-BE49-F238E27FC236}">
                <a16:creationId xmlns:a16="http://schemas.microsoft.com/office/drawing/2014/main" id="{EADAEADC-96D3-4FD9-84AB-CD1B9DCD3675}"/>
              </a:ext>
            </a:extLst>
          </p:cNvPr>
          <p:cNvSpPr>
            <a:spLocks noGrp="1"/>
          </p:cNvSpPr>
          <p:nvPr/>
        </p:nvSpPr>
        <p:spPr>
          <a:xfrm>
            <a:off x="603504" y="2703142"/>
            <a:ext cx="5422392" cy="32186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48DB1D99-3E39-4EE8-81B1-E579A7B0AB7D}"/>
              </a:ext>
            </a:extLst>
          </p:cNvPr>
          <p:cNvSpPr>
            <a:spLocks noGrp="1"/>
          </p:cNvSpPr>
          <p:nvPr/>
        </p:nvSpPr>
        <p:spPr>
          <a:xfrm>
            <a:off x="877824" y="298660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558DA8C8-935B-45B6-B3E0-C2E00D6AF0EF}"/>
              </a:ext>
            </a:extLst>
          </p:cNvPr>
          <p:cNvSpPr>
            <a:spLocks noGrp="1"/>
          </p:cNvSpPr>
          <p:nvPr/>
        </p:nvSpPr>
        <p:spPr>
          <a:xfrm>
            <a:off x="1024126" y="2959174"/>
            <a:ext cx="4855465"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contrast → run DEG → Make KDA calls (at most one)</a:t>
            </a:r>
          </a:p>
        </p:txBody>
      </p:sp>
      <p:sp>
        <p:nvSpPr>
          <p:cNvPr id="23" name="Rounded Rectangle 22">
            <a:extLst>
              <a:ext uri="{FF2B5EF4-FFF2-40B4-BE49-F238E27FC236}">
                <a16:creationId xmlns:a16="http://schemas.microsoft.com/office/drawing/2014/main" id="{C4B88BEE-3638-4BD9-9B63-6CC149E79E1B}"/>
              </a:ext>
            </a:extLst>
          </p:cNvPr>
          <p:cNvSpPr>
            <a:spLocks noGrp="1"/>
          </p:cNvSpPr>
          <p:nvPr/>
        </p:nvSpPr>
        <p:spPr>
          <a:xfrm>
            <a:off x="896112" y="343466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C3149286-B7B6-4FDD-B244-1D2656E7D904}"/>
              </a:ext>
            </a:extLst>
          </p:cNvPr>
          <p:cNvSpPr>
            <a:spLocks noGrp="1"/>
          </p:cNvSpPr>
          <p:nvPr/>
        </p:nvSpPr>
        <p:spPr>
          <a:xfrm>
            <a:off x="932688" y="350781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1</a:t>
            </a:r>
          </a:p>
        </p:txBody>
      </p:sp>
      <p:sp>
        <p:nvSpPr>
          <p:cNvPr id="25" name="TextBox 24">
            <a:extLst>
              <a:ext uri="{FF2B5EF4-FFF2-40B4-BE49-F238E27FC236}">
                <a16:creationId xmlns:a16="http://schemas.microsoft.com/office/drawing/2014/main" id="{D0B71D92-1D0F-424C-A9F0-0E2D9A5DB977}"/>
              </a:ext>
            </a:extLst>
          </p:cNvPr>
          <p:cNvSpPr>
            <a:spLocks noGrp="1"/>
          </p:cNvSpPr>
          <p:nvPr/>
        </p:nvSpPr>
        <p:spPr>
          <a:xfrm>
            <a:off x="1426464" y="342551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Define one AD-versus-NCI comparison</a:t>
            </a:r>
          </a:p>
        </p:txBody>
      </p:sp>
      <p:sp>
        <p:nvSpPr>
          <p:cNvPr id="26" name="TextBox 25">
            <a:extLst>
              <a:ext uri="{FF2B5EF4-FFF2-40B4-BE49-F238E27FC236}">
                <a16:creationId xmlns:a16="http://schemas.microsoft.com/office/drawing/2014/main" id="{8C70D56D-0CCD-495E-8997-2A5B133C8488}"/>
              </a:ext>
            </a:extLst>
          </p:cNvPr>
          <p:cNvSpPr>
            <a:spLocks noGrp="1"/>
          </p:cNvSpPr>
          <p:nvPr/>
        </p:nvSpPr>
        <p:spPr>
          <a:xfrm>
            <a:off x="1426464" y="369069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Example: Ast GRM3 × Female ε2 carrier.</a:t>
            </a:r>
          </a:p>
        </p:txBody>
      </p:sp>
      <p:sp>
        <p:nvSpPr>
          <p:cNvPr id="27" name="Rounded Rectangle 26">
            <a:extLst>
              <a:ext uri="{FF2B5EF4-FFF2-40B4-BE49-F238E27FC236}">
                <a16:creationId xmlns:a16="http://schemas.microsoft.com/office/drawing/2014/main" id="{A80F91B4-3516-4DD6-BA0D-268F93A810E7}"/>
              </a:ext>
            </a:extLst>
          </p:cNvPr>
          <p:cNvSpPr>
            <a:spLocks noGrp="1"/>
          </p:cNvSpPr>
          <p:nvPr/>
        </p:nvSpPr>
        <p:spPr>
          <a:xfrm>
            <a:off x="896112" y="416618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EF04FE43-13D6-484A-B039-B372042A2829}"/>
              </a:ext>
            </a:extLst>
          </p:cNvPr>
          <p:cNvSpPr>
            <a:spLocks noGrp="1"/>
          </p:cNvSpPr>
          <p:nvPr/>
        </p:nvSpPr>
        <p:spPr>
          <a:xfrm>
            <a:off x="932688" y="423933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2</a:t>
            </a:r>
          </a:p>
        </p:txBody>
      </p:sp>
      <p:sp>
        <p:nvSpPr>
          <p:cNvPr id="29" name="TextBox 28">
            <a:extLst>
              <a:ext uri="{FF2B5EF4-FFF2-40B4-BE49-F238E27FC236}">
                <a16:creationId xmlns:a16="http://schemas.microsoft.com/office/drawing/2014/main" id="{5736C7D4-2035-4552-92AF-07B779DE35AF}"/>
              </a:ext>
            </a:extLst>
          </p:cNvPr>
          <p:cNvSpPr>
            <a:spLocks noGrp="1"/>
          </p:cNvSpPr>
          <p:nvPr/>
        </p:nvSpPr>
        <p:spPr>
          <a:xfrm>
            <a:off x="1426464" y="415703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Remove invalid contrasts</a:t>
            </a:r>
          </a:p>
        </p:txBody>
      </p:sp>
      <p:sp>
        <p:nvSpPr>
          <p:cNvPr id="30" name="TextBox 29">
            <a:extLst>
              <a:ext uri="{FF2B5EF4-FFF2-40B4-BE49-F238E27FC236}">
                <a16:creationId xmlns:a16="http://schemas.microsoft.com/office/drawing/2014/main" id="{6171DA4D-EC31-46B8-8933-8FDBEF20E69D}"/>
              </a:ext>
            </a:extLst>
          </p:cNvPr>
          <p:cNvSpPr>
            <a:spLocks noGrp="1"/>
          </p:cNvSpPr>
          <p:nvPr/>
        </p:nvSpPr>
        <p:spPr>
          <a:xfrm>
            <a:off x="1426464" y="442221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Remove source-invalid contrasts; among valid contrasts, only mapped MitoCarta MT queries with ≥3 genes proceed.</a:t>
            </a:r>
          </a:p>
        </p:txBody>
      </p:sp>
      <p:sp>
        <p:nvSpPr>
          <p:cNvPr id="31" name="Rounded Rectangle 30">
            <a:extLst>
              <a:ext uri="{FF2B5EF4-FFF2-40B4-BE49-F238E27FC236}">
                <a16:creationId xmlns:a16="http://schemas.microsoft.com/office/drawing/2014/main" id="{E2E97212-C405-4666-A760-5F666393EB7A}"/>
              </a:ext>
            </a:extLst>
          </p:cNvPr>
          <p:cNvSpPr>
            <a:spLocks noGrp="1"/>
          </p:cNvSpPr>
          <p:nvPr/>
        </p:nvSpPr>
        <p:spPr>
          <a:xfrm>
            <a:off x="896112" y="489770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5B0274D2-88AD-45E6-978C-FAF32FE11228}"/>
              </a:ext>
            </a:extLst>
          </p:cNvPr>
          <p:cNvSpPr>
            <a:spLocks noGrp="1"/>
          </p:cNvSpPr>
          <p:nvPr/>
        </p:nvSpPr>
        <p:spPr>
          <a:xfrm>
            <a:off x="932688" y="497085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3</a:t>
            </a:r>
          </a:p>
        </p:txBody>
      </p:sp>
      <p:sp>
        <p:nvSpPr>
          <p:cNvPr id="33" name="TextBox 32">
            <a:extLst>
              <a:ext uri="{FF2B5EF4-FFF2-40B4-BE49-F238E27FC236}">
                <a16:creationId xmlns:a16="http://schemas.microsoft.com/office/drawing/2014/main" id="{B07195D3-0AF3-4C79-B939-C94D6B45091D}"/>
              </a:ext>
            </a:extLst>
          </p:cNvPr>
          <p:cNvSpPr>
            <a:spLocks noGrp="1"/>
          </p:cNvSpPr>
          <p:nvPr/>
        </p:nvSpPr>
        <p:spPr>
          <a:xfrm>
            <a:off x="1426464" y="488855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Make KDA calls</a:t>
            </a:r>
          </a:p>
        </p:txBody>
      </p:sp>
      <p:sp>
        <p:nvSpPr>
          <p:cNvPr id="34" name="TextBox 33">
            <a:extLst>
              <a:ext uri="{FF2B5EF4-FFF2-40B4-BE49-F238E27FC236}">
                <a16:creationId xmlns:a16="http://schemas.microsoft.com/office/drawing/2014/main" id="{85E39F14-A8C0-4769-87B1-B058A6B2CA46}"/>
              </a:ext>
            </a:extLst>
          </p:cNvPr>
          <p:cNvSpPr>
            <a:spLocks noGrp="1"/>
          </p:cNvSpPr>
          <p:nvPr/>
        </p:nvSpPr>
        <p:spPr>
          <a:xfrm>
            <a:off x="1426464" y="515373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Output: genes returned from the KDA call for that contrast.</a:t>
            </a:r>
          </a:p>
        </p:txBody>
      </p:sp>
      <p:sp>
        <p:nvSpPr>
          <p:cNvPr id="35" name="Rounded Rectangle 34">
            <a:extLst>
              <a:ext uri="{FF2B5EF4-FFF2-40B4-BE49-F238E27FC236}">
                <a16:creationId xmlns:a16="http://schemas.microsoft.com/office/drawing/2014/main" id="{FD51EC53-17DF-4D40-80D7-2125471ACD26}"/>
              </a:ext>
            </a:extLst>
          </p:cNvPr>
          <p:cNvSpPr>
            <a:spLocks noGrp="1"/>
          </p:cNvSpPr>
          <p:nvPr/>
        </p:nvSpPr>
        <p:spPr>
          <a:xfrm>
            <a:off x="896112" y="5537782"/>
            <a:ext cx="4828032" cy="25603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74DE4D49-467D-4B7D-9F80-30601359881A}"/>
              </a:ext>
            </a:extLst>
          </p:cNvPr>
          <p:cNvSpPr>
            <a:spLocks noGrp="1"/>
          </p:cNvSpPr>
          <p:nvPr/>
        </p:nvSpPr>
        <p:spPr>
          <a:xfrm>
            <a:off x="1005840" y="5592646"/>
            <a:ext cx="4608576" cy="14630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40" b="1" i="0">
                <a:solidFill>
                  <a:srgbClr val="0F233D"/>
                </a:solidFill>
                <a:latin typeface="Arial"/>
                <a:ea typeface="Arial"/>
                <a:cs typeface="Arial"/>
              </a:rPr>
              <a:t>Each gene can appear at most once in one contrast's returned list.</a:t>
            </a:r>
          </a:p>
        </p:txBody>
      </p:sp>
      <p:sp>
        <p:nvSpPr>
          <p:cNvPr id="37" name="Rounded Rectangle 36">
            <a:extLst>
              <a:ext uri="{FF2B5EF4-FFF2-40B4-BE49-F238E27FC236}">
                <a16:creationId xmlns:a16="http://schemas.microsoft.com/office/drawing/2014/main" id="{7D7384FB-D376-4FA3-8A4E-91DC64A3556D}"/>
              </a:ext>
            </a:extLst>
          </p:cNvPr>
          <p:cNvSpPr>
            <a:spLocks noGrp="1"/>
          </p:cNvSpPr>
          <p:nvPr/>
        </p:nvSpPr>
        <p:spPr>
          <a:xfrm>
            <a:off x="6172200" y="2703142"/>
            <a:ext cx="5413248" cy="321868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Rectangle 37">
            <a:extLst>
              <a:ext uri="{FF2B5EF4-FFF2-40B4-BE49-F238E27FC236}">
                <a16:creationId xmlns:a16="http://schemas.microsoft.com/office/drawing/2014/main" id="{D3C55418-6D23-4352-AAEC-A0063E0B35DA}"/>
              </a:ext>
            </a:extLst>
          </p:cNvPr>
          <p:cNvSpPr>
            <a:spLocks noGrp="1"/>
          </p:cNvSpPr>
          <p:nvPr/>
        </p:nvSpPr>
        <p:spPr>
          <a:xfrm>
            <a:off x="6446520" y="2986606"/>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12F5AD5-3BB0-487B-A4D6-9676B5C188F7}"/>
              </a:ext>
            </a:extLst>
          </p:cNvPr>
          <p:cNvSpPr>
            <a:spLocks noGrp="1"/>
          </p:cNvSpPr>
          <p:nvPr/>
        </p:nvSpPr>
        <p:spPr>
          <a:xfrm>
            <a:off x="6592824" y="2959174"/>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Multiple fine-cell contrasts → one category</a:t>
            </a:r>
          </a:p>
        </p:txBody>
      </p:sp>
      <p:sp>
        <p:nvSpPr>
          <p:cNvPr id="40" name="Rounded Rectangle 39">
            <a:extLst>
              <a:ext uri="{FF2B5EF4-FFF2-40B4-BE49-F238E27FC236}">
                <a16:creationId xmlns:a16="http://schemas.microsoft.com/office/drawing/2014/main" id="{C833B54A-2A24-40FC-A71E-FBA7A97EE97B}"/>
              </a:ext>
            </a:extLst>
          </p:cNvPr>
          <p:cNvSpPr>
            <a:spLocks noGrp="1"/>
          </p:cNvSpPr>
          <p:nvPr/>
        </p:nvSpPr>
        <p:spPr>
          <a:xfrm>
            <a:off x="6455664" y="3471238"/>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248288B-D890-462D-85C6-E307A88B9A36}"/>
              </a:ext>
            </a:extLst>
          </p:cNvPr>
          <p:cNvSpPr>
            <a:spLocks noGrp="1"/>
          </p:cNvSpPr>
          <p:nvPr/>
        </p:nvSpPr>
        <p:spPr>
          <a:xfrm>
            <a:off x="6547104" y="3553534"/>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A</a:t>
            </a:r>
          </a:p>
        </p:txBody>
      </p:sp>
      <p:sp>
        <p:nvSpPr>
          <p:cNvPr id="42" name="TextBox 41">
            <a:extLst>
              <a:ext uri="{FF2B5EF4-FFF2-40B4-BE49-F238E27FC236}">
                <a16:creationId xmlns:a16="http://schemas.microsoft.com/office/drawing/2014/main" id="{4AFBD91A-E125-4874-80EF-554CA4E0D1D5}"/>
              </a:ext>
            </a:extLst>
          </p:cNvPr>
          <p:cNvSpPr>
            <a:spLocks noGrp="1"/>
          </p:cNvSpPr>
          <p:nvPr/>
        </p:nvSpPr>
        <p:spPr>
          <a:xfrm>
            <a:off x="7772400" y="3544390"/>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P₁</a:t>
            </a:r>
          </a:p>
        </p:txBody>
      </p:sp>
      <p:sp>
        <p:nvSpPr>
          <p:cNvPr id="43" name="Rounded Rectangle 42">
            <a:extLst>
              <a:ext uri="{FF2B5EF4-FFF2-40B4-BE49-F238E27FC236}">
                <a16:creationId xmlns:a16="http://schemas.microsoft.com/office/drawing/2014/main" id="{2F568DBE-0F43-4C16-85EC-85624CD1870F}"/>
              </a:ext>
            </a:extLst>
          </p:cNvPr>
          <p:cNvSpPr>
            <a:spLocks noGrp="1"/>
          </p:cNvSpPr>
          <p:nvPr/>
        </p:nvSpPr>
        <p:spPr>
          <a:xfrm>
            <a:off x="6455664" y="3946726"/>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036E5509-D6EA-42C3-8C6F-FB5DEF3D7801}"/>
              </a:ext>
            </a:extLst>
          </p:cNvPr>
          <p:cNvSpPr>
            <a:spLocks noGrp="1"/>
          </p:cNvSpPr>
          <p:nvPr/>
        </p:nvSpPr>
        <p:spPr>
          <a:xfrm>
            <a:off x="6547104" y="4029022"/>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B</a:t>
            </a:r>
          </a:p>
        </p:txBody>
      </p:sp>
      <p:sp>
        <p:nvSpPr>
          <p:cNvPr id="45" name="TextBox 44">
            <a:extLst>
              <a:ext uri="{FF2B5EF4-FFF2-40B4-BE49-F238E27FC236}">
                <a16:creationId xmlns:a16="http://schemas.microsoft.com/office/drawing/2014/main" id="{54AF386C-455F-4CEC-B1B5-26D702D3A9A1}"/>
              </a:ext>
            </a:extLst>
          </p:cNvPr>
          <p:cNvSpPr>
            <a:spLocks noGrp="1"/>
          </p:cNvSpPr>
          <p:nvPr/>
        </p:nvSpPr>
        <p:spPr>
          <a:xfrm>
            <a:off x="7772400" y="4019878"/>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P₂</a:t>
            </a:r>
          </a:p>
        </p:txBody>
      </p:sp>
      <p:sp>
        <p:nvSpPr>
          <p:cNvPr id="46" name="Rounded Rectangle 45">
            <a:extLst>
              <a:ext uri="{FF2B5EF4-FFF2-40B4-BE49-F238E27FC236}">
                <a16:creationId xmlns:a16="http://schemas.microsoft.com/office/drawing/2014/main" id="{18B1D105-F4F5-499B-8D9D-146C85FFB287}"/>
              </a:ext>
            </a:extLst>
          </p:cNvPr>
          <p:cNvSpPr>
            <a:spLocks noGrp="1"/>
          </p:cNvSpPr>
          <p:nvPr/>
        </p:nvSpPr>
        <p:spPr>
          <a:xfrm>
            <a:off x="6455664" y="4422214"/>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77E25C2-27B9-44D5-A4AF-032AFFB475AF}"/>
              </a:ext>
            </a:extLst>
          </p:cNvPr>
          <p:cNvSpPr>
            <a:spLocks noGrp="1"/>
          </p:cNvSpPr>
          <p:nvPr/>
        </p:nvSpPr>
        <p:spPr>
          <a:xfrm>
            <a:off x="6547104" y="4504510"/>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C</a:t>
            </a:r>
          </a:p>
        </p:txBody>
      </p:sp>
      <p:sp>
        <p:nvSpPr>
          <p:cNvPr id="48" name="TextBox 47">
            <a:extLst>
              <a:ext uri="{FF2B5EF4-FFF2-40B4-BE49-F238E27FC236}">
                <a16:creationId xmlns:a16="http://schemas.microsoft.com/office/drawing/2014/main" id="{AC14697B-BAA4-4EB2-9A1F-CA4001B9F977}"/>
              </a:ext>
            </a:extLst>
          </p:cNvPr>
          <p:cNvSpPr>
            <a:spLocks noGrp="1"/>
          </p:cNvSpPr>
          <p:nvPr/>
        </p:nvSpPr>
        <p:spPr>
          <a:xfrm>
            <a:off x="7772400" y="4495366"/>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not returned</a:t>
            </a:r>
          </a:p>
        </p:txBody>
      </p:sp>
      <p:sp>
        <p:nvSpPr>
          <p:cNvPr id="49" name="TextBox 48">
            <a:extLst>
              <a:ext uri="{FF2B5EF4-FFF2-40B4-BE49-F238E27FC236}">
                <a16:creationId xmlns:a16="http://schemas.microsoft.com/office/drawing/2014/main" id="{81D51346-4628-40F8-98C3-7606F98BEA29}"/>
              </a:ext>
            </a:extLst>
          </p:cNvPr>
          <p:cNvSpPr>
            <a:spLocks noGrp="1"/>
          </p:cNvSpPr>
          <p:nvPr/>
        </p:nvSpPr>
        <p:spPr>
          <a:xfrm>
            <a:off x="8558784" y="4842838"/>
            <a:ext cx="64008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895600"/>
                </a:solidFill>
                <a:latin typeface="Arial"/>
                <a:ea typeface="Arial"/>
                <a:cs typeface="Arial"/>
              </a:rPr>
              <a:t>↓</a:t>
            </a:r>
          </a:p>
        </p:txBody>
      </p:sp>
      <p:sp>
        <p:nvSpPr>
          <p:cNvPr id="50" name="Rounded Rectangle 49">
            <a:extLst>
              <a:ext uri="{FF2B5EF4-FFF2-40B4-BE49-F238E27FC236}">
                <a16:creationId xmlns:a16="http://schemas.microsoft.com/office/drawing/2014/main" id="{CF1142D9-79EE-4554-A4E0-4F56775D72D0}"/>
              </a:ext>
            </a:extLst>
          </p:cNvPr>
          <p:cNvSpPr>
            <a:spLocks noGrp="1"/>
          </p:cNvSpPr>
          <p:nvPr/>
        </p:nvSpPr>
        <p:spPr>
          <a:xfrm>
            <a:off x="6473952" y="5179861"/>
            <a:ext cx="4809744" cy="530352"/>
          </a:xfrm>
          <a:prstGeom prst="roundRect">
            <a:avLst/>
          </a:prstGeom>
          <a:solidFill>
            <a:srgbClr val="FFFFFF"/>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C42809C4-8FDF-4405-A450-1394492DD9DB}"/>
              </a:ext>
            </a:extLst>
          </p:cNvPr>
          <p:cNvSpPr>
            <a:spLocks noGrp="1"/>
          </p:cNvSpPr>
          <p:nvPr/>
        </p:nvSpPr>
        <p:spPr>
          <a:xfrm>
            <a:off x="6656832" y="5326165"/>
            <a:ext cx="444398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Female ε2 × Astrocytes:  Gene X score = ACAT(P₁, P₂)</a:t>
            </a:r>
          </a:p>
        </p:txBody>
      </p:sp>
    </p:spTree>
    <p:extLst>
      <p:ext uri="{BB962C8B-B14F-4D97-AF65-F5344CB8AC3E}">
        <p14:creationId xmlns:p14="http://schemas.microsoft.com/office/powerpoint/2010/main" val="26891022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453143-B114-4286-963B-B60E1F13106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category</a:t>
            </a:r>
          </a:p>
        </p:txBody>
      </p:sp>
      <p:sp>
        <p:nvSpPr>
          <p:cNvPr id="3" name="TextBox 2">
            <a:extLst>
              <a:ext uri="{FF2B5EF4-FFF2-40B4-BE49-F238E27FC236}">
                <a16:creationId xmlns:a16="http://schemas.microsoft.com/office/drawing/2014/main" id="{00B92CF1-041B-48A9-9F2B-1D4B3D840791}"/>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category selects one sex, one APOE group, and one broad cell type.</a:t>
            </a:r>
          </a:p>
        </p:txBody>
      </p:sp>
      <p:sp>
        <p:nvSpPr>
          <p:cNvPr id="4" name="Rounded Rectangle 3">
            <a:extLst>
              <a:ext uri="{FF2B5EF4-FFF2-40B4-BE49-F238E27FC236}">
                <a16:creationId xmlns:a16="http://schemas.microsoft.com/office/drawing/2014/main" id="{8F8DFE99-15B0-4AD0-B8BD-DD4144C10CB2}"/>
              </a:ext>
            </a:extLst>
          </p:cNvPr>
          <p:cNvSpPr>
            <a:spLocks noGrp="1"/>
          </p:cNvSpPr>
          <p:nvPr/>
        </p:nvSpPr>
        <p:spPr>
          <a:xfrm>
            <a:off x="603504" y="1134548"/>
            <a:ext cx="2029968" cy="1042415"/>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96CC436-7D92-4989-8C7D-6F150120999E}"/>
              </a:ext>
            </a:extLst>
          </p:cNvPr>
          <p:cNvSpPr>
            <a:spLocks noGrp="1"/>
          </p:cNvSpPr>
          <p:nvPr/>
        </p:nvSpPr>
        <p:spPr>
          <a:xfrm>
            <a:off x="768096"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8A82ECB7-407D-40A6-A935-1A410D12F99E}"/>
              </a:ext>
            </a:extLst>
          </p:cNvPr>
          <p:cNvSpPr>
            <a:spLocks noGrp="1"/>
          </p:cNvSpPr>
          <p:nvPr/>
        </p:nvSpPr>
        <p:spPr>
          <a:xfrm>
            <a:off x="1408176" y="1308284"/>
            <a:ext cx="1069848"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SEXES</a:t>
            </a:r>
          </a:p>
        </p:txBody>
      </p:sp>
      <p:sp>
        <p:nvSpPr>
          <p:cNvPr id="7" name="TextBox 6">
            <a:extLst>
              <a:ext uri="{FF2B5EF4-FFF2-40B4-BE49-F238E27FC236}">
                <a16:creationId xmlns:a16="http://schemas.microsoft.com/office/drawing/2014/main" id="{A2B1E95F-AD75-4D02-A1AB-E953465AEF70}"/>
              </a:ext>
            </a:extLst>
          </p:cNvPr>
          <p:cNvSpPr>
            <a:spLocks noGrp="1"/>
          </p:cNvSpPr>
          <p:nvPr/>
        </p:nvSpPr>
        <p:spPr>
          <a:xfrm>
            <a:off x="1408176" y="1628324"/>
            <a:ext cx="1069848"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Female • Male</a:t>
            </a:r>
          </a:p>
        </p:txBody>
      </p:sp>
      <p:sp>
        <p:nvSpPr>
          <p:cNvPr id="8" name="TextBox 7">
            <a:extLst>
              <a:ext uri="{FF2B5EF4-FFF2-40B4-BE49-F238E27FC236}">
                <a16:creationId xmlns:a16="http://schemas.microsoft.com/office/drawing/2014/main" id="{1431877B-7942-4330-AA1D-D8F2E271D1A8}"/>
              </a:ext>
            </a:extLst>
          </p:cNvPr>
          <p:cNvSpPr>
            <a:spLocks noGrp="1"/>
          </p:cNvSpPr>
          <p:nvPr/>
        </p:nvSpPr>
        <p:spPr>
          <a:xfrm>
            <a:off x="272491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9" name="Rounded Rectangle 8">
            <a:extLst>
              <a:ext uri="{FF2B5EF4-FFF2-40B4-BE49-F238E27FC236}">
                <a16:creationId xmlns:a16="http://schemas.microsoft.com/office/drawing/2014/main" id="{35BBD3CD-DEF6-4352-9ADC-C0E86905865E}"/>
              </a:ext>
            </a:extLst>
          </p:cNvPr>
          <p:cNvSpPr>
            <a:spLocks noGrp="1"/>
          </p:cNvSpPr>
          <p:nvPr/>
        </p:nvSpPr>
        <p:spPr>
          <a:xfrm>
            <a:off x="3200400" y="1134548"/>
            <a:ext cx="2542032" cy="1042415"/>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D10764ED-0D24-49E4-AC0E-6E83A96A1D22}"/>
              </a:ext>
            </a:extLst>
          </p:cNvPr>
          <p:cNvSpPr>
            <a:spLocks noGrp="1"/>
          </p:cNvSpPr>
          <p:nvPr/>
        </p:nvSpPr>
        <p:spPr>
          <a:xfrm>
            <a:off x="336499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1" name="TextBox 10">
            <a:extLst>
              <a:ext uri="{FF2B5EF4-FFF2-40B4-BE49-F238E27FC236}">
                <a16:creationId xmlns:a16="http://schemas.microsoft.com/office/drawing/2014/main" id="{D925246A-A4C6-4FA4-847E-0D5ABF59052E}"/>
              </a:ext>
            </a:extLst>
          </p:cNvPr>
          <p:cNvSpPr>
            <a:spLocks noGrp="1"/>
          </p:cNvSpPr>
          <p:nvPr/>
        </p:nvSpPr>
        <p:spPr>
          <a:xfrm>
            <a:off x="4005072" y="1308284"/>
            <a:ext cx="1581911"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APOE GROUPS</a:t>
            </a:r>
          </a:p>
        </p:txBody>
      </p:sp>
      <p:sp>
        <p:nvSpPr>
          <p:cNvPr id="12" name="TextBox 11">
            <a:extLst>
              <a:ext uri="{FF2B5EF4-FFF2-40B4-BE49-F238E27FC236}">
                <a16:creationId xmlns:a16="http://schemas.microsoft.com/office/drawing/2014/main" id="{6C7A4290-E4A9-4AE0-A569-E41B00922F9B}"/>
              </a:ext>
            </a:extLst>
          </p:cNvPr>
          <p:cNvSpPr>
            <a:spLocks noGrp="1"/>
          </p:cNvSpPr>
          <p:nvPr/>
        </p:nvSpPr>
        <p:spPr>
          <a:xfrm>
            <a:off x="4005072" y="1628324"/>
            <a:ext cx="1581911"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ε2 carrier • ε3/ε3 • ε4 carrier</a:t>
            </a:r>
          </a:p>
        </p:txBody>
      </p:sp>
      <p:sp>
        <p:nvSpPr>
          <p:cNvPr id="13" name="TextBox 12">
            <a:extLst>
              <a:ext uri="{FF2B5EF4-FFF2-40B4-BE49-F238E27FC236}">
                <a16:creationId xmlns:a16="http://schemas.microsoft.com/office/drawing/2014/main" id="{AE44AE31-1C47-4592-84C3-1865FC46D572}"/>
              </a:ext>
            </a:extLst>
          </p:cNvPr>
          <p:cNvSpPr>
            <a:spLocks noGrp="1"/>
          </p:cNvSpPr>
          <p:nvPr/>
        </p:nvSpPr>
        <p:spPr>
          <a:xfrm>
            <a:off x="583387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4" name="Rounded Rectangle 13">
            <a:extLst>
              <a:ext uri="{FF2B5EF4-FFF2-40B4-BE49-F238E27FC236}">
                <a16:creationId xmlns:a16="http://schemas.microsoft.com/office/drawing/2014/main" id="{4A65B7AF-CB5C-43C3-8CA1-C66BA5F7BB03}"/>
              </a:ext>
            </a:extLst>
          </p:cNvPr>
          <p:cNvSpPr>
            <a:spLocks noGrp="1"/>
          </p:cNvSpPr>
          <p:nvPr/>
        </p:nvSpPr>
        <p:spPr>
          <a:xfrm>
            <a:off x="6309360" y="1134548"/>
            <a:ext cx="2121408" cy="1042415"/>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947D5A70-7BA9-4192-8B5D-9889D220F1BA}"/>
              </a:ext>
            </a:extLst>
          </p:cNvPr>
          <p:cNvSpPr>
            <a:spLocks noGrp="1"/>
          </p:cNvSpPr>
          <p:nvPr/>
        </p:nvSpPr>
        <p:spPr>
          <a:xfrm>
            <a:off x="647395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7</a:t>
            </a:r>
          </a:p>
        </p:txBody>
      </p:sp>
      <p:sp>
        <p:nvSpPr>
          <p:cNvPr id="16" name="TextBox 15">
            <a:extLst>
              <a:ext uri="{FF2B5EF4-FFF2-40B4-BE49-F238E27FC236}">
                <a16:creationId xmlns:a16="http://schemas.microsoft.com/office/drawing/2014/main" id="{0F52C426-33FB-46C6-BDF1-EC028753A731}"/>
              </a:ext>
            </a:extLst>
          </p:cNvPr>
          <p:cNvSpPr>
            <a:spLocks noGrp="1"/>
          </p:cNvSpPr>
          <p:nvPr/>
        </p:nvSpPr>
        <p:spPr>
          <a:xfrm>
            <a:off x="7114032" y="1308284"/>
            <a:ext cx="1161287"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BROAD TYPES</a:t>
            </a:r>
          </a:p>
        </p:txBody>
      </p:sp>
      <p:sp>
        <p:nvSpPr>
          <p:cNvPr id="17" name="TextBox 16">
            <a:extLst>
              <a:ext uri="{FF2B5EF4-FFF2-40B4-BE49-F238E27FC236}">
                <a16:creationId xmlns:a16="http://schemas.microsoft.com/office/drawing/2014/main" id="{59907BBC-FFB6-4080-BC97-1947882A4001}"/>
              </a:ext>
            </a:extLst>
          </p:cNvPr>
          <p:cNvSpPr>
            <a:spLocks noGrp="1"/>
          </p:cNvSpPr>
          <p:nvPr/>
        </p:nvSpPr>
        <p:spPr>
          <a:xfrm>
            <a:off x="7114032" y="1628324"/>
            <a:ext cx="1161287"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Frozen cell classes</a:t>
            </a:r>
          </a:p>
        </p:txBody>
      </p:sp>
      <p:sp>
        <p:nvSpPr>
          <p:cNvPr id="18" name="TextBox 17">
            <a:extLst>
              <a:ext uri="{FF2B5EF4-FFF2-40B4-BE49-F238E27FC236}">
                <a16:creationId xmlns:a16="http://schemas.microsoft.com/office/drawing/2014/main" id="{D98D2DB5-3A0E-4623-B0B8-FA5465C503C1}"/>
              </a:ext>
            </a:extLst>
          </p:cNvPr>
          <p:cNvSpPr>
            <a:spLocks noGrp="1"/>
          </p:cNvSpPr>
          <p:nvPr/>
        </p:nvSpPr>
        <p:spPr>
          <a:xfrm>
            <a:off x="8522208"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9" name="Rounded Rectangle 18">
            <a:extLst>
              <a:ext uri="{FF2B5EF4-FFF2-40B4-BE49-F238E27FC236}">
                <a16:creationId xmlns:a16="http://schemas.microsoft.com/office/drawing/2014/main" id="{EB94EC70-314C-4BA8-95D7-349F2F373427}"/>
              </a:ext>
            </a:extLst>
          </p:cNvPr>
          <p:cNvSpPr>
            <a:spLocks noGrp="1"/>
          </p:cNvSpPr>
          <p:nvPr/>
        </p:nvSpPr>
        <p:spPr>
          <a:xfrm>
            <a:off x="8997696" y="1134548"/>
            <a:ext cx="2587752" cy="1042415"/>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866134D-FCEE-4C41-9D80-037CE574FA56}"/>
              </a:ext>
            </a:extLst>
          </p:cNvPr>
          <p:cNvSpPr>
            <a:spLocks noGrp="1"/>
          </p:cNvSpPr>
          <p:nvPr/>
        </p:nvSpPr>
        <p:spPr>
          <a:xfrm>
            <a:off x="9162288"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9E3A00"/>
                </a:solidFill>
                <a:latin typeface="Arial"/>
                <a:ea typeface="Arial"/>
                <a:cs typeface="Arial"/>
              </a:rPr>
              <a:t>42</a:t>
            </a:r>
          </a:p>
        </p:txBody>
      </p:sp>
      <p:sp>
        <p:nvSpPr>
          <p:cNvPr id="21" name="TextBox 20">
            <a:extLst>
              <a:ext uri="{FF2B5EF4-FFF2-40B4-BE49-F238E27FC236}">
                <a16:creationId xmlns:a16="http://schemas.microsoft.com/office/drawing/2014/main" id="{BC64DA88-8BB9-43CD-A70B-6AA5550C15DE}"/>
              </a:ext>
            </a:extLst>
          </p:cNvPr>
          <p:cNvSpPr>
            <a:spLocks noGrp="1"/>
          </p:cNvSpPr>
          <p:nvPr/>
        </p:nvSpPr>
        <p:spPr>
          <a:xfrm>
            <a:off x="9802368" y="1308284"/>
            <a:ext cx="162763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CATEGORIES</a:t>
            </a:r>
          </a:p>
        </p:txBody>
      </p:sp>
      <p:sp>
        <p:nvSpPr>
          <p:cNvPr id="22" name="TextBox 21">
            <a:extLst>
              <a:ext uri="{FF2B5EF4-FFF2-40B4-BE49-F238E27FC236}">
                <a16:creationId xmlns:a16="http://schemas.microsoft.com/office/drawing/2014/main" id="{CBBD629D-ADE0-46F7-A435-73FFBE662FDB}"/>
              </a:ext>
            </a:extLst>
          </p:cNvPr>
          <p:cNvSpPr>
            <a:spLocks noGrp="1"/>
          </p:cNvSpPr>
          <p:nvPr/>
        </p:nvSpPr>
        <p:spPr>
          <a:xfrm>
            <a:off x="9802368" y="1628324"/>
            <a:ext cx="1627632"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Possible analysis contexts</a:t>
            </a:r>
          </a:p>
        </p:txBody>
      </p:sp>
      <p:sp>
        <p:nvSpPr>
          <p:cNvPr id="23" name="Rounded Rectangle 22">
            <a:extLst>
              <a:ext uri="{FF2B5EF4-FFF2-40B4-BE49-F238E27FC236}">
                <a16:creationId xmlns:a16="http://schemas.microsoft.com/office/drawing/2014/main" id="{B494B280-69DC-4470-9F05-DC79C8BCD8ED}"/>
              </a:ext>
            </a:extLst>
          </p:cNvPr>
          <p:cNvSpPr>
            <a:spLocks noGrp="1"/>
          </p:cNvSpPr>
          <p:nvPr/>
        </p:nvSpPr>
        <p:spPr>
          <a:xfrm>
            <a:off x="603504" y="2487860"/>
            <a:ext cx="5422392" cy="288950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5DA32A0B-167A-47CC-85FD-83F23A6AFD1E}"/>
              </a:ext>
            </a:extLst>
          </p:cNvPr>
          <p:cNvSpPr>
            <a:spLocks noGrp="1"/>
          </p:cNvSpPr>
          <p:nvPr/>
        </p:nvSpPr>
        <p:spPr>
          <a:xfrm>
            <a:off x="877824" y="277132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4FEA757-4833-4D66-A8E3-ED58955CE4E2}"/>
              </a:ext>
            </a:extLst>
          </p:cNvPr>
          <p:cNvSpPr>
            <a:spLocks noGrp="1"/>
          </p:cNvSpPr>
          <p:nvPr/>
        </p:nvSpPr>
        <p:spPr>
          <a:xfrm>
            <a:off x="1024127"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Six sex/APOE groups</a:t>
            </a:r>
          </a:p>
        </p:txBody>
      </p:sp>
      <p:sp>
        <p:nvSpPr>
          <p:cNvPr id="26" name="TextBox 25">
            <a:extLst>
              <a:ext uri="{FF2B5EF4-FFF2-40B4-BE49-F238E27FC236}">
                <a16:creationId xmlns:a16="http://schemas.microsoft.com/office/drawing/2014/main" id="{5B63075E-CC09-4D81-B8B3-08C85EEAA6A9}"/>
              </a:ext>
            </a:extLst>
          </p:cNvPr>
          <p:cNvSpPr>
            <a:spLocks noGrp="1"/>
          </p:cNvSpPr>
          <p:nvPr/>
        </p:nvSpPr>
        <p:spPr>
          <a:xfrm>
            <a:off x="896112" y="3383972"/>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FEMALE</a:t>
            </a:r>
          </a:p>
        </p:txBody>
      </p:sp>
      <p:sp>
        <p:nvSpPr>
          <p:cNvPr id="27" name="TextBox 26">
            <a:extLst>
              <a:ext uri="{FF2B5EF4-FFF2-40B4-BE49-F238E27FC236}">
                <a16:creationId xmlns:a16="http://schemas.microsoft.com/office/drawing/2014/main" id="{589BB5D0-CCAD-42B8-9BE6-E9E82F4819E6}"/>
              </a:ext>
            </a:extLst>
          </p:cNvPr>
          <p:cNvSpPr>
            <a:spLocks noGrp="1"/>
          </p:cNvSpPr>
          <p:nvPr/>
        </p:nvSpPr>
        <p:spPr>
          <a:xfrm>
            <a:off x="896112" y="4005763"/>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MALE</a:t>
            </a:r>
          </a:p>
        </p:txBody>
      </p:sp>
      <p:sp>
        <p:nvSpPr>
          <p:cNvPr id="28" name="Rounded Rectangle 27">
            <a:extLst>
              <a:ext uri="{FF2B5EF4-FFF2-40B4-BE49-F238E27FC236}">
                <a16:creationId xmlns:a16="http://schemas.microsoft.com/office/drawing/2014/main" id="{BA674D85-7891-4E55-BFD8-0A44638823AE}"/>
              </a:ext>
            </a:extLst>
          </p:cNvPr>
          <p:cNvSpPr>
            <a:spLocks noGrp="1"/>
          </p:cNvSpPr>
          <p:nvPr/>
        </p:nvSpPr>
        <p:spPr>
          <a:xfrm>
            <a:off x="17007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F03F4139-214F-4285-9BA1-A595E003B025}"/>
              </a:ext>
            </a:extLst>
          </p:cNvPr>
          <p:cNvSpPr>
            <a:spLocks noGrp="1"/>
          </p:cNvSpPr>
          <p:nvPr/>
        </p:nvSpPr>
        <p:spPr>
          <a:xfrm>
            <a:off x="17739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F_e2</a:t>
            </a:r>
          </a:p>
        </p:txBody>
      </p:sp>
      <p:sp>
        <p:nvSpPr>
          <p:cNvPr id="30" name="Rounded Rectangle 29">
            <a:extLst>
              <a:ext uri="{FF2B5EF4-FFF2-40B4-BE49-F238E27FC236}">
                <a16:creationId xmlns:a16="http://schemas.microsoft.com/office/drawing/2014/main" id="{002F3515-4D2F-4F16-BF98-13BD06D63850}"/>
              </a:ext>
            </a:extLst>
          </p:cNvPr>
          <p:cNvSpPr>
            <a:spLocks noGrp="1"/>
          </p:cNvSpPr>
          <p:nvPr/>
        </p:nvSpPr>
        <p:spPr>
          <a:xfrm>
            <a:off x="17007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1C36D793-3530-42C0-8140-1E7A28CF30C4}"/>
              </a:ext>
            </a:extLst>
          </p:cNvPr>
          <p:cNvSpPr>
            <a:spLocks noGrp="1"/>
          </p:cNvSpPr>
          <p:nvPr/>
        </p:nvSpPr>
        <p:spPr>
          <a:xfrm>
            <a:off x="17739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M_e2</a:t>
            </a:r>
          </a:p>
        </p:txBody>
      </p:sp>
      <p:sp>
        <p:nvSpPr>
          <p:cNvPr id="32" name="Rounded Rectangle 31">
            <a:extLst>
              <a:ext uri="{FF2B5EF4-FFF2-40B4-BE49-F238E27FC236}">
                <a16:creationId xmlns:a16="http://schemas.microsoft.com/office/drawing/2014/main" id="{9C1A7CE5-E1A6-40B0-B8BD-4266BF069827}"/>
              </a:ext>
            </a:extLst>
          </p:cNvPr>
          <p:cNvSpPr>
            <a:spLocks noGrp="1"/>
          </p:cNvSpPr>
          <p:nvPr/>
        </p:nvSpPr>
        <p:spPr>
          <a:xfrm>
            <a:off x="30723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4925B471-BF86-42D8-8276-2FF6DDDDBB18}"/>
              </a:ext>
            </a:extLst>
          </p:cNvPr>
          <p:cNvSpPr>
            <a:spLocks noGrp="1"/>
          </p:cNvSpPr>
          <p:nvPr/>
        </p:nvSpPr>
        <p:spPr>
          <a:xfrm>
            <a:off x="31455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F_e33</a:t>
            </a:r>
          </a:p>
        </p:txBody>
      </p:sp>
      <p:sp>
        <p:nvSpPr>
          <p:cNvPr id="34" name="Rounded Rectangle 33">
            <a:extLst>
              <a:ext uri="{FF2B5EF4-FFF2-40B4-BE49-F238E27FC236}">
                <a16:creationId xmlns:a16="http://schemas.microsoft.com/office/drawing/2014/main" id="{F2142C82-5F53-493A-BE90-4BA2F922B9AD}"/>
              </a:ext>
            </a:extLst>
          </p:cNvPr>
          <p:cNvSpPr>
            <a:spLocks noGrp="1"/>
          </p:cNvSpPr>
          <p:nvPr/>
        </p:nvSpPr>
        <p:spPr>
          <a:xfrm>
            <a:off x="30723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E990F137-911D-407D-95C3-9DCF01FCABAB}"/>
              </a:ext>
            </a:extLst>
          </p:cNvPr>
          <p:cNvSpPr>
            <a:spLocks noGrp="1"/>
          </p:cNvSpPr>
          <p:nvPr/>
        </p:nvSpPr>
        <p:spPr>
          <a:xfrm>
            <a:off x="31455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M_e33</a:t>
            </a:r>
          </a:p>
        </p:txBody>
      </p:sp>
      <p:sp>
        <p:nvSpPr>
          <p:cNvPr id="36" name="Rounded Rectangle 35">
            <a:extLst>
              <a:ext uri="{FF2B5EF4-FFF2-40B4-BE49-F238E27FC236}">
                <a16:creationId xmlns:a16="http://schemas.microsoft.com/office/drawing/2014/main" id="{6DC4B910-710E-4996-8C48-6BD291CECE0A}"/>
              </a:ext>
            </a:extLst>
          </p:cNvPr>
          <p:cNvSpPr>
            <a:spLocks noGrp="1"/>
          </p:cNvSpPr>
          <p:nvPr/>
        </p:nvSpPr>
        <p:spPr>
          <a:xfrm>
            <a:off x="44439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56E00175-9B35-4406-AF53-796D05AAF164}"/>
              </a:ext>
            </a:extLst>
          </p:cNvPr>
          <p:cNvSpPr>
            <a:spLocks noGrp="1"/>
          </p:cNvSpPr>
          <p:nvPr/>
        </p:nvSpPr>
        <p:spPr>
          <a:xfrm>
            <a:off x="45171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F_e4</a:t>
            </a:r>
          </a:p>
        </p:txBody>
      </p:sp>
      <p:sp>
        <p:nvSpPr>
          <p:cNvPr id="38" name="Rounded Rectangle 37">
            <a:extLst>
              <a:ext uri="{FF2B5EF4-FFF2-40B4-BE49-F238E27FC236}">
                <a16:creationId xmlns:a16="http://schemas.microsoft.com/office/drawing/2014/main" id="{325485EA-C4E4-4B5A-B1CA-7462544B97C6}"/>
              </a:ext>
            </a:extLst>
          </p:cNvPr>
          <p:cNvSpPr>
            <a:spLocks noGrp="1"/>
          </p:cNvSpPr>
          <p:nvPr/>
        </p:nvSpPr>
        <p:spPr>
          <a:xfrm>
            <a:off x="44439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F714AAAA-B4A9-43AD-A0E4-351E14DE3F41}"/>
              </a:ext>
            </a:extLst>
          </p:cNvPr>
          <p:cNvSpPr>
            <a:spLocks noGrp="1"/>
          </p:cNvSpPr>
          <p:nvPr/>
        </p:nvSpPr>
        <p:spPr>
          <a:xfrm>
            <a:off x="45171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M_e4</a:t>
            </a:r>
          </a:p>
        </p:txBody>
      </p:sp>
      <p:sp>
        <p:nvSpPr>
          <p:cNvPr id="40" name="TextBox 39">
            <a:extLst>
              <a:ext uri="{FF2B5EF4-FFF2-40B4-BE49-F238E27FC236}">
                <a16:creationId xmlns:a16="http://schemas.microsoft.com/office/drawing/2014/main" id="{13C3DEEE-8B63-4F17-949B-EE21B1731C09}"/>
              </a:ext>
            </a:extLst>
          </p:cNvPr>
          <p:cNvSpPr>
            <a:spLocks noGrp="1"/>
          </p:cNvSpPr>
          <p:nvPr/>
        </p:nvSpPr>
        <p:spPr>
          <a:xfrm>
            <a:off x="896112" y="4664132"/>
            <a:ext cx="4809744"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80" b="0" i="0">
                <a:solidFill>
                  <a:srgbClr val="4E5A68"/>
                </a:solidFill>
                <a:latin typeface="Arial"/>
                <a:ea typeface="Arial"/>
                <a:cs typeface="Arial"/>
              </a:rPr>
              <a:t>e2 = ε2 carrier   •   e33 = ε3/ε3   •   e4 = ε4 carrier</a:t>
            </a:r>
          </a:p>
        </p:txBody>
      </p:sp>
      <p:sp>
        <p:nvSpPr>
          <p:cNvPr id="41" name="Rounded Rectangle 40">
            <a:extLst>
              <a:ext uri="{FF2B5EF4-FFF2-40B4-BE49-F238E27FC236}">
                <a16:creationId xmlns:a16="http://schemas.microsoft.com/office/drawing/2014/main" id="{6A6C5A5F-CCF6-4E84-841D-077E84133767}"/>
              </a:ext>
            </a:extLst>
          </p:cNvPr>
          <p:cNvSpPr>
            <a:spLocks noGrp="1"/>
          </p:cNvSpPr>
          <p:nvPr/>
        </p:nvSpPr>
        <p:spPr>
          <a:xfrm>
            <a:off x="6172200" y="2487860"/>
            <a:ext cx="5413248" cy="288950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Rectangle 41">
            <a:extLst>
              <a:ext uri="{FF2B5EF4-FFF2-40B4-BE49-F238E27FC236}">
                <a16:creationId xmlns:a16="http://schemas.microsoft.com/office/drawing/2014/main" id="{F7604787-0199-47D3-9DFF-47AEBCB849D0}"/>
              </a:ext>
            </a:extLst>
          </p:cNvPr>
          <p:cNvSpPr>
            <a:spLocks noGrp="1"/>
          </p:cNvSpPr>
          <p:nvPr/>
        </p:nvSpPr>
        <p:spPr>
          <a:xfrm>
            <a:off x="6446520" y="2771324"/>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3484896B-2FE2-4D4C-8BAF-A6753F03A45A}"/>
              </a:ext>
            </a:extLst>
          </p:cNvPr>
          <p:cNvSpPr>
            <a:spLocks noGrp="1"/>
          </p:cNvSpPr>
          <p:nvPr/>
        </p:nvSpPr>
        <p:spPr>
          <a:xfrm>
            <a:off x="6592824"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Seven broad cell types</a:t>
            </a:r>
          </a:p>
        </p:txBody>
      </p:sp>
      <p:sp>
        <p:nvSpPr>
          <p:cNvPr id="44" name="Rounded Rectangle 43">
            <a:extLst>
              <a:ext uri="{FF2B5EF4-FFF2-40B4-BE49-F238E27FC236}">
                <a16:creationId xmlns:a16="http://schemas.microsoft.com/office/drawing/2014/main" id="{06CA765D-3399-4D97-A3AC-C2D9311C7292}"/>
              </a:ext>
            </a:extLst>
          </p:cNvPr>
          <p:cNvSpPr>
            <a:spLocks noGrp="1"/>
          </p:cNvSpPr>
          <p:nvPr/>
        </p:nvSpPr>
        <p:spPr>
          <a:xfrm>
            <a:off x="6446520"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17D76026-8450-4E92-AE17-B1A278E1E126}"/>
              </a:ext>
            </a:extLst>
          </p:cNvPr>
          <p:cNvSpPr>
            <a:spLocks noGrp="1"/>
          </p:cNvSpPr>
          <p:nvPr/>
        </p:nvSpPr>
        <p:spPr>
          <a:xfrm>
            <a:off x="6556248"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Astrocytes</a:t>
            </a:r>
          </a:p>
        </p:txBody>
      </p:sp>
      <p:sp>
        <p:nvSpPr>
          <p:cNvPr id="46" name="Rounded Rectangle 45">
            <a:extLst>
              <a:ext uri="{FF2B5EF4-FFF2-40B4-BE49-F238E27FC236}">
                <a16:creationId xmlns:a16="http://schemas.microsoft.com/office/drawing/2014/main" id="{4435C50D-673E-4420-9054-2BF44683ADBF}"/>
              </a:ext>
            </a:extLst>
          </p:cNvPr>
          <p:cNvSpPr>
            <a:spLocks noGrp="1"/>
          </p:cNvSpPr>
          <p:nvPr/>
        </p:nvSpPr>
        <p:spPr>
          <a:xfrm>
            <a:off x="6446520"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7CA50A34-12D6-4C4C-B402-E572FD4A1AE9}"/>
              </a:ext>
            </a:extLst>
          </p:cNvPr>
          <p:cNvSpPr>
            <a:spLocks noGrp="1"/>
          </p:cNvSpPr>
          <p:nvPr/>
        </p:nvSpPr>
        <p:spPr>
          <a:xfrm>
            <a:off x="6556248"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Excitatory neurons</a:t>
            </a:r>
          </a:p>
        </p:txBody>
      </p:sp>
      <p:sp>
        <p:nvSpPr>
          <p:cNvPr id="48" name="Rounded Rectangle 47">
            <a:extLst>
              <a:ext uri="{FF2B5EF4-FFF2-40B4-BE49-F238E27FC236}">
                <a16:creationId xmlns:a16="http://schemas.microsoft.com/office/drawing/2014/main" id="{6922206C-048C-41CD-9AD0-934269F4B68C}"/>
              </a:ext>
            </a:extLst>
          </p:cNvPr>
          <p:cNvSpPr>
            <a:spLocks noGrp="1"/>
          </p:cNvSpPr>
          <p:nvPr/>
        </p:nvSpPr>
        <p:spPr>
          <a:xfrm>
            <a:off x="6446520"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22B6329A-8794-4F20-AE32-4E22A22ADBE6}"/>
              </a:ext>
            </a:extLst>
          </p:cNvPr>
          <p:cNvSpPr>
            <a:spLocks noGrp="1"/>
          </p:cNvSpPr>
          <p:nvPr/>
        </p:nvSpPr>
        <p:spPr>
          <a:xfrm>
            <a:off x="6556248"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Inhibitory neurons</a:t>
            </a:r>
          </a:p>
        </p:txBody>
      </p:sp>
      <p:sp>
        <p:nvSpPr>
          <p:cNvPr id="50" name="Rounded Rectangle 49">
            <a:extLst>
              <a:ext uri="{FF2B5EF4-FFF2-40B4-BE49-F238E27FC236}">
                <a16:creationId xmlns:a16="http://schemas.microsoft.com/office/drawing/2014/main" id="{4E37577C-AAD9-4458-8BE2-0DB0FAE4F33A}"/>
              </a:ext>
            </a:extLst>
          </p:cNvPr>
          <p:cNvSpPr>
            <a:spLocks noGrp="1"/>
          </p:cNvSpPr>
          <p:nvPr/>
        </p:nvSpPr>
        <p:spPr>
          <a:xfrm>
            <a:off x="6446520" y="474642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19ECF647-C4C2-4EBE-B7D9-117AB20695EF}"/>
              </a:ext>
            </a:extLst>
          </p:cNvPr>
          <p:cNvSpPr>
            <a:spLocks noGrp="1"/>
          </p:cNvSpPr>
          <p:nvPr/>
        </p:nvSpPr>
        <p:spPr>
          <a:xfrm>
            <a:off x="6556248" y="484701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Microglia</a:t>
            </a:r>
          </a:p>
        </p:txBody>
      </p:sp>
      <p:sp>
        <p:nvSpPr>
          <p:cNvPr id="52" name="Rounded Rectangle 51">
            <a:extLst>
              <a:ext uri="{FF2B5EF4-FFF2-40B4-BE49-F238E27FC236}">
                <a16:creationId xmlns:a16="http://schemas.microsoft.com/office/drawing/2014/main" id="{99C1AC61-AA6A-4A31-A36B-4D2604F2BF3A}"/>
              </a:ext>
            </a:extLst>
          </p:cNvPr>
          <p:cNvSpPr>
            <a:spLocks noGrp="1"/>
          </p:cNvSpPr>
          <p:nvPr/>
        </p:nvSpPr>
        <p:spPr>
          <a:xfrm>
            <a:off x="8979408"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8EBFD78F-6A4C-42A4-8988-EBA51CF70B33}"/>
              </a:ext>
            </a:extLst>
          </p:cNvPr>
          <p:cNvSpPr>
            <a:spLocks noGrp="1"/>
          </p:cNvSpPr>
          <p:nvPr/>
        </p:nvSpPr>
        <p:spPr>
          <a:xfrm>
            <a:off x="9089136"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OPCs</a:t>
            </a:r>
          </a:p>
        </p:txBody>
      </p:sp>
      <p:sp>
        <p:nvSpPr>
          <p:cNvPr id="54" name="Rounded Rectangle 53">
            <a:extLst>
              <a:ext uri="{FF2B5EF4-FFF2-40B4-BE49-F238E27FC236}">
                <a16:creationId xmlns:a16="http://schemas.microsoft.com/office/drawing/2014/main" id="{5AA63555-0C23-471F-BCAA-992D3B431350}"/>
              </a:ext>
            </a:extLst>
          </p:cNvPr>
          <p:cNvSpPr>
            <a:spLocks noGrp="1"/>
          </p:cNvSpPr>
          <p:nvPr/>
        </p:nvSpPr>
        <p:spPr>
          <a:xfrm>
            <a:off x="8979408"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B4A771FC-E47D-4201-8C0A-FACABB49166E}"/>
              </a:ext>
            </a:extLst>
          </p:cNvPr>
          <p:cNvSpPr>
            <a:spLocks noGrp="1"/>
          </p:cNvSpPr>
          <p:nvPr/>
        </p:nvSpPr>
        <p:spPr>
          <a:xfrm>
            <a:off x="9089136"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Oligodendrocytes</a:t>
            </a:r>
          </a:p>
        </p:txBody>
      </p:sp>
      <p:sp>
        <p:nvSpPr>
          <p:cNvPr id="56" name="Rounded Rectangle 55">
            <a:extLst>
              <a:ext uri="{FF2B5EF4-FFF2-40B4-BE49-F238E27FC236}">
                <a16:creationId xmlns:a16="http://schemas.microsoft.com/office/drawing/2014/main" id="{8FC98E53-B787-4823-B69B-8F788A089A85}"/>
              </a:ext>
            </a:extLst>
          </p:cNvPr>
          <p:cNvSpPr>
            <a:spLocks noGrp="1"/>
          </p:cNvSpPr>
          <p:nvPr/>
        </p:nvSpPr>
        <p:spPr>
          <a:xfrm>
            <a:off x="8979408"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7" name="TextBox 56">
            <a:extLst>
              <a:ext uri="{FF2B5EF4-FFF2-40B4-BE49-F238E27FC236}">
                <a16:creationId xmlns:a16="http://schemas.microsoft.com/office/drawing/2014/main" id="{735B5593-297E-4656-A489-677258F64C1F}"/>
              </a:ext>
            </a:extLst>
          </p:cNvPr>
          <p:cNvSpPr>
            <a:spLocks noGrp="1"/>
          </p:cNvSpPr>
          <p:nvPr/>
        </p:nvSpPr>
        <p:spPr>
          <a:xfrm>
            <a:off x="9089136"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Vasculature</a:t>
            </a:r>
          </a:p>
        </p:txBody>
      </p:sp>
      <p:sp>
        <p:nvSpPr>
          <p:cNvPr id="58" name="Rounded Rectangle 57">
            <a:extLst>
              <a:ext uri="{FF2B5EF4-FFF2-40B4-BE49-F238E27FC236}">
                <a16:creationId xmlns:a16="http://schemas.microsoft.com/office/drawing/2014/main" id="{031661F2-BBCE-4BEA-8C61-B69A1AFDD975}"/>
              </a:ext>
            </a:extLst>
          </p:cNvPr>
          <p:cNvSpPr>
            <a:spLocks noGrp="1"/>
          </p:cNvSpPr>
          <p:nvPr/>
        </p:nvSpPr>
        <p:spPr>
          <a:xfrm>
            <a:off x="603504" y="5493303"/>
            <a:ext cx="10981944"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9" name="TextBox 58">
            <a:extLst>
              <a:ext uri="{FF2B5EF4-FFF2-40B4-BE49-F238E27FC236}">
                <a16:creationId xmlns:a16="http://schemas.microsoft.com/office/drawing/2014/main" id="{9EAEE7F6-4272-41C2-9E39-4B7A20B11B59}"/>
              </a:ext>
            </a:extLst>
          </p:cNvPr>
          <p:cNvSpPr>
            <a:spLocks noGrp="1"/>
          </p:cNvSpPr>
          <p:nvPr/>
        </p:nvSpPr>
        <p:spPr>
          <a:xfrm>
            <a:off x="859536" y="5657895"/>
            <a:ext cx="129844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4E5A68"/>
                </a:solidFill>
                <a:latin typeface="Arial"/>
                <a:ea typeface="Arial"/>
                <a:cs typeface="Arial"/>
              </a:rPr>
              <a:t>Example category</a:t>
            </a:r>
          </a:p>
        </p:txBody>
      </p:sp>
      <p:sp>
        <p:nvSpPr>
          <p:cNvPr id="60" name="TextBox 59">
            <a:extLst>
              <a:ext uri="{FF2B5EF4-FFF2-40B4-BE49-F238E27FC236}">
                <a16:creationId xmlns:a16="http://schemas.microsoft.com/office/drawing/2014/main" id="{B4F93260-CACC-42D8-A296-C2812E9E1907}"/>
              </a:ext>
            </a:extLst>
          </p:cNvPr>
          <p:cNvSpPr>
            <a:spLocks noGrp="1"/>
          </p:cNvSpPr>
          <p:nvPr/>
        </p:nvSpPr>
        <p:spPr>
          <a:xfrm>
            <a:off x="2139696" y="5612175"/>
            <a:ext cx="3072384"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20" b="1" i="0">
                <a:solidFill>
                  <a:srgbClr val="7E4C9A"/>
                </a:solidFill>
                <a:latin typeface="Arial"/>
                <a:ea typeface="Arial"/>
                <a:cs typeface="Arial"/>
              </a:rPr>
              <a:t>M_e33 × Excitatory neurons</a:t>
            </a:r>
          </a:p>
        </p:txBody>
      </p:sp>
      <p:sp>
        <p:nvSpPr>
          <p:cNvPr id="61" name="TextBox 60">
            <a:extLst>
              <a:ext uri="{FF2B5EF4-FFF2-40B4-BE49-F238E27FC236}">
                <a16:creationId xmlns:a16="http://schemas.microsoft.com/office/drawing/2014/main" id="{802138E5-FD06-4CDD-944B-42FE9F7A853E}"/>
              </a:ext>
            </a:extLst>
          </p:cNvPr>
          <p:cNvSpPr>
            <a:spLocks noGrp="1"/>
          </p:cNvSpPr>
          <p:nvPr/>
        </p:nvSpPr>
        <p:spPr>
          <a:xfrm>
            <a:off x="5157216" y="5621319"/>
            <a:ext cx="6144768" cy="3535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980" b="0" i="0">
                <a:solidFill>
                  <a:srgbClr val="4E5A68"/>
                </a:solidFill>
                <a:latin typeface="Arial"/>
                <a:ea typeface="Arial"/>
                <a:cs typeface="Arial"/>
              </a:rPr>
              <a:t>42 is the design space; later slides show which categories have usable KDA calls and genes returned from KDA calls.</a:t>
            </a:r>
          </a:p>
        </p:txBody>
      </p:sp>
      <p:sp>
        <p:nvSpPr>
          <p:cNvPr id="62" name="TextBox 61">
            <a:extLst>
              <a:ext uri="{FF2B5EF4-FFF2-40B4-BE49-F238E27FC236}">
                <a16:creationId xmlns:a16="http://schemas.microsoft.com/office/drawing/2014/main" id="{A7CB8CE8-B4BA-4BDE-9C49-8FAB5177F6A8}"/>
              </a:ext>
            </a:extLst>
          </p:cNvPr>
          <p:cNvSpPr>
            <a:spLocks noGrp="1"/>
          </p:cNvSpPr>
          <p:nvPr/>
        </p:nvSpPr>
        <p:spPr>
          <a:xfrm>
            <a:off x="603504" y="2231828"/>
            <a:ext cx="10981944" cy="2377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1" i="0">
                <a:solidFill>
                  <a:srgbClr val="9E3A00"/>
                </a:solidFill>
                <a:latin typeface="Arial"/>
                <a:ea typeface="Arial"/>
                <a:cs typeface="Arial"/>
              </a:rPr>
              <a:t>Genes returned from KDA calls are ranked separately within each category.</a:t>
            </a:r>
          </a:p>
        </p:txBody>
      </p:sp>
      <p:sp>
        <p:nvSpPr>
          <p:cNvPr id="63" name="Rounded Rectangle 62">
            <a:extLst>
              <a:ext uri="{FF2B5EF4-FFF2-40B4-BE49-F238E27FC236}">
                <a16:creationId xmlns:a16="http://schemas.microsoft.com/office/drawing/2014/main" id="{B83C867B-6719-61CC-B78E-6D222519F57E}"/>
              </a:ext>
            </a:extLst>
          </p:cNvPr>
          <p:cNvSpPr>
            <a:spLocks noGrp="1"/>
          </p:cNvSpPr>
          <p:nvPr/>
        </p:nvSpPr>
        <p:spPr>
          <a:xfrm>
            <a:off x="603504" y="6217231"/>
            <a:ext cx="10981944"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4" name="TextBox 63">
            <a:extLst>
              <a:ext uri="{FF2B5EF4-FFF2-40B4-BE49-F238E27FC236}">
                <a16:creationId xmlns:a16="http://schemas.microsoft.com/office/drawing/2014/main" id="{C194CD37-5809-AAED-3984-64508649098C}"/>
              </a:ext>
            </a:extLst>
          </p:cNvPr>
          <p:cNvSpPr>
            <a:spLocks noGrp="1"/>
          </p:cNvSpPr>
          <p:nvPr/>
        </p:nvSpPr>
        <p:spPr>
          <a:xfrm>
            <a:off x="822960" y="6336103"/>
            <a:ext cx="10533888" cy="3627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0" b="1" i="0">
                <a:solidFill>
                  <a:srgbClr val="9E3A00"/>
                </a:solidFill>
                <a:latin typeface="Arial"/>
                <a:ea typeface="Arial"/>
                <a:cs typeface="Arial"/>
              </a:rPr>
              <a:t>Why contrasts outnumber categories: many fine cell types map to one broad cell type; recurring genes returned from KDA calls are combined by equal-weight, returned-only ACAT.</a:t>
            </a:r>
          </a:p>
        </p:txBody>
      </p:sp>
    </p:spTree>
    <p:extLst>
      <p:ext uri="{BB962C8B-B14F-4D97-AF65-F5344CB8AC3E}">
        <p14:creationId xmlns:p14="http://schemas.microsoft.com/office/powerpoint/2010/main" val="24565953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nvSpPr>
        <p:spPr>
          <a:xfrm>
            <a:off x="530352" y="411480"/>
            <a:ext cx="11000000" cy="520000"/>
          </a:xfrm>
          <a:prstGeom prst="rect">
            <a:avLst/>
          </a:prstGeom>
          <a:noFill/>
          <a:ln>
            <a:noFill/>
          </a:ln>
        </p:spPr>
        <p:txBody>
          <a:bodyPr wrap="square" lIns="100000" tIns="100000" rIns="100000" bIns="100000"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DEG and DEG occurrence</a:t>
            </a:r>
          </a:p>
        </p:txBody>
      </p:sp>
      <p:sp>
        <p:nvSpPr>
          <p:cNvPr id="4" name="Gene box"/>
          <p:cNvSpPr>
            <a:spLocks noGrp="1"/>
          </p:cNvSpPr>
          <p:nvPr/>
        </p:nvSpPr>
        <p:spPr>
          <a:xfrm>
            <a:off x="760000" y="2416112"/>
            <a:ext cx="2860000" cy="1360000"/>
          </a:xfrm>
          <a:prstGeom prst="roundRect">
            <a:avLst/>
          </a:prstGeom>
          <a:solidFill>
            <a:srgbClr val="EBF7FC"/>
          </a:solidFill>
          <a:ln w="12700">
            <a:solidFill>
              <a:srgbClr val="0072B2"/>
            </a:solidFill>
          </a:ln>
        </p:spPr>
        <p:txBody>
          <a:bodyPr wrap="square" lIns="120000" tIns="120000" rIns="120000" bIns="120000" anchor="ctr">
            <a:spAutoFit/>
          </a:bodyPr>
          <a:lstStyle/>
          <a:p>
            <a:pPr algn="ctr">
              <a:lnSpc>
                <a:spcPct val="100000"/>
              </a:lnSpc>
              <a:spcBef>
                <a:spcPts val="0"/>
              </a:spcBef>
              <a:spcAft>
                <a:spcPts val="0"/>
              </a:spcAft>
              <a:buNone/>
            </a:pPr>
            <a:r>
              <a:rPr sz="1900" b="1" i="0">
                <a:solidFill>
                  <a:srgbClr val="0072B2"/>
                </a:solidFill>
                <a:latin typeface="Arial"/>
                <a:ea typeface="Arial"/>
                <a:cs typeface="Arial"/>
              </a:rPr>
              <a:t>1</a:t>
            </a:r>
          </a:p>
          <a:p>
            <a:pPr algn="ctr">
              <a:lnSpc>
                <a:spcPct val="100000"/>
              </a:lnSpc>
              <a:spcBef>
                <a:spcPts val="0"/>
              </a:spcBef>
              <a:spcAft>
                <a:spcPts val="0"/>
              </a:spcAft>
              <a:buNone/>
            </a:pPr>
            <a:r>
              <a:rPr sz="1900" b="1" i="0">
                <a:solidFill>
                  <a:srgbClr val="0072B2"/>
                </a:solidFill>
                <a:latin typeface="Arial"/>
                <a:ea typeface="Arial"/>
                <a:cs typeface="Arial"/>
              </a:rPr>
              <a:t>DEG</a:t>
            </a:r>
          </a:p>
        </p:txBody>
      </p:sp>
      <p:sp>
        <p:nvSpPr>
          <p:cNvPr id="5" name="Times"/>
          <p:cNvSpPr>
            <a:spLocks noGrp="1"/>
          </p:cNvSpPr>
          <p:nvPr/>
        </p:nvSpPr>
        <p:spPr>
          <a:xfrm>
            <a:off x="3700000" y="2796112"/>
            <a:ext cx="420000" cy="500000"/>
          </a:xfrm>
          <a:prstGeom prst="rect">
            <a:avLst/>
          </a:prstGeom>
          <a:noFill/>
          <a:ln>
            <a:noFill/>
          </a:ln>
        </p:spPr>
        <p:txBody>
          <a:bodyPr wrap="square" lIns="0" tIns="0" rIns="0" bIns="0" anchor="ctr">
            <a:spAutoFit/>
          </a:bodyPr>
          <a:lstStyle/>
          <a:p>
            <a:pPr algn="ctr">
              <a:lnSpc>
                <a:spcPct val="100000"/>
              </a:lnSpc>
              <a:spcBef>
                <a:spcPts val="0"/>
              </a:spcBef>
              <a:spcAft>
                <a:spcPts val="0"/>
              </a:spcAft>
              <a:buNone/>
            </a:pPr>
            <a:r>
              <a:rPr sz="2400" b="1" i="0">
                <a:solidFill>
                  <a:srgbClr val="4E5A68"/>
                </a:solidFill>
                <a:latin typeface="Arial"/>
                <a:ea typeface="Arial"/>
                <a:cs typeface="Arial"/>
              </a:rPr>
              <a:t>×</a:t>
            </a:r>
          </a:p>
        </p:txBody>
      </p:sp>
      <p:sp>
        <p:nvSpPr>
          <p:cNvPr id="6" name="Contrast box"/>
          <p:cNvSpPr>
            <a:spLocks noGrp="1"/>
          </p:cNvSpPr>
          <p:nvPr/>
        </p:nvSpPr>
        <p:spPr>
          <a:xfrm>
            <a:off x="4200000" y="2416112"/>
            <a:ext cx="3000000" cy="1360000"/>
          </a:xfrm>
          <a:prstGeom prst="roundRect">
            <a:avLst/>
          </a:prstGeom>
          <a:solidFill>
            <a:srgbClr val="E4F4EE"/>
          </a:solidFill>
          <a:ln w="12700">
            <a:solidFill>
              <a:srgbClr val="009E73"/>
            </a:solidFill>
          </a:ln>
        </p:spPr>
        <p:txBody>
          <a:bodyPr wrap="square" lIns="120000" tIns="120000" rIns="120000" bIns="120000" anchor="ctr">
            <a:spAutoFit/>
          </a:bodyPr>
          <a:lstStyle/>
          <a:p>
            <a:pPr algn="ctr">
              <a:lnSpc>
                <a:spcPct val="100000"/>
              </a:lnSpc>
              <a:spcBef>
                <a:spcPts val="0"/>
              </a:spcBef>
              <a:spcAft>
                <a:spcPts val="0"/>
              </a:spcAft>
              <a:buNone/>
            </a:pPr>
            <a:r>
              <a:rPr sz="1900" b="1" i="0">
                <a:solidFill>
                  <a:srgbClr val="00684D"/>
                </a:solidFill>
                <a:latin typeface="Arial"/>
                <a:ea typeface="Arial"/>
                <a:cs typeface="Arial"/>
              </a:rPr>
              <a:t>1</a:t>
            </a:r>
          </a:p>
          <a:p>
            <a:pPr algn="ctr">
              <a:lnSpc>
                <a:spcPct val="100000"/>
              </a:lnSpc>
              <a:spcBef>
                <a:spcPts val="0"/>
              </a:spcBef>
              <a:spcAft>
                <a:spcPts val="0"/>
              </a:spcAft>
              <a:buNone/>
            </a:pPr>
            <a:r>
              <a:rPr sz="1900" b="1" i="0">
                <a:solidFill>
                  <a:srgbClr val="00684D"/>
                </a:solidFill>
                <a:latin typeface="Arial"/>
                <a:ea typeface="Arial"/>
                <a:cs typeface="Arial"/>
              </a:rPr>
              <a:t>FINE-CELL CONTRAST</a:t>
            </a:r>
          </a:p>
        </p:txBody>
      </p:sp>
      <p:sp>
        <p:nvSpPr>
          <p:cNvPr id="7" name="Equals"/>
          <p:cNvSpPr>
            <a:spLocks noGrp="1"/>
          </p:cNvSpPr>
          <p:nvPr/>
        </p:nvSpPr>
        <p:spPr>
          <a:xfrm>
            <a:off x="7310000" y="2796112"/>
            <a:ext cx="420000" cy="500000"/>
          </a:xfrm>
          <a:prstGeom prst="rect">
            <a:avLst/>
          </a:prstGeom>
          <a:noFill/>
          <a:ln>
            <a:noFill/>
          </a:ln>
        </p:spPr>
        <p:txBody>
          <a:bodyPr wrap="square" lIns="0" tIns="0" rIns="0" bIns="0" anchor="ctr">
            <a:spAutoFit/>
          </a:bodyPr>
          <a:lstStyle/>
          <a:p>
            <a:pPr algn="ctr">
              <a:lnSpc>
                <a:spcPct val="100000"/>
              </a:lnSpc>
              <a:spcBef>
                <a:spcPts val="0"/>
              </a:spcBef>
              <a:spcAft>
                <a:spcPts val="0"/>
              </a:spcAft>
              <a:buNone/>
            </a:pPr>
            <a:r>
              <a:rPr sz="2400" b="1" i="0">
                <a:solidFill>
                  <a:srgbClr val="4E5A68"/>
                </a:solidFill>
                <a:latin typeface="Arial"/>
                <a:ea typeface="Arial"/>
                <a:cs typeface="Arial"/>
              </a:rPr>
              <a:t>=</a:t>
            </a:r>
          </a:p>
        </p:txBody>
      </p:sp>
      <p:sp>
        <p:nvSpPr>
          <p:cNvPr id="8" name="Occurrence box"/>
          <p:cNvSpPr>
            <a:spLocks noGrp="1"/>
          </p:cNvSpPr>
          <p:nvPr/>
        </p:nvSpPr>
        <p:spPr>
          <a:xfrm>
            <a:off x="7800000" y="2416112"/>
            <a:ext cx="3600000" cy="1360000"/>
          </a:xfrm>
          <a:prstGeom prst="roundRect">
            <a:avLst/>
          </a:prstGeom>
          <a:solidFill>
            <a:srgbClr val="FDEBE4"/>
          </a:solidFill>
          <a:ln w="12700">
            <a:solidFill>
              <a:srgbClr val="D55E00"/>
            </a:solidFill>
          </a:ln>
        </p:spPr>
        <p:txBody>
          <a:bodyPr wrap="square" lIns="120000" tIns="120000" rIns="120000" bIns="120000" anchor="ctr">
            <a:spAutoFit/>
          </a:bodyPr>
          <a:lstStyle/>
          <a:p>
            <a:pPr algn="ctr">
              <a:lnSpc>
                <a:spcPct val="100000"/>
              </a:lnSpc>
              <a:spcBef>
                <a:spcPts val="0"/>
              </a:spcBef>
              <a:spcAft>
                <a:spcPts val="0"/>
              </a:spcAft>
              <a:buNone/>
            </a:pPr>
            <a:r>
              <a:rPr sz="1900" b="1" i="0" dirty="0">
                <a:solidFill>
                  <a:srgbClr val="9E3A00"/>
                </a:solidFill>
                <a:latin typeface="Arial"/>
                <a:ea typeface="Arial"/>
                <a:cs typeface="Arial"/>
              </a:rPr>
              <a:t>1</a:t>
            </a:r>
          </a:p>
          <a:p>
            <a:pPr algn="ctr">
              <a:lnSpc>
                <a:spcPct val="100000"/>
              </a:lnSpc>
              <a:spcBef>
                <a:spcPts val="0"/>
              </a:spcBef>
              <a:spcAft>
                <a:spcPts val="0"/>
              </a:spcAft>
              <a:buNone/>
            </a:pPr>
            <a:r>
              <a:rPr sz="1900" b="1" i="0" dirty="0">
                <a:solidFill>
                  <a:srgbClr val="9E3A00"/>
                </a:solidFill>
                <a:latin typeface="Arial"/>
                <a:ea typeface="Arial"/>
                <a:cs typeface="Arial"/>
              </a:rPr>
              <a:t>DEG OCCURRENCE</a:t>
            </a:r>
          </a:p>
        </p:txBody>
      </p:sp>
      <p:sp>
        <p:nvSpPr>
          <p:cNvPr id="9" name="Repeated evidence"/>
          <p:cNvSpPr>
            <a:spLocks noGrp="1"/>
          </p:cNvSpPr>
          <p:nvPr/>
        </p:nvSpPr>
        <p:spPr>
          <a:xfrm>
            <a:off x="950000" y="3894944"/>
            <a:ext cx="10200000" cy="520000"/>
          </a:xfrm>
          <a:prstGeom prst="rect">
            <a:avLst/>
          </a:prstGeom>
          <a:noFill/>
          <a:ln>
            <a:noFill/>
          </a:ln>
        </p:spPr>
        <p:txBody>
          <a:bodyPr wrap="square" lIns="50000" tIns="50000" rIns="50000" bIns="50000" anchor="ctr">
            <a:spAutoFit/>
          </a:bodyPr>
          <a:lstStyle/>
          <a:p>
            <a:pPr algn="ctr">
              <a:lnSpc>
                <a:spcPct val="100000"/>
              </a:lnSpc>
              <a:spcBef>
                <a:spcPts val="0"/>
              </a:spcBef>
              <a:spcAft>
                <a:spcPts val="0"/>
              </a:spcAft>
              <a:buNone/>
            </a:pPr>
            <a:r>
              <a:rPr sz="1500" b="1" i="0" dirty="0">
                <a:solidFill>
                  <a:srgbClr val="0F233D"/>
                </a:solidFill>
                <a:latin typeface="Arial"/>
                <a:ea typeface="Arial"/>
                <a:cs typeface="Arial"/>
              </a:rPr>
              <a:t>The same gene contributes another occurrence when it is a DEG in another fine-cell contrast.</a:t>
            </a:r>
          </a:p>
        </p:txBody>
      </p:sp>
      <p:sp>
        <p:nvSpPr>
          <p:cNvPr id="10" name="Example box"/>
          <p:cNvSpPr>
            <a:spLocks noGrp="1"/>
          </p:cNvSpPr>
          <p:nvPr/>
        </p:nvSpPr>
        <p:spPr>
          <a:xfrm>
            <a:off x="1370000" y="4636072"/>
            <a:ext cx="9450000" cy="1500000"/>
          </a:xfrm>
          <a:prstGeom prst="roundRect">
            <a:avLst/>
          </a:prstGeom>
          <a:solidFill>
            <a:srgbClr val="E4F4EE"/>
          </a:solidFill>
          <a:ln w="12700">
            <a:solidFill>
              <a:srgbClr val="C9DDD7"/>
            </a:solidFill>
          </a:ln>
        </p:spPr>
        <p:txBody>
          <a:bodyPr wrap="square" lIns="180000" tIns="180000" rIns="180000" bIns="180000" anchor="ctr">
            <a:spAutoFit/>
          </a:bodyPr>
          <a:lstStyle/>
          <a:p>
            <a:pPr algn="ctr">
              <a:lnSpc>
                <a:spcPct val="100000"/>
              </a:lnSpc>
              <a:spcBef>
                <a:spcPts val="0"/>
              </a:spcBef>
              <a:spcAft>
                <a:spcPts val="0"/>
              </a:spcAft>
              <a:buNone/>
            </a:pPr>
            <a:r>
              <a:rPr sz="1550" b="1" i="0" dirty="0">
                <a:solidFill>
                  <a:srgbClr val="00684D"/>
                </a:solidFill>
                <a:latin typeface="Arial"/>
                <a:ea typeface="Arial"/>
                <a:cs typeface="Arial"/>
              </a:rPr>
              <a:t>Example: Gene A is a DEG in three fine-cell contrasts</a:t>
            </a:r>
          </a:p>
          <a:p>
            <a:pPr algn="ctr">
              <a:lnSpc>
                <a:spcPct val="100000"/>
              </a:lnSpc>
              <a:spcBef>
                <a:spcPts val="0"/>
              </a:spcBef>
              <a:spcAft>
                <a:spcPts val="0"/>
              </a:spcAft>
              <a:buNone/>
            </a:pPr>
            <a:endParaRPr sz="1550" b="1" i="0" dirty="0">
              <a:solidFill>
                <a:srgbClr val="00684D"/>
              </a:solidFill>
              <a:latin typeface="Arial"/>
              <a:ea typeface="Arial"/>
              <a:cs typeface="Arial"/>
            </a:endParaRPr>
          </a:p>
          <a:p>
            <a:pPr algn="ctr">
              <a:lnSpc>
                <a:spcPct val="100000"/>
              </a:lnSpc>
              <a:spcBef>
                <a:spcPts val="0"/>
              </a:spcBef>
              <a:spcAft>
                <a:spcPts val="0"/>
              </a:spcAft>
              <a:buNone/>
            </a:pPr>
            <a:r>
              <a:rPr sz="1550" b="1" i="0" dirty="0">
                <a:solidFill>
                  <a:srgbClr val="00684D"/>
                </a:solidFill>
                <a:latin typeface="Arial"/>
                <a:ea typeface="Arial"/>
                <a:cs typeface="Arial"/>
              </a:rPr>
              <a:t>3 DEG occurrences     1 unique gene</a:t>
            </a:r>
          </a:p>
        </p:txBody>
      </p:sp>
      <p:sp>
        <p:nvSpPr>
          <p:cNvPr id="11" name="Interpretation"/>
          <p:cNvSpPr>
            <a:spLocks noGrp="1"/>
          </p:cNvSpPr>
          <p:nvPr/>
        </p:nvSpPr>
        <p:spPr>
          <a:xfrm>
            <a:off x="1370000" y="6327295"/>
            <a:ext cx="9450000" cy="350082"/>
          </a:xfrm>
          <a:prstGeom prst="roundRect">
            <a:avLst/>
          </a:prstGeom>
          <a:solidFill>
            <a:srgbClr val="FFFFFF"/>
          </a:solidFill>
          <a:ln w="12700">
            <a:solidFill>
              <a:srgbClr val="D7E1EC"/>
            </a:solidFill>
          </a:ln>
        </p:spPr>
        <p:txBody>
          <a:bodyPr wrap="square" lIns="50000" tIns="50000" rIns="50000" bIns="50000" anchor="ctr">
            <a:spAutoFit/>
          </a:bodyPr>
          <a:lstStyle/>
          <a:p>
            <a:pPr algn="ctr">
              <a:lnSpc>
                <a:spcPct val="100000"/>
              </a:lnSpc>
              <a:spcBef>
                <a:spcPts val="0"/>
              </a:spcBef>
              <a:spcAft>
                <a:spcPts val="0"/>
              </a:spcAft>
              <a:buNone/>
            </a:pPr>
            <a:r>
              <a:rPr sz="1400" b="1" i="0" dirty="0">
                <a:latin typeface="Arial"/>
                <a:ea typeface="Arial"/>
                <a:cs typeface="Arial"/>
              </a:rPr>
              <a:t>Occurrence counts repeat DEGs across contrasts. Unique-gene counts count each gene once.</a:t>
            </a:r>
          </a:p>
        </p:txBody>
      </p:sp>
      <p:sp>
        <p:nvSpPr>
          <p:cNvPr id="12" name="Example box">
            <a:extLst>
              <a:ext uri="{FF2B5EF4-FFF2-40B4-BE49-F238E27FC236}">
                <a16:creationId xmlns:a16="http://schemas.microsoft.com/office/drawing/2014/main" id="{98A82523-6157-948B-7B62-74813E73F3E9}"/>
              </a:ext>
            </a:extLst>
          </p:cNvPr>
          <p:cNvSpPr>
            <a:spLocks noGrp="1"/>
          </p:cNvSpPr>
          <p:nvPr/>
        </p:nvSpPr>
        <p:spPr>
          <a:xfrm>
            <a:off x="760000" y="1111869"/>
            <a:ext cx="10640000" cy="981069"/>
          </a:xfrm>
          <a:prstGeom prst="roundRect">
            <a:avLst/>
          </a:prstGeom>
          <a:solidFill>
            <a:schemeClr val="accent1">
              <a:lumMod val="20000"/>
              <a:lumOff val="80000"/>
            </a:schemeClr>
          </a:solidFill>
          <a:ln w="12700">
            <a:solidFill>
              <a:srgbClr val="C9DDD7"/>
            </a:solidFill>
          </a:ln>
        </p:spPr>
        <p:txBody>
          <a:bodyPr wrap="square" lIns="180000" tIns="180000" rIns="180000" bIns="180000" anchor="ctr">
            <a:spAutoFit/>
          </a:bodyPr>
          <a:lstStyle/>
          <a:p>
            <a:r>
              <a:rPr lang="en-US" sz="1600" dirty="0">
                <a:solidFill>
                  <a:srgbClr val="4E5A68"/>
                </a:solidFill>
                <a:latin typeface="Arial"/>
                <a:ea typeface="Arial"/>
                <a:cs typeface="Arial"/>
              </a:rPr>
              <a:t>A gene is a </a:t>
            </a:r>
            <a:r>
              <a:rPr lang="en-US" sz="1600" b="1" dirty="0">
                <a:solidFill>
                  <a:srgbClr val="FF0000"/>
                </a:solidFill>
                <a:latin typeface="Arial"/>
                <a:ea typeface="Arial"/>
                <a:cs typeface="Arial"/>
              </a:rPr>
              <a:t>DEG</a:t>
            </a:r>
            <a:r>
              <a:rPr lang="en-US" sz="1600" dirty="0">
                <a:solidFill>
                  <a:srgbClr val="4E5A68"/>
                </a:solidFill>
                <a:latin typeface="Arial"/>
                <a:ea typeface="Arial"/>
                <a:cs typeface="Arial"/>
              </a:rPr>
              <a:t> within one fine-cell contrast when it meets both criteria:</a:t>
            </a:r>
          </a:p>
          <a:p>
            <a:r>
              <a:rPr lang="en-US" sz="1600" dirty="0">
                <a:solidFill>
                  <a:srgbClr val="0072B2"/>
                </a:solidFill>
                <a:latin typeface="Arial"/>
                <a:ea typeface="Arial"/>
                <a:cs typeface="Arial"/>
              </a:rPr>
              <a:t>BH-adjusted P &lt; 0.05 and |log₂ fold change| &gt; log₂(1.3) (≈ 0.38).</a:t>
            </a:r>
          </a:p>
        </p:txBody>
      </p:sp>
    </p:spTree>
    <p:extLst>
      <p:ext uri="{BB962C8B-B14F-4D97-AF65-F5344CB8AC3E}">
        <p14:creationId xmlns:p14="http://schemas.microsoft.com/office/powerpoint/2010/main" val="8478364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316EEB-069D-41A8-577B-5F43F368006E}"/>
              </a:ext>
            </a:extLst>
          </p:cNvPr>
          <p:cNvSpPr>
            <a:spLocks noGrp="1"/>
          </p:cNvSpPr>
          <p:nvPr/>
        </p:nvSpPr>
        <p:spPr>
          <a:xfrm>
            <a:off x="713232" y="1285018"/>
            <a:ext cx="10287000" cy="886397"/>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DEG Analysis</a:t>
            </a:r>
            <a:b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20F86007-9552-FFC3-B183-B90F517A5A0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2</a:t>
            </a:r>
          </a:p>
        </p:txBody>
      </p:sp>
    </p:spTree>
    <p:extLst>
      <p:ext uri="{BB962C8B-B14F-4D97-AF65-F5344CB8AC3E}">
        <p14:creationId xmlns:p14="http://schemas.microsoft.com/office/powerpoint/2010/main" val="15724482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50B09C-4D0A-47F0-84CE-851C400294B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Overall DEG counts vary across sex/APOE groups</a:t>
            </a:r>
          </a:p>
        </p:txBody>
      </p:sp>
      <p:sp>
        <p:nvSpPr>
          <p:cNvPr id="3" name="TextBox 2">
            <a:extLst>
              <a:ext uri="{FF2B5EF4-FFF2-40B4-BE49-F238E27FC236}">
                <a16:creationId xmlns:a16="http://schemas.microsoft.com/office/drawing/2014/main" id="{E8473722-5B37-4654-A9C8-AAC87D0440E8}"/>
              </a:ext>
            </a:extLst>
          </p:cNvPr>
          <p:cNvSpPr>
            <a:spLocks noGrp="1"/>
          </p:cNvSpPr>
          <p:nvPr/>
        </p:nvSpPr>
        <p:spPr>
          <a:xfrm>
            <a:off x="548640" y="861567"/>
            <a:ext cx="10561320" cy="2277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All genes; each count is one DEG occurrence from one fine-cell AD-versus-NCI contrast.</a:t>
            </a:r>
          </a:p>
        </p:txBody>
      </p:sp>
      <p:sp>
        <p:nvSpPr>
          <p:cNvPr id="4" name="Rounded Rectangle 3">
            <a:extLst>
              <a:ext uri="{FF2B5EF4-FFF2-40B4-BE49-F238E27FC236}">
                <a16:creationId xmlns:a16="http://schemas.microsoft.com/office/drawing/2014/main" id="{D8AE6BF2-D0CF-42F8-94CD-98CFE6F44DD7}"/>
              </a:ext>
            </a:extLst>
          </p:cNvPr>
          <p:cNvSpPr>
            <a:spLocks noGrp="1"/>
          </p:cNvSpPr>
          <p:nvPr/>
        </p:nvSpPr>
        <p:spPr>
          <a:xfrm>
            <a:off x="658368"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0E5C88F-6CE1-43C6-971F-770E5D4BA0FA}"/>
              </a:ext>
            </a:extLst>
          </p:cNvPr>
          <p:cNvSpPr>
            <a:spLocks noGrp="1"/>
          </p:cNvSpPr>
          <p:nvPr/>
        </p:nvSpPr>
        <p:spPr>
          <a:xfrm>
            <a:off x="822959"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321</a:t>
            </a:r>
          </a:p>
        </p:txBody>
      </p:sp>
      <p:sp>
        <p:nvSpPr>
          <p:cNvPr id="6" name="TextBox 5">
            <a:extLst>
              <a:ext uri="{FF2B5EF4-FFF2-40B4-BE49-F238E27FC236}">
                <a16:creationId xmlns:a16="http://schemas.microsoft.com/office/drawing/2014/main" id="{F99010AA-ED42-4086-B32F-37D37A40B545}"/>
              </a:ext>
            </a:extLst>
          </p:cNvPr>
          <p:cNvSpPr>
            <a:spLocks noGrp="1"/>
          </p:cNvSpPr>
          <p:nvPr/>
        </p:nvSpPr>
        <p:spPr>
          <a:xfrm>
            <a:off x="2048256" y="1314491"/>
            <a:ext cx="1828800" cy="39395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324 planned contrasts have enough cells.</a:t>
            </a:r>
          </a:p>
        </p:txBody>
      </p:sp>
      <p:sp>
        <p:nvSpPr>
          <p:cNvPr id="7" name="Rounded Rectangle 6">
            <a:extLst>
              <a:ext uri="{FF2B5EF4-FFF2-40B4-BE49-F238E27FC236}">
                <a16:creationId xmlns:a16="http://schemas.microsoft.com/office/drawing/2014/main" id="{98A0FD29-D12C-4F6B-A119-773CE09124F6}"/>
              </a:ext>
            </a:extLst>
          </p:cNvPr>
          <p:cNvSpPr>
            <a:spLocks noGrp="1"/>
          </p:cNvSpPr>
          <p:nvPr/>
        </p:nvSpPr>
        <p:spPr>
          <a:xfrm>
            <a:off x="4398264"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6E4D690A-DFEA-44D7-A12A-7D5256786E1B}"/>
              </a:ext>
            </a:extLst>
          </p:cNvPr>
          <p:cNvSpPr>
            <a:spLocks noGrp="1"/>
          </p:cNvSpPr>
          <p:nvPr/>
        </p:nvSpPr>
        <p:spPr>
          <a:xfrm>
            <a:off x="4562855"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277</a:t>
            </a:r>
          </a:p>
        </p:txBody>
      </p:sp>
      <p:sp>
        <p:nvSpPr>
          <p:cNvPr id="9" name="TextBox 8">
            <a:extLst>
              <a:ext uri="{FF2B5EF4-FFF2-40B4-BE49-F238E27FC236}">
                <a16:creationId xmlns:a16="http://schemas.microsoft.com/office/drawing/2014/main" id="{26F99527-EECB-4761-8873-875DD10921AF}"/>
              </a:ext>
            </a:extLst>
          </p:cNvPr>
          <p:cNvSpPr>
            <a:spLocks noGrp="1"/>
          </p:cNvSpPr>
          <p:nvPr/>
        </p:nvSpPr>
        <p:spPr>
          <a:xfrm>
            <a:off x="5788152" y="1358734"/>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321 estimable comparisons had at least one DEG</a:t>
            </a:r>
          </a:p>
        </p:txBody>
      </p:sp>
      <p:sp>
        <p:nvSpPr>
          <p:cNvPr id="11" name="Rounded Rectangle 10">
            <a:extLst>
              <a:ext uri="{FF2B5EF4-FFF2-40B4-BE49-F238E27FC236}">
                <a16:creationId xmlns:a16="http://schemas.microsoft.com/office/drawing/2014/main" id="{CE980754-5288-410C-9D81-9B8EFFDCB7B2}"/>
              </a:ext>
            </a:extLst>
          </p:cNvPr>
          <p:cNvSpPr>
            <a:spLocks noGrp="1"/>
          </p:cNvSpPr>
          <p:nvPr/>
        </p:nvSpPr>
        <p:spPr>
          <a:xfrm>
            <a:off x="8138160"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AFFD5AF3-A618-4E76-B0F5-AA1C8BB43020}"/>
              </a:ext>
            </a:extLst>
          </p:cNvPr>
          <p:cNvSpPr>
            <a:spLocks noGrp="1"/>
          </p:cNvSpPr>
          <p:nvPr/>
        </p:nvSpPr>
        <p:spPr>
          <a:xfrm>
            <a:off x="8302752"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118,297</a:t>
            </a:r>
          </a:p>
        </p:txBody>
      </p:sp>
      <p:sp>
        <p:nvSpPr>
          <p:cNvPr id="13" name="TextBox 12">
            <a:extLst>
              <a:ext uri="{FF2B5EF4-FFF2-40B4-BE49-F238E27FC236}">
                <a16:creationId xmlns:a16="http://schemas.microsoft.com/office/drawing/2014/main" id="{2B0F084A-B43C-4E28-9D0D-E60D0A60A20B}"/>
              </a:ext>
            </a:extLst>
          </p:cNvPr>
          <p:cNvSpPr>
            <a:spLocks noGrp="1"/>
          </p:cNvSpPr>
          <p:nvPr/>
        </p:nvSpPr>
        <p:spPr>
          <a:xfrm>
            <a:off x="9528048" y="1274065"/>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DEG occurrences</a:t>
            </a:r>
          </a:p>
        </p:txBody>
      </p:sp>
      <p:sp>
        <p:nvSpPr>
          <p:cNvPr id="14" name="TextBox 13">
            <a:extLst>
              <a:ext uri="{FF2B5EF4-FFF2-40B4-BE49-F238E27FC236}">
                <a16:creationId xmlns:a16="http://schemas.microsoft.com/office/drawing/2014/main" id="{C21281E1-0F01-4EAF-AF2A-DC9B0C3B143B}"/>
              </a:ext>
            </a:extLst>
          </p:cNvPr>
          <p:cNvSpPr>
            <a:spLocks noGrp="1"/>
          </p:cNvSpPr>
          <p:nvPr/>
        </p:nvSpPr>
        <p:spPr>
          <a:xfrm>
            <a:off x="9528048" y="1539241"/>
            <a:ext cx="1828800" cy="20116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4E5A68"/>
                </a:solidFill>
                <a:latin typeface="Arial"/>
                <a:ea typeface="Arial"/>
                <a:cs typeface="Arial"/>
              </a:rPr>
              <a:t>14,840 distinct genes represented</a:t>
            </a:r>
          </a:p>
        </p:txBody>
      </p:sp>
      <p:pic>
        <p:nvPicPr>
          <p:cNvPr id="32" name="Stacked horizontal bar chart of all ROSMAP fine-cell DEG occurrences across six sex/APOE groups. Blue segments show genes up-regulated in Alzheimer’s disease and hatched orange segments show genes down-regulated in Alzheimer’s disease."/>
          <p:cNvPicPr>
            <a:picLocks noChangeAspect="1"/>
          </p:cNvPicPr>
          <p:nvPr/>
        </p:nvPicPr>
        <p:blipFill>
          <a:blip r:embed="rId3"/>
          <a:stretch>
            <a:fillRect/>
          </a:stretch>
        </p:blipFill>
        <p:spPr>
          <a:xfrm>
            <a:off x="658368" y="2069326"/>
            <a:ext cx="10881360" cy="3139970"/>
          </a:xfrm>
          <a:prstGeom prst="rect">
            <a:avLst/>
          </a:prstGeom>
        </p:spPr>
      </p:pic>
      <p:sp>
        <p:nvSpPr>
          <p:cNvPr id="16" name="Rounded Rectangle 15">
            <a:extLst>
              <a:ext uri="{FF2B5EF4-FFF2-40B4-BE49-F238E27FC236}">
                <a16:creationId xmlns:a16="http://schemas.microsoft.com/office/drawing/2014/main" id="{6694235D-55CF-49EF-A672-C9778E61257F}"/>
              </a:ext>
            </a:extLst>
          </p:cNvPr>
          <p:cNvSpPr>
            <a:spLocks noGrp="1"/>
          </p:cNvSpPr>
          <p:nvPr/>
        </p:nvSpPr>
        <p:spPr>
          <a:xfrm>
            <a:off x="658368" y="5596128"/>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3EF7780-BF1A-49FD-8AE0-8480E45DC812}"/>
              </a:ext>
            </a:extLst>
          </p:cNvPr>
          <p:cNvSpPr>
            <a:spLocks noGrp="1"/>
          </p:cNvSpPr>
          <p:nvPr/>
        </p:nvSpPr>
        <p:spPr>
          <a:xfrm>
            <a:off x="923544" y="5797296"/>
            <a:ext cx="118872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patterns</a:t>
            </a:r>
          </a:p>
        </p:txBody>
      </p:sp>
      <p:sp>
        <p:nvSpPr>
          <p:cNvPr id="18" name="TextBox 17">
            <a:extLst>
              <a:ext uri="{FF2B5EF4-FFF2-40B4-BE49-F238E27FC236}">
                <a16:creationId xmlns:a16="http://schemas.microsoft.com/office/drawing/2014/main" id="{BD8B6944-62D2-41F5-BA50-537C49D71BF8}"/>
              </a:ext>
            </a:extLst>
          </p:cNvPr>
          <p:cNvSpPr>
            <a:spLocks noGrp="1"/>
          </p:cNvSpPr>
          <p:nvPr/>
        </p:nvSpPr>
        <p:spPr>
          <a:xfrm>
            <a:off x="2212848" y="5776219"/>
            <a:ext cx="8924544" cy="26161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40" b="0" i="0">
                <a:solidFill>
                  <a:srgbClr val="1F2730"/>
                </a:solidFill>
                <a:latin typeface="Arial"/>
                <a:ea typeface="Arial"/>
                <a:cs typeface="Arial"/>
              </a:rPr>
              <a:t>Male ε2 had the largest DEG count; female ε4 was strongly dominated by down-regulated genes (76%).</a:t>
            </a:r>
          </a:p>
        </p:txBody>
      </p:sp>
    </p:spTree>
    <p:extLst>
      <p:ext uri="{BB962C8B-B14F-4D97-AF65-F5344CB8AC3E}">
        <p14:creationId xmlns:p14="http://schemas.microsoft.com/office/powerpoint/2010/main" val="13330381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449442-E04A-2746-AD1A-39210122B8CC}"/>
              </a:ext>
            </a:extLst>
          </p:cNvPr>
          <p:cNvSpPr>
            <a:spLocks noGrp="1"/>
          </p:cNvSpPr>
          <p:nvPr/>
        </p:nvSpPr>
        <p:spPr>
          <a:xfrm>
            <a:off x="713232" y="1438906"/>
            <a:ext cx="10287000" cy="57862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Pathway analysis</a:t>
            </a: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C52DFCBC-DC31-CFCB-BB0B-646BD49CF41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3</a:t>
            </a:r>
          </a:p>
        </p:txBody>
      </p:sp>
    </p:spTree>
    <p:extLst>
      <p:ext uri="{BB962C8B-B14F-4D97-AF65-F5344CB8AC3E}">
        <p14:creationId xmlns:p14="http://schemas.microsoft.com/office/powerpoint/2010/main" val="38155813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definition-title"/>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Significant pathway result</a:t>
            </a:r>
          </a:p>
        </p:txBody>
      </p:sp>
      <p:sp>
        <p:nvSpPr>
          <p:cNvPr id="3" name="definition-subtitle"/>
          <p:cNvSpPr>
            <a:spLocks noGrp="1"/>
          </p:cNvSpPr>
          <p:nvPr/>
        </p:nvSpPr>
        <p:spPr>
          <a:xfrm>
            <a:off x="548640" y="886968"/>
            <a:ext cx="10561320" cy="230832"/>
          </a:xfrm>
          <a:prstGeom prst="rect">
            <a:avLst/>
          </a:prstGeom>
          <a:noFill/>
        </p:spPr>
        <p:txBody>
          <a:bodyPr wrap="square" lIns="0" tIns="0" rIns="0" bIns="0" anchor="t">
            <a:spAutoFit/>
          </a:bodyPr>
          <a:lstStyle/>
          <a:p>
            <a:pPr algn="l">
              <a:lnSpc>
                <a:spcPct val="100000"/>
              </a:lnSpc>
              <a:spcBef>
                <a:spcPts val="0"/>
              </a:spcBef>
              <a:spcAft>
                <a:spcPts val="0"/>
              </a:spcAft>
              <a:buNone/>
            </a:pPr>
            <a:r>
              <a:rPr sz="1500" b="0" i="0" dirty="0">
                <a:solidFill>
                  <a:srgbClr val="4E5A68"/>
                </a:solidFill>
                <a:latin typeface="Arial"/>
                <a:ea typeface="Arial"/>
                <a:cs typeface="Arial"/>
              </a:rPr>
              <a:t>One result tests </a:t>
            </a:r>
            <a:r>
              <a:rPr sz="1500" b="1" i="0" dirty="0">
                <a:solidFill>
                  <a:srgbClr val="FF0000"/>
                </a:solidFill>
                <a:latin typeface="Arial"/>
                <a:ea typeface="Arial"/>
                <a:cs typeface="Arial"/>
              </a:rPr>
              <a:t>one</a:t>
            </a:r>
            <a:r>
              <a:rPr sz="1500" b="0" i="0" dirty="0">
                <a:solidFill>
                  <a:srgbClr val="FF0000"/>
                </a:solidFill>
                <a:latin typeface="Arial"/>
                <a:ea typeface="Arial"/>
                <a:cs typeface="Arial"/>
              </a:rPr>
              <a:t> </a:t>
            </a:r>
            <a:r>
              <a:rPr sz="1500" b="1" i="0" dirty="0">
                <a:solidFill>
                  <a:srgbClr val="FF0000"/>
                </a:solidFill>
                <a:latin typeface="Arial"/>
                <a:ea typeface="Arial"/>
                <a:cs typeface="Arial"/>
              </a:rPr>
              <a:t>pathway</a:t>
            </a:r>
            <a:r>
              <a:rPr sz="1500" b="0" i="0" dirty="0">
                <a:solidFill>
                  <a:srgbClr val="FF0000"/>
                </a:solidFill>
                <a:latin typeface="Arial"/>
                <a:ea typeface="Arial"/>
                <a:cs typeface="Arial"/>
              </a:rPr>
              <a:t> </a:t>
            </a:r>
            <a:r>
              <a:rPr sz="1500" b="0" i="0" dirty="0">
                <a:solidFill>
                  <a:srgbClr val="4E5A68"/>
                </a:solidFill>
                <a:latin typeface="Arial"/>
                <a:ea typeface="Arial"/>
                <a:cs typeface="Arial"/>
              </a:rPr>
              <a:t>in one DEG list from one fine-cell sex/APOE </a:t>
            </a:r>
            <a:r>
              <a:rPr sz="1500" b="1" i="0" dirty="0">
                <a:solidFill>
                  <a:srgbClr val="FF0000"/>
                </a:solidFill>
                <a:latin typeface="Arial"/>
                <a:ea typeface="Arial"/>
                <a:cs typeface="Arial"/>
              </a:rPr>
              <a:t>contrast</a:t>
            </a:r>
            <a:r>
              <a:rPr sz="1500" b="0" i="0" dirty="0">
                <a:solidFill>
                  <a:srgbClr val="4E5A68"/>
                </a:solidFill>
                <a:latin typeface="Arial"/>
                <a:ea typeface="Arial"/>
                <a:cs typeface="Arial"/>
              </a:rPr>
              <a:t>.</a:t>
            </a:r>
          </a:p>
        </p:txBody>
      </p:sp>
      <p:sp>
        <p:nvSpPr>
          <p:cNvPr id="4" name="unit-of-analysis-panel"/>
          <p:cNvSpPr>
            <a:spLocks noGrp="1"/>
          </p:cNvSpPr>
          <p:nvPr/>
        </p:nvSpPr>
        <p:spPr>
          <a:xfrm>
            <a:off x="658368" y="1371600"/>
            <a:ext cx="4663440" cy="1837944"/>
          </a:xfrm>
          <a:prstGeom prst="roundRect">
            <a:avLst/>
          </a:prstGeom>
          <a:solidFill>
            <a:srgbClr val="EBF7FC"/>
          </a:solidFill>
          <a:ln w="12700">
            <a:solidFill>
              <a:srgbClr val="D8EAF2"/>
            </a:solidFill>
          </a:ln>
        </p:spPr>
        <p:txBody>
          <a:bodyPr anchor="ctr"/>
          <a:lstStyle/>
          <a:p>
            <a:pPr algn="ctr">
              <a:buNone/>
            </a:pPr>
            <a:endParaRPr/>
          </a:p>
        </p:txBody>
      </p:sp>
      <p:sp>
        <p:nvSpPr>
          <p:cNvPr id="5" name="unit-of-analysis-label"/>
          <p:cNvSpPr>
            <a:spLocks noGrp="1"/>
          </p:cNvSpPr>
          <p:nvPr/>
        </p:nvSpPr>
        <p:spPr>
          <a:xfrm>
            <a:off x="914400" y="1584960"/>
            <a:ext cx="384048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72B2"/>
                </a:solidFill>
                <a:latin typeface="Arial"/>
                <a:ea typeface="Arial"/>
                <a:cs typeface="Arial"/>
              </a:rPr>
              <a:t>ONE RESULT</a:t>
            </a:r>
          </a:p>
        </p:txBody>
      </p:sp>
      <p:sp>
        <p:nvSpPr>
          <p:cNvPr id="6" name="unit-of-analysis-main"/>
          <p:cNvSpPr>
            <a:spLocks noGrp="1"/>
          </p:cNvSpPr>
          <p:nvPr/>
        </p:nvSpPr>
        <p:spPr>
          <a:xfrm>
            <a:off x="914400" y="1950720"/>
            <a:ext cx="3840480" cy="612648"/>
          </a:xfrm>
          <a:prstGeom prst="rect">
            <a:avLst/>
          </a:prstGeom>
          <a:noFill/>
        </p:spPr>
        <p:txBody>
          <a:bodyPr wrap="square" lIns="0" tIns="0" rIns="0" bIns="0" anchor="t">
            <a:spAutoFit/>
          </a:bodyPr>
          <a:lstStyle/>
          <a:p>
            <a:pPr algn="l">
              <a:lnSpc>
                <a:spcPct val="100000"/>
              </a:lnSpc>
              <a:spcBef>
                <a:spcPts val="0"/>
              </a:spcBef>
              <a:spcAft>
                <a:spcPts val="0"/>
              </a:spcAft>
              <a:buNone/>
            </a:pPr>
            <a:r>
              <a:rPr sz="1775" b="1" i="0">
                <a:solidFill>
                  <a:srgbClr val="0F233D"/>
                </a:solidFill>
                <a:latin typeface="Arial"/>
                <a:ea typeface="Arial"/>
                <a:cs typeface="Arial"/>
              </a:rPr>
              <a:t>One pathway</a:t>
            </a:r>
          </a:p>
          <a:p>
            <a:pPr algn="l">
              <a:lnSpc>
                <a:spcPct val="100000"/>
              </a:lnSpc>
              <a:spcBef>
                <a:spcPts val="0"/>
              </a:spcBef>
              <a:spcAft>
                <a:spcPts val="0"/>
              </a:spcAft>
              <a:buNone/>
            </a:pPr>
            <a:r>
              <a:rPr sz="1775" b="1" i="0">
                <a:solidFill>
                  <a:srgbClr val="0F233D"/>
                </a:solidFill>
                <a:latin typeface="Arial"/>
                <a:ea typeface="Arial"/>
                <a:cs typeface="Arial"/>
              </a:rPr>
              <a:t>One DEG list</a:t>
            </a:r>
          </a:p>
          <a:p>
            <a:pPr algn="l">
              <a:lnSpc>
                <a:spcPct val="100000"/>
              </a:lnSpc>
              <a:spcBef>
                <a:spcPts val="0"/>
              </a:spcBef>
              <a:spcAft>
                <a:spcPts val="0"/>
              </a:spcAft>
              <a:buNone/>
            </a:pPr>
            <a:r>
              <a:rPr sz="1775" b="1" i="0">
                <a:solidFill>
                  <a:srgbClr val="0F233D"/>
                </a:solidFill>
                <a:latin typeface="Arial"/>
                <a:ea typeface="Arial"/>
                <a:cs typeface="Arial"/>
              </a:rPr>
              <a:t>One fine-cell sex/APOE contrast</a:t>
            </a:r>
          </a:p>
        </p:txBody>
      </p:sp>
      <p:sp>
        <p:nvSpPr>
          <p:cNvPr id="7" name="unit-of-analysis-detail"/>
          <p:cNvSpPr>
            <a:spLocks noGrp="1"/>
          </p:cNvSpPr>
          <p:nvPr/>
        </p:nvSpPr>
        <p:spPr>
          <a:xfrm>
            <a:off x="914400" y="2731008"/>
            <a:ext cx="3840480" cy="329184"/>
          </a:xfrm>
          <a:prstGeom prst="rect">
            <a:avLst/>
          </a:prstGeom>
          <a:noFill/>
        </p:spPr>
        <p:txBody>
          <a:bodyPr wrap="square" lIns="0" tIns="0" rIns="0" bIns="0" anchor="t">
            <a:spAutoFit/>
          </a:bodyPr>
          <a:lstStyle/>
          <a:p>
            <a:pPr algn="l">
              <a:lnSpc>
                <a:spcPct val="100000"/>
              </a:lnSpc>
              <a:spcBef>
                <a:spcPts val="0"/>
              </a:spcBef>
              <a:spcAft>
                <a:spcPts val="0"/>
              </a:spcAft>
              <a:buNone/>
            </a:pPr>
            <a:r>
              <a:rPr sz="1050" b="0" i="0">
                <a:solidFill>
                  <a:srgbClr val="4E5A68"/>
                </a:solidFill>
                <a:latin typeface="Arial"/>
                <a:ea typeface="Arial"/>
                <a:cs typeface="Arial"/>
              </a:rPr>
              <a:t>DEG lists: all mitochondrial DEGs, upregulated in AD, or downregulated in AD</a:t>
            </a:r>
          </a:p>
        </p:txBody>
      </p:sp>
      <p:sp>
        <p:nvSpPr>
          <p:cNvPr id="8" name="test-counts-panel"/>
          <p:cNvSpPr>
            <a:spLocks noGrp="1"/>
          </p:cNvSpPr>
          <p:nvPr/>
        </p:nvSpPr>
        <p:spPr>
          <a:xfrm>
            <a:off x="5471160" y="1371600"/>
            <a:ext cx="6065520" cy="1837944"/>
          </a:xfrm>
          <a:prstGeom prst="roundRect">
            <a:avLst/>
          </a:prstGeom>
          <a:solidFill>
            <a:srgbClr val="FFFFFF"/>
          </a:solidFill>
          <a:ln w="12700">
            <a:solidFill>
              <a:srgbClr val="E0E7EF"/>
            </a:solidFill>
          </a:ln>
        </p:spPr>
        <p:txBody>
          <a:bodyPr anchor="ctr"/>
          <a:lstStyle/>
          <a:p>
            <a:pPr algn="ctr">
              <a:buNone/>
            </a:pPr>
            <a:endParaRPr/>
          </a:p>
        </p:txBody>
      </p:sp>
      <p:sp>
        <p:nvSpPr>
          <p:cNvPr id="9" name="test-counts-label"/>
          <p:cNvSpPr>
            <a:spLocks noGrp="1"/>
          </p:cNvSpPr>
          <p:nvPr/>
        </p:nvSpPr>
        <p:spPr>
          <a:xfrm>
            <a:off x="5760720" y="1584960"/>
            <a:ext cx="536448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684D"/>
                </a:solidFill>
                <a:latin typeface="Arial"/>
                <a:ea typeface="Arial"/>
                <a:cs typeface="Arial"/>
              </a:rPr>
              <a:t>COUNTS USED BY THE TEST</a:t>
            </a:r>
          </a:p>
        </p:txBody>
      </p:sp>
      <p:sp>
        <p:nvSpPr>
          <p:cNvPr id="10" name="count-N"/>
          <p:cNvSpPr>
            <a:spLocks noGrp="1"/>
          </p:cNvSpPr>
          <p:nvPr/>
        </p:nvSpPr>
        <p:spPr>
          <a:xfrm>
            <a:off x="5760720" y="1941576"/>
            <a:ext cx="246888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72B2"/>
                </a:solidFill>
                <a:latin typeface="Arial"/>
                <a:ea typeface="Arial"/>
                <a:cs typeface="Arial"/>
              </a:rPr>
              <a:t>N</a:t>
            </a:r>
            <a:r>
              <a:rPr sz="1100" b="0" i="0">
                <a:solidFill>
                  <a:srgbClr val="1F2730"/>
                </a:solidFill>
                <a:latin typeface="Arial"/>
                <a:ea typeface="Arial"/>
                <a:cs typeface="Arial"/>
              </a:rPr>
              <a:t>  Detectable MitoCarta MT genes in the contrast</a:t>
            </a:r>
          </a:p>
        </p:txBody>
      </p:sp>
      <p:sp>
        <p:nvSpPr>
          <p:cNvPr id="11" name="count-M"/>
          <p:cNvSpPr>
            <a:spLocks noGrp="1"/>
          </p:cNvSpPr>
          <p:nvPr/>
        </p:nvSpPr>
        <p:spPr>
          <a:xfrm>
            <a:off x="8488680" y="1941576"/>
            <a:ext cx="274320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72B2"/>
                </a:solidFill>
                <a:latin typeface="Arial"/>
                <a:ea typeface="Arial"/>
                <a:cs typeface="Arial"/>
              </a:rPr>
              <a:t>M</a:t>
            </a:r>
            <a:r>
              <a:rPr sz="1100" b="0" i="0">
                <a:solidFill>
                  <a:srgbClr val="1F2730"/>
                </a:solidFill>
                <a:latin typeface="Arial"/>
                <a:ea typeface="Arial"/>
                <a:cs typeface="Arial"/>
              </a:rPr>
              <a:t>  Genes in N that belong to the pathway</a:t>
            </a:r>
          </a:p>
        </p:txBody>
      </p:sp>
      <p:sp>
        <p:nvSpPr>
          <p:cNvPr id="12" name="count-n"/>
          <p:cNvSpPr>
            <a:spLocks noGrp="1"/>
          </p:cNvSpPr>
          <p:nvPr/>
        </p:nvSpPr>
        <p:spPr>
          <a:xfrm>
            <a:off x="5760720" y="2551176"/>
            <a:ext cx="246888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684D"/>
                </a:solidFill>
                <a:latin typeface="Arial"/>
                <a:ea typeface="Arial"/>
                <a:cs typeface="Arial"/>
              </a:rPr>
              <a:t>n</a:t>
            </a:r>
            <a:r>
              <a:rPr sz="1100" b="0" i="0">
                <a:solidFill>
                  <a:srgbClr val="1F2730"/>
                </a:solidFill>
                <a:latin typeface="Arial"/>
                <a:ea typeface="Arial"/>
                <a:cs typeface="Arial"/>
              </a:rPr>
              <a:t>  DEGs in the selected list</a:t>
            </a:r>
          </a:p>
        </p:txBody>
      </p:sp>
      <p:sp>
        <p:nvSpPr>
          <p:cNvPr id="13" name="count-k"/>
          <p:cNvSpPr>
            <a:spLocks noGrp="1"/>
          </p:cNvSpPr>
          <p:nvPr/>
        </p:nvSpPr>
        <p:spPr>
          <a:xfrm>
            <a:off x="8488680" y="2551176"/>
            <a:ext cx="274320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684D"/>
                </a:solidFill>
                <a:latin typeface="Arial"/>
                <a:ea typeface="Arial"/>
                <a:cs typeface="Arial"/>
              </a:rPr>
              <a:t>k</a:t>
            </a:r>
            <a:r>
              <a:rPr sz="1100" b="0" i="0">
                <a:solidFill>
                  <a:srgbClr val="1F2730"/>
                </a:solidFill>
                <a:latin typeface="Arial"/>
                <a:ea typeface="Arial"/>
                <a:cs typeface="Arial"/>
              </a:rPr>
              <a:t>  Genes in n that belong to the pathway</a:t>
            </a:r>
          </a:p>
        </p:txBody>
      </p:sp>
      <p:sp>
        <p:nvSpPr>
          <p:cNvPr id="14" name="hypergeometric-panel"/>
          <p:cNvSpPr>
            <a:spLocks noGrp="1"/>
          </p:cNvSpPr>
          <p:nvPr/>
        </p:nvSpPr>
        <p:spPr>
          <a:xfrm>
            <a:off x="658368" y="3413760"/>
            <a:ext cx="10881360" cy="1463040"/>
          </a:xfrm>
          <a:prstGeom prst="roundRect">
            <a:avLst/>
          </a:prstGeom>
          <a:solidFill>
            <a:srgbClr val="FFFFFF"/>
          </a:solidFill>
          <a:ln w="12700">
            <a:solidFill>
              <a:srgbClr val="D8E2EC"/>
            </a:solidFill>
          </a:ln>
        </p:spPr>
        <p:txBody>
          <a:bodyPr anchor="ctr"/>
          <a:lstStyle/>
          <a:p>
            <a:pPr algn="ctr">
              <a:buNone/>
            </a:pPr>
            <a:endParaRPr/>
          </a:p>
        </p:txBody>
      </p:sp>
      <p:sp>
        <p:nvSpPr>
          <p:cNvPr id="15" name="hypergeometric-label"/>
          <p:cNvSpPr>
            <a:spLocks noGrp="1"/>
          </p:cNvSpPr>
          <p:nvPr/>
        </p:nvSpPr>
        <p:spPr>
          <a:xfrm>
            <a:off x="914400" y="3596640"/>
            <a:ext cx="548640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7E4C9A"/>
                </a:solidFill>
                <a:latin typeface="Arial"/>
                <a:ea typeface="Arial"/>
                <a:cs typeface="Arial"/>
              </a:rPr>
              <a:t>ONE-SIDED HYPERGEOMETRIC TEST</a:t>
            </a:r>
          </a:p>
        </p:txBody>
      </p:sp>
      <p:sp>
        <p:nvSpPr>
          <p:cNvPr id="16" name="hypergeometric-formula"/>
          <p:cNvSpPr>
            <a:spLocks noGrp="1"/>
          </p:cNvSpPr>
          <p:nvPr/>
        </p:nvSpPr>
        <p:spPr>
          <a:xfrm>
            <a:off x="914400" y="3977640"/>
            <a:ext cx="4389120" cy="365760"/>
          </a:xfrm>
          <a:prstGeom prst="rect">
            <a:avLst/>
          </a:prstGeom>
          <a:noFill/>
        </p:spPr>
        <p:txBody>
          <a:bodyPr wrap="square" lIns="0" tIns="0" rIns="0" bIns="0"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P = Pr(K ≥ k | N, M, n)</a:t>
            </a:r>
          </a:p>
        </p:txBody>
      </p:sp>
      <p:sp>
        <p:nvSpPr>
          <p:cNvPr id="17" name="hypergeometric-explanation"/>
          <p:cNvSpPr>
            <a:spLocks noGrp="1"/>
          </p:cNvSpPr>
          <p:nvPr/>
        </p:nvSpPr>
        <p:spPr>
          <a:xfrm>
            <a:off x="914400" y="4419600"/>
            <a:ext cx="6431280" cy="329184"/>
          </a:xfrm>
          <a:prstGeom prst="rect">
            <a:avLst/>
          </a:prstGeom>
          <a:noFill/>
        </p:spPr>
        <p:txBody>
          <a:bodyPr wrap="square" lIns="0" tIns="0" rIns="0" bIns="0" anchor="t">
            <a:spAutoFit/>
          </a:bodyPr>
          <a:lstStyle/>
          <a:p>
            <a:pPr algn="l">
              <a:lnSpc>
                <a:spcPct val="100000"/>
              </a:lnSpc>
              <a:spcBef>
                <a:spcPts val="0"/>
              </a:spcBef>
              <a:spcAft>
                <a:spcPts val="0"/>
              </a:spcAft>
              <a:buNone/>
            </a:pPr>
            <a:r>
              <a:rPr sz="1050" b="0" i="0">
                <a:solidFill>
                  <a:srgbClr val="4E5A68"/>
                </a:solidFill>
                <a:latin typeface="Arial"/>
                <a:ea typeface="Arial"/>
                <a:cs typeface="Arial"/>
              </a:rPr>
              <a:t>Chance of observing k or more pathway DEGs if n DEGs were randomly drawn from the N detectable genes.</a:t>
            </a:r>
          </a:p>
        </p:txBody>
      </p:sp>
      <p:sp>
        <p:nvSpPr>
          <p:cNvPr id="18" name="enrichment-label"/>
          <p:cNvSpPr>
            <a:spLocks noGrp="1"/>
          </p:cNvSpPr>
          <p:nvPr/>
        </p:nvSpPr>
        <p:spPr>
          <a:xfrm>
            <a:off x="8138160" y="3694176"/>
            <a:ext cx="2743200" cy="237744"/>
          </a:xfrm>
          <a:prstGeom prst="rect">
            <a:avLst/>
          </a:prstGeom>
          <a:noFill/>
        </p:spPr>
        <p:txBody>
          <a:bodyPr wrap="square" lIns="0" tIns="0" rIns="0" bIns="0" anchor="t">
            <a:spAutoFit/>
          </a:bodyPr>
          <a:lstStyle/>
          <a:p>
            <a:pPr algn="ctr">
              <a:lnSpc>
                <a:spcPct val="100000"/>
              </a:lnSpc>
              <a:spcBef>
                <a:spcPts val="0"/>
              </a:spcBef>
              <a:spcAft>
                <a:spcPts val="0"/>
              </a:spcAft>
              <a:buNone/>
            </a:pPr>
            <a:r>
              <a:rPr sz="990" b="1" i="0">
                <a:solidFill>
                  <a:srgbClr val="6C7988"/>
                </a:solidFill>
                <a:latin typeface="Arial"/>
                <a:ea typeface="Arial"/>
                <a:cs typeface="Arial"/>
              </a:rPr>
              <a:t>ENRICHMENT</a:t>
            </a:r>
          </a:p>
        </p:txBody>
      </p:sp>
      <p:sp>
        <p:nvSpPr>
          <p:cNvPr id="19" name="enrichment-formula"/>
          <p:cNvSpPr>
            <a:spLocks noGrp="1"/>
          </p:cNvSpPr>
          <p:nvPr/>
        </p:nvSpPr>
        <p:spPr>
          <a:xfrm>
            <a:off x="8138160" y="4075176"/>
            <a:ext cx="2743200" cy="365760"/>
          </a:xfrm>
          <a:prstGeom prst="rect">
            <a:avLst/>
          </a:prstGeom>
          <a:noFill/>
        </p:spPr>
        <p:txBody>
          <a:bodyPr wrap="square" lIns="0" tIns="0" rIns="0" bIns="0" anchor="t">
            <a:spAutoFit/>
          </a:bodyPr>
          <a:lstStyle/>
          <a:p>
            <a:pPr algn="ctr">
              <a:lnSpc>
                <a:spcPct val="100000"/>
              </a:lnSpc>
              <a:spcBef>
                <a:spcPts val="0"/>
              </a:spcBef>
              <a:spcAft>
                <a:spcPts val="0"/>
              </a:spcAft>
              <a:buNone/>
            </a:pPr>
            <a:r>
              <a:rPr sz="2100" b="1" i="0">
                <a:solidFill>
                  <a:srgbClr val="00684D"/>
                </a:solidFill>
                <a:latin typeface="Arial"/>
                <a:ea typeface="Arial"/>
                <a:cs typeface="Arial"/>
              </a:rPr>
              <a:t>(k / n) ÷ (M / N)</a:t>
            </a:r>
          </a:p>
        </p:txBody>
      </p:sp>
      <p:sp>
        <p:nvSpPr>
          <p:cNvPr id="20" name="bh-correction"/>
          <p:cNvSpPr>
            <a:spLocks noGrp="1"/>
          </p:cNvSpPr>
          <p:nvPr/>
        </p:nvSpPr>
        <p:spPr>
          <a:xfrm>
            <a:off x="777240" y="5074920"/>
            <a:ext cx="10607040" cy="62179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20" b="1" i="0">
                <a:solidFill>
                  <a:srgbClr val="0F233D"/>
                </a:solidFill>
                <a:latin typeface="Arial"/>
                <a:ea typeface="Arial"/>
                <a:cs typeface="Arial"/>
              </a:rPr>
              <a:t>Benjamini-Hochberg correction: </a:t>
            </a:r>
            <a:r>
              <a:rPr sz="1220" b="0" i="0">
                <a:solidFill>
                  <a:srgbClr val="1F2730"/>
                </a:solidFill>
                <a:latin typeface="Arial"/>
                <a:ea typeface="Arial"/>
                <a:cs typeface="Arial"/>
              </a:rPr>
              <a:t>adjust P values across all testable pathways in the same collection for this contrast and DEG list.</a:t>
            </a:r>
          </a:p>
        </p:txBody>
      </p:sp>
      <p:sp>
        <p:nvSpPr>
          <p:cNvPr id="21" name="significance-rule-panel"/>
          <p:cNvSpPr>
            <a:spLocks noGrp="1"/>
          </p:cNvSpPr>
          <p:nvPr/>
        </p:nvSpPr>
        <p:spPr>
          <a:xfrm>
            <a:off x="658368" y="5760720"/>
            <a:ext cx="10881360" cy="731520"/>
          </a:xfrm>
          <a:prstGeom prst="roundRect">
            <a:avLst/>
          </a:prstGeom>
          <a:solidFill>
            <a:srgbClr val="E4F4EE"/>
          </a:solidFill>
          <a:ln w="12700">
            <a:solidFill>
              <a:srgbClr val="C8E5DB"/>
            </a:solidFill>
          </a:ln>
        </p:spPr>
        <p:txBody>
          <a:bodyPr anchor="ctr"/>
          <a:lstStyle/>
          <a:p>
            <a:pPr algn="ctr">
              <a:buNone/>
            </a:pPr>
            <a:endParaRPr/>
          </a:p>
        </p:txBody>
      </p:sp>
      <p:sp>
        <p:nvSpPr>
          <p:cNvPr id="22" name="significance-rule-label"/>
          <p:cNvSpPr>
            <a:spLocks noGrp="1"/>
          </p:cNvSpPr>
          <p:nvPr/>
        </p:nvSpPr>
        <p:spPr>
          <a:xfrm>
            <a:off x="914400" y="5919216"/>
            <a:ext cx="3017520" cy="256032"/>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684D"/>
                </a:solidFill>
                <a:latin typeface="Arial"/>
                <a:ea typeface="Arial"/>
                <a:cs typeface="Arial"/>
              </a:rPr>
              <a:t>SIGNIFICANT PATHWAY RESULT</a:t>
            </a:r>
          </a:p>
        </p:txBody>
      </p:sp>
      <p:sp>
        <p:nvSpPr>
          <p:cNvPr id="23" name="significance-rule"/>
          <p:cNvSpPr>
            <a:spLocks noGrp="1"/>
          </p:cNvSpPr>
          <p:nvPr/>
        </p:nvSpPr>
        <p:spPr>
          <a:xfrm>
            <a:off x="3825240" y="5864352"/>
            <a:ext cx="3749040" cy="310896"/>
          </a:xfrm>
          <a:prstGeom prst="rect">
            <a:avLst/>
          </a:prstGeom>
          <a:noFill/>
        </p:spPr>
        <p:txBody>
          <a:bodyPr wrap="square" lIns="0" tIns="0" rIns="0" bIns="0" anchor="t">
            <a:spAutoFit/>
          </a:bodyPr>
          <a:lstStyle/>
          <a:p>
            <a:pPr algn="l">
              <a:lnSpc>
                <a:spcPct val="100000"/>
              </a:lnSpc>
              <a:spcBef>
                <a:spcPts val="0"/>
              </a:spcBef>
              <a:spcAft>
                <a:spcPts val="0"/>
              </a:spcAft>
              <a:buNone/>
            </a:pPr>
            <a:r>
              <a:rPr sz="1550" b="1" i="0">
                <a:solidFill>
                  <a:srgbClr val="0F233D"/>
                </a:solidFill>
                <a:latin typeface="Arial"/>
                <a:ea typeface="Arial"/>
                <a:cs typeface="Arial"/>
              </a:rPr>
              <a:t>Local BH-adjusted P value (FDR) &lt; 0.05</a:t>
            </a:r>
          </a:p>
        </p:txBody>
      </p:sp>
      <p:sp>
        <p:nvSpPr>
          <p:cNvPr id="24" name="significance-boundary"/>
          <p:cNvSpPr>
            <a:spLocks noGrp="1"/>
          </p:cNvSpPr>
          <p:nvPr/>
        </p:nvSpPr>
        <p:spPr>
          <a:xfrm>
            <a:off x="7772400" y="5855208"/>
            <a:ext cx="3474720" cy="347472"/>
          </a:xfrm>
          <a:prstGeom prst="rect">
            <a:avLst/>
          </a:prstGeom>
          <a:noFill/>
        </p:spPr>
        <p:txBody>
          <a:bodyPr wrap="square" lIns="0" tIns="0" rIns="0" bIns="0" anchor="t">
            <a:spAutoFit/>
          </a:bodyPr>
          <a:lstStyle/>
          <a:p>
            <a:pPr algn="l">
              <a:lnSpc>
                <a:spcPct val="100000"/>
              </a:lnSpc>
              <a:spcBef>
                <a:spcPts val="0"/>
              </a:spcBef>
              <a:spcAft>
                <a:spcPts val="0"/>
              </a:spcAft>
              <a:buNone/>
            </a:pPr>
            <a:r>
              <a:rPr sz="950" b="0" i="0">
                <a:solidFill>
                  <a:srgbClr val="4E5A68"/>
                </a:solidFill>
                <a:latin typeface="Arial"/>
                <a:ea typeface="Arial"/>
                <a:cs typeface="Arial"/>
              </a:rPr>
              <a:t>The test assesses over-representation. Pathway activity requires separate evidence.</a:t>
            </a:r>
          </a:p>
        </p:txBody>
      </p:sp>
      <p:sp>
        <p:nvSpPr>
          <p:cNvPr id="25" name="enrichment-explanation"/>
          <p:cNvSpPr>
            <a:spLocks noGrp="1"/>
          </p:cNvSpPr>
          <p:nvPr/>
        </p:nvSpPr>
        <p:spPr>
          <a:xfrm>
            <a:off x="7863840" y="4459224"/>
            <a:ext cx="3383280" cy="365760"/>
          </a:xfrm>
          <a:prstGeom prst="rect">
            <a:avLst/>
          </a:prstGeom>
          <a:noFill/>
        </p:spPr>
        <p:txBody>
          <a:bodyPr wrap="square" lIns="0" tIns="0" rIns="0" bIns="0" anchor="t">
            <a:spAutoFit/>
          </a:bodyPr>
          <a:lstStyle/>
          <a:p>
            <a:pPr algn="ctr">
              <a:lnSpc>
                <a:spcPct val="95000"/>
              </a:lnSpc>
              <a:spcBef>
                <a:spcPts val="0"/>
              </a:spcBef>
              <a:spcAft>
                <a:spcPts val="0"/>
              </a:spcAft>
              <a:buNone/>
            </a:pPr>
            <a:r>
              <a:rPr sz="850" b="0" i="0">
                <a:solidFill>
                  <a:srgbClr val="4E5A68"/>
                </a:solidFill>
                <a:latin typeface="Arial"/>
                <a:ea typeface="Arial"/>
                <a:cs typeface="Arial"/>
              </a:rPr>
              <a:t>Pathway share among DEGs ÷ pathway share among detectable genes</a:t>
            </a:r>
          </a:p>
          <a:p>
            <a:pPr algn="ctr">
              <a:lnSpc>
                <a:spcPct val="95000"/>
              </a:lnSpc>
              <a:spcBef>
                <a:spcPts val="300"/>
              </a:spcBef>
              <a:spcAft>
                <a:spcPts val="0"/>
              </a:spcAft>
              <a:buNone/>
            </a:pPr>
            <a:r>
              <a:rPr sz="950" b="1" i="0">
                <a:solidFill>
                  <a:srgbClr val="00684D"/>
                </a:solidFill>
                <a:latin typeface="Arial"/>
                <a:ea typeface="Arial"/>
                <a:cs typeface="Arial"/>
              </a:rPr>
              <a:t>&gt; 1 indicates enrichment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E59162-7D50-45F5-8596-6A0CAF54D40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How the pathway analysis was done</a:t>
            </a:r>
          </a:p>
        </p:txBody>
      </p:sp>
      <p:sp>
        <p:nvSpPr>
          <p:cNvPr id="3" name="TextBox 2">
            <a:extLst>
              <a:ext uri="{FF2B5EF4-FFF2-40B4-BE49-F238E27FC236}">
                <a16:creationId xmlns:a16="http://schemas.microsoft.com/office/drawing/2014/main" id="{769FF051-FBF1-43EE-AA8C-D681240222FC}"/>
              </a:ext>
            </a:extLst>
          </p:cNvPr>
          <p:cNvSpPr>
            <a:spLocks noGrp="1"/>
          </p:cNvSpPr>
          <p:nvPr/>
        </p:nvSpPr>
        <p:spPr>
          <a:xfrm>
            <a:off x="548640" y="895435"/>
            <a:ext cx="10561320" cy="547842"/>
          </a:xfrm>
          <a:prstGeom prst="rect">
            <a:avLst/>
          </a:prstGeom>
          <a:noFill/>
        </p:spPr>
        <p:txBody>
          <a:bodyPr wrap="square" lIns="0" tIns="0" rIns="0" bIns="0" anchor="t">
            <a:normAutofit/>
          </a:bodyPr>
          <a:lstStyle/>
          <a:p>
            <a:pPr algn="l">
              <a:lnSpc>
                <a:spcPct val="100000"/>
              </a:lnSpc>
              <a:spcBef>
                <a:spcPts val="0"/>
              </a:spcBef>
              <a:spcAft>
                <a:spcPts val="0"/>
              </a:spcAft>
              <a:buNone/>
              <a:defRPr sz="1600">
                <a:solidFill>
                  <a:srgbClr val="4E5A68"/>
                </a:solidFill>
                <a:latin typeface="Arial"/>
                <a:ea typeface="Arial"/>
                <a:cs typeface="Arial"/>
              </a:defRPr>
            </a:pPr>
            <a:r>
              <a:rPr sz="1600" b="0" i="0">
                <a:solidFill>
                  <a:srgbClr val="4E5A68"/>
                </a:solidFill>
                <a:latin typeface="Arial"/>
                <a:ea typeface="Arial"/>
                <a:cs typeface="Arial"/>
              </a:rPr>
              <a:t>Each fine-cell sex/APOE contrast was tested separately against these pathways.</a:t>
            </a:r>
          </a:p>
        </p:txBody>
      </p:sp>
      <p:sp>
        <p:nvSpPr>
          <p:cNvPr id="4" name="Rounded Rectangle 3">
            <a:extLst>
              <a:ext uri="{FF2B5EF4-FFF2-40B4-BE49-F238E27FC236}">
                <a16:creationId xmlns:a16="http://schemas.microsoft.com/office/drawing/2014/main" id="{21F6DD32-03E7-406D-8662-74B6E4CA0213}"/>
              </a:ext>
            </a:extLst>
          </p:cNvPr>
          <p:cNvSpPr>
            <a:spLocks noGrp="1"/>
          </p:cNvSpPr>
          <p:nvPr/>
        </p:nvSpPr>
        <p:spPr>
          <a:xfrm>
            <a:off x="2532888" y="1533294"/>
            <a:ext cx="3273552" cy="195681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47F0ACC6-27A0-494B-BC02-3E33D5E3B40F}"/>
              </a:ext>
            </a:extLst>
          </p:cNvPr>
          <p:cNvSpPr>
            <a:spLocks noGrp="1"/>
          </p:cNvSpPr>
          <p:nvPr/>
        </p:nvSpPr>
        <p:spPr>
          <a:xfrm>
            <a:off x="2752344" y="173446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33E7BABE-17B8-46CD-A086-0A9B1CCD10CC}"/>
              </a:ext>
            </a:extLst>
          </p:cNvPr>
          <p:cNvSpPr>
            <a:spLocks noGrp="1"/>
          </p:cNvSpPr>
          <p:nvPr/>
        </p:nvSpPr>
        <p:spPr>
          <a:xfrm>
            <a:off x="275234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764274CE-BE5B-470A-A8A0-6F4B6C1F75F2}"/>
              </a:ext>
            </a:extLst>
          </p:cNvPr>
          <p:cNvSpPr>
            <a:spLocks noGrp="1"/>
          </p:cNvSpPr>
          <p:nvPr/>
        </p:nvSpPr>
        <p:spPr>
          <a:xfrm>
            <a:off x="3300984" y="1765806"/>
            <a:ext cx="2212848" cy="293927"/>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DEG for each contrast</a:t>
            </a:r>
          </a:p>
        </p:txBody>
      </p:sp>
      <p:sp>
        <p:nvSpPr>
          <p:cNvPr id="8" name="TextBox 7">
            <a:extLst>
              <a:ext uri="{FF2B5EF4-FFF2-40B4-BE49-F238E27FC236}">
                <a16:creationId xmlns:a16="http://schemas.microsoft.com/office/drawing/2014/main" id="{3875CAF2-AA9B-4E6E-990B-386C67538437}"/>
              </a:ext>
            </a:extLst>
          </p:cNvPr>
          <p:cNvSpPr>
            <a:spLocks noGrp="1"/>
          </p:cNvSpPr>
          <p:nvPr/>
        </p:nvSpPr>
        <p:spPr>
          <a:xfrm>
            <a:off x="278892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For each contrast:
• all mitochondrial DEGs
• up-regulated in AD
• down-regulated in AD</a:t>
            </a:r>
          </a:p>
        </p:txBody>
      </p:sp>
      <p:sp>
        <p:nvSpPr>
          <p:cNvPr id="9" name="TextBox 8">
            <a:extLst>
              <a:ext uri="{FF2B5EF4-FFF2-40B4-BE49-F238E27FC236}">
                <a16:creationId xmlns:a16="http://schemas.microsoft.com/office/drawing/2014/main" id="{05559FE8-A77F-43DF-BA75-CB2CA9ADC708}"/>
              </a:ext>
            </a:extLst>
          </p:cNvPr>
          <p:cNvSpPr>
            <a:spLocks noGrp="1"/>
          </p:cNvSpPr>
          <p:nvPr/>
        </p:nvSpPr>
        <p:spPr>
          <a:xfrm>
            <a:off x="5879592" y="2209950"/>
            <a:ext cx="320040" cy="3657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300" b="1" i="0">
                <a:solidFill>
                  <a:srgbClr val="6C7988"/>
                </a:solidFill>
                <a:latin typeface="Arial"/>
                <a:ea typeface="Arial"/>
                <a:cs typeface="Arial"/>
              </a:rPr>
              <a:t>→</a:t>
            </a:r>
          </a:p>
        </p:txBody>
      </p:sp>
      <p:sp>
        <p:nvSpPr>
          <p:cNvPr id="10" name="Rounded Rectangle 9">
            <a:extLst>
              <a:ext uri="{FF2B5EF4-FFF2-40B4-BE49-F238E27FC236}">
                <a16:creationId xmlns:a16="http://schemas.microsoft.com/office/drawing/2014/main" id="{330C729C-5E22-4EBB-85FC-7255D6515391}"/>
              </a:ext>
            </a:extLst>
          </p:cNvPr>
          <p:cNvSpPr>
            <a:spLocks noGrp="1"/>
          </p:cNvSpPr>
          <p:nvPr/>
        </p:nvSpPr>
        <p:spPr>
          <a:xfrm>
            <a:off x="6281928" y="1533294"/>
            <a:ext cx="3273552" cy="195681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Oval 10">
            <a:extLst>
              <a:ext uri="{FF2B5EF4-FFF2-40B4-BE49-F238E27FC236}">
                <a16:creationId xmlns:a16="http://schemas.microsoft.com/office/drawing/2014/main" id="{41DDCC97-6070-4B01-B57B-E8288038B60C}"/>
              </a:ext>
            </a:extLst>
          </p:cNvPr>
          <p:cNvSpPr>
            <a:spLocks noGrp="1"/>
          </p:cNvSpPr>
          <p:nvPr/>
        </p:nvSpPr>
        <p:spPr>
          <a:xfrm>
            <a:off x="6501384" y="1734462"/>
            <a:ext cx="438912" cy="438912"/>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01FF4C9-E9E4-45A7-A0DC-D99E0777DFA1}"/>
              </a:ext>
            </a:extLst>
          </p:cNvPr>
          <p:cNvSpPr>
            <a:spLocks noGrp="1"/>
          </p:cNvSpPr>
          <p:nvPr/>
        </p:nvSpPr>
        <p:spPr>
          <a:xfrm>
            <a:off x="650138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2</a:t>
            </a:r>
          </a:p>
        </p:txBody>
      </p:sp>
      <p:sp>
        <p:nvSpPr>
          <p:cNvPr id="13" name="TextBox 12">
            <a:extLst>
              <a:ext uri="{FF2B5EF4-FFF2-40B4-BE49-F238E27FC236}">
                <a16:creationId xmlns:a16="http://schemas.microsoft.com/office/drawing/2014/main" id="{78DDF5AD-3CA3-4D24-B279-093EFA64E011}"/>
              </a:ext>
            </a:extLst>
          </p:cNvPr>
          <p:cNvSpPr>
            <a:spLocks noGrp="1"/>
          </p:cNvSpPr>
          <p:nvPr/>
        </p:nvSpPr>
        <p:spPr>
          <a:xfrm>
            <a:off x="7050024" y="1752750"/>
            <a:ext cx="2212848"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Test each pathway</a:t>
            </a:r>
          </a:p>
        </p:txBody>
      </p:sp>
      <p:sp>
        <p:nvSpPr>
          <p:cNvPr id="14" name="TextBox 13">
            <a:extLst>
              <a:ext uri="{FF2B5EF4-FFF2-40B4-BE49-F238E27FC236}">
                <a16:creationId xmlns:a16="http://schemas.microsoft.com/office/drawing/2014/main" id="{80D4D567-E2A0-4E80-9A43-6C9A44BBB948}"/>
              </a:ext>
            </a:extLst>
          </p:cNvPr>
          <p:cNvSpPr>
            <a:spLocks noGrp="1"/>
          </p:cNvSpPr>
          <p:nvPr/>
        </p:nvSpPr>
        <p:spPr>
          <a:xfrm>
            <a:off x="653796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Ask whether the DEG list contains more genes from that pathway than expected among genes detectable in the same contrast.</a:t>
            </a:r>
          </a:p>
        </p:txBody>
      </p:sp>
      <p:sp>
        <p:nvSpPr>
          <p:cNvPr id="22" name="Rounded Rectangle 21">
            <a:extLst>
              <a:ext uri="{FF2B5EF4-FFF2-40B4-BE49-F238E27FC236}">
                <a16:creationId xmlns:a16="http://schemas.microsoft.com/office/drawing/2014/main" id="{EA143ABE-F8BA-4CFF-99EB-D66CC1543856}"/>
              </a:ext>
            </a:extLst>
          </p:cNvPr>
          <p:cNvSpPr>
            <a:spLocks noGrp="1"/>
          </p:cNvSpPr>
          <p:nvPr/>
        </p:nvSpPr>
        <p:spPr>
          <a:xfrm>
            <a:off x="658368" y="3665368"/>
            <a:ext cx="5221224" cy="129844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A5433647-E3A4-43D5-AB13-A4D2117FD47E}"/>
              </a:ext>
            </a:extLst>
          </p:cNvPr>
          <p:cNvSpPr>
            <a:spLocks noGrp="1"/>
          </p:cNvSpPr>
          <p:nvPr/>
        </p:nvSpPr>
        <p:spPr>
          <a:xfrm>
            <a:off x="914400"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72B2"/>
                </a:solidFill>
                <a:latin typeface="Arial"/>
                <a:ea typeface="Arial"/>
                <a:cs typeface="Arial"/>
              </a:rPr>
              <a:t>12 of 46</a:t>
            </a:r>
          </a:p>
        </p:txBody>
      </p:sp>
      <p:sp>
        <p:nvSpPr>
          <p:cNvPr id="24" name="TextBox 23">
            <a:extLst>
              <a:ext uri="{FF2B5EF4-FFF2-40B4-BE49-F238E27FC236}">
                <a16:creationId xmlns:a16="http://schemas.microsoft.com/office/drawing/2014/main" id="{510795E1-2A01-4275-AF3E-5031A13BA258}"/>
              </a:ext>
            </a:extLst>
          </p:cNvPr>
          <p:cNvSpPr>
            <a:spLocks noGrp="1"/>
          </p:cNvSpPr>
          <p:nvPr/>
        </p:nvSpPr>
        <p:spPr>
          <a:xfrm>
            <a:off x="2286000" y="3809440"/>
            <a:ext cx="3264408" cy="46166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Level 1&amp; 2 MitoCarta pathways had at least one significant result</a:t>
            </a:r>
          </a:p>
        </p:txBody>
      </p:sp>
      <p:sp>
        <p:nvSpPr>
          <p:cNvPr id="26" name="Rounded Rectangle 25">
            <a:extLst>
              <a:ext uri="{FF2B5EF4-FFF2-40B4-BE49-F238E27FC236}">
                <a16:creationId xmlns:a16="http://schemas.microsoft.com/office/drawing/2014/main" id="{79DD2C72-A719-483B-80F5-35D9D2C7EDA6}"/>
              </a:ext>
            </a:extLst>
          </p:cNvPr>
          <p:cNvSpPr>
            <a:spLocks noGrp="1"/>
          </p:cNvSpPr>
          <p:nvPr/>
        </p:nvSpPr>
        <p:spPr>
          <a:xfrm>
            <a:off x="6044184" y="3665368"/>
            <a:ext cx="5221224" cy="12984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95B58EAA-5BFA-46F1-9D32-39F410AFC4C7}"/>
              </a:ext>
            </a:extLst>
          </p:cNvPr>
          <p:cNvSpPr>
            <a:spLocks noGrp="1"/>
          </p:cNvSpPr>
          <p:nvPr/>
        </p:nvSpPr>
        <p:spPr>
          <a:xfrm>
            <a:off x="6300216"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684D"/>
                </a:solidFill>
                <a:latin typeface="Arial"/>
                <a:ea typeface="Arial"/>
                <a:cs typeface="Arial"/>
              </a:rPr>
              <a:t>18 of 149</a:t>
            </a:r>
          </a:p>
        </p:txBody>
      </p:sp>
      <p:sp>
        <p:nvSpPr>
          <p:cNvPr id="28" name="TextBox 27">
            <a:extLst>
              <a:ext uri="{FF2B5EF4-FFF2-40B4-BE49-F238E27FC236}">
                <a16:creationId xmlns:a16="http://schemas.microsoft.com/office/drawing/2014/main" id="{EC70D2F9-307F-473F-A384-B3DA9B3DAE35}"/>
              </a:ext>
            </a:extLst>
          </p:cNvPr>
          <p:cNvSpPr>
            <a:spLocks noGrp="1"/>
          </p:cNvSpPr>
          <p:nvPr/>
        </p:nvSpPr>
        <p:spPr>
          <a:xfrm>
            <a:off x="7671816" y="3784241"/>
            <a:ext cx="3264408" cy="51206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complete MitoCarta pathways had at least one significant result</a:t>
            </a:r>
          </a:p>
        </p:txBody>
      </p:sp>
      <p:sp>
        <p:nvSpPr>
          <p:cNvPr id="30" name="Rounded Rectangle 29">
            <a:extLst>
              <a:ext uri="{FF2B5EF4-FFF2-40B4-BE49-F238E27FC236}">
                <a16:creationId xmlns:a16="http://schemas.microsoft.com/office/drawing/2014/main" id="{17A8639B-8386-46C8-883B-9F040DF0AEA4}"/>
              </a:ext>
            </a:extLst>
          </p:cNvPr>
          <p:cNvSpPr>
            <a:spLocks noGrp="1"/>
          </p:cNvSpPr>
          <p:nvPr/>
        </p:nvSpPr>
        <p:spPr>
          <a:xfrm>
            <a:off x="705104" y="5477764"/>
            <a:ext cx="10607040" cy="68580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E9DF413E-8EC8-4159-B483-5A7280BA27D3}"/>
              </a:ext>
            </a:extLst>
          </p:cNvPr>
          <p:cNvSpPr>
            <a:spLocks noGrp="1"/>
          </p:cNvSpPr>
          <p:nvPr/>
        </p:nvSpPr>
        <p:spPr>
          <a:xfrm>
            <a:off x="753533" y="5735659"/>
            <a:ext cx="1188720"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7E4C9A"/>
                </a:solidFill>
                <a:latin typeface="Arial"/>
                <a:ea typeface="Arial"/>
                <a:cs typeface="Arial"/>
              </a:rPr>
              <a:t>Main pattern</a:t>
            </a:r>
          </a:p>
        </p:txBody>
      </p:sp>
      <p:sp>
        <p:nvSpPr>
          <p:cNvPr id="32" name="TextBox 31">
            <a:extLst>
              <a:ext uri="{FF2B5EF4-FFF2-40B4-BE49-F238E27FC236}">
                <a16:creationId xmlns:a16="http://schemas.microsoft.com/office/drawing/2014/main" id="{1FDFFD77-95B0-42E9-8000-8BF442732085}"/>
              </a:ext>
            </a:extLst>
          </p:cNvPr>
          <p:cNvSpPr>
            <a:spLocks noGrp="1"/>
          </p:cNvSpPr>
          <p:nvPr/>
        </p:nvSpPr>
        <p:spPr>
          <a:xfrm>
            <a:off x="1987973" y="5662507"/>
            <a:ext cx="8732520" cy="34747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30" b="0" i="0">
                <a:solidFill>
                  <a:srgbClr val="1F2730"/>
                </a:solidFill>
                <a:latin typeface="Arial"/>
                <a:ea typeface="Arial"/>
                <a:cs typeface="Arial"/>
              </a:rPr>
              <a:t>Most significant results were overlapping OXPHOS pathways; non-OXPHOS signals were fewer and more localized.</a:t>
            </a:r>
          </a:p>
        </p:txBody>
      </p:sp>
      <p:sp>
        <p:nvSpPr>
          <p:cNvPr id="33" name="TextBox 32">
            <a:extLst>
              <a:ext uri="{FF2B5EF4-FFF2-40B4-BE49-F238E27FC236}">
                <a16:creationId xmlns:a16="http://schemas.microsoft.com/office/drawing/2014/main" id="{4E26C294-20E0-40B1-AA27-851451DDE604}"/>
              </a:ext>
            </a:extLst>
          </p:cNvPr>
          <p:cNvSpPr>
            <a:spLocks noGrp="1"/>
          </p:cNvSpPr>
          <p:nvPr/>
        </p:nvSpPr>
        <p:spPr>
          <a:xfrm>
            <a:off x="734570" y="5121235"/>
            <a:ext cx="1060704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4E5A68"/>
                </a:solidFill>
                <a:latin typeface="Arial"/>
                <a:ea typeface="Arial"/>
                <a:cs typeface="Arial"/>
              </a:rPr>
              <a:t>Counts show whether each pathway had at least one significant result across the tested fine-cell contrasts and DEG lists.</a:t>
            </a:r>
          </a:p>
        </p:txBody>
      </p:sp>
    </p:spTree>
    <p:extLst>
      <p:ext uri="{BB962C8B-B14F-4D97-AF65-F5344CB8AC3E}">
        <p14:creationId xmlns:p14="http://schemas.microsoft.com/office/powerpoint/2010/main" val="13365556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verlap-calculation-background">
            <a:extLst>
              <a:ext uri="{FF2B5EF4-FFF2-40B4-BE49-F238E27FC236}">
                <a16:creationId xmlns:a16="http://schemas.microsoft.com/office/drawing/2014/main" id="{19F0E6B1-E7BA-4A97-8DBA-C2625018C5AC}"/>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overlap-calculation-title">
            <a:extLst>
              <a:ext uri="{FF2B5EF4-FFF2-40B4-BE49-F238E27FC236}">
                <a16:creationId xmlns:a16="http://schemas.microsoft.com/office/drawing/2014/main" id="{48B855AC-B2C4-4260-A9A5-B622FE249086}"/>
              </a:ext>
            </a:extLst>
          </p:cNvPr>
          <p:cNvSpPr>
            <a:spLocks noGrp="1"/>
          </p:cNvSpPr>
          <p:nvPr/>
        </p:nvSpPr>
        <p:spPr>
          <a:xfrm>
            <a:off x="533400" y="409575"/>
            <a:ext cx="10668000" cy="4381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dirty="0">
                <a:solidFill>
                  <a:srgbClr val="0F233D"/>
                </a:solidFill>
                <a:latin typeface="Arial"/>
                <a:ea typeface="Arial"/>
                <a:cs typeface="Arial"/>
              </a:rPr>
              <a:t>How to calculate pathway and sex/APOE </a:t>
            </a:r>
            <a:r>
              <a:rPr lang="en-US" sz="2475" b="1" dirty="0">
                <a:solidFill>
                  <a:srgbClr val="0F233D"/>
                </a:solidFill>
                <a:latin typeface="Arial"/>
                <a:ea typeface="Arial"/>
                <a:cs typeface="Arial"/>
              </a:rPr>
              <a:t>group </a:t>
            </a:r>
            <a:r>
              <a:rPr sz="2475" b="1" dirty="0">
                <a:solidFill>
                  <a:srgbClr val="0F233D"/>
                </a:solidFill>
                <a:latin typeface="Arial"/>
                <a:ea typeface="Arial"/>
                <a:cs typeface="Arial"/>
              </a:rPr>
              <a:t>overlap</a:t>
            </a:r>
          </a:p>
        </p:txBody>
      </p:sp>
      <p:sp>
        <p:nvSpPr>
          <p:cNvPr id="3" name="formula-label">
            <a:extLst>
              <a:ext uri="{FF2B5EF4-FFF2-40B4-BE49-F238E27FC236}">
                <a16:creationId xmlns:a16="http://schemas.microsoft.com/office/drawing/2014/main" id="{BDC5796F-FACF-48B1-888D-B81973D1574E}"/>
              </a:ext>
            </a:extLst>
          </p:cNvPr>
          <p:cNvSpPr>
            <a:spLocks noGrp="1"/>
          </p:cNvSpPr>
          <p:nvPr/>
        </p:nvSpPr>
        <p:spPr>
          <a:xfrm>
            <a:off x="723900" y="2691654"/>
            <a:ext cx="2238375" cy="619125"/>
          </a:xfrm>
          <a:prstGeom prst="rect">
            <a:avLst/>
          </a:prstGeom>
          <a:noFill/>
          <a:ln w="0">
            <a:noFill/>
            <a:prstDash val="solid"/>
          </a:ln>
        </p:spPr>
        <p:txBody>
          <a:bodyPr wrap="square" lIns="0" tIns="0" rIns="0" bIns="0" anchor="ctr">
            <a:normAutofit/>
          </a:bodyPr>
          <a:lstStyle/>
          <a:p>
            <a:pPr algn="r">
              <a:buNone/>
              <a:defRPr sz="2625" b="1">
                <a:solidFill>
                  <a:srgbClr val="0F233D"/>
                </a:solidFill>
                <a:latin typeface="Arial"/>
                <a:ea typeface="Arial"/>
                <a:cs typeface="Arial"/>
              </a:defRPr>
            </a:pPr>
            <a:r>
              <a:rPr sz="2625" b="1">
                <a:solidFill>
                  <a:srgbClr val="0F233D"/>
                </a:solidFill>
                <a:latin typeface="Arial"/>
                <a:ea typeface="Arial"/>
                <a:cs typeface="Arial"/>
              </a:rPr>
              <a:t>Overlap (%) =</a:t>
            </a:r>
          </a:p>
        </p:txBody>
      </p:sp>
      <p:sp>
        <p:nvSpPr>
          <p:cNvPr id="4" name="formula-numerator">
            <a:extLst>
              <a:ext uri="{FF2B5EF4-FFF2-40B4-BE49-F238E27FC236}">
                <a16:creationId xmlns:a16="http://schemas.microsoft.com/office/drawing/2014/main" id="{85CBF9CA-CAE0-444D-97BA-72A84AE2BE8A}"/>
              </a:ext>
            </a:extLst>
          </p:cNvPr>
          <p:cNvSpPr>
            <a:spLocks noGrp="1"/>
          </p:cNvSpPr>
          <p:nvPr/>
        </p:nvSpPr>
        <p:spPr>
          <a:xfrm>
            <a:off x="3295650" y="1910604"/>
            <a:ext cx="6572250" cy="847725"/>
          </a:xfrm>
          <a:prstGeom prst="rect">
            <a:avLst/>
          </a:prstGeom>
          <a:noFill/>
          <a:ln w="0">
            <a:noFill/>
            <a:prstDash val="solid"/>
          </a:ln>
        </p:spPr>
        <p:txBody>
          <a:bodyPr wrap="square" lIns="0" tIns="0" rIns="0" bIns="0" anchor="b">
            <a:normAutofit fontScale="98889"/>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Unique pathway genes that are DEGs in at least one fine cell type within the sex/APOE group</a:t>
            </a:r>
          </a:p>
        </p:txBody>
      </p:sp>
      <p:sp>
        <p:nvSpPr>
          <p:cNvPr id="5" name="formula-fraction-line">
            <a:extLst>
              <a:ext uri="{FF2B5EF4-FFF2-40B4-BE49-F238E27FC236}">
                <a16:creationId xmlns:a16="http://schemas.microsoft.com/office/drawing/2014/main" id="{9C62E147-60E8-427E-8C60-DDBA5E710950}"/>
              </a:ext>
            </a:extLst>
          </p:cNvPr>
          <p:cNvSpPr>
            <a:spLocks noGrp="1"/>
          </p:cNvSpPr>
          <p:nvPr/>
        </p:nvSpPr>
        <p:spPr>
          <a:xfrm>
            <a:off x="3295650" y="2939304"/>
            <a:ext cx="6572250" cy="0"/>
          </a:xfrm>
          <a:prstGeom prst="line">
            <a:avLst/>
          </a:prstGeom>
          <a:noFill/>
          <a:ln w="23813">
            <a:solidFill>
              <a:srgbClr val="0F233D"/>
            </a:solidFill>
            <a:prstDash val="solid"/>
          </a:ln>
        </p:spPr>
        <p:txBody>
          <a:bodyPr/>
          <a:lstStyle/>
          <a:p>
            <a:endParaRPr/>
          </a:p>
        </p:txBody>
      </p:sp>
      <p:sp>
        <p:nvSpPr>
          <p:cNvPr id="6" name="formula-denominator">
            <a:extLst>
              <a:ext uri="{FF2B5EF4-FFF2-40B4-BE49-F238E27FC236}">
                <a16:creationId xmlns:a16="http://schemas.microsoft.com/office/drawing/2014/main" id="{7FCE3506-DDC1-45CD-AD0B-988D6C21CE58}"/>
              </a:ext>
            </a:extLst>
          </p:cNvPr>
          <p:cNvSpPr>
            <a:spLocks noGrp="1"/>
          </p:cNvSpPr>
          <p:nvPr/>
        </p:nvSpPr>
        <p:spPr>
          <a:xfrm>
            <a:off x="3295650" y="3148854"/>
            <a:ext cx="6572250" cy="514350"/>
          </a:xfrm>
          <a:prstGeom prst="rect">
            <a:avLst/>
          </a:prstGeom>
          <a:noFill/>
          <a:ln w="0">
            <a:noFill/>
            <a:prstDash val="solid"/>
          </a:ln>
        </p:spPr>
        <p:txBody>
          <a:bodyPr wrap="square" lIns="0" tIns="0" rIns="0" bIns="0" anchor="t">
            <a:normAutofit/>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All genes in the pathway</a:t>
            </a:r>
          </a:p>
        </p:txBody>
      </p:sp>
      <p:sp>
        <p:nvSpPr>
          <p:cNvPr id="7" name="formula-multiplier">
            <a:extLst>
              <a:ext uri="{FF2B5EF4-FFF2-40B4-BE49-F238E27FC236}">
                <a16:creationId xmlns:a16="http://schemas.microsoft.com/office/drawing/2014/main" id="{FAE18DB7-C75E-4491-AC8B-87028C8965CC}"/>
              </a:ext>
            </a:extLst>
          </p:cNvPr>
          <p:cNvSpPr>
            <a:spLocks noGrp="1"/>
          </p:cNvSpPr>
          <p:nvPr/>
        </p:nvSpPr>
        <p:spPr>
          <a:xfrm>
            <a:off x="10077450" y="2691654"/>
            <a:ext cx="1381125" cy="619125"/>
          </a:xfrm>
          <a:prstGeom prst="rect">
            <a:avLst/>
          </a:prstGeom>
          <a:noFill/>
          <a:ln w="0">
            <a:noFill/>
            <a:prstDash val="solid"/>
          </a:ln>
        </p:spPr>
        <p:txBody>
          <a:bodyPr wrap="square" lIns="0" tIns="0" rIns="0" bIns="0" anchor="ctr">
            <a:normAutofit/>
          </a:bodyPr>
          <a:lstStyle/>
          <a:p>
            <a:pPr algn="l">
              <a:buNone/>
              <a:defRPr sz="2625" b="1">
                <a:solidFill>
                  <a:srgbClr val="0F233D"/>
                </a:solidFill>
                <a:latin typeface="Arial"/>
                <a:ea typeface="Arial"/>
                <a:cs typeface="Arial"/>
              </a:defRPr>
            </a:pPr>
            <a:r>
              <a:rPr sz="2625" b="1">
                <a:solidFill>
                  <a:srgbClr val="0F233D"/>
                </a:solidFill>
                <a:latin typeface="Arial"/>
                <a:ea typeface="Arial"/>
                <a:cs typeface="Arial"/>
              </a:rPr>
              <a:t>× 100</a:t>
            </a:r>
          </a:p>
        </p:txBody>
      </p:sp>
      <p:sp>
        <p:nvSpPr>
          <p:cNvPr id="8" name="overlap-example-band">
            <a:extLst>
              <a:ext uri="{FF2B5EF4-FFF2-40B4-BE49-F238E27FC236}">
                <a16:creationId xmlns:a16="http://schemas.microsoft.com/office/drawing/2014/main" id="{7A94A0E1-E7FA-491B-9D5F-977BE4CEDB34}"/>
              </a:ext>
            </a:extLst>
          </p:cNvPr>
          <p:cNvSpPr>
            <a:spLocks noGrp="1"/>
          </p:cNvSpPr>
          <p:nvPr/>
        </p:nvSpPr>
        <p:spPr>
          <a:xfrm>
            <a:off x="1381125" y="4317628"/>
            <a:ext cx="9429750" cy="1762125"/>
          </a:xfrm>
          <a:prstGeom prst="roundRect">
            <a:avLst>
              <a:gd name="adj" fmla="val 864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9" name="worked-example-label">
            <a:extLst>
              <a:ext uri="{FF2B5EF4-FFF2-40B4-BE49-F238E27FC236}">
                <a16:creationId xmlns:a16="http://schemas.microsoft.com/office/drawing/2014/main" id="{2D6B93AC-478D-4AB4-85FA-06A6F97BDA4C}"/>
              </a:ext>
            </a:extLst>
          </p:cNvPr>
          <p:cNvSpPr>
            <a:spLocks noGrp="1"/>
          </p:cNvSpPr>
          <p:nvPr/>
        </p:nvSpPr>
        <p:spPr>
          <a:xfrm>
            <a:off x="1857375" y="4622988"/>
            <a:ext cx="8477250" cy="323850"/>
          </a:xfrm>
          <a:prstGeom prst="rect">
            <a:avLst/>
          </a:prstGeom>
          <a:noFill/>
          <a:ln w="0">
            <a:noFill/>
            <a:prstDash val="solid"/>
          </a:ln>
        </p:spPr>
        <p:txBody>
          <a:bodyPr wrap="square" lIns="0" tIns="0" rIns="0" bIns="0" anchor="t">
            <a:normAutofit/>
          </a:bodyPr>
          <a:lstStyle/>
          <a:p>
            <a:pPr algn="ctr">
              <a:buNone/>
              <a:defRPr sz="1500" b="1">
                <a:solidFill>
                  <a:srgbClr val="00684D"/>
                </a:solidFill>
                <a:latin typeface="Arial"/>
                <a:ea typeface="Arial"/>
                <a:cs typeface="Arial"/>
              </a:defRPr>
            </a:pPr>
            <a:r>
              <a:rPr sz="1500" b="1">
                <a:solidFill>
                  <a:srgbClr val="00684D"/>
                </a:solidFill>
                <a:latin typeface="Arial"/>
                <a:ea typeface="Arial"/>
                <a:cs typeface="Arial"/>
              </a:rPr>
              <a:t>Example: male ε2 mitochondrial translation</a:t>
            </a:r>
          </a:p>
        </p:txBody>
      </p:sp>
      <p:sp>
        <p:nvSpPr>
          <p:cNvPr id="10" name="worked-example-text">
            <a:extLst>
              <a:ext uri="{FF2B5EF4-FFF2-40B4-BE49-F238E27FC236}">
                <a16:creationId xmlns:a16="http://schemas.microsoft.com/office/drawing/2014/main" id="{0CE14BD2-92A4-4214-9AD4-5B36EF705D5F}"/>
              </a:ext>
            </a:extLst>
          </p:cNvPr>
          <p:cNvSpPr>
            <a:spLocks noGrp="1"/>
          </p:cNvSpPr>
          <p:nvPr/>
        </p:nvSpPr>
        <p:spPr>
          <a:xfrm>
            <a:off x="1857375" y="5137338"/>
            <a:ext cx="8477250" cy="523875"/>
          </a:xfrm>
          <a:prstGeom prst="rect">
            <a:avLst/>
          </a:prstGeom>
          <a:noFill/>
          <a:ln w="0">
            <a:noFill/>
            <a:prstDash val="solid"/>
          </a:ln>
        </p:spPr>
        <p:txBody>
          <a:bodyPr wrap="square" lIns="0" tIns="0" rIns="0" bIns="0" anchor="ctr">
            <a:normAutofit/>
          </a:bodyPr>
          <a:lstStyle/>
          <a:p>
            <a:pPr algn="ctr">
              <a:buNone/>
              <a:defRPr sz="2325" b="1">
                <a:solidFill>
                  <a:srgbClr val="0F233D"/>
                </a:solidFill>
                <a:latin typeface="Arial"/>
                <a:ea typeface="Arial"/>
                <a:cs typeface="Arial"/>
              </a:defRPr>
            </a:pPr>
            <a:r>
              <a:rPr sz="2325" b="1">
                <a:solidFill>
                  <a:srgbClr val="0F233D"/>
                </a:solidFill>
                <a:latin typeface="Arial"/>
                <a:ea typeface="Arial"/>
                <a:cs typeface="Arial"/>
              </a:rPr>
              <a:t>130 unique DEGs  ÷  155 pathway genes  ×  100  =  84%</a:t>
            </a:r>
          </a:p>
        </p:txBody>
      </p:sp>
    </p:spTree>
    <p:extLst>
      <p:ext uri="{BB962C8B-B14F-4D97-AF65-F5344CB8AC3E}">
        <p14:creationId xmlns:p14="http://schemas.microsoft.com/office/powerpoint/2010/main" val="505122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D6851B-2665-4B39-9E54-29EA09D75374}"/>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Which pathway genes appeared among the DEGs?</a:t>
            </a:r>
          </a:p>
        </p:txBody>
      </p:sp>
      <p:sp>
        <p:nvSpPr>
          <p:cNvPr id="3" name="TextBox 2">
            <a:extLst>
              <a:ext uri="{FF2B5EF4-FFF2-40B4-BE49-F238E27FC236}">
                <a16:creationId xmlns:a16="http://schemas.microsoft.com/office/drawing/2014/main" id="{202906A2-37D3-4429-9040-3FB6B411CE9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cell shows unique DEGs ÷ all genes in that pathway for one sex/APOE group.</a:t>
            </a:r>
          </a:p>
        </p:txBody>
      </p:sp>
      <p:pic>
        <p:nvPicPr>
          <p:cNvPr id="11" name="Heatmap showing the percentage and count of genes from four mitochondrial pathways that were DEGs in at least one fine-cell comparison for each of six sex/APOE groups."/>
          <p:cNvPicPr>
            <a:picLocks noChangeAspect="1"/>
          </p:cNvPicPr>
          <p:nvPr/>
        </p:nvPicPr>
        <p:blipFill>
          <a:blip r:embed="rId3"/>
          <a:stretch>
            <a:fillRect/>
          </a:stretch>
        </p:blipFill>
        <p:spPr>
          <a:xfrm>
            <a:off x="658368" y="1360188"/>
            <a:ext cx="10881360" cy="3991318"/>
          </a:xfrm>
          <a:prstGeom prst="rect">
            <a:avLst/>
          </a:prstGeom>
        </p:spPr>
      </p:pic>
      <p:sp>
        <p:nvSpPr>
          <p:cNvPr id="5" name="Rounded Rectangle 4">
            <a:extLst>
              <a:ext uri="{FF2B5EF4-FFF2-40B4-BE49-F238E27FC236}">
                <a16:creationId xmlns:a16="http://schemas.microsoft.com/office/drawing/2014/main" id="{CE733A69-C72D-4B96-8FC3-7663882BDDC8}"/>
              </a:ext>
            </a:extLst>
          </p:cNvPr>
          <p:cNvSpPr>
            <a:spLocks noGrp="1"/>
          </p:cNvSpPr>
          <p:nvPr/>
        </p:nvSpPr>
        <p:spPr>
          <a:xfrm>
            <a:off x="658368" y="5614416"/>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FE0CB97-0983-4919-8A05-A1A1D07850DF}"/>
              </a:ext>
            </a:extLst>
          </p:cNvPr>
          <p:cNvSpPr>
            <a:spLocks noGrp="1"/>
          </p:cNvSpPr>
          <p:nvPr/>
        </p:nvSpPr>
        <p:spPr>
          <a:xfrm>
            <a:off x="932688" y="5806440"/>
            <a:ext cx="138988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Interpret carefully</a:t>
            </a:r>
          </a:p>
        </p:txBody>
      </p:sp>
      <p:sp>
        <p:nvSpPr>
          <p:cNvPr id="7" name="TextBox 6">
            <a:extLst>
              <a:ext uri="{FF2B5EF4-FFF2-40B4-BE49-F238E27FC236}">
                <a16:creationId xmlns:a16="http://schemas.microsoft.com/office/drawing/2014/main" id="{1C2DC68E-7E8D-4FDC-BFB1-795A5C6534E6}"/>
              </a:ext>
            </a:extLst>
          </p:cNvPr>
          <p:cNvSpPr>
            <a:spLocks noGrp="1"/>
          </p:cNvSpPr>
          <p:nvPr/>
        </p:nvSpPr>
        <p:spPr>
          <a:xfrm>
            <a:off x="2468880" y="5751576"/>
            <a:ext cx="8631936" cy="32918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00" b="0" i="0">
                <a:solidFill>
                  <a:srgbClr val="1F2730"/>
                </a:solidFill>
                <a:latin typeface="Arial"/>
                <a:ea typeface="Arial"/>
                <a:cs typeface="Arial"/>
              </a:rPr>
              <a:t>Male ε2 has the broadest overlap in three pathways, consistent with its larger overall DEG count; overlap alone is not enrichment.</a:t>
            </a:r>
          </a:p>
        </p:txBody>
      </p:sp>
    </p:spTree>
    <p:extLst>
      <p:ext uri="{BB962C8B-B14F-4D97-AF65-F5344CB8AC3E}">
        <p14:creationId xmlns:p14="http://schemas.microsoft.com/office/powerpoint/2010/main" val="14166087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direction-formula-background">
            <a:extLst>
              <a:ext uri="{FF2B5EF4-FFF2-40B4-BE49-F238E27FC236}">
                <a16:creationId xmlns:a16="http://schemas.microsoft.com/office/drawing/2014/main" id="{25ABB92D-ECD7-4CD0-8EC8-3E97BA5ECA44}"/>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direction-formula-title">
            <a:extLst>
              <a:ext uri="{FF2B5EF4-FFF2-40B4-BE49-F238E27FC236}">
                <a16:creationId xmlns:a16="http://schemas.microsoft.com/office/drawing/2014/main" id="{AE051D85-F47D-4AD6-893D-6C8E7D3161BE}"/>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OXPHOS direction percentage is calculated</a:t>
            </a:r>
          </a:p>
        </p:txBody>
      </p:sp>
      <p:sp>
        <p:nvSpPr>
          <p:cNvPr id="3" name="direction-formula-subtitle">
            <a:extLst>
              <a:ext uri="{FF2B5EF4-FFF2-40B4-BE49-F238E27FC236}">
                <a16:creationId xmlns:a16="http://schemas.microsoft.com/office/drawing/2014/main" id="{28486D60-6F13-489B-8CDC-A572FA2FB822}"/>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4" name="direction-formula-surface">
            <a:extLst>
              <a:ext uri="{FF2B5EF4-FFF2-40B4-BE49-F238E27FC236}">
                <a16:creationId xmlns:a16="http://schemas.microsoft.com/office/drawing/2014/main" id="{00B2A2A6-2FD4-487B-8E74-155D0BBFB263}"/>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direction-formula-label">
            <a:extLst>
              <a:ext uri="{FF2B5EF4-FFF2-40B4-BE49-F238E27FC236}">
                <a16:creationId xmlns:a16="http://schemas.microsoft.com/office/drawing/2014/main" id="{1A56C8AB-0418-4085-95EC-B42427F12956}"/>
              </a:ext>
            </a:extLst>
          </p:cNvPr>
          <p:cNvSpPr>
            <a:spLocks noGrp="1"/>
          </p:cNvSpPr>
          <p:nvPr/>
        </p:nvSpPr>
        <p:spPr>
          <a:xfrm>
            <a:off x="1143000" y="2133600"/>
            <a:ext cx="2933700" cy="514350"/>
          </a:xfrm>
          <a:prstGeom prst="rect">
            <a:avLst/>
          </a:prstGeom>
          <a:noFill/>
          <a:ln w="0">
            <a:noFill/>
            <a:prstDash val="solid"/>
          </a:ln>
        </p:spPr>
        <p:txBody>
          <a:bodyPr wrap="square" lIns="0" tIns="0" rIns="0" bIns="0" anchor="ctr">
            <a:normAutofit fontScale="93066"/>
          </a:bodyPr>
          <a:lstStyle/>
          <a:p>
            <a:pPr algn="r">
              <a:buNone/>
              <a:defRPr sz="2100" b="1">
                <a:solidFill>
                  <a:srgbClr val="0F233D"/>
                </a:solidFill>
                <a:latin typeface="Arial"/>
                <a:ea typeface="Arial"/>
                <a:cs typeface="Arial"/>
              </a:defRPr>
            </a:pPr>
            <a:r>
              <a:rPr sz="2100" b="1">
                <a:solidFill>
                  <a:srgbClr val="0F233D"/>
                </a:solidFill>
                <a:latin typeface="Arial"/>
                <a:ea typeface="Arial"/>
                <a:cs typeface="Arial"/>
              </a:rPr>
              <a:t>Dominant direction % =</a:t>
            </a:r>
          </a:p>
        </p:txBody>
      </p:sp>
      <p:sp>
        <p:nvSpPr>
          <p:cNvPr id="6" name="direction-formula-numerator">
            <a:extLst>
              <a:ext uri="{FF2B5EF4-FFF2-40B4-BE49-F238E27FC236}">
                <a16:creationId xmlns:a16="http://schemas.microsoft.com/office/drawing/2014/main" id="{8F22A7C5-55F4-4E36-9453-F5ED053F2050}"/>
              </a:ext>
            </a:extLst>
          </p:cNvPr>
          <p:cNvSpPr>
            <a:spLocks noGrp="1"/>
          </p:cNvSpPr>
          <p:nvPr/>
        </p:nvSpPr>
        <p:spPr>
          <a:xfrm>
            <a:off x="4400550" y="1743075"/>
            <a:ext cx="5619750" cy="523875"/>
          </a:xfrm>
          <a:prstGeom prst="rect">
            <a:avLst/>
          </a:prstGeom>
          <a:noFill/>
          <a:ln w="0">
            <a:noFill/>
            <a:prstDash val="solid"/>
          </a:ln>
        </p:spPr>
        <p:txBody>
          <a:bodyPr wrap="square" lIns="0" tIns="0" rIns="0" bIns="0" anchor="b">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max(upregulated occurrences, downregulated occurrences)</a:t>
            </a:r>
          </a:p>
        </p:txBody>
      </p:sp>
      <p:sp>
        <p:nvSpPr>
          <p:cNvPr id="7" name="direction-formula-fraction-line">
            <a:extLst>
              <a:ext uri="{FF2B5EF4-FFF2-40B4-BE49-F238E27FC236}">
                <a16:creationId xmlns:a16="http://schemas.microsoft.com/office/drawing/2014/main" id="{DCE5E515-7AA6-4088-80B7-07A00CA1A1FB}"/>
              </a:ext>
            </a:extLst>
          </p:cNvPr>
          <p:cNvSpPr>
            <a:spLocks noGrp="1"/>
          </p:cNvSpPr>
          <p:nvPr/>
        </p:nvSpPr>
        <p:spPr>
          <a:xfrm>
            <a:off x="4476750" y="2400300"/>
            <a:ext cx="5476875" cy="0"/>
          </a:xfrm>
          <a:prstGeom prst="line">
            <a:avLst/>
          </a:prstGeom>
          <a:noFill/>
          <a:ln w="23813">
            <a:solidFill>
              <a:srgbClr val="0F233D"/>
            </a:solidFill>
            <a:prstDash val="solid"/>
          </a:ln>
        </p:spPr>
        <p:txBody>
          <a:bodyPr/>
          <a:lstStyle/>
          <a:p>
            <a:endParaRPr/>
          </a:p>
        </p:txBody>
      </p:sp>
      <p:sp>
        <p:nvSpPr>
          <p:cNvPr id="8" name="direction-formula-denominator">
            <a:extLst>
              <a:ext uri="{FF2B5EF4-FFF2-40B4-BE49-F238E27FC236}">
                <a16:creationId xmlns:a16="http://schemas.microsoft.com/office/drawing/2014/main" id="{5F3CFBCC-997F-4F30-9D9B-DFC0C9AA67C2}"/>
              </a:ext>
            </a:extLst>
          </p:cNvPr>
          <p:cNvSpPr>
            <a:spLocks noGrp="1"/>
          </p:cNvSpPr>
          <p:nvPr/>
        </p:nvSpPr>
        <p:spPr>
          <a:xfrm>
            <a:off x="4400550" y="2543175"/>
            <a:ext cx="5619750" cy="476250"/>
          </a:xfrm>
          <a:prstGeom prst="rect">
            <a:avLst/>
          </a:prstGeom>
          <a:noFill/>
          <a:ln w="0">
            <a:noFill/>
            <a:prstDash val="solid"/>
          </a:ln>
        </p:spPr>
        <p:txBody>
          <a:bodyPr wrap="square" lIns="0" tIns="0" rIns="0" bIns="0" anchor="t">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upregulated occurrences + downregulated occurrences</a:t>
            </a:r>
          </a:p>
        </p:txBody>
      </p:sp>
      <p:sp>
        <p:nvSpPr>
          <p:cNvPr id="9" name="direction-formula-times-100">
            <a:extLst>
              <a:ext uri="{FF2B5EF4-FFF2-40B4-BE49-F238E27FC236}">
                <a16:creationId xmlns:a16="http://schemas.microsoft.com/office/drawing/2014/main" id="{EB01F018-37C2-4C63-864D-CDA16EA5A332}"/>
              </a:ext>
            </a:extLst>
          </p:cNvPr>
          <p:cNvSpPr>
            <a:spLocks noGrp="1"/>
          </p:cNvSpPr>
          <p:nvPr/>
        </p:nvSpPr>
        <p:spPr>
          <a:xfrm>
            <a:off x="10134600" y="2133600"/>
            <a:ext cx="9144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10" name="direction-occurrence-definition">
            <a:extLst>
              <a:ext uri="{FF2B5EF4-FFF2-40B4-BE49-F238E27FC236}">
                <a16:creationId xmlns:a16="http://schemas.microsoft.com/office/drawing/2014/main" id="{8C0FA3DB-02A9-46F2-AB6C-6C0BC5F3494B}"/>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rmAutofit/>
          </a:bodyPr>
          <a:lstStyle/>
          <a:p>
            <a:pPr algn="ctr">
              <a:buNone/>
              <a:defRPr sz="1350" b="0">
                <a:solidFill>
                  <a:srgbClr val="4E5A68"/>
                </a:solidFill>
                <a:latin typeface="Arial"/>
                <a:ea typeface="Arial"/>
                <a:cs typeface="Arial"/>
              </a:defRPr>
            </a:pPr>
            <a:r>
              <a:rPr sz="1350" b="0">
                <a:solidFill>
                  <a:srgbClr val="4E5A68"/>
                </a:solidFill>
                <a:latin typeface="Arial"/>
                <a:ea typeface="Arial"/>
                <a:cs typeface="Arial"/>
              </a:rPr>
              <a:t>1 occurrence = 1 significant pathway gene in 1 fine-cell comparison. The same gene may count again in another fine cell type.</a:t>
            </a:r>
          </a:p>
        </p:txBody>
      </p:sp>
      <p:sp>
        <p:nvSpPr>
          <p:cNvPr id="11" name="direction-example-surface">
            <a:extLst>
              <a:ext uri="{FF2B5EF4-FFF2-40B4-BE49-F238E27FC236}">
                <a16:creationId xmlns:a16="http://schemas.microsoft.com/office/drawing/2014/main" id="{4A4B1164-3B13-455C-A204-DC47BE324F4E}"/>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2" name="direction-example-label">
            <a:extLst>
              <a:ext uri="{FF2B5EF4-FFF2-40B4-BE49-F238E27FC236}">
                <a16:creationId xmlns:a16="http://schemas.microsoft.com/office/drawing/2014/main" id="{DD39F9E9-7D49-4BD8-AC6E-644ABF159B48}"/>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13" name="direction-example-calculation">
            <a:extLst>
              <a:ext uri="{FF2B5EF4-FFF2-40B4-BE49-F238E27FC236}">
                <a16:creationId xmlns:a16="http://schemas.microsoft.com/office/drawing/2014/main" id="{33B5E7EC-043A-49BC-A2B4-06D42CCAEA44}"/>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14" name="direction-reading-surface">
            <a:extLst>
              <a:ext uri="{FF2B5EF4-FFF2-40B4-BE49-F238E27FC236}">
                <a16:creationId xmlns:a16="http://schemas.microsoft.com/office/drawing/2014/main" id="{DE281373-4DE5-4682-A3E3-9B19408BAB52}"/>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15" name="direction-reading-label">
            <a:extLst>
              <a:ext uri="{FF2B5EF4-FFF2-40B4-BE49-F238E27FC236}">
                <a16:creationId xmlns:a16="http://schemas.microsoft.com/office/drawing/2014/main" id="{DE4F20A9-5D22-492D-8F29-00AF265C1FE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16" name="direction-reading-text">
            <a:extLst>
              <a:ext uri="{FF2B5EF4-FFF2-40B4-BE49-F238E27FC236}">
                <a16:creationId xmlns:a16="http://schemas.microsoft.com/office/drawing/2014/main" id="{191E78E3-6505-4ACF-BE68-F0D5576FD62F}"/>
              </a:ext>
            </a:extLst>
          </p:cNvPr>
          <p:cNvSpPr>
            <a:spLocks noGrp="1"/>
          </p:cNvSpPr>
          <p:nvPr/>
        </p:nvSpPr>
        <p:spPr>
          <a:xfrm>
            <a:off x="3000375" y="5968814"/>
            <a:ext cx="7905750" cy="333375"/>
          </a:xfrm>
          <a:prstGeom prst="rect">
            <a:avLst/>
          </a:prstGeom>
          <a:noFill/>
          <a:ln w="0">
            <a:noFill/>
            <a:prstDash val="solid"/>
          </a:ln>
        </p:spPr>
        <p:txBody>
          <a:bodyPr wrap="square" lIns="0" tIns="0" rIns="0" bIns="0" anchor="ctr">
            <a:normAutofit fontScale="97379" lnSpcReduction="10000"/>
          </a:bodyPr>
          <a:lstStyle/>
          <a:p>
            <a:pPr algn="l">
              <a:buNone/>
              <a:defRPr sz="1275" b="0">
                <a:solidFill>
                  <a:srgbClr val="1F2730"/>
                </a:solidFill>
                <a:latin typeface="Arial"/>
                <a:ea typeface="Arial"/>
                <a:cs typeface="Arial"/>
              </a:defRPr>
            </a:pPr>
            <a:r>
              <a:rPr sz="1275" b="0">
                <a:solidFill>
                  <a:srgbClr val="1F2730"/>
                </a:solidFill>
                <a:latin typeface="Arial"/>
                <a:ea typeface="Arial"/>
                <a:cs typeface="Arial"/>
              </a:rPr>
              <a:t>Positive bars mean upregulated is dominant. Negative bars mean downregulated is dominant. Color identifies the gene set.</a:t>
            </a:r>
          </a:p>
        </p:txBody>
      </p:sp>
      <p:sp>
        <p:nvSpPr>
          <p:cNvPr id="18" name="up-share-formula-background">
            <a:extLst>
              <a:ext uri="{FF2B5EF4-FFF2-40B4-BE49-F238E27FC236}">
                <a16:creationId xmlns:a16="http://schemas.microsoft.com/office/drawing/2014/main" id="{D2ED8626-1F9D-4E36-BAE4-63F077D61FF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9" name="up-share-formula-title">
            <a:extLst>
              <a:ext uri="{FF2B5EF4-FFF2-40B4-BE49-F238E27FC236}">
                <a16:creationId xmlns:a16="http://schemas.microsoft.com/office/drawing/2014/main" id="{8E5F143E-6305-4B38-9005-7657993A5D63}"/>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upregulated occurrence percentage is calculated</a:t>
            </a:r>
          </a:p>
        </p:txBody>
      </p:sp>
      <p:sp>
        <p:nvSpPr>
          <p:cNvPr id="20" name="up-share-formula-subtitle">
            <a:extLst>
              <a:ext uri="{FF2B5EF4-FFF2-40B4-BE49-F238E27FC236}">
                <a16:creationId xmlns:a16="http://schemas.microsoft.com/office/drawing/2014/main" id="{61AEDA80-AEB4-486A-971C-54131334840B}"/>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21" name="up-share-formula-surface">
            <a:extLst>
              <a:ext uri="{FF2B5EF4-FFF2-40B4-BE49-F238E27FC236}">
                <a16:creationId xmlns:a16="http://schemas.microsoft.com/office/drawing/2014/main" id="{0443B4DA-9127-470C-A1D0-05F3D4CB57A4}"/>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2" name="up-share-formula-label">
            <a:extLst>
              <a:ext uri="{FF2B5EF4-FFF2-40B4-BE49-F238E27FC236}">
                <a16:creationId xmlns:a16="http://schemas.microsoft.com/office/drawing/2014/main" id="{1688DF3F-06AF-453B-BD4A-9353CDFF1B13}"/>
              </a:ext>
            </a:extLst>
          </p:cNvPr>
          <p:cNvSpPr>
            <a:spLocks noGrp="1"/>
          </p:cNvSpPr>
          <p:nvPr/>
        </p:nvSpPr>
        <p:spPr>
          <a:xfrm>
            <a:off x="1143000" y="2133600"/>
            <a:ext cx="3333750" cy="514350"/>
          </a:xfrm>
          <a:prstGeom prst="rect">
            <a:avLst/>
          </a:prstGeom>
          <a:noFill/>
          <a:ln w="0">
            <a:noFill/>
            <a:prstDash val="solid"/>
          </a:ln>
        </p:spPr>
        <p:txBody>
          <a:bodyPr wrap="square" lIns="0" tIns="0" rIns="0" bIns="0" anchor="ctr">
            <a:normAutofit/>
          </a:bodyPr>
          <a:lstStyle/>
          <a:p>
            <a:pPr algn="r">
              <a:buNone/>
              <a:defRPr sz="1875" b="1">
                <a:solidFill>
                  <a:srgbClr val="0F233D"/>
                </a:solidFill>
                <a:latin typeface="Arial"/>
                <a:ea typeface="Arial"/>
                <a:cs typeface="Arial"/>
              </a:defRPr>
            </a:pPr>
            <a:r>
              <a:rPr sz="1875" b="1">
                <a:solidFill>
                  <a:srgbClr val="0F233D"/>
                </a:solidFill>
                <a:latin typeface="Arial"/>
                <a:ea typeface="Arial"/>
                <a:cs typeface="Arial"/>
              </a:rPr>
              <a:t>Upregulated occurrence % =</a:t>
            </a:r>
          </a:p>
        </p:txBody>
      </p:sp>
      <p:sp>
        <p:nvSpPr>
          <p:cNvPr id="23" name="up-share-formula-numerator">
            <a:extLst>
              <a:ext uri="{FF2B5EF4-FFF2-40B4-BE49-F238E27FC236}">
                <a16:creationId xmlns:a16="http://schemas.microsoft.com/office/drawing/2014/main" id="{2F35C907-F14B-40C4-88D4-4430E70999A9}"/>
              </a:ext>
            </a:extLst>
          </p:cNvPr>
          <p:cNvSpPr>
            <a:spLocks noGrp="1"/>
          </p:cNvSpPr>
          <p:nvPr/>
        </p:nvSpPr>
        <p:spPr>
          <a:xfrm>
            <a:off x="4762500" y="1790700"/>
            <a:ext cx="4762500" cy="476250"/>
          </a:xfrm>
          <a:prstGeom prst="rect">
            <a:avLst/>
          </a:prstGeom>
          <a:noFill/>
          <a:ln w="0">
            <a:noFill/>
            <a:prstDash val="solid"/>
          </a:ln>
        </p:spPr>
        <p:txBody>
          <a:bodyPr wrap="square" lIns="0" tIns="0" rIns="0" bIns="0" anchor="b">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upregulated occurrences</a:t>
            </a:r>
          </a:p>
        </p:txBody>
      </p:sp>
      <p:sp>
        <p:nvSpPr>
          <p:cNvPr id="24" name="up-share-formula-fraction-line">
            <a:extLst>
              <a:ext uri="{FF2B5EF4-FFF2-40B4-BE49-F238E27FC236}">
                <a16:creationId xmlns:a16="http://schemas.microsoft.com/office/drawing/2014/main" id="{A95E5007-62D8-416B-86F0-D2DE235D5B28}"/>
              </a:ext>
            </a:extLst>
          </p:cNvPr>
          <p:cNvSpPr>
            <a:spLocks noGrp="1"/>
          </p:cNvSpPr>
          <p:nvPr/>
        </p:nvSpPr>
        <p:spPr>
          <a:xfrm>
            <a:off x="4619625" y="2400300"/>
            <a:ext cx="5048250" cy="0"/>
          </a:xfrm>
          <a:prstGeom prst="line">
            <a:avLst/>
          </a:prstGeom>
          <a:noFill/>
          <a:ln w="23813">
            <a:solidFill>
              <a:srgbClr val="0F233D"/>
            </a:solidFill>
            <a:prstDash val="solid"/>
          </a:ln>
        </p:spPr>
        <p:txBody>
          <a:bodyPr/>
          <a:lstStyle/>
          <a:p>
            <a:endParaRPr/>
          </a:p>
        </p:txBody>
      </p:sp>
      <p:sp>
        <p:nvSpPr>
          <p:cNvPr id="25" name="up-share-formula-denominator">
            <a:extLst>
              <a:ext uri="{FF2B5EF4-FFF2-40B4-BE49-F238E27FC236}">
                <a16:creationId xmlns:a16="http://schemas.microsoft.com/office/drawing/2014/main" id="{ED116C25-3046-449D-80B2-0EDADE14B683}"/>
              </a:ext>
            </a:extLst>
          </p:cNvPr>
          <p:cNvSpPr>
            <a:spLocks noGrp="1"/>
          </p:cNvSpPr>
          <p:nvPr/>
        </p:nvSpPr>
        <p:spPr>
          <a:xfrm>
            <a:off x="4524375" y="2543175"/>
            <a:ext cx="5238750" cy="476250"/>
          </a:xfrm>
          <a:prstGeom prst="rect">
            <a:avLst/>
          </a:prstGeom>
          <a:noFill/>
          <a:ln w="0">
            <a:noFill/>
            <a:prstDash val="solid"/>
          </a:ln>
        </p:spPr>
        <p:txBody>
          <a:bodyPr wrap="square" lIns="0" tIns="0" rIns="0" bIns="0" anchor="t">
            <a:normAutofit fontScale="99217" lnSpcReduction="10000"/>
          </a:bodyPr>
          <a:lstStyle/>
          <a:p>
            <a:pPr algn="ctr">
              <a:buNone/>
              <a:defRPr sz="1575" b="1">
                <a:solidFill>
                  <a:srgbClr val="0F233D"/>
                </a:solidFill>
                <a:latin typeface="Arial"/>
                <a:ea typeface="Arial"/>
                <a:cs typeface="Arial"/>
              </a:defRPr>
            </a:pPr>
            <a:r>
              <a:rPr sz="1575" b="1">
                <a:solidFill>
                  <a:srgbClr val="0F233D"/>
                </a:solidFill>
                <a:latin typeface="Arial"/>
                <a:ea typeface="Arial"/>
                <a:cs typeface="Arial"/>
              </a:rPr>
              <a:t>upregulated occurrences + downregulated occurrences</a:t>
            </a:r>
          </a:p>
        </p:txBody>
      </p:sp>
      <p:sp>
        <p:nvSpPr>
          <p:cNvPr id="26" name="up-share-formula-times-100">
            <a:extLst>
              <a:ext uri="{FF2B5EF4-FFF2-40B4-BE49-F238E27FC236}">
                <a16:creationId xmlns:a16="http://schemas.microsoft.com/office/drawing/2014/main" id="{90AA0374-C8CA-40E5-9B4A-D01802E9E008}"/>
              </a:ext>
            </a:extLst>
          </p:cNvPr>
          <p:cNvSpPr>
            <a:spLocks noGrp="1"/>
          </p:cNvSpPr>
          <p:nvPr/>
        </p:nvSpPr>
        <p:spPr>
          <a:xfrm>
            <a:off x="9906000" y="2133600"/>
            <a:ext cx="9525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27" name="up-share-occurrence-definition">
            <a:extLst>
              <a:ext uri="{FF2B5EF4-FFF2-40B4-BE49-F238E27FC236}">
                <a16:creationId xmlns:a16="http://schemas.microsoft.com/office/drawing/2014/main" id="{1A6CE354-8C72-486A-828A-0EBE27A94B79}"/>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Autofit/>
          </a:bodyPr>
          <a:lstStyle/>
          <a:p>
            <a:pPr algn="ctr">
              <a:buNone/>
              <a:defRPr sz="1350" b="0">
                <a:solidFill>
                  <a:srgbClr val="4E5A68"/>
                </a:solidFill>
                <a:latin typeface="Arial"/>
                <a:ea typeface="Arial"/>
                <a:cs typeface="Arial"/>
              </a:defRPr>
            </a:pPr>
            <a:r>
              <a:rPr sz="1600" b="1" dirty="0">
                <a:solidFill>
                  <a:srgbClr val="FF0000"/>
                </a:solidFill>
                <a:latin typeface="Arial"/>
                <a:ea typeface="Arial"/>
                <a:cs typeface="Arial"/>
              </a:rPr>
              <a:t>1 occurrence = 1 significant pathway gene in 1 fine-cell comparison</a:t>
            </a:r>
            <a:r>
              <a:rPr sz="1600" b="1" dirty="0">
                <a:solidFill>
                  <a:srgbClr val="4E5A68"/>
                </a:solidFill>
                <a:latin typeface="Arial"/>
                <a:ea typeface="Arial"/>
                <a:cs typeface="Arial"/>
              </a:rPr>
              <a:t>. The same gene may count again in another fine cell type.</a:t>
            </a:r>
          </a:p>
        </p:txBody>
      </p:sp>
      <p:sp>
        <p:nvSpPr>
          <p:cNvPr id="28" name="up-share-example-surface">
            <a:extLst>
              <a:ext uri="{FF2B5EF4-FFF2-40B4-BE49-F238E27FC236}">
                <a16:creationId xmlns:a16="http://schemas.microsoft.com/office/drawing/2014/main" id="{E7A883B5-E2EA-4CAA-ACF6-8ACD938659A8}"/>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9" name="up-share-example-label">
            <a:extLst>
              <a:ext uri="{FF2B5EF4-FFF2-40B4-BE49-F238E27FC236}">
                <a16:creationId xmlns:a16="http://schemas.microsoft.com/office/drawing/2014/main" id="{000ADEC4-160C-4935-8190-C81488BAB034}"/>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30" name="up-share-example-calculation">
            <a:extLst>
              <a:ext uri="{FF2B5EF4-FFF2-40B4-BE49-F238E27FC236}">
                <a16:creationId xmlns:a16="http://schemas.microsoft.com/office/drawing/2014/main" id="{178F17E4-AD5A-4864-A4D6-0543141C8923}"/>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31" name="up-share-reading-surface">
            <a:extLst>
              <a:ext uri="{FF2B5EF4-FFF2-40B4-BE49-F238E27FC236}">
                <a16:creationId xmlns:a16="http://schemas.microsoft.com/office/drawing/2014/main" id="{0C3AE05E-6042-4D00-84A3-548A07C992B0}"/>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32" name="up-share-reading-label">
            <a:extLst>
              <a:ext uri="{FF2B5EF4-FFF2-40B4-BE49-F238E27FC236}">
                <a16:creationId xmlns:a16="http://schemas.microsoft.com/office/drawing/2014/main" id="{AD424F90-92D4-473C-A03F-F2FC6E45397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33" name="up-share-reading-text">
            <a:extLst>
              <a:ext uri="{FF2B5EF4-FFF2-40B4-BE49-F238E27FC236}">
                <a16:creationId xmlns:a16="http://schemas.microsoft.com/office/drawing/2014/main" id="{1E657A0D-8437-4DBF-8A41-D78543DB84CE}"/>
              </a:ext>
            </a:extLst>
          </p:cNvPr>
          <p:cNvSpPr>
            <a:spLocks noGrp="1"/>
          </p:cNvSpPr>
          <p:nvPr/>
        </p:nvSpPr>
        <p:spPr>
          <a:xfrm>
            <a:off x="3000375" y="5930714"/>
            <a:ext cx="7905750" cy="409575"/>
          </a:xfrm>
          <a:prstGeom prst="rect">
            <a:avLst/>
          </a:prstGeom>
          <a:noFill/>
          <a:ln w="0">
            <a:noFill/>
            <a:prstDash val="solid"/>
          </a:ln>
        </p:spPr>
        <p:txBody>
          <a:bodyPr wrap="square" lIns="0" tIns="0" rIns="0" bIns="0" anchor="ctr">
            <a:normAutofit/>
          </a:bodyPr>
          <a:lstStyle/>
          <a:p>
            <a:pPr algn="l">
              <a:buNone/>
              <a:defRPr sz="1200" b="0">
                <a:solidFill>
                  <a:srgbClr val="1F2730"/>
                </a:solidFill>
                <a:latin typeface="Arial"/>
                <a:ea typeface="Arial"/>
                <a:cs typeface="Arial"/>
              </a:defRPr>
            </a:pPr>
            <a:r>
              <a:rPr sz="1200" b="0">
                <a:solidFill>
                  <a:srgbClr val="1F2730"/>
                </a:solidFill>
                <a:latin typeface="Arial"/>
                <a:ea typeface="Arial"/>
                <a:cs typeface="Arial"/>
              </a:rPr>
              <a:t>50% means equal upregulated and downregulated occurrences. Above 50% favors upregulation; below 50% favors downregulation.</a:t>
            </a:r>
          </a:p>
        </p:txBody>
      </p:sp>
    </p:spTree>
    <p:extLst>
      <p:ext uri="{BB962C8B-B14F-4D97-AF65-F5344CB8AC3E}">
        <p14:creationId xmlns:p14="http://schemas.microsoft.com/office/powerpoint/2010/main" val="4478183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FFB8A0-DEAC-440E-806C-3B607915AFB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OXPHOS gene directions vary across sex/APOE groups</a:t>
            </a:r>
          </a:p>
        </p:txBody>
      </p:sp>
      <p:sp>
        <p:nvSpPr>
          <p:cNvPr id="3" name="TextBox 2">
            <a:extLst>
              <a:ext uri="{FF2B5EF4-FFF2-40B4-BE49-F238E27FC236}">
                <a16:creationId xmlns:a16="http://schemas.microsoft.com/office/drawing/2014/main" id="{F2B80348-3939-45C0-ACEB-4A1F32F42960}"/>
              </a:ext>
            </a:extLst>
          </p:cNvPr>
          <p:cNvSpPr>
            <a:spLocks noGrp="1"/>
          </p:cNvSpPr>
          <p:nvPr/>
        </p:nvSpPr>
        <p:spPr>
          <a:xfrm>
            <a:off x="1140312" y="1173838"/>
            <a:ext cx="9877313"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b="0" i="0">
                <a:solidFill>
                  <a:srgbClr val="4E5A68"/>
                </a:solidFill>
                <a:latin typeface="Arial"/>
                <a:ea typeface="Arial"/>
                <a:cs typeface="Arial"/>
              </a:rPr>
              <a:t>OXPHOS (oxidative phosphorylation) is the mitochondrial process that makes most cellular ATP.</a:t>
            </a:r>
          </a:p>
        </p:txBody>
      </p:sp>
      <p:sp>
        <p:nvSpPr>
          <p:cNvPr id="5" name="Rounded Rectangle 4">
            <a:extLst>
              <a:ext uri="{FF2B5EF4-FFF2-40B4-BE49-F238E27FC236}">
                <a16:creationId xmlns:a16="http://schemas.microsoft.com/office/drawing/2014/main" id="{7BFC1DB3-DFD2-40A6-BEF9-C7D358422FDC}"/>
              </a:ext>
            </a:extLst>
          </p:cNvPr>
          <p:cNvSpPr>
            <a:spLocks noGrp="1"/>
          </p:cNvSpPr>
          <p:nvPr/>
        </p:nvSpPr>
        <p:spPr>
          <a:xfrm>
            <a:off x="658368" y="5650992"/>
            <a:ext cx="10881360" cy="64008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D7D15E47-25EF-48E5-9080-CEFB5FCC0506}"/>
              </a:ext>
            </a:extLst>
          </p:cNvPr>
          <p:cNvSpPr>
            <a:spLocks noGrp="1"/>
          </p:cNvSpPr>
          <p:nvPr/>
        </p:nvSpPr>
        <p:spPr>
          <a:xfrm>
            <a:off x="932688" y="5843016"/>
            <a:ext cx="111556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contrast</a:t>
            </a:r>
          </a:p>
        </p:txBody>
      </p:sp>
      <p:sp>
        <p:nvSpPr>
          <p:cNvPr id="7" name="TextBox 6">
            <a:extLst>
              <a:ext uri="{FF2B5EF4-FFF2-40B4-BE49-F238E27FC236}">
                <a16:creationId xmlns:a16="http://schemas.microsoft.com/office/drawing/2014/main" id="{B7B88507-A599-4037-BD24-A84D179AFD21}"/>
              </a:ext>
            </a:extLst>
          </p:cNvPr>
          <p:cNvSpPr>
            <a:spLocks noGrp="1"/>
          </p:cNvSpPr>
          <p:nvPr/>
        </p:nvSpPr>
        <p:spPr>
          <a:xfrm>
            <a:off x="2148840" y="5797296"/>
            <a:ext cx="8979408" cy="47548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80" b="0" i="0">
                <a:solidFill>
                  <a:srgbClr val="1F2730"/>
                </a:solidFill>
                <a:latin typeface="Arial"/>
                <a:ea typeface="Arial"/>
                <a:cs typeface="Arial"/>
              </a:rPr>
              <a:t>Female ε3/ε3: both OXPHOS sets mostly rise; male ε3/ε3: core MT genes rise while nuclear-encoded OXPHOS genes fall.</a:t>
            </a:r>
          </a:p>
        </p:txBody>
      </p:sp>
      <p:pic>
        <p:nvPicPr>
          <p:cNvPr id="24" name="Diverging paired bar chart of dominant Alzheimer’s disease direction for the 13 core MT genes and 86 nuclear-encoded OXPHOS genes across female and male APOE epsilon-2, epsilon-3 homozygous, and epsilon-4 groups."/>
          <p:cNvPicPr>
            <a:picLocks noChangeAspect="1"/>
          </p:cNvPicPr>
          <p:nvPr/>
        </p:nvPicPr>
        <p:blipFill>
          <a:blip r:embed="rId3"/>
          <a:stretch>
            <a:fillRect/>
          </a:stretch>
        </p:blipFill>
        <p:spPr>
          <a:xfrm>
            <a:off x="612648" y="1758132"/>
            <a:ext cx="10972800" cy="3232007"/>
          </a:xfrm>
          <a:prstGeom prst="rect">
            <a:avLst/>
          </a:prstGeom>
        </p:spPr>
      </p:pic>
      <p:sp>
        <p:nvSpPr>
          <p:cNvPr id="9" name="up-share-chart-background">
            <a:extLst>
              <a:ext uri="{FF2B5EF4-FFF2-40B4-BE49-F238E27FC236}">
                <a16:creationId xmlns:a16="http://schemas.microsoft.com/office/drawing/2014/main" id="{F3D88217-4D79-49C6-B63B-2B75F4D08C7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0" name="up-share-chart-title">
            <a:extLst>
              <a:ext uri="{FF2B5EF4-FFF2-40B4-BE49-F238E27FC236}">
                <a16:creationId xmlns:a16="http://schemas.microsoft.com/office/drawing/2014/main" id="{55D6B509-3AFF-4ECC-A9BF-A92BC1266806}"/>
              </a:ext>
            </a:extLst>
          </p:cNvPr>
          <p:cNvSpPr>
            <a:spLocks noGrp="1"/>
          </p:cNvSpPr>
          <p:nvPr/>
        </p:nvSpPr>
        <p:spPr>
          <a:xfrm>
            <a:off x="552450" y="428625"/>
            <a:ext cx="10763250" cy="438150"/>
          </a:xfrm>
          <a:prstGeom prst="rect">
            <a:avLst/>
          </a:prstGeom>
          <a:noFill/>
          <a:ln w="0">
            <a:noFill/>
            <a:prstDash val="solid"/>
          </a:ln>
        </p:spPr>
        <p:txBody>
          <a:bodyPr wrap="square" lIns="0" tIns="0" rIns="0" bIns="0" anchor="ctr">
            <a:normAutofit/>
          </a:bodyPr>
          <a:lstStyle/>
          <a:p>
            <a:pPr algn="l">
              <a:buNone/>
              <a:defRPr sz="2250" b="1">
                <a:solidFill>
                  <a:srgbClr val="0F233D"/>
                </a:solidFill>
                <a:latin typeface="Arial"/>
                <a:ea typeface="Arial"/>
                <a:cs typeface="Arial"/>
              </a:defRPr>
            </a:pPr>
            <a:r>
              <a:rPr sz="2250" b="1">
                <a:solidFill>
                  <a:srgbClr val="0F233D"/>
                </a:solidFill>
                <a:latin typeface="Arial"/>
                <a:ea typeface="Arial"/>
                <a:cs typeface="Arial"/>
              </a:rPr>
              <a:t>Share of OXPHOS DEG occurrences that are upregulated</a:t>
            </a:r>
          </a:p>
        </p:txBody>
      </p:sp>
      <p:sp>
        <p:nvSpPr>
          <p:cNvPr id="11" name="up-share-chart-subtitle">
            <a:extLst>
              <a:ext uri="{FF2B5EF4-FFF2-40B4-BE49-F238E27FC236}">
                <a16:creationId xmlns:a16="http://schemas.microsoft.com/office/drawing/2014/main" id="{683407C2-9A63-47C5-A661-F12A42F00D95}"/>
              </a:ext>
            </a:extLst>
          </p:cNvPr>
          <p:cNvSpPr>
            <a:spLocks noGrp="1"/>
          </p:cNvSpPr>
          <p:nvPr/>
        </p:nvSpPr>
        <p:spPr>
          <a:xfrm>
            <a:off x="1162050" y="1143000"/>
            <a:ext cx="9906000" cy="361950"/>
          </a:xfrm>
          <a:prstGeom prst="rect">
            <a:avLst/>
          </a:prstGeom>
          <a:noFill/>
          <a:ln w="0">
            <a:noFill/>
            <a:prstDash val="solid"/>
          </a:ln>
        </p:spPr>
        <p:txBody>
          <a:bodyPr wrap="square" lIns="0" tIns="0" rIns="0" bIns="0" anchor="ctr">
            <a:normAutofit/>
          </a:bodyPr>
          <a:lstStyle/>
          <a:p>
            <a:pPr algn="ctr">
              <a:buNone/>
              <a:defRPr sz="1800" b="0">
                <a:solidFill>
                  <a:srgbClr val="4E5A68"/>
                </a:solidFill>
                <a:latin typeface="Arial"/>
                <a:ea typeface="Arial"/>
                <a:cs typeface="Arial"/>
              </a:defRPr>
            </a:pPr>
            <a:r>
              <a:rPr sz="1800" b="0">
                <a:solidFill>
                  <a:srgbClr val="4E5A68"/>
                </a:solidFill>
                <a:latin typeface="Arial"/>
                <a:ea typeface="Arial"/>
                <a:cs typeface="Arial"/>
              </a:rPr>
              <a:t>OXPHOS (oxidative phosphorylation) is the mitochondrial process that makes most cellular ATP.</a:t>
            </a:r>
          </a:p>
        </p:txBody>
      </p:sp>
      <p:sp>
        <p:nvSpPr>
          <p:cNvPr id="12" name="up-share-chart-reference">
            <a:extLst>
              <a:ext uri="{FF2B5EF4-FFF2-40B4-BE49-F238E27FC236}">
                <a16:creationId xmlns:a16="http://schemas.microsoft.com/office/drawing/2014/main" id="{C28648A0-45A1-4934-A17C-4EB76AFCB4E1}"/>
              </a:ext>
            </a:extLst>
          </p:cNvPr>
          <p:cNvSpPr>
            <a:spLocks noGrp="1"/>
          </p:cNvSpPr>
          <p:nvPr/>
        </p:nvSpPr>
        <p:spPr>
          <a:xfrm>
            <a:off x="714375" y="1581150"/>
            <a:ext cx="10763250" cy="228600"/>
          </a:xfrm>
          <a:prstGeom prst="rect">
            <a:avLst/>
          </a:prstGeom>
          <a:noFill/>
          <a:ln w="0">
            <a:noFill/>
            <a:prstDash val="solid"/>
          </a:ln>
        </p:spPr>
        <p:txBody>
          <a:bodyPr wrap="square" lIns="0" tIns="0" rIns="0" bIns="0" anchor="t">
            <a:normAutofit/>
          </a:bodyPr>
          <a:lstStyle/>
          <a:p>
            <a:pPr algn="ctr">
              <a:buNone/>
              <a:defRPr sz="1125" b="1">
                <a:solidFill>
                  <a:srgbClr val="7E4C9A"/>
                </a:solidFill>
                <a:latin typeface="Arial"/>
                <a:ea typeface="Arial"/>
                <a:cs typeface="Arial"/>
              </a:defRPr>
            </a:pPr>
            <a:r>
              <a:rPr sz="1125" b="1">
                <a:solidFill>
                  <a:srgbClr val="7E4C9A"/>
                </a:solidFill>
                <a:latin typeface="Arial"/>
                <a:ea typeface="Arial"/>
                <a:cs typeface="Arial"/>
              </a:rPr>
              <a:t>50% = equal numbers of upregulated and downregulated occurrences</a:t>
            </a:r>
          </a:p>
        </p:txBody>
      </p:sp>
      <p:graphicFrame>
        <p:nvGraphicFramePr>
          <p:cNvPr id="29" name="Chart"/>
          <p:cNvGraphicFramePr/>
          <p:nvPr/>
        </p:nvGraphicFramePr>
        <p:xfrm>
          <a:off x="714375" y="1835090"/>
          <a:ext cx="10763250" cy="3381375"/>
        </p:xfrm>
        <a:graphic>
          <a:graphicData uri="http://schemas.openxmlformats.org/drawingml/2006/chart">
            <c:chart xmlns:c="http://schemas.openxmlformats.org/drawingml/2006/chart" xmlns:r="http://schemas.openxmlformats.org/officeDocument/2006/relationships" r:id="rId4"/>
          </a:graphicData>
        </a:graphic>
      </p:graphicFrame>
      <p:sp>
        <p:nvSpPr>
          <p:cNvPr id="14" name="up-share-key-contrast-surface">
            <a:extLst>
              <a:ext uri="{FF2B5EF4-FFF2-40B4-BE49-F238E27FC236}">
                <a16:creationId xmlns:a16="http://schemas.microsoft.com/office/drawing/2014/main" id="{0FA2CAA8-3E8A-4BA2-9A72-13F758802B18}"/>
              </a:ext>
            </a:extLst>
          </p:cNvPr>
          <p:cNvSpPr>
            <a:spLocks noGrp="1"/>
          </p:cNvSpPr>
          <p:nvPr/>
        </p:nvSpPr>
        <p:spPr>
          <a:xfrm>
            <a:off x="647700" y="5638800"/>
            <a:ext cx="10896600" cy="657225"/>
          </a:xfrm>
          <a:prstGeom prst="roundRect">
            <a:avLst>
              <a:gd name="adj" fmla="val 17391"/>
            </a:avLst>
          </a:prstGeom>
          <a:solidFill>
            <a:srgbClr val="F1F4F7"/>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up-share-key-contrast-label">
            <a:extLst>
              <a:ext uri="{FF2B5EF4-FFF2-40B4-BE49-F238E27FC236}">
                <a16:creationId xmlns:a16="http://schemas.microsoft.com/office/drawing/2014/main" id="{71C5911B-901A-4011-9F94-7EEA80440391}"/>
              </a:ext>
            </a:extLst>
          </p:cNvPr>
          <p:cNvSpPr>
            <a:spLocks noGrp="1"/>
          </p:cNvSpPr>
          <p:nvPr/>
        </p:nvSpPr>
        <p:spPr>
          <a:xfrm>
            <a:off x="952500" y="5867400"/>
            <a:ext cx="1143000" cy="23812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Key contrast</a:t>
            </a:r>
          </a:p>
        </p:txBody>
      </p:sp>
      <p:sp>
        <p:nvSpPr>
          <p:cNvPr id="16" name="up-share-key-contrast-text">
            <a:extLst>
              <a:ext uri="{FF2B5EF4-FFF2-40B4-BE49-F238E27FC236}">
                <a16:creationId xmlns:a16="http://schemas.microsoft.com/office/drawing/2014/main" id="{4DB05E54-9576-4DFA-ABE0-0D2D774F5762}"/>
              </a:ext>
            </a:extLst>
          </p:cNvPr>
          <p:cNvSpPr>
            <a:spLocks noGrp="1"/>
          </p:cNvSpPr>
          <p:nvPr/>
        </p:nvSpPr>
        <p:spPr>
          <a:xfrm>
            <a:off x="2171700" y="5762625"/>
            <a:ext cx="8953500" cy="44767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Female ε3/ε3: both OXPHOS sets mostly rise. Male ε3/ε3: core MT genes rise while nuclear-encoded OXPHOS genes fall.</a:t>
            </a:r>
          </a:p>
        </p:txBody>
      </p:sp>
    </p:spTree>
    <p:extLst>
      <p:ext uri="{BB962C8B-B14F-4D97-AF65-F5344CB8AC3E}">
        <p14:creationId xmlns:p14="http://schemas.microsoft.com/office/powerpoint/2010/main" val="4926964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A38812-820E-43AA-AEA6-5D3C98C983E1}"/>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4</a:t>
            </a:r>
          </a:p>
        </p:txBody>
      </p:sp>
      <p:sp>
        <p:nvSpPr>
          <p:cNvPr id="3" name="Rectangle 2">
            <a:extLst>
              <a:ext uri="{FF2B5EF4-FFF2-40B4-BE49-F238E27FC236}">
                <a16:creationId xmlns:a16="http://schemas.microsoft.com/office/drawing/2014/main" id="{B029E37C-4342-4CDA-8A77-437F6147B463}"/>
              </a:ext>
            </a:extLst>
          </p:cNvPr>
          <p:cNvSpPr>
            <a:spLocks noGrp="1"/>
          </p:cNvSpPr>
          <p:nvPr/>
        </p:nvSpPr>
        <p:spPr>
          <a:xfrm>
            <a:off x="713232" y="1152144"/>
            <a:ext cx="91440" cy="217627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756A2B-C51E-4074-A29B-8354303A5F96}"/>
              </a:ext>
            </a:extLst>
          </p:cNvPr>
          <p:cNvSpPr>
            <a:spLocks noGrp="1"/>
          </p:cNvSpPr>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KDA calls</a:t>
            </a:r>
          </a:p>
        </p:txBody>
      </p:sp>
      <p:sp>
        <p:nvSpPr>
          <p:cNvPr id="6" name="Rounded Rectangle 5">
            <a:extLst>
              <a:ext uri="{FF2B5EF4-FFF2-40B4-BE49-F238E27FC236}">
                <a16:creationId xmlns:a16="http://schemas.microsoft.com/office/drawing/2014/main" id="{B83AEE6C-0C4B-4977-BEEB-80A7144C7C9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E13A4AF5-D8B1-41D0-AA6F-13D5CC8DBC3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IN THIS PART</a:t>
            </a:r>
          </a:p>
        </p:txBody>
      </p:sp>
      <p:sp>
        <p:nvSpPr>
          <p:cNvPr id="8" name="Oval 7">
            <a:extLst>
              <a:ext uri="{FF2B5EF4-FFF2-40B4-BE49-F238E27FC236}">
                <a16:creationId xmlns:a16="http://schemas.microsoft.com/office/drawing/2014/main" id="{BDF530FF-5B80-4445-971C-3E93F262580E}"/>
              </a:ext>
            </a:extLst>
          </p:cNvPr>
          <p:cNvSpPr>
            <a:spLocks noGrp="1"/>
          </p:cNvSpPr>
          <p:nvPr/>
        </p:nvSpPr>
        <p:spPr>
          <a:xfrm>
            <a:off x="9198864" y="2039112"/>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3B20975-3211-4AF5-9570-0EB0D9AD689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B591A55-3D73-4ECA-BE0D-C3ACADE17C01}"/>
              </a:ext>
            </a:extLst>
          </p:cNvPr>
          <p:cNvSpPr>
            <a:spLocks noGrp="1"/>
          </p:cNvSpPr>
          <p:nvPr/>
        </p:nvSpPr>
        <p:spPr>
          <a:xfrm>
            <a:off x="9628632" y="203482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a:ext uri="{FF2B5EF4-FFF2-40B4-BE49-F238E27FC236}">
                <a16:creationId xmlns:a16="http://schemas.microsoft.com/office/drawing/2014/main" id="{D0513708-4DE7-443D-9851-630F8E71D76E}"/>
              </a:ext>
            </a:extLst>
          </p:cNvPr>
          <p:cNvSpPr>
            <a:spLocks noGrp="1"/>
          </p:cNvSpPr>
          <p:nvPr/>
        </p:nvSpPr>
        <p:spPr>
          <a:xfrm>
            <a:off x="9198864" y="2788920"/>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08C1D71-67D0-44D5-864E-C04624C18AFA}"/>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E3EEDA7-BA00-4CDB-BFDE-9F2883F95298}"/>
              </a:ext>
            </a:extLst>
          </p:cNvPr>
          <p:cNvSpPr>
            <a:spLocks noGrp="1"/>
          </p:cNvSpPr>
          <p:nvPr/>
        </p:nvSpPr>
        <p:spPr>
          <a:xfrm>
            <a:off x="9628632" y="2790427"/>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a:ext uri="{FF2B5EF4-FFF2-40B4-BE49-F238E27FC236}">
                <a16:creationId xmlns:a16="http://schemas.microsoft.com/office/drawing/2014/main" id="{2BFBCCAC-5C0E-417E-8013-1A19463D7077}"/>
              </a:ext>
            </a:extLst>
          </p:cNvPr>
          <p:cNvSpPr>
            <a:spLocks noGrp="1"/>
          </p:cNvSpPr>
          <p:nvPr/>
        </p:nvSpPr>
        <p:spPr>
          <a:xfrm>
            <a:off x="9198864" y="3538727"/>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B6D520-0795-4F7E-A96C-A74455F24ED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C755F62-BD64-4F6E-B193-416C9CE4E9C5}"/>
              </a:ext>
            </a:extLst>
          </p:cNvPr>
          <p:cNvSpPr>
            <a:spLocks noGrp="1"/>
          </p:cNvSpPr>
          <p:nvPr/>
        </p:nvSpPr>
        <p:spPr>
          <a:xfrm>
            <a:off x="9628632" y="3551805"/>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a:ext uri="{FF2B5EF4-FFF2-40B4-BE49-F238E27FC236}">
                <a16:creationId xmlns:a16="http://schemas.microsoft.com/office/drawing/2014/main" id="{5225D091-C2ED-4309-ACD3-2E65A4BFB68C}"/>
              </a:ext>
            </a:extLst>
          </p:cNvPr>
          <p:cNvSpPr>
            <a:spLocks noGrp="1"/>
          </p:cNvSpPr>
          <p:nvPr/>
        </p:nvSpPr>
        <p:spPr>
          <a:xfrm>
            <a:off x="9198864" y="4288536"/>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33959B-4CEB-4D27-A9C6-57EADC2D811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BA6D3EF5-7783-4F39-99AB-618E5BD525A9}"/>
              </a:ext>
            </a:extLst>
          </p:cNvPr>
          <p:cNvSpPr>
            <a:spLocks noGrp="1"/>
          </p:cNvSpPr>
          <p:nvPr/>
        </p:nvSpPr>
        <p:spPr>
          <a:xfrm>
            <a:off x="9628632" y="4295829"/>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8734015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221FFC-B8D1-496E-A536-22D57CBEFE4E}"/>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Four steps: run DEG per contrast, then make KDA calls</a:t>
            </a:r>
          </a:p>
        </p:txBody>
      </p:sp>
      <p:sp>
        <p:nvSpPr>
          <p:cNvPr id="5" name="Rounded Rectangle 4">
            <a:extLst>
              <a:ext uri="{FF2B5EF4-FFF2-40B4-BE49-F238E27FC236}">
                <a16:creationId xmlns:a16="http://schemas.microsoft.com/office/drawing/2014/main" id="{46E88943-8734-4E23-A8AF-1BFDF11E7331}"/>
              </a:ext>
            </a:extLst>
          </p:cNvPr>
          <p:cNvSpPr>
            <a:spLocks noGrp="1"/>
          </p:cNvSpPr>
          <p:nvPr/>
        </p:nvSpPr>
        <p:spPr>
          <a:xfrm>
            <a:off x="603504" y="1371600"/>
            <a:ext cx="2587752" cy="423367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Oval 5">
            <a:extLst>
              <a:ext uri="{FF2B5EF4-FFF2-40B4-BE49-F238E27FC236}">
                <a16:creationId xmlns:a16="http://schemas.microsoft.com/office/drawing/2014/main" id="{289406B0-EF9A-4E79-B36A-4427A6153B61}"/>
              </a:ext>
            </a:extLst>
          </p:cNvPr>
          <p:cNvSpPr>
            <a:spLocks noGrp="1"/>
          </p:cNvSpPr>
          <p:nvPr/>
        </p:nvSpPr>
        <p:spPr>
          <a:xfrm>
            <a:off x="80467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1C6F10-E5E1-4BB4-A387-04C150B20AA8}"/>
              </a:ext>
            </a:extLst>
          </p:cNvPr>
          <p:cNvSpPr>
            <a:spLocks noGrp="1"/>
          </p:cNvSpPr>
          <p:nvPr/>
        </p:nvSpPr>
        <p:spPr>
          <a:xfrm>
            <a:off x="80467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1</a:t>
            </a:r>
          </a:p>
        </p:txBody>
      </p:sp>
      <p:sp>
        <p:nvSpPr>
          <p:cNvPr id="8" name="TextBox 7">
            <a:extLst>
              <a:ext uri="{FF2B5EF4-FFF2-40B4-BE49-F238E27FC236}">
                <a16:creationId xmlns:a16="http://schemas.microsoft.com/office/drawing/2014/main" id="{F22D91EF-D9BC-409A-9ACA-8738658F8584}"/>
              </a:ext>
            </a:extLst>
          </p:cNvPr>
          <p:cNvSpPr>
            <a:spLocks noGrp="1"/>
          </p:cNvSpPr>
          <p:nvPr/>
        </p:nvSpPr>
        <p:spPr>
          <a:xfrm>
            <a:off x="804672" y="2267712"/>
            <a:ext cx="2157984" cy="3477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DEG</a:t>
            </a:r>
          </a:p>
        </p:txBody>
      </p:sp>
      <p:sp>
        <p:nvSpPr>
          <p:cNvPr id="9" name="TextBox 8">
            <a:extLst>
              <a:ext uri="{FF2B5EF4-FFF2-40B4-BE49-F238E27FC236}">
                <a16:creationId xmlns:a16="http://schemas.microsoft.com/office/drawing/2014/main" id="{60C194DE-54EB-476E-8EDE-572C60849D23}"/>
              </a:ext>
            </a:extLst>
          </p:cNvPr>
          <p:cNvSpPr>
            <a:spLocks noGrp="1"/>
          </p:cNvSpPr>
          <p:nvPr/>
        </p:nvSpPr>
        <p:spPr>
          <a:xfrm>
            <a:off x="80467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fine cell type × sex/APOE</a:t>
            </a:r>
          </a:p>
        </p:txBody>
      </p:sp>
      <p:sp>
        <p:nvSpPr>
          <p:cNvPr id="10" name="Rounded Rectangle 9">
            <a:extLst>
              <a:ext uri="{FF2B5EF4-FFF2-40B4-BE49-F238E27FC236}">
                <a16:creationId xmlns:a16="http://schemas.microsoft.com/office/drawing/2014/main" id="{6146D296-CE83-45BB-AD0D-3A7A6C16FE5F}"/>
              </a:ext>
            </a:extLst>
          </p:cNvPr>
          <p:cNvSpPr>
            <a:spLocks noGrp="1"/>
          </p:cNvSpPr>
          <p:nvPr/>
        </p:nvSpPr>
        <p:spPr>
          <a:xfrm>
            <a:off x="78638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6A2FDC54-9072-421A-B955-DD62AE6235F9}"/>
              </a:ext>
            </a:extLst>
          </p:cNvPr>
          <p:cNvSpPr>
            <a:spLocks noGrp="1"/>
          </p:cNvSpPr>
          <p:nvPr/>
        </p:nvSpPr>
        <p:spPr>
          <a:xfrm>
            <a:off x="93268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AD-versus-NCI DEG for each contrast</a:t>
            </a:r>
          </a:p>
        </p:txBody>
      </p:sp>
      <p:sp>
        <p:nvSpPr>
          <p:cNvPr id="12" name="Rounded Rectangle 11">
            <a:extLst>
              <a:ext uri="{FF2B5EF4-FFF2-40B4-BE49-F238E27FC236}">
                <a16:creationId xmlns:a16="http://schemas.microsoft.com/office/drawing/2014/main" id="{3D6A8284-7A31-4380-B904-A0B59015231A}"/>
              </a:ext>
            </a:extLst>
          </p:cNvPr>
          <p:cNvSpPr>
            <a:spLocks noGrp="1"/>
          </p:cNvSpPr>
          <p:nvPr/>
        </p:nvSpPr>
        <p:spPr>
          <a:xfrm>
            <a:off x="3438144" y="1371600"/>
            <a:ext cx="2587752" cy="423367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Oval 12">
            <a:extLst>
              <a:ext uri="{FF2B5EF4-FFF2-40B4-BE49-F238E27FC236}">
                <a16:creationId xmlns:a16="http://schemas.microsoft.com/office/drawing/2014/main" id="{1B9491F2-A95B-404C-9125-3CAAEE2F4998}"/>
              </a:ext>
            </a:extLst>
          </p:cNvPr>
          <p:cNvSpPr>
            <a:spLocks noGrp="1"/>
          </p:cNvSpPr>
          <p:nvPr/>
        </p:nvSpPr>
        <p:spPr>
          <a:xfrm>
            <a:off x="363931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622387C4-7931-4CE7-BDE7-F35D8D087AE8}"/>
              </a:ext>
            </a:extLst>
          </p:cNvPr>
          <p:cNvSpPr>
            <a:spLocks noGrp="1"/>
          </p:cNvSpPr>
          <p:nvPr/>
        </p:nvSpPr>
        <p:spPr>
          <a:xfrm>
            <a:off x="363931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2</a:t>
            </a:r>
          </a:p>
        </p:txBody>
      </p:sp>
      <p:sp>
        <p:nvSpPr>
          <p:cNvPr id="15" name="TextBox 14">
            <a:extLst>
              <a:ext uri="{FF2B5EF4-FFF2-40B4-BE49-F238E27FC236}">
                <a16:creationId xmlns:a16="http://schemas.microsoft.com/office/drawing/2014/main" id="{F0443E6F-1577-4127-9A0B-40BE604BD958}"/>
              </a:ext>
            </a:extLst>
          </p:cNvPr>
          <p:cNvSpPr>
            <a:spLocks noGrp="1"/>
          </p:cNvSpPr>
          <p:nvPr/>
        </p:nvSpPr>
        <p:spPr>
          <a:xfrm>
            <a:off x="3639312" y="2267712"/>
            <a:ext cx="2157984" cy="6339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MitoCarta MT query</a:t>
            </a:r>
          </a:p>
        </p:txBody>
      </p:sp>
      <p:sp>
        <p:nvSpPr>
          <p:cNvPr id="16" name="TextBox 15">
            <a:extLst>
              <a:ext uri="{FF2B5EF4-FFF2-40B4-BE49-F238E27FC236}">
                <a16:creationId xmlns:a16="http://schemas.microsoft.com/office/drawing/2014/main" id="{7001D801-ADA4-403D-BAD3-04BAFAA2F71C}"/>
              </a:ext>
            </a:extLst>
          </p:cNvPr>
          <p:cNvSpPr>
            <a:spLocks noGrp="1"/>
          </p:cNvSpPr>
          <p:nvPr/>
        </p:nvSpPr>
        <p:spPr>
          <a:xfrm>
            <a:off x="363931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MitoCarta MT DEGs</a:t>
            </a:r>
          </a:p>
        </p:txBody>
      </p:sp>
      <p:sp>
        <p:nvSpPr>
          <p:cNvPr id="17" name="Rounded Rectangle 16">
            <a:extLst>
              <a:ext uri="{FF2B5EF4-FFF2-40B4-BE49-F238E27FC236}">
                <a16:creationId xmlns:a16="http://schemas.microsoft.com/office/drawing/2014/main" id="{A3D98377-F5A3-4F8F-BAB6-FDC375C4B716}"/>
              </a:ext>
            </a:extLst>
          </p:cNvPr>
          <p:cNvSpPr>
            <a:spLocks noGrp="1"/>
          </p:cNvSpPr>
          <p:nvPr/>
        </p:nvSpPr>
        <p:spPr>
          <a:xfrm>
            <a:off x="362102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57EF9E3C-D045-44CE-881A-1A65D09E147D}"/>
              </a:ext>
            </a:extLst>
          </p:cNvPr>
          <p:cNvSpPr>
            <a:spLocks noGrp="1"/>
          </p:cNvSpPr>
          <p:nvPr/>
        </p:nvSpPr>
        <p:spPr>
          <a:xfrm>
            <a:off x="376732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Build one query per contrast from MitoCarta MT DEGs</a:t>
            </a:r>
          </a:p>
        </p:txBody>
      </p:sp>
      <p:sp>
        <p:nvSpPr>
          <p:cNvPr id="19" name="Rounded Rectangle 18">
            <a:extLst>
              <a:ext uri="{FF2B5EF4-FFF2-40B4-BE49-F238E27FC236}">
                <a16:creationId xmlns:a16="http://schemas.microsoft.com/office/drawing/2014/main" id="{DF469515-F5B8-43BD-8069-1C1E5125CEA0}"/>
              </a:ext>
            </a:extLst>
          </p:cNvPr>
          <p:cNvSpPr>
            <a:spLocks noGrp="1"/>
          </p:cNvSpPr>
          <p:nvPr/>
        </p:nvSpPr>
        <p:spPr>
          <a:xfrm>
            <a:off x="6272784" y="1371600"/>
            <a:ext cx="2587752" cy="4233672"/>
          </a:xfrm>
          <a:prstGeom prst="roundRect">
            <a:avLst/>
          </a:prstGeom>
          <a:solidFill>
            <a:srgbClr val="E4F4EE"/>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Oval 19">
            <a:extLst>
              <a:ext uri="{FF2B5EF4-FFF2-40B4-BE49-F238E27FC236}">
                <a16:creationId xmlns:a16="http://schemas.microsoft.com/office/drawing/2014/main" id="{D04E537C-15DA-48A6-89FB-F8113B7AC3F0}"/>
              </a:ext>
            </a:extLst>
          </p:cNvPr>
          <p:cNvSpPr>
            <a:spLocks noGrp="1"/>
          </p:cNvSpPr>
          <p:nvPr/>
        </p:nvSpPr>
        <p:spPr>
          <a:xfrm>
            <a:off x="647395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9C0C3F9-A3D6-433E-8DFC-3418EFBC3EA7}"/>
              </a:ext>
            </a:extLst>
          </p:cNvPr>
          <p:cNvSpPr>
            <a:spLocks noGrp="1"/>
          </p:cNvSpPr>
          <p:nvPr/>
        </p:nvSpPr>
        <p:spPr>
          <a:xfrm>
            <a:off x="647395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3</a:t>
            </a:r>
          </a:p>
        </p:txBody>
      </p:sp>
      <p:sp>
        <p:nvSpPr>
          <p:cNvPr id="22" name="TextBox 21">
            <a:extLst>
              <a:ext uri="{FF2B5EF4-FFF2-40B4-BE49-F238E27FC236}">
                <a16:creationId xmlns:a16="http://schemas.microsoft.com/office/drawing/2014/main" id="{FADF91BF-7B86-4FED-A4B7-C7F5A4F14485}"/>
              </a:ext>
            </a:extLst>
          </p:cNvPr>
          <p:cNvSpPr>
            <a:spLocks noGrp="1"/>
          </p:cNvSpPr>
          <p:nvPr/>
        </p:nvSpPr>
        <p:spPr>
          <a:xfrm>
            <a:off x="647395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KDA calls</a:t>
            </a:r>
          </a:p>
        </p:txBody>
      </p:sp>
      <p:sp>
        <p:nvSpPr>
          <p:cNvPr id="23" name="TextBox 22">
            <a:extLst>
              <a:ext uri="{FF2B5EF4-FFF2-40B4-BE49-F238E27FC236}">
                <a16:creationId xmlns:a16="http://schemas.microsoft.com/office/drawing/2014/main" id="{B842083C-0C8D-4B4B-B1A5-57F55B7604BB}"/>
              </a:ext>
            </a:extLst>
          </p:cNvPr>
          <p:cNvSpPr>
            <a:spLocks noGrp="1"/>
          </p:cNvSpPr>
          <p:nvPr/>
        </p:nvSpPr>
        <p:spPr>
          <a:xfrm>
            <a:off x="647395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a:solidFill>
                  <a:srgbClr val="0072B2"/>
                </a:solidFill>
                <a:latin typeface="Arial"/>
                <a:ea typeface="Arial"/>
                <a:cs typeface="Arial"/>
              </a:rPr>
              <a:t>Make KDA calls</a:t>
            </a:r>
          </a:p>
        </p:txBody>
      </p:sp>
      <p:sp>
        <p:nvSpPr>
          <p:cNvPr id="24" name="Rounded Rectangle 23">
            <a:extLst>
              <a:ext uri="{FF2B5EF4-FFF2-40B4-BE49-F238E27FC236}">
                <a16:creationId xmlns:a16="http://schemas.microsoft.com/office/drawing/2014/main" id="{73FCD190-7E9B-4971-809E-FDF0267FFC24}"/>
              </a:ext>
            </a:extLst>
          </p:cNvPr>
          <p:cNvSpPr>
            <a:spLocks noGrp="1"/>
          </p:cNvSpPr>
          <p:nvPr/>
        </p:nvSpPr>
        <p:spPr>
          <a:xfrm>
            <a:off x="645566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4BA8FC0-C20F-4CB2-9C47-48A6A6F99B5D}"/>
              </a:ext>
            </a:extLst>
          </p:cNvPr>
          <p:cNvSpPr>
            <a:spLocks noGrp="1"/>
          </p:cNvSpPr>
          <p:nvPr/>
        </p:nvSpPr>
        <p:spPr>
          <a:xfrm>
            <a:off x="6601968" y="4105152"/>
            <a:ext cx="1940298"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Make KDA calls when the mapped query</a:t>
            </a:r>
          </a:p>
          <a:p>
            <a:pPr algn="ctr">
              <a:lnSpc>
                <a:spcPct val="100000"/>
              </a:lnSpc>
              <a:spcBef>
                <a:spcPts val="0"/>
              </a:spcBef>
              <a:spcAft>
                <a:spcPts val="0"/>
              </a:spcAft>
              <a:buNone/>
            </a:pPr>
            <a:r>
              <a:rPr sz="1130">
                <a:solidFill>
                  <a:srgbClr val="4E5A68"/>
                </a:solidFill>
                <a:latin typeface="Arial"/>
                <a:ea typeface="Arial"/>
                <a:cs typeface="Arial"/>
              </a:rPr>
              <a:t>contains ≥3 genes</a:t>
            </a:r>
          </a:p>
        </p:txBody>
      </p:sp>
      <p:sp>
        <p:nvSpPr>
          <p:cNvPr id="26" name="Rounded Rectangle 25">
            <a:extLst>
              <a:ext uri="{FF2B5EF4-FFF2-40B4-BE49-F238E27FC236}">
                <a16:creationId xmlns:a16="http://schemas.microsoft.com/office/drawing/2014/main" id="{ECCE965F-10FE-43B6-9A15-9DB9A4A772BA}"/>
              </a:ext>
            </a:extLst>
          </p:cNvPr>
          <p:cNvSpPr>
            <a:spLocks noGrp="1"/>
          </p:cNvSpPr>
          <p:nvPr/>
        </p:nvSpPr>
        <p:spPr>
          <a:xfrm>
            <a:off x="9107424" y="1371600"/>
            <a:ext cx="2587752" cy="423367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Oval 26">
            <a:extLst>
              <a:ext uri="{FF2B5EF4-FFF2-40B4-BE49-F238E27FC236}">
                <a16:creationId xmlns:a16="http://schemas.microsoft.com/office/drawing/2014/main" id="{0F316496-2745-40F5-8FA3-A536F057DFD9}"/>
              </a:ext>
            </a:extLst>
          </p:cNvPr>
          <p:cNvSpPr>
            <a:spLocks noGrp="1"/>
          </p:cNvSpPr>
          <p:nvPr/>
        </p:nvSpPr>
        <p:spPr>
          <a:xfrm>
            <a:off x="9308592" y="1627632"/>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D6A51F87-D6F7-46B1-805E-981A290663B3}"/>
              </a:ext>
            </a:extLst>
          </p:cNvPr>
          <p:cNvSpPr>
            <a:spLocks noGrp="1"/>
          </p:cNvSpPr>
          <p:nvPr/>
        </p:nvSpPr>
        <p:spPr>
          <a:xfrm>
            <a:off x="930859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4</a:t>
            </a:r>
          </a:p>
        </p:txBody>
      </p:sp>
      <p:sp>
        <p:nvSpPr>
          <p:cNvPr id="29" name="TextBox 28">
            <a:extLst>
              <a:ext uri="{FF2B5EF4-FFF2-40B4-BE49-F238E27FC236}">
                <a16:creationId xmlns:a16="http://schemas.microsoft.com/office/drawing/2014/main" id="{081F480E-EA43-4A99-9E7F-3B8C8BB6E908}"/>
              </a:ext>
            </a:extLst>
          </p:cNvPr>
          <p:cNvSpPr>
            <a:spLocks noGrp="1"/>
          </p:cNvSpPr>
          <p:nvPr/>
        </p:nvSpPr>
        <p:spPr>
          <a:xfrm>
            <a:off x="930859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Category result</a:t>
            </a:r>
          </a:p>
        </p:txBody>
      </p:sp>
      <p:sp>
        <p:nvSpPr>
          <p:cNvPr id="30" name="TextBox 29">
            <a:extLst>
              <a:ext uri="{FF2B5EF4-FFF2-40B4-BE49-F238E27FC236}">
                <a16:creationId xmlns:a16="http://schemas.microsoft.com/office/drawing/2014/main" id="{3CFF8CEC-C169-4B64-A39A-03FB9E8AAF1C}"/>
              </a:ext>
            </a:extLst>
          </p:cNvPr>
          <p:cNvSpPr>
            <a:spLocks noGrp="1"/>
          </p:cNvSpPr>
          <p:nvPr/>
        </p:nvSpPr>
        <p:spPr>
          <a:xfrm>
            <a:off x="930859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E69F00"/>
                </a:solidFill>
                <a:latin typeface="Arial"/>
                <a:ea typeface="Arial"/>
                <a:cs typeface="Arial"/>
              </a:rPr>
              <a:t>gene × category</a:t>
            </a:r>
          </a:p>
        </p:txBody>
      </p:sp>
      <p:sp>
        <p:nvSpPr>
          <p:cNvPr id="31" name="Rounded Rectangle 30">
            <a:extLst>
              <a:ext uri="{FF2B5EF4-FFF2-40B4-BE49-F238E27FC236}">
                <a16:creationId xmlns:a16="http://schemas.microsoft.com/office/drawing/2014/main" id="{8A9606BF-576C-4D4A-A6E8-E536878F1F74}"/>
              </a:ext>
            </a:extLst>
          </p:cNvPr>
          <p:cNvSpPr>
            <a:spLocks noGrp="1"/>
          </p:cNvSpPr>
          <p:nvPr/>
        </p:nvSpPr>
        <p:spPr>
          <a:xfrm>
            <a:off x="929030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51EDF7F-2A80-4AA9-B0A2-6B07730F92E2}"/>
              </a:ext>
            </a:extLst>
          </p:cNvPr>
          <p:cNvSpPr>
            <a:spLocks noGrp="1"/>
          </p:cNvSpPr>
          <p:nvPr/>
        </p:nvSpPr>
        <p:spPr>
          <a:xfrm>
            <a:off x="9436608" y="4105152"/>
            <a:ext cx="1901952"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Aggregate genes across fine cell type for the same broad cell type with ACAT.</a:t>
            </a:r>
          </a:p>
        </p:txBody>
      </p:sp>
    </p:spTree>
    <p:extLst>
      <p:ext uri="{BB962C8B-B14F-4D97-AF65-F5344CB8AC3E}">
        <p14:creationId xmlns:p14="http://schemas.microsoft.com/office/powerpoint/2010/main" val="249508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9EDE79-0614-4A92-8566-773ED2EA23CD}"/>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ROSMAP</a:t>
            </a:r>
          </a:p>
        </p:txBody>
      </p:sp>
      <p:sp>
        <p:nvSpPr>
          <p:cNvPr id="4" name="TextBox 3">
            <a:extLst>
              <a:ext uri="{FF2B5EF4-FFF2-40B4-BE49-F238E27FC236}">
                <a16:creationId xmlns:a16="http://schemas.microsoft.com/office/drawing/2014/main" id="{3FEB1C88-6A15-4B1A-BBD6-1FA27ECDACC0}"/>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5" name="Rounded Rectangle 4">
            <a:extLst>
              <a:ext uri="{FF2B5EF4-FFF2-40B4-BE49-F238E27FC236}">
                <a16:creationId xmlns:a16="http://schemas.microsoft.com/office/drawing/2014/main" id="{27608705-C0F9-4C50-AAB2-99C73BD442DE}"/>
              </a:ext>
            </a:extLst>
          </p:cNvPr>
          <p:cNvSpPr>
            <a:spLocks noGrp="1"/>
          </p:cNvSpPr>
          <p:nvPr/>
        </p:nvSpPr>
        <p:spPr>
          <a:xfrm>
            <a:off x="3250039" y="1352441"/>
            <a:ext cx="5358384" cy="43251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9B893E04-674A-446C-B5F9-1C79FA8DE7F3}"/>
              </a:ext>
            </a:extLst>
          </p:cNvPr>
          <p:cNvSpPr>
            <a:spLocks noGrp="1"/>
          </p:cNvSpPr>
          <p:nvPr/>
        </p:nvSpPr>
        <p:spPr>
          <a:xfrm>
            <a:off x="3533503" y="1645049"/>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72B2"/>
                </a:solidFill>
                <a:latin typeface="Arial"/>
                <a:ea typeface="Arial"/>
                <a:cs typeface="Arial"/>
              </a:rPr>
              <a:t>ROSMAP IS THE PRIMARY</a:t>
            </a:r>
          </a:p>
        </p:txBody>
      </p:sp>
      <p:sp>
        <p:nvSpPr>
          <p:cNvPr id="7" name="TextBox 6">
            <a:extLst>
              <a:ext uri="{FF2B5EF4-FFF2-40B4-BE49-F238E27FC236}">
                <a16:creationId xmlns:a16="http://schemas.microsoft.com/office/drawing/2014/main" id="{25B1F69F-9624-4F57-995F-1475F9FBCC31}"/>
              </a:ext>
            </a:extLst>
          </p:cNvPr>
          <p:cNvSpPr>
            <a:spLocks noGrp="1"/>
          </p:cNvSpPr>
          <p:nvPr/>
        </p:nvSpPr>
        <p:spPr>
          <a:xfrm>
            <a:off x="3533503" y="1955945"/>
            <a:ext cx="4526280" cy="585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Where does a gene recur across fine-cell evidence?</a:t>
            </a:r>
          </a:p>
        </p:txBody>
      </p:sp>
      <p:sp>
        <p:nvSpPr>
          <p:cNvPr id="8" name="Rounded Rectangle 7">
            <a:extLst>
              <a:ext uri="{FF2B5EF4-FFF2-40B4-BE49-F238E27FC236}">
                <a16:creationId xmlns:a16="http://schemas.microsoft.com/office/drawing/2014/main" id="{131DAE2C-A674-40CC-9E86-7DDA6D405B44}"/>
              </a:ext>
            </a:extLst>
          </p:cNvPr>
          <p:cNvSpPr>
            <a:spLocks noGrp="1"/>
          </p:cNvSpPr>
          <p:nvPr/>
        </p:nvSpPr>
        <p:spPr>
          <a:xfrm>
            <a:off x="3533503"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1F88DCF-24B7-442A-B0EE-B2ACA02D3CFC}"/>
              </a:ext>
            </a:extLst>
          </p:cNvPr>
          <p:cNvSpPr>
            <a:spLocks noGrp="1"/>
          </p:cNvSpPr>
          <p:nvPr/>
        </p:nvSpPr>
        <p:spPr>
          <a:xfrm>
            <a:off x="3679806"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324</a:t>
            </a:r>
          </a:p>
        </p:txBody>
      </p:sp>
      <p:sp>
        <p:nvSpPr>
          <p:cNvPr id="10" name="TextBox 9">
            <a:extLst>
              <a:ext uri="{FF2B5EF4-FFF2-40B4-BE49-F238E27FC236}">
                <a16:creationId xmlns:a16="http://schemas.microsoft.com/office/drawing/2014/main" id="{D4176951-406A-42E1-9F48-A3C018324ADE}"/>
              </a:ext>
            </a:extLst>
          </p:cNvPr>
          <p:cNvSpPr>
            <a:spLocks noGrp="1"/>
          </p:cNvSpPr>
          <p:nvPr/>
        </p:nvSpPr>
        <p:spPr>
          <a:xfrm>
            <a:off x="3679806" y="3263537"/>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11" name="Rounded Rectangle 10">
            <a:extLst>
              <a:ext uri="{FF2B5EF4-FFF2-40B4-BE49-F238E27FC236}">
                <a16:creationId xmlns:a16="http://schemas.microsoft.com/office/drawing/2014/main" id="{7F0049E5-A5A1-4945-891F-A8C8F12A0024}"/>
              </a:ext>
            </a:extLst>
          </p:cNvPr>
          <p:cNvSpPr>
            <a:spLocks noGrp="1"/>
          </p:cNvSpPr>
          <p:nvPr/>
        </p:nvSpPr>
        <p:spPr>
          <a:xfrm>
            <a:off x="5115415"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7F68E63-208C-422D-A0B5-6179738B0C27}"/>
              </a:ext>
            </a:extLst>
          </p:cNvPr>
          <p:cNvSpPr>
            <a:spLocks noGrp="1"/>
          </p:cNvSpPr>
          <p:nvPr/>
        </p:nvSpPr>
        <p:spPr>
          <a:xfrm>
            <a:off x="5261719"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194</a:t>
            </a:r>
          </a:p>
        </p:txBody>
      </p:sp>
      <p:sp>
        <p:nvSpPr>
          <p:cNvPr id="13" name="TextBox 12">
            <a:extLst>
              <a:ext uri="{FF2B5EF4-FFF2-40B4-BE49-F238E27FC236}">
                <a16:creationId xmlns:a16="http://schemas.microsoft.com/office/drawing/2014/main" id="{9859AB75-DB6D-41F0-853B-54347BB96C6E}"/>
              </a:ext>
            </a:extLst>
          </p:cNvPr>
          <p:cNvSpPr>
            <a:spLocks noGrp="1"/>
          </p:cNvSpPr>
          <p:nvPr/>
        </p:nvSpPr>
        <p:spPr>
          <a:xfrm>
            <a:off x="5261719" y="3263537"/>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14" name="Rounded Rectangle 13">
            <a:extLst>
              <a:ext uri="{FF2B5EF4-FFF2-40B4-BE49-F238E27FC236}">
                <a16:creationId xmlns:a16="http://schemas.microsoft.com/office/drawing/2014/main" id="{F00CBE22-A234-44B9-A9F5-3EC4E3F1D58E}"/>
              </a:ext>
            </a:extLst>
          </p:cNvPr>
          <p:cNvSpPr>
            <a:spLocks noGrp="1"/>
          </p:cNvSpPr>
          <p:nvPr/>
        </p:nvSpPr>
        <p:spPr>
          <a:xfrm>
            <a:off x="6697327"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0E06DD3-6407-4A49-BEFA-3682641CBF5C}"/>
              </a:ext>
            </a:extLst>
          </p:cNvPr>
          <p:cNvSpPr>
            <a:spLocks noGrp="1"/>
          </p:cNvSpPr>
          <p:nvPr/>
        </p:nvSpPr>
        <p:spPr>
          <a:xfrm>
            <a:off x="6843631"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6" name="TextBox 15">
            <a:extLst>
              <a:ext uri="{FF2B5EF4-FFF2-40B4-BE49-F238E27FC236}">
                <a16:creationId xmlns:a16="http://schemas.microsoft.com/office/drawing/2014/main" id="{142AF64B-9BFC-4A90-AD8B-D7E163774C97}"/>
              </a:ext>
            </a:extLst>
          </p:cNvPr>
          <p:cNvSpPr>
            <a:spLocks noGrp="1"/>
          </p:cNvSpPr>
          <p:nvPr/>
        </p:nvSpPr>
        <p:spPr>
          <a:xfrm>
            <a:off x="6843631" y="3263537"/>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17" name="Oval 16">
            <a:extLst>
              <a:ext uri="{FF2B5EF4-FFF2-40B4-BE49-F238E27FC236}">
                <a16:creationId xmlns:a16="http://schemas.microsoft.com/office/drawing/2014/main" id="{339ABBE7-E584-44D6-8F8D-E5C2606637D4}"/>
              </a:ext>
            </a:extLst>
          </p:cNvPr>
          <p:cNvSpPr>
            <a:spLocks noGrp="1"/>
          </p:cNvSpPr>
          <p:nvPr/>
        </p:nvSpPr>
        <p:spPr>
          <a:xfrm>
            <a:off x="3542647" y="412156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291635AF-955E-44E9-A5E8-68948BABEAE9}"/>
              </a:ext>
            </a:extLst>
          </p:cNvPr>
          <p:cNvSpPr>
            <a:spLocks noGrp="1"/>
          </p:cNvSpPr>
          <p:nvPr/>
        </p:nvSpPr>
        <p:spPr>
          <a:xfrm>
            <a:off x="3716383" y="4022489"/>
            <a:ext cx="4361688" cy="23237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Builds one query with DEG MT genes for each contrast.</a:t>
            </a:r>
          </a:p>
        </p:txBody>
      </p:sp>
      <p:sp>
        <p:nvSpPr>
          <p:cNvPr id="19" name="Oval 18">
            <a:extLst>
              <a:ext uri="{FF2B5EF4-FFF2-40B4-BE49-F238E27FC236}">
                <a16:creationId xmlns:a16="http://schemas.microsoft.com/office/drawing/2014/main" id="{979C2EA2-60E9-465D-B9F7-5F9C1C7D8CE8}"/>
              </a:ext>
            </a:extLst>
          </p:cNvPr>
          <p:cNvSpPr>
            <a:spLocks noGrp="1"/>
          </p:cNvSpPr>
          <p:nvPr/>
        </p:nvSpPr>
        <p:spPr>
          <a:xfrm>
            <a:off x="3542647" y="456048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69861B28-248C-45E2-BBCA-01BD80FE7D6B}"/>
              </a:ext>
            </a:extLst>
          </p:cNvPr>
          <p:cNvSpPr>
            <a:spLocks noGrp="1"/>
          </p:cNvSpPr>
          <p:nvPr/>
        </p:nvSpPr>
        <p:spPr>
          <a:xfrm>
            <a:off x="3716383" y="4461400"/>
            <a:ext cx="4361688" cy="4053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a:solidFill>
                  <a:srgbClr val="1F2730"/>
                </a:solidFill>
                <a:latin typeface="Arial"/>
                <a:ea typeface="Arial"/>
                <a:cs typeface="Arial"/>
              </a:rPr>
              <a:t>Aggregate genes returned from KDA calls within each category using ACAT</a:t>
            </a:r>
          </a:p>
        </p:txBody>
      </p:sp>
      <p:sp>
        <p:nvSpPr>
          <p:cNvPr id="21" name="Oval 20">
            <a:extLst>
              <a:ext uri="{FF2B5EF4-FFF2-40B4-BE49-F238E27FC236}">
                <a16:creationId xmlns:a16="http://schemas.microsoft.com/office/drawing/2014/main" id="{83E07CEC-DB81-450C-AA53-1C5A7367B796}"/>
              </a:ext>
            </a:extLst>
          </p:cNvPr>
          <p:cNvSpPr>
            <a:spLocks noGrp="1"/>
          </p:cNvSpPr>
          <p:nvPr/>
        </p:nvSpPr>
        <p:spPr>
          <a:xfrm>
            <a:off x="3542647" y="498203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1CAF4877-CC06-4E3F-95B9-FDCE34881447}"/>
              </a:ext>
            </a:extLst>
          </p:cNvPr>
          <p:cNvSpPr>
            <a:spLocks noGrp="1"/>
          </p:cNvSpPr>
          <p:nvPr/>
        </p:nvSpPr>
        <p:spPr>
          <a:xfrm>
            <a:off x="3716383" y="4900313"/>
            <a:ext cx="4361688" cy="4093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Final 381 combinations represent 228 unique genes in 29 categories.</a:t>
            </a:r>
          </a:p>
        </p:txBody>
      </p:sp>
    </p:spTree>
    <p:extLst>
      <p:ext uri="{BB962C8B-B14F-4D97-AF65-F5344CB8AC3E}">
        <p14:creationId xmlns:p14="http://schemas.microsoft.com/office/powerpoint/2010/main" val="21316313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919200-AC9E-432B-826D-4705661A81E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54 fine cell types create 324 planned contrasts</a:t>
            </a:r>
          </a:p>
        </p:txBody>
      </p:sp>
      <p:sp>
        <p:nvSpPr>
          <p:cNvPr id="4" name="TextBox 3">
            <a:extLst>
              <a:ext uri="{FF2B5EF4-FFF2-40B4-BE49-F238E27FC236}">
                <a16:creationId xmlns:a16="http://schemas.microsoft.com/office/drawing/2014/main" id="{E799108D-CE17-4E26-8790-18B878427A34}"/>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one MitoCarta MT DEG query and at most one KDA call.</a:t>
            </a:r>
          </a:p>
        </p:txBody>
      </p:sp>
      <p:sp>
        <p:nvSpPr>
          <p:cNvPr id="5" name="Rounded Rectangle 4">
            <a:extLst>
              <a:ext uri="{FF2B5EF4-FFF2-40B4-BE49-F238E27FC236}">
                <a16:creationId xmlns:a16="http://schemas.microsoft.com/office/drawing/2014/main" id="{D4570BFE-168B-48A1-8D2B-09179C0DF271}"/>
              </a:ext>
            </a:extLst>
          </p:cNvPr>
          <p:cNvSpPr>
            <a:spLocks noGrp="1"/>
          </p:cNvSpPr>
          <p:nvPr/>
        </p:nvSpPr>
        <p:spPr>
          <a:xfrm>
            <a:off x="621792" y="1344168"/>
            <a:ext cx="3346704" cy="1207008"/>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2F1CF8F7-FE27-4A3E-AC96-ED76BDE146F9}"/>
              </a:ext>
            </a:extLst>
          </p:cNvPr>
          <p:cNvSpPr>
            <a:spLocks noGrp="1"/>
          </p:cNvSpPr>
          <p:nvPr/>
        </p:nvSpPr>
        <p:spPr>
          <a:xfrm>
            <a:off x="841248" y="1591056"/>
            <a:ext cx="2907792"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54 fine cell types</a:t>
            </a:r>
          </a:p>
        </p:txBody>
      </p:sp>
      <p:sp>
        <p:nvSpPr>
          <p:cNvPr id="7" name="TextBox 6">
            <a:extLst>
              <a:ext uri="{FF2B5EF4-FFF2-40B4-BE49-F238E27FC236}">
                <a16:creationId xmlns:a16="http://schemas.microsoft.com/office/drawing/2014/main" id="{5078B9DE-FA37-427E-9361-5C7DD6305FA4}"/>
              </a:ext>
            </a:extLst>
          </p:cNvPr>
          <p:cNvSpPr>
            <a:spLocks noGrp="1"/>
          </p:cNvSpPr>
          <p:nvPr/>
        </p:nvSpPr>
        <p:spPr>
          <a:xfrm>
            <a:off x="841248" y="1993392"/>
            <a:ext cx="2907792" cy="246221"/>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 6 sex/APOE groups = 324 contrasts</a:t>
            </a:r>
          </a:p>
        </p:txBody>
      </p:sp>
      <p:sp>
        <p:nvSpPr>
          <p:cNvPr id="8" name="Rounded Rectangle 7">
            <a:extLst>
              <a:ext uri="{FF2B5EF4-FFF2-40B4-BE49-F238E27FC236}">
                <a16:creationId xmlns:a16="http://schemas.microsoft.com/office/drawing/2014/main" id="{BEE0BFF6-A4AB-4AFC-835E-2D7B3A50E865}"/>
              </a:ext>
            </a:extLst>
          </p:cNvPr>
          <p:cNvSpPr>
            <a:spLocks noGrp="1"/>
          </p:cNvSpPr>
          <p:nvPr/>
        </p:nvSpPr>
        <p:spPr>
          <a:xfrm>
            <a:off x="4315968" y="1344168"/>
            <a:ext cx="3529584" cy="1207008"/>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7CE176B-D535-4DB8-9796-B825E7E478DF}"/>
              </a:ext>
            </a:extLst>
          </p:cNvPr>
          <p:cNvSpPr>
            <a:spLocks noGrp="1"/>
          </p:cNvSpPr>
          <p:nvPr/>
        </p:nvSpPr>
        <p:spPr>
          <a:xfrm>
            <a:off x="4535424" y="1591056"/>
            <a:ext cx="3090672"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324 DEG contrasts</a:t>
            </a:r>
          </a:p>
        </p:txBody>
      </p:sp>
      <p:sp>
        <p:nvSpPr>
          <p:cNvPr id="10" name="TextBox 9">
            <a:extLst>
              <a:ext uri="{FF2B5EF4-FFF2-40B4-BE49-F238E27FC236}">
                <a16:creationId xmlns:a16="http://schemas.microsoft.com/office/drawing/2014/main" id="{F9808C7C-B4BA-4C0F-9B71-F4DFB09D01AF}"/>
              </a:ext>
            </a:extLst>
          </p:cNvPr>
          <p:cNvSpPr>
            <a:spLocks noGrp="1"/>
          </p:cNvSpPr>
          <p:nvPr/>
        </p:nvSpPr>
        <p:spPr>
          <a:xfrm>
            <a:off x="4535424" y="1993392"/>
            <a:ext cx="30906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one query per contrast</a:t>
            </a:r>
          </a:p>
        </p:txBody>
      </p:sp>
      <p:sp>
        <p:nvSpPr>
          <p:cNvPr id="11" name="Rounded Rectangle 10">
            <a:extLst>
              <a:ext uri="{FF2B5EF4-FFF2-40B4-BE49-F238E27FC236}">
                <a16:creationId xmlns:a16="http://schemas.microsoft.com/office/drawing/2014/main" id="{0FFBF54A-AEB3-416E-8B74-08B60A90324A}"/>
              </a:ext>
            </a:extLst>
          </p:cNvPr>
          <p:cNvSpPr>
            <a:spLocks noGrp="1"/>
          </p:cNvSpPr>
          <p:nvPr/>
        </p:nvSpPr>
        <p:spPr>
          <a:xfrm>
            <a:off x="8193024" y="1344168"/>
            <a:ext cx="3364992" cy="120700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2D4ADF4-17FC-4F7E-BAFD-E7A0341DE829}"/>
              </a:ext>
            </a:extLst>
          </p:cNvPr>
          <p:cNvSpPr>
            <a:spLocks noGrp="1"/>
          </p:cNvSpPr>
          <p:nvPr/>
        </p:nvSpPr>
        <p:spPr>
          <a:xfrm>
            <a:off x="8310880" y="1591056"/>
            <a:ext cx="3145536"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194 KDA calls</a:t>
            </a:r>
          </a:p>
        </p:txBody>
      </p:sp>
      <p:sp>
        <p:nvSpPr>
          <p:cNvPr id="13" name="TextBox 12">
            <a:extLst>
              <a:ext uri="{FF2B5EF4-FFF2-40B4-BE49-F238E27FC236}">
                <a16:creationId xmlns:a16="http://schemas.microsoft.com/office/drawing/2014/main" id="{4F912C2A-B3B5-4610-AC2F-804BACAD6DF9}"/>
              </a:ext>
            </a:extLst>
          </p:cNvPr>
          <p:cNvSpPr>
            <a:spLocks noGrp="1"/>
          </p:cNvSpPr>
          <p:nvPr/>
        </p:nvSpPr>
        <p:spPr>
          <a:xfrm>
            <a:off x="8412480" y="1993392"/>
            <a:ext cx="2926080" cy="375487"/>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009E73"/>
                </a:solidFill>
                <a:latin typeface="Arial"/>
                <a:ea typeface="Arial"/>
                <a:cs typeface="Arial"/>
              </a:rPr>
              <a:t>All valid DEG contrast and number of genes in queries ≥3</a:t>
            </a:r>
          </a:p>
        </p:txBody>
      </p:sp>
      <p:sp>
        <p:nvSpPr>
          <p:cNvPr id="14" name="Rectangle 13">
            <a:extLst>
              <a:ext uri="{FF2B5EF4-FFF2-40B4-BE49-F238E27FC236}">
                <a16:creationId xmlns:a16="http://schemas.microsoft.com/office/drawing/2014/main" id="{C7830466-3CB6-4F40-8141-C2D2D4C39423}"/>
              </a:ext>
            </a:extLst>
          </p:cNvPr>
          <p:cNvSpPr>
            <a:spLocks noGrp="1"/>
          </p:cNvSpPr>
          <p:nvPr/>
        </p:nvSpPr>
        <p:spPr>
          <a:xfrm>
            <a:off x="1840696" y="2898648"/>
            <a:ext cx="5623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9C4B8D4-4EB0-4607-A86A-56D8B2EAA411}"/>
              </a:ext>
            </a:extLst>
          </p:cNvPr>
          <p:cNvSpPr>
            <a:spLocks noGrp="1"/>
          </p:cNvSpPr>
          <p:nvPr/>
        </p:nvSpPr>
        <p:spPr>
          <a:xfrm>
            <a:off x="1895560" y="2953512"/>
            <a:ext cx="551383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Mutually exclusive contrast outcome</a:t>
            </a:r>
          </a:p>
        </p:txBody>
      </p:sp>
      <p:sp>
        <p:nvSpPr>
          <p:cNvPr id="16" name="Rectangle 15">
            <a:extLst>
              <a:ext uri="{FF2B5EF4-FFF2-40B4-BE49-F238E27FC236}">
                <a16:creationId xmlns:a16="http://schemas.microsoft.com/office/drawing/2014/main" id="{5BEB0C3C-1A6C-4075-8B14-23F615D5F23F}"/>
              </a:ext>
            </a:extLst>
          </p:cNvPr>
          <p:cNvSpPr>
            <a:spLocks noGrp="1"/>
          </p:cNvSpPr>
          <p:nvPr/>
        </p:nvSpPr>
        <p:spPr>
          <a:xfrm>
            <a:off x="7464256" y="2898648"/>
            <a:ext cx="10972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6176161-58EB-4AC1-ABDA-F959ADE88043}"/>
              </a:ext>
            </a:extLst>
          </p:cNvPr>
          <p:cNvSpPr>
            <a:spLocks noGrp="1"/>
          </p:cNvSpPr>
          <p:nvPr/>
        </p:nvSpPr>
        <p:spPr>
          <a:xfrm>
            <a:off x="7519120" y="2953512"/>
            <a:ext cx="9875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Contrasts</a:t>
            </a:r>
          </a:p>
        </p:txBody>
      </p:sp>
      <p:sp>
        <p:nvSpPr>
          <p:cNvPr id="18" name="Rectangle 17">
            <a:extLst>
              <a:ext uri="{FF2B5EF4-FFF2-40B4-BE49-F238E27FC236}">
                <a16:creationId xmlns:a16="http://schemas.microsoft.com/office/drawing/2014/main" id="{0A8DA921-F671-4828-B56A-12943D06FBB1}"/>
              </a:ext>
            </a:extLst>
          </p:cNvPr>
          <p:cNvSpPr>
            <a:spLocks noGrp="1"/>
          </p:cNvSpPr>
          <p:nvPr/>
        </p:nvSpPr>
        <p:spPr>
          <a:xfrm>
            <a:off x="8561536" y="2898648"/>
            <a:ext cx="1874519"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4658F41-AE85-470A-8714-16469112AF56}"/>
              </a:ext>
            </a:extLst>
          </p:cNvPr>
          <p:cNvSpPr>
            <a:spLocks noGrp="1"/>
          </p:cNvSpPr>
          <p:nvPr/>
        </p:nvSpPr>
        <p:spPr>
          <a:xfrm>
            <a:off x="8616400" y="2953512"/>
            <a:ext cx="17647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KDA call made?</a:t>
            </a:r>
          </a:p>
        </p:txBody>
      </p:sp>
      <p:sp>
        <p:nvSpPr>
          <p:cNvPr id="22" name="Rectangle 21">
            <a:extLst>
              <a:ext uri="{FF2B5EF4-FFF2-40B4-BE49-F238E27FC236}">
                <a16:creationId xmlns:a16="http://schemas.microsoft.com/office/drawing/2014/main" id="{3B1CFD8E-95BE-4FBB-987C-ACE7EC2E6B6E}"/>
              </a:ext>
            </a:extLst>
          </p:cNvPr>
          <p:cNvSpPr>
            <a:spLocks noGrp="1"/>
          </p:cNvSpPr>
          <p:nvPr/>
        </p:nvSpPr>
        <p:spPr>
          <a:xfrm>
            <a:off x="1840696" y="3328415"/>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CF9AFC4C-5427-43C5-939B-8E4FAF9944F2}"/>
              </a:ext>
            </a:extLst>
          </p:cNvPr>
          <p:cNvSpPr>
            <a:spLocks noGrp="1"/>
          </p:cNvSpPr>
          <p:nvPr/>
        </p:nvSpPr>
        <p:spPr>
          <a:xfrm>
            <a:off x="1895560" y="3460790"/>
            <a:ext cx="551383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Source DEG contrast not valid</a:t>
            </a:r>
          </a:p>
        </p:txBody>
      </p:sp>
      <p:sp>
        <p:nvSpPr>
          <p:cNvPr id="24" name="Rectangle 23">
            <a:extLst>
              <a:ext uri="{FF2B5EF4-FFF2-40B4-BE49-F238E27FC236}">
                <a16:creationId xmlns:a16="http://schemas.microsoft.com/office/drawing/2014/main" id="{15D7B162-1EA6-474F-BC3E-74248A659E00}"/>
              </a:ext>
            </a:extLst>
          </p:cNvPr>
          <p:cNvSpPr>
            <a:spLocks noGrp="1"/>
          </p:cNvSpPr>
          <p:nvPr/>
        </p:nvSpPr>
        <p:spPr>
          <a:xfrm>
            <a:off x="7464256" y="3328415"/>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D309079-6F7E-49D0-B45F-DACFA33A3B8D}"/>
              </a:ext>
            </a:extLst>
          </p:cNvPr>
          <p:cNvSpPr>
            <a:spLocks noGrp="1"/>
          </p:cNvSpPr>
          <p:nvPr/>
        </p:nvSpPr>
        <p:spPr>
          <a:xfrm>
            <a:off x="7519120" y="3374135"/>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E8B3A0BF-B854-44C8-8072-5460012D169E}"/>
              </a:ext>
            </a:extLst>
          </p:cNvPr>
          <p:cNvSpPr>
            <a:spLocks noGrp="1"/>
          </p:cNvSpPr>
          <p:nvPr/>
        </p:nvSpPr>
        <p:spPr>
          <a:xfrm>
            <a:off x="8561536" y="3328415"/>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52F1BD26-81DA-4CA3-9648-69C83178385A}"/>
              </a:ext>
            </a:extLst>
          </p:cNvPr>
          <p:cNvSpPr>
            <a:spLocks noGrp="1"/>
          </p:cNvSpPr>
          <p:nvPr/>
        </p:nvSpPr>
        <p:spPr>
          <a:xfrm>
            <a:off x="8616400" y="3374135"/>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0" name="Rectangle 29">
            <a:extLst>
              <a:ext uri="{FF2B5EF4-FFF2-40B4-BE49-F238E27FC236}">
                <a16:creationId xmlns:a16="http://schemas.microsoft.com/office/drawing/2014/main" id="{835D28EB-C5ED-43AA-A4C4-B4615A95964E}"/>
              </a:ext>
            </a:extLst>
          </p:cNvPr>
          <p:cNvSpPr>
            <a:spLocks noGrp="1"/>
          </p:cNvSpPr>
          <p:nvPr/>
        </p:nvSpPr>
        <p:spPr>
          <a:xfrm>
            <a:off x="1840696" y="3776472"/>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25F22931-D29F-4703-92C2-B4265EC63138}"/>
              </a:ext>
            </a:extLst>
          </p:cNvPr>
          <p:cNvSpPr>
            <a:spLocks noGrp="1"/>
          </p:cNvSpPr>
          <p:nvPr/>
        </p:nvSpPr>
        <p:spPr>
          <a:xfrm>
            <a:off x="1895560" y="3908846"/>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0</a:t>
            </a:r>
            <a:endParaRPr sz="950" b="0" i="0">
              <a:solidFill>
                <a:srgbClr val="1F2730"/>
              </a:solidFill>
              <a:latin typeface="Arial"/>
              <a:ea typeface="Arial"/>
              <a:cs typeface="Arial"/>
            </a:endParaRPr>
          </a:p>
        </p:txBody>
      </p:sp>
      <p:sp>
        <p:nvSpPr>
          <p:cNvPr id="32" name="Rectangle 31">
            <a:extLst>
              <a:ext uri="{FF2B5EF4-FFF2-40B4-BE49-F238E27FC236}">
                <a16:creationId xmlns:a16="http://schemas.microsoft.com/office/drawing/2014/main" id="{65B15CB0-A324-4490-ABBE-EA981FFFDC2D}"/>
              </a:ext>
            </a:extLst>
          </p:cNvPr>
          <p:cNvSpPr>
            <a:spLocks noGrp="1"/>
          </p:cNvSpPr>
          <p:nvPr/>
        </p:nvSpPr>
        <p:spPr>
          <a:xfrm>
            <a:off x="7464256" y="3776472"/>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F2DA721B-6205-42E7-8624-021A6BEE45C7}"/>
              </a:ext>
            </a:extLst>
          </p:cNvPr>
          <p:cNvSpPr>
            <a:spLocks noGrp="1"/>
          </p:cNvSpPr>
          <p:nvPr/>
        </p:nvSpPr>
        <p:spPr>
          <a:xfrm>
            <a:off x="7519120" y="3822191"/>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95</a:t>
            </a:r>
          </a:p>
        </p:txBody>
      </p:sp>
      <p:sp>
        <p:nvSpPr>
          <p:cNvPr id="34" name="Rectangle 33">
            <a:extLst>
              <a:ext uri="{FF2B5EF4-FFF2-40B4-BE49-F238E27FC236}">
                <a16:creationId xmlns:a16="http://schemas.microsoft.com/office/drawing/2014/main" id="{69B0A2F4-62B9-4BC5-ADD1-6869FBEACD94}"/>
              </a:ext>
            </a:extLst>
          </p:cNvPr>
          <p:cNvSpPr>
            <a:spLocks noGrp="1"/>
          </p:cNvSpPr>
          <p:nvPr/>
        </p:nvSpPr>
        <p:spPr>
          <a:xfrm>
            <a:off x="8561536" y="3776472"/>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6253741D-16CE-4801-9A63-2B08A57E1EFE}"/>
              </a:ext>
            </a:extLst>
          </p:cNvPr>
          <p:cNvSpPr>
            <a:spLocks noGrp="1"/>
          </p:cNvSpPr>
          <p:nvPr/>
        </p:nvSpPr>
        <p:spPr>
          <a:xfrm>
            <a:off x="8616400" y="3822191"/>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8" name="Rectangle 37">
            <a:extLst>
              <a:ext uri="{FF2B5EF4-FFF2-40B4-BE49-F238E27FC236}">
                <a16:creationId xmlns:a16="http://schemas.microsoft.com/office/drawing/2014/main" id="{A09CF610-E418-4987-ADF1-20C8F95B8ED7}"/>
              </a:ext>
            </a:extLst>
          </p:cNvPr>
          <p:cNvSpPr>
            <a:spLocks noGrp="1"/>
          </p:cNvSpPr>
          <p:nvPr/>
        </p:nvSpPr>
        <p:spPr>
          <a:xfrm>
            <a:off x="1840696" y="4224527"/>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E0B1B61-3C01-41CC-B807-A377B95A85D7}"/>
              </a:ext>
            </a:extLst>
          </p:cNvPr>
          <p:cNvSpPr>
            <a:spLocks noGrp="1"/>
          </p:cNvSpPr>
          <p:nvPr/>
        </p:nvSpPr>
        <p:spPr>
          <a:xfrm>
            <a:off x="1895560" y="4356132"/>
            <a:ext cx="5513832" cy="203133"/>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b="0" i="0">
                <a:solidFill>
                  <a:srgbClr val="1F2730"/>
                </a:solidFill>
                <a:latin typeface="Arial"/>
                <a:ea typeface="Arial"/>
                <a:cs typeface="Arial"/>
              </a:rPr>
              <a:t>1–2</a:t>
            </a:r>
          </a:p>
        </p:txBody>
      </p:sp>
      <p:sp>
        <p:nvSpPr>
          <p:cNvPr id="40" name="Rectangle 39">
            <a:extLst>
              <a:ext uri="{FF2B5EF4-FFF2-40B4-BE49-F238E27FC236}">
                <a16:creationId xmlns:a16="http://schemas.microsoft.com/office/drawing/2014/main" id="{DB42E127-BC1D-4E6D-8837-BD21F2534455}"/>
              </a:ext>
            </a:extLst>
          </p:cNvPr>
          <p:cNvSpPr>
            <a:spLocks noGrp="1"/>
          </p:cNvSpPr>
          <p:nvPr/>
        </p:nvSpPr>
        <p:spPr>
          <a:xfrm>
            <a:off x="7464256" y="4224527"/>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532D6E6D-3851-4729-AF80-81DB087CD678}"/>
              </a:ext>
            </a:extLst>
          </p:cNvPr>
          <p:cNvSpPr>
            <a:spLocks noGrp="1"/>
          </p:cNvSpPr>
          <p:nvPr/>
        </p:nvSpPr>
        <p:spPr>
          <a:xfrm>
            <a:off x="7519120" y="4270247"/>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32</a:t>
            </a:r>
          </a:p>
        </p:txBody>
      </p:sp>
      <p:sp>
        <p:nvSpPr>
          <p:cNvPr id="42" name="Rectangle 41">
            <a:extLst>
              <a:ext uri="{FF2B5EF4-FFF2-40B4-BE49-F238E27FC236}">
                <a16:creationId xmlns:a16="http://schemas.microsoft.com/office/drawing/2014/main" id="{26BCA652-FACA-46DD-A87D-8FB0F4CF3F0C}"/>
              </a:ext>
            </a:extLst>
          </p:cNvPr>
          <p:cNvSpPr>
            <a:spLocks noGrp="1"/>
          </p:cNvSpPr>
          <p:nvPr/>
        </p:nvSpPr>
        <p:spPr>
          <a:xfrm>
            <a:off x="8561536" y="4224527"/>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A1E62925-63B8-478F-BADE-3EE2BEEF64D1}"/>
              </a:ext>
            </a:extLst>
          </p:cNvPr>
          <p:cNvSpPr>
            <a:spLocks noGrp="1"/>
          </p:cNvSpPr>
          <p:nvPr/>
        </p:nvSpPr>
        <p:spPr>
          <a:xfrm>
            <a:off x="8616400" y="4270247"/>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46" name="Rectangle 45">
            <a:extLst>
              <a:ext uri="{FF2B5EF4-FFF2-40B4-BE49-F238E27FC236}">
                <a16:creationId xmlns:a16="http://schemas.microsoft.com/office/drawing/2014/main" id="{946D51ED-B773-4A59-A563-E5995A9F7C4C}"/>
              </a:ext>
            </a:extLst>
          </p:cNvPr>
          <p:cNvSpPr>
            <a:spLocks noGrp="1"/>
          </p:cNvSpPr>
          <p:nvPr/>
        </p:nvSpPr>
        <p:spPr>
          <a:xfrm>
            <a:off x="1840696" y="4672583"/>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4C271131-778E-4071-BE35-F3C0C6EBD5D5}"/>
              </a:ext>
            </a:extLst>
          </p:cNvPr>
          <p:cNvSpPr>
            <a:spLocks noGrp="1"/>
          </p:cNvSpPr>
          <p:nvPr/>
        </p:nvSpPr>
        <p:spPr>
          <a:xfrm>
            <a:off x="1895560" y="4804958"/>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a:solidFill>
                  <a:srgbClr val="1F2730"/>
                </a:solidFill>
                <a:latin typeface="Arial"/>
                <a:ea typeface="Arial"/>
                <a:cs typeface="Arial"/>
              </a:rPr>
              <a:t>&gt;=3</a:t>
            </a:r>
            <a:endParaRPr sz="950" b="0" i="0">
              <a:solidFill>
                <a:srgbClr val="1F2730"/>
              </a:solidFill>
              <a:latin typeface="Arial"/>
              <a:ea typeface="Arial"/>
              <a:cs typeface="Arial"/>
            </a:endParaRPr>
          </a:p>
        </p:txBody>
      </p:sp>
      <p:sp>
        <p:nvSpPr>
          <p:cNvPr id="48" name="Rectangle 47">
            <a:extLst>
              <a:ext uri="{FF2B5EF4-FFF2-40B4-BE49-F238E27FC236}">
                <a16:creationId xmlns:a16="http://schemas.microsoft.com/office/drawing/2014/main" id="{F66F6FEE-61DB-4D88-9D28-388732A5C411}"/>
              </a:ext>
            </a:extLst>
          </p:cNvPr>
          <p:cNvSpPr>
            <a:spLocks noGrp="1"/>
          </p:cNvSpPr>
          <p:nvPr/>
        </p:nvSpPr>
        <p:spPr>
          <a:xfrm>
            <a:off x="7464256" y="4672583"/>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058FE669-B813-4CD1-AFD9-6A4EE5504BF3}"/>
              </a:ext>
            </a:extLst>
          </p:cNvPr>
          <p:cNvSpPr>
            <a:spLocks noGrp="1"/>
          </p:cNvSpPr>
          <p:nvPr/>
        </p:nvSpPr>
        <p:spPr>
          <a:xfrm>
            <a:off x="7519120" y="4804958"/>
            <a:ext cx="98755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194</a:t>
            </a:r>
          </a:p>
        </p:txBody>
      </p:sp>
      <p:sp>
        <p:nvSpPr>
          <p:cNvPr id="50" name="Rectangle 49">
            <a:extLst>
              <a:ext uri="{FF2B5EF4-FFF2-40B4-BE49-F238E27FC236}">
                <a16:creationId xmlns:a16="http://schemas.microsoft.com/office/drawing/2014/main" id="{A77F395D-C843-4144-BECA-554D9E093459}"/>
              </a:ext>
            </a:extLst>
          </p:cNvPr>
          <p:cNvSpPr>
            <a:spLocks noGrp="1"/>
          </p:cNvSpPr>
          <p:nvPr/>
        </p:nvSpPr>
        <p:spPr>
          <a:xfrm>
            <a:off x="8561536" y="4672583"/>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E0378C35-7078-4616-B124-6AB9128C801C}"/>
              </a:ext>
            </a:extLst>
          </p:cNvPr>
          <p:cNvSpPr>
            <a:spLocks noGrp="1"/>
          </p:cNvSpPr>
          <p:nvPr/>
        </p:nvSpPr>
        <p:spPr>
          <a:xfrm>
            <a:off x="8616400" y="4718303"/>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Yes</a:t>
            </a:r>
          </a:p>
        </p:txBody>
      </p:sp>
      <p:sp>
        <p:nvSpPr>
          <p:cNvPr id="62" name="Rectangle 61">
            <a:extLst>
              <a:ext uri="{FF2B5EF4-FFF2-40B4-BE49-F238E27FC236}">
                <a16:creationId xmlns:a16="http://schemas.microsoft.com/office/drawing/2014/main" id="{2E95D688-F803-4F47-9B15-661C835F8AC3}"/>
              </a:ext>
            </a:extLst>
          </p:cNvPr>
          <p:cNvSpPr>
            <a:spLocks noGrp="1"/>
          </p:cNvSpPr>
          <p:nvPr/>
        </p:nvSpPr>
        <p:spPr>
          <a:xfrm>
            <a:off x="1840696" y="5128754"/>
            <a:ext cx="562356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3" name="TextBox 62">
            <a:extLst>
              <a:ext uri="{FF2B5EF4-FFF2-40B4-BE49-F238E27FC236}">
                <a16:creationId xmlns:a16="http://schemas.microsoft.com/office/drawing/2014/main" id="{7CCF1CAD-EE89-43AE-BA0A-8F81BFB13332}"/>
              </a:ext>
            </a:extLst>
          </p:cNvPr>
          <p:cNvSpPr>
            <a:spLocks noGrp="1"/>
          </p:cNvSpPr>
          <p:nvPr/>
        </p:nvSpPr>
        <p:spPr>
          <a:xfrm>
            <a:off x="1895560" y="5174474"/>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TOTAL</a:t>
            </a:r>
          </a:p>
        </p:txBody>
      </p:sp>
      <p:sp>
        <p:nvSpPr>
          <p:cNvPr id="64" name="Rectangle 63">
            <a:extLst>
              <a:ext uri="{FF2B5EF4-FFF2-40B4-BE49-F238E27FC236}">
                <a16:creationId xmlns:a16="http://schemas.microsoft.com/office/drawing/2014/main" id="{D4E5FF6D-041D-48B3-A534-553122085191}"/>
              </a:ext>
            </a:extLst>
          </p:cNvPr>
          <p:cNvSpPr>
            <a:spLocks noGrp="1"/>
          </p:cNvSpPr>
          <p:nvPr/>
        </p:nvSpPr>
        <p:spPr>
          <a:xfrm>
            <a:off x="7464256" y="5128754"/>
            <a:ext cx="109728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88968CAA-2223-4B19-B8BB-68DFF1C662E7}"/>
              </a:ext>
            </a:extLst>
          </p:cNvPr>
          <p:cNvSpPr>
            <a:spLocks noGrp="1"/>
          </p:cNvSpPr>
          <p:nvPr/>
        </p:nvSpPr>
        <p:spPr>
          <a:xfrm>
            <a:off x="7519120" y="5174474"/>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324</a:t>
            </a:r>
          </a:p>
        </p:txBody>
      </p:sp>
      <p:sp>
        <p:nvSpPr>
          <p:cNvPr id="66" name="Rectangle 65">
            <a:extLst>
              <a:ext uri="{FF2B5EF4-FFF2-40B4-BE49-F238E27FC236}">
                <a16:creationId xmlns:a16="http://schemas.microsoft.com/office/drawing/2014/main" id="{82A2FD34-1E61-44FB-AD23-F8CF957EF011}"/>
              </a:ext>
            </a:extLst>
          </p:cNvPr>
          <p:cNvSpPr>
            <a:spLocks noGrp="1"/>
          </p:cNvSpPr>
          <p:nvPr/>
        </p:nvSpPr>
        <p:spPr>
          <a:xfrm>
            <a:off x="8561536" y="5128754"/>
            <a:ext cx="1874519"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7" name="TextBox 66">
            <a:extLst>
              <a:ext uri="{FF2B5EF4-FFF2-40B4-BE49-F238E27FC236}">
                <a16:creationId xmlns:a16="http://schemas.microsoft.com/office/drawing/2014/main" id="{010C3224-E842-4D81-8131-6FCF88F9E722}"/>
              </a:ext>
            </a:extLst>
          </p:cNvPr>
          <p:cNvSpPr>
            <a:spLocks noGrp="1"/>
          </p:cNvSpPr>
          <p:nvPr/>
        </p:nvSpPr>
        <p:spPr>
          <a:xfrm>
            <a:off x="8616400" y="5174474"/>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194 KDA calls</a:t>
            </a:r>
          </a:p>
        </p:txBody>
      </p:sp>
    </p:spTree>
    <p:extLst>
      <p:ext uri="{BB962C8B-B14F-4D97-AF65-F5344CB8AC3E}">
        <p14:creationId xmlns:p14="http://schemas.microsoft.com/office/powerpoint/2010/main" val="9708499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FFD812-B704-40B9-875C-AE2409EDCD4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Source validity and query size decide whether a KDA call is made</a:t>
            </a:r>
          </a:p>
        </p:txBody>
      </p:sp>
      <p:sp>
        <p:nvSpPr>
          <p:cNvPr id="5" name="Rounded Rectangle 4">
            <a:extLst>
              <a:ext uri="{FF2B5EF4-FFF2-40B4-BE49-F238E27FC236}">
                <a16:creationId xmlns:a16="http://schemas.microsoft.com/office/drawing/2014/main" id="{6A4C48F9-8630-4221-B343-DCC27E4D63B8}"/>
              </a:ext>
            </a:extLst>
          </p:cNvPr>
          <p:cNvSpPr>
            <a:spLocks noGrp="1"/>
          </p:cNvSpPr>
          <p:nvPr/>
        </p:nvSpPr>
        <p:spPr>
          <a:xfrm>
            <a:off x="603504" y="1344168"/>
            <a:ext cx="4663440" cy="44805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EA7129F0-43AE-494F-BC7A-EB9E0E9C5E7F}"/>
              </a:ext>
            </a:extLst>
          </p:cNvPr>
          <p:cNvSpPr>
            <a:spLocks noGrp="1"/>
          </p:cNvSpPr>
          <p:nvPr/>
        </p:nvSpPr>
        <p:spPr>
          <a:xfrm>
            <a:off x="868680" y="164592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6BBEA52-DBDE-4F3F-8340-7D32A98DC683}"/>
              </a:ext>
            </a:extLst>
          </p:cNvPr>
          <p:cNvSpPr>
            <a:spLocks noGrp="1"/>
          </p:cNvSpPr>
          <p:nvPr/>
        </p:nvSpPr>
        <p:spPr>
          <a:xfrm>
            <a:off x="1014983" y="1618488"/>
            <a:ext cx="395020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canonical query-size gate</a:t>
            </a:r>
          </a:p>
        </p:txBody>
      </p:sp>
      <p:sp>
        <p:nvSpPr>
          <p:cNvPr id="8" name="Rounded Rectangle 7">
            <a:extLst>
              <a:ext uri="{FF2B5EF4-FFF2-40B4-BE49-F238E27FC236}">
                <a16:creationId xmlns:a16="http://schemas.microsoft.com/office/drawing/2014/main" id="{94EB16BC-E4F1-4108-A86F-267BC5C551AD}"/>
              </a:ext>
            </a:extLst>
          </p:cNvPr>
          <p:cNvSpPr>
            <a:spLocks noGrp="1"/>
          </p:cNvSpPr>
          <p:nvPr/>
        </p:nvSpPr>
        <p:spPr>
          <a:xfrm>
            <a:off x="868680" y="2112264"/>
            <a:ext cx="1847088" cy="1024128"/>
          </a:xfrm>
          <a:prstGeom prst="roundRect">
            <a:avLst/>
          </a:prstGeom>
          <a:solidFill>
            <a:srgbClr val="E4F0F8"/>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BFF435-EA7F-4E02-B514-49B4F6E85805}"/>
              </a:ext>
            </a:extLst>
          </p:cNvPr>
          <p:cNvSpPr>
            <a:spLocks noGrp="1"/>
          </p:cNvSpPr>
          <p:nvPr/>
        </p:nvSpPr>
        <p:spPr>
          <a:xfrm>
            <a:off x="1014983" y="2203704"/>
            <a:ext cx="155448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a:t>
            </a:r>
          </a:p>
        </p:txBody>
      </p:sp>
      <p:sp>
        <p:nvSpPr>
          <p:cNvPr id="11" name="Rounded Rectangle 10">
            <a:extLst>
              <a:ext uri="{FF2B5EF4-FFF2-40B4-BE49-F238E27FC236}">
                <a16:creationId xmlns:a16="http://schemas.microsoft.com/office/drawing/2014/main" id="{F1F779AE-11F4-47BB-A762-0C85248FEA1D}"/>
              </a:ext>
            </a:extLst>
          </p:cNvPr>
          <p:cNvSpPr>
            <a:spLocks noGrp="1"/>
          </p:cNvSpPr>
          <p:nvPr/>
        </p:nvSpPr>
        <p:spPr>
          <a:xfrm>
            <a:off x="2926080" y="2112264"/>
            <a:ext cx="1847088" cy="1024128"/>
          </a:xfrm>
          <a:prstGeom prst="roundRect">
            <a:avLst/>
          </a:prstGeom>
          <a:solidFill>
            <a:srgbClr val="E4F4EE"/>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1758C03-E750-4979-9F7F-FAA6429A1A3F}"/>
              </a:ext>
            </a:extLst>
          </p:cNvPr>
          <p:cNvSpPr>
            <a:spLocks noGrp="1"/>
          </p:cNvSpPr>
          <p:nvPr/>
        </p:nvSpPr>
        <p:spPr>
          <a:xfrm>
            <a:off x="3072384" y="2203704"/>
            <a:ext cx="1554480" cy="4401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194</a:t>
            </a:r>
          </a:p>
        </p:txBody>
      </p:sp>
      <p:sp>
        <p:nvSpPr>
          <p:cNvPr id="13" name="TextBox 12">
            <a:extLst>
              <a:ext uri="{FF2B5EF4-FFF2-40B4-BE49-F238E27FC236}">
                <a16:creationId xmlns:a16="http://schemas.microsoft.com/office/drawing/2014/main" id="{5AEC8C97-5663-4403-A365-080CCAFA7518}"/>
              </a:ext>
            </a:extLst>
          </p:cNvPr>
          <p:cNvSpPr>
            <a:spLocks noGrp="1"/>
          </p:cNvSpPr>
          <p:nvPr/>
        </p:nvSpPr>
        <p:spPr>
          <a:xfrm>
            <a:off x="3072384" y="2660904"/>
            <a:ext cx="1554480" cy="3262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included KDA calls</a:t>
            </a:r>
          </a:p>
        </p:txBody>
      </p:sp>
      <p:sp>
        <p:nvSpPr>
          <p:cNvPr id="14" name="Oval 13">
            <a:extLst>
              <a:ext uri="{FF2B5EF4-FFF2-40B4-BE49-F238E27FC236}">
                <a16:creationId xmlns:a16="http://schemas.microsoft.com/office/drawing/2014/main" id="{10BAEFA5-98B8-4FD8-A11C-0E387F6B85F4}"/>
              </a:ext>
            </a:extLst>
          </p:cNvPr>
          <p:cNvSpPr>
            <a:spLocks noGrp="1"/>
          </p:cNvSpPr>
          <p:nvPr/>
        </p:nvSpPr>
        <p:spPr>
          <a:xfrm>
            <a:off x="877824" y="362102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690BED9-450F-4977-B163-55149B093DDA}"/>
              </a:ext>
            </a:extLst>
          </p:cNvPr>
          <p:cNvSpPr>
            <a:spLocks noGrp="1"/>
          </p:cNvSpPr>
          <p:nvPr/>
        </p:nvSpPr>
        <p:spPr>
          <a:xfrm>
            <a:off x="1051560" y="3493008"/>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All 194 validated completed KDA calls enter the aggregate.</a:t>
            </a:r>
          </a:p>
        </p:txBody>
      </p:sp>
      <p:sp>
        <p:nvSpPr>
          <p:cNvPr id="16" name="Oval 15">
            <a:extLst>
              <a:ext uri="{FF2B5EF4-FFF2-40B4-BE49-F238E27FC236}">
                <a16:creationId xmlns:a16="http://schemas.microsoft.com/office/drawing/2014/main" id="{0E22A6DB-CC7F-4DB3-9F06-4220288F8CAC}"/>
              </a:ext>
            </a:extLst>
          </p:cNvPr>
          <p:cNvSpPr>
            <a:spLocks noGrp="1"/>
          </p:cNvSpPr>
          <p:nvPr/>
        </p:nvSpPr>
        <p:spPr>
          <a:xfrm>
            <a:off x="877824" y="4224527"/>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70BACD-2A71-4901-9976-0EFDFEEA75DA}"/>
              </a:ext>
            </a:extLst>
          </p:cNvPr>
          <p:cNvSpPr>
            <a:spLocks noGrp="1"/>
          </p:cNvSpPr>
          <p:nvPr/>
        </p:nvSpPr>
        <p:spPr>
          <a:xfrm>
            <a:off x="1051560" y="4096511"/>
            <a:ext cx="3867911"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164 significant • 30 completed empty</a:t>
            </a:r>
          </a:p>
        </p:txBody>
      </p:sp>
      <p:sp>
        <p:nvSpPr>
          <p:cNvPr id="18" name="Oval 17">
            <a:extLst>
              <a:ext uri="{FF2B5EF4-FFF2-40B4-BE49-F238E27FC236}">
                <a16:creationId xmlns:a16="http://schemas.microsoft.com/office/drawing/2014/main" id="{A92AF517-4CB5-472F-828F-8D876959A25F}"/>
              </a:ext>
            </a:extLst>
          </p:cNvPr>
          <p:cNvSpPr>
            <a:spLocks noGrp="1"/>
          </p:cNvSpPr>
          <p:nvPr/>
        </p:nvSpPr>
        <p:spPr>
          <a:xfrm>
            <a:off x="877824" y="482803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81104E5-BCE0-464F-9E64-5103995A4D18}"/>
              </a:ext>
            </a:extLst>
          </p:cNvPr>
          <p:cNvSpPr>
            <a:spLocks noGrp="1"/>
          </p:cNvSpPr>
          <p:nvPr/>
        </p:nvSpPr>
        <p:spPr>
          <a:xfrm>
            <a:off x="1051560" y="4700016"/>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The 164 significant KDA calls returned 1,833 rows before mitochondrial filtering.</a:t>
            </a:r>
          </a:p>
        </p:txBody>
      </p:sp>
      <p:sp>
        <p:nvSpPr>
          <p:cNvPr id="20" name="Rounded Rectangle 19">
            <a:extLst>
              <a:ext uri="{FF2B5EF4-FFF2-40B4-BE49-F238E27FC236}">
                <a16:creationId xmlns:a16="http://schemas.microsoft.com/office/drawing/2014/main" id="{1936370E-3C65-4BFE-B81C-F6A09158745F}"/>
              </a:ext>
            </a:extLst>
          </p:cNvPr>
          <p:cNvSpPr>
            <a:spLocks noGrp="1"/>
          </p:cNvSpPr>
          <p:nvPr/>
        </p:nvSpPr>
        <p:spPr>
          <a:xfrm>
            <a:off x="5532120" y="1344168"/>
            <a:ext cx="6035040" cy="4480560"/>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01D8C6B2-E2CA-4BEC-8B41-6FAAF6E50FCA}"/>
              </a:ext>
            </a:extLst>
          </p:cNvPr>
          <p:cNvSpPr>
            <a:spLocks noGrp="1"/>
          </p:cNvSpPr>
          <p:nvPr/>
        </p:nvSpPr>
        <p:spPr>
          <a:xfrm>
            <a:off x="5824728" y="164592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0E47F582-8212-433C-916F-D27A1E7767FE}"/>
              </a:ext>
            </a:extLst>
          </p:cNvPr>
          <p:cNvSpPr>
            <a:spLocks noGrp="1"/>
          </p:cNvSpPr>
          <p:nvPr/>
        </p:nvSpPr>
        <p:spPr>
          <a:xfrm>
            <a:off x="5971032" y="1618488"/>
            <a:ext cx="5294376"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What ‘source contrast not valid’ means</a:t>
            </a:r>
          </a:p>
        </p:txBody>
      </p:sp>
      <p:sp>
        <p:nvSpPr>
          <p:cNvPr id="23" name="TextBox 22">
            <a:extLst>
              <a:ext uri="{FF2B5EF4-FFF2-40B4-BE49-F238E27FC236}">
                <a16:creationId xmlns:a16="http://schemas.microsoft.com/office/drawing/2014/main" id="{59BD84AB-21C2-4E27-AD34-674BA135B973}"/>
              </a:ext>
            </a:extLst>
          </p:cNvPr>
          <p:cNvSpPr>
            <a:spLocks noGrp="1"/>
          </p:cNvSpPr>
          <p:nvPr/>
        </p:nvSpPr>
        <p:spPr>
          <a:xfrm>
            <a:off x="5843016" y="2148840"/>
            <a:ext cx="5330952" cy="4862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solidFill>
                  <a:srgbClr val="0F233D"/>
                </a:solidFill>
                <a:latin typeface="Arial"/>
                <a:ea typeface="Arial"/>
                <a:cs typeface="Arial"/>
              </a:rPr>
              <a:t>The upstream MAST comparison could not be fitted because one arm had fewer than </a:t>
            </a:r>
            <a:r>
              <a:rPr sz="1400" b="1" i="0">
                <a:solidFill>
                  <a:srgbClr val="FF0000"/>
                </a:solidFill>
                <a:latin typeface="Arial"/>
                <a:ea typeface="Arial"/>
                <a:cs typeface="Arial"/>
              </a:rPr>
              <a:t>three</a:t>
            </a:r>
            <a:r>
              <a:rPr sz="1400" b="1" i="0">
                <a:solidFill>
                  <a:srgbClr val="0F233D"/>
                </a:solidFill>
                <a:latin typeface="Arial"/>
                <a:ea typeface="Arial"/>
                <a:cs typeface="Arial"/>
              </a:rPr>
              <a:t> cells.</a:t>
            </a:r>
          </a:p>
        </p:txBody>
      </p:sp>
      <p:sp>
        <p:nvSpPr>
          <p:cNvPr id="24" name="Rectangle 23">
            <a:extLst>
              <a:ext uri="{FF2B5EF4-FFF2-40B4-BE49-F238E27FC236}">
                <a16:creationId xmlns:a16="http://schemas.microsoft.com/office/drawing/2014/main" id="{73CDC9C2-50C7-4D3C-AF7E-55F140D966FD}"/>
              </a:ext>
            </a:extLst>
          </p:cNvPr>
          <p:cNvSpPr>
            <a:spLocks noGrp="1"/>
          </p:cNvSpPr>
          <p:nvPr/>
        </p:nvSpPr>
        <p:spPr>
          <a:xfrm>
            <a:off x="5843016" y="2898648"/>
            <a:ext cx="233172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9D9FDC4C-4A3A-4DD8-A597-002E76FF6C21}"/>
              </a:ext>
            </a:extLst>
          </p:cNvPr>
          <p:cNvSpPr>
            <a:spLocks noGrp="1"/>
          </p:cNvSpPr>
          <p:nvPr/>
        </p:nvSpPr>
        <p:spPr>
          <a:xfrm>
            <a:off x="5897879" y="2953512"/>
            <a:ext cx="22219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Fine cell type</a:t>
            </a:r>
          </a:p>
        </p:txBody>
      </p:sp>
      <p:sp>
        <p:nvSpPr>
          <p:cNvPr id="26" name="Rectangle 25">
            <a:extLst>
              <a:ext uri="{FF2B5EF4-FFF2-40B4-BE49-F238E27FC236}">
                <a16:creationId xmlns:a16="http://schemas.microsoft.com/office/drawing/2014/main" id="{85FFE06F-8F01-4BA0-89A6-B4F53ACB4FF0}"/>
              </a:ext>
            </a:extLst>
          </p:cNvPr>
          <p:cNvSpPr>
            <a:spLocks noGrp="1"/>
          </p:cNvSpPr>
          <p:nvPr/>
        </p:nvSpPr>
        <p:spPr>
          <a:xfrm>
            <a:off x="8174736" y="2898648"/>
            <a:ext cx="91440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CB39C004-A0AF-427C-BF60-B3241F6BA651}"/>
              </a:ext>
            </a:extLst>
          </p:cNvPr>
          <p:cNvSpPr>
            <a:spLocks noGrp="1"/>
          </p:cNvSpPr>
          <p:nvPr/>
        </p:nvSpPr>
        <p:spPr>
          <a:xfrm>
            <a:off x="8229600" y="2953512"/>
            <a:ext cx="80467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Group</a:t>
            </a:r>
          </a:p>
        </p:txBody>
      </p:sp>
      <p:sp>
        <p:nvSpPr>
          <p:cNvPr id="28" name="Rectangle 27">
            <a:extLst>
              <a:ext uri="{FF2B5EF4-FFF2-40B4-BE49-F238E27FC236}">
                <a16:creationId xmlns:a16="http://schemas.microsoft.com/office/drawing/2014/main" id="{C5618740-BC50-4D9F-BAE2-F661C433628F}"/>
              </a:ext>
            </a:extLst>
          </p:cNvPr>
          <p:cNvSpPr>
            <a:spLocks noGrp="1"/>
          </p:cNvSpPr>
          <p:nvPr/>
        </p:nvSpPr>
        <p:spPr>
          <a:xfrm>
            <a:off x="908913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0676A43F-524F-4BE8-8BFF-4CEE71D7E5FC}"/>
              </a:ext>
            </a:extLst>
          </p:cNvPr>
          <p:cNvSpPr>
            <a:spLocks noGrp="1"/>
          </p:cNvSpPr>
          <p:nvPr/>
        </p:nvSpPr>
        <p:spPr>
          <a:xfrm>
            <a:off x="914400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AD cells</a:t>
            </a:r>
          </a:p>
        </p:txBody>
      </p:sp>
      <p:sp>
        <p:nvSpPr>
          <p:cNvPr id="30" name="Rectangle 29">
            <a:extLst>
              <a:ext uri="{FF2B5EF4-FFF2-40B4-BE49-F238E27FC236}">
                <a16:creationId xmlns:a16="http://schemas.microsoft.com/office/drawing/2014/main" id="{B3804DD9-B104-45E3-92C1-8288B3253BB1}"/>
              </a:ext>
            </a:extLst>
          </p:cNvPr>
          <p:cNvSpPr>
            <a:spLocks noGrp="1"/>
          </p:cNvSpPr>
          <p:nvPr/>
        </p:nvSpPr>
        <p:spPr>
          <a:xfrm>
            <a:off x="1014069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3AF1CD17-1ACA-4789-951B-FF6442209312}"/>
              </a:ext>
            </a:extLst>
          </p:cNvPr>
          <p:cNvSpPr>
            <a:spLocks noGrp="1"/>
          </p:cNvSpPr>
          <p:nvPr/>
        </p:nvSpPr>
        <p:spPr>
          <a:xfrm>
            <a:off x="1019556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NCI cells</a:t>
            </a:r>
          </a:p>
        </p:txBody>
      </p:sp>
      <p:sp>
        <p:nvSpPr>
          <p:cNvPr id="32" name="Rectangle 31">
            <a:extLst>
              <a:ext uri="{FF2B5EF4-FFF2-40B4-BE49-F238E27FC236}">
                <a16:creationId xmlns:a16="http://schemas.microsoft.com/office/drawing/2014/main" id="{889F38DA-EFFD-4A17-BC7D-B9B78B35D9FC}"/>
              </a:ext>
            </a:extLst>
          </p:cNvPr>
          <p:cNvSpPr>
            <a:spLocks noGrp="1"/>
          </p:cNvSpPr>
          <p:nvPr/>
        </p:nvSpPr>
        <p:spPr>
          <a:xfrm>
            <a:off x="5843016" y="3328415"/>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7706D989-B23A-486D-A9F7-E1CB60522E53}"/>
              </a:ext>
            </a:extLst>
          </p:cNvPr>
          <p:cNvSpPr>
            <a:spLocks noGrp="1"/>
          </p:cNvSpPr>
          <p:nvPr/>
        </p:nvSpPr>
        <p:spPr>
          <a:xfrm>
            <a:off x="5897879" y="33741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Fib SLC4A4</a:t>
            </a:r>
          </a:p>
        </p:txBody>
      </p:sp>
      <p:sp>
        <p:nvSpPr>
          <p:cNvPr id="34" name="Rectangle 33">
            <a:extLst>
              <a:ext uri="{FF2B5EF4-FFF2-40B4-BE49-F238E27FC236}">
                <a16:creationId xmlns:a16="http://schemas.microsoft.com/office/drawing/2014/main" id="{91F1B9A0-A745-4ED4-BD8A-ECD1E2033340}"/>
              </a:ext>
            </a:extLst>
          </p:cNvPr>
          <p:cNvSpPr>
            <a:spLocks noGrp="1"/>
          </p:cNvSpPr>
          <p:nvPr/>
        </p:nvSpPr>
        <p:spPr>
          <a:xfrm>
            <a:off x="8174736" y="3328415"/>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8E4E0F78-09C0-419B-81B4-6FC5357B2A68}"/>
              </a:ext>
            </a:extLst>
          </p:cNvPr>
          <p:cNvSpPr>
            <a:spLocks noGrp="1"/>
          </p:cNvSpPr>
          <p:nvPr/>
        </p:nvSpPr>
        <p:spPr>
          <a:xfrm>
            <a:off x="8229600" y="33741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36" name="Rectangle 35">
            <a:extLst>
              <a:ext uri="{FF2B5EF4-FFF2-40B4-BE49-F238E27FC236}">
                <a16:creationId xmlns:a16="http://schemas.microsoft.com/office/drawing/2014/main" id="{3FD8BA6C-ED61-44BF-8DBE-846F0D27DE36}"/>
              </a:ext>
            </a:extLst>
          </p:cNvPr>
          <p:cNvSpPr>
            <a:spLocks noGrp="1"/>
          </p:cNvSpPr>
          <p:nvPr/>
        </p:nvSpPr>
        <p:spPr>
          <a:xfrm>
            <a:off x="908913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3649F84B-A5B6-4B86-B786-AD084099D13C}"/>
              </a:ext>
            </a:extLst>
          </p:cNvPr>
          <p:cNvSpPr>
            <a:spLocks noGrp="1"/>
          </p:cNvSpPr>
          <p:nvPr/>
        </p:nvSpPr>
        <p:spPr>
          <a:xfrm>
            <a:off x="914400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0</a:t>
            </a:r>
          </a:p>
        </p:txBody>
      </p:sp>
      <p:sp>
        <p:nvSpPr>
          <p:cNvPr id="38" name="Rectangle 37">
            <a:extLst>
              <a:ext uri="{FF2B5EF4-FFF2-40B4-BE49-F238E27FC236}">
                <a16:creationId xmlns:a16="http://schemas.microsoft.com/office/drawing/2014/main" id="{863FD31A-062E-4867-86C0-B6AD67E657DD}"/>
              </a:ext>
            </a:extLst>
          </p:cNvPr>
          <p:cNvSpPr>
            <a:spLocks noGrp="1"/>
          </p:cNvSpPr>
          <p:nvPr/>
        </p:nvSpPr>
        <p:spPr>
          <a:xfrm>
            <a:off x="1014069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7F425D5C-EB06-48A6-B5EF-4349DD606950}"/>
              </a:ext>
            </a:extLst>
          </p:cNvPr>
          <p:cNvSpPr>
            <a:spLocks noGrp="1"/>
          </p:cNvSpPr>
          <p:nvPr/>
        </p:nvSpPr>
        <p:spPr>
          <a:xfrm>
            <a:off x="1019556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11</a:t>
            </a:r>
          </a:p>
        </p:txBody>
      </p:sp>
      <p:sp>
        <p:nvSpPr>
          <p:cNvPr id="40" name="Rectangle 39">
            <a:extLst>
              <a:ext uri="{FF2B5EF4-FFF2-40B4-BE49-F238E27FC236}">
                <a16:creationId xmlns:a16="http://schemas.microsoft.com/office/drawing/2014/main" id="{B6976721-DBD2-406D-BAB0-B5E0FA0EF649}"/>
              </a:ext>
            </a:extLst>
          </p:cNvPr>
          <p:cNvSpPr>
            <a:spLocks noGrp="1"/>
          </p:cNvSpPr>
          <p:nvPr/>
        </p:nvSpPr>
        <p:spPr>
          <a:xfrm>
            <a:off x="5843016" y="3785615"/>
            <a:ext cx="233172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9A439FC0-6DD3-4F4B-80C9-DFD4636351E8}"/>
              </a:ext>
            </a:extLst>
          </p:cNvPr>
          <p:cNvSpPr>
            <a:spLocks noGrp="1"/>
          </p:cNvSpPr>
          <p:nvPr/>
        </p:nvSpPr>
        <p:spPr>
          <a:xfrm>
            <a:off x="5897879" y="38313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CAMs</a:t>
            </a:r>
          </a:p>
        </p:txBody>
      </p:sp>
      <p:sp>
        <p:nvSpPr>
          <p:cNvPr id="42" name="Rectangle 41">
            <a:extLst>
              <a:ext uri="{FF2B5EF4-FFF2-40B4-BE49-F238E27FC236}">
                <a16:creationId xmlns:a16="http://schemas.microsoft.com/office/drawing/2014/main" id="{55B2FB10-AC0F-4E77-B85E-E895C9C0B612}"/>
              </a:ext>
            </a:extLst>
          </p:cNvPr>
          <p:cNvSpPr>
            <a:spLocks noGrp="1"/>
          </p:cNvSpPr>
          <p:nvPr/>
        </p:nvSpPr>
        <p:spPr>
          <a:xfrm>
            <a:off x="8174736" y="3785615"/>
            <a:ext cx="91440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7095ADD2-F7B8-4524-B164-B885378DB3D6}"/>
              </a:ext>
            </a:extLst>
          </p:cNvPr>
          <p:cNvSpPr>
            <a:spLocks noGrp="1"/>
          </p:cNvSpPr>
          <p:nvPr/>
        </p:nvSpPr>
        <p:spPr>
          <a:xfrm>
            <a:off x="8229600" y="38313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44" name="Rectangle 43">
            <a:extLst>
              <a:ext uri="{FF2B5EF4-FFF2-40B4-BE49-F238E27FC236}">
                <a16:creationId xmlns:a16="http://schemas.microsoft.com/office/drawing/2014/main" id="{12D2C864-5084-4982-98DE-DDA79A091028}"/>
              </a:ext>
            </a:extLst>
          </p:cNvPr>
          <p:cNvSpPr>
            <a:spLocks noGrp="1"/>
          </p:cNvSpPr>
          <p:nvPr/>
        </p:nvSpPr>
        <p:spPr>
          <a:xfrm>
            <a:off x="908913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91D97A44-FA35-41FA-90C6-92D81B74B6BA}"/>
              </a:ext>
            </a:extLst>
          </p:cNvPr>
          <p:cNvSpPr>
            <a:spLocks noGrp="1"/>
          </p:cNvSpPr>
          <p:nvPr/>
        </p:nvSpPr>
        <p:spPr>
          <a:xfrm>
            <a:off x="914400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45</a:t>
            </a:r>
          </a:p>
        </p:txBody>
      </p:sp>
      <p:sp>
        <p:nvSpPr>
          <p:cNvPr id="46" name="Rectangle 45">
            <a:extLst>
              <a:ext uri="{FF2B5EF4-FFF2-40B4-BE49-F238E27FC236}">
                <a16:creationId xmlns:a16="http://schemas.microsoft.com/office/drawing/2014/main" id="{D1B7EA3C-3E6B-4E7B-BE30-1ECA7D452F54}"/>
              </a:ext>
            </a:extLst>
          </p:cNvPr>
          <p:cNvSpPr>
            <a:spLocks noGrp="1"/>
          </p:cNvSpPr>
          <p:nvPr/>
        </p:nvSpPr>
        <p:spPr>
          <a:xfrm>
            <a:off x="1014069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4B7F4C1-9F2F-49AD-BB70-E9DF95753D81}"/>
              </a:ext>
            </a:extLst>
          </p:cNvPr>
          <p:cNvSpPr>
            <a:spLocks noGrp="1"/>
          </p:cNvSpPr>
          <p:nvPr/>
        </p:nvSpPr>
        <p:spPr>
          <a:xfrm>
            <a:off x="1019556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a:t>
            </a:r>
          </a:p>
        </p:txBody>
      </p:sp>
      <p:sp>
        <p:nvSpPr>
          <p:cNvPr id="48" name="Rectangle 47">
            <a:extLst>
              <a:ext uri="{FF2B5EF4-FFF2-40B4-BE49-F238E27FC236}">
                <a16:creationId xmlns:a16="http://schemas.microsoft.com/office/drawing/2014/main" id="{D2F20C1D-F78F-4C83-A90B-093BCB57B5DF}"/>
              </a:ext>
            </a:extLst>
          </p:cNvPr>
          <p:cNvSpPr>
            <a:spLocks noGrp="1"/>
          </p:cNvSpPr>
          <p:nvPr/>
        </p:nvSpPr>
        <p:spPr>
          <a:xfrm>
            <a:off x="5843016" y="4242816"/>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903E20B3-CF4F-4A93-801D-30F7E8029068}"/>
              </a:ext>
            </a:extLst>
          </p:cNvPr>
          <p:cNvSpPr>
            <a:spLocks noGrp="1"/>
          </p:cNvSpPr>
          <p:nvPr/>
        </p:nvSpPr>
        <p:spPr>
          <a:xfrm>
            <a:off x="5897879" y="4288536"/>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Mic MKI67</a:t>
            </a:r>
          </a:p>
        </p:txBody>
      </p:sp>
      <p:sp>
        <p:nvSpPr>
          <p:cNvPr id="50" name="Rectangle 49">
            <a:extLst>
              <a:ext uri="{FF2B5EF4-FFF2-40B4-BE49-F238E27FC236}">
                <a16:creationId xmlns:a16="http://schemas.microsoft.com/office/drawing/2014/main" id="{E1DA88D7-AE9C-489E-8372-8CCC2159709C}"/>
              </a:ext>
            </a:extLst>
          </p:cNvPr>
          <p:cNvSpPr>
            <a:spLocks noGrp="1"/>
          </p:cNvSpPr>
          <p:nvPr/>
        </p:nvSpPr>
        <p:spPr>
          <a:xfrm>
            <a:off x="8174736" y="4242816"/>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0F1DC7C2-CBC8-420E-8449-41E5F062D0FE}"/>
              </a:ext>
            </a:extLst>
          </p:cNvPr>
          <p:cNvSpPr>
            <a:spLocks noGrp="1"/>
          </p:cNvSpPr>
          <p:nvPr/>
        </p:nvSpPr>
        <p:spPr>
          <a:xfrm>
            <a:off x="8229600" y="4288536"/>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52" name="Rectangle 51">
            <a:extLst>
              <a:ext uri="{FF2B5EF4-FFF2-40B4-BE49-F238E27FC236}">
                <a16:creationId xmlns:a16="http://schemas.microsoft.com/office/drawing/2014/main" id="{910C581E-1DAD-46E7-A140-7E7BD4780D86}"/>
              </a:ext>
            </a:extLst>
          </p:cNvPr>
          <p:cNvSpPr>
            <a:spLocks noGrp="1"/>
          </p:cNvSpPr>
          <p:nvPr/>
        </p:nvSpPr>
        <p:spPr>
          <a:xfrm>
            <a:off x="908913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156B8896-EB75-41CE-A156-2660FFC8BAF4}"/>
              </a:ext>
            </a:extLst>
          </p:cNvPr>
          <p:cNvSpPr>
            <a:spLocks noGrp="1"/>
          </p:cNvSpPr>
          <p:nvPr/>
        </p:nvSpPr>
        <p:spPr>
          <a:xfrm>
            <a:off x="914400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2</a:t>
            </a:r>
          </a:p>
        </p:txBody>
      </p:sp>
      <p:sp>
        <p:nvSpPr>
          <p:cNvPr id="54" name="Rectangle 53">
            <a:extLst>
              <a:ext uri="{FF2B5EF4-FFF2-40B4-BE49-F238E27FC236}">
                <a16:creationId xmlns:a16="http://schemas.microsoft.com/office/drawing/2014/main" id="{1B1BB3F7-04AA-44BA-8B8D-F3858EDA1925}"/>
              </a:ext>
            </a:extLst>
          </p:cNvPr>
          <p:cNvSpPr>
            <a:spLocks noGrp="1"/>
          </p:cNvSpPr>
          <p:nvPr/>
        </p:nvSpPr>
        <p:spPr>
          <a:xfrm>
            <a:off x="1014069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0523E08A-8422-4F00-872A-58443A885589}"/>
              </a:ext>
            </a:extLst>
          </p:cNvPr>
          <p:cNvSpPr>
            <a:spLocks noGrp="1"/>
          </p:cNvSpPr>
          <p:nvPr/>
        </p:nvSpPr>
        <p:spPr>
          <a:xfrm>
            <a:off x="1019556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9</a:t>
            </a:r>
          </a:p>
        </p:txBody>
      </p:sp>
      <p:sp>
        <p:nvSpPr>
          <p:cNvPr id="56" name="TextBox 55">
            <a:extLst>
              <a:ext uri="{FF2B5EF4-FFF2-40B4-BE49-F238E27FC236}">
                <a16:creationId xmlns:a16="http://schemas.microsoft.com/office/drawing/2014/main" id="{5DA43788-B436-482C-B52E-17CA35FF74BA}"/>
              </a:ext>
            </a:extLst>
          </p:cNvPr>
          <p:cNvSpPr>
            <a:spLocks noGrp="1"/>
          </p:cNvSpPr>
          <p:nvPr/>
        </p:nvSpPr>
        <p:spPr>
          <a:xfrm>
            <a:off x="5961888" y="4882896"/>
            <a:ext cx="5029200" cy="5120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50" b="1" i="0">
                <a:solidFill>
                  <a:srgbClr val="D55E00"/>
                </a:solidFill>
                <a:latin typeface="Arial"/>
                <a:ea typeface="Arial"/>
                <a:cs typeface="Arial"/>
              </a:rPr>
              <a:t>3 unavailable comparisons = 3 unavailable KDA calls</a:t>
            </a:r>
          </a:p>
        </p:txBody>
      </p:sp>
    </p:spTree>
    <p:extLst>
      <p:ext uri="{BB962C8B-B14F-4D97-AF65-F5344CB8AC3E}">
        <p14:creationId xmlns:p14="http://schemas.microsoft.com/office/powerpoint/2010/main" val="9030194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5A4499-ABED-41B4-B689-BBEB37944934}"/>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MitoCarta MT query genes</a:t>
            </a:r>
          </a:p>
        </p:txBody>
      </p:sp>
      <p:sp>
        <p:nvSpPr>
          <p:cNvPr id="5" name="Rounded Rectangle 4">
            <a:extLst>
              <a:ext uri="{FF2B5EF4-FFF2-40B4-BE49-F238E27FC236}">
                <a16:creationId xmlns:a16="http://schemas.microsoft.com/office/drawing/2014/main" id="{8DE7C9FC-F4F5-4C9D-BE4B-F8CC2DEE3039}"/>
              </a:ext>
            </a:extLst>
          </p:cNvPr>
          <p:cNvSpPr>
            <a:spLocks noGrp="1"/>
          </p:cNvSpPr>
          <p:nvPr/>
        </p:nvSpPr>
        <p:spPr>
          <a:xfrm>
            <a:off x="603504" y="1353312"/>
            <a:ext cx="3721608" cy="4526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CCF4AEC8-028E-4049-8919-A3A6BC909D71}"/>
              </a:ext>
            </a:extLst>
          </p:cNvPr>
          <p:cNvSpPr>
            <a:spLocks noGrp="1"/>
          </p:cNvSpPr>
          <p:nvPr/>
        </p:nvSpPr>
        <p:spPr>
          <a:xfrm>
            <a:off x="859536" y="165506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9E86D80-4F35-4E9D-B4CF-F31E5727EF07}"/>
              </a:ext>
            </a:extLst>
          </p:cNvPr>
          <p:cNvSpPr>
            <a:spLocks noGrp="1"/>
          </p:cNvSpPr>
          <p:nvPr/>
        </p:nvSpPr>
        <p:spPr>
          <a:xfrm>
            <a:off x="1005839" y="1627632"/>
            <a:ext cx="303580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DEG rule</a:t>
            </a:r>
          </a:p>
        </p:txBody>
      </p:sp>
      <p:sp>
        <p:nvSpPr>
          <p:cNvPr id="8" name="Oval 7">
            <a:extLst>
              <a:ext uri="{FF2B5EF4-FFF2-40B4-BE49-F238E27FC236}">
                <a16:creationId xmlns:a16="http://schemas.microsoft.com/office/drawing/2014/main" id="{A0151829-EEB6-4971-BDF2-C77BF1063965}"/>
              </a:ext>
            </a:extLst>
          </p:cNvPr>
          <p:cNvSpPr>
            <a:spLocks noGrp="1"/>
          </p:cNvSpPr>
          <p:nvPr/>
        </p:nvSpPr>
        <p:spPr>
          <a:xfrm>
            <a:off x="859536" y="226771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78213C-EE6C-40FF-960C-489204F531A0}"/>
              </a:ext>
            </a:extLst>
          </p:cNvPr>
          <p:cNvSpPr>
            <a:spLocks noGrp="1"/>
          </p:cNvSpPr>
          <p:nvPr/>
        </p:nvSpPr>
        <p:spPr>
          <a:xfrm>
            <a:off x="1033271" y="2139696"/>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Detected in ≥10% of AD or NCI nuclei.</a:t>
            </a:r>
          </a:p>
        </p:txBody>
      </p:sp>
      <p:sp>
        <p:nvSpPr>
          <p:cNvPr id="10" name="Oval 9">
            <a:extLst>
              <a:ext uri="{FF2B5EF4-FFF2-40B4-BE49-F238E27FC236}">
                <a16:creationId xmlns:a16="http://schemas.microsoft.com/office/drawing/2014/main" id="{C0ADBA6A-AFFB-488D-A107-5DC268F15299}"/>
              </a:ext>
            </a:extLst>
          </p:cNvPr>
          <p:cNvSpPr>
            <a:spLocks noGrp="1"/>
          </p:cNvSpPr>
          <p:nvPr/>
        </p:nvSpPr>
        <p:spPr>
          <a:xfrm>
            <a:off x="859536" y="2834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229298B-06BB-400F-83B1-AAAC4072591F}"/>
              </a:ext>
            </a:extLst>
          </p:cNvPr>
          <p:cNvSpPr>
            <a:spLocks noGrp="1"/>
          </p:cNvSpPr>
          <p:nvPr/>
        </p:nvSpPr>
        <p:spPr>
          <a:xfrm>
            <a:off x="1033271" y="2706624"/>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Within-contrast BH FDR &lt; 0.05.</a:t>
            </a:r>
          </a:p>
        </p:txBody>
      </p:sp>
      <p:sp>
        <p:nvSpPr>
          <p:cNvPr id="12" name="Oval 11">
            <a:extLst>
              <a:ext uri="{FF2B5EF4-FFF2-40B4-BE49-F238E27FC236}">
                <a16:creationId xmlns:a16="http://schemas.microsoft.com/office/drawing/2014/main" id="{B822E0FE-0F09-484C-9F2D-B2B7E0D7E11C}"/>
              </a:ext>
            </a:extLst>
          </p:cNvPr>
          <p:cNvSpPr>
            <a:spLocks noGrp="1"/>
          </p:cNvSpPr>
          <p:nvPr/>
        </p:nvSpPr>
        <p:spPr>
          <a:xfrm>
            <a:off x="859536" y="340156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6D8D062-AAD8-4621-AB56-9EF8A120EB96}"/>
              </a:ext>
            </a:extLst>
          </p:cNvPr>
          <p:cNvSpPr>
            <a:spLocks noGrp="1"/>
          </p:cNvSpPr>
          <p:nvPr/>
        </p:nvSpPr>
        <p:spPr>
          <a:xfrm>
            <a:off x="1033271" y="3273552"/>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|log₂ fold change| &gt; log₂(1.3) ≈ 0.379.</a:t>
            </a:r>
          </a:p>
        </p:txBody>
      </p:sp>
      <p:sp>
        <p:nvSpPr>
          <p:cNvPr id="14" name="Oval 13">
            <a:extLst>
              <a:ext uri="{FF2B5EF4-FFF2-40B4-BE49-F238E27FC236}">
                <a16:creationId xmlns:a16="http://schemas.microsoft.com/office/drawing/2014/main" id="{CCAFE78C-2226-4809-9008-90D8C39DB040}"/>
              </a:ext>
            </a:extLst>
          </p:cNvPr>
          <p:cNvSpPr>
            <a:spLocks noGrp="1"/>
          </p:cNvSpPr>
          <p:nvPr/>
        </p:nvSpPr>
        <p:spPr>
          <a:xfrm>
            <a:off x="859536" y="39684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F06C362E-61A0-4B7A-9DDC-433728001AB4}"/>
              </a:ext>
            </a:extLst>
          </p:cNvPr>
          <p:cNvSpPr>
            <a:spLocks noGrp="1"/>
          </p:cNvSpPr>
          <p:nvPr/>
        </p:nvSpPr>
        <p:spPr>
          <a:xfrm>
            <a:off x="1033271" y="3840480"/>
            <a:ext cx="2990088" cy="4370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Upregulated and downregulated DEGs enter the query.</a:t>
            </a:r>
          </a:p>
        </p:txBody>
      </p:sp>
      <p:sp>
        <p:nvSpPr>
          <p:cNvPr id="16" name="Rounded Rectangle 15">
            <a:extLst>
              <a:ext uri="{FF2B5EF4-FFF2-40B4-BE49-F238E27FC236}">
                <a16:creationId xmlns:a16="http://schemas.microsoft.com/office/drawing/2014/main" id="{885F3F40-EE89-4AEF-B303-0BFAF284546A}"/>
              </a:ext>
            </a:extLst>
          </p:cNvPr>
          <p:cNvSpPr>
            <a:spLocks noGrp="1"/>
          </p:cNvSpPr>
          <p:nvPr/>
        </p:nvSpPr>
        <p:spPr>
          <a:xfrm>
            <a:off x="859536" y="4709160"/>
            <a:ext cx="3145536" cy="786384"/>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82A7A1-7F77-4ECF-AC6A-EF1F25B01E18}"/>
              </a:ext>
            </a:extLst>
          </p:cNvPr>
          <p:cNvSpPr>
            <a:spLocks noGrp="1"/>
          </p:cNvSpPr>
          <p:nvPr/>
        </p:nvSpPr>
        <p:spPr>
          <a:xfrm>
            <a:off x="1042415" y="4910328"/>
            <a:ext cx="2788920" cy="40011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0F233D"/>
                </a:solidFill>
                <a:latin typeface="Arial"/>
                <a:ea typeface="Arial"/>
                <a:cs typeface="Arial"/>
              </a:rPr>
              <a:t>Query = DEGs ∩ MitoCarta MT genes</a:t>
            </a:r>
          </a:p>
        </p:txBody>
      </p:sp>
      <p:sp>
        <p:nvSpPr>
          <p:cNvPr id="18" name="Rounded Rectangle 17">
            <a:extLst>
              <a:ext uri="{FF2B5EF4-FFF2-40B4-BE49-F238E27FC236}">
                <a16:creationId xmlns:a16="http://schemas.microsoft.com/office/drawing/2014/main" id="{5A52CA99-AEDD-4D14-99E8-8BF8B35356DA}"/>
              </a:ext>
            </a:extLst>
          </p:cNvPr>
          <p:cNvSpPr>
            <a:spLocks noGrp="1"/>
          </p:cNvSpPr>
          <p:nvPr/>
        </p:nvSpPr>
        <p:spPr>
          <a:xfrm>
            <a:off x="4626864" y="1426464"/>
            <a:ext cx="2066543"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3F8606F2-D8ED-44DD-A74F-F996D893CA39}"/>
              </a:ext>
            </a:extLst>
          </p:cNvPr>
          <p:cNvSpPr>
            <a:spLocks noGrp="1"/>
          </p:cNvSpPr>
          <p:nvPr/>
        </p:nvSpPr>
        <p:spPr>
          <a:xfrm>
            <a:off x="4773168"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2,864,117</a:t>
            </a:r>
          </a:p>
        </p:txBody>
      </p:sp>
      <p:sp>
        <p:nvSpPr>
          <p:cNvPr id="20" name="TextBox 19">
            <a:extLst>
              <a:ext uri="{FF2B5EF4-FFF2-40B4-BE49-F238E27FC236}">
                <a16:creationId xmlns:a16="http://schemas.microsoft.com/office/drawing/2014/main" id="{9A48D853-A6A4-42BF-BC6B-58F9AE08341A}"/>
              </a:ext>
            </a:extLst>
          </p:cNvPr>
          <p:cNvSpPr>
            <a:spLocks noGrp="1"/>
          </p:cNvSpPr>
          <p:nvPr/>
        </p:nvSpPr>
        <p:spPr>
          <a:xfrm>
            <a:off x="4773168" y="1975104"/>
            <a:ext cx="1773935"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tested gene × comparison rows</a:t>
            </a:r>
          </a:p>
        </p:txBody>
      </p:sp>
      <p:sp>
        <p:nvSpPr>
          <p:cNvPr id="21" name="Rounded Rectangle 20">
            <a:extLst>
              <a:ext uri="{FF2B5EF4-FFF2-40B4-BE49-F238E27FC236}">
                <a16:creationId xmlns:a16="http://schemas.microsoft.com/office/drawing/2014/main" id="{E69D2FA1-B7C3-42AE-9C87-740739AA506D}"/>
              </a:ext>
            </a:extLst>
          </p:cNvPr>
          <p:cNvSpPr>
            <a:spLocks noGrp="1"/>
          </p:cNvSpPr>
          <p:nvPr/>
        </p:nvSpPr>
        <p:spPr>
          <a:xfrm>
            <a:off x="6858000"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A906724E-D0B9-463E-9CE1-8AFF558DEE52}"/>
              </a:ext>
            </a:extLst>
          </p:cNvPr>
          <p:cNvSpPr>
            <a:spLocks noGrp="1"/>
          </p:cNvSpPr>
          <p:nvPr/>
        </p:nvSpPr>
        <p:spPr>
          <a:xfrm>
            <a:off x="7004304"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118,297</a:t>
            </a:r>
          </a:p>
        </p:txBody>
      </p:sp>
      <p:sp>
        <p:nvSpPr>
          <p:cNvPr id="23" name="TextBox 22">
            <a:extLst>
              <a:ext uri="{FF2B5EF4-FFF2-40B4-BE49-F238E27FC236}">
                <a16:creationId xmlns:a16="http://schemas.microsoft.com/office/drawing/2014/main" id="{4BE34CB8-3AB4-4355-AAF2-1D74AB37BAF8}"/>
              </a:ext>
            </a:extLst>
          </p:cNvPr>
          <p:cNvSpPr>
            <a:spLocks noGrp="1"/>
          </p:cNvSpPr>
          <p:nvPr/>
        </p:nvSpPr>
        <p:spPr>
          <a:xfrm>
            <a:off x="7004304" y="1975104"/>
            <a:ext cx="1773935"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Passed DEG</a:t>
            </a:r>
          </a:p>
        </p:txBody>
      </p:sp>
      <p:sp>
        <p:nvSpPr>
          <p:cNvPr id="24" name="TextBox 23">
            <a:extLst>
              <a:ext uri="{FF2B5EF4-FFF2-40B4-BE49-F238E27FC236}">
                <a16:creationId xmlns:a16="http://schemas.microsoft.com/office/drawing/2014/main" id="{69B3690B-6382-4AC7-9E7C-489107BE6259}"/>
              </a:ext>
            </a:extLst>
          </p:cNvPr>
          <p:cNvSpPr>
            <a:spLocks noGrp="1"/>
          </p:cNvSpPr>
          <p:nvPr/>
        </p:nvSpPr>
        <p:spPr>
          <a:xfrm>
            <a:off x="7004304"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58,112 up • 60,185 down</a:t>
            </a:r>
          </a:p>
        </p:txBody>
      </p:sp>
      <p:sp>
        <p:nvSpPr>
          <p:cNvPr id="25" name="Rounded Rectangle 24">
            <a:extLst>
              <a:ext uri="{FF2B5EF4-FFF2-40B4-BE49-F238E27FC236}">
                <a16:creationId xmlns:a16="http://schemas.microsoft.com/office/drawing/2014/main" id="{658A74AD-25F6-4091-B072-DA06336F1B1B}"/>
              </a:ext>
            </a:extLst>
          </p:cNvPr>
          <p:cNvSpPr>
            <a:spLocks noGrp="1"/>
          </p:cNvSpPr>
          <p:nvPr/>
        </p:nvSpPr>
        <p:spPr>
          <a:xfrm>
            <a:off x="9089136"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C6B67BD-53DA-4B1B-B4D9-A66F7CC6F87C}"/>
              </a:ext>
            </a:extLst>
          </p:cNvPr>
          <p:cNvSpPr>
            <a:spLocks noGrp="1"/>
          </p:cNvSpPr>
          <p:nvPr/>
        </p:nvSpPr>
        <p:spPr>
          <a:xfrm>
            <a:off x="9235440"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9,262</a:t>
            </a:r>
          </a:p>
        </p:txBody>
      </p:sp>
      <p:sp>
        <p:nvSpPr>
          <p:cNvPr id="27" name="TextBox 26">
            <a:extLst>
              <a:ext uri="{FF2B5EF4-FFF2-40B4-BE49-F238E27FC236}">
                <a16:creationId xmlns:a16="http://schemas.microsoft.com/office/drawing/2014/main" id="{5A085EBF-A4E2-4594-96C0-0B5797A10083}"/>
              </a:ext>
            </a:extLst>
          </p:cNvPr>
          <p:cNvSpPr>
            <a:spLocks noGrp="1"/>
          </p:cNvSpPr>
          <p:nvPr/>
        </p:nvSpPr>
        <p:spPr>
          <a:xfrm>
            <a:off x="9235440" y="1975104"/>
            <a:ext cx="1773935"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MitoCarta MT DEG occurrences</a:t>
            </a:r>
          </a:p>
        </p:txBody>
      </p:sp>
      <p:sp>
        <p:nvSpPr>
          <p:cNvPr id="28" name="TextBox 27">
            <a:extLst>
              <a:ext uri="{FF2B5EF4-FFF2-40B4-BE49-F238E27FC236}">
                <a16:creationId xmlns:a16="http://schemas.microsoft.com/office/drawing/2014/main" id="{8C904E69-0137-4825-A2DB-91EC93BCDF6D}"/>
              </a:ext>
            </a:extLst>
          </p:cNvPr>
          <p:cNvSpPr>
            <a:spLocks noGrp="1"/>
          </p:cNvSpPr>
          <p:nvPr/>
        </p:nvSpPr>
        <p:spPr>
          <a:xfrm>
            <a:off x="9235440"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4,258 up • 5,004 down</a:t>
            </a:r>
          </a:p>
        </p:txBody>
      </p:sp>
      <p:sp>
        <p:nvSpPr>
          <p:cNvPr id="29" name="Rounded Rectangle 28">
            <a:extLst>
              <a:ext uri="{FF2B5EF4-FFF2-40B4-BE49-F238E27FC236}">
                <a16:creationId xmlns:a16="http://schemas.microsoft.com/office/drawing/2014/main" id="{75FF7E4C-5D0A-47DA-8950-FE7DA023D128}"/>
              </a:ext>
            </a:extLst>
          </p:cNvPr>
          <p:cNvSpPr>
            <a:spLocks noGrp="1"/>
          </p:cNvSpPr>
          <p:nvPr/>
        </p:nvSpPr>
        <p:spPr>
          <a:xfrm>
            <a:off x="4626864" y="3017520"/>
            <a:ext cx="6528816" cy="247802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5E5D0AEF-3CE0-496D-9A6B-9793B89FCBCB}"/>
              </a:ext>
            </a:extLst>
          </p:cNvPr>
          <p:cNvSpPr>
            <a:spLocks noGrp="1"/>
          </p:cNvSpPr>
          <p:nvPr/>
        </p:nvSpPr>
        <p:spPr>
          <a:xfrm>
            <a:off x="4901184" y="3291840"/>
            <a:ext cx="31089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50" b="1" i="0">
                <a:solidFill>
                  <a:srgbClr val="009E73"/>
                </a:solidFill>
                <a:latin typeface="Arial"/>
                <a:ea typeface="Arial"/>
                <a:cs typeface="Arial"/>
              </a:rPr>
              <a:t>NETWORK-BACKGROUND INTERSECTION</a:t>
            </a:r>
          </a:p>
        </p:txBody>
      </p:sp>
      <p:sp>
        <p:nvSpPr>
          <p:cNvPr id="31" name="TextBox 30">
            <a:extLst>
              <a:ext uri="{FF2B5EF4-FFF2-40B4-BE49-F238E27FC236}">
                <a16:creationId xmlns:a16="http://schemas.microsoft.com/office/drawing/2014/main" id="{79EB081A-365D-415F-A7A1-700793E28812}"/>
              </a:ext>
            </a:extLst>
          </p:cNvPr>
          <p:cNvSpPr>
            <a:spLocks noGrp="1"/>
          </p:cNvSpPr>
          <p:nvPr/>
        </p:nvSpPr>
        <p:spPr>
          <a:xfrm>
            <a:off x="4919472" y="3694176"/>
            <a:ext cx="5806440" cy="3247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50" b="1" i="0">
                <a:solidFill>
                  <a:srgbClr val="0F233D"/>
                </a:solidFill>
                <a:latin typeface="Arial"/>
                <a:ea typeface="Arial"/>
                <a:cs typeface="Arial"/>
              </a:rPr>
              <a:t>9,262 provisional query occurrences</a:t>
            </a:r>
          </a:p>
        </p:txBody>
      </p:sp>
      <p:sp>
        <p:nvSpPr>
          <p:cNvPr id="32" name="TextBox 31">
            <a:extLst>
              <a:ext uri="{FF2B5EF4-FFF2-40B4-BE49-F238E27FC236}">
                <a16:creationId xmlns:a16="http://schemas.microsoft.com/office/drawing/2014/main" id="{C60C4732-1566-462C-8E78-496CB14F271F}"/>
              </a:ext>
            </a:extLst>
          </p:cNvPr>
          <p:cNvSpPr>
            <a:spLocks noGrp="1"/>
          </p:cNvSpPr>
          <p:nvPr/>
        </p:nvSpPr>
        <p:spPr>
          <a:xfrm>
            <a:off x="4919472" y="4133087"/>
            <a:ext cx="5321808"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D55E00"/>
                </a:solidFill>
                <a:latin typeface="Arial"/>
                <a:ea typeface="Arial"/>
                <a:cs typeface="Arial"/>
              </a:rPr>
              <a:t>− 1,329 absent from the </a:t>
            </a:r>
            <a:r>
              <a:rPr sz="1300" b="1">
                <a:solidFill>
                  <a:srgbClr val="D55E00"/>
                </a:solidFill>
                <a:latin typeface="Arial"/>
                <a:ea typeface="Arial"/>
                <a:cs typeface="Arial"/>
              </a:rPr>
              <a:t>Bayesian network</a:t>
            </a:r>
            <a:endParaRPr sz="1300" b="1" i="0">
              <a:solidFill>
                <a:srgbClr val="D55E00"/>
              </a:solidFill>
              <a:latin typeface="Arial"/>
              <a:ea typeface="Arial"/>
              <a:cs typeface="Arial"/>
            </a:endParaRPr>
          </a:p>
        </p:txBody>
      </p:sp>
      <p:sp>
        <p:nvSpPr>
          <p:cNvPr id="33" name="TextBox 32">
            <a:extLst>
              <a:ext uri="{FF2B5EF4-FFF2-40B4-BE49-F238E27FC236}">
                <a16:creationId xmlns:a16="http://schemas.microsoft.com/office/drawing/2014/main" id="{7248E692-28A0-4C03-A384-7F8EC33D7A39}"/>
              </a:ext>
            </a:extLst>
          </p:cNvPr>
          <p:cNvSpPr>
            <a:spLocks noGrp="1"/>
          </p:cNvSpPr>
          <p:nvPr/>
        </p:nvSpPr>
        <p:spPr>
          <a:xfrm>
            <a:off x="4919472" y="4626864"/>
            <a:ext cx="5806440"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800" b="1" i="0">
                <a:solidFill>
                  <a:srgbClr val="009E73"/>
                </a:solidFill>
                <a:latin typeface="Arial"/>
                <a:ea typeface="Arial"/>
                <a:cs typeface="Arial"/>
              </a:rPr>
              <a:t>= 7,933 mapped query occurrences</a:t>
            </a:r>
          </a:p>
        </p:txBody>
      </p:sp>
      <p:sp>
        <p:nvSpPr>
          <p:cNvPr id="34" name="TextBox 33">
            <a:extLst>
              <a:ext uri="{FF2B5EF4-FFF2-40B4-BE49-F238E27FC236}">
                <a16:creationId xmlns:a16="http://schemas.microsoft.com/office/drawing/2014/main" id="{CD45A583-6B16-40E3-B6F3-8D38E9354DC5}"/>
              </a:ext>
            </a:extLst>
          </p:cNvPr>
          <p:cNvSpPr>
            <a:spLocks noGrp="1"/>
          </p:cNvSpPr>
          <p:nvPr/>
        </p:nvSpPr>
        <p:spPr>
          <a:xfrm>
            <a:off x="4928616" y="5074920"/>
            <a:ext cx="5422392"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0" i="0">
                <a:solidFill>
                  <a:srgbClr val="4E5A68"/>
                </a:solidFill>
                <a:latin typeface="Arial"/>
                <a:ea typeface="Arial"/>
                <a:cs typeface="Arial"/>
              </a:rPr>
              <a:t>Membership counts can repeat genes across contrasts; each contrast contributes one query.</a:t>
            </a:r>
          </a:p>
        </p:txBody>
      </p:sp>
    </p:spTree>
    <p:extLst>
      <p:ext uri="{BB962C8B-B14F-4D97-AF65-F5344CB8AC3E}">
        <p14:creationId xmlns:p14="http://schemas.microsoft.com/office/powerpoint/2010/main" val="16469630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2F691C-43D8-4399-B191-59852569AB5A}"/>
              </a:ext>
            </a:extLst>
          </p:cNvPr>
          <p:cNvSpPr>
            <a:spLocks noGrp="1"/>
          </p:cNvSpPr>
          <p:nvPr/>
        </p:nvSpPr>
        <p:spPr>
          <a:xfrm>
            <a:off x="530352" y="411480"/>
            <a:ext cx="10652760" cy="70173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ROSMAP KDA summary: 381 non-MitoCarta gene × category combinations represent 228 distinct genes</a:t>
            </a:r>
          </a:p>
        </p:txBody>
      </p:sp>
      <p:sp>
        <p:nvSpPr>
          <p:cNvPr id="5" name="Rounded Rectangle 4">
            <a:extLst>
              <a:ext uri="{FF2B5EF4-FFF2-40B4-BE49-F238E27FC236}">
                <a16:creationId xmlns:a16="http://schemas.microsoft.com/office/drawing/2014/main" id="{5F8E1F0F-EC09-48D5-B3D5-CDE2A120B8ED}"/>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FCB72B2-40C8-4FFA-8C93-F91DEF5292C7}"/>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623</a:t>
            </a:r>
          </a:p>
        </p:txBody>
      </p:sp>
      <p:sp>
        <p:nvSpPr>
          <p:cNvPr id="7" name="TextBox 6">
            <a:extLst>
              <a:ext uri="{FF2B5EF4-FFF2-40B4-BE49-F238E27FC236}">
                <a16:creationId xmlns:a16="http://schemas.microsoft.com/office/drawing/2014/main" id="{5F450053-A28A-4BA6-8887-B2E16530F34A}"/>
              </a:ext>
            </a:extLst>
          </p:cNvPr>
          <p:cNvSpPr>
            <a:spLocks noGrp="1"/>
          </p:cNvSpPr>
          <p:nvPr/>
        </p:nvSpPr>
        <p:spPr>
          <a:xfrm>
            <a:off x="804672" y="1938528"/>
            <a:ext cx="1645920" cy="740664"/>
          </a:xfrm>
          <a:prstGeom prst="rect">
            <a:avLst/>
          </a:prstGeom>
          <a:noFill/>
        </p:spPr>
        <p:txBody>
          <a:bodyPr wrap="square" lIns="27432" tIns="27432" rIns="27432" bIns="27432" anchor="t">
            <a:spAutoFit/>
          </a:bodyPr>
          <a:lstStyle/>
          <a:p>
            <a:r>
              <a:rPr sz="900" b="1">
                <a:solidFill>
                  <a:srgbClr val="4E5A68"/>
                </a:solidFill>
                <a:latin typeface="Arial"/>
                <a:ea typeface="Arial"/>
                <a:cs typeface="Arial"/>
              </a:rPr>
              <a:t>non-MitoCarta gene returned from KDA call (before aggregation)</a:t>
            </a:r>
          </a:p>
          <a:p>
            <a:pPr algn="l">
              <a:lnSpc>
                <a:spcPct val="100000"/>
              </a:lnSpc>
              <a:spcBef>
                <a:spcPts val="0"/>
              </a:spcBef>
              <a:spcAft>
                <a:spcPts val="0"/>
              </a:spcAft>
              <a:buNone/>
            </a:pPr>
            <a:endParaRPr sz="880" b="1" i="0">
              <a:solidFill>
                <a:srgbClr val="4E5A68"/>
              </a:solidFill>
              <a:latin typeface="Arial"/>
              <a:ea typeface="Arial"/>
              <a:cs typeface="Arial"/>
            </a:endParaRPr>
          </a:p>
        </p:txBody>
      </p:sp>
      <p:sp>
        <p:nvSpPr>
          <p:cNvPr id="8" name="Rounded Rectangle 7">
            <a:extLst>
              <a:ext uri="{FF2B5EF4-FFF2-40B4-BE49-F238E27FC236}">
                <a16:creationId xmlns:a16="http://schemas.microsoft.com/office/drawing/2014/main" id="{99981A44-1C12-4123-A49F-585412D7AFF7}"/>
              </a:ext>
            </a:extLst>
          </p:cNvPr>
          <p:cNvSpPr>
            <a:spLocks noGrp="1"/>
          </p:cNvSpPr>
          <p:nvPr/>
        </p:nvSpPr>
        <p:spPr>
          <a:xfrm>
            <a:off x="2798064"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4EF7B2A-4954-49A6-9B47-51FCB9C085BD}"/>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0" name="TextBox 9">
            <a:extLst>
              <a:ext uri="{FF2B5EF4-FFF2-40B4-BE49-F238E27FC236}">
                <a16:creationId xmlns:a16="http://schemas.microsoft.com/office/drawing/2014/main" id="{C3F09E70-D53D-401E-B7D5-721C2785CBEC}"/>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 category combinations</a:t>
            </a:r>
          </a:p>
        </p:txBody>
      </p:sp>
      <p:sp>
        <p:nvSpPr>
          <p:cNvPr id="11" name="Rounded Rectangle 10">
            <a:extLst>
              <a:ext uri="{FF2B5EF4-FFF2-40B4-BE49-F238E27FC236}">
                <a16:creationId xmlns:a16="http://schemas.microsoft.com/office/drawing/2014/main" id="{6689581A-ED20-4F0C-AA15-1AE5E7CB9D6F}"/>
              </a:ext>
            </a:extLst>
          </p:cNvPr>
          <p:cNvSpPr>
            <a:spLocks noGrp="1"/>
          </p:cNvSpPr>
          <p:nvPr/>
        </p:nvSpPr>
        <p:spPr>
          <a:xfrm>
            <a:off x="4937760"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1E91F98-ED6C-4488-8DD7-E36F5B0AC9A7}"/>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228</a:t>
            </a:r>
          </a:p>
        </p:txBody>
      </p:sp>
      <p:sp>
        <p:nvSpPr>
          <p:cNvPr id="13" name="TextBox 12">
            <a:extLst>
              <a:ext uri="{FF2B5EF4-FFF2-40B4-BE49-F238E27FC236}">
                <a16:creationId xmlns:a16="http://schemas.microsoft.com/office/drawing/2014/main" id="{288C696D-CF39-4EF6-B4B8-3B8E29725F75}"/>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4" name="Rounded Rectangle 13">
            <a:extLst>
              <a:ext uri="{FF2B5EF4-FFF2-40B4-BE49-F238E27FC236}">
                <a16:creationId xmlns:a16="http://schemas.microsoft.com/office/drawing/2014/main" id="{B9655AB7-C84D-40BD-ADC4-9492EA67959C}"/>
              </a:ext>
            </a:extLst>
          </p:cNvPr>
          <p:cNvSpPr>
            <a:spLocks noGrp="1"/>
          </p:cNvSpPr>
          <p:nvPr/>
        </p:nvSpPr>
        <p:spPr>
          <a:xfrm>
            <a:off x="7077456"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BE7D19B-D31A-47FF-B1E7-26E6AD0B4197}"/>
              </a:ext>
            </a:extLst>
          </p:cNvPr>
          <p:cNvSpPr>
            <a:spLocks noGrp="1"/>
          </p:cNvSpPr>
          <p:nvPr/>
        </p:nvSpPr>
        <p:spPr>
          <a:xfrm>
            <a:off x="7223760"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29</a:t>
            </a:r>
          </a:p>
        </p:txBody>
      </p:sp>
      <p:sp>
        <p:nvSpPr>
          <p:cNvPr id="16" name="TextBox 15">
            <a:extLst>
              <a:ext uri="{FF2B5EF4-FFF2-40B4-BE49-F238E27FC236}">
                <a16:creationId xmlns:a16="http://schemas.microsoft.com/office/drawing/2014/main" id="{EB178ADB-DEA9-456E-BBF6-22D358F15D49}"/>
              </a:ext>
            </a:extLst>
          </p:cNvPr>
          <p:cNvSpPr>
            <a:spLocks noGrp="1"/>
          </p:cNvSpPr>
          <p:nvPr/>
        </p:nvSpPr>
        <p:spPr>
          <a:xfrm>
            <a:off x="7223760"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7" name="Rounded Rectangle 16">
            <a:extLst>
              <a:ext uri="{FF2B5EF4-FFF2-40B4-BE49-F238E27FC236}">
                <a16:creationId xmlns:a16="http://schemas.microsoft.com/office/drawing/2014/main" id="{2BBA2494-4EF1-43C4-90F3-59BDAF9D9BEB}"/>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4E22C672-9FA5-42B0-8258-3B27F10D6A07}"/>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123</a:t>
            </a:r>
          </a:p>
        </p:txBody>
      </p:sp>
      <p:sp>
        <p:nvSpPr>
          <p:cNvPr id="19" name="TextBox 18">
            <a:extLst>
              <a:ext uri="{FF2B5EF4-FFF2-40B4-BE49-F238E27FC236}">
                <a16:creationId xmlns:a16="http://schemas.microsoft.com/office/drawing/2014/main" id="{E52876D5-BB9F-4E3C-9AD5-0233BA13CE45}"/>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20" name="Rounded Rectangle 19">
            <a:extLst>
              <a:ext uri="{FF2B5EF4-FFF2-40B4-BE49-F238E27FC236}">
                <a16:creationId xmlns:a16="http://schemas.microsoft.com/office/drawing/2014/main" id="{6344C532-B670-480E-A4EC-1C16491D7C61}"/>
              </a:ext>
            </a:extLst>
          </p:cNvPr>
          <p:cNvSpPr>
            <a:spLocks noGrp="1"/>
          </p:cNvSpPr>
          <p:nvPr/>
        </p:nvSpPr>
        <p:spPr>
          <a:xfrm>
            <a:off x="658368" y="2871216"/>
            <a:ext cx="5266944" cy="2834640"/>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39C60D81-49EF-488F-AA35-9B23234333DB}"/>
              </a:ext>
            </a:extLst>
          </p:cNvPr>
          <p:cNvSpPr>
            <a:spLocks noGrp="1"/>
          </p:cNvSpPr>
          <p:nvPr/>
        </p:nvSpPr>
        <p:spPr>
          <a:xfrm>
            <a:off x="932688"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BAE0462A-9ED8-4454-A164-28B033EF2A53}"/>
              </a:ext>
            </a:extLst>
          </p:cNvPr>
          <p:cNvSpPr>
            <a:spLocks noGrp="1"/>
          </p:cNvSpPr>
          <p:nvPr/>
        </p:nvSpPr>
        <p:spPr>
          <a:xfrm>
            <a:off x="1078992" y="3163824"/>
            <a:ext cx="4572000"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non-MitoCarta gene × category units occur</a:t>
            </a:r>
          </a:p>
        </p:txBody>
      </p:sp>
      <p:sp>
        <p:nvSpPr>
          <p:cNvPr id="23" name="TextBox 22">
            <a:extLst>
              <a:ext uri="{FF2B5EF4-FFF2-40B4-BE49-F238E27FC236}">
                <a16:creationId xmlns:a16="http://schemas.microsoft.com/office/drawing/2014/main" id="{541E13B5-4E6A-402C-A5DA-1B27BA3AA5DD}"/>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sex/APOE group</a:t>
            </a:r>
          </a:p>
        </p:txBody>
      </p:sp>
      <p:sp>
        <p:nvSpPr>
          <p:cNvPr id="24" name="TextBox 23">
            <a:extLst>
              <a:ext uri="{FF2B5EF4-FFF2-40B4-BE49-F238E27FC236}">
                <a16:creationId xmlns:a16="http://schemas.microsoft.com/office/drawing/2014/main" id="{F3960DED-7D97-470A-9484-45F765CC75AC}"/>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1" i="0">
                <a:solidFill>
                  <a:srgbClr val="0F233D"/>
                </a:solidFill>
                <a:latin typeface="Arial"/>
                <a:ea typeface="Arial"/>
                <a:cs typeface="Arial"/>
              </a:rPr>
              <a:t>F_e4 81 • M_e33 79 • M_e2 70
F_e33 56 • F_e2 54 • M_e4 41</a:t>
            </a:r>
          </a:p>
        </p:txBody>
      </p:sp>
      <p:sp>
        <p:nvSpPr>
          <p:cNvPr id="25" name="TextBox 24">
            <a:extLst>
              <a:ext uri="{FF2B5EF4-FFF2-40B4-BE49-F238E27FC236}">
                <a16:creationId xmlns:a16="http://schemas.microsoft.com/office/drawing/2014/main" id="{8B75E5CD-75EB-4449-B32E-D12075F51E15}"/>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broad network</a:t>
            </a:r>
          </a:p>
        </p:txBody>
      </p:sp>
      <p:sp>
        <p:nvSpPr>
          <p:cNvPr id="26" name="TextBox 25">
            <a:extLst>
              <a:ext uri="{FF2B5EF4-FFF2-40B4-BE49-F238E27FC236}">
                <a16:creationId xmlns:a16="http://schemas.microsoft.com/office/drawing/2014/main" id="{A3609D55-F968-46EF-BBC1-BE9FE71580C8}"/>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30" b="1" i="0">
                <a:solidFill>
                  <a:srgbClr val="0F233D"/>
                </a:solidFill>
                <a:latin typeface="Arial"/>
                <a:ea typeface="Arial"/>
                <a:cs typeface="Arial"/>
              </a:rPr>
              <a:t>Excitatory 153 • Inhibitory 146 • Astrocytes 32 • OPCs 21
Oligo 18 • Vasculature 6 • Microglia 5</a:t>
            </a:r>
          </a:p>
        </p:txBody>
      </p:sp>
      <p:sp>
        <p:nvSpPr>
          <p:cNvPr id="27" name="Rounded Rectangle 26">
            <a:extLst>
              <a:ext uri="{FF2B5EF4-FFF2-40B4-BE49-F238E27FC236}">
                <a16:creationId xmlns:a16="http://schemas.microsoft.com/office/drawing/2014/main" id="{47D4805F-D784-4954-A1BD-31BEE9FA297D}"/>
              </a:ext>
            </a:extLst>
          </p:cNvPr>
          <p:cNvSpPr>
            <a:spLocks noGrp="1"/>
          </p:cNvSpPr>
          <p:nvPr/>
        </p:nvSpPr>
        <p:spPr>
          <a:xfrm>
            <a:off x="6181344" y="2871216"/>
            <a:ext cx="5010912"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Rectangle 27">
            <a:extLst>
              <a:ext uri="{FF2B5EF4-FFF2-40B4-BE49-F238E27FC236}">
                <a16:creationId xmlns:a16="http://schemas.microsoft.com/office/drawing/2014/main" id="{5BCC4F7E-85B8-4D41-944E-15A4307874F6}"/>
              </a:ext>
            </a:extLst>
          </p:cNvPr>
          <p:cNvSpPr>
            <a:spLocks noGrp="1"/>
          </p:cNvSpPr>
          <p:nvPr/>
        </p:nvSpPr>
        <p:spPr>
          <a:xfrm>
            <a:off x="6455664"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46AE0B48-62D3-4E26-B2E4-CF01DD1AC486}"/>
              </a:ext>
            </a:extLst>
          </p:cNvPr>
          <p:cNvSpPr>
            <a:spLocks noGrp="1"/>
          </p:cNvSpPr>
          <p:nvPr/>
        </p:nvSpPr>
        <p:spPr>
          <a:xfrm>
            <a:off x="6601968" y="3163824"/>
            <a:ext cx="431596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Most recurrent genes</a:t>
            </a:r>
          </a:p>
        </p:txBody>
      </p:sp>
      <p:sp>
        <p:nvSpPr>
          <p:cNvPr id="30" name="TextBox 29">
            <a:extLst>
              <a:ext uri="{FF2B5EF4-FFF2-40B4-BE49-F238E27FC236}">
                <a16:creationId xmlns:a16="http://schemas.microsoft.com/office/drawing/2014/main" id="{636EEA92-F41C-4FF9-A923-6729FC705521}"/>
              </a:ext>
            </a:extLst>
          </p:cNvPr>
          <p:cNvSpPr>
            <a:spLocks noGrp="1"/>
          </p:cNvSpPr>
          <p:nvPr/>
        </p:nvSpPr>
        <p:spPr>
          <a:xfrm>
            <a:off x="6473952" y="367588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RPS15</a:t>
            </a:r>
          </a:p>
        </p:txBody>
      </p:sp>
      <p:sp>
        <p:nvSpPr>
          <p:cNvPr id="31" name="Rectangle 30">
            <a:extLst>
              <a:ext uri="{FF2B5EF4-FFF2-40B4-BE49-F238E27FC236}">
                <a16:creationId xmlns:a16="http://schemas.microsoft.com/office/drawing/2014/main" id="{DEF75826-B228-41E5-91FF-42A57C002E40}"/>
              </a:ext>
            </a:extLst>
          </p:cNvPr>
          <p:cNvSpPr>
            <a:spLocks noGrp="1"/>
          </p:cNvSpPr>
          <p:nvPr/>
        </p:nvSpPr>
        <p:spPr>
          <a:xfrm>
            <a:off x="7891272" y="3703320"/>
            <a:ext cx="2395728"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8A307577-F80F-46C4-8C7B-0F7979026918}"/>
              </a:ext>
            </a:extLst>
          </p:cNvPr>
          <p:cNvSpPr>
            <a:spLocks noGrp="1"/>
          </p:cNvSpPr>
          <p:nvPr/>
        </p:nvSpPr>
        <p:spPr>
          <a:xfrm>
            <a:off x="10442448" y="367588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11</a:t>
            </a:r>
          </a:p>
        </p:txBody>
      </p:sp>
      <p:sp>
        <p:nvSpPr>
          <p:cNvPr id="33" name="TextBox 32">
            <a:extLst>
              <a:ext uri="{FF2B5EF4-FFF2-40B4-BE49-F238E27FC236}">
                <a16:creationId xmlns:a16="http://schemas.microsoft.com/office/drawing/2014/main" id="{1FE6CB5A-A943-4A0E-96BC-A846C6227B91}"/>
              </a:ext>
            </a:extLst>
          </p:cNvPr>
          <p:cNvSpPr>
            <a:spLocks noGrp="1"/>
          </p:cNvSpPr>
          <p:nvPr/>
        </p:nvSpPr>
        <p:spPr>
          <a:xfrm>
            <a:off x="6473952" y="3968496"/>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RPL11</a:t>
            </a:r>
          </a:p>
        </p:txBody>
      </p:sp>
      <p:sp>
        <p:nvSpPr>
          <p:cNvPr id="34" name="Rectangle 33">
            <a:extLst>
              <a:ext uri="{FF2B5EF4-FFF2-40B4-BE49-F238E27FC236}">
                <a16:creationId xmlns:a16="http://schemas.microsoft.com/office/drawing/2014/main" id="{DB34BC49-2FF9-4221-B17C-1D5EE03703CC}"/>
              </a:ext>
            </a:extLst>
          </p:cNvPr>
          <p:cNvSpPr>
            <a:spLocks noGrp="1"/>
          </p:cNvSpPr>
          <p:nvPr/>
        </p:nvSpPr>
        <p:spPr>
          <a:xfrm>
            <a:off x="7891272" y="3995928"/>
            <a:ext cx="217793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7D89DA8B-6223-4B22-9B22-27979EC32E5A}"/>
              </a:ext>
            </a:extLst>
          </p:cNvPr>
          <p:cNvSpPr>
            <a:spLocks noGrp="1"/>
          </p:cNvSpPr>
          <p:nvPr/>
        </p:nvSpPr>
        <p:spPr>
          <a:xfrm>
            <a:off x="10442448" y="3968496"/>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10</a:t>
            </a:r>
          </a:p>
        </p:txBody>
      </p:sp>
      <p:sp>
        <p:nvSpPr>
          <p:cNvPr id="36" name="TextBox 35">
            <a:extLst>
              <a:ext uri="{FF2B5EF4-FFF2-40B4-BE49-F238E27FC236}">
                <a16:creationId xmlns:a16="http://schemas.microsoft.com/office/drawing/2014/main" id="{B9783288-FA8E-4083-980C-E5682BED9CBB}"/>
              </a:ext>
            </a:extLst>
          </p:cNvPr>
          <p:cNvSpPr>
            <a:spLocks noGrp="1"/>
          </p:cNvSpPr>
          <p:nvPr/>
        </p:nvSpPr>
        <p:spPr>
          <a:xfrm>
            <a:off x="6473952" y="4261103"/>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RPLP1</a:t>
            </a:r>
          </a:p>
        </p:txBody>
      </p:sp>
      <p:sp>
        <p:nvSpPr>
          <p:cNvPr id="37" name="Rectangle 36">
            <a:extLst>
              <a:ext uri="{FF2B5EF4-FFF2-40B4-BE49-F238E27FC236}">
                <a16:creationId xmlns:a16="http://schemas.microsoft.com/office/drawing/2014/main" id="{860394BE-0508-4B60-93FD-518C22F4517D}"/>
              </a:ext>
            </a:extLst>
          </p:cNvPr>
          <p:cNvSpPr>
            <a:spLocks noGrp="1"/>
          </p:cNvSpPr>
          <p:nvPr/>
        </p:nvSpPr>
        <p:spPr>
          <a:xfrm>
            <a:off x="7891272" y="4288536"/>
            <a:ext cx="1742347"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B2902C57-197B-4C3D-B183-C47ACEDC3831}"/>
              </a:ext>
            </a:extLst>
          </p:cNvPr>
          <p:cNvSpPr>
            <a:spLocks noGrp="1"/>
          </p:cNvSpPr>
          <p:nvPr/>
        </p:nvSpPr>
        <p:spPr>
          <a:xfrm>
            <a:off x="10442448" y="4261103"/>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8</a:t>
            </a:r>
          </a:p>
        </p:txBody>
      </p:sp>
      <p:sp>
        <p:nvSpPr>
          <p:cNvPr id="39" name="TextBox 38">
            <a:extLst>
              <a:ext uri="{FF2B5EF4-FFF2-40B4-BE49-F238E27FC236}">
                <a16:creationId xmlns:a16="http://schemas.microsoft.com/office/drawing/2014/main" id="{B893E2FF-040D-4C59-9844-FC37A83293A3}"/>
              </a:ext>
            </a:extLst>
          </p:cNvPr>
          <p:cNvSpPr>
            <a:spLocks noGrp="1"/>
          </p:cNvSpPr>
          <p:nvPr/>
        </p:nvSpPr>
        <p:spPr>
          <a:xfrm>
            <a:off x="6473952" y="4553712"/>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RPL15</a:t>
            </a:r>
          </a:p>
        </p:txBody>
      </p:sp>
      <p:sp>
        <p:nvSpPr>
          <p:cNvPr id="40" name="Rectangle 39">
            <a:extLst>
              <a:ext uri="{FF2B5EF4-FFF2-40B4-BE49-F238E27FC236}">
                <a16:creationId xmlns:a16="http://schemas.microsoft.com/office/drawing/2014/main" id="{A765CF75-CFC2-4AF8-BD8A-B53EDBF271F8}"/>
              </a:ext>
            </a:extLst>
          </p:cNvPr>
          <p:cNvSpPr>
            <a:spLocks noGrp="1"/>
          </p:cNvSpPr>
          <p:nvPr/>
        </p:nvSpPr>
        <p:spPr>
          <a:xfrm>
            <a:off x="7891272" y="4581144"/>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76F8F2DF-CA1B-42CC-9A73-753A938A556D}"/>
              </a:ext>
            </a:extLst>
          </p:cNvPr>
          <p:cNvSpPr>
            <a:spLocks noGrp="1"/>
          </p:cNvSpPr>
          <p:nvPr/>
        </p:nvSpPr>
        <p:spPr>
          <a:xfrm>
            <a:off x="10442448" y="4553712"/>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2" name="TextBox 41">
            <a:extLst>
              <a:ext uri="{FF2B5EF4-FFF2-40B4-BE49-F238E27FC236}">
                <a16:creationId xmlns:a16="http://schemas.microsoft.com/office/drawing/2014/main" id="{C612AC7A-D16F-4870-94FC-8A17EAFC29D9}"/>
              </a:ext>
            </a:extLst>
          </p:cNvPr>
          <p:cNvSpPr>
            <a:spLocks noGrp="1"/>
          </p:cNvSpPr>
          <p:nvPr/>
        </p:nvSpPr>
        <p:spPr>
          <a:xfrm>
            <a:off x="6473952" y="4846320"/>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SELENOM</a:t>
            </a:r>
          </a:p>
        </p:txBody>
      </p:sp>
      <p:sp>
        <p:nvSpPr>
          <p:cNvPr id="43" name="Rectangle 42">
            <a:extLst>
              <a:ext uri="{FF2B5EF4-FFF2-40B4-BE49-F238E27FC236}">
                <a16:creationId xmlns:a16="http://schemas.microsoft.com/office/drawing/2014/main" id="{D2AD86A1-F340-4B14-A0FC-623E225596BF}"/>
              </a:ext>
            </a:extLst>
          </p:cNvPr>
          <p:cNvSpPr>
            <a:spLocks noGrp="1"/>
          </p:cNvSpPr>
          <p:nvPr/>
        </p:nvSpPr>
        <p:spPr>
          <a:xfrm>
            <a:off x="7891272" y="4873752"/>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9B477462-606B-48D9-8DA8-22B3E45C662C}"/>
              </a:ext>
            </a:extLst>
          </p:cNvPr>
          <p:cNvSpPr>
            <a:spLocks noGrp="1"/>
          </p:cNvSpPr>
          <p:nvPr/>
        </p:nvSpPr>
        <p:spPr>
          <a:xfrm>
            <a:off x="10442448" y="4846320"/>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5" name="TextBox 44">
            <a:extLst>
              <a:ext uri="{FF2B5EF4-FFF2-40B4-BE49-F238E27FC236}">
                <a16:creationId xmlns:a16="http://schemas.microsoft.com/office/drawing/2014/main" id="{3D215224-4931-41F6-8127-BFB85EC1146D}"/>
              </a:ext>
            </a:extLst>
          </p:cNvPr>
          <p:cNvSpPr>
            <a:spLocks noGrp="1"/>
          </p:cNvSpPr>
          <p:nvPr/>
        </p:nvSpPr>
        <p:spPr>
          <a:xfrm>
            <a:off x="6473952" y="513892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SELENOW</a:t>
            </a:r>
          </a:p>
        </p:txBody>
      </p:sp>
      <p:sp>
        <p:nvSpPr>
          <p:cNvPr id="46" name="Rectangle 45">
            <a:extLst>
              <a:ext uri="{FF2B5EF4-FFF2-40B4-BE49-F238E27FC236}">
                <a16:creationId xmlns:a16="http://schemas.microsoft.com/office/drawing/2014/main" id="{2E6D6079-43B0-468C-8BD6-C0FB33E5F229}"/>
              </a:ext>
            </a:extLst>
          </p:cNvPr>
          <p:cNvSpPr>
            <a:spLocks noGrp="1"/>
          </p:cNvSpPr>
          <p:nvPr/>
        </p:nvSpPr>
        <p:spPr>
          <a:xfrm>
            <a:off x="7891272" y="5166359"/>
            <a:ext cx="1306760"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FCF83AE-E576-4AC6-B8B3-207260CA5A97}"/>
              </a:ext>
            </a:extLst>
          </p:cNvPr>
          <p:cNvSpPr>
            <a:spLocks noGrp="1"/>
          </p:cNvSpPr>
          <p:nvPr/>
        </p:nvSpPr>
        <p:spPr>
          <a:xfrm>
            <a:off x="10442448" y="513892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6</a:t>
            </a:r>
          </a:p>
        </p:txBody>
      </p:sp>
      <p:sp>
        <p:nvSpPr>
          <p:cNvPr id="48" name="TextBox 47">
            <a:extLst>
              <a:ext uri="{FF2B5EF4-FFF2-40B4-BE49-F238E27FC236}">
                <a16:creationId xmlns:a16="http://schemas.microsoft.com/office/drawing/2014/main" id="{1E742D18-C756-4BE3-951D-E47E47DE4E04}"/>
              </a:ext>
            </a:extLst>
          </p:cNvPr>
          <p:cNvSpPr>
            <a:spLocks noGrp="1"/>
          </p:cNvSpPr>
          <p:nvPr/>
        </p:nvSpPr>
        <p:spPr>
          <a:xfrm>
            <a:off x="6473952" y="5477256"/>
            <a:ext cx="4334256"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69" b="0" i="1">
                <a:solidFill>
                  <a:srgbClr val="4E5A68"/>
                </a:solidFill>
                <a:latin typeface="Arial"/>
                <a:ea typeface="Arial"/>
                <a:cs typeface="Arial"/>
              </a:rPr>
              <a:t>Counts are category presence—not independent replication or counts of KDA calls.</a:t>
            </a:r>
          </a:p>
        </p:txBody>
      </p:sp>
    </p:spTree>
    <p:extLst>
      <p:ext uri="{BB962C8B-B14F-4D97-AF65-F5344CB8AC3E}">
        <p14:creationId xmlns:p14="http://schemas.microsoft.com/office/powerpoint/2010/main" val="13446296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0D5145-8B7B-4D85-AB27-CA73D0EC15A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RPS15 recurs across 11 returned-only categories</a:t>
            </a:r>
          </a:p>
        </p:txBody>
      </p:sp>
      <p:sp>
        <p:nvSpPr>
          <p:cNvPr id="4" name="TextBox 3">
            <a:extLst>
              <a:ext uri="{FF2B5EF4-FFF2-40B4-BE49-F238E27FC236}">
                <a16:creationId xmlns:a16="http://schemas.microsoft.com/office/drawing/2014/main" id="{E09643F1-0DF0-4E7A-905C-7A370D90D80A}"/>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5" name="Rounded Rectangle 4">
            <a:extLst>
              <a:ext uri="{FF2B5EF4-FFF2-40B4-BE49-F238E27FC236}">
                <a16:creationId xmlns:a16="http://schemas.microsoft.com/office/drawing/2014/main" id="{326A8434-79BA-4E7F-86B9-4CC737E0D66C}"/>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2" name="Uniform-blue bar chart of the twenty ROSMAP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7" name="Rounded Rectangle 6">
            <a:extLst>
              <a:ext uri="{FF2B5EF4-FFF2-40B4-BE49-F238E27FC236}">
                <a16:creationId xmlns:a16="http://schemas.microsoft.com/office/drawing/2014/main" id="{568B3E97-0DA5-4527-8636-19A50D6F2A3D}"/>
              </a:ext>
            </a:extLst>
          </p:cNvPr>
          <p:cNvSpPr>
            <a:spLocks noGrp="1"/>
          </p:cNvSpPr>
          <p:nvPr/>
        </p:nvSpPr>
        <p:spPr>
          <a:xfrm>
            <a:off x="7232904" y="1298448"/>
            <a:ext cx="4343400" cy="45537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F930DCB1-3CD0-45D3-8567-E38D0A2A5882}"/>
              </a:ext>
            </a:extLst>
          </p:cNvPr>
          <p:cNvSpPr>
            <a:spLocks noGrp="1"/>
          </p:cNvSpPr>
          <p:nvPr/>
        </p:nvSpPr>
        <p:spPr>
          <a:xfrm>
            <a:off x="7516368" y="1618488"/>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531F2DC-A921-4954-BFC4-3DB577D19584}"/>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10" name="Oval 9">
            <a:extLst>
              <a:ext uri="{FF2B5EF4-FFF2-40B4-BE49-F238E27FC236}">
                <a16:creationId xmlns:a16="http://schemas.microsoft.com/office/drawing/2014/main" id="{023F2F40-FB35-4767-8BCA-94639FED2743}"/>
              </a:ext>
            </a:extLst>
          </p:cNvPr>
          <p:cNvSpPr>
            <a:spLocks noGrp="1"/>
          </p:cNvSpPr>
          <p:nvPr/>
        </p:nvSpPr>
        <p:spPr>
          <a:xfrm>
            <a:off x="7525512" y="22128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8B0313-B8B7-42BF-A686-C63F061ED88E}"/>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4" name="Oval 13">
            <a:extLst>
              <a:ext uri="{FF2B5EF4-FFF2-40B4-BE49-F238E27FC236}">
                <a16:creationId xmlns:a16="http://schemas.microsoft.com/office/drawing/2014/main" id="{7612F583-FF86-4B89-9757-930CFF01DE40}"/>
              </a:ext>
            </a:extLst>
          </p:cNvPr>
          <p:cNvSpPr>
            <a:spLocks noGrp="1"/>
          </p:cNvSpPr>
          <p:nvPr/>
        </p:nvSpPr>
        <p:spPr>
          <a:xfrm>
            <a:off x="7525512" y="27706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928DA47-67C4-474B-A326-08F4822AB0BC}"/>
              </a:ext>
            </a:extLst>
          </p:cNvPr>
          <p:cNvSpPr>
            <a:spLocks noGrp="1"/>
          </p:cNvSpPr>
          <p:nvPr/>
        </p:nvSpPr>
        <p:spPr>
          <a:xfrm>
            <a:off x="7699248" y="2642615"/>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RPS15: 11 categories, 6 sex/apoe groups, 4 bayesian networks.</a:t>
            </a:r>
          </a:p>
        </p:txBody>
      </p:sp>
      <p:sp>
        <p:nvSpPr>
          <p:cNvPr id="16" name="Oval 15">
            <a:extLst>
              <a:ext uri="{FF2B5EF4-FFF2-40B4-BE49-F238E27FC236}">
                <a16:creationId xmlns:a16="http://schemas.microsoft.com/office/drawing/2014/main" id="{088D031B-E132-4BC1-9CEC-0301C7DB254C}"/>
              </a:ext>
            </a:extLst>
          </p:cNvPr>
          <p:cNvSpPr>
            <a:spLocks noGrp="1"/>
          </p:cNvSpPr>
          <p:nvPr/>
        </p:nvSpPr>
        <p:spPr>
          <a:xfrm>
            <a:off x="7525512" y="3328415"/>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0A554CA-AC15-464E-B7AD-2C92321C7AB5}"/>
              </a:ext>
            </a:extLst>
          </p:cNvPr>
          <p:cNvSpPr>
            <a:spLocks noGrp="1"/>
          </p:cNvSpPr>
          <p:nvPr/>
        </p:nvSpPr>
        <p:spPr>
          <a:xfrm>
            <a:off x="7699248" y="3200399"/>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RPL11: 10 categories, 6 sex/apoe groups, 4 bayesian networks.</a:t>
            </a:r>
          </a:p>
        </p:txBody>
      </p:sp>
    </p:spTree>
    <p:extLst>
      <p:ext uri="{BB962C8B-B14F-4D97-AF65-F5344CB8AC3E}">
        <p14:creationId xmlns:p14="http://schemas.microsoft.com/office/powerpoint/2010/main" val="15691138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D75244-BEFA-4D8B-B23E-F54D1340600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Top five: 123 non-MitoCarta entries across 29 categories</a:t>
            </a:r>
          </a:p>
        </p:txBody>
      </p:sp>
      <p:pic>
        <p:nvPicPr>
          <p:cNvPr id="6" name="ROSMAP top-five non-MT key drivers with aligned sex rows, broad-cell colors, score definition, and total category gene counts"/>
          <p:cNvPicPr>
            <a:picLocks noChangeAspect="1"/>
          </p:cNvPicPr>
          <p:nvPr/>
        </p:nvPicPr>
        <p:blipFill>
          <a:blip r:embed="rId3"/>
          <a:stretch>
            <a:fillRect/>
          </a:stretch>
        </p:blipFill>
        <p:spPr>
          <a:xfrm>
            <a:off x="612648" y="795528"/>
            <a:ext cx="10972800" cy="5971032"/>
          </a:xfrm>
          <a:prstGeom prst="rect">
            <a:avLst/>
          </a:prstGeom>
        </p:spPr>
      </p:pic>
    </p:spTree>
    <p:extLst>
      <p:ext uri="{BB962C8B-B14F-4D97-AF65-F5344CB8AC3E}">
        <p14:creationId xmlns:p14="http://schemas.microsoft.com/office/powerpoint/2010/main" val="7680814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EECD5F-43AF-429F-99A6-8BCC0CC0AAB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excitatory neurons: genes returned from KDA calls</a:t>
            </a:r>
          </a:p>
        </p:txBody>
      </p:sp>
      <p:sp>
        <p:nvSpPr>
          <p:cNvPr id="3" name="TextBox 2">
            <a:extLst>
              <a:ext uri="{FF2B5EF4-FFF2-40B4-BE49-F238E27FC236}">
                <a16:creationId xmlns:a16="http://schemas.microsoft.com/office/drawing/2014/main" id="{F419552D-EF44-456A-82C8-09F89FCC75A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84 unique non-MitoCarta genes across 153 gene × category combinations; columns are ordered by recurrence, then alphabetically.</a:t>
            </a:r>
          </a:p>
        </p:txBody>
      </p:sp>
      <p:pic>
        <p:nvPicPr>
          <p:cNvPr id="7" name="ROSMAP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306417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7AB68E-ADB7-4C21-9795-C3B8768F454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inhibitory neurons: genes returned from KDA calls</a:t>
            </a:r>
          </a:p>
        </p:txBody>
      </p:sp>
      <p:sp>
        <p:nvSpPr>
          <p:cNvPr id="3" name="TextBox 2">
            <a:extLst>
              <a:ext uri="{FF2B5EF4-FFF2-40B4-BE49-F238E27FC236}">
                <a16:creationId xmlns:a16="http://schemas.microsoft.com/office/drawing/2014/main" id="{E90E3D63-A248-47CC-9F22-AAAC4D57896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110 unique non-MitoCarta genes across 146 gene × category combinations; columns are ordered by recurrence, then alphabetically.</a:t>
            </a:r>
          </a:p>
        </p:txBody>
      </p:sp>
      <p:pic>
        <p:nvPicPr>
          <p:cNvPr id="7" name="ROSMAP inhibi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508941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812381-4105-4451-9E9A-6D56B5685FD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astrocytes: genes returned from KDA calls</a:t>
            </a:r>
          </a:p>
        </p:txBody>
      </p:sp>
      <p:sp>
        <p:nvSpPr>
          <p:cNvPr id="3" name="TextBox 2">
            <a:extLst>
              <a:ext uri="{FF2B5EF4-FFF2-40B4-BE49-F238E27FC236}">
                <a16:creationId xmlns:a16="http://schemas.microsoft.com/office/drawing/2014/main" id="{009EB049-383F-4285-97AC-446DA36958E2}"/>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21 unique non-MitoCarta genes across 32 gene × category combinations; columns are ordered by recurrence, then alphabetically.</a:t>
            </a:r>
          </a:p>
        </p:txBody>
      </p:sp>
      <p:pic>
        <p:nvPicPr>
          <p:cNvPr id="7" name="ROSMAP astrocyte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1169399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87EF32-2793-460B-8C1D-32D0574BC4C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OPCs: genes returned from KDA calls</a:t>
            </a:r>
          </a:p>
        </p:txBody>
      </p:sp>
      <p:sp>
        <p:nvSpPr>
          <p:cNvPr id="3" name="TextBox 2">
            <a:extLst>
              <a:ext uri="{FF2B5EF4-FFF2-40B4-BE49-F238E27FC236}">
                <a16:creationId xmlns:a16="http://schemas.microsoft.com/office/drawing/2014/main" id="{1928DD11-801D-4409-891E-FA749AC96A4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18 unique non-MitoCarta genes across 21 gene × category combinations; columns are ordered by recurrence, then alphabetically.</a:t>
            </a:r>
          </a:p>
        </p:txBody>
      </p:sp>
      <p:pic>
        <p:nvPicPr>
          <p:cNvPr id="7" name="ROSMAP OPC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8524012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569C9E-D5CE-444A-96FB-F4D407E28AC3}"/>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9E73"/>
                </a:solidFill>
                <a:latin typeface="Arial"/>
                <a:ea typeface="Arial"/>
                <a:cs typeface="Arial"/>
              </a:rPr>
              <a:t>PART 5</a:t>
            </a:r>
          </a:p>
        </p:txBody>
      </p:sp>
      <p:sp>
        <p:nvSpPr>
          <p:cNvPr id="3" name="Rectangle 2">
            <a:extLst>
              <a:ext uri="{FF2B5EF4-FFF2-40B4-BE49-F238E27FC236}">
                <a16:creationId xmlns:a16="http://schemas.microsoft.com/office/drawing/2014/main" id="{F2BA23F8-CF15-4B72-8BB2-D57E6CA01661}"/>
              </a:ext>
            </a:extLst>
          </p:cNvPr>
          <p:cNvSpPr>
            <a:spLocks noGrp="1"/>
          </p:cNvSpPr>
          <p:nvPr/>
        </p:nvSpPr>
        <p:spPr>
          <a:xfrm>
            <a:off x="713232" y="1152144"/>
            <a:ext cx="91440" cy="217627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3DC0AD6-4299-4D0F-961F-96F0FB854F2D}"/>
              </a:ext>
            </a:extLst>
          </p:cNvPr>
          <p:cNvSpPr>
            <a:spLocks noGrp="1"/>
          </p:cNvSpPr>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Validation with SEA-AD</a:t>
            </a:r>
          </a:p>
        </p:txBody>
      </p:sp>
      <p:sp>
        <p:nvSpPr>
          <p:cNvPr id="6" name="Rounded Rectangle 5">
            <a:extLst>
              <a:ext uri="{FF2B5EF4-FFF2-40B4-BE49-F238E27FC236}">
                <a16:creationId xmlns:a16="http://schemas.microsoft.com/office/drawing/2014/main" id="{F0D7FE17-E245-404D-80E1-239C6047FE4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3251616-1E09-4A84-857B-CC40EAF794CB}"/>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9E73"/>
                </a:solidFill>
                <a:latin typeface="Arial"/>
                <a:ea typeface="Arial"/>
                <a:cs typeface="Arial"/>
              </a:rPr>
              <a:t>IN THIS PART</a:t>
            </a:r>
          </a:p>
        </p:txBody>
      </p:sp>
      <p:sp>
        <p:nvSpPr>
          <p:cNvPr id="8" name="Oval 7">
            <a:extLst>
              <a:ext uri="{FF2B5EF4-FFF2-40B4-BE49-F238E27FC236}">
                <a16:creationId xmlns:a16="http://schemas.microsoft.com/office/drawing/2014/main" id="{17E07A8E-BBA6-4DDE-8AF7-797D7EF21C77}"/>
              </a:ext>
            </a:extLst>
          </p:cNvPr>
          <p:cNvSpPr>
            <a:spLocks noGrp="1"/>
          </p:cNvSpPr>
          <p:nvPr/>
        </p:nvSpPr>
        <p:spPr>
          <a:xfrm>
            <a:off x="9198864" y="2039112"/>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27F1BCE-39EA-40B8-8D6A-32B1CFF4BBA0}"/>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7E0B846-5D25-4AAF-820D-ADE26EB228EA}"/>
              </a:ext>
            </a:extLst>
          </p:cNvPr>
          <p:cNvSpPr>
            <a:spLocks noGrp="1"/>
          </p:cNvSpPr>
          <p:nvPr/>
        </p:nvSpPr>
        <p:spPr>
          <a:xfrm>
            <a:off x="9628632" y="2011680"/>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a:ext uri="{FF2B5EF4-FFF2-40B4-BE49-F238E27FC236}">
                <a16:creationId xmlns:a16="http://schemas.microsoft.com/office/drawing/2014/main" id="{25BC35C0-8EB4-4CB9-B6DC-12707E7E0DCA}"/>
              </a:ext>
            </a:extLst>
          </p:cNvPr>
          <p:cNvSpPr>
            <a:spLocks noGrp="1"/>
          </p:cNvSpPr>
          <p:nvPr/>
        </p:nvSpPr>
        <p:spPr>
          <a:xfrm>
            <a:off x="9198864" y="2788920"/>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3E593C-CE4C-44A9-AA30-21B82C7AFD46}"/>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557AEFD-363D-42FB-B1C6-16E766E0557D}"/>
              </a:ext>
            </a:extLst>
          </p:cNvPr>
          <p:cNvSpPr>
            <a:spLocks noGrp="1"/>
          </p:cNvSpPr>
          <p:nvPr/>
        </p:nvSpPr>
        <p:spPr>
          <a:xfrm>
            <a:off x="9628632" y="276148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a:ext uri="{FF2B5EF4-FFF2-40B4-BE49-F238E27FC236}">
                <a16:creationId xmlns:a16="http://schemas.microsoft.com/office/drawing/2014/main" id="{76022DFA-4C8F-40E9-AEFC-D847CF926B92}"/>
              </a:ext>
            </a:extLst>
          </p:cNvPr>
          <p:cNvSpPr>
            <a:spLocks noGrp="1"/>
          </p:cNvSpPr>
          <p:nvPr/>
        </p:nvSpPr>
        <p:spPr>
          <a:xfrm>
            <a:off x="9198864" y="3538727"/>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8763030-A0D4-403C-B577-1D252BB528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A043817-07B6-4981-9CE4-DEAE214BE66C}"/>
              </a:ext>
            </a:extLst>
          </p:cNvPr>
          <p:cNvSpPr>
            <a:spLocks noGrp="1"/>
          </p:cNvSpPr>
          <p:nvPr/>
        </p:nvSpPr>
        <p:spPr>
          <a:xfrm>
            <a:off x="9628632" y="3511296"/>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a:ext uri="{FF2B5EF4-FFF2-40B4-BE49-F238E27FC236}">
                <a16:creationId xmlns:a16="http://schemas.microsoft.com/office/drawing/2014/main" id="{674AE4D7-1D34-4866-989F-DE4C41BF6661}"/>
              </a:ext>
            </a:extLst>
          </p:cNvPr>
          <p:cNvSpPr>
            <a:spLocks noGrp="1"/>
          </p:cNvSpPr>
          <p:nvPr/>
        </p:nvSpPr>
        <p:spPr>
          <a:xfrm>
            <a:off x="9198864" y="4288536"/>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0DB2C69-CC33-4708-BF6C-708EE3B38B8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44C318C-EA1D-4BAC-ADDA-C0B26C695230}"/>
              </a:ext>
            </a:extLst>
          </p:cNvPr>
          <p:cNvSpPr>
            <a:spLocks noGrp="1"/>
          </p:cNvSpPr>
          <p:nvPr/>
        </p:nvSpPr>
        <p:spPr>
          <a:xfrm>
            <a:off x="9628632" y="4261104"/>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1063751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20217C-C0C2-5165-22E5-F8E5797B0969}"/>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SEA-AD</a:t>
            </a:r>
          </a:p>
        </p:txBody>
      </p:sp>
      <p:sp>
        <p:nvSpPr>
          <p:cNvPr id="4" name="TextBox 3">
            <a:extLst>
              <a:ext uri="{FF2B5EF4-FFF2-40B4-BE49-F238E27FC236}">
                <a16:creationId xmlns:a16="http://schemas.microsoft.com/office/drawing/2014/main" id="{A1C4930B-8D6F-B90D-804F-1BE1686DEDF9}"/>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23" name="Rounded Rectangle 22">
            <a:extLst>
              <a:ext uri="{FF2B5EF4-FFF2-40B4-BE49-F238E27FC236}">
                <a16:creationId xmlns:a16="http://schemas.microsoft.com/office/drawing/2014/main" id="{F20FD518-1F4A-331F-FBD2-F57F5FAA0AAD}"/>
              </a:ext>
            </a:extLst>
          </p:cNvPr>
          <p:cNvSpPr>
            <a:spLocks noGrp="1"/>
          </p:cNvSpPr>
          <p:nvPr/>
        </p:nvSpPr>
        <p:spPr>
          <a:xfrm>
            <a:off x="3127683" y="1430818"/>
            <a:ext cx="5358384" cy="43251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DAFDBE9E-6ABC-4DEF-4205-F1E82872DEDF}"/>
              </a:ext>
            </a:extLst>
          </p:cNvPr>
          <p:cNvSpPr>
            <a:spLocks noGrp="1"/>
          </p:cNvSpPr>
          <p:nvPr/>
        </p:nvSpPr>
        <p:spPr>
          <a:xfrm>
            <a:off x="3411147" y="1723426"/>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9E73"/>
                </a:solidFill>
                <a:latin typeface="Arial"/>
                <a:ea typeface="Arial"/>
                <a:cs typeface="Arial"/>
              </a:rPr>
              <a:t>SEA-AD IS FOR VALIDATION</a:t>
            </a:r>
          </a:p>
        </p:txBody>
      </p:sp>
      <p:sp>
        <p:nvSpPr>
          <p:cNvPr id="25" name="TextBox 24">
            <a:extLst>
              <a:ext uri="{FF2B5EF4-FFF2-40B4-BE49-F238E27FC236}">
                <a16:creationId xmlns:a16="http://schemas.microsoft.com/office/drawing/2014/main" id="{C08A9B8D-DCB8-F1E9-92CC-8909156FCDDF}"/>
              </a:ext>
            </a:extLst>
          </p:cNvPr>
          <p:cNvSpPr>
            <a:spLocks noGrp="1"/>
          </p:cNvSpPr>
          <p:nvPr/>
        </p:nvSpPr>
        <p:spPr>
          <a:xfrm>
            <a:off x="3411147" y="2034322"/>
            <a:ext cx="452628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Do the same genes returned from KDA calls recur in SEA-AD?</a:t>
            </a:r>
          </a:p>
        </p:txBody>
      </p:sp>
      <p:sp>
        <p:nvSpPr>
          <p:cNvPr id="26" name="Rounded Rectangle 25">
            <a:extLst>
              <a:ext uri="{FF2B5EF4-FFF2-40B4-BE49-F238E27FC236}">
                <a16:creationId xmlns:a16="http://schemas.microsoft.com/office/drawing/2014/main" id="{0B078D71-6BC9-1CEF-1971-223819588041}"/>
              </a:ext>
            </a:extLst>
          </p:cNvPr>
          <p:cNvSpPr>
            <a:spLocks noGrp="1"/>
          </p:cNvSpPr>
          <p:nvPr/>
        </p:nvSpPr>
        <p:spPr>
          <a:xfrm>
            <a:off x="3411147"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64EEDEE-DC0D-59BD-5FB8-DA778676454A}"/>
              </a:ext>
            </a:extLst>
          </p:cNvPr>
          <p:cNvSpPr>
            <a:spLocks noGrp="1"/>
          </p:cNvSpPr>
          <p:nvPr/>
        </p:nvSpPr>
        <p:spPr>
          <a:xfrm>
            <a:off x="3557451"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774</a:t>
            </a:r>
          </a:p>
        </p:txBody>
      </p:sp>
      <p:sp>
        <p:nvSpPr>
          <p:cNvPr id="28" name="TextBox 27">
            <a:extLst>
              <a:ext uri="{FF2B5EF4-FFF2-40B4-BE49-F238E27FC236}">
                <a16:creationId xmlns:a16="http://schemas.microsoft.com/office/drawing/2014/main" id="{5CE77759-350E-C5E6-AFA3-99091A03E630}"/>
              </a:ext>
            </a:extLst>
          </p:cNvPr>
          <p:cNvSpPr>
            <a:spLocks noGrp="1"/>
          </p:cNvSpPr>
          <p:nvPr/>
        </p:nvSpPr>
        <p:spPr>
          <a:xfrm>
            <a:off x="3557451" y="3341914"/>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29" name="Rounded Rectangle 28">
            <a:extLst>
              <a:ext uri="{FF2B5EF4-FFF2-40B4-BE49-F238E27FC236}">
                <a16:creationId xmlns:a16="http://schemas.microsoft.com/office/drawing/2014/main" id="{4400346E-7B11-A714-29D9-69BD721FA136}"/>
              </a:ext>
            </a:extLst>
          </p:cNvPr>
          <p:cNvSpPr>
            <a:spLocks noGrp="1"/>
          </p:cNvSpPr>
          <p:nvPr/>
        </p:nvSpPr>
        <p:spPr>
          <a:xfrm>
            <a:off x="4993058"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C2547233-A652-C0AF-EDEB-2732D1A4DBE5}"/>
              </a:ext>
            </a:extLst>
          </p:cNvPr>
          <p:cNvSpPr>
            <a:spLocks noGrp="1"/>
          </p:cNvSpPr>
          <p:nvPr/>
        </p:nvSpPr>
        <p:spPr>
          <a:xfrm>
            <a:off x="5139362"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22</a:t>
            </a:r>
          </a:p>
        </p:txBody>
      </p:sp>
      <p:sp>
        <p:nvSpPr>
          <p:cNvPr id="31" name="TextBox 30">
            <a:extLst>
              <a:ext uri="{FF2B5EF4-FFF2-40B4-BE49-F238E27FC236}">
                <a16:creationId xmlns:a16="http://schemas.microsoft.com/office/drawing/2014/main" id="{37BF3831-B296-5FA6-E586-B64CB5A56F02}"/>
              </a:ext>
            </a:extLst>
          </p:cNvPr>
          <p:cNvSpPr>
            <a:spLocks noGrp="1"/>
          </p:cNvSpPr>
          <p:nvPr/>
        </p:nvSpPr>
        <p:spPr>
          <a:xfrm>
            <a:off x="5139362" y="3341914"/>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32" name="Rounded Rectangle 31">
            <a:extLst>
              <a:ext uri="{FF2B5EF4-FFF2-40B4-BE49-F238E27FC236}">
                <a16:creationId xmlns:a16="http://schemas.microsoft.com/office/drawing/2014/main" id="{6961CA91-699A-CD79-78FA-A69D94C8C539}"/>
              </a:ext>
            </a:extLst>
          </p:cNvPr>
          <p:cNvSpPr>
            <a:spLocks noGrp="1"/>
          </p:cNvSpPr>
          <p:nvPr/>
        </p:nvSpPr>
        <p:spPr>
          <a:xfrm>
            <a:off x="6574971"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0E527466-4679-43D5-549D-87E4FEF6E2F4}"/>
              </a:ext>
            </a:extLst>
          </p:cNvPr>
          <p:cNvSpPr>
            <a:spLocks noGrp="1"/>
          </p:cNvSpPr>
          <p:nvPr/>
        </p:nvSpPr>
        <p:spPr>
          <a:xfrm>
            <a:off x="6721275"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34" name="TextBox 33">
            <a:extLst>
              <a:ext uri="{FF2B5EF4-FFF2-40B4-BE49-F238E27FC236}">
                <a16:creationId xmlns:a16="http://schemas.microsoft.com/office/drawing/2014/main" id="{EDC5CEC5-620B-4088-6D42-A47D837F8D78}"/>
              </a:ext>
            </a:extLst>
          </p:cNvPr>
          <p:cNvSpPr>
            <a:spLocks noGrp="1"/>
          </p:cNvSpPr>
          <p:nvPr/>
        </p:nvSpPr>
        <p:spPr>
          <a:xfrm>
            <a:off x="6721275" y="3341914"/>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35" name="Oval 34">
            <a:extLst>
              <a:ext uri="{FF2B5EF4-FFF2-40B4-BE49-F238E27FC236}">
                <a16:creationId xmlns:a16="http://schemas.microsoft.com/office/drawing/2014/main" id="{567ADC53-49F7-0D93-2D5C-98E88AC7F699}"/>
              </a:ext>
            </a:extLst>
          </p:cNvPr>
          <p:cNvSpPr>
            <a:spLocks noGrp="1"/>
          </p:cNvSpPr>
          <p:nvPr/>
        </p:nvSpPr>
        <p:spPr>
          <a:xfrm>
            <a:off x="3420291" y="4194159"/>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FD250839-97A3-EB02-9405-2850B7C3014C}"/>
              </a:ext>
            </a:extLst>
          </p:cNvPr>
          <p:cNvSpPr>
            <a:spLocks noGrp="1"/>
          </p:cNvSpPr>
          <p:nvPr/>
        </p:nvSpPr>
        <p:spPr>
          <a:xfrm>
            <a:off x="3594027" y="4100866"/>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Uses SEA-AD-specific Bayesian networks.</a:t>
            </a:r>
          </a:p>
        </p:txBody>
      </p:sp>
      <p:sp>
        <p:nvSpPr>
          <p:cNvPr id="37" name="Oval 36">
            <a:extLst>
              <a:ext uri="{FF2B5EF4-FFF2-40B4-BE49-F238E27FC236}">
                <a16:creationId xmlns:a16="http://schemas.microsoft.com/office/drawing/2014/main" id="{C5D3AF96-1713-66D2-750A-9E07D3BF2492}"/>
              </a:ext>
            </a:extLst>
          </p:cNvPr>
          <p:cNvSpPr>
            <a:spLocks noGrp="1"/>
          </p:cNvSpPr>
          <p:nvPr/>
        </p:nvSpPr>
        <p:spPr>
          <a:xfrm>
            <a:off x="3420291" y="462149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FCD02414-1091-B30C-75CC-F2C2C3983D92}"/>
              </a:ext>
            </a:extLst>
          </p:cNvPr>
          <p:cNvSpPr>
            <a:spLocks noGrp="1"/>
          </p:cNvSpPr>
          <p:nvPr/>
        </p:nvSpPr>
        <p:spPr>
          <a:xfrm>
            <a:off x="3594027" y="4539777"/>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Final 44 combinations represent 43 unique genes in 5 categories</a:t>
            </a:r>
          </a:p>
        </p:txBody>
      </p:sp>
      <p:sp>
        <p:nvSpPr>
          <p:cNvPr id="39" name="Oval 38">
            <a:extLst>
              <a:ext uri="{FF2B5EF4-FFF2-40B4-BE49-F238E27FC236}">
                <a16:creationId xmlns:a16="http://schemas.microsoft.com/office/drawing/2014/main" id="{79E8A492-0E0F-E92C-8D7C-1EDE7DD70821}"/>
              </a:ext>
            </a:extLst>
          </p:cNvPr>
          <p:cNvSpPr>
            <a:spLocks noGrp="1"/>
          </p:cNvSpPr>
          <p:nvPr/>
        </p:nvSpPr>
        <p:spPr>
          <a:xfrm>
            <a:off x="3420291" y="506619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 name="TextBox 1">
            <a:extLst>
              <a:ext uri="{FF2B5EF4-FFF2-40B4-BE49-F238E27FC236}">
                <a16:creationId xmlns:a16="http://schemas.microsoft.com/office/drawing/2014/main" id="{4F058FC1-77DB-E3CD-AAE6-D629960B57E1}"/>
              </a:ext>
            </a:extLst>
          </p:cNvPr>
          <p:cNvSpPr>
            <a:spLocks noGrp="1"/>
          </p:cNvSpPr>
          <p:nvPr/>
        </p:nvSpPr>
        <p:spPr>
          <a:xfrm>
            <a:off x="3601744" y="4993116"/>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20 of 22 KDA calls are M_e33.</a:t>
            </a:r>
          </a:p>
        </p:txBody>
      </p:sp>
    </p:spTree>
    <p:extLst>
      <p:ext uri="{BB962C8B-B14F-4D97-AF65-F5344CB8AC3E}">
        <p14:creationId xmlns:p14="http://schemas.microsoft.com/office/powerpoint/2010/main" val="26908292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731D2A-B116-490A-A83D-7899BE439E0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129 SEA-AD supertypes create 774 planned contrasts</a:t>
            </a:r>
          </a:p>
        </p:txBody>
      </p:sp>
      <p:sp>
        <p:nvSpPr>
          <p:cNvPr id="3" name="TextBox 2">
            <a:extLst>
              <a:ext uri="{FF2B5EF4-FFF2-40B4-BE49-F238E27FC236}">
                <a16:creationId xmlns:a16="http://schemas.microsoft.com/office/drawing/2014/main" id="{0F5EC579-272D-4700-8B38-0263DDE652E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MitoCarta MT DEG query per supertype × sex/APOE contrast.</a:t>
            </a:r>
          </a:p>
        </p:txBody>
      </p:sp>
      <p:sp>
        <p:nvSpPr>
          <p:cNvPr id="4" name="Rounded Rectangle 3">
            <a:extLst>
              <a:ext uri="{FF2B5EF4-FFF2-40B4-BE49-F238E27FC236}">
                <a16:creationId xmlns:a16="http://schemas.microsoft.com/office/drawing/2014/main" id="{756EB20F-A424-44D2-962B-C48792D776EA}"/>
              </a:ext>
            </a:extLst>
          </p:cNvPr>
          <p:cNvSpPr>
            <a:spLocks noGrp="1"/>
          </p:cNvSpPr>
          <p:nvPr/>
        </p:nvSpPr>
        <p:spPr>
          <a:xfrm>
            <a:off x="640080" y="1344168"/>
            <a:ext cx="3383280" cy="119786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84AFF86-E79D-4767-A7FA-9893CC7D90C1}"/>
              </a:ext>
            </a:extLst>
          </p:cNvPr>
          <p:cNvSpPr>
            <a:spLocks noGrp="1"/>
          </p:cNvSpPr>
          <p:nvPr/>
        </p:nvSpPr>
        <p:spPr>
          <a:xfrm>
            <a:off x="868680" y="1591056"/>
            <a:ext cx="2926080"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129 supertypes</a:t>
            </a:r>
          </a:p>
        </p:txBody>
      </p:sp>
      <p:sp>
        <p:nvSpPr>
          <p:cNvPr id="6" name="TextBox 5">
            <a:extLst>
              <a:ext uri="{FF2B5EF4-FFF2-40B4-BE49-F238E27FC236}">
                <a16:creationId xmlns:a16="http://schemas.microsoft.com/office/drawing/2014/main" id="{7E596793-2A55-49C5-B984-C2CFA9EF73FA}"/>
              </a:ext>
            </a:extLst>
          </p:cNvPr>
          <p:cNvSpPr>
            <a:spLocks noGrp="1"/>
          </p:cNvSpPr>
          <p:nvPr/>
        </p:nvSpPr>
        <p:spPr>
          <a:xfrm>
            <a:off x="868680"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00684D"/>
                </a:solidFill>
                <a:latin typeface="Arial"/>
                <a:ea typeface="Arial"/>
                <a:cs typeface="Arial"/>
              </a:rPr>
              <a:t>× 6 groups = 774 contrasts</a:t>
            </a:r>
          </a:p>
        </p:txBody>
      </p:sp>
      <p:sp>
        <p:nvSpPr>
          <p:cNvPr id="7" name="Rounded Rectangle 6">
            <a:extLst>
              <a:ext uri="{FF2B5EF4-FFF2-40B4-BE49-F238E27FC236}">
                <a16:creationId xmlns:a16="http://schemas.microsoft.com/office/drawing/2014/main" id="{0B49FCD5-4828-4431-A44D-718D46EF7FC1}"/>
              </a:ext>
            </a:extLst>
          </p:cNvPr>
          <p:cNvSpPr>
            <a:spLocks noGrp="1"/>
          </p:cNvSpPr>
          <p:nvPr/>
        </p:nvSpPr>
        <p:spPr>
          <a:xfrm>
            <a:off x="4407408" y="1344168"/>
            <a:ext cx="3383280" cy="1197864"/>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9212BA46-0D7D-4D46-8BF1-D8823CBDDB3E}"/>
              </a:ext>
            </a:extLst>
          </p:cNvPr>
          <p:cNvSpPr>
            <a:spLocks noGrp="1"/>
          </p:cNvSpPr>
          <p:nvPr/>
        </p:nvSpPr>
        <p:spPr>
          <a:xfrm>
            <a:off x="4636008" y="1591056"/>
            <a:ext cx="2926080" cy="347788"/>
          </a:xfrm>
          <a:prstGeom prst="rect">
            <a:avLst/>
          </a:prstGeom>
          <a:noFill/>
        </p:spPr>
        <p:txBody>
          <a:bodyPr wrap="square" lIns="27432" tIns="27432" rIns="27432" bIns="27432" anchor="t">
            <a:spAutoFit/>
          </a:bodyPr>
          <a:lstStyle/>
          <a:p>
            <a:pPr algn="ctr">
              <a:buNone/>
            </a:pPr>
            <a:r>
              <a:rPr sz="1900" b="1" i="0">
                <a:solidFill>
                  <a:srgbClr val="0F233D"/>
                </a:solidFill>
                <a:latin typeface="Arial"/>
                <a:ea typeface="Arial"/>
                <a:cs typeface="Arial"/>
              </a:rPr>
              <a:t>774 </a:t>
            </a:r>
            <a:r>
              <a:rPr sz="1900" b="1">
                <a:solidFill>
                  <a:srgbClr val="0F233D"/>
                </a:solidFill>
                <a:latin typeface="Arial"/>
                <a:ea typeface="Arial"/>
                <a:cs typeface="Arial"/>
              </a:rPr>
              <a:t>DEG contrasts</a:t>
            </a:r>
            <a:endParaRPr sz="1900" b="1" i="0">
              <a:solidFill>
                <a:srgbClr val="0F233D"/>
              </a:solidFill>
              <a:latin typeface="Arial"/>
              <a:ea typeface="Arial"/>
              <a:cs typeface="Arial"/>
            </a:endParaRPr>
          </a:p>
        </p:txBody>
      </p:sp>
      <p:sp>
        <p:nvSpPr>
          <p:cNvPr id="9" name="TextBox 8">
            <a:extLst>
              <a:ext uri="{FF2B5EF4-FFF2-40B4-BE49-F238E27FC236}">
                <a16:creationId xmlns:a16="http://schemas.microsoft.com/office/drawing/2014/main" id="{48F6E372-621D-414C-B37C-B22565F0A23B}"/>
              </a:ext>
            </a:extLst>
          </p:cNvPr>
          <p:cNvSpPr>
            <a:spLocks noGrp="1"/>
          </p:cNvSpPr>
          <p:nvPr/>
        </p:nvSpPr>
        <p:spPr>
          <a:xfrm>
            <a:off x="4636008"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56B4E9"/>
                </a:solidFill>
                <a:latin typeface="Arial"/>
                <a:ea typeface="Arial"/>
                <a:cs typeface="Arial"/>
              </a:rPr>
              <a:t>one query per contrast</a:t>
            </a:r>
          </a:p>
        </p:txBody>
      </p:sp>
      <p:sp>
        <p:nvSpPr>
          <p:cNvPr id="10" name="Rounded Rectangle 9">
            <a:extLst>
              <a:ext uri="{FF2B5EF4-FFF2-40B4-BE49-F238E27FC236}">
                <a16:creationId xmlns:a16="http://schemas.microsoft.com/office/drawing/2014/main" id="{0587407E-5675-491D-84B8-41C2C270987A}"/>
              </a:ext>
            </a:extLst>
          </p:cNvPr>
          <p:cNvSpPr>
            <a:spLocks noGrp="1"/>
          </p:cNvSpPr>
          <p:nvPr/>
        </p:nvSpPr>
        <p:spPr>
          <a:xfrm>
            <a:off x="8174736" y="1344168"/>
            <a:ext cx="3383280" cy="1197864"/>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85475A39-8B85-46D8-907E-216127FB6D36}"/>
              </a:ext>
            </a:extLst>
          </p:cNvPr>
          <p:cNvSpPr>
            <a:spLocks noGrp="1"/>
          </p:cNvSpPr>
          <p:nvPr/>
        </p:nvSpPr>
        <p:spPr>
          <a:xfrm>
            <a:off x="8403336" y="1591056"/>
            <a:ext cx="2926080"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22 KDA calls</a:t>
            </a:r>
          </a:p>
        </p:txBody>
      </p:sp>
      <p:sp>
        <p:nvSpPr>
          <p:cNvPr id="12" name="TextBox 11">
            <a:extLst>
              <a:ext uri="{FF2B5EF4-FFF2-40B4-BE49-F238E27FC236}">
                <a16:creationId xmlns:a16="http://schemas.microsoft.com/office/drawing/2014/main" id="{16511654-4C4F-4768-A8F3-B6513E48A740}"/>
              </a:ext>
            </a:extLst>
          </p:cNvPr>
          <p:cNvSpPr>
            <a:spLocks noGrp="1"/>
          </p:cNvSpPr>
          <p:nvPr/>
        </p:nvSpPr>
        <p:spPr>
          <a:xfrm>
            <a:off x="8403336" y="1993392"/>
            <a:ext cx="2926080" cy="43396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895600"/>
                </a:solidFill>
                <a:latin typeface="Arial"/>
                <a:ea typeface="Arial"/>
                <a:cs typeface="Arial"/>
              </a:rPr>
              <a:t>All valid DEG contrast and number of </a:t>
            </a:r>
            <a:r>
              <a:rPr sz="1230" b="1">
                <a:solidFill>
                  <a:srgbClr val="895600"/>
                </a:solidFill>
                <a:latin typeface="Arial"/>
                <a:ea typeface="Arial"/>
                <a:cs typeface="Arial"/>
              </a:rPr>
              <a:t>genes in</a:t>
            </a:r>
            <a:r>
              <a:rPr sz="1230" b="1" i="0">
                <a:solidFill>
                  <a:srgbClr val="895600"/>
                </a:solidFill>
                <a:latin typeface="Arial"/>
                <a:ea typeface="Arial"/>
                <a:cs typeface="Arial"/>
              </a:rPr>
              <a:t> query ≥ 3</a:t>
            </a:r>
          </a:p>
        </p:txBody>
      </p:sp>
      <p:sp>
        <p:nvSpPr>
          <p:cNvPr id="13" name="Rectangle 12">
            <a:extLst>
              <a:ext uri="{FF2B5EF4-FFF2-40B4-BE49-F238E27FC236}">
                <a16:creationId xmlns:a16="http://schemas.microsoft.com/office/drawing/2014/main" id="{536E8183-C004-4650-A415-65110217BD92}"/>
              </a:ext>
            </a:extLst>
          </p:cNvPr>
          <p:cNvSpPr>
            <a:spLocks noGrp="1"/>
          </p:cNvSpPr>
          <p:nvPr/>
        </p:nvSpPr>
        <p:spPr>
          <a:xfrm>
            <a:off x="786384" y="2834640"/>
            <a:ext cx="580644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A7C68209-0576-4AD6-BC4D-4DFEB9D31F19}"/>
              </a:ext>
            </a:extLst>
          </p:cNvPr>
          <p:cNvSpPr>
            <a:spLocks noGrp="1"/>
          </p:cNvSpPr>
          <p:nvPr/>
        </p:nvSpPr>
        <p:spPr>
          <a:xfrm>
            <a:off x="841247" y="2889504"/>
            <a:ext cx="569671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Mutually exclusive contrast outcome</a:t>
            </a:r>
          </a:p>
        </p:txBody>
      </p:sp>
      <p:sp>
        <p:nvSpPr>
          <p:cNvPr id="15" name="Rectangle 14">
            <a:extLst>
              <a:ext uri="{FF2B5EF4-FFF2-40B4-BE49-F238E27FC236}">
                <a16:creationId xmlns:a16="http://schemas.microsoft.com/office/drawing/2014/main" id="{1694A8C1-05B5-47F1-85AF-E37DCB16D88D}"/>
              </a:ext>
            </a:extLst>
          </p:cNvPr>
          <p:cNvSpPr>
            <a:spLocks noGrp="1"/>
          </p:cNvSpPr>
          <p:nvPr/>
        </p:nvSpPr>
        <p:spPr>
          <a:xfrm>
            <a:off x="6592824" y="2834640"/>
            <a:ext cx="1115568"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488BB40-F98F-40EB-B99F-0B652DEF4505}"/>
              </a:ext>
            </a:extLst>
          </p:cNvPr>
          <p:cNvSpPr>
            <a:spLocks noGrp="1"/>
          </p:cNvSpPr>
          <p:nvPr/>
        </p:nvSpPr>
        <p:spPr>
          <a:xfrm>
            <a:off x="6647688" y="2889504"/>
            <a:ext cx="1005840"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Contrasts</a:t>
            </a:r>
          </a:p>
        </p:txBody>
      </p:sp>
      <p:sp>
        <p:nvSpPr>
          <p:cNvPr id="17" name="Rectangle 16">
            <a:extLst>
              <a:ext uri="{FF2B5EF4-FFF2-40B4-BE49-F238E27FC236}">
                <a16:creationId xmlns:a16="http://schemas.microsoft.com/office/drawing/2014/main" id="{78125995-9B01-4654-8667-F3D91A68BD02}"/>
              </a:ext>
            </a:extLst>
          </p:cNvPr>
          <p:cNvSpPr>
            <a:spLocks noGrp="1"/>
          </p:cNvSpPr>
          <p:nvPr/>
        </p:nvSpPr>
        <p:spPr>
          <a:xfrm>
            <a:off x="7708392" y="2834640"/>
            <a:ext cx="36118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D4EB2C-346E-4F90-B606-E8B9EAC67D6C}"/>
              </a:ext>
            </a:extLst>
          </p:cNvPr>
          <p:cNvSpPr>
            <a:spLocks noGrp="1"/>
          </p:cNvSpPr>
          <p:nvPr/>
        </p:nvSpPr>
        <p:spPr>
          <a:xfrm>
            <a:off x="7763256" y="2889504"/>
            <a:ext cx="35021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KDA call made?</a:t>
            </a:r>
          </a:p>
        </p:txBody>
      </p:sp>
      <p:sp>
        <p:nvSpPr>
          <p:cNvPr id="19" name="Rectangle 18">
            <a:extLst>
              <a:ext uri="{FF2B5EF4-FFF2-40B4-BE49-F238E27FC236}">
                <a16:creationId xmlns:a16="http://schemas.microsoft.com/office/drawing/2014/main" id="{DEEE23B6-51E8-4740-8D90-1F2F8B9A946B}"/>
              </a:ext>
            </a:extLst>
          </p:cNvPr>
          <p:cNvSpPr>
            <a:spLocks noGrp="1"/>
          </p:cNvSpPr>
          <p:nvPr/>
        </p:nvSpPr>
        <p:spPr>
          <a:xfrm>
            <a:off x="786384" y="3264408"/>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FFFF9712-557B-4CF9-A5D5-E47185AC98E3}"/>
              </a:ext>
            </a:extLst>
          </p:cNvPr>
          <p:cNvSpPr>
            <a:spLocks noGrp="1"/>
          </p:cNvSpPr>
          <p:nvPr/>
        </p:nvSpPr>
        <p:spPr>
          <a:xfrm>
            <a:off x="841247" y="3386869"/>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Source DEG contrast not valid</a:t>
            </a:r>
          </a:p>
        </p:txBody>
      </p:sp>
      <p:sp>
        <p:nvSpPr>
          <p:cNvPr id="21" name="Rectangle 20">
            <a:extLst>
              <a:ext uri="{FF2B5EF4-FFF2-40B4-BE49-F238E27FC236}">
                <a16:creationId xmlns:a16="http://schemas.microsoft.com/office/drawing/2014/main" id="{3115DB27-6DCB-41DA-9890-57EC7150C278}"/>
              </a:ext>
            </a:extLst>
          </p:cNvPr>
          <p:cNvSpPr>
            <a:spLocks noGrp="1"/>
          </p:cNvSpPr>
          <p:nvPr/>
        </p:nvSpPr>
        <p:spPr>
          <a:xfrm>
            <a:off x="6592824" y="3264408"/>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FA8BEB43-DF32-46E3-89D4-2B1E4306F415}"/>
              </a:ext>
            </a:extLst>
          </p:cNvPr>
          <p:cNvSpPr>
            <a:spLocks noGrp="1"/>
          </p:cNvSpPr>
          <p:nvPr/>
        </p:nvSpPr>
        <p:spPr>
          <a:xfrm>
            <a:off x="6647688" y="3310128"/>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393</a:t>
            </a:r>
          </a:p>
        </p:txBody>
      </p:sp>
      <p:sp>
        <p:nvSpPr>
          <p:cNvPr id="23" name="Rectangle 22">
            <a:extLst>
              <a:ext uri="{FF2B5EF4-FFF2-40B4-BE49-F238E27FC236}">
                <a16:creationId xmlns:a16="http://schemas.microsoft.com/office/drawing/2014/main" id="{B84BCB48-6570-4822-828F-338499D6A131}"/>
              </a:ext>
            </a:extLst>
          </p:cNvPr>
          <p:cNvSpPr>
            <a:spLocks noGrp="1"/>
          </p:cNvSpPr>
          <p:nvPr/>
        </p:nvSpPr>
        <p:spPr>
          <a:xfrm>
            <a:off x="7708392" y="3264408"/>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08E03D5A-5501-4016-BBCC-2C201A5B44EF}"/>
              </a:ext>
            </a:extLst>
          </p:cNvPr>
          <p:cNvSpPr>
            <a:spLocks noGrp="1"/>
          </p:cNvSpPr>
          <p:nvPr/>
        </p:nvSpPr>
        <p:spPr>
          <a:xfrm>
            <a:off x="7763256" y="3310128"/>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25" name="Rectangle 24">
            <a:extLst>
              <a:ext uri="{FF2B5EF4-FFF2-40B4-BE49-F238E27FC236}">
                <a16:creationId xmlns:a16="http://schemas.microsoft.com/office/drawing/2014/main" id="{C9FD0460-FED0-489F-B99B-9A944E679918}"/>
              </a:ext>
            </a:extLst>
          </p:cNvPr>
          <p:cNvSpPr>
            <a:spLocks noGrp="1"/>
          </p:cNvSpPr>
          <p:nvPr/>
        </p:nvSpPr>
        <p:spPr>
          <a:xfrm>
            <a:off x="786384" y="3694176"/>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362E6B6B-2993-4D8E-998F-465FAB9FCA2E}"/>
              </a:ext>
            </a:extLst>
          </p:cNvPr>
          <p:cNvSpPr>
            <a:spLocks noGrp="1"/>
          </p:cNvSpPr>
          <p:nvPr/>
        </p:nvSpPr>
        <p:spPr>
          <a:xfrm>
            <a:off x="841247" y="3816637"/>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0</a:t>
            </a:r>
          </a:p>
        </p:txBody>
      </p:sp>
      <p:sp>
        <p:nvSpPr>
          <p:cNvPr id="27" name="Rectangle 26">
            <a:extLst>
              <a:ext uri="{FF2B5EF4-FFF2-40B4-BE49-F238E27FC236}">
                <a16:creationId xmlns:a16="http://schemas.microsoft.com/office/drawing/2014/main" id="{4CA86A09-4680-437D-8C83-FD1A85F5237B}"/>
              </a:ext>
            </a:extLst>
          </p:cNvPr>
          <p:cNvSpPr>
            <a:spLocks noGrp="1"/>
          </p:cNvSpPr>
          <p:nvPr/>
        </p:nvSpPr>
        <p:spPr>
          <a:xfrm>
            <a:off x="6592824" y="3694176"/>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84A62820-632F-4DA2-9BAA-EA9ADC94D734}"/>
              </a:ext>
            </a:extLst>
          </p:cNvPr>
          <p:cNvSpPr>
            <a:spLocks noGrp="1"/>
          </p:cNvSpPr>
          <p:nvPr/>
        </p:nvSpPr>
        <p:spPr>
          <a:xfrm>
            <a:off x="6647688" y="3739896"/>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348</a:t>
            </a:r>
          </a:p>
        </p:txBody>
      </p:sp>
      <p:sp>
        <p:nvSpPr>
          <p:cNvPr id="29" name="Rectangle 28">
            <a:extLst>
              <a:ext uri="{FF2B5EF4-FFF2-40B4-BE49-F238E27FC236}">
                <a16:creationId xmlns:a16="http://schemas.microsoft.com/office/drawing/2014/main" id="{6DA52366-3F22-429F-B145-2B9FC59B1AD8}"/>
              </a:ext>
            </a:extLst>
          </p:cNvPr>
          <p:cNvSpPr>
            <a:spLocks noGrp="1"/>
          </p:cNvSpPr>
          <p:nvPr/>
        </p:nvSpPr>
        <p:spPr>
          <a:xfrm>
            <a:off x="7708392" y="3694176"/>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74D709C5-6EB0-461D-8820-445C30B578AE}"/>
              </a:ext>
            </a:extLst>
          </p:cNvPr>
          <p:cNvSpPr>
            <a:spLocks noGrp="1"/>
          </p:cNvSpPr>
          <p:nvPr/>
        </p:nvSpPr>
        <p:spPr>
          <a:xfrm>
            <a:off x="7763256" y="3739896"/>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1" name="Rectangle 30">
            <a:extLst>
              <a:ext uri="{FF2B5EF4-FFF2-40B4-BE49-F238E27FC236}">
                <a16:creationId xmlns:a16="http://schemas.microsoft.com/office/drawing/2014/main" id="{579DE40C-8DF4-4E4B-A8F9-CFD822ED624C}"/>
              </a:ext>
            </a:extLst>
          </p:cNvPr>
          <p:cNvSpPr>
            <a:spLocks noGrp="1"/>
          </p:cNvSpPr>
          <p:nvPr/>
        </p:nvSpPr>
        <p:spPr>
          <a:xfrm>
            <a:off x="786384" y="4123944"/>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EC85DE27-E270-4AD6-B949-B0CD64F744D2}"/>
              </a:ext>
            </a:extLst>
          </p:cNvPr>
          <p:cNvSpPr>
            <a:spLocks noGrp="1"/>
          </p:cNvSpPr>
          <p:nvPr/>
        </p:nvSpPr>
        <p:spPr>
          <a:xfrm>
            <a:off x="841247" y="4246404"/>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1–2</a:t>
            </a:r>
          </a:p>
        </p:txBody>
      </p:sp>
      <p:sp>
        <p:nvSpPr>
          <p:cNvPr id="33" name="Rectangle 32">
            <a:extLst>
              <a:ext uri="{FF2B5EF4-FFF2-40B4-BE49-F238E27FC236}">
                <a16:creationId xmlns:a16="http://schemas.microsoft.com/office/drawing/2014/main" id="{71922BEC-EBBD-464F-9A93-CB0E6CD0C65C}"/>
              </a:ext>
            </a:extLst>
          </p:cNvPr>
          <p:cNvSpPr>
            <a:spLocks noGrp="1"/>
          </p:cNvSpPr>
          <p:nvPr/>
        </p:nvSpPr>
        <p:spPr>
          <a:xfrm>
            <a:off x="6592824" y="4123944"/>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FE7D493B-F1C6-44AE-82B1-5CA4C20101D7}"/>
              </a:ext>
            </a:extLst>
          </p:cNvPr>
          <p:cNvSpPr>
            <a:spLocks noGrp="1"/>
          </p:cNvSpPr>
          <p:nvPr/>
        </p:nvSpPr>
        <p:spPr>
          <a:xfrm>
            <a:off x="6647688" y="4169663"/>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11</a:t>
            </a:r>
          </a:p>
        </p:txBody>
      </p:sp>
      <p:sp>
        <p:nvSpPr>
          <p:cNvPr id="35" name="Rectangle 34">
            <a:extLst>
              <a:ext uri="{FF2B5EF4-FFF2-40B4-BE49-F238E27FC236}">
                <a16:creationId xmlns:a16="http://schemas.microsoft.com/office/drawing/2014/main" id="{0467B988-F2CC-4B87-A622-D85C4DBA4E32}"/>
              </a:ext>
            </a:extLst>
          </p:cNvPr>
          <p:cNvSpPr>
            <a:spLocks noGrp="1"/>
          </p:cNvSpPr>
          <p:nvPr/>
        </p:nvSpPr>
        <p:spPr>
          <a:xfrm>
            <a:off x="7708392" y="4123944"/>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9E333520-32E2-48D9-ABDD-7299433B2B08}"/>
              </a:ext>
            </a:extLst>
          </p:cNvPr>
          <p:cNvSpPr>
            <a:spLocks noGrp="1"/>
          </p:cNvSpPr>
          <p:nvPr/>
        </p:nvSpPr>
        <p:spPr>
          <a:xfrm>
            <a:off x="7763256" y="4169663"/>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7" name="Rectangle 36">
            <a:extLst>
              <a:ext uri="{FF2B5EF4-FFF2-40B4-BE49-F238E27FC236}">
                <a16:creationId xmlns:a16="http://schemas.microsoft.com/office/drawing/2014/main" id="{373FF968-D279-4D47-AA68-6925D273751F}"/>
              </a:ext>
            </a:extLst>
          </p:cNvPr>
          <p:cNvSpPr>
            <a:spLocks noGrp="1"/>
          </p:cNvSpPr>
          <p:nvPr/>
        </p:nvSpPr>
        <p:spPr>
          <a:xfrm>
            <a:off x="786384" y="4553712"/>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8EC3745D-B09B-40CC-B2E1-181BDBE1B929}"/>
              </a:ext>
            </a:extLst>
          </p:cNvPr>
          <p:cNvSpPr>
            <a:spLocks noGrp="1"/>
          </p:cNvSpPr>
          <p:nvPr/>
        </p:nvSpPr>
        <p:spPr>
          <a:xfrm>
            <a:off x="841247" y="4676173"/>
            <a:ext cx="5696712" cy="203133"/>
          </a:xfrm>
          <a:prstGeom prst="rect">
            <a:avLst/>
          </a:prstGeom>
          <a:noFill/>
        </p:spPr>
        <p:txBody>
          <a:bodyPr wrap="square" lIns="27432" tIns="27432" rIns="27432" bIns="27432" anchor="ctr">
            <a:spAutoFit/>
          </a:bodyPr>
          <a:lstStyle/>
          <a:p>
            <a:r>
              <a:rPr sz="960">
                <a:solidFill>
                  <a:srgbClr val="1F2730"/>
                </a:solidFill>
                <a:latin typeface="Arial"/>
                <a:ea typeface="Arial"/>
                <a:cs typeface="Arial"/>
              </a:rPr>
              <a:t>Number of genes in query: &gt;=3</a:t>
            </a:r>
            <a:endParaRPr sz="960" b="0" i="0">
              <a:solidFill>
                <a:srgbClr val="1F2730"/>
              </a:solidFill>
              <a:latin typeface="Arial"/>
              <a:ea typeface="Arial"/>
              <a:cs typeface="Arial"/>
            </a:endParaRPr>
          </a:p>
        </p:txBody>
      </p:sp>
      <p:sp>
        <p:nvSpPr>
          <p:cNvPr id="39" name="Rectangle 38">
            <a:extLst>
              <a:ext uri="{FF2B5EF4-FFF2-40B4-BE49-F238E27FC236}">
                <a16:creationId xmlns:a16="http://schemas.microsoft.com/office/drawing/2014/main" id="{0150717B-B47C-4BDA-A2A1-B24E1F4599D4}"/>
              </a:ext>
            </a:extLst>
          </p:cNvPr>
          <p:cNvSpPr>
            <a:spLocks noGrp="1"/>
          </p:cNvSpPr>
          <p:nvPr/>
        </p:nvSpPr>
        <p:spPr>
          <a:xfrm>
            <a:off x="6592824" y="4553712"/>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TextBox 39">
            <a:extLst>
              <a:ext uri="{FF2B5EF4-FFF2-40B4-BE49-F238E27FC236}">
                <a16:creationId xmlns:a16="http://schemas.microsoft.com/office/drawing/2014/main" id="{A1DA071E-0FA1-4CBC-84A7-C23543004197}"/>
              </a:ext>
            </a:extLst>
          </p:cNvPr>
          <p:cNvSpPr>
            <a:spLocks noGrp="1"/>
          </p:cNvSpPr>
          <p:nvPr/>
        </p:nvSpPr>
        <p:spPr>
          <a:xfrm>
            <a:off x="6647688" y="4676173"/>
            <a:ext cx="1005840"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a:solidFill>
                  <a:srgbClr val="1F2730"/>
                </a:solidFill>
                <a:latin typeface="Arial"/>
                <a:ea typeface="Arial"/>
                <a:cs typeface="Arial"/>
              </a:rPr>
              <a:t>22</a:t>
            </a:r>
            <a:endParaRPr sz="960" b="0" i="0">
              <a:solidFill>
                <a:srgbClr val="1F2730"/>
              </a:solidFill>
              <a:latin typeface="Arial"/>
              <a:ea typeface="Arial"/>
              <a:cs typeface="Arial"/>
            </a:endParaRPr>
          </a:p>
        </p:txBody>
      </p:sp>
      <p:sp>
        <p:nvSpPr>
          <p:cNvPr id="41" name="Rectangle 40">
            <a:extLst>
              <a:ext uri="{FF2B5EF4-FFF2-40B4-BE49-F238E27FC236}">
                <a16:creationId xmlns:a16="http://schemas.microsoft.com/office/drawing/2014/main" id="{3304B9D0-ADAD-40D3-8239-89117C09D517}"/>
              </a:ext>
            </a:extLst>
          </p:cNvPr>
          <p:cNvSpPr>
            <a:spLocks noGrp="1"/>
          </p:cNvSpPr>
          <p:nvPr/>
        </p:nvSpPr>
        <p:spPr>
          <a:xfrm>
            <a:off x="7708392" y="4553712"/>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TextBox 41">
            <a:extLst>
              <a:ext uri="{FF2B5EF4-FFF2-40B4-BE49-F238E27FC236}">
                <a16:creationId xmlns:a16="http://schemas.microsoft.com/office/drawing/2014/main" id="{B1DDC8C2-5FD0-4512-B9FC-411C8E88417C}"/>
              </a:ext>
            </a:extLst>
          </p:cNvPr>
          <p:cNvSpPr>
            <a:spLocks noGrp="1"/>
          </p:cNvSpPr>
          <p:nvPr/>
        </p:nvSpPr>
        <p:spPr>
          <a:xfrm>
            <a:off x="7763256" y="4676173"/>
            <a:ext cx="350215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Yes</a:t>
            </a:r>
          </a:p>
        </p:txBody>
      </p:sp>
      <p:sp>
        <p:nvSpPr>
          <p:cNvPr id="49" name="Rectangle 48">
            <a:extLst>
              <a:ext uri="{FF2B5EF4-FFF2-40B4-BE49-F238E27FC236}">
                <a16:creationId xmlns:a16="http://schemas.microsoft.com/office/drawing/2014/main" id="{1A0998C8-CEB6-4A92-AEB6-BE2E7DFBE2BE}"/>
              </a:ext>
            </a:extLst>
          </p:cNvPr>
          <p:cNvSpPr>
            <a:spLocks noGrp="1"/>
          </p:cNvSpPr>
          <p:nvPr/>
        </p:nvSpPr>
        <p:spPr>
          <a:xfrm>
            <a:off x="786384" y="5002700"/>
            <a:ext cx="580644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0" name="TextBox 49">
            <a:extLst>
              <a:ext uri="{FF2B5EF4-FFF2-40B4-BE49-F238E27FC236}">
                <a16:creationId xmlns:a16="http://schemas.microsoft.com/office/drawing/2014/main" id="{016DB5F1-DB8C-4310-AB69-2478EC5FD16D}"/>
              </a:ext>
            </a:extLst>
          </p:cNvPr>
          <p:cNvSpPr>
            <a:spLocks noGrp="1"/>
          </p:cNvSpPr>
          <p:nvPr/>
        </p:nvSpPr>
        <p:spPr>
          <a:xfrm>
            <a:off x="841247" y="5048420"/>
            <a:ext cx="569671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TOTAL</a:t>
            </a:r>
          </a:p>
        </p:txBody>
      </p:sp>
      <p:sp>
        <p:nvSpPr>
          <p:cNvPr id="51" name="Rectangle 50">
            <a:extLst>
              <a:ext uri="{FF2B5EF4-FFF2-40B4-BE49-F238E27FC236}">
                <a16:creationId xmlns:a16="http://schemas.microsoft.com/office/drawing/2014/main" id="{7EAC4715-A720-42B1-ACB8-5E6F721C19D0}"/>
              </a:ext>
            </a:extLst>
          </p:cNvPr>
          <p:cNvSpPr>
            <a:spLocks noGrp="1"/>
          </p:cNvSpPr>
          <p:nvPr/>
        </p:nvSpPr>
        <p:spPr>
          <a:xfrm>
            <a:off x="6592824" y="5002700"/>
            <a:ext cx="1115568"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2" name="TextBox 51">
            <a:extLst>
              <a:ext uri="{FF2B5EF4-FFF2-40B4-BE49-F238E27FC236}">
                <a16:creationId xmlns:a16="http://schemas.microsoft.com/office/drawing/2014/main" id="{0B08F8C0-BAE5-4956-9882-32026D2C2130}"/>
              </a:ext>
            </a:extLst>
          </p:cNvPr>
          <p:cNvSpPr>
            <a:spLocks noGrp="1"/>
          </p:cNvSpPr>
          <p:nvPr/>
        </p:nvSpPr>
        <p:spPr>
          <a:xfrm>
            <a:off x="6647688" y="5048420"/>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774</a:t>
            </a:r>
          </a:p>
        </p:txBody>
      </p:sp>
      <p:sp>
        <p:nvSpPr>
          <p:cNvPr id="53" name="Rectangle 52">
            <a:extLst>
              <a:ext uri="{FF2B5EF4-FFF2-40B4-BE49-F238E27FC236}">
                <a16:creationId xmlns:a16="http://schemas.microsoft.com/office/drawing/2014/main" id="{2318E8FD-D164-4CE7-BE87-ECC1C74B6293}"/>
              </a:ext>
            </a:extLst>
          </p:cNvPr>
          <p:cNvSpPr>
            <a:spLocks noGrp="1"/>
          </p:cNvSpPr>
          <p:nvPr/>
        </p:nvSpPr>
        <p:spPr>
          <a:xfrm>
            <a:off x="7708392" y="5002700"/>
            <a:ext cx="361188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4" name="TextBox 53">
            <a:extLst>
              <a:ext uri="{FF2B5EF4-FFF2-40B4-BE49-F238E27FC236}">
                <a16:creationId xmlns:a16="http://schemas.microsoft.com/office/drawing/2014/main" id="{DF7B247E-0514-4A15-99C2-80063D536100}"/>
              </a:ext>
            </a:extLst>
          </p:cNvPr>
          <p:cNvSpPr>
            <a:spLocks noGrp="1"/>
          </p:cNvSpPr>
          <p:nvPr/>
        </p:nvSpPr>
        <p:spPr>
          <a:xfrm>
            <a:off x="7763256" y="5048420"/>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22 KDA calls</a:t>
            </a:r>
          </a:p>
        </p:txBody>
      </p:sp>
      <p:sp>
        <p:nvSpPr>
          <p:cNvPr id="55" name="TextBox 54">
            <a:extLst>
              <a:ext uri="{FF2B5EF4-FFF2-40B4-BE49-F238E27FC236}">
                <a16:creationId xmlns:a16="http://schemas.microsoft.com/office/drawing/2014/main" id="{B84EA5A0-1787-45A7-8C9F-AC2330E54895}"/>
              </a:ext>
            </a:extLst>
          </p:cNvPr>
          <p:cNvSpPr>
            <a:spLocks noGrp="1"/>
          </p:cNvSpPr>
          <p:nvPr/>
        </p:nvSpPr>
        <p:spPr>
          <a:xfrm>
            <a:off x="804672" y="5551340"/>
            <a:ext cx="10607040"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Availability remains unbalanced: 20 M_e33 KDA calls, one F_e33 KDA call, and one F_e4 KDA call.</a:t>
            </a:r>
          </a:p>
        </p:txBody>
      </p:sp>
    </p:spTree>
    <p:extLst>
      <p:ext uri="{BB962C8B-B14F-4D97-AF65-F5344CB8AC3E}">
        <p14:creationId xmlns:p14="http://schemas.microsoft.com/office/powerpoint/2010/main" val="20297263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3969B7-9D27-4716-9CC1-20BB99E1000F}"/>
              </a:ext>
            </a:extLst>
          </p:cNvPr>
          <p:cNvSpPr>
            <a:spLocks noGrp="1"/>
          </p:cNvSpPr>
          <p:nvPr/>
        </p:nvSpPr>
        <p:spPr>
          <a:xfrm>
            <a:off x="530352" y="411480"/>
            <a:ext cx="10652760" cy="80945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KDA summary: 44 non-MitoCarta gene × category combinations represent 43 distinct genes</a:t>
            </a:r>
          </a:p>
        </p:txBody>
      </p:sp>
      <p:sp>
        <p:nvSpPr>
          <p:cNvPr id="3" name="Rounded Rectangle 2">
            <a:extLst>
              <a:ext uri="{FF2B5EF4-FFF2-40B4-BE49-F238E27FC236}">
                <a16:creationId xmlns:a16="http://schemas.microsoft.com/office/drawing/2014/main" id="{266CB8E9-F00B-4186-B28B-E531AE500285}"/>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D586E91-0BBE-4562-BD66-1CC83A41D50A}"/>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54</a:t>
            </a:r>
          </a:p>
        </p:txBody>
      </p:sp>
      <p:sp>
        <p:nvSpPr>
          <p:cNvPr id="5" name="TextBox 4">
            <a:extLst>
              <a:ext uri="{FF2B5EF4-FFF2-40B4-BE49-F238E27FC236}">
                <a16:creationId xmlns:a16="http://schemas.microsoft.com/office/drawing/2014/main" id="{C0806F58-2CBE-4AB7-B28A-D0E40AE7D203}"/>
              </a:ext>
            </a:extLst>
          </p:cNvPr>
          <p:cNvSpPr>
            <a:spLocks noGrp="1"/>
          </p:cNvSpPr>
          <p:nvPr/>
        </p:nvSpPr>
        <p:spPr>
          <a:xfrm>
            <a:off x="804672" y="1938528"/>
            <a:ext cx="1645920" cy="49859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rows returned from KDA calls (before aggregation)</a:t>
            </a:r>
          </a:p>
        </p:txBody>
      </p:sp>
      <p:sp>
        <p:nvSpPr>
          <p:cNvPr id="6" name="Rounded Rectangle 5">
            <a:extLst>
              <a:ext uri="{FF2B5EF4-FFF2-40B4-BE49-F238E27FC236}">
                <a16:creationId xmlns:a16="http://schemas.microsoft.com/office/drawing/2014/main" id="{817055C6-2BF3-4CF7-B0CF-EE8E00A91A3F}"/>
              </a:ext>
            </a:extLst>
          </p:cNvPr>
          <p:cNvSpPr>
            <a:spLocks noGrp="1"/>
          </p:cNvSpPr>
          <p:nvPr/>
        </p:nvSpPr>
        <p:spPr>
          <a:xfrm>
            <a:off x="2798063"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E414772-612D-467A-9081-053E8DB72155}"/>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8" name="TextBox 7">
            <a:extLst>
              <a:ext uri="{FF2B5EF4-FFF2-40B4-BE49-F238E27FC236}">
                <a16:creationId xmlns:a16="http://schemas.microsoft.com/office/drawing/2014/main" id="{83E2F100-F6CB-40EF-9D57-57FD6C94428E}"/>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9" name="Rounded Rectangle 8">
            <a:extLst>
              <a:ext uri="{FF2B5EF4-FFF2-40B4-BE49-F238E27FC236}">
                <a16:creationId xmlns:a16="http://schemas.microsoft.com/office/drawing/2014/main" id="{C7DE2D7C-EEC9-4171-963B-D7475A9E150E}"/>
              </a:ext>
            </a:extLst>
          </p:cNvPr>
          <p:cNvSpPr>
            <a:spLocks noGrp="1"/>
          </p:cNvSpPr>
          <p:nvPr/>
        </p:nvSpPr>
        <p:spPr>
          <a:xfrm>
            <a:off x="4937759"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F61C40E9-5223-45F4-B44C-5FB233D2D895}"/>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43</a:t>
            </a:r>
          </a:p>
        </p:txBody>
      </p:sp>
      <p:sp>
        <p:nvSpPr>
          <p:cNvPr id="11" name="TextBox 10">
            <a:extLst>
              <a:ext uri="{FF2B5EF4-FFF2-40B4-BE49-F238E27FC236}">
                <a16:creationId xmlns:a16="http://schemas.microsoft.com/office/drawing/2014/main" id="{AB834481-730D-4593-8326-D382E238D0D4}"/>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2" name="Rounded Rectangle 11">
            <a:extLst>
              <a:ext uri="{FF2B5EF4-FFF2-40B4-BE49-F238E27FC236}">
                <a16:creationId xmlns:a16="http://schemas.microsoft.com/office/drawing/2014/main" id="{046BD997-623C-4AE5-B790-588E4444AAFE}"/>
              </a:ext>
            </a:extLst>
          </p:cNvPr>
          <p:cNvSpPr>
            <a:spLocks noGrp="1"/>
          </p:cNvSpPr>
          <p:nvPr/>
        </p:nvSpPr>
        <p:spPr>
          <a:xfrm>
            <a:off x="7077455"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B67BD00-AE48-4A0D-AD00-63D7745D6BDD}"/>
              </a:ext>
            </a:extLst>
          </p:cNvPr>
          <p:cNvSpPr>
            <a:spLocks noGrp="1"/>
          </p:cNvSpPr>
          <p:nvPr/>
        </p:nvSpPr>
        <p:spPr>
          <a:xfrm>
            <a:off x="7223759"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5</a:t>
            </a:r>
          </a:p>
        </p:txBody>
      </p:sp>
      <p:sp>
        <p:nvSpPr>
          <p:cNvPr id="14" name="TextBox 13">
            <a:extLst>
              <a:ext uri="{FF2B5EF4-FFF2-40B4-BE49-F238E27FC236}">
                <a16:creationId xmlns:a16="http://schemas.microsoft.com/office/drawing/2014/main" id="{714FFE85-704F-4E2D-86BE-84362B31FAFE}"/>
              </a:ext>
            </a:extLst>
          </p:cNvPr>
          <p:cNvSpPr>
            <a:spLocks noGrp="1"/>
          </p:cNvSpPr>
          <p:nvPr/>
        </p:nvSpPr>
        <p:spPr>
          <a:xfrm>
            <a:off x="7223759"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5" name="Rounded Rectangle 14">
            <a:extLst>
              <a:ext uri="{FF2B5EF4-FFF2-40B4-BE49-F238E27FC236}">
                <a16:creationId xmlns:a16="http://schemas.microsoft.com/office/drawing/2014/main" id="{BBB2D1C1-9E60-40C9-B0D8-6D9E8BB2BFF3}"/>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BD937122-BFF3-40DB-AE09-638A1D6F355D}"/>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17</a:t>
            </a:r>
          </a:p>
        </p:txBody>
      </p:sp>
      <p:sp>
        <p:nvSpPr>
          <p:cNvPr id="17" name="TextBox 16">
            <a:extLst>
              <a:ext uri="{FF2B5EF4-FFF2-40B4-BE49-F238E27FC236}">
                <a16:creationId xmlns:a16="http://schemas.microsoft.com/office/drawing/2014/main" id="{5A21E9DF-589A-40DA-92D1-FAAF462E8D5C}"/>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18" name="Rounded Rectangle 17">
            <a:extLst>
              <a:ext uri="{FF2B5EF4-FFF2-40B4-BE49-F238E27FC236}">
                <a16:creationId xmlns:a16="http://schemas.microsoft.com/office/drawing/2014/main" id="{F53A1BB7-26D4-4255-B160-1B1ECCA99BE1}"/>
              </a:ext>
            </a:extLst>
          </p:cNvPr>
          <p:cNvSpPr>
            <a:spLocks noGrp="1"/>
          </p:cNvSpPr>
          <p:nvPr/>
        </p:nvSpPr>
        <p:spPr>
          <a:xfrm>
            <a:off x="658368" y="2871216"/>
            <a:ext cx="5266944"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Rectangle 18">
            <a:extLst>
              <a:ext uri="{FF2B5EF4-FFF2-40B4-BE49-F238E27FC236}">
                <a16:creationId xmlns:a16="http://schemas.microsoft.com/office/drawing/2014/main" id="{919BDC2A-9B9F-4374-A7DC-563CED8A9DE1}"/>
              </a:ext>
            </a:extLst>
          </p:cNvPr>
          <p:cNvSpPr>
            <a:spLocks noGrp="1"/>
          </p:cNvSpPr>
          <p:nvPr/>
        </p:nvSpPr>
        <p:spPr>
          <a:xfrm>
            <a:off x="932688"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5749611-28D0-4B77-A610-0D1241272AD7}"/>
              </a:ext>
            </a:extLst>
          </p:cNvPr>
          <p:cNvSpPr>
            <a:spLocks noGrp="1"/>
          </p:cNvSpPr>
          <p:nvPr/>
        </p:nvSpPr>
        <p:spPr>
          <a:xfrm>
            <a:off x="1078992" y="3163824"/>
            <a:ext cx="4572000"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the 44 combinations occur</a:t>
            </a:r>
          </a:p>
        </p:txBody>
      </p:sp>
      <p:sp>
        <p:nvSpPr>
          <p:cNvPr id="21" name="TextBox 20">
            <a:extLst>
              <a:ext uri="{FF2B5EF4-FFF2-40B4-BE49-F238E27FC236}">
                <a16:creationId xmlns:a16="http://schemas.microsoft.com/office/drawing/2014/main" id="{51FBEE82-1AAF-4A5B-BEE7-B5273ACBACFB}"/>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sex/APOE group</a:t>
            </a:r>
          </a:p>
        </p:txBody>
      </p:sp>
      <p:sp>
        <p:nvSpPr>
          <p:cNvPr id="22" name="TextBox 21">
            <a:extLst>
              <a:ext uri="{FF2B5EF4-FFF2-40B4-BE49-F238E27FC236}">
                <a16:creationId xmlns:a16="http://schemas.microsoft.com/office/drawing/2014/main" id="{2BADE5CD-0D71-420F-AAC7-A81D98015224}"/>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M_e33 39 • F_e4 3 • F_e33 2 • other groups 0</a:t>
            </a:r>
          </a:p>
        </p:txBody>
      </p:sp>
      <p:sp>
        <p:nvSpPr>
          <p:cNvPr id="23" name="TextBox 22">
            <a:extLst>
              <a:ext uri="{FF2B5EF4-FFF2-40B4-BE49-F238E27FC236}">
                <a16:creationId xmlns:a16="http://schemas.microsoft.com/office/drawing/2014/main" id="{934D0CBE-1EA8-44E3-9253-7C7679855DA3}"/>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broad network</a:t>
            </a:r>
          </a:p>
        </p:txBody>
      </p:sp>
      <p:sp>
        <p:nvSpPr>
          <p:cNvPr id="24" name="TextBox 23">
            <a:extLst>
              <a:ext uri="{FF2B5EF4-FFF2-40B4-BE49-F238E27FC236}">
                <a16:creationId xmlns:a16="http://schemas.microsoft.com/office/drawing/2014/main" id="{EE7A5776-CF45-454B-B504-83B259C0FDE1}"/>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0" b="1" i="0">
                <a:solidFill>
                  <a:srgbClr val="0F233D"/>
                </a:solidFill>
                <a:latin typeface="Arial"/>
                <a:ea typeface="Arial"/>
                <a:cs typeface="Arial"/>
              </a:rPr>
              <a:t>Excitatory 27 • Inhibitory 12 • Astrocytes 3 • Oligo 2
Microglia, OPCs, Vasculature 0</a:t>
            </a:r>
          </a:p>
        </p:txBody>
      </p:sp>
      <p:sp>
        <p:nvSpPr>
          <p:cNvPr id="25" name="Rounded Rectangle 24">
            <a:extLst>
              <a:ext uri="{FF2B5EF4-FFF2-40B4-BE49-F238E27FC236}">
                <a16:creationId xmlns:a16="http://schemas.microsoft.com/office/drawing/2014/main" id="{A242F848-502E-4E2C-BE15-FCF81556BAB7}"/>
              </a:ext>
            </a:extLst>
          </p:cNvPr>
          <p:cNvSpPr>
            <a:spLocks noGrp="1"/>
          </p:cNvSpPr>
          <p:nvPr/>
        </p:nvSpPr>
        <p:spPr>
          <a:xfrm>
            <a:off x="6181344" y="2871216"/>
            <a:ext cx="5010912" cy="2834640"/>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1651B2FF-A649-4167-A154-536CA5377580}"/>
              </a:ext>
            </a:extLst>
          </p:cNvPr>
          <p:cNvSpPr>
            <a:spLocks noGrp="1"/>
          </p:cNvSpPr>
          <p:nvPr/>
        </p:nvSpPr>
        <p:spPr>
          <a:xfrm>
            <a:off x="6455664"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1AFD1C8B-0909-4834-B27B-7FCDF6064D16}"/>
              </a:ext>
            </a:extLst>
          </p:cNvPr>
          <p:cNvSpPr>
            <a:spLocks noGrp="1"/>
          </p:cNvSpPr>
          <p:nvPr/>
        </p:nvSpPr>
        <p:spPr>
          <a:xfrm>
            <a:off x="6601968" y="3163824"/>
            <a:ext cx="43159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Execution and filtering</a:t>
            </a:r>
          </a:p>
        </p:txBody>
      </p:sp>
      <p:sp>
        <p:nvSpPr>
          <p:cNvPr id="28" name="Oval 27">
            <a:extLst>
              <a:ext uri="{FF2B5EF4-FFF2-40B4-BE49-F238E27FC236}">
                <a16:creationId xmlns:a16="http://schemas.microsoft.com/office/drawing/2014/main" id="{48C231C5-C605-4D75-898B-8BFD47BC92EF}"/>
              </a:ext>
            </a:extLst>
          </p:cNvPr>
          <p:cNvSpPr>
            <a:spLocks noGrp="1"/>
          </p:cNvSpPr>
          <p:nvPr/>
        </p:nvSpPr>
        <p:spPr>
          <a:xfrm>
            <a:off x="6473952" y="380390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34823F20-5A45-4A0A-B19E-4A10F7E169C1}"/>
              </a:ext>
            </a:extLst>
          </p:cNvPr>
          <p:cNvSpPr>
            <a:spLocks noGrp="1"/>
          </p:cNvSpPr>
          <p:nvPr/>
        </p:nvSpPr>
        <p:spPr>
          <a:xfrm>
            <a:off x="6647688" y="3675887"/>
            <a:ext cx="4197096" cy="3901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20 KDA calls returned genes; 2 returned no genes.</a:t>
            </a:r>
          </a:p>
        </p:txBody>
      </p:sp>
      <p:sp>
        <p:nvSpPr>
          <p:cNvPr id="30" name="Oval 29">
            <a:extLst>
              <a:ext uri="{FF2B5EF4-FFF2-40B4-BE49-F238E27FC236}">
                <a16:creationId xmlns:a16="http://schemas.microsoft.com/office/drawing/2014/main" id="{AF468CC1-E16F-46D0-9314-E81F9426FFB1}"/>
              </a:ext>
            </a:extLst>
          </p:cNvPr>
          <p:cNvSpPr>
            <a:spLocks noGrp="1"/>
          </p:cNvSpPr>
          <p:nvPr/>
        </p:nvSpPr>
        <p:spPr>
          <a:xfrm>
            <a:off x="6473952" y="424281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09C15C00-D3AD-4B6B-ADF9-A831EFF6375E}"/>
              </a:ext>
            </a:extLst>
          </p:cNvPr>
          <p:cNvSpPr>
            <a:spLocks noGrp="1"/>
          </p:cNvSpPr>
          <p:nvPr/>
        </p:nvSpPr>
        <p:spPr>
          <a:xfrm>
            <a:off x="6647688" y="4114800"/>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112 gene rows returned from KDA calls before MitoCarta filtering.</a:t>
            </a:r>
          </a:p>
        </p:txBody>
      </p:sp>
      <p:sp>
        <p:nvSpPr>
          <p:cNvPr id="32" name="Oval 31">
            <a:extLst>
              <a:ext uri="{FF2B5EF4-FFF2-40B4-BE49-F238E27FC236}">
                <a16:creationId xmlns:a16="http://schemas.microsoft.com/office/drawing/2014/main" id="{EE669660-30A8-420E-AC2D-AE1BDF8C3DC1}"/>
              </a:ext>
            </a:extLst>
          </p:cNvPr>
          <p:cNvSpPr>
            <a:spLocks noGrp="1"/>
          </p:cNvSpPr>
          <p:nvPr/>
        </p:nvSpPr>
        <p:spPr>
          <a:xfrm>
            <a:off x="6473952" y="468172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331ABCB6-F6D1-4B0E-A15B-C18E837295F3}"/>
              </a:ext>
            </a:extLst>
          </p:cNvPr>
          <p:cNvSpPr>
            <a:spLocks noGrp="1"/>
          </p:cNvSpPr>
          <p:nvPr/>
        </p:nvSpPr>
        <p:spPr>
          <a:xfrm>
            <a:off x="6647688" y="4553712"/>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58 MitoCarta MT rows excluded.</a:t>
            </a:r>
          </a:p>
        </p:txBody>
      </p:sp>
      <p:sp>
        <p:nvSpPr>
          <p:cNvPr id="34" name="Oval 33">
            <a:extLst>
              <a:ext uri="{FF2B5EF4-FFF2-40B4-BE49-F238E27FC236}">
                <a16:creationId xmlns:a16="http://schemas.microsoft.com/office/drawing/2014/main" id="{BB1ED601-06B8-4E91-8C71-7E09AD39A38E}"/>
              </a:ext>
            </a:extLst>
          </p:cNvPr>
          <p:cNvSpPr>
            <a:spLocks noGrp="1"/>
          </p:cNvSpPr>
          <p:nvPr/>
        </p:nvSpPr>
        <p:spPr>
          <a:xfrm>
            <a:off x="6473952"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3D878F60-9EE8-421F-924E-ED902D22CDF0}"/>
              </a:ext>
            </a:extLst>
          </p:cNvPr>
          <p:cNvSpPr>
            <a:spLocks noGrp="1"/>
          </p:cNvSpPr>
          <p:nvPr/>
        </p:nvSpPr>
        <p:spPr>
          <a:xfrm>
            <a:off x="6647688" y="4992624"/>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54 non-MitoCarta rows retained for aggregation.</a:t>
            </a:r>
          </a:p>
        </p:txBody>
      </p:sp>
    </p:spTree>
    <p:extLst>
      <p:ext uri="{BB962C8B-B14F-4D97-AF65-F5344CB8AC3E}">
        <p14:creationId xmlns:p14="http://schemas.microsoft.com/office/powerpoint/2010/main" val="18301476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341F45-6A8E-4711-A9EB-CA3AD2B8231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Top-five display: 17 non-MitoCarta entries across 5 categories</a:t>
            </a:r>
          </a:p>
        </p:txBody>
      </p:sp>
      <p:pic>
        <p:nvPicPr>
          <p:cNvPr id="5" name="SEA-AD top-five non-MT key drivers by sex/APOE and broad-cell category"/>
          <p:cNvPicPr>
            <a:picLocks noChangeAspect="1"/>
          </p:cNvPicPr>
          <p:nvPr/>
        </p:nvPicPr>
        <p:blipFill>
          <a:blip r:embed="rId3"/>
          <a:stretch>
            <a:fillRect/>
          </a:stretch>
        </p:blipFill>
        <p:spPr>
          <a:xfrm>
            <a:off x="612648" y="960120"/>
            <a:ext cx="10972800" cy="5221224"/>
          </a:xfrm>
          <a:prstGeom prst="rect">
            <a:avLst/>
          </a:prstGeom>
        </p:spPr>
      </p:pic>
    </p:spTree>
    <p:extLst>
      <p:ext uri="{BB962C8B-B14F-4D97-AF65-F5344CB8AC3E}">
        <p14:creationId xmlns:p14="http://schemas.microsoft.com/office/powerpoint/2010/main" val="20781944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0EF2992-4E3C-442C-89F2-7BC097E6D6F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excitatory neurons: genes returned from KDA calls</a:t>
            </a:r>
          </a:p>
        </p:txBody>
      </p:sp>
      <p:sp>
        <p:nvSpPr>
          <p:cNvPr id="3" name="TextBox 2">
            <a:extLst>
              <a:ext uri="{FF2B5EF4-FFF2-40B4-BE49-F238E27FC236}">
                <a16:creationId xmlns:a16="http://schemas.microsoft.com/office/drawing/2014/main" id="{957CCBF0-B81D-4307-BF82-7F564C9373D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27 unique non-MitoCarta genes across 27 gene × category combinations; no gene recurs across sex/APOE categories.</a:t>
            </a:r>
          </a:p>
        </p:txBody>
      </p:sp>
      <p:pic>
        <p:nvPicPr>
          <p:cNvPr id="7" name="SEA-AD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5028071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8AB12A-D026-4286-B862-075E45B71C5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PART 6</a:t>
            </a:r>
          </a:p>
        </p:txBody>
      </p:sp>
      <p:sp>
        <p:nvSpPr>
          <p:cNvPr id="3" name="Rectangle 2">
            <a:extLst>
              <a:ext uri="{FF2B5EF4-FFF2-40B4-BE49-F238E27FC236}">
                <a16:creationId xmlns:a16="http://schemas.microsoft.com/office/drawing/2014/main" id="{9B90BBA1-E9E2-4E17-A6C8-66AF73EEFBD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AF6BA42-08C4-4EA5-A344-09381D0B027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Direct broad-cell validation</a:t>
            </a:r>
          </a:p>
        </p:txBody>
      </p:sp>
      <p:sp>
        <p:nvSpPr>
          <p:cNvPr id="5" name="TextBox 4">
            <a:extLst>
              <a:ext uri="{FF2B5EF4-FFF2-40B4-BE49-F238E27FC236}">
                <a16:creationId xmlns:a16="http://schemas.microsoft.com/office/drawing/2014/main" id="{2067FDA8-407C-4DBE-B763-2AC484C63E1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secondary analysis tests whether fine-cell findings persist when cells are combined into broad classes.</a:t>
            </a:r>
          </a:p>
        </p:txBody>
      </p:sp>
      <p:sp>
        <p:nvSpPr>
          <p:cNvPr id="6" name="Rounded Rectangle 5">
            <a:extLst>
              <a:ext uri="{FF2B5EF4-FFF2-40B4-BE49-F238E27FC236}">
                <a16:creationId xmlns:a16="http://schemas.microsoft.com/office/drawing/2014/main" id="{3D417846-D3C8-43D7-A99E-359027C6D74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C1A4EC2-5414-418D-9D33-A636ADFB559C}"/>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PART</a:t>
            </a:r>
          </a:p>
        </p:txBody>
      </p:sp>
      <p:sp>
        <p:nvSpPr>
          <p:cNvPr id="8" name="Oval 7">
            <a:extLst>
              <a:ext uri="{FF2B5EF4-FFF2-40B4-BE49-F238E27FC236}">
                <a16:creationId xmlns:a16="http://schemas.microsoft.com/office/drawing/2014/main" id="{7D989CA6-1B16-4974-BEE8-CD8009EA7F8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03E7C55-5C6F-4719-AB0F-5EFB8E09B2D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8E80E10-25DA-460A-B848-8A88ABF781AE}"/>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Analysis resolution</a:t>
            </a:r>
          </a:p>
        </p:txBody>
      </p:sp>
      <p:sp>
        <p:nvSpPr>
          <p:cNvPr id="11" name="Oval 10">
            <a:extLst>
              <a:ext uri="{FF2B5EF4-FFF2-40B4-BE49-F238E27FC236}">
                <a16:creationId xmlns:a16="http://schemas.microsoft.com/office/drawing/2014/main" id="{3CDE8AE7-2294-4DE5-980E-32E501A6C09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F7ACA8-9E5D-4F7D-9F5E-1C89B8FBD38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0F70274-A525-4BB9-A129-15E33D9F61D7}"/>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Broad-cell comparison</a:t>
            </a:r>
          </a:p>
        </p:txBody>
      </p:sp>
      <p:sp>
        <p:nvSpPr>
          <p:cNvPr id="14" name="Oval 13">
            <a:extLst>
              <a:ext uri="{FF2B5EF4-FFF2-40B4-BE49-F238E27FC236}">
                <a16:creationId xmlns:a16="http://schemas.microsoft.com/office/drawing/2014/main" id="{A5541F68-CF6A-4665-AEE6-F8BA0BD6271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6A3F6F-C41C-44D9-B1B9-F84CE5103C8B}"/>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1A32B75A-B123-4918-8015-2D4F13003D0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Pathway workflow</a:t>
            </a:r>
          </a:p>
        </p:txBody>
      </p:sp>
      <p:sp>
        <p:nvSpPr>
          <p:cNvPr id="17" name="Oval 16">
            <a:extLst>
              <a:ext uri="{FF2B5EF4-FFF2-40B4-BE49-F238E27FC236}">
                <a16:creationId xmlns:a16="http://schemas.microsoft.com/office/drawing/2014/main" id="{7E5D2E0A-EEB4-4E1B-BE39-4C5A4649E1E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8954FAC-8826-4644-A259-79B90925CF5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FE01F0D-1D60-41F0-AA9B-D1D892B891B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ES and NES calculation</a:t>
            </a:r>
          </a:p>
        </p:txBody>
      </p:sp>
      <p:sp>
        <p:nvSpPr>
          <p:cNvPr id="20" name="Rounded Rectangle 19">
            <a:extLst>
              <a:ext uri="{FF2B5EF4-FFF2-40B4-BE49-F238E27FC236}">
                <a16:creationId xmlns:a16="http://schemas.microsoft.com/office/drawing/2014/main" id="{CCEC5EAA-C189-406C-9B90-06ED8DBF0FF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67AE32-97EB-4716-897E-EF1FA7C0A5E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Direct broad-cell analysis is supporting evidence; fine-cell analysis remains the primary resolution.</a:t>
            </a:r>
          </a:p>
        </p:txBody>
      </p:sp>
    </p:spTree>
    <p:extLst>
      <p:ext uri="{BB962C8B-B14F-4D97-AF65-F5344CB8AC3E}">
        <p14:creationId xmlns:p14="http://schemas.microsoft.com/office/powerpoint/2010/main" val="19766399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Fine-cell summaries and direct broad-cell analysis answer different questions</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order of aggregation and testing changes the biological resolution.</a:t>
            </a:r>
          </a:p>
        </p:txBody>
      </p:sp>
      <p:sp>
        <p:nvSpPr>
          <p:cNvPr id="4" name="Rounded Rectangle 3">
            <a:extLst>
              <a:ext uri="{FF2B5EF4-FFF2-40B4-BE49-F238E27FC236}">
                <a16:creationId xmlns:a16="http://schemas.microsoft.com/office/drawing/2014/main" id="{39A86691-49B6-40BA-9B7E-1D0E4F7208F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74921E-CB72-47D6-A24A-B8DE6A60EA3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Fine-cell primary</a:t>
            </a:r>
          </a:p>
        </p:txBody>
      </p:sp>
      <p:sp>
        <p:nvSpPr>
          <p:cNvPr id="6" name="Rounded Rectangle 5">
            <a:extLst>
              <a:ext uri="{FF2B5EF4-FFF2-40B4-BE49-F238E27FC236}">
                <a16:creationId xmlns:a16="http://schemas.microsoft.com/office/drawing/2014/main" id="{898814CC-D61C-4493-ADF0-9F4DC2B35D0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9D5293A-18E3-40CD-89F3-26829C1D289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Direct broad secondary</a:t>
            </a:r>
          </a:p>
        </p:txBody>
      </p:sp>
      <p:sp>
        <p:nvSpPr>
          <p:cNvPr id="8" name="Rounded Rectangle 7">
            <a:extLst>
              <a:ext uri="{FF2B5EF4-FFF2-40B4-BE49-F238E27FC236}">
                <a16:creationId xmlns:a16="http://schemas.microsoft.com/office/drawing/2014/main" id="{128528F0-0394-45AD-BC8B-27B5537B130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A922C6C-7D42-4015-9F4D-601E45A137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Same AD-versus-NCI contrast</a:t>
            </a:r>
          </a:p>
        </p:txBody>
      </p:sp>
      <p:sp>
        <p:nvSpPr>
          <p:cNvPr id="10" name="Rounded Rectangle 9">
            <a:extLst>
              <a:ext uri="{FF2B5EF4-FFF2-40B4-BE49-F238E27FC236}">
                <a16:creationId xmlns:a16="http://schemas.microsoft.com/office/drawing/2014/main" id="{1F89F666-EC68-4B12-8245-6A91883251DB}"/>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F0B02DC0-F83E-4862-AFB0-52E4D28EC5CB}"/>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Different resolution</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FINE-CELL ANALYSIS</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Test each fine cell type</a:t>
            </a: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Run AD-versus-NCI DEG analysis separately within each fine cell type, sex, and APOE group. Summarize results later by broad class.</a:t>
            </a:r>
          </a:p>
        </p:txBody>
      </p:sp>
      <p:sp>
        <p:nvSpPr>
          <p:cNvPr id="16" name="Rounded Rectangle 15">
            <a:extLst>
              <a:ext uri="{FF2B5EF4-FFF2-40B4-BE49-F238E27FC236}">
                <a16:creationId xmlns:a16="http://schemas.microsoft.com/office/drawing/2014/main" id="{534A9EEA-8A5F-4954-B3B2-93AD43A47D87}"/>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DIRECT BROAD-CELL ANALYSIS</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Combine cells before testing</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lang="en-US" sz="1220" b="0" i="0" dirty="0">
                <a:solidFill>
                  <a:srgbClr val="1F2730"/>
                </a:solidFill>
                <a:latin typeface="Arial"/>
                <a:ea typeface="Arial"/>
                <a:cs typeface="Arial"/>
              </a:rPr>
              <a:t>Within each donor, c</a:t>
            </a:r>
            <a:r>
              <a:rPr sz="1220" b="0" i="0" dirty="0">
                <a:solidFill>
                  <a:srgbClr val="1F2730"/>
                </a:solidFill>
                <a:latin typeface="Arial"/>
                <a:ea typeface="Arial"/>
                <a:cs typeface="Arial"/>
              </a:rPr>
              <a:t>ombine cells belonging to one broad class, then compare AD with NCI within one sex/APOE group.</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91C911D-9BE4-4EAD-901C-EB4A7396FDD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WHY BOTH ARE USEFUL</a:t>
            </a:r>
          </a:p>
        </p:txBody>
      </p:sp>
      <p:sp>
        <p:nvSpPr>
          <p:cNvPr id="22" name="TextBox 21">
            <a:extLst>
              <a:ext uri="{FF2B5EF4-FFF2-40B4-BE49-F238E27FC236}">
                <a16:creationId xmlns:a16="http://schemas.microsoft.com/office/drawing/2014/main" id="{DE347B32-7281-4BAA-9D9B-7BD80806D79B}"/>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Resolution check</a:t>
            </a:r>
          </a:p>
        </p:txBody>
      </p:sp>
      <p:sp>
        <p:nvSpPr>
          <p:cNvPr id="23" name="TextBox 22">
            <a:extLst>
              <a:ext uri="{FF2B5EF4-FFF2-40B4-BE49-F238E27FC236}">
                <a16:creationId xmlns:a16="http://schemas.microsoft.com/office/drawing/2014/main" id="{8791BB3F-8EB1-406E-ABA1-2F45257FD1DF}"/>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Agreement strengthens a finding. Disagreement means that the result depends on cell resolution.</a:t>
            </a:r>
          </a:p>
        </p:txBody>
      </p:sp>
      <p:sp>
        <p:nvSpPr>
          <p:cNvPr id="24" name="Rounded Rectangle 23">
            <a:extLst>
              <a:ext uri="{FF2B5EF4-FFF2-40B4-BE49-F238E27FC236}">
                <a16:creationId xmlns:a16="http://schemas.microsoft.com/office/drawing/2014/main" id="{58C107E9-3677-45CB-8CAB-1BE1CEDCE979}"/>
              </a:ext>
            </a:extLst>
          </p:cNvPr>
          <p:cNvSpPr>
            <a:spLocks noGrp="1"/>
          </p:cNvSpPr>
          <p:nvPr/>
        </p:nvSpPr>
        <p:spPr>
          <a:xfrm>
            <a:off x="658368" y="6146918"/>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3B50EAE-DA13-43C2-AD90-0FF977EECBFB}"/>
              </a:ext>
            </a:extLst>
          </p:cNvPr>
          <p:cNvSpPr>
            <a:spLocks noGrp="1"/>
          </p:cNvSpPr>
          <p:nvPr/>
        </p:nvSpPr>
        <p:spPr>
          <a:xfrm>
            <a:off x="896112" y="6301829"/>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dirty="0">
                <a:solidFill>
                  <a:srgbClr val="7E4C9A"/>
                </a:solidFill>
                <a:latin typeface="Arial"/>
                <a:ea typeface="Arial"/>
                <a:cs typeface="Arial"/>
              </a:rPr>
              <a:t>Fine-cell analysis retains subtype localization. Direct broad-cell analysis retains donor-level structure but mixes fine cell types.</a:t>
            </a:r>
          </a:p>
        </p:txBody>
      </p:sp>
    </p:spTree>
    <p:extLst>
      <p:ext uri="{BB962C8B-B14F-4D97-AF65-F5344CB8AC3E}">
        <p14:creationId xmlns:p14="http://schemas.microsoft.com/office/powerpoint/2010/main" val="12621582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221FFC-B8D1-496E-A536-22D57CBEFE4E}"/>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How direct broad-cell pathway validation was done</a:t>
            </a:r>
          </a:p>
        </p:txBody>
      </p:sp>
      <p:sp>
        <p:nvSpPr>
          <p:cNvPr id="5" name="Rounded Rectangle 4">
            <a:extLst>
              <a:ext uri="{FF2B5EF4-FFF2-40B4-BE49-F238E27FC236}">
                <a16:creationId xmlns:a16="http://schemas.microsoft.com/office/drawing/2014/main" id="{46E88943-8734-4E23-A8AF-1BFDF11E7331}"/>
              </a:ext>
            </a:extLst>
          </p:cNvPr>
          <p:cNvSpPr>
            <a:spLocks noGrp="1"/>
          </p:cNvSpPr>
          <p:nvPr/>
        </p:nvSpPr>
        <p:spPr>
          <a:xfrm>
            <a:off x="603504" y="1371600"/>
            <a:ext cx="2587752" cy="423367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Oval 5">
            <a:extLst>
              <a:ext uri="{FF2B5EF4-FFF2-40B4-BE49-F238E27FC236}">
                <a16:creationId xmlns:a16="http://schemas.microsoft.com/office/drawing/2014/main" id="{289406B0-EF9A-4E79-B36A-4427A6153B61}"/>
              </a:ext>
            </a:extLst>
          </p:cNvPr>
          <p:cNvSpPr>
            <a:spLocks noGrp="1"/>
          </p:cNvSpPr>
          <p:nvPr/>
        </p:nvSpPr>
        <p:spPr>
          <a:xfrm>
            <a:off x="80467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1C6F10-E5E1-4BB4-A387-04C150B20AA8}"/>
              </a:ext>
            </a:extLst>
          </p:cNvPr>
          <p:cNvSpPr>
            <a:spLocks noGrp="1"/>
          </p:cNvSpPr>
          <p:nvPr/>
        </p:nvSpPr>
        <p:spPr>
          <a:xfrm>
            <a:off x="80467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1</a:t>
            </a:r>
          </a:p>
        </p:txBody>
      </p:sp>
      <p:sp>
        <p:nvSpPr>
          <p:cNvPr id="8" name="TextBox 7">
            <a:extLst>
              <a:ext uri="{FF2B5EF4-FFF2-40B4-BE49-F238E27FC236}">
                <a16:creationId xmlns:a16="http://schemas.microsoft.com/office/drawing/2014/main" id="{F22D91EF-D9BC-409A-9ACA-8738658F8584}"/>
              </a:ext>
            </a:extLst>
          </p:cNvPr>
          <p:cNvSpPr>
            <a:spLocks noGrp="1"/>
          </p:cNvSpPr>
          <p:nvPr/>
        </p:nvSpPr>
        <p:spPr>
          <a:xfrm>
            <a:off x="804672" y="2267712"/>
            <a:ext cx="2157984" cy="3477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Combine cells by donor</a:t>
            </a:r>
          </a:p>
        </p:txBody>
      </p:sp>
      <p:sp>
        <p:nvSpPr>
          <p:cNvPr id="9" name="TextBox 8">
            <a:extLst>
              <a:ext uri="{FF2B5EF4-FFF2-40B4-BE49-F238E27FC236}">
                <a16:creationId xmlns:a16="http://schemas.microsoft.com/office/drawing/2014/main" id="{60C194DE-54EB-476E-8EDE-572C60849D23}"/>
              </a:ext>
            </a:extLst>
          </p:cNvPr>
          <p:cNvSpPr>
            <a:spLocks noGrp="1"/>
          </p:cNvSpPr>
          <p:nvPr/>
        </p:nvSpPr>
        <p:spPr>
          <a:xfrm>
            <a:off x="80467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one broad class within each donor</a:t>
            </a:r>
          </a:p>
        </p:txBody>
      </p:sp>
      <p:sp>
        <p:nvSpPr>
          <p:cNvPr id="10" name="Rounded Rectangle 9">
            <a:extLst>
              <a:ext uri="{FF2B5EF4-FFF2-40B4-BE49-F238E27FC236}">
                <a16:creationId xmlns:a16="http://schemas.microsoft.com/office/drawing/2014/main" id="{6146D296-CE83-45BB-AD0D-3A7A6C16FE5F}"/>
              </a:ext>
            </a:extLst>
          </p:cNvPr>
          <p:cNvSpPr>
            <a:spLocks noGrp="1"/>
          </p:cNvSpPr>
          <p:nvPr/>
        </p:nvSpPr>
        <p:spPr>
          <a:xfrm>
            <a:off x="78638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6A2FDC54-9072-421A-B955-DD62AE6235F9}"/>
              </a:ext>
            </a:extLst>
          </p:cNvPr>
          <p:cNvSpPr>
            <a:spLocks noGrp="1"/>
          </p:cNvSpPr>
          <p:nvPr/>
        </p:nvSpPr>
        <p:spPr>
          <a:xfrm>
            <a:off x="93268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Pool cells from one broad class within each donor.</a:t>
            </a:r>
          </a:p>
        </p:txBody>
      </p:sp>
      <p:sp>
        <p:nvSpPr>
          <p:cNvPr id="12" name="Rounded Rectangle 11">
            <a:extLst>
              <a:ext uri="{FF2B5EF4-FFF2-40B4-BE49-F238E27FC236}">
                <a16:creationId xmlns:a16="http://schemas.microsoft.com/office/drawing/2014/main" id="{3D6A8284-7A31-4380-B904-A0B59015231A}"/>
              </a:ext>
            </a:extLst>
          </p:cNvPr>
          <p:cNvSpPr>
            <a:spLocks noGrp="1"/>
          </p:cNvSpPr>
          <p:nvPr/>
        </p:nvSpPr>
        <p:spPr>
          <a:xfrm>
            <a:off x="3438144" y="1371600"/>
            <a:ext cx="2587752" cy="423367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Oval 12">
            <a:extLst>
              <a:ext uri="{FF2B5EF4-FFF2-40B4-BE49-F238E27FC236}">
                <a16:creationId xmlns:a16="http://schemas.microsoft.com/office/drawing/2014/main" id="{1B9491F2-A95B-404C-9125-3CAAEE2F4998}"/>
              </a:ext>
            </a:extLst>
          </p:cNvPr>
          <p:cNvSpPr>
            <a:spLocks noGrp="1"/>
          </p:cNvSpPr>
          <p:nvPr/>
        </p:nvSpPr>
        <p:spPr>
          <a:xfrm>
            <a:off x="363931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622387C4-7931-4CE7-BDE7-F35D8D087AE8}"/>
              </a:ext>
            </a:extLst>
          </p:cNvPr>
          <p:cNvSpPr>
            <a:spLocks noGrp="1"/>
          </p:cNvSpPr>
          <p:nvPr/>
        </p:nvSpPr>
        <p:spPr>
          <a:xfrm>
            <a:off x="363931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2</a:t>
            </a:r>
          </a:p>
        </p:txBody>
      </p:sp>
      <p:sp>
        <p:nvSpPr>
          <p:cNvPr id="15" name="TextBox 14">
            <a:extLst>
              <a:ext uri="{FF2B5EF4-FFF2-40B4-BE49-F238E27FC236}">
                <a16:creationId xmlns:a16="http://schemas.microsoft.com/office/drawing/2014/main" id="{F0443E6F-1577-4127-9A0B-40BE604BD958}"/>
              </a:ext>
            </a:extLst>
          </p:cNvPr>
          <p:cNvSpPr>
            <a:spLocks noGrp="1"/>
          </p:cNvSpPr>
          <p:nvPr/>
        </p:nvSpPr>
        <p:spPr>
          <a:xfrm>
            <a:off x="3639312" y="2267712"/>
            <a:ext cx="2157984" cy="6339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Compare AD with NCI</a:t>
            </a:r>
          </a:p>
        </p:txBody>
      </p:sp>
      <p:sp>
        <p:nvSpPr>
          <p:cNvPr id="16" name="TextBox 15">
            <a:extLst>
              <a:ext uri="{FF2B5EF4-FFF2-40B4-BE49-F238E27FC236}">
                <a16:creationId xmlns:a16="http://schemas.microsoft.com/office/drawing/2014/main" id="{7001D801-ADA4-403D-BAD3-04BAFAA2F71C}"/>
              </a:ext>
            </a:extLst>
          </p:cNvPr>
          <p:cNvSpPr>
            <a:spLocks noGrp="1"/>
          </p:cNvSpPr>
          <p:nvPr/>
        </p:nvSpPr>
        <p:spPr>
          <a:xfrm>
            <a:off x="363931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sex/APOE group × broad class</a:t>
            </a:r>
          </a:p>
        </p:txBody>
      </p:sp>
      <p:sp>
        <p:nvSpPr>
          <p:cNvPr id="17" name="Rounded Rectangle 16">
            <a:extLst>
              <a:ext uri="{FF2B5EF4-FFF2-40B4-BE49-F238E27FC236}">
                <a16:creationId xmlns:a16="http://schemas.microsoft.com/office/drawing/2014/main" id="{A3D98377-F5A3-4F8F-BAB6-FDC375C4B716}"/>
              </a:ext>
            </a:extLst>
          </p:cNvPr>
          <p:cNvSpPr>
            <a:spLocks noGrp="1"/>
          </p:cNvSpPr>
          <p:nvPr/>
        </p:nvSpPr>
        <p:spPr>
          <a:xfrm>
            <a:off x="362102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57EF9E3C-D045-44CE-881A-1A65D09E147D}"/>
              </a:ext>
            </a:extLst>
          </p:cNvPr>
          <p:cNvSpPr>
            <a:spLocks noGrp="1"/>
          </p:cNvSpPr>
          <p:nvPr/>
        </p:nvSpPr>
        <p:spPr>
          <a:xfrm>
            <a:off x="376732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Run one differential-expression comparison for each group and broad cell class.</a:t>
            </a:r>
          </a:p>
        </p:txBody>
      </p:sp>
      <p:sp>
        <p:nvSpPr>
          <p:cNvPr id="19" name="Rounded Rectangle 18">
            <a:extLst>
              <a:ext uri="{FF2B5EF4-FFF2-40B4-BE49-F238E27FC236}">
                <a16:creationId xmlns:a16="http://schemas.microsoft.com/office/drawing/2014/main" id="{DF469515-F5B8-43BD-8069-1C1E5125CEA0}"/>
              </a:ext>
            </a:extLst>
          </p:cNvPr>
          <p:cNvSpPr>
            <a:spLocks noGrp="1"/>
          </p:cNvSpPr>
          <p:nvPr/>
        </p:nvSpPr>
        <p:spPr>
          <a:xfrm>
            <a:off x="6272784" y="1371600"/>
            <a:ext cx="2587752" cy="4233672"/>
          </a:xfrm>
          <a:prstGeom prst="roundRect">
            <a:avLst/>
          </a:prstGeom>
          <a:solidFill>
            <a:srgbClr val="E4F4EE"/>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Oval 19">
            <a:extLst>
              <a:ext uri="{FF2B5EF4-FFF2-40B4-BE49-F238E27FC236}">
                <a16:creationId xmlns:a16="http://schemas.microsoft.com/office/drawing/2014/main" id="{D04E537C-15DA-48A6-89FB-F8113B7AC3F0}"/>
              </a:ext>
            </a:extLst>
          </p:cNvPr>
          <p:cNvSpPr>
            <a:spLocks noGrp="1"/>
          </p:cNvSpPr>
          <p:nvPr/>
        </p:nvSpPr>
        <p:spPr>
          <a:xfrm>
            <a:off x="647395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9C0C3F9-A3D6-433E-8DFC-3418EFBC3EA7}"/>
              </a:ext>
            </a:extLst>
          </p:cNvPr>
          <p:cNvSpPr>
            <a:spLocks noGrp="1"/>
          </p:cNvSpPr>
          <p:nvPr/>
        </p:nvSpPr>
        <p:spPr>
          <a:xfrm>
            <a:off x="647395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3</a:t>
            </a:r>
          </a:p>
        </p:txBody>
      </p:sp>
      <p:sp>
        <p:nvSpPr>
          <p:cNvPr id="22" name="TextBox 21">
            <a:extLst>
              <a:ext uri="{FF2B5EF4-FFF2-40B4-BE49-F238E27FC236}">
                <a16:creationId xmlns:a16="http://schemas.microsoft.com/office/drawing/2014/main" id="{FADF91BF-7B86-4FED-A4B7-C7F5A4F14485}"/>
              </a:ext>
            </a:extLst>
          </p:cNvPr>
          <p:cNvSpPr>
            <a:spLocks noGrp="1"/>
          </p:cNvSpPr>
          <p:nvPr/>
        </p:nvSpPr>
        <p:spPr>
          <a:xfrm>
            <a:off x="647395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Rank tested MitoCarta MT genes</a:t>
            </a:r>
          </a:p>
        </p:txBody>
      </p:sp>
      <p:sp>
        <p:nvSpPr>
          <p:cNvPr id="23" name="TextBox 22">
            <a:extLst>
              <a:ext uri="{FF2B5EF4-FFF2-40B4-BE49-F238E27FC236}">
                <a16:creationId xmlns:a16="http://schemas.microsoft.com/office/drawing/2014/main" id="{B842083C-0C8D-4B4B-B1A5-57F55B7604BB}"/>
              </a:ext>
            </a:extLst>
          </p:cNvPr>
          <p:cNvSpPr>
            <a:spLocks noGrp="1"/>
          </p:cNvSpPr>
          <p:nvPr/>
        </p:nvSpPr>
        <p:spPr>
          <a:xfrm>
            <a:off x="6473952" y="3313356"/>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dirty="0">
                <a:solidFill>
                  <a:srgbClr val="0072B2"/>
                </a:solidFill>
                <a:latin typeface="Arial"/>
                <a:ea typeface="Arial"/>
                <a:cs typeface="Arial"/>
              </a:rPr>
              <a:t>AD-up to AD-down</a:t>
            </a:r>
          </a:p>
        </p:txBody>
      </p:sp>
      <p:sp>
        <p:nvSpPr>
          <p:cNvPr id="24" name="Rounded Rectangle 23">
            <a:extLst>
              <a:ext uri="{FF2B5EF4-FFF2-40B4-BE49-F238E27FC236}">
                <a16:creationId xmlns:a16="http://schemas.microsoft.com/office/drawing/2014/main" id="{73FCD190-7E9B-4971-809E-FDF0267FFC24}"/>
              </a:ext>
            </a:extLst>
          </p:cNvPr>
          <p:cNvSpPr>
            <a:spLocks noGrp="1"/>
          </p:cNvSpPr>
          <p:nvPr/>
        </p:nvSpPr>
        <p:spPr>
          <a:xfrm>
            <a:off x="645566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4BA8FC0-C20F-4CB2-9C47-48A6A6F99B5D}"/>
              </a:ext>
            </a:extLst>
          </p:cNvPr>
          <p:cNvSpPr>
            <a:spLocks noGrp="1"/>
          </p:cNvSpPr>
          <p:nvPr/>
        </p:nvSpPr>
        <p:spPr>
          <a:xfrm>
            <a:off x="6601968" y="4105152"/>
            <a:ext cx="1940298"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Order genes from strongest AD-up to strongest AD-down evidence.</a:t>
            </a:r>
          </a:p>
          <a:p>
            <a:pPr algn="ctr">
              <a:lnSpc>
                <a:spcPct val="100000"/>
              </a:lnSpc>
              <a:spcBef>
                <a:spcPts val="0"/>
              </a:spcBef>
              <a:spcAft>
                <a:spcPts val="0"/>
              </a:spcAft>
              <a:buNone/>
            </a:pPr>
            <a:endParaRPr sz="1130" b="0" i="0">
              <a:solidFill>
                <a:srgbClr val="4E5A68"/>
              </a:solidFill>
              <a:latin typeface="Arial"/>
              <a:ea typeface="Arial"/>
              <a:cs typeface="Arial"/>
            </a:endParaRPr>
          </a:p>
        </p:txBody>
      </p:sp>
      <p:sp>
        <p:nvSpPr>
          <p:cNvPr id="26" name="Rounded Rectangle 25">
            <a:extLst>
              <a:ext uri="{FF2B5EF4-FFF2-40B4-BE49-F238E27FC236}">
                <a16:creationId xmlns:a16="http://schemas.microsoft.com/office/drawing/2014/main" id="{ECCE965F-10FE-43B6-9A15-9DB9A4A772BA}"/>
              </a:ext>
            </a:extLst>
          </p:cNvPr>
          <p:cNvSpPr>
            <a:spLocks noGrp="1"/>
          </p:cNvSpPr>
          <p:nvPr/>
        </p:nvSpPr>
        <p:spPr>
          <a:xfrm>
            <a:off x="9107424" y="1371600"/>
            <a:ext cx="2587752" cy="423367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Oval 26">
            <a:extLst>
              <a:ext uri="{FF2B5EF4-FFF2-40B4-BE49-F238E27FC236}">
                <a16:creationId xmlns:a16="http://schemas.microsoft.com/office/drawing/2014/main" id="{0F316496-2745-40F5-8FA3-A536F057DFD9}"/>
              </a:ext>
            </a:extLst>
          </p:cNvPr>
          <p:cNvSpPr>
            <a:spLocks noGrp="1"/>
          </p:cNvSpPr>
          <p:nvPr/>
        </p:nvSpPr>
        <p:spPr>
          <a:xfrm>
            <a:off x="9308592" y="1627632"/>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D6A51F87-D6F7-46B1-805E-981A290663B3}"/>
              </a:ext>
            </a:extLst>
          </p:cNvPr>
          <p:cNvSpPr>
            <a:spLocks noGrp="1"/>
          </p:cNvSpPr>
          <p:nvPr/>
        </p:nvSpPr>
        <p:spPr>
          <a:xfrm>
            <a:off x="930859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4</a:t>
            </a:r>
          </a:p>
        </p:txBody>
      </p:sp>
      <p:sp>
        <p:nvSpPr>
          <p:cNvPr id="29" name="TextBox 28">
            <a:extLst>
              <a:ext uri="{FF2B5EF4-FFF2-40B4-BE49-F238E27FC236}">
                <a16:creationId xmlns:a16="http://schemas.microsoft.com/office/drawing/2014/main" id="{081F480E-EA43-4A99-9E7F-3B8C8BB6E908}"/>
              </a:ext>
            </a:extLst>
          </p:cNvPr>
          <p:cNvSpPr>
            <a:spLocks noGrp="1"/>
          </p:cNvSpPr>
          <p:nvPr/>
        </p:nvSpPr>
        <p:spPr>
          <a:xfrm>
            <a:off x="930859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Test each pathway</a:t>
            </a:r>
          </a:p>
        </p:txBody>
      </p:sp>
      <p:sp>
        <p:nvSpPr>
          <p:cNvPr id="30" name="TextBox 29">
            <a:extLst>
              <a:ext uri="{FF2B5EF4-FFF2-40B4-BE49-F238E27FC236}">
                <a16:creationId xmlns:a16="http://schemas.microsoft.com/office/drawing/2014/main" id="{3CFF8CEC-C169-4B64-A39A-03FB9E8AAF1C}"/>
              </a:ext>
            </a:extLst>
          </p:cNvPr>
          <p:cNvSpPr>
            <a:spLocks noGrp="1"/>
          </p:cNvSpPr>
          <p:nvPr/>
        </p:nvSpPr>
        <p:spPr>
          <a:xfrm>
            <a:off x="930859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E69F00"/>
                </a:solidFill>
                <a:latin typeface="Arial"/>
                <a:ea typeface="Arial"/>
                <a:cs typeface="Arial"/>
              </a:rPr>
              <a:t>ranked-gene pathway analysis</a:t>
            </a:r>
          </a:p>
        </p:txBody>
      </p:sp>
      <p:sp>
        <p:nvSpPr>
          <p:cNvPr id="31" name="Rounded Rectangle 30">
            <a:extLst>
              <a:ext uri="{FF2B5EF4-FFF2-40B4-BE49-F238E27FC236}">
                <a16:creationId xmlns:a16="http://schemas.microsoft.com/office/drawing/2014/main" id="{8A9606BF-576C-4D4A-A6E8-E536878F1F74}"/>
              </a:ext>
            </a:extLst>
          </p:cNvPr>
          <p:cNvSpPr>
            <a:spLocks noGrp="1"/>
          </p:cNvSpPr>
          <p:nvPr/>
        </p:nvSpPr>
        <p:spPr>
          <a:xfrm>
            <a:off x="929030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51EDF7F-2A80-4AA9-B0A2-6B07730F92E2}"/>
              </a:ext>
            </a:extLst>
          </p:cNvPr>
          <p:cNvSpPr>
            <a:spLocks noGrp="1"/>
          </p:cNvSpPr>
          <p:nvPr/>
        </p:nvSpPr>
        <p:spPr>
          <a:xfrm>
            <a:off x="9436608" y="3931258"/>
            <a:ext cx="1901952" cy="924869"/>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dirty="0">
                <a:solidFill>
                  <a:srgbClr val="4E5A68"/>
                </a:solidFill>
                <a:latin typeface="Arial"/>
                <a:ea typeface="Arial"/>
                <a:cs typeface="Arial"/>
              </a:rPr>
              <a:t>Ask whether pathway genes concentrate toward one end of the ranked list</a:t>
            </a:r>
            <a:r>
              <a:rPr lang="en-US" sz="1130" b="0" i="0" dirty="0">
                <a:solidFill>
                  <a:srgbClr val="4E5A68"/>
                </a:solidFill>
                <a:latin typeface="Arial"/>
                <a:ea typeface="Arial"/>
                <a:cs typeface="Arial"/>
              </a:rPr>
              <a:t> using normalized enrichment score (NES)</a:t>
            </a:r>
            <a:endParaRPr sz="1130" b="0" i="0" dirty="0">
              <a:solidFill>
                <a:srgbClr val="4E5A68"/>
              </a:solidFill>
              <a:latin typeface="Arial"/>
              <a:ea typeface="Arial"/>
              <a:cs typeface="Arial"/>
            </a:endParaRPr>
          </a:p>
        </p:txBody>
      </p:sp>
    </p:spTree>
    <p:extLst>
      <p:ext uri="{BB962C8B-B14F-4D97-AF65-F5344CB8AC3E}">
        <p14:creationId xmlns:p14="http://schemas.microsoft.com/office/powerpoint/2010/main" val="249508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39395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lang="en-US" sz="2200" b="1" i="0" dirty="0">
                <a:solidFill>
                  <a:srgbClr val="0F233D"/>
                </a:solidFill>
                <a:latin typeface="Arial"/>
                <a:ea typeface="Arial"/>
                <a:cs typeface="Arial"/>
              </a:rPr>
              <a:t>R</a:t>
            </a:r>
            <a:r>
              <a:rPr sz="2200" b="1" i="0" dirty="0">
                <a:solidFill>
                  <a:srgbClr val="0F233D"/>
                </a:solidFill>
                <a:latin typeface="Arial"/>
                <a:ea typeface="Arial"/>
                <a:cs typeface="Arial"/>
              </a:rPr>
              <a:t>ank score for direct broad-cell GSEA</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1146818"/>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dirty="0">
                <a:latin typeface="Arial"/>
                <a:ea typeface="Arial"/>
                <a:cs typeface="Arial"/>
              </a:rPr>
              <a:t>Every tested </a:t>
            </a:r>
            <a:r>
              <a:rPr sz="1400" b="1" i="0" dirty="0" err="1">
                <a:latin typeface="Arial"/>
                <a:ea typeface="Arial"/>
                <a:cs typeface="Arial"/>
              </a:rPr>
              <a:t>MitoCarta</a:t>
            </a:r>
            <a:r>
              <a:rPr sz="1400" b="1" i="0" dirty="0">
                <a:latin typeface="Arial"/>
                <a:ea typeface="Arial"/>
                <a:cs typeface="Arial"/>
              </a:rPr>
              <a:t> MT gene receives a signed score before pathway testing.</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708773"/>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32688" y="2001381"/>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STUDY RANKING RULE</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32688" y="2495109"/>
            <a:ext cx="2907792" cy="64017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dirty="0">
                <a:solidFill>
                  <a:srgbClr val="0F233D"/>
                </a:solidFill>
                <a:latin typeface="Arial"/>
                <a:ea typeface="Arial"/>
                <a:cs typeface="Arial"/>
              </a:rPr>
              <a:t>rank score = </a:t>
            </a:r>
            <a:endParaRPr lang="en-US" sz="1900" b="1" i="0" dirty="0">
              <a:solidFill>
                <a:srgbClr val="0F233D"/>
              </a:solidFill>
              <a:latin typeface="Arial"/>
              <a:ea typeface="Arial"/>
              <a:cs typeface="Arial"/>
            </a:endParaRPr>
          </a:p>
          <a:p>
            <a:pPr algn="ctr">
              <a:lnSpc>
                <a:spcPct val="100000"/>
              </a:lnSpc>
              <a:spcBef>
                <a:spcPts val="0"/>
              </a:spcBef>
              <a:spcAft>
                <a:spcPts val="0"/>
              </a:spcAft>
              <a:buNone/>
            </a:pPr>
            <a:r>
              <a:rPr sz="1900" b="1" i="0" dirty="0">
                <a:solidFill>
                  <a:srgbClr val="0F233D"/>
                </a:solidFill>
                <a:latin typeface="Arial"/>
                <a:ea typeface="Arial"/>
                <a:cs typeface="Arial"/>
              </a:rPr>
              <a:t>sign(</a:t>
            </a:r>
            <a:r>
              <a:rPr sz="1900" b="1" i="0" dirty="0" err="1">
                <a:solidFill>
                  <a:srgbClr val="0F233D"/>
                </a:solidFill>
                <a:latin typeface="Arial"/>
                <a:ea typeface="Arial"/>
                <a:cs typeface="Arial"/>
              </a:rPr>
              <a:t>logFC</a:t>
            </a:r>
            <a:r>
              <a:rPr sz="1900" b="1" i="0" dirty="0">
                <a:solidFill>
                  <a:srgbClr val="0F233D"/>
                </a:solidFill>
                <a:latin typeface="Arial"/>
                <a:ea typeface="Arial"/>
                <a:cs typeface="Arial"/>
              </a:rPr>
              <a:t>) × √F</a:t>
            </a: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69264" y="3464421"/>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dirty="0" err="1">
                <a:solidFill>
                  <a:srgbClr val="1F2730"/>
                </a:solidFill>
                <a:latin typeface="Arial"/>
                <a:ea typeface="Arial"/>
                <a:cs typeface="Arial"/>
              </a:rPr>
              <a:t>logFC</a:t>
            </a:r>
            <a:r>
              <a:rPr sz="1220" b="0" i="0" dirty="0">
                <a:solidFill>
                  <a:srgbClr val="1F2730"/>
                </a:solidFill>
                <a:latin typeface="Arial"/>
                <a:ea typeface="Arial"/>
                <a:cs typeface="Arial"/>
              </a:rPr>
              <a:t> is AD versus NCI. Its sign sets the direction. √F sets the score magnitude.</a:t>
            </a:r>
          </a:p>
        </p:txBody>
      </p:sp>
      <p:sp>
        <p:nvSpPr>
          <p:cNvPr id="16" name="Rounded Rectangle 15">
            <a:extLst>
              <a:ext uri="{FF2B5EF4-FFF2-40B4-BE49-F238E27FC236}">
                <a16:creationId xmlns:a16="http://schemas.microsoft.com/office/drawing/2014/main" id="{534A9EEA-8A5F-4954-B3B2-93AD43A47D87}"/>
              </a:ext>
            </a:extLst>
          </p:cNvPr>
          <p:cNvSpPr>
            <a:spLocks noGrp="1"/>
          </p:cNvSpPr>
          <p:nvPr/>
        </p:nvSpPr>
        <p:spPr>
          <a:xfrm>
            <a:off x="4453128" y="1708773"/>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4727448" y="2001381"/>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WHY USE √F?</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4727448" y="2458581"/>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 measures statistical evidence</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4764024" y="3464421"/>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 comes from the edgeR quasi-likelihood test. For this one-degree-of-freedom contrast, √F gives a t-like scale and preserves the ordering set by F.</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8247888" y="1708773"/>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91C911D-9BE4-4EAD-901C-EB4A7396FDD3}"/>
              </a:ext>
            </a:extLst>
          </p:cNvPr>
          <p:cNvSpPr>
            <a:spLocks noGrp="1"/>
          </p:cNvSpPr>
          <p:nvPr/>
        </p:nvSpPr>
        <p:spPr>
          <a:xfrm>
            <a:off x="8522208" y="2001381"/>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WHY NOT logFC ALONE?</a:t>
            </a:r>
          </a:p>
        </p:txBody>
      </p:sp>
      <p:sp>
        <p:nvSpPr>
          <p:cNvPr id="22" name="TextBox 21">
            <a:extLst>
              <a:ext uri="{FF2B5EF4-FFF2-40B4-BE49-F238E27FC236}">
                <a16:creationId xmlns:a16="http://schemas.microsoft.com/office/drawing/2014/main" id="{DE347B32-7281-4BAA-9D9B-7BD80806D79B}"/>
              </a:ext>
            </a:extLst>
          </p:cNvPr>
          <p:cNvSpPr>
            <a:spLocks noGrp="1"/>
          </p:cNvSpPr>
          <p:nvPr/>
        </p:nvSpPr>
        <p:spPr>
          <a:xfrm>
            <a:off x="8522208" y="2458581"/>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Large estimates can be noisy</a:t>
            </a:r>
          </a:p>
        </p:txBody>
      </p:sp>
      <p:sp>
        <p:nvSpPr>
          <p:cNvPr id="23" name="TextBox 22">
            <a:extLst>
              <a:ext uri="{FF2B5EF4-FFF2-40B4-BE49-F238E27FC236}">
                <a16:creationId xmlns:a16="http://schemas.microsoft.com/office/drawing/2014/main" id="{8791BB3F-8EB1-406E-ABA1-2F45257FD1DF}"/>
              </a:ext>
            </a:extLst>
          </p:cNvPr>
          <p:cNvSpPr>
            <a:spLocks noGrp="1"/>
          </p:cNvSpPr>
          <p:nvPr/>
        </p:nvSpPr>
        <p:spPr>
          <a:xfrm>
            <a:off x="8558784" y="3464421"/>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40" b="0" i="0">
                <a:solidFill>
                  <a:srgbClr val="1F2730"/>
                </a:solidFill>
                <a:latin typeface="Arial"/>
                <a:ea typeface="Arial"/>
                <a:cs typeface="Arial"/>
              </a:rPr>
              <a:t>Gene A: logFC +2.0, F = 0.25, score +0.5. Gene B: logFC +0.5, F = 16, score +4.0. Stronger statistical support places Gene B higher.</a:t>
            </a:r>
          </a:p>
        </p:txBody>
      </p:sp>
      <p:sp>
        <p:nvSpPr>
          <p:cNvPr id="24" name="Rounded Rectangle 23">
            <a:extLst>
              <a:ext uri="{FF2B5EF4-FFF2-40B4-BE49-F238E27FC236}">
                <a16:creationId xmlns:a16="http://schemas.microsoft.com/office/drawing/2014/main" id="{58C107E9-3677-45CB-8CAB-1BE1CEDCE979}"/>
              </a:ext>
            </a:extLst>
          </p:cNvPr>
          <p:cNvSpPr>
            <a:spLocks noGrp="1"/>
          </p:cNvSpPr>
          <p:nvPr/>
        </p:nvSpPr>
        <p:spPr>
          <a:xfrm>
            <a:off x="658368" y="6102789"/>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3B50EAE-DA13-43C2-AD90-0FF977EECBFB}"/>
              </a:ext>
            </a:extLst>
          </p:cNvPr>
          <p:cNvSpPr>
            <a:spLocks noGrp="1"/>
          </p:cNvSpPr>
          <p:nvPr/>
        </p:nvSpPr>
        <p:spPr>
          <a:xfrm>
            <a:off x="896112" y="6230110"/>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dirty="0">
                <a:solidFill>
                  <a:srgbClr val="7E4C9A"/>
                </a:solidFill>
                <a:latin typeface="Arial"/>
                <a:ea typeface="Arial"/>
                <a:cs typeface="Arial"/>
              </a:rPr>
              <a:t>This is the study's ranking rule for targeted MitoCarta GSEA. GSEA does not require one universal ranking formula.</a:t>
            </a:r>
          </a:p>
        </p:txBody>
      </p:sp>
    </p:spTree>
    <p:extLst>
      <p:ext uri="{BB962C8B-B14F-4D97-AF65-F5344CB8AC3E}">
        <p14:creationId xmlns:p14="http://schemas.microsoft.com/office/powerpoint/2010/main" val="12621582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39395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lang="en-US" sz="2200" b="1" i="0" dirty="0">
                <a:solidFill>
                  <a:srgbClr val="0F233D"/>
                </a:solidFill>
                <a:latin typeface="Arial"/>
                <a:ea typeface="Arial"/>
                <a:cs typeface="Arial"/>
              </a:rPr>
              <a:t>Standard weighted GSEA enrichment score for pathway</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1084673"/>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dirty="0">
                <a:latin typeface="Arial"/>
                <a:ea typeface="Arial"/>
                <a:cs typeface="Arial"/>
              </a:rPr>
              <a:t>ES indicates where one pathway's genes concentrate in the ranked gene list.</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708773"/>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32688" y="2001381"/>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LARGE POSITIVE ES</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32688" y="2495109"/>
            <a:ext cx="2907792" cy="64017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dirty="0">
                <a:solidFill>
                  <a:srgbClr val="0F233D"/>
                </a:solidFill>
                <a:latin typeface="Arial"/>
                <a:ea typeface="Arial"/>
                <a:cs typeface="Arial"/>
              </a:rPr>
              <a:t>Pathway genes cluster near the AD-up end</a:t>
            </a:r>
            <a:endParaRPr lang="en-US" sz="1900" b="1" i="0" dirty="0">
              <a:solidFill>
                <a:srgbClr val="0F233D"/>
              </a:solidFill>
              <a:latin typeface="Arial"/>
              <a:ea typeface="Arial"/>
              <a:cs typeface="Arial"/>
            </a:endParaRP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69264" y="3464421"/>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dirty="0" err="1">
                <a:solidFill>
                  <a:srgbClr val="1F2730"/>
                </a:solidFill>
                <a:latin typeface="Arial"/>
                <a:ea typeface="Arial"/>
                <a:cs typeface="Arial"/>
              </a:rPr>
              <a:t>A larger positive value means stronger concentration near the top of the ranked list.</a:t>
            </a:r>
          </a:p>
        </p:txBody>
      </p:sp>
      <p:sp>
        <p:nvSpPr>
          <p:cNvPr id="16" name="Rounded Rectangle 15">
            <a:extLst>
              <a:ext uri="{FF2B5EF4-FFF2-40B4-BE49-F238E27FC236}">
                <a16:creationId xmlns:a16="http://schemas.microsoft.com/office/drawing/2014/main" id="{534A9EEA-8A5F-4954-B3B2-93AD43A47D87}"/>
              </a:ext>
            </a:extLst>
          </p:cNvPr>
          <p:cNvSpPr>
            <a:spLocks noGrp="1"/>
          </p:cNvSpPr>
          <p:nvPr/>
        </p:nvSpPr>
        <p:spPr>
          <a:xfrm>
            <a:off x="4453128" y="1708773"/>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4727448" y="2001381"/>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ES NEAR ZERO</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4727448" y="2458581"/>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clear concentration</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4764024" y="3464421"/>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Pathway genes are spread through the ranked list instead of accumulating at either end.</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8247888" y="1708773"/>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91C911D-9BE4-4EAD-901C-EB4A7396FDD3}"/>
              </a:ext>
            </a:extLst>
          </p:cNvPr>
          <p:cNvSpPr>
            <a:spLocks noGrp="1"/>
          </p:cNvSpPr>
          <p:nvPr/>
        </p:nvSpPr>
        <p:spPr>
          <a:xfrm>
            <a:off x="8522208" y="2001381"/>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LARGE NEGATIVE ES</a:t>
            </a:r>
          </a:p>
        </p:txBody>
      </p:sp>
      <p:sp>
        <p:nvSpPr>
          <p:cNvPr id="22" name="TextBox 21">
            <a:extLst>
              <a:ext uri="{FF2B5EF4-FFF2-40B4-BE49-F238E27FC236}">
                <a16:creationId xmlns:a16="http://schemas.microsoft.com/office/drawing/2014/main" id="{DE347B32-7281-4BAA-9D9B-7BD80806D79B}"/>
              </a:ext>
            </a:extLst>
          </p:cNvPr>
          <p:cNvSpPr>
            <a:spLocks noGrp="1"/>
          </p:cNvSpPr>
          <p:nvPr/>
        </p:nvSpPr>
        <p:spPr>
          <a:xfrm>
            <a:off x="8522208" y="2458581"/>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Pathway genes cluster near the AD-down end</a:t>
            </a:r>
          </a:p>
        </p:txBody>
      </p:sp>
      <p:sp>
        <p:nvSpPr>
          <p:cNvPr id="23" name="TextBox 22">
            <a:extLst>
              <a:ext uri="{FF2B5EF4-FFF2-40B4-BE49-F238E27FC236}">
                <a16:creationId xmlns:a16="http://schemas.microsoft.com/office/drawing/2014/main" id="{8791BB3F-8EB1-406E-ABA1-2F45257FD1DF}"/>
              </a:ext>
            </a:extLst>
          </p:cNvPr>
          <p:cNvSpPr>
            <a:spLocks noGrp="1"/>
          </p:cNvSpPr>
          <p:nvPr/>
        </p:nvSpPr>
        <p:spPr>
          <a:xfrm>
            <a:off x="8558784" y="3464421"/>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40" b="0" i="0">
                <a:solidFill>
                  <a:srgbClr val="1F2730"/>
                </a:solidFill>
                <a:latin typeface="Arial"/>
                <a:ea typeface="Arial"/>
                <a:cs typeface="Arial"/>
              </a:rPr>
              <a:t>A more negative value means stronger concentration near the bottom of the ranked list.</a:t>
            </a:r>
          </a:p>
        </p:txBody>
      </p:sp>
      <p:sp>
        <p:nvSpPr>
          <p:cNvPr id="24" name="Rounded Rectangle 23">
            <a:extLst>
              <a:ext uri="{FF2B5EF4-FFF2-40B4-BE49-F238E27FC236}">
                <a16:creationId xmlns:a16="http://schemas.microsoft.com/office/drawing/2014/main" id="{58C107E9-3677-45CB-8CAB-1BE1CEDCE979}"/>
              </a:ext>
            </a:extLst>
          </p:cNvPr>
          <p:cNvSpPr>
            <a:spLocks noGrp="1"/>
          </p:cNvSpPr>
          <p:nvPr/>
        </p:nvSpPr>
        <p:spPr>
          <a:xfrm>
            <a:off x="658368" y="6102789"/>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3B50EAE-DA13-43C2-AD90-0FF977EECBFB}"/>
              </a:ext>
            </a:extLst>
          </p:cNvPr>
          <p:cNvSpPr>
            <a:spLocks noGrp="1"/>
          </p:cNvSpPr>
          <p:nvPr/>
        </p:nvSpPr>
        <p:spPr>
          <a:xfrm>
            <a:off x="896112" y="6230110"/>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dirty="0">
                <a:solidFill>
                  <a:srgbClr val="7E4C9A"/>
                </a:solidFill>
                <a:latin typeface="Arial"/>
                <a:ea typeface="Arial"/>
                <a:cs typeface="Arial"/>
              </a:rPr>
              <a:t>This is the standard weighted GSEA ES. The sign gives direction. Values farther from zero mean stronger concentration, not statistical significance.</a:t>
            </a:r>
          </a:p>
        </p:txBody>
      </p:sp>
    </p:spTree>
    <p:extLst>
      <p:ext uri="{BB962C8B-B14F-4D97-AF65-F5344CB8AC3E}">
        <p14:creationId xmlns:p14="http://schemas.microsoft.com/office/powerpoint/2010/main" val="12621582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39395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lang="en-US" sz="2200" b="1" i="0" dirty="0">
                <a:solidFill>
                  <a:srgbClr val="0F233D"/>
                </a:solidFill>
                <a:latin typeface="Arial"/>
                <a:ea typeface="Arial"/>
                <a:cs typeface="Arial"/>
              </a:rPr>
              <a:t>How NES differs from ES</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1084673"/>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dirty="0">
                <a:latin typeface="Arial"/>
                <a:ea typeface="Arial"/>
                <a:cs typeface="Arial"/>
              </a:rPr>
              <a:t>NES rescales the raw ES against random gene sets of the same size.</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708773"/>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32688" y="2001381"/>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RAW ES</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32688" y="2495109"/>
            <a:ext cx="2907792" cy="64017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dirty="0">
                <a:solidFill>
                  <a:srgbClr val="0F233D"/>
                </a:solidFill>
                <a:latin typeface="Arial"/>
                <a:ea typeface="Arial"/>
                <a:cs typeface="Arial"/>
              </a:rPr>
              <a:t>Observed pathway concentration</a:t>
            </a:r>
            <a:endParaRPr lang="en-US" sz="1900" b="1" i="0" dirty="0">
              <a:solidFill>
                <a:srgbClr val="0F233D"/>
              </a:solidFill>
              <a:latin typeface="Arial"/>
              <a:ea typeface="Arial"/>
              <a:cs typeface="Arial"/>
            </a:endParaRP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69264" y="3464421"/>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dirty="0" err="1">
                <a:solidFill>
                  <a:srgbClr val="1F2730"/>
                </a:solidFill>
                <a:latin typeface="Arial"/>
                <a:ea typeface="Arial"/>
                <a:cs typeface="Arial"/>
              </a:rPr>
              <a:t>ES shows where the pathway genes cluster. Its sign gives the AD-up or AD-down direction.</a:t>
            </a:r>
          </a:p>
        </p:txBody>
      </p:sp>
      <p:sp>
        <p:nvSpPr>
          <p:cNvPr id="16" name="Rounded Rectangle 15">
            <a:extLst>
              <a:ext uri="{FF2B5EF4-FFF2-40B4-BE49-F238E27FC236}">
                <a16:creationId xmlns:a16="http://schemas.microsoft.com/office/drawing/2014/main" id="{534A9EEA-8A5F-4954-B3B2-93AD43A47D87}"/>
              </a:ext>
            </a:extLst>
          </p:cNvPr>
          <p:cNvSpPr>
            <a:spLocks noGrp="1"/>
          </p:cNvSpPr>
          <p:nvPr/>
        </p:nvSpPr>
        <p:spPr>
          <a:xfrm>
            <a:off x="4453128" y="1708773"/>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4727448" y="2001381"/>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NORMALIZATION</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4727448" y="2458581"/>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Compare with same-size random gene sets</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4764024" y="3464421"/>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Calculate ES for random gene sets with the same number of genes. Use random ES values in the same direction.</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8247888" y="1708773"/>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91C911D-9BE4-4EAD-901C-EB4A7396FDD3}"/>
              </a:ext>
            </a:extLst>
          </p:cNvPr>
          <p:cNvSpPr>
            <a:spLocks noGrp="1"/>
          </p:cNvSpPr>
          <p:nvPr/>
        </p:nvSpPr>
        <p:spPr>
          <a:xfrm>
            <a:off x="8522208" y="2001381"/>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NES</a:t>
            </a:r>
          </a:p>
        </p:txBody>
      </p:sp>
      <p:sp>
        <p:nvSpPr>
          <p:cNvPr id="22" name="TextBox 21">
            <a:extLst>
              <a:ext uri="{FF2B5EF4-FFF2-40B4-BE49-F238E27FC236}">
                <a16:creationId xmlns:a16="http://schemas.microsoft.com/office/drawing/2014/main" id="{DE347B32-7281-4BAA-9D9B-7BD80806D79B}"/>
              </a:ext>
            </a:extLst>
          </p:cNvPr>
          <p:cNvSpPr>
            <a:spLocks noGrp="1"/>
          </p:cNvSpPr>
          <p:nvPr/>
        </p:nvSpPr>
        <p:spPr>
          <a:xfrm>
            <a:off x="8522208" y="2458581"/>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Normalized enrichment strength</a:t>
            </a:r>
          </a:p>
        </p:txBody>
      </p:sp>
      <p:sp>
        <p:nvSpPr>
          <p:cNvPr id="23" name="TextBox 22">
            <a:extLst>
              <a:ext uri="{FF2B5EF4-FFF2-40B4-BE49-F238E27FC236}">
                <a16:creationId xmlns:a16="http://schemas.microsoft.com/office/drawing/2014/main" id="{8791BB3F-8EB1-406E-ABA1-2F45257FD1DF}"/>
              </a:ext>
            </a:extLst>
          </p:cNvPr>
          <p:cNvSpPr>
            <a:spLocks noGrp="1"/>
          </p:cNvSpPr>
          <p:nvPr/>
        </p:nvSpPr>
        <p:spPr>
          <a:xfrm>
            <a:off x="8558784" y="3464421"/>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40" b="0" i="0">
                <a:solidFill>
                  <a:srgbClr val="1F2730"/>
                </a:solidFill>
                <a:latin typeface="Arial"/>
                <a:ea typeface="Arial"/>
                <a:cs typeface="Arial"/>
              </a:rPr>
              <a:t>Divide the observed ES by the expected same-direction ES magnitude. NES keeps the ES sign and supports comparisons across pathways.</a:t>
            </a:r>
          </a:p>
        </p:txBody>
      </p:sp>
    </p:spTree>
    <p:extLst>
      <p:ext uri="{BB962C8B-B14F-4D97-AF65-F5344CB8AC3E}">
        <p14:creationId xmlns:p14="http://schemas.microsoft.com/office/powerpoint/2010/main" val="12621582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ED15BB-A501-7FB7-FD95-303970C34A77}"/>
              </a:ext>
            </a:extLst>
          </p:cNvPr>
          <p:cNvSpPr>
            <a:spLocks noGrp="1"/>
          </p:cNvSpPr>
          <p:nvPr/>
        </p:nvSpPr>
        <p:spPr>
          <a:xfrm>
            <a:off x="713232" y="1438906"/>
            <a:ext cx="10287000" cy="57862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Findings and discussions</a:t>
            </a: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21E95D6F-12BB-832F-CD3D-727DAFEFB6A8}"/>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8</a:t>
            </a:r>
          </a:p>
        </p:txBody>
      </p:sp>
    </p:spTree>
    <p:extLst>
      <p:ext uri="{BB962C8B-B14F-4D97-AF65-F5344CB8AC3E}">
        <p14:creationId xmlns:p14="http://schemas.microsoft.com/office/powerpoint/2010/main" val="6867040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5" name="Summary 1 Title">
            <a:extLst>
              <a:ext uri="{FF2B5EF4-FFF2-40B4-BE49-F238E27FC236}">
                <a16:creationId xmlns:a16="http://schemas.microsoft.com/office/drawing/2014/main" id="{455B0754-10CC-4FCA-B423-957F3E1D7B26}"/>
              </a:ext>
            </a:extLst>
          </p:cNvPr>
          <p:cNvSpPr>
            <a:spLocks noGrp="1"/>
          </p:cNvSpPr>
          <p:nvPr/>
        </p:nvSpPr>
        <p:spPr>
          <a:xfrm>
            <a:off x="609600" y="361950"/>
            <a:ext cx="10972800" cy="552450"/>
          </a:xfrm>
          <a:prstGeom prst="rect">
            <a:avLst/>
          </a:prstGeom>
          <a:noFill/>
          <a:ln w="0">
            <a:noFill/>
            <a:prstDash val="solid"/>
          </a:ln>
        </p:spPr>
        <p:txBody>
          <a:bodyPr wrap="square" lIns="0" tIns="0" rIns="0" bIns="0">
            <a:normAutofit/>
          </a:bodyPr>
          <a:lstStyle/>
          <a:p>
            <a:pPr algn="l">
              <a:buNone/>
              <a:defRPr sz="2250" b="1">
                <a:solidFill>
                  <a:srgbClr val="11263F"/>
                </a:solidFill>
                <a:latin typeface="Arial"/>
                <a:ea typeface="Arial"/>
                <a:cs typeface="Arial"/>
              </a:defRPr>
            </a:pPr>
            <a:r>
              <a:rPr sz="2250" b="1">
                <a:solidFill>
                  <a:srgbClr val="11263F"/>
                </a:solidFill>
                <a:latin typeface="Arial"/>
                <a:ea typeface="Arial"/>
                <a:cs typeface="Arial"/>
              </a:rPr>
              <a:t>How the remaining findings are organized</a:t>
            </a:r>
          </a:p>
        </p:txBody>
      </p:sp>
      <p:sp>
        <p:nvSpPr>
          <p:cNvPr id="2" name="Summary 1 Subtitle">
            <a:extLst>
              <a:ext uri="{FF2B5EF4-FFF2-40B4-BE49-F238E27FC236}">
                <a16:creationId xmlns:a16="http://schemas.microsoft.com/office/drawing/2014/main" id="{9F83F01E-3776-4961-8E25-29DF789CAED3}"/>
              </a:ext>
            </a:extLst>
          </p:cNvPr>
          <p:cNvSpPr>
            <a:spLocks noGrp="1"/>
          </p:cNvSpPr>
          <p:nvPr/>
        </p:nvSpPr>
        <p:spPr>
          <a:xfrm>
            <a:off x="628650" y="1000125"/>
            <a:ext cx="10934700" cy="419100"/>
          </a:xfrm>
          <a:prstGeom prst="rect">
            <a:avLst/>
          </a:prstGeom>
          <a:noFill/>
          <a:ln w="0">
            <a:noFill/>
            <a:prstDash val="solid"/>
          </a:ln>
        </p:spPr>
        <p:txBody>
          <a:bodyPr wrap="square" lIns="0" tIns="0" rIns="0" bIns="0">
            <a:normAutofit/>
          </a:bodyPr>
          <a:lstStyle/>
          <a:p>
            <a:pPr algn="l">
              <a:buNone/>
              <a:defRPr sz="1275">
                <a:solidFill>
                  <a:srgbClr val="536273"/>
                </a:solidFill>
                <a:latin typeface="Arial"/>
                <a:ea typeface="Arial"/>
                <a:cs typeface="Arial"/>
              </a:defRPr>
            </a:pPr>
            <a:r>
              <a:rPr sz="1275" b="1">
                <a:latin typeface="Arial"/>
                <a:ea typeface="Arial"/>
                <a:cs typeface="Arial"/>
              </a:rPr>
              <a:t>The findings separate into DEG and pathway results and results from KDA calls.</a:t>
            </a:r>
          </a:p>
        </p:txBody>
      </p:sp>
      <p:sp>
        <p:nvSpPr>
          <p:cNvPr id="4" name="Summary 1 Footer">
            <a:extLst>
              <a:ext uri="{FF2B5EF4-FFF2-40B4-BE49-F238E27FC236}">
                <a16:creationId xmlns:a16="http://schemas.microsoft.com/office/drawing/2014/main" id="{3CBE8935-57B3-49B1-B12C-072BC69EBC22}"/>
              </a:ext>
            </a:extLst>
          </p:cNvPr>
          <p:cNvSpPr>
            <a:spLocks noGrp="1"/>
          </p:cNvSpPr>
          <p:nvPr/>
        </p:nvSpPr>
        <p:spPr>
          <a:xfrm>
            <a:off x="685800" y="6115050"/>
            <a:ext cx="10820400" cy="400050"/>
          </a:xfrm>
          <a:prstGeom prst="rect">
            <a:avLst/>
          </a:prstGeom>
          <a:noFill/>
          <a:ln w="0">
            <a:noFill/>
            <a:prstDash val="solid"/>
          </a:ln>
        </p:spPr>
        <p:txBody>
          <a:bodyPr wrap="square" lIns="0" tIns="0" rIns="0" bIns="0">
            <a:normAutofit/>
          </a:bodyPr>
          <a:lstStyle/>
          <a:p>
            <a:pPr algn="l">
              <a:buNone/>
              <a:defRPr sz="1200" b="1">
                <a:solidFill>
                  <a:srgbClr val="7D4FA1"/>
                </a:solidFill>
                <a:latin typeface="Arial"/>
                <a:ea typeface="Arial"/>
                <a:cs typeface="Arial"/>
              </a:defRPr>
            </a:pPr>
            <a:r>
              <a:rPr sz="1200" b="1">
                <a:solidFill>
                  <a:srgbClr val="7D4FA1"/>
                </a:solidFill>
                <a:latin typeface="Arial"/>
                <a:ea typeface="Arial"/>
                <a:cs typeface="Arial"/>
              </a:rPr>
              <a:t>15 findings are tied to one or more sex/APOE groups. Findings 7 and 10 are not sex/APOE-specific and receive lower priority in the sex/APOE narrative.</a:t>
            </a:r>
          </a:p>
        </p:txBody>
      </p:sp>
      <p:graphicFrame>
        <p:nvGraphicFramePr>
          <p:cNvPr id="10" name="Summary 1 Table"/>
          <p:cNvGraphicFramePr/>
          <p:nvPr/>
        </p:nvGraphicFramePr>
        <p:xfrm>
          <a:off x="666750" y="1524000"/>
          <a:ext cx="10858500" cy="4095750"/>
        </p:xfrm>
        <a:graphic>
          <a:graphicData uri="http://schemas.openxmlformats.org/drawingml/2006/table">
            <a:tbl>
              <a:tblPr firstRow="1"/>
              <a:tblGrid>
                <a:gridCol w="20955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4476750">
                  <a:extLst>
                    <a:ext uri="{9D8B030D-6E8A-4147-A177-3AD203B41FA5}">
                      <a16:colId xmlns:a16="http://schemas.microsoft.com/office/drawing/2014/main" val="20002"/>
                    </a:ext>
                  </a:extLst>
                </a:gridCol>
                <a:gridCol w="2762250">
                  <a:extLst>
                    <a:ext uri="{9D8B030D-6E8A-4147-A177-3AD203B41FA5}">
                      <a16:colId xmlns:a16="http://schemas.microsoft.com/office/drawing/2014/main" val="20003"/>
                    </a:ext>
                  </a:extLst>
                </a:gridCol>
              </a:tblGrid>
              <a:tr h="495300">
                <a:tc>
                  <a:txBody>
                    <a:bodyPr/>
                    <a:lstStyle/>
                    <a:p>
                      <a:pPr algn="l"/>
                      <a:r>
                        <a:rPr sz="1125" b="1">
                          <a:solidFill>
                            <a:srgbClr val="FFFFFF"/>
                          </a:solidFill>
                          <a:latin typeface="Arial"/>
                          <a:ea typeface="Arial"/>
                          <a:cs typeface="Arial"/>
                        </a:rPr>
                        <a:t>Category</a:t>
                      </a:r>
                    </a:p>
                  </a:txBody>
                  <a:tcPr marL="95250" marR="95250" marT="66675" marB="66675" anchor="ctr">
                    <a:solidFill>
                      <a:srgbClr val="11263F"/>
                    </a:solidFill>
                  </a:tcPr>
                </a:tc>
                <a:tc>
                  <a:txBody>
                    <a:bodyPr/>
                    <a:lstStyle/>
                    <a:p>
                      <a:pPr algn="ctr"/>
                      <a:r>
                        <a:rPr sz="1125" b="1">
                          <a:solidFill>
                            <a:srgbClr val="FFFFFF"/>
                          </a:solidFill>
                          <a:latin typeface="Arial"/>
                          <a:ea typeface="Arial"/>
                          <a:cs typeface="Arial"/>
                        </a:rPr>
                        <a:t>Findings</a:t>
                      </a:r>
                    </a:p>
                  </a:txBody>
                  <a:tcPr marL="95250" marR="95250" marT="66675" marB="66675" anchor="ctr">
                    <a:solidFill>
                      <a:srgbClr val="11263F"/>
                    </a:solidFill>
                  </a:tcPr>
                </a:tc>
                <a:tc>
                  <a:txBody>
                    <a:bodyPr/>
                    <a:lstStyle/>
                    <a:p>
                      <a:pPr algn="l"/>
                      <a:r>
                        <a:rPr sz="1125" b="1">
                          <a:solidFill>
                            <a:srgbClr val="FFFFFF"/>
                          </a:solidFill>
                          <a:latin typeface="Arial"/>
                          <a:ea typeface="Arial"/>
                          <a:cs typeface="Arial"/>
                        </a:rPr>
                        <a:t>Main question</a:t>
                      </a:r>
                    </a:p>
                  </a:txBody>
                  <a:tcPr marL="95250" marR="95250" marT="66675" marB="66675" anchor="ctr">
                    <a:solidFill>
                      <a:srgbClr val="11263F"/>
                    </a:solidFill>
                  </a:tcPr>
                </a:tc>
                <a:tc>
                  <a:txBody>
                    <a:bodyPr/>
                    <a:lstStyle/>
                    <a:p>
                      <a:pPr algn="l"/>
                      <a:r>
                        <a:rPr sz="1125" b="1">
                          <a:solidFill>
                            <a:srgbClr val="FFFFFF"/>
                          </a:solidFill>
                          <a:latin typeface="Arial"/>
                          <a:ea typeface="Arial"/>
                          <a:cs typeface="Arial"/>
                        </a:rPr>
                        <a:t>Role in the story</a:t>
                      </a:r>
                    </a:p>
                  </a:txBody>
                  <a:tcPr marL="95250" marR="95250" marT="66675" marB="66675" anchor="ctr">
                    <a:solidFill>
                      <a:srgbClr val="11263F"/>
                    </a:solidFill>
                  </a:tcPr>
                </a:tc>
                <a:extLst>
                  <a:ext uri="{0D108BD9-81ED-4DB2-BD59-A6C34878D82A}">
                    <a16:rowId xmlns:a16="http://schemas.microsoft.com/office/drawing/2014/main" val="10000"/>
                  </a:ext>
                </a:extLst>
              </a:tr>
              <a:tr h="1800225">
                <a:tc>
                  <a:txBody>
                    <a:bodyPr/>
                    <a:lstStyle/>
                    <a:p>
                      <a:pPr algn="l"/>
                      <a:r>
                        <a:rPr sz="1125" b="1">
                          <a:solidFill>
                            <a:srgbClr val="FFFFFF"/>
                          </a:solidFill>
                          <a:latin typeface="Arial"/>
                          <a:ea typeface="Arial"/>
                          <a:cs typeface="Arial"/>
                        </a:rPr>
                        <a:t>DEG and pathway</a:t>
                      </a:r>
                    </a:p>
                  </a:txBody>
                  <a:tcPr marL="95250" marR="95250" marT="66675" marB="66675" anchor="ctr">
                    <a:solidFill>
                      <a:srgbClr val="0077B6"/>
                    </a:solidFill>
                  </a:tcPr>
                </a:tc>
                <a:tc>
                  <a:txBody>
                    <a:bodyPr/>
                    <a:lstStyle/>
                    <a:p>
                      <a:pPr algn="ctr"/>
                      <a:r>
                        <a:rPr sz="1125" b="0">
                          <a:solidFill>
                            <a:srgbClr val="1F2D3D"/>
                          </a:solidFill>
                          <a:latin typeface="Arial"/>
                          <a:ea typeface="Arial"/>
                          <a:cs typeface="Arial"/>
                        </a:rPr>
                        <a:t>1–6</a:t>
                      </a:r>
                    </a:p>
                  </a:txBody>
                  <a:tcPr marL="95250" marR="95250" marT="66675" marB="66675" anchor="ctr">
                    <a:solidFill>
                      <a:srgbClr val="FFFFFF"/>
                    </a:solidFill>
                  </a:tcPr>
                </a:tc>
                <a:tc>
                  <a:txBody>
                    <a:bodyPr/>
                    <a:lstStyle/>
                    <a:p>
                      <a:pPr algn="l"/>
                      <a:r>
                        <a:rPr sz="1125">
                          <a:solidFill>
                            <a:srgbClr val="1F2D3D"/>
                          </a:solidFill>
                          <a:latin typeface="Arial"/>
                          <a:ea typeface="Arial"/>
                          <a:cs typeface="Arial"/>
                        </a:rPr>
                        <a:t>How do mitochondrial genes and pathways change within each sex/APOE group?</a:t>
                      </a:r>
                    </a:p>
                  </a:txBody>
                  <a:tcPr marL="95250" marR="95250" marT="66675" marB="66675" anchor="ctr">
                    <a:solidFill>
                      <a:srgbClr val="FFFFFF"/>
                    </a:solidFill>
                  </a:tcPr>
                </a:tc>
                <a:tc>
                  <a:txBody>
                    <a:bodyPr/>
                    <a:lstStyle/>
                    <a:p>
                      <a:pPr algn="l"/>
                      <a:r>
                        <a:rPr sz="1125">
                          <a:solidFill>
                            <a:srgbClr val="1F2D3D"/>
                          </a:solidFill>
                          <a:latin typeface="Arial"/>
                          <a:ea typeface="Arial"/>
                          <a:cs typeface="Arial"/>
                        </a:rPr>
                        <a:t>Primary biological results</a:t>
                      </a:r>
                    </a:p>
                  </a:txBody>
                  <a:tcPr marL="95250" marR="95250" marT="66675" marB="66675" anchor="ctr">
                    <a:solidFill>
                      <a:srgbClr val="FFFFFF"/>
                    </a:solidFill>
                  </a:tcPr>
                </a:tc>
                <a:extLst>
                  <a:ext uri="{0D108BD9-81ED-4DB2-BD59-A6C34878D82A}">
                    <a16:rowId xmlns:a16="http://schemas.microsoft.com/office/drawing/2014/main" val="10001"/>
                  </a:ext>
                </a:extLst>
              </a:tr>
              <a:tr h="1800225">
                <a:tc>
                  <a:txBody>
                    <a:bodyPr/>
                    <a:lstStyle/>
                    <a:p>
                      <a:pPr algn="l"/>
                      <a:r>
                        <a:rPr sz="1125" b="1">
                          <a:solidFill>
                            <a:srgbClr val="FFFFFF"/>
                          </a:solidFill>
                          <a:latin typeface="Arial"/>
                          <a:ea typeface="Arial"/>
                          <a:cs typeface="Arial"/>
                        </a:rPr>
                        <a:t>Results from KDA calls</a:t>
                      </a:r>
                    </a:p>
                  </a:txBody>
                  <a:tcPr marL="95250" marR="95250" marT="66675" marB="66675" anchor="ctr">
                    <a:solidFill>
                      <a:srgbClr val="00856F"/>
                    </a:solidFill>
                  </a:tcPr>
                </a:tc>
                <a:tc>
                  <a:txBody>
                    <a:bodyPr/>
                    <a:lstStyle/>
                    <a:p>
                      <a:pPr algn="ctr"/>
                      <a:r>
                        <a:rPr sz="1125" b="0">
                          <a:solidFill>
                            <a:srgbClr val="1F2D3D"/>
                          </a:solidFill>
                          <a:latin typeface="Arial"/>
                          <a:ea typeface="Arial"/>
                          <a:cs typeface="Arial"/>
                        </a:rPr>
                        <a:t>7–16 and 18</a:t>
                      </a:r>
                    </a:p>
                  </a:txBody>
                  <a:tcPr marL="95250" marR="95250" marT="66675" marB="66675" anchor="ctr">
                    <a:solidFill>
                      <a:srgbClr val="F7FAFD"/>
                    </a:solidFill>
                  </a:tcPr>
                </a:tc>
                <a:tc>
                  <a:txBody>
                    <a:bodyPr/>
                    <a:lstStyle/>
                    <a:p>
                      <a:pPr algn="l"/>
                      <a:r>
                        <a:rPr sz="1125">
                          <a:solidFill>
                            <a:srgbClr val="1F2D3D"/>
                          </a:solidFill>
                          <a:latin typeface="Arial"/>
                          <a:ea typeface="Arial"/>
                          <a:cs typeface="Arial"/>
                        </a:rPr>
                        <a:t>Which network genes are returned from KDA calls made with MitoCarta MT DEGs?</a:t>
                      </a:r>
                    </a:p>
                  </a:txBody>
                  <a:tcPr marL="95250" marR="95250" marT="66675" marB="66675" anchor="ctr">
                    <a:solidFill>
                      <a:srgbClr val="F7FAFD"/>
                    </a:solidFill>
                  </a:tcPr>
                </a:tc>
                <a:tc>
                  <a:txBody>
                    <a:bodyPr/>
                    <a:lstStyle/>
                    <a:p>
                      <a:pPr algn="l"/>
                      <a:r>
                        <a:rPr sz="1125">
                          <a:solidFill>
                            <a:srgbClr val="1F2D3D"/>
                          </a:solidFill>
                          <a:latin typeface="Arial"/>
                          <a:ea typeface="Arial"/>
                          <a:cs typeface="Arial"/>
                        </a:rPr>
                        <a:t>Candidate genes that may drive or explain mitochondrial changes</a:t>
                      </a:r>
                    </a:p>
                  </a:txBody>
                  <a:tcPr marL="95250" marR="95250" marT="66675" marB="66675" anchor="ctr">
                    <a:solidFill>
                      <a:srgbClr val="F7FAFD"/>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71522342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5" name="Summary 2 Title">
            <a:extLst>
              <a:ext uri="{FF2B5EF4-FFF2-40B4-BE49-F238E27FC236}">
                <a16:creationId xmlns:a16="http://schemas.microsoft.com/office/drawing/2014/main" id="{76B37456-FC65-485C-AC42-44438DF5942A}"/>
              </a:ext>
            </a:extLst>
          </p:cNvPr>
          <p:cNvSpPr>
            <a:spLocks noGrp="1"/>
          </p:cNvSpPr>
          <p:nvPr/>
        </p:nvSpPr>
        <p:spPr>
          <a:xfrm>
            <a:off x="609600" y="361950"/>
            <a:ext cx="10972800" cy="552450"/>
          </a:xfrm>
          <a:prstGeom prst="rect">
            <a:avLst/>
          </a:prstGeom>
          <a:noFill/>
          <a:ln w="0">
            <a:noFill/>
            <a:prstDash val="solid"/>
          </a:ln>
        </p:spPr>
        <p:txBody>
          <a:bodyPr wrap="square" lIns="0" tIns="0" rIns="0" bIns="0">
            <a:normAutofit/>
          </a:bodyPr>
          <a:lstStyle/>
          <a:p>
            <a:pPr algn="l">
              <a:buNone/>
              <a:defRPr sz="2250" b="1">
                <a:solidFill>
                  <a:srgbClr val="11263F"/>
                </a:solidFill>
                <a:latin typeface="Arial"/>
                <a:ea typeface="Arial"/>
                <a:cs typeface="Arial"/>
              </a:defRPr>
            </a:pPr>
            <a:r>
              <a:rPr sz="2250" b="1">
                <a:solidFill>
                  <a:srgbClr val="11263F"/>
                </a:solidFill>
                <a:latin typeface="Arial"/>
                <a:ea typeface="Arial"/>
                <a:cs typeface="Arial"/>
              </a:rPr>
              <a:t>Findings 1–6 are DEG and pathway results</a:t>
            </a:r>
          </a:p>
        </p:txBody>
      </p:sp>
      <p:sp>
        <p:nvSpPr>
          <p:cNvPr id="2" name="Summary 2 Subtitle">
            <a:extLst>
              <a:ext uri="{FF2B5EF4-FFF2-40B4-BE49-F238E27FC236}">
                <a16:creationId xmlns:a16="http://schemas.microsoft.com/office/drawing/2014/main" id="{7BF1DEDB-C4E9-4634-BFCC-D8571A40BB75}"/>
              </a:ext>
            </a:extLst>
          </p:cNvPr>
          <p:cNvSpPr>
            <a:spLocks noGrp="1"/>
          </p:cNvSpPr>
          <p:nvPr/>
        </p:nvSpPr>
        <p:spPr>
          <a:xfrm>
            <a:off x="628650" y="1000125"/>
            <a:ext cx="10934700" cy="419100"/>
          </a:xfrm>
          <a:prstGeom prst="rect">
            <a:avLst/>
          </a:prstGeom>
          <a:noFill/>
          <a:ln w="0">
            <a:noFill/>
            <a:prstDash val="solid"/>
          </a:ln>
        </p:spPr>
        <p:txBody>
          <a:bodyPr wrap="square" lIns="0" tIns="0" rIns="0" bIns="0">
            <a:normAutofit/>
          </a:bodyPr>
          <a:lstStyle/>
          <a:p>
            <a:pPr algn="l">
              <a:buNone/>
              <a:defRPr sz="1275">
                <a:solidFill>
                  <a:srgbClr val="536273"/>
                </a:solidFill>
                <a:latin typeface="Arial"/>
                <a:ea typeface="Arial"/>
                <a:cs typeface="Arial"/>
              </a:defRPr>
            </a:pPr>
            <a:r>
              <a:rPr sz="1275" b="1">
                <a:latin typeface="Arial"/>
                <a:ea typeface="Arial"/>
                <a:cs typeface="Arial"/>
              </a:rPr>
              <a:t>These findings describe mitochondrial gene-expression and pathway patterns before making KDA calls.</a:t>
            </a:r>
          </a:p>
        </p:txBody>
      </p:sp>
      <p:sp>
        <p:nvSpPr>
          <p:cNvPr id="4" name="Summary 2 Footer">
            <a:extLst>
              <a:ext uri="{FF2B5EF4-FFF2-40B4-BE49-F238E27FC236}">
                <a16:creationId xmlns:a16="http://schemas.microsoft.com/office/drawing/2014/main" id="{D2D4E65B-A402-41A3-AA8A-1A7D893AD32B}"/>
              </a:ext>
            </a:extLst>
          </p:cNvPr>
          <p:cNvSpPr>
            <a:spLocks noGrp="1"/>
          </p:cNvSpPr>
          <p:nvPr/>
        </p:nvSpPr>
        <p:spPr>
          <a:xfrm>
            <a:off x="685800" y="6115050"/>
            <a:ext cx="10820400" cy="400050"/>
          </a:xfrm>
          <a:prstGeom prst="rect">
            <a:avLst/>
          </a:prstGeom>
          <a:noFill/>
          <a:ln w="0">
            <a:noFill/>
            <a:prstDash val="solid"/>
          </a:ln>
        </p:spPr>
        <p:txBody>
          <a:bodyPr wrap="square" lIns="0" tIns="0" rIns="0" bIns="0">
            <a:normAutofit/>
          </a:bodyPr>
          <a:lstStyle/>
          <a:p>
            <a:pPr algn="l">
              <a:buNone/>
              <a:defRPr sz="1200" b="1">
                <a:solidFill>
                  <a:srgbClr val="7D4FA1"/>
                </a:solidFill>
                <a:latin typeface="Arial"/>
                <a:ea typeface="Arial"/>
                <a:cs typeface="Arial"/>
              </a:defRPr>
            </a:pPr>
            <a:r>
              <a:rPr sz="1200" b="1">
                <a:solidFill>
                  <a:srgbClr val="7D4FA1"/>
                </a:solidFill>
                <a:latin typeface="Arial"/>
                <a:ea typeface="Arial"/>
                <a:cs typeface="Arial"/>
              </a:rPr>
              <a:t>KDA calls are not involved in Findings 1–6.</a:t>
            </a:r>
          </a:p>
        </p:txBody>
      </p:sp>
      <p:graphicFrame>
        <p:nvGraphicFramePr>
          <p:cNvPr id="10" name="Summary 2 Table"/>
          <p:cNvGraphicFramePr/>
          <p:nvPr/>
        </p:nvGraphicFramePr>
        <p:xfrm>
          <a:off x="666750" y="1524000"/>
          <a:ext cx="10858500" cy="4391028"/>
        </p:xfrm>
        <a:graphic>
          <a:graphicData uri="http://schemas.openxmlformats.org/drawingml/2006/table">
            <a:tbl>
              <a:tblPr firstRow="1"/>
              <a:tblGrid>
                <a:gridCol w="857250">
                  <a:extLst>
                    <a:ext uri="{9D8B030D-6E8A-4147-A177-3AD203B41FA5}">
                      <a16:colId xmlns:a16="http://schemas.microsoft.com/office/drawing/2014/main" val="20000"/>
                    </a:ext>
                  </a:extLst>
                </a:gridCol>
                <a:gridCol w="2095500">
                  <a:extLst>
                    <a:ext uri="{9D8B030D-6E8A-4147-A177-3AD203B41FA5}">
                      <a16:colId xmlns:a16="http://schemas.microsoft.com/office/drawing/2014/main" val="20001"/>
                    </a:ext>
                  </a:extLst>
                </a:gridCol>
                <a:gridCol w="6572250">
                  <a:extLst>
                    <a:ext uri="{9D8B030D-6E8A-4147-A177-3AD203B41FA5}">
                      <a16:colId xmlns:a16="http://schemas.microsoft.com/office/drawing/2014/main" val="20002"/>
                    </a:ext>
                  </a:extLst>
                </a:gridCol>
                <a:gridCol w="1333500">
                  <a:extLst>
                    <a:ext uri="{9D8B030D-6E8A-4147-A177-3AD203B41FA5}">
                      <a16:colId xmlns:a16="http://schemas.microsoft.com/office/drawing/2014/main" val="20003"/>
                    </a:ext>
                  </a:extLst>
                </a:gridCol>
              </a:tblGrid>
              <a:tr h="495300">
                <a:tc>
                  <a:txBody>
                    <a:bodyPr/>
                    <a:lstStyle/>
                    <a:p>
                      <a:pPr algn="ctr"/>
                      <a:r>
                        <a:rPr sz="1125" b="1">
                          <a:solidFill>
                            <a:srgbClr val="FFFFFF"/>
                          </a:solidFill>
                          <a:latin typeface="Arial"/>
                          <a:ea typeface="Arial"/>
                          <a:cs typeface="Arial"/>
                        </a:rPr>
                        <a:t>Finding</a:t>
                      </a:r>
                    </a:p>
                  </a:txBody>
                  <a:tcPr marL="95250" marR="95250" marT="66675" marB="66675" anchor="ctr">
                    <a:solidFill>
                      <a:srgbClr val="11263F"/>
                    </a:solidFill>
                  </a:tcPr>
                </a:tc>
                <a:tc>
                  <a:txBody>
                    <a:bodyPr/>
                    <a:lstStyle/>
                    <a:p>
                      <a:pPr algn="l"/>
                      <a:r>
                        <a:rPr sz="1125" b="1">
                          <a:solidFill>
                            <a:srgbClr val="FFFFFF"/>
                          </a:solidFill>
                          <a:latin typeface="Arial"/>
                          <a:ea typeface="Arial"/>
                          <a:cs typeface="Arial"/>
                        </a:rPr>
                        <a:t>Sex/APOE group</a:t>
                      </a:r>
                    </a:p>
                  </a:txBody>
                  <a:tcPr marL="95250" marR="95250" marT="66675" marB="66675" anchor="ctr">
                    <a:solidFill>
                      <a:srgbClr val="11263F"/>
                    </a:solidFill>
                  </a:tcPr>
                </a:tc>
                <a:tc>
                  <a:txBody>
                    <a:bodyPr/>
                    <a:lstStyle/>
                    <a:p>
                      <a:pPr algn="l"/>
                      <a:r>
                        <a:rPr sz="1125" b="1">
                          <a:solidFill>
                            <a:srgbClr val="FFFFFF"/>
                          </a:solidFill>
                          <a:latin typeface="Arial"/>
                          <a:ea typeface="Arial"/>
                          <a:cs typeface="Arial"/>
                        </a:rPr>
                        <a:t>Main result</a:t>
                      </a:r>
                    </a:p>
                  </a:txBody>
                  <a:tcPr marL="95250" marR="95250" marT="66675" marB="66675" anchor="ctr">
                    <a:solidFill>
                      <a:srgbClr val="11263F"/>
                    </a:solidFill>
                  </a:tcPr>
                </a:tc>
                <a:tc>
                  <a:txBody>
                    <a:bodyPr/>
                    <a:lstStyle/>
                    <a:p>
                      <a:pPr algn="ctr"/>
                      <a:r>
                        <a:rPr sz="1125" b="1">
                          <a:solidFill>
                            <a:srgbClr val="FFFFFF"/>
                          </a:solidFill>
                          <a:latin typeface="Arial"/>
                          <a:ea typeface="Arial"/>
                          <a:cs typeface="Arial"/>
                        </a:rPr>
                        <a:t>Novelty</a:t>
                      </a:r>
                    </a:p>
                  </a:txBody>
                  <a:tcPr marL="95250" marR="95250" marT="66675" marB="66675" anchor="ctr">
                    <a:solidFill>
                      <a:srgbClr val="11263F"/>
                    </a:solidFill>
                  </a:tcPr>
                </a:tc>
                <a:extLst>
                  <a:ext uri="{0D108BD9-81ED-4DB2-BD59-A6C34878D82A}">
                    <a16:rowId xmlns:a16="http://schemas.microsoft.com/office/drawing/2014/main" val="10000"/>
                  </a:ext>
                </a:extLst>
              </a:tr>
              <a:tr h="649288">
                <a:tc>
                  <a:txBody>
                    <a:bodyPr/>
                    <a:lstStyle/>
                    <a:p>
                      <a:pPr algn="ctr"/>
                      <a:r>
                        <a:rPr sz="1125" b="1">
                          <a:solidFill>
                            <a:srgbClr val="FFFFFF"/>
                          </a:solidFill>
                          <a:latin typeface="Arial"/>
                          <a:ea typeface="Arial"/>
                          <a:cs typeface="Arial"/>
                        </a:rPr>
                        <a:t>1</a:t>
                      </a:r>
                    </a:p>
                  </a:txBody>
                  <a:tcPr marL="95250" marR="95250" marT="66675" marB="66675" anchor="ctr">
                    <a:solidFill>
                      <a:srgbClr val="0077B6"/>
                    </a:solidFill>
                  </a:tcPr>
                </a:tc>
                <a:tc>
                  <a:txBody>
                    <a:bodyPr/>
                    <a:lstStyle/>
                    <a:p>
                      <a:pPr algn="l"/>
                      <a:r>
                        <a:rPr sz="1125">
                          <a:solidFill>
                            <a:srgbClr val="1F2D3D"/>
                          </a:solidFill>
                          <a:latin typeface="Arial"/>
                          <a:ea typeface="Arial"/>
                          <a:cs typeface="Arial"/>
                        </a:rPr>
                        <a:t>Female ε3/ε3</a:t>
                      </a:r>
                    </a:p>
                  </a:txBody>
                  <a:tcPr marL="95250" marR="95250" marT="66675" marB="66675" anchor="ctr">
                    <a:solidFill>
                      <a:srgbClr val="FFFFFF"/>
                    </a:solidFill>
                  </a:tcPr>
                </a:tc>
                <a:tc>
                  <a:txBody>
                    <a:bodyPr/>
                    <a:lstStyle/>
                    <a:p>
                      <a:pPr algn="l"/>
                      <a:r>
                        <a:rPr sz="1125">
                          <a:solidFill>
                            <a:srgbClr val="1F2D3D"/>
                          </a:solidFill>
                          <a:latin typeface="Arial"/>
                          <a:ea typeface="Arial"/>
                          <a:cs typeface="Arial"/>
                        </a:rPr>
                        <a:t>Core MT genes rise; nuclear-encoded OXPHOS genes also mostly rise in ROSMAP.</a:t>
                      </a:r>
                    </a:p>
                  </a:txBody>
                  <a:tcPr marL="95250" marR="95250" marT="66675" marB="66675" anchor="ctr">
                    <a:solidFill>
                      <a:srgbClr val="FFFFFF"/>
                    </a:solidFill>
                  </a:tcPr>
                </a:tc>
                <a:tc>
                  <a:txBody>
                    <a:bodyPr/>
                    <a:lstStyle/>
                    <a:p>
                      <a:pPr algn="ctr"/>
                      <a:r>
                        <a:rPr sz="1125" b="1">
                          <a:solidFill>
                            <a:srgbClr val="005E82"/>
                          </a:solidFill>
                          <a:latin typeface="Arial"/>
                          <a:ea typeface="Arial"/>
                          <a:cs typeface="Arial"/>
                        </a:rPr>
                        <a:t>Moderate</a:t>
                      </a:r>
                    </a:p>
                  </a:txBody>
                  <a:tcPr marL="95250" marR="95250" marT="66675" marB="66675" anchor="ctr">
                    <a:solidFill>
                      <a:srgbClr val="E5F2FA"/>
                    </a:solidFill>
                  </a:tcPr>
                </a:tc>
                <a:extLst>
                  <a:ext uri="{0D108BD9-81ED-4DB2-BD59-A6C34878D82A}">
                    <a16:rowId xmlns:a16="http://schemas.microsoft.com/office/drawing/2014/main" val="10001"/>
                  </a:ext>
                </a:extLst>
              </a:tr>
              <a:tr h="649288">
                <a:tc>
                  <a:txBody>
                    <a:bodyPr/>
                    <a:lstStyle/>
                    <a:p>
                      <a:pPr algn="ctr"/>
                      <a:r>
                        <a:rPr sz="1125" b="1">
                          <a:solidFill>
                            <a:srgbClr val="FFFFFF"/>
                          </a:solidFill>
                          <a:latin typeface="Arial"/>
                          <a:ea typeface="Arial"/>
                          <a:cs typeface="Arial"/>
                        </a:rPr>
                        <a:t>2</a:t>
                      </a:r>
                    </a:p>
                  </a:txBody>
                  <a:tcPr marL="95250" marR="95250" marT="66675" marB="66675" anchor="ctr">
                    <a:solidFill>
                      <a:srgbClr val="0077B6"/>
                    </a:solidFill>
                  </a:tcPr>
                </a:tc>
                <a:tc>
                  <a:txBody>
                    <a:bodyPr/>
                    <a:lstStyle/>
                    <a:p>
                      <a:pPr algn="l"/>
                      <a:r>
                        <a:rPr sz="1125">
                          <a:solidFill>
                            <a:srgbClr val="1F2D3D"/>
                          </a:solidFill>
                          <a:latin typeface="Arial"/>
                          <a:ea typeface="Arial"/>
                          <a:cs typeface="Arial"/>
                        </a:rPr>
                        <a:t>Male ε3/ε3</a:t>
                      </a:r>
                    </a:p>
                  </a:txBody>
                  <a:tcPr marL="95250" marR="95250" marT="66675" marB="66675" anchor="ctr">
                    <a:solidFill>
                      <a:srgbClr val="F7FAFD"/>
                    </a:solidFill>
                  </a:tcPr>
                </a:tc>
                <a:tc>
                  <a:txBody>
                    <a:bodyPr/>
                    <a:lstStyle/>
                    <a:p>
                      <a:pPr algn="l"/>
                      <a:r>
                        <a:rPr sz="1125">
                          <a:solidFill>
                            <a:srgbClr val="1F2D3D"/>
                          </a:solidFill>
                          <a:latin typeface="Arial"/>
                          <a:ea typeface="Arial"/>
                          <a:cs typeface="Arial"/>
                        </a:rPr>
                        <a:t>Core MT genes rise while nuclear-encoded OXPHOS genes fall.</a:t>
                      </a:r>
                    </a:p>
                  </a:txBody>
                  <a:tcPr marL="95250" marR="95250" marT="66675" marB="66675" anchor="ctr">
                    <a:solidFill>
                      <a:srgbClr val="F7FAFD"/>
                    </a:solidFill>
                  </a:tcPr>
                </a:tc>
                <a:tc>
                  <a:txBody>
                    <a:bodyPr/>
                    <a:lstStyle/>
                    <a:p>
                      <a:pPr algn="ctr"/>
                      <a:r>
                        <a:rPr sz="1125" b="1">
                          <a:solidFill>
                            <a:srgbClr val="8A4A00"/>
                          </a:solidFill>
                          <a:latin typeface="Arial"/>
                          <a:ea typeface="Arial"/>
                          <a:cs typeface="Arial"/>
                        </a:rPr>
                        <a:t>High</a:t>
                      </a:r>
                    </a:p>
                  </a:txBody>
                  <a:tcPr marL="95250" marR="95250" marT="66675" marB="66675" anchor="ctr">
                    <a:solidFill>
                      <a:srgbClr val="FFF1CE"/>
                    </a:solidFill>
                  </a:tcPr>
                </a:tc>
                <a:extLst>
                  <a:ext uri="{0D108BD9-81ED-4DB2-BD59-A6C34878D82A}">
                    <a16:rowId xmlns:a16="http://schemas.microsoft.com/office/drawing/2014/main" val="10002"/>
                  </a:ext>
                </a:extLst>
              </a:tr>
              <a:tr h="649288">
                <a:tc>
                  <a:txBody>
                    <a:bodyPr/>
                    <a:lstStyle/>
                    <a:p>
                      <a:pPr algn="ctr"/>
                      <a:r>
                        <a:rPr sz="1125" b="1">
                          <a:solidFill>
                            <a:srgbClr val="FFFFFF"/>
                          </a:solidFill>
                          <a:latin typeface="Arial"/>
                          <a:ea typeface="Arial"/>
                          <a:cs typeface="Arial"/>
                        </a:rPr>
                        <a:t>3</a:t>
                      </a:r>
                    </a:p>
                  </a:txBody>
                  <a:tcPr marL="95250" marR="95250" marT="66675" marB="66675" anchor="ctr">
                    <a:solidFill>
                      <a:srgbClr val="0077B6"/>
                    </a:solidFill>
                  </a:tcPr>
                </a:tc>
                <a:tc>
                  <a:txBody>
                    <a:bodyPr/>
                    <a:lstStyle/>
                    <a:p>
                      <a:pPr algn="l"/>
                      <a:r>
                        <a:rPr sz="1125">
                          <a:solidFill>
                            <a:srgbClr val="1F2D3D"/>
                          </a:solidFill>
                          <a:latin typeface="Arial"/>
                          <a:ea typeface="Arial"/>
                          <a:cs typeface="Arial"/>
                        </a:rPr>
                        <a:t>Female ε2</a:t>
                      </a:r>
                    </a:p>
                  </a:txBody>
                  <a:tcPr marL="95250" marR="95250" marT="66675" marB="66675" anchor="ctr">
                    <a:solidFill>
                      <a:srgbClr val="FFFFFF"/>
                    </a:solidFill>
                  </a:tcPr>
                </a:tc>
                <a:tc>
                  <a:txBody>
                    <a:bodyPr/>
                    <a:lstStyle/>
                    <a:p>
                      <a:pPr algn="l"/>
                      <a:r>
                        <a:rPr sz="1125">
                          <a:solidFill>
                            <a:srgbClr val="1F2D3D"/>
                          </a:solidFill>
                          <a:latin typeface="Arial"/>
                          <a:ea typeface="Arial"/>
                          <a:cs typeface="Arial"/>
                        </a:rPr>
                        <a:t>Core MT and nuclear-encoded OXPHOS genes both rise.</a:t>
                      </a:r>
                    </a:p>
                  </a:txBody>
                  <a:tcPr marL="95250" marR="95250" marT="66675" marB="66675" anchor="ctr">
                    <a:solidFill>
                      <a:srgbClr val="FFFFFF"/>
                    </a:solidFill>
                  </a:tcPr>
                </a:tc>
                <a:tc>
                  <a:txBody>
                    <a:bodyPr/>
                    <a:lstStyle/>
                    <a:p>
                      <a:pPr algn="ctr"/>
                      <a:r>
                        <a:rPr sz="1125" b="1">
                          <a:solidFill>
                            <a:srgbClr val="8A4A00"/>
                          </a:solidFill>
                          <a:latin typeface="Arial"/>
                          <a:ea typeface="Arial"/>
                          <a:cs typeface="Arial"/>
                        </a:rPr>
                        <a:t>High</a:t>
                      </a:r>
                    </a:p>
                  </a:txBody>
                  <a:tcPr marL="95250" marR="95250" marT="66675" marB="66675" anchor="ctr">
                    <a:solidFill>
                      <a:srgbClr val="FFF1CE"/>
                    </a:solidFill>
                  </a:tcPr>
                </a:tc>
                <a:extLst>
                  <a:ext uri="{0D108BD9-81ED-4DB2-BD59-A6C34878D82A}">
                    <a16:rowId xmlns:a16="http://schemas.microsoft.com/office/drawing/2014/main" val="10003"/>
                  </a:ext>
                </a:extLst>
              </a:tr>
              <a:tr h="649288">
                <a:tc>
                  <a:txBody>
                    <a:bodyPr/>
                    <a:lstStyle/>
                    <a:p>
                      <a:pPr algn="ctr"/>
                      <a:r>
                        <a:rPr sz="1125" b="1">
                          <a:solidFill>
                            <a:srgbClr val="FFFFFF"/>
                          </a:solidFill>
                          <a:latin typeface="Arial"/>
                          <a:ea typeface="Arial"/>
                          <a:cs typeface="Arial"/>
                        </a:rPr>
                        <a:t>4</a:t>
                      </a:r>
                    </a:p>
                  </a:txBody>
                  <a:tcPr marL="95250" marR="95250" marT="66675" marB="66675" anchor="ctr">
                    <a:solidFill>
                      <a:srgbClr val="0077B6"/>
                    </a:solidFill>
                  </a:tcPr>
                </a:tc>
                <a:tc>
                  <a:txBody>
                    <a:bodyPr/>
                    <a:lstStyle/>
                    <a:p>
                      <a:pPr algn="l"/>
                      <a:r>
                        <a:rPr sz="1125">
                          <a:solidFill>
                            <a:srgbClr val="1F2D3D"/>
                          </a:solidFill>
                          <a:latin typeface="Arial"/>
                          <a:ea typeface="Arial"/>
                          <a:cs typeface="Arial"/>
                        </a:rPr>
                        <a:t>Female ε4</a:t>
                      </a:r>
                    </a:p>
                  </a:txBody>
                  <a:tcPr marL="95250" marR="95250" marT="66675" marB="66675" anchor="ctr">
                    <a:solidFill>
                      <a:srgbClr val="F7FAFD"/>
                    </a:solidFill>
                  </a:tcPr>
                </a:tc>
                <a:tc>
                  <a:txBody>
                    <a:bodyPr/>
                    <a:lstStyle/>
                    <a:p>
                      <a:pPr algn="l"/>
                      <a:r>
                        <a:rPr sz="1125">
                          <a:solidFill>
                            <a:srgbClr val="1F2D3D"/>
                          </a:solidFill>
                          <a:latin typeface="Arial"/>
                          <a:ea typeface="Arial"/>
                          <a:cs typeface="Arial"/>
                        </a:rPr>
                        <a:t>Nuclear-encoded OXPHOS genes show a strong decrease.</a:t>
                      </a:r>
                    </a:p>
                  </a:txBody>
                  <a:tcPr marL="95250" marR="95250" marT="66675" marB="66675" anchor="ctr">
                    <a:solidFill>
                      <a:srgbClr val="F7FAFD"/>
                    </a:solidFill>
                  </a:tcPr>
                </a:tc>
                <a:tc>
                  <a:txBody>
                    <a:bodyPr/>
                    <a:lstStyle/>
                    <a:p>
                      <a:pPr algn="ctr"/>
                      <a:r>
                        <a:rPr sz="1125" b="1">
                          <a:solidFill>
                            <a:srgbClr val="005E82"/>
                          </a:solidFill>
                          <a:latin typeface="Arial"/>
                          <a:ea typeface="Arial"/>
                          <a:cs typeface="Arial"/>
                        </a:rPr>
                        <a:t>Moderate</a:t>
                      </a:r>
                    </a:p>
                  </a:txBody>
                  <a:tcPr marL="95250" marR="95250" marT="66675" marB="66675" anchor="ctr">
                    <a:solidFill>
                      <a:srgbClr val="E5F2FA"/>
                    </a:solidFill>
                  </a:tcPr>
                </a:tc>
                <a:extLst>
                  <a:ext uri="{0D108BD9-81ED-4DB2-BD59-A6C34878D82A}">
                    <a16:rowId xmlns:a16="http://schemas.microsoft.com/office/drawing/2014/main" val="10004"/>
                  </a:ext>
                </a:extLst>
              </a:tr>
              <a:tr h="649288">
                <a:tc>
                  <a:txBody>
                    <a:bodyPr/>
                    <a:lstStyle/>
                    <a:p>
                      <a:pPr algn="ctr"/>
                      <a:r>
                        <a:rPr sz="1125" b="1">
                          <a:solidFill>
                            <a:srgbClr val="FFFFFF"/>
                          </a:solidFill>
                          <a:latin typeface="Arial"/>
                          <a:ea typeface="Arial"/>
                          <a:cs typeface="Arial"/>
                        </a:rPr>
                        <a:t>5</a:t>
                      </a:r>
                    </a:p>
                  </a:txBody>
                  <a:tcPr marL="95250" marR="95250" marT="66675" marB="66675" anchor="ctr">
                    <a:solidFill>
                      <a:srgbClr val="0077B6"/>
                    </a:solidFill>
                  </a:tcPr>
                </a:tc>
                <a:tc>
                  <a:txBody>
                    <a:bodyPr/>
                    <a:lstStyle/>
                    <a:p>
                      <a:pPr algn="l"/>
                      <a:r>
                        <a:rPr sz="1125">
                          <a:solidFill>
                            <a:srgbClr val="1F2D3D"/>
                          </a:solidFill>
                          <a:latin typeface="Arial"/>
                          <a:ea typeface="Arial"/>
                          <a:cs typeface="Arial"/>
                        </a:rPr>
                        <a:t>Male ε2</a:t>
                      </a:r>
                    </a:p>
                  </a:txBody>
                  <a:tcPr marL="95250" marR="95250" marT="66675" marB="66675" anchor="ctr">
                    <a:solidFill>
                      <a:srgbClr val="FFFFFF"/>
                    </a:solidFill>
                  </a:tcPr>
                </a:tc>
                <a:tc>
                  <a:txBody>
                    <a:bodyPr/>
                    <a:lstStyle/>
                    <a:p>
                      <a:pPr algn="l"/>
                      <a:r>
                        <a:rPr sz="1125">
                          <a:solidFill>
                            <a:srgbClr val="1F2D3D"/>
                          </a:solidFill>
                          <a:latin typeface="Arial"/>
                          <a:ea typeface="Arial"/>
                          <a:cs typeface="Arial"/>
                        </a:rPr>
                        <a:t>Both core MT and nuclear-encoded OXPHOS gene sets show broad decreases.</a:t>
                      </a:r>
                    </a:p>
                  </a:txBody>
                  <a:tcPr marL="95250" marR="95250" marT="66675" marB="66675" anchor="ctr">
                    <a:solidFill>
                      <a:srgbClr val="FFFFFF"/>
                    </a:solidFill>
                  </a:tcPr>
                </a:tc>
                <a:tc>
                  <a:txBody>
                    <a:bodyPr/>
                    <a:lstStyle/>
                    <a:p>
                      <a:pPr algn="ctr"/>
                      <a:r>
                        <a:rPr sz="1125" b="1">
                          <a:solidFill>
                            <a:srgbClr val="8A4A00"/>
                          </a:solidFill>
                          <a:latin typeface="Arial"/>
                          <a:ea typeface="Arial"/>
                          <a:cs typeface="Arial"/>
                        </a:rPr>
                        <a:t>High</a:t>
                      </a:r>
                    </a:p>
                  </a:txBody>
                  <a:tcPr marL="95250" marR="95250" marT="66675" marB="66675" anchor="ctr">
                    <a:solidFill>
                      <a:srgbClr val="FFF1CE"/>
                    </a:solidFill>
                  </a:tcPr>
                </a:tc>
                <a:extLst>
                  <a:ext uri="{0D108BD9-81ED-4DB2-BD59-A6C34878D82A}">
                    <a16:rowId xmlns:a16="http://schemas.microsoft.com/office/drawing/2014/main" val="10005"/>
                  </a:ext>
                </a:extLst>
              </a:tr>
              <a:tr h="649288">
                <a:tc>
                  <a:txBody>
                    <a:bodyPr/>
                    <a:lstStyle/>
                    <a:p>
                      <a:pPr algn="ctr"/>
                      <a:r>
                        <a:rPr sz="1125" b="1">
                          <a:solidFill>
                            <a:srgbClr val="FFFFFF"/>
                          </a:solidFill>
                          <a:latin typeface="Arial"/>
                          <a:ea typeface="Arial"/>
                          <a:cs typeface="Arial"/>
                        </a:rPr>
                        <a:t>6</a:t>
                      </a:r>
                    </a:p>
                  </a:txBody>
                  <a:tcPr marL="95250" marR="95250" marT="66675" marB="66675" anchor="ctr">
                    <a:solidFill>
                      <a:srgbClr val="0077B6"/>
                    </a:solidFill>
                  </a:tcPr>
                </a:tc>
                <a:tc>
                  <a:txBody>
                    <a:bodyPr/>
                    <a:lstStyle/>
                    <a:p>
                      <a:pPr algn="l"/>
                      <a:r>
                        <a:rPr sz="1125">
                          <a:solidFill>
                            <a:srgbClr val="1F2D3D"/>
                          </a:solidFill>
                          <a:latin typeface="Arial"/>
                          <a:ea typeface="Arial"/>
                          <a:cs typeface="Arial"/>
                        </a:rPr>
                        <a:t>Male ε4</a:t>
                      </a:r>
                    </a:p>
                  </a:txBody>
                  <a:tcPr marL="95250" marR="95250" marT="66675" marB="66675" anchor="ctr">
                    <a:solidFill>
                      <a:srgbClr val="F7FAFD"/>
                    </a:solidFill>
                  </a:tcPr>
                </a:tc>
                <a:tc>
                  <a:txBody>
                    <a:bodyPr/>
                    <a:lstStyle/>
                    <a:p>
                      <a:pPr algn="l"/>
                      <a:r>
                        <a:rPr sz="1125">
                          <a:solidFill>
                            <a:srgbClr val="1F2D3D"/>
                          </a:solidFill>
                          <a:latin typeface="Arial"/>
                          <a:ea typeface="Arial"/>
                          <a:cs typeface="Arial"/>
                        </a:rPr>
                        <a:t>Core MT genes rise while nuclear-encoded OXPHOS genes decrease more modestly.</a:t>
                      </a:r>
                    </a:p>
                  </a:txBody>
                  <a:tcPr marL="95250" marR="95250" marT="66675" marB="66675" anchor="ctr">
                    <a:solidFill>
                      <a:srgbClr val="F7FAFD"/>
                    </a:solidFill>
                  </a:tcPr>
                </a:tc>
                <a:tc>
                  <a:txBody>
                    <a:bodyPr/>
                    <a:lstStyle/>
                    <a:p>
                      <a:pPr algn="ctr"/>
                      <a:r>
                        <a:rPr sz="1125" b="1">
                          <a:solidFill>
                            <a:srgbClr val="005E82"/>
                          </a:solidFill>
                          <a:latin typeface="Arial"/>
                          <a:ea typeface="Arial"/>
                          <a:cs typeface="Arial"/>
                        </a:rPr>
                        <a:t>Moderate</a:t>
                      </a:r>
                    </a:p>
                  </a:txBody>
                  <a:tcPr marL="95250" marR="95250" marT="66675" marB="66675" anchor="ctr">
                    <a:solidFill>
                      <a:srgbClr val="E5F2FA"/>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178014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5" name="Summary 3 Title">
            <a:extLst>
              <a:ext uri="{FF2B5EF4-FFF2-40B4-BE49-F238E27FC236}">
                <a16:creationId xmlns:a16="http://schemas.microsoft.com/office/drawing/2014/main" id="{B6702C0F-F928-48C6-B90F-E8A58AE4BB3A}"/>
              </a:ext>
            </a:extLst>
          </p:cNvPr>
          <p:cNvSpPr>
            <a:spLocks noGrp="1"/>
          </p:cNvSpPr>
          <p:nvPr/>
        </p:nvSpPr>
        <p:spPr>
          <a:xfrm>
            <a:off x="609600" y="361950"/>
            <a:ext cx="10972800" cy="552450"/>
          </a:xfrm>
          <a:prstGeom prst="rect">
            <a:avLst/>
          </a:prstGeom>
          <a:noFill/>
          <a:ln w="0">
            <a:noFill/>
            <a:prstDash val="solid"/>
          </a:ln>
        </p:spPr>
        <p:txBody>
          <a:bodyPr wrap="square" lIns="0" tIns="0" rIns="0" bIns="0">
            <a:normAutofit/>
          </a:bodyPr>
          <a:lstStyle/>
          <a:p>
            <a:pPr algn="l">
              <a:buNone/>
              <a:defRPr sz="2250" b="1">
                <a:solidFill>
                  <a:srgbClr val="11263F"/>
                </a:solidFill>
                <a:latin typeface="Arial"/>
                <a:ea typeface="Arial"/>
                <a:cs typeface="Arial"/>
              </a:defRPr>
            </a:pPr>
            <a:r>
              <a:rPr sz="2250" b="1">
                <a:solidFill>
                  <a:srgbClr val="11263F"/>
                </a:solidFill>
                <a:latin typeface="Arial"/>
                <a:ea typeface="Arial"/>
                <a:cs typeface="Arial"/>
              </a:rPr>
              <a:t>Recurring sex/APOE-linked genes from KDA calls</a:t>
            </a:r>
          </a:p>
        </p:txBody>
      </p:sp>
      <p:sp>
        <p:nvSpPr>
          <p:cNvPr id="2" name="Summary 3 Subtitle">
            <a:extLst>
              <a:ext uri="{FF2B5EF4-FFF2-40B4-BE49-F238E27FC236}">
                <a16:creationId xmlns:a16="http://schemas.microsoft.com/office/drawing/2014/main" id="{B700F485-92CF-4D95-A882-47481A5D215A}"/>
              </a:ext>
            </a:extLst>
          </p:cNvPr>
          <p:cNvSpPr>
            <a:spLocks noGrp="1"/>
          </p:cNvSpPr>
          <p:nvPr/>
        </p:nvSpPr>
        <p:spPr>
          <a:xfrm>
            <a:off x="628650" y="1000125"/>
            <a:ext cx="10934700" cy="419100"/>
          </a:xfrm>
          <a:prstGeom prst="rect">
            <a:avLst/>
          </a:prstGeom>
          <a:noFill/>
          <a:ln w="0">
            <a:noFill/>
            <a:prstDash val="solid"/>
          </a:ln>
        </p:spPr>
        <p:txBody>
          <a:bodyPr wrap="square" lIns="0" tIns="0" rIns="0" bIns="0">
            <a:normAutofit/>
          </a:bodyPr>
          <a:lstStyle/>
          <a:p>
            <a:pPr algn="l">
              <a:buNone/>
              <a:defRPr sz="1275">
                <a:solidFill>
                  <a:srgbClr val="536273"/>
                </a:solidFill>
                <a:latin typeface="Arial"/>
                <a:ea typeface="Arial"/>
                <a:cs typeface="Arial"/>
              </a:defRPr>
            </a:pPr>
            <a:r>
              <a:rPr sz="1275">
                <a:solidFill>
                  <a:srgbClr val="536273"/>
                </a:solidFill>
                <a:latin typeface="Arial"/>
                <a:ea typeface="Arial"/>
                <a:cs typeface="Arial"/>
              </a:rPr>
              <a:t>These genes were returned from KDA calls in several sex/APOE groups or were repeatedly connected to mitochondrial genes.</a:t>
            </a:r>
          </a:p>
        </p:txBody>
      </p:sp>
      <p:sp>
        <p:nvSpPr>
          <p:cNvPr id="4" name="Summary 3 Footer">
            <a:extLst>
              <a:ext uri="{FF2B5EF4-FFF2-40B4-BE49-F238E27FC236}">
                <a16:creationId xmlns:a16="http://schemas.microsoft.com/office/drawing/2014/main" id="{6E92A41E-3488-4982-BE1D-A9B40EDA98AE}"/>
              </a:ext>
            </a:extLst>
          </p:cNvPr>
          <p:cNvSpPr>
            <a:spLocks noGrp="1"/>
          </p:cNvSpPr>
          <p:nvPr/>
        </p:nvSpPr>
        <p:spPr>
          <a:xfrm>
            <a:off x="685800" y="6115050"/>
            <a:ext cx="10820400" cy="400050"/>
          </a:xfrm>
          <a:prstGeom prst="rect">
            <a:avLst/>
          </a:prstGeom>
          <a:noFill/>
          <a:ln w="0">
            <a:noFill/>
            <a:prstDash val="solid"/>
          </a:ln>
        </p:spPr>
        <p:txBody>
          <a:bodyPr wrap="square" lIns="0" tIns="0" rIns="0" bIns="0">
            <a:normAutofit/>
          </a:bodyPr>
          <a:lstStyle/>
          <a:p>
            <a:pPr algn="l">
              <a:buNone/>
              <a:defRPr sz="1200" b="1">
                <a:solidFill>
                  <a:srgbClr val="7D4FA1"/>
                </a:solidFill>
                <a:latin typeface="Arial"/>
                <a:ea typeface="Arial"/>
                <a:cs typeface="Arial"/>
              </a:defRPr>
            </a:pPr>
            <a:r>
              <a:rPr sz="1200" b="1">
                <a:solidFill>
                  <a:srgbClr val="7D4FA1"/>
                </a:solidFill>
                <a:latin typeface="Arial"/>
                <a:ea typeface="Arial"/>
                <a:cs typeface="Arial"/>
              </a:rPr>
              <a:t>Genes returned from KDA calls are candidates. Network connections do not prove regulation or causality.</a:t>
            </a:r>
          </a:p>
        </p:txBody>
      </p:sp>
      <p:graphicFrame>
        <p:nvGraphicFramePr>
          <p:cNvPr id="10" name="Summary 3 Table"/>
          <p:cNvGraphicFramePr/>
          <p:nvPr/>
        </p:nvGraphicFramePr>
        <p:xfrm>
          <a:off x="666750" y="1524000"/>
          <a:ext cx="10858500" cy="4391025"/>
        </p:xfrm>
        <a:graphic>
          <a:graphicData uri="http://schemas.openxmlformats.org/drawingml/2006/table">
            <a:tbl>
              <a:tblPr firstRow="1"/>
              <a:tblGrid>
                <a:gridCol w="809625">
                  <a:extLst>
                    <a:ext uri="{9D8B030D-6E8A-4147-A177-3AD203B41FA5}">
                      <a16:colId xmlns:a16="http://schemas.microsoft.com/office/drawing/2014/main" val="20000"/>
                    </a:ext>
                  </a:extLst>
                </a:gridCol>
                <a:gridCol w="2571750">
                  <a:extLst>
                    <a:ext uri="{9D8B030D-6E8A-4147-A177-3AD203B41FA5}">
                      <a16:colId xmlns:a16="http://schemas.microsoft.com/office/drawing/2014/main" val="20001"/>
                    </a:ext>
                  </a:extLst>
                </a:gridCol>
                <a:gridCol w="5953125">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495300">
                <a:tc>
                  <a:txBody>
                    <a:bodyPr/>
                    <a:lstStyle/>
                    <a:p>
                      <a:pPr algn="ctr"/>
                      <a:r>
                        <a:rPr sz="1125" b="1">
                          <a:solidFill>
                            <a:srgbClr val="FFFFFF"/>
                          </a:solidFill>
                          <a:latin typeface="Arial"/>
                          <a:ea typeface="Arial"/>
                          <a:cs typeface="Arial"/>
                        </a:rPr>
                        <a:t>Finding</a:t>
                      </a:r>
                    </a:p>
                  </a:txBody>
                  <a:tcPr marL="95250" marR="95250" marT="66675" marB="66675" anchor="ctr">
                    <a:solidFill>
                      <a:srgbClr val="11263F"/>
                    </a:solidFill>
                  </a:tcPr>
                </a:tc>
                <a:tc>
                  <a:txBody>
                    <a:bodyPr/>
                    <a:lstStyle/>
                    <a:p>
                      <a:pPr algn="l"/>
                      <a:r>
                        <a:rPr sz="1125" b="1">
                          <a:solidFill>
                            <a:srgbClr val="FFFFFF"/>
                          </a:solidFill>
                          <a:latin typeface="Arial"/>
                          <a:ea typeface="Arial"/>
                          <a:cs typeface="Arial"/>
                        </a:rPr>
                        <a:t>Observed groups</a:t>
                      </a:r>
                    </a:p>
                  </a:txBody>
                  <a:tcPr marL="95250" marR="95250" marT="66675" marB="66675" anchor="ctr">
                    <a:solidFill>
                      <a:srgbClr val="11263F"/>
                    </a:solidFill>
                  </a:tcPr>
                </a:tc>
                <a:tc>
                  <a:txBody>
                    <a:bodyPr/>
                    <a:lstStyle/>
                    <a:p>
                      <a:pPr algn="l"/>
                      <a:r>
                        <a:rPr sz="1125" b="1">
                          <a:solidFill>
                            <a:srgbClr val="FFFFFF"/>
                          </a:solidFill>
                          <a:latin typeface="Arial"/>
                          <a:ea typeface="Arial"/>
                          <a:cs typeface="Arial"/>
                        </a:rPr>
                        <a:t>Gene and mitochondrial connection</a:t>
                      </a:r>
                    </a:p>
                  </a:txBody>
                  <a:tcPr marL="95250" marR="95250" marT="66675" marB="66675" anchor="ctr">
                    <a:solidFill>
                      <a:srgbClr val="11263F"/>
                    </a:solidFill>
                  </a:tcPr>
                </a:tc>
                <a:tc>
                  <a:txBody>
                    <a:bodyPr/>
                    <a:lstStyle/>
                    <a:p>
                      <a:pPr algn="ctr"/>
                      <a:r>
                        <a:rPr sz="1125" b="1">
                          <a:solidFill>
                            <a:srgbClr val="FFFFFF"/>
                          </a:solidFill>
                          <a:latin typeface="Arial"/>
                          <a:ea typeface="Arial"/>
                          <a:cs typeface="Arial"/>
                        </a:rPr>
                        <a:t>Novelty</a:t>
                      </a:r>
                    </a:p>
                  </a:txBody>
                  <a:tcPr marL="95250" marR="95250" marT="66675" marB="66675" anchor="ctr">
                    <a:solidFill>
                      <a:srgbClr val="11263F"/>
                    </a:solidFill>
                  </a:tcPr>
                </a:tc>
                <a:extLst>
                  <a:ext uri="{0D108BD9-81ED-4DB2-BD59-A6C34878D82A}">
                    <a16:rowId xmlns:a16="http://schemas.microsoft.com/office/drawing/2014/main" val="10000"/>
                  </a:ext>
                </a:extLst>
              </a:tr>
              <a:tr h="779145">
                <a:tc>
                  <a:txBody>
                    <a:bodyPr/>
                    <a:lstStyle/>
                    <a:p>
                      <a:pPr algn="ctr"/>
                      <a:r>
                        <a:rPr sz="1125" b="1">
                          <a:solidFill>
                            <a:srgbClr val="FFFFFF"/>
                          </a:solidFill>
                          <a:latin typeface="Arial"/>
                          <a:ea typeface="Arial"/>
                          <a:cs typeface="Arial"/>
                        </a:rPr>
                        <a:t>8</a:t>
                      </a:r>
                    </a:p>
                  </a:txBody>
                  <a:tcPr marL="95250" marR="95250" marT="66675" marB="66675" anchor="ctr">
                    <a:solidFill>
                      <a:srgbClr val="00856F"/>
                    </a:solidFill>
                  </a:tcPr>
                </a:tc>
                <a:tc>
                  <a:txBody>
                    <a:bodyPr/>
                    <a:lstStyle/>
                    <a:p>
                      <a:pPr algn="l"/>
                      <a:r>
                        <a:rPr sz="1125">
                          <a:solidFill>
                            <a:srgbClr val="1F2D3D"/>
                          </a:solidFill>
                          <a:latin typeface="Arial"/>
                          <a:ea typeface="Arial"/>
                          <a:cs typeface="Arial"/>
                        </a:rPr>
                        <a:t>F ε2, F ε3/ε3, F ε4, M ε2</a:t>
                      </a:r>
                    </a:p>
                  </a:txBody>
                  <a:tcPr marL="95250" marR="95250" marT="66675" marB="66675" anchor="ctr">
                    <a:solidFill>
                      <a:srgbClr val="FFFFFF"/>
                    </a:solidFill>
                  </a:tcPr>
                </a:tc>
                <a:tc>
                  <a:txBody>
                    <a:bodyPr/>
                    <a:lstStyle/>
                    <a:p>
                      <a:pPr algn="l"/>
                      <a:r>
                        <a:rPr sz="1125">
                          <a:solidFill>
                            <a:srgbClr val="1F2D3D"/>
                          </a:solidFill>
                          <a:latin typeface="Arial"/>
                          <a:ea typeface="Arial"/>
                          <a:cs typeface="Arial"/>
                        </a:rPr>
                        <a:t>LAMTOR5 connects genes that sense nutrients at lysosomes, the cell’s recycling compartments, with OXPHOS genes.</a:t>
                      </a:r>
                    </a:p>
                  </a:txBody>
                  <a:tcPr marL="95250" marR="95250" marT="66675" marB="66675" anchor="ctr">
                    <a:solidFill>
                      <a:srgbClr val="FFFFFF"/>
                    </a:solidFill>
                  </a:tcPr>
                </a:tc>
                <a:tc>
                  <a:txBody>
                    <a:bodyPr/>
                    <a:lstStyle/>
                    <a:p>
                      <a:pPr algn="ctr"/>
                      <a:r>
                        <a:rPr sz="1125" b="1">
                          <a:solidFill>
                            <a:srgbClr val="8A4A00"/>
                          </a:solidFill>
                          <a:latin typeface="Arial"/>
                          <a:ea typeface="Arial"/>
                          <a:cs typeface="Arial"/>
                        </a:rPr>
                        <a:t>High</a:t>
                      </a:r>
                    </a:p>
                  </a:txBody>
                  <a:tcPr marL="95250" marR="95250" marT="66675" marB="66675" anchor="ctr">
                    <a:solidFill>
                      <a:srgbClr val="FFF1CE"/>
                    </a:solidFill>
                  </a:tcPr>
                </a:tc>
                <a:extLst>
                  <a:ext uri="{0D108BD9-81ED-4DB2-BD59-A6C34878D82A}">
                    <a16:rowId xmlns:a16="http://schemas.microsoft.com/office/drawing/2014/main" val="10001"/>
                  </a:ext>
                </a:extLst>
              </a:tr>
              <a:tr h="779145">
                <a:tc>
                  <a:txBody>
                    <a:bodyPr/>
                    <a:lstStyle/>
                    <a:p>
                      <a:pPr algn="ctr"/>
                      <a:r>
                        <a:rPr sz="1125" b="1">
                          <a:solidFill>
                            <a:srgbClr val="FFFFFF"/>
                          </a:solidFill>
                          <a:latin typeface="Arial"/>
                          <a:ea typeface="Arial"/>
                          <a:cs typeface="Arial"/>
                        </a:rPr>
                        <a:t>9</a:t>
                      </a:r>
                    </a:p>
                  </a:txBody>
                  <a:tcPr marL="95250" marR="95250" marT="66675" marB="66675" anchor="ctr">
                    <a:solidFill>
                      <a:srgbClr val="00856F"/>
                    </a:solidFill>
                  </a:tcPr>
                </a:tc>
                <a:tc>
                  <a:txBody>
                    <a:bodyPr/>
                    <a:lstStyle/>
                    <a:p>
                      <a:pPr algn="l"/>
                      <a:r>
                        <a:rPr sz="1125">
                          <a:solidFill>
                            <a:srgbClr val="1F2D3D"/>
                          </a:solidFill>
                          <a:latin typeface="Arial"/>
                          <a:ea typeface="Arial"/>
                          <a:cs typeface="Arial"/>
                        </a:rPr>
                        <a:t>F ε2, F ε3/ε3, M ε3/ε3, M ε4</a:t>
                      </a:r>
                    </a:p>
                  </a:txBody>
                  <a:tcPr marL="95250" marR="95250" marT="66675" marB="66675" anchor="ctr">
                    <a:solidFill>
                      <a:srgbClr val="F7FAFD"/>
                    </a:solidFill>
                  </a:tcPr>
                </a:tc>
                <a:tc>
                  <a:txBody>
                    <a:bodyPr/>
                    <a:lstStyle/>
                    <a:p>
                      <a:pPr algn="l"/>
                      <a:r>
                        <a:rPr sz="1125">
                          <a:solidFill>
                            <a:srgbClr val="1F2D3D"/>
                          </a:solidFill>
                          <a:latin typeface="Arial"/>
                          <a:ea typeface="Arial"/>
                          <a:cs typeface="Arial"/>
                        </a:rPr>
                        <a:t>WDR82 is connected in the network to a small set of core MT genes that are upregulated in AD in excitatory neurons.</a:t>
                      </a:r>
                    </a:p>
                  </a:txBody>
                  <a:tcPr marL="95250" marR="95250" marT="66675" marB="66675" anchor="ctr">
                    <a:solidFill>
                      <a:srgbClr val="F7FAFD"/>
                    </a:solidFill>
                  </a:tcPr>
                </a:tc>
                <a:tc>
                  <a:txBody>
                    <a:bodyPr/>
                    <a:lstStyle/>
                    <a:p>
                      <a:pPr algn="ctr"/>
                      <a:r>
                        <a:rPr sz="1125" b="1">
                          <a:solidFill>
                            <a:srgbClr val="8A4A00"/>
                          </a:solidFill>
                          <a:latin typeface="Arial"/>
                          <a:ea typeface="Arial"/>
                          <a:cs typeface="Arial"/>
                        </a:rPr>
                        <a:t>High</a:t>
                      </a:r>
                    </a:p>
                  </a:txBody>
                  <a:tcPr marL="95250" marR="95250" marT="66675" marB="66675" anchor="ctr">
                    <a:solidFill>
                      <a:srgbClr val="FFF1CE"/>
                    </a:solidFill>
                  </a:tcPr>
                </a:tc>
                <a:extLst>
                  <a:ext uri="{0D108BD9-81ED-4DB2-BD59-A6C34878D82A}">
                    <a16:rowId xmlns:a16="http://schemas.microsoft.com/office/drawing/2014/main" val="10002"/>
                  </a:ext>
                </a:extLst>
              </a:tr>
              <a:tr h="779145">
                <a:tc>
                  <a:txBody>
                    <a:bodyPr/>
                    <a:lstStyle/>
                    <a:p>
                      <a:pPr algn="ctr"/>
                      <a:r>
                        <a:rPr sz="1125" b="1">
                          <a:solidFill>
                            <a:srgbClr val="FFFFFF"/>
                          </a:solidFill>
                          <a:latin typeface="Arial"/>
                          <a:ea typeface="Arial"/>
                          <a:cs typeface="Arial"/>
                        </a:rPr>
                        <a:t>11</a:t>
                      </a:r>
                    </a:p>
                  </a:txBody>
                  <a:tcPr marL="95250" marR="95250" marT="66675" marB="66675" anchor="ctr">
                    <a:solidFill>
                      <a:srgbClr val="00856F"/>
                    </a:solidFill>
                  </a:tcPr>
                </a:tc>
                <a:tc>
                  <a:txBody>
                    <a:bodyPr/>
                    <a:lstStyle/>
                    <a:p>
                      <a:pPr algn="l"/>
                      <a:r>
                        <a:rPr sz="1125">
                          <a:solidFill>
                            <a:srgbClr val="1F2D3D"/>
                          </a:solidFill>
                          <a:latin typeface="Arial"/>
                          <a:ea typeface="Arial"/>
                          <a:cs typeface="Arial"/>
                        </a:rPr>
                        <a:t>F ε2, F ε4, M ε2, M ε3/ε3</a:t>
                      </a:r>
                    </a:p>
                  </a:txBody>
                  <a:tcPr marL="95250" marR="95250" marT="66675" marB="66675" anchor="ctr">
                    <a:solidFill>
                      <a:srgbClr val="FFFFFF"/>
                    </a:solidFill>
                  </a:tcPr>
                </a:tc>
                <a:tc>
                  <a:txBody>
                    <a:bodyPr/>
                    <a:lstStyle/>
                    <a:p>
                      <a:pPr algn="l"/>
                      <a:r>
                        <a:rPr sz="1125">
                          <a:solidFill>
                            <a:srgbClr val="1F2D3D"/>
                          </a:solidFill>
                          <a:latin typeface="Arial"/>
                          <a:ea typeface="Arial"/>
                          <a:cs typeface="Arial"/>
                        </a:rPr>
                        <a:t>SELENOW, a gene involved in controlling oxidative stress, was connected to genes involved in mitochondrial respiration, protein production, and removal of damaged mitochondrial proteins.</a:t>
                      </a:r>
                    </a:p>
                  </a:txBody>
                  <a:tcPr marL="95250" marR="95250" marT="66675" marB="66675" anchor="ctr">
                    <a:solidFill>
                      <a:srgbClr val="FFFFFF"/>
                    </a:solidFill>
                  </a:tcPr>
                </a:tc>
                <a:tc>
                  <a:txBody>
                    <a:bodyPr/>
                    <a:lstStyle/>
                    <a:p>
                      <a:pPr algn="ctr"/>
                      <a:r>
                        <a:rPr sz="1125" b="1">
                          <a:solidFill>
                            <a:srgbClr val="005E82"/>
                          </a:solidFill>
                          <a:latin typeface="Arial"/>
                          <a:ea typeface="Arial"/>
                          <a:cs typeface="Arial"/>
                        </a:rPr>
                        <a:t>Moderate</a:t>
                      </a:r>
                    </a:p>
                  </a:txBody>
                  <a:tcPr marL="95250" marR="95250" marT="66675" marB="66675" anchor="ctr">
                    <a:solidFill>
                      <a:srgbClr val="E5F2FA"/>
                    </a:solidFill>
                  </a:tcPr>
                </a:tc>
                <a:extLst>
                  <a:ext uri="{0D108BD9-81ED-4DB2-BD59-A6C34878D82A}">
                    <a16:rowId xmlns:a16="http://schemas.microsoft.com/office/drawing/2014/main" val="10003"/>
                  </a:ext>
                </a:extLst>
              </a:tr>
              <a:tr h="779145">
                <a:tc>
                  <a:txBody>
                    <a:bodyPr/>
                    <a:lstStyle/>
                    <a:p>
                      <a:pPr algn="ctr"/>
                      <a:r>
                        <a:rPr sz="1125" b="1">
                          <a:solidFill>
                            <a:srgbClr val="FFFFFF"/>
                          </a:solidFill>
                          <a:latin typeface="Arial"/>
                          <a:ea typeface="Arial"/>
                          <a:cs typeface="Arial"/>
                        </a:rPr>
                        <a:t>12</a:t>
                      </a:r>
                    </a:p>
                  </a:txBody>
                  <a:tcPr marL="95250" marR="95250" marT="66675" marB="66675" anchor="ctr">
                    <a:solidFill>
                      <a:srgbClr val="00856F"/>
                    </a:solidFill>
                  </a:tcPr>
                </a:tc>
                <a:tc>
                  <a:txBody>
                    <a:bodyPr/>
                    <a:lstStyle/>
                    <a:p>
                      <a:pPr algn="l"/>
                      <a:r>
                        <a:rPr sz="1125">
                          <a:solidFill>
                            <a:srgbClr val="1F2D3D"/>
                          </a:solidFill>
                          <a:latin typeface="Arial"/>
                          <a:ea typeface="Arial"/>
                          <a:cs typeface="Arial"/>
                        </a:rPr>
                        <a:t>F ε3/ε3, F ε4, M ε4</a:t>
                      </a:r>
                    </a:p>
                  </a:txBody>
                  <a:tcPr marL="95250" marR="95250" marT="66675" marB="66675" anchor="ctr">
                    <a:solidFill>
                      <a:srgbClr val="F7FAFD"/>
                    </a:solidFill>
                  </a:tcPr>
                </a:tc>
                <a:tc>
                  <a:txBody>
                    <a:bodyPr/>
                    <a:lstStyle/>
                    <a:p>
                      <a:pPr algn="l"/>
                      <a:r>
                        <a:rPr sz="1125">
                          <a:solidFill>
                            <a:srgbClr val="1F2D3D"/>
                          </a:solidFill>
                          <a:latin typeface="Arial"/>
                          <a:ea typeface="Arial"/>
                          <a:cs typeface="Arial"/>
                        </a:rPr>
                        <a:t>PGK1 connects astrocyte glycolysis and low-oxygen signaling with genes involved in removing damaged mitochondria.</a:t>
                      </a:r>
                    </a:p>
                  </a:txBody>
                  <a:tcPr marL="95250" marR="95250" marT="66675" marB="66675" anchor="ctr">
                    <a:solidFill>
                      <a:srgbClr val="F7FAFD"/>
                    </a:solidFill>
                  </a:tcPr>
                </a:tc>
                <a:tc>
                  <a:txBody>
                    <a:bodyPr/>
                    <a:lstStyle/>
                    <a:p>
                      <a:pPr algn="ctr"/>
                      <a:r>
                        <a:rPr sz="1125" b="1">
                          <a:solidFill>
                            <a:srgbClr val="005E82"/>
                          </a:solidFill>
                          <a:latin typeface="Arial"/>
                          <a:ea typeface="Arial"/>
                          <a:cs typeface="Arial"/>
                        </a:rPr>
                        <a:t>Moderate</a:t>
                      </a:r>
                    </a:p>
                  </a:txBody>
                  <a:tcPr marL="95250" marR="95250" marT="66675" marB="66675" anchor="ctr">
                    <a:solidFill>
                      <a:srgbClr val="E5F2FA"/>
                    </a:solidFill>
                  </a:tcPr>
                </a:tc>
                <a:extLst>
                  <a:ext uri="{0D108BD9-81ED-4DB2-BD59-A6C34878D82A}">
                    <a16:rowId xmlns:a16="http://schemas.microsoft.com/office/drawing/2014/main" val="10004"/>
                  </a:ext>
                </a:extLst>
              </a:tr>
              <a:tr h="779145">
                <a:tc>
                  <a:txBody>
                    <a:bodyPr/>
                    <a:lstStyle/>
                    <a:p>
                      <a:pPr algn="ctr"/>
                      <a:r>
                        <a:rPr sz="1125" b="1">
                          <a:solidFill>
                            <a:srgbClr val="FFFFFF"/>
                          </a:solidFill>
                          <a:latin typeface="Arial"/>
                          <a:ea typeface="Arial"/>
                          <a:cs typeface="Arial"/>
                        </a:rPr>
                        <a:t>13</a:t>
                      </a:r>
                    </a:p>
                  </a:txBody>
                  <a:tcPr marL="95250" marR="95250" marT="66675" marB="66675" anchor="ctr">
                    <a:solidFill>
                      <a:srgbClr val="00856F"/>
                    </a:solidFill>
                  </a:tcPr>
                </a:tc>
                <a:tc>
                  <a:txBody>
                    <a:bodyPr/>
                    <a:lstStyle/>
                    <a:p>
                      <a:pPr algn="l"/>
                      <a:r>
                        <a:rPr sz="1125">
                          <a:solidFill>
                            <a:srgbClr val="1F2D3D"/>
                          </a:solidFill>
                          <a:latin typeface="Arial"/>
                          <a:ea typeface="Arial"/>
                          <a:cs typeface="Arial"/>
                        </a:rPr>
                        <a:t>F ε3/ε3, M ε2</a:t>
                      </a:r>
                    </a:p>
                  </a:txBody>
                  <a:tcPr marL="95250" marR="95250" marT="66675" marB="66675" anchor="ctr">
                    <a:solidFill>
                      <a:srgbClr val="FFFFFF"/>
                    </a:solidFill>
                  </a:tcPr>
                </a:tc>
                <a:tc>
                  <a:txBody>
                    <a:bodyPr/>
                    <a:lstStyle/>
                    <a:p>
                      <a:pPr algn="l"/>
                      <a:r>
                        <a:rPr sz="1125">
                          <a:solidFill>
                            <a:srgbClr val="1F2D3D"/>
                          </a:solidFill>
                          <a:latin typeface="Arial"/>
                          <a:ea typeface="Arial"/>
                          <a:cs typeface="Arial"/>
                        </a:rPr>
                        <a:t>FTL and ANKRD11 connect iron handling in oligodendrocyte precursor cells with genes that protect against oxidative damage and recycle damaged cell components.</a:t>
                      </a:r>
                    </a:p>
                  </a:txBody>
                  <a:tcPr marL="95250" marR="95250" marT="66675" marB="66675" anchor="ctr">
                    <a:solidFill>
                      <a:srgbClr val="FFFFFF"/>
                    </a:solidFill>
                  </a:tcPr>
                </a:tc>
                <a:tc>
                  <a:txBody>
                    <a:bodyPr/>
                    <a:lstStyle/>
                    <a:p>
                      <a:pPr algn="ctr"/>
                      <a:r>
                        <a:rPr sz="1125" b="1">
                          <a:solidFill>
                            <a:srgbClr val="8A4A00"/>
                          </a:solidFill>
                          <a:latin typeface="Arial"/>
                          <a:ea typeface="Arial"/>
                          <a:cs typeface="Arial"/>
                        </a:rPr>
                        <a:t>High</a:t>
                      </a:r>
                    </a:p>
                  </a:txBody>
                  <a:tcPr marL="95250" marR="95250" marT="66675" marB="66675" anchor="ctr">
                    <a:solidFill>
                      <a:srgbClr val="FFF1CE"/>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845506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5" name="Summary 4 Title">
            <a:extLst>
              <a:ext uri="{FF2B5EF4-FFF2-40B4-BE49-F238E27FC236}">
                <a16:creationId xmlns:a16="http://schemas.microsoft.com/office/drawing/2014/main" id="{97730554-4AA8-4C4C-8467-B11723976011}"/>
              </a:ext>
            </a:extLst>
          </p:cNvPr>
          <p:cNvSpPr>
            <a:spLocks noGrp="1"/>
          </p:cNvSpPr>
          <p:nvPr/>
        </p:nvSpPr>
        <p:spPr>
          <a:xfrm>
            <a:off x="609600" y="361950"/>
            <a:ext cx="10972800" cy="552450"/>
          </a:xfrm>
          <a:prstGeom prst="rect">
            <a:avLst/>
          </a:prstGeom>
          <a:noFill/>
          <a:ln w="0">
            <a:noFill/>
            <a:prstDash val="solid"/>
          </a:ln>
        </p:spPr>
        <p:txBody>
          <a:bodyPr wrap="square" lIns="0" tIns="0" rIns="0" bIns="0">
            <a:normAutofit/>
          </a:bodyPr>
          <a:lstStyle/>
          <a:p>
            <a:pPr algn="l">
              <a:buNone/>
              <a:defRPr sz="2250" b="1">
                <a:solidFill>
                  <a:srgbClr val="11263F"/>
                </a:solidFill>
                <a:latin typeface="Arial"/>
                <a:ea typeface="Arial"/>
                <a:cs typeface="Arial"/>
              </a:defRPr>
            </a:pPr>
            <a:r>
              <a:rPr sz="2250" b="1">
                <a:solidFill>
                  <a:srgbClr val="11263F"/>
                </a:solidFill>
                <a:latin typeface="Arial"/>
                <a:ea typeface="Arial"/>
                <a:cs typeface="Arial"/>
              </a:rPr>
              <a:t>Qualified sex/APOE-linked genes from KDA calls</a:t>
            </a:r>
          </a:p>
        </p:txBody>
      </p:sp>
      <p:sp>
        <p:nvSpPr>
          <p:cNvPr id="2" name="Summary 4 Subtitle">
            <a:extLst>
              <a:ext uri="{FF2B5EF4-FFF2-40B4-BE49-F238E27FC236}">
                <a16:creationId xmlns:a16="http://schemas.microsoft.com/office/drawing/2014/main" id="{23C9B292-3DA4-4C1F-B446-52B3CFF215A2}"/>
              </a:ext>
            </a:extLst>
          </p:cNvPr>
          <p:cNvSpPr>
            <a:spLocks noGrp="1"/>
          </p:cNvSpPr>
          <p:nvPr/>
        </p:nvSpPr>
        <p:spPr>
          <a:xfrm>
            <a:off x="628650" y="1000125"/>
            <a:ext cx="10934700" cy="419100"/>
          </a:xfrm>
          <a:prstGeom prst="rect">
            <a:avLst/>
          </a:prstGeom>
          <a:noFill/>
          <a:ln w="0">
            <a:noFill/>
            <a:prstDash val="solid"/>
          </a:ln>
        </p:spPr>
        <p:txBody>
          <a:bodyPr wrap="square" lIns="0" tIns="0" rIns="0" bIns="0">
            <a:normAutofit/>
          </a:bodyPr>
          <a:lstStyle/>
          <a:p>
            <a:pPr algn="l">
              <a:buNone/>
              <a:defRPr sz="1275">
                <a:solidFill>
                  <a:srgbClr val="536273"/>
                </a:solidFill>
                <a:latin typeface="Arial"/>
                <a:ea typeface="Arial"/>
                <a:cs typeface="Arial"/>
              </a:defRPr>
            </a:pPr>
            <a:r>
              <a:rPr sz="1275">
                <a:solidFill>
                  <a:srgbClr val="536273"/>
                </a:solidFill>
                <a:latin typeface="Arial"/>
                <a:ea typeface="Arial"/>
                <a:cs typeface="Arial"/>
              </a:rPr>
              <a:t>These findings remain useful, but each is based on few genes, few KDA calls, or patterns that change across groups.</a:t>
            </a:r>
          </a:p>
        </p:txBody>
      </p:sp>
      <p:sp>
        <p:nvSpPr>
          <p:cNvPr id="4" name="Summary 4 Footer">
            <a:extLst>
              <a:ext uri="{FF2B5EF4-FFF2-40B4-BE49-F238E27FC236}">
                <a16:creationId xmlns:a16="http://schemas.microsoft.com/office/drawing/2014/main" id="{5DE7F30A-4114-4783-9C10-6DF2E71538A9}"/>
              </a:ext>
            </a:extLst>
          </p:cNvPr>
          <p:cNvSpPr>
            <a:spLocks noGrp="1"/>
          </p:cNvSpPr>
          <p:nvPr/>
        </p:nvSpPr>
        <p:spPr>
          <a:xfrm>
            <a:off x="685800" y="6115050"/>
            <a:ext cx="10820400" cy="400050"/>
          </a:xfrm>
          <a:prstGeom prst="rect">
            <a:avLst/>
          </a:prstGeom>
          <a:noFill/>
          <a:ln w="0">
            <a:noFill/>
            <a:prstDash val="solid"/>
          </a:ln>
        </p:spPr>
        <p:txBody>
          <a:bodyPr wrap="square" lIns="0" tIns="0" rIns="0" bIns="0">
            <a:normAutofit/>
          </a:bodyPr>
          <a:lstStyle/>
          <a:p>
            <a:pPr algn="l">
              <a:buNone/>
              <a:defRPr sz="1200" b="1">
                <a:solidFill>
                  <a:srgbClr val="7D4FA1"/>
                </a:solidFill>
                <a:latin typeface="Arial"/>
                <a:ea typeface="Arial"/>
                <a:cs typeface="Arial"/>
              </a:defRPr>
            </a:pPr>
            <a:r>
              <a:rPr sz="1200" b="1">
                <a:solidFill>
                  <a:srgbClr val="7D4FA1"/>
                </a:solidFill>
                <a:latin typeface="Arial"/>
                <a:ea typeface="Arial"/>
                <a:cs typeface="Arial"/>
              </a:rPr>
              <a:t>Finding 18 remains secondary. INTS8 is a gene returned from one KDA call with Phase 19b genetic support.</a:t>
            </a:r>
          </a:p>
        </p:txBody>
      </p:sp>
      <p:graphicFrame>
        <p:nvGraphicFramePr>
          <p:cNvPr id="10" name="Summary 4 Table"/>
          <p:cNvGraphicFramePr/>
          <p:nvPr/>
        </p:nvGraphicFramePr>
        <p:xfrm>
          <a:off x="666750" y="1524000"/>
          <a:ext cx="10858500" cy="4391024"/>
        </p:xfrm>
        <a:graphic>
          <a:graphicData uri="http://schemas.openxmlformats.org/drawingml/2006/table">
            <a:tbl>
              <a:tblPr firstRow="1"/>
              <a:tblGrid>
                <a:gridCol w="809625">
                  <a:extLst>
                    <a:ext uri="{9D8B030D-6E8A-4147-A177-3AD203B41FA5}">
                      <a16:colId xmlns:a16="http://schemas.microsoft.com/office/drawing/2014/main" val="20000"/>
                    </a:ext>
                  </a:extLst>
                </a:gridCol>
                <a:gridCol w="2333625">
                  <a:extLst>
                    <a:ext uri="{9D8B030D-6E8A-4147-A177-3AD203B41FA5}">
                      <a16:colId xmlns:a16="http://schemas.microsoft.com/office/drawing/2014/main" val="20001"/>
                    </a:ext>
                  </a:extLst>
                </a:gridCol>
                <a:gridCol w="619125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495300">
                <a:tc>
                  <a:txBody>
                    <a:bodyPr/>
                    <a:lstStyle/>
                    <a:p>
                      <a:pPr algn="ctr"/>
                      <a:r>
                        <a:rPr sz="1125" b="1">
                          <a:solidFill>
                            <a:srgbClr val="FFFFFF"/>
                          </a:solidFill>
                          <a:latin typeface="Arial"/>
                          <a:ea typeface="Arial"/>
                          <a:cs typeface="Arial"/>
                        </a:rPr>
                        <a:t>Finding</a:t>
                      </a:r>
                    </a:p>
                  </a:txBody>
                  <a:tcPr marL="95250" marR="95250" marT="66675" marB="66675" anchor="ctr">
                    <a:solidFill>
                      <a:srgbClr val="11263F"/>
                    </a:solidFill>
                  </a:tcPr>
                </a:tc>
                <a:tc>
                  <a:txBody>
                    <a:bodyPr/>
                    <a:lstStyle/>
                    <a:p>
                      <a:pPr algn="l"/>
                      <a:r>
                        <a:rPr sz="1125" b="1">
                          <a:solidFill>
                            <a:srgbClr val="FFFFFF"/>
                          </a:solidFill>
                          <a:latin typeface="Arial"/>
                          <a:ea typeface="Arial"/>
                          <a:cs typeface="Arial"/>
                        </a:rPr>
                        <a:t>Observed groups</a:t>
                      </a:r>
                    </a:p>
                  </a:txBody>
                  <a:tcPr marL="95250" marR="95250" marT="66675" marB="66675" anchor="ctr">
                    <a:solidFill>
                      <a:srgbClr val="11263F"/>
                    </a:solidFill>
                  </a:tcPr>
                </a:tc>
                <a:tc>
                  <a:txBody>
                    <a:bodyPr/>
                    <a:lstStyle/>
                    <a:p>
                      <a:pPr algn="l"/>
                      <a:r>
                        <a:rPr sz="1125" b="1">
                          <a:solidFill>
                            <a:srgbClr val="FFFFFF"/>
                          </a:solidFill>
                          <a:latin typeface="Arial"/>
                          <a:ea typeface="Arial"/>
                          <a:cs typeface="Arial"/>
                        </a:rPr>
                        <a:t>Gene and main qualification</a:t>
                      </a:r>
                    </a:p>
                  </a:txBody>
                  <a:tcPr marL="95250" marR="95250" marT="66675" marB="66675" anchor="ctr">
                    <a:solidFill>
                      <a:srgbClr val="11263F"/>
                    </a:solidFill>
                  </a:tcPr>
                </a:tc>
                <a:tc>
                  <a:txBody>
                    <a:bodyPr/>
                    <a:lstStyle/>
                    <a:p>
                      <a:pPr algn="ctr"/>
                      <a:r>
                        <a:rPr sz="1125" b="1">
                          <a:solidFill>
                            <a:srgbClr val="FFFFFF"/>
                          </a:solidFill>
                          <a:latin typeface="Arial"/>
                          <a:ea typeface="Arial"/>
                          <a:cs typeface="Arial"/>
                        </a:rPr>
                        <a:t>Novelty</a:t>
                      </a:r>
                    </a:p>
                  </a:txBody>
                  <a:tcPr marL="95250" marR="95250" marT="66675" marB="66675" anchor="ctr">
                    <a:solidFill>
                      <a:srgbClr val="11263F"/>
                    </a:solidFill>
                  </a:tcPr>
                </a:tc>
                <a:extLst>
                  <a:ext uri="{0D108BD9-81ED-4DB2-BD59-A6C34878D82A}">
                    <a16:rowId xmlns:a16="http://schemas.microsoft.com/office/drawing/2014/main" val="10000"/>
                  </a:ext>
                </a:extLst>
              </a:tr>
              <a:tr h="973931">
                <a:tc>
                  <a:txBody>
                    <a:bodyPr/>
                    <a:lstStyle/>
                    <a:p>
                      <a:pPr algn="ctr"/>
                      <a:r>
                        <a:rPr sz="1125" b="1">
                          <a:solidFill>
                            <a:srgbClr val="FFFFFF"/>
                          </a:solidFill>
                          <a:latin typeface="Arial"/>
                          <a:ea typeface="Arial"/>
                          <a:cs typeface="Arial"/>
                        </a:rPr>
                        <a:t>14</a:t>
                      </a:r>
                    </a:p>
                  </a:txBody>
                  <a:tcPr marL="95250" marR="95250" marT="66675" marB="66675" anchor="ctr">
                    <a:solidFill>
                      <a:srgbClr val="B86100"/>
                    </a:solidFill>
                  </a:tcPr>
                </a:tc>
                <a:tc>
                  <a:txBody>
                    <a:bodyPr/>
                    <a:lstStyle/>
                    <a:p>
                      <a:pPr algn="l"/>
                      <a:r>
                        <a:rPr sz="1125">
                          <a:solidFill>
                            <a:srgbClr val="1F2D3D"/>
                          </a:solidFill>
                          <a:latin typeface="Arial"/>
                          <a:ea typeface="Arial"/>
                          <a:cs typeface="Arial"/>
                        </a:rPr>
                        <a:t>Female ε2, ε3/ε3, and ε4</a:t>
                      </a:r>
                    </a:p>
                  </a:txBody>
                  <a:tcPr marL="95250" marR="95250" marT="66675" marB="66675" anchor="ctr">
                    <a:solidFill>
                      <a:srgbClr val="FFFFFF"/>
                    </a:solidFill>
                  </a:tcPr>
                </a:tc>
                <a:tc>
                  <a:txBody>
                    <a:bodyPr/>
                    <a:lstStyle/>
                    <a:p>
                      <a:pPr algn="l"/>
                      <a:r>
                        <a:rPr sz="1125">
                          <a:solidFill>
                            <a:srgbClr val="1F2D3D"/>
                          </a:solidFill>
                          <a:latin typeface="Arial"/>
                          <a:ea typeface="Arial"/>
                          <a:cs typeface="Arial"/>
                        </a:rPr>
                        <a:t>PLCG2 has strong AD genetic evidence, but only one MitoCarta MT gene, MT-CO1, was connected to it in the KDA result.</a:t>
                      </a:r>
                    </a:p>
                  </a:txBody>
                  <a:tcPr marL="95250" marR="95250" marT="66675" marB="66675" anchor="ctr">
                    <a:solidFill>
                      <a:srgbClr val="FFFFFF"/>
                    </a:solidFill>
                  </a:tcPr>
                </a:tc>
                <a:tc>
                  <a:txBody>
                    <a:bodyPr/>
                    <a:lstStyle/>
                    <a:p>
                      <a:pPr algn="ctr"/>
                      <a:r>
                        <a:rPr sz="1125" b="1">
                          <a:solidFill>
                            <a:srgbClr val="8A4A00"/>
                          </a:solidFill>
                          <a:latin typeface="Arial"/>
                          <a:ea typeface="Arial"/>
                          <a:cs typeface="Arial"/>
                        </a:rPr>
                        <a:t>High</a:t>
                      </a:r>
                    </a:p>
                  </a:txBody>
                  <a:tcPr marL="95250" marR="95250" marT="66675" marB="66675" anchor="ctr">
                    <a:solidFill>
                      <a:srgbClr val="FFF1CE"/>
                    </a:solidFill>
                  </a:tcPr>
                </a:tc>
                <a:extLst>
                  <a:ext uri="{0D108BD9-81ED-4DB2-BD59-A6C34878D82A}">
                    <a16:rowId xmlns:a16="http://schemas.microsoft.com/office/drawing/2014/main" val="10001"/>
                  </a:ext>
                </a:extLst>
              </a:tr>
              <a:tr h="973931">
                <a:tc>
                  <a:txBody>
                    <a:bodyPr/>
                    <a:lstStyle/>
                    <a:p>
                      <a:pPr algn="ctr"/>
                      <a:r>
                        <a:rPr sz="1125" b="1">
                          <a:solidFill>
                            <a:srgbClr val="FFFFFF"/>
                          </a:solidFill>
                          <a:latin typeface="Arial"/>
                          <a:ea typeface="Arial"/>
                          <a:cs typeface="Arial"/>
                        </a:rPr>
                        <a:t>15</a:t>
                      </a:r>
                    </a:p>
                  </a:txBody>
                  <a:tcPr marL="95250" marR="95250" marT="66675" marB="66675" anchor="ctr">
                    <a:solidFill>
                      <a:srgbClr val="B86100"/>
                    </a:solidFill>
                  </a:tcPr>
                </a:tc>
                <a:tc>
                  <a:txBody>
                    <a:bodyPr/>
                    <a:lstStyle/>
                    <a:p>
                      <a:pPr algn="l"/>
                      <a:r>
                        <a:rPr sz="1125">
                          <a:solidFill>
                            <a:srgbClr val="1F2D3D"/>
                          </a:solidFill>
                          <a:latin typeface="Arial"/>
                          <a:ea typeface="Arial"/>
                          <a:cs typeface="Arial"/>
                        </a:rPr>
                        <a:t>F ε2, M ε2, M ε4</a:t>
                      </a:r>
                    </a:p>
                  </a:txBody>
                  <a:tcPr marL="95250" marR="95250" marT="66675" marB="66675" anchor="ctr">
                    <a:solidFill>
                      <a:srgbClr val="F7FAFD"/>
                    </a:solidFill>
                  </a:tcPr>
                </a:tc>
                <a:tc>
                  <a:txBody>
                    <a:bodyPr/>
                    <a:lstStyle/>
                    <a:p>
                      <a:pPr algn="l"/>
                      <a:r>
                        <a:rPr sz="1125">
                          <a:solidFill>
                            <a:srgbClr val="1F2D3D"/>
                          </a:solidFill>
                          <a:latin typeface="Arial"/>
                          <a:ea typeface="Arial"/>
                          <a:cs typeface="Arial"/>
                        </a:rPr>
                        <a:t>Astrocyte APOE expression changes in opposite directions across groups, so the result is not specific to ε4.</a:t>
                      </a:r>
                    </a:p>
                  </a:txBody>
                  <a:tcPr marL="95250" marR="95250" marT="66675" marB="66675" anchor="ctr">
                    <a:solidFill>
                      <a:srgbClr val="F7FAFD"/>
                    </a:solidFill>
                  </a:tcPr>
                </a:tc>
                <a:tc>
                  <a:txBody>
                    <a:bodyPr/>
                    <a:lstStyle/>
                    <a:p>
                      <a:pPr algn="ctr"/>
                      <a:r>
                        <a:rPr sz="1125" b="1">
                          <a:solidFill>
                            <a:srgbClr val="005E82"/>
                          </a:solidFill>
                          <a:latin typeface="Arial"/>
                          <a:ea typeface="Arial"/>
                          <a:cs typeface="Arial"/>
                        </a:rPr>
                        <a:t>Moderate</a:t>
                      </a:r>
                    </a:p>
                  </a:txBody>
                  <a:tcPr marL="95250" marR="95250" marT="66675" marB="66675" anchor="ctr">
                    <a:solidFill>
                      <a:srgbClr val="E5F2FA"/>
                    </a:solidFill>
                  </a:tcPr>
                </a:tc>
                <a:extLst>
                  <a:ext uri="{0D108BD9-81ED-4DB2-BD59-A6C34878D82A}">
                    <a16:rowId xmlns:a16="http://schemas.microsoft.com/office/drawing/2014/main" val="10002"/>
                  </a:ext>
                </a:extLst>
              </a:tr>
              <a:tr h="973931">
                <a:tc>
                  <a:txBody>
                    <a:bodyPr/>
                    <a:lstStyle/>
                    <a:p>
                      <a:pPr algn="ctr"/>
                      <a:r>
                        <a:rPr sz="1125" b="1">
                          <a:solidFill>
                            <a:srgbClr val="FFFFFF"/>
                          </a:solidFill>
                          <a:latin typeface="Arial"/>
                          <a:ea typeface="Arial"/>
                          <a:cs typeface="Arial"/>
                        </a:rPr>
                        <a:t>16</a:t>
                      </a:r>
                    </a:p>
                  </a:txBody>
                  <a:tcPr marL="95250" marR="95250" marT="66675" marB="66675" anchor="ctr">
                    <a:solidFill>
                      <a:srgbClr val="B86100"/>
                    </a:solidFill>
                  </a:tcPr>
                </a:tc>
                <a:tc>
                  <a:txBody>
                    <a:bodyPr/>
                    <a:lstStyle/>
                    <a:p>
                      <a:pPr algn="l"/>
                      <a:r>
                        <a:rPr sz="1125">
                          <a:solidFill>
                            <a:srgbClr val="1F2D3D"/>
                          </a:solidFill>
                          <a:latin typeface="Arial"/>
                          <a:ea typeface="Arial"/>
                          <a:cs typeface="Arial"/>
                        </a:rPr>
                        <a:t>Female ε4</a:t>
                      </a:r>
                    </a:p>
                  </a:txBody>
                  <a:tcPr marL="95250" marR="95250" marT="66675" marB="66675" anchor="ctr">
                    <a:solidFill>
                      <a:srgbClr val="FFFFFF"/>
                    </a:solidFill>
                  </a:tcPr>
                </a:tc>
                <a:tc>
                  <a:txBody>
                    <a:bodyPr/>
                    <a:lstStyle/>
                    <a:p>
                      <a:pPr algn="l"/>
                      <a:r>
                        <a:rPr sz="1125">
                          <a:solidFill>
                            <a:srgbClr val="1F2D3D"/>
                          </a:solidFill>
                          <a:latin typeface="Arial"/>
                          <a:ea typeface="Arial"/>
                          <a:cs typeface="Arial"/>
                        </a:rPr>
                        <a:t>A small group of genes that respond to protein damage and cellular stress appears in only two female ε4 vascular-cell KDA calls.</a:t>
                      </a:r>
                    </a:p>
                  </a:txBody>
                  <a:tcPr marL="95250" marR="95250" marT="66675" marB="66675" anchor="ctr">
                    <a:solidFill>
                      <a:srgbClr val="FFFFFF"/>
                    </a:solidFill>
                  </a:tcPr>
                </a:tc>
                <a:tc>
                  <a:txBody>
                    <a:bodyPr/>
                    <a:lstStyle/>
                    <a:p>
                      <a:pPr algn="ctr"/>
                      <a:r>
                        <a:rPr sz="1125" b="1">
                          <a:solidFill>
                            <a:srgbClr val="005E82"/>
                          </a:solidFill>
                          <a:latin typeface="Arial"/>
                          <a:ea typeface="Arial"/>
                          <a:cs typeface="Arial"/>
                        </a:rPr>
                        <a:t>Moderate</a:t>
                      </a:r>
                    </a:p>
                  </a:txBody>
                  <a:tcPr marL="95250" marR="95250" marT="66675" marB="66675" anchor="ctr">
                    <a:solidFill>
                      <a:srgbClr val="E5F2FA"/>
                    </a:solidFill>
                  </a:tcPr>
                </a:tc>
                <a:extLst>
                  <a:ext uri="{0D108BD9-81ED-4DB2-BD59-A6C34878D82A}">
                    <a16:rowId xmlns:a16="http://schemas.microsoft.com/office/drawing/2014/main" val="10003"/>
                  </a:ext>
                </a:extLst>
              </a:tr>
              <a:tr h="973931">
                <a:tc>
                  <a:txBody>
                    <a:bodyPr/>
                    <a:lstStyle/>
                    <a:p>
                      <a:pPr algn="ctr"/>
                      <a:r>
                        <a:rPr sz="1125" b="1">
                          <a:solidFill>
                            <a:srgbClr val="FFFFFF"/>
                          </a:solidFill>
                          <a:latin typeface="Arial"/>
                          <a:ea typeface="Arial"/>
                          <a:cs typeface="Arial"/>
                        </a:rPr>
                        <a:t>18</a:t>
                      </a:r>
                    </a:p>
                  </a:txBody>
                  <a:tcPr marL="95250" marR="95250" marT="66675" marB="66675" anchor="ctr">
                    <a:solidFill>
                      <a:srgbClr val="B86100"/>
                    </a:solidFill>
                  </a:tcPr>
                </a:tc>
                <a:tc>
                  <a:txBody>
                    <a:bodyPr/>
                    <a:lstStyle/>
                    <a:p>
                      <a:pPr algn="l"/>
                      <a:r>
                        <a:rPr sz="1125">
                          <a:solidFill>
                            <a:srgbClr val="1F2D3D"/>
                          </a:solidFill>
                          <a:latin typeface="Arial"/>
                          <a:ea typeface="Arial"/>
                          <a:cs typeface="Arial"/>
                        </a:rPr>
                        <a:t>Male ε2</a:t>
                      </a:r>
                    </a:p>
                  </a:txBody>
                  <a:tcPr marL="95250" marR="95250" marT="66675" marB="66675" anchor="ctr">
                    <a:solidFill>
                      <a:srgbClr val="F7FAFD"/>
                    </a:solidFill>
                  </a:tcPr>
                </a:tc>
                <a:tc>
                  <a:txBody>
                    <a:bodyPr/>
                    <a:lstStyle/>
                    <a:p>
                      <a:pPr algn="l"/>
                      <a:r>
                        <a:rPr sz="1125">
                          <a:solidFill>
                            <a:srgbClr val="1F2D3D"/>
                          </a:solidFill>
                          <a:latin typeface="Arial"/>
                          <a:ea typeface="Arial"/>
                          <a:cs typeface="Arial"/>
                        </a:rPr>
                        <a:t>INTS8 was returned from one inhibitory-neuron KDA call. Human genetics supports follow-up, but it was not returned from additional KDA calls.</a:t>
                      </a:r>
                    </a:p>
                  </a:txBody>
                  <a:tcPr marL="95250" marR="95250" marT="66675" marB="66675" anchor="ctr">
                    <a:solidFill>
                      <a:srgbClr val="F7FAFD"/>
                    </a:solidFill>
                  </a:tcPr>
                </a:tc>
                <a:tc>
                  <a:txBody>
                    <a:bodyPr/>
                    <a:lstStyle/>
                    <a:p>
                      <a:pPr algn="ctr"/>
                      <a:r>
                        <a:rPr sz="1125" b="1">
                          <a:solidFill>
                            <a:srgbClr val="005E82"/>
                          </a:solidFill>
                          <a:latin typeface="Arial"/>
                          <a:ea typeface="Arial"/>
                          <a:cs typeface="Arial"/>
                        </a:rPr>
                        <a:t>Moderate</a:t>
                      </a:r>
                    </a:p>
                  </a:txBody>
                  <a:tcPr marL="95250" marR="95250" marT="66675" marB="66675" anchor="ctr">
                    <a:solidFill>
                      <a:srgbClr val="E5F2FA"/>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6423451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208</TotalTime>
  <Words>12326</Words>
  <Application>Microsoft Macintosh PowerPoint</Application>
  <DocSecurity>0</DocSecurity>
  <PresentationFormat>Widescreen</PresentationFormat>
  <Paragraphs>1063</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Richard Zhuang</cp:lastModifiedBy>
  <cp:revision>70</cp:revision>
  <dcterms:created xsi:type="dcterms:W3CDTF">2026-09-20T15:55:40Z</dcterms:created>
  <dcterms:modified xsi:type="dcterms:W3CDTF">2026-09-23T13:35:22Z</dcterms:modified>
</cp:coreProperties>
</file>