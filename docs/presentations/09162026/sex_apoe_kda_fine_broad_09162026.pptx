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3" r:id="rId7"/>
    <p:sldId id="262" r:id="rId8"/>
    <p:sldId id="273" r:id="rId9"/>
    <p:sldId id="272" r:id="rId10"/>
    <p:sldId id="271"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31"/>
    <p:sldId id="289" r:id="rId32"/>
    <p:sldId id="290" r:id="rId33"/>
    <p:sldId id="291" r:id="rId34"/>
    <p:sldId id="292" r:id="rId35"/>
    <p:sldId id="293"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766"/>
    <p:restoredTop sz="97023"/>
  </p:normalViewPr>
  <p:slideViewPr>
    <p:cSldViewPr snapToGrid="0" snapToObjects="1">
      <p:cViewPr varScale="1">
        <p:scale>
          <a:sx n="149" d="100"/>
          <a:sy n="149" d="100"/>
        </p:scale>
        <p:origin x="184" y="4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1913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two cohorts and the matched returned-only aggregation rule.</a:t>
            </a:r>
          </a:p>
          <a:p>
            <a:endParaRPr/>
          </a:p>
          <a:p>
            <a:r>
              <a:t>Walk through: Part I summarizes the existing ROSMAP fine-cell reaggregation. Part II uses 34 newly rerun SEA-AD calls against SEA-AD-specific Bayesian networks and yields 96 non-MT gene-by-category units.</a:t>
            </a:r>
          </a:p>
          <a:p>
            <a:endParaRPr/>
          </a:p>
          <a:p>
            <a:r>
              <a:t>Scientific boundary: The SEA-AD rerun changes network topology as well as cohort, so differences from ROSMAP or the prior deck are not attributable to cohort biology alone.</a:t>
            </a:r>
          </a:p>
          <a:p>
            <a:endParaRPr/>
          </a:p>
          <a:p>
            <a:r>
              <a:t>Transition: Compare the cohort and run structures before reviewing each analysis branch.</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Give a concise side-by-side map of the ROSMAP and VH12 SEA-AD analyses.</a:t>
            </a:r>
          </a:p>
          <a:p>
            <a:endParaRPr/>
          </a:p>
          <a:p>
            <a:r>
              <a:t>Walk through: ROSMAP contributes 295 fine-cell runs and 689 units. The VH12 SEA-AD rerun contributes 34 active calls and 96 units from 94 genes, using the same returned-only non-MT ACAT aggregation recipe.</a:t>
            </a:r>
          </a:p>
          <a:p>
            <a:endParaRPr/>
          </a:p>
          <a:p>
            <a:r>
              <a:t>Scientific boundary: Thirty-two of 34 SEA-AD calls are M_e33. Categories without calls are unavailable, not completed null tests.</a:t>
            </a:r>
          </a:p>
          <a:p>
            <a:endParaRPr/>
          </a:p>
          <a:p>
            <a:r>
              <a:t>Transition: Review the ROSMAP branch first, then the network-specific SEA-AD rerun.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Introduce the fine-cell branch and its sequence from setup to results.</a:t>
            </a:r>
          </a:p>
          <a:p>
            <a:endParaRPr/>
          </a:p>
          <a:p>
            <a:r>
              <a:t>Walk through: The section first defines comparisons, directional slots, KDA calls, included runs, and final candidate units. It then explains DEG construction, run eligibility, complete evidence, coverage, support, ACAT, category BH, and display-only ranking.</a:t>
            </a:r>
          </a:p>
          <a:p>
            <a:endParaRPr/>
          </a:p>
          <a:p>
            <a:r>
              <a:t>Scientific boundary: The branch reconstructs complete evidence from the validated Phase 12 calls at effective query n ≥ 3; it does not rerun KDA or pool sex/APOE groups.</a:t>
            </a:r>
          </a:p>
          <a:p>
            <a:endParaRPr/>
          </a:p>
          <a:p>
            <a:r>
              <a:t>Transition: Start with the four counting units that appear in the funnel.</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Separate the comparison, slot, run, and candidate-unit concepts before showing counts.</a:t>
            </a:r>
          </a:p>
          <a:p>
            <a:endParaRPr/>
          </a:p>
          <a:p>
            <a:r>
              <a:t>Walk through: Move from left to right. A comparison is one model result. Its sign creates two planned slots. A slot becomes a KDA call when at least three effective query genes remain, and every validated completed call at that execution floor enters the cross-run aggregate. The final unit adds gene identity to group and broad network.</a:t>
            </a:r>
          </a:p>
          <a:p>
            <a:endParaRPr/>
          </a:p>
          <a:p>
            <a:r>
              <a:t>Scientific boundary: The word candidate does not mean mitochondrial DEG. Candidate drivers may be non-DEG, non-mitochondrial network genes.</a:t>
            </a:r>
          </a:p>
          <a:p>
            <a:endParaRPr/>
          </a:p>
          <a:p>
            <a:r>
              <a:t>Transition: Apply those definitions to the complete 648-slot run universe.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Show exactly how 648 planned slots become 295 included KDA runs.</a:t>
            </a:r>
          </a:p>
          <a:p>
            <a:endParaRPr/>
          </a:p>
          <a:p>
            <a:r>
              <a:t>Walk through: The rows are mutually exclusive outcomes derived from the canonical source manifest. Phase 12 calls KDA when at least three effective query genes remain. All 295 completed calls enter Phase 20, including 134 calls with query size three through nine and 161 with at least ten genes.</a:t>
            </a:r>
          </a:p>
          <a:p>
            <a:endParaRPr/>
          </a:p>
          <a:p>
            <a:r>
              <a:t>Scientific boundary: The 6 unavailable slots come from three non-estimable source contrasts times two directions. They are unavailable models, not completed tests with null results. The effective-query-zero row combines absent directional queries and complete loss during network mapping.</a:t>
            </a:r>
          </a:p>
          <a:p>
            <a:endParaRPr/>
          </a:p>
          <a:p>
            <a:r>
              <a:t>Transition: Zoom out once to see how the counting unit changes through the full fine-cell funnel.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Clarify the eligibility statuses and the canonical minimum of three effective query genes.</a:t>
            </a:r>
          </a:p>
          <a:p>
            <a:endParaRPr/>
          </a:p>
          <a:p>
            <a:r>
              <a:t>Walk through: A query of at least three genes allows the Phase 12 call and Phase 20 inclusion. The 134 calls with three through nine genes retain Phase 12's below-ten warning but are included alongside the 161 larger-query calls. The right panel gives the three concrete non-estimable comparisons and shows why they create six unavailable direction slots.</a:t>
            </a:r>
          </a:p>
          <a:p>
            <a:endParaRPr/>
          </a:p>
          <a:p>
            <a:r>
              <a:t>Scientific boundary: Small-query calls use the same KDA and support predicates as larger-query calls, but their smaller queries warrant cautious interpretation. Non-estimability is a data/model condition, not evidence against a biological effect.</a:t>
            </a:r>
          </a:p>
          <a:p>
            <a:endParaRPr/>
          </a:p>
          <a:p>
            <a:r>
              <a:t>Transition: With 295 runs fixed, inspect what one KDA call actually tests.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Explain how the mitochondrial KDA query is derived from the full fine-cell DEG analysis.</a:t>
            </a:r>
          </a:p>
          <a:p>
            <a:endParaRPr/>
          </a:p>
          <a:p>
            <a:r>
              <a:t>Walk through: The paper-DEG filters first act within each fine-cell by group comparison. Only passing core mitochondrial proteins in the requested sign become provisional query memberships. The matching broad network is induced on genes tested in that contrast, so out-of-background query memberships are removed before run eligibility is assessed.</a:t>
            </a:r>
          </a:p>
          <a:p>
            <a:endParaRPr/>
          </a:p>
          <a:p>
            <a:r>
              <a:t>Scientific boundary: These are membership counts, not unique-gene counts. A query membership also does not mean the gene will be a candidate driver.</a:t>
            </a:r>
          </a:p>
          <a:p>
            <a:endParaRPr/>
          </a:p>
          <a:p>
            <a:r>
              <a:t>Transition: Next distinguish source failure, an empty effective query, a one- or two-gene query, and the canonical three-gene execution floor.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the non-MT top-five display after excluding mitochondrial candidate drivers and recalculating display ranks.</a:t>
            </a:r>
          </a:p>
          <a:p>
            <a:endParaRPr/>
          </a:p>
          <a:p>
            <a:r>
              <a:t>Walk through: The figure contains 149 tiles across 32 categories. Blue means ACAT across at least two returned calls; orange means a one-call within-run BH q passthrough. Color identifies the calculation route, not an evidence tier.</a:t>
            </a:r>
          </a:p>
          <a:p>
            <a:endParaRPr/>
          </a:p>
          <a:p>
            <a:r>
              <a:t>Scientific boundary: Top five is a display cap, not a significance threshold. The returned-only score is post-selected and has no final across-gene BH adjustment; categories without a non-MT return are omitted.</a:t>
            </a:r>
          </a:p>
          <a:p>
            <a:endParaRPr/>
          </a:p>
          <a:p>
            <a:r>
              <a:t>Transition: The summary slide translates the displayed results into returned-row, category-unit, distinct-gene, and recurrence counts.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Interpret returned-only category recurrence without confusing category breadth, call count, and score construction.</a:t>
            </a:r>
          </a:p>
          <a:p>
            <a:endParaRPr/>
          </a:p>
          <a:p>
            <a:r>
              <a:t>Walk through: Bar length counts each sex/APOE by broad-cell category once. Fill counts the subset whose score combines at least two returned calls. RPS15 appears in 12 categories and RPL11 in 10; their total returned-call counts are 28 and 29, respectively.</a:t>
            </a:r>
          </a:p>
          <a:p>
            <a:endParaRPr/>
          </a:p>
          <a:p>
            <a:r>
              <a:t>Scientific boundary: Inputs were preselected stock-significant within-call q values. Fill shows the calculation route, not evidence strength. Recurrence is descriptive, not an independent replication or FDR-controlled significance test.</a:t>
            </a:r>
          </a:p>
          <a:p>
            <a:endParaRPr/>
          </a:p>
          <a:p>
            <a:r>
              <a:t>Transition: The next slide shows which non-MT genes rank in the top five within each populated category.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Teaching goal: Summarize the scale and distribution of the simple returned-only non-MT result set.</a:t>
            </a:r>
          </a:p>
          <a:p>
            <a:endParaRPr/>
          </a:p>
          <a:p>
            <a:r>
              <a:t>Walk through: The 1,033 non-MT returned call rows form 689 gene-by-category units representing 433 genes across 32 populated categories. The lower panels show where those units occur and the genes with the broadest category presence.</a:t>
            </a:r>
          </a:p>
          <a:p>
            <a:endParaRPr/>
          </a:p>
          <a:p>
            <a:r>
              <a:t>Scientific boundary: These descriptive counts condition on stock-significant returns and differ across categories with unequal opportunities. They do not use nonreturns, coverage, support gates, or a final FDR-controlled cross-gene family.</a:t>
            </a:r>
          </a:p>
          <a:p>
            <a:endParaRPr/>
          </a:p>
          <a:p>
            <a:r>
              <a:t>Transition: Part II now returns to the direct broad-cell branch, where each eligible direction remains a separate KDA result.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Introduce the VH12 SEA-AD-specific-network rerun.</a:t>
            </a:r>
          </a:p>
          <a:p>
            <a:endParaRPr/>
          </a:p>
          <a:p>
            <a:r>
              <a:t>Walk through: The section moves from the full supertype-by-stratum universe to the 34 executable KDA calls, then shows the top-five, recurrence, and aggregate summaries.</a:t>
            </a:r>
          </a:p>
          <a:p>
            <a:endParaRPr/>
          </a:p>
          <a:p>
            <a:r>
              <a:t>Scientific boundary: The aggregation is exploratory and returned-only; the underlying KDA calls were rerun rather than borrowed from the prior network release.</a:t>
            </a:r>
          </a:p>
          <a:p>
            <a:endParaRPr/>
          </a:p>
          <a:p>
            <a:r>
              <a:t>Transition: Start with how 1,548 planned directional slots become 34 active calls.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exactly how the planned SEA-AD universe reduces to 34 executable calls.</a:t>
            </a:r>
          </a:p>
          <a:p>
            <a:endParaRPr/>
          </a:p>
          <a:p>
            <a:r>
              <a:t>Walk through: Of 1,548 planned slots, 786 have a non-estimable source contrast, 708 have no FDR-only mitochondrial query, and 20 retain only one or two mapped genes. Fifteen calls have 3–9 genes and 19 have at least 10.</a:t>
            </a:r>
          </a:p>
          <a:p>
            <a:endParaRPr/>
          </a:p>
          <a:p>
            <a:r>
              <a:t>Scientific boundary: A skipped slot has no KDA result and is not a completed null. Network-specific mapping changes which DEG queries meet the minimum size.</a:t>
            </a:r>
          </a:p>
          <a:p>
            <a:endParaRPr/>
          </a:p>
          <a:p>
            <a:r>
              <a:t>Transition: Inspect the returned non-mitochondrial candidates from the completed calls.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Present the leading VH12 non-mitochondrial candidates without hiding category sparsity.</a:t>
            </a:r>
          </a:p>
          <a:p>
            <a:endParaRPr/>
          </a:p>
          <a:p>
            <a:r>
              <a:t>Walk through: The display contains 20 entries across five populated categories: F_e33 excitatory, F_e4 astrocytes, and M_e33 excitatory, inhibitory, and oligodendrocytes.</a:t>
            </a:r>
          </a:p>
          <a:p>
            <a:endParaRPr/>
          </a:p>
          <a:p>
            <a:r>
              <a:t>Scientific boundary: Top five is a display cap, not a significance threshold. Colors and hatching identify the aggregation route, not an evidence tier.</a:t>
            </a:r>
          </a:p>
          <a:p>
            <a:endParaRPr/>
          </a:p>
          <a:p>
            <a:r>
              <a:t>Transition: Next, summarize recurrence across the five populated categories.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Interpret recurrence under the SEA-AD-specific networks.</a:t>
            </a:r>
          </a:p>
          <a:p>
            <a:endParaRPr/>
          </a:p>
          <a:p>
            <a:r>
              <a:t>Walk through: PAPOLA and PJVK each appear in two M_e33 broad-cell categories. Every other gene in the top-20 recurrence display appears in one category.</a:t>
            </a:r>
          </a:p>
          <a:p>
            <a:endParaRPr/>
          </a:p>
          <a:p>
            <a:r>
              <a:t>Scientific boundary: Five return-bearing categories impose a low recurrence ceiling. Category recurrence is neither independent replication nor call count.</a:t>
            </a:r>
          </a:p>
          <a:p>
            <a:endParaRPr/>
          </a:p>
          <a:p>
            <a:r>
              <a:t>Transition: Summarize the row, unit, gene, and category counts.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Summarize the scale and distribution of the VH12 result set.</a:t>
            </a:r>
          </a:p>
          <a:p>
            <a:endParaRPr/>
          </a:p>
          <a:p>
            <a:r>
              <a:t>Walk through: The 135 retained rows form 96 category units representing 94 genes across five categories. Most units and 32 of 34 active calls are in M_e33.</a:t>
            </a:r>
          </a:p>
          <a:p>
            <a:endParaRPr/>
          </a:p>
          <a:p>
            <a:r>
              <a:t>Scientific boundary: The result conditions on within-call significant returns and has no final across-gene correction. Vasculature remains encode-only exploratory and contributes no active call here.</a:t>
            </a:r>
          </a:p>
          <a:p>
            <a:endParaRPr/>
          </a:p>
          <a:p>
            <a:r>
              <a:t>Transition: Compare the resulting driver set with the existing ROSMAP aggregation.</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Frame the cross-cohort comparison using the VH12 SEA-AD network rerun.</a:t>
            </a:r>
          </a:p>
          <a:p>
            <a:endParaRPr/>
          </a:p>
          <a:p>
            <a:r>
              <a:t>Walk through: Part 3 compares driver symbols and their sex/APOE-by-cell-type contexts, then contrasts the observed context agreement with descriptive baselines.</a:t>
            </a:r>
          </a:p>
          <a:p>
            <a:endParaRPr/>
          </a:p>
          <a:p>
            <a:r>
              <a:t>Scientific boundary: This is simultaneously a cross-cohort and cross-network comparison. It describes convergence but does not isolate a biological cohort effect.</a:t>
            </a:r>
          </a:p>
          <a:p>
            <a:endParaRPr/>
          </a:p>
          <a:p>
            <a:r>
              <a:t>Transition: Define the two agreement levels before reading the overlap counts.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Define gene-level and category-level agreement for the updated analysis.</a:t>
            </a:r>
          </a:p>
          <a:p>
            <a:endParaRPr/>
          </a:p>
          <a:p>
            <a:r>
              <a:t>Walk through: Gene-level overlap compares symbols anywhere in each result. Category-level overlap additionally requires the same sex/APOE group and broad cell type.</a:t>
            </a:r>
          </a:p>
          <a:p>
            <a:endParaRPr/>
          </a:p>
          <a:p>
            <a:r>
              <a:t>Scientific boundary: ROSMAP and SEA-AD use cohort-specific network inputs in this comparison, so overlap depends on topology as well as biological replication.</a:t>
            </a:r>
          </a:p>
          <a:p>
            <a:endParaRPr/>
          </a:p>
          <a:p>
            <a:r>
              <a:t>Transition: First examine the permissive gene-level result.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State the updated gene-level overlap and name the shared set.</a:t>
            </a:r>
          </a:p>
          <a:p>
            <a:endParaRPr/>
          </a:p>
          <a:p>
            <a:r>
              <a:t>Walk through: Ten of 94 SEA-AD non-MT drivers appear among the 433 ROSMAP drivers. Only MIPOL1 also keeps the full category context.</a:t>
            </a:r>
          </a:p>
          <a:p>
            <a:endParaRPr/>
          </a:p>
          <a:p>
            <a:r>
              <a:t>Scientific boundary: The reduction from the earlier deck coincides with switching the SEA-AD KDA network, so it is not evidence of poorer biological replication by itself.</a:t>
            </a:r>
          </a:p>
          <a:p>
            <a:endParaRPr/>
          </a:p>
          <a:p>
            <a:r>
              <a:t>Transition: Inspect the sole exact category match.</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the complete exact category-level overlap.</a:t>
            </a:r>
          </a:p>
          <a:p>
            <a:endParaRPr/>
          </a:p>
          <a:p>
            <a:r>
              <a:t>Walk through: MIPOL1 is the only gene with the same sex/APOE group and broad cell type in both cohorts. It ranks seventh in SEA-AD and twenty-ninth in ROSMAP within M_e33 excitatory neurons.</a:t>
            </a:r>
          </a:p>
          <a:p>
            <a:endParaRPr/>
          </a:p>
          <a:p>
            <a:r>
              <a:t>Scientific boundary: Both scores are exploratory returned-only quantities; an exact match is not a formal replication test.</a:t>
            </a:r>
          </a:p>
          <a:p>
            <a:endParaRPr/>
          </a:p>
          <a:p>
            <a:r>
              <a:t>Transition: Separate exact agreement from partial context retention.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Distinguish exact context replication from partial context overlap.</a:t>
            </a:r>
          </a:p>
          <a:p>
            <a:endParaRPr/>
          </a:p>
          <a:p>
            <a:r>
              <a:t>Walk through: MIPOL1 preserves both group and cell type. CXXC1 and CTNND2 preserve broad cell type while changing stratum. DEF8, LAGE3, and SYN1 preserve M_e33 while changing broad cell type.</a:t>
            </a:r>
          </a:p>
          <a:p>
            <a:endParaRPr/>
          </a:p>
          <a:p>
            <a:r>
              <a:t>Scientific boundary: The listed pairs are descriptive and non-independent because genes can occupy multiple ROSMAP categories.</a:t>
            </a:r>
          </a:p>
          <a:p>
            <a:endParaRPr/>
          </a:p>
          <a:p>
            <a:r>
              <a:t>Transition: Quantify where the shared M_e33 genes appear across ROSMAP strata.</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Test descriptively whether shared SEA-AD M_e33 genes concentrate in the matching ROSMAP stratum.</a:t>
            </a:r>
          </a:p>
          <a:p>
            <a:endParaRPr/>
          </a:p>
          <a:p>
            <a:r>
              <a:t>Walk through: Seven of the ten shared genes appear in ROSMAP F_e4 categories, while four appear in matching M_e33 categories. Counts can exceed ten in total because a ROSMAP gene may return in multiple groups.</a:t>
            </a:r>
          </a:p>
          <a:p>
            <a:endParaRPr/>
          </a:p>
          <a:p>
            <a:r>
              <a:t>Scientific boundary: Unequal category sizes and repeated genes make these descriptive counts, not a calibrated enrichment test.</a:t>
            </a:r>
          </a:p>
          <a:p>
            <a:endParaRPr/>
          </a:p>
          <a:p>
            <a:r>
              <a:t>Transition: Compare cell-type and group retention across every matched-gene unit pairing.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Quantify the limited context agreement in the VH12 comparison.</a:t>
            </a:r>
          </a:p>
          <a:p>
            <a:endParaRPr/>
          </a:p>
          <a:p>
            <a:r>
              <a:t>Walk through: Three of 22 cross-cohort unit pairings share broad cell type and four share sex/APOE group. The descriptive random-pairing expectation for cell type is about 32 percent.</a:t>
            </a:r>
          </a:p>
          <a:p>
            <a:endParaRPr/>
          </a:p>
          <a:p>
            <a:r>
              <a:t>Scientific boundary: Pairings are non-independent and the chance value is descriptive, not a formal null. Network and cohort effects are confounded.</a:t>
            </a:r>
          </a:p>
          <a:p>
            <a:endParaRPr/>
          </a:p>
          <a:p>
            <a:r>
              <a:t>Transition: Summarize the sex distribution of the shared M_e33 genes in ROSMAP.</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whether shared SEA-AD M_e33 genes retain a male context in ROSMAP.</a:t>
            </a:r>
          </a:p>
          <a:p>
            <a:endParaRPr/>
          </a:p>
          <a:p>
            <a:r>
              <a:t>Walk through: Two shared genes are male-only in ROSMAP, four are female-only, and four appear in both sexes. The full membership is shown rather than only counts.</a:t>
            </a:r>
          </a:p>
          <a:p>
            <a:endParaRPr/>
          </a:p>
          <a:p>
            <a:r>
              <a:t>Scientific boundary: Observed sex restriction reflects where returned-only units occur under unequal run availability; it is not a sex-interaction test.</a:t>
            </a:r>
          </a:p>
          <a:p>
            <a:endParaRPr/>
          </a:p>
          <a:p>
            <a:r>
              <a:t>Transition: Close with the supported findings and the interpretation limits.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State the updated conclusion without overclaiming validation.</a:t>
            </a:r>
          </a:p>
          <a:p>
            <a:endParaRPr/>
          </a:p>
          <a:p>
            <a:r>
              <a:t>Walk through: The rerun finds ten shared genes, one exact context match, and weak overall context agreement. MIPOL1 is the clearest matched-context candidate, while PAPOLA and PJVK lead within-SEA-AD recurrence.</a:t>
            </a:r>
          </a:p>
          <a:p>
            <a:endParaRPr/>
          </a:p>
          <a:p>
            <a:r>
              <a:t>Scientific boundary: The comparison is descriptive, post-selected, unbalanced across strata, and confounds cohort with network topology. It does not establish causal regulation or formal replication.</a:t>
            </a:r>
          </a:p>
          <a:p>
            <a:endParaRPr/>
          </a:p>
          <a:p>
            <a:r>
              <a:t>Transition: End of deck.</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Introduce the section reserved for all harmonized broad-cell KDA sensitivity analyses.</a:t>
            </a:r>
          </a:p>
          <a:p/>
          <a:p>
            <a:r>
              <a:t>Walk through: Sensitivity checks may address donor support, nuclei-per-profile coverage, DEG query definition, and KDA filtering. The first check raises the disease-arm donor gate from three to five in both cohorts.</a:t>
            </a:r>
          </a:p>
          <a:p/>
          <a:p>
            <a:r>
              <a:t>Scientific boundary: Each test must change one frozen decision at a time and retain its own interpretation boundary. The current test concerns donors per disease arm, not nuclei.</a:t>
            </a:r>
          </a:p>
          <a:p/>
          <a:p>
            <a:r>
              <a:t>Transition: Begin with the cohort-level consequences of the donor-threshold test.</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the numerical impact of raising the minimum disease-arm donor count from three to five in both cohorts.</a:t>
            </a:r>
          </a:p>
          <a:p/>
          <a:p>
            <a:r>
              <a:t>Walk through: ROSMAP falls from 42 to 40 eligible contrasts, three to two KDA runs, 39 to 13 returned rows, and 33 to 13 unique non-mitochondrial drivers. SEA-AD falls from 28 to 20 eligible contrasts, while its five KDA runs, 24 returned rows, and 18 unique non-mitochondrial drivers are unchanged.</a:t>
            </a:r>
          </a:p>
          <a:p/>
          <a:p>
            <a:r>
              <a:t>Scientific boundary: The threshold test changes only the donor eligibility gate. It does not change retained contrast models, DEG queries, networks, or KDA settings.</a:t>
            </a:r>
          </a:p>
          <a:p/>
          <a:p>
            <a:r>
              <a:t>Transition: Next, interpret why the two cohorts respond differently and what this means for validation.</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Summarize the cohort-specific and cross-cohort conclusions of the donor-threshold sensitivity analysis.</a:t>
            </a:r>
          </a:p>
          <a:p/>
          <a:p>
            <a:r>
              <a:t>Walk through: ROSMAP loses the low-support Vasculature M_e2 call that generated 26 driver rows. SEA-AD loses eight eligible contrasts, but none had progressed to KDA. Cross-cohort validation remains zero under both donor thresholds; Astrocytes F_e4 is the only exact stratum executed in both cohorts, and it has no shared drivers.</a:t>
            </a:r>
          </a:p>
          <a:p/>
          <a:p>
            <a:r>
              <a:t>Scientific boundary: Contrasts excluded by the stricter donor threshold are unavailable comparisons. They must not be counted as evidence against validation.</a:t>
            </a:r>
          </a:p>
          <a:p/>
          <a:p>
            <a:r>
              <a:t>Transition: Continue with the next sensitivity analysis when it is available.</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Show how increasing the minimum effective query size changes KDA availability and returned drivers.</a:t>
            </a:r>
          </a:p>
          <a:p/>
          <a:p>
            <a:r>
              <a:t>Walk through: ROSMAP contracts from three calls and 39 returned rows at three genes to one call and 26 rows at ten or more genes. SEA-AD is unchanged at five genes, contracts to three calls and eight rows at ten or twenty genes, and retains two calls and seven rows at thirty genes.</a:t>
            </a:r>
          </a:p>
          <a:p/>
          <a:p>
            <a:r>
              <a:t>Scientific boundary: The donor minimum remains three per disease arm. This exact gating sensitivity drops existing calls; it does not refit DEG models or rerun KDA for retained calls. Significant rows are raw returns, while the final column excludes MT-* genes and deduplicates within cohort.</a:t>
            </a:r>
          </a:p>
          <a:p/>
          <a:p>
            <a:r>
              <a:t>Transition: Next, identify the specific calls responsible for the step changes.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Explain which KDA calls drive the query-threshold sensitivity result.</a:t>
            </a:r>
          </a:p>
          <a:p/>
          <a:p>
            <a:r>
              <a:t>Walk through: ROSMAP loses the three-gene OPC call at five and the eight-gene astrocyte call at ten, leaving only the 78-gene low-donor vasculature call. SEA-AD is unchanged at five; at ten it loses its five-gene microglia and nine-gene astrocyte calls, and at thirty it additionally loses the 21-gene oligodendrocyte call.</a:t>
            </a:r>
          </a:p>
          <a:p/>
          <a:p>
            <a:r>
              <a:t>Scientific boundary: Returned MT-* genes are shown only when explaining raw row changes; they are not treated as eligible key drivers.</a:t>
            </a:r>
          </a:p>
          <a:p/>
          <a:p>
            <a:r>
              <a:t>Transition: Finish with the consequences for matched-stratum validation and the least disruptive threshold.</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Teaching goal: State the validation impact and identify the least disruptive query-size sensitivity threshold.</a:t>
            </a:r>
          </a:p>
          <a:p/>
          <a:p>
            <a:r>
              <a:t>Walk through: Non-mitochondrial driver overlap is zero at every threshold. The shared Astrocytes F_e4 stratum remains available at thresholds three and five but disappears from both cohorts at ten. Threshold five is the only stricter floor that preserves all SEA-AD calls and the shared stratum.</a:t>
            </a:r>
          </a:p>
          <a:p/>
          <a:p>
            <a:r>
              <a:t>Scientific boundary: Absence of a matched executed stratum at thresholds ten or higher is an unavailable validation comparison, not negative evidence. The five-gene threshold is a sensitivity reference, not a new confirmatory rule.</a:t>
            </a:r>
          </a:p>
          <a:p/>
          <a:p>
            <a:r>
              <a:t>Transition: Continue with the next planned sensitivity test.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p:cNvSpPr txBox="1"/>
          <p:nvPr/>
        </p:nvSpPr>
        <p:spPr>
          <a:xfrm>
            <a:off x="713232" y="1177296"/>
            <a:ext cx="10287000" cy="110184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3400" b="1" i="0" dirty="0">
                <a:solidFill>
                  <a:srgbClr val="FFFFFF"/>
                </a:solidFill>
                <a:latin typeface="Arial"/>
              </a:rPr>
              <a:t>ROSMAP and SEAAD </a:t>
            </a:r>
            <a:r>
              <a:rPr sz="3400" b="1" i="0" dirty="0">
                <a:solidFill>
                  <a:srgbClr val="FFFFFF"/>
                </a:solidFill>
                <a:latin typeface="Arial"/>
              </a:rPr>
              <a:t>sex/APOE key-driver analysis</a:t>
            </a:r>
          </a:p>
        </p:txBody>
      </p:sp>
      <p:sp>
        <p:nvSpPr>
          <p:cNvPr id="4" name="TextBox 3"/>
          <p:cNvSpPr txBox="1"/>
          <p:nvPr/>
        </p:nvSpPr>
        <p:spPr>
          <a:xfrm>
            <a:off x="749808" y="2487168"/>
            <a:ext cx="9875520"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00" b="0" i="0" dirty="0">
                <a:solidFill>
                  <a:srgbClr val="CCDBEA"/>
                </a:solidFill>
                <a:latin typeface="Arial"/>
              </a:rPr>
              <a:t>How mitochondrial DEG queries become non-core-MT network-driver candidates</a:t>
            </a:r>
          </a:p>
        </p:txBody>
      </p:sp>
      <p:sp>
        <p:nvSpPr>
          <p:cNvPr id="5" name="Rounded Rectangle 4"/>
          <p:cNvSpPr/>
          <p:nvPr/>
        </p:nvSpPr>
        <p:spPr>
          <a:xfrm>
            <a:off x="749808" y="3364992"/>
            <a:ext cx="5230368" cy="1874519"/>
          </a:xfrm>
          <a:prstGeom prst="roundRect">
            <a:avLst/>
          </a:prstGeom>
          <a:solidFill>
            <a:srgbClr val="1E3B5B"/>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3941063"/>
            <a:ext cx="4343400"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200" b="1" i="0">
                <a:solidFill>
                  <a:srgbClr val="FFFFFF"/>
                </a:solidFill>
                <a:latin typeface="Arial"/>
              </a:rPr>
              <a:t>ROSMAP reaggregation</a:t>
            </a:r>
          </a:p>
        </p:txBody>
      </p:sp>
      <p:sp>
        <p:nvSpPr>
          <p:cNvPr id="8" name="TextBox 7"/>
          <p:cNvSpPr txBox="1"/>
          <p:nvPr/>
        </p:nvSpPr>
        <p:spPr>
          <a:xfrm>
            <a:off x="1005840" y="4453128"/>
            <a:ext cx="441655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0" i="0">
                <a:solidFill>
                  <a:srgbClr val="D2E0EE"/>
                </a:solidFill>
                <a:latin typeface="Arial"/>
              </a:rPr>
              <a:t>295 included runs → returned-only non-MT ACAT → 689 category units</a:t>
            </a:r>
          </a:p>
        </p:txBody>
      </p:sp>
      <p:sp>
        <p:nvSpPr>
          <p:cNvPr id="9" name="Rounded Rectangle 8"/>
          <p:cNvSpPr/>
          <p:nvPr/>
        </p:nvSpPr>
        <p:spPr>
          <a:xfrm>
            <a:off x="6199632" y="3364992"/>
            <a:ext cx="5230368" cy="1874519"/>
          </a:xfrm>
          <a:prstGeom prst="roundRect">
            <a:avLst/>
          </a:prstGeom>
          <a:solidFill>
            <a:srgbClr val="1E3B5B"/>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55664" y="3639312"/>
            <a:ext cx="1005840" cy="2103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dirty="0">
                <a:solidFill>
                  <a:srgbClr val="009E73"/>
                </a:solidFill>
                <a:latin typeface="Arial"/>
              </a:rPr>
              <a:t>PART II</a:t>
            </a:r>
          </a:p>
        </p:txBody>
      </p:sp>
      <p:sp>
        <p:nvSpPr>
          <p:cNvPr id="11" name="TextBox 10"/>
          <p:cNvSpPr txBox="1"/>
          <p:nvPr/>
        </p:nvSpPr>
        <p:spPr>
          <a:xfrm>
            <a:off x="6455664" y="3941063"/>
            <a:ext cx="4389120" cy="3566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200" b="1" i="0">
                <a:solidFill>
                  <a:srgbClr val="FFFFFF"/>
                </a:solidFill>
                <a:latin typeface="Arial"/>
              </a:rPr>
              <a:t>SEA-AD validation</a:t>
            </a:r>
          </a:p>
        </p:txBody>
      </p:sp>
      <p:sp>
        <p:nvSpPr>
          <p:cNvPr id="12" name="TextBox 11"/>
          <p:cNvSpPr txBox="1"/>
          <p:nvPr/>
        </p:nvSpPr>
        <p:spPr>
          <a:xfrm>
            <a:off x="6455664" y="4453128"/>
            <a:ext cx="441655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20" b="0" i="0">
                <a:solidFill>
                  <a:srgbClr val="D2E0EE"/>
                </a:solidFill>
                <a:latin typeface="Arial"/>
              </a:rPr>
              <a:t>34 active SEA-AD-network KDA calls → returned-only non-MT ACAT → 96 category units</a:t>
            </a:r>
          </a:p>
        </p:txBody>
      </p:sp>
      <p:sp>
        <p:nvSpPr>
          <p:cNvPr id="2" name="TextBox 1">
            <a:extLst>
              <a:ext uri="{FF2B5EF4-FFF2-40B4-BE49-F238E27FC236}">
                <a16:creationId xmlns:a16="http://schemas.microsoft.com/office/drawing/2014/main" id="{965FC036-46F5-E9C4-8787-7AE287D69802}"/>
              </a:ext>
            </a:extLst>
          </p:cNvPr>
          <p:cNvSpPr txBox="1"/>
          <p:nvPr/>
        </p:nvSpPr>
        <p:spPr>
          <a:xfrm>
            <a:off x="1005840" y="3639312"/>
            <a:ext cx="1005840" cy="20159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dirty="0">
                <a:solidFill>
                  <a:srgbClr val="009E73"/>
                </a:solidFill>
                <a:latin typeface="Arial"/>
              </a:rPr>
              <a:t>PART </a:t>
            </a:r>
            <a:r>
              <a:rPr lang="en-US" sz="950" b="1" i="0" dirty="0">
                <a:solidFill>
                  <a:srgbClr val="009E73"/>
                </a:solidFill>
                <a:latin typeface="Arial"/>
              </a:rPr>
              <a:t>I</a:t>
            </a:r>
            <a:endParaRPr sz="950" b="1" i="0" dirty="0">
              <a:solidFill>
                <a:srgbClr val="009E73"/>
              </a:solidFill>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Two cohorts, one aggregation rule</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Both apply the same returned-only non-MT ACAT rule; the cohorts differ in run availability and balance.</a:t>
            </a:r>
          </a:p>
        </p:txBody>
      </p:sp>
      <p:sp>
        <p:nvSpPr>
          <p:cNvPr id="5" name="Rounded Rectangle 4"/>
          <p:cNvSpPr/>
          <p:nvPr/>
        </p:nvSpPr>
        <p:spPr>
          <a:xfrm>
            <a:off x="585216" y="1335024"/>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1627632"/>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72B2"/>
                </a:solidFill>
                <a:latin typeface="Arial"/>
              </a:rPr>
              <a:t>ROSMAP FINE-CELL REAGGREGATION</a:t>
            </a:r>
          </a:p>
        </p:txBody>
      </p:sp>
      <p:sp>
        <p:nvSpPr>
          <p:cNvPr id="7" name="TextBox 6"/>
          <p:cNvSpPr txBox="1"/>
          <p:nvPr/>
        </p:nvSpPr>
        <p:spPr>
          <a:xfrm>
            <a:off x="868680" y="1938528"/>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Where does a gene recur across fine-cell evidence?</a:t>
            </a:r>
          </a:p>
        </p:txBody>
      </p:sp>
      <p:sp>
        <p:nvSpPr>
          <p:cNvPr id="8" name="Rounded Rectangle 7"/>
          <p:cNvSpPr/>
          <p:nvPr/>
        </p:nvSpPr>
        <p:spPr>
          <a:xfrm>
            <a:off x="86868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3"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648</a:t>
            </a:r>
          </a:p>
        </p:txBody>
      </p:sp>
      <p:sp>
        <p:nvSpPr>
          <p:cNvPr id="10" name="TextBox 9"/>
          <p:cNvSpPr txBox="1"/>
          <p:nvPr/>
        </p:nvSpPr>
        <p:spPr>
          <a:xfrm>
            <a:off x="1014983"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planned directional slots</a:t>
            </a:r>
          </a:p>
        </p:txBody>
      </p:sp>
      <p:sp>
        <p:nvSpPr>
          <p:cNvPr id="11" name="Rounded Rectangle 10"/>
          <p:cNvSpPr/>
          <p:nvPr/>
        </p:nvSpPr>
        <p:spPr>
          <a:xfrm>
            <a:off x="2450592"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596896"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295</a:t>
            </a:r>
          </a:p>
        </p:txBody>
      </p:sp>
      <p:sp>
        <p:nvSpPr>
          <p:cNvPr id="13" name="TextBox 12"/>
          <p:cNvSpPr txBox="1"/>
          <p:nvPr/>
        </p:nvSpPr>
        <p:spPr>
          <a:xfrm>
            <a:off x="2596896"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included KDA runs</a:t>
            </a:r>
          </a:p>
        </p:txBody>
      </p:sp>
      <p:sp>
        <p:nvSpPr>
          <p:cNvPr id="14" name="Rounded Rectangle 13"/>
          <p:cNvSpPr/>
          <p:nvPr/>
        </p:nvSpPr>
        <p:spPr>
          <a:xfrm>
            <a:off x="4032504"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178808"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689</a:t>
            </a:r>
          </a:p>
        </p:txBody>
      </p:sp>
      <p:sp>
        <p:nvSpPr>
          <p:cNvPr id="16" name="TextBox 15"/>
          <p:cNvSpPr txBox="1"/>
          <p:nvPr/>
        </p:nvSpPr>
        <p:spPr>
          <a:xfrm>
            <a:off x="4178808"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gene × category units</a:t>
            </a:r>
          </a:p>
        </p:txBody>
      </p:sp>
      <p:sp>
        <p:nvSpPr>
          <p:cNvPr id="17" name="Oval 16"/>
          <p:cNvSpPr/>
          <p:nvPr/>
        </p:nvSpPr>
        <p:spPr>
          <a:xfrm>
            <a:off x="877824" y="413308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4005072"/>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Groups fine-cell runs within sex/APOE × broad network.</a:t>
            </a:r>
          </a:p>
        </p:txBody>
      </p:sp>
      <p:sp>
        <p:nvSpPr>
          <p:cNvPr id="19" name="Oval 18"/>
          <p:cNvSpPr/>
          <p:nvPr/>
        </p:nvSpPr>
        <p:spPr>
          <a:xfrm>
            <a:off x="877824" y="45719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51560" y="4443983"/>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Aggregates stock-significant returns only; ACAT for ≥2 calls.</a:t>
            </a:r>
          </a:p>
        </p:txBody>
      </p:sp>
      <p:sp>
        <p:nvSpPr>
          <p:cNvPr id="21" name="Oval 20"/>
          <p:cNvSpPr/>
          <p:nvPr/>
        </p:nvSpPr>
        <p:spPr>
          <a:xfrm>
            <a:off x="877824" y="50109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51560" y="488289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Final 689 units represent 433 distinct genes in 32 categories.</a:t>
            </a:r>
          </a:p>
        </p:txBody>
      </p:sp>
      <p:sp>
        <p:nvSpPr>
          <p:cNvPr id="23" name="Rounded Rectangle 22"/>
          <p:cNvSpPr/>
          <p:nvPr/>
        </p:nvSpPr>
        <p:spPr>
          <a:xfrm>
            <a:off x="6245352" y="1335024"/>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528816" y="1627632"/>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9E73"/>
                </a:solidFill>
                <a:latin typeface="Arial"/>
              </a:rPr>
              <a:t>SEA-AD VALIDATION</a:t>
            </a:r>
          </a:p>
        </p:txBody>
      </p:sp>
      <p:sp>
        <p:nvSpPr>
          <p:cNvPr id="25" name="TextBox 24"/>
          <p:cNvSpPr txBox="1"/>
          <p:nvPr/>
        </p:nvSpPr>
        <p:spPr>
          <a:xfrm>
            <a:off x="6528816" y="1938528"/>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Do drivers return in an independent human cohort?</a:t>
            </a:r>
          </a:p>
        </p:txBody>
      </p:sp>
      <p:sp>
        <p:nvSpPr>
          <p:cNvPr id="26" name="Rounded Rectangle 25"/>
          <p:cNvSpPr/>
          <p:nvPr/>
        </p:nvSpPr>
        <p:spPr>
          <a:xfrm>
            <a:off x="6528816"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1,548</a:t>
            </a:r>
          </a:p>
        </p:txBody>
      </p:sp>
      <p:sp>
        <p:nvSpPr>
          <p:cNvPr id="28" name="TextBox 27"/>
          <p:cNvSpPr txBox="1"/>
          <p:nvPr/>
        </p:nvSpPr>
        <p:spPr>
          <a:xfrm>
            <a:off x="6675120"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planned directional slots</a:t>
            </a:r>
          </a:p>
        </p:txBody>
      </p:sp>
      <p:sp>
        <p:nvSpPr>
          <p:cNvPr id="29" name="Rounded Rectangle 28"/>
          <p:cNvSpPr/>
          <p:nvPr/>
        </p:nvSpPr>
        <p:spPr>
          <a:xfrm>
            <a:off x="8110727"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257031"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34</a:t>
            </a:r>
          </a:p>
        </p:txBody>
      </p:sp>
      <p:sp>
        <p:nvSpPr>
          <p:cNvPr id="31" name="TextBox 30"/>
          <p:cNvSpPr txBox="1"/>
          <p:nvPr/>
        </p:nvSpPr>
        <p:spPr>
          <a:xfrm>
            <a:off x="8257031"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active KDA calls</a:t>
            </a:r>
          </a:p>
        </p:txBody>
      </p:sp>
      <p:sp>
        <p:nvSpPr>
          <p:cNvPr id="32" name="Rounded Rectangle 31"/>
          <p:cNvSpPr/>
          <p:nvPr/>
        </p:nvSpPr>
        <p:spPr>
          <a:xfrm>
            <a:off x="9692640" y="2697480"/>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838944" y="2788920"/>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96</a:t>
            </a:r>
          </a:p>
        </p:txBody>
      </p:sp>
      <p:sp>
        <p:nvSpPr>
          <p:cNvPr id="34" name="TextBox 33"/>
          <p:cNvSpPr txBox="1"/>
          <p:nvPr/>
        </p:nvSpPr>
        <p:spPr>
          <a:xfrm>
            <a:off x="9838944" y="3246120"/>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gene × category units</a:t>
            </a:r>
          </a:p>
        </p:txBody>
      </p:sp>
      <p:sp>
        <p:nvSpPr>
          <p:cNvPr id="35" name="Oval 34"/>
          <p:cNvSpPr/>
          <p:nvPr/>
        </p:nvSpPr>
        <p:spPr>
          <a:xfrm>
            <a:off x="6537960" y="41330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711696" y="4005072"/>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Applies the same returned-only non-MT ACAT rule.</a:t>
            </a:r>
          </a:p>
        </p:txBody>
      </p:sp>
      <p:sp>
        <p:nvSpPr>
          <p:cNvPr id="37" name="Oval 36"/>
          <p:cNvSpPr/>
          <p:nvPr/>
        </p:nvSpPr>
        <p:spPr>
          <a:xfrm>
            <a:off x="6537960" y="457199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711696" y="4443983"/>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Relaxed tier: donor ≥3 per arm, FDR-only query, n ≥ 3.</a:t>
            </a:r>
          </a:p>
        </p:txBody>
      </p:sp>
      <p:sp>
        <p:nvSpPr>
          <p:cNvPr id="39" name="Oval 38"/>
          <p:cNvSpPr/>
          <p:nvPr/>
        </p:nvSpPr>
        <p:spPr>
          <a:xfrm>
            <a:off x="6537960" y="501091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711696" y="488289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32 of 34 calls are M_e33; 5 categories have returns.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72B2"/>
                </a:solidFill>
                <a:latin typeface="Arial"/>
              </a:rPr>
              <a:t>PART 1</a:t>
            </a:r>
          </a:p>
        </p:txBody>
      </p:sp>
      <p:sp>
        <p:nvSpPr>
          <p:cNvPr id="3" name="Rectangle 2"/>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3200" b="1" i="0" dirty="0">
                <a:solidFill>
                  <a:srgbClr val="FFFFFF"/>
                </a:solidFill>
                <a:latin typeface="Arial"/>
              </a:rPr>
              <a:t>ROSMAP</a:t>
            </a:r>
            <a:r>
              <a:rPr sz="3200" b="1" i="0" dirty="0">
                <a:solidFill>
                  <a:srgbClr val="FFFFFF"/>
                </a:solidFill>
                <a:latin typeface="Arial"/>
              </a:rPr>
              <a:t> sex/APOE KDA reaggregation</a:t>
            </a:r>
          </a:p>
        </p:txBody>
      </p:sp>
      <p:sp>
        <p:nvSpPr>
          <p:cNvPr id="5" name="TextBox 4"/>
          <p:cNvSpPr txBox="1"/>
          <p:nvPr/>
        </p:nvSpPr>
        <p:spPr>
          <a:xfrm>
            <a:off x="1097280" y="2743200"/>
            <a:ext cx="7589520"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dirty="0">
                <a:solidFill>
                  <a:srgbClr val="CCDBEA"/>
                </a:solidFill>
                <a:latin typeface="Arial"/>
              </a:rPr>
              <a:t>54 fine cell types define the planned universe; 295 included runs from 41 fine types are aggregated within six groups and seven broad networks.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72B2"/>
                </a:solidFill>
                <a:latin typeface="Arial"/>
              </a:rPr>
              <a:t>IN THIS PART</a:t>
            </a:r>
          </a:p>
        </p:txBody>
      </p:sp>
      <p:sp>
        <p:nvSpPr>
          <p:cNvPr id="8" name="Oval 7"/>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Run universe</a:t>
            </a:r>
          </a:p>
        </p:txBody>
      </p:sp>
      <p:sp>
        <p:nvSpPr>
          <p:cNvPr id="11" name="Oval 10"/>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Filter funnel</a:t>
            </a:r>
          </a:p>
        </p:txBody>
      </p:sp>
      <p:sp>
        <p:nvSpPr>
          <p:cNvPr id="14" name="Oval 13"/>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ACAT candidates</a:t>
            </a:r>
          </a:p>
        </p:txBody>
      </p:sp>
      <p:sp>
        <p:nvSpPr>
          <p:cNvPr id="17" name="Oval 16"/>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Result figures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dirty="0">
                <a:solidFill>
                  <a:srgbClr val="0F233D"/>
                </a:solidFill>
                <a:latin typeface="Arial"/>
              </a:rPr>
              <a:t>Four </a:t>
            </a:r>
            <a:r>
              <a:rPr lang="en-US" sz="2450" b="1" i="0" dirty="0">
                <a:solidFill>
                  <a:srgbClr val="0F233D"/>
                </a:solidFill>
                <a:latin typeface="Arial"/>
              </a:rPr>
              <a:t>steps</a:t>
            </a:r>
            <a:endParaRPr sz="2450" b="1" i="0" dirty="0">
              <a:solidFill>
                <a:srgbClr val="0F233D"/>
              </a:solidFill>
              <a:latin typeface="Arial"/>
            </a:endParaRPr>
          </a:p>
        </p:txBody>
      </p:sp>
      <p:sp>
        <p:nvSpPr>
          <p:cNvPr id="5" name="Rounded Rectangle 4"/>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1</a:t>
            </a:r>
          </a:p>
        </p:txBody>
      </p:sp>
      <p:sp>
        <p:nvSpPr>
          <p:cNvPr id="8" name="TextBox 7"/>
          <p:cNvSpPr txBox="1"/>
          <p:nvPr/>
        </p:nvSpPr>
        <p:spPr>
          <a:xfrm>
            <a:off x="80467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DEG comparison</a:t>
            </a:r>
          </a:p>
        </p:txBody>
      </p:sp>
      <p:sp>
        <p:nvSpPr>
          <p:cNvPr id="9" name="TextBox 8"/>
          <p:cNvSpPr txBox="1"/>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fine cell type × sex/APOE</a:t>
            </a:r>
          </a:p>
        </p:txBody>
      </p:sp>
      <p:sp>
        <p:nvSpPr>
          <p:cNvPr id="10" name="Rounded Rectangle 9"/>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2688" y="4087368"/>
            <a:ext cx="1901952" cy="612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4E5A68"/>
                </a:solidFill>
                <a:latin typeface="Arial"/>
              </a:rPr>
              <a:t>One signed AD-versus-NCI result</a:t>
            </a:r>
          </a:p>
        </p:txBody>
      </p:sp>
      <p:sp>
        <p:nvSpPr>
          <p:cNvPr id="12" name="Rounded Rectangle 1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2</a:t>
            </a:r>
          </a:p>
        </p:txBody>
      </p:sp>
      <p:sp>
        <p:nvSpPr>
          <p:cNvPr id="15" name="TextBox 14"/>
          <p:cNvSpPr txBox="1"/>
          <p:nvPr/>
        </p:nvSpPr>
        <p:spPr>
          <a:xfrm>
            <a:off x="363931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Directional slot</a:t>
            </a:r>
          </a:p>
        </p:txBody>
      </p:sp>
      <p:sp>
        <p:nvSpPr>
          <p:cNvPr id="16" name="TextBox 15"/>
          <p:cNvSpPr txBox="1"/>
          <p:nvPr/>
        </p:nvSpPr>
        <p:spPr>
          <a:xfrm>
            <a:off x="363931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 AD-up or AD-down</a:t>
            </a:r>
          </a:p>
        </p:txBody>
      </p:sp>
      <p:sp>
        <p:nvSpPr>
          <p:cNvPr id="17" name="Rounded Rectangle 16"/>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767328" y="4087368"/>
            <a:ext cx="1901952" cy="612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4E5A68"/>
                </a:solidFill>
                <a:latin typeface="Arial"/>
              </a:rPr>
              <a:t>A planned query opportunity</a:t>
            </a:r>
          </a:p>
        </p:txBody>
      </p:sp>
      <p:sp>
        <p:nvSpPr>
          <p:cNvPr id="19" name="Rounded Rectangle 18"/>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3</a:t>
            </a:r>
          </a:p>
        </p:txBody>
      </p:sp>
      <p:sp>
        <p:nvSpPr>
          <p:cNvPr id="22" name="TextBox 21"/>
          <p:cNvSpPr txBox="1"/>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KDA run</a:t>
            </a:r>
          </a:p>
        </p:txBody>
      </p:sp>
      <p:sp>
        <p:nvSpPr>
          <p:cNvPr id="23" name="TextBox 22"/>
          <p:cNvSpPr txBox="1"/>
          <p:nvPr/>
        </p:nvSpPr>
        <p:spPr>
          <a:xfrm>
            <a:off x="647395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validated completed call</a:t>
            </a:r>
          </a:p>
        </p:txBody>
      </p:sp>
      <p:sp>
        <p:nvSpPr>
          <p:cNvPr id="24" name="Rounded Rectangle 23"/>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0196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lang="en-US" sz="1130" b="0" i="0" dirty="0">
                <a:solidFill>
                  <a:srgbClr val="4E5A68"/>
                </a:solidFill>
                <a:latin typeface="Arial"/>
              </a:rPr>
              <a:t>DEG contrast valid and</a:t>
            </a:r>
          </a:p>
          <a:p>
            <a:pPr algn="ctr">
              <a:lnSpc>
                <a:spcPct val="100000"/>
              </a:lnSpc>
              <a:spcBef>
                <a:spcPts val="0"/>
              </a:spcBef>
              <a:spcAft>
                <a:spcPts val="0"/>
              </a:spcAft>
            </a:pPr>
            <a:r>
              <a:rPr sz="1130" b="0" i="0" dirty="0">
                <a:solidFill>
                  <a:srgbClr val="4E5A68"/>
                </a:solidFill>
                <a:latin typeface="Arial"/>
              </a:rPr>
              <a:t>Effective query n ≥ 3</a:t>
            </a:r>
          </a:p>
        </p:txBody>
      </p:sp>
      <p:sp>
        <p:nvSpPr>
          <p:cNvPr id="26" name="Rounded Rectangle 25"/>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FFFFFF"/>
                </a:solidFill>
                <a:latin typeface="Arial"/>
              </a:rPr>
              <a:t>4</a:t>
            </a:r>
          </a:p>
        </p:txBody>
      </p:sp>
      <p:sp>
        <p:nvSpPr>
          <p:cNvPr id="29" name="TextBox 28"/>
          <p:cNvSpPr txBox="1"/>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900" b="1" i="0">
                <a:solidFill>
                  <a:srgbClr val="0F233D"/>
                </a:solidFill>
                <a:latin typeface="Arial"/>
              </a:rPr>
              <a:t>Candidate unit</a:t>
            </a:r>
          </a:p>
        </p:txBody>
      </p:sp>
      <p:sp>
        <p:nvSpPr>
          <p:cNvPr id="30" name="TextBox 29"/>
          <p:cNvSpPr txBox="1"/>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E69F00"/>
                </a:solidFill>
                <a:latin typeface="Arial"/>
              </a:rPr>
              <a:t>gene × group × broad network</a:t>
            </a:r>
          </a:p>
        </p:txBody>
      </p:sp>
      <p:sp>
        <p:nvSpPr>
          <p:cNvPr id="31" name="Rounded Rectangle 30"/>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436608" y="4087368"/>
            <a:ext cx="1901952" cy="6126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130" b="0" i="0">
                <a:solidFill>
                  <a:srgbClr val="4E5A68"/>
                </a:solidFill>
                <a:latin typeface="Arial"/>
              </a:rPr>
              <a:t>One or more fine runs; either or both directions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54 fine cell types create 648 planned directional slots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Up and down are two query directions from one signed DEG comparison—not two model fits.</a:t>
            </a:r>
          </a:p>
        </p:txBody>
      </p:sp>
      <p:sp>
        <p:nvSpPr>
          <p:cNvPr id="5" name="Rounded Rectangle 4"/>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54 fine cell types</a:t>
            </a:r>
          </a:p>
        </p:txBody>
      </p:sp>
      <p:sp>
        <p:nvSpPr>
          <p:cNvPr id="7" name="TextBox 6"/>
          <p:cNvSpPr txBox="1"/>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40" b="1" i="0" dirty="0">
                <a:solidFill>
                  <a:srgbClr val="0072B2"/>
                </a:solidFill>
                <a:latin typeface="Arial"/>
              </a:rPr>
              <a:t>× 6 sex/APOE groups = 324 </a:t>
            </a:r>
            <a:r>
              <a:rPr lang="en-US" sz="1240" b="1" i="0" dirty="0">
                <a:solidFill>
                  <a:srgbClr val="0072B2"/>
                </a:solidFill>
                <a:latin typeface="Arial"/>
              </a:rPr>
              <a:t>contrasts</a:t>
            </a:r>
            <a:endParaRPr sz="1240" b="1" i="0" dirty="0">
              <a:solidFill>
                <a:srgbClr val="0072B2"/>
              </a:solidFill>
              <a:latin typeface="Arial"/>
            </a:endParaRPr>
          </a:p>
        </p:txBody>
      </p:sp>
      <p:sp>
        <p:nvSpPr>
          <p:cNvPr id="8" name="Rounded Rectangle 7"/>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35424" y="1591056"/>
            <a:ext cx="3090672"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324 signed results</a:t>
            </a:r>
          </a:p>
        </p:txBody>
      </p:sp>
      <p:sp>
        <p:nvSpPr>
          <p:cNvPr id="10" name="TextBox 9"/>
          <p:cNvSpPr txBox="1"/>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40" b="1" i="0">
                <a:solidFill>
                  <a:srgbClr val="0072B2"/>
                </a:solidFill>
                <a:latin typeface="Arial"/>
              </a:rPr>
              <a:t>× up/down = 648 directional slots</a:t>
            </a:r>
          </a:p>
        </p:txBody>
      </p:sp>
      <p:sp>
        <p:nvSpPr>
          <p:cNvPr id="11" name="Rounded Rectangle 10"/>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0"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dirty="0">
                <a:solidFill>
                  <a:srgbClr val="0F233D"/>
                </a:solidFill>
                <a:latin typeface="Arial"/>
              </a:rPr>
              <a:t>295 </a:t>
            </a:r>
            <a:r>
              <a:rPr lang="en-US" sz="1900" b="1" dirty="0" err="1">
                <a:solidFill>
                  <a:srgbClr val="0F233D"/>
                </a:solidFill>
                <a:latin typeface="Arial"/>
              </a:rPr>
              <a:t>call_key_driver</a:t>
            </a:r>
            <a:r>
              <a:rPr sz="1900" b="1" i="0" dirty="0">
                <a:solidFill>
                  <a:srgbClr val="0F233D"/>
                </a:solidFill>
                <a:latin typeface="Arial"/>
              </a:rPr>
              <a:t> calls</a:t>
            </a:r>
          </a:p>
        </p:txBody>
      </p:sp>
      <p:sp>
        <p:nvSpPr>
          <p:cNvPr id="13" name="TextBox 12"/>
          <p:cNvSpPr txBox="1"/>
          <p:nvPr/>
        </p:nvSpPr>
        <p:spPr>
          <a:xfrm>
            <a:off x="8412480" y="1993392"/>
            <a:ext cx="2926080" cy="21544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1" i="0" dirty="0">
                <a:solidFill>
                  <a:srgbClr val="009E73"/>
                </a:solidFill>
                <a:latin typeface="Arial"/>
              </a:rPr>
              <a:t>All valid</a:t>
            </a:r>
            <a:r>
              <a:rPr lang="en-US" sz="1040" b="1" i="0" dirty="0">
                <a:solidFill>
                  <a:srgbClr val="009E73"/>
                </a:solidFill>
                <a:latin typeface="Arial"/>
              </a:rPr>
              <a:t> source and</a:t>
            </a:r>
            <a:r>
              <a:rPr sz="1040" b="1" i="0" dirty="0">
                <a:solidFill>
                  <a:srgbClr val="009E73"/>
                </a:solidFill>
                <a:latin typeface="Arial"/>
              </a:rPr>
              <a:t> queries ≥3</a:t>
            </a:r>
          </a:p>
        </p:txBody>
      </p:sp>
      <p:sp>
        <p:nvSpPr>
          <p:cNvPr id="14" name="Rectangle 13"/>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Mutually exclusive slot outcome</a:t>
            </a:r>
          </a:p>
        </p:txBody>
      </p:sp>
      <p:sp>
        <p:nvSpPr>
          <p:cNvPr id="16" name="Rectangle 15"/>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Slots</a:t>
            </a:r>
          </a:p>
        </p:txBody>
      </p:sp>
      <p:sp>
        <p:nvSpPr>
          <p:cNvPr id="18" name="Rectangle 17"/>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0" b="1" i="0">
                <a:solidFill>
                  <a:srgbClr val="FFFFFF"/>
                </a:solidFill>
                <a:latin typeface="Arial"/>
              </a:rPr>
              <a:t>KDA called?</a:t>
            </a:r>
          </a:p>
        </p:txBody>
      </p:sp>
      <p:sp>
        <p:nvSpPr>
          <p:cNvPr id="22" name="Rectangle 2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dirty="0">
                <a:solidFill>
                  <a:srgbClr val="1F2730"/>
                </a:solidFill>
                <a:latin typeface="Arial"/>
              </a:rPr>
              <a:t>Source DEG contrast not </a:t>
            </a:r>
            <a:r>
              <a:rPr lang="en-US" sz="950" b="0" i="0" dirty="0">
                <a:solidFill>
                  <a:srgbClr val="1F2730"/>
                </a:solidFill>
                <a:latin typeface="Arial"/>
              </a:rPr>
              <a:t>valid</a:t>
            </a:r>
            <a:endParaRPr sz="950" b="0" i="0" dirty="0">
              <a:solidFill>
                <a:srgbClr val="1F2730"/>
              </a:solidFill>
              <a:latin typeface="Arial"/>
            </a:endParaRPr>
          </a:p>
        </p:txBody>
      </p:sp>
      <p:sp>
        <p:nvSpPr>
          <p:cNvPr id="24" name="Rectangle 23"/>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6</a:t>
            </a:r>
          </a:p>
        </p:txBody>
      </p:sp>
      <p:sp>
        <p:nvSpPr>
          <p:cNvPr id="26" name="Rectangle 25"/>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0" name="Rectangle 29"/>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895560" y="3908846"/>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950" dirty="0">
                <a:solidFill>
                  <a:srgbClr val="1F2730"/>
                </a:solidFill>
                <a:latin typeface="Arial"/>
              </a:rPr>
              <a:t>E</a:t>
            </a:r>
            <a:r>
              <a:rPr sz="950" b="0" i="0" dirty="0">
                <a:solidFill>
                  <a:srgbClr val="1F2730"/>
                </a:solidFill>
                <a:latin typeface="Arial"/>
              </a:rPr>
              <a:t>ffective query </a:t>
            </a:r>
            <a:r>
              <a:rPr lang="en-US" sz="950" b="0" i="0" dirty="0">
                <a:solidFill>
                  <a:srgbClr val="1F2730"/>
                </a:solidFill>
                <a:latin typeface="Arial"/>
              </a:rPr>
              <a:t>empty</a:t>
            </a:r>
            <a:endParaRPr sz="950" b="0" i="0" dirty="0">
              <a:solidFill>
                <a:srgbClr val="1F2730"/>
              </a:solidFill>
              <a:latin typeface="Arial"/>
            </a:endParaRPr>
          </a:p>
        </p:txBody>
      </p:sp>
      <p:sp>
        <p:nvSpPr>
          <p:cNvPr id="32" name="Rectangle 3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dirty="0">
                <a:solidFill>
                  <a:srgbClr val="1F2730"/>
                </a:solidFill>
                <a:latin typeface="Arial"/>
              </a:rPr>
              <a:t>246</a:t>
            </a:r>
          </a:p>
        </p:txBody>
      </p:sp>
      <p:sp>
        <p:nvSpPr>
          <p:cNvPr id="34" name="Rectangle 33"/>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38" name="Rectangle 37"/>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895560" y="4270247"/>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Effective query 1–2</a:t>
            </a:r>
          </a:p>
        </p:txBody>
      </p:sp>
      <p:sp>
        <p:nvSpPr>
          <p:cNvPr id="40" name="Rectangle 39"/>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101</a:t>
            </a:r>
          </a:p>
        </p:txBody>
      </p:sp>
      <p:sp>
        <p:nvSpPr>
          <p:cNvPr id="42" name="Rectangle 4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a:solidFill>
                  <a:srgbClr val="1F2730"/>
                </a:solidFill>
                <a:latin typeface="Arial"/>
              </a:rPr>
              <a:t>No</a:t>
            </a:r>
          </a:p>
        </p:txBody>
      </p:sp>
      <p:sp>
        <p:nvSpPr>
          <p:cNvPr id="46" name="Rectangle 45"/>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895560" y="4804958"/>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dirty="0">
                <a:solidFill>
                  <a:srgbClr val="1F2730"/>
                </a:solidFill>
                <a:latin typeface="Arial"/>
              </a:rPr>
              <a:t>Effective query </a:t>
            </a:r>
            <a:r>
              <a:rPr lang="en-US" sz="950" dirty="0">
                <a:solidFill>
                  <a:srgbClr val="1F2730"/>
                </a:solidFill>
                <a:latin typeface="Arial"/>
              </a:rPr>
              <a:t>&gt;=3</a:t>
            </a:r>
            <a:endParaRPr sz="950" b="0" i="0" dirty="0">
              <a:solidFill>
                <a:srgbClr val="1F2730"/>
              </a:solidFill>
              <a:latin typeface="Arial"/>
            </a:endParaRPr>
          </a:p>
        </p:txBody>
      </p:sp>
      <p:sp>
        <p:nvSpPr>
          <p:cNvPr id="48" name="Rectangle 47"/>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950" b="0" i="0" dirty="0">
                <a:solidFill>
                  <a:srgbClr val="1F2730"/>
                </a:solidFill>
                <a:latin typeface="Arial"/>
              </a:rPr>
              <a:t>295</a:t>
            </a:r>
            <a:endParaRPr sz="950" b="0" i="0" dirty="0">
              <a:solidFill>
                <a:srgbClr val="1F2730"/>
              </a:solidFill>
              <a:latin typeface="Arial"/>
            </a:endParaRPr>
          </a:p>
        </p:txBody>
      </p:sp>
      <p:sp>
        <p:nvSpPr>
          <p:cNvPr id="50" name="Rectangle 49"/>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0" i="0" dirty="0">
                <a:solidFill>
                  <a:srgbClr val="1F2730"/>
                </a:solidFill>
                <a:latin typeface="Arial"/>
              </a:rPr>
              <a:t>Yes</a:t>
            </a:r>
          </a:p>
        </p:txBody>
      </p:sp>
      <p:sp>
        <p:nvSpPr>
          <p:cNvPr id="62" name="Rectangle 6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TOTAL</a:t>
            </a:r>
          </a:p>
        </p:txBody>
      </p:sp>
      <p:sp>
        <p:nvSpPr>
          <p:cNvPr id="64" name="Rectangle 63"/>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648</a:t>
            </a:r>
          </a:p>
        </p:txBody>
      </p:sp>
      <p:sp>
        <p:nvSpPr>
          <p:cNvPr id="66" name="Rectangle 65"/>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50" b="1" i="0">
                <a:solidFill>
                  <a:srgbClr val="1F2730"/>
                </a:solidFill>
                <a:latin typeface="Arial"/>
              </a:rPr>
              <a:t>295 calls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S</a:t>
            </a:r>
            <a:r>
              <a:rPr sz="2100" b="1" i="0" dirty="0">
                <a:solidFill>
                  <a:srgbClr val="0F233D"/>
                </a:solidFill>
                <a:latin typeface="Arial"/>
              </a:rPr>
              <a:t>ource validity and query size decide whether KDA is called</a:t>
            </a:r>
          </a:p>
        </p:txBody>
      </p:sp>
      <p:sp>
        <p:nvSpPr>
          <p:cNvPr id="5" name="Rounded Rectangle 4"/>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One canonical query-size gate</a:t>
            </a:r>
          </a:p>
        </p:txBody>
      </p:sp>
      <p:sp>
        <p:nvSpPr>
          <p:cNvPr id="8" name="Rounded Rectangle 7"/>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≥3</a:t>
            </a:r>
          </a:p>
        </p:txBody>
      </p:sp>
      <p:sp>
        <p:nvSpPr>
          <p:cNvPr id="11" name="Rounded Rectangle 10"/>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500" b="1" i="0" dirty="0">
                <a:solidFill>
                  <a:srgbClr val="00684D"/>
                </a:solidFill>
                <a:latin typeface="Arial"/>
              </a:rPr>
              <a:t>295</a:t>
            </a:r>
            <a:endParaRPr sz="2500" b="1" i="0" dirty="0">
              <a:solidFill>
                <a:srgbClr val="00684D"/>
              </a:solidFill>
              <a:latin typeface="Arial"/>
            </a:endParaRPr>
          </a:p>
        </p:txBody>
      </p:sp>
      <p:sp>
        <p:nvSpPr>
          <p:cNvPr id="13" name="TextBox 12"/>
          <p:cNvSpPr txBox="1"/>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dirty="0">
                <a:solidFill>
                  <a:srgbClr val="4E5A68"/>
                </a:solidFill>
                <a:latin typeface="Arial"/>
              </a:rPr>
              <a:t>included runs with query n</a:t>
            </a:r>
            <a:r>
              <a:rPr lang="en-US" sz="880" b="1" i="0" dirty="0">
                <a:solidFill>
                  <a:srgbClr val="4E5A68"/>
                </a:solidFill>
                <a:latin typeface="Arial"/>
              </a:rPr>
              <a:t>&gt;</a:t>
            </a:r>
            <a:r>
              <a:rPr sz="880" b="1" i="0" dirty="0">
                <a:solidFill>
                  <a:srgbClr val="4E5A68"/>
                </a:solidFill>
                <a:latin typeface="Arial"/>
              </a:rPr>
              <a:t>=3</a:t>
            </a:r>
          </a:p>
        </p:txBody>
      </p:sp>
      <p:sp>
        <p:nvSpPr>
          <p:cNvPr id="14" name="Oval 13"/>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a:solidFill>
                  <a:srgbClr val="1F2730"/>
                </a:solidFill>
                <a:latin typeface="Arial"/>
              </a:rPr>
              <a:t>All 295 validated completed calls enter the aggregate.</a:t>
            </a:r>
          </a:p>
        </p:txBody>
      </p:sp>
      <p:sp>
        <p:nvSpPr>
          <p:cNvPr id="16" name="Oval 15"/>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dirty="0">
                <a:solidFill>
                  <a:srgbClr val="1F2730"/>
                </a:solidFill>
                <a:latin typeface="Arial"/>
              </a:rPr>
              <a:t>That includes </a:t>
            </a:r>
            <a:r>
              <a:rPr lang="en-US" sz="1110" b="0" i="0" dirty="0">
                <a:solidFill>
                  <a:srgbClr val="1F2730"/>
                </a:solidFill>
                <a:latin typeface="Arial"/>
              </a:rPr>
              <a:t>295</a:t>
            </a:r>
            <a:r>
              <a:rPr sz="1110" b="0" i="0" dirty="0">
                <a:solidFill>
                  <a:srgbClr val="1F2730"/>
                </a:solidFill>
                <a:latin typeface="Arial"/>
              </a:rPr>
              <a:t> ≥</a:t>
            </a:r>
            <a:r>
              <a:rPr lang="en-US" sz="1110" b="0" i="0" dirty="0">
                <a:solidFill>
                  <a:srgbClr val="1F2730"/>
                </a:solidFill>
                <a:latin typeface="Arial"/>
              </a:rPr>
              <a:t>3</a:t>
            </a:r>
            <a:r>
              <a:rPr sz="1110" b="0" i="0" dirty="0">
                <a:solidFill>
                  <a:srgbClr val="1F2730"/>
                </a:solidFill>
                <a:latin typeface="Arial"/>
              </a:rPr>
              <a:t>.</a:t>
            </a:r>
          </a:p>
        </p:txBody>
      </p:sp>
      <p:sp>
        <p:nvSpPr>
          <p:cNvPr id="18" name="Oval 17"/>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0" i="0">
                <a:solidFill>
                  <a:srgbClr val="1F2730"/>
                </a:solidFill>
                <a:latin typeface="Arial"/>
              </a:rPr>
              <a:t>74 completed calls returned no original q≤0.05 gene; they still contribute complete evidence.</a:t>
            </a:r>
          </a:p>
        </p:txBody>
      </p:sp>
      <p:sp>
        <p:nvSpPr>
          <p:cNvPr id="20" name="Rounded Rectangle 19"/>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What ‘source contrast not </a:t>
            </a:r>
            <a:r>
              <a:rPr lang="en-US" sz="1520" b="1" i="0" dirty="0">
                <a:solidFill>
                  <a:srgbClr val="0F233D"/>
                </a:solidFill>
                <a:latin typeface="Arial"/>
              </a:rPr>
              <a:t>valid</a:t>
            </a:r>
            <a:r>
              <a:rPr sz="1520" b="1" i="0" dirty="0">
                <a:solidFill>
                  <a:srgbClr val="0F233D"/>
                </a:solidFill>
                <a:latin typeface="Arial"/>
              </a:rPr>
              <a:t>’ means</a:t>
            </a:r>
          </a:p>
        </p:txBody>
      </p:sp>
      <p:sp>
        <p:nvSpPr>
          <p:cNvPr id="23" name="TextBox 22"/>
          <p:cNvSpPr txBox="1"/>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400" b="1" i="0" dirty="0">
                <a:solidFill>
                  <a:srgbClr val="0F233D"/>
                </a:solidFill>
                <a:latin typeface="Arial"/>
              </a:rPr>
              <a:t>The upstream MAST comparison could not be fitted because one arm had fewer than </a:t>
            </a:r>
            <a:r>
              <a:rPr sz="1400" b="1" i="0" dirty="0">
                <a:solidFill>
                  <a:srgbClr val="FF0000"/>
                </a:solidFill>
                <a:latin typeface="Arial"/>
              </a:rPr>
              <a:t>three</a:t>
            </a:r>
            <a:r>
              <a:rPr sz="1400" b="1" i="0" dirty="0">
                <a:solidFill>
                  <a:srgbClr val="0F233D"/>
                </a:solidFill>
                <a:latin typeface="Arial"/>
              </a:rPr>
              <a:t> cells.</a:t>
            </a:r>
          </a:p>
        </p:txBody>
      </p:sp>
      <p:sp>
        <p:nvSpPr>
          <p:cNvPr id="24" name="Rectangle 23"/>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Fine cell type</a:t>
            </a:r>
          </a:p>
        </p:txBody>
      </p:sp>
      <p:sp>
        <p:nvSpPr>
          <p:cNvPr id="26" name="Rectangle 25"/>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Group</a:t>
            </a:r>
          </a:p>
        </p:txBody>
      </p:sp>
      <p:sp>
        <p:nvSpPr>
          <p:cNvPr id="28" name="Rectangle 27"/>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AD cells</a:t>
            </a:r>
          </a:p>
        </p:txBody>
      </p:sp>
      <p:sp>
        <p:nvSpPr>
          <p:cNvPr id="30" name="Rectangle 29"/>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40" b="1" i="0">
                <a:solidFill>
                  <a:srgbClr val="FFFFFF"/>
                </a:solidFill>
                <a:latin typeface="Arial"/>
              </a:rPr>
              <a:t>NCI cells</a:t>
            </a:r>
          </a:p>
        </p:txBody>
      </p:sp>
      <p:sp>
        <p:nvSpPr>
          <p:cNvPr id="32" name="Rectangle 3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Fib SLC4A4</a:t>
            </a:r>
          </a:p>
        </p:txBody>
      </p:sp>
      <p:sp>
        <p:nvSpPr>
          <p:cNvPr id="34" name="Rectangle 33"/>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36" name="Rectangle 35"/>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0</a:t>
            </a:r>
          </a:p>
        </p:txBody>
      </p:sp>
      <p:sp>
        <p:nvSpPr>
          <p:cNvPr id="38" name="Rectangle 37"/>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11</a:t>
            </a:r>
          </a:p>
        </p:txBody>
      </p:sp>
      <p:sp>
        <p:nvSpPr>
          <p:cNvPr id="40" name="Rectangle 39"/>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CAMs</a:t>
            </a:r>
          </a:p>
        </p:txBody>
      </p:sp>
      <p:sp>
        <p:nvSpPr>
          <p:cNvPr id="42" name="Rectangle 4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44" name="Rectangle 43"/>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45</a:t>
            </a:r>
          </a:p>
        </p:txBody>
      </p:sp>
      <p:sp>
        <p:nvSpPr>
          <p:cNvPr id="46" name="Rectangle 45"/>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1</a:t>
            </a:r>
          </a:p>
        </p:txBody>
      </p:sp>
      <p:sp>
        <p:nvSpPr>
          <p:cNvPr id="48" name="Rectangle 47"/>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Mic MKI67</a:t>
            </a:r>
          </a:p>
        </p:txBody>
      </p:sp>
      <p:sp>
        <p:nvSpPr>
          <p:cNvPr id="50" name="Rectangle 49"/>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M_e2</a:t>
            </a:r>
          </a:p>
        </p:txBody>
      </p:sp>
      <p:sp>
        <p:nvSpPr>
          <p:cNvPr id="52" name="Rectangle 5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2</a:t>
            </a:r>
          </a:p>
        </p:txBody>
      </p:sp>
      <p:sp>
        <p:nvSpPr>
          <p:cNvPr id="54" name="Rectangle 53"/>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80" b="0" i="0">
                <a:solidFill>
                  <a:srgbClr val="1F2730"/>
                </a:solidFill>
                <a:latin typeface="Arial"/>
              </a:rPr>
              <a:t>9</a:t>
            </a:r>
          </a:p>
        </p:txBody>
      </p:sp>
      <p:sp>
        <p:nvSpPr>
          <p:cNvPr id="56" name="TextBox 55"/>
          <p:cNvSpPr txBox="1"/>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350" b="1" i="0">
                <a:solidFill>
                  <a:srgbClr val="D55E00"/>
                </a:solidFill>
                <a:latin typeface="Arial"/>
              </a:rPr>
              <a:t>3 unavailable comparisons × 2 directions = 6 unavailable slots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2100" b="1" dirty="0">
                <a:solidFill>
                  <a:srgbClr val="0F233D"/>
                </a:solidFill>
                <a:latin typeface="Arial"/>
              </a:rPr>
              <a:t>M</a:t>
            </a:r>
            <a:r>
              <a:rPr sz="2100" b="1" i="0" dirty="0">
                <a:solidFill>
                  <a:srgbClr val="0F233D"/>
                </a:solidFill>
                <a:latin typeface="Arial"/>
              </a:rPr>
              <a:t>itochondrial query genes</a:t>
            </a:r>
          </a:p>
        </p:txBody>
      </p:sp>
      <p:sp>
        <p:nvSpPr>
          <p:cNvPr id="5" name="Rounded Rectangle 4"/>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dirty="0">
                <a:solidFill>
                  <a:srgbClr val="0F233D"/>
                </a:solidFill>
                <a:latin typeface="Arial"/>
              </a:rPr>
              <a:t>DEG rule</a:t>
            </a:r>
          </a:p>
        </p:txBody>
      </p:sp>
      <p:sp>
        <p:nvSpPr>
          <p:cNvPr id="8" name="Oval 7"/>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Detected in ≥10% of AD or NCI nuclei.</a:t>
            </a:r>
          </a:p>
        </p:txBody>
      </p:sp>
      <p:sp>
        <p:nvSpPr>
          <p:cNvPr id="10" name="Oval 9"/>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Within-contrast BH FDR &lt; 0.05.</a:t>
            </a:r>
          </a:p>
        </p:txBody>
      </p:sp>
      <p:sp>
        <p:nvSpPr>
          <p:cNvPr id="12" name="Oval 1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a:solidFill>
                  <a:srgbClr val="1F2730"/>
                </a:solidFill>
                <a:latin typeface="Arial"/>
              </a:rPr>
              <a:t>|log₂ fold change| &gt; log₂(1.3) ≈ 0.379.</a:t>
            </a:r>
          </a:p>
        </p:txBody>
      </p:sp>
      <p:sp>
        <p:nvSpPr>
          <p:cNvPr id="14" name="Oval 13"/>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40" b="0" i="0" dirty="0">
                <a:solidFill>
                  <a:srgbClr val="1F2730"/>
                </a:solidFill>
                <a:latin typeface="Arial"/>
              </a:rPr>
              <a:t>Positive and negative results </a:t>
            </a:r>
            <a:r>
              <a:rPr lang="en-US" sz="1240" b="0" i="0" dirty="0">
                <a:solidFill>
                  <a:srgbClr val="1F2730"/>
                </a:solidFill>
                <a:latin typeface="Arial"/>
              </a:rPr>
              <a:t>for</a:t>
            </a:r>
            <a:r>
              <a:rPr sz="1240" b="0" i="0" dirty="0">
                <a:solidFill>
                  <a:srgbClr val="1F2730"/>
                </a:solidFill>
                <a:latin typeface="Arial"/>
              </a:rPr>
              <a:t> AD-up and AD-down queries.</a:t>
            </a:r>
          </a:p>
        </p:txBody>
      </p:sp>
      <p:sp>
        <p:nvSpPr>
          <p:cNvPr id="16" name="Rounded Rectangle 15"/>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20" b="1" i="0" dirty="0">
                <a:solidFill>
                  <a:srgbClr val="0F233D"/>
                </a:solidFill>
                <a:latin typeface="Arial"/>
              </a:rPr>
              <a:t>Query = DEG</a:t>
            </a:r>
            <a:r>
              <a:rPr lang="en-US" sz="1120" b="1" i="0" dirty="0">
                <a:solidFill>
                  <a:srgbClr val="0F233D"/>
                </a:solidFill>
                <a:latin typeface="Arial"/>
              </a:rPr>
              <a:t> rule</a:t>
            </a:r>
            <a:r>
              <a:rPr sz="1120" b="1" i="0" dirty="0">
                <a:solidFill>
                  <a:srgbClr val="0F233D"/>
                </a:solidFill>
                <a:latin typeface="Arial"/>
              </a:rPr>
              <a:t> ∩ </a:t>
            </a:r>
            <a:r>
              <a:rPr sz="1120" b="1" i="0" dirty="0" err="1">
                <a:solidFill>
                  <a:srgbClr val="0F233D"/>
                </a:solidFill>
                <a:latin typeface="Arial"/>
              </a:rPr>
              <a:t>core_mito_protein</a:t>
            </a:r>
            <a:r>
              <a:rPr sz="1120" b="1" i="0" dirty="0">
                <a:solidFill>
                  <a:srgbClr val="0F233D"/>
                </a:solidFill>
                <a:latin typeface="Arial"/>
              </a:rPr>
              <a:t> ∩ requested direction</a:t>
            </a:r>
          </a:p>
        </p:txBody>
      </p:sp>
      <p:sp>
        <p:nvSpPr>
          <p:cNvPr id="18" name="Rounded Rectangle 17"/>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2,864,117</a:t>
            </a:r>
          </a:p>
        </p:txBody>
      </p:sp>
      <p:sp>
        <p:nvSpPr>
          <p:cNvPr id="20" name="TextBox 19"/>
          <p:cNvSpPr txBox="1"/>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tested gene × comparison rows</a:t>
            </a:r>
          </a:p>
        </p:txBody>
      </p:sp>
      <p:sp>
        <p:nvSpPr>
          <p:cNvPr id="21" name="Rounded Rectangle 20"/>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118,297</a:t>
            </a:r>
          </a:p>
        </p:txBody>
      </p:sp>
      <p:sp>
        <p:nvSpPr>
          <p:cNvPr id="23" name="TextBox 22"/>
          <p:cNvSpPr txBox="1"/>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lang="en-US" sz="960" b="1" i="0" dirty="0">
                <a:solidFill>
                  <a:srgbClr val="4E5A68"/>
                </a:solidFill>
                <a:latin typeface="Arial"/>
              </a:rPr>
              <a:t>Passed </a:t>
            </a:r>
            <a:r>
              <a:rPr sz="960" b="1" i="0" dirty="0">
                <a:solidFill>
                  <a:srgbClr val="4E5A68"/>
                </a:solidFill>
                <a:latin typeface="Arial"/>
              </a:rPr>
              <a:t>DEG</a:t>
            </a:r>
          </a:p>
        </p:txBody>
      </p:sp>
      <p:sp>
        <p:nvSpPr>
          <p:cNvPr id="24" name="TextBox 23"/>
          <p:cNvSpPr txBox="1"/>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58,112 up • 60,185 down</a:t>
            </a:r>
          </a:p>
        </p:txBody>
      </p:sp>
      <p:sp>
        <p:nvSpPr>
          <p:cNvPr id="25" name="Rounded Rectangle 24"/>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9,262</a:t>
            </a:r>
          </a:p>
        </p:txBody>
      </p:sp>
      <p:sp>
        <p:nvSpPr>
          <p:cNvPr id="27" name="TextBox 26"/>
          <p:cNvSpPr txBox="1"/>
          <p:nvPr/>
        </p:nvSpPr>
        <p:spPr>
          <a:xfrm>
            <a:off x="9235440"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dirty="0">
                <a:solidFill>
                  <a:srgbClr val="4E5A68"/>
                </a:solidFill>
                <a:latin typeface="Arial"/>
              </a:rPr>
              <a:t>core-MT query </a:t>
            </a:r>
            <a:r>
              <a:rPr lang="en-US" sz="960" b="1" i="0" dirty="0">
                <a:solidFill>
                  <a:srgbClr val="4E5A68"/>
                </a:solidFill>
                <a:latin typeface="Arial"/>
              </a:rPr>
              <a:t>genes</a:t>
            </a:r>
            <a:endParaRPr sz="960" b="1" i="0" dirty="0">
              <a:solidFill>
                <a:srgbClr val="4E5A68"/>
              </a:solidFill>
              <a:latin typeface="Arial"/>
            </a:endParaRPr>
          </a:p>
        </p:txBody>
      </p:sp>
      <p:sp>
        <p:nvSpPr>
          <p:cNvPr id="28" name="TextBox 27"/>
          <p:cNvSpPr txBox="1"/>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780" b="0" i="0">
                <a:solidFill>
                  <a:srgbClr val="6C7988"/>
                </a:solidFill>
                <a:latin typeface="Arial"/>
              </a:rPr>
              <a:t>4,258 up • 5,004 down</a:t>
            </a:r>
          </a:p>
        </p:txBody>
      </p:sp>
      <p:sp>
        <p:nvSpPr>
          <p:cNvPr id="29" name="Rounded Rectangle 28"/>
          <p:cNvSpPr/>
          <p:nvPr/>
        </p:nvSpPr>
        <p:spPr>
          <a:xfrm>
            <a:off x="4626864" y="3017520"/>
            <a:ext cx="6528816" cy="239572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50" b="1" i="0">
                <a:solidFill>
                  <a:srgbClr val="009E73"/>
                </a:solidFill>
                <a:latin typeface="Arial"/>
              </a:rPr>
              <a:t>NETWORK-BACKGROUND INTERSECTION</a:t>
            </a:r>
          </a:p>
        </p:txBody>
      </p:sp>
      <p:sp>
        <p:nvSpPr>
          <p:cNvPr id="31" name="TextBox 30"/>
          <p:cNvSpPr txBox="1"/>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750" b="1" i="0" dirty="0">
                <a:solidFill>
                  <a:srgbClr val="0F233D"/>
                </a:solidFill>
                <a:latin typeface="Arial"/>
              </a:rPr>
              <a:t>9,262 provisional query </a:t>
            </a:r>
            <a:r>
              <a:rPr lang="en-US" sz="1750" b="1" i="0" dirty="0">
                <a:solidFill>
                  <a:srgbClr val="0F233D"/>
                </a:solidFill>
                <a:latin typeface="Arial"/>
              </a:rPr>
              <a:t>genes</a:t>
            </a:r>
            <a:endParaRPr sz="1750" b="1" i="0" dirty="0">
              <a:solidFill>
                <a:srgbClr val="0F233D"/>
              </a:solidFill>
              <a:latin typeface="Arial"/>
            </a:endParaRPr>
          </a:p>
        </p:txBody>
      </p:sp>
      <p:sp>
        <p:nvSpPr>
          <p:cNvPr id="32" name="TextBox 31"/>
          <p:cNvSpPr txBox="1"/>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dirty="0">
                <a:solidFill>
                  <a:srgbClr val="D55E00"/>
                </a:solidFill>
                <a:latin typeface="Arial"/>
              </a:rPr>
              <a:t>− 1,329 absent from the </a:t>
            </a:r>
            <a:r>
              <a:rPr lang="en-US" sz="1300" b="1" dirty="0">
                <a:solidFill>
                  <a:srgbClr val="D55E00"/>
                </a:solidFill>
                <a:latin typeface="Arial"/>
              </a:rPr>
              <a:t>Bayesian network</a:t>
            </a:r>
            <a:endParaRPr sz="1300" b="1" i="0" dirty="0">
              <a:solidFill>
                <a:srgbClr val="D55E00"/>
              </a:solidFill>
              <a:latin typeface="Arial"/>
            </a:endParaRPr>
          </a:p>
        </p:txBody>
      </p:sp>
      <p:sp>
        <p:nvSpPr>
          <p:cNvPr id="33" name="TextBox 32"/>
          <p:cNvSpPr txBox="1"/>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800" b="1" i="0" dirty="0">
                <a:solidFill>
                  <a:srgbClr val="009E73"/>
                </a:solidFill>
                <a:latin typeface="Arial"/>
              </a:rPr>
              <a:t>= 7,933 query </a:t>
            </a:r>
            <a:r>
              <a:rPr lang="en-US" sz="1800" b="1" i="0" dirty="0">
                <a:solidFill>
                  <a:srgbClr val="009E73"/>
                </a:solidFill>
                <a:latin typeface="Arial"/>
              </a:rPr>
              <a:t>genes</a:t>
            </a:r>
            <a:endParaRPr sz="1800" b="1" i="0" dirty="0">
              <a:solidFill>
                <a:srgbClr val="009E73"/>
              </a:solidFill>
              <a:latin typeface="Arial"/>
            </a:endParaRPr>
          </a:p>
        </p:txBody>
      </p:sp>
      <p:sp>
        <p:nvSpPr>
          <p:cNvPr id="34" name="TextBox 33"/>
          <p:cNvSpPr txBox="1"/>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0" i="0">
                <a:solidFill>
                  <a:srgbClr val="4E5A68"/>
                </a:solidFill>
                <a:latin typeface="Arial"/>
              </a:rPr>
              <a:t>Membership counts can repeat the same gene across contrasts and directions.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dirty="0">
                <a:solidFill>
                  <a:srgbClr val="0F233D"/>
                </a:solidFill>
                <a:latin typeface="Arial"/>
              </a:rPr>
              <a:t>Top-five: 149 non-MT entries across 32 categories</a:t>
            </a:r>
          </a:p>
        </p:txBody>
      </p:sp>
      <p:pic>
        <p:nvPicPr>
          <p:cNvPr id="5" name="Simple returned-only Phase 20 female and male panels showing up to five non-MT genes per sex/APOE by broad-cell category" descr="Simple returned-only Phase 20 female and male panels showing up to five non-MT genes per sex/APOE by broad-cell category"/>
          <p:cNvPicPr>
            <a:picLocks noChangeAspect="1"/>
          </p:cNvPicPr>
          <p:nvPr/>
        </p:nvPicPr>
        <p:blipFill>
          <a:blip r:embed="rId3"/>
          <a:stretch>
            <a:fillRect/>
          </a:stretch>
        </p:blipFill>
        <p:spPr>
          <a:xfrm>
            <a:off x="1527129" y="760631"/>
            <a:ext cx="9031602" cy="614550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RPS15 recurs across 12 returned-only categories</a:t>
            </a:r>
          </a:p>
        </p:txBody>
      </p:sp>
      <p:sp>
        <p:nvSpPr>
          <p:cNvPr id="4" name="TextBox 3"/>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Returned-only recurrence is descriptive across sex/APOE × broad-cell categories.</a:t>
            </a:r>
          </a:p>
        </p:txBody>
      </p:sp>
      <p:sp>
        <p:nvSpPr>
          <p:cNvPr id="5" name="Rounded Rectangle 4"/>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Simple returned-only Phase 20 bar chart of the twenty non-MT genes appearing in the most sex/APOE by broad-cell categories" descr="Simple returned-only Phase 20 bar chart of the twenty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10" name="Oval 9"/>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Bar length = number of categories containing the gene.</a:t>
            </a:r>
          </a:p>
        </p:txBody>
      </p:sp>
      <p:sp>
        <p:nvSpPr>
          <p:cNvPr id="12" name="Oval 1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dirty="0">
                <a:solidFill>
                  <a:srgbClr val="1F2730"/>
                </a:solidFill>
                <a:latin typeface="Arial"/>
              </a:rPr>
              <a:t>Fill = categories whose score combines ≥2 returned calls</a:t>
            </a:r>
            <a:r>
              <a:rPr lang="en-US" sz="1130" b="0" i="0" dirty="0">
                <a:solidFill>
                  <a:srgbClr val="1F2730"/>
                </a:solidFill>
                <a:latin typeface="Arial"/>
              </a:rPr>
              <a:t> (used ACAT to aggregate p value)</a:t>
            </a:r>
            <a:r>
              <a:rPr sz="1130" b="0" i="0" dirty="0">
                <a:solidFill>
                  <a:srgbClr val="1F2730"/>
                </a:solidFill>
                <a:latin typeface="Arial"/>
              </a:rPr>
              <a:t>.</a:t>
            </a:r>
          </a:p>
        </p:txBody>
      </p:sp>
      <p:sp>
        <p:nvSpPr>
          <p:cNvPr id="14" name="Oval 13"/>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RPS15: 12 categories, 6 groups, 5 networks; ACAT in 4.</a:t>
            </a:r>
          </a:p>
        </p:txBody>
      </p:sp>
      <p:sp>
        <p:nvSpPr>
          <p:cNvPr id="16" name="Oval 15"/>
          <p:cNvSpPr/>
          <p:nvPr/>
        </p:nvSpPr>
        <p:spPr>
          <a:xfrm>
            <a:off x="7525512" y="38861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99248" y="3758183"/>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RPL11: 10 categories, 6 groups, 4 networks; ACAT in 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Simple output: 689 non-MT category units represent 433 genes</a:t>
            </a:r>
          </a:p>
        </p:txBody>
      </p:sp>
      <p:sp>
        <p:nvSpPr>
          <p:cNvPr id="5" name="Rounded Rectangle 4"/>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1,033</a:t>
            </a:r>
          </a:p>
        </p:txBody>
      </p:sp>
      <p:sp>
        <p:nvSpPr>
          <p:cNvPr id="7" name="TextBox 6"/>
          <p:cNvSpPr txBox="1"/>
          <p:nvPr/>
        </p:nvSpPr>
        <p:spPr>
          <a:xfrm>
            <a:off x="804672"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non-MT returned call rows</a:t>
            </a:r>
          </a:p>
        </p:txBody>
      </p:sp>
      <p:sp>
        <p:nvSpPr>
          <p:cNvPr id="8" name="Rounded Rectangle 7"/>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689</a:t>
            </a:r>
          </a:p>
        </p:txBody>
      </p:sp>
      <p:sp>
        <p:nvSpPr>
          <p:cNvPr id="10" name="TextBox 9"/>
          <p:cNvSpPr txBox="1"/>
          <p:nvPr/>
        </p:nvSpPr>
        <p:spPr>
          <a:xfrm>
            <a:off x="2944368"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non-MT gene × category units</a:t>
            </a:r>
          </a:p>
        </p:txBody>
      </p:sp>
      <p:sp>
        <p:nvSpPr>
          <p:cNvPr id="11" name="Rounded Rectangle 10"/>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433</a:t>
            </a:r>
          </a:p>
        </p:txBody>
      </p:sp>
      <p:sp>
        <p:nvSpPr>
          <p:cNvPr id="13" name="TextBox 12"/>
          <p:cNvSpPr txBox="1"/>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distinct gene symbols</a:t>
            </a:r>
          </a:p>
        </p:txBody>
      </p:sp>
      <p:sp>
        <p:nvSpPr>
          <p:cNvPr id="14" name="Rounded Rectangle 13"/>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32</a:t>
            </a:r>
          </a:p>
        </p:txBody>
      </p:sp>
      <p:sp>
        <p:nvSpPr>
          <p:cNvPr id="16" name="TextBox 15"/>
          <p:cNvSpPr txBox="1"/>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categories with non-MT returns</a:t>
            </a:r>
          </a:p>
        </p:txBody>
      </p:sp>
      <p:sp>
        <p:nvSpPr>
          <p:cNvPr id="17" name="Rounded Rectangle 16"/>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149</a:t>
            </a:r>
          </a:p>
        </p:txBody>
      </p:sp>
      <p:sp>
        <p:nvSpPr>
          <p:cNvPr id="19" name="TextBox 18"/>
          <p:cNvSpPr txBox="1"/>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top-five displayed rows</a:t>
            </a:r>
          </a:p>
        </p:txBody>
      </p:sp>
      <p:sp>
        <p:nvSpPr>
          <p:cNvPr id="20" name="Rounded Rectangle 19"/>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8992" y="3163824"/>
            <a:ext cx="457200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Where non-MT driver units occur</a:t>
            </a:r>
          </a:p>
        </p:txBody>
      </p:sp>
      <p:sp>
        <p:nvSpPr>
          <p:cNvPr id="23" name="TextBox 22"/>
          <p:cNvSpPr txBox="1"/>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By sex/APOE group</a:t>
            </a:r>
          </a:p>
        </p:txBody>
      </p:sp>
      <p:sp>
        <p:nvSpPr>
          <p:cNvPr id="24" name="TextBox 23"/>
          <p:cNvSpPr txBox="1"/>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70" b="1" i="0">
                <a:solidFill>
                  <a:srgbClr val="0F233D"/>
                </a:solidFill>
                <a:latin typeface="Arial"/>
              </a:rPr>
              <a:t>M_e2 139  •  F_e4 133  •  M_e4 127  •  F_e2 101  •  M_e33 97  •  F_e33 92</a:t>
            </a:r>
          </a:p>
        </p:txBody>
      </p:sp>
      <p:sp>
        <p:nvSpPr>
          <p:cNvPr id="25" name="TextBox 24"/>
          <p:cNvSpPr txBox="1"/>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72B2"/>
                </a:solidFill>
                <a:latin typeface="Arial"/>
              </a:rPr>
              <a:t>By broad network</a:t>
            </a:r>
          </a:p>
        </p:txBody>
      </p:sp>
      <p:sp>
        <p:nvSpPr>
          <p:cNvPr id="26" name="TextBox 25"/>
          <p:cNvSpPr txBox="1"/>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30" b="1" i="0">
                <a:solidFill>
                  <a:srgbClr val="0F233D"/>
                </a:solidFill>
                <a:latin typeface="Arial"/>
              </a:rPr>
              <a:t>Excitatory 363 • Inhibitory 175 • Astrocytes 63 • OPCs 33
Oligo 27 • Microglia 23 • Vasculature 5</a:t>
            </a:r>
          </a:p>
        </p:txBody>
      </p:sp>
      <p:sp>
        <p:nvSpPr>
          <p:cNvPr id="27" name="Rounded Rectangle 26"/>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Most recurrent returned-only genes</a:t>
            </a:r>
          </a:p>
        </p:txBody>
      </p:sp>
      <p:sp>
        <p:nvSpPr>
          <p:cNvPr id="30" name="TextBox 29"/>
          <p:cNvSpPr txBox="1"/>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RPS15</a:t>
            </a:r>
          </a:p>
        </p:txBody>
      </p:sp>
      <p:sp>
        <p:nvSpPr>
          <p:cNvPr id="31" name="Rectangle 30"/>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12</a:t>
            </a:r>
          </a:p>
        </p:txBody>
      </p:sp>
      <p:sp>
        <p:nvSpPr>
          <p:cNvPr id="33" name="TextBox 32"/>
          <p:cNvSpPr txBox="1"/>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RPL11</a:t>
            </a:r>
          </a:p>
        </p:txBody>
      </p:sp>
      <p:sp>
        <p:nvSpPr>
          <p:cNvPr id="34" name="Rectangle 33"/>
          <p:cNvSpPr/>
          <p:nvPr/>
        </p:nvSpPr>
        <p:spPr>
          <a:xfrm>
            <a:off x="7891272" y="3995928"/>
            <a:ext cx="199644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10</a:t>
            </a:r>
          </a:p>
        </p:txBody>
      </p:sp>
      <p:sp>
        <p:nvSpPr>
          <p:cNvPr id="36" name="TextBox 35"/>
          <p:cNvSpPr txBox="1"/>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RPLP1</a:t>
            </a:r>
          </a:p>
        </p:txBody>
      </p:sp>
      <p:sp>
        <p:nvSpPr>
          <p:cNvPr id="37" name="Rectangle 36"/>
          <p:cNvSpPr/>
          <p:nvPr/>
        </p:nvSpPr>
        <p:spPr>
          <a:xfrm>
            <a:off x="7891272" y="4288536"/>
            <a:ext cx="1796796"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9</a:t>
            </a:r>
          </a:p>
        </p:txBody>
      </p:sp>
      <p:sp>
        <p:nvSpPr>
          <p:cNvPr id="39" name="TextBox 38"/>
          <p:cNvSpPr txBox="1"/>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RPL15</a:t>
            </a:r>
          </a:p>
        </p:txBody>
      </p:sp>
      <p:sp>
        <p:nvSpPr>
          <p:cNvPr id="40" name="Rectangle 39"/>
          <p:cNvSpPr/>
          <p:nvPr/>
        </p:nvSpPr>
        <p:spPr>
          <a:xfrm>
            <a:off x="7891272" y="4581144"/>
            <a:ext cx="1796796"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9</a:t>
            </a:r>
          </a:p>
        </p:txBody>
      </p:sp>
      <p:sp>
        <p:nvSpPr>
          <p:cNvPr id="42" name="TextBox 41"/>
          <p:cNvSpPr txBox="1"/>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SELENOW</a:t>
            </a:r>
          </a:p>
        </p:txBody>
      </p:sp>
      <p:sp>
        <p:nvSpPr>
          <p:cNvPr id="43" name="Rectangle 42"/>
          <p:cNvSpPr/>
          <p:nvPr/>
        </p:nvSpPr>
        <p:spPr>
          <a:xfrm>
            <a:off x="7891272" y="4873752"/>
            <a:ext cx="1597152"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8</a:t>
            </a:r>
          </a:p>
        </p:txBody>
      </p:sp>
      <p:sp>
        <p:nvSpPr>
          <p:cNvPr id="45" name="TextBox 44"/>
          <p:cNvSpPr txBox="1"/>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SELENOM</a:t>
            </a:r>
          </a:p>
        </p:txBody>
      </p:sp>
      <p:sp>
        <p:nvSpPr>
          <p:cNvPr id="46" name="Rectangle 45"/>
          <p:cNvSpPr/>
          <p:nvPr/>
        </p:nvSpPr>
        <p:spPr>
          <a:xfrm>
            <a:off x="7891272" y="5166359"/>
            <a:ext cx="1597152"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pPr>
            <a:r>
              <a:rPr sz="1040" b="1" i="0">
                <a:solidFill>
                  <a:srgbClr val="009E73"/>
                </a:solidFill>
                <a:latin typeface="Arial"/>
              </a:rPr>
              <a:t>8</a:t>
            </a:r>
          </a:p>
        </p:txBody>
      </p:sp>
      <p:sp>
        <p:nvSpPr>
          <p:cNvPr id="48" name="TextBox 47"/>
          <p:cNvSpPr txBox="1"/>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69" b="0" i="1">
                <a:solidFill>
                  <a:srgbClr val="4E5A68"/>
                </a:solidFill>
                <a:latin typeface="Arial"/>
              </a:rPr>
              <a:t>Counts are category presence—not independent replication or call counts.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009E73"/>
                </a:solidFill>
                <a:latin typeface="Arial"/>
              </a:rPr>
              <a:t>PART 2</a:t>
            </a:r>
          </a:p>
        </p:txBody>
      </p:sp>
      <p:sp>
        <p:nvSpPr>
          <p:cNvPr id="3" name="Rectangle 2"/>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243584"/>
            <a:ext cx="7909560" cy="12252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SEA-AD network-specific KDA rerun</a:t>
            </a:r>
          </a:p>
        </p:txBody>
      </p:sp>
      <p:sp>
        <p:nvSpPr>
          <p:cNvPr id="5" name="TextBox 4"/>
          <p:cNvSpPr txBox="1"/>
          <p:nvPr/>
        </p:nvSpPr>
        <p:spPr>
          <a:xfrm>
            <a:off x="1097280" y="2743200"/>
            <a:ext cx="7589520"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CCDBEA"/>
                </a:solidFill>
                <a:latin typeface="Arial"/>
              </a:rPr>
              <a:t>129 supertypes define the planned universe; 34 calls were rerun against SEA-AD-specific Bayesian networks.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009E73"/>
                </a:solidFill>
                <a:latin typeface="Arial"/>
              </a:rPr>
              <a:t>IN THIS PART</a:t>
            </a:r>
          </a:p>
        </p:txBody>
      </p:sp>
      <p:sp>
        <p:nvSpPr>
          <p:cNvPr id="8" name="Oval 7"/>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Run universe</a:t>
            </a:r>
          </a:p>
        </p:txBody>
      </p:sp>
      <p:sp>
        <p:nvSpPr>
          <p:cNvPr id="11" name="Oval 10"/>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Top-five results</a:t>
            </a:r>
          </a:p>
        </p:txBody>
      </p:sp>
      <p:sp>
        <p:nvSpPr>
          <p:cNvPr id="14" name="Oval 13"/>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Driver recurrence</a:t>
            </a:r>
          </a:p>
        </p:txBody>
      </p:sp>
      <p:sp>
        <p:nvSpPr>
          <p:cNvPr id="17" name="Oval 16"/>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Result scale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129 SEA-AD supertypes create 1,548 planned directional slots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Supertype × sex/APOE contrast × AD-up/AD-down mitochondrial query; network mapping determines executable calls.</a:t>
            </a:r>
          </a:p>
        </p:txBody>
      </p:sp>
      <p:sp>
        <p:nvSpPr>
          <p:cNvPr id="4" name="Rounded Rectangle 3"/>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129 supertypes</a:t>
            </a:r>
          </a:p>
        </p:txBody>
      </p:sp>
      <p:sp>
        <p:nvSpPr>
          <p:cNvPr id="6" name="TextBox 5"/>
          <p:cNvSpPr txBox="1"/>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00684D"/>
                </a:solidFill>
                <a:latin typeface="Arial"/>
              </a:rPr>
              <a:t>× 6 groups = 774 contrasts</a:t>
            </a:r>
          </a:p>
        </p:txBody>
      </p:sp>
      <p:sp>
        <p:nvSpPr>
          <p:cNvPr id="7" name="Rounded Rectangle 6"/>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36008"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774 contrasts</a:t>
            </a:r>
          </a:p>
        </p:txBody>
      </p:sp>
      <p:sp>
        <p:nvSpPr>
          <p:cNvPr id="9" name="TextBox 8"/>
          <p:cNvSpPr txBox="1"/>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56B4E9"/>
                </a:solidFill>
                <a:latin typeface="Arial"/>
              </a:rPr>
              <a:t>× up/down = 1,548 slots</a:t>
            </a:r>
          </a:p>
        </p:txBody>
      </p:sp>
      <p:sp>
        <p:nvSpPr>
          <p:cNvPr id="10" name="Rounded Rectangle 9"/>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03336"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900" b="1" i="0">
                <a:solidFill>
                  <a:srgbClr val="0F233D"/>
                </a:solidFill>
                <a:latin typeface="Arial"/>
              </a:rPr>
              <a:t>34 KDA calls</a:t>
            </a:r>
          </a:p>
        </p:txBody>
      </p:sp>
      <p:sp>
        <p:nvSpPr>
          <p:cNvPr id="12" name="TextBox 11"/>
          <p:cNvSpPr txBox="1"/>
          <p:nvPr/>
        </p:nvSpPr>
        <p:spPr>
          <a:xfrm>
            <a:off x="8403336"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30" b="1" i="0">
                <a:solidFill>
                  <a:srgbClr val="895600"/>
                </a:solidFill>
                <a:latin typeface="Arial"/>
              </a:rPr>
              <a:t>effective mapped query n ≥ 3</a:t>
            </a:r>
          </a:p>
        </p:txBody>
      </p:sp>
      <p:sp>
        <p:nvSpPr>
          <p:cNvPr id="13" name="Rectangle 12"/>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Mutually exclusive slot outcome</a:t>
            </a:r>
          </a:p>
        </p:txBody>
      </p:sp>
      <p:sp>
        <p:nvSpPr>
          <p:cNvPr id="15" name="Rectangle 14"/>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Slots</a:t>
            </a:r>
          </a:p>
        </p:txBody>
      </p:sp>
      <p:sp>
        <p:nvSpPr>
          <p:cNvPr id="17" name="Rectangle 16"/>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19" b="1" i="0">
                <a:solidFill>
                  <a:srgbClr val="FFFFFF"/>
                </a:solidFill>
                <a:latin typeface="Arial"/>
              </a:rPr>
              <a:t>KDA called?</a:t>
            </a:r>
          </a:p>
        </p:txBody>
      </p:sp>
      <p:sp>
        <p:nvSpPr>
          <p:cNvPr id="19" name="Rectangle 18"/>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41247" y="3310128"/>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Source DEG contrast not estimable</a:t>
            </a:r>
          </a:p>
        </p:txBody>
      </p:sp>
      <p:sp>
        <p:nvSpPr>
          <p:cNvPr id="21" name="Rectangle 20"/>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786</a:t>
            </a:r>
          </a:p>
        </p:txBody>
      </p:sp>
      <p:sp>
        <p:nvSpPr>
          <p:cNvPr id="23" name="Rectangle 22"/>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a:t>
            </a:r>
          </a:p>
        </p:txBody>
      </p:sp>
      <p:sp>
        <p:nvSpPr>
          <p:cNvPr id="25" name="Rectangle 24"/>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1247" y="3739896"/>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Estimable source; FDR-only query = 0</a:t>
            </a:r>
          </a:p>
        </p:txBody>
      </p:sp>
      <p:sp>
        <p:nvSpPr>
          <p:cNvPr id="27" name="Rectangle 26"/>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708</a:t>
            </a:r>
          </a:p>
        </p:txBody>
      </p:sp>
      <p:sp>
        <p:nvSpPr>
          <p:cNvPr id="29" name="Rectangle 28"/>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a:t>
            </a:r>
          </a:p>
        </p:txBody>
      </p:sp>
      <p:sp>
        <p:nvSpPr>
          <p:cNvPr id="31" name="Rectangle 30"/>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41247" y="4169663"/>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Effective mapped query 1–2</a:t>
            </a:r>
          </a:p>
        </p:txBody>
      </p:sp>
      <p:sp>
        <p:nvSpPr>
          <p:cNvPr id="33" name="Rectangle 32"/>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20</a:t>
            </a:r>
          </a:p>
        </p:txBody>
      </p:sp>
      <p:sp>
        <p:nvSpPr>
          <p:cNvPr id="35" name="Rectangle 34"/>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a:solidFill>
                  <a:srgbClr val="1F2730"/>
                </a:solidFill>
                <a:latin typeface="Arial"/>
              </a:rPr>
              <a:t>No</a:t>
            </a:r>
          </a:p>
        </p:txBody>
      </p:sp>
      <p:sp>
        <p:nvSpPr>
          <p:cNvPr id="37" name="Rectangle 36"/>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41247" y="4676173"/>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dirty="0">
                <a:solidFill>
                  <a:srgbClr val="1F2730"/>
                </a:solidFill>
                <a:latin typeface="Arial"/>
              </a:rPr>
              <a:t>Effective mapped query </a:t>
            </a:r>
            <a:r>
              <a:rPr lang="en-US" sz="960" dirty="0">
                <a:solidFill>
                  <a:srgbClr val="1F2730"/>
                </a:solidFill>
                <a:latin typeface="Arial"/>
              </a:rPr>
              <a:t>&gt;=3</a:t>
            </a:r>
            <a:endParaRPr sz="960" b="0" i="0" dirty="0">
              <a:solidFill>
                <a:srgbClr val="1F2730"/>
              </a:solidFill>
              <a:latin typeface="Arial"/>
            </a:endParaRPr>
          </a:p>
        </p:txBody>
      </p:sp>
      <p:sp>
        <p:nvSpPr>
          <p:cNvPr id="39" name="Rectangle 38"/>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lang="en-US" sz="960" dirty="0">
                <a:solidFill>
                  <a:srgbClr val="1F2730"/>
                </a:solidFill>
                <a:latin typeface="Arial"/>
              </a:rPr>
              <a:t>34</a:t>
            </a:r>
            <a:endParaRPr sz="960" b="0" i="0" dirty="0">
              <a:solidFill>
                <a:srgbClr val="1F2730"/>
              </a:solidFill>
              <a:latin typeface="Arial"/>
            </a:endParaRPr>
          </a:p>
        </p:txBody>
      </p:sp>
      <p:sp>
        <p:nvSpPr>
          <p:cNvPr id="41" name="Rectangle 40"/>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0" i="0" dirty="0">
                <a:solidFill>
                  <a:srgbClr val="1F2730"/>
                </a:solidFill>
                <a:latin typeface="Arial"/>
              </a:rPr>
              <a:t>Yes</a:t>
            </a:r>
          </a:p>
        </p:txBody>
      </p:sp>
      <p:sp>
        <p:nvSpPr>
          <p:cNvPr id="49" name="Rectangle 48"/>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TOTAL</a:t>
            </a:r>
          </a:p>
        </p:txBody>
      </p:sp>
      <p:sp>
        <p:nvSpPr>
          <p:cNvPr id="51" name="Rectangle 50"/>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1,548</a:t>
            </a:r>
          </a:p>
        </p:txBody>
      </p:sp>
      <p:sp>
        <p:nvSpPr>
          <p:cNvPr id="53" name="Rectangle 52"/>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960" b="1" i="0">
                <a:solidFill>
                  <a:srgbClr val="1F2730"/>
                </a:solidFill>
                <a:latin typeface="Arial"/>
              </a:rPr>
              <a:t>34 calls</a:t>
            </a:r>
          </a:p>
        </p:txBody>
      </p:sp>
      <p:sp>
        <p:nvSpPr>
          <p:cNvPr id="55" name="TextBox 54"/>
          <p:cNvSpPr txBox="1"/>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7E4C9A"/>
                </a:solidFill>
                <a:latin typeface="Arial"/>
              </a:rPr>
              <a:t>Availability remains unbalanced: 32 M_e33 calls, one F_e33 call, and one F_e4 call.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Top-five display: 20 non-MT entries across 5 categories</a:t>
            </a:r>
          </a:p>
        </p:txBody>
      </p:sp>
      <p:pic>
        <p:nvPicPr>
          <p:cNvPr id="3" name="VH12 SEA-AD-network top-five non-mitochondrial key drivers by sex/APOE and broad-cell category" descr="VH12 SEA-AD-network top-five non-mitochondrial key drivers by sex/APOE and broad-cell category"/>
          <p:cNvPicPr>
            <a:picLocks noChangeAspect="1"/>
          </p:cNvPicPr>
          <p:nvPr/>
        </p:nvPicPr>
        <p:blipFill>
          <a:blip r:embed="rId3"/>
          <a:stretch>
            <a:fillRect/>
          </a:stretch>
        </p:blipFill>
        <p:spPr>
          <a:xfrm>
            <a:off x="566928" y="1531760"/>
            <a:ext cx="11064240" cy="4306542"/>
          </a:xfrm>
          <a:prstGeom prst="rect">
            <a:avLst/>
          </a:prstGeom>
        </p:spPr>
      </p:pic>
      <p:sp>
        <p:nvSpPr>
          <p:cNvPr id="4" name="TextBox 3"/>
          <p:cNvSpPr txBox="1"/>
          <p:nvPr/>
        </p:nvSpPr>
        <p:spPr>
          <a:xfrm>
            <a:off x="804672" y="6144768"/>
            <a:ext cx="10607040" cy="22860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980" b="0" i="1">
                <a:solidFill>
                  <a:srgbClr val="4E5A68"/>
                </a:solidFill>
                <a:latin typeface="Arial"/>
              </a:rPr>
              <a:t>Blue hatching = ACAT across ≥2 returned calls; orange = one-call q passthrough.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PAPOLA and PJVK each recur across 2 SEA-AD categories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Returned-only recurrence is descriptive across sex/APOE × broad-cell categories.</a:t>
            </a:r>
          </a:p>
        </p:txBody>
      </p:sp>
      <p:sp>
        <p:nvSpPr>
          <p:cNvPr id="4" name="Rounded Rectangle 3"/>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VH12 SEA-AD-network bar chart of the twenty most recurrent non-mitochondrial key drivers" descr="VH12 SEA-AD-network bar chart of the twenty most recurrent non-mitochondrial key driver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How to read it</a:t>
            </a:r>
          </a:p>
        </p:txBody>
      </p:sp>
      <p:sp>
        <p:nvSpPr>
          <p:cNvPr id="9" name="Oval 8"/>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Bar length = categories containing the gene.</a:t>
            </a:r>
          </a:p>
        </p:txBody>
      </p:sp>
      <p:sp>
        <p:nvSpPr>
          <p:cNvPr id="11" name="Oval 10"/>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Fill = category occurrences combining ≥2 returned calls.</a:t>
            </a:r>
          </a:p>
        </p:txBody>
      </p:sp>
      <p:sp>
        <p:nvSpPr>
          <p:cNvPr id="13" name="Oval 12"/>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PAPOLA: excitatory neurons + oligodendrocytes.</a:t>
            </a:r>
          </a:p>
        </p:txBody>
      </p:sp>
      <p:sp>
        <p:nvSpPr>
          <p:cNvPr id="15" name="Oval 14"/>
          <p:cNvSpPr/>
          <p:nvPr/>
        </p:nvSpPr>
        <p:spPr>
          <a:xfrm>
            <a:off x="7525512" y="388619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99248" y="3758183"/>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PJVK: inhibitory neurons + oligodendrocytes.</a:t>
            </a:r>
          </a:p>
        </p:txBody>
      </p:sp>
      <p:sp>
        <p:nvSpPr>
          <p:cNvPr id="17" name="Oval 16"/>
          <p:cNvSpPr/>
          <p:nvPr/>
        </p:nvSpPr>
        <p:spPr>
          <a:xfrm>
            <a:off x="7525512" y="4443983"/>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99248" y="4315968"/>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30" b="0" i="0">
                <a:solidFill>
                  <a:srgbClr val="1F2730"/>
                </a:solidFill>
                <a:latin typeface="Arial"/>
              </a:rPr>
              <a:t>The remaining 18 displayed genes occur in one category.</a:t>
            </a:r>
          </a:p>
        </p:txBody>
      </p:sp>
      <p:sp>
        <p:nvSpPr>
          <p:cNvPr id="19" name="Rounded Rectangle 18"/>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10" b="1" i="0">
                <a:solidFill>
                  <a:srgbClr val="9E3A00"/>
                </a:solidFill>
                <a:latin typeface="Arial"/>
              </a:rPr>
              <a:t>Only 5 categories return non-MT genes.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SEA-AD output: 96 non-MT category units represent 94 genes</a:t>
            </a:r>
          </a:p>
        </p:txBody>
      </p:sp>
      <p:sp>
        <p:nvSpPr>
          <p:cNvPr id="3" name="Rounded Rectangle 2"/>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135</a:t>
            </a:r>
          </a:p>
        </p:txBody>
      </p:sp>
      <p:sp>
        <p:nvSpPr>
          <p:cNvPr id="5" name="TextBox 4"/>
          <p:cNvSpPr txBox="1"/>
          <p:nvPr/>
        </p:nvSpPr>
        <p:spPr>
          <a:xfrm>
            <a:off x="804672"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non-MT returned call rows</a:t>
            </a:r>
          </a:p>
        </p:txBody>
      </p:sp>
      <p:sp>
        <p:nvSpPr>
          <p:cNvPr id="6" name="Rounded Rectangle 5"/>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96</a:t>
            </a:r>
          </a:p>
        </p:txBody>
      </p:sp>
      <p:sp>
        <p:nvSpPr>
          <p:cNvPr id="8" name="TextBox 7"/>
          <p:cNvSpPr txBox="1"/>
          <p:nvPr/>
        </p:nvSpPr>
        <p:spPr>
          <a:xfrm>
            <a:off x="2944368"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gene × category units</a:t>
            </a:r>
          </a:p>
        </p:txBody>
      </p:sp>
      <p:sp>
        <p:nvSpPr>
          <p:cNvPr id="9" name="Rounded Rectangle 8"/>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684D"/>
                </a:solidFill>
                <a:latin typeface="Arial"/>
              </a:rPr>
              <a:t>94</a:t>
            </a:r>
          </a:p>
        </p:txBody>
      </p:sp>
      <p:sp>
        <p:nvSpPr>
          <p:cNvPr id="11" name="TextBox 10"/>
          <p:cNvSpPr txBox="1"/>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distinct gene symbols</a:t>
            </a:r>
          </a:p>
        </p:txBody>
      </p:sp>
      <p:sp>
        <p:nvSpPr>
          <p:cNvPr id="12" name="Rounded Rectangle 1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5</a:t>
            </a:r>
          </a:p>
        </p:txBody>
      </p:sp>
      <p:sp>
        <p:nvSpPr>
          <p:cNvPr id="14" name="TextBox 13"/>
          <p:cNvSpPr txBox="1"/>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categories with returns</a:t>
            </a:r>
          </a:p>
        </p:txBody>
      </p:sp>
      <p:sp>
        <p:nvSpPr>
          <p:cNvPr id="15" name="Rounded Rectangle 14"/>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20</a:t>
            </a:r>
          </a:p>
        </p:txBody>
      </p:sp>
      <p:sp>
        <p:nvSpPr>
          <p:cNvPr id="17" name="TextBox 16"/>
          <p:cNvSpPr txBox="1"/>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top-five displayed rows</a:t>
            </a:r>
          </a:p>
        </p:txBody>
      </p:sp>
      <p:sp>
        <p:nvSpPr>
          <p:cNvPr id="18" name="Rounded Rectangle 17"/>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78992" y="3163824"/>
            <a:ext cx="4572000"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Where the 96 units occur</a:t>
            </a:r>
          </a:p>
        </p:txBody>
      </p:sp>
      <p:sp>
        <p:nvSpPr>
          <p:cNvPr id="21" name="TextBox 20"/>
          <p:cNvSpPr txBox="1"/>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684D"/>
                </a:solidFill>
                <a:latin typeface="Arial"/>
              </a:rPr>
              <a:t>By sex/APOE group</a:t>
            </a:r>
          </a:p>
        </p:txBody>
      </p:sp>
      <p:sp>
        <p:nvSpPr>
          <p:cNvPr id="22" name="TextBox 21"/>
          <p:cNvSpPr txBox="1"/>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F233D"/>
                </a:solidFill>
                <a:latin typeface="Arial"/>
              </a:rPr>
              <a:t>M_e33 91  •  F_e4 3  •  F_e33 2  •  other groups 0</a:t>
            </a:r>
          </a:p>
        </p:txBody>
      </p:sp>
      <p:sp>
        <p:nvSpPr>
          <p:cNvPr id="23" name="TextBox 22"/>
          <p:cNvSpPr txBox="1"/>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9" b="1" i="0">
                <a:solidFill>
                  <a:srgbClr val="00684D"/>
                </a:solidFill>
                <a:latin typeface="Arial"/>
              </a:rPr>
              <a:t>By broad network</a:t>
            </a:r>
          </a:p>
        </p:txBody>
      </p:sp>
      <p:sp>
        <p:nvSpPr>
          <p:cNvPr id="24" name="TextBox 23"/>
          <p:cNvSpPr txBox="1"/>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10" b="1" i="0">
                <a:solidFill>
                  <a:srgbClr val="0F233D"/>
                </a:solidFill>
                <a:latin typeface="Arial"/>
              </a:rPr>
              <a:t>Excitatory 43 • Inhibitory 27 • Oligo 23 • Astrocytes 3
Microglia, OPCs, Vasculature 0</a:t>
            </a:r>
          </a:p>
        </p:txBody>
      </p:sp>
      <p:sp>
        <p:nvSpPr>
          <p:cNvPr id="25" name="Rounded Rectangle 24"/>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Execution and filtering</a:t>
            </a:r>
          </a:p>
        </p:txBody>
      </p:sp>
      <p:sp>
        <p:nvSpPr>
          <p:cNvPr id="28" name="Oval 27"/>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47688" y="3675887"/>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1F2730"/>
                </a:solidFill>
                <a:latin typeface="Arial"/>
              </a:rPr>
              <a:t>29 calls with returns; 5 completed empty.</a:t>
            </a:r>
          </a:p>
        </p:txBody>
      </p:sp>
      <p:sp>
        <p:nvSpPr>
          <p:cNvPr id="30" name="Oval 29"/>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1F2730"/>
                </a:solidFill>
                <a:latin typeface="Arial"/>
              </a:rPr>
              <a:t>221 significant return rows before mitochondrial filtering.</a:t>
            </a:r>
          </a:p>
        </p:txBody>
      </p:sp>
      <p:sp>
        <p:nvSpPr>
          <p:cNvPr id="32" name="Oval 3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1F2730"/>
                </a:solidFill>
                <a:latin typeface="Arial"/>
              </a:rPr>
              <a:t>86 core-MitoCarta rows excluded.</a:t>
            </a:r>
          </a:p>
        </p:txBody>
      </p:sp>
      <p:sp>
        <p:nvSpPr>
          <p:cNvPr id="34" name="Oval 33"/>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0" i="0">
                <a:solidFill>
                  <a:srgbClr val="1F2730"/>
                </a:solidFill>
                <a:latin typeface="Arial"/>
              </a:rPr>
              <a:t>135 non-MT rows retained for aggregation.</a:t>
            </a:r>
          </a:p>
        </p:txBody>
      </p:sp>
      <p:sp>
        <p:nvSpPr>
          <p:cNvPr id="36" name="TextBox 35"/>
          <p:cNvSpPr txBox="1"/>
          <p:nvPr/>
        </p:nvSpPr>
        <p:spPr>
          <a:xfrm>
            <a:off x="804672" y="60350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80" b="1" i="0">
                <a:solidFill>
                  <a:srgbClr val="9E3A00"/>
                </a:solidFill>
                <a:latin typeface="Arial"/>
              </a:rPr>
              <a:t>Returned-only ACAT scores are exploratory and not formally FDR-controlled across genes.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p:cNvSpPr txBox="1"/>
          <p:nvPr/>
        </p:nvSpPr>
        <p:spPr>
          <a:xfrm>
            <a:off x="713232" y="612648"/>
            <a:ext cx="219456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50" b="1" i="0">
                <a:solidFill>
                  <a:srgbClr val="7E4C9A"/>
                </a:solidFill>
                <a:latin typeface="Arial"/>
              </a:rPr>
              <a:t>PART 3</a:t>
            </a:r>
          </a:p>
        </p:txBody>
      </p:sp>
      <p:sp>
        <p:nvSpPr>
          <p:cNvPr id="3" name="Rectangle 2"/>
          <p:cNvSpPr/>
          <p:nvPr/>
        </p:nvSpPr>
        <p:spPr>
          <a:xfrm>
            <a:off x="713232" y="1152144"/>
            <a:ext cx="91440" cy="2176272"/>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078992" y="1243584"/>
            <a:ext cx="7909560" cy="122529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3200" b="1" i="0">
                <a:solidFill>
                  <a:srgbClr val="FFFFFF"/>
                </a:solidFill>
                <a:latin typeface="Arial"/>
              </a:rPr>
              <a:t>Do the same drivers appear in both cohorts?</a:t>
            </a:r>
          </a:p>
        </p:txBody>
      </p:sp>
      <p:sp>
        <p:nvSpPr>
          <p:cNvPr id="5" name="TextBox 4"/>
          <p:cNvSpPr txBox="1"/>
          <p:nvPr/>
        </p:nvSpPr>
        <p:spPr>
          <a:xfrm>
            <a:off x="1097280" y="2743200"/>
            <a:ext cx="7589520" cy="7680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00" b="0" i="0">
                <a:solidFill>
                  <a:srgbClr val="CCDBEA"/>
                </a:solidFill>
                <a:latin typeface="Arial"/>
              </a:rPr>
              <a:t>ROSMAP and VH12 SEA-AD returned-only results are compared at gene and matched-context levels.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40" b="1" i="0">
                <a:solidFill>
                  <a:srgbClr val="7E4C9A"/>
                </a:solidFill>
                <a:latin typeface="Arial"/>
              </a:rPr>
              <a:t>IN THIS PART</a:t>
            </a:r>
          </a:p>
        </p:txBody>
      </p:sp>
      <p:sp>
        <p:nvSpPr>
          <p:cNvPr id="8" name="Oval 7"/>
          <p:cNvSpPr/>
          <p:nvPr/>
        </p:nvSpPr>
        <p:spPr>
          <a:xfrm>
            <a:off x="9198864" y="2039112"/>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Comparison design</a:t>
            </a:r>
          </a:p>
        </p:txBody>
      </p:sp>
      <p:sp>
        <p:nvSpPr>
          <p:cNvPr id="11" name="Oval 10"/>
          <p:cNvSpPr/>
          <p:nvPr/>
        </p:nvSpPr>
        <p:spPr>
          <a:xfrm>
            <a:off x="9198864" y="2788920"/>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Gene overlap</a:t>
            </a:r>
          </a:p>
        </p:txBody>
      </p:sp>
      <p:sp>
        <p:nvSpPr>
          <p:cNvPr id="14" name="Oval 13"/>
          <p:cNvSpPr/>
          <p:nvPr/>
        </p:nvSpPr>
        <p:spPr>
          <a:xfrm>
            <a:off x="9198864" y="3538727"/>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Context overlap</a:t>
            </a:r>
          </a:p>
        </p:txBody>
      </p:sp>
      <p:sp>
        <p:nvSpPr>
          <p:cNvPr id="17" name="Oval 16"/>
          <p:cNvSpPr/>
          <p:nvPr/>
        </p:nvSpPr>
        <p:spPr>
          <a:xfrm>
            <a:off x="9198864" y="4288536"/>
            <a:ext cx="310896" cy="310896"/>
          </a:xfrm>
          <a:prstGeom prst="ellipse">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819" b="1" i="0">
                <a:solidFill>
                  <a:srgbClr val="FFFFFF"/>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10" b="1" i="0">
                <a:solidFill>
                  <a:srgbClr val="FFFFFF"/>
                </a:solidFill>
                <a:latin typeface="Arial"/>
              </a:rPr>
              <a:t>Interpretation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Two ways to ask whether a driver reappears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Gene-level overlap ignores context; category-level overlap requires the same group and broad cell type.</a:t>
            </a:r>
          </a:p>
        </p:txBody>
      </p:sp>
      <p:sp>
        <p:nvSpPr>
          <p:cNvPr id="4" name="Rounded Rectangle 3"/>
          <p:cNvSpPr/>
          <p:nvPr/>
        </p:nvSpPr>
        <p:spPr>
          <a:xfrm>
            <a:off x="585216" y="1389888"/>
            <a:ext cx="5358384" cy="39319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68680" y="1682496"/>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0072B2"/>
                </a:solidFill>
                <a:latin typeface="Arial"/>
              </a:rPr>
              <a:t>GENE LEVEL</a:t>
            </a:r>
          </a:p>
        </p:txBody>
      </p:sp>
      <p:sp>
        <p:nvSpPr>
          <p:cNvPr id="6" name="TextBox 5"/>
          <p:cNvSpPr txBox="1"/>
          <p:nvPr/>
        </p:nvSpPr>
        <p:spPr>
          <a:xfrm>
            <a:off x="868680" y="1993392"/>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Does the same gene return anywhere?</a:t>
            </a:r>
          </a:p>
        </p:txBody>
      </p:sp>
      <p:sp>
        <p:nvSpPr>
          <p:cNvPr id="7" name="Rounded Rectangle 6"/>
          <p:cNvSpPr/>
          <p:nvPr/>
        </p:nvSpPr>
        <p:spPr>
          <a:xfrm>
            <a:off x="868680"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14983"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433</a:t>
            </a:r>
          </a:p>
        </p:txBody>
      </p:sp>
      <p:sp>
        <p:nvSpPr>
          <p:cNvPr id="9" name="TextBox 8"/>
          <p:cNvSpPr txBox="1"/>
          <p:nvPr/>
        </p:nvSpPr>
        <p:spPr>
          <a:xfrm>
            <a:off x="1014983"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ROSMAP driver genes</a:t>
            </a:r>
          </a:p>
        </p:txBody>
      </p:sp>
      <p:sp>
        <p:nvSpPr>
          <p:cNvPr id="10" name="Rounded Rectangle 9"/>
          <p:cNvSpPr/>
          <p:nvPr/>
        </p:nvSpPr>
        <p:spPr>
          <a:xfrm>
            <a:off x="3200400"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346704"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0072B2"/>
                </a:solidFill>
                <a:latin typeface="Arial"/>
              </a:rPr>
              <a:t>94</a:t>
            </a:r>
          </a:p>
        </p:txBody>
      </p:sp>
      <p:sp>
        <p:nvSpPr>
          <p:cNvPr id="12" name="TextBox 11"/>
          <p:cNvSpPr txBox="1"/>
          <p:nvPr/>
        </p:nvSpPr>
        <p:spPr>
          <a:xfrm>
            <a:off x="3346704"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960" b="1" i="0">
                <a:solidFill>
                  <a:srgbClr val="4E5A68"/>
                </a:solidFill>
                <a:latin typeface="Arial"/>
              </a:rPr>
              <a:t>SEA-AD driver genes</a:t>
            </a:r>
          </a:p>
        </p:txBody>
      </p:sp>
      <p:sp>
        <p:nvSpPr>
          <p:cNvPr id="13" name="TextBox 12"/>
          <p:cNvSpPr txBox="1"/>
          <p:nvPr/>
        </p:nvSpPr>
        <p:spPr>
          <a:xfrm>
            <a:off x="877824" y="4206240"/>
            <a:ext cx="475488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4E5A68"/>
                </a:solidFill>
                <a:latin typeface="Arial"/>
              </a:rPr>
              <a:t>Permissive overlap, but still affected by the network used to nominate drivers.</a:t>
            </a:r>
          </a:p>
        </p:txBody>
      </p:sp>
      <p:sp>
        <p:nvSpPr>
          <p:cNvPr id="14" name="Rounded Rectangle 13"/>
          <p:cNvSpPr/>
          <p:nvPr/>
        </p:nvSpPr>
        <p:spPr>
          <a:xfrm>
            <a:off x="6245352" y="1389888"/>
            <a:ext cx="5358384" cy="39319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528816" y="1682496"/>
            <a:ext cx="2926080" cy="2468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00" b="1" i="0">
                <a:solidFill>
                  <a:srgbClr val="895600"/>
                </a:solidFill>
                <a:latin typeface="Arial"/>
              </a:rPr>
              <a:t>CATEGORY LEVEL</a:t>
            </a:r>
          </a:p>
        </p:txBody>
      </p:sp>
      <p:sp>
        <p:nvSpPr>
          <p:cNvPr id="16" name="TextBox 15"/>
          <p:cNvSpPr txBox="1"/>
          <p:nvPr/>
        </p:nvSpPr>
        <p:spPr>
          <a:xfrm>
            <a:off x="6528816" y="1993392"/>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000" b="1" i="0">
                <a:solidFill>
                  <a:srgbClr val="0F233D"/>
                </a:solidFill>
                <a:latin typeface="Arial"/>
              </a:rPr>
              <a:t>Same gene, same group, same cell type?</a:t>
            </a:r>
          </a:p>
        </p:txBody>
      </p:sp>
      <p:sp>
        <p:nvSpPr>
          <p:cNvPr id="17" name="Rounded Rectangle 16"/>
          <p:cNvSpPr/>
          <p:nvPr/>
        </p:nvSpPr>
        <p:spPr>
          <a:xfrm>
            <a:off x="6528816"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675120"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689</a:t>
            </a:r>
          </a:p>
        </p:txBody>
      </p:sp>
      <p:sp>
        <p:nvSpPr>
          <p:cNvPr id="19" name="TextBox 18"/>
          <p:cNvSpPr txBox="1"/>
          <p:nvPr/>
        </p:nvSpPr>
        <p:spPr>
          <a:xfrm>
            <a:off x="6675120"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ROSMAP gene × category units</a:t>
            </a:r>
          </a:p>
        </p:txBody>
      </p:sp>
      <p:sp>
        <p:nvSpPr>
          <p:cNvPr id="20" name="Rounded Rectangle 19"/>
          <p:cNvSpPr/>
          <p:nvPr/>
        </p:nvSpPr>
        <p:spPr>
          <a:xfrm>
            <a:off x="8860536" y="2834640"/>
            <a:ext cx="21031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006840" y="2926080"/>
            <a:ext cx="1810511" cy="42976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500" b="1" i="0">
                <a:solidFill>
                  <a:srgbClr val="895600"/>
                </a:solidFill>
                <a:latin typeface="Arial"/>
              </a:rPr>
              <a:t>96</a:t>
            </a:r>
          </a:p>
        </p:txBody>
      </p:sp>
      <p:sp>
        <p:nvSpPr>
          <p:cNvPr id="22" name="TextBox 21"/>
          <p:cNvSpPr txBox="1"/>
          <p:nvPr/>
        </p:nvSpPr>
        <p:spPr>
          <a:xfrm>
            <a:off x="9006840" y="3383280"/>
            <a:ext cx="1810511" cy="39319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880" b="1" i="0">
                <a:solidFill>
                  <a:srgbClr val="4E5A68"/>
                </a:solidFill>
                <a:latin typeface="Arial"/>
              </a:rPr>
              <a:t>SEA-AD gene × category units</a:t>
            </a:r>
          </a:p>
        </p:txBody>
      </p:sp>
      <p:sp>
        <p:nvSpPr>
          <p:cNvPr id="23" name="TextBox 22"/>
          <p:cNvSpPr txBox="1"/>
          <p:nvPr/>
        </p:nvSpPr>
        <p:spPr>
          <a:xfrm>
            <a:off x="6537960" y="4206240"/>
            <a:ext cx="4754880" cy="54864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4E5A68"/>
                </a:solidFill>
                <a:latin typeface="Arial"/>
              </a:rPr>
              <a:t>Strict context agreement; bounded by five SEA-AD return-bearing categories.</a:t>
            </a:r>
          </a:p>
        </p:txBody>
      </p:sp>
      <p:sp>
        <p:nvSpPr>
          <p:cNvPr id="24" name="TextBox 23"/>
          <p:cNvSpPr txBox="1"/>
          <p:nvPr/>
        </p:nvSpPr>
        <p:spPr>
          <a:xfrm>
            <a:off x="804672" y="58064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7E4C9A"/>
                </a:solidFill>
                <a:latin typeface="Arial"/>
              </a:rPr>
              <a:t>Unlike the earlier deck, VH12 uses SEA-AD-specific network topology; network choice is part of the comparison.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10 of 94 SEA-AD drivers also return in ROSMAP</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Gene-level overlap is limited after rerunning KDA with SEA-AD-specific networks.</a:t>
            </a:r>
          </a:p>
        </p:txBody>
      </p:sp>
      <p:sp>
        <p:nvSpPr>
          <p:cNvPr id="4" name="Rounded Rectangle 3"/>
          <p:cNvSpPr/>
          <p:nvPr/>
        </p:nvSpPr>
        <p:spPr>
          <a:xfrm>
            <a:off x="822960" y="1463040"/>
            <a:ext cx="3291840" cy="13258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60" y="1627632"/>
            <a:ext cx="2834640"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600" b="1" i="0">
                <a:solidFill>
                  <a:srgbClr val="0072B2"/>
                </a:solidFill>
                <a:latin typeface="Arial"/>
              </a:rPr>
              <a:t>94</a:t>
            </a:r>
          </a:p>
        </p:txBody>
      </p:sp>
      <p:sp>
        <p:nvSpPr>
          <p:cNvPr id="6" name="TextBox 5"/>
          <p:cNvSpPr txBox="1"/>
          <p:nvPr/>
        </p:nvSpPr>
        <p:spPr>
          <a:xfrm>
            <a:off x="1051560" y="2212848"/>
            <a:ext cx="2834640"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4E5A68"/>
                </a:solidFill>
                <a:latin typeface="Arial"/>
              </a:rPr>
              <a:t>SEA-AD driver genes</a:t>
            </a:r>
          </a:p>
        </p:txBody>
      </p:sp>
      <p:sp>
        <p:nvSpPr>
          <p:cNvPr id="7" name="Rounded Rectangle 6"/>
          <p:cNvSpPr/>
          <p:nvPr/>
        </p:nvSpPr>
        <p:spPr>
          <a:xfrm>
            <a:off x="4434840" y="1463040"/>
            <a:ext cx="3291840" cy="13258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663440" y="1627632"/>
            <a:ext cx="2834640"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600" b="1" i="0">
                <a:solidFill>
                  <a:srgbClr val="0072B2"/>
                </a:solidFill>
                <a:latin typeface="Arial"/>
              </a:rPr>
              <a:t>10 (11%)</a:t>
            </a:r>
          </a:p>
        </p:txBody>
      </p:sp>
      <p:sp>
        <p:nvSpPr>
          <p:cNvPr id="9" name="TextBox 8"/>
          <p:cNvSpPr txBox="1"/>
          <p:nvPr/>
        </p:nvSpPr>
        <p:spPr>
          <a:xfrm>
            <a:off x="4663440" y="2212848"/>
            <a:ext cx="2834640"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4E5A68"/>
                </a:solidFill>
                <a:latin typeface="Arial"/>
              </a:rPr>
              <a:t>also ROSMAP drivers</a:t>
            </a:r>
          </a:p>
        </p:txBody>
      </p:sp>
      <p:sp>
        <p:nvSpPr>
          <p:cNvPr id="10" name="Rounded Rectangle 9"/>
          <p:cNvSpPr/>
          <p:nvPr/>
        </p:nvSpPr>
        <p:spPr>
          <a:xfrm>
            <a:off x="8046720" y="1463040"/>
            <a:ext cx="3291840" cy="13258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275320" y="1627632"/>
            <a:ext cx="2834640" cy="5029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2600" b="1" i="0">
                <a:solidFill>
                  <a:srgbClr val="0072B2"/>
                </a:solidFill>
                <a:latin typeface="Arial"/>
              </a:rPr>
              <a:t>1</a:t>
            </a:r>
          </a:p>
        </p:txBody>
      </p:sp>
      <p:sp>
        <p:nvSpPr>
          <p:cNvPr id="12" name="TextBox 11"/>
          <p:cNvSpPr txBox="1"/>
          <p:nvPr/>
        </p:nvSpPr>
        <p:spPr>
          <a:xfrm>
            <a:off x="8275320" y="2212848"/>
            <a:ext cx="2834640" cy="36576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50" b="1" i="0">
                <a:solidFill>
                  <a:srgbClr val="4E5A68"/>
                </a:solidFill>
                <a:latin typeface="Arial"/>
              </a:rPr>
              <a:t>exact category match</a:t>
            </a:r>
          </a:p>
        </p:txBody>
      </p:sp>
      <p:sp>
        <p:nvSpPr>
          <p:cNvPr id="13" name="Rounded Rectangle 12"/>
          <p:cNvSpPr/>
          <p:nvPr/>
        </p:nvSpPr>
        <p:spPr>
          <a:xfrm>
            <a:off x="822960" y="3246120"/>
            <a:ext cx="10515600" cy="210312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97280" y="3547872"/>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43584" y="3520440"/>
            <a:ext cx="97292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The 10 shared genes</a:t>
            </a:r>
          </a:p>
        </p:txBody>
      </p:sp>
      <p:sp>
        <p:nvSpPr>
          <p:cNvPr id="16" name="TextBox 15"/>
          <p:cNvSpPr txBox="1"/>
          <p:nvPr/>
        </p:nvSpPr>
        <p:spPr>
          <a:xfrm>
            <a:off x="1115568" y="4041648"/>
            <a:ext cx="9784080" cy="7498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500" b="1" i="0">
                <a:solidFill>
                  <a:srgbClr val="0F233D"/>
                </a:solidFill>
                <a:latin typeface="Arial"/>
              </a:rPr>
              <a:t>CHD3  •  CTNND2  •  CXXC1  •  DEF8  •  LAGE3
MIPOL1  •  MKLN1  •  PAPOLA  •  SECISBP2  •  SYN1</a:t>
            </a:r>
          </a:p>
        </p:txBody>
      </p:sp>
      <p:sp>
        <p:nvSpPr>
          <p:cNvPr id="17" name="TextBox 16"/>
          <p:cNvSpPr txBox="1"/>
          <p:nvPr/>
        </p:nvSpPr>
        <p:spPr>
          <a:xfrm>
            <a:off x="1115568" y="4910328"/>
            <a:ext cx="978408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040" b="0" i="1">
                <a:solidFill>
                  <a:srgbClr val="4E5A68"/>
                </a:solidFill>
                <a:latin typeface="Arial"/>
              </a:rPr>
              <a:t>LAGE3 and SYN1 also appear on both cohorts’ top-20 recurrence displays.</a:t>
            </a:r>
          </a:p>
        </p:txBody>
      </p:sp>
      <p:sp>
        <p:nvSpPr>
          <p:cNvPr id="18" name="TextBox 17"/>
          <p:cNvSpPr txBox="1"/>
          <p:nvPr/>
        </p:nvSpPr>
        <p:spPr>
          <a:xfrm>
            <a:off x="804672" y="58064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7E4C9A"/>
                </a:solidFill>
                <a:latin typeface="Arial"/>
              </a:rPr>
              <a:t>The earlier common-network SEA-AD result should not be mixed with this network-specific rerun.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One driver-category pair matches exactly</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MIPOL1 returns in male e33 excitatory neurons in both cohorts.</a:t>
            </a:r>
          </a:p>
        </p:txBody>
      </p:sp>
      <p:sp>
        <p:nvSpPr>
          <p:cNvPr id="4" name="Rectangle 3"/>
          <p:cNvSpPr/>
          <p:nvPr/>
        </p:nvSpPr>
        <p:spPr>
          <a:xfrm>
            <a:off x="822960" y="1417320"/>
            <a:ext cx="3703320" cy="47548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77824" y="1472184"/>
            <a:ext cx="3593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Sex/APOE · cell type</a:t>
            </a:r>
          </a:p>
        </p:txBody>
      </p:sp>
      <p:sp>
        <p:nvSpPr>
          <p:cNvPr id="6" name="Rectangle 5"/>
          <p:cNvSpPr/>
          <p:nvPr/>
        </p:nvSpPr>
        <p:spPr>
          <a:xfrm>
            <a:off x="4526280" y="1417320"/>
            <a:ext cx="1691640" cy="47548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81144" y="1472184"/>
            <a:ext cx="15819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Gene</a:t>
            </a:r>
          </a:p>
        </p:txBody>
      </p:sp>
      <p:sp>
        <p:nvSpPr>
          <p:cNvPr id="8" name="Rectangle 7"/>
          <p:cNvSpPr/>
          <p:nvPr/>
        </p:nvSpPr>
        <p:spPr>
          <a:xfrm>
            <a:off x="6217920" y="1417320"/>
            <a:ext cx="2560320" cy="47548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272784" y="1472184"/>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SEA-AD score (rank)</a:t>
            </a:r>
          </a:p>
        </p:txBody>
      </p:sp>
      <p:sp>
        <p:nvSpPr>
          <p:cNvPr id="10" name="Rectangle 9"/>
          <p:cNvSpPr/>
          <p:nvPr/>
        </p:nvSpPr>
        <p:spPr>
          <a:xfrm>
            <a:off x="8778240" y="1417320"/>
            <a:ext cx="2560320" cy="47548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833104" y="1472184"/>
            <a:ext cx="2450591"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00" b="1" i="0">
                <a:solidFill>
                  <a:srgbClr val="FFFFFF"/>
                </a:solidFill>
                <a:latin typeface="Arial"/>
              </a:rPr>
              <a:t>ROSMAP score (rank)</a:t>
            </a:r>
          </a:p>
        </p:txBody>
      </p:sp>
      <p:sp>
        <p:nvSpPr>
          <p:cNvPr id="12" name="Rectangle 11"/>
          <p:cNvSpPr/>
          <p:nvPr/>
        </p:nvSpPr>
        <p:spPr>
          <a:xfrm>
            <a:off x="822960" y="1892808"/>
            <a:ext cx="370332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77824" y="1938528"/>
            <a:ext cx="3593591"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M_e33 · Excitatory neurons</a:t>
            </a:r>
          </a:p>
        </p:txBody>
      </p:sp>
      <p:sp>
        <p:nvSpPr>
          <p:cNvPr id="14" name="Rectangle 13"/>
          <p:cNvSpPr/>
          <p:nvPr/>
        </p:nvSpPr>
        <p:spPr>
          <a:xfrm>
            <a:off x="4526280" y="1892808"/>
            <a:ext cx="169164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81144" y="1938528"/>
            <a:ext cx="1581912"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MIPOL1</a:t>
            </a:r>
          </a:p>
        </p:txBody>
      </p:sp>
      <p:sp>
        <p:nvSpPr>
          <p:cNvPr id="16" name="Rectangle 15"/>
          <p:cNvSpPr/>
          <p:nvPr/>
        </p:nvSpPr>
        <p:spPr>
          <a:xfrm>
            <a:off x="6217920" y="1892808"/>
            <a:ext cx="256032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272784" y="1938528"/>
            <a:ext cx="2450591"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0.0186  (#7)</a:t>
            </a:r>
          </a:p>
        </p:txBody>
      </p:sp>
      <p:sp>
        <p:nvSpPr>
          <p:cNvPr id="18" name="Rectangle 17"/>
          <p:cNvSpPr/>
          <p:nvPr/>
        </p:nvSpPr>
        <p:spPr>
          <a:xfrm>
            <a:off x="8778240" y="1892808"/>
            <a:ext cx="2560320" cy="56692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833104" y="1938528"/>
            <a:ext cx="2450591" cy="493776"/>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40" b="0" i="0">
                <a:solidFill>
                  <a:srgbClr val="1F2730"/>
                </a:solidFill>
                <a:latin typeface="Arial"/>
              </a:rPr>
              <a:t>0.0388  (#29)</a:t>
            </a:r>
          </a:p>
        </p:txBody>
      </p:sp>
      <p:sp>
        <p:nvSpPr>
          <p:cNvPr id="20" name="Rounded Rectangle 19"/>
          <p:cNvSpPr/>
          <p:nvPr/>
        </p:nvSpPr>
        <p:spPr>
          <a:xfrm>
            <a:off x="822960" y="2880360"/>
            <a:ext cx="5029200" cy="224028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1097280" y="320040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243584" y="3172968"/>
            <a:ext cx="433425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SEA-AD</a:t>
            </a:r>
          </a:p>
        </p:txBody>
      </p:sp>
      <p:sp>
        <p:nvSpPr>
          <p:cNvPr id="23" name="Oval 22"/>
          <p:cNvSpPr/>
          <p:nvPr/>
        </p:nvSpPr>
        <p:spPr>
          <a:xfrm>
            <a:off x="1097280" y="37856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271016" y="3657600"/>
            <a:ext cx="428853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Rank #7 within M_e33 excitatory neurons.</a:t>
            </a:r>
          </a:p>
        </p:txBody>
      </p:sp>
      <p:sp>
        <p:nvSpPr>
          <p:cNvPr id="25" name="Oval 24"/>
          <p:cNvSpPr/>
          <p:nvPr/>
        </p:nvSpPr>
        <p:spPr>
          <a:xfrm>
            <a:off x="1097280" y="422452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271016" y="4096512"/>
            <a:ext cx="428853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Score 0.0186 from 3 returned calls.</a:t>
            </a:r>
          </a:p>
        </p:txBody>
      </p:sp>
      <p:sp>
        <p:nvSpPr>
          <p:cNvPr id="27" name="Oval 26"/>
          <p:cNvSpPr/>
          <p:nvPr/>
        </p:nvSpPr>
        <p:spPr>
          <a:xfrm>
            <a:off x="1097280" y="4663440"/>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271016" y="4535424"/>
            <a:ext cx="428853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Nominated using the SEA-AD-specific excitatory network.</a:t>
            </a:r>
          </a:p>
        </p:txBody>
      </p:sp>
      <p:sp>
        <p:nvSpPr>
          <p:cNvPr id="29" name="Rounded Rectangle 28"/>
          <p:cNvSpPr/>
          <p:nvPr/>
        </p:nvSpPr>
        <p:spPr>
          <a:xfrm>
            <a:off x="6309360" y="2880360"/>
            <a:ext cx="5029200" cy="224028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583680" y="3200400"/>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29984" y="3172968"/>
            <a:ext cx="433425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ROSMAP</a:t>
            </a:r>
          </a:p>
        </p:txBody>
      </p:sp>
      <p:sp>
        <p:nvSpPr>
          <p:cNvPr id="32" name="Oval 31"/>
          <p:cNvSpPr/>
          <p:nvPr/>
        </p:nvSpPr>
        <p:spPr>
          <a:xfrm>
            <a:off x="6583680" y="3785615"/>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57416" y="3657600"/>
            <a:ext cx="428853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Rank #29 within M_e33 excitatory neurons.</a:t>
            </a:r>
          </a:p>
        </p:txBody>
      </p:sp>
      <p:sp>
        <p:nvSpPr>
          <p:cNvPr id="34" name="Oval 33"/>
          <p:cNvSpPr/>
          <p:nvPr/>
        </p:nvSpPr>
        <p:spPr>
          <a:xfrm>
            <a:off x="6583680" y="4224528"/>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57416" y="4096512"/>
            <a:ext cx="428853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Score 0.0388 from 1 returned call.</a:t>
            </a:r>
          </a:p>
        </p:txBody>
      </p:sp>
      <p:sp>
        <p:nvSpPr>
          <p:cNvPr id="36" name="Oval 35"/>
          <p:cNvSpPr/>
          <p:nvPr/>
        </p:nvSpPr>
        <p:spPr>
          <a:xfrm>
            <a:off x="6583680" y="4663440"/>
            <a:ext cx="77724" cy="7772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757416" y="4535424"/>
            <a:ext cx="4288536" cy="43891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The only exact category overlap among 96 SEA-AD units.</a:t>
            </a:r>
          </a:p>
        </p:txBody>
      </p:sp>
      <p:sp>
        <p:nvSpPr>
          <p:cNvPr id="38" name="TextBox 37"/>
          <p:cNvSpPr txBox="1"/>
          <p:nvPr/>
        </p:nvSpPr>
        <p:spPr>
          <a:xfrm>
            <a:off x="804672" y="571500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1" i="0">
                <a:solidFill>
                  <a:srgbClr val="7E4C9A"/>
                </a:solidFill>
                <a:latin typeface="Arial"/>
              </a:rPr>
              <a:t>Exact agreement is descriptive convergence—not a calibrated replication P value.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MIPOL1 is the sole exact context match</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 few other shared genes retain either cell type or stratum—but not both.</a:t>
            </a:r>
          </a:p>
        </p:txBody>
      </p:sp>
      <p:sp>
        <p:nvSpPr>
          <p:cNvPr id="4" name="Rounded Rectangle 3"/>
          <p:cNvSpPr/>
          <p:nvPr/>
        </p:nvSpPr>
        <p:spPr>
          <a:xfrm>
            <a:off x="603504" y="1463040"/>
            <a:ext cx="3502152" cy="41605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9536" y="1755648"/>
            <a:ext cx="3017520"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Exact context</a:t>
            </a:r>
          </a:p>
        </p:txBody>
      </p:sp>
      <p:sp>
        <p:nvSpPr>
          <p:cNvPr id="6" name="TextBox 5"/>
          <p:cNvSpPr txBox="1"/>
          <p:nvPr/>
        </p:nvSpPr>
        <p:spPr>
          <a:xfrm>
            <a:off x="859536" y="2304288"/>
            <a:ext cx="30175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1" i="0">
                <a:solidFill>
                  <a:srgbClr val="00684D"/>
                </a:solidFill>
                <a:latin typeface="Arial"/>
              </a:rPr>
              <a:t>1 pair</a:t>
            </a:r>
          </a:p>
        </p:txBody>
      </p:sp>
      <p:sp>
        <p:nvSpPr>
          <p:cNvPr id="7" name="Rounded Rectangle 6"/>
          <p:cNvSpPr/>
          <p:nvPr/>
        </p:nvSpPr>
        <p:spPr>
          <a:xfrm>
            <a:off x="841248" y="2788920"/>
            <a:ext cx="3026664" cy="256032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3063240"/>
            <a:ext cx="2706624" cy="192024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4E5A68"/>
                </a:solidFill>
                <a:latin typeface="Arial"/>
              </a:rPr>
              <a:t>MIPOL1
M_e33 · excitatory in both cohorts</a:t>
            </a:r>
          </a:p>
        </p:txBody>
      </p:sp>
      <p:sp>
        <p:nvSpPr>
          <p:cNvPr id="9" name="Rounded Rectangle 8"/>
          <p:cNvSpPr/>
          <p:nvPr/>
        </p:nvSpPr>
        <p:spPr>
          <a:xfrm>
            <a:off x="4352544" y="1463040"/>
            <a:ext cx="3502152" cy="41605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608576" y="1755648"/>
            <a:ext cx="3017520"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Same cell type</a:t>
            </a:r>
          </a:p>
        </p:txBody>
      </p:sp>
      <p:sp>
        <p:nvSpPr>
          <p:cNvPr id="11" name="TextBox 10"/>
          <p:cNvSpPr txBox="1"/>
          <p:nvPr/>
        </p:nvSpPr>
        <p:spPr>
          <a:xfrm>
            <a:off x="4608576" y="2304288"/>
            <a:ext cx="30175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1" i="0">
                <a:solidFill>
                  <a:srgbClr val="0072B2"/>
                </a:solidFill>
                <a:latin typeface="Arial"/>
              </a:rPr>
              <a:t>2 additional pairs</a:t>
            </a:r>
          </a:p>
        </p:txBody>
      </p:sp>
      <p:sp>
        <p:nvSpPr>
          <p:cNvPr id="12" name="Rounded Rectangle 11"/>
          <p:cNvSpPr/>
          <p:nvPr/>
        </p:nvSpPr>
        <p:spPr>
          <a:xfrm>
            <a:off x="4590288" y="2788920"/>
            <a:ext cx="3026664" cy="256032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754880" y="3063240"/>
            <a:ext cx="2706624" cy="192024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4E5A68"/>
                </a:solidFill>
                <a:latin typeface="Arial"/>
              </a:rPr>
              <a:t>CXXC1 · excitatory
CTNND2 · inhibitory
Both switch sex/APOE group</a:t>
            </a:r>
          </a:p>
        </p:txBody>
      </p:sp>
      <p:sp>
        <p:nvSpPr>
          <p:cNvPr id="14" name="Rounded Rectangle 13"/>
          <p:cNvSpPr/>
          <p:nvPr/>
        </p:nvSpPr>
        <p:spPr>
          <a:xfrm>
            <a:off x="8101583" y="1463040"/>
            <a:ext cx="3502152" cy="416052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57615" y="1755648"/>
            <a:ext cx="3017520" cy="42062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100" b="1" i="0">
                <a:solidFill>
                  <a:srgbClr val="0F233D"/>
                </a:solidFill>
                <a:latin typeface="Arial"/>
              </a:rPr>
              <a:t>Same group</a:t>
            </a:r>
          </a:p>
        </p:txBody>
      </p:sp>
      <p:sp>
        <p:nvSpPr>
          <p:cNvPr id="16" name="TextBox 15"/>
          <p:cNvSpPr txBox="1"/>
          <p:nvPr/>
        </p:nvSpPr>
        <p:spPr>
          <a:xfrm>
            <a:off x="8357615" y="2304288"/>
            <a:ext cx="30175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1" i="0">
                <a:solidFill>
                  <a:srgbClr val="895600"/>
                </a:solidFill>
                <a:latin typeface="Arial"/>
              </a:rPr>
              <a:t>3 additional pairs</a:t>
            </a:r>
          </a:p>
        </p:txBody>
      </p:sp>
      <p:sp>
        <p:nvSpPr>
          <p:cNvPr id="17" name="Rounded Rectangle 16"/>
          <p:cNvSpPr/>
          <p:nvPr/>
        </p:nvSpPr>
        <p:spPr>
          <a:xfrm>
            <a:off x="8339327" y="2788920"/>
            <a:ext cx="3026664" cy="256032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503919" y="3063240"/>
            <a:ext cx="2706624" cy="1920240"/>
          </a:xfrm>
          <a:prstGeom prst="rect">
            <a:avLst/>
          </a:prstGeom>
          <a:noFill/>
        </p:spPr>
        <p:txBody>
          <a:bodyPr wrap="square" lIns="27432" tIns="27432" rIns="27432" bIns="27432" anchor="ctr">
            <a:spAutoFit/>
          </a:bodyPr>
          <a:lstStyle/>
          <a:p>
            <a:pPr algn="ctr">
              <a:lnSpc>
                <a:spcPct val="100000"/>
              </a:lnSpc>
              <a:spcBef>
                <a:spcPts val="0"/>
              </a:spcBef>
              <a:spcAft>
                <a:spcPts val="0"/>
              </a:spcAft>
            </a:pPr>
            <a:r>
              <a:rPr sz="1200" b="1" i="0">
                <a:solidFill>
                  <a:srgbClr val="4E5A68"/>
                </a:solidFill>
                <a:latin typeface="Arial"/>
              </a:rPr>
              <a:t>DEF8, LAGE3, SYN1
All remain M_e33 but switch
broad-cell network</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Shared genes are not concentrated in matching M_e33</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Where the 10 shared SEA-AD male-e33 drivers appear within ROSMAP.</a:t>
            </a:r>
          </a:p>
        </p:txBody>
      </p:sp>
      <p:sp>
        <p:nvSpPr>
          <p:cNvPr id="4" name="TextBox 3"/>
          <p:cNvSpPr txBox="1"/>
          <p:nvPr/>
        </p:nvSpPr>
        <p:spPr>
          <a:xfrm>
            <a:off x="822960" y="1371600"/>
            <a:ext cx="10424160" cy="310896"/>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50" b="0" i="0">
                <a:solidFill>
                  <a:srgbClr val="1F2730"/>
                </a:solidFill>
                <a:latin typeface="Arial"/>
              </a:rPr>
              <a:t>10 of 89 SEA-AD M_e33 drivers are also ROSMAP drivers. A gene may occur in more than one ROSMAP group.</a:t>
            </a:r>
          </a:p>
        </p:txBody>
      </p:sp>
      <p:sp>
        <p:nvSpPr>
          <p:cNvPr id="5" name="Rectangle 4"/>
          <p:cNvSpPr/>
          <p:nvPr/>
        </p:nvSpPr>
        <p:spPr>
          <a:xfrm>
            <a:off x="2377440" y="1874519"/>
            <a:ext cx="237744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432304" y="1929384"/>
            <a:ext cx="226771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1" i="0">
                <a:solidFill>
                  <a:srgbClr val="FFFFFF"/>
                </a:solidFill>
                <a:latin typeface="Arial"/>
              </a:rPr>
              <a:t>ROSMAP group</a:t>
            </a:r>
          </a:p>
        </p:txBody>
      </p:sp>
      <p:sp>
        <p:nvSpPr>
          <p:cNvPr id="7" name="Rectangle 6"/>
          <p:cNvSpPr/>
          <p:nvPr/>
        </p:nvSpPr>
        <p:spPr>
          <a:xfrm>
            <a:off x="4754880" y="1874519"/>
            <a:ext cx="237744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09744" y="1929384"/>
            <a:ext cx="226771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1" i="0">
                <a:solidFill>
                  <a:srgbClr val="FFFFFF"/>
                </a:solidFill>
                <a:latin typeface="Arial"/>
              </a:rPr>
              <a:t>Shared genes (of 10)</a:t>
            </a:r>
          </a:p>
        </p:txBody>
      </p:sp>
      <p:sp>
        <p:nvSpPr>
          <p:cNvPr id="9" name="Rectangle 8"/>
          <p:cNvSpPr/>
          <p:nvPr/>
        </p:nvSpPr>
        <p:spPr>
          <a:xfrm>
            <a:off x="7132320" y="1874519"/>
            <a:ext cx="2651760" cy="457200"/>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87184" y="1929384"/>
            <a:ext cx="2542032" cy="365760"/>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19" b="1" i="0">
                <a:solidFill>
                  <a:srgbClr val="FFFFFF"/>
                </a:solidFill>
                <a:latin typeface="Arial"/>
              </a:rPr>
              <a:t>Note</a:t>
            </a:r>
          </a:p>
        </p:txBody>
      </p:sp>
      <p:sp>
        <p:nvSpPr>
          <p:cNvPr id="11" name="Rectangle 10"/>
          <p:cNvSpPr/>
          <p:nvPr/>
        </p:nvSpPr>
        <p:spPr>
          <a:xfrm>
            <a:off x="2377440" y="2331720"/>
            <a:ext cx="23774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432304" y="23774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F_e4</a:t>
            </a:r>
          </a:p>
        </p:txBody>
      </p:sp>
      <p:sp>
        <p:nvSpPr>
          <p:cNvPr id="13" name="Rectangle 12"/>
          <p:cNvSpPr/>
          <p:nvPr/>
        </p:nvSpPr>
        <p:spPr>
          <a:xfrm>
            <a:off x="4754880" y="2331720"/>
            <a:ext cx="23774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809744" y="23774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7</a:t>
            </a:r>
          </a:p>
        </p:txBody>
      </p:sp>
      <p:sp>
        <p:nvSpPr>
          <p:cNvPr id="15" name="Rectangle 14"/>
          <p:cNvSpPr/>
          <p:nvPr/>
        </p:nvSpPr>
        <p:spPr>
          <a:xfrm>
            <a:off x="7132320" y="2331720"/>
            <a:ext cx="26517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87184" y="2377439"/>
            <a:ext cx="254203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highest overlap</a:t>
            </a:r>
          </a:p>
        </p:txBody>
      </p:sp>
      <p:sp>
        <p:nvSpPr>
          <p:cNvPr id="17" name="Rectangle 16"/>
          <p:cNvSpPr/>
          <p:nvPr/>
        </p:nvSpPr>
        <p:spPr>
          <a:xfrm>
            <a:off x="2377440" y="2788920"/>
            <a:ext cx="23774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432304" y="28346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M_e33</a:t>
            </a:r>
          </a:p>
        </p:txBody>
      </p:sp>
      <p:sp>
        <p:nvSpPr>
          <p:cNvPr id="19" name="Rectangle 18"/>
          <p:cNvSpPr/>
          <p:nvPr/>
        </p:nvSpPr>
        <p:spPr>
          <a:xfrm>
            <a:off x="4754880" y="2788920"/>
            <a:ext cx="23774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809744" y="28346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4</a:t>
            </a:r>
          </a:p>
        </p:txBody>
      </p:sp>
      <p:sp>
        <p:nvSpPr>
          <p:cNvPr id="21" name="Rectangle 20"/>
          <p:cNvSpPr/>
          <p:nvPr/>
        </p:nvSpPr>
        <p:spPr>
          <a:xfrm>
            <a:off x="7132320" y="2788920"/>
            <a:ext cx="26517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187184" y="2834639"/>
            <a:ext cx="254203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matching group</a:t>
            </a:r>
          </a:p>
        </p:txBody>
      </p:sp>
      <p:sp>
        <p:nvSpPr>
          <p:cNvPr id="23" name="Rectangle 22"/>
          <p:cNvSpPr/>
          <p:nvPr/>
        </p:nvSpPr>
        <p:spPr>
          <a:xfrm>
            <a:off x="2377440" y="3246120"/>
            <a:ext cx="23774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432304" y="32918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F_e2</a:t>
            </a:r>
          </a:p>
        </p:txBody>
      </p:sp>
      <p:sp>
        <p:nvSpPr>
          <p:cNvPr id="25" name="Rectangle 24"/>
          <p:cNvSpPr/>
          <p:nvPr/>
        </p:nvSpPr>
        <p:spPr>
          <a:xfrm>
            <a:off x="4754880" y="3246120"/>
            <a:ext cx="23774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09744" y="32918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3</a:t>
            </a:r>
          </a:p>
        </p:txBody>
      </p:sp>
      <p:sp>
        <p:nvSpPr>
          <p:cNvPr id="27" name="Rectangle 26"/>
          <p:cNvSpPr/>
          <p:nvPr/>
        </p:nvSpPr>
        <p:spPr>
          <a:xfrm>
            <a:off x="7132320" y="3246120"/>
            <a:ext cx="26517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87184" y="3291839"/>
            <a:ext cx="254203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endParaRPr/>
          </a:p>
        </p:txBody>
      </p:sp>
      <p:sp>
        <p:nvSpPr>
          <p:cNvPr id="29" name="Rectangle 28"/>
          <p:cNvSpPr/>
          <p:nvPr/>
        </p:nvSpPr>
        <p:spPr>
          <a:xfrm>
            <a:off x="2377440" y="3703320"/>
            <a:ext cx="23774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432304" y="37490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M_e4</a:t>
            </a:r>
          </a:p>
        </p:txBody>
      </p:sp>
      <p:sp>
        <p:nvSpPr>
          <p:cNvPr id="31" name="Rectangle 30"/>
          <p:cNvSpPr/>
          <p:nvPr/>
        </p:nvSpPr>
        <p:spPr>
          <a:xfrm>
            <a:off x="4754880" y="3703320"/>
            <a:ext cx="23774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809744" y="3749039"/>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3</a:t>
            </a:r>
          </a:p>
        </p:txBody>
      </p:sp>
      <p:sp>
        <p:nvSpPr>
          <p:cNvPr id="33" name="Rectangle 32"/>
          <p:cNvSpPr/>
          <p:nvPr/>
        </p:nvSpPr>
        <p:spPr>
          <a:xfrm>
            <a:off x="7132320" y="3703320"/>
            <a:ext cx="26517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187184" y="3749039"/>
            <a:ext cx="254203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endParaRPr/>
          </a:p>
        </p:txBody>
      </p:sp>
      <p:sp>
        <p:nvSpPr>
          <p:cNvPr id="35" name="Rectangle 34"/>
          <p:cNvSpPr/>
          <p:nvPr/>
        </p:nvSpPr>
        <p:spPr>
          <a:xfrm>
            <a:off x="2377440" y="4160520"/>
            <a:ext cx="23774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432304" y="4206240"/>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F_e33</a:t>
            </a:r>
          </a:p>
        </p:txBody>
      </p:sp>
      <p:sp>
        <p:nvSpPr>
          <p:cNvPr id="37" name="Rectangle 36"/>
          <p:cNvSpPr/>
          <p:nvPr/>
        </p:nvSpPr>
        <p:spPr>
          <a:xfrm>
            <a:off x="4754880" y="4160520"/>
            <a:ext cx="237744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809744" y="4206240"/>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2</a:t>
            </a:r>
          </a:p>
        </p:txBody>
      </p:sp>
      <p:sp>
        <p:nvSpPr>
          <p:cNvPr id="39" name="Rectangle 38"/>
          <p:cNvSpPr/>
          <p:nvPr/>
        </p:nvSpPr>
        <p:spPr>
          <a:xfrm>
            <a:off x="7132320" y="4160520"/>
            <a:ext cx="26517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187184" y="4206240"/>
            <a:ext cx="254203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endParaRPr/>
          </a:p>
        </p:txBody>
      </p:sp>
      <p:sp>
        <p:nvSpPr>
          <p:cNvPr id="41" name="Rectangle 40"/>
          <p:cNvSpPr/>
          <p:nvPr/>
        </p:nvSpPr>
        <p:spPr>
          <a:xfrm>
            <a:off x="2377440" y="4617720"/>
            <a:ext cx="23774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2432304" y="4663440"/>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M_e2</a:t>
            </a:r>
          </a:p>
        </p:txBody>
      </p:sp>
      <p:sp>
        <p:nvSpPr>
          <p:cNvPr id="43" name="Rectangle 42"/>
          <p:cNvSpPr/>
          <p:nvPr/>
        </p:nvSpPr>
        <p:spPr>
          <a:xfrm>
            <a:off x="4754880" y="4617720"/>
            <a:ext cx="237744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809744" y="4663440"/>
            <a:ext cx="226771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r>
              <a:rPr sz="1060" b="0" i="0">
                <a:solidFill>
                  <a:srgbClr val="1F2730"/>
                </a:solidFill>
                <a:latin typeface="Arial"/>
              </a:rPr>
              <a:t>1</a:t>
            </a:r>
          </a:p>
        </p:txBody>
      </p:sp>
      <p:sp>
        <p:nvSpPr>
          <p:cNvPr id="45" name="Rectangle 44"/>
          <p:cNvSpPr/>
          <p:nvPr/>
        </p:nvSpPr>
        <p:spPr>
          <a:xfrm>
            <a:off x="7132320" y="4617720"/>
            <a:ext cx="26517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187184" y="4663440"/>
            <a:ext cx="2542032" cy="384048"/>
          </a:xfrm>
          <a:prstGeom prst="rect">
            <a:avLst/>
          </a:prstGeom>
          <a:noFill/>
        </p:spPr>
        <p:txBody>
          <a:bodyPr wrap="square" lIns="27432" tIns="27432" rIns="27432" bIns="27432" anchor="ctr">
            <a:spAutoFit/>
          </a:bodyPr>
          <a:lstStyle/>
          <a:p>
            <a:pPr algn="l">
              <a:lnSpc>
                <a:spcPct val="100000"/>
              </a:lnSpc>
              <a:spcBef>
                <a:spcPts val="0"/>
              </a:spcBef>
              <a:spcAft>
                <a:spcPts val="0"/>
              </a:spcAft>
            </a:pPr>
            <a:endParaRPr/>
          </a:p>
        </p:txBody>
      </p:sp>
      <p:sp>
        <p:nvSpPr>
          <p:cNvPr id="47" name="Rounded Rectangle 46"/>
          <p:cNvSpPr/>
          <p:nvPr/>
        </p:nvSpPr>
        <p:spPr>
          <a:xfrm>
            <a:off x="822960" y="5257800"/>
            <a:ext cx="10515600" cy="56692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042415" y="5422392"/>
            <a:ext cx="10104120" cy="256032"/>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220" b="1" i="0">
                <a:solidFill>
                  <a:srgbClr val="9E3A00"/>
                </a:solidFill>
                <a:latin typeface="Arial"/>
              </a:rPr>
              <a:t>F_e4 contains seven of the shared genes; matching M_e33 contains four.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Neither cell type nor sex/APOE context is strongly preserved</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All 22 cross-cohort unit pairings of the 10 shared genes.</a:t>
            </a:r>
          </a:p>
        </p:txBody>
      </p:sp>
      <p:sp>
        <p:nvSpPr>
          <p:cNvPr id="4" name="Rounded Rectangle 3"/>
          <p:cNvSpPr/>
          <p:nvPr/>
        </p:nvSpPr>
        <p:spPr>
          <a:xfrm>
            <a:off x="822960" y="1481328"/>
            <a:ext cx="5074920" cy="27889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97280" y="1783080"/>
            <a:ext cx="4526280" cy="8686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5200" b="1" i="0">
                <a:solidFill>
                  <a:srgbClr val="00684D"/>
                </a:solidFill>
                <a:latin typeface="Arial"/>
              </a:rPr>
              <a:t>14%</a:t>
            </a:r>
          </a:p>
        </p:txBody>
      </p:sp>
      <p:sp>
        <p:nvSpPr>
          <p:cNvPr id="6" name="TextBox 5"/>
          <p:cNvSpPr txBox="1"/>
          <p:nvPr/>
        </p:nvSpPr>
        <p:spPr>
          <a:xfrm>
            <a:off x="1097280" y="2880360"/>
            <a:ext cx="4526280" cy="2926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F233D"/>
                </a:solidFill>
                <a:latin typeface="Arial"/>
              </a:rPr>
              <a:t>share broad cell type (3 of 22)</a:t>
            </a:r>
          </a:p>
        </p:txBody>
      </p:sp>
      <p:sp>
        <p:nvSpPr>
          <p:cNvPr id="7" name="TextBox 6"/>
          <p:cNvSpPr txBox="1"/>
          <p:nvPr/>
        </p:nvSpPr>
        <p:spPr>
          <a:xfrm>
            <a:off x="1097280" y="3291840"/>
            <a:ext cx="45262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0" i="0">
                <a:solidFill>
                  <a:srgbClr val="4E5A68"/>
                </a:solidFill>
                <a:latin typeface="Arial"/>
              </a:rPr>
              <a:t>descriptive random-pairing expectation ≈32%</a:t>
            </a:r>
          </a:p>
        </p:txBody>
      </p:sp>
      <p:sp>
        <p:nvSpPr>
          <p:cNvPr id="8" name="Rounded Rectangle 7"/>
          <p:cNvSpPr/>
          <p:nvPr/>
        </p:nvSpPr>
        <p:spPr>
          <a:xfrm>
            <a:off x="6263640" y="1481328"/>
            <a:ext cx="5074920" cy="278892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1783080"/>
            <a:ext cx="4526280" cy="86868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5200" b="1" i="0">
                <a:solidFill>
                  <a:srgbClr val="9E3A00"/>
                </a:solidFill>
                <a:latin typeface="Arial"/>
              </a:rPr>
              <a:t>18%</a:t>
            </a:r>
          </a:p>
        </p:txBody>
      </p:sp>
      <p:sp>
        <p:nvSpPr>
          <p:cNvPr id="10" name="TextBox 9"/>
          <p:cNvSpPr txBox="1"/>
          <p:nvPr/>
        </p:nvSpPr>
        <p:spPr>
          <a:xfrm>
            <a:off x="6537960" y="2880360"/>
            <a:ext cx="4526280" cy="292608"/>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400" b="1" i="0">
                <a:solidFill>
                  <a:srgbClr val="0F233D"/>
                </a:solidFill>
                <a:latin typeface="Arial"/>
              </a:rPr>
              <a:t>share sex/APOE group (4 of 22)</a:t>
            </a:r>
          </a:p>
        </p:txBody>
      </p:sp>
      <p:sp>
        <p:nvSpPr>
          <p:cNvPr id="11" name="TextBox 10"/>
          <p:cNvSpPr txBox="1"/>
          <p:nvPr/>
        </p:nvSpPr>
        <p:spPr>
          <a:xfrm>
            <a:off x="6537960" y="3291840"/>
            <a:ext cx="452628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00" b="0" i="0">
                <a:solidFill>
                  <a:srgbClr val="4E5A68"/>
                </a:solidFill>
                <a:latin typeface="Arial"/>
              </a:rPr>
              <a:t>four M_e33 pairings; only MIPOL1 also matches cell type</a:t>
            </a:r>
          </a:p>
        </p:txBody>
      </p:sp>
      <p:sp>
        <p:nvSpPr>
          <p:cNvPr id="12" name="Rounded Rectangle 11"/>
          <p:cNvSpPr/>
          <p:nvPr/>
        </p:nvSpPr>
        <p:spPr>
          <a:xfrm>
            <a:off x="822960" y="4572000"/>
            <a:ext cx="10515600" cy="118872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97280" y="4800600"/>
            <a:ext cx="64008" cy="283464"/>
          </a:xfrm>
          <a:prstGeom prst="rect">
            <a:avLst/>
          </a:prstGeom>
          <a:solidFill>
            <a:srgbClr val="7E4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43584" y="4773168"/>
            <a:ext cx="972921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Interpretation</a:t>
            </a:r>
          </a:p>
        </p:txBody>
      </p:sp>
      <p:sp>
        <p:nvSpPr>
          <p:cNvPr id="15" name="TextBox 14"/>
          <p:cNvSpPr txBox="1"/>
          <p:nvPr/>
        </p:nvSpPr>
        <p:spPr>
          <a:xfrm>
            <a:off x="1115568" y="5212080"/>
            <a:ext cx="9875520" cy="36576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80" b="0" i="0">
                <a:solidFill>
                  <a:srgbClr val="1F2730"/>
                </a:solidFill>
                <a:latin typeface="Arial"/>
              </a:rPr>
              <a:t>The VH12 network-specific driver set shows little context transfer to ROSMAP. Network topology and cohort both changed, so the two causes cannot be separated here.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Shared SEA-AD male-e33 genes span both ROSMAP sexes</a:t>
            </a:r>
          </a:p>
        </p:txBody>
      </p:sp>
      <p:sp>
        <p:nvSpPr>
          <p:cNvPr id="3" name="TextBox 2"/>
          <p:cNvSpPr txBox="1"/>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0" i="0">
                <a:solidFill>
                  <a:srgbClr val="4E5A68"/>
                </a:solidFill>
                <a:latin typeface="Arial"/>
              </a:rPr>
              <a:t>ROSMAP sex context is mixed across the 10 shared M_e33 drivers.</a:t>
            </a:r>
          </a:p>
        </p:txBody>
      </p:sp>
      <p:sp>
        <p:nvSpPr>
          <p:cNvPr id="4" name="Rounded Rectangle 3"/>
          <p:cNvSpPr/>
          <p:nvPr/>
        </p:nvSpPr>
        <p:spPr>
          <a:xfrm>
            <a:off x="603504" y="1417320"/>
            <a:ext cx="5440680" cy="416052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77824" y="173736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24127" y="1709928"/>
            <a:ext cx="47457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Gene membership</a:t>
            </a:r>
          </a:p>
        </p:txBody>
      </p:sp>
      <p:sp>
        <p:nvSpPr>
          <p:cNvPr id="7" name="TextBox 6"/>
          <p:cNvSpPr txBox="1"/>
          <p:nvPr/>
        </p:nvSpPr>
        <p:spPr>
          <a:xfrm>
            <a:off x="896112" y="2304288"/>
            <a:ext cx="141732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0072B2"/>
                </a:solidFill>
                <a:latin typeface="Arial"/>
              </a:rPr>
              <a:t>Male-only (2)</a:t>
            </a:r>
          </a:p>
        </p:txBody>
      </p:sp>
      <p:sp>
        <p:nvSpPr>
          <p:cNvPr id="8" name="TextBox 7"/>
          <p:cNvSpPr txBox="1"/>
          <p:nvPr/>
        </p:nvSpPr>
        <p:spPr>
          <a:xfrm>
            <a:off x="2359152" y="2304288"/>
            <a:ext cx="3246120" cy="38404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200" b="1" i="0">
                <a:solidFill>
                  <a:srgbClr val="0F233D"/>
                </a:solidFill>
                <a:latin typeface="Arial"/>
              </a:rPr>
              <a:t>CHD3, DEF8</a:t>
            </a:r>
          </a:p>
        </p:txBody>
      </p:sp>
      <p:sp>
        <p:nvSpPr>
          <p:cNvPr id="9" name="TextBox 8"/>
          <p:cNvSpPr txBox="1"/>
          <p:nvPr/>
        </p:nvSpPr>
        <p:spPr>
          <a:xfrm>
            <a:off x="896112" y="3090672"/>
            <a:ext cx="141732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9E3A00"/>
                </a:solidFill>
                <a:latin typeface="Arial"/>
              </a:rPr>
              <a:t>Female-only (4)</a:t>
            </a:r>
          </a:p>
        </p:txBody>
      </p:sp>
      <p:sp>
        <p:nvSpPr>
          <p:cNvPr id="10" name="TextBox 9"/>
          <p:cNvSpPr txBox="1"/>
          <p:nvPr/>
        </p:nvSpPr>
        <p:spPr>
          <a:xfrm>
            <a:off x="2359152" y="3090672"/>
            <a:ext cx="3246120"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1" i="0">
                <a:solidFill>
                  <a:srgbClr val="0F233D"/>
                </a:solidFill>
                <a:latin typeface="Arial"/>
              </a:rPr>
              <a:t>CTNND2, CXXC1, MKLN1, SECISBP2</a:t>
            </a:r>
          </a:p>
        </p:txBody>
      </p:sp>
      <p:sp>
        <p:nvSpPr>
          <p:cNvPr id="11" name="TextBox 10"/>
          <p:cNvSpPr txBox="1"/>
          <p:nvPr/>
        </p:nvSpPr>
        <p:spPr>
          <a:xfrm>
            <a:off x="896112" y="4078224"/>
            <a:ext cx="141732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20" b="1" i="0">
                <a:solidFill>
                  <a:srgbClr val="4E5A68"/>
                </a:solidFill>
                <a:latin typeface="Arial"/>
              </a:rPr>
              <a:t>Both sexes (4)</a:t>
            </a:r>
          </a:p>
        </p:txBody>
      </p:sp>
      <p:sp>
        <p:nvSpPr>
          <p:cNvPr id="12" name="TextBox 11"/>
          <p:cNvSpPr txBox="1"/>
          <p:nvPr/>
        </p:nvSpPr>
        <p:spPr>
          <a:xfrm>
            <a:off x="2359152" y="4078224"/>
            <a:ext cx="3246120"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1" i="0">
                <a:solidFill>
                  <a:srgbClr val="0F233D"/>
                </a:solidFill>
                <a:latin typeface="Arial"/>
              </a:rPr>
              <a:t>LAGE3, MIPOL1, PAPOLA, SYN1</a:t>
            </a:r>
          </a:p>
        </p:txBody>
      </p:sp>
      <p:sp>
        <p:nvSpPr>
          <p:cNvPr id="13" name="Rounded Rectangle 12"/>
          <p:cNvSpPr/>
          <p:nvPr/>
        </p:nvSpPr>
        <p:spPr>
          <a:xfrm>
            <a:off x="6309360" y="1417320"/>
            <a:ext cx="5285232" cy="4160520"/>
          </a:xfrm>
          <a:prstGeom prst="roundRect">
            <a:avLst/>
          </a:prstGeom>
          <a:solidFill>
            <a:srgbClr val="F1F4F7"/>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583680" y="1737360"/>
            <a:ext cx="64008" cy="283464"/>
          </a:xfrm>
          <a:prstGeom prst="rect">
            <a:avLst/>
          </a:prstGeom>
          <a:solidFill>
            <a:srgbClr val="4E5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729984" y="1709928"/>
            <a:ext cx="456285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ROSMAP sex distribution</a:t>
            </a:r>
          </a:p>
        </p:txBody>
      </p:sp>
      <p:sp>
        <p:nvSpPr>
          <p:cNvPr id="16" name="TextBox 15"/>
          <p:cNvSpPr txBox="1"/>
          <p:nvPr/>
        </p:nvSpPr>
        <p:spPr>
          <a:xfrm>
            <a:off x="6601968" y="2377440"/>
            <a:ext cx="237744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F233D"/>
                </a:solidFill>
                <a:latin typeface="Arial"/>
              </a:rPr>
              <a:t>Male-only</a:t>
            </a:r>
          </a:p>
        </p:txBody>
      </p:sp>
      <p:sp>
        <p:nvSpPr>
          <p:cNvPr id="17" name="Rectangle 16"/>
          <p:cNvSpPr/>
          <p:nvPr/>
        </p:nvSpPr>
        <p:spPr>
          <a:xfrm>
            <a:off x="6601968" y="2670048"/>
            <a:ext cx="1783080" cy="21945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378440" y="2633472"/>
            <a:ext cx="86868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0072B2"/>
                </a:solidFill>
                <a:latin typeface="Arial"/>
              </a:rPr>
              <a:t>2</a:t>
            </a:r>
          </a:p>
        </p:txBody>
      </p:sp>
      <p:sp>
        <p:nvSpPr>
          <p:cNvPr id="19" name="TextBox 18"/>
          <p:cNvSpPr txBox="1"/>
          <p:nvPr/>
        </p:nvSpPr>
        <p:spPr>
          <a:xfrm>
            <a:off x="6601968" y="3200400"/>
            <a:ext cx="237744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F233D"/>
                </a:solidFill>
                <a:latin typeface="Arial"/>
              </a:rPr>
              <a:t>Female-only</a:t>
            </a:r>
          </a:p>
        </p:txBody>
      </p:sp>
      <p:sp>
        <p:nvSpPr>
          <p:cNvPr id="20" name="Rectangle 19"/>
          <p:cNvSpPr/>
          <p:nvPr/>
        </p:nvSpPr>
        <p:spPr>
          <a:xfrm>
            <a:off x="6601968" y="3493008"/>
            <a:ext cx="3566160" cy="21945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378440" y="3456432"/>
            <a:ext cx="86868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D55E00"/>
                </a:solidFill>
                <a:latin typeface="Arial"/>
              </a:rPr>
              <a:t>4</a:t>
            </a:r>
          </a:p>
        </p:txBody>
      </p:sp>
      <p:sp>
        <p:nvSpPr>
          <p:cNvPr id="22" name="TextBox 21"/>
          <p:cNvSpPr txBox="1"/>
          <p:nvPr/>
        </p:nvSpPr>
        <p:spPr>
          <a:xfrm>
            <a:off x="6601968" y="4023360"/>
            <a:ext cx="2377440" cy="23774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00" b="1" i="0">
                <a:solidFill>
                  <a:srgbClr val="0F233D"/>
                </a:solidFill>
                <a:latin typeface="Arial"/>
              </a:rPr>
              <a:t>Both sexes</a:t>
            </a:r>
          </a:p>
        </p:txBody>
      </p:sp>
      <p:sp>
        <p:nvSpPr>
          <p:cNvPr id="23" name="Rectangle 22"/>
          <p:cNvSpPr/>
          <p:nvPr/>
        </p:nvSpPr>
        <p:spPr>
          <a:xfrm>
            <a:off x="6601968" y="4315968"/>
            <a:ext cx="3566160" cy="219456"/>
          </a:xfrm>
          <a:prstGeom prst="rect">
            <a:avLst/>
          </a:prstGeom>
          <a:solidFill>
            <a:srgbClr val="4E5A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378440" y="4279392"/>
            <a:ext cx="868680" cy="2560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300" b="1" i="0">
                <a:solidFill>
                  <a:srgbClr val="4E5A68"/>
                </a:solidFill>
                <a:latin typeface="Arial"/>
              </a:rPr>
              <a:t>4</a:t>
            </a:r>
          </a:p>
        </p:txBody>
      </p:sp>
      <p:sp>
        <p:nvSpPr>
          <p:cNvPr id="25" name="TextBox 24"/>
          <p:cNvSpPr txBox="1"/>
          <p:nvPr/>
        </p:nvSpPr>
        <p:spPr>
          <a:xfrm>
            <a:off x="6601968" y="4892040"/>
            <a:ext cx="4754880" cy="56692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040" b="0" i="0">
                <a:solidFill>
                  <a:srgbClr val="4E5A68"/>
                </a:solidFill>
                <a:latin typeface="Arial"/>
              </a:rPr>
              <a:t>Only CHD3 and DEF8 are restricted to male ROSMAP categories; four shared genes appear only in female ROSMAP categories.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p:cNvSpPr txBox="1"/>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2450" b="1" i="0">
                <a:solidFill>
                  <a:srgbClr val="0F233D"/>
                </a:solidFill>
                <a:latin typeface="Arial"/>
              </a:rPr>
              <a:t>What the SEA-AD-network rerun does—and does not—show</a:t>
            </a:r>
          </a:p>
        </p:txBody>
      </p:sp>
      <p:sp>
        <p:nvSpPr>
          <p:cNvPr id="3" name="Rounded Rectangle 2"/>
          <p:cNvSpPr/>
          <p:nvPr/>
        </p:nvSpPr>
        <p:spPr>
          <a:xfrm>
            <a:off x="603504" y="1188720"/>
            <a:ext cx="5440680" cy="461772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86968" y="150876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33271" y="1481328"/>
            <a:ext cx="4745736"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Supported</a:t>
            </a:r>
          </a:p>
        </p:txBody>
      </p:sp>
      <p:sp>
        <p:nvSpPr>
          <p:cNvPr id="6" name="Oval 5"/>
          <p:cNvSpPr/>
          <p:nvPr/>
        </p:nvSpPr>
        <p:spPr>
          <a:xfrm>
            <a:off x="905256" y="21396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78992" y="2011680"/>
            <a:ext cx="476402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10 of 94 SEA-AD drivers also occur in ROSMAP.</a:t>
            </a:r>
          </a:p>
        </p:txBody>
      </p:sp>
      <p:sp>
        <p:nvSpPr>
          <p:cNvPr id="8" name="Oval 7"/>
          <p:cNvSpPr/>
          <p:nvPr/>
        </p:nvSpPr>
        <p:spPr>
          <a:xfrm>
            <a:off x="905256" y="285292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78992" y="2724912"/>
            <a:ext cx="476402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MIPOL1 is the sole exact M_e33-excitatory context match.</a:t>
            </a:r>
          </a:p>
        </p:txBody>
      </p:sp>
      <p:sp>
        <p:nvSpPr>
          <p:cNvPr id="10" name="Oval 9"/>
          <p:cNvSpPr/>
          <p:nvPr/>
        </p:nvSpPr>
        <p:spPr>
          <a:xfrm>
            <a:off x="905256" y="3566160"/>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78992" y="3438144"/>
            <a:ext cx="476402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CXXC1 and CTNND2 retain broad cell type while switching strata.</a:t>
            </a:r>
          </a:p>
        </p:txBody>
      </p:sp>
      <p:sp>
        <p:nvSpPr>
          <p:cNvPr id="12" name="Oval 11"/>
          <p:cNvSpPr/>
          <p:nvPr/>
        </p:nvSpPr>
        <p:spPr>
          <a:xfrm>
            <a:off x="905256" y="427939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078992" y="4151376"/>
            <a:ext cx="476402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PAPOLA and PJVK each recur across two SEA-AD categories.</a:t>
            </a:r>
          </a:p>
        </p:txBody>
      </p:sp>
      <p:sp>
        <p:nvSpPr>
          <p:cNvPr id="14" name="Rounded Rectangle 13"/>
          <p:cNvSpPr/>
          <p:nvPr/>
        </p:nvSpPr>
        <p:spPr>
          <a:xfrm>
            <a:off x="6309360" y="1188720"/>
            <a:ext cx="5285232" cy="461772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592824" y="150876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739128" y="1481328"/>
            <a:ext cx="4590288" cy="329184"/>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520" b="1" i="0">
                <a:solidFill>
                  <a:srgbClr val="0F233D"/>
                </a:solidFill>
                <a:latin typeface="Arial"/>
              </a:rPr>
              <a:t>Not supported / limits</a:t>
            </a:r>
          </a:p>
        </p:txBody>
      </p:sp>
      <p:sp>
        <p:nvSpPr>
          <p:cNvPr id="17" name="Oval 16"/>
          <p:cNvSpPr/>
          <p:nvPr/>
        </p:nvSpPr>
        <p:spPr>
          <a:xfrm>
            <a:off x="6611112" y="213969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784848" y="2011680"/>
            <a:ext cx="462686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No broad preservation of cell-type or sex/APOE context is evident.</a:t>
            </a:r>
          </a:p>
        </p:txBody>
      </p:sp>
      <p:sp>
        <p:nvSpPr>
          <p:cNvPr id="19" name="Oval 18"/>
          <p:cNvSpPr/>
          <p:nvPr/>
        </p:nvSpPr>
        <p:spPr>
          <a:xfrm>
            <a:off x="6611112" y="285292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784848" y="2724912"/>
            <a:ext cx="462686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Only M_e33 is well represented among SEA-AD active calls.</a:t>
            </a:r>
          </a:p>
        </p:txBody>
      </p:sp>
      <p:sp>
        <p:nvSpPr>
          <p:cNvPr id="21" name="Oval 20"/>
          <p:cNvSpPr/>
          <p:nvPr/>
        </p:nvSpPr>
        <p:spPr>
          <a:xfrm>
            <a:off x="6611112" y="3566160"/>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784848" y="3438144"/>
            <a:ext cx="462686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Cohort and network topology changed together; their effects are inseparable here.</a:t>
            </a:r>
          </a:p>
        </p:txBody>
      </p:sp>
      <p:sp>
        <p:nvSpPr>
          <p:cNvPr id="23" name="Oval 22"/>
          <p:cNvSpPr/>
          <p:nvPr/>
        </p:nvSpPr>
        <p:spPr>
          <a:xfrm>
            <a:off x="6611112" y="4279392"/>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784848" y="4151376"/>
            <a:ext cx="4626864" cy="713232"/>
          </a:xfrm>
          <a:prstGeom prst="rect">
            <a:avLst/>
          </a:prstGeom>
          <a:noFill/>
        </p:spPr>
        <p:txBody>
          <a:bodyPr wrap="square" lIns="27432" tIns="27432" rIns="27432" bIns="27432" anchor="t">
            <a:spAutoFit/>
          </a:bodyPr>
          <a:lstStyle/>
          <a:p>
            <a:pPr algn="l">
              <a:lnSpc>
                <a:spcPct val="100000"/>
              </a:lnSpc>
              <a:spcBef>
                <a:spcPts val="0"/>
              </a:spcBef>
              <a:spcAft>
                <a:spcPts val="0"/>
              </a:spcAft>
            </a:pPr>
            <a:r>
              <a:rPr sz="1150" b="0" i="0">
                <a:solidFill>
                  <a:srgbClr val="1F2730"/>
                </a:solidFill>
                <a:latin typeface="Arial"/>
              </a:rPr>
              <a:t>Returned-only ACAT scores are exploratory, post-selected, and not final-FDR controlled.</a:t>
            </a:r>
          </a:p>
        </p:txBody>
      </p:sp>
      <p:sp>
        <p:nvSpPr>
          <p:cNvPr id="25" name="TextBox 24"/>
          <p:cNvSpPr txBox="1"/>
          <p:nvPr/>
        </p:nvSpPr>
        <p:spPr>
          <a:xfrm>
            <a:off x="804672" y="6080760"/>
            <a:ext cx="10607040" cy="274320"/>
          </a:xfrm>
          <a:prstGeom prst="rect">
            <a:avLst/>
          </a:prstGeom>
          <a:noFill/>
        </p:spPr>
        <p:txBody>
          <a:bodyPr wrap="square" lIns="27432" tIns="27432" rIns="27432" bIns="27432" anchor="t">
            <a:spAutoFit/>
          </a:bodyPr>
          <a:lstStyle/>
          <a:p>
            <a:pPr algn="ctr">
              <a:lnSpc>
                <a:spcPct val="100000"/>
              </a:lnSpc>
              <a:spcBef>
                <a:spcPts val="0"/>
              </a:spcBef>
              <a:spcAft>
                <a:spcPts val="0"/>
              </a:spcAft>
            </a:pPr>
            <a:r>
              <a:rPr sz="1170" b="1" i="0">
                <a:solidFill>
                  <a:srgbClr val="7E4C9A"/>
                </a:solidFill>
                <a:latin typeface="Arial"/>
              </a:rPr>
              <a:t>Takeaway: SEA-AD-specific topology yields a distinct driver set; MIPOL1 is the clearest matched-context candidate.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F233D"/>
        </a:solidFill>
        <a:effectLst/>
      </p:bgPr>
    </p:bg>
    <p:spTree>
      <p:nvGrpSpPr>
        <p:cNvPr id="1" name=""/>
        <p:cNvGrpSpPr/>
        <p:nvPr/>
      </p:nvGrpSpPr>
      <p:grpSpPr/>
      <p:sp>
        <p:nvSpPr>
          <p:cNvPr id="2" name="TextBox 1"/>
          <p:cNvSpPr txBox="1"/>
          <p:nvPr/>
        </p:nvSpPr>
        <p:spPr>
          <a:xfrm>
            <a:off x="713232" y="612648"/>
            <a:ext cx="2194560" cy="2560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1" i="0">
                <a:solidFill>
                  <a:srgbClr val="E69F00"/>
                </a:solidFill>
                <a:latin typeface="Arial"/>
              </a:rPr>
              <a:t>PART 4</a:t>
            </a:r>
          </a:p>
        </p:txBody>
      </p:sp>
      <p:sp>
        <p:nvSpPr>
          <p:cNvPr id="3" name="Rectangle 2"/>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78992" y="1243584"/>
            <a:ext cx="7498079" cy="96012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3200" b="1" i="0">
                <a:solidFill>
                  <a:srgbClr val="FFFFFF"/>
                </a:solidFill>
                <a:latin typeface="Arial"/>
              </a:rPr>
              <a:t>Sensitivity analyses</a:t>
            </a:r>
          </a:p>
        </p:txBody>
      </p:sp>
      <p:sp>
        <p:nvSpPr>
          <p:cNvPr id="5" name="TextBox 4"/>
          <p:cNvSpPr txBox="1"/>
          <p:nvPr/>
        </p:nvSpPr>
        <p:spPr>
          <a:xfrm>
            <a:off x="1097280" y="2468880"/>
            <a:ext cx="7406640" cy="9144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CCDBEA"/>
                </a:solidFill>
                <a:latin typeface="Arial"/>
              </a:rPr>
              <a:t>Robustness checks across sample support, profile coverage, query definition, and KDA decision rules.</a:t>
            </a:r>
          </a:p>
        </p:txBody>
      </p:sp>
      <p:sp>
        <p:nvSpPr>
          <p:cNvPr id="6" name="Rounded Rectangle 5"/>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217152" y="1527048"/>
            <a:ext cx="1920240"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940" b="1" i="0">
                <a:solidFill>
                  <a:srgbClr val="E69F00"/>
                </a:solidFill>
                <a:latin typeface="Arial"/>
              </a:rPr>
              <a:t>IN THIS PART</a:t>
            </a:r>
          </a:p>
        </p:txBody>
      </p:sp>
      <p:sp>
        <p:nvSpPr>
          <p:cNvPr id="8" name="Oval 7"/>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98864" y="2084832"/>
            <a:ext cx="310896" cy="1554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819" b="1" i="0">
                <a:solidFill>
                  <a:srgbClr val="0F233D"/>
                </a:solidFill>
                <a:latin typeface="Arial"/>
              </a:rPr>
              <a:t>1</a:t>
            </a:r>
          </a:p>
        </p:txBody>
      </p:sp>
      <p:sp>
        <p:nvSpPr>
          <p:cNvPr id="10" name="TextBox 9"/>
          <p:cNvSpPr txBox="1"/>
          <p:nvPr/>
        </p:nvSpPr>
        <p:spPr>
          <a:xfrm>
            <a:off x="9628632" y="2011680"/>
            <a:ext cx="1444752"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1" i="0">
                <a:solidFill>
                  <a:srgbClr val="FFFFFF"/>
                </a:solidFill>
                <a:latin typeface="Arial"/>
              </a:rPr>
              <a:t>Donor support</a:t>
            </a:r>
          </a:p>
        </p:txBody>
      </p:sp>
      <p:sp>
        <p:nvSpPr>
          <p:cNvPr id="11" name="Oval 10"/>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98864" y="2834640"/>
            <a:ext cx="310896" cy="1554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819" b="1" i="0">
                <a:solidFill>
                  <a:srgbClr val="0F233D"/>
                </a:solidFill>
                <a:latin typeface="Arial"/>
              </a:rPr>
              <a:t>2</a:t>
            </a:r>
          </a:p>
        </p:txBody>
      </p:sp>
      <p:sp>
        <p:nvSpPr>
          <p:cNvPr id="13" name="TextBox 12"/>
          <p:cNvSpPr txBox="1"/>
          <p:nvPr/>
        </p:nvSpPr>
        <p:spPr>
          <a:xfrm>
            <a:off x="9628632" y="2761488"/>
            <a:ext cx="1444752"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1" i="0">
                <a:solidFill>
                  <a:srgbClr val="FFFFFF"/>
                </a:solidFill>
                <a:latin typeface="Arial"/>
              </a:rPr>
              <a:t>Profile coverage</a:t>
            </a:r>
          </a:p>
        </p:txBody>
      </p:sp>
      <p:sp>
        <p:nvSpPr>
          <p:cNvPr id="14" name="Oval 13"/>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98864" y="3584448"/>
            <a:ext cx="310896" cy="1554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819" b="1" i="0">
                <a:solidFill>
                  <a:srgbClr val="0F233D"/>
                </a:solidFill>
                <a:latin typeface="Arial"/>
              </a:rPr>
              <a:t>3</a:t>
            </a:r>
          </a:p>
        </p:txBody>
      </p:sp>
      <p:sp>
        <p:nvSpPr>
          <p:cNvPr id="16" name="TextBox 15"/>
          <p:cNvSpPr txBox="1"/>
          <p:nvPr/>
        </p:nvSpPr>
        <p:spPr>
          <a:xfrm>
            <a:off x="9628632" y="3511296"/>
            <a:ext cx="1444752"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1" i="0">
                <a:solidFill>
                  <a:srgbClr val="FFFFFF"/>
                </a:solidFill>
                <a:latin typeface="Arial"/>
              </a:rPr>
              <a:t>Query definition</a:t>
            </a:r>
          </a:p>
        </p:txBody>
      </p:sp>
      <p:sp>
        <p:nvSpPr>
          <p:cNvPr id="17" name="Oval 16"/>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98864" y="4334256"/>
            <a:ext cx="310896" cy="15544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819" b="1" i="0">
                <a:solidFill>
                  <a:srgbClr val="0F233D"/>
                </a:solidFill>
                <a:latin typeface="Arial"/>
              </a:rPr>
              <a:t>4</a:t>
            </a:r>
          </a:p>
        </p:txBody>
      </p:sp>
      <p:sp>
        <p:nvSpPr>
          <p:cNvPr id="19" name="TextBox 18"/>
          <p:cNvSpPr txBox="1"/>
          <p:nvPr/>
        </p:nvSpPr>
        <p:spPr>
          <a:xfrm>
            <a:off x="9628632" y="4261104"/>
            <a:ext cx="1444752"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10" b="1" i="0">
                <a:solidFill>
                  <a:srgbClr val="FFFFFF"/>
                </a:solidFill>
                <a:latin typeface="Arial"/>
              </a:rPr>
              <a:t>KDA filters</a:t>
            </a:r>
          </a:p>
        </p:txBody>
      </p:sp>
      <p:sp>
        <p:nvSpPr>
          <p:cNvPr id="20" name="Rounded Rectangle 19"/>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53312" y="4270248"/>
            <a:ext cx="6720840" cy="27432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120" b="1" i="0">
                <a:solidFill>
                  <a:srgbClr val="FFFFFF"/>
                </a:solidFill>
                <a:latin typeface="Arial"/>
              </a:rPr>
              <a:t>Each sensitivity test is reported separately with its own evidence boundary.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Donor-threshold sensitivity — numerical comparison</a:t>
            </a:r>
          </a:p>
        </p:txBody>
      </p:sp>
      <p:sp>
        <p:nvSpPr>
          <p:cNvPr id="3" name="TextBox 2"/>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Raising minimum donors per disease arm from 3 to 5 in ROSMAP and SEA-AD.</a:t>
            </a:r>
          </a:p>
        </p:txBody>
      </p:sp>
      <p:sp>
        <p:nvSpPr>
          <p:cNvPr id="4" name="Rectangle 3"/>
          <p:cNvSpPr/>
          <p:nvPr/>
        </p:nvSpPr>
        <p:spPr>
          <a:xfrm>
            <a:off x="658368" y="1600200"/>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13232" y="1655064"/>
            <a:ext cx="1216152" cy="6035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00" b="1" i="0">
                <a:solidFill>
                  <a:srgbClr val="FFFFFF"/>
                </a:solidFill>
                <a:latin typeface="Arial"/>
              </a:rPr>
              <a:t>Cohort</a:t>
            </a:r>
          </a:p>
        </p:txBody>
      </p:sp>
      <p:sp>
        <p:nvSpPr>
          <p:cNvPr id="6" name="Rectangle 5"/>
          <p:cNvSpPr/>
          <p:nvPr/>
        </p:nvSpPr>
        <p:spPr>
          <a:xfrm>
            <a:off x="1984248" y="1600200"/>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039112" y="1655064"/>
            <a:ext cx="1764791" cy="6035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00" b="1" i="0">
                <a:solidFill>
                  <a:srgbClr val="FFFFFF"/>
                </a:solidFill>
                <a:latin typeface="Arial"/>
              </a:rPr>
              <a:t>Minimum donors / arm</a:t>
            </a:r>
          </a:p>
        </p:txBody>
      </p:sp>
      <p:sp>
        <p:nvSpPr>
          <p:cNvPr id="8" name="Rectangle 7"/>
          <p:cNvSpPr/>
          <p:nvPr/>
        </p:nvSpPr>
        <p:spPr>
          <a:xfrm>
            <a:off x="3858768" y="1600200"/>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913631" y="1655064"/>
            <a:ext cx="1581912" cy="6035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00" b="1" i="0">
                <a:solidFill>
                  <a:srgbClr val="FFFFFF"/>
                </a:solidFill>
                <a:latin typeface="Arial"/>
              </a:rPr>
              <a:t>Eligible contrasts</a:t>
            </a:r>
          </a:p>
        </p:txBody>
      </p:sp>
      <p:sp>
        <p:nvSpPr>
          <p:cNvPr id="10" name="Rectangle 9"/>
          <p:cNvSpPr/>
          <p:nvPr/>
        </p:nvSpPr>
        <p:spPr>
          <a:xfrm>
            <a:off x="5550408" y="1600200"/>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05272" y="1655064"/>
            <a:ext cx="1124712" cy="6035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00" b="1" i="0">
                <a:solidFill>
                  <a:srgbClr val="FFFFFF"/>
                </a:solidFill>
                <a:latin typeface="Arial"/>
              </a:rPr>
              <a:t>KDA runs</a:t>
            </a:r>
          </a:p>
        </p:txBody>
      </p:sp>
      <p:sp>
        <p:nvSpPr>
          <p:cNvPr id="12" name="Rectangle 11"/>
          <p:cNvSpPr/>
          <p:nvPr/>
        </p:nvSpPr>
        <p:spPr>
          <a:xfrm>
            <a:off x="6784848" y="1600200"/>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39712" y="1655064"/>
            <a:ext cx="2130552" cy="6035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00" b="1" i="0">
                <a:solidFill>
                  <a:srgbClr val="FFFFFF"/>
                </a:solidFill>
                <a:latin typeface="Arial"/>
              </a:rPr>
              <a:t>Significant driver rows</a:t>
            </a:r>
          </a:p>
        </p:txBody>
      </p:sp>
      <p:sp>
        <p:nvSpPr>
          <p:cNvPr id="14" name="Rectangle 13"/>
          <p:cNvSpPr/>
          <p:nvPr/>
        </p:nvSpPr>
        <p:spPr>
          <a:xfrm>
            <a:off x="9025128" y="1600200"/>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79992" y="1655064"/>
            <a:ext cx="2404872" cy="60350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00" b="1" i="0">
                <a:solidFill>
                  <a:srgbClr val="FFFFFF"/>
                </a:solidFill>
                <a:latin typeface="Arial"/>
              </a:rPr>
              <a:t>Unique non-MT drivers</a:t>
            </a:r>
          </a:p>
        </p:txBody>
      </p:sp>
      <p:sp>
        <p:nvSpPr>
          <p:cNvPr id="16" name="Rectangle 15"/>
          <p:cNvSpPr/>
          <p:nvPr/>
        </p:nvSpPr>
        <p:spPr>
          <a:xfrm>
            <a:off x="658368" y="2295144"/>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3232" y="2340863"/>
            <a:ext cx="121615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ROSMAP</a:t>
            </a:r>
          </a:p>
        </p:txBody>
      </p:sp>
      <p:sp>
        <p:nvSpPr>
          <p:cNvPr id="18" name="Rectangle 17"/>
          <p:cNvSpPr/>
          <p:nvPr/>
        </p:nvSpPr>
        <p:spPr>
          <a:xfrm>
            <a:off x="1984248" y="2295144"/>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39112" y="2340863"/>
            <a:ext cx="1764791"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3</a:t>
            </a:r>
          </a:p>
        </p:txBody>
      </p:sp>
      <p:sp>
        <p:nvSpPr>
          <p:cNvPr id="20" name="Rectangle 19"/>
          <p:cNvSpPr/>
          <p:nvPr/>
        </p:nvSpPr>
        <p:spPr>
          <a:xfrm>
            <a:off x="3858768" y="2295144"/>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13631" y="2340863"/>
            <a:ext cx="158191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42</a:t>
            </a:r>
          </a:p>
        </p:txBody>
      </p:sp>
      <p:sp>
        <p:nvSpPr>
          <p:cNvPr id="22" name="Rectangle 21"/>
          <p:cNvSpPr/>
          <p:nvPr/>
        </p:nvSpPr>
        <p:spPr>
          <a:xfrm>
            <a:off x="5550408" y="2295144"/>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05272" y="2340863"/>
            <a:ext cx="112471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3</a:t>
            </a:r>
          </a:p>
        </p:txBody>
      </p:sp>
      <p:sp>
        <p:nvSpPr>
          <p:cNvPr id="24" name="Rectangle 23"/>
          <p:cNvSpPr/>
          <p:nvPr/>
        </p:nvSpPr>
        <p:spPr>
          <a:xfrm>
            <a:off x="6784848" y="2295144"/>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39712" y="2340863"/>
            <a:ext cx="213055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39</a:t>
            </a:r>
          </a:p>
        </p:txBody>
      </p:sp>
      <p:sp>
        <p:nvSpPr>
          <p:cNvPr id="26" name="Rectangle 25"/>
          <p:cNvSpPr/>
          <p:nvPr/>
        </p:nvSpPr>
        <p:spPr>
          <a:xfrm>
            <a:off x="9025128" y="2295144"/>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79992" y="2340863"/>
            <a:ext cx="240487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33</a:t>
            </a:r>
          </a:p>
        </p:txBody>
      </p:sp>
      <p:sp>
        <p:nvSpPr>
          <p:cNvPr id="28" name="Rectangle 27"/>
          <p:cNvSpPr/>
          <p:nvPr/>
        </p:nvSpPr>
        <p:spPr>
          <a:xfrm>
            <a:off x="658368" y="2953511"/>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3232" y="2999231"/>
            <a:ext cx="121615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ROSMAP</a:t>
            </a:r>
          </a:p>
        </p:txBody>
      </p:sp>
      <p:sp>
        <p:nvSpPr>
          <p:cNvPr id="30" name="Rectangle 29"/>
          <p:cNvSpPr/>
          <p:nvPr/>
        </p:nvSpPr>
        <p:spPr>
          <a:xfrm>
            <a:off x="1984248" y="2953511"/>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039112" y="2999231"/>
            <a:ext cx="1764791"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5</a:t>
            </a:r>
          </a:p>
        </p:txBody>
      </p:sp>
      <p:sp>
        <p:nvSpPr>
          <p:cNvPr id="32" name="Rectangle 31"/>
          <p:cNvSpPr/>
          <p:nvPr/>
        </p:nvSpPr>
        <p:spPr>
          <a:xfrm>
            <a:off x="3858768" y="2953511"/>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913631" y="2999231"/>
            <a:ext cx="158191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40</a:t>
            </a:r>
          </a:p>
        </p:txBody>
      </p:sp>
      <p:sp>
        <p:nvSpPr>
          <p:cNvPr id="34" name="Rectangle 33"/>
          <p:cNvSpPr/>
          <p:nvPr/>
        </p:nvSpPr>
        <p:spPr>
          <a:xfrm>
            <a:off x="5550408" y="2953511"/>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05272" y="2999231"/>
            <a:ext cx="112471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2</a:t>
            </a:r>
          </a:p>
        </p:txBody>
      </p:sp>
      <p:sp>
        <p:nvSpPr>
          <p:cNvPr id="36" name="Rectangle 35"/>
          <p:cNvSpPr/>
          <p:nvPr/>
        </p:nvSpPr>
        <p:spPr>
          <a:xfrm>
            <a:off x="6784848" y="2953511"/>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39712" y="2999231"/>
            <a:ext cx="213055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13</a:t>
            </a:r>
          </a:p>
        </p:txBody>
      </p:sp>
      <p:sp>
        <p:nvSpPr>
          <p:cNvPr id="38" name="Rectangle 37"/>
          <p:cNvSpPr/>
          <p:nvPr/>
        </p:nvSpPr>
        <p:spPr>
          <a:xfrm>
            <a:off x="9025128" y="2953511"/>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79992" y="2999231"/>
            <a:ext cx="240487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13</a:t>
            </a:r>
          </a:p>
        </p:txBody>
      </p:sp>
      <p:sp>
        <p:nvSpPr>
          <p:cNvPr id="40" name="Rectangle 39"/>
          <p:cNvSpPr/>
          <p:nvPr/>
        </p:nvSpPr>
        <p:spPr>
          <a:xfrm>
            <a:off x="658368" y="3611879"/>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3232" y="3657599"/>
            <a:ext cx="121615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SEA-AD</a:t>
            </a:r>
          </a:p>
        </p:txBody>
      </p:sp>
      <p:sp>
        <p:nvSpPr>
          <p:cNvPr id="42" name="Rectangle 41"/>
          <p:cNvSpPr/>
          <p:nvPr/>
        </p:nvSpPr>
        <p:spPr>
          <a:xfrm>
            <a:off x="1984248" y="3611879"/>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039112" y="3657599"/>
            <a:ext cx="1764791"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3</a:t>
            </a:r>
          </a:p>
        </p:txBody>
      </p:sp>
      <p:sp>
        <p:nvSpPr>
          <p:cNvPr id="44" name="Rectangle 43"/>
          <p:cNvSpPr/>
          <p:nvPr/>
        </p:nvSpPr>
        <p:spPr>
          <a:xfrm>
            <a:off x="3858768" y="3611879"/>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913631" y="3657599"/>
            <a:ext cx="158191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28</a:t>
            </a:r>
          </a:p>
        </p:txBody>
      </p:sp>
      <p:sp>
        <p:nvSpPr>
          <p:cNvPr id="46" name="Rectangle 45"/>
          <p:cNvSpPr/>
          <p:nvPr/>
        </p:nvSpPr>
        <p:spPr>
          <a:xfrm>
            <a:off x="5550408" y="3611879"/>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605272" y="3657599"/>
            <a:ext cx="112471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5</a:t>
            </a:r>
          </a:p>
        </p:txBody>
      </p:sp>
      <p:sp>
        <p:nvSpPr>
          <p:cNvPr id="48" name="Rectangle 47"/>
          <p:cNvSpPr/>
          <p:nvPr/>
        </p:nvSpPr>
        <p:spPr>
          <a:xfrm>
            <a:off x="6784848" y="3611879"/>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839712" y="3657599"/>
            <a:ext cx="213055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24</a:t>
            </a:r>
          </a:p>
        </p:txBody>
      </p:sp>
      <p:sp>
        <p:nvSpPr>
          <p:cNvPr id="50" name="Rectangle 49"/>
          <p:cNvSpPr/>
          <p:nvPr/>
        </p:nvSpPr>
        <p:spPr>
          <a:xfrm>
            <a:off x="9025128" y="3611879"/>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079992" y="3657599"/>
            <a:ext cx="240487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18</a:t>
            </a:r>
          </a:p>
        </p:txBody>
      </p:sp>
      <p:sp>
        <p:nvSpPr>
          <p:cNvPr id="52" name="Rectangle 51"/>
          <p:cNvSpPr/>
          <p:nvPr/>
        </p:nvSpPr>
        <p:spPr>
          <a:xfrm>
            <a:off x="658368" y="4270248"/>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3232" y="4315968"/>
            <a:ext cx="121615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SEA-AD</a:t>
            </a:r>
          </a:p>
        </p:txBody>
      </p:sp>
      <p:sp>
        <p:nvSpPr>
          <p:cNvPr id="54" name="Rectangle 53"/>
          <p:cNvSpPr/>
          <p:nvPr/>
        </p:nvSpPr>
        <p:spPr>
          <a:xfrm>
            <a:off x="1984248" y="4270248"/>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039112" y="4315968"/>
            <a:ext cx="1764791"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5</a:t>
            </a:r>
          </a:p>
        </p:txBody>
      </p:sp>
      <p:sp>
        <p:nvSpPr>
          <p:cNvPr id="56" name="Rectangle 55"/>
          <p:cNvSpPr/>
          <p:nvPr/>
        </p:nvSpPr>
        <p:spPr>
          <a:xfrm>
            <a:off x="3858768" y="4270248"/>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913631" y="4315968"/>
            <a:ext cx="158191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20</a:t>
            </a:r>
          </a:p>
        </p:txBody>
      </p:sp>
      <p:sp>
        <p:nvSpPr>
          <p:cNvPr id="58" name="Rectangle 57"/>
          <p:cNvSpPr/>
          <p:nvPr/>
        </p:nvSpPr>
        <p:spPr>
          <a:xfrm>
            <a:off x="5550408" y="4270248"/>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605272" y="4315968"/>
            <a:ext cx="112471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5</a:t>
            </a:r>
          </a:p>
        </p:txBody>
      </p:sp>
      <p:sp>
        <p:nvSpPr>
          <p:cNvPr id="60" name="Rectangle 59"/>
          <p:cNvSpPr/>
          <p:nvPr/>
        </p:nvSpPr>
        <p:spPr>
          <a:xfrm>
            <a:off x="6784848" y="4270248"/>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839712" y="4315968"/>
            <a:ext cx="213055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24</a:t>
            </a:r>
          </a:p>
        </p:txBody>
      </p:sp>
      <p:sp>
        <p:nvSpPr>
          <p:cNvPr id="62" name="Rectangle 61"/>
          <p:cNvSpPr/>
          <p:nvPr/>
        </p:nvSpPr>
        <p:spPr>
          <a:xfrm>
            <a:off x="9025128" y="4270248"/>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079992" y="4315968"/>
            <a:ext cx="2404872" cy="58521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040" b="0" i="0">
                <a:solidFill>
                  <a:srgbClr val="1F2730"/>
                </a:solidFill>
                <a:latin typeface="Arial"/>
              </a:rPr>
              <a:t>18</a:t>
            </a:r>
          </a:p>
        </p:txBody>
      </p:sp>
      <p:sp>
        <p:nvSpPr>
          <p:cNvPr id="64" name="Rounded Rectangle 63"/>
          <p:cNvSpPr/>
          <p:nvPr/>
        </p:nvSpPr>
        <p:spPr>
          <a:xfrm>
            <a:off x="658368" y="5157216"/>
            <a:ext cx="10881360" cy="65836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914400" y="5340096"/>
            <a:ext cx="10369296" cy="28346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080" b="1" i="0">
                <a:solidFill>
                  <a:srgbClr val="0F233D"/>
                </a:solidFill>
                <a:latin typeface="Arial"/>
              </a:rPr>
              <a:t>Driver rows count significant returned KDA rows. Unique non-MT drivers exclude MT-* genes and are deduplicated within each cohort.</a:t>
            </a:r>
          </a:p>
        </p:txBody>
      </p:sp>
      <p:sp>
        <p:nvSpPr>
          <p:cNvPr id="66" name="TextBox 65"/>
          <p:cNvSpPr txBox="1"/>
          <p:nvPr/>
        </p:nvSpPr>
        <p:spPr>
          <a:xfrm>
            <a:off x="658368" y="6473952"/>
            <a:ext cx="10881360" cy="14630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670" b="0" i="0">
                <a:solidFill>
                  <a:srgbClr val="6C7988"/>
                </a:solidFill>
                <a:latin typeface="Arial"/>
              </a:rPr>
              <a:t>Source: Phase 22 and VH14 run manifests/returns; donor-per-arm 3-vs-5 sensitivity assessment (2026-09-11).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Donor-threshold sensitivity — key findings</a:t>
            </a:r>
          </a:p>
        </p:txBody>
      </p:sp>
      <p:sp>
        <p:nvSpPr>
          <p:cNvPr id="3" name="TextBox 2"/>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Raising minimum donors per disease arm from 3 to 5 in ROSMAP and SEA-AD.</a:t>
            </a:r>
          </a:p>
        </p:txBody>
      </p:sp>
      <p:sp>
        <p:nvSpPr>
          <p:cNvPr id="4" name="Rounded Rectangle 3"/>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554480"/>
            <a:ext cx="2194560" cy="23774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19" b="1" i="0">
                <a:solidFill>
                  <a:srgbClr val="0072B2"/>
                </a:solidFill>
                <a:latin typeface="Arial"/>
              </a:rPr>
              <a:t>KEY FINDINGS</a:t>
            </a:r>
          </a:p>
        </p:txBody>
      </p:sp>
      <p:sp>
        <p:nvSpPr>
          <p:cNvPr id="6" name="Oval 5"/>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 y="1920240"/>
            <a:ext cx="9838944" cy="76809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20" b="0" i="0">
                <a:solidFill>
                  <a:srgbClr val="1F2730"/>
                </a:solidFill>
                <a:latin typeface="Arial"/>
              </a:rPr>
              <a:t>ROSMAP loses the Vasculature × M_e2 4-versus-3-donor call, which alone generated 26 driver rows. This removes the low-support result dominating the ROSMAP release.</a:t>
            </a:r>
          </a:p>
        </p:txBody>
      </p:sp>
      <p:sp>
        <p:nvSpPr>
          <p:cNvPr id="8" name="Oval 7"/>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33856" y="2688336"/>
            <a:ext cx="9838944" cy="76809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20" b="0" i="0">
                <a:solidFill>
                  <a:srgbClr val="1F2730"/>
                </a:solidFill>
                <a:latin typeface="Arial"/>
              </a:rPr>
              <a:t>SEA-AD loses eight eligible contrasts, but all already had empty mitochondrial queries. Therefore, all five KDA runs and all returned drivers remain unchanged.</a:t>
            </a:r>
          </a:p>
        </p:txBody>
      </p:sp>
      <p:sp>
        <p:nvSpPr>
          <p:cNvPr id="10" name="Oval 9"/>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 y="3456432"/>
            <a:ext cx="9838944" cy="76809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20" b="0" i="0">
                <a:solidFill>
                  <a:srgbClr val="1F2730"/>
                </a:solidFill>
                <a:latin typeface="Arial"/>
              </a:rPr>
              <a:t>Cross-cohort validation remains zero at both thresholds.</a:t>
            </a:r>
          </a:p>
        </p:txBody>
      </p:sp>
      <p:sp>
        <p:nvSpPr>
          <p:cNvPr id="12" name="Oval 1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33856" y="4224528"/>
            <a:ext cx="9838944" cy="76809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20" b="0" i="0">
                <a:solidFill>
                  <a:srgbClr val="1F2730"/>
                </a:solidFill>
                <a:latin typeface="Arial"/>
              </a:rPr>
              <a:t>The only exact shared executed stratum remains Astrocytes × F_e4, with no shared drivers.</a:t>
            </a:r>
          </a:p>
        </p:txBody>
      </p:sp>
      <p:sp>
        <p:nvSpPr>
          <p:cNvPr id="14" name="Oval 13"/>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33856" y="4992624"/>
            <a:ext cx="9838944" cy="76809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20" b="0" i="0">
                <a:solidFill>
                  <a:srgbClr val="1F2730"/>
                </a:solidFill>
                <a:latin typeface="Arial"/>
              </a:rPr>
              <a:t>The excluded contrasts are treated as unavailable comparisons—not negative validation results.</a:t>
            </a:r>
          </a:p>
        </p:txBody>
      </p:sp>
      <p:sp>
        <p:nvSpPr>
          <p:cNvPr id="16" name="TextBox 15"/>
          <p:cNvSpPr txBox="1"/>
          <p:nvPr/>
        </p:nvSpPr>
        <p:spPr>
          <a:xfrm>
            <a:off x="658368" y="6473952"/>
            <a:ext cx="10881360" cy="14630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670" b="0" i="0">
                <a:solidFill>
                  <a:srgbClr val="6C7988"/>
                </a:solidFill>
                <a:latin typeface="Arial"/>
              </a:rPr>
              <a:t>Source: Phase 22 and VH14 run manifests/returns; donor-per-arm 3-vs-5 sensitivity assessment (2026-09-11).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Query-size sensitivity — numerical comparison</a:t>
            </a:r>
          </a:p>
        </p:txBody>
      </p:sp>
      <p:sp>
        <p:nvSpPr>
          <p:cNvPr id="3" name="TextBox 2"/>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Minimum effective genes after network mapping; donor minimum held at 3 per disease arm.</a:t>
            </a:r>
          </a:p>
        </p:txBody>
      </p:sp>
      <p:sp>
        <p:nvSpPr>
          <p:cNvPr id="4" name="Rectangle 3"/>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59" y="1426464"/>
            <a:ext cx="987552" cy="53949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879" b="1" i="0">
                <a:solidFill>
                  <a:srgbClr val="FFFFFF"/>
                </a:solidFill>
                <a:latin typeface="Arial"/>
              </a:rPr>
              <a:t>Cohort</a:t>
            </a:r>
          </a:p>
        </p:txBody>
      </p:sp>
      <p:sp>
        <p:nvSpPr>
          <p:cNvPr id="6" name="Rectangle 5"/>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91640" y="1426464"/>
            <a:ext cx="1216152" cy="53949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879" b="1" i="0">
                <a:solidFill>
                  <a:srgbClr val="FFFFFF"/>
                </a:solidFill>
                <a:latin typeface="Arial"/>
              </a:rPr>
              <a:t>Minimum query genes</a:t>
            </a:r>
          </a:p>
        </p:txBody>
      </p:sp>
      <p:sp>
        <p:nvSpPr>
          <p:cNvPr id="8" name="Rectangle 7"/>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1426464"/>
            <a:ext cx="1673352" cy="53949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879" b="1" i="0">
                <a:solidFill>
                  <a:srgbClr val="FFFFFF"/>
                </a:solidFill>
                <a:latin typeface="Arial"/>
              </a:rPr>
              <a:t>Source-estimable contrasts</a:t>
            </a:r>
          </a:p>
        </p:txBody>
      </p:sp>
      <p:sp>
        <p:nvSpPr>
          <p:cNvPr id="10" name="Rectangle 9"/>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800600" y="1426464"/>
            <a:ext cx="1627631" cy="53949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879" b="1" i="0">
                <a:solidFill>
                  <a:srgbClr val="FFFFFF"/>
                </a:solidFill>
                <a:latin typeface="Arial"/>
              </a:rPr>
              <a:t>Query-passing contrasts</a:t>
            </a:r>
          </a:p>
        </p:txBody>
      </p:sp>
      <p:sp>
        <p:nvSpPr>
          <p:cNvPr id="12" name="Rectangle 1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37959" y="1426464"/>
            <a:ext cx="941831" cy="53949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879" b="1" i="0">
                <a:solidFill>
                  <a:srgbClr val="FFFFFF"/>
                </a:solidFill>
                <a:latin typeface="Arial"/>
              </a:rPr>
              <a:t>KDA runs</a:t>
            </a:r>
          </a:p>
        </p:txBody>
      </p:sp>
      <p:sp>
        <p:nvSpPr>
          <p:cNvPr id="14" name="Rectangle 13"/>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1426464"/>
            <a:ext cx="1883664" cy="53949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879" b="1" i="0">
                <a:solidFill>
                  <a:srgbClr val="FFFFFF"/>
                </a:solidFill>
                <a:latin typeface="Arial"/>
              </a:rPr>
              <a:t>Significant KD rows</a:t>
            </a:r>
          </a:p>
        </p:txBody>
      </p:sp>
      <p:sp>
        <p:nvSpPr>
          <p:cNvPr id="16" name="Rectangle 15"/>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582912" y="1426464"/>
            <a:ext cx="2011679" cy="539496"/>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879" b="1" i="0">
                <a:solidFill>
                  <a:srgbClr val="FFFFFF"/>
                </a:solidFill>
                <a:latin typeface="Arial"/>
              </a:rPr>
              <a:t>Unique non-MT KDs</a:t>
            </a:r>
          </a:p>
        </p:txBody>
      </p:sp>
      <p:sp>
        <p:nvSpPr>
          <p:cNvPr id="18" name="Rectangle 17"/>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59" y="2048255"/>
            <a:ext cx="9875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ROSMAP</a:t>
            </a:r>
          </a:p>
        </p:txBody>
      </p:sp>
      <p:sp>
        <p:nvSpPr>
          <p:cNvPr id="20" name="Rectangle 19"/>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91640" y="2048255"/>
            <a:ext cx="12161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22" name="Rectangle 2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17520" y="2048255"/>
            <a:ext cx="16733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42</a:t>
            </a:r>
          </a:p>
        </p:txBody>
      </p:sp>
      <p:sp>
        <p:nvSpPr>
          <p:cNvPr id="24" name="Rectangle 23"/>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00600" y="2048255"/>
            <a:ext cx="16276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26" name="Rectangle 25"/>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37959" y="2048255"/>
            <a:ext cx="9418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28" name="Rectangle 27"/>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0" y="2048255"/>
            <a:ext cx="1883664"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39</a:t>
            </a:r>
          </a:p>
        </p:txBody>
      </p:sp>
      <p:sp>
        <p:nvSpPr>
          <p:cNvPr id="30" name="Rectangle 29"/>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82912" y="2048255"/>
            <a:ext cx="2011679"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33</a:t>
            </a:r>
          </a:p>
        </p:txBody>
      </p:sp>
      <p:sp>
        <p:nvSpPr>
          <p:cNvPr id="32" name="Rectangle 3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59" y="2441448"/>
            <a:ext cx="9875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ROSMAP</a:t>
            </a:r>
          </a:p>
        </p:txBody>
      </p:sp>
      <p:sp>
        <p:nvSpPr>
          <p:cNvPr id="34" name="Rectangle 33"/>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691640" y="2441448"/>
            <a:ext cx="12161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36" name="Rectangle 35"/>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017520" y="2441448"/>
            <a:ext cx="16733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42</a:t>
            </a:r>
          </a:p>
        </p:txBody>
      </p:sp>
      <p:sp>
        <p:nvSpPr>
          <p:cNvPr id="38" name="Rectangle 37"/>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800600" y="2441448"/>
            <a:ext cx="16276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a:t>
            </a:r>
          </a:p>
        </p:txBody>
      </p:sp>
      <p:sp>
        <p:nvSpPr>
          <p:cNvPr id="40" name="Rectangle 39"/>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37959" y="2441448"/>
            <a:ext cx="9418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a:t>
            </a:r>
          </a:p>
        </p:txBody>
      </p:sp>
      <p:sp>
        <p:nvSpPr>
          <p:cNvPr id="42" name="Rectangle 4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89520" y="2441448"/>
            <a:ext cx="1883664"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30</a:t>
            </a:r>
          </a:p>
        </p:txBody>
      </p:sp>
      <p:sp>
        <p:nvSpPr>
          <p:cNvPr id="44" name="Rectangle 43"/>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582912" y="2441448"/>
            <a:ext cx="2011679"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24</a:t>
            </a:r>
          </a:p>
        </p:txBody>
      </p:sp>
      <p:sp>
        <p:nvSpPr>
          <p:cNvPr id="46" name="Rectangle 45"/>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59" y="2834639"/>
            <a:ext cx="9875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ROSMAP</a:t>
            </a:r>
          </a:p>
        </p:txBody>
      </p:sp>
      <p:sp>
        <p:nvSpPr>
          <p:cNvPr id="48" name="Rectangle 47"/>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691640" y="2834639"/>
            <a:ext cx="12161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10</a:t>
            </a:r>
          </a:p>
        </p:txBody>
      </p:sp>
      <p:sp>
        <p:nvSpPr>
          <p:cNvPr id="50" name="Rectangle 49"/>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017520" y="2834639"/>
            <a:ext cx="16733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42</a:t>
            </a:r>
          </a:p>
        </p:txBody>
      </p:sp>
      <p:sp>
        <p:nvSpPr>
          <p:cNvPr id="52" name="Rectangle 5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800600" y="2834639"/>
            <a:ext cx="16276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54" name="Rectangle 53"/>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37959" y="2834639"/>
            <a:ext cx="9418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56" name="Rectangle 55"/>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589520" y="2834639"/>
            <a:ext cx="1883664"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26</a:t>
            </a:r>
          </a:p>
        </p:txBody>
      </p:sp>
      <p:sp>
        <p:nvSpPr>
          <p:cNvPr id="58" name="Rectangle 57"/>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582912" y="2834639"/>
            <a:ext cx="2011679"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20</a:t>
            </a:r>
          </a:p>
        </p:txBody>
      </p:sp>
      <p:sp>
        <p:nvSpPr>
          <p:cNvPr id="60" name="Rectangle 59"/>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94359" y="3227832"/>
            <a:ext cx="9875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ROSMAP</a:t>
            </a:r>
          </a:p>
        </p:txBody>
      </p:sp>
      <p:sp>
        <p:nvSpPr>
          <p:cNvPr id="62" name="Rectangle 6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691640" y="3227832"/>
            <a:ext cx="12161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20</a:t>
            </a:r>
          </a:p>
        </p:txBody>
      </p:sp>
      <p:sp>
        <p:nvSpPr>
          <p:cNvPr id="64" name="Rectangle 63"/>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017520" y="3227832"/>
            <a:ext cx="16733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42</a:t>
            </a:r>
          </a:p>
        </p:txBody>
      </p:sp>
      <p:sp>
        <p:nvSpPr>
          <p:cNvPr id="66" name="Rectangle 65"/>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800600" y="3227832"/>
            <a:ext cx="16276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68" name="Rectangle 67"/>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537959" y="3227832"/>
            <a:ext cx="9418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70" name="Rectangle 69"/>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589520" y="3227832"/>
            <a:ext cx="1883664"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26</a:t>
            </a:r>
          </a:p>
        </p:txBody>
      </p:sp>
      <p:sp>
        <p:nvSpPr>
          <p:cNvPr id="72" name="Rectangle 7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582912" y="3227832"/>
            <a:ext cx="2011679"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20</a:t>
            </a:r>
          </a:p>
        </p:txBody>
      </p:sp>
      <p:sp>
        <p:nvSpPr>
          <p:cNvPr id="74" name="Rectangle 73"/>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594359" y="3621024"/>
            <a:ext cx="9875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ROSMAP</a:t>
            </a:r>
          </a:p>
        </p:txBody>
      </p:sp>
      <p:sp>
        <p:nvSpPr>
          <p:cNvPr id="76" name="Rectangle 75"/>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691640" y="3621024"/>
            <a:ext cx="12161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30</a:t>
            </a:r>
          </a:p>
        </p:txBody>
      </p:sp>
      <p:sp>
        <p:nvSpPr>
          <p:cNvPr id="78" name="Rectangle 77"/>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017520" y="3621024"/>
            <a:ext cx="16733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42</a:t>
            </a:r>
          </a:p>
        </p:txBody>
      </p:sp>
      <p:sp>
        <p:nvSpPr>
          <p:cNvPr id="80" name="Rectangle 79"/>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4800600" y="3621024"/>
            <a:ext cx="16276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82" name="Rectangle 8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537959" y="3621024"/>
            <a:ext cx="9418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1</a:t>
            </a:r>
          </a:p>
        </p:txBody>
      </p:sp>
      <p:sp>
        <p:nvSpPr>
          <p:cNvPr id="84" name="Rectangle 83"/>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589520" y="3621024"/>
            <a:ext cx="1883664"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26</a:t>
            </a:r>
          </a:p>
        </p:txBody>
      </p:sp>
      <p:sp>
        <p:nvSpPr>
          <p:cNvPr id="86" name="Rectangle 85"/>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9582912" y="3621024"/>
            <a:ext cx="2011679"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20</a:t>
            </a:r>
          </a:p>
        </p:txBody>
      </p:sp>
      <p:sp>
        <p:nvSpPr>
          <p:cNvPr id="88" name="Rectangle 87"/>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94359" y="4014215"/>
            <a:ext cx="9875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SEA-AD</a:t>
            </a:r>
          </a:p>
        </p:txBody>
      </p:sp>
      <p:sp>
        <p:nvSpPr>
          <p:cNvPr id="90" name="Rectangle 89"/>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1691640" y="4014215"/>
            <a:ext cx="12161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92" name="Rectangle 9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017520" y="4014215"/>
            <a:ext cx="16733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28</a:t>
            </a:r>
          </a:p>
        </p:txBody>
      </p:sp>
      <p:sp>
        <p:nvSpPr>
          <p:cNvPr id="94" name="Rectangle 93"/>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800600" y="4014215"/>
            <a:ext cx="16276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96" name="Rectangle 95"/>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537959" y="4014215"/>
            <a:ext cx="9418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98" name="Rectangle 97"/>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7589520" y="4014215"/>
            <a:ext cx="1883664"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24</a:t>
            </a:r>
          </a:p>
        </p:txBody>
      </p:sp>
      <p:sp>
        <p:nvSpPr>
          <p:cNvPr id="100" name="Rectangle 99"/>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9582912" y="4014215"/>
            <a:ext cx="2011679"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18</a:t>
            </a:r>
          </a:p>
        </p:txBody>
      </p:sp>
      <p:sp>
        <p:nvSpPr>
          <p:cNvPr id="102" name="Rectangle 10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94359" y="4407407"/>
            <a:ext cx="9875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SEA-AD</a:t>
            </a:r>
          </a:p>
        </p:txBody>
      </p:sp>
      <p:sp>
        <p:nvSpPr>
          <p:cNvPr id="104" name="Rectangle 103"/>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691640" y="4407407"/>
            <a:ext cx="12161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106" name="Rectangle 105"/>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3017520" y="4407407"/>
            <a:ext cx="16733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28</a:t>
            </a:r>
          </a:p>
        </p:txBody>
      </p:sp>
      <p:sp>
        <p:nvSpPr>
          <p:cNvPr id="108" name="Rectangle 107"/>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4800600" y="4407407"/>
            <a:ext cx="16276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110" name="Rectangle 109"/>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6537959" y="4407407"/>
            <a:ext cx="9418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5</a:t>
            </a:r>
          </a:p>
        </p:txBody>
      </p:sp>
      <p:sp>
        <p:nvSpPr>
          <p:cNvPr id="112" name="Rectangle 11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7589520" y="4407407"/>
            <a:ext cx="1883664"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24</a:t>
            </a:r>
          </a:p>
        </p:txBody>
      </p:sp>
      <p:sp>
        <p:nvSpPr>
          <p:cNvPr id="114" name="Rectangle 113"/>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9582912" y="4407407"/>
            <a:ext cx="2011679"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18</a:t>
            </a:r>
          </a:p>
        </p:txBody>
      </p:sp>
      <p:sp>
        <p:nvSpPr>
          <p:cNvPr id="116" name="Rectangle 115"/>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594359" y="4800599"/>
            <a:ext cx="9875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SEA-AD</a:t>
            </a:r>
          </a:p>
        </p:txBody>
      </p:sp>
      <p:sp>
        <p:nvSpPr>
          <p:cNvPr id="118" name="Rectangle 117"/>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1691640" y="4800599"/>
            <a:ext cx="12161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10</a:t>
            </a:r>
          </a:p>
        </p:txBody>
      </p:sp>
      <p:sp>
        <p:nvSpPr>
          <p:cNvPr id="120" name="Rectangle 119"/>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3017520" y="4800599"/>
            <a:ext cx="16733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28</a:t>
            </a:r>
          </a:p>
        </p:txBody>
      </p:sp>
      <p:sp>
        <p:nvSpPr>
          <p:cNvPr id="122" name="Rectangle 12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4800600" y="4800599"/>
            <a:ext cx="16276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24" name="Rectangle 123"/>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6537959" y="4800599"/>
            <a:ext cx="9418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26" name="Rectangle 125"/>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589520" y="4800599"/>
            <a:ext cx="1883664"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8</a:t>
            </a:r>
          </a:p>
        </p:txBody>
      </p:sp>
      <p:sp>
        <p:nvSpPr>
          <p:cNvPr id="128" name="Rectangle 127"/>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TextBox 128"/>
          <p:cNvSpPr txBox="1"/>
          <p:nvPr/>
        </p:nvSpPr>
        <p:spPr>
          <a:xfrm>
            <a:off x="9582912" y="4800599"/>
            <a:ext cx="2011679"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30" name="Rectangle 129"/>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TextBox 130"/>
          <p:cNvSpPr txBox="1"/>
          <p:nvPr/>
        </p:nvSpPr>
        <p:spPr>
          <a:xfrm>
            <a:off x="594359" y="5193792"/>
            <a:ext cx="9875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SEA-AD</a:t>
            </a:r>
          </a:p>
        </p:txBody>
      </p:sp>
      <p:sp>
        <p:nvSpPr>
          <p:cNvPr id="132" name="Rectangle 13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TextBox 132"/>
          <p:cNvSpPr txBox="1"/>
          <p:nvPr/>
        </p:nvSpPr>
        <p:spPr>
          <a:xfrm>
            <a:off x="1691640" y="5193792"/>
            <a:ext cx="12161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20</a:t>
            </a:r>
          </a:p>
        </p:txBody>
      </p:sp>
      <p:sp>
        <p:nvSpPr>
          <p:cNvPr id="134" name="Rectangle 133"/>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3017520" y="5193792"/>
            <a:ext cx="16733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28</a:t>
            </a:r>
          </a:p>
        </p:txBody>
      </p:sp>
      <p:sp>
        <p:nvSpPr>
          <p:cNvPr id="136" name="Rectangle 135"/>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TextBox 136"/>
          <p:cNvSpPr txBox="1"/>
          <p:nvPr/>
        </p:nvSpPr>
        <p:spPr>
          <a:xfrm>
            <a:off x="4800600" y="5193792"/>
            <a:ext cx="16276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38" name="Rectangle 137"/>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TextBox 138"/>
          <p:cNvSpPr txBox="1"/>
          <p:nvPr/>
        </p:nvSpPr>
        <p:spPr>
          <a:xfrm>
            <a:off x="6537959" y="5193792"/>
            <a:ext cx="9418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40" name="Rectangle 139"/>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7589520" y="5193792"/>
            <a:ext cx="1883664"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8</a:t>
            </a:r>
          </a:p>
        </p:txBody>
      </p:sp>
      <p:sp>
        <p:nvSpPr>
          <p:cNvPr id="142" name="Rectangle 14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9582912" y="5193792"/>
            <a:ext cx="2011679"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44" name="Rectangle 143"/>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Box 144"/>
          <p:cNvSpPr txBox="1"/>
          <p:nvPr/>
        </p:nvSpPr>
        <p:spPr>
          <a:xfrm>
            <a:off x="594359" y="5586984"/>
            <a:ext cx="9875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SEA-AD</a:t>
            </a:r>
          </a:p>
        </p:txBody>
      </p:sp>
      <p:sp>
        <p:nvSpPr>
          <p:cNvPr id="146" name="Rectangle 145"/>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TextBox 146"/>
          <p:cNvSpPr txBox="1"/>
          <p:nvPr/>
        </p:nvSpPr>
        <p:spPr>
          <a:xfrm>
            <a:off x="1691640" y="5586984"/>
            <a:ext cx="12161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30</a:t>
            </a:r>
          </a:p>
        </p:txBody>
      </p:sp>
      <p:sp>
        <p:nvSpPr>
          <p:cNvPr id="148" name="Rectangle 147"/>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3017520" y="5586984"/>
            <a:ext cx="1673352"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28</a:t>
            </a:r>
          </a:p>
        </p:txBody>
      </p:sp>
      <p:sp>
        <p:nvSpPr>
          <p:cNvPr id="150" name="Rectangle 149"/>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TextBox 150"/>
          <p:cNvSpPr txBox="1"/>
          <p:nvPr/>
        </p:nvSpPr>
        <p:spPr>
          <a:xfrm>
            <a:off x="4800600" y="5586984"/>
            <a:ext cx="16276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a:t>
            </a:r>
          </a:p>
        </p:txBody>
      </p:sp>
      <p:sp>
        <p:nvSpPr>
          <p:cNvPr id="152" name="Rectangle 15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TextBox 152"/>
          <p:cNvSpPr txBox="1"/>
          <p:nvPr/>
        </p:nvSpPr>
        <p:spPr>
          <a:xfrm>
            <a:off x="6537959" y="5586984"/>
            <a:ext cx="941831"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2</a:t>
            </a:r>
          </a:p>
        </p:txBody>
      </p:sp>
      <p:sp>
        <p:nvSpPr>
          <p:cNvPr id="154" name="Rectangle 153"/>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7589520" y="5586984"/>
            <a:ext cx="1883664"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7</a:t>
            </a:r>
          </a:p>
        </p:txBody>
      </p:sp>
      <p:sp>
        <p:nvSpPr>
          <p:cNvPr id="156" name="Rectangle 155"/>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Box 156"/>
          <p:cNvSpPr txBox="1"/>
          <p:nvPr/>
        </p:nvSpPr>
        <p:spPr>
          <a:xfrm>
            <a:off x="9582912" y="5586984"/>
            <a:ext cx="2011679" cy="32004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919" b="0" i="0">
                <a:solidFill>
                  <a:srgbClr val="1F2730"/>
                </a:solidFill>
                <a:latin typeface="Arial"/>
              </a:rPr>
              <a:t>3</a:t>
            </a:r>
          </a:p>
        </p:txBody>
      </p:sp>
      <p:sp>
        <p:nvSpPr>
          <p:cNvPr id="158" name="TextBox 157"/>
          <p:cNvSpPr txBox="1"/>
          <p:nvPr/>
        </p:nvSpPr>
        <p:spPr>
          <a:xfrm>
            <a:off x="640080" y="6089904"/>
            <a:ext cx="10927080" cy="23774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940" b="1" i="0">
                <a:solidFill>
                  <a:srgbClr val="4E5A68"/>
                </a:solidFill>
                <a:latin typeface="Arial"/>
              </a:rPr>
              <a:t>One merged up/down query is used per contrast, so query-passing contrasts and KDA runs are identical here.</a:t>
            </a:r>
          </a:p>
        </p:txBody>
      </p:sp>
      <p:sp>
        <p:nvSpPr>
          <p:cNvPr id="159" name="TextBox 158"/>
          <p:cNvSpPr txBox="1"/>
          <p:nvPr/>
        </p:nvSpPr>
        <p:spPr>
          <a:xfrm>
            <a:off x="658368" y="6473952"/>
            <a:ext cx="10881360" cy="14630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670" b="0" i="0">
                <a:solidFill>
                  <a:srgbClr val="6C7988"/>
                </a:solidFill>
                <a:latin typeface="Arial"/>
              </a:rPr>
              <a:t>Source: validated Phase 22 and VH14 run manifests and significant-return tables (2026-09-11).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Query-size sensitivity — cohort effects</a:t>
            </a:r>
          </a:p>
        </p:txBody>
      </p:sp>
      <p:sp>
        <p:nvSpPr>
          <p:cNvPr id="3" name="TextBox 2"/>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Only seven current KDA calls determine the entire threshold response.</a:t>
            </a:r>
          </a:p>
        </p:txBody>
      </p:sp>
      <p:sp>
        <p:nvSpPr>
          <p:cNvPr id="4" name="Rounded Rectangle 3"/>
          <p:cNvSpPr/>
          <p:nvPr/>
        </p:nvSpPr>
        <p:spPr>
          <a:xfrm>
            <a:off x="502920" y="1307592"/>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60020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1572768"/>
            <a:ext cx="4700016"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ROSMAP</a:t>
            </a:r>
          </a:p>
        </p:txBody>
      </p:sp>
      <p:sp>
        <p:nvSpPr>
          <p:cNvPr id="7" name="Oval 6"/>
          <p:cNvSpPr/>
          <p:nvPr/>
        </p:nvSpPr>
        <p:spPr>
          <a:xfrm>
            <a:off x="822960" y="227685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96696" y="2148840"/>
            <a:ext cx="4553712" cy="6858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70" b="0" i="0">
                <a:solidFill>
                  <a:srgbClr val="1F2730"/>
                </a:solidFill>
                <a:latin typeface="Arial"/>
              </a:rPr>
              <a:t>Current executed query sizes: 3, 8, and 78 genes.</a:t>
            </a:r>
          </a:p>
        </p:txBody>
      </p:sp>
      <p:sp>
        <p:nvSpPr>
          <p:cNvPr id="9" name="Oval 8"/>
          <p:cNvSpPr/>
          <p:nvPr/>
        </p:nvSpPr>
        <p:spPr>
          <a:xfrm>
            <a:off x="822960" y="296265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6696" y="2834640"/>
            <a:ext cx="4553712" cy="6858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70" b="0" i="0">
                <a:solidFill>
                  <a:srgbClr val="1F2730"/>
                </a:solidFill>
                <a:latin typeface="Arial"/>
              </a:rPr>
              <a:t>Minimum 5 removes OPCs × F_e4: 9 driver rows.</a:t>
            </a:r>
          </a:p>
        </p:txBody>
      </p:sp>
      <p:sp>
        <p:nvSpPr>
          <p:cNvPr id="11" name="Oval 10"/>
          <p:cNvSpPr/>
          <p:nvPr/>
        </p:nvSpPr>
        <p:spPr>
          <a:xfrm>
            <a:off x="822960" y="3648456"/>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96696" y="3520440"/>
            <a:ext cx="4553712" cy="6858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70" b="0" i="0">
                <a:solidFill>
                  <a:srgbClr val="1F2730"/>
                </a:solidFill>
                <a:latin typeface="Arial"/>
              </a:rPr>
              <a:t>Minimum 10 also removes Astrocytes × F_e4: 4 more rows; thresholds 20 and 30 make no further change.</a:t>
            </a:r>
          </a:p>
        </p:txBody>
      </p:sp>
      <p:sp>
        <p:nvSpPr>
          <p:cNvPr id="13" name="Oval 12"/>
          <p:cNvSpPr/>
          <p:nvPr/>
        </p:nvSpPr>
        <p:spPr>
          <a:xfrm>
            <a:off x="822960" y="4334255"/>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206240"/>
            <a:ext cx="4553712" cy="6858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70" b="0" i="0">
                <a:solidFill>
                  <a:srgbClr val="1F2730"/>
                </a:solidFill>
                <a:latin typeface="Arial"/>
              </a:rPr>
              <a:t>At ≥10, only the low-support Vasculature × M_e2 call remains: 26 rows and 20 unique non-MT drivers.</a:t>
            </a:r>
          </a:p>
        </p:txBody>
      </p:sp>
      <p:sp>
        <p:nvSpPr>
          <p:cNvPr id="15" name="Rounded Rectangle 14"/>
          <p:cNvSpPr/>
          <p:nvPr/>
        </p:nvSpPr>
        <p:spPr>
          <a:xfrm>
            <a:off x="822960" y="5102352"/>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7552" y="5230368"/>
            <a:ext cx="4498848" cy="22860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990" b="1" i="0">
                <a:solidFill>
                  <a:srgbClr val="9E3A00"/>
                </a:solidFill>
                <a:latin typeface="Arial"/>
              </a:rPr>
              <a:t>A higher query floor increases domination by the low-donor vasculature result.</a:t>
            </a:r>
          </a:p>
        </p:txBody>
      </p:sp>
      <p:sp>
        <p:nvSpPr>
          <p:cNvPr id="17" name="Rounded Rectangle 16"/>
          <p:cNvSpPr/>
          <p:nvPr/>
        </p:nvSpPr>
        <p:spPr>
          <a:xfrm>
            <a:off x="6236208" y="1307592"/>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37960" y="1600200"/>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84264" y="1572768"/>
            <a:ext cx="4700016" cy="32918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20" b="1" i="0">
                <a:solidFill>
                  <a:srgbClr val="0F233D"/>
                </a:solidFill>
                <a:latin typeface="Arial"/>
              </a:rPr>
              <a:t>SEA-AD</a:t>
            </a:r>
          </a:p>
        </p:txBody>
      </p:sp>
      <p:sp>
        <p:nvSpPr>
          <p:cNvPr id="20" name="Oval 19"/>
          <p:cNvSpPr/>
          <p:nvPr/>
        </p:nvSpPr>
        <p:spPr>
          <a:xfrm>
            <a:off x="6556248" y="22768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729984" y="2148840"/>
            <a:ext cx="4553712" cy="6858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70" b="0" i="0">
                <a:solidFill>
                  <a:srgbClr val="1F2730"/>
                </a:solidFill>
                <a:latin typeface="Arial"/>
              </a:rPr>
              <a:t>Current executed query sizes: 5, 9, 21, 43, and 45 genes.</a:t>
            </a:r>
          </a:p>
        </p:txBody>
      </p:sp>
      <p:sp>
        <p:nvSpPr>
          <p:cNvPr id="22" name="Oval 21"/>
          <p:cNvSpPr/>
          <p:nvPr/>
        </p:nvSpPr>
        <p:spPr>
          <a:xfrm>
            <a:off x="6556248" y="29626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29984" y="2834640"/>
            <a:ext cx="4553712" cy="6858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70" b="0" i="0">
                <a:solidFill>
                  <a:srgbClr val="1F2730"/>
                </a:solidFill>
                <a:latin typeface="Arial"/>
              </a:rPr>
              <a:t>Minimum 5 changes nothing.</a:t>
            </a:r>
          </a:p>
        </p:txBody>
      </p:sp>
      <p:sp>
        <p:nvSpPr>
          <p:cNvPr id="24" name="Oval 23"/>
          <p:cNvSpPr/>
          <p:nvPr/>
        </p:nvSpPr>
        <p:spPr>
          <a:xfrm>
            <a:off x="6556248" y="364845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9984" y="3520440"/>
            <a:ext cx="4553712" cy="6858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70" b="0" i="0">
                <a:solidFill>
                  <a:srgbClr val="1F2730"/>
                </a:solidFill>
                <a:latin typeface="Arial"/>
              </a:rPr>
              <a:t>Minimum 10 removes Microglia × M_e33 and Astrocytes × F_e4: 24 → 8 rows and 18 → 3 unique non-MT drivers.</a:t>
            </a:r>
          </a:p>
        </p:txBody>
      </p:sp>
      <p:sp>
        <p:nvSpPr>
          <p:cNvPr id="26" name="Oval 25"/>
          <p:cNvSpPr/>
          <p:nvPr/>
        </p:nvSpPr>
        <p:spPr>
          <a:xfrm>
            <a:off x="6556248" y="433425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729984" y="4206240"/>
            <a:ext cx="4553712" cy="6858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70" b="0" i="0">
                <a:solidFill>
                  <a:srgbClr val="1F2730"/>
                </a:solidFill>
                <a:latin typeface="Arial"/>
              </a:rPr>
              <a:t>Minimum 20 changes nothing further; minimum 30 removes Oligodendrocytes × M_e33, whose sole return is MT-*.</a:t>
            </a:r>
          </a:p>
        </p:txBody>
      </p:sp>
      <p:sp>
        <p:nvSpPr>
          <p:cNvPr id="28" name="Rounded Rectangle 27"/>
          <p:cNvSpPr/>
          <p:nvPr/>
        </p:nvSpPr>
        <p:spPr>
          <a:xfrm>
            <a:off x="6556248" y="5102352"/>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20840" y="5230368"/>
            <a:ext cx="4498848" cy="22860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990" b="1" i="0">
                <a:solidFill>
                  <a:srgbClr val="00684D"/>
                </a:solidFill>
                <a:latin typeface="Arial"/>
              </a:rPr>
              <a:t>The non-MT driver count reaches 3 at minimum 10 and stays there through 30.</a:t>
            </a:r>
          </a:p>
        </p:txBody>
      </p:sp>
      <p:sp>
        <p:nvSpPr>
          <p:cNvPr id="30" name="TextBox 29"/>
          <p:cNvSpPr txBox="1"/>
          <p:nvPr/>
        </p:nvSpPr>
        <p:spPr>
          <a:xfrm>
            <a:off x="658368" y="6473952"/>
            <a:ext cx="10881360" cy="14630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670" b="0" i="0">
                <a:solidFill>
                  <a:srgbClr val="6C7988"/>
                </a:solidFill>
                <a:latin typeface="Arial"/>
              </a:rPr>
              <a:t>Source: validated Phase 22 and VH14 run manifests and significant-return tables (2026-09-11).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30352" y="411480"/>
            <a:ext cx="10652760" cy="47548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450" b="1" i="0">
                <a:solidFill>
                  <a:srgbClr val="0F233D"/>
                </a:solidFill>
                <a:latin typeface="Arial"/>
              </a:rPr>
              <a:t>Query-size sensitivity — validation interpretation</a:t>
            </a:r>
          </a:p>
        </p:txBody>
      </p:sp>
      <p:sp>
        <p:nvSpPr>
          <p:cNvPr id="3" name="TextBox 2"/>
          <p:cNvSpPr txBox="1"/>
          <p:nvPr/>
        </p:nvSpPr>
        <p:spPr>
          <a:xfrm>
            <a:off x="548640" y="886968"/>
            <a:ext cx="10561320"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20" b="0" i="0">
                <a:solidFill>
                  <a:srgbClr val="4E5A68"/>
                </a:solidFill>
                <a:latin typeface="Arial"/>
              </a:rPr>
              <a:t>The query floor changes assessability, but it does not create cross-cohort driver validation.</a:t>
            </a:r>
          </a:p>
        </p:txBody>
      </p:sp>
      <p:sp>
        <p:nvSpPr>
          <p:cNvPr id="4" name="Rounded Rectangle 3"/>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09344"/>
            <a:ext cx="2926080" cy="23774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19" b="1" i="0">
                <a:solidFill>
                  <a:srgbClr val="0072B2"/>
                </a:solidFill>
                <a:latin typeface="Arial"/>
              </a:rPr>
              <a:t>VALIDATION CONSEQUENCES</a:t>
            </a:r>
          </a:p>
        </p:txBody>
      </p:sp>
      <p:sp>
        <p:nvSpPr>
          <p:cNvPr id="6" name="Oval 5"/>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33856" y="2011680"/>
            <a:ext cx="9838944" cy="6583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00" b="0" i="0">
                <a:solidFill>
                  <a:srgbClr val="1F2730"/>
                </a:solidFill>
                <a:latin typeface="Arial"/>
              </a:rPr>
              <a:t>Cross-cohort non-MT driver overlap remains zero at every tested threshold.</a:t>
            </a:r>
          </a:p>
        </p:txBody>
      </p:sp>
      <p:sp>
        <p:nvSpPr>
          <p:cNvPr id="8" name="Oval 7"/>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33856" y="2670048"/>
            <a:ext cx="9838944" cy="6583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00" b="0" i="0">
                <a:solidFill>
                  <a:srgbClr val="1F2730"/>
                </a:solidFill>
                <a:latin typeface="Arial"/>
              </a:rPr>
              <a:t>At minimum 3 or 5, Astrocytes × F_e4 remains the only exact shared executed stratum, with no shared drivers.</a:t>
            </a:r>
          </a:p>
        </p:txBody>
      </p:sp>
      <p:sp>
        <p:nvSpPr>
          <p:cNvPr id="10" name="Oval 9"/>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33856" y="3328415"/>
            <a:ext cx="9838944" cy="6583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00" b="0" i="0">
                <a:solidFill>
                  <a:srgbClr val="1F2730"/>
                </a:solidFill>
                <a:latin typeface="Arial"/>
              </a:rPr>
              <a:t>At minimum 10, 20, or 30, no exact stratum is executed in both cohorts; validation is unavailable rather than negative.</a:t>
            </a:r>
          </a:p>
        </p:txBody>
      </p:sp>
      <p:sp>
        <p:nvSpPr>
          <p:cNvPr id="12" name="Oval 1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33856" y="3986783"/>
            <a:ext cx="9838944" cy="65836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00" b="0" i="0">
                <a:solidFill>
                  <a:srgbClr val="1F2730"/>
                </a:solidFill>
                <a:latin typeface="Arial"/>
              </a:rPr>
              <a:t>Thresholds ≥10 reduce validation assessability and make ROSMAP increasingly dominated by the low-support Vasculature × M_e2 call.</a:t>
            </a:r>
          </a:p>
        </p:txBody>
      </p:sp>
      <p:sp>
        <p:nvSpPr>
          <p:cNvPr id="14" name="Rounded Rectangle 13"/>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340096"/>
            <a:ext cx="10369296" cy="25603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500" b="1" i="0">
                <a:solidFill>
                  <a:srgbClr val="895600"/>
                </a:solidFill>
                <a:latin typeface="Arial"/>
              </a:rPr>
              <a:t>Least disruptive sensitivity reference: minimum 5 effective query genes</a:t>
            </a:r>
          </a:p>
        </p:txBody>
      </p:sp>
      <p:sp>
        <p:nvSpPr>
          <p:cNvPr id="16" name="TextBox 15"/>
          <p:cNvSpPr txBox="1"/>
          <p:nvPr/>
        </p:nvSpPr>
        <p:spPr>
          <a:xfrm>
            <a:off x="914400" y="5632704"/>
            <a:ext cx="10369296" cy="182880"/>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940" b="0" i="0">
                <a:solidFill>
                  <a:srgbClr val="895600"/>
                </a:solidFill>
                <a:latin typeface="Arial"/>
              </a:rPr>
              <a:t>It removes the smallest ROSMAP query while preserving every SEA-AD run and the only matched cross-cohort stratum.</a:t>
            </a:r>
          </a:p>
        </p:txBody>
      </p:sp>
      <p:sp>
        <p:nvSpPr>
          <p:cNvPr id="17" name="TextBox 16"/>
          <p:cNvSpPr txBox="1"/>
          <p:nvPr/>
        </p:nvSpPr>
        <p:spPr>
          <a:xfrm>
            <a:off x="658368" y="6473952"/>
            <a:ext cx="10881360" cy="14630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670" b="0" i="0">
                <a:solidFill>
                  <a:srgbClr val="6C7988"/>
                </a:solidFill>
                <a:latin typeface="Arial"/>
              </a:rPr>
              <a:t>Source: validated Phase 22 and VH14 run manifests and significant-return tables (2026-09-11).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173</TotalTime>
  <Words>4362</Words>
  <Application>Microsoft Macintosh PowerPoint</Application>
  <PresentationFormat>Widescreen</PresentationFormat>
  <Paragraphs>544</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ROSMAP and SEA-AD sex/APOE key-driver analysis — VH12 network rerun</dc:title>
  <dc:subject>VH12 SEA-AD-specific Bayesian-network KDA rerun</dc:subject>
  <dc:creator>Alzheimer project analysis team</dc:creator>
  <cp:keywords>Alzheimer disease, sex, APOE, key-driver analysis, KDA, ACAT, mitochondrial genes</cp:keywords>
  <dc:description>Built from validated VH12 outputs on 2026-09-10 for the 2026-09-16 presentation. Appended Part 4 sensitivity-analysis section, donor-threshold comparison table, and key findings on 2026-09-11. Query-size sensitivity added 2026-09-11.</dc:description>
  <cp:lastModifiedBy>Richard Zhuang</cp:lastModifiedBy>
  <cp:revision>19</cp:revision>
  <dcterms:created xsi:type="dcterms:W3CDTF">2026-08-29T13:27:12Z</dcterms:created>
  <dcterms:modified xsi:type="dcterms:W3CDTF">2026-09-11T14:55:43Z</dcterms:modified>
  <cp:category>Scientific presentation</cp:category>
  <dc:language>en-US</dc:language>
</cp:coreProperties>
</file>