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1"/>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7" r:id="rId66"/>
    <p:sldId id="318" r:id="rId67"/>
    <p:sldId id="319" r:id="rId68"/>
    <p:sldId id="320" r:id="rId69"/>
    <p:sldId id="321" r:id="rId70"/>
    <p:sldId id="322" r:id="rId71"/>
    <p:sldId id="324" r:id="rId72"/>
    <p:sldId id="325" r:id="rId73"/>
    <p:sldId id="326" r:id="rId74"/>
    <p:sldId id="327" r:id="rId75"/>
    <p:sldId id="328" r:id="rId76"/>
    <p:sldId id="329" r:id="rId77"/>
    <p:sldId id="331" r:id="rId78"/>
    <p:sldId id="332" r:id="rId79"/>
    <p:sldId id="333" r:id="rId80"/>
    <p:sldId id="334" r:id="rId81"/>
    <p:sldId id="335" r:id="rId82"/>
    <p:sldId id="336" r:id="rId83"/>
    <p:sldId id="338" r:id="rId84"/>
    <p:sldId id="339" r:id="rId85"/>
    <p:sldId id="340" r:id="rId86"/>
    <p:sldId id="341" r:id="rId87"/>
    <p:sldId id="342" r:id="rId88"/>
    <p:sldId id="343" r:id="rId89"/>
    <p:sldId id="345" r:id="rId90"/>
    <p:sldId id="346" r:id="rId91"/>
    <p:sldId id="347" r:id="rId92"/>
    <p:sldId id="348" r:id="rId93"/>
    <p:sldId id="349" r:id="rId94"/>
    <p:sldId id="350" r:id="rId95"/>
    <p:sldId id="352" r:id="rId96"/>
    <p:sldId id="353" r:id="rId97"/>
    <p:sldId id="354" r:id="rId98"/>
    <p:sldId id="355" r:id="rId99"/>
    <p:sldId id="356" r:id="rId100"/>
    <p:sldId id="357" r:id="rId101"/>
    <p:sldId id="359" r:id="rId102"/>
    <p:sldId id="360" r:id="rId103"/>
    <p:sldId id="361" r:id="rId104"/>
    <p:sldId id="362" r:id="rId105"/>
    <p:sldId id="363" r:id="rId106"/>
    <p:sldId id="364" r:id="rId107"/>
    <p:sldId id="366" r:id="rId108"/>
    <p:sldId id="367" r:id="rId109"/>
    <p:sldId id="368" r:id="rId110"/>
    <p:sldId id="369" r:id="rId111"/>
    <p:sldId id="370" r:id="rId112"/>
    <p:sldId id="371" r:id="rId113"/>
    <p:sldId id="373" r:id="rId114"/>
    <p:sldId id="374" r:id="rId115"/>
    <p:sldId id="375" r:id="rId116"/>
    <p:sldId id="376" r:id="rId117"/>
    <p:sldId id="377" r:id="rId118"/>
    <p:sldId id="378" r:id="rId119"/>
    <p:sldId id="380" r:id="rId120"/>
    <p:sldId id="381" r:id="rId121"/>
    <p:sldId id="382" r:id="rId122"/>
    <p:sldId id="383" r:id="rId123"/>
    <p:sldId id="384" r:id="rId124"/>
    <p:sldId id="385" r:id="rId125"/>
    <p:sldId id="387" r:id="rId126"/>
    <p:sldId id="388" r:id="rId127"/>
    <p:sldId id="389" r:id="rId128"/>
    <p:sldId id="390" r:id="rId129"/>
    <p:sldId id="391" r:id="rId130"/>
    <p:sldId id="392" r:id="rId131"/>
    <p:sldId id="394" r:id="rId132"/>
    <p:sldId id="395" r:id="rId133"/>
    <p:sldId id="396" r:id="rId134"/>
    <p:sldId id="397" r:id="rId135"/>
    <p:sldId id="398" r:id="rId136"/>
    <p:sldId id="399" r:id="rId137"/>
    <p:sldId id="401" r:id="rId138"/>
    <p:sldId id="402" r:id="rId139"/>
    <p:sldId id="403" r:id="rId140"/>
    <p:sldId id="404" r:id="rId141"/>
    <p:sldId id="405" r:id="rId142"/>
    <p:sldId id="406" r:id="rId143"/>
    <p:sldId id="408" r:id="rId144"/>
    <p:sldId id="409" r:id="rId145"/>
    <p:sldId id="410" r:id="rId146"/>
    <p:sldId id="411" r:id="rId147"/>
    <p:sldId id="412" r:id="rId148"/>
    <p:sldId id="413" r:id="rId149"/>
    <p:sldId id="415"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52"/>
    <p:restoredTop sz="94653"/>
  </p:normalViewPr>
  <p:slideViewPr>
    <p:cSldViewPr snapToGrid="0" snapToObjects="1">
      <p:cViewPr varScale="1">
        <p:scale>
          <a:sx n="142" d="100"/>
          <a:sy n="142"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summarize how many pathways had at least one significant result.</a:t>
            </a:r>
          </a:p>
          <a:p>
            <a:endParaRPr/>
          </a:p>
          <a:p>
            <a:r>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7, the biological findings and discussion.</a:t>
            </a:r>
          </a:p>
          <a:p>
            <a:endParaRPr/>
          </a:p>
          <a:p>
            <a:r>
              <a:t>Walk through: Part 7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endParaRPr/>
          </a:p>
          <a:p>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endParaRPr/>
          </a:p>
          <a:p>
            <a:r>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These displayed numbers summarize DEG occurrences and their direction across eligible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cross-cohort directional agreement means here.</a:t>
            </a:r>
          </a:p>
          <a:p>
            <a:endParaRPr/>
          </a:p>
          <a:p>
            <a:r>
              <a:t>Walk through: Eight eligible SEA-AD male epsilon-3 homozygous inhibitory-neuron fine-cell DEG queries contributed to this comparison. ROSMAP and SEA-AD shared 22 MitoCarta MT DEGs,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a:endParaRPr/>
          </a:p>
          <a:p>
            <a:r>
              <a:t>Scientific boundary: The numbers 128 and 243 are gene-by-comparison occurrences, not counts of unique genes, cells, donors, or genes returned from KDA calls.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donors, or genes returned from KDA calls,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a:endParaRPr/>
          </a:p>
          <a:p>
            <a:r>
              <a:t>Scientific boundary: The disagreement does not invalidate the fine-cell observation, but it prevents describing the decrease as a broad-cell-wide or cross-cohort effect. Aggregation, subtype composition, and limited matched coverage remain plausible explanations.</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a:endParaRPr/>
          </a:p>
          <a:p>
            <a:r>
              <a:t>Scientific boundary: Gene expression alone cannot establish lower respiratory capacity, and the broad-cell direction reverses.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cells, or genes returned from KDA calls,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For each fine-cell comparison,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a:endParaRPr/>
          </a:p>
          <a:p>
            <a:r>
              <a:t>Scientific boundary: This size difference affects comparisons of KDA output counts. It does not change the observed AD-up versus AD-down DEG occurrence counts on the preceding slide. SEA-AD has no matching active male APOE ε2 category here.</a:t>
            </a:r>
          </a:p>
          <a:p>
            <a:endParaRPr/>
          </a:p>
          <a:p>
            <a:r>
              <a:t>Transition: Return to the biological meaning of the coordinated DEG direction.</a:t>
            </a:r>
          </a:p>
          <a:p>
            <a:endParaRPr/>
          </a:p>
          <a:p>
            <a:r>
              <a:t>Sources: docs/analysis/kda_w_human_validation/rosmap_sex_apoe_broad_kda_analysis.md, Finding 5 and KDA query-size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7</a:t>
            </a:r>
          </a:p>
        </p:txBody>
      </p:sp>
    </p:spTree>
    <p:extLst>
      <p:ext uri="{BB962C8B-B14F-4D97-AF65-F5344CB8AC3E}">
        <p14:creationId xmlns:p14="http://schemas.microsoft.com/office/powerpoint/2010/main" val="686704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eligible SEA-AD fine-cell DEG queries contributed. Support comes from shared MitoCarta MT DEGs and matching AD directions.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35683</Words>
  <Application>Microsoft Macintosh PowerPoint</Application>
  <DocSecurity>0</DocSecurity>
  <PresentationFormat>Widescreen</PresentationFormat>
  <Paragraphs>3388</Paragraphs>
  <Slides>149</Slides>
  <Notes>149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149</vt:i4>
      </vt:variant>
    </vt:vector>
  </HeadingPairs>
  <TitlesOfParts>
    <vt:vector size="15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11</cp:revision>
  <dcterms:created xsi:type="dcterms:W3CDTF">2026-09-20T15:55:40Z</dcterms:created>
  <dcterms:modified xsi:type="dcterms:W3CDTF">2026-09-21T01:18:27Z</dcterms:modified>
</cp:coreProperties>
</file>