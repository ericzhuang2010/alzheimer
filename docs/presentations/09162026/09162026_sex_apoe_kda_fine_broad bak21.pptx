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
    <p:sldId id="264"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2"/>
    <p:restoredTop sz="94653"/>
  </p:normalViewPr>
  <p:slideViewPr>
    <p:cSldViewPr snapToGrid="0" snapToObjects="1">
      <p:cViewPr varScale="1">
        <p:scale>
          <a:sx n="142" d="100"/>
          <a:sy n="142" d="100"/>
        </p:scale>
        <p:origin x="176"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define what counts as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review how the pathway analysis tests each fine-cell contrast and summarizes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summarize how many pathways had at least one significant result.</a:t>
            </a:r>
          </a:p>
          <a:p>
            <a:endParaRPr/>
          </a:p>
          <a:p>
            <a:r>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on the previous slide. Twelve of the 46 Level 1 and Level 2 pathways and 18 of the 149 complete pathways had at least one significant result across the tested contrasts and DEG lists. Most significant results involved overlapping OXPHOS pathways. Non-OXPHOS signals were fewer and more localized. The next slide defines a separate descriptive overlap percentage used to summarize four recurring pathway sets across sex/APOE groups.</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Next, define the descriptive pathway-overlap percentage before reading the heatmap.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Apply this overlap calculation to the four pathway sets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the included fine-cell DEG lists, core MT genes contribute 217 occurrences, and all 217 are upregulated in AD. Nuclear-encoded OXPHOS genes contribute 89 occurrences: 76 upregulated and 13 downregulated, so 85 percent are upregulated. Within excitatory neurons, 14 included fine-cell DEG lists contain 123 core MT gene occurrences, all upregulated. One occurrence means that one gene is a DEG in one fine-cell comparison, so the same gene can contribute multiple occurrences across fine cell types. These counts summarize the fine-cell DEG lists used for the mitochondrial analysis.</a:t>
            </a:r>
          </a:p>
          <a:p>
            <a:endParaRPr/>
          </a:p>
          <a:p>
            <a:r>
              <a:t>Scientific boundary: The occurrence counts do not represent unique genes, expression magnitude, independent donors, or replication. They summarize repeated DEG observations across fine-cell comparisons.</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SEA-AD fine-cell DEG list contributed to the matched female epsilon-3 homozygous excitatory-neuron comparison, so the coverage is narrow. The list contains 10 MitoCarta MT DEGs. Nine are the same core MT genes found in ROSMAP, and all nine are upregulated in AD in both cohorts. The analysis observed nine shared genes compared with 3.83 expected based on genes detectable in the matched comparison. The shared-gene overlap remained significant after multiple-testing correction, with an 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pattern with opposite OXPHOS directions.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two mitochondrial gene sets. It does not prove protein imbalance, mitochondrial dysfunction, or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opposite OXPHOS gene-expression directions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included male epsilon-3 homozygous fine-cell DEG lists, core MT genes contributed 81 occurrences: 70 AD-up and 11 AD-down. Therefore, 86 percent were upregulated. Nuclear-encoded OXPHOS genes contributed 68 occurrences: 8 AD-up and 60 AD-down. Therefore, 88 percent were downregulated. An occurrence is one gene identified as a DEG in one fine-cell comparison, so the same gene can contribute again in another fine cell type.</a:t>
            </a:r>
          </a:p>
          <a:p>
            <a:endParaRPr/>
          </a:p>
          <a:p>
            <a:r>
              <a:t>Scientific boundary: These are repeated DEG occurrences, not counts of unique genes or independent donors.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DEG support and what the same AD direction across cohorts means here.</a:t>
            </a:r>
          </a:p>
          <a:p>
            <a:endParaRPr/>
          </a:p>
          <a:p>
            <a:r>
              <a:t>Walk through: Eight SEA-AD male epsilon-3 homozygous inhibitory-neuron fine-cell DEG lists contributed to this comparison. ROSMAP and SEA-AD shared 22 MitoCarta MT DEGs, and 19 of the 22 had the same AD direction. Nine core MT genes were upregulated in both cohorts. Genes for nuclear-encoded OXPHOS, mitochondrial protein import, mitochondrial ribosomes, metabolite transport, and mitochondrial DNA or RNA maintenance were downregulated in both. The overlap was 22 genes compared with 15.17 expected and remained significant after multiple-testing correction, with an adjusted P value of 0.0417. Excluding genes whose mitochondrial identity was uncertain left 21 shared genes and a similar adjusted P value of 0.0486. The support therefore comes from shared DEGs and their directions across cohorts.</a:t>
            </a:r>
          </a:p>
          <a:p>
            <a:endParaRPr/>
          </a:p>
          <a:p>
            <a:r>
              <a:t>Scientific boundary: This is focused cross-cohort DEG support within the matched inhibitory-neuron context. It does not establish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genes with the same or opposite AD directions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are shared MitoCarta MT DEGs. Matching AD directions do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two-genome OXPHOS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Basic OXPHOS biology establishes that respiratory complexes require coordinated core MT and nuclear-encoded OXPHOS proteins, but it does not show a protein imbalance in these samples. Guo and colleagues support analyzing Alzheimer’s molecular networks separately by sex, but they do not test this exact male epsilon-3 homozygous pattern.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included female APOE ε2 fine-cell comparisons, 127 of 128 core MT gene occurrences and 239 of 243 nuclear-encoded OXPHOS gene occurrences were upregulated in AD. The result is therefore a coordinated RNA-level pattern across both gene sets.</a:t>
            </a:r>
          </a:p>
          <a:p>
            <a:endParaRPr/>
          </a:p>
          <a:p>
            <a:r>
              <a:t>Scientific boundary: An occurrence is one gene identified as a DEG in one included fine-cell comparison, so the same gene may appear more than once across cell types. These counts do not measure unique genes, protein assembly, respiration, or ATP production.</a:t>
            </a:r>
          </a:p>
          <a:p>
            <a:endParaRPr/>
          </a:p>
          <a:p>
            <a:r>
              <a:t>Transition: Show the complete ROSMAP DEG-occurrence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Across included female APOE ε2 fine-cell comparisons, core MT genes contribute 128 DEG occurrences: 127 AD-up and one AD-down, so 99 percent are upregulated. Nuclear-encoded OXPHOS genes contribute 243 DEG occurrences: 239 AD-up and four AD-down, so 98 percent are upregulated. One occurrence means that one gene is a DEG in one fine-cell comparison; the same gene can contribute another occurrence in another comparison.</a:t>
            </a:r>
          </a:p>
          <a:p>
            <a:endParaRPr/>
          </a:p>
          <a:p>
            <a:r>
              <a:t>Scientific boundary: The numbers 128 and 243 are gene-by-comparison occurrences, not counts of unique genes, cells, or donors.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pathway analysis, nine of 12 excitatory fine cell types had significant enrichment of upregulated core MT genes and eight of 12 had significant enrichment of upregulated nuclear-encoded OXPHOS genes. In the direct broad-cell ROSMAP analysis, the nuclear-encoded OXPHOS increase remains strong, but the core MT component is not significant. SEA-AD has no matched female APOE ε2 fine-cell DEG result for this comparison.</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included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or donors,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The normalized enrichment score, or NES, summarizes the direction and strength of a pathway result; a positive NES indicates higher pathway expression in AD. In direct broad-cell analysis, the ROSMAP excitatory-neuron NES is weakly positive and not significant, while the SEA-AD excitatory-neuron NES is significantly positive. The available SEA-AD fine-cell check is only one small astrocyte DEG list and does not provide convincing support.</a:t>
            </a:r>
          </a:p>
          <a:p>
            <a:endParaRPr/>
          </a:p>
          <a:p>
            <a:r>
              <a:t>Scientific boundary: The disagreement does not invalidate the fine-cell observation, but it prevents describing the decrease as a broad-cell-wide or cross-cohort effect. Aggregation, subtype composition, and limited matched coverage remain plausible explanations.</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a:endParaRPr/>
          </a:p>
          <a:p>
            <a:r>
              <a:t>Scientific boundary: Gene expression alone cannot establish lower respiratory capacity, and the broad-cell direction reverses.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explain why unusually large MitoCarta MT DEG sets contribute many occurrences.</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included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or cells,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Each included fine-cell comparison contributes one set of MitoCarta MT DEGs. The median male APOE ε2 set contains 85 DEGs, compared with 16.5 across all included fine-cell comparisons. Larger DEG sets can generate more DEG occurrences when results are summarized across fine cell types.</a:t>
            </a:r>
          </a:p>
          <a:p>
            <a:endParaRPr/>
          </a:p>
          <a:p>
            <a:r>
              <a:t>Scientific boundary: This size difference helps explain the large occurrence count, but it does not change the proportion of upregulated versus downregulated occurrences. SEA-AD has no matched male APOE ε2 fine-cell DEG result here.</a:t>
            </a:r>
          </a:p>
          <a:p>
            <a:endParaRPr/>
          </a:p>
          <a:p>
            <a:r>
              <a:t>Transition: Return to the biological meaning of the coordinated DEG direction.</a:t>
            </a:r>
          </a:p>
          <a:p>
            <a:endParaRPr/>
          </a:p>
          <a:p>
            <a:r>
              <a:t>Sources: docs/analysis/kda_w_human_validation/rosmap_sex_apoe_broad_kda_analysis.md, Finding 5 and DEG-set-size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 xmlns:a16="http://schemas.microsoft.com/office/drawing/2014/main"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 xmlns:a16="http://schemas.microsoft.com/office/drawing/2014/main"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 xmlns:p14="http://schemas.microsoft.com/office/powerpoint/2010/main"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 xmlns:a16="http://schemas.microsoft.com/office/drawing/2014/main"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 xmlns:a16="http://schemas.microsoft.com/office/drawing/2014/main"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 xmlns:a16="http://schemas.microsoft.com/office/drawing/2014/main"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 xmlns:a16="http://schemas.microsoft.com/office/drawing/2014/main"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 xmlns:a16="http://schemas.microsoft.com/office/drawing/2014/main"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 xmlns:a16="http://schemas.microsoft.com/office/drawing/2014/main"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 xmlns:a16="http://schemas.microsoft.com/office/drawing/2014/main"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 xmlns:a16="http://schemas.microsoft.com/office/drawing/2014/main"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 xmlns:a16="http://schemas.microsoft.com/office/drawing/2014/main"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 xmlns:a16="http://schemas.microsoft.com/office/drawing/2014/main"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 xmlns:a16="http://schemas.microsoft.com/office/drawing/2014/main"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 xmlns:a16="http://schemas.microsoft.com/office/drawing/2014/main"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 xmlns:a16="http://schemas.microsoft.com/office/drawing/2014/main"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 xmlns:a16="http://schemas.microsoft.com/office/drawing/2014/main"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 xmlns:a16="http://schemas.microsoft.com/office/drawing/2014/main"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 xmlns:a16="http://schemas.microsoft.com/office/drawing/2014/main"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 xmlns:a16="http://schemas.microsoft.com/office/drawing/2014/main"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 xmlns:a16="http://schemas.microsoft.com/office/drawing/2014/main"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 xmlns:a16="http://schemas.microsoft.com/office/drawing/2014/main"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 xmlns:a16="http://schemas.microsoft.com/office/drawing/2014/main"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 xmlns:a16="http://schemas.microsoft.com/office/drawing/2014/main"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 xmlns:a16="http://schemas.microsoft.com/office/drawing/2014/main"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 xmlns:a16="http://schemas.microsoft.com/office/drawing/2014/main"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 xmlns:a16="http://schemas.microsoft.com/office/drawing/2014/main"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 xmlns:a16="http://schemas.microsoft.com/office/drawing/2014/main"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 xmlns:a16="http://schemas.microsoft.com/office/drawing/2014/main"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 xmlns:a16="http://schemas.microsoft.com/office/drawing/2014/main"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 xmlns:a16="http://schemas.microsoft.com/office/drawing/2014/main"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 xmlns:p14="http://schemas.microsoft.com/office/powerpoint/2010/main"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Within </a:t>
            </a:r>
            <a:r>
              <a:rPr sz="1520" b="1">
                <a:solidFill>
                  <a:srgbClr val="0F233D"/>
                </a:solidFill>
                <a:latin typeface="Arial"/>
                <a:ea typeface="Arial"/>
                <a:cs typeface="Arial"/>
              </a:rPr>
              <a:t>excitatory</a:t>
            </a:r>
            <a:r>
              <a:rPr sz="1520" b="1" i="0">
                <a:solidFill>
                  <a:srgbClr val="0F233D"/>
                </a:solidFill>
                <a:latin typeface="Arial"/>
                <a:ea typeface="Arial"/>
                <a:cs typeface="Arial"/>
              </a:rPr>
              <a:t> neurons</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f</a:t>
            </a:r>
            <a:r>
              <a:rPr sz="1019" b="1" i="0">
                <a:solidFill>
                  <a:srgbClr val="0F233D"/>
                </a:solidFill>
                <a:latin typeface="Arial"/>
                <a:ea typeface="Arial"/>
                <a:cs typeface="Arial"/>
              </a:rPr>
              <a:t>ine-cell DEG lists included</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All included female ε3/ε3 DEG lists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SEA-AD fine-cell DEG list contributed to the matched female ε3/ε3 excitatory-neuron comparison, so coverage is limited.</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SEA-AD MitoCarta MT DEGs also found in ROSMAP</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core MT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All nine core MT genes are upregulated in both cohorts.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analyzing AD networks separately by sex.</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based on the directions of two defined OXPHOS gene sets.</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pattern through shared DEGs with matching AD directions.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neurons</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ROSMAP provides the primary evidence. SEA-AD adds support from matched inhibitory-neuron DEGs.</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included fine-cell DEG lists. The same gene can recur in different comparisons.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DEG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Eight SEA-AD fine-cell DEG lists contributed. Support comes from shared MitoCarta MT DEGs with the same AD direction.</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DEGs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Nuclear-encoded MT genes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Genes for OXPHOS, protein import, mitochondrial ribosomes, and DNA/RNA maintenance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Sensitivity check excluding genes with uncertain mitochondrial identity: 21 shared, adjusted P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account for the matched inhibitory-neuron pattern?</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Shared genes include OXPHOS subunits and genes for protein import, mitochondrial ribosomes, and DNA/RNA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genes with the same direction</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genes with opposite directions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Other mitochondrial processes also decrease</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Genes for protein import, mitochondrial ribosomes, metabolite transport, and DNA/RNA maintenance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biological context, but not this exact pattern</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Two-genome OXPHOS biology and cell-resolved AD studies make the finding plausible without independently reproducing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Two-genome OXPHOS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 Opposite OXPHOS directions are biologically plausible,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nuclear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no cognitive impairment</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occurrences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included fine-cell comparisons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included fine-cell comparisons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FINE-CELL ROSMAP</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Significant enrichment of upregulated genes appeared in 9 of 12 fine cell types for core MT genes and 8 of 12 for nuclear-encoded OXPHOS genes.</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female ε2 fine-cell DEG result was available. This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two-gene-set pattern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normalized enrichment score (NES) = +0.70, adjusted P =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normalized enrichment score (NES) = +2.01, adjusted P =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DEG CHECK</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small astrocyte DEG list</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Only two DEGs were shared with ROSMAP. Adjusted overlap P =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gene sets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DEG sets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most downward OXPHOS DEG occurrences</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Larger DEG sets help explain why male ε2 contributes many DEG occurrences.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male ε2 DEG set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INCLUDED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DEG-set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male ε2 fine-cell DEG result was available,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Larger DEG sets can produce more DEG occurrences across fine-cell comparisons. This does not change the direction percentages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TotalTime>
  <Words>35610</Words>
  <Application>Microsoft Macintosh PowerPoint</Application>
  <DocSecurity>0</DocSecurity>
  <PresentationFormat>Widescreen</PresentationFormat>
  <Paragraphs>3386</Paragraphs>
  <Slides>149</Slides>
  <Notes>149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149</vt:i4>
      </vt:variant>
    </vt:vector>
  </HeadingPairs>
  <TitlesOfParts>
    <vt:vector size="15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12</cp:revision>
  <dcterms:created xsi:type="dcterms:W3CDTF">2026-09-20T15:55:40Z</dcterms:created>
  <dcterms:modified xsi:type="dcterms:W3CDTF">2026-09-21T01:59:57Z</dcterms:modified>
</cp:coreProperties>
</file>