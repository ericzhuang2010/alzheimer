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1"/>
  </p:notesMasterIdLst>
  <p:sldIdLst>
    <p:sldId id="256" r:id="rId2"/>
    <p:sldId id="417" r:id="rId3"/>
    <p:sldId id="416" r:id="rId4"/>
    <p:sldId id="418" r:id="rId5"/>
    <p:sldId id="261" r:id="rId6"/>
    <p:sldId id="262" r:id="rId7"/>
    <p:sldId id="263" r:id="rId8"/>
    <p:sldId id="258" r:id="rId9"/>
    <p:sldId id="271" r:id="rId10"/>
    <p:sldId id="419" r:id="rId11"/>
    <p:sldId id="257" r:id="rId12"/>
    <p:sldId id="259" r:id="rId13"/>
    <p:sldId id="260" r:id="rId14"/>
    <p:sldId id="420" r:id="rId15"/>
    <p:sldId id="264" r:id="rId16"/>
    <p:sldId id="266" r:id="rId17"/>
    <p:sldId id="267" r:id="rId18"/>
    <p:sldId id="268" r:id="rId19"/>
    <p:sldId id="269" r:id="rId20"/>
    <p:sldId id="270"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7" r:id="rId66"/>
    <p:sldId id="318" r:id="rId67"/>
    <p:sldId id="319" r:id="rId68"/>
    <p:sldId id="320" r:id="rId69"/>
    <p:sldId id="321" r:id="rId70"/>
    <p:sldId id="322" r:id="rId71"/>
    <p:sldId id="324" r:id="rId72"/>
    <p:sldId id="325" r:id="rId73"/>
    <p:sldId id="326" r:id="rId74"/>
    <p:sldId id="327" r:id="rId75"/>
    <p:sldId id="328" r:id="rId76"/>
    <p:sldId id="329" r:id="rId77"/>
    <p:sldId id="331" r:id="rId78"/>
    <p:sldId id="332" r:id="rId79"/>
    <p:sldId id="333" r:id="rId80"/>
    <p:sldId id="334" r:id="rId81"/>
    <p:sldId id="335" r:id="rId82"/>
    <p:sldId id="336" r:id="rId83"/>
    <p:sldId id="338" r:id="rId84"/>
    <p:sldId id="339" r:id="rId85"/>
    <p:sldId id="340" r:id="rId86"/>
    <p:sldId id="341" r:id="rId87"/>
    <p:sldId id="342" r:id="rId88"/>
    <p:sldId id="343" r:id="rId89"/>
    <p:sldId id="345" r:id="rId90"/>
    <p:sldId id="346" r:id="rId91"/>
    <p:sldId id="347" r:id="rId92"/>
    <p:sldId id="348" r:id="rId93"/>
    <p:sldId id="349" r:id="rId94"/>
    <p:sldId id="350" r:id="rId95"/>
    <p:sldId id="352" r:id="rId96"/>
    <p:sldId id="353" r:id="rId97"/>
    <p:sldId id="354" r:id="rId98"/>
    <p:sldId id="355" r:id="rId99"/>
    <p:sldId id="356" r:id="rId100"/>
    <p:sldId id="357" r:id="rId101"/>
    <p:sldId id="359" r:id="rId102"/>
    <p:sldId id="360" r:id="rId103"/>
    <p:sldId id="361" r:id="rId104"/>
    <p:sldId id="362" r:id="rId105"/>
    <p:sldId id="363" r:id="rId106"/>
    <p:sldId id="364" r:id="rId107"/>
    <p:sldId id="366" r:id="rId108"/>
    <p:sldId id="367" r:id="rId109"/>
    <p:sldId id="368" r:id="rId110"/>
    <p:sldId id="369" r:id="rId111"/>
    <p:sldId id="370" r:id="rId112"/>
    <p:sldId id="371" r:id="rId113"/>
    <p:sldId id="373" r:id="rId114"/>
    <p:sldId id="374" r:id="rId115"/>
    <p:sldId id="375" r:id="rId116"/>
    <p:sldId id="376" r:id="rId117"/>
    <p:sldId id="377" r:id="rId118"/>
    <p:sldId id="378" r:id="rId119"/>
    <p:sldId id="380" r:id="rId120"/>
    <p:sldId id="381" r:id="rId121"/>
    <p:sldId id="382" r:id="rId122"/>
    <p:sldId id="383" r:id="rId123"/>
    <p:sldId id="384" r:id="rId124"/>
    <p:sldId id="385" r:id="rId125"/>
    <p:sldId id="387" r:id="rId126"/>
    <p:sldId id="388" r:id="rId127"/>
    <p:sldId id="389" r:id="rId128"/>
    <p:sldId id="390" r:id="rId129"/>
    <p:sldId id="391" r:id="rId130"/>
    <p:sldId id="392" r:id="rId131"/>
    <p:sldId id="394" r:id="rId132"/>
    <p:sldId id="395" r:id="rId133"/>
    <p:sldId id="396" r:id="rId134"/>
    <p:sldId id="397" r:id="rId135"/>
    <p:sldId id="398" r:id="rId136"/>
    <p:sldId id="399" r:id="rId137"/>
    <p:sldId id="401" r:id="rId138"/>
    <p:sldId id="402" r:id="rId139"/>
    <p:sldId id="403" r:id="rId140"/>
    <p:sldId id="404" r:id="rId141"/>
    <p:sldId id="405" r:id="rId142"/>
    <p:sldId id="406" r:id="rId143"/>
    <p:sldId id="408" r:id="rId144"/>
    <p:sldId id="409" r:id="rId145"/>
    <p:sldId id="410" r:id="rId146"/>
    <p:sldId id="411" r:id="rId147"/>
    <p:sldId id="412" r:id="rId148"/>
    <p:sldId id="413" r:id="rId149"/>
    <p:sldId id="415" r:id="rId1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52"/>
    <p:restoredTop sz="94653"/>
  </p:normalViewPr>
  <p:slideViewPr>
    <p:cSldViewPr snapToGrid="0" snapToObjects="1">
      <p:cViewPr varScale="1">
        <p:scale>
          <a:sx n="142" d="100"/>
          <a:sy n="142" d="100"/>
        </p:scale>
        <p:origin x="176"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Part 1, the study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introduces the mitochondrial gene sets and MitoCarta pathway hierarchy. The section closes by defining contrast, category, and DEG occurrence, the analysis units used later in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analysis moves from cell-level gene expression to validation.</a:t>
            </a:r>
          </a:p>
          <a:p>
            <a:endParaRPr/>
          </a:p>
          <a:p>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a:endParaRPr/>
          </a:p>
          <a:p>
            <a:r>
              <a:t>Scientific boundary: The first four stages summarize analyses presented in this deck. Mouse validation is a proposed next step and does not contribute evidence to the current findings.</a:t>
            </a:r>
          </a:p>
          <a:p>
            <a:endParaRPr/>
          </a:p>
          <a:p>
            <a:r>
              <a:t>Transition: Next, introduce the two human brain cohorts.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mitochondrial gene sets and pathway hierarchy defined, next define a contrast.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next define the category used to summarize fine-cell KDA results.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0847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contrast and category defined, next explain what counts as one DEG occurrence.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478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and a DEG occurrence before showing DEG counts and direction percentages.</a:t>
            </a:r>
          </a:p>
          <a:p>
            <a:endParaRPr/>
          </a:p>
          <a:p>
            <a:r>
              <a:t>Walk through: Within one fine-cell contrast, a gene is called a DEG when its BH-adjusted P value is below 0.05 and its absolute log2 fold change is greater than log2 of 1.3, approximately 0.38. Positive fold change means upregulated in AD, and negative fold change means downregulated in AD. One DEG in one fine-cell contrast contributes one DEG occurrence. If the same gene is a DEG in three contrasts, it contributes three DEG occurrences but remains one unique gene.</a:t>
            </a:r>
          </a:p>
          <a:p>
            <a:endParaRPr/>
          </a:p>
          <a:p>
            <a:r>
              <a:t>Scientific boundary: The DEG criteria are evaluated separately within each contrast. A DEG occurrence is a repeated DEG result, not a unique gene, participant, or independent replication. Meeting the DEG criteria does not establish causation.</a:t>
            </a:r>
          </a:p>
          <a:p>
            <a:endParaRPr/>
          </a:p>
          <a:p>
            <a:r>
              <a:t>Transition: With the Part 1 concepts established, begin Part 2 with the overall DEG counts.</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192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DEG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a DEG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define what counts as a significant pathway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Formally define one significant pathway result before presenting pathway-level summary counts.</a:t>
            </a:r>
          </a:p>
          <a:p>
            <a:endParaRPr/>
          </a:p>
          <a:p>
            <a:r>
              <a:t>Walk through: One result tests one pathway in one DEG list from one fine-cell sex/APOE contrast. N is the number of detectable MitoCarta MT genes in that contrast. M is the number of those detectable genes assigned to the pathway. n is the number of DEGs in the selected list, and k is the number of those DEGs assigned to the pathway. Fold enrichment compares the pathway share among the DEGs, k divided by n, with the pathway share among detectable genes, M divided by N. A value above 1 indicates enrichment. Enrichment describes the observed over-representation. Statistical significance is determined separately: the one-sided hypergeometric test calculates the probability of observing k or more pathway genes under random sampling from the detectable-gene background, and Benjamini-Hochberg correction is applied across all testable pathways in the same pathway collection for the same contrast and DEG list. The primary local result is significant when its BH-adjusted P value, also called the local false-discovery rate, is below 0.05.</a:t>
            </a:r>
          </a:p>
          <a:p>
            <a:endParaRPr/>
          </a:p>
          <a:p>
            <a:r>
              <a:t>Scientific boundary: This result supports pathway over-representation within one specific test. It does not establish altered pathway activity, causation, or a disease-by-sex-by-APOE interaction. Study-wide BH FDR is reported separately as a sensitivity measure.</a:t>
            </a:r>
          </a:p>
          <a:p>
            <a:endParaRPr/>
          </a:p>
          <a:p>
            <a:r>
              <a:t>Transition: Next, review how the pathway analysis tests each fine-cell contrast and summarizes significant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two-stage pathway analysis and summarize how many pathways had at least one significant result.</a:t>
            </a:r>
          </a:p>
          <a:p>
            <a:endParaRPr/>
          </a:p>
          <a:p>
            <a:r>
              <a:t>Walk through: Each estimable fine-cell sex/APOE contrast was analyzed separately. For each contrast, the analysis created three mitochondrial DEG lists: all DEGs, genes upregulated in AD, and genes downregulated in AD. It then tested each pathway using the enrichment and significance definition on the previous slide. Twelve of the 46 Level 1 and Level 2 pathways and 18 of the 149 complete pathways had at least one significant result across the tested contrasts and DEG lists. Most significant results involved overlapping OXPHOS pathways. Non-OXPHOS signals were fewer and more localized. The next slide defines a separate descriptive overlap percentage used to summarize four recurring pathway sets across sex/APOE groups.</a:t>
            </a:r>
          </a:p>
          <a:p>
            <a:endParaRPr/>
          </a:p>
          <a:p>
            <a:r>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endParaRPr/>
          </a:p>
          <a:p>
            <a:r>
              <a:t>Transition: Next, define the descriptive pathway-overlap percentage before reading the heatmap.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its worked example, and how descriptive overlap differs from a significant pathway result.</a:t>
            </a:r>
          </a:p>
          <a:p>
            <a:endParaRPr/>
          </a:p>
          <a:p>
            <a:r>
              <a:t>Walk through: This percentage summarizes one pathway within one sex/APOE group. The numerator is the number of unique pathway genes that were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 This pooled overlap starts from the same pathway-gene and DEG membership used in enrichment analysis, but it combines fine cell types and does not perform a statistical test. A significant pathway result instead evaluates one fine-cell contrast against its detectable-gene background and must pass the adjusted P-value threshold.</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Apply this overlap calculation to the four pathway sets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pathway sets through the heatmap and show the breadth of their overlap with the fine-cell DEG results.</a:t>
            </a:r>
          </a:p>
          <a:p>
            <a:endParaRPr/>
          </a:p>
          <a:p>
            <a:r>
              <a:t>Walk through: The four rows summarize the 13 core MT genes, 86 nuclear-encoded structural OXPHOS genes, 155 mitochondrial-translation genes, and 19 inner-membrane-organization genes. For each sex/APOE group, a pathway gene is counted once if it was a DEG in at least one fine-cell comparison. The denominator is the fixed pathway size shown in the corresponding row label.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DEG in one fine-cell comparison. If the same gene is a DEG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makes KDA calls, and then aggregates genes returned from repeated fine-cell KDA calls within sex/APOE by broad-cell category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at least one gene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SEA-AD excitatory-neuron key drivers recur across the six sex/APOE categories.</a:t>
            </a:r>
          </a:p>
          <a:p>
            <a:endParaRPr/>
          </a:p>
          <a:p>
            <a:r>
              <a:t>Walk through: Rows are the three female groups followed by the three male groups. Columns contain all 27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The number of gene rows returned from KDA calls falls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returned 26 gene rows.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7, the biological findings and discussion.</a:t>
            </a:r>
          </a:p>
          <a:p>
            <a:endParaRPr/>
          </a:p>
          <a:p>
            <a:r>
              <a:t>Walk through: Part 7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a:endParaRPr/>
          </a:p>
          <a:p>
            <a:r>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a:endParaRPr/>
          </a:p>
          <a:p>
            <a:r>
              <a:t>Transition: Begin with Finding 1, the female epsilon-3 homozygous core MT gene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eligible fine-cell DEG input queries, core MT genes contribute 217 occurrences, and all 217 occurrences are upregulated in AD. Nuclear-encoded OXPHOS genes appear 89 times, with 76 upregulated and 13 downregulated, so 85 percent are upregulated. Within excitatory neurons, 14 eligible fine-cell DEG queries contain 123 core MT gene occurrences, all upregulated. One occurrence means that one pathway gene is a DEG in one fine-cell comparison. The same gene can therefore contribute multiple occurrences across fine cell types. These displayed numbers summarize DEG occurrences and their direction across eligible queries.</a:t>
            </a:r>
          </a:p>
          <a:p>
            <a:endParaRPr/>
          </a:p>
          <a:p>
            <a:r>
              <a:t>Scientific boundary: The occurrence counts do not represent unique genes, expression magnitude, independent donors, or genes returned from KDA calls. The KDA input query is the mitochondrial DEG list supplied to that call.</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matched female epsilon-3 homozygous excitatory-neuron KDA call was evaluable in SEA-AD, so the coverage is narrow. Its effective query contains 10 genes. Nine are the same core MT genes found in ROSMAP, and all nine are upregulated in the disease group in both cohorts. The analysis observed nine shared genes compared with 3.83 expected under the category-specific background model. The overlap remains significant after correction, with a Benjamini-Hochberg-adjusted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 It also does not require SEA-AD to return the same upstream gene from a KDA call.</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mitonuclear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mitochondrial gene sets. It does not identify a causal upstream driver, prove protein imbalance, or establish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mitonuclear mismatch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eligible male epsilon-3 homozygous fine-cell DEG queries used to make KDA calls, core MT genes contributed 81 occurrences: 70 AD-up and 11 AD-down. Therefore, 86 percent were upregulated. Nuclear-encoded OXPHOS genes contributed 68 occurrences: 8 AD-up and 60 AD-down. Therefore, 88 percent were downregulated. An occurrence is one pathway gene identified as a DEG in one fine-cell comparison, so the same gene can contribute again in another fine cell type.</a:t>
            </a:r>
          </a:p>
          <a:p>
            <a:endParaRPr/>
          </a:p>
          <a:p>
            <a:r>
              <a:t>Scientific boundary: These are occurrences among the mitochondrial DEG input queries, not unique genes, independent donors, or genes returned from KDA calls.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support and what gene-set-level agreement means here.</a:t>
            </a:r>
          </a:p>
          <a:p>
            <a:endParaRPr/>
          </a:p>
          <a:p>
            <a:r>
              <a:t>Walk through: Eight matched male epsilon-3 homozygous inhibitory-neuron KDA calls were evaluable. ROSMAP and SEA-AD shared 22 mitochondrial-query genes, and 19 of the 22 had the same AD direction. Nine core MT genes were upregulated in both cohorts. Nuclear-encoded OXPHOS, protein-import, mitochondrial-ribosome, and maintenance genes were downregulated in both. The overlap was 22 genes compared with 15.17 expected and remained significant after correction, with a Benjamini-Hochberg adjusted P value of 0.0417. Excluding unresolved mitochondrial identity-conflict genes left 21 shared genes and a similar adjusted P value of 0.0486. Gene-set-level support means agreement among related input DEGs and their directions, not replication of the same gene returned from a KDA call.</a:t>
            </a:r>
          </a:p>
          <a:p>
            <a:endParaRPr/>
          </a:p>
          <a:p>
            <a:r>
              <a:t>Scientific boundary: This is focused cross-cohort support within the matched inhibitory-neuron context. It does not establish the same gene returned from KDA calls,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concordant and discordant genes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directions describe shared mitochondrial-query DEGs rather than genes returned from KDA calls. Directional agreement does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mitonuclear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General mitonuclear biology establishes that OXPHOS requires coordinated mitochondrial-encoded and nuclear-encoded parts, but it does not show a protein imbalance in these samples. Guo and colleagues support analyzing Alzheimer’s molecular networks separately by sex, but they do not test this exact male epsilon-3 homozygous mismatch.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distinguish it from the male APOE ε3/ε3 pattern.</a:t>
            </a:r>
          </a:p>
          <a:p>
            <a:endParaRPr/>
          </a:p>
          <a:p>
            <a:r>
              <a:t>Walk through: Finding 3 concerns female APOE ε2 cells. In the ROSMAP fine-cell analysis, core MT genes and nuclear-encoded OXPHOS genes were both predominantly upregulated in Alzheimer’s disease. The two OXPHOS gene sets therefore move together, unlike the opposite directions observed in male APOE ε3/ε3 cells. This section first states the result, then shows the occurrence counts, resolution checks, biological interpretation, and supporting literature.</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State the female APOE ε2 result and define the two gene sets being compared.</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increase across the two OXPHOS gene sets.</a:t>
            </a:r>
          </a:p>
          <a:p>
            <a:endParaRPr/>
          </a:p>
          <a:p>
            <a:r>
              <a:t>Walk through: Core MT genes are the 13 protein-coding mitochondrial-DNA genes that encode structural OXPHOS subunits. Nuclear-encoded OXPHOS genes are the 86 nuclear genes that encode the remaining structural subunits used in this analysis. Across eligible female APOE ε2 fine-cell comparisons, 127 of 128 core MT gene occurrences and 239 of 243 nuclear-encoded OXPHOS gene occurrences were upregulated in AD. The result is therefore a coordinated transcript-level pattern across both gene sets.</a:t>
            </a:r>
          </a:p>
          <a:p>
            <a:endParaRPr/>
          </a:p>
          <a:p>
            <a:r>
              <a:t>Scientific boundary: An occurrence is one pathway gene identified as a DEG in one eligible fine-cell comparison, so the same gene may appear more than once across cell types. These counts do not measure unique genes, protein assembly, respiration, or ATP production.</a:t>
            </a:r>
          </a:p>
          <a:p>
            <a:endParaRPr/>
          </a:p>
          <a:p>
            <a:r>
              <a:t>Transition: Show the complete ROSMAP occurrence and enrichment counts.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ROSMAP DEG-occurrence pattern for Finding 3.</a:t>
            </a:r>
          </a:p>
          <a:p>
            <a:endParaRPr/>
          </a:p>
          <a:p>
            <a:r>
              <a:t>Walk through: Across eligible female APOE ε2 fine-cell comparisons used for KDA, core MT genes contribute 128 DEG occurrences: 127 AD-up and one AD-down, so 99 percent are upregulated. Nuclear-encoded OXPHOS genes contribute 243 DEG occurrences: 239 AD-up and four AD-down, so 98 percent are upregulated. One occurrence means that one gene is a DEG in one eligible fine-cell comparison; the same gene can contribute another occurrence in another comparison.</a:t>
            </a:r>
          </a:p>
          <a:p>
            <a:endParaRPr/>
          </a:p>
          <a:p>
            <a:r>
              <a:t>Scientific boundary: The numbers 128 and 243 are gene-by-comparison occurrences, not counts of unique genes, cells, donors, or genes returned from KDA calls. The percentages do not measure expression magnitude, OXPHOS protein abundance, respiration, or ATP production.</a:t>
            </a:r>
          </a:p>
          <a:p>
            <a:endParaRPr/>
          </a:p>
          <a:p>
            <a:r>
              <a:t>Transition: Compare this primary fine-cell DEG pattern with the direct broad-cell ROSMAP result and the available SEA-AD coverage.</a:t>
            </a:r>
          </a:p>
          <a:p>
            <a:endParaRPr/>
          </a:p>
          <a:p>
            <a:r>
              <a:t>Sources: docs/analysis/kda_w_human_validation/rosmap_sex_apoe_broad_kda_analysis.md, Finding 3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cell resolution and cohort coverage affect Finding 3.</a:t>
            </a:r>
          </a:p>
          <a:p>
            <a:endParaRPr/>
          </a:p>
          <a:p>
            <a:r>
              <a:t>Walk through: The project treats fine-cell results as primary and direct broad-cell results as sensitivity evidence. In the fine-cell analysis, nine of 12 excitatory fine cell types support core MT upregulation and eight of 12 support nuclear-encoded OXPHOS upregulation. In the direct broad-cell ROSMAP analysis, the nuclear-encoded OXPHOS increase remains strong, but the core MT component is not significant. SEA-AD has no active matched female APOE ε2 category, so it cannot test this finding.</a:t>
            </a:r>
          </a:p>
          <a:p>
            <a:endParaRPr/>
          </a:p>
          <a:p>
            <a:r>
              <a:t>Scientific boundary: The broad-cell disagreement limits how broadly the coordinated two-gene-set result can be generalized. Missing SEA-AD coverage is neutral: it provides neither validation nor contradictory evidence.</a:t>
            </a:r>
          </a:p>
          <a:p>
            <a:endParaRPr/>
          </a:p>
          <a:p>
            <a:r>
              <a:t>Transition: Explain why coordinated upregulation may be biologically interesting without calling it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the female APOE ε2 pattern cautiously.</a:t>
            </a:r>
          </a:p>
          <a:p>
            <a:endParaRPr/>
          </a:p>
          <a:p>
            <a:r>
              <a:t>Walk through: APOE ε2 lowers Alzheimer’s disease risk at the population level, but the current data come from diseased tissue. Both OXPHOS gene sets move upward rather than separating as they do in the male APOE ε3/ε3 finding. This coordinated response could reflect compensation for inefficient mitochondria or another altered disease state. It motivates a protective-response hypothesis for future testing.</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Place the result in the context of APOE risk, mitochondrial biology, and sex-aware Alzheimer’s research.</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literature context and the novelty boundary for Finding 3.</a:t>
            </a:r>
          </a:p>
          <a:p>
            <a:endParaRPr/>
          </a:p>
          <a:p>
            <a:r>
              <a:t>Walk through: Belloy and colleagues establish that Alzheimer’s disease risk differs substantially across APOE alleles, but that work does not explain this female APOE ε2 expression pattern. Lee and colleagues show that APOE state can alter mitochondrial homeostasis in another experimental context. Guo and colleagues support analyzing Alzheimer’s molecular networks by sex and cell type, but they do not report this exact female APOE ε2 OXPHOS result. The novelty label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which shows a different OXPHOS direction in female APOE ε4 fine-cell results.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4 as a female APOE ε4 DEG-direction result.</a:t>
            </a:r>
          </a:p>
          <a:p>
            <a:endParaRPr/>
          </a:p>
          <a:p>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a:endParaRPr/>
          </a:p>
          <a:p>
            <a:r>
              <a:t>Scientific boundary: This finding describes differential gene expression. It does not directly measure respiratory-complex proteins, oxygen consumption, ATP production, or a causal sex-by-APOE interaction.</a:t>
            </a:r>
          </a:p>
          <a:p>
            <a:endParaRPr/>
          </a:p>
          <a:p>
            <a:r>
              <a:t>Transition: State the two OXPHOS gene-set directions in plain language.</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female APOE ε4 pattern before showing the counts.</a:t>
            </a:r>
          </a:p>
          <a:p>
            <a:endParaRPr/>
          </a:p>
          <a:p>
            <a:r>
              <a:t>Walk through: Nuclear-encoded OXPHOS genes provide the clear signal: 206 of 216 repeated DEG occurrences are lower in AD. Core MT genes are mixed, with 38 AD-down and 26 AD-up occurrences. Therefore the result is a nuclear-encoded OXPHOS decrease, not a uniform decrease across all MitoCarta MT genes.</a:t>
            </a:r>
          </a:p>
          <a:p>
            <a:endParaRPr/>
          </a:p>
          <a:p>
            <a:r>
              <a:t>Scientific boundary: An occurrence is one gene observed as a DEG in one fine-cell comparison. Repeated occurrences are not independent donors or unique genes, and the direct broad-cell result points in the opposite direction.</a:t>
            </a:r>
          </a:p>
          <a:p>
            <a:endParaRPr/>
          </a:p>
          <a:p>
            <a:r>
              <a:t>Transition: Show the exact occurrence counts and percentages.</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female APOE ε4 DEG directions without mixing them with pathway statistics.</a:t>
            </a:r>
          </a:p>
          <a:p>
            <a:endParaRPr/>
          </a:p>
          <a:p>
            <a:r>
              <a:t>Walk through: Across eligible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a:endParaRPr/>
          </a:p>
          <a:p>
            <a:r>
              <a:t>Scientific boundary: These are repeated gene-by-fine-cell DEG occurrences. They are not counts of unique genes, cells, donors, or genes returned from KDA calls, and they do not quantify the magnitude of expression change.</a:t>
            </a:r>
          </a:p>
          <a:p>
            <a:endParaRPr/>
          </a:p>
          <a:p>
            <a:r>
              <a:t>Transition: Check whether direct broad-cell analysis supports the same direction.</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that the female APOE ε4 result changes with cell-type resolution.</a:t>
            </a:r>
          </a:p>
          <a:p>
            <a:endParaRPr/>
          </a:p>
          <a:p>
            <a:r>
              <a:t>Walk through: The fine-cell DEG result points strongly downward for nuclear-encoded OXPHOS genes. In direct broad-cell analysis, however, the ROSMAP excitatory-neuron score is weakly positive and not significant, while the SEA-AD excitatory-neuron score is significantly positive. The available SEA-AD fine-cell check is only one small astrocyte comparison and does not provide convincing support.</a:t>
            </a:r>
          </a:p>
          <a:p>
            <a:endParaRPr/>
          </a:p>
          <a:p>
            <a:r>
              <a:t>Scientific boundary: The disagreement does not invalidate the fine-cell observation, but it prevents describing the decrease as a broad-cell-wide or cross-cohort effect. Aggregation, subtype composition, and limited matched coverage remain plausible explanations.</a:t>
            </a:r>
          </a:p>
          <a:p>
            <a:endParaRPr/>
          </a:p>
          <a:p>
            <a:r>
              <a:t>Transition: Explain the biological importance and the resolution warning together.</a:t>
            </a:r>
          </a:p>
          <a:p>
            <a:endParaRPr/>
          </a:p>
          <a:p>
            <a:r>
              <a:t>Sources: docs/analysis/kda_w_human_validation/rosmap_sex_apoe_broad_kda_analysis.md, Finding 4 and validation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a nuclear-encoded OXPHOS decrease could matter biologically.</a:t>
            </a:r>
          </a:p>
          <a:p>
            <a:endParaRPr/>
          </a:p>
          <a:p>
            <a:r>
              <a:t>Walk through: Most respiratory-complex subunits are encoded by nuclear DNA. Lower expression across many of these genes could reduce the supply of complex components or reflect a stress-associated cell state. APOE ε4 makes the hypothesis important because it strongly increases late-onset Alzheimer’s disease risk at the population level.</a:t>
            </a:r>
          </a:p>
          <a:p>
            <a:endParaRPr/>
          </a:p>
          <a:p>
            <a:r>
              <a:t>Scientific boundary: Gene expression alone cannot establish lower respiratory capacity, and the broad-cell direction reverses. The most cautious interpretation is a fine-cell signal that warrants targeted follow-up.</a:t>
            </a:r>
          </a:p>
          <a:p>
            <a:endParaRPr/>
          </a:p>
          <a:p>
            <a:r>
              <a:t>Transition: Place the result in prior research and summarize its evidence level.</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4 in prior research without overstating replication.</a:t>
            </a:r>
          </a:p>
          <a:p>
            <a:endParaRPr/>
          </a:p>
          <a:p>
            <a:r>
              <a:t>Walk through: The cited APOE4 studies support the biological plausibility of altered mitochondrial homeostasis, and cell-resolved Alzheimer’s studies support strong heterogeneity among brain cell states. None reproduces the exact female APOE ε4 nuclear-encoded OXPHOS DEG pattern shown here.</a:t>
            </a:r>
          </a:p>
          <a:p>
            <a:endParaRPr/>
          </a:p>
          <a:p>
            <a:r>
              <a:t>Scientific boundary: Biological plausibility, novelty, and replication are separate judgments. The current finding remains resolution-sensitive and needs independent confirmation.</a:t>
            </a:r>
          </a:p>
          <a:p>
            <a:endParaRPr/>
          </a:p>
          <a:p>
            <a:r>
              <a:t>Transition: Move to the coordinated downward pattern in male APOE ε2 cells.</a:t>
            </a:r>
          </a:p>
          <a:p>
            <a:endParaRPr/>
          </a:p>
          <a:p>
            <a:r>
              <a:t>Sources: docs/analysis/kda_w_human_validation/rosmap_sex_apoe_broad_kda_analysis.md, Finding 4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5 as a coordinated male APOE ε2 DEG decrease.</a:t>
            </a:r>
          </a:p>
          <a:p>
            <a:endParaRPr/>
          </a:p>
          <a:p>
            <a:r>
              <a:t>Walk through: Unlike Finding 4, both defined OXPHOS gene sets move downward in male APOE ε2 fine-cell comparisons. Core MT genes are predominantly AD-down, and nuclear-encoded OXPHOS genes are also predominantly AD-down. The next slides quantify the repeated DEG occurrences and show why the unusually large MitoCarta MT DEG sets matter for interpreting later KDA output.</a:t>
            </a:r>
          </a:p>
          <a:p>
            <a:endParaRPr/>
          </a:p>
          <a:p>
            <a:r>
              <a:t>Scientific boundary: The result describes disease-associated gene expression in observed tissue. It does not imply that APOE ε2 causes the decrease or that lower expression explains APOE ε2 population-level protection.</a:t>
            </a:r>
          </a:p>
          <a:p>
            <a:endParaRPr/>
          </a:p>
          <a:p>
            <a:r>
              <a:t>Transition: State the coordinated direction and its contrast with male APOE ε3/ε3.</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male APOE ε2 decrease in plain language.</a:t>
            </a:r>
          </a:p>
          <a:p>
            <a:endParaRPr/>
          </a:p>
          <a:p>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a:endParaRPr/>
          </a:p>
          <a:p>
            <a:r>
              <a:t>Scientific boundary: APOE ε2 lowers average Alzheimer’s disease risk at the population level, but that does not predict every molecular state after disease develops. The observed expression pattern is descriptive rather than causal.</a:t>
            </a:r>
          </a:p>
          <a:p>
            <a:endParaRPr/>
          </a:p>
          <a:p>
            <a:r>
              <a:t>Transition: Show the exact DEG-occurrence percentages.</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male APOE ε2 DEG burden in both OXPHOS gene sets.</a:t>
            </a:r>
          </a:p>
          <a:p>
            <a:endParaRPr/>
          </a:p>
          <a:p>
            <a:r>
              <a:t>Walk through: Across eligible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a:endParaRPr/>
          </a:p>
          <a:p>
            <a:r>
              <a:t>Scientific boundary: The 523 value combines repeated gene-by-fine-cell occurrences from two defined gene sets. It is not a count of unique genes, donors, cells, or genes returned from KDA calls, and it does not measure expression magnitude or mitochondrial function.</a:t>
            </a:r>
          </a:p>
          <a:p>
            <a:endParaRPr/>
          </a:p>
          <a:p>
            <a:r>
              <a:t>Transition: Explain why the male APOE ε2 DEG sets are unusually large.</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DEG-set-size caveat for male APOE ε2.</a:t>
            </a:r>
          </a:p>
          <a:p>
            <a:endParaRPr/>
          </a:p>
          <a:p>
            <a:r>
              <a:t>Walk through: For each fine-cell comparison, DEGs are restricted to MitoCarta MT genes and to genes available in the relevant network before making the KDA call. The median male APOE ε2 set contains 85 such DEGs, compared with 16.5 across all eligible fine-cell comparisons. More input DEGs create more opportunities for a gene to be returned from a KDA call.</a:t>
            </a:r>
          </a:p>
          <a:p>
            <a:endParaRPr/>
          </a:p>
          <a:p>
            <a:r>
              <a:t>Scientific boundary: This size difference affects comparisons of KDA output counts. It does not change the observed AD-up versus AD-down DEG occurrence counts on the preceding slide. SEA-AD has no matching active male APOE ε2 category here.</a:t>
            </a:r>
          </a:p>
          <a:p>
            <a:endParaRPr/>
          </a:p>
          <a:p>
            <a:r>
              <a:t>Transition: Return to the biological meaning of the coordinated DEG direction.</a:t>
            </a:r>
          </a:p>
          <a:p>
            <a:endParaRPr/>
          </a:p>
          <a:p>
            <a:r>
              <a:t>Sources: docs/analysis/kda_w_human_validation/rosmap_sex_apoe_broad_kda_analysis.md, Finding 5 and KDA query-size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the male APOE ε2 DEG direction from inherited-risk interpretation and mitochondrial function.</a:t>
            </a:r>
          </a:p>
          <a:p>
            <a:endParaRPr/>
          </a:p>
          <a:p>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a:endParaRPr/>
          </a:p>
          <a:p>
            <a:r>
              <a:t>Scientific boundary: Lower gene expression does not by itself demonstrate lower respiratory-complex abundance, respiration, ATP production, or mitochondrial fitness. Protein and functional measurements are needed.</a:t>
            </a:r>
          </a:p>
          <a:p>
            <a:endParaRPr/>
          </a:p>
          <a:p>
            <a:r>
              <a:t>Transition: Place the result in prior research and summarize its evidence level.</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5 in prior research without overstating independent support.</a:t>
            </a:r>
          </a:p>
          <a:p>
            <a:endParaRPr/>
          </a:p>
          <a:p>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a:endParaRPr/>
          </a:p>
          <a:p>
            <a:r>
              <a:t>Scientific boundary: The finding is potentially novel but currently lacks a matched SEA-AD category and functional validation. Novelty and evidence strength should remain separate.</a:t>
            </a:r>
          </a:p>
          <a:p>
            <a:endParaRPr/>
          </a:p>
          <a:p>
            <a:r>
              <a:t>Transition: Move to Finding 6, where male APOE ε4 shows opposite directions across the two OXPHOS gene sets.</a:t>
            </a:r>
          </a:p>
          <a:p>
            <a:endParaRPr/>
          </a:p>
          <a:p>
            <a:r>
              <a:t>Sources: docs/analysis/kda_w_human_validation/rosmap_sex_apoe_broad_kda_analysis.md, Finding 5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function.</a:t>
            </a:r>
          </a:p>
          <a:p>
            <a:endParaRPr/>
          </a:p>
          <a:p>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7 may matter without overstating function.</a:t>
            </a:r>
          </a:p>
          <a:p>
            <a:endParaRPr/>
          </a:p>
          <a:p>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8 may matter without overstating function.</a:t>
            </a:r>
          </a:p>
          <a:p>
            <a:endParaRPr/>
          </a:p>
          <a:p>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9 may matter without overstating function.</a:t>
            </a:r>
          </a:p>
          <a:p>
            <a:endParaRPr/>
          </a:p>
          <a:p>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11 may matter without overstating function.</a:t>
            </a:r>
          </a:p>
          <a:p>
            <a:endParaRPr/>
          </a:p>
          <a:p>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12 may matter without overstating function.</a:t>
            </a:r>
          </a:p>
          <a:p>
            <a:endParaRPr/>
          </a:p>
          <a:p>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14 may matter without overstating function.</a:t>
            </a:r>
          </a:p>
          <a:p>
            <a:endParaRPr/>
          </a:p>
          <a:p>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15 may matter without overstating function.</a:t>
            </a:r>
          </a:p>
          <a:p>
            <a:endParaRPr/>
          </a:p>
          <a:p>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16 may matter without overstating function.</a:t>
            </a:r>
          </a:p>
          <a:p>
            <a:endParaRPr/>
          </a:p>
          <a:p>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17 may matter without overstating function.</a:t>
            </a:r>
          </a:p>
          <a:p>
            <a:endParaRPr/>
          </a:p>
          <a:p>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9/20/26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9/20/26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9/20/26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D92C61A9-D17A-4A5C-B4F6-F722B8289DF9}">
                <a16:creationId xmlns:a16="http://schemas.microsoft.com/office/drawing/2014/main" xmlns="" id="{6F07DFAB-35BE-479C-9DEF-5CEA7FC8F4F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a:ext uri="{2F7840D8-3D57-4DED-BD06-3F8FA78609D6}">
                <a16:creationId xmlns:a16="http://schemas.microsoft.com/office/drawing/2014/main" xmlns="" id="{CB0FABF6-EBA2-422B-ADF2-3900CE13C3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95F04923-0B92-4850-864A-EE0D0FB786E8}">
        <p14:creationId xmlns:p14="http://schemas.microsoft.com/office/powerpoint/2010/main" xmlns="" val="157244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workflow-background">
            <a:extLst>
              <a:ext uri="{FF2B5EF4-FFF2-40B4-BE49-F238E27FC236}">
                <a16:creationId xmlns:a16="http://schemas.microsoft.com/office/drawing/2014/main" id="{4E982020-69A2-4D13-A522-5B7F01820BE9}"/>
              </a:ext>
            </a:extLst>
          </p:cNvPr>
          <p:cNvSpPr>
            <a:spLocks noGrp="1"/>
          </p:cNvSpPr>
          <p:nvPr/>
        </p:nvSpPr>
        <p:spPr>
          <a:xfrm>
            <a:off x="0" y="0"/>
            <a:ext cx="12192000" cy="6858000"/>
          </a:xfrm>
          <a:prstGeom prst="rect">
            <a:avLst/>
          </a:prstGeom>
          <a:solidFill>
            <a:srgbClr val="0F233D"/>
          </a:solidFill>
          <a:ln w="0">
            <a:noFill/>
            <a:prstDash val="solid"/>
          </a:ln>
        </p:spPr>
        <p:txBody>
          <a:bodyPr/>
          <a:lstStyle/>
          <a:p>
            <a:endParaRPr lang="en-US"/>
          </a:p>
        </p:txBody>
      </p:sp>
      <p:sp>
        <p:nvSpPr>
          <p:cNvPr id="2" name="workflow-title">
            <a:extLst>
              <a:ext uri="{FF2B5EF4-FFF2-40B4-BE49-F238E27FC236}">
                <a16:creationId xmlns:a16="http://schemas.microsoft.com/office/drawing/2014/main" id="{79D2C27B-AC4C-4648-BA06-E6F507A7D4A1}"/>
              </a:ext>
            </a:extLst>
          </p:cNvPr>
          <p:cNvSpPr>
            <a:spLocks noGrp="1"/>
          </p:cNvSpPr>
          <p:nvPr/>
        </p:nvSpPr>
        <p:spPr>
          <a:xfrm>
            <a:off x="714375" y="1171575"/>
            <a:ext cx="8096250" cy="666750"/>
          </a:xfrm>
          <a:prstGeom prst="rect">
            <a:avLst/>
          </a:prstGeom>
          <a:noFill/>
          <a:ln w="0">
            <a:noFill/>
            <a:prstDash val="solid"/>
          </a:ln>
        </p:spPr>
        <p:txBody>
          <a:bodyPr wrap="square" lIns="0" tIns="0" rIns="0" bIns="0" anchor="ctr">
            <a:normAutofit/>
          </a:bodyPr>
          <a:lstStyle/>
          <a:p>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a:ext uri="{FF2B5EF4-FFF2-40B4-BE49-F238E27FC236}">
                <a16:creationId xmlns:a16="http://schemas.microsoft.com/office/drawing/2014/main" id="{3F172B43-0978-435C-9EBF-CBF5530D5FBD}"/>
              </a:ext>
            </a:extLst>
          </p:cNvPr>
          <p:cNvSpPr>
            <a:spLocks noGrp="1"/>
          </p:cNvSpPr>
          <p:nvPr/>
        </p:nvSpPr>
        <p:spPr>
          <a:xfrm>
            <a:off x="714375" y="609600"/>
            <a:ext cx="2190750" cy="228600"/>
          </a:xfrm>
          <a:prstGeom prst="rect">
            <a:avLst/>
          </a:prstGeom>
          <a:noFill/>
          <a:ln w="0">
            <a:noFill/>
            <a:prstDash val="solid"/>
          </a:ln>
        </p:spPr>
        <p:txBody>
          <a:bodyPr wrap="square" lIns="0" tIns="0" rIns="0" bIns="0" anchor="ctr">
            <a:normAutofit/>
          </a:bodyPr>
          <a:lstStyle/>
          <a:p>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a:ext uri="{FF2B5EF4-FFF2-40B4-BE49-F238E27FC236}">
                <a16:creationId xmlns:a16="http://schemas.microsoft.com/office/drawing/2014/main" id="{9E46C2DA-B029-4646-A9C3-AE3F21F2A92A}"/>
              </a:ext>
            </a:extLst>
          </p:cNvPr>
          <p:cNvSpPr>
            <a:spLocks noGrp="1"/>
          </p:cNvSpPr>
          <p:nvPr/>
        </p:nvSpPr>
        <p:spPr>
          <a:xfrm>
            <a:off x="723900" y="1971675"/>
            <a:ext cx="10668000" cy="400050"/>
          </a:xfrm>
          <a:prstGeom prst="rect">
            <a:avLst/>
          </a:prstGeom>
          <a:noFill/>
          <a:ln w="0">
            <a:noFill/>
            <a:prstDash val="solid"/>
          </a:ln>
        </p:spPr>
        <p:txBody>
          <a:bodyPr wrap="square" lIns="0" tIns="0" rIns="0" bIns="0" anchor="ctr">
            <a:normAutofit/>
          </a:bodyPr>
          <a:lstStyle/>
          <a:p>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a:ext uri="{FF2B5EF4-FFF2-40B4-BE49-F238E27FC236}">
                <a16:creationId xmlns:a16="http://schemas.microsoft.com/office/drawing/2014/main" id="{AEA5EE79-2054-447E-92B6-1F87DC91DDD6}"/>
              </a:ext>
            </a:extLst>
          </p:cNvPr>
          <p:cNvSpPr>
            <a:spLocks noGrp="1"/>
          </p:cNvSpPr>
          <p:nvPr/>
        </p:nvSpPr>
        <p:spPr>
          <a:xfrm>
            <a:off x="1390650" y="3238500"/>
            <a:ext cx="9391650" cy="0"/>
          </a:xfrm>
          <a:prstGeom prst="line">
            <a:avLst/>
          </a:prstGeom>
          <a:noFill/>
          <a:ln w="28575">
            <a:solidFill>
              <a:srgbClr val="58718B"/>
            </a:solidFill>
            <a:prstDash val="solid"/>
          </a:ln>
        </p:spPr>
        <p:txBody>
          <a:bodyPr/>
          <a:lstStyle/>
          <a:p>
            <a:endParaRPr lang="en-US"/>
          </a:p>
        </p:txBody>
      </p:sp>
      <p:sp>
        <p:nvSpPr>
          <p:cNvPr id="6" name="workflow-stage-1-node">
            <a:extLst>
              <a:ext uri="{FF2B5EF4-FFF2-40B4-BE49-F238E27FC236}">
                <a16:creationId xmlns:a16="http://schemas.microsoft.com/office/drawing/2014/main" id="{9DB64847-5BB9-4C6D-A7F6-8B634BE8F0D3}"/>
              </a:ext>
            </a:extLst>
          </p:cNvPr>
          <p:cNvSpPr>
            <a:spLocks noGrp="1"/>
          </p:cNvSpPr>
          <p:nvPr/>
        </p:nvSpPr>
        <p:spPr>
          <a:xfrm>
            <a:off x="1162050" y="3009900"/>
            <a:ext cx="457200" cy="457200"/>
          </a:xfrm>
          <a:prstGeom prst="ellipse">
            <a:avLst/>
          </a:prstGeom>
          <a:solidFill>
            <a:srgbClr val="0072B2"/>
          </a:solidFill>
          <a:ln w="0">
            <a:solidFill>
              <a:srgbClr val="0072B2"/>
            </a:solidFill>
            <a:prstDash val="solid"/>
          </a:ln>
        </p:spPr>
        <p:txBody>
          <a:bodyPr/>
          <a:lstStyle/>
          <a:p>
            <a:endParaRPr lang="en-US"/>
          </a:p>
        </p:txBody>
      </p:sp>
      <p:sp>
        <p:nvSpPr>
          <p:cNvPr id="7" name="workflow-stage-1-number">
            <a:extLst>
              <a:ext uri="{FF2B5EF4-FFF2-40B4-BE49-F238E27FC236}">
                <a16:creationId xmlns:a16="http://schemas.microsoft.com/office/drawing/2014/main" id="{815B3806-FAA3-4B16-819C-CE0CB7A81A72}"/>
              </a:ext>
            </a:extLst>
          </p:cNvPr>
          <p:cNvSpPr>
            <a:spLocks noGrp="1"/>
          </p:cNvSpPr>
          <p:nvPr/>
        </p:nvSpPr>
        <p:spPr>
          <a:xfrm>
            <a:off x="11620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a:ext uri="{FF2B5EF4-FFF2-40B4-BE49-F238E27FC236}">
                <a16:creationId xmlns:a16="http://schemas.microsoft.com/office/drawing/2014/main" id="{4463EC33-CFA4-42E0-807B-295C5D8F3105}"/>
              </a:ext>
            </a:extLst>
          </p:cNvPr>
          <p:cNvSpPr>
            <a:spLocks noGrp="1"/>
          </p:cNvSpPr>
          <p:nvPr/>
        </p:nvSpPr>
        <p:spPr>
          <a:xfrm>
            <a:off x="4000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a:ext uri="{FF2B5EF4-FFF2-40B4-BE49-F238E27FC236}">
                <a16:creationId xmlns:a16="http://schemas.microsoft.com/office/drawing/2014/main" id="{CB5F5E6D-68FD-4856-A349-3CCE27C3A6E8}"/>
              </a:ext>
            </a:extLst>
          </p:cNvPr>
          <p:cNvSpPr>
            <a:spLocks noGrp="1"/>
          </p:cNvSpPr>
          <p:nvPr/>
        </p:nvSpPr>
        <p:spPr>
          <a:xfrm>
            <a:off x="4000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a:ext uri="{FF2B5EF4-FFF2-40B4-BE49-F238E27FC236}">
                <a16:creationId xmlns:a16="http://schemas.microsoft.com/office/drawing/2014/main" id="{F16F3B85-5C33-4E33-88D5-2E7355371669}"/>
              </a:ext>
            </a:extLst>
          </p:cNvPr>
          <p:cNvSpPr>
            <a:spLocks noGrp="1"/>
          </p:cNvSpPr>
          <p:nvPr/>
        </p:nvSpPr>
        <p:spPr>
          <a:xfrm>
            <a:off x="3514725" y="3009900"/>
            <a:ext cx="457200" cy="457200"/>
          </a:xfrm>
          <a:prstGeom prst="ellipse">
            <a:avLst/>
          </a:prstGeom>
          <a:solidFill>
            <a:srgbClr val="56B4E9"/>
          </a:solidFill>
          <a:ln w="0">
            <a:solidFill>
              <a:srgbClr val="56B4E9"/>
            </a:solidFill>
            <a:prstDash val="solid"/>
          </a:ln>
        </p:spPr>
        <p:txBody>
          <a:bodyPr/>
          <a:lstStyle/>
          <a:p>
            <a:endParaRPr lang="en-US"/>
          </a:p>
        </p:txBody>
      </p:sp>
      <p:sp>
        <p:nvSpPr>
          <p:cNvPr id="11" name="workflow-stage-2-number">
            <a:extLst>
              <a:ext uri="{FF2B5EF4-FFF2-40B4-BE49-F238E27FC236}">
                <a16:creationId xmlns:a16="http://schemas.microsoft.com/office/drawing/2014/main" id="{00397213-9DE8-4AD8-818B-CCCAC5B96D96}"/>
              </a:ext>
            </a:extLst>
          </p:cNvPr>
          <p:cNvSpPr>
            <a:spLocks noGrp="1"/>
          </p:cNvSpPr>
          <p:nvPr/>
        </p:nvSpPr>
        <p:spPr>
          <a:xfrm>
            <a:off x="351472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a:ext uri="{FF2B5EF4-FFF2-40B4-BE49-F238E27FC236}">
                <a16:creationId xmlns:a16="http://schemas.microsoft.com/office/drawing/2014/main" id="{76F5D727-E5F3-4FD5-B247-35A32B305A1B}"/>
              </a:ext>
            </a:extLst>
          </p:cNvPr>
          <p:cNvSpPr>
            <a:spLocks noGrp="1"/>
          </p:cNvSpPr>
          <p:nvPr/>
        </p:nvSpPr>
        <p:spPr>
          <a:xfrm>
            <a:off x="275272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a:ext uri="{FF2B5EF4-FFF2-40B4-BE49-F238E27FC236}">
                <a16:creationId xmlns:a16="http://schemas.microsoft.com/office/drawing/2014/main" id="{6615FB9C-32AD-4F77-A1DA-4617FC13D52C}"/>
              </a:ext>
            </a:extLst>
          </p:cNvPr>
          <p:cNvSpPr>
            <a:spLocks noGrp="1"/>
          </p:cNvSpPr>
          <p:nvPr/>
        </p:nvSpPr>
        <p:spPr>
          <a:xfrm>
            <a:off x="275272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a:ext uri="{FF2B5EF4-FFF2-40B4-BE49-F238E27FC236}">
                <a16:creationId xmlns:a16="http://schemas.microsoft.com/office/drawing/2014/main" id="{1D4AC1EC-2380-42C7-AC84-315B6304331C}"/>
              </a:ext>
            </a:extLst>
          </p:cNvPr>
          <p:cNvSpPr>
            <a:spLocks noGrp="1"/>
          </p:cNvSpPr>
          <p:nvPr/>
        </p:nvSpPr>
        <p:spPr>
          <a:xfrm>
            <a:off x="5867400" y="3009900"/>
            <a:ext cx="457200" cy="457200"/>
          </a:xfrm>
          <a:prstGeom prst="ellipse">
            <a:avLst/>
          </a:prstGeom>
          <a:solidFill>
            <a:srgbClr val="009E73"/>
          </a:solidFill>
          <a:ln w="0">
            <a:solidFill>
              <a:srgbClr val="009E73"/>
            </a:solidFill>
            <a:prstDash val="solid"/>
          </a:ln>
        </p:spPr>
        <p:txBody>
          <a:bodyPr/>
          <a:lstStyle/>
          <a:p>
            <a:endParaRPr lang="en-US"/>
          </a:p>
        </p:txBody>
      </p:sp>
      <p:sp>
        <p:nvSpPr>
          <p:cNvPr id="15" name="workflow-stage-3-number">
            <a:extLst>
              <a:ext uri="{FF2B5EF4-FFF2-40B4-BE49-F238E27FC236}">
                <a16:creationId xmlns:a16="http://schemas.microsoft.com/office/drawing/2014/main" id="{C117132B-92DD-498B-97D2-AD13EFACC402}"/>
              </a:ext>
            </a:extLst>
          </p:cNvPr>
          <p:cNvSpPr>
            <a:spLocks noGrp="1"/>
          </p:cNvSpPr>
          <p:nvPr/>
        </p:nvSpPr>
        <p:spPr>
          <a:xfrm>
            <a:off x="586740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a:ext uri="{FF2B5EF4-FFF2-40B4-BE49-F238E27FC236}">
                <a16:creationId xmlns:a16="http://schemas.microsoft.com/office/drawing/2014/main" id="{4B9220B0-8715-4B6F-AB21-0BC6823A4BD8}"/>
              </a:ext>
            </a:extLst>
          </p:cNvPr>
          <p:cNvSpPr>
            <a:spLocks noGrp="1"/>
          </p:cNvSpPr>
          <p:nvPr/>
        </p:nvSpPr>
        <p:spPr>
          <a:xfrm>
            <a:off x="510540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a:ext uri="{FF2B5EF4-FFF2-40B4-BE49-F238E27FC236}">
                <a16:creationId xmlns:a16="http://schemas.microsoft.com/office/drawing/2014/main" id="{92CBF553-AE3C-4DC8-BF56-ABEFCFD3FC2B}"/>
              </a:ext>
            </a:extLst>
          </p:cNvPr>
          <p:cNvSpPr>
            <a:spLocks noGrp="1"/>
          </p:cNvSpPr>
          <p:nvPr/>
        </p:nvSpPr>
        <p:spPr>
          <a:xfrm>
            <a:off x="510540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a:ext uri="{FF2B5EF4-FFF2-40B4-BE49-F238E27FC236}">
                <a16:creationId xmlns:a16="http://schemas.microsoft.com/office/drawing/2014/main" id="{5F151541-FD72-4BBC-AA65-6864699C23D0}"/>
              </a:ext>
            </a:extLst>
          </p:cNvPr>
          <p:cNvSpPr>
            <a:spLocks noGrp="1"/>
          </p:cNvSpPr>
          <p:nvPr/>
        </p:nvSpPr>
        <p:spPr>
          <a:xfrm>
            <a:off x="8220075" y="3009900"/>
            <a:ext cx="457200" cy="457200"/>
          </a:xfrm>
          <a:prstGeom prst="ellipse">
            <a:avLst/>
          </a:prstGeom>
          <a:solidFill>
            <a:srgbClr val="E6A700"/>
          </a:solidFill>
          <a:ln w="0">
            <a:solidFill>
              <a:srgbClr val="E6A700"/>
            </a:solidFill>
            <a:prstDash val="solid"/>
          </a:ln>
        </p:spPr>
        <p:txBody>
          <a:bodyPr/>
          <a:lstStyle/>
          <a:p>
            <a:endParaRPr lang="en-US"/>
          </a:p>
        </p:txBody>
      </p:sp>
      <p:sp>
        <p:nvSpPr>
          <p:cNvPr id="19" name="workflow-stage-4-number">
            <a:extLst>
              <a:ext uri="{FF2B5EF4-FFF2-40B4-BE49-F238E27FC236}">
                <a16:creationId xmlns:a16="http://schemas.microsoft.com/office/drawing/2014/main" id="{A54289E8-6F16-4608-BAA7-95A65ED9954E}"/>
              </a:ext>
            </a:extLst>
          </p:cNvPr>
          <p:cNvSpPr>
            <a:spLocks noGrp="1"/>
          </p:cNvSpPr>
          <p:nvPr/>
        </p:nvSpPr>
        <p:spPr>
          <a:xfrm>
            <a:off x="822007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a:ext uri="{FF2B5EF4-FFF2-40B4-BE49-F238E27FC236}">
                <a16:creationId xmlns:a16="http://schemas.microsoft.com/office/drawing/2014/main" id="{EB1FFF63-45B8-49FB-B660-61BF7D5F1D52}"/>
              </a:ext>
            </a:extLst>
          </p:cNvPr>
          <p:cNvSpPr>
            <a:spLocks noGrp="1"/>
          </p:cNvSpPr>
          <p:nvPr/>
        </p:nvSpPr>
        <p:spPr>
          <a:xfrm>
            <a:off x="745807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a:ext uri="{FF2B5EF4-FFF2-40B4-BE49-F238E27FC236}">
                <a16:creationId xmlns:a16="http://schemas.microsoft.com/office/drawing/2014/main" id="{1480A0EA-6DCC-4F4C-9206-6C689CD9D62F}"/>
              </a:ext>
            </a:extLst>
          </p:cNvPr>
          <p:cNvSpPr>
            <a:spLocks noGrp="1"/>
          </p:cNvSpPr>
          <p:nvPr/>
        </p:nvSpPr>
        <p:spPr>
          <a:xfrm>
            <a:off x="745807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a:ext uri="{FF2B5EF4-FFF2-40B4-BE49-F238E27FC236}">
                <a16:creationId xmlns:a16="http://schemas.microsoft.com/office/drawing/2014/main" id="{5B4BB00C-AA79-4B1D-AD24-83933BEC7148}"/>
              </a:ext>
            </a:extLst>
          </p:cNvPr>
          <p:cNvSpPr>
            <a:spLocks noGrp="1"/>
          </p:cNvSpPr>
          <p:nvPr/>
        </p:nvSpPr>
        <p:spPr>
          <a:xfrm>
            <a:off x="10572750" y="3009900"/>
            <a:ext cx="457200" cy="457200"/>
          </a:xfrm>
          <a:prstGeom prst="ellipse">
            <a:avLst/>
          </a:prstGeom>
          <a:solidFill>
            <a:srgbClr val="193A5A"/>
          </a:solidFill>
          <a:ln w="23813">
            <a:solidFill>
              <a:srgbClr val="D55E00"/>
            </a:solidFill>
            <a:prstDash val="solid"/>
          </a:ln>
        </p:spPr>
        <p:txBody>
          <a:bodyPr/>
          <a:lstStyle/>
          <a:p>
            <a:endParaRPr lang="en-US"/>
          </a:p>
        </p:txBody>
      </p:sp>
      <p:sp>
        <p:nvSpPr>
          <p:cNvPr id="23" name="workflow-stage-5-number">
            <a:extLst>
              <a:ext uri="{FF2B5EF4-FFF2-40B4-BE49-F238E27FC236}">
                <a16:creationId xmlns:a16="http://schemas.microsoft.com/office/drawing/2014/main" id="{D8734508-6E75-4FA5-8434-C0CAB9FEB676}"/>
              </a:ext>
            </a:extLst>
          </p:cNvPr>
          <p:cNvSpPr>
            <a:spLocks noGrp="1"/>
          </p:cNvSpPr>
          <p:nvPr/>
        </p:nvSpPr>
        <p:spPr>
          <a:xfrm>
            <a:off x="105727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a:ext uri="{FF2B5EF4-FFF2-40B4-BE49-F238E27FC236}">
                <a16:creationId xmlns:a16="http://schemas.microsoft.com/office/drawing/2014/main" id="{778643AA-D9DB-45D3-88E1-093CD050669B}"/>
              </a:ext>
            </a:extLst>
          </p:cNvPr>
          <p:cNvSpPr>
            <a:spLocks noGrp="1"/>
          </p:cNvSpPr>
          <p:nvPr/>
        </p:nvSpPr>
        <p:spPr>
          <a:xfrm>
            <a:off x="9858375" y="2638425"/>
            <a:ext cx="1885950" cy="228600"/>
          </a:xfrm>
          <a:prstGeom prst="rect">
            <a:avLst/>
          </a:prstGeom>
          <a:noFill/>
          <a:ln w="0">
            <a:noFill/>
            <a:prstDash val="solid"/>
          </a:ln>
        </p:spPr>
        <p:txBody>
          <a:bodyPr wrap="square" lIns="0" tIns="0" rIns="0" bIns="0" anchor="ctr">
            <a:normAutofit/>
          </a:bodyPr>
          <a:lstStyle/>
          <a:p>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a:ext uri="{FF2B5EF4-FFF2-40B4-BE49-F238E27FC236}">
                <a16:creationId xmlns:a16="http://schemas.microsoft.com/office/drawing/2014/main" id="{72CF0FFE-4DB9-42E9-8243-5801C149430C}"/>
              </a:ext>
            </a:extLst>
          </p:cNvPr>
          <p:cNvSpPr>
            <a:spLocks noGrp="1"/>
          </p:cNvSpPr>
          <p:nvPr/>
        </p:nvSpPr>
        <p:spPr>
          <a:xfrm>
            <a:off x="98107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a:ext uri="{FF2B5EF4-FFF2-40B4-BE49-F238E27FC236}">
                <a16:creationId xmlns:a16="http://schemas.microsoft.com/office/drawing/2014/main" id="{3747D9DF-397F-4B55-9F31-0DFC283F1C04}"/>
              </a:ext>
            </a:extLst>
          </p:cNvPr>
          <p:cNvSpPr>
            <a:spLocks noGrp="1"/>
          </p:cNvSpPr>
          <p:nvPr/>
        </p:nvSpPr>
        <p:spPr>
          <a:xfrm>
            <a:off x="98107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a16="http://schemas.microsoft.com/office/drawing/2014/main" xmlns=""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a16="http://schemas.microsoft.com/office/drawing/2014/main" xmlns=""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a16="http://schemas.microsoft.com/office/drawing/2014/main" xmlns=""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a16="http://schemas.microsoft.com/office/drawing/2014/main" xmlns=""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a16="http://schemas.microsoft.com/office/drawing/2014/main" xmlns=""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a16="http://schemas.microsoft.com/office/drawing/2014/main" xmlns=""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a16="http://schemas.microsoft.com/office/drawing/2014/main" xmlns=""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a16="http://schemas.microsoft.com/office/drawing/2014/main" xmlns=""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a16="http://schemas.microsoft.com/office/drawing/2014/main" xmlns=""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a16="http://schemas.microsoft.com/office/drawing/2014/main" xmlns=""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a16="http://schemas.microsoft.com/office/drawing/2014/main" xmlns=""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a16="http://schemas.microsoft.com/office/drawing/2014/main" xmlns=""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a16="http://schemas.microsoft.com/office/drawing/2014/main" xmlns=""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a16="http://schemas.microsoft.com/office/drawing/2014/main" xmlns=""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a16="http://schemas.microsoft.com/office/drawing/2014/main" xmlns=""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a16="http://schemas.microsoft.com/office/drawing/2014/main" xmlns=""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a16="http://schemas.microsoft.com/office/drawing/2014/main" xmlns=""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a16="http://schemas.microsoft.com/office/drawing/2014/main" xmlns=""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a16="http://schemas.microsoft.com/office/drawing/2014/main" xmlns=""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a16="http://schemas.microsoft.com/office/drawing/2014/main" xmlns=""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a16="http://schemas.microsoft.com/office/drawing/2014/main" xmlns=""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a16="http://schemas.microsoft.com/office/drawing/2014/main" xmlns=""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a16="http://schemas.microsoft.com/office/drawing/2014/main" xmlns=""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a16="http://schemas.microsoft.com/office/drawing/2014/main" xmlns=""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a16="http://schemas.microsoft.com/office/drawing/2014/main" xmlns=""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a16="http://schemas.microsoft.com/office/drawing/2014/main" xmlns=""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a16="http://schemas.microsoft.com/office/drawing/2014/main" xmlns=""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a16="http://schemas.microsoft.com/office/drawing/2014/main" xmlns=""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p14="http://schemas.microsoft.com/office/powerpoint/2010/main" xmlns="" val="91280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2689102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2456595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DEG and DEG occurrence</a:t>
            </a:r>
          </a:p>
        </p:txBody>
      </p:sp>
      <p:sp>
        <p:nvSpPr>
          <p:cNvPr id="4" name="Gene box"/>
          <p:cNvSpPr>
            <a:spLocks noGrp="1"/>
          </p:cNvSpPr>
          <p:nvPr/>
        </p:nvSpPr>
        <p:spPr>
          <a:xfrm>
            <a:off x="760000" y="2416112"/>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72B2"/>
                </a:solidFill>
                <a:latin typeface="Arial"/>
                <a:ea typeface="Arial"/>
                <a:cs typeface="Arial"/>
              </a:rPr>
              <a:t>1</a:t>
            </a:r>
          </a:p>
          <a:p>
            <a:pPr algn="ctr">
              <a:lnSpc>
                <a:spcPct val="100000"/>
              </a:lnSpc>
              <a:spcBef>
                <a:spcPts val="0"/>
              </a:spcBef>
              <a:spcAft>
                <a:spcPts val="0"/>
              </a:spcAft>
              <a:buNone/>
            </a:pPr>
            <a:r>
              <a:rPr sz="1900" b="1" i="0">
                <a:solidFill>
                  <a:srgbClr val="0072B2"/>
                </a:solidFill>
                <a:latin typeface="Arial"/>
                <a:ea typeface="Arial"/>
                <a:cs typeface="Arial"/>
              </a:rPr>
              <a:t>DEG</a:t>
            </a:r>
          </a:p>
        </p:txBody>
      </p:sp>
      <p:sp>
        <p:nvSpPr>
          <p:cNvPr id="5" name="Times"/>
          <p:cNvSpPr>
            <a:spLocks noGrp="1"/>
          </p:cNvSpPr>
          <p:nvPr/>
        </p:nvSpPr>
        <p:spPr>
          <a:xfrm>
            <a:off x="370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2416112"/>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684D"/>
                </a:solidFill>
                <a:latin typeface="Arial"/>
                <a:ea typeface="Arial"/>
                <a:cs typeface="Arial"/>
              </a:rPr>
              <a:t>1</a:t>
            </a:r>
          </a:p>
          <a:p>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2416112"/>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ts val="0"/>
              </a:spcBef>
              <a:spcAft>
                <a:spcPts val="0"/>
              </a:spcAft>
              <a:buNone/>
            </a:pPr>
            <a:r>
              <a:rPr sz="1900" b="1" i="0" dirty="0">
                <a:solidFill>
                  <a:srgbClr val="9E3A00"/>
                </a:solidFill>
                <a:latin typeface="Arial"/>
                <a:ea typeface="Arial"/>
                <a:cs typeface="Arial"/>
              </a:rPr>
              <a:t>1</a:t>
            </a:r>
          </a:p>
          <a:p>
            <a:pPr algn="ctr">
              <a:lnSpc>
                <a:spcPct val="100000"/>
              </a:lnSpc>
              <a:spcBef>
                <a:spcPts val="0"/>
              </a:spcBef>
              <a:spcAft>
                <a:spcPts val="0"/>
              </a:spcAft>
              <a:buNone/>
            </a:pPr>
            <a:r>
              <a:rPr sz="1900" b="1" i="0" dirty="0">
                <a:solidFill>
                  <a:srgbClr val="9E3A00"/>
                </a:solidFill>
                <a:latin typeface="Arial"/>
                <a:ea typeface="Arial"/>
                <a:cs typeface="Arial"/>
              </a:rPr>
              <a:t>DEG OCCURRENCE</a:t>
            </a:r>
          </a:p>
        </p:txBody>
      </p:sp>
      <p:sp>
        <p:nvSpPr>
          <p:cNvPr id="9" name="Repeated evidence"/>
          <p:cNvSpPr>
            <a:spLocks noGrp="1"/>
          </p:cNvSpPr>
          <p:nvPr/>
        </p:nvSpPr>
        <p:spPr>
          <a:xfrm>
            <a:off x="950000" y="3894944"/>
            <a:ext cx="10200000" cy="520000"/>
          </a:xfrm>
          <a:prstGeom prst="rect">
            <a:avLst/>
          </a:prstGeom>
          <a:noFill/>
          <a:ln>
            <a:noFill/>
          </a:ln>
        </p:spPr>
        <p:txBody>
          <a:bodyPr wrap="square" lIns="50000" tIns="50000" rIns="50000" bIns="50000" anchor="ctr">
            <a:spAutoFit/>
          </a:bodyPr>
          <a:lstStyle/>
          <a:p>
            <a:pPr algn="ctr">
              <a:lnSpc>
                <a:spcPct val="100000"/>
              </a:lnSpc>
              <a:spcBef>
                <a:spcPts val="0"/>
              </a:spcBef>
              <a:spcAft>
                <a:spcPts val="0"/>
              </a:spcAft>
              <a:buNone/>
            </a:pPr>
            <a:r>
              <a:rPr sz="1500" b="1" i="0" dirty="0">
                <a:solidFill>
                  <a:srgbClr val="0F233D"/>
                </a:solidFill>
                <a:latin typeface="Arial"/>
                <a:ea typeface="Arial"/>
                <a:cs typeface="Arial"/>
              </a:rPr>
              <a:t>The same gene contributes another occurrence when it is a DEG in another fine-cell contrast.</a:t>
            </a:r>
          </a:p>
        </p:txBody>
      </p:sp>
      <p:sp>
        <p:nvSpPr>
          <p:cNvPr id="10" name="Example box"/>
          <p:cNvSpPr>
            <a:spLocks noGrp="1"/>
          </p:cNvSpPr>
          <p:nvPr/>
        </p:nvSpPr>
        <p:spPr>
          <a:xfrm>
            <a:off x="1370000" y="4636072"/>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ts val="0"/>
              </a:spcBef>
              <a:spcAft>
                <a:spcPts val="0"/>
              </a:spcAft>
              <a:buNone/>
            </a:pPr>
            <a:r>
              <a:rPr sz="1550" b="1" i="0" dirty="0">
                <a:solidFill>
                  <a:srgbClr val="00684D"/>
                </a:solidFill>
                <a:latin typeface="Arial"/>
                <a:ea typeface="Arial"/>
                <a:cs typeface="Arial"/>
              </a:rPr>
              <a:t>Example: Gene A is a DEG in three fine-cell contrasts</a:t>
            </a:r>
          </a:p>
          <a:p>
            <a:pPr algn="ctr">
              <a:lnSpc>
                <a:spcPct val="100000"/>
              </a:lnSpc>
              <a:spcBef>
                <a:spcPts val="0"/>
              </a:spcBef>
              <a:spcAft>
                <a:spcPts val="0"/>
              </a:spcAft>
              <a:buNone/>
            </a:pPr>
            <a:endParaRPr sz="1550" b="1" i="0" dirty="0">
              <a:solidFill>
                <a:srgbClr val="00684D"/>
              </a:solidFill>
              <a:latin typeface="Arial"/>
              <a:ea typeface="Arial"/>
              <a:cs typeface="Arial"/>
            </a:endParaRPr>
          </a:p>
          <a:p>
            <a:pPr algn="ctr">
              <a:lnSpc>
                <a:spcPct val="100000"/>
              </a:lnSpc>
              <a:spcBef>
                <a:spcPts val="0"/>
              </a:spcBef>
              <a:spcAft>
                <a:spcPts val="0"/>
              </a:spcAft>
              <a:buNone/>
            </a:pPr>
            <a:r>
              <a:rPr sz="1550" b="1" i="0" dirty="0">
                <a:solidFill>
                  <a:srgbClr val="00684D"/>
                </a:solidFill>
                <a:latin typeface="Arial"/>
                <a:ea typeface="Arial"/>
                <a:cs typeface="Arial"/>
              </a:rPr>
              <a:t>3 DEG occurrences     1 unique gene</a:t>
            </a:r>
          </a:p>
        </p:txBody>
      </p:sp>
      <p:sp>
        <p:nvSpPr>
          <p:cNvPr id="11" name="Interpretation"/>
          <p:cNvSpPr>
            <a:spLocks noGrp="1"/>
          </p:cNvSpPr>
          <p:nvPr/>
        </p:nvSpPr>
        <p:spPr>
          <a:xfrm>
            <a:off x="1370000" y="6327295"/>
            <a:ext cx="9450000" cy="350082"/>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ts val="0"/>
              </a:spcBef>
              <a:spcAft>
                <a:spcPts val="0"/>
              </a:spcAft>
              <a:buNone/>
            </a:pPr>
            <a:r>
              <a:rPr sz="1400" b="1" i="0" dirty="0">
                <a:latin typeface="Arial"/>
                <a:ea typeface="Arial"/>
                <a:cs typeface="Arial"/>
              </a:rPr>
              <a:t>Occurrence counts repeat DEGs across contrasts. Unique-gene counts count each gene once.</a:t>
            </a:r>
          </a:p>
        </p:txBody>
      </p:sp>
      <p:sp>
        <p:nvSpPr>
          <p:cNvPr id="12" name="Example box">
            <a:extLst>
              <a:ext uri="{FF2B5EF4-FFF2-40B4-BE49-F238E27FC236}">
                <a16:creationId xmlns:a16="http://schemas.microsoft.com/office/drawing/2014/main" id="{98A82523-6157-948B-7B62-74813E73F3E9}"/>
              </a:ext>
            </a:extLst>
          </p:cNvPr>
          <p:cNvSpPr>
            <a:spLocks noGrp="1"/>
          </p:cNvSpPr>
          <p:nvPr/>
        </p:nvSpPr>
        <p:spPr>
          <a:xfrm>
            <a:off x="760000" y="1111869"/>
            <a:ext cx="10640000" cy="981069"/>
          </a:xfrm>
          <a:prstGeom prst="roundRect">
            <a:avLst/>
          </a:prstGeom>
          <a:solidFill>
            <a:schemeClr val="accent1">
              <a:lumMod val="20000"/>
              <a:lumOff val="80000"/>
            </a:schemeClr>
          </a:solidFill>
          <a:ln w="12700">
            <a:solidFill>
              <a:srgbClr val="C9DDD7"/>
            </a:solidFill>
          </a:ln>
        </p:spPr>
        <p:txBody>
          <a:bodyPr wrap="square" lIns="180000" tIns="180000" rIns="180000" bIns="180000" anchor="ctr">
            <a:spAutoFit/>
          </a:bodyPr>
          <a:lstStyle/>
          <a:p>
            <a:r>
              <a:rPr lang="en-US" sz="1600" dirty="0">
                <a:solidFill>
                  <a:srgbClr val="4E5A68"/>
                </a:solidFill>
                <a:latin typeface="Arial"/>
                <a:ea typeface="Arial"/>
                <a:cs typeface="Arial"/>
              </a:rPr>
              <a:t>A gene is a </a:t>
            </a:r>
            <a:r>
              <a:rPr lang="en-US" sz="1600" b="1" dirty="0">
                <a:solidFill>
                  <a:srgbClr val="FF0000"/>
                </a:solidFill>
                <a:latin typeface="Arial"/>
                <a:ea typeface="Arial"/>
                <a:cs typeface="Arial"/>
              </a:rPr>
              <a:t>DEG</a:t>
            </a:r>
            <a:r>
              <a:rPr lang="en-US" sz="1600" dirty="0">
                <a:solidFill>
                  <a:srgbClr val="4E5A68"/>
                </a:solidFill>
                <a:latin typeface="Arial"/>
                <a:ea typeface="Arial"/>
                <a:cs typeface="Arial"/>
              </a:rPr>
              <a:t> within one fine-cell contrast when it meets both criteria:</a:t>
            </a:r>
          </a:p>
          <a:p>
            <a:r>
              <a:rPr lang="en-US" sz="1600" dirty="0">
                <a:solidFill>
                  <a:srgbClr val="0072B2"/>
                </a:solidFill>
                <a:latin typeface="Arial"/>
                <a:ea typeface="Arial"/>
                <a:cs typeface="Arial"/>
              </a:rPr>
              <a:t>BH-adjusted P &lt; 0.05 and |log₂ fold change| &gt; log₂(1.3) (≈ 0.38).</a:t>
            </a:r>
          </a:p>
        </p:txBody>
      </p:sp>
    </p:spTree>
    <p:extLst>
      <p:ext uri="{BB962C8B-B14F-4D97-AF65-F5344CB8AC3E}">
        <p14:creationId xmlns:p14="http://schemas.microsoft.com/office/powerpoint/2010/main" val="84783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157244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DEG occurrence from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definition-title"/>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Significant pathway result</a:t>
            </a:r>
          </a:p>
        </p:txBody>
      </p:sp>
      <p:sp>
        <p:nvSpPr>
          <p:cNvPr id="3" name="definition-subtitle"/>
          <p:cNvSpPr>
            <a:spLocks noGrp="1"/>
          </p:cNvSpPr>
          <p:nvPr/>
        </p:nvSpPr>
        <p:spPr>
          <a:xfrm>
            <a:off x="548640" y="886968"/>
            <a:ext cx="10561320" cy="230832"/>
          </a:xfrm>
          <a:prstGeom prst="rect">
            <a:avLst/>
          </a:prstGeom>
          <a:noFill/>
        </p:spPr>
        <p:txBody>
          <a:bodyPr wrap="square" lIns="0" tIns="0" rIns="0" bIns="0" anchor="t">
            <a:spAutoFit/>
          </a:bodyPr>
          <a:lstStyle/>
          <a:p>
            <a:pPr algn="l">
              <a:lnSpc>
                <a:spcPct val="100000"/>
              </a:lnSpc>
              <a:spcBef>
                <a:spcPts val="0"/>
              </a:spcBef>
              <a:spcAft>
                <a:spcPts val="0"/>
              </a:spcAft>
              <a:buNone/>
            </a:pPr>
            <a:r>
              <a:rPr sz="1500" b="0" i="0" dirty="0">
                <a:solidFill>
                  <a:srgbClr val="4E5A68"/>
                </a:solidFill>
                <a:latin typeface="Arial"/>
                <a:ea typeface="Arial"/>
                <a:cs typeface="Arial"/>
              </a:rPr>
              <a:t>One result tests </a:t>
            </a:r>
            <a:r>
              <a:rPr sz="1500" b="1" i="0" dirty="0">
                <a:solidFill>
                  <a:srgbClr val="FF0000"/>
                </a:solidFill>
                <a:latin typeface="Arial"/>
                <a:ea typeface="Arial"/>
                <a:cs typeface="Arial"/>
              </a:rPr>
              <a:t>one</a:t>
            </a:r>
            <a:r>
              <a:rPr sz="1500" b="0" i="0" dirty="0">
                <a:solidFill>
                  <a:srgbClr val="FF0000"/>
                </a:solidFill>
                <a:latin typeface="Arial"/>
                <a:ea typeface="Arial"/>
                <a:cs typeface="Arial"/>
              </a:rPr>
              <a:t> </a:t>
            </a:r>
            <a:r>
              <a:rPr sz="1500" b="1" i="0" dirty="0">
                <a:solidFill>
                  <a:srgbClr val="FF0000"/>
                </a:solidFill>
                <a:latin typeface="Arial"/>
                <a:ea typeface="Arial"/>
                <a:cs typeface="Arial"/>
              </a:rPr>
              <a:t>pathway</a:t>
            </a:r>
            <a:r>
              <a:rPr sz="1500" b="0" i="0" dirty="0">
                <a:solidFill>
                  <a:srgbClr val="FF0000"/>
                </a:solidFill>
                <a:latin typeface="Arial"/>
                <a:ea typeface="Arial"/>
                <a:cs typeface="Arial"/>
              </a:rPr>
              <a:t> </a:t>
            </a:r>
            <a:r>
              <a:rPr sz="1500" b="0" i="0" dirty="0">
                <a:solidFill>
                  <a:srgbClr val="4E5A68"/>
                </a:solidFill>
                <a:latin typeface="Arial"/>
                <a:ea typeface="Arial"/>
                <a:cs typeface="Arial"/>
              </a:rPr>
              <a:t>in one DEG list from one fine-cell sex/APOE </a:t>
            </a:r>
            <a:r>
              <a:rPr sz="1500" b="1" i="0" dirty="0">
                <a:solidFill>
                  <a:srgbClr val="FF0000"/>
                </a:solidFill>
                <a:latin typeface="Arial"/>
                <a:ea typeface="Arial"/>
                <a:cs typeface="Arial"/>
              </a:rPr>
              <a:t>contrast</a:t>
            </a:r>
            <a:r>
              <a:rPr sz="1500" b="0" i="0" dirty="0">
                <a:solidFill>
                  <a:srgbClr val="4E5A68"/>
                </a:solidFill>
                <a:latin typeface="Arial"/>
                <a:ea typeface="Arial"/>
                <a:cs typeface="Arial"/>
              </a:rPr>
              <a:t>.</a:t>
            </a:r>
          </a:p>
        </p:txBody>
      </p:sp>
      <p:sp>
        <p:nvSpPr>
          <p:cNvPr id="4" name="unit-of-analysis-panel"/>
          <p:cNvSpPr>
            <a:spLocks noGrp="1"/>
          </p:cNvSpPr>
          <p:nvPr/>
        </p:nvSpPr>
        <p:spPr>
          <a:xfrm>
            <a:off x="658368" y="1371600"/>
            <a:ext cx="4663440" cy="1837944"/>
          </a:xfrm>
          <a:prstGeom prst="roundRect">
            <a:avLst/>
          </a:prstGeom>
          <a:solidFill>
            <a:srgbClr val="EBF7FC"/>
          </a:solidFill>
          <a:ln w="12700">
            <a:solidFill>
              <a:srgbClr val="D8EAF2"/>
            </a:solidFill>
          </a:ln>
        </p:spPr>
        <p:txBody>
          <a:bodyPr anchor="ctr"/>
          <a:lstStyle/>
          <a:p>
            <a:pPr algn="ctr">
              <a:buNone/>
            </a:pPr>
            <a:endParaRPr/>
          </a:p>
        </p:txBody>
      </p:sp>
      <p:sp>
        <p:nvSpPr>
          <p:cNvPr id="5" name="unit-of-analysis-label"/>
          <p:cNvSpPr>
            <a:spLocks noGrp="1"/>
          </p:cNvSpPr>
          <p:nvPr/>
        </p:nvSpPr>
        <p:spPr>
          <a:xfrm>
            <a:off x="914400" y="1584960"/>
            <a:ext cx="3840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72B2"/>
                </a:solidFill>
                <a:latin typeface="Arial"/>
                <a:ea typeface="Arial"/>
                <a:cs typeface="Arial"/>
              </a:rPr>
              <a:t>ONE RESULT</a:t>
            </a:r>
          </a:p>
        </p:txBody>
      </p:sp>
      <p:sp>
        <p:nvSpPr>
          <p:cNvPr id="6" name="unit-of-analysis-main"/>
          <p:cNvSpPr>
            <a:spLocks noGrp="1"/>
          </p:cNvSpPr>
          <p:nvPr/>
        </p:nvSpPr>
        <p:spPr>
          <a:xfrm>
            <a:off x="914400" y="1950720"/>
            <a:ext cx="3840480" cy="612648"/>
          </a:xfrm>
          <a:prstGeom prst="rect">
            <a:avLst/>
          </a:prstGeom>
          <a:noFill/>
        </p:spPr>
        <p:txBody>
          <a:bodyPr wrap="square" lIns="0" tIns="0" rIns="0" bIns="0" anchor="t">
            <a:spAutoFit/>
          </a:bodyPr>
          <a:lstStyle/>
          <a:p>
            <a:pPr algn="l">
              <a:lnSpc>
                <a:spcPct val="100000"/>
              </a:lnSpc>
              <a:spcBef>
                <a:spcPts val="0"/>
              </a:spcBef>
              <a:spcAft>
                <a:spcPts val="0"/>
              </a:spcAft>
              <a:buNone/>
            </a:pPr>
            <a:r>
              <a:rPr sz="1775" b="1" i="0">
                <a:solidFill>
                  <a:srgbClr val="0F233D"/>
                </a:solidFill>
                <a:latin typeface="Arial"/>
                <a:ea typeface="Arial"/>
                <a:cs typeface="Arial"/>
              </a:rPr>
              <a:t>One pathway</a:t>
            </a:r>
          </a:p>
          <a:p>
            <a:pPr algn="l">
              <a:lnSpc>
                <a:spcPct val="100000"/>
              </a:lnSpc>
              <a:spcBef>
                <a:spcPts val="0"/>
              </a:spcBef>
              <a:spcAft>
                <a:spcPts val="0"/>
              </a:spcAft>
              <a:buNone/>
            </a:pPr>
            <a:r>
              <a:rPr sz="1775" b="1" i="0">
                <a:solidFill>
                  <a:srgbClr val="0F233D"/>
                </a:solidFill>
                <a:latin typeface="Arial"/>
                <a:ea typeface="Arial"/>
                <a:cs typeface="Arial"/>
              </a:rPr>
              <a:t>One DEG list</a:t>
            </a:r>
          </a:p>
          <a:p>
            <a:pPr algn="l">
              <a:lnSpc>
                <a:spcPct val="100000"/>
              </a:lnSpc>
              <a:spcBef>
                <a:spcPts val="0"/>
              </a:spcBef>
              <a:spcAft>
                <a:spcPts val="0"/>
              </a:spcAft>
              <a:buNone/>
            </a:pPr>
            <a:r>
              <a:rPr sz="1775" b="1" i="0">
                <a:solidFill>
                  <a:srgbClr val="0F233D"/>
                </a:solidFill>
                <a:latin typeface="Arial"/>
                <a:ea typeface="Arial"/>
                <a:cs typeface="Arial"/>
              </a:rPr>
              <a:t>One fine-cell sex/APOE contrast</a:t>
            </a:r>
          </a:p>
        </p:txBody>
      </p:sp>
      <p:sp>
        <p:nvSpPr>
          <p:cNvPr id="7" name="unit-of-analysis-detail"/>
          <p:cNvSpPr>
            <a:spLocks noGrp="1"/>
          </p:cNvSpPr>
          <p:nvPr/>
        </p:nvSpPr>
        <p:spPr>
          <a:xfrm>
            <a:off x="914400" y="2731008"/>
            <a:ext cx="38404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DEG lists: all mitochondrial DEGs, upregulated in AD, or downregulated in AD</a:t>
            </a:r>
          </a:p>
        </p:txBody>
      </p:sp>
      <p:sp>
        <p:nvSpPr>
          <p:cNvPr id="8" name="test-counts-panel"/>
          <p:cNvSpPr>
            <a:spLocks noGrp="1"/>
          </p:cNvSpPr>
          <p:nvPr/>
        </p:nvSpPr>
        <p:spPr>
          <a:xfrm>
            <a:off x="5471160" y="1371600"/>
            <a:ext cx="6065520" cy="1837944"/>
          </a:xfrm>
          <a:prstGeom prst="roundRect">
            <a:avLst/>
          </a:prstGeom>
          <a:solidFill>
            <a:srgbClr val="FFFFFF"/>
          </a:solidFill>
          <a:ln w="12700">
            <a:solidFill>
              <a:srgbClr val="E0E7EF"/>
            </a:solidFill>
          </a:ln>
        </p:spPr>
        <p:txBody>
          <a:bodyPr anchor="ctr"/>
          <a:lstStyle/>
          <a:p>
            <a:pPr algn="ctr">
              <a:buNone/>
            </a:pPr>
            <a:endParaRPr/>
          </a:p>
        </p:txBody>
      </p:sp>
      <p:sp>
        <p:nvSpPr>
          <p:cNvPr id="9" name="test-counts-label"/>
          <p:cNvSpPr>
            <a:spLocks noGrp="1"/>
          </p:cNvSpPr>
          <p:nvPr/>
        </p:nvSpPr>
        <p:spPr>
          <a:xfrm>
            <a:off x="5760720" y="1584960"/>
            <a:ext cx="5364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COUNTS USED BY THE TEST</a:t>
            </a:r>
          </a:p>
        </p:txBody>
      </p:sp>
      <p:sp>
        <p:nvSpPr>
          <p:cNvPr id="10" name="count-N"/>
          <p:cNvSpPr>
            <a:spLocks noGrp="1"/>
          </p:cNvSpPr>
          <p:nvPr/>
        </p:nvSpPr>
        <p:spPr>
          <a:xfrm>
            <a:off x="5760720" y="19415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N</a:t>
            </a:r>
            <a:r>
              <a:rPr sz="1100" b="0" i="0">
                <a:solidFill>
                  <a:srgbClr val="1F2730"/>
                </a:solidFill>
                <a:latin typeface="Arial"/>
                <a:ea typeface="Arial"/>
                <a:cs typeface="Arial"/>
              </a:rPr>
              <a:t>  Detectable MitoCarta MT genes in the contrast</a:t>
            </a:r>
          </a:p>
        </p:txBody>
      </p:sp>
      <p:sp>
        <p:nvSpPr>
          <p:cNvPr id="11" name="count-M"/>
          <p:cNvSpPr>
            <a:spLocks noGrp="1"/>
          </p:cNvSpPr>
          <p:nvPr/>
        </p:nvSpPr>
        <p:spPr>
          <a:xfrm>
            <a:off x="8488680" y="19415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M</a:t>
            </a:r>
            <a:r>
              <a:rPr sz="1100" b="0" i="0">
                <a:solidFill>
                  <a:srgbClr val="1F2730"/>
                </a:solidFill>
                <a:latin typeface="Arial"/>
                <a:ea typeface="Arial"/>
                <a:cs typeface="Arial"/>
              </a:rPr>
              <a:t>  Genes in N that belong to the pathway</a:t>
            </a:r>
          </a:p>
        </p:txBody>
      </p:sp>
      <p:sp>
        <p:nvSpPr>
          <p:cNvPr id="12" name="count-n"/>
          <p:cNvSpPr>
            <a:spLocks noGrp="1"/>
          </p:cNvSpPr>
          <p:nvPr/>
        </p:nvSpPr>
        <p:spPr>
          <a:xfrm>
            <a:off x="5760720" y="25511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n</a:t>
            </a:r>
            <a:r>
              <a:rPr sz="1100" b="0" i="0">
                <a:solidFill>
                  <a:srgbClr val="1F2730"/>
                </a:solidFill>
                <a:latin typeface="Arial"/>
                <a:ea typeface="Arial"/>
                <a:cs typeface="Arial"/>
              </a:rPr>
              <a:t>  DEGs in the selected list</a:t>
            </a:r>
          </a:p>
        </p:txBody>
      </p:sp>
      <p:sp>
        <p:nvSpPr>
          <p:cNvPr id="13" name="count-k"/>
          <p:cNvSpPr>
            <a:spLocks noGrp="1"/>
          </p:cNvSpPr>
          <p:nvPr/>
        </p:nvSpPr>
        <p:spPr>
          <a:xfrm>
            <a:off x="8488680" y="25511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k</a:t>
            </a:r>
            <a:r>
              <a:rPr sz="1100" b="0" i="0">
                <a:solidFill>
                  <a:srgbClr val="1F2730"/>
                </a:solidFill>
                <a:latin typeface="Arial"/>
                <a:ea typeface="Arial"/>
                <a:cs typeface="Arial"/>
              </a:rPr>
              <a:t>  Genes in n that belong to the pathway</a:t>
            </a:r>
          </a:p>
        </p:txBody>
      </p:sp>
      <p:sp>
        <p:nvSpPr>
          <p:cNvPr id="14" name="hypergeometric-panel"/>
          <p:cNvSpPr>
            <a:spLocks noGrp="1"/>
          </p:cNvSpPr>
          <p:nvPr/>
        </p:nvSpPr>
        <p:spPr>
          <a:xfrm>
            <a:off x="658368" y="3413760"/>
            <a:ext cx="10881360" cy="1463040"/>
          </a:xfrm>
          <a:prstGeom prst="roundRect">
            <a:avLst/>
          </a:prstGeom>
          <a:solidFill>
            <a:srgbClr val="FFFFFF"/>
          </a:solidFill>
          <a:ln w="12700">
            <a:solidFill>
              <a:srgbClr val="D8E2EC"/>
            </a:solidFill>
          </a:ln>
        </p:spPr>
        <p:txBody>
          <a:bodyPr anchor="ctr"/>
          <a:lstStyle/>
          <a:p>
            <a:pPr algn="ctr">
              <a:buNone/>
            </a:pPr>
            <a:endParaRPr/>
          </a:p>
        </p:txBody>
      </p:sp>
      <p:sp>
        <p:nvSpPr>
          <p:cNvPr id="15" name="hypergeometric-label"/>
          <p:cNvSpPr>
            <a:spLocks noGrp="1"/>
          </p:cNvSpPr>
          <p:nvPr/>
        </p:nvSpPr>
        <p:spPr>
          <a:xfrm>
            <a:off x="914400" y="3596640"/>
            <a:ext cx="548640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7E4C9A"/>
                </a:solidFill>
                <a:latin typeface="Arial"/>
                <a:ea typeface="Arial"/>
                <a:cs typeface="Arial"/>
              </a:rPr>
              <a:t>ONE-SIDED HYPERGEOMETRIC TEST</a:t>
            </a:r>
          </a:p>
        </p:txBody>
      </p:sp>
      <p:sp>
        <p:nvSpPr>
          <p:cNvPr id="16" name="hypergeometric-formula"/>
          <p:cNvSpPr>
            <a:spLocks noGrp="1"/>
          </p:cNvSpPr>
          <p:nvPr/>
        </p:nvSpPr>
        <p:spPr>
          <a:xfrm>
            <a:off x="914400" y="3977640"/>
            <a:ext cx="4389120" cy="365760"/>
          </a:xfrm>
          <a:prstGeom prst="rect">
            <a:avLst/>
          </a:prstGeom>
          <a:noFill/>
        </p:spPr>
        <p:txBody>
          <a:bodyPr wrap="square" lIns="0" tIns="0" rIns="0" bIns="0"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P = Pr(K ≥ k | N, M, n)</a:t>
            </a:r>
          </a:p>
        </p:txBody>
      </p:sp>
      <p:sp>
        <p:nvSpPr>
          <p:cNvPr id="17" name="hypergeometric-explanation"/>
          <p:cNvSpPr>
            <a:spLocks noGrp="1"/>
          </p:cNvSpPr>
          <p:nvPr/>
        </p:nvSpPr>
        <p:spPr>
          <a:xfrm>
            <a:off x="914400" y="4419600"/>
            <a:ext cx="64312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Chance of observing k or more pathway DEGs if n DEGs were randomly drawn from the N detectable genes.</a:t>
            </a:r>
          </a:p>
        </p:txBody>
      </p:sp>
      <p:sp>
        <p:nvSpPr>
          <p:cNvPr id="18" name="enrichment-label"/>
          <p:cNvSpPr>
            <a:spLocks noGrp="1"/>
          </p:cNvSpPr>
          <p:nvPr/>
        </p:nvSpPr>
        <p:spPr>
          <a:xfrm>
            <a:off x="8138160" y="3694176"/>
            <a:ext cx="2743200" cy="237744"/>
          </a:xfrm>
          <a:prstGeom prst="rect">
            <a:avLst/>
          </a:prstGeom>
          <a:noFill/>
        </p:spPr>
        <p:txBody>
          <a:bodyPr wrap="square" lIns="0" tIns="0" rIns="0" bIns="0" anchor="t">
            <a:spAutoFit/>
          </a:bodyPr>
          <a:lstStyle/>
          <a:p>
            <a:pPr algn="ctr">
              <a:lnSpc>
                <a:spcPct val="100000"/>
              </a:lnSpc>
              <a:spcBef>
                <a:spcPts val="0"/>
              </a:spcBef>
              <a:spcAft>
                <a:spcPts val="0"/>
              </a:spcAft>
              <a:buNone/>
            </a:pPr>
            <a:r>
              <a:rPr sz="990" b="1" i="0">
                <a:solidFill>
                  <a:srgbClr val="6C7988"/>
                </a:solidFill>
                <a:latin typeface="Arial"/>
                <a:ea typeface="Arial"/>
                <a:cs typeface="Arial"/>
              </a:rPr>
              <a:t>ENRICHMENT</a:t>
            </a:r>
          </a:p>
        </p:txBody>
      </p:sp>
      <p:sp>
        <p:nvSpPr>
          <p:cNvPr id="19" name="enrichment-formula"/>
          <p:cNvSpPr>
            <a:spLocks noGrp="1"/>
          </p:cNvSpPr>
          <p:nvPr/>
        </p:nvSpPr>
        <p:spPr>
          <a:xfrm>
            <a:off x="8138160" y="4075176"/>
            <a:ext cx="2743200" cy="365760"/>
          </a:xfrm>
          <a:prstGeom prst="rect">
            <a:avLst/>
          </a:prstGeom>
          <a:noFill/>
        </p:spPr>
        <p:txBody>
          <a:bodyPr wrap="square" lIns="0" tIns="0" rIns="0" bIns="0" anchor="t">
            <a:spAutoFit/>
          </a:bodyPr>
          <a:lstStyle/>
          <a:p>
            <a:pPr algn="ctr">
              <a:lnSpc>
                <a:spcPct val="100000"/>
              </a:lnSpc>
              <a:spcBef>
                <a:spcPts val="0"/>
              </a:spcBef>
              <a:spcAft>
                <a:spcPts val="0"/>
              </a:spcAft>
              <a:buNone/>
            </a:pPr>
            <a:r>
              <a:rPr sz="2100" b="1" i="0">
                <a:solidFill>
                  <a:srgbClr val="00684D"/>
                </a:solidFill>
                <a:latin typeface="Arial"/>
                <a:ea typeface="Arial"/>
                <a:cs typeface="Arial"/>
              </a:rPr>
              <a:t>(k / n) ÷ (M / N)</a:t>
            </a:r>
          </a:p>
        </p:txBody>
      </p:sp>
      <p:sp>
        <p:nvSpPr>
          <p:cNvPr id="20" name="bh-correction"/>
          <p:cNvSpPr>
            <a:spLocks noGrp="1"/>
          </p:cNvSpPr>
          <p:nvPr/>
        </p:nvSpPr>
        <p:spPr>
          <a:xfrm>
            <a:off x="777240" y="5074920"/>
            <a:ext cx="10607040" cy="62179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20" b="1" i="0">
                <a:solidFill>
                  <a:srgbClr val="0F233D"/>
                </a:solidFill>
                <a:latin typeface="Arial"/>
                <a:ea typeface="Arial"/>
                <a:cs typeface="Arial"/>
              </a:rPr>
              <a:t>Benjamini-Hochberg correction: </a:t>
            </a:r>
            <a:r>
              <a:rPr sz="1220" b="0" i="0">
                <a:solidFill>
                  <a:srgbClr val="1F2730"/>
                </a:solidFill>
                <a:latin typeface="Arial"/>
                <a:ea typeface="Arial"/>
                <a:cs typeface="Arial"/>
              </a:rPr>
              <a:t>adjust P values across all testable pathways in the same collection for this contrast and DEG list.</a:t>
            </a:r>
          </a:p>
        </p:txBody>
      </p:sp>
      <p:sp>
        <p:nvSpPr>
          <p:cNvPr id="21" name="significance-rule-panel"/>
          <p:cNvSpPr>
            <a:spLocks noGrp="1"/>
          </p:cNvSpPr>
          <p:nvPr/>
        </p:nvSpPr>
        <p:spPr>
          <a:xfrm>
            <a:off x="658368" y="5760720"/>
            <a:ext cx="10881360" cy="731520"/>
          </a:xfrm>
          <a:prstGeom prst="roundRect">
            <a:avLst/>
          </a:prstGeom>
          <a:solidFill>
            <a:srgbClr val="E4F4EE"/>
          </a:solidFill>
          <a:ln w="12700">
            <a:solidFill>
              <a:srgbClr val="C8E5DB"/>
            </a:solidFill>
          </a:ln>
        </p:spPr>
        <p:txBody>
          <a:bodyPr anchor="ctr"/>
          <a:lstStyle/>
          <a:p>
            <a:pPr algn="ctr">
              <a:buNone/>
            </a:pPr>
            <a:endParaRPr/>
          </a:p>
        </p:txBody>
      </p:sp>
      <p:sp>
        <p:nvSpPr>
          <p:cNvPr id="22" name="significance-rule-label"/>
          <p:cNvSpPr>
            <a:spLocks noGrp="1"/>
          </p:cNvSpPr>
          <p:nvPr/>
        </p:nvSpPr>
        <p:spPr>
          <a:xfrm>
            <a:off x="914400" y="5919216"/>
            <a:ext cx="3017520" cy="256032"/>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SIGNIFICANT PATHWAY RESULT</a:t>
            </a:r>
          </a:p>
        </p:txBody>
      </p:sp>
      <p:sp>
        <p:nvSpPr>
          <p:cNvPr id="23" name="significance-rule"/>
          <p:cNvSpPr>
            <a:spLocks noGrp="1"/>
          </p:cNvSpPr>
          <p:nvPr/>
        </p:nvSpPr>
        <p:spPr>
          <a:xfrm>
            <a:off x="3825240" y="5864352"/>
            <a:ext cx="3749040" cy="310896"/>
          </a:xfrm>
          <a:prstGeom prst="rect">
            <a:avLst/>
          </a:prstGeom>
          <a:noFill/>
        </p:spPr>
        <p:txBody>
          <a:bodyPr wrap="square" lIns="0" tIns="0" rIns="0" bIns="0" anchor="t">
            <a:spAutoFit/>
          </a:bodyPr>
          <a:lstStyle/>
          <a:p>
            <a:pPr algn="l">
              <a:lnSpc>
                <a:spcPct val="100000"/>
              </a:lnSpc>
              <a:spcBef>
                <a:spcPts val="0"/>
              </a:spcBef>
              <a:spcAft>
                <a:spcPts val="0"/>
              </a:spcAft>
              <a:buNone/>
            </a:pPr>
            <a:r>
              <a:rPr sz="1550" b="1" i="0">
                <a:solidFill>
                  <a:srgbClr val="0F233D"/>
                </a:solidFill>
                <a:latin typeface="Arial"/>
                <a:ea typeface="Arial"/>
                <a:cs typeface="Arial"/>
              </a:rPr>
              <a:t>Local BH-adjusted P value (FDR) &lt; 0.05</a:t>
            </a:r>
          </a:p>
        </p:txBody>
      </p:sp>
      <p:sp>
        <p:nvSpPr>
          <p:cNvPr id="24" name="significance-boundary"/>
          <p:cNvSpPr>
            <a:spLocks noGrp="1"/>
          </p:cNvSpPr>
          <p:nvPr/>
        </p:nvSpPr>
        <p:spPr>
          <a:xfrm>
            <a:off x="7772400" y="5855208"/>
            <a:ext cx="3474720" cy="347472"/>
          </a:xfrm>
          <a:prstGeom prst="rect">
            <a:avLst/>
          </a:prstGeom>
          <a:noFill/>
        </p:spPr>
        <p:txBody>
          <a:bodyPr wrap="square" lIns="0" tIns="0" rIns="0" bIns="0" anchor="t">
            <a:spAutoFit/>
          </a:bodyPr>
          <a:lstStyle/>
          <a:p>
            <a:pPr algn="l">
              <a:lnSpc>
                <a:spcPct val="100000"/>
              </a:lnSpc>
              <a:spcBef>
                <a:spcPts val="0"/>
              </a:spcBef>
              <a:spcAft>
                <a:spcPts val="0"/>
              </a:spcAft>
              <a:buNone/>
            </a:pPr>
            <a:r>
              <a:rPr sz="950" b="0" i="0">
                <a:solidFill>
                  <a:srgbClr val="4E5A68"/>
                </a:solidFill>
                <a:latin typeface="Arial"/>
                <a:ea typeface="Arial"/>
                <a:cs typeface="Arial"/>
              </a:rPr>
              <a:t>The test assesses over-representation. Pathway activity requires separate evidence.</a:t>
            </a:r>
          </a:p>
        </p:txBody>
      </p:sp>
      <p:sp>
        <p:nvSpPr>
          <p:cNvPr id="25" name="enrichment-explanation"/>
          <p:cNvSpPr>
            <a:spLocks noGrp="1"/>
          </p:cNvSpPr>
          <p:nvPr/>
        </p:nvSpPr>
        <p:spPr>
          <a:xfrm>
            <a:off x="7863840" y="4459224"/>
            <a:ext cx="3383280" cy="365760"/>
          </a:xfrm>
          <a:prstGeom prst="rect">
            <a:avLst/>
          </a:prstGeom>
          <a:noFill/>
        </p:spPr>
        <p:txBody>
          <a:bodyPr wrap="square" lIns="0" tIns="0" rIns="0" bIns="0" anchor="t">
            <a:spAutoFit/>
          </a:bodyPr>
          <a:lstStyle/>
          <a:p>
            <a:pPr algn="ctr">
              <a:lnSpc>
                <a:spcPct val="95000"/>
              </a:lnSpc>
              <a:spcBef>
                <a:spcPts val="0"/>
              </a:spcBef>
              <a:spcAft>
                <a:spcPts val="0"/>
              </a:spcAft>
              <a:buNone/>
            </a:pPr>
            <a:r>
              <a:rPr sz="850" b="0" i="0">
                <a:solidFill>
                  <a:srgbClr val="4E5A68"/>
                </a:solidFill>
                <a:latin typeface="Arial"/>
                <a:ea typeface="Arial"/>
                <a:cs typeface="Arial"/>
              </a:rPr>
              <a:t>Pathway share among DEGs ÷ pathway share among detectable genes</a:t>
            </a:r>
          </a:p>
          <a:p>
            <a:pPr algn="ctr">
              <a:lnSpc>
                <a:spcPct val="95000"/>
              </a:lnSpc>
              <a:spcBef>
                <a:spcPts val="300"/>
              </a:spcBef>
              <a:spcAft>
                <a:spcPts val="0"/>
              </a:spcAft>
              <a:buNone/>
            </a:pPr>
            <a:r>
              <a:rPr sz="950" b="1" i="0">
                <a:solidFill>
                  <a:srgbClr val="00684D"/>
                </a:solidFill>
                <a:latin typeface="Arial"/>
                <a:ea typeface="Arial"/>
                <a:cs typeface="Arial"/>
              </a:rPr>
              <a:t>&gt; 1 indicates enrichment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Counts show whether each pathway had at least one significant result across the tested fine-cell contrasts and DEG lists.</a:t>
            </a:r>
          </a:p>
        </p:txBody>
      </p:sp>
    </p:spTree>
    <p:extLst>
      <p:ext uri="{BB962C8B-B14F-4D97-AF65-F5344CB8AC3E}">
        <p14:creationId xmlns:p14="http://schemas.microsoft.com/office/powerpoint/2010/main" val="1336555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dirty="0">
                <a:solidFill>
                  <a:srgbClr val="0F233D"/>
                </a:solidFill>
                <a:latin typeface="Arial"/>
                <a:ea typeface="Arial"/>
                <a:cs typeface="Arial"/>
              </a:rPr>
              <a:t>How to calculate pathway and sex/APOE </a:t>
            </a:r>
            <a:r>
              <a:rPr lang="en-US" sz="2475" b="1" dirty="0">
                <a:solidFill>
                  <a:srgbClr val="0F233D"/>
                </a:solidFill>
                <a:latin typeface="Arial"/>
                <a:ea typeface="Arial"/>
                <a:cs typeface="Arial"/>
              </a:rPr>
              <a:t>group </a:t>
            </a:r>
            <a:r>
              <a:rPr sz="2475" b="1" dirty="0">
                <a:solidFill>
                  <a:srgbClr val="0F233D"/>
                </a:solidFill>
                <a:latin typeface="Arial"/>
                <a:ea typeface="Arial"/>
                <a:cs typeface="Arial"/>
              </a:rPr>
              <a:t>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DEGs ÷ all genes in that pathway for one sex/APOE group.</a:t>
            </a:r>
          </a:p>
        </p:txBody>
      </p:sp>
      <p:pic>
        <p:nvPicPr>
          <p:cNvPr id="11" name="Heatmap showing the percentage and count of genes from four mitochondrial pathways that were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Upregulated and downregulated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rows returned from KDA calls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genes; 2 returned no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are counted before MitoCarta filtering.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7</a:t>
            </a:r>
          </a:p>
        </p:txBody>
      </p:sp>
    </p:spTree>
    <p:extLst>
      <p:ext uri="{BB962C8B-B14F-4D97-AF65-F5344CB8AC3E}">
        <p14:creationId xmlns:p14="http://schemas.microsoft.com/office/powerpoint/2010/main" val="686704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t>
            </a:r>
            <a:r>
              <a:rPr sz="1520" b="1">
                <a:solidFill>
                  <a:srgbClr val="0F233D"/>
                </a:solidFill>
                <a:latin typeface="Arial"/>
                <a:ea typeface="Arial"/>
                <a:cs typeface="Arial"/>
              </a:rPr>
              <a:t>e</a:t>
            </a:r>
            <a:r>
              <a:rPr sz="1520" b="1" i="0">
                <a:solidFill>
                  <a:srgbClr val="0F233D"/>
                </a:solidFill>
                <a:latin typeface="Arial"/>
                <a:ea typeface="Arial"/>
                <a:cs typeface="Arial"/>
              </a:rPr>
              <a:t>xcitatory-neuron only</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e</a:t>
            </a:r>
            <a:r>
              <a:rPr sz="1019" b="1" i="0">
                <a:solidFill>
                  <a:srgbClr val="0F233D"/>
                </a:solidFill>
                <a:latin typeface="Arial"/>
                <a:ea typeface="Arial"/>
                <a:cs typeface="Arial"/>
              </a:rPr>
              <a:t>ligible fine-cell DEG queries</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all eligible F_e33 KDA calls</a:t>
            </a:r>
          </a:p>
        </p:txBody>
      </p:sp>
    </p:spTree>
    <p:extLst>
      <p:ext uri="{BB962C8B-B14F-4D97-AF65-F5344CB8AC3E}">
        <p14:creationId xmlns:p14="http://schemas.microsoft.com/office/powerpoint/2010/main" val="3319326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matched female ε3/ε3 excitatory KDA call was evaluable, so support is strong in direction but limited in coverage.</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 query genes include nine shared core MT genes</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Every shared gene is upregulated in both datasets.</a:t>
            </a:r>
          </a:p>
        </p:txBody>
      </p:sp>
    </p:spTree>
    <p:extLst>
      <p:ext uri="{BB962C8B-B14F-4D97-AF65-F5344CB8AC3E}">
        <p14:creationId xmlns:p14="http://schemas.microsoft.com/office/powerpoint/2010/main" val="11104947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sex-aware key-driver analysis.</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pathway finding based on DEGs, not an identified upstream key driver.</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DEG pattern without matching the same genes returned from ROSMAP KDA calls.</a:t>
            </a:r>
          </a:p>
        </p:txBody>
      </p:sp>
    </p:spTree>
    <p:extLst>
      <p:ext uri="{BB962C8B-B14F-4D97-AF65-F5344CB8AC3E}">
        <p14:creationId xmlns:p14="http://schemas.microsoft.com/office/powerpoint/2010/main" val="19805011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support</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Finding 2 synthesis; ROSMAP discovery with supplemental SEA-AD gene-set support.</a:t>
            </a:r>
          </a:p>
        </p:txBody>
      </p:sp>
    </p:spTree>
    <p:extLst>
      <p:ext uri="{BB962C8B-B14F-4D97-AF65-F5344CB8AC3E}">
        <p14:creationId xmlns:p14="http://schemas.microsoft.com/office/powerpoint/2010/main" val="13367061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eligible fine-cell DEG queries; occurrences repeat genes across KDA calls.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gene-set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8 matched KDA calls were evaluable. Support is gene-set-level rather than replication of the same gene returned from KDA calls.</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query genes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 support systems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OXPHOS, import, ribosome, and maintenance genes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Identity-resolved sensitivity: 21 shared genes, BH = 0.0486.</a:t>
            </a:r>
          </a:p>
        </p:txBody>
      </p:sp>
    </p:spTree>
    <p:extLst>
      <p:ext uri="{BB962C8B-B14F-4D97-AF65-F5344CB8AC3E}">
        <p14:creationId xmlns:p14="http://schemas.microsoft.com/office/powerpoint/2010/main" val="19303677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carry the matched inhibitory-neuron signal?</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The agreement spans respiratory subunits, transport, import, mitochondrial ribosomes, and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concordant genes</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discordant genes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Support systems also fall</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Import, mitochondrial-ribosome, transport, and maintenance genes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ingredients—but not this exact mismatch</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Known mitonuclear biology and cell-resolved AD studies make the finding plausible without independently duplicating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Mitonuclear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high—mitonuclear imbalance is known,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genomes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NCI</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occurrances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3" name="TextBox 2">
            <a:extLst>
              <a:ext uri="{FF2B5EF4-FFF2-40B4-BE49-F238E27FC236}">
                <a16:creationId xmlns:a16="http://schemas.microsoft.com/office/drawing/2014/main" id="{8B78A23B-5C0A-4E24-ABAC-8EFD3DBD0D4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Occurrences repeat a gene when it appears in another eligible fine-cell query.</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eligible KDA calls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eligible KDA calls</a:t>
            </a:r>
          </a:p>
        </p:txBody>
      </p:sp>
    </p:spTree>
    <p:extLst>
      <p:ext uri="{BB962C8B-B14F-4D97-AF65-F5344CB8AC3E}">
        <p14:creationId xmlns:p14="http://schemas.microsoft.com/office/powerpoint/2010/main" val="4580754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evidence supports coordination, while broader tests qualify it</a:t>
            </a:r>
          </a:p>
        </p:txBody>
      </p:sp>
      <p:sp>
        <p:nvSpPr>
          <p:cNvPr id="3" name="TextBox 2">
            <a:extLst>
              <a:ext uri="{FF2B5EF4-FFF2-40B4-BE49-F238E27FC236}">
                <a16:creationId xmlns:a16="http://schemas.microsoft.com/office/drawing/2014/main" id="{CED22A51-DB6F-4B92-805C-9D316C8C997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project treats fine-cell results as primary and direct broad-cell results as sensitivity evidence.</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PHASE 11</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Nine of 12 fine types enriched core MT upregulation and eight of 12 enriched nuclear-encoded OXPHOS upregulation.</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female ε2 category was active. Missing coverage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coordinated two-genome claim rests mainly on fine-cell ROSMAP evidence.</a:t>
            </a:r>
          </a:p>
        </p:txBody>
      </p:sp>
    </p:spTree>
    <p:extLst>
      <p:ext uri="{BB962C8B-B14F-4D97-AF65-F5344CB8AC3E}">
        <p14:creationId xmlns:p14="http://schemas.microsoft.com/office/powerpoint/2010/main" val="20427968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9B9759-8C24-40FC-9F64-84570C3254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a:ext uri="{FF2B5EF4-FFF2-40B4-BE49-F238E27FC236}">
                <a16:creationId xmlns:a16="http://schemas.microsoft.com/office/drawing/2014/main" id="{5BBDA2B6-748D-41D9-862D-7E18BB2B5EA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D76020A-FCE8-438D-BB31-4DC3B5F14D24}"/>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a:ext uri="{FF2B5EF4-FFF2-40B4-BE49-F238E27FC236}">
                <a16:creationId xmlns:a16="http://schemas.microsoft.com/office/drawing/2014/main" id="{E6B72473-605E-4B15-A710-E0E87504CEE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61741430-38B3-41F7-B957-964A801B7A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D464EA5-2FB1-41DE-B66E-27CBBCF1682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7EA8D99-C02A-4788-8BAC-19AB7802536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61EBDF4-CC0C-408C-9B6A-191DD08C45B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6ED3613-1DE2-4ED9-B304-70C3BF6E2F8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4D6D3497-1532-43A3-B90B-868123101E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AA0014-E189-41F8-9EDA-538A301A2B7E}"/>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85CC86D-E673-4A4D-BCD4-A17C265A93D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F6ECD27-E612-42B2-A097-22AD5D5F4E1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199226C-0ACA-4C10-9CC3-512A6B88301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9ADCB95-7C34-4583-8E5D-733E8F1BC35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D05F1D8-4983-4839-928F-9660ECDD84A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D96C1F8-7416-4C36-AEF3-8C5EC8CB834A}"/>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6D4276BB-3C28-4E39-A937-01C6393F2A2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917F796A-CADC-4639-9BBC-33FD0EE492E7}"/>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3D46ED2-4710-4AF3-A347-5D5DAB51261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Nuclear-sided decrease</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16E7C6-C798-4825-8ADF-356B5B54EA3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a:ext uri="{FF2B5EF4-FFF2-40B4-BE49-F238E27FC236}">
                <a16:creationId xmlns:a16="http://schemas.microsoft.com/office/drawing/2014/main" id="{A4B8AFD9-E3A2-4DF9-81CD-7C81CE7DADE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a:ext uri="{FF2B5EF4-FFF2-40B4-BE49-F238E27FC236}">
                <a16:creationId xmlns:a16="http://schemas.microsoft.com/office/drawing/2014/main" id="{50746D33-BB30-408B-9C9E-FF12599B34E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D214BFD-9CB2-42A4-89AE-8FFD5BC9576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a:ext uri="{FF2B5EF4-FFF2-40B4-BE49-F238E27FC236}">
                <a16:creationId xmlns:a16="http://schemas.microsoft.com/office/drawing/2014/main" id="{2611586C-DC6A-4FFA-9337-383B37FE6B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a:ext uri="{FF2B5EF4-FFF2-40B4-BE49-F238E27FC236}">
                <a16:creationId xmlns:a16="http://schemas.microsoft.com/office/drawing/2014/main" id="{3FA2DD5C-37CE-47B8-BA0D-4EFF5279FD3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a:ext uri="{FF2B5EF4-FFF2-40B4-BE49-F238E27FC236}">
                <a16:creationId xmlns:a16="http://schemas.microsoft.com/office/drawing/2014/main" id="{C367C7A9-94DC-4D2B-B71F-0FDBE87A16E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88F76C-26B3-454D-8275-E2E91DB2450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a:ext uri="{FF2B5EF4-FFF2-40B4-BE49-F238E27FC236}">
                <a16:creationId xmlns:a16="http://schemas.microsoft.com/office/drawing/2014/main" id="{24F47D21-06A0-49A7-843A-35EF63D4EEB1}"/>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E00687D7-70B0-4750-B1C7-9FF467343380}"/>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a:ext uri="{FF2B5EF4-FFF2-40B4-BE49-F238E27FC236}">
                <a16:creationId xmlns:a16="http://schemas.microsoft.com/office/drawing/2014/main" id="{1FC6D3C9-53C5-436A-80F4-E4C130F4115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EFE16A-BBAE-434D-B4D4-F4BBF16D1597}"/>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a:ext uri="{FF2B5EF4-FFF2-40B4-BE49-F238E27FC236}">
                <a16:creationId xmlns:a16="http://schemas.microsoft.com/office/drawing/2014/main" id="{AC6C476A-D8B0-4988-AB23-A9274BE7A62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a:ext uri="{FF2B5EF4-FFF2-40B4-BE49-F238E27FC236}">
                <a16:creationId xmlns:a16="http://schemas.microsoft.com/office/drawing/2014/main" id="{864BD5C9-7313-4258-90C2-44621A549A53}"/>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a:ext uri="{FF2B5EF4-FFF2-40B4-BE49-F238E27FC236}">
                <a16:creationId xmlns:a16="http://schemas.microsoft.com/office/drawing/2014/main" id="{20141D58-A058-4EE4-BC6F-0C603708A55B}"/>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9B384E-3324-406A-9BD4-5866F2601348}"/>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D711E9C4-E615-4164-8E0E-C48683BB7C4A}"/>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a:ext uri="{FF2B5EF4-FFF2-40B4-BE49-F238E27FC236}">
                <a16:creationId xmlns:a16="http://schemas.microsoft.com/office/drawing/2014/main" id="{18248536-6E97-4D19-897C-624A3F6312C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a:ext uri="{FF2B5EF4-FFF2-40B4-BE49-F238E27FC236}">
                <a16:creationId xmlns:a16="http://schemas.microsoft.com/office/drawing/2014/main" id="{5E29091D-B675-49BE-A878-6A96D56F4DD7}"/>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7CA1F7-0F95-4126-9E08-408394415F6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a:ext uri="{FF2B5EF4-FFF2-40B4-BE49-F238E27FC236}">
                <a16:creationId xmlns:a16="http://schemas.microsoft.com/office/drawing/2014/main" id="{FAE57504-3744-40A4-B02C-4F8FF1267295}"/>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a:ext uri="{FF2B5EF4-FFF2-40B4-BE49-F238E27FC236}">
                <a16:creationId xmlns:a16="http://schemas.microsoft.com/office/drawing/2014/main" id="{FC5B3EDE-C98C-45CA-AB93-D3059D42173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a:ext uri="{FF2B5EF4-FFF2-40B4-BE49-F238E27FC236}">
                <a16:creationId xmlns:a16="http://schemas.microsoft.com/office/drawing/2014/main" id="{36BA72D2-3B9D-4CFD-9032-9F25BBDF9111}"/>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4084EDC-C5DD-434C-8042-3C9AE2B5124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a:ext uri="{FF2B5EF4-FFF2-40B4-BE49-F238E27FC236}">
                <a16:creationId xmlns:a16="http://schemas.microsoft.com/office/drawing/2014/main" id="{C77EC147-AB27-4522-80DF-24CAB245A81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a:ext uri="{FF2B5EF4-FFF2-40B4-BE49-F238E27FC236}">
                <a16:creationId xmlns:a16="http://schemas.microsoft.com/office/drawing/2014/main" id="{7EFA35EA-3110-4A6D-B50D-300EE9DE777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nuclear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 positive,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+0.70 with local BH 0.991.</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Significant positive direction</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+2.01 with local BH 5.62 × 10⁻⁵.</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KDA</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one small astrocyte query</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genes overlapped and the corrected overlap test was not significant, BH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Describe this as a fine-cell female ε4 signal, not a broad-cell-wide effect.</a:t>
            </a:r>
          </a:p>
        </p:txBody>
      </p:sp>
    </p:spTree>
    <p:extLst>
      <p:ext uri="{BB962C8B-B14F-4D97-AF65-F5344CB8AC3E}">
        <p14:creationId xmlns:p14="http://schemas.microsoft.com/office/powerpoint/2010/main" val="8429484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nuclear-sided reduction could reflect lower respiratory investment, stress, or a shift in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Subtype composition or other aggregation effects may influence the fine-cell pattern.</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mitophagy.</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mitochondrial homeostasis.</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2E26F-2CDF-4E65-8BA1-34F46AD706D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a:ext uri="{FF2B5EF4-FFF2-40B4-BE49-F238E27FC236}">
                <a16:creationId xmlns:a16="http://schemas.microsoft.com/office/drawing/2014/main" id="{679FEE76-9C69-4E79-9D0E-33754FA43E2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141759-D659-44D6-8951-9C9972B5510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a:ext uri="{FF2B5EF4-FFF2-40B4-BE49-F238E27FC236}">
                <a16:creationId xmlns:a16="http://schemas.microsoft.com/office/drawing/2014/main" id="{444133BC-3F24-48B3-8674-96DDA42DC30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7D622FD7-0151-4AF9-A487-7DE206047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58018-9D15-438B-8510-E212F9931423}"/>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32E41CE8-CDFA-44D4-A17F-1D85D2DF329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F14DF69-6E24-4830-A88A-57EB39EAA40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88A9BC0-42FC-41E9-8C8D-8862108F070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86A3D6A-050D-454B-A2A4-F432AE04DA3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1E439F-F7F3-4C2D-9AED-A1B048E90A44}"/>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2023D3E-15BB-4049-A8AD-079F974409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B5C00B5F-F220-4649-BE0A-E55B74FD74D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486C808-47D2-42CB-AACF-203A868DF3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CEEC43C-DBFF-4642-9E0A-F21A82A46B5C}"/>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8A202477-1FEE-4A36-810D-A2539DCF225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363E3D9-9544-4D85-BFEB-2823E795F07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10748D0A-7A11-478D-861B-3D0939C13BAA}"/>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84BAA67-2B8F-485F-9374-B6D5A8BAC42F}"/>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09FD795-F30A-4125-BD47-A454AEFBD2C8}"/>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genomes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queries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BD277D-7431-4A7A-A1C7-72AF1F26B21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ε2 has the broadest downward OXPHOS burden</a:t>
            </a:r>
          </a:p>
        </p:txBody>
      </p:sp>
      <p:sp>
        <p:nvSpPr>
          <p:cNvPr id="3" name="TextBox 2">
            <a:extLst>
              <a:ext uri="{FF2B5EF4-FFF2-40B4-BE49-F238E27FC236}">
                <a16:creationId xmlns:a16="http://schemas.microsoft.com/office/drawing/2014/main" id="{90923344-F35D-4EFF-A0E6-1084F7A5BE5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a:ext uri="{FF2B5EF4-FFF2-40B4-BE49-F238E27FC236}">
                <a16:creationId xmlns:a16="http://schemas.microsoft.com/office/drawing/2014/main" id="{815A4D51-038B-4DB5-BB9D-C51DE16B673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624508B-2051-4B1C-8CFD-BB759936A4B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a:ext uri="{FF2B5EF4-FFF2-40B4-BE49-F238E27FC236}">
                <a16:creationId xmlns:a16="http://schemas.microsoft.com/office/drawing/2014/main" id="{8CF85EEA-A167-43C8-AFCD-1D6C6354386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E9B93EE7-DD66-498F-A3CB-2420119AF29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a:ext uri="{FF2B5EF4-FFF2-40B4-BE49-F238E27FC236}">
                <a16:creationId xmlns:a16="http://schemas.microsoft.com/office/drawing/2014/main" id="{67A0F397-F140-4D64-B92B-A6E3A29C0C8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FD5BF0-813B-49E9-A0B0-0F89CDDD3B97}"/>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a:ext uri="{FF2B5EF4-FFF2-40B4-BE49-F238E27FC236}">
                <a16:creationId xmlns:a16="http://schemas.microsoft.com/office/drawing/2014/main" id="{ED6BE81B-2B7A-40DB-904F-8CC485792EC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3D970A38-BB5D-47A0-B7C7-04DD293709E6}"/>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a:ext uri="{FF2B5EF4-FFF2-40B4-BE49-F238E27FC236}">
                <a16:creationId xmlns:a16="http://schemas.microsoft.com/office/drawing/2014/main" id="{6496313E-1382-41C2-BA3E-34797C7311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73DE1FB-C935-4CE6-AEFC-33DD5D47F466}"/>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a:ext uri="{FF2B5EF4-FFF2-40B4-BE49-F238E27FC236}">
                <a16:creationId xmlns:a16="http://schemas.microsoft.com/office/drawing/2014/main" id="{CF18A02B-0A7A-418F-A578-702C906E2E9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a:ext uri="{FF2B5EF4-FFF2-40B4-BE49-F238E27FC236}">
                <a16:creationId xmlns:a16="http://schemas.microsoft.com/office/drawing/2014/main" id="{768B58E6-3DE9-4A64-ADE5-DAE50470903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a:ext uri="{FF2B5EF4-FFF2-40B4-BE49-F238E27FC236}">
                <a16:creationId xmlns:a16="http://schemas.microsoft.com/office/drawing/2014/main" id="{E5A95870-C1EA-4EB8-9CF4-5203996357A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573671-11D6-4F8E-B1D0-41F33E45DE3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8CD198EE-16C1-4164-9FD9-20D0FAB36B4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a:ext uri="{FF2B5EF4-FFF2-40B4-BE49-F238E27FC236}">
                <a16:creationId xmlns:a16="http://schemas.microsoft.com/office/drawing/2014/main" id="{A5C5029B-3122-4C07-94E1-F116864314BE}"/>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a:ext uri="{FF2B5EF4-FFF2-40B4-BE49-F238E27FC236}">
                <a16:creationId xmlns:a16="http://schemas.microsoft.com/office/drawing/2014/main" id="{71D52A82-59E2-4945-8028-CA41F6C9A11E}"/>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47D7A2-4F91-4259-82A1-BB0EA1CBB01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A11BD4C5-04ED-4483-9A6B-20C61A55CD8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a:ext uri="{FF2B5EF4-FFF2-40B4-BE49-F238E27FC236}">
                <a16:creationId xmlns:a16="http://schemas.microsoft.com/office/drawing/2014/main" id="{92AD0BB7-7863-4F61-9BD7-B2D2ED0A88E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a:ext uri="{FF2B5EF4-FFF2-40B4-BE49-F238E27FC236}">
                <a16:creationId xmlns:a16="http://schemas.microsoft.com/office/drawing/2014/main" id="{A93000DB-86CF-4280-A9AF-87FD1D9D7947}"/>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1DBCA1F-5166-40A9-9CAB-5643CEBFD24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a:ext uri="{FF2B5EF4-FFF2-40B4-BE49-F238E27FC236}">
                <a16:creationId xmlns:a16="http://schemas.microsoft.com/office/drawing/2014/main" id="{2262FB5A-6F52-47C7-A4ED-CE564717D57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a:ext uri="{FF2B5EF4-FFF2-40B4-BE49-F238E27FC236}">
                <a16:creationId xmlns:a16="http://schemas.microsoft.com/office/drawing/2014/main" id="{B8F6995F-6CE2-4495-A815-7B8D5120FB1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0A466-65B9-4B02-9FC4-4A0CF223C3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a:ext uri="{FF2B5EF4-FFF2-40B4-BE49-F238E27FC236}">
                <a16:creationId xmlns:a16="http://schemas.microsoft.com/office/drawing/2014/main" id="{678755B5-2808-464C-BE3F-F32B109D9C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DEG-set size matters when comparing how many genes are returned from KDA calls.</a:t>
            </a:r>
          </a:p>
        </p:txBody>
      </p:sp>
      <p:sp>
        <p:nvSpPr>
          <p:cNvPr id="4" name="Rounded Rectangle 3">
            <a:extLst>
              <a:ext uri="{FF2B5EF4-FFF2-40B4-BE49-F238E27FC236}">
                <a16:creationId xmlns:a16="http://schemas.microsoft.com/office/drawing/2014/main" id="{BDCABD88-CDF9-4096-9BD8-9FD4BD2BD3B8}"/>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C8BCB1-D1DE-4C49-93A0-C071B997ADB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a:ext uri="{FF2B5EF4-FFF2-40B4-BE49-F238E27FC236}">
                <a16:creationId xmlns:a16="http://schemas.microsoft.com/office/drawing/2014/main" id="{4625E702-DCA4-444B-B0B0-7901133E832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a:ext uri="{FF2B5EF4-FFF2-40B4-BE49-F238E27FC236}">
                <a16:creationId xmlns:a16="http://schemas.microsoft.com/office/drawing/2014/main" id="{D8DB4B45-4487-4D5E-9743-9C36A6B0B6CE}"/>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median eligible query was more than five times the overall median.</a:t>
            </a:r>
          </a:p>
        </p:txBody>
      </p:sp>
      <p:sp>
        <p:nvSpPr>
          <p:cNvPr id="8" name="Rounded Rectangle 7">
            <a:extLst>
              <a:ext uri="{FF2B5EF4-FFF2-40B4-BE49-F238E27FC236}">
                <a16:creationId xmlns:a16="http://schemas.microsoft.com/office/drawing/2014/main" id="{D2DEE9FA-A444-440D-B9EC-4568849FCEDD}"/>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5E2B186-5E0C-47B5-8F7B-C775F6D95A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ALL ELIGIBLE FINE-CELL COMPARISONS</a:t>
            </a:r>
          </a:p>
        </p:txBody>
      </p:sp>
      <p:sp>
        <p:nvSpPr>
          <p:cNvPr id="10" name="TextBox 9">
            <a:extLst>
              <a:ext uri="{FF2B5EF4-FFF2-40B4-BE49-F238E27FC236}">
                <a16:creationId xmlns:a16="http://schemas.microsoft.com/office/drawing/2014/main" id="{E927D0C2-C1BB-44DE-94D7-B63E61AAD4D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a:ext uri="{FF2B5EF4-FFF2-40B4-BE49-F238E27FC236}">
                <a16:creationId xmlns:a16="http://schemas.microsoft.com/office/drawing/2014/main" id="{7B2BB62E-46AF-4ACF-B00A-E6BF7669316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query size was.</a:t>
            </a:r>
          </a:p>
        </p:txBody>
      </p:sp>
      <p:sp>
        <p:nvSpPr>
          <p:cNvPr id="12" name="Rounded Rectangle 11">
            <a:extLst>
              <a:ext uri="{FF2B5EF4-FFF2-40B4-BE49-F238E27FC236}">
                <a16:creationId xmlns:a16="http://schemas.microsoft.com/office/drawing/2014/main" id="{65F6F61B-5B86-4ED5-B8F5-5A13FAEC2D31}"/>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0B7689-4FA7-48F5-9F40-9D61578285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D7A8BAE3-2CF9-4C3A-8F56-DE08415FB22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C90626B7-0775-4368-BF4A-E28B97D6014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male ε2 category was active, so SEA-AD adds no evidence in either direction.</a:t>
            </a:r>
          </a:p>
        </p:txBody>
      </p:sp>
      <p:sp>
        <p:nvSpPr>
          <p:cNvPr id="16" name="Rounded Rectangle 15">
            <a:extLst>
              <a:ext uri="{FF2B5EF4-FFF2-40B4-BE49-F238E27FC236}">
                <a16:creationId xmlns:a16="http://schemas.microsoft.com/office/drawing/2014/main" id="{05306AF1-7D7C-4CF2-B3B2-D39FE71A3E60}"/>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24E6BE-8240-49F9-A3F0-81F96F86B21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More DEGs provide more opportunities for a gene to be returned from a KDA call. This does not change the DEG direction counts on the preceding slide.</a:t>
            </a:r>
          </a:p>
        </p:txBody>
      </p:sp>
    </p:spTree>
    <p:extLst>
      <p:ext uri="{BB962C8B-B14F-4D97-AF65-F5344CB8AC3E}">
        <p14:creationId xmlns:p14="http://schemas.microsoft.com/office/powerpoint/2010/main" val="20455409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1EA402-C5A0-4E1B-B43F-EED1CD22F6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a:ext uri="{FF2B5EF4-FFF2-40B4-BE49-F238E27FC236}">
                <a16:creationId xmlns:a16="http://schemas.microsoft.com/office/drawing/2014/main" id="{067D81D1-DE61-49CF-B923-71CE71FBCB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a:ext uri="{FF2B5EF4-FFF2-40B4-BE49-F238E27FC236}">
                <a16:creationId xmlns:a16="http://schemas.microsoft.com/office/drawing/2014/main" id="{011FB5E7-B20B-4700-B4B3-EC4194685D75}"/>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6C5AD6E-D080-4D27-AFE6-E57173C9CCD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a:ext uri="{FF2B5EF4-FFF2-40B4-BE49-F238E27FC236}">
                <a16:creationId xmlns:a16="http://schemas.microsoft.com/office/drawing/2014/main" id="{9DCBD8C7-6EF5-4D51-A91D-4C2BE9AFFAE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a:ext uri="{FF2B5EF4-FFF2-40B4-BE49-F238E27FC236}">
                <a16:creationId xmlns:a16="http://schemas.microsoft.com/office/drawing/2014/main" id="{881A60AA-37D5-4EAD-AA8D-B931443EB1C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a:ext uri="{FF2B5EF4-FFF2-40B4-BE49-F238E27FC236}">
                <a16:creationId xmlns:a16="http://schemas.microsoft.com/office/drawing/2014/main" id="{6B2AE7DB-C180-4953-A160-763D03A4508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F2C5F2C-F92E-4969-B5FF-EFC20A09DA8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a:ext uri="{FF2B5EF4-FFF2-40B4-BE49-F238E27FC236}">
                <a16:creationId xmlns:a16="http://schemas.microsoft.com/office/drawing/2014/main" id="{4257C55A-E6B2-47C9-848A-CFBFA9DC333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a:ext uri="{FF2B5EF4-FFF2-40B4-BE49-F238E27FC236}">
                <a16:creationId xmlns:a16="http://schemas.microsoft.com/office/drawing/2014/main" id="{F5AFB380-15C5-4EF8-AEE9-52CA21D4B29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a:ext uri="{FF2B5EF4-FFF2-40B4-BE49-F238E27FC236}">
                <a16:creationId xmlns:a16="http://schemas.microsoft.com/office/drawing/2014/main" id="{D168868F-90BB-4DF9-B31E-58060BC6C9F8}"/>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A567D2E-D3C8-4434-AF52-FAF6402709B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a:ext uri="{FF2B5EF4-FFF2-40B4-BE49-F238E27FC236}">
                <a16:creationId xmlns:a16="http://schemas.microsoft.com/office/drawing/2014/main" id="{276D68BD-1C7A-4A2D-A6ED-68F1E132DCAB}"/>
              </a:ext>
            </a:extLst>
          </p:cNvPr>
          <p:cNvSpPr>
            <a:spLocks noGrp="1"/>
          </p:cNvSpPr>
          <p:nvPr/>
        </p:nvSpPr>
        <p:spPr>
          <a:xfrm>
            <a:off x="8522208" y="217627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a:ext uri="{FF2B5EF4-FFF2-40B4-BE49-F238E27FC236}">
                <a16:creationId xmlns:a16="http://schemas.microsoft.com/office/drawing/2014/main" id="{7D52DBC3-B64D-4B83-982C-4BC0804328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a:ext uri="{FF2B5EF4-FFF2-40B4-BE49-F238E27FC236}">
                <a16:creationId xmlns:a16="http://schemas.microsoft.com/office/drawing/2014/main" id="{492E22EF-A767-4394-AB9C-6A374B84A56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BA675F-8177-4E3B-A875-82424698D527}"/>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87659E-1E7C-4EAF-BEA0-DF9393F5C275}"/>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TotalTime>
  <Words>35683</Words>
  <Application>Microsoft Macintosh PowerPoint</Application>
  <DocSecurity>0</DocSecurity>
  <PresentationFormat>Widescreen</PresentationFormat>
  <Paragraphs>3388</Paragraphs>
  <Slides>149</Slides>
  <Notes>149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149</vt:i4>
      </vt:variant>
    </vt:vector>
  </HeadingPairs>
  <TitlesOfParts>
    <vt:vector size="15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11</cp:revision>
  <dcterms:created xsi:type="dcterms:W3CDTF">2026-09-20T15:55:40Z</dcterms:created>
  <dcterms:modified xsi:type="dcterms:W3CDTF">2026-09-21T01:18:27Z</dcterms:modified>
</cp:coreProperties>
</file>