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1"/>
  </p:notesMasterIdLst>
  <p:sldIdLst>
    <p:sldId id="256" r:id="rId2"/>
    <p:sldId id="417" r:id="rId167"/>
    <p:sldId id="416" r:id="rId166"/>
    <p:sldId id="418" r:id="rId168"/>
    <p:sldId id="261" r:id="rId7"/>
    <p:sldId id="262" r:id="rId8"/>
    <p:sldId id="263" r:id="rId9"/>
    <p:sldId id="257" r:id="rId3"/>
    <p:sldId id="258" r:id="rId4"/>
    <p:sldId id="259" r:id="rId5"/>
    <p:sldId id="260" r:id="rId6"/>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9" r:id="rId64"/>
    <p:sldId id="320" r:id="rId65"/>
    <p:sldId id="321" r:id="rId66"/>
    <p:sldId id="322" r:id="rId67"/>
    <p:sldId id="324" r:id="rId69"/>
    <p:sldId id="325" r:id="rId70"/>
    <p:sldId id="326" r:id="rId71"/>
    <p:sldId id="327" r:id="rId72"/>
    <p:sldId id="328" r:id="rId73"/>
    <p:sldId id="329" r:id="rId74"/>
    <p:sldId id="331" r:id="rId76"/>
    <p:sldId id="332" r:id="rId77"/>
    <p:sldId id="333" r:id="rId78"/>
    <p:sldId id="334" r:id="rId79"/>
    <p:sldId id="335" r:id="rId80"/>
    <p:sldId id="336" r:id="rId81"/>
    <p:sldId id="338" r:id="rId83"/>
    <p:sldId id="339" r:id="rId84"/>
    <p:sldId id="340" r:id="rId85"/>
    <p:sldId id="341" r:id="rId86"/>
    <p:sldId id="342" r:id="rId87"/>
    <p:sldId id="343" r:id="rId88"/>
    <p:sldId id="345" r:id="rId90"/>
    <p:sldId id="346" r:id="rId91"/>
    <p:sldId id="347" r:id="rId92"/>
    <p:sldId id="348" r:id="rId93"/>
    <p:sldId id="349" r:id="rId94"/>
    <p:sldId id="350" r:id="rId95"/>
    <p:sldId id="352" r:id="rId97"/>
    <p:sldId id="353" r:id="rId98"/>
    <p:sldId id="354" r:id="rId99"/>
    <p:sldId id="355" r:id="rId100"/>
    <p:sldId id="356" r:id="rId101"/>
    <p:sldId id="357" r:id="rId102"/>
    <p:sldId id="359" r:id="rId104"/>
    <p:sldId id="360" r:id="rId105"/>
    <p:sldId id="361" r:id="rId106"/>
    <p:sldId id="362" r:id="rId107"/>
    <p:sldId id="363" r:id="rId108"/>
    <p:sldId id="364" r:id="rId109"/>
    <p:sldId id="366" r:id="rId111"/>
    <p:sldId id="367" r:id="rId112"/>
    <p:sldId id="368" r:id="rId113"/>
    <p:sldId id="369" r:id="rId114"/>
    <p:sldId id="370" r:id="rId115"/>
    <p:sldId id="371" r:id="rId116"/>
    <p:sldId id="373" r:id="rId118"/>
    <p:sldId id="374" r:id="rId119"/>
    <p:sldId id="375" r:id="rId120"/>
    <p:sldId id="376" r:id="rId121"/>
    <p:sldId id="377" r:id="rId122"/>
    <p:sldId id="378" r:id="rId123"/>
    <p:sldId id="380" r:id="rId125"/>
    <p:sldId id="381" r:id="rId126"/>
    <p:sldId id="382" r:id="rId127"/>
    <p:sldId id="383" r:id="rId128"/>
    <p:sldId id="384" r:id="rId129"/>
    <p:sldId id="385" r:id="rId130"/>
    <p:sldId id="387" r:id="rId132"/>
    <p:sldId id="388" r:id="rId133"/>
    <p:sldId id="389" r:id="rId134"/>
    <p:sldId id="390" r:id="rId135"/>
    <p:sldId id="391" r:id="rId136"/>
    <p:sldId id="392" r:id="rId137"/>
    <p:sldId id="394" r:id="rId139"/>
    <p:sldId id="395" r:id="rId140"/>
    <p:sldId id="396" r:id="rId141"/>
    <p:sldId id="397" r:id="rId142"/>
    <p:sldId id="398" r:id="rId143"/>
    <p:sldId id="399" r:id="rId144"/>
    <p:sldId id="401" r:id="rId146"/>
    <p:sldId id="402" r:id="rId147"/>
    <p:sldId id="403" r:id="rId148"/>
    <p:sldId id="404" r:id="rId149"/>
    <p:sldId id="405" r:id="rId150"/>
    <p:sldId id="406" r:id="rId151"/>
    <p:sldId id="408" r:id="rId153"/>
    <p:sldId id="409" r:id="rId154"/>
    <p:sldId id="410" r:id="rId155"/>
    <p:sldId id="411" r:id="rId156"/>
    <p:sldId id="412" r:id="rId157"/>
    <p:sldId id="413" r:id="rId158"/>
    <p:sldId id="415"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71"/>
  </p:normalViewPr>
  <p:slideViewPr>
    <p:cSldViewPr snapToGrid="0" snapToObjects="1">
      <p:cViewPr varScale="1">
        <p:scale>
          <a:sx n="116" d="100"/>
          <a:sy n="116"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91" Type="http://schemas.openxmlformats.org/officeDocument/2006/relationships/slide" Target="slides/slide90.xml"/><Relationship Id="rId140" Type="http://schemas.openxmlformats.org/officeDocument/2006/relationships/slide" Target="slides/slide139.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&#65279;<?xml version="1.0" encoding="utf-8"?><Relationships xmlns="http://schemas.openxmlformats.org/package/2006/relationships"><Relationship Type="http://schemas.openxmlformats.org/officeDocument/2006/relationships/slide" Target="../slides/slide160.xml" Id="R789ca2632a6e47fb" /><Relationship Type="http://schemas.openxmlformats.org/officeDocument/2006/relationships/notesMaster" Target="/ppt/notesMasters/notesMaster1.xml" Id="R1084d3cb043a4f1e" /></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r>
              <a:t/>
            </a:r>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xmlns:a="http://schemas.openxmlformats.org/drawingml/2006/main">
            <a:r>
              <a:t/>
            </a:r>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r>
              <a:t/>
            </a:r>
            <a:endParaRPr/>
          </a:p>
          <a:p xmlns:a="http://schemas.openxmlformats.org/drawingml/2006/main">
            <a:r>
              <a:t>Transition: Begin with Part 1, the study 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by defining a contrast, the unit used for each AD-versus-comparison DEG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summarize all significant DEG results across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workflow, cohorts, and gene-set definitions established, begin Part 2 with the differential-expression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OXPHOS DEG direction across sex/APOE groups and highlight the contrasting epsilon-3 homozygous patterns.</a:t>
            </a:r>
          </a:p>
          <a:p xmlns:a="http://schemas.openxmlformats.org/drawingml/2006/main">
            <a:r>
              <a:t/>
            </a:r>
            <a:endParaRPr/>
          </a:p>
          <a:p xmlns:a="http://schemas.openxmlformats.org/drawingml/2006/main">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xmlns:a="http://schemas.openxmlformats.org/drawingml/2006/main">
            <a:r>
              <a:t/>
            </a:r>
            <a:endParaRPr/>
          </a:p>
          <a:p xmlns:a="http://schemas.openxmlformats.org/drawingml/2006/main">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xmlns:a="http://schemas.openxmlformats.org/drawingml/2006/main">
            <a:r>
              <a:t/>
            </a:r>
            <a:endParaRPr/>
          </a:p>
          <a:p xmlns:a="http://schemas.openxmlformats.org/drawingml/2006/main">
            <a:r>
              <a:t>Transition: Now move to Part 4,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key-driver-analysis section.</a:t>
            </a:r>
          </a:p>
          <a:p xmlns:a="http://schemas.openxmlformats.org/drawingml/2006/main">
            <a:r>
              <a:t/>
            </a:r>
            <a:endParaRPr/>
          </a:p>
          <a:p xmlns:a="http://schemas.openxmlformats.org/drawingml/2006/main">
            <a:r>
              <a:t>Walk through: Part 4 follows mitochondrial DEGs from one fine-cell contrast into one network query, identifies significant returned key drivers, and then aggregates repeated fine-cell evidence within sex/APOE by broad-cell categories using returned-only ACAT.</a:t>
            </a:r>
          </a:p>
          <a:p xmlns:a="http://schemas.openxmlformats.org/drawingml/2006/main">
            <a:r>
              <a:t/>
            </a:r>
            <a:endParaRPr/>
          </a:p>
          <a:p xmlns:a="http://schemas.openxmlformats.org/drawingml/2006/main">
            <a:r>
              <a:t>Scientific boundary: KDA nominates network-associated candidate regulators. It does not prove that a returned gene causally controls the mitochondrial pathway, and it does not pool sex/APOE groups.</a:t>
            </a:r>
          </a:p>
          <a:p xmlns:a="http://schemas.openxmlformats.org/drawingml/2006/main">
            <a:r>
              <a:t/>
            </a:r>
            <a:endParaRPr/>
          </a:p>
          <a:p xmlns:a="http://schemas.openxmlformats.org/drawingml/2006/main">
            <a:r>
              <a:t>Transition: Before walking through KDA, define the category used to summarize fine-cell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categories defined, follow one contrast from DEG analysis to its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Part 7, the biological findings and discussion.</a:t>
            </a:r>
          </a:p>
          <a:p xmlns:a="http://schemas.openxmlformats.org/drawingml/2006/main">
            <a:r>
              <a:t/>
            </a:r>
            <a:endParaRPr/>
          </a:p>
          <a:p xmlns:a="http://schemas.openxmlformats.org/drawingml/2006/main">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xmlns:a="http://schemas.openxmlformats.org/drawingml/2006/main">
            <a:r>
              <a:t/>
            </a:r>
            <a:endParaRPr/>
          </a:p>
          <a:p xmlns:a="http://schemas.openxmlformats.org/drawingml/2006/main">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xmlns:a="http://schemas.openxmlformats.org/drawingml/2006/main">
            <a:r>
              <a:t/>
            </a:r>
            <a:endParaRPr/>
          </a:p>
          <a:p xmlns:a="http://schemas.openxmlformats.org/drawingml/2006/main">
            <a:r>
              <a:t>Transition: Begin with Finding 1, the female epsilon-3 homozygous core MT gene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ROSMAP DEG-occurrence pattern for Finding 3.</a:t>
            </a:r>
          </a:p>
          <a:p xmlns:a="http://schemas.openxmlformats.org/drawingml/2006/main">
            <a:r>
              <a:t/>
            </a:r>
            <a:endParaRPr/>
          </a:p>
          <a:p xmlns:a="http://schemas.openxmlformats.org/drawingml/2006/main">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xmlns:a="http://schemas.openxmlformats.org/drawingml/2006/main">
            <a:r>
              <a:t/>
            </a:r>
            <a:endParaRPr/>
          </a:p>
          <a:p xmlns:a="http://schemas.openxmlformats.org/drawingml/2006/main">
            <a:r>
              <a:t>Scientific boundary: The numbers 128 and 243 are gene-by-comparison occurrences, not counts of unique genes, cells, donors, or genes returned from KDA calls. The percentages do not measure expression magnitude, OXPHOS protein abundance, respiration, or ATP production.</a:t>
            </a:r>
          </a:p>
          <a:p xmlns:a="http://schemas.openxmlformats.org/drawingml/2006/main">
            <a:r>
              <a:t/>
            </a:r>
            <a:endParaRPr/>
          </a:p>
          <a:p xmlns:a="http://schemas.openxmlformats.org/drawingml/2006/main">
            <a:r>
              <a:t>Transition: Compare this primary fine-cell DEG pattern with the direct broad-cell ROSMAP result and the available SEA-AD coverage.</a:t>
            </a:r>
          </a:p>
          <a:p xmlns:a="http://schemas.openxmlformats.org/drawingml/2006/main">
            <a:r>
              <a:t/>
            </a:r>
            <a:endParaRPr/>
          </a:p>
          <a:p xmlns:a="http://schemas.openxmlformats.org/drawingml/2006/main">
            <a:r>
              <a:t>Sources: docs/analysis/kda_w_human_validation/rosmap_sex_apoe_broad_kda_analysis.md, Finding 3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 as a female APOE ε4 DEG-direction result.</a:t>
            </a:r>
          </a:p>
          <a:p xmlns:a="http://schemas.openxmlformats.org/drawingml/2006/main">
            <a:r>
              <a:t/>
            </a:r>
            <a:endParaRPr/>
          </a:p>
          <a:p xmlns:a="http://schemas.openxmlformats.org/drawingml/2006/main">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xmlns:a="http://schemas.openxmlformats.org/drawingml/2006/main">
            <a:r>
              <a:t/>
            </a:r>
            <a:endParaRPr/>
          </a:p>
          <a:p xmlns:a="http://schemas.openxmlformats.org/drawingml/2006/main">
            <a:r>
              <a:t>Scientific boundary: This finding describes differential gene expression. It does not directly measure respiratory-complex proteins, oxygen consumption, ATP production, or a causal sex-by-APOE interaction.</a:t>
            </a:r>
          </a:p>
          <a:p xmlns:a="http://schemas.openxmlformats.org/drawingml/2006/main">
            <a:r>
              <a:t/>
            </a:r>
            <a:endParaRPr/>
          </a:p>
          <a:p xmlns:a="http://schemas.openxmlformats.org/drawingml/2006/main">
            <a:r>
              <a:t>Transition: State the two OXPHOS gene-set directions in plain language.</a:t>
            </a:r>
          </a:p>
          <a:p xmlns:a="http://schemas.openxmlformats.org/drawingml/2006/main">
            <a:r>
              <a:t/>
            </a:r>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female APOE ε4 pattern before showing the counts.</a:t>
            </a:r>
          </a:p>
          <a:p xmlns:a="http://schemas.openxmlformats.org/drawingml/2006/main">
            <a:r>
              <a:t/>
            </a:r>
            <a:endParaRPr/>
          </a:p>
          <a:p xmlns:a="http://schemas.openxmlformats.org/drawingml/2006/main">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xmlns:a="http://schemas.openxmlformats.org/drawingml/2006/main">
            <a:r>
              <a:t/>
            </a:r>
            <a:endParaRPr/>
          </a:p>
          <a:p xmlns:a="http://schemas.openxmlformats.org/drawingml/2006/main">
            <a:r>
              <a:t>Scientific boundary: An occurrence is one gene observed as a DEG in one fine-cell comparison. Repeated occurrences are not independent donors or unique genes, and the direct broad-cell result points in the opposite direction.</a:t>
            </a:r>
          </a:p>
          <a:p xmlns:a="http://schemas.openxmlformats.org/drawingml/2006/main">
            <a:r>
              <a:t/>
            </a:r>
            <a:endParaRPr/>
          </a:p>
          <a:p xmlns:a="http://schemas.openxmlformats.org/drawingml/2006/main">
            <a:r>
              <a:t>Transition: Show the exact occurrence counts and percentages.</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female APOE ε4 DEG directions without mixing them with pathway statistics.</a:t>
            </a:r>
          </a:p>
          <a:p xmlns:a="http://schemas.openxmlformats.org/drawingml/2006/main">
            <a:r>
              <a:t/>
            </a:r>
            <a:endParaRPr/>
          </a:p>
          <a:p xmlns:a="http://schemas.openxmlformats.org/drawingml/2006/main">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xmlns:a="http://schemas.openxmlformats.org/drawingml/2006/main">
            <a:r>
              <a:t/>
            </a:r>
            <a:endParaRPr/>
          </a:p>
          <a:p xmlns:a="http://schemas.openxmlformats.org/drawingml/2006/main">
            <a:r>
              <a:t>Scientific boundary: These are repeated gene-by-fine-cell DEG occurrences. They are not counts of unique genes, cells, donors, or genes returned from KDA calls, and they do not quantify the magnitude of expression change.</a:t>
            </a:r>
          </a:p>
          <a:p xmlns:a="http://schemas.openxmlformats.org/drawingml/2006/main">
            <a:r>
              <a:t/>
            </a:r>
            <a:endParaRPr/>
          </a:p>
          <a:p xmlns:a="http://schemas.openxmlformats.org/drawingml/2006/main">
            <a:r>
              <a:t>Transition: Check whether direct broad-cell analysis supports the same direction.</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that the female APOE ε4 result changes with cell-type resolution.</a:t>
            </a:r>
          </a:p>
          <a:p xmlns:a="http://schemas.openxmlformats.org/drawingml/2006/main">
            <a:r>
              <a:t/>
            </a:r>
            <a:endParaRPr/>
          </a:p>
          <a:p xmlns:a="http://schemas.openxmlformats.org/drawingml/2006/main">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xmlns:a="http://schemas.openxmlformats.org/drawingml/2006/main">
            <a:r>
              <a:t/>
            </a:r>
            <a:endParaRPr/>
          </a:p>
          <a:p xmlns:a="http://schemas.openxmlformats.org/drawingml/2006/main">
            <a:r>
              <a:t>Scientific boundary: The disagreement does not invalidate the fine-cell observation, but it prevents describing the decrease as a broad-cell-wide or cross-cohort effect. Aggregation, subtype composition, and limited matched coverage remain plausible explanations.</a:t>
            </a:r>
          </a:p>
          <a:p xmlns:a="http://schemas.openxmlformats.org/drawingml/2006/main">
            <a:r>
              <a:t/>
            </a:r>
            <a:endParaRPr/>
          </a:p>
          <a:p xmlns:a="http://schemas.openxmlformats.org/drawingml/2006/main">
            <a:r>
              <a:t>Transition: Explain the biological importance and the resolution warning together.</a:t>
            </a:r>
          </a:p>
          <a:p xmlns:a="http://schemas.openxmlformats.org/drawingml/2006/main">
            <a:r>
              <a:t/>
            </a:r>
          </a:p>
          <a:p xmlns:a="http://schemas.openxmlformats.org/drawingml/2006/main">
            <a:r>
              <a:t>Sources: docs/analysis/kda_w_human_validation/rosmap_sex_apoe_broad_kda_analysis.md, Finding 4 and validation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a nuclear-encoded OXPHOS decrease could matter biologically.</a:t>
            </a:r>
          </a:p>
          <a:p xmlns:a="http://schemas.openxmlformats.org/drawingml/2006/main">
            <a:r>
              <a:t/>
            </a:r>
            <a:endParaRPr/>
          </a:p>
          <a:p xmlns:a="http://schemas.openxmlformats.org/drawingml/2006/main">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xmlns:a="http://schemas.openxmlformats.org/drawingml/2006/main">
            <a:r>
              <a:t/>
            </a:r>
            <a:endParaRPr/>
          </a:p>
          <a:p xmlns:a="http://schemas.openxmlformats.org/drawingml/2006/main">
            <a:r>
              <a:t>Scientific boundary: Gene expression alone cannot establish lower respiratory capacity, and the broad-cell direction reverses. The most cautious interpretation is a fine-cell signal that warrants targeted follow-up.</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prior research without overstating replication.</a:t>
            </a:r>
          </a:p>
          <a:p xmlns:a="http://schemas.openxmlformats.org/drawingml/2006/main">
            <a:r>
              <a:t/>
            </a:r>
            <a:endParaRPr/>
          </a:p>
          <a:p xmlns:a="http://schemas.openxmlformats.org/drawingml/2006/main">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xmlns:a="http://schemas.openxmlformats.org/drawingml/2006/main">
            <a:r>
              <a:t/>
            </a:r>
            <a:endParaRPr/>
          </a:p>
          <a:p xmlns:a="http://schemas.openxmlformats.org/drawingml/2006/main">
            <a:r>
              <a:t>Scientific boundary: Biological plausibility, novelty, and replication are separate judgments. The current finding remains resolution-sensitive and needs independent confirmation.</a:t>
            </a:r>
          </a:p>
          <a:p xmlns:a="http://schemas.openxmlformats.org/drawingml/2006/main">
            <a:r>
              <a:t/>
            </a:r>
            <a:endParaRPr/>
          </a:p>
          <a:p xmlns:a="http://schemas.openxmlformats.org/drawingml/2006/main">
            <a:r>
              <a:t>Transition: Move to the coordinated downward pattern in male APOE ε2 cells.</a:t>
            </a:r>
          </a:p>
          <a:p xmlns:a="http://schemas.openxmlformats.org/drawingml/2006/main">
            <a:r>
              <a:t/>
            </a:r>
          </a:p>
          <a:p xmlns:a="http://schemas.openxmlformats.org/drawingml/2006/main">
            <a:r>
              <a:t>Sources: docs/analysis/kda_w_human_validation/rosmap_sex_apoe_broad_kda_analysis.md, Finding 4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 as a coordinated male APOE ε2 DEG decrease.</a:t>
            </a:r>
          </a:p>
          <a:p xmlns:a="http://schemas.openxmlformats.org/drawingml/2006/main">
            <a:r>
              <a:t/>
            </a:r>
            <a:endParaRPr/>
          </a:p>
          <a:p xmlns:a="http://schemas.openxmlformats.org/drawingml/2006/main">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xmlns:a="http://schemas.openxmlformats.org/drawingml/2006/main">
            <a:r>
              <a:t/>
            </a:r>
            <a:endParaRPr/>
          </a:p>
          <a:p xmlns:a="http://schemas.openxmlformats.org/drawingml/2006/main">
            <a:r>
              <a:t>Scientific boundary: The result describes disease-associated gene expression in observed tissue. It does not imply that APOE ε2 causes the decrease or that lower expression explains APOE ε2 population-level protection.</a:t>
            </a:r>
          </a:p>
          <a:p xmlns:a="http://schemas.openxmlformats.org/drawingml/2006/main">
            <a:r>
              <a:t/>
            </a:r>
            <a:endParaRPr/>
          </a:p>
          <a:p xmlns:a="http://schemas.openxmlformats.org/drawingml/2006/main">
            <a:r>
              <a:t>Transition: State the coordinated direction and its contrast with male APOE ε3/ε3.</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coordinated male APOE ε2 decrease in plain language.</a:t>
            </a:r>
          </a:p>
          <a:p xmlns:a="http://schemas.openxmlformats.org/drawingml/2006/main">
            <a:r>
              <a:t/>
            </a:r>
            <a:endParaRPr/>
          </a:p>
          <a:p xmlns:a="http://schemas.openxmlformats.org/drawingml/2006/main">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xmlns:a="http://schemas.openxmlformats.org/drawingml/2006/main">
            <a:r>
              <a:t/>
            </a:r>
            <a:endParaRPr/>
          </a:p>
          <a:p xmlns:a="http://schemas.openxmlformats.org/drawingml/2006/main">
            <a:r>
              <a:t>Scientific boundary: APOE ε2 lowers average Alzheimer’s disease risk at the population level, but that does not predict every molecular state after disease develops. The observed expression pattern is descriptive rather than causal.</a:t>
            </a:r>
          </a:p>
          <a:p xmlns:a="http://schemas.openxmlformats.org/drawingml/2006/main">
            <a:r>
              <a:t/>
            </a:r>
            <a:endParaRPr/>
          </a:p>
          <a:p xmlns:a="http://schemas.openxmlformats.org/drawingml/2006/main">
            <a:r>
              <a:t>Transition: Show the exact DEG-occurrence percentages.</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male APOE ε2 DEG burden in both OXPHOS gene sets.</a:t>
            </a:r>
          </a:p>
          <a:p xmlns:a="http://schemas.openxmlformats.org/drawingml/2006/main">
            <a:r>
              <a:t/>
            </a:r>
            <a:endParaRPr/>
          </a:p>
          <a:p xmlns:a="http://schemas.openxmlformats.org/drawingml/2006/main">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xmlns:a="http://schemas.openxmlformats.org/drawingml/2006/main">
            <a:r>
              <a:t/>
            </a:r>
            <a:endParaRPr/>
          </a:p>
          <a:p xmlns:a="http://schemas.openxmlformats.org/drawingml/2006/main">
            <a:r>
              <a:t>Scientific boundary: The 523 value combines repeated gene-by-fine-cell occurrences from two defined gene sets. It is not a count of unique genes, donors, cells, or genes returned from KDA calls, and it does not measure expression magnitude or mitochondrial function.</a:t>
            </a:r>
          </a:p>
          <a:p xmlns:a="http://schemas.openxmlformats.org/drawingml/2006/main">
            <a:r>
              <a:t/>
            </a:r>
            <a:endParaRPr/>
          </a:p>
          <a:p xmlns:a="http://schemas.openxmlformats.org/drawingml/2006/main">
            <a:r>
              <a:t>Transition: Explain why the male APOE ε2 DEG sets are unusually large.</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DEG-set-size caveat for male APOE ε2.</a:t>
            </a:r>
          </a:p>
          <a:p xmlns:a="http://schemas.openxmlformats.org/drawingml/2006/main">
            <a:r>
              <a:t/>
            </a:r>
            <a:endParaRPr/>
          </a:p>
          <a:p xmlns:a="http://schemas.openxmlformats.org/drawingml/2006/main">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xmlns:a="http://schemas.openxmlformats.org/drawingml/2006/main">
            <a:r>
              <a:t/>
            </a:r>
            <a:endParaRPr/>
          </a:p>
          <a:p xmlns:a="http://schemas.openxmlformats.org/drawingml/2006/main">
            <a:r>
              <a:t>Scientific boundary: This size difference affects comparisons of KDA output counts. It does not change the observed AD-up versus AD-down DEG occurrence counts on the preceding slide. SEA-AD has no matching active male APOE ε2 category here.</a:t>
            </a:r>
          </a:p>
          <a:p xmlns:a="http://schemas.openxmlformats.org/drawingml/2006/main">
            <a:r>
              <a:t/>
            </a:r>
            <a:endParaRPr/>
          </a:p>
          <a:p xmlns:a="http://schemas.openxmlformats.org/drawingml/2006/main">
            <a:r>
              <a:t>Transition: Return to the biological meaning of the coordinated DEG direction.</a:t>
            </a:r>
          </a:p>
          <a:p xmlns:a="http://schemas.openxmlformats.org/drawingml/2006/main">
            <a:r>
              <a:t/>
            </a:r>
          </a:p>
          <a:p xmlns:a="http://schemas.openxmlformats.org/drawingml/2006/main">
            <a:r>
              <a:t>Sources: docs/analysis/kda_w_human_validation/rosmap_sex_apoe_broad_kda_analysis.md, Finding 5 and KDA query-size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the male APOE ε2 DEG direction from inherited-risk interpretation and mitochondrial function.</a:t>
            </a:r>
          </a:p>
          <a:p xmlns:a="http://schemas.openxmlformats.org/drawingml/2006/main">
            <a:r>
              <a:t/>
            </a:r>
            <a:endParaRPr/>
          </a:p>
          <a:p xmlns:a="http://schemas.openxmlformats.org/drawingml/2006/main">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xmlns:a="http://schemas.openxmlformats.org/drawingml/2006/main">
            <a:r>
              <a:t/>
            </a:r>
            <a:endParaRPr/>
          </a:p>
          <a:p xmlns:a="http://schemas.openxmlformats.org/drawingml/2006/main">
            <a:r>
              <a:t>Scientific boundary: Lower gene expression does not by itself demonstrate lower respiratory-complex abundance, respiration, ATP production, or mitochondrial fitness. Protein and functional measurements are needed.</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prior research without overstating independent support.</a:t>
            </a:r>
          </a:p>
          <a:p xmlns:a="http://schemas.openxmlformats.org/drawingml/2006/main">
            <a:r>
              <a:t/>
            </a:r>
            <a:endParaRPr/>
          </a:p>
          <a:p xmlns:a="http://schemas.openxmlformats.org/drawingml/2006/main">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xmlns:a="http://schemas.openxmlformats.org/drawingml/2006/main">
            <a:r>
              <a:t/>
            </a:r>
            <a:endParaRPr/>
          </a:p>
          <a:p xmlns:a="http://schemas.openxmlformats.org/drawingml/2006/main">
            <a:r>
              <a:t>Scientific boundary: The finding is potentially novel but currently lacks a matched SEA-AD category and functional validation. Novelty and evidence strength should remain separate.</a:t>
            </a:r>
          </a:p>
          <a:p xmlns:a="http://schemas.openxmlformats.org/drawingml/2006/main">
            <a:r>
              <a:t/>
            </a:r>
            <a:endParaRPr/>
          </a:p>
          <a:p xmlns:a="http://schemas.openxmlformats.org/drawingml/2006/main">
            <a:r>
              <a:t>Transition: Move to Finding 6, where male APOE ε4 shows opposite directions across the two OXPHOS gene sets.</a:t>
            </a:r>
          </a:p>
          <a:p xmlns:a="http://schemas.openxmlformats.org/drawingml/2006/main">
            <a:r>
              <a:t/>
            </a:r>
          </a:p>
          <a:p xmlns:a="http://schemas.openxmlformats.org/drawingml/2006/main">
            <a:r>
              <a:t>Sources: docs/analysis/kda_w_human_validation/rosmap_sex_apoe_broad_kda_analysis.md, Finding 5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function.</a:t>
            </a:r>
          </a:p>
          <a:p xmlns:a="http://schemas.openxmlformats.org/drawingml/2006/main">
            <a:r>
              <a:t/>
            </a:r>
            <a:endParaRPr/>
          </a:p>
          <a:p xmlns:a="http://schemas.openxmlformats.org/drawingml/2006/main">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7 may matter without overstating function.</a:t>
            </a:r>
          </a:p>
          <a:p xmlns:a="http://schemas.openxmlformats.org/drawingml/2006/main">
            <a:r>
              <a:t/>
            </a:r>
            <a:endParaRPr/>
          </a:p>
          <a:p xmlns:a="http://schemas.openxmlformats.org/drawingml/2006/main">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8 may matter without overstating function.</a:t>
            </a:r>
          </a:p>
          <a:p xmlns:a="http://schemas.openxmlformats.org/drawingml/2006/main">
            <a:r>
              <a:t/>
            </a:r>
            <a:endParaRPr/>
          </a:p>
          <a:p xmlns:a="http://schemas.openxmlformats.org/drawingml/2006/main">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9 may matter without overstating function.</a:t>
            </a:r>
          </a:p>
          <a:p xmlns:a="http://schemas.openxmlformats.org/drawingml/2006/main">
            <a:r>
              <a:t/>
            </a:r>
            <a:endParaRPr/>
          </a:p>
          <a:p xmlns:a="http://schemas.openxmlformats.org/drawingml/2006/main">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10 may matter without overstating function.</a:t>
            </a:r>
          </a:p>
          <a:p xmlns:a="http://schemas.openxmlformats.org/drawingml/2006/main">
            <a:r>
              <a:t/>
            </a:r>
            <a:endParaRPr/>
          </a:p>
          <a:p xmlns:a="http://schemas.openxmlformats.org/drawingml/2006/main">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11 may matter without overstating function.</a:t>
            </a:r>
          </a:p>
          <a:p xmlns:a="http://schemas.openxmlformats.org/drawingml/2006/main">
            <a:r>
              <a:t/>
            </a:r>
            <a:endParaRPr/>
          </a:p>
          <a:p xmlns:a="http://schemas.openxmlformats.org/drawingml/2006/main">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12 may matter without overstating function.</a:t>
            </a:r>
          </a:p>
          <a:p xmlns:a="http://schemas.openxmlformats.org/drawingml/2006/main">
            <a:r>
              <a:t/>
            </a:r>
            <a:endParaRPr/>
          </a:p>
          <a:p xmlns:a="http://schemas.openxmlformats.org/drawingml/2006/main">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13 may matter without overstating function.</a:t>
            </a:r>
          </a:p>
          <a:p xmlns:a="http://schemas.openxmlformats.org/drawingml/2006/main">
            <a:r>
              <a:t/>
            </a:r>
            <a:endParaRPr/>
          </a:p>
          <a:p xmlns:a="http://schemas.openxmlformats.org/drawingml/2006/main">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14 may matter without overstating function.</a:t>
            </a:r>
          </a:p>
          <a:p xmlns:a="http://schemas.openxmlformats.org/drawingml/2006/main">
            <a:r>
              <a:t/>
            </a:r>
            <a:endParaRPr/>
          </a:p>
          <a:p xmlns:a="http://schemas.openxmlformats.org/drawingml/2006/main">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15 may matter without overstating function.</a:t>
            </a:r>
          </a:p>
          <a:p xmlns:a="http://schemas.openxmlformats.org/drawingml/2006/main">
            <a:r>
              <a:t/>
            </a:r>
            <a:endParaRPr/>
          </a:p>
          <a:p xmlns:a="http://schemas.openxmlformats.org/drawingml/2006/main">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16 may matter without overstating function.</a:t>
            </a:r>
          </a:p>
          <a:p xmlns:a="http://schemas.openxmlformats.org/drawingml/2006/main">
            <a:r>
              <a:t/>
            </a:r>
            <a:endParaRPr/>
          </a:p>
          <a:p xmlns:a="http://schemas.openxmlformats.org/drawingml/2006/main">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17 may matter without overstating function.</a:t>
            </a:r>
          </a:p>
          <a:p xmlns:a="http://schemas.openxmlformats.org/drawingml/2006/main">
            <a:r>
              <a:t/>
            </a:r>
            <a:endParaRPr/>
          </a:p>
          <a:p xmlns:a="http://schemas.openxmlformats.org/drawingml/2006/main">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analysis moves from cell-level gene expression to validation.</a:t>
            </a:r>
          </a:p>
          <a:p xmlns:a="http://schemas.openxmlformats.org/drawingml/2006/main">
            <a:r>
              <a:t/>
            </a:r>
          </a:p>
          <a:p xmlns:a="http://schemas.openxmlformats.org/drawingml/2006/main">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xmlns:a="http://schemas.openxmlformats.org/drawingml/2006/main">
            <a:r>
              <a:t/>
            </a:r>
          </a:p>
          <a:p xmlns:a="http://schemas.openxmlformats.org/drawingml/2006/main">
            <a:r>
              <a:t>Scientific boundary: The first four stages summarize analyses presented in this deck. Mouse validation is a proposed next step and does not contribute evidence to the current findings.</a:t>
            </a:r>
          </a:p>
          <a:p xmlns:a="http://schemas.openxmlformats.org/drawingml/2006/main">
            <a:r>
              <a:t/>
            </a:r>
          </a:p>
          <a:p xmlns:a="http://schemas.openxmlformats.org/drawingml/2006/main">
            <a:r>
              <a:t>Transition: Next, introduce the two human brain cohorts.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defines the mitochondrial gene sets and pathway hierarchy used throughout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&#65279;<?xml version="1.0" encoding="utf-8"?><Relationships xmlns="http://schemas.openxmlformats.org/package/2006/relationships"><Relationship Type="http://schemas.openxmlformats.org/officeDocument/2006/relationships/slideLayout" Target="/ppt/slideLayouts/slideLayout7.xml" Id="R25207034af504b3e" /><Relationship Type="http://schemas.openxmlformats.org/officeDocument/2006/relationships/notesSlide" Target="../notesSlides/notesSlide160.xml" Id="R66b6056a14d14172" /></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A316EEB-069D-41A8-577B-5F43F368006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0F86007-9552-FFC3-B183-B90F517A5A0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2</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6449442-E04A-2746-AD1A-39210122B8CC}"/>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C52DFCBC-DC31-CFCB-BB0B-646BD49CF41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A38812-820E-43AA-AEA6-5D3C98C983E1}"/>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4</a:t>
            </a:r>
            <a:endParaRPr sz="1050" b="1" i="0">
              <a:solidFill>
                <a:srgbClr val="0072B2"/>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B029E37C-4342-4CDA-8A77-437F6147B463}"/>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756A2B-C51E-4074-A29B-8354303A5F96}"/>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xmlns:a="http://schemas.openxmlformats.org/drawingml/2006/main">
              <a:ext uri="{FF2B5EF4-FFF2-40B4-BE49-F238E27FC236}">
                <a16:creationId xmlns:a16="http://schemas.microsoft.com/office/drawing/2014/main" id="{B83AEE6C-0C4B-4977-BEEB-80A7144C7C9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13A4AF5-D8B1-41D0-AA6F-13D5CC8DBC3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BDF530FF-5B80-4445-971C-3E93F262580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B20975-3211-4AF5-9570-0EB0D9AD689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B591A55-3D73-4ECA-BE0D-C3ACADE17C01}"/>
              </a:ext>
            </a:extLst>
          </p:cNvPr>
          <p:cNvSpPr>
            <a:spLocks xmlns:a="http://schemas.openxmlformats.org/drawingml/2006/main" noGrp="1"/>
          </p:cNvSpPr>
          <p:nvPr/>
        </p:nvSpPr>
        <p:spPr>
          <a:xfrm xmlns:a="http://schemas.openxmlformats.org/drawingml/2006/main">
            <a:off x="9628632" y="203482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D0513708-4DE7-443D-9851-630F8E71D76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08C1D71-67D0-44D5-864E-C04624C18AFA}"/>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E3EEDA7-BA00-4CDB-BFDE-9F2883F95298}"/>
              </a:ext>
            </a:extLst>
          </p:cNvPr>
          <p:cNvSpPr>
            <a:spLocks xmlns:a="http://schemas.openxmlformats.org/drawingml/2006/main" noGrp="1"/>
          </p:cNvSpPr>
          <p:nvPr/>
        </p:nvSpPr>
        <p:spPr>
          <a:xfrm xmlns:a="http://schemas.openxmlformats.org/drawingml/2006/main">
            <a:off x="9628632" y="2790427"/>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2BFBCCAC-5C0E-417E-8013-1A19463D7077}"/>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B6D520-0795-4F7E-A96C-A74455F24ED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C755F62-BD64-4F6E-B193-416C9CE4E9C5}"/>
              </a:ext>
            </a:extLst>
          </p:cNvPr>
          <p:cNvSpPr>
            <a:spLocks xmlns:a="http://schemas.openxmlformats.org/drawingml/2006/main" noGrp="1"/>
          </p:cNvSpPr>
          <p:nvPr/>
        </p:nvSpPr>
        <p:spPr>
          <a:xfrm xmlns:a="http://schemas.openxmlformats.org/drawingml/2006/main">
            <a:off x="9628632" y="3551805"/>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5225D091-C2ED-4309-ACD3-2E65A4BFB68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33959B-4CEB-4D27-A9C6-57EADC2D811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BA6D3EF5-7783-4F39-99AB-618E5BD525A9}"/>
              </a:ext>
            </a:extLst>
          </p:cNvPr>
          <p:cNvSpPr>
            <a:spLocks xmlns:a="http://schemas.openxmlformats.org/drawingml/2006/main" noGrp="1"/>
          </p:cNvSpPr>
          <p:nvPr/>
        </p:nvSpPr>
        <p:spPr>
          <a:xfrm xmlns:a="http://schemas.openxmlformats.org/drawingml/2006/main">
            <a:off x="9628632" y="4295829"/>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2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569C9E-D5CE-444A-96FB-F4D407E28AC3}"/>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9E73"/>
                </a:solidFill>
                <a:latin typeface="Arial"/>
                <a:ea typeface="Arial"/>
                <a:cs typeface="Arial"/>
              </a:rPr>
              <a:t>PART 5</a:t>
            </a:r>
            <a:endParaRPr sz="1050" b="1" i="0">
              <a:solidFill>
                <a:srgbClr val="009E73"/>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F2BA23F8-CF15-4B72-8BB2-D57E6CA016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3DC0AD6-4299-4D0F-961F-96F0FB854F2D}"/>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xmlns:a="http://schemas.openxmlformats.org/drawingml/2006/main">
              <a:ext uri="{FF2B5EF4-FFF2-40B4-BE49-F238E27FC236}">
                <a16:creationId xmlns:a16="http://schemas.microsoft.com/office/drawing/2014/main" id="{F0D7FE17-E245-404D-80E1-239C6047FE4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3251616-1E09-4A84-857B-CC40EAF794C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17E07A8E-BBA6-4DDE-8AF7-797D7EF21C7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27F1BCE-39EA-40B8-8D6A-32B1CFF4BBA0}"/>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7E0B846-5D25-4AAF-820D-ADE26EB228EA}"/>
              </a:ext>
            </a:extLst>
          </p:cNvPr>
          <p:cNvSpPr>
            <a:spLocks xmlns:a="http://schemas.openxmlformats.org/drawingml/2006/main" noGrp="1"/>
          </p:cNvSpPr>
          <p:nvPr/>
        </p:nvSpPr>
        <p:spPr>
          <a:xfrm xmlns:a="http://schemas.openxmlformats.org/drawingml/2006/main">
            <a:off x="9628632" y="2011680"/>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25BC35C0-8EB4-4CB9-B6DC-12707E7E0DC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3E593C-CE4C-44A9-AA30-21B82C7AFD46}"/>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557AEFD-363D-42FB-B1C6-16E766E0557D}"/>
              </a:ext>
            </a:extLst>
          </p:cNvPr>
          <p:cNvSpPr>
            <a:spLocks xmlns:a="http://schemas.openxmlformats.org/drawingml/2006/main" noGrp="1"/>
          </p:cNvSpPr>
          <p:nvPr/>
        </p:nvSpPr>
        <p:spPr>
          <a:xfrm xmlns:a="http://schemas.openxmlformats.org/drawingml/2006/main">
            <a:off x="9628632" y="276148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76022DFA-4C8F-40E9-AEFC-D847CF926B9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8763030-A0D4-403C-B577-1D252BB528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A043817-07B6-4981-9CE4-DEAE214BE66C}"/>
              </a:ext>
            </a:extLst>
          </p:cNvPr>
          <p:cNvSpPr>
            <a:spLocks xmlns:a="http://schemas.openxmlformats.org/drawingml/2006/main" noGrp="1"/>
          </p:cNvSpPr>
          <p:nvPr/>
        </p:nvSpPr>
        <p:spPr>
          <a:xfrm xmlns:a="http://schemas.openxmlformats.org/drawingml/2006/main">
            <a:off x="9628632" y="3511296"/>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674AE4D7-1D34-4866-989F-DE4C41BF6661}"/>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0DB2C69-CC33-4708-BF6C-708EE3B38B8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44C318C-EA1D-4BAC-ADDA-C0B26C695230}"/>
              </a:ext>
            </a:extLst>
          </p:cNvPr>
          <p:cNvSpPr>
            <a:spLocks xmlns:a="http://schemas.openxmlformats.org/drawingml/2006/main" noGrp="1"/>
          </p:cNvSpPr>
          <p:nvPr/>
        </p:nvSpPr>
        <p:spPr>
          <a:xfrm xmlns:a="http://schemas.openxmlformats.org/drawingml/2006/main">
            <a:off x="9628632" y="4261104"/>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8AB12A-D026-4286-B862-075E45B71C5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xmlns:a="http://schemas.openxmlformats.org/drawingml/2006/main">
              <a:ext uri="{FF2B5EF4-FFF2-40B4-BE49-F238E27FC236}">
                <a16:creationId xmlns:a16="http://schemas.microsoft.com/office/drawing/2014/main" id="{9B90BBA1-E9E2-4E17-A6C8-66AF73EEFBD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AF6BA42-08C4-4EA5-A344-09381D0B027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xmlns:a="http://schemas.openxmlformats.org/drawingml/2006/main">
              <a:ext uri="{FF2B5EF4-FFF2-40B4-BE49-F238E27FC236}">
                <a16:creationId xmlns:a16="http://schemas.microsoft.com/office/drawing/2014/main" id="{2067FDA8-407C-4DBE-B763-2AC484C63E1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xmlns:a="http://schemas.openxmlformats.org/drawingml/2006/main">
              <a:ext uri="{FF2B5EF4-FFF2-40B4-BE49-F238E27FC236}">
                <a16:creationId xmlns:a16="http://schemas.microsoft.com/office/drawing/2014/main" id="{3D417846-D3C8-43D7-A99E-359027C6D74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C1A4EC2-5414-418D-9D33-A636ADFB559C}"/>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7D989CA6-1B16-4974-BEE8-CD8009EA7F8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03E7C55-5C6F-4719-AB0F-5EFB8E09B2D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8E80E10-25DA-460A-B848-8A88ABF781AE}"/>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xmlns:a="http://schemas.openxmlformats.org/drawingml/2006/main">
              <a:ext uri="{FF2B5EF4-FFF2-40B4-BE49-F238E27FC236}">
                <a16:creationId xmlns:a16="http://schemas.microsoft.com/office/drawing/2014/main" id="{3CDE8AE7-2294-4DE5-980E-32E501A6C09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F7ACA8-9E5D-4F7D-9F5E-1C89B8FBD38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0F70274-A525-4BB9-A129-15E33D9F61D7}"/>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xmlns:a="http://schemas.openxmlformats.org/drawingml/2006/main">
              <a:ext uri="{FF2B5EF4-FFF2-40B4-BE49-F238E27FC236}">
                <a16:creationId xmlns:a16="http://schemas.microsoft.com/office/drawing/2014/main" id="{A5541F68-CF6A-4665-AEE6-F8BA0BD6271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6A3F6F-C41C-44D9-B1B9-F84CE5103C8B}"/>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1A32B75A-B123-4918-8015-2D4F13003D0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xmlns:a="http://schemas.openxmlformats.org/drawingml/2006/main">
              <a:ext uri="{FF2B5EF4-FFF2-40B4-BE49-F238E27FC236}">
                <a16:creationId xmlns:a16="http://schemas.microsoft.com/office/drawing/2014/main" id="{7E5D2E0A-EEB4-4E1B-BE39-4C5A4649E1E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8954FAC-8826-4644-A259-79B90925CF5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FE01F0D-1D60-41F0-AA9B-D1D892B891B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xmlns:a="http://schemas.openxmlformats.org/drawingml/2006/main">
              <a:ext uri="{FF2B5EF4-FFF2-40B4-BE49-F238E27FC236}">
                <a16:creationId xmlns:a16="http://schemas.microsoft.com/office/drawing/2014/main" id="{CCEC5EAA-C189-406C-9B90-06ED8DBF0FF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67AE32-97EB-4716-897E-EF1FA7C0A5E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EED15BB-A501-7FB7-FD95-303970C34A77}"/>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1E95D6F-12BB-832F-CD3D-727DAFEFB6A8}"/>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725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6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sld>
</file>

<file path=ppt/slides/slide7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39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863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7" name="workflow-background">
            <a:extLst xmlns:a="http://schemas.openxmlformats.org/drawingml/2006/main">
              <a:ext uri="{FF2B5EF4-FFF2-40B4-BE49-F238E27FC236}">
                <a16:creationId xmlns:a16="http://schemas.microsoft.com/office/drawing/2014/main" id="{4E982020-69A2-4D13-A522-5B7F01820B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33D"/>
          </a:solidFill>
          <a:ln xmlns:a="http://schemas.openxmlformats.org/drawingml/2006/main" w="0">
            <a:noFill/>
            <a:prstDash val="solid"/>
          </a:ln>
        </p:spPr>
      </p:sp>
      <p:sp>
        <p:nvSpPr>
          <p:cNvPr id="2" name="workflow-title">
            <a:extLst xmlns:a="http://schemas.openxmlformats.org/drawingml/2006/main">
              <a:ext uri="{FF2B5EF4-FFF2-40B4-BE49-F238E27FC236}">
                <a16:creationId xmlns:a16="http://schemas.microsoft.com/office/drawing/2014/main" id="{79D2C27B-AC4C-4648-BA06-E6F507A7D4A1}"/>
              </a:ext>
            </a:extLst>
          </p:cNvPr>
          <p:cNvSpPr>
            <a:spLocks xmlns:a="http://schemas.openxmlformats.org/drawingml/2006/main" noGrp="1"/>
          </p:cNvSpPr>
          <p:nvPr/>
        </p:nvSpPr>
        <p:spPr>
          <a:xfrm xmlns:a="http://schemas.openxmlformats.org/drawingml/2006/main">
            <a:off x="714375" y="1171575"/>
            <a:ext cx="809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xmlns:a="http://schemas.openxmlformats.org/drawingml/2006/main">
              <a:ext uri="{FF2B5EF4-FFF2-40B4-BE49-F238E27FC236}">
                <a16:creationId xmlns:a16="http://schemas.microsoft.com/office/drawing/2014/main" id="{3F172B43-0978-435C-9EBF-CBF5530D5FBD}"/>
              </a:ext>
            </a:extLst>
          </p:cNvPr>
          <p:cNvSpPr>
            <a:spLocks xmlns:a="http://schemas.openxmlformats.org/drawingml/2006/main" noGrp="1"/>
          </p:cNvSpPr>
          <p:nvPr/>
        </p:nvSpPr>
        <p:spPr>
          <a:xfrm xmlns:a="http://schemas.openxmlformats.org/drawingml/2006/main">
            <a:off x="714375" y="609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xmlns:a="http://schemas.openxmlformats.org/drawingml/2006/main">
              <a:ext uri="{FF2B5EF4-FFF2-40B4-BE49-F238E27FC236}">
                <a16:creationId xmlns:a16="http://schemas.microsoft.com/office/drawing/2014/main" id="{9E46C2DA-B029-4646-A9C3-AE3F21F2A92A}"/>
              </a:ext>
            </a:extLst>
          </p:cNvPr>
          <p:cNvSpPr>
            <a:spLocks xmlns:a="http://schemas.openxmlformats.org/drawingml/2006/main" noGrp="1"/>
          </p:cNvSpPr>
          <p:nvPr/>
        </p:nvSpPr>
        <p:spPr>
          <a:xfrm xmlns:a="http://schemas.openxmlformats.org/drawingml/2006/main">
            <a:off x="723900" y="19716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xmlns:a="http://schemas.openxmlformats.org/drawingml/2006/main">
              <a:ext uri="{FF2B5EF4-FFF2-40B4-BE49-F238E27FC236}">
                <a16:creationId xmlns:a16="http://schemas.microsoft.com/office/drawing/2014/main" id="{AEA5EE79-2054-447E-92B6-1F87DC91DDD6}"/>
              </a:ext>
            </a:extLst>
          </p:cNvPr>
          <p:cNvSpPr>
            <a:spLocks xmlns:a="http://schemas.openxmlformats.org/drawingml/2006/main" noGrp="1"/>
          </p:cNvSpPr>
          <p:nvPr/>
        </p:nvSpPr>
        <p:spPr>
          <a:xfrm xmlns:a="http://schemas.openxmlformats.org/drawingml/2006/main">
            <a:off x="1390650" y="3238500"/>
            <a:ext cx="9391650" cy="0"/>
          </a:xfrm>
          <a:prstGeom xmlns:a="http://schemas.openxmlformats.org/drawingml/2006/main" prst="line">
            <a:avLst/>
          </a:prstGeom>
          <a:noFill xmlns:a="http://schemas.openxmlformats.org/drawingml/2006/main"/>
          <a:ln xmlns:a="http://schemas.openxmlformats.org/drawingml/2006/main" w="28575">
            <a:solidFill>
              <a:srgbClr val="58718B"/>
            </a:solidFill>
            <a:prstDash val="solid"/>
          </a:ln>
        </p:spPr>
      </p:sp>
      <p:sp>
        <p:nvSpPr>
          <p:cNvPr id="6" name="workflow-stage-1-node">
            <a:extLst xmlns:a="http://schemas.openxmlformats.org/drawingml/2006/main">
              <a:ext uri="{FF2B5EF4-FFF2-40B4-BE49-F238E27FC236}">
                <a16:creationId xmlns:a16="http://schemas.microsoft.com/office/drawing/2014/main" id="{9DB64847-5BB9-4C6D-A7F6-8B634BE8F0D3}"/>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ellipse">
            <a:avLst/>
          </a:prstGeom>
          <a:solidFill xmlns:a="http://schemas.openxmlformats.org/drawingml/2006/main">
            <a:srgbClr val="0072B2"/>
          </a:solidFill>
          <a:ln xmlns:a="http://schemas.openxmlformats.org/drawingml/2006/main" w="0">
            <a:solidFill>
              <a:srgbClr val="0072B2"/>
            </a:solidFill>
            <a:prstDash val="solid"/>
          </a:ln>
        </p:spPr>
      </p:sp>
      <p:sp>
        <p:nvSpPr>
          <p:cNvPr id="7" name="workflow-stage-1-number">
            <a:extLst xmlns:a="http://schemas.openxmlformats.org/drawingml/2006/main">
              <a:ext uri="{FF2B5EF4-FFF2-40B4-BE49-F238E27FC236}">
                <a16:creationId xmlns:a16="http://schemas.microsoft.com/office/drawing/2014/main" id="{815B3806-FAA3-4B16-819C-CE0CB7A81A72}"/>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xmlns:a="http://schemas.openxmlformats.org/drawingml/2006/main">
              <a:ext uri="{FF2B5EF4-FFF2-40B4-BE49-F238E27FC236}">
                <a16:creationId xmlns:a16="http://schemas.microsoft.com/office/drawing/2014/main" id="{4463EC33-CFA4-42E0-807B-295C5D8F3105}"/>
              </a:ext>
            </a:extLst>
          </p:cNvPr>
          <p:cNvSpPr>
            <a:spLocks xmlns:a="http://schemas.openxmlformats.org/drawingml/2006/main" noGrp="1"/>
          </p:cNvSpPr>
          <p:nvPr/>
        </p:nvSpPr>
        <p:spPr>
          <a:xfrm xmlns:a="http://schemas.openxmlformats.org/drawingml/2006/main">
            <a:off x="4000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xmlns:a="http://schemas.openxmlformats.org/drawingml/2006/main">
              <a:ext uri="{FF2B5EF4-FFF2-40B4-BE49-F238E27FC236}">
                <a16:creationId xmlns:a16="http://schemas.microsoft.com/office/drawing/2014/main" id="{CB5F5E6D-68FD-4856-A349-3CCE27C3A6E8}"/>
              </a:ext>
            </a:extLst>
          </p:cNvPr>
          <p:cNvSpPr>
            <a:spLocks xmlns:a="http://schemas.openxmlformats.org/drawingml/2006/main" noGrp="1"/>
          </p:cNvSpPr>
          <p:nvPr/>
        </p:nvSpPr>
        <p:spPr>
          <a:xfrm xmlns:a="http://schemas.openxmlformats.org/drawingml/2006/main">
            <a:off x="4000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xmlns:a="http://schemas.openxmlformats.org/drawingml/2006/main">
              <a:ext uri="{FF2B5EF4-FFF2-40B4-BE49-F238E27FC236}">
                <a16:creationId xmlns:a16="http://schemas.microsoft.com/office/drawing/2014/main" id="{F16F3B85-5C33-4E33-88D5-2E7355371669}"/>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ellipse">
            <a:avLst/>
          </a:prstGeom>
          <a:solidFill xmlns:a="http://schemas.openxmlformats.org/drawingml/2006/main">
            <a:srgbClr val="56B4E9"/>
          </a:solidFill>
          <a:ln xmlns:a="http://schemas.openxmlformats.org/drawingml/2006/main" w="0">
            <a:solidFill>
              <a:srgbClr val="56B4E9"/>
            </a:solidFill>
            <a:prstDash val="solid"/>
          </a:ln>
        </p:spPr>
      </p:sp>
      <p:sp>
        <p:nvSpPr>
          <p:cNvPr id="11" name="workflow-stage-2-number">
            <a:extLst xmlns:a="http://schemas.openxmlformats.org/drawingml/2006/main">
              <a:ext uri="{FF2B5EF4-FFF2-40B4-BE49-F238E27FC236}">
                <a16:creationId xmlns:a16="http://schemas.microsoft.com/office/drawing/2014/main" id="{00397213-9DE8-4AD8-818B-CCCAC5B96D96}"/>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xmlns:a="http://schemas.openxmlformats.org/drawingml/2006/main">
              <a:ext uri="{FF2B5EF4-FFF2-40B4-BE49-F238E27FC236}">
                <a16:creationId xmlns:a16="http://schemas.microsoft.com/office/drawing/2014/main" id="{76F5D727-E5F3-4FD5-B247-35A32B305A1B}"/>
              </a:ext>
            </a:extLst>
          </p:cNvPr>
          <p:cNvSpPr>
            <a:spLocks xmlns:a="http://schemas.openxmlformats.org/drawingml/2006/main" noGrp="1"/>
          </p:cNvSpPr>
          <p:nvPr/>
        </p:nvSpPr>
        <p:spPr>
          <a:xfrm xmlns:a="http://schemas.openxmlformats.org/drawingml/2006/main">
            <a:off x="275272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xmlns:a="http://schemas.openxmlformats.org/drawingml/2006/main">
              <a:ext uri="{FF2B5EF4-FFF2-40B4-BE49-F238E27FC236}">
                <a16:creationId xmlns:a16="http://schemas.microsoft.com/office/drawing/2014/main" id="{6615FB9C-32AD-4F77-A1DA-4617FC13D52C}"/>
              </a:ext>
            </a:extLst>
          </p:cNvPr>
          <p:cNvSpPr>
            <a:spLocks xmlns:a="http://schemas.openxmlformats.org/drawingml/2006/main" noGrp="1"/>
          </p:cNvSpPr>
          <p:nvPr/>
        </p:nvSpPr>
        <p:spPr>
          <a:xfrm xmlns:a="http://schemas.openxmlformats.org/drawingml/2006/main">
            <a:off x="275272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xmlns:a="http://schemas.openxmlformats.org/drawingml/2006/main">
              <a:ext uri="{FF2B5EF4-FFF2-40B4-BE49-F238E27FC236}">
                <a16:creationId xmlns:a16="http://schemas.microsoft.com/office/drawing/2014/main" id="{1D4AC1EC-2380-42C7-AC84-315B6304331C}"/>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ellipse">
            <a:avLst/>
          </a:prstGeom>
          <a:solidFill xmlns:a="http://schemas.openxmlformats.org/drawingml/2006/main">
            <a:srgbClr val="009E73"/>
          </a:solidFill>
          <a:ln xmlns:a="http://schemas.openxmlformats.org/drawingml/2006/main" w="0">
            <a:solidFill>
              <a:srgbClr val="009E73"/>
            </a:solidFill>
            <a:prstDash val="solid"/>
          </a:ln>
        </p:spPr>
      </p:sp>
      <p:sp>
        <p:nvSpPr>
          <p:cNvPr id="15" name="workflow-stage-3-number">
            <a:extLst xmlns:a="http://schemas.openxmlformats.org/drawingml/2006/main">
              <a:ext uri="{FF2B5EF4-FFF2-40B4-BE49-F238E27FC236}">
                <a16:creationId xmlns:a16="http://schemas.microsoft.com/office/drawing/2014/main" id="{C117132B-92DD-498B-97D2-AD13EFACC402}"/>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xmlns:a="http://schemas.openxmlformats.org/drawingml/2006/main">
              <a:ext uri="{FF2B5EF4-FFF2-40B4-BE49-F238E27FC236}">
                <a16:creationId xmlns:a16="http://schemas.microsoft.com/office/drawing/2014/main" id="{4B9220B0-8715-4B6F-AB21-0BC6823A4BD8}"/>
              </a:ext>
            </a:extLst>
          </p:cNvPr>
          <p:cNvSpPr>
            <a:spLocks xmlns:a="http://schemas.openxmlformats.org/drawingml/2006/main" noGrp="1"/>
          </p:cNvSpPr>
          <p:nvPr/>
        </p:nvSpPr>
        <p:spPr>
          <a:xfrm xmlns:a="http://schemas.openxmlformats.org/drawingml/2006/main">
            <a:off x="510540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xmlns:a="http://schemas.openxmlformats.org/drawingml/2006/main">
              <a:ext uri="{FF2B5EF4-FFF2-40B4-BE49-F238E27FC236}">
                <a16:creationId xmlns:a16="http://schemas.microsoft.com/office/drawing/2014/main" id="{92CBF553-AE3C-4DC8-BF56-ABEFCFD3FC2B}"/>
              </a:ext>
            </a:extLst>
          </p:cNvPr>
          <p:cNvSpPr>
            <a:spLocks xmlns:a="http://schemas.openxmlformats.org/drawingml/2006/main" noGrp="1"/>
          </p:cNvSpPr>
          <p:nvPr/>
        </p:nvSpPr>
        <p:spPr>
          <a:xfrm xmlns:a="http://schemas.openxmlformats.org/drawingml/2006/main">
            <a:off x="510540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xmlns:a="http://schemas.openxmlformats.org/drawingml/2006/main">
              <a:ext uri="{FF2B5EF4-FFF2-40B4-BE49-F238E27FC236}">
                <a16:creationId xmlns:a16="http://schemas.microsoft.com/office/drawing/2014/main" id="{5F151541-FD72-4BBC-AA65-6864699C23D0}"/>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ellipse">
            <a:avLst/>
          </a:prstGeom>
          <a:solidFill xmlns:a="http://schemas.openxmlformats.org/drawingml/2006/main">
            <a:srgbClr val="E6A700"/>
          </a:solidFill>
          <a:ln xmlns:a="http://schemas.openxmlformats.org/drawingml/2006/main" w="0">
            <a:solidFill>
              <a:srgbClr val="E6A700"/>
            </a:solidFill>
            <a:prstDash val="solid"/>
          </a:ln>
        </p:spPr>
      </p:sp>
      <p:sp>
        <p:nvSpPr>
          <p:cNvPr id="19" name="workflow-stage-4-number">
            <a:extLst xmlns:a="http://schemas.openxmlformats.org/drawingml/2006/main">
              <a:ext uri="{FF2B5EF4-FFF2-40B4-BE49-F238E27FC236}">
                <a16:creationId xmlns:a16="http://schemas.microsoft.com/office/drawing/2014/main" id="{A54289E8-6F16-4608-BAA7-95A65ED9954E}"/>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xmlns:a="http://schemas.openxmlformats.org/drawingml/2006/main">
              <a:ext uri="{FF2B5EF4-FFF2-40B4-BE49-F238E27FC236}">
                <a16:creationId xmlns:a16="http://schemas.microsoft.com/office/drawing/2014/main" id="{EB1FFF63-45B8-49FB-B660-61BF7D5F1D52}"/>
              </a:ext>
            </a:extLst>
          </p:cNvPr>
          <p:cNvSpPr>
            <a:spLocks xmlns:a="http://schemas.openxmlformats.org/drawingml/2006/main" noGrp="1"/>
          </p:cNvSpPr>
          <p:nvPr/>
        </p:nvSpPr>
        <p:spPr>
          <a:xfrm xmlns:a="http://schemas.openxmlformats.org/drawingml/2006/main">
            <a:off x="745807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xmlns:a="http://schemas.openxmlformats.org/drawingml/2006/main">
              <a:ext uri="{FF2B5EF4-FFF2-40B4-BE49-F238E27FC236}">
                <a16:creationId xmlns:a16="http://schemas.microsoft.com/office/drawing/2014/main" id="{1480A0EA-6DCC-4F4C-9206-6C689CD9D62F}"/>
              </a:ext>
            </a:extLst>
          </p:cNvPr>
          <p:cNvSpPr>
            <a:spLocks xmlns:a="http://schemas.openxmlformats.org/drawingml/2006/main" noGrp="1"/>
          </p:cNvSpPr>
          <p:nvPr/>
        </p:nvSpPr>
        <p:spPr>
          <a:xfrm xmlns:a="http://schemas.openxmlformats.org/drawingml/2006/main">
            <a:off x="745807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xmlns:a="http://schemas.openxmlformats.org/drawingml/2006/main">
              <a:ext uri="{FF2B5EF4-FFF2-40B4-BE49-F238E27FC236}">
                <a16:creationId xmlns:a16="http://schemas.microsoft.com/office/drawing/2014/main" id="{5B4BB00C-AA79-4B1D-AD24-83933BEC7148}"/>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ellipse">
            <a:avLst/>
          </a:prstGeom>
          <a:solidFill xmlns:a="http://schemas.openxmlformats.org/drawingml/2006/main">
            <a:srgbClr val="193A5A"/>
          </a:solidFill>
          <a:ln xmlns:a="http://schemas.openxmlformats.org/drawingml/2006/main" w="23813">
            <a:solidFill>
              <a:srgbClr val="D55E00"/>
            </a:solidFill>
            <a:prstDash val="solid"/>
          </a:ln>
        </p:spPr>
      </p:sp>
      <p:sp>
        <p:nvSpPr>
          <p:cNvPr id="23" name="workflow-stage-5-number">
            <a:extLst xmlns:a="http://schemas.openxmlformats.org/drawingml/2006/main">
              <a:ext uri="{FF2B5EF4-FFF2-40B4-BE49-F238E27FC236}">
                <a16:creationId xmlns:a16="http://schemas.microsoft.com/office/drawing/2014/main" id="{D8734508-6E75-4FA5-8434-C0CAB9FEB676}"/>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xmlns:a="http://schemas.openxmlformats.org/drawingml/2006/main">
              <a:ext uri="{FF2B5EF4-FFF2-40B4-BE49-F238E27FC236}">
                <a16:creationId xmlns:a16="http://schemas.microsoft.com/office/drawing/2014/main" id="{778643AA-D9DB-45D3-88E1-093CD050669B}"/>
              </a:ext>
            </a:extLst>
          </p:cNvPr>
          <p:cNvSpPr>
            <a:spLocks xmlns:a="http://schemas.openxmlformats.org/drawingml/2006/main" noGrp="1"/>
          </p:cNvSpPr>
          <p:nvPr/>
        </p:nvSpPr>
        <p:spPr>
          <a:xfrm xmlns:a="http://schemas.openxmlformats.org/drawingml/2006/main">
            <a:off x="9858375" y="2638425"/>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xmlns:a="http://schemas.openxmlformats.org/drawingml/2006/main">
              <a:ext uri="{FF2B5EF4-FFF2-40B4-BE49-F238E27FC236}">
                <a16:creationId xmlns:a16="http://schemas.microsoft.com/office/drawing/2014/main" id="{72CF0FFE-4DB9-42E9-8243-5801C149430C}"/>
              </a:ext>
            </a:extLst>
          </p:cNvPr>
          <p:cNvSpPr>
            <a:spLocks xmlns:a="http://schemas.openxmlformats.org/drawingml/2006/main" noGrp="1"/>
          </p:cNvSpPr>
          <p:nvPr/>
        </p:nvSpPr>
        <p:spPr>
          <a:xfrm xmlns:a="http://schemas.openxmlformats.org/drawingml/2006/main">
            <a:off x="98107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xmlns:a="http://schemas.openxmlformats.org/drawingml/2006/main">
              <a:ext uri="{FF2B5EF4-FFF2-40B4-BE49-F238E27FC236}">
                <a16:creationId xmlns:a16="http://schemas.microsoft.com/office/drawing/2014/main" id="{3747D9DF-397F-4B55-9F31-0DFC283F1C04}"/>
              </a:ext>
            </a:extLst>
          </p:cNvPr>
          <p:cNvSpPr>
            <a:spLocks xmlns:a="http://schemas.openxmlformats.org/drawingml/2006/main" noGrp="1"/>
          </p:cNvSpPr>
          <p:nvPr/>
        </p:nvSpPr>
        <p:spPr>
          <a:xfrm xmlns:a="http://schemas.openxmlformats.org/drawingml/2006/main">
            <a:off x="98107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sld>
</file>

<file path=ppt/slides/slide16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D92C61A9-D17A-4A5C-B4F6-F722B8289DF9}">
                <a16:creationId xmlns:a16="http://schemas.microsoft.com/office/drawing/2014/main" id="{6F07DFAB-35BE-479C-9DEF-5CEA7FC8F4F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xmlns:a="http://schemas.openxmlformats.org/drawingml/2006/main">
              <a:ext uri="{2F7840D8-3D57-4DED-BD06-3F8FA78609D6}">
                <a16:creationId xmlns:a16="http://schemas.microsoft.com/office/drawing/2014/main" id="{CB0FABF6-EBA2-422B-ADF2-3900CE13C3C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1</a:t>
            </a:r>
            <a:endParaRPr sz="1050" b="1" i="0">
              <a:solidFill>
                <a:srgbClr val="0072B2"/>
              </a:solidFill>
              <a:latin typeface="Arial"/>
              <a:ea typeface="Arial"/>
              <a:cs typeface="Arial"/>
            </a:endParaRPr>
          </a:p>
        </p:txBody>
      </p:sp>
    </p:spTree>
    <p:extLst>
      <p:ext uri="{95F04923-0B92-4850-864A-EE0D0FB786E8}">
        <p14:creationId xmlns:p14="http://schemas.microsoft.com/office/powerpoint/2010/main" val="1572448250"/>
      </p:ext>
    </p:extLst>
  </p:cSld>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val="912803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37600</Words>
  <Application>Microsoft Macintosh PowerPoint</Application>
  <DocSecurity>0</DocSecurity>
  <PresentationFormat>Widescreen</PresentationFormat>
  <Paragraphs>3534</Paragraphs>
  <Slides>148</Slides>
  <Notes>148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148</vt:i4>
      </vt:variant>
    </vt:vector>
  </HeadingPairs>
  <TitlesOfParts>
    <vt:vector size="1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5</cp:revision>
  <dcterms:created xsi:type="dcterms:W3CDTF">2026-09-20T15:55:40Z</dcterms:created>
  <dcterms:modified xsi:type="dcterms:W3CDTF">2026-09-20T18:46:30Z</dcterms:modified>
</cp:coreProperties>
</file>