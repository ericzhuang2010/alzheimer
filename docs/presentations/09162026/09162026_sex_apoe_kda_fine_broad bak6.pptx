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7"/>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420" r:id="rId15"/>
    <p:sldId id="264"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421" r:id="rId41"/>
    <p:sldId id="422" r:id="rId42"/>
    <p:sldId id="423" r:id="rId43"/>
    <p:sldId id="424" r:id="rId44"/>
    <p:sldId id="425" r:id="rId45"/>
    <p:sldId id="426"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7" r:id="rId72"/>
    <p:sldId id="318" r:id="rId73"/>
    <p:sldId id="319" r:id="rId74"/>
    <p:sldId id="320" r:id="rId75"/>
    <p:sldId id="321" r:id="rId76"/>
    <p:sldId id="322" r:id="rId77"/>
    <p:sldId id="324" r:id="rId78"/>
    <p:sldId id="325" r:id="rId79"/>
    <p:sldId id="326" r:id="rId80"/>
    <p:sldId id="327" r:id="rId81"/>
    <p:sldId id="328" r:id="rId82"/>
    <p:sldId id="329" r:id="rId83"/>
    <p:sldId id="331" r:id="rId84"/>
    <p:sldId id="332" r:id="rId85"/>
    <p:sldId id="333" r:id="rId86"/>
    <p:sldId id="334" r:id="rId87"/>
    <p:sldId id="335" r:id="rId88"/>
    <p:sldId id="336" r:id="rId89"/>
    <p:sldId id="338" r:id="rId90"/>
    <p:sldId id="339" r:id="rId91"/>
    <p:sldId id="340" r:id="rId92"/>
    <p:sldId id="341" r:id="rId93"/>
    <p:sldId id="342" r:id="rId94"/>
    <p:sldId id="343" r:id="rId95"/>
    <p:sldId id="345" r:id="rId96"/>
    <p:sldId id="346" r:id="rId97"/>
    <p:sldId id="347" r:id="rId98"/>
    <p:sldId id="348" r:id="rId99"/>
    <p:sldId id="349" r:id="rId100"/>
    <p:sldId id="350" r:id="rId101"/>
    <p:sldId id="352" r:id="rId102"/>
    <p:sldId id="353" r:id="rId103"/>
    <p:sldId id="354" r:id="rId104"/>
    <p:sldId id="355" r:id="rId105"/>
    <p:sldId id="356" r:id="rId106"/>
    <p:sldId id="357" r:id="rId107"/>
    <p:sldId id="359" r:id="rId108"/>
    <p:sldId id="360" r:id="rId109"/>
    <p:sldId id="361" r:id="rId110"/>
    <p:sldId id="362" r:id="rId111"/>
    <p:sldId id="363" r:id="rId112"/>
    <p:sldId id="364" r:id="rId113"/>
    <p:sldId id="366" r:id="rId114"/>
    <p:sldId id="367" r:id="rId115"/>
    <p:sldId id="368" r:id="rId116"/>
    <p:sldId id="369" r:id="rId117"/>
    <p:sldId id="370" r:id="rId118"/>
    <p:sldId id="371" r:id="rId119"/>
    <p:sldId id="373" r:id="rId120"/>
    <p:sldId id="374" r:id="rId121"/>
    <p:sldId id="375" r:id="rId122"/>
    <p:sldId id="376" r:id="rId123"/>
    <p:sldId id="377" r:id="rId124"/>
    <p:sldId id="378" r:id="rId125"/>
    <p:sldId id="380" r:id="rId126"/>
    <p:sldId id="381" r:id="rId127"/>
    <p:sldId id="382" r:id="rId128"/>
    <p:sldId id="383" r:id="rId129"/>
    <p:sldId id="384" r:id="rId130"/>
    <p:sldId id="385" r:id="rId131"/>
    <p:sldId id="387" r:id="rId132"/>
    <p:sldId id="388" r:id="rId133"/>
    <p:sldId id="389" r:id="rId134"/>
    <p:sldId id="390" r:id="rId135"/>
    <p:sldId id="391" r:id="rId136"/>
    <p:sldId id="392" r:id="rId137"/>
    <p:sldId id="394" r:id="rId138"/>
    <p:sldId id="395" r:id="rId139"/>
    <p:sldId id="396" r:id="rId140"/>
    <p:sldId id="397" r:id="rId141"/>
    <p:sldId id="398" r:id="rId142"/>
    <p:sldId id="399" r:id="rId143"/>
    <p:sldId id="401" r:id="rId144"/>
    <p:sldId id="402" r:id="rId145"/>
    <p:sldId id="403" r:id="rId146"/>
    <p:sldId id="404" r:id="rId147"/>
    <p:sldId id="405" r:id="rId148"/>
    <p:sldId id="406" r:id="rId149"/>
    <p:sldId id="408" r:id="rId150"/>
    <p:sldId id="409" r:id="rId151"/>
    <p:sldId id="410" r:id="rId152"/>
    <p:sldId id="411" r:id="rId153"/>
    <p:sldId id="412" r:id="rId154"/>
    <p:sldId id="413" r:id="rId155"/>
    <p:sldId id="415" r:id="rId1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0"/>
    <p:restoredTop sz="93495"/>
  </p:normalViewPr>
  <p:slideViewPr>
    <p:cSldViewPr snapToGrid="0" snapToObjects="1">
      <p:cViewPr varScale="1">
        <p:scale>
          <a:sx n="143" d="100"/>
          <a:sy n="143" d="100"/>
        </p:scale>
        <p:origin x="232"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define what counts as a significant pathway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Next, review how the pathway analysis tests each fine-cell contrast and summarizes significant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Explain the two-stage pathway analysis and summarize how many pathways had at least one significant result.</a:t>
            </a:r>
          </a:p>
          <a:p>
            <a:r>
              <a:rPr lang="en-US" dirty="0"/>
              <a:t>Walk through: Each estimable fine-cell sex/APOE contrast was analyzed separately. For each contrast, the analysis created three mitochondrial DEG lists: all DEGs, genes upregulated in AD, and genes downregulated in AD. It then tested each pathway using the enrichment and significance definition on the previous slide. Twelve of the 46 Level 1 and Level 2 pathways and 18 of the 149 complete pathways had at least one significant result across the tested contrasts and DEG lists. Most significant results involved overlapping OXPHOS pathways. Non-OXPHOS signals were fewer and more localized. The next slide defines a separate descriptive overlap percentage used to summarize four recurring pathway sets across sex/APOE groups.</a:t>
            </a:r>
          </a:p>
          <a:p>
            <a:r>
              <a:rPr lang="en-US" dirty="0"/>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r>
              <a:rPr lang="en-US" dirty="0"/>
              <a:t>Transition: Next, define the descriptive pathway-overlap percentage before reading the heatmap.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its worked example, and how descriptive overlap differs from a significant pathway result.</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 This pooled overlap starts from the same pathway-gene and DEG membership used in enrichment analysis, but it combines fine cell types and does not perform a statistical test. A significant pathway result instead evaluates one fine-cell contrast against its detectable-gene background and must pass the adjusted P-value threshold.</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Apply this overlap calculation to the four pathway sets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pathway sets through the heatmap and show the breadth of their overlap with the fine-cell DEG results.</a:t>
            </a:r>
          </a:p>
          <a:p>
            <a:endParaRPr/>
          </a:p>
          <a:p>
            <a:r>
              <a:t>Walk through: The four rows summarize the 13 core MT genes, 86 nuclear-encoded structural OXPHOS genes, 155 mitochondrial-translation genes, and 19 inner-membrane-organization genes. For each sex/APOE group, a pathway gene is counted once if it was a DEG in at least one fine-cell comparison. The denominator is the fixed pathway size shown in the corresponding row label.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Show whether SEA-AD excitatory-neuron genes returned from KDA calls recur across the six sex/APOE categories.</a:t>
            </a:r>
          </a:p>
          <a:p>
            <a:r>
              <a:rPr lang="en-US" dirty="0"/>
              <a:t>Walk through: Rows are the three female groups followed by the three male groups. Columns contain all 27 distinct non-MitoCarta genes returned from KDA calls in the excitatory-neuron broad cell type. A colored tile means that the gene appears in that category. Its color gives the total number of categories containing that gene. No gene appears in more than one sex/APOE category.</a:t>
            </a:r>
          </a:p>
          <a:p>
            <a:r>
              <a:rPr lang="en-US" dirty="0"/>
              <a:t>Scientific boundary: Category recurrence is a descriptive summary of returned KDA results. It is not an effect size, an independent replication count, or a sex-by-APOE interaction test.</a:t>
            </a:r>
          </a:p>
          <a:p>
            <a:r>
              <a:rPr lang="en-US" dirty="0"/>
              <a:t>Transition: Move to Part 6, which tests selected findings at direct broad-cell resolution.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Introduce direct broad-cell validation and establish that both analysis resolutions use donors as the biological replicates.</a:t>
            </a:r>
          </a:p>
          <a:p>
            <a:r>
              <a:rPr lang="en-US" dirty="0"/>
              <a:t>Walk through: Both workflows first combine RNA counts within each donor. The primary workflow creates one expression profile for each donor and fine cell type, then runs the AD-versus-NCI comparison separately for every fine cell type. The direct broad-cell workflow combines the contributing fine cell types within each donor before running one comparison for the broad cell class. This section explains that resolution difference, the ranked-gene pathway workflow, and the normalized enrichment score.</a:t>
            </a:r>
          </a:p>
          <a:p>
            <a:r>
              <a:rPr lang="en-US" dirty="0"/>
              <a:t>Scientific boundary: Direct broad-cell analysis provides supporting evidence. Combining fine cell types can hide a subtype-specific result or create sensitivity to differences in fine-cell composition.</a:t>
            </a:r>
          </a:p>
          <a:p>
            <a:r>
              <a:rPr lang="en-US" dirty="0"/>
              <a:t>Transition: Compare the fine-cell and direct broad-cell workflows side by side.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Distinguish the two workflows without implying that donor-level aggregation is unique to direct broad-cell analysis.</a:t>
            </a:r>
          </a:p>
          <a:p>
            <a:r>
              <a:rPr lang="en-US" dirty="0"/>
              <a:t>Walk through: Fine-cell analysis produces one donor-level expression profile for each fine cell type. It tests each fine cell type separately and summarizes the resulting evidence by broad class afterward. Direct broad-cell analysis instead produces one donor-level profile for the whole broad class by combining its fine cell types before differential-expression testing. Both workflows therefore compare donors. They differ in the cell-type resolution retained before the comparison.</a:t>
            </a:r>
          </a:p>
          <a:p>
            <a:r>
              <a:rPr lang="en-US" dirty="0"/>
              <a:t>Scientific boundary: Agreement supports a result across two resolutions. Disagreement can reflect fine-cell composition or opposing subtype-specific effects and does not by itself invalidate the fine-cell result.</a:t>
            </a:r>
          </a:p>
          <a:p>
            <a:r>
              <a:rPr lang="en-US" dirty="0"/>
              <a:t>Transition: Follow the direct broad-cell pathway workflow from donor-level expression profiles to pathway testing.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Explain the direct broad-cell pathway workflow before introducing ES and NES.</a:t>
            </a:r>
          </a:p>
          <a:p>
            <a:r>
              <a:rPr lang="en-US" dirty="0"/>
              <a:t>Walk through: For each donor and broad cell class, the analysis combines counts from the contributing fine cell types into one expression profile. It compares AD with NCI separately within each sex/APOE group and broad cell class. The analysis then ranks every tested MitoCarta MT gene using sign of log fold change multiplied by the square root of the edgeR F statistic. Positive scores indicate stronger AD-up evidence and appear first. Negative scores indicate stronger AD-down evidence and appear last. Gene set enrichment analysis, abbreviated GSEA, then tests whether one pathway's genes cluster toward either end of that ranking.</a:t>
            </a:r>
          </a:p>
          <a:p>
            <a:r>
              <a:rPr lang="en-US" dirty="0"/>
              <a:t>Scientific boundary: This ranked-gene pathway analysis uses the tested MitoCarta MT genes at direct broad-cell resolution. The fine-cell pathway analysis instead tests overlap between a thresholded DEG list and a pathway.</a:t>
            </a:r>
          </a:p>
          <a:p>
            <a:r>
              <a:rPr lang="en-US" dirty="0"/>
              <a:t>Transition: First calculate the running enrichment score, abbreviated 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Explain exactly how the running enrichment score is calculated using the real female epsilon-3 homozygous excitatory-neuron example.</a:t>
            </a:r>
          </a:p>
          <a:p>
            <a:r>
              <a:rPr lang="en-US" dirty="0"/>
              <a:t>Walk through: The x-axis contains 1,134 tested MitoCarta MT genes ordered from strongest AD-up to strongest AD-down evidence. When the walk reaches a core MT gene, it adds the absolute value of that gene's rank score divided by the sum of the absolute rank scores for all 13 core MT genes. At every other tested gene, it subtracts one divided by 1,134 minus 13. The blue curve is the cumulative running score. The short orange marks show the positions of the 13 core MT genes. Twelve appear among the first 34 ranked genes; MT-ND6 appears at rank 239. The curve peaks at rank 34 with ES 0.9586.</a:t>
            </a:r>
          </a:p>
          <a:p>
            <a:r>
              <a:rPr lang="en-US" dirty="0"/>
              <a:t>Scientific boundary: ES depends on both the positions and the rank-score magnitudes of pathway genes. It is not the fraction of pathway genes that are DEGs and it is not an expression fold change.</a:t>
            </a:r>
          </a:p>
          <a:p>
            <a:r>
              <a:rPr lang="en-US" dirty="0"/>
              <a:t>Source: results/minerva_production/11_pathway_deg_broad/broad_deg_pathway_ranked_genes.tsv.gz; config/phase13_respiratory_modules.tsv; scripts/lib/phase11_deg_pathway_common.R.</a:t>
            </a:r>
          </a:p>
          <a:p>
            <a:r>
              <a:rPr lang="en-US" dirty="0"/>
              <a:t>Transition: Normalize the observed ES against same-size random gene 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Separate the NES calculation from the ES calculation and distinguish direction from significance.</a:t>
            </a:r>
          </a:p>
          <a:p>
            <a:r>
              <a:rPr lang="en-US" dirty="0"/>
              <a:t>Walk through: The observed ES comes from the actual pathway genes. The analysis then calculates ES values for random gene sets that contain the same number of genes and come from the same ranked MitoCarta MT gene list. For a positive observed ES, the denominator is the mean magnitude of positive null ES values. For a negative observed ES, the denominator uses negative null ES values. NES equals the observed ES divided by this same-direction null mean. Normalization makes scores more comparable across pathways with different sizes.</a:t>
            </a:r>
          </a:p>
          <a:p>
            <a:r>
              <a:rPr lang="en-US" dirty="0"/>
              <a:t>Scientific boundary: The sign of NES gives the pathway direction. The adjusted P value determines whether the result is statistically significant after multiple-testing correction. NES is not a fold change, DEG count, or percentage.</a:t>
            </a:r>
          </a:p>
          <a:p>
            <a:r>
              <a:rPr lang="en-US" dirty="0"/>
              <a:t>Source: scripts/lib/phase11_deg_pathway_common.R runs fgseaMultilevel with exponent 1.</a:t>
            </a:r>
          </a:p>
          <a:p>
            <a:r>
              <a:rPr lang="en-US" dirty="0"/>
              <a:t>Transition: Substitute the study values into the NES formula.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Work through the reported female epsilon-3 homozygous excitatory core MT result numerically.</a:t>
            </a:r>
          </a:p>
          <a:p>
            <a:r>
              <a:rPr lang="en-US" dirty="0"/>
              <a:t>Walk through: The observed ES is 0.9585936. The reported NES is 2.7460272. Dividing ES by NES gives an implied positive-null normalization factor of 0.3490838. Substituting the rounded values gives 0.9586 divided by 0.3491, which equals 2.746 and rounds to 2.75. The positive sign indicates that the core MT genes cluster toward the AD-up end. The local Benjamini-Hochberg-adjusted P value is 2.73 times 10 to the minus 12, below 0.05, so the pathway result is significant.</a:t>
            </a:r>
          </a:p>
          <a:p>
            <a:r>
              <a:rPr lang="en-US" dirty="0"/>
              <a:t>Scientific boundary: The value 2.75 is a normalized pathway-ranking score. It is not a 2.75-fold expression increase and does not mean that every core MT gene is individually significant.</a:t>
            </a:r>
          </a:p>
          <a:p>
            <a:r>
              <a:rPr lang="en-US" dirty="0"/>
              <a:t>Source: results/minerva_production/11_pathway_deg_broad/broad_deg_pathway_gsea.tsv.gz.</a:t>
            </a:r>
          </a:p>
          <a:p>
            <a:r>
              <a:rPr lang="en-US" dirty="0"/>
              <a:t>Transition: Move to Part 7,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Introduce Part 7, which tests how selected analysis decisions affect the KDA results.</a:t>
            </a:r>
          </a:p>
          <a:p>
            <a:r>
              <a:rPr lang="en-US" dirty="0"/>
              <a:t>Walk through: The sensitivity analyses examine donor support, the number of nuclei contributing to each profile, the DEG query definition, and the KDA decision rules. Each check changes one decision while keeping the rest of the workflow fixed. The first comparison raises the minimum donor requirement in each disease-status group from three to five.</a:t>
            </a:r>
          </a:p>
          <a:p>
            <a:r>
              <a:rPr lang="en-US" dirty="0"/>
              <a:t>Scientific boundary: These analyses evaluate robustness to prespecified workflow decisions. The donor-threshold analysis concerns donors in each disease-status group, not the number of nuclei contributing to a donor-level profile.</a:t>
            </a:r>
          </a:p>
          <a:p>
            <a:r>
              <a:rPr lang="en-US" dirty="0"/>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Introduce Part 8, the biological findings and discussion.</a:t>
            </a:r>
          </a:p>
          <a:p>
            <a:r>
              <a:rPr lang="en-US" dirty="0"/>
              <a:t>Walk through: Part 8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r>
              <a:rPr lang="en-US" dirty="0"/>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r>
              <a:rPr lang="en-US" dirty="0"/>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the included fine-cell DEG lists, core MT genes contribute 217 occurrences, and all 217 are upregulated in AD. Nuclear-encoded OXPHOS genes contribute 89 occurrences: 76 upregulated and 13 downregulated, so 85 percent are upregulated. Within excitatory neurons, 14 included fine-cell DEG lists contain 123 core MT gene occurrences, all upregulated. One occurrence means that one gene is a DEG in one fine-cell comparison, so the same gene can contribute multiple occurrences across fine cell types. These counts summarize the fine-cell DEG lists used for the mitochondrial analysis.</a:t>
            </a:r>
          </a:p>
          <a:p>
            <a:endParaRPr/>
          </a:p>
          <a:p>
            <a:r>
              <a:t>Scientific boundary: The occurrence counts do not represent unique genes, expression magnitude, independent donors, or replication. They summarize repeated DEG observations across fine-cell comparisons.</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SEA-AD fine-cell DEG list contributed to the matched female epsilon-3 homozygous excitatory-neuron comparison, so the coverage is narrow. The list contains 10 MitoCarta MT DEGs. Nine are the same core MT genes found in ROSMAP, and all nine are upregulated in AD in both cohorts. The analysis observed nine shared genes compared with 3.83 expected based on genes detectable in the matched comparison. The shared-gene overlap remained significant after multiple-testing correction, with an 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pattern with opposite OXPHOS directions.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two mitochondrial gene sets. It does not prove protein imbalance, mitochondrial dysfunction, or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opposite OXPHOS gene-expression directions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included male epsilon-3 homozygous fine-cell DEG lists, core MT genes contributed 81 occurrences: 70 AD-up and 11 AD-down. Therefore, 86 percent were upregulated. Nuclear-encoded OXPHOS genes contributed 68 occurrences: 8 AD-up and 60 AD-down. Therefore, 88 percent were downregulated. An occurrence is one gene identified as a DEG in one fine-cell comparison, so the same gene can contribute again in another fine cell type.</a:t>
            </a:r>
          </a:p>
          <a:p>
            <a:endParaRPr/>
          </a:p>
          <a:p>
            <a:r>
              <a:t>Scientific boundary: These are repeated DEG occurrences, not counts of unique genes or independent donors.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DEG support and what the same AD direction across cohorts means here.</a:t>
            </a:r>
          </a:p>
          <a:p>
            <a:endParaRPr/>
          </a:p>
          <a:p>
            <a:r>
              <a:t>Walk through: Eight SEA-AD male epsilon-3 homozygous inhibitory-neuron fine-cell DEG lists contributed to this comparison. ROSMAP and SEA-AD shared 22 MitoCarta MT DEGs, and 19 of the 22 had the same AD direction. Nine core MT genes were upregulated in both cohorts. Genes for nuclear-encoded OXPHOS, mitochondrial protein import, mitochondrial ribosomes, metabolite transport, and mitochondrial DNA or RNA maintenance were downregulated in both. The overlap was 22 genes compared with 15.17 expected and remained significant after multiple-testing correction, with an adjusted P value of 0.0417. Excluding genes whose mitochondrial identity was uncertain left 21 shared genes and a similar adjusted P value of 0.0486. The support therefore comes from shared DEGs and their directions across cohorts.</a:t>
            </a:r>
          </a:p>
          <a:p>
            <a:endParaRPr/>
          </a:p>
          <a:p>
            <a:r>
              <a:t>Scientific boundary: This is focused cross-cohort DEG support within the matched inhibitory-neuron context. It does not establish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genes with the same or opposite AD directions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are shared MitoCarta MT DEGs. Matching AD directions do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two-genome OXPHOS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Basic OXPHOS biology establishes that respiratory complexes require coordinated core MT and nuclear-encoded OXPHOS proteins, but it does not show a protein imbalance in these samples. Guo and colleagues support analyzing Alzheimer’s molecular networks separately by sex, but they do not test this exact male epsilon-3 homozygous pattern.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preview the evidence used to support it.</a:t>
            </a:r>
          </a:p>
          <a:p>
            <a:endParaRPr/>
          </a:p>
          <a:p>
            <a:r>
              <a:t>Walk through: Finding 3 concerns female APOE ε2 cells. In ROSMAP fine-cell comparisons of Alzheimer’s disease with no cognitive impairment, core MT genes and nuclear-encoded OXPHOS genes were both predominantly upregulated. This section begins with the direction of gene expression, then presents DEG-occurrence counts, compares fine-cell and direct broad-cell evidence, and ends with a cautious interpretation and literature context.</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Define the two OXPHOS gene sets and show their direction in female APOE ε2 cells.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both OXPHOS gene sets are described as upregulated together.</a:t>
            </a:r>
          </a:p>
          <a:p>
            <a:endParaRPr/>
          </a:p>
          <a:p>
            <a:r>
              <a:t>Walk through: Core MT genes are the 13 protein-coding genes in mitochondrial DNA that encode structural OXPHOS subunits. Nuclear-encoded OXPHOS genes are the 86 nuclear genes that encode the other structural subunits included in this analysis. Across the included female APOE ε2 fine-cell comparisons, 127 of 128 core MT gene occurrences and 239 of 243 nuclear-encoded OXPHOS gene occurrences were upregulated in AD. The two gene sets therefore show the same direction of gene-expression change.</a:t>
            </a:r>
          </a:p>
          <a:p>
            <a:endParaRPr/>
          </a:p>
          <a:p>
            <a:r>
              <a:t>Scientific boundary: One occurrence means that one gene is a DEG in one included fine-cell comparison. The same gene can contribute another occurrence in another comparison. These counts do not measure unique genes, expression magnitude, protein assembly, respiration, or ATP production.</a:t>
            </a:r>
          </a:p>
          <a:p>
            <a:endParaRPr/>
          </a:p>
          <a:p>
            <a:r>
              <a:t>Transition: Quantify the AD-up and AD-down occurrences for each gene set.</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This slide quantifies the female APOE epsilon-2 pattern. Across the included fine-cell comparisons, core MT genes contribute 128 DEG occurrences: 127 AD-up and one AD-down, so 99 percent are upregulated. Nuclear-encoded OXPHOS genes contribute 243 DEG occurrences: 239 AD-up and four AD-down, so 98 percent are upregulated. Both OXPHOS gene sets therefore show an almost uniform increase in AD.</a:t>
            </a:r>
          </a:p>
          <a:p>
            <a:endParaRPr/>
          </a:p>
          <a:p>
            <a:r>
              <a:t>Scientific boundary: The numbers 128 and 243 are gene-by-comparison occurrences, not counts of unique genes, cells, or donors.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Compare the fine-cell and direct broad-cell evidence for Finding 3.</a:t>
            </a:r>
          </a:p>
          <a:p>
            <a:endParaRPr/>
          </a:p>
          <a:p>
            <a:r>
              <a:t>Walk through: Fine-cell ROSMAP supports both gene sets. Significant enrichment of upregulated genes appeared in nine of 12 fine cell types for core MT genes and eight of 12 for nuclear-encoded OXPHOS genes. Direct broad-cell ROSMAP supports the nuclear-encoded OXPHOS increase, but the core MT result was not significant. SEA-AD has no matched female APOE ε2 fine-cell DEG result, so it adds neither supporting nor contradictory evidence.</a:t>
            </a:r>
          </a:p>
          <a:p>
            <a:endParaRPr/>
          </a:p>
          <a:p>
            <a:r>
              <a:t>Scientific boundary: The direct broad-cell result partially supports the finding but does not reproduce the coordinated two-gene-set pattern. The complete pattern is therefore supported mainly by fine-cell ROSMAP. Missing SEA-AD coverage is neutral.</a:t>
            </a:r>
          </a:p>
          <a:p>
            <a:endParaRPr/>
          </a:p>
          <a:p>
            <a:r>
              <a:t>Transition: Consider what coordinated upregulation might mean without assuming that it is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biological hypothesis while separating it from the evidence.</a:t>
            </a:r>
          </a:p>
          <a:p>
            <a:endParaRPr/>
          </a:p>
          <a:p>
            <a:r>
              <a:t>Walk through: APOE ε2 is associated with lower Alzheimer’s disease risk at the population level, but these data come from diseased tissue. Both OXPHOS gene sets are upregulated together. This pattern could reflect compensation for inefficient mitochondria or another disease-related state. It supports testing a protective-response hypothesis, but it does not establish one.</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Review the prior research that supports parts of this interpretation.</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which part of the interpretation each cited study supports.</a:t>
            </a:r>
          </a:p>
          <a:p>
            <a:endParaRPr/>
          </a:p>
          <a:p>
            <a:r>
              <a:t>Walk through: Belloy and colleagues establish that Alzheimer’s disease risk differs across APOE alleles, but they do not explain this female APOE ε2 gene-expression pattern. Lee and colleagues show that APOE state can alter mitochondrial homeostasis in another experimental context. Guo and colleagues support sex-aware and cell-type-aware analysis of Alzheimer’s molecular networks, but they do not report this exact OXPHOS result. The novelty rating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and the different OXPHOS direction in female APOE ε4 cells.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 result is therefore a decrease in nuclear-encoded OXPHOS gene expression rather than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included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or donors,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ROSMAP has an AD-up NES of +0.70, but its adjusted P value of 0.991 is not significant. SEA-AD has an AD-up NES of +2.01 with an adjusted P value of 5.62 × 10⁻⁵, so the pathway-level result is significant. This means that the pathway genes collectively rank toward higher expression in AD. It does not mean that every individual OXPHOS gene is significantly upregulated. The available SEA-AD fine-cell check contains only one small astrocyte DEG list, and its overlap with ROSMAP is not significant.</a:t>
            </a:r>
          </a:p>
          <a:p>
            <a:endParaRPr/>
          </a:p>
          <a:p>
            <a:r>
              <a:t>Scientific boundary: The direct broad-cell pathway results point upward, opposite to the fine-cell DEG-occurrence pattern. This disagreement limits Finding 4 to the fine-cell analysis. Differences in the mix of fine cell types and limited matched coverage may contribute, but the current results do not identify the cause.</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reflect cellular stress, or mark a different cell state. APOE ε4 makes the hypothesis important because it strongly increases late-onset Alzheimer’s disease risk at the population level.</a:t>
            </a:r>
          </a:p>
          <a:p>
            <a:endParaRPr/>
          </a:p>
          <a:p>
            <a:r>
              <a:t>Scientific boundary: Gene expression alone cannot establish lower respiratory capacity. The direct broad-cell pathway results point in the opposite direction, so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maintenance. This includes changes in mitochondrial dynamics and in the removal of damaged mitochondria. Cell-resolved Alzheimer’s studies also show that molecular responses differ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explain why unusually large MitoCarta MT DEG sets contribute many occurrences.</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included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or cells,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Each included fine-cell comparison contributes one set of MitoCarta MT DEGs. The median male APOE ε2 set contains 85 DEGs, compared with 16.5 across all included fine-cell comparisons. Larger DEG sets can generate more DEG occurrences when results are summarized across fine cell types.</a:t>
            </a:r>
          </a:p>
          <a:p>
            <a:endParaRPr/>
          </a:p>
          <a:p>
            <a:r>
              <a:t>Scientific boundary: This size difference helps explain the large occurrence count, but it does not change the proportion of upregulated versus downregulated occurrences. SEA-AD has no matched male APOE ε2 fine-cell DEG result here.</a:t>
            </a:r>
          </a:p>
          <a:p>
            <a:endParaRPr/>
          </a:p>
          <a:p>
            <a:r>
              <a:t>Transition: Return to the biological meaning of the coordinated DEG direction.</a:t>
            </a:r>
          </a:p>
          <a:p>
            <a:endParaRPr/>
          </a:p>
          <a:p>
            <a:r>
              <a:t>Sources: docs/analysis/kda_w_human_validation/rosmap_sex_apoe_broad_kda_analysis.md, Finding 5 and DEG-set-size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9/21/26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9/21/26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9/21/26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9/21/26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9/21/26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9/21/26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 xmlns:a16="http://schemas.microsoft.com/office/drawing/2014/main"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 xmlns:a16="http://schemas.microsoft.com/office/drawing/2014/main"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 xmlns:p14="http://schemas.microsoft.com/office/powerpoint/2010/main"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 xmlns:a16="http://schemas.microsoft.com/office/drawing/2014/main"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 xmlns:a16="http://schemas.microsoft.com/office/drawing/2014/main"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 xmlns:a16="http://schemas.microsoft.com/office/drawing/2014/main"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 xmlns:a16="http://schemas.microsoft.com/office/drawing/2014/main"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 xmlns:a16="http://schemas.microsoft.com/office/drawing/2014/main"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 xmlns:a16="http://schemas.microsoft.com/office/drawing/2014/main"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 xmlns:a16="http://schemas.microsoft.com/office/drawing/2014/main"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 xmlns:a16="http://schemas.microsoft.com/office/drawing/2014/main"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 xmlns:a16="http://schemas.microsoft.com/office/drawing/2014/main"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 xmlns:a16="http://schemas.microsoft.com/office/drawing/2014/main"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 xmlns:a16="http://schemas.microsoft.com/office/drawing/2014/main"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 xmlns:a16="http://schemas.microsoft.com/office/drawing/2014/main"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 xmlns:a16="http://schemas.microsoft.com/office/drawing/2014/main"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 xmlns:a16="http://schemas.microsoft.com/office/drawing/2014/main"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 xmlns:a16="http://schemas.microsoft.com/office/drawing/2014/main"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 xmlns:a16="http://schemas.microsoft.com/office/drawing/2014/main"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 xmlns:a16="http://schemas.microsoft.com/office/drawing/2014/main"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 xmlns:a16="http://schemas.microsoft.com/office/drawing/2014/main"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 xmlns:a16="http://schemas.microsoft.com/office/drawing/2014/main"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 xmlns:a16="http://schemas.microsoft.com/office/drawing/2014/main"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 xmlns:a16="http://schemas.microsoft.com/office/drawing/2014/main"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 xmlns:a16="http://schemas.microsoft.com/office/drawing/2014/main"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 xmlns:a16="http://schemas.microsoft.com/office/drawing/2014/main"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 xmlns:a16="http://schemas.microsoft.com/office/drawing/2014/main"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 xmlns:a16="http://schemas.microsoft.com/office/drawing/2014/main"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 xmlns:a16="http://schemas.microsoft.com/office/drawing/2014/main"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 xmlns:a16="http://schemas.microsoft.com/office/drawing/2014/main"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 xmlns:a16="http://schemas.microsoft.com/office/drawing/2014/main"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 xmlns:p14="http://schemas.microsoft.com/office/powerpoint/2010/main"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230832"/>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dirty="0">
                <a:solidFill>
                  <a:srgbClr val="4E5A68"/>
                </a:solidFill>
                <a:latin typeface="Arial"/>
                <a:ea typeface="Arial"/>
                <a:cs typeface="Arial"/>
              </a:rPr>
              <a:t>One result tests </a:t>
            </a:r>
            <a:r>
              <a:rPr sz="1500" b="1" i="0" dirty="0">
                <a:solidFill>
                  <a:srgbClr val="FF0000"/>
                </a:solidFill>
                <a:latin typeface="Arial"/>
                <a:ea typeface="Arial"/>
                <a:cs typeface="Arial"/>
              </a:rPr>
              <a:t>one</a:t>
            </a:r>
            <a:r>
              <a:rPr sz="1500" b="0" i="0" dirty="0">
                <a:solidFill>
                  <a:srgbClr val="FF0000"/>
                </a:solidFill>
                <a:latin typeface="Arial"/>
                <a:ea typeface="Arial"/>
                <a:cs typeface="Arial"/>
              </a:rPr>
              <a:t> </a:t>
            </a:r>
            <a:r>
              <a:rPr sz="1500" b="1" i="0" dirty="0">
                <a:solidFill>
                  <a:srgbClr val="FF0000"/>
                </a:solidFill>
                <a:latin typeface="Arial"/>
                <a:ea typeface="Arial"/>
                <a:cs typeface="Arial"/>
              </a:rPr>
              <a:t>pathway</a:t>
            </a:r>
            <a:r>
              <a:rPr sz="1500" b="0" i="0" dirty="0">
                <a:solidFill>
                  <a:srgbClr val="FF0000"/>
                </a:solidFill>
                <a:latin typeface="Arial"/>
                <a:ea typeface="Arial"/>
                <a:cs typeface="Arial"/>
              </a:rPr>
              <a:t> </a:t>
            </a:r>
            <a:r>
              <a:rPr sz="1500" b="0" i="0" dirty="0">
                <a:solidFill>
                  <a:srgbClr val="4E5A68"/>
                </a:solidFill>
                <a:latin typeface="Arial"/>
                <a:ea typeface="Arial"/>
                <a:cs typeface="Arial"/>
              </a:rPr>
              <a:t>in one DEG list from one fine-cell sex/APOE </a:t>
            </a:r>
            <a:r>
              <a:rPr sz="1500" b="1" i="0" dirty="0">
                <a:solidFill>
                  <a:srgbClr val="FF0000"/>
                </a:solidFill>
                <a:latin typeface="Arial"/>
                <a:ea typeface="Arial"/>
                <a:cs typeface="Arial"/>
              </a:rPr>
              <a:t>contrast</a:t>
            </a:r>
            <a:r>
              <a:rPr sz="1500" b="0" i="0" dirty="0">
                <a:solidFill>
                  <a:srgbClr val="4E5A68"/>
                </a:solidFill>
                <a:latin typeface="Arial"/>
                <a:ea typeface="Arial"/>
                <a:cs typeface="Arial"/>
              </a:rPr>
              <a: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ts val="0"/>
              </a:spcBef>
              <a:spcAft>
                <a:spcPts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ts val="0"/>
              </a:spcAft>
              <a:buNone/>
            </a:pPr>
            <a:r>
              <a:rPr sz="950" b="1" i="0">
                <a:solidFill>
                  <a:srgbClr val="00684D"/>
                </a:solidFill>
                <a:latin typeface="Arial"/>
                <a:ea typeface="Arial"/>
                <a:cs typeface="Arial"/>
              </a:rPr>
              <a:t>&gt; 1 indicates enrichment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xmlns:p14="http://schemas.microsoft.com/office/powerpoint/2010/main" val="1336555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dirty="0">
                <a:solidFill>
                  <a:srgbClr val="0F233D"/>
                </a:solidFill>
                <a:latin typeface="Arial"/>
                <a:ea typeface="Arial"/>
                <a:cs typeface="Arial"/>
              </a:rPr>
              <a:t>How to calculate pathway and sex/APOE </a:t>
            </a:r>
            <a:r>
              <a:rPr lang="en-US" sz="2475" b="1" dirty="0">
                <a:solidFill>
                  <a:srgbClr val="0F233D"/>
                </a:solidFill>
                <a:latin typeface="Arial"/>
                <a:ea typeface="Arial"/>
                <a:cs typeface="Arial"/>
              </a:rPr>
              <a:t>group </a:t>
            </a:r>
            <a:r>
              <a:rPr sz="2475" b="1" dirty="0">
                <a:solidFill>
                  <a:srgbClr val="0F233D"/>
                </a:solidFill>
                <a:latin typeface="Arial"/>
                <a:ea typeface="Arial"/>
                <a:cs typeface="Arial"/>
              </a:rPr>
              <a:t>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Direct broad-cell validation</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secondary analysis tests whether fine-cell findings persist when cells are combined into broad classes.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Analysis resolution</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Broad-cell comparison</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Pathway workflow</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ES and NES calculation</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Direct broad-cell analysis is supporting evidence; fine-cell analysis remains the primary resolution.</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summaries and direct broad-cell analysis answer different questions</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order of aggregation and testing changes the biological resolution.</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Fine-cell primary</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Direct broad secondary</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Same AD-versus-NCI contrast</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Different resolution</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FINE-CELL ANALYSIS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Test each fine cell type</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Run AD-versus-NCI DEG analysis separately within each fine cell type, sex, and APOE group. Summarize results later by broad class.</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BROAD-CELL ANALYSIS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Combine cells before testing</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lang="en-US" sz="1220" b="0" i="0" dirty="0">
                <a:solidFill>
                  <a:srgbClr val="1F2730"/>
                </a:solidFill>
                <a:latin typeface="Arial"/>
                <a:ea typeface="Arial"/>
                <a:cs typeface="Arial"/>
              </a:rPr>
              <a:t>Within each donor, c</a:t>
            </a:r>
            <a:r>
              <a:rPr sz="1220" b="0" i="0" dirty="0">
                <a:solidFill>
                  <a:srgbClr val="1F2730"/>
                </a:solidFill>
                <a:latin typeface="Arial"/>
                <a:ea typeface="Arial"/>
                <a:cs typeface="Arial"/>
              </a:rPr>
              <a:t>ombine cells belonging to one broad class, then compare AD with NCI within one sex/APOE group.</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WHY BOTH ARE USEFUL</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Resolution check</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Agreement strengthens a finding. Disagreement means that the result depends on cell resolution.</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46918"/>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301829"/>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Fine-cell analysis retains subtype localization. Direct broad-cell analysis retains donor-level structure but mixes fine cell types.</a:t>
            </a:r>
          </a:p>
        </p:txBody>
      </p:sp>
    </p:spTree>
    <p:extLst>
      <p:ext uri="{BB962C8B-B14F-4D97-AF65-F5344CB8AC3E}">
        <p14:creationId xmlns:p14="http://schemas.microsoft.com/office/powerpoint/2010/main" val="12621582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direct broad-cell pathway validation was done</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Combine cells by donor</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one broad class within each donor</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Pool cells from one broad class within each donor.</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Compare AD with NCI</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sex/APOE group × broad class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Run one differential-expression comparison for each group and broad cell class.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Rank tested MitoCarta MT genes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313356"/>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dirty="0">
                <a:solidFill>
                  <a:srgbClr val="0072B2"/>
                </a:solidFill>
                <a:latin typeface="Arial"/>
                <a:ea typeface="Arial"/>
                <a:cs typeface="Arial"/>
              </a:rPr>
              <a:t>AD-up to AD-down</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Order genes from strongest AD-up to strongest AD-down evidence.</a:t>
            </a:r>
          </a:p>
          <a:p>
            <a:pPr algn="ctr">
              <a:lnSpc>
                <a:spcPct val="100000"/>
              </a:lnSpc>
              <a:spcBef>
                <a:spcPts val="0"/>
              </a:spcBef>
              <a:spcAft>
                <a:spcPts val="0"/>
              </a:spcAft>
              <a:buNone/>
            </a:pPr>
            <a:endParaRPr sz="1130" b="0" i="0">
              <a:solidFill>
                <a:srgbClr val="4E5A68"/>
              </a:solidFill>
              <a:latin typeface="Arial"/>
              <a:ea typeface="Arial"/>
              <a:cs typeface="Arial"/>
            </a:endParaRP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Test each pathway</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ranked-gene pathway analysis</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Ask whether pathway genes concentrate toward one end of the ranked list.</a:t>
            </a:r>
          </a:p>
        </p:txBody>
      </p:sp>
    </p:spTree>
    <p:extLst>
      <p:ext uri="{BB962C8B-B14F-4D97-AF65-F5344CB8AC3E}">
        <p14:creationId xmlns:p14="http://schemas.microsoft.com/office/powerpoint/2010/main" val="249508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How the enrichment score is calculated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GSEA walks through 1,134 tested MitoCarta MT genes ranked from strongest AD-up to strongest AD-down evidence.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440000"/>
            <a:ext cx="3420000" cy="455000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00000" y="1740000"/>
            <a:ext cx="2700000" cy="2300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RUNNING-SCORE RULES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00000" y="2240000"/>
            <a:ext cx="2700000" cy="3000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60" b="1" i="0">
                <a:solidFill>
                  <a:srgbClr val="0F233D"/>
                </a:solidFill>
                <a:latin typeface="Arial"/>
                <a:ea typeface="Arial"/>
                <a:cs typeface="Arial"/>
              </a:rPr>
              <a:t>Pathway gene</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00000" y="2570000"/>
            <a:ext cx="2700000" cy="5500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80" b="1" i="0">
                <a:solidFill>
                  <a:srgbClr val="9E3A00"/>
                </a:solidFill>
                <a:latin typeface="Arial"/>
                <a:ea typeface="Arial"/>
                <a:cs typeface="Arial"/>
              </a:rPr>
              <a:t>+ |rᵢ| ÷ Σpathway |rⱼ|</a:t>
            </a: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900000" y="3400000"/>
            <a:ext cx="2700000" cy="3000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60" b="1" i="0">
                <a:solidFill>
                  <a:srgbClr val="0F233D"/>
                </a:solidFill>
                <a:latin typeface="Arial"/>
                <a:ea typeface="Arial"/>
                <a:cs typeface="Arial"/>
              </a:rPr>
              <a:t>Other tested gene</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900000" y="3730000"/>
            <a:ext cx="2700000" cy="5500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80" b="1" i="0">
                <a:solidFill>
                  <a:srgbClr val="2F5597"/>
                </a:solidFill>
                <a:latin typeface="Arial"/>
                <a:ea typeface="Arial"/>
                <a:cs typeface="Arial"/>
              </a:rPr>
              <a:t>− 1 ÷ (N − Nₕ)</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900000" y="4570000"/>
            <a:ext cx="2700000" cy="9200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0" i="0">
                <a:solidFill>
                  <a:srgbClr val="4E5A68"/>
                </a:solidFill>
                <a:latin typeface="Arial"/>
                <a:ea typeface="Arial"/>
                <a:cs typeface="Arial"/>
              </a:rPr>
              <a:t>rᵢ = signed rank score</a:t>
            </a:r>
          </a:p>
          <a:p>
            <a:pPr algn="l">
              <a:lnSpc>
                <a:spcPct val="100000"/>
              </a:lnSpc>
              <a:spcBef>
                <a:spcPts val="0"/>
              </a:spcBef>
              <a:spcAft>
                <a:spcPts val="0"/>
              </a:spcAft>
              <a:buNone/>
            </a:pPr>
            <a:r>
              <a:rPr sz="1100" b="0" i="0">
                <a:solidFill>
                  <a:srgbClr val="4E5A68"/>
                </a:solidFill>
                <a:latin typeface="Arial"/>
                <a:ea typeface="Arial"/>
                <a:cs typeface="Arial"/>
              </a:rPr>
              <a:t>Σpathway |rⱼ| = total absolute score of the 13 pathway genes</a:t>
            </a:r>
          </a:p>
          <a:p>
            <a:pPr algn="l">
              <a:lnSpc>
                <a:spcPct val="100000"/>
              </a:lnSpc>
              <a:spcBef>
                <a:spcPts val="0"/>
              </a:spcBef>
              <a:spcAft>
                <a:spcPts val="0"/>
              </a:spcAft>
              <a:buNone/>
            </a:pPr>
            <a:r>
              <a:rPr sz="1100" b="0" i="0">
                <a:solidFill>
                  <a:srgbClr val="4E5A68"/>
                </a:solidFill>
                <a:latin typeface="Arial"/>
                <a:ea typeface="Arial"/>
                <a:cs typeface="Arial"/>
              </a:rPr>
              <a:t>N = 1,134 tested genes; Nₕ = 13 pathway genes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4270000" y="1440000"/>
            <a:ext cx="7420000" cy="455000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73812"/>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dirty="0">
                <a:solidFill>
                  <a:srgbClr val="7E4C9A"/>
                </a:solidFill>
                <a:latin typeface="Arial"/>
                <a:ea typeface="Arial"/>
                <a:cs typeface="Arial"/>
              </a:rPr>
              <a:t>ES is the largest signed distance from zero. Here, ES = +0.9586 because core MT genes cluster near the AD-up end.</a:t>
            </a:r>
          </a:p>
        </p:txBody>
      </p:sp>
      <p:sp>
        <p:nvSpPr>
          <p:cNvPr id="26" name="Chart title"/>
          <p:cNvSpPr>
            <a:spLocks noGrp="1"/>
          </p:cNvSpPr>
          <p:nvPr/>
        </p:nvSpPr>
        <p:spPr>
          <a:xfrm>
            <a:off x="4700000" y="1640000"/>
            <a:ext cx="6260000" cy="300000"/>
          </a:xfrm>
          <a:prstGeom prst="rect">
            <a:avLst/>
          </a:prstGeom>
          <a:noFill/>
        </p:spPr>
        <p:txBody>
          <a:bodyPr wrap="square" lIns="27432" tIns="13716" rIns="27432" bIns="13716" anchor="ctr"/>
          <a:lstStyle/>
          <a:p>
            <a:pPr algn="ctr">
              <a:buNone/>
            </a:pPr>
            <a:r>
              <a:rPr sz="1260" b="1">
                <a:solidFill>
                  <a:srgbClr val="0F233D"/>
                </a:solidFill>
                <a:latin typeface="Arial"/>
                <a:ea typeface="Arial"/>
                <a:cs typeface="Arial"/>
              </a:rPr>
              <a:t>Female ε3/ε3 excitatory core MT example</a:t>
            </a:r>
            <a:endParaRPr lang="en-US"/>
          </a:p>
        </p:txBody>
      </p:sp>
      <p:sp>
        <p:nvSpPr>
          <p:cNvPr id="27" name="Gridline 0.0"/>
          <p:cNvSpPr/>
          <p:nvPr/>
        </p:nvSpPr>
        <p:spPr>
          <a:xfrm>
            <a:off x="4700000" y="4770000"/>
            <a:ext cx="6260000" cy="0"/>
          </a:xfrm>
          <a:prstGeom prst="line">
            <a:avLst/>
          </a:prstGeom>
          <a:ln w="15000">
            <a:solidFill>
              <a:srgbClr val="7B8794"/>
            </a:solidFill>
          </a:ln>
        </p:spPr>
        <p:txBody>
          <a:bodyPr/>
          <a:lstStyle/>
          <a:p>
            <a:endParaRPr lang="en-US"/>
          </a:p>
        </p:txBody>
      </p:sp>
      <p:sp>
        <p:nvSpPr>
          <p:cNvPr id="28" name="Y label 0.0"/>
          <p:cNvSpPr>
            <a:spLocks noGrp="1"/>
          </p:cNvSpPr>
          <p:nvPr/>
        </p:nvSpPr>
        <p:spPr>
          <a:xfrm>
            <a:off x="4280000" y="4670000"/>
            <a:ext cx="360000" cy="200000"/>
          </a:xfrm>
          <a:prstGeom prst="rect">
            <a:avLst/>
          </a:prstGeom>
          <a:noFill/>
        </p:spPr>
        <p:txBody>
          <a:bodyPr wrap="square" lIns="27432" tIns="13716" rIns="27432" bIns="13716" anchor="ctr"/>
          <a:lstStyle/>
          <a:p>
            <a:pPr algn="r">
              <a:buNone/>
            </a:pPr>
            <a:r>
              <a:rPr sz="860" b="0">
                <a:solidFill>
                  <a:srgbClr val="4E5A68"/>
                </a:solidFill>
                <a:latin typeface="Arial"/>
                <a:ea typeface="Arial"/>
                <a:cs typeface="Arial"/>
              </a:rPr>
              <a:t>0.0</a:t>
            </a:r>
            <a:endParaRPr lang="en-US"/>
          </a:p>
        </p:txBody>
      </p:sp>
      <p:sp>
        <p:nvSpPr>
          <p:cNvPr id="29" name="Gridline 0.5"/>
          <p:cNvSpPr/>
          <p:nvPr/>
        </p:nvSpPr>
        <p:spPr>
          <a:xfrm>
            <a:off x="4700000" y="3470980"/>
            <a:ext cx="6260000" cy="0"/>
          </a:xfrm>
          <a:prstGeom prst="line">
            <a:avLst/>
          </a:prstGeom>
          <a:ln w="8000">
            <a:solidFill>
              <a:srgbClr val="CBD5E1"/>
            </a:solidFill>
            <a:prstDash val="dash"/>
          </a:ln>
        </p:spPr>
        <p:txBody>
          <a:bodyPr/>
          <a:lstStyle/>
          <a:p>
            <a:endParaRPr lang="en-US"/>
          </a:p>
        </p:txBody>
      </p:sp>
      <p:sp>
        <p:nvSpPr>
          <p:cNvPr id="30" name="Y label 0.5"/>
          <p:cNvSpPr>
            <a:spLocks noGrp="1"/>
          </p:cNvSpPr>
          <p:nvPr/>
        </p:nvSpPr>
        <p:spPr>
          <a:xfrm>
            <a:off x="4280000" y="3370980"/>
            <a:ext cx="360000" cy="200000"/>
          </a:xfrm>
          <a:prstGeom prst="rect">
            <a:avLst/>
          </a:prstGeom>
          <a:noFill/>
        </p:spPr>
        <p:txBody>
          <a:bodyPr wrap="square" lIns="27432" tIns="13716" rIns="27432" bIns="13716" anchor="ctr"/>
          <a:lstStyle/>
          <a:p>
            <a:pPr algn="r">
              <a:buNone/>
            </a:pPr>
            <a:r>
              <a:rPr sz="860" b="0">
                <a:solidFill>
                  <a:srgbClr val="4E5A68"/>
                </a:solidFill>
                <a:latin typeface="Arial"/>
                <a:ea typeface="Arial"/>
                <a:cs typeface="Arial"/>
              </a:rPr>
              <a:t>0.5</a:t>
            </a:r>
            <a:endParaRPr lang="en-US"/>
          </a:p>
        </p:txBody>
      </p:sp>
      <p:sp>
        <p:nvSpPr>
          <p:cNvPr id="31" name="Gridline 1.0"/>
          <p:cNvSpPr/>
          <p:nvPr/>
        </p:nvSpPr>
        <p:spPr>
          <a:xfrm>
            <a:off x="4700000" y="2171961"/>
            <a:ext cx="6260000" cy="0"/>
          </a:xfrm>
          <a:prstGeom prst="line">
            <a:avLst/>
          </a:prstGeom>
          <a:ln w="8000">
            <a:solidFill>
              <a:srgbClr val="CBD5E1"/>
            </a:solidFill>
            <a:prstDash val="dash"/>
          </a:ln>
        </p:spPr>
        <p:txBody>
          <a:bodyPr/>
          <a:lstStyle/>
          <a:p>
            <a:endParaRPr lang="en-US"/>
          </a:p>
        </p:txBody>
      </p:sp>
      <p:sp>
        <p:nvSpPr>
          <p:cNvPr id="32" name="Y label 1.0"/>
          <p:cNvSpPr>
            <a:spLocks noGrp="1"/>
          </p:cNvSpPr>
          <p:nvPr/>
        </p:nvSpPr>
        <p:spPr>
          <a:xfrm>
            <a:off x="4280000" y="2071961"/>
            <a:ext cx="360000" cy="200000"/>
          </a:xfrm>
          <a:prstGeom prst="rect">
            <a:avLst/>
          </a:prstGeom>
          <a:noFill/>
        </p:spPr>
        <p:txBody>
          <a:bodyPr wrap="square" lIns="27432" tIns="13716" rIns="27432" bIns="13716" anchor="ctr"/>
          <a:lstStyle/>
          <a:p>
            <a:pPr algn="r">
              <a:buNone/>
            </a:pPr>
            <a:r>
              <a:rPr sz="860" b="0">
                <a:solidFill>
                  <a:srgbClr val="4E5A68"/>
                </a:solidFill>
                <a:latin typeface="Arial"/>
                <a:ea typeface="Arial"/>
                <a:cs typeface="Arial"/>
              </a:rPr>
              <a:t>1.0</a:t>
            </a:r>
            <a:endParaRPr lang="en-US"/>
          </a:p>
        </p:txBody>
      </p:sp>
      <p:sp>
        <p:nvSpPr>
          <p:cNvPr id="33" name="Running enrichment score curve"/>
          <p:cNvSpPr/>
          <p:nvPr/>
        </p:nvSpPr>
        <p:spPr>
          <a:xfrm>
            <a:off x="4700000" y="2120000"/>
            <a:ext cx="6260000" cy="2650000"/>
          </a:xfrm>
          <a:custGeom>
            <a:avLst/>
            <a:gdLst/>
            <a:ahLst/>
            <a:cxnLst/>
            <a:rect l="l" t="t" r="r" b="b"/>
            <a:pathLst>
              <a:path w="1000000" h="1000000" fill="none" extrusionOk="0">
                <a:moveTo>
                  <a:pt x="0" y="891053"/>
                </a:moveTo>
                <a:lnTo>
                  <a:pt x="883" y="786141"/>
                </a:lnTo>
                <a:lnTo>
                  <a:pt x="1765" y="787015"/>
                </a:lnTo>
                <a:lnTo>
                  <a:pt x="2648" y="787890"/>
                </a:lnTo>
                <a:lnTo>
                  <a:pt x="3530" y="788764"/>
                </a:lnTo>
                <a:lnTo>
                  <a:pt x="4413" y="702400"/>
                </a:lnTo>
                <a:lnTo>
                  <a:pt x="5296" y="703274"/>
                </a:lnTo>
                <a:lnTo>
                  <a:pt x="6178" y="621404"/>
                </a:lnTo>
                <a:lnTo>
                  <a:pt x="7061" y="622279"/>
                </a:lnTo>
                <a:lnTo>
                  <a:pt x="7944" y="623154"/>
                </a:lnTo>
                <a:lnTo>
                  <a:pt x="8826" y="545064"/>
                </a:lnTo>
                <a:lnTo>
                  <a:pt x="9709" y="469395"/>
                </a:lnTo>
                <a:lnTo>
                  <a:pt x="10591" y="470270"/>
                </a:lnTo>
                <a:lnTo>
                  <a:pt x="11474" y="395767"/>
                </a:lnTo>
                <a:lnTo>
                  <a:pt x="12357" y="396642"/>
                </a:lnTo>
                <a:lnTo>
                  <a:pt x="13239" y="324089"/>
                </a:lnTo>
                <a:lnTo>
                  <a:pt x="14122" y="251982"/>
                </a:lnTo>
                <a:lnTo>
                  <a:pt x="15004" y="180485"/>
                </a:lnTo>
                <a:lnTo>
                  <a:pt x="15887" y="109602"/>
                </a:lnTo>
                <a:lnTo>
                  <a:pt x="16770" y="110477"/>
                </a:lnTo>
                <a:lnTo>
                  <a:pt x="17652" y="111352"/>
                </a:lnTo>
                <a:lnTo>
                  <a:pt x="18535" y="112226"/>
                </a:lnTo>
                <a:lnTo>
                  <a:pt x="19417" y="113101"/>
                </a:lnTo>
                <a:lnTo>
                  <a:pt x="20300" y="113975"/>
                </a:lnTo>
                <a:lnTo>
                  <a:pt x="21183" y="114850"/>
                </a:lnTo>
                <a:lnTo>
                  <a:pt x="22065" y="115724"/>
                </a:lnTo>
                <a:lnTo>
                  <a:pt x="22948" y="116599"/>
                </a:lnTo>
                <a:lnTo>
                  <a:pt x="23831" y="117474"/>
                </a:lnTo>
                <a:lnTo>
                  <a:pt x="24713" y="118348"/>
                </a:lnTo>
                <a:lnTo>
                  <a:pt x="25596" y="119223"/>
                </a:lnTo>
                <a:lnTo>
                  <a:pt x="26478" y="120097"/>
                </a:lnTo>
                <a:lnTo>
                  <a:pt x="27361" y="120972"/>
                </a:lnTo>
                <a:lnTo>
                  <a:pt x="28244" y="121846"/>
                </a:lnTo>
                <a:lnTo>
                  <a:pt x="29126" y="60202"/>
                </a:lnTo>
                <a:lnTo>
                  <a:pt x="30009" y="61077"/>
                </a:lnTo>
                <a:lnTo>
                  <a:pt x="30891" y="61951"/>
                </a:lnTo>
                <a:lnTo>
                  <a:pt x="31774" y="62826"/>
                </a:lnTo>
                <a:lnTo>
                  <a:pt x="32657" y="63701"/>
                </a:lnTo>
                <a:lnTo>
                  <a:pt x="33539" y="64575"/>
                </a:lnTo>
                <a:lnTo>
                  <a:pt x="34422" y="65450"/>
                </a:lnTo>
                <a:lnTo>
                  <a:pt x="35305" y="66324"/>
                </a:lnTo>
                <a:lnTo>
                  <a:pt x="36187" y="67199"/>
                </a:lnTo>
                <a:lnTo>
                  <a:pt x="37070" y="68073"/>
                </a:lnTo>
                <a:lnTo>
                  <a:pt x="37952" y="68948"/>
                </a:lnTo>
                <a:lnTo>
                  <a:pt x="38835" y="69823"/>
                </a:lnTo>
                <a:lnTo>
                  <a:pt x="39718" y="70697"/>
                </a:lnTo>
                <a:lnTo>
                  <a:pt x="40600" y="71572"/>
                </a:lnTo>
                <a:lnTo>
                  <a:pt x="41483" y="72446"/>
                </a:lnTo>
                <a:lnTo>
                  <a:pt x="42365" y="73321"/>
                </a:lnTo>
                <a:lnTo>
                  <a:pt x="43248" y="74195"/>
                </a:lnTo>
                <a:lnTo>
                  <a:pt x="44131" y="75070"/>
                </a:lnTo>
                <a:lnTo>
                  <a:pt x="45013" y="75945"/>
                </a:lnTo>
                <a:lnTo>
                  <a:pt x="45896" y="76819"/>
                </a:lnTo>
                <a:lnTo>
                  <a:pt x="46778" y="77694"/>
                </a:lnTo>
                <a:lnTo>
                  <a:pt x="47661" y="78568"/>
                </a:lnTo>
                <a:lnTo>
                  <a:pt x="48544" y="79443"/>
                </a:lnTo>
                <a:lnTo>
                  <a:pt x="49426" y="80317"/>
                </a:lnTo>
                <a:lnTo>
                  <a:pt x="50309" y="81192"/>
                </a:lnTo>
                <a:lnTo>
                  <a:pt x="51192" y="82067"/>
                </a:lnTo>
                <a:lnTo>
                  <a:pt x="52074" y="82941"/>
                </a:lnTo>
                <a:lnTo>
                  <a:pt x="52957" y="83816"/>
                </a:lnTo>
                <a:lnTo>
                  <a:pt x="53839" y="84690"/>
                </a:lnTo>
                <a:lnTo>
                  <a:pt x="54722" y="85565"/>
                </a:lnTo>
                <a:lnTo>
                  <a:pt x="55605" y="86439"/>
                </a:lnTo>
                <a:lnTo>
                  <a:pt x="56487" y="87314"/>
                </a:lnTo>
                <a:lnTo>
                  <a:pt x="57370" y="88189"/>
                </a:lnTo>
                <a:lnTo>
                  <a:pt x="58252" y="89063"/>
                </a:lnTo>
                <a:lnTo>
                  <a:pt x="59135" y="89938"/>
                </a:lnTo>
                <a:lnTo>
                  <a:pt x="60018" y="90812"/>
                </a:lnTo>
                <a:lnTo>
                  <a:pt x="60900" y="91687"/>
                </a:lnTo>
                <a:lnTo>
                  <a:pt x="61783" y="92561"/>
                </a:lnTo>
                <a:lnTo>
                  <a:pt x="62665" y="93436"/>
                </a:lnTo>
                <a:lnTo>
                  <a:pt x="63548" y="94311"/>
                </a:lnTo>
                <a:lnTo>
                  <a:pt x="64431" y="95185"/>
                </a:lnTo>
                <a:lnTo>
                  <a:pt x="65313" y="96060"/>
                </a:lnTo>
                <a:lnTo>
                  <a:pt x="66196" y="96934"/>
                </a:lnTo>
                <a:lnTo>
                  <a:pt x="67079" y="97809"/>
                </a:lnTo>
                <a:lnTo>
                  <a:pt x="67961" y="98683"/>
                </a:lnTo>
                <a:lnTo>
                  <a:pt x="68844" y="99558"/>
                </a:lnTo>
                <a:lnTo>
                  <a:pt x="69726" y="100433"/>
                </a:lnTo>
                <a:lnTo>
                  <a:pt x="70609" y="101307"/>
                </a:lnTo>
                <a:lnTo>
                  <a:pt x="71492" y="102182"/>
                </a:lnTo>
                <a:lnTo>
                  <a:pt x="72374" y="103056"/>
                </a:lnTo>
                <a:lnTo>
                  <a:pt x="73257" y="103931"/>
                </a:lnTo>
                <a:lnTo>
                  <a:pt x="74139" y="104805"/>
                </a:lnTo>
                <a:lnTo>
                  <a:pt x="75022" y="105680"/>
                </a:lnTo>
                <a:lnTo>
                  <a:pt x="75905" y="106555"/>
                </a:lnTo>
                <a:lnTo>
                  <a:pt x="76787" y="107429"/>
                </a:lnTo>
                <a:lnTo>
                  <a:pt x="77670" y="108304"/>
                </a:lnTo>
                <a:lnTo>
                  <a:pt x="78553" y="109178"/>
                </a:lnTo>
                <a:lnTo>
                  <a:pt x="79435" y="110053"/>
                </a:lnTo>
                <a:lnTo>
                  <a:pt x="80318" y="110927"/>
                </a:lnTo>
                <a:lnTo>
                  <a:pt x="81200" y="111802"/>
                </a:lnTo>
                <a:lnTo>
                  <a:pt x="82083" y="112676"/>
                </a:lnTo>
                <a:lnTo>
                  <a:pt x="82966" y="113551"/>
                </a:lnTo>
                <a:lnTo>
                  <a:pt x="83848" y="114426"/>
                </a:lnTo>
                <a:lnTo>
                  <a:pt x="84731" y="115300"/>
                </a:lnTo>
                <a:lnTo>
                  <a:pt x="85613" y="116175"/>
                </a:lnTo>
                <a:lnTo>
                  <a:pt x="86496" y="117049"/>
                </a:lnTo>
                <a:lnTo>
                  <a:pt x="87379" y="117924"/>
                </a:lnTo>
                <a:lnTo>
                  <a:pt x="88261" y="118798"/>
                </a:lnTo>
                <a:lnTo>
                  <a:pt x="89144" y="119673"/>
                </a:lnTo>
                <a:lnTo>
                  <a:pt x="90026" y="120548"/>
                </a:lnTo>
                <a:lnTo>
                  <a:pt x="90909" y="121422"/>
                </a:lnTo>
                <a:lnTo>
                  <a:pt x="91792" y="122297"/>
                </a:lnTo>
                <a:lnTo>
                  <a:pt x="92674" y="123171"/>
                </a:lnTo>
                <a:lnTo>
                  <a:pt x="93557" y="124046"/>
                </a:lnTo>
                <a:lnTo>
                  <a:pt x="94440" y="124920"/>
                </a:lnTo>
                <a:lnTo>
                  <a:pt x="95322" y="125795"/>
                </a:lnTo>
                <a:lnTo>
                  <a:pt x="96205" y="126670"/>
                </a:lnTo>
                <a:lnTo>
                  <a:pt x="97087" y="127544"/>
                </a:lnTo>
                <a:lnTo>
                  <a:pt x="97970" y="128419"/>
                </a:lnTo>
                <a:lnTo>
                  <a:pt x="98853" y="129293"/>
                </a:lnTo>
                <a:lnTo>
                  <a:pt x="99735" y="130168"/>
                </a:lnTo>
                <a:lnTo>
                  <a:pt x="100618" y="131042"/>
                </a:lnTo>
                <a:lnTo>
                  <a:pt x="101500" y="131917"/>
                </a:lnTo>
                <a:lnTo>
                  <a:pt x="102383" y="132792"/>
                </a:lnTo>
                <a:lnTo>
                  <a:pt x="103266" y="133666"/>
                </a:lnTo>
                <a:lnTo>
                  <a:pt x="104148" y="134541"/>
                </a:lnTo>
                <a:lnTo>
                  <a:pt x="105031" y="135415"/>
                </a:lnTo>
                <a:lnTo>
                  <a:pt x="105914" y="136290"/>
                </a:lnTo>
                <a:lnTo>
                  <a:pt x="106796" y="137164"/>
                </a:lnTo>
                <a:lnTo>
                  <a:pt x="107679" y="138039"/>
                </a:lnTo>
                <a:lnTo>
                  <a:pt x="108561" y="138914"/>
                </a:lnTo>
                <a:lnTo>
                  <a:pt x="109444" y="139788"/>
                </a:lnTo>
                <a:lnTo>
                  <a:pt x="110327" y="140663"/>
                </a:lnTo>
                <a:lnTo>
                  <a:pt x="111209" y="141537"/>
                </a:lnTo>
                <a:lnTo>
                  <a:pt x="112092" y="142412"/>
                </a:lnTo>
                <a:lnTo>
                  <a:pt x="112974" y="143286"/>
                </a:lnTo>
                <a:lnTo>
                  <a:pt x="113857" y="144161"/>
                </a:lnTo>
                <a:lnTo>
                  <a:pt x="114740" y="145036"/>
                </a:lnTo>
                <a:lnTo>
                  <a:pt x="115622" y="145910"/>
                </a:lnTo>
                <a:lnTo>
                  <a:pt x="116505" y="146785"/>
                </a:lnTo>
                <a:lnTo>
                  <a:pt x="117387" y="147659"/>
                </a:lnTo>
                <a:lnTo>
                  <a:pt x="118270" y="148534"/>
                </a:lnTo>
                <a:lnTo>
                  <a:pt x="119153" y="149408"/>
                </a:lnTo>
                <a:lnTo>
                  <a:pt x="120035" y="150283"/>
                </a:lnTo>
                <a:lnTo>
                  <a:pt x="120918" y="151158"/>
                </a:lnTo>
                <a:lnTo>
                  <a:pt x="121801" y="152032"/>
                </a:lnTo>
                <a:lnTo>
                  <a:pt x="122683" y="152907"/>
                </a:lnTo>
                <a:lnTo>
                  <a:pt x="123566" y="153781"/>
                </a:lnTo>
                <a:lnTo>
                  <a:pt x="124448" y="154656"/>
                </a:lnTo>
                <a:lnTo>
                  <a:pt x="125331" y="155530"/>
                </a:lnTo>
                <a:lnTo>
                  <a:pt x="126214" y="156405"/>
                </a:lnTo>
                <a:lnTo>
                  <a:pt x="127096" y="157280"/>
                </a:lnTo>
                <a:lnTo>
                  <a:pt x="127979" y="158154"/>
                </a:lnTo>
                <a:lnTo>
                  <a:pt x="128861" y="159029"/>
                </a:lnTo>
                <a:lnTo>
                  <a:pt x="129744" y="159903"/>
                </a:lnTo>
                <a:lnTo>
                  <a:pt x="130627" y="160778"/>
                </a:lnTo>
                <a:lnTo>
                  <a:pt x="131509" y="161652"/>
                </a:lnTo>
                <a:lnTo>
                  <a:pt x="132392" y="162527"/>
                </a:lnTo>
                <a:lnTo>
                  <a:pt x="133274" y="163402"/>
                </a:lnTo>
                <a:lnTo>
                  <a:pt x="134157" y="164276"/>
                </a:lnTo>
                <a:lnTo>
                  <a:pt x="135040" y="165151"/>
                </a:lnTo>
                <a:lnTo>
                  <a:pt x="135922" y="166025"/>
                </a:lnTo>
                <a:lnTo>
                  <a:pt x="136805" y="166900"/>
                </a:lnTo>
                <a:lnTo>
                  <a:pt x="137688" y="167774"/>
                </a:lnTo>
                <a:lnTo>
                  <a:pt x="138570" y="168649"/>
                </a:lnTo>
                <a:lnTo>
                  <a:pt x="139453" y="169523"/>
                </a:lnTo>
                <a:lnTo>
                  <a:pt x="140335" y="170398"/>
                </a:lnTo>
                <a:lnTo>
                  <a:pt x="141218" y="171273"/>
                </a:lnTo>
                <a:lnTo>
                  <a:pt x="142101" y="172147"/>
                </a:lnTo>
                <a:lnTo>
                  <a:pt x="142983" y="173022"/>
                </a:lnTo>
                <a:lnTo>
                  <a:pt x="143866" y="173896"/>
                </a:lnTo>
                <a:lnTo>
                  <a:pt x="144748" y="174771"/>
                </a:lnTo>
                <a:lnTo>
                  <a:pt x="145631" y="175645"/>
                </a:lnTo>
                <a:lnTo>
                  <a:pt x="146514" y="176520"/>
                </a:lnTo>
                <a:lnTo>
                  <a:pt x="147396" y="177395"/>
                </a:lnTo>
                <a:lnTo>
                  <a:pt x="148279" y="178269"/>
                </a:lnTo>
                <a:lnTo>
                  <a:pt x="149162" y="179144"/>
                </a:lnTo>
                <a:lnTo>
                  <a:pt x="150044" y="180018"/>
                </a:lnTo>
                <a:lnTo>
                  <a:pt x="150927" y="180893"/>
                </a:lnTo>
                <a:lnTo>
                  <a:pt x="151809" y="181767"/>
                </a:lnTo>
                <a:lnTo>
                  <a:pt x="152692" y="182642"/>
                </a:lnTo>
                <a:lnTo>
                  <a:pt x="153575" y="183517"/>
                </a:lnTo>
                <a:lnTo>
                  <a:pt x="154457" y="184391"/>
                </a:lnTo>
                <a:lnTo>
                  <a:pt x="155340" y="185266"/>
                </a:lnTo>
                <a:lnTo>
                  <a:pt x="156222" y="186140"/>
                </a:lnTo>
                <a:lnTo>
                  <a:pt x="157105" y="187015"/>
                </a:lnTo>
                <a:lnTo>
                  <a:pt x="157988" y="187889"/>
                </a:lnTo>
                <a:lnTo>
                  <a:pt x="158870" y="188764"/>
                </a:lnTo>
                <a:lnTo>
                  <a:pt x="159753" y="189639"/>
                </a:lnTo>
                <a:lnTo>
                  <a:pt x="160635" y="190513"/>
                </a:lnTo>
                <a:lnTo>
                  <a:pt x="161518" y="191388"/>
                </a:lnTo>
                <a:lnTo>
                  <a:pt x="162401" y="192262"/>
                </a:lnTo>
                <a:lnTo>
                  <a:pt x="163283" y="193137"/>
                </a:lnTo>
                <a:lnTo>
                  <a:pt x="164166" y="194011"/>
                </a:lnTo>
                <a:lnTo>
                  <a:pt x="165049" y="194886"/>
                </a:lnTo>
                <a:lnTo>
                  <a:pt x="165931" y="195761"/>
                </a:lnTo>
                <a:lnTo>
                  <a:pt x="166814" y="196635"/>
                </a:lnTo>
                <a:lnTo>
                  <a:pt x="167696" y="197510"/>
                </a:lnTo>
                <a:lnTo>
                  <a:pt x="168579" y="198384"/>
                </a:lnTo>
                <a:lnTo>
                  <a:pt x="169462" y="199259"/>
                </a:lnTo>
                <a:lnTo>
                  <a:pt x="170344" y="200133"/>
                </a:lnTo>
                <a:lnTo>
                  <a:pt x="171227" y="201008"/>
                </a:lnTo>
                <a:lnTo>
                  <a:pt x="172109" y="201883"/>
                </a:lnTo>
                <a:lnTo>
                  <a:pt x="172992" y="202757"/>
                </a:lnTo>
                <a:lnTo>
                  <a:pt x="173875" y="203632"/>
                </a:lnTo>
                <a:lnTo>
                  <a:pt x="174757" y="204506"/>
                </a:lnTo>
                <a:lnTo>
                  <a:pt x="175640" y="205381"/>
                </a:lnTo>
                <a:lnTo>
                  <a:pt x="176523" y="206255"/>
                </a:lnTo>
                <a:lnTo>
                  <a:pt x="177405" y="207130"/>
                </a:lnTo>
                <a:lnTo>
                  <a:pt x="178288" y="208005"/>
                </a:lnTo>
                <a:lnTo>
                  <a:pt x="179170" y="208879"/>
                </a:lnTo>
                <a:lnTo>
                  <a:pt x="180053" y="209754"/>
                </a:lnTo>
                <a:lnTo>
                  <a:pt x="180936" y="210628"/>
                </a:lnTo>
                <a:lnTo>
                  <a:pt x="181818" y="211503"/>
                </a:lnTo>
                <a:lnTo>
                  <a:pt x="182701" y="212377"/>
                </a:lnTo>
                <a:lnTo>
                  <a:pt x="183583" y="213252"/>
                </a:lnTo>
                <a:lnTo>
                  <a:pt x="184466" y="214127"/>
                </a:lnTo>
                <a:lnTo>
                  <a:pt x="185349" y="215001"/>
                </a:lnTo>
                <a:lnTo>
                  <a:pt x="186231" y="215876"/>
                </a:lnTo>
                <a:lnTo>
                  <a:pt x="187114" y="216750"/>
                </a:lnTo>
                <a:lnTo>
                  <a:pt x="187996" y="217625"/>
                </a:lnTo>
                <a:lnTo>
                  <a:pt x="188879" y="218499"/>
                </a:lnTo>
                <a:lnTo>
                  <a:pt x="189762" y="219374"/>
                </a:lnTo>
                <a:lnTo>
                  <a:pt x="190644" y="220249"/>
                </a:lnTo>
                <a:lnTo>
                  <a:pt x="191527" y="221123"/>
                </a:lnTo>
                <a:lnTo>
                  <a:pt x="192410" y="221998"/>
                </a:lnTo>
                <a:lnTo>
                  <a:pt x="193292" y="222872"/>
                </a:lnTo>
                <a:lnTo>
                  <a:pt x="194175" y="223747"/>
                </a:lnTo>
                <a:lnTo>
                  <a:pt x="195057" y="224621"/>
                </a:lnTo>
                <a:lnTo>
                  <a:pt x="195940" y="225496"/>
                </a:lnTo>
                <a:lnTo>
                  <a:pt x="196823" y="226370"/>
                </a:lnTo>
                <a:lnTo>
                  <a:pt x="197705" y="227245"/>
                </a:lnTo>
                <a:lnTo>
                  <a:pt x="198588" y="228120"/>
                </a:lnTo>
                <a:lnTo>
                  <a:pt x="199470" y="228994"/>
                </a:lnTo>
                <a:lnTo>
                  <a:pt x="200353" y="229869"/>
                </a:lnTo>
                <a:lnTo>
                  <a:pt x="201236" y="230743"/>
                </a:lnTo>
                <a:lnTo>
                  <a:pt x="202118" y="231618"/>
                </a:lnTo>
                <a:lnTo>
                  <a:pt x="203001" y="232492"/>
                </a:lnTo>
                <a:lnTo>
                  <a:pt x="203883" y="233367"/>
                </a:lnTo>
                <a:lnTo>
                  <a:pt x="204766" y="234242"/>
                </a:lnTo>
                <a:lnTo>
                  <a:pt x="205649" y="235116"/>
                </a:lnTo>
                <a:lnTo>
                  <a:pt x="206531" y="235991"/>
                </a:lnTo>
                <a:lnTo>
                  <a:pt x="207414" y="236865"/>
                </a:lnTo>
                <a:lnTo>
                  <a:pt x="208297" y="237740"/>
                </a:lnTo>
                <a:lnTo>
                  <a:pt x="209179" y="238614"/>
                </a:lnTo>
                <a:lnTo>
                  <a:pt x="210062" y="217260"/>
                </a:lnTo>
                <a:lnTo>
                  <a:pt x="210944" y="218135"/>
                </a:lnTo>
                <a:lnTo>
                  <a:pt x="211827" y="219010"/>
                </a:lnTo>
                <a:lnTo>
                  <a:pt x="212710" y="219884"/>
                </a:lnTo>
                <a:lnTo>
                  <a:pt x="213592" y="220759"/>
                </a:lnTo>
                <a:lnTo>
                  <a:pt x="214475" y="221633"/>
                </a:lnTo>
                <a:lnTo>
                  <a:pt x="215357" y="222508"/>
                </a:lnTo>
                <a:lnTo>
                  <a:pt x="216240" y="223382"/>
                </a:lnTo>
                <a:lnTo>
                  <a:pt x="217123" y="224257"/>
                </a:lnTo>
                <a:lnTo>
                  <a:pt x="218005" y="225132"/>
                </a:lnTo>
                <a:lnTo>
                  <a:pt x="218888" y="226006"/>
                </a:lnTo>
                <a:lnTo>
                  <a:pt x="219771" y="226881"/>
                </a:lnTo>
                <a:lnTo>
                  <a:pt x="220653" y="227755"/>
                </a:lnTo>
                <a:lnTo>
                  <a:pt x="221536" y="228630"/>
                </a:lnTo>
                <a:lnTo>
                  <a:pt x="222418" y="229504"/>
                </a:lnTo>
                <a:lnTo>
                  <a:pt x="223301" y="230379"/>
                </a:lnTo>
                <a:lnTo>
                  <a:pt x="224184" y="231254"/>
                </a:lnTo>
                <a:lnTo>
                  <a:pt x="225066" y="232128"/>
                </a:lnTo>
                <a:lnTo>
                  <a:pt x="225949" y="233003"/>
                </a:lnTo>
                <a:lnTo>
                  <a:pt x="226831" y="233877"/>
                </a:lnTo>
                <a:lnTo>
                  <a:pt x="227714" y="234752"/>
                </a:lnTo>
                <a:lnTo>
                  <a:pt x="228597" y="235626"/>
                </a:lnTo>
                <a:lnTo>
                  <a:pt x="229479" y="236501"/>
                </a:lnTo>
                <a:lnTo>
                  <a:pt x="230362" y="237376"/>
                </a:lnTo>
                <a:lnTo>
                  <a:pt x="231244" y="238250"/>
                </a:lnTo>
                <a:lnTo>
                  <a:pt x="232127" y="239125"/>
                </a:lnTo>
                <a:lnTo>
                  <a:pt x="233010" y="239999"/>
                </a:lnTo>
                <a:lnTo>
                  <a:pt x="233892" y="240874"/>
                </a:lnTo>
                <a:lnTo>
                  <a:pt x="234775" y="241748"/>
                </a:lnTo>
                <a:lnTo>
                  <a:pt x="235658" y="242623"/>
                </a:lnTo>
                <a:lnTo>
                  <a:pt x="236540" y="243498"/>
                </a:lnTo>
                <a:lnTo>
                  <a:pt x="237423" y="244372"/>
                </a:lnTo>
                <a:lnTo>
                  <a:pt x="238305" y="245247"/>
                </a:lnTo>
                <a:lnTo>
                  <a:pt x="239188" y="246121"/>
                </a:lnTo>
                <a:lnTo>
                  <a:pt x="240071" y="246996"/>
                </a:lnTo>
                <a:lnTo>
                  <a:pt x="240953" y="247870"/>
                </a:lnTo>
                <a:lnTo>
                  <a:pt x="241836" y="248745"/>
                </a:lnTo>
                <a:lnTo>
                  <a:pt x="242718" y="249620"/>
                </a:lnTo>
                <a:lnTo>
                  <a:pt x="243601" y="250494"/>
                </a:lnTo>
                <a:lnTo>
                  <a:pt x="244484" y="251369"/>
                </a:lnTo>
                <a:lnTo>
                  <a:pt x="245366" y="252243"/>
                </a:lnTo>
                <a:lnTo>
                  <a:pt x="246249" y="253118"/>
                </a:lnTo>
                <a:lnTo>
                  <a:pt x="247132" y="253992"/>
                </a:lnTo>
                <a:lnTo>
                  <a:pt x="248014" y="254867"/>
                </a:lnTo>
                <a:lnTo>
                  <a:pt x="248897" y="255742"/>
                </a:lnTo>
                <a:lnTo>
                  <a:pt x="249779" y="256616"/>
                </a:lnTo>
                <a:lnTo>
                  <a:pt x="250662" y="257491"/>
                </a:lnTo>
                <a:lnTo>
                  <a:pt x="251545" y="258365"/>
                </a:lnTo>
                <a:lnTo>
                  <a:pt x="252427" y="259240"/>
                </a:lnTo>
                <a:lnTo>
                  <a:pt x="253310" y="260114"/>
                </a:lnTo>
                <a:lnTo>
                  <a:pt x="254192" y="260989"/>
                </a:lnTo>
                <a:lnTo>
                  <a:pt x="255075" y="261864"/>
                </a:lnTo>
                <a:lnTo>
                  <a:pt x="255958" y="262738"/>
                </a:lnTo>
                <a:lnTo>
                  <a:pt x="256840" y="263613"/>
                </a:lnTo>
                <a:lnTo>
                  <a:pt x="257723" y="264487"/>
                </a:lnTo>
                <a:lnTo>
                  <a:pt x="258605" y="265362"/>
                </a:lnTo>
                <a:lnTo>
                  <a:pt x="259488" y="266236"/>
                </a:lnTo>
                <a:lnTo>
                  <a:pt x="260371" y="267111"/>
                </a:lnTo>
                <a:lnTo>
                  <a:pt x="261253" y="267986"/>
                </a:lnTo>
                <a:lnTo>
                  <a:pt x="262136" y="268860"/>
                </a:lnTo>
                <a:lnTo>
                  <a:pt x="263019" y="269735"/>
                </a:lnTo>
                <a:lnTo>
                  <a:pt x="263901" y="270609"/>
                </a:lnTo>
                <a:lnTo>
                  <a:pt x="264784" y="271484"/>
                </a:lnTo>
                <a:lnTo>
                  <a:pt x="265666" y="272358"/>
                </a:lnTo>
                <a:lnTo>
                  <a:pt x="266549" y="273233"/>
                </a:lnTo>
                <a:lnTo>
                  <a:pt x="267432" y="274108"/>
                </a:lnTo>
                <a:lnTo>
                  <a:pt x="268314" y="274982"/>
                </a:lnTo>
                <a:lnTo>
                  <a:pt x="269197" y="275857"/>
                </a:lnTo>
                <a:lnTo>
                  <a:pt x="270079" y="276731"/>
                </a:lnTo>
                <a:lnTo>
                  <a:pt x="270962" y="277606"/>
                </a:lnTo>
                <a:lnTo>
                  <a:pt x="271845" y="278480"/>
                </a:lnTo>
                <a:lnTo>
                  <a:pt x="272727" y="279355"/>
                </a:lnTo>
                <a:lnTo>
                  <a:pt x="273610" y="280229"/>
                </a:lnTo>
                <a:lnTo>
                  <a:pt x="274492" y="281104"/>
                </a:lnTo>
                <a:lnTo>
                  <a:pt x="275375" y="281979"/>
                </a:lnTo>
                <a:lnTo>
                  <a:pt x="276258" y="282853"/>
                </a:lnTo>
                <a:lnTo>
                  <a:pt x="277140" y="283728"/>
                </a:lnTo>
                <a:lnTo>
                  <a:pt x="278023" y="284602"/>
                </a:lnTo>
                <a:lnTo>
                  <a:pt x="278906" y="285477"/>
                </a:lnTo>
                <a:lnTo>
                  <a:pt x="279788" y="286351"/>
                </a:lnTo>
                <a:lnTo>
                  <a:pt x="280671" y="287226"/>
                </a:lnTo>
                <a:lnTo>
                  <a:pt x="281553" y="288101"/>
                </a:lnTo>
                <a:lnTo>
                  <a:pt x="282436" y="288975"/>
                </a:lnTo>
                <a:lnTo>
                  <a:pt x="283319" y="289850"/>
                </a:lnTo>
                <a:lnTo>
                  <a:pt x="284201" y="290724"/>
                </a:lnTo>
                <a:lnTo>
                  <a:pt x="285084" y="291599"/>
                </a:lnTo>
                <a:lnTo>
                  <a:pt x="285966" y="292473"/>
                </a:lnTo>
                <a:lnTo>
                  <a:pt x="286849" y="293348"/>
                </a:lnTo>
                <a:lnTo>
                  <a:pt x="287732" y="294223"/>
                </a:lnTo>
                <a:lnTo>
                  <a:pt x="288614" y="295097"/>
                </a:lnTo>
                <a:lnTo>
                  <a:pt x="289497" y="295972"/>
                </a:lnTo>
                <a:lnTo>
                  <a:pt x="290380" y="296846"/>
                </a:lnTo>
                <a:lnTo>
                  <a:pt x="291262" y="297721"/>
                </a:lnTo>
                <a:lnTo>
                  <a:pt x="292145" y="298595"/>
                </a:lnTo>
                <a:lnTo>
                  <a:pt x="293027" y="299470"/>
                </a:lnTo>
                <a:lnTo>
                  <a:pt x="293910" y="300345"/>
                </a:lnTo>
                <a:lnTo>
                  <a:pt x="294793" y="301219"/>
                </a:lnTo>
                <a:lnTo>
                  <a:pt x="295675" y="302094"/>
                </a:lnTo>
                <a:lnTo>
                  <a:pt x="296558" y="302968"/>
                </a:lnTo>
                <a:lnTo>
                  <a:pt x="297440" y="303843"/>
                </a:lnTo>
                <a:lnTo>
                  <a:pt x="298323" y="304717"/>
                </a:lnTo>
                <a:lnTo>
                  <a:pt x="299206" y="305592"/>
                </a:lnTo>
                <a:lnTo>
                  <a:pt x="300088" y="306467"/>
                </a:lnTo>
                <a:lnTo>
                  <a:pt x="300971" y="307341"/>
                </a:lnTo>
                <a:lnTo>
                  <a:pt x="301853" y="308216"/>
                </a:lnTo>
                <a:lnTo>
                  <a:pt x="302736" y="309090"/>
                </a:lnTo>
                <a:lnTo>
                  <a:pt x="303619" y="309965"/>
                </a:lnTo>
                <a:lnTo>
                  <a:pt x="304501" y="310839"/>
                </a:lnTo>
                <a:lnTo>
                  <a:pt x="305384" y="311714"/>
                </a:lnTo>
                <a:lnTo>
                  <a:pt x="306267" y="312589"/>
                </a:lnTo>
                <a:lnTo>
                  <a:pt x="307149" y="313463"/>
                </a:lnTo>
                <a:lnTo>
                  <a:pt x="308032" y="314338"/>
                </a:lnTo>
                <a:lnTo>
                  <a:pt x="308914" y="315212"/>
                </a:lnTo>
                <a:lnTo>
                  <a:pt x="309797" y="316087"/>
                </a:lnTo>
                <a:lnTo>
                  <a:pt x="310680" y="316961"/>
                </a:lnTo>
                <a:lnTo>
                  <a:pt x="311562" y="317836"/>
                </a:lnTo>
                <a:lnTo>
                  <a:pt x="312445" y="318711"/>
                </a:lnTo>
                <a:lnTo>
                  <a:pt x="313327" y="319585"/>
                </a:lnTo>
                <a:lnTo>
                  <a:pt x="314210" y="320460"/>
                </a:lnTo>
                <a:lnTo>
                  <a:pt x="315093" y="321334"/>
                </a:lnTo>
                <a:lnTo>
                  <a:pt x="315975" y="322209"/>
                </a:lnTo>
                <a:lnTo>
                  <a:pt x="316858" y="323083"/>
                </a:lnTo>
                <a:lnTo>
                  <a:pt x="317741" y="323958"/>
                </a:lnTo>
                <a:lnTo>
                  <a:pt x="318623" y="324833"/>
                </a:lnTo>
                <a:lnTo>
                  <a:pt x="319506" y="325707"/>
                </a:lnTo>
                <a:lnTo>
                  <a:pt x="320388" y="326582"/>
                </a:lnTo>
                <a:lnTo>
                  <a:pt x="321271" y="327456"/>
                </a:lnTo>
                <a:lnTo>
                  <a:pt x="322154" y="328331"/>
                </a:lnTo>
                <a:lnTo>
                  <a:pt x="323036" y="329205"/>
                </a:lnTo>
                <a:lnTo>
                  <a:pt x="323919" y="330080"/>
                </a:lnTo>
                <a:lnTo>
                  <a:pt x="324801" y="330955"/>
                </a:lnTo>
                <a:lnTo>
                  <a:pt x="325684" y="331829"/>
                </a:lnTo>
                <a:lnTo>
                  <a:pt x="326567" y="332704"/>
                </a:lnTo>
                <a:lnTo>
                  <a:pt x="327449" y="333578"/>
                </a:lnTo>
                <a:lnTo>
                  <a:pt x="328332" y="334453"/>
                </a:lnTo>
                <a:lnTo>
                  <a:pt x="329214" y="335327"/>
                </a:lnTo>
                <a:lnTo>
                  <a:pt x="330097" y="336202"/>
                </a:lnTo>
                <a:lnTo>
                  <a:pt x="330980" y="337076"/>
                </a:lnTo>
                <a:lnTo>
                  <a:pt x="331862" y="337951"/>
                </a:lnTo>
                <a:lnTo>
                  <a:pt x="332745" y="338826"/>
                </a:lnTo>
                <a:lnTo>
                  <a:pt x="333628" y="339700"/>
                </a:lnTo>
                <a:lnTo>
                  <a:pt x="334510" y="340575"/>
                </a:lnTo>
                <a:lnTo>
                  <a:pt x="335393" y="341449"/>
                </a:lnTo>
                <a:lnTo>
                  <a:pt x="336275" y="342324"/>
                </a:lnTo>
                <a:lnTo>
                  <a:pt x="337158" y="343198"/>
                </a:lnTo>
                <a:lnTo>
                  <a:pt x="338041" y="344073"/>
                </a:lnTo>
                <a:lnTo>
                  <a:pt x="338923" y="344948"/>
                </a:lnTo>
                <a:lnTo>
                  <a:pt x="339806" y="345822"/>
                </a:lnTo>
                <a:lnTo>
                  <a:pt x="340688" y="346697"/>
                </a:lnTo>
                <a:lnTo>
                  <a:pt x="341571" y="347571"/>
                </a:lnTo>
                <a:lnTo>
                  <a:pt x="342454" y="348446"/>
                </a:lnTo>
                <a:lnTo>
                  <a:pt x="343336" y="349320"/>
                </a:lnTo>
                <a:lnTo>
                  <a:pt x="344219" y="350195"/>
                </a:lnTo>
                <a:lnTo>
                  <a:pt x="345102" y="351070"/>
                </a:lnTo>
                <a:lnTo>
                  <a:pt x="345984" y="351944"/>
                </a:lnTo>
                <a:lnTo>
                  <a:pt x="346867" y="352819"/>
                </a:lnTo>
                <a:lnTo>
                  <a:pt x="347749" y="353693"/>
                </a:lnTo>
                <a:lnTo>
                  <a:pt x="348632" y="354568"/>
                </a:lnTo>
                <a:lnTo>
                  <a:pt x="349515" y="355442"/>
                </a:lnTo>
                <a:lnTo>
                  <a:pt x="350397" y="356317"/>
                </a:lnTo>
                <a:lnTo>
                  <a:pt x="351280" y="357192"/>
                </a:lnTo>
                <a:lnTo>
                  <a:pt x="352162" y="358066"/>
                </a:lnTo>
                <a:lnTo>
                  <a:pt x="353045" y="358941"/>
                </a:lnTo>
                <a:lnTo>
                  <a:pt x="353928" y="359815"/>
                </a:lnTo>
                <a:lnTo>
                  <a:pt x="354810" y="360690"/>
                </a:lnTo>
                <a:lnTo>
                  <a:pt x="355693" y="361564"/>
                </a:lnTo>
                <a:lnTo>
                  <a:pt x="356575" y="362439"/>
                </a:lnTo>
                <a:lnTo>
                  <a:pt x="357458" y="363314"/>
                </a:lnTo>
                <a:lnTo>
                  <a:pt x="358341" y="364188"/>
                </a:lnTo>
                <a:lnTo>
                  <a:pt x="359223" y="365063"/>
                </a:lnTo>
                <a:lnTo>
                  <a:pt x="360106" y="365937"/>
                </a:lnTo>
                <a:lnTo>
                  <a:pt x="360989" y="366812"/>
                </a:lnTo>
                <a:lnTo>
                  <a:pt x="361871" y="367686"/>
                </a:lnTo>
                <a:lnTo>
                  <a:pt x="362754" y="368561"/>
                </a:lnTo>
                <a:lnTo>
                  <a:pt x="363636" y="369436"/>
                </a:lnTo>
                <a:lnTo>
                  <a:pt x="364519" y="370310"/>
                </a:lnTo>
                <a:lnTo>
                  <a:pt x="365402" y="371185"/>
                </a:lnTo>
                <a:lnTo>
                  <a:pt x="366284" y="372059"/>
                </a:lnTo>
                <a:lnTo>
                  <a:pt x="367167" y="372934"/>
                </a:lnTo>
                <a:lnTo>
                  <a:pt x="368049" y="373808"/>
                </a:lnTo>
                <a:lnTo>
                  <a:pt x="368932" y="374683"/>
                </a:lnTo>
                <a:lnTo>
                  <a:pt x="369815" y="375558"/>
                </a:lnTo>
                <a:lnTo>
                  <a:pt x="370697" y="376432"/>
                </a:lnTo>
                <a:lnTo>
                  <a:pt x="371580" y="377307"/>
                </a:lnTo>
                <a:lnTo>
                  <a:pt x="372462" y="378181"/>
                </a:lnTo>
                <a:lnTo>
                  <a:pt x="373345" y="379056"/>
                </a:lnTo>
                <a:lnTo>
                  <a:pt x="374228" y="379930"/>
                </a:lnTo>
                <a:lnTo>
                  <a:pt x="375110" y="380805"/>
                </a:lnTo>
                <a:lnTo>
                  <a:pt x="375993" y="381680"/>
                </a:lnTo>
                <a:lnTo>
                  <a:pt x="376876" y="382554"/>
                </a:lnTo>
                <a:lnTo>
                  <a:pt x="377758" y="383429"/>
                </a:lnTo>
                <a:lnTo>
                  <a:pt x="378641" y="384303"/>
                </a:lnTo>
                <a:lnTo>
                  <a:pt x="379523" y="385178"/>
                </a:lnTo>
                <a:lnTo>
                  <a:pt x="380406" y="386052"/>
                </a:lnTo>
                <a:lnTo>
                  <a:pt x="381289" y="386927"/>
                </a:lnTo>
                <a:lnTo>
                  <a:pt x="382171" y="387802"/>
                </a:lnTo>
                <a:lnTo>
                  <a:pt x="383054" y="388676"/>
                </a:lnTo>
                <a:lnTo>
                  <a:pt x="383936" y="389551"/>
                </a:lnTo>
                <a:lnTo>
                  <a:pt x="384819" y="390425"/>
                </a:lnTo>
                <a:lnTo>
                  <a:pt x="385702" y="391300"/>
                </a:lnTo>
                <a:lnTo>
                  <a:pt x="386584" y="392174"/>
                </a:lnTo>
                <a:lnTo>
                  <a:pt x="387467" y="393049"/>
                </a:lnTo>
                <a:lnTo>
                  <a:pt x="388350" y="393923"/>
                </a:lnTo>
                <a:lnTo>
                  <a:pt x="389232" y="394798"/>
                </a:lnTo>
                <a:lnTo>
                  <a:pt x="390115" y="395673"/>
                </a:lnTo>
                <a:lnTo>
                  <a:pt x="390997" y="396547"/>
                </a:lnTo>
                <a:lnTo>
                  <a:pt x="391880" y="397422"/>
                </a:lnTo>
                <a:lnTo>
                  <a:pt x="392763" y="398296"/>
                </a:lnTo>
                <a:lnTo>
                  <a:pt x="393645" y="399171"/>
                </a:lnTo>
                <a:lnTo>
                  <a:pt x="394528" y="400045"/>
                </a:lnTo>
                <a:lnTo>
                  <a:pt x="395410" y="400920"/>
                </a:lnTo>
                <a:lnTo>
                  <a:pt x="396293" y="401795"/>
                </a:lnTo>
                <a:lnTo>
                  <a:pt x="397176" y="402669"/>
                </a:lnTo>
                <a:lnTo>
                  <a:pt x="398058" y="403544"/>
                </a:lnTo>
                <a:lnTo>
                  <a:pt x="398941" y="404418"/>
                </a:lnTo>
                <a:lnTo>
                  <a:pt x="399823" y="405293"/>
                </a:lnTo>
                <a:lnTo>
                  <a:pt x="400706" y="406167"/>
                </a:lnTo>
                <a:lnTo>
                  <a:pt x="401589" y="407042"/>
                </a:lnTo>
                <a:lnTo>
                  <a:pt x="402471" y="407917"/>
                </a:lnTo>
                <a:lnTo>
                  <a:pt x="403354" y="408791"/>
                </a:lnTo>
                <a:lnTo>
                  <a:pt x="404237" y="409666"/>
                </a:lnTo>
                <a:lnTo>
                  <a:pt x="405119" y="410540"/>
                </a:lnTo>
                <a:lnTo>
                  <a:pt x="406002" y="411415"/>
                </a:lnTo>
                <a:lnTo>
                  <a:pt x="406884" y="412289"/>
                </a:lnTo>
                <a:lnTo>
                  <a:pt x="407767" y="413164"/>
                </a:lnTo>
                <a:lnTo>
                  <a:pt x="408650" y="414039"/>
                </a:lnTo>
                <a:lnTo>
                  <a:pt x="409532" y="414913"/>
                </a:lnTo>
                <a:lnTo>
                  <a:pt x="410415" y="415788"/>
                </a:lnTo>
                <a:lnTo>
                  <a:pt x="411297" y="416662"/>
                </a:lnTo>
                <a:lnTo>
                  <a:pt x="412180" y="417537"/>
                </a:lnTo>
                <a:lnTo>
                  <a:pt x="413063" y="418411"/>
                </a:lnTo>
                <a:lnTo>
                  <a:pt x="413945" y="419286"/>
                </a:lnTo>
                <a:lnTo>
                  <a:pt x="414828" y="420161"/>
                </a:lnTo>
                <a:lnTo>
                  <a:pt x="415711" y="421035"/>
                </a:lnTo>
                <a:lnTo>
                  <a:pt x="416593" y="421910"/>
                </a:lnTo>
                <a:lnTo>
                  <a:pt x="417476" y="422784"/>
                </a:lnTo>
                <a:lnTo>
                  <a:pt x="418358" y="423659"/>
                </a:lnTo>
                <a:lnTo>
                  <a:pt x="419241" y="424533"/>
                </a:lnTo>
                <a:lnTo>
                  <a:pt x="420124" y="425408"/>
                </a:lnTo>
                <a:lnTo>
                  <a:pt x="421006" y="426283"/>
                </a:lnTo>
                <a:lnTo>
                  <a:pt x="421889" y="427157"/>
                </a:lnTo>
                <a:lnTo>
                  <a:pt x="422771" y="428032"/>
                </a:lnTo>
                <a:lnTo>
                  <a:pt x="423654" y="428906"/>
                </a:lnTo>
                <a:lnTo>
                  <a:pt x="424537" y="429781"/>
                </a:lnTo>
                <a:lnTo>
                  <a:pt x="425419" y="430655"/>
                </a:lnTo>
                <a:lnTo>
                  <a:pt x="426302" y="431530"/>
                </a:lnTo>
                <a:lnTo>
                  <a:pt x="427184" y="432405"/>
                </a:lnTo>
                <a:lnTo>
                  <a:pt x="428067" y="433279"/>
                </a:lnTo>
                <a:lnTo>
                  <a:pt x="428950" y="434154"/>
                </a:lnTo>
                <a:lnTo>
                  <a:pt x="429832" y="435028"/>
                </a:lnTo>
                <a:lnTo>
                  <a:pt x="430715" y="435903"/>
                </a:lnTo>
                <a:lnTo>
                  <a:pt x="431598" y="436777"/>
                </a:lnTo>
                <a:lnTo>
                  <a:pt x="432480" y="437652"/>
                </a:lnTo>
                <a:lnTo>
                  <a:pt x="433363" y="438527"/>
                </a:lnTo>
                <a:lnTo>
                  <a:pt x="434245" y="439401"/>
                </a:lnTo>
                <a:lnTo>
                  <a:pt x="435128" y="440276"/>
                </a:lnTo>
                <a:lnTo>
                  <a:pt x="436011" y="441150"/>
                </a:lnTo>
                <a:lnTo>
                  <a:pt x="436893" y="442025"/>
                </a:lnTo>
                <a:lnTo>
                  <a:pt x="437776" y="442899"/>
                </a:lnTo>
                <a:lnTo>
                  <a:pt x="438658" y="443774"/>
                </a:lnTo>
                <a:lnTo>
                  <a:pt x="439541" y="444649"/>
                </a:lnTo>
                <a:lnTo>
                  <a:pt x="440424" y="445523"/>
                </a:lnTo>
                <a:lnTo>
                  <a:pt x="441306" y="446398"/>
                </a:lnTo>
                <a:lnTo>
                  <a:pt x="442189" y="447272"/>
                </a:lnTo>
                <a:lnTo>
                  <a:pt x="443071" y="448147"/>
                </a:lnTo>
                <a:lnTo>
                  <a:pt x="443954" y="449021"/>
                </a:lnTo>
                <a:lnTo>
                  <a:pt x="444837" y="449896"/>
                </a:lnTo>
                <a:lnTo>
                  <a:pt x="445719" y="450770"/>
                </a:lnTo>
                <a:lnTo>
                  <a:pt x="446602" y="451645"/>
                </a:lnTo>
                <a:lnTo>
                  <a:pt x="447485" y="452520"/>
                </a:lnTo>
                <a:lnTo>
                  <a:pt x="448367" y="453394"/>
                </a:lnTo>
                <a:lnTo>
                  <a:pt x="449250" y="454269"/>
                </a:lnTo>
                <a:lnTo>
                  <a:pt x="450132" y="455143"/>
                </a:lnTo>
                <a:lnTo>
                  <a:pt x="451015" y="456018"/>
                </a:lnTo>
                <a:lnTo>
                  <a:pt x="451898" y="456892"/>
                </a:lnTo>
                <a:lnTo>
                  <a:pt x="452780" y="457767"/>
                </a:lnTo>
                <a:lnTo>
                  <a:pt x="453663" y="458642"/>
                </a:lnTo>
                <a:lnTo>
                  <a:pt x="454545" y="459516"/>
                </a:lnTo>
                <a:lnTo>
                  <a:pt x="455428" y="460391"/>
                </a:lnTo>
                <a:lnTo>
                  <a:pt x="456311" y="461265"/>
                </a:lnTo>
                <a:lnTo>
                  <a:pt x="457193" y="462140"/>
                </a:lnTo>
                <a:lnTo>
                  <a:pt x="458076" y="463014"/>
                </a:lnTo>
                <a:lnTo>
                  <a:pt x="458959" y="463889"/>
                </a:lnTo>
                <a:lnTo>
                  <a:pt x="459841" y="464764"/>
                </a:lnTo>
                <a:lnTo>
                  <a:pt x="460724" y="465638"/>
                </a:lnTo>
                <a:lnTo>
                  <a:pt x="461606" y="466513"/>
                </a:lnTo>
                <a:lnTo>
                  <a:pt x="462489" y="467387"/>
                </a:lnTo>
                <a:lnTo>
                  <a:pt x="463372" y="468262"/>
                </a:lnTo>
                <a:lnTo>
                  <a:pt x="464254" y="469136"/>
                </a:lnTo>
                <a:lnTo>
                  <a:pt x="465137" y="470011"/>
                </a:lnTo>
                <a:lnTo>
                  <a:pt x="466019" y="470886"/>
                </a:lnTo>
                <a:lnTo>
                  <a:pt x="466902" y="471760"/>
                </a:lnTo>
                <a:lnTo>
                  <a:pt x="467785" y="472635"/>
                </a:lnTo>
                <a:lnTo>
                  <a:pt x="468667" y="473509"/>
                </a:lnTo>
                <a:lnTo>
                  <a:pt x="469550" y="474384"/>
                </a:lnTo>
                <a:lnTo>
                  <a:pt x="470432" y="475258"/>
                </a:lnTo>
                <a:lnTo>
                  <a:pt x="471315" y="476133"/>
                </a:lnTo>
                <a:lnTo>
                  <a:pt x="472198" y="477008"/>
                </a:lnTo>
                <a:lnTo>
                  <a:pt x="473080" y="477882"/>
                </a:lnTo>
                <a:lnTo>
                  <a:pt x="473963" y="478757"/>
                </a:lnTo>
                <a:lnTo>
                  <a:pt x="474846" y="479631"/>
                </a:lnTo>
                <a:lnTo>
                  <a:pt x="475728" y="480506"/>
                </a:lnTo>
                <a:lnTo>
                  <a:pt x="476611" y="481380"/>
                </a:lnTo>
                <a:lnTo>
                  <a:pt x="477493" y="482255"/>
                </a:lnTo>
                <a:lnTo>
                  <a:pt x="478376" y="483130"/>
                </a:lnTo>
                <a:lnTo>
                  <a:pt x="479259" y="484004"/>
                </a:lnTo>
                <a:lnTo>
                  <a:pt x="480141" y="484879"/>
                </a:lnTo>
                <a:lnTo>
                  <a:pt x="481024" y="485753"/>
                </a:lnTo>
                <a:lnTo>
                  <a:pt x="481906" y="486628"/>
                </a:lnTo>
                <a:lnTo>
                  <a:pt x="482789" y="487502"/>
                </a:lnTo>
                <a:lnTo>
                  <a:pt x="483672" y="488377"/>
                </a:lnTo>
                <a:lnTo>
                  <a:pt x="484554" y="489252"/>
                </a:lnTo>
                <a:lnTo>
                  <a:pt x="485437" y="490126"/>
                </a:lnTo>
                <a:lnTo>
                  <a:pt x="486320" y="491001"/>
                </a:lnTo>
                <a:lnTo>
                  <a:pt x="487202" y="491875"/>
                </a:lnTo>
                <a:lnTo>
                  <a:pt x="488085" y="492750"/>
                </a:lnTo>
                <a:lnTo>
                  <a:pt x="488967" y="493624"/>
                </a:lnTo>
                <a:lnTo>
                  <a:pt x="489850" y="494499"/>
                </a:lnTo>
                <a:lnTo>
                  <a:pt x="490733" y="495374"/>
                </a:lnTo>
                <a:lnTo>
                  <a:pt x="491615" y="496248"/>
                </a:lnTo>
                <a:lnTo>
                  <a:pt x="492498" y="497123"/>
                </a:lnTo>
                <a:lnTo>
                  <a:pt x="493380" y="497997"/>
                </a:lnTo>
                <a:lnTo>
                  <a:pt x="494263" y="498872"/>
                </a:lnTo>
                <a:lnTo>
                  <a:pt x="495146" y="499746"/>
                </a:lnTo>
                <a:lnTo>
                  <a:pt x="496028" y="500621"/>
                </a:lnTo>
                <a:lnTo>
                  <a:pt x="496911" y="501496"/>
                </a:lnTo>
                <a:lnTo>
                  <a:pt x="497793" y="502370"/>
                </a:lnTo>
                <a:lnTo>
                  <a:pt x="498676" y="503245"/>
                </a:lnTo>
                <a:lnTo>
                  <a:pt x="499559" y="504119"/>
                </a:lnTo>
                <a:lnTo>
                  <a:pt x="500441" y="504994"/>
                </a:lnTo>
                <a:lnTo>
                  <a:pt x="501324" y="505868"/>
                </a:lnTo>
                <a:lnTo>
                  <a:pt x="502207" y="506743"/>
                </a:lnTo>
                <a:lnTo>
                  <a:pt x="503089" y="507617"/>
                </a:lnTo>
                <a:lnTo>
                  <a:pt x="503972" y="508492"/>
                </a:lnTo>
                <a:lnTo>
                  <a:pt x="504854" y="509367"/>
                </a:lnTo>
                <a:lnTo>
                  <a:pt x="505737" y="510241"/>
                </a:lnTo>
                <a:lnTo>
                  <a:pt x="506620" y="511116"/>
                </a:lnTo>
                <a:lnTo>
                  <a:pt x="507502" y="511990"/>
                </a:lnTo>
                <a:lnTo>
                  <a:pt x="508385" y="512865"/>
                </a:lnTo>
                <a:lnTo>
                  <a:pt x="509267" y="513739"/>
                </a:lnTo>
                <a:lnTo>
                  <a:pt x="510150" y="514614"/>
                </a:lnTo>
                <a:lnTo>
                  <a:pt x="511033" y="515489"/>
                </a:lnTo>
                <a:lnTo>
                  <a:pt x="511915" y="516363"/>
                </a:lnTo>
                <a:lnTo>
                  <a:pt x="512798" y="517238"/>
                </a:lnTo>
                <a:lnTo>
                  <a:pt x="513680" y="518112"/>
                </a:lnTo>
                <a:lnTo>
                  <a:pt x="514563" y="518987"/>
                </a:lnTo>
                <a:lnTo>
                  <a:pt x="515446" y="519861"/>
                </a:lnTo>
                <a:lnTo>
                  <a:pt x="516328" y="520736"/>
                </a:lnTo>
                <a:lnTo>
                  <a:pt x="517211" y="521611"/>
                </a:lnTo>
                <a:lnTo>
                  <a:pt x="518094" y="522485"/>
                </a:lnTo>
                <a:lnTo>
                  <a:pt x="518976" y="523360"/>
                </a:lnTo>
                <a:lnTo>
                  <a:pt x="519859" y="524234"/>
                </a:lnTo>
                <a:lnTo>
                  <a:pt x="520741" y="525109"/>
                </a:lnTo>
                <a:lnTo>
                  <a:pt x="521624" y="525983"/>
                </a:lnTo>
                <a:lnTo>
                  <a:pt x="522507" y="526858"/>
                </a:lnTo>
                <a:lnTo>
                  <a:pt x="523389" y="527733"/>
                </a:lnTo>
                <a:lnTo>
                  <a:pt x="524272" y="528607"/>
                </a:lnTo>
                <a:lnTo>
                  <a:pt x="525154" y="529482"/>
                </a:lnTo>
                <a:lnTo>
                  <a:pt x="526037" y="530356"/>
                </a:lnTo>
                <a:lnTo>
                  <a:pt x="526920" y="531231"/>
                </a:lnTo>
                <a:lnTo>
                  <a:pt x="527802" y="532105"/>
                </a:lnTo>
                <a:lnTo>
                  <a:pt x="528685" y="532980"/>
                </a:lnTo>
                <a:lnTo>
                  <a:pt x="529568" y="533855"/>
                </a:lnTo>
                <a:lnTo>
                  <a:pt x="530450" y="534729"/>
                </a:lnTo>
                <a:lnTo>
                  <a:pt x="531333" y="535604"/>
                </a:lnTo>
                <a:lnTo>
                  <a:pt x="532215" y="536478"/>
                </a:lnTo>
                <a:lnTo>
                  <a:pt x="533098" y="537353"/>
                </a:lnTo>
                <a:lnTo>
                  <a:pt x="533981" y="538227"/>
                </a:lnTo>
                <a:lnTo>
                  <a:pt x="534863" y="539102"/>
                </a:lnTo>
                <a:lnTo>
                  <a:pt x="535746" y="539977"/>
                </a:lnTo>
                <a:lnTo>
                  <a:pt x="536628" y="540851"/>
                </a:lnTo>
                <a:lnTo>
                  <a:pt x="537511" y="541726"/>
                </a:lnTo>
                <a:lnTo>
                  <a:pt x="538394" y="542600"/>
                </a:lnTo>
                <a:lnTo>
                  <a:pt x="539276" y="543475"/>
                </a:lnTo>
                <a:lnTo>
                  <a:pt x="540159" y="544349"/>
                </a:lnTo>
                <a:lnTo>
                  <a:pt x="541041" y="545224"/>
                </a:lnTo>
                <a:lnTo>
                  <a:pt x="541924" y="546099"/>
                </a:lnTo>
                <a:lnTo>
                  <a:pt x="542807" y="546973"/>
                </a:lnTo>
                <a:lnTo>
                  <a:pt x="543689" y="547848"/>
                </a:lnTo>
                <a:lnTo>
                  <a:pt x="544572" y="548722"/>
                </a:lnTo>
                <a:lnTo>
                  <a:pt x="545455" y="549597"/>
                </a:lnTo>
                <a:lnTo>
                  <a:pt x="546337" y="550471"/>
                </a:lnTo>
                <a:lnTo>
                  <a:pt x="547220" y="551346"/>
                </a:lnTo>
                <a:lnTo>
                  <a:pt x="548102" y="552221"/>
                </a:lnTo>
                <a:lnTo>
                  <a:pt x="548985" y="553095"/>
                </a:lnTo>
                <a:lnTo>
                  <a:pt x="549868" y="553970"/>
                </a:lnTo>
                <a:lnTo>
                  <a:pt x="550750" y="554844"/>
                </a:lnTo>
                <a:lnTo>
                  <a:pt x="551633" y="555719"/>
                </a:lnTo>
                <a:lnTo>
                  <a:pt x="552515" y="556593"/>
                </a:lnTo>
                <a:lnTo>
                  <a:pt x="553398" y="557468"/>
                </a:lnTo>
                <a:lnTo>
                  <a:pt x="554281" y="558343"/>
                </a:lnTo>
                <a:lnTo>
                  <a:pt x="555163" y="559217"/>
                </a:lnTo>
                <a:lnTo>
                  <a:pt x="556046" y="560092"/>
                </a:lnTo>
                <a:lnTo>
                  <a:pt x="556929" y="560966"/>
                </a:lnTo>
                <a:lnTo>
                  <a:pt x="557811" y="561841"/>
                </a:lnTo>
                <a:lnTo>
                  <a:pt x="558694" y="562715"/>
                </a:lnTo>
                <a:lnTo>
                  <a:pt x="559576" y="563590"/>
                </a:lnTo>
                <a:lnTo>
                  <a:pt x="560459" y="564465"/>
                </a:lnTo>
                <a:lnTo>
                  <a:pt x="561342" y="565339"/>
                </a:lnTo>
                <a:lnTo>
                  <a:pt x="562224" y="566214"/>
                </a:lnTo>
                <a:lnTo>
                  <a:pt x="563107" y="567088"/>
                </a:lnTo>
                <a:lnTo>
                  <a:pt x="563989" y="567963"/>
                </a:lnTo>
                <a:lnTo>
                  <a:pt x="564872" y="568837"/>
                </a:lnTo>
                <a:lnTo>
                  <a:pt x="565755" y="569712"/>
                </a:lnTo>
                <a:lnTo>
                  <a:pt x="566637" y="570586"/>
                </a:lnTo>
                <a:lnTo>
                  <a:pt x="567520" y="571461"/>
                </a:lnTo>
                <a:lnTo>
                  <a:pt x="568402" y="572336"/>
                </a:lnTo>
                <a:lnTo>
                  <a:pt x="569285" y="573210"/>
                </a:lnTo>
                <a:lnTo>
                  <a:pt x="570168" y="574085"/>
                </a:lnTo>
                <a:lnTo>
                  <a:pt x="571050" y="574959"/>
                </a:lnTo>
                <a:lnTo>
                  <a:pt x="571933" y="575834"/>
                </a:lnTo>
                <a:lnTo>
                  <a:pt x="572816" y="576708"/>
                </a:lnTo>
                <a:lnTo>
                  <a:pt x="573698" y="577583"/>
                </a:lnTo>
                <a:lnTo>
                  <a:pt x="574581" y="578458"/>
                </a:lnTo>
                <a:lnTo>
                  <a:pt x="575463" y="579332"/>
                </a:lnTo>
                <a:lnTo>
                  <a:pt x="576346" y="580207"/>
                </a:lnTo>
                <a:lnTo>
                  <a:pt x="577229" y="581081"/>
                </a:lnTo>
                <a:lnTo>
                  <a:pt x="578111" y="581956"/>
                </a:lnTo>
                <a:lnTo>
                  <a:pt x="578994" y="582830"/>
                </a:lnTo>
                <a:lnTo>
                  <a:pt x="579876" y="583705"/>
                </a:lnTo>
                <a:lnTo>
                  <a:pt x="580759" y="584580"/>
                </a:lnTo>
                <a:lnTo>
                  <a:pt x="581642" y="585454"/>
                </a:lnTo>
                <a:lnTo>
                  <a:pt x="582524" y="586329"/>
                </a:lnTo>
                <a:lnTo>
                  <a:pt x="583407" y="587203"/>
                </a:lnTo>
                <a:lnTo>
                  <a:pt x="584289" y="588078"/>
                </a:lnTo>
                <a:lnTo>
                  <a:pt x="585172" y="588952"/>
                </a:lnTo>
                <a:lnTo>
                  <a:pt x="586055" y="589827"/>
                </a:lnTo>
                <a:lnTo>
                  <a:pt x="586937" y="590702"/>
                </a:lnTo>
                <a:lnTo>
                  <a:pt x="587820" y="591576"/>
                </a:lnTo>
                <a:lnTo>
                  <a:pt x="588703" y="592451"/>
                </a:lnTo>
                <a:lnTo>
                  <a:pt x="589585" y="593325"/>
                </a:lnTo>
                <a:lnTo>
                  <a:pt x="590468" y="594200"/>
                </a:lnTo>
                <a:lnTo>
                  <a:pt x="591350" y="595074"/>
                </a:lnTo>
                <a:lnTo>
                  <a:pt x="592233" y="595949"/>
                </a:lnTo>
                <a:lnTo>
                  <a:pt x="593116" y="596824"/>
                </a:lnTo>
                <a:lnTo>
                  <a:pt x="593998" y="597698"/>
                </a:lnTo>
                <a:lnTo>
                  <a:pt x="594881" y="598573"/>
                </a:lnTo>
                <a:lnTo>
                  <a:pt x="595763" y="599447"/>
                </a:lnTo>
                <a:lnTo>
                  <a:pt x="596646" y="600322"/>
                </a:lnTo>
                <a:lnTo>
                  <a:pt x="597529" y="601196"/>
                </a:lnTo>
                <a:lnTo>
                  <a:pt x="598411" y="602071"/>
                </a:lnTo>
                <a:lnTo>
                  <a:pt x="599294" y="602946"/>
                </a:lnTo>
                <a:lnTo>
                  <a:pt x="600177" y="603820"/>
                </a:lnTo>
                <a:lnTo>
                  <a:pt x="601059" y="604695"/>
                </a:lnTo>
                <a:lnTo>
                  <a:pt x="601942" y="605569"/>
                </a:lnTo>
                <a:lnTo>
                  <a:pt x="602824" y="606444"/>
                </a:lnTo>
                <a:lnTo>
                  <a:pt x="603707" y="607318"/>
                </a:lnTo>
                <a:lnTo>
                  <a:pt x="604590" y="608193"/>
                </a:lnTo>
                <a:lnTo>
                  <a:pt x="605472" y="609068"/>
                </a:lnTo>
                <a:lnTo>
                  <a:pt x="606355" y="609942"/>
                </a:lnTo>
                <a:lnTo>
                  <a:pt x="607237" y="610817"/>
                </a:lnTo>
                <a:lnTo>
                  <a:pt x="608120" y="611691"/>
                </a:lnTo>
                <a:lnTo>
                  <a:pt x="609003" y="612566"/>
                </a:lnTo>
                <a:lnTo>
                  <a:pt x="609885" y="613440"/>
                </a:lnTo>
                <a:lnTo>
                  <a:pt x="610768" y="614315"/>
                </a:lnTo>
                <a:lnTo>
                  <a:pt x="611650" y="615190"/>
                </a:lnTo>
                <a:lnTo>
                  <a:pt x="612533" y="616064"/>
                </a:lnTo>
                <a:lnTo>
                  <a:pt x="613416" y="616939"/>
                </a:lnTo>
                <a:lnTo>
                  <a:pt x="614298" y="617813"/>
                </a:lnTo>
                <a:lnTo>
                  <a:pt x="615181" y="618688"/>
                </a:lnTo>
                <a:lnTo>
                  <a:pt x="616064" y="619562"/>
                </a:lnTo>
                <a:lnTo>
                  <a:pt x="616946" y="620437"/>
                </a:lnTo>
                <a:lnTo>
                  <a:pt x="617829" y="621312"/>
                </a:lnTo>
                <a:lnTo>
                  <a:pt x="618711" y="622186"/>
                </a:lnTo>
                <a:lnTo>
                  <a:pt x="619594" y="623061"/>
                </a:lnTo>
                <a:lnTo>
                  <a:pt x="620477" y="623935"/>
                </a:lnTo>
                <a:lnTo>
                  <a:pt x="621359" y="624810"/>
                </a:lnTo>
                <a:lnTo>
                  <a:pt x="622242" y="625684"/>
                </a:lnTo>
                <a:lnTo>
                  <a:pt x="623124" y="626559"/>
                </a:lnTo>
                <a:lnTo>
                  <a:pt x="624007" y="627433"/>
                </a:lnTo>
                <a:lnTo>
                  <a:pt x="624890" y="628308"/>
                </a:lnTo>
                <a:lnTo>
                  <a:pt x="625772" y="629183"/>
                </a:lnTo>
                <a:lnTo>
                  <a:pt x="626655" y="630057"/>
                </a:lnTo>
                <a:lnTo>
                  <a:pt x="627538" y="630932"/>
                </a:lnTo>
                <a:lnTo>
                  <a:pt x="628420" y="631806"/>
                </a:lnTo>
                <a:lnTo>
                  <a:pt x="629303" y="632681"/>
                </a:lnTo>
                <a:lnTo>
                  <a:pt x="630185" y="633555"/>
                </a:lnTo>
                <a:lnTo>
                  <a:pt x="631068" y="634430"/>
                </a:lnTo>
                <a:lnTo>
                  <a:pt x="631951" y="635305"/>
                </a:lnTo>
                <a:lnTo>
                  <a:pt x="632833" y="636179"/>
                </a:lnTo>
                <a:lnTo>
                  <a:pt x="633716" y="637054"/>
                </a:lnTo>
                <a:lnTo>
                  <a:pt x="634598" y="637928"/>
                </a:lnTo>
                <a:lnTo>
                  <a:pt x="635481" y="638803"/>
                </a:lnTo>
                <a:lnTo>
                  <a:pt x="636364" y="639677"/>
                </a:lnTo>
                <a:lnTo>
                  <a:pt x="637246" y="640552"/>
                </a:lnTo>
                <a:lnTo>
                  <a:pt x="638129" y="641427"/>
                </a:lnTo>
                <a:lnTo>
                  <a:pt x="639011" y="642301"/>
                </a:lnTo>
                <a:lnTo>
                  <a:pt x="639894" y="643176"/>
                </a:lnTo>
                <a:lnTo>
                  <a:pt x="640777" y="644050"/>
                </a:lnTo>
                <a:lnTo>
                  <a:pt x="641659" y="644925"/>
                </a:lnTo>
                <a:lnTo>
                  <a:pt x="642542" y="645799"/>
                </a:lnTo>
                <a:lnTo>
                  <a:pt x="643425" y="646674"/>
                </a:lnTo>
                <a:lnTo>
                  <a:pt x="644307" y="647549"/>
                </a:lnTo>
                <a:lnTo>
                  <a:pt x="645190" y="648423"/>
                </a:lnTo>
                <a:lnTo>
                  <a:pt x="646072" y="649298"/>
                </a:lnTo>
                <a:lnTo>
                  <a:pt x="646955" y="650172"/>
                </a:lnTo>
                <a:lnTo>
                  <a:pt x="647838" y="651047"/>
                </a:lnTo>
                <a:lnTo>
                  <a:pt x="648720" y="651921"/>
                </a:lnTo>
                <a:lnTo>
                  <a:pt x="649603" y="652796"/>
                </a:lnTo>
                <a:lnTo>
                  <a:pt x="650485" y="653671"/>
                </a:lnTo>
                <a:lnTo>
                  <a:pt x="651368" y="654545"/>
                </a:lnTo>
                <a:lnTo>
                  <a:pt x="652251" y="655420"/>
                </a:lnTo>
                <a:lnTo>
                  <a:pt x="653133" y="656294"/>
                </a:lnTo>
                <a:lnTo>
                  <a:pt x="654016" y="657169"/>
                </a:lnTo>
                <a:lnTo>
                  <a:pt x="654898" y="658043"/>
                </a:lnTo>
                <a:lnTo>
                  <a:pt x="655781" y="658918"/>
                </a:lnTo>
                <a:lnTo>
                  <a:pt x="656664" y="659793"/>
                </a:lnTo>
                <a:lnTo>
                  <a:pt x="657546" y="660667"/>
                </a:lnTo>
                <a:lnTo>
                  <a:pt x="658429" y="661542"/>
                </a:lnTo>
                <a:lnTo>
                  <a:pt x="659312" y="662416"/>
                </a:lnTo>
                <a:lnTo>
                  <a:pt x="660194" y="663291"/>
                </a:lnTo>
                <a:lnTo>
                  <a:pt x="661077" y="664165"/>
                </a:lnTo>
                <a:lnTo>
                  <a:pt x="661959" y="665040"/>
                </a:lnTo>
                <a:lnTo>
                  <a:pt x="662842" y="665915"/>
                </a:lnTo>
                <a:lnTo>
                  <a:pt x="663725" y="666789"/>
                </a:lnTo>
                <a:lnTo>
                  <a:pt x="664607" y="667664"/>
                </a:lnTo>
                <a:lnTo>
                  <a:pt x="665490" y="668538"/>
                </a:lnTo>
                <a:lnTo>
                  <a:pt x="666372" y="669413"/>
                </a:lnTo>
                <a:lnTo>
                  <a:pt x="667255" y="670287"/>
                </a:lnTo>
                <a:lnTo>
                  <a:pt x="668138" y="671162"/>
                </a:lnTo>
                <a:lnTo>
                  <a:pt x="669020" y="672037"/>
                </a:lnTo>
                <a:lnTo>
                  <a:pt x="669903" y="672911"/>
                </a:lnTo>
                <a:lnTo>
                  <a:pt x="670786" y="673786"/>
                </a:lnTo>
                <a:lnTo>
                  <a:pt x="671668" y="674660"/>
                </a:lnTo>
                <a:lnTo>
                  <a:pt x="672551" y="675535"/>
                </a:lnTo>
                <a:lnTo>
                  <a:pt x="673433" y="676409"/>
                </a:lnTo>
                <a:lnTo>
                  <a:pt x="674316" y="677284"/>
                </a:lnTo>
                <a:lnTo>
                  <a:pt x="675199" y="678159"/>
                </a:lnTo>
                <a:lnTo>
                  <a:pt x="676081" y="679033"/>
                </a:lnTo>
                <a:lnTo>
                  <a:pt x="676964" y="679908"/>
                </a:lnTo>
                <a:lnTo>
                  <a:pt x="677846" y="680782"/>
                </a:lnTo>
                <a:lnTo>
                  <a:pt x="678729" y="681657"/>
                </a:lnTo>
                <a:lnTo>
                  <a:pt x="679612" y="682531"/>
                </a:lnTo>
                <a:lnTo>
                  <a:pt x="680494" y="683406"/>
                </a:lnTo>
                <a:lnTo>
                  <a:pt x="681377" y="684280"/>
                </a:lnTo>
                <a:lnTo>
                  <a:pt x="682259" y="685155"/>
                </a:lnTo>
                <a:lnTo>
                  <a:pt x="683142" y="686030"/>
                </a:lnTo>
                <a:lnTo>
                  <a:pt x="684025" y="686904"/>
                </a:lnTo>
                <a:lnTo>
                  <a:pt x="684907" y="687779"/>
                </a:lnTo>
                <a:lnTo>
                  <a:pt x="685790" y="688653"/>
                </a:lnTo>
                <a:lnTo>
                  <a:pt x="686673" y="689528"/>
                </a:lnTo>
                <a:lnTo>
                  <a:pt x="687555" y="690402"/>
                </a:lnTo>
                <a:lnTo>
                  <a:pt x="688438" y="691277"/>
                </a:lnTo>
                <a:lnTo>
                  <a:pt x="689320" y="692152"/>
                </a:lnTo>
                <a:lnTo>
                  <a:pt x="690203" y="693026"/>
                </a:lnTo>
                <a:lnTo>
                  <a:pt x="691086" y="693901"/>
                </a:lnTo>
                <a:lnTo>
                  <a:pt x="691968" y="694775"/>
                </a:lnTo>
                <a:lnTo>
                  <a:pt x="692851" y="695650"/>
                </a:lnTo>
                <a:lnTo>
                  <a:pt x="693733" y="696524"/>
                </a:lnTo>
                <a:lnTo>
                  <a:pt x="694616" y="697399"/>
                </a:lnTo>
                <a:lnTo>
                  <a:pt x="695499" y="698274"/>
                </a:lnTo>
                <a:lnTo>
                  <a:pt x="696381" y="699148"/>
                </a:lnTo>
                <a:lnTo>
                  <a:pt x="697264" y="700023"/>
                </a:lnTo>
                <a:lnTo>
                  <a:pt x="698147" y="700897"/>
                </a:lnTo>
                <a:lnTo>
                  <a:pt x="699029" y="701772"/>
                </a:lnTo>
                <a:lnTo>
                  <a:pt x="699912" y="702646"/>
                </a:lnTo>
                <a:lnTo>
                  <a:pt x="700794" y="703521"/>
                </a:lnTo>
                <a:lnTo>
                  <a:pt x="701677" y="704396"/>
                </a:lnTo>
                <a:lnTo>
                  <a:pt x="702560" y="705270"/>
                </a:lnTo>
                <a:lnTo>
                  <a:pt x="703442" y="706145"/>
                </a:lnTo>
                <a:lnTo>
                  <a:pt x="704325" y="707019"/>
                </a:lnTo>
                <a:lnTo>
                  <a:pt x="705207" y="707894"/>
                </a:lnTo>
                <a:lnTo>
                  <a:pt x="706090" y="708768"/>
                </a:lnTo>
                <a:lnTo>
                  <a:pt x="706973" y="709643"/>
                </a:lnTo>
                <a:lnTo>
                  <a:pt x="707855" y="710518"/>
                </a:lnTo>
                <a:lnTo>
                  <a:pt x="708738" y="711392"/>
                </a:lnTo>
                <a:lnTo>
                  <a:pt x="709620" y="712267"/>
                </a:lnTo>
                <a:lnTo>
                  <a:pt x="710503" y="713141"/>
                </a:lnTo>
                <a:lnTo>
                  <a:pt x="711386" y="714016"/>
                </a:lnTo>
                <a:lnTo>
                  <a:pt x="712268" y="714890"/>
                </a:lnTo>
                <a:lnTo>
                  <a:pt x="713151" y="715765"/>
                </a:lnTo>
                <a:lnTo>
                  <a:pt x="714034" y="716640"/>
                </a:lnTo>
                <a:lnTo>
                  <a:pt x="714916" y="717514"/>
                </a:lnTo>
                <a:lnTo>
                  <a:pt x="715799" y="718389"/>
                </a:lnTo>
                <a:lnTo>
                  <a:pt x="716681" y="719263"/>
                </a:lnTo>
                <a:lnTo>
                  <a:pt x="717564" y="720138"/>
                </a:lnTo>
                <a:lnTo>
                  <a:pt x="718447" y="721012"/>
                </a:lnTo>
                <a:lnTo>
                  <a:pt x="719329" y="721887"/>
                </a:lnTo>
                <a:lnTo>
                  <a:pt x="720212" y="722762"/>
                </a:lnTo>
                <a:lnTo>
                  <a:pt x="721094" y="723636"/>
                </a:lnTo>
                <a:lnTo>
                  <a:pt x="721977" y="724511"/>
                </a:lnTo>
                <a:lnTo>
                  <a:pt x="722860" y="725385"/>
                </a:lnTo>
                <a:lnTo>
                  <a:pt x="723742" y="726260"/>
                </a:lnTo>
                <a:lnTo>
                  <a:pt x="724625" y="727134"/>
                </a:lnTo>
                <a:lnTo>
                  <a:pt x="725508" y="728009"/>
                </a:lnTo>
                <a:lnTo>
                  <a:pt x="726390" y="728884"/>
                </a:lnTo>
                <a:lnTo>
                  <a:pt x="727273" y="729758"/>
                </a:lnTo>
                <a:lnTo>
                  <a:pt x="728155" y="730633"/>
                </a:lnTo>
                <a:lnTo>
                  <a:pt x="729038" y="731507"/>
                </a:lnTo>
                <a:lnTo>
                  <a:pt x="729921" y="732382"/>
                </a:lnTo>
                <a:lnTo>
                  <a:pt x="730803" y="733256"/>
                </a:lnTo>
                <a:lnTo>
                  <a:pt x="731686" y="734131"/>
                </a:lnTo>
                <a:lnTo>
                  <a:pt x="732568" y="735006"/>
                </a:lnTo>
                <a:lnTo>
                  <a:pt x="733451" y="735880"/>
                </a:lnTo>
                <a:lnTo>
                  <a:pt x="734334" y="736755"/>
                </a:lnTo>
                <a:lnTo>
                  <a:pt x="735216" y="737629"/>
                </a:lnTo>
                <a:lnTo>
                  <a:pt x="736099" y="738504"/>
                </a:lnTo>
                <a:lnTo>
                  <a:pt x="736981" y="739378"/>
                </a:lnTo>
                <a:lnTo>
                  <a:pt x="737864" y="740253"/>
                </a:lnTo>
                <a:lnTo>
                  <a:pt x="738747" y="741127"/>
                </a:lnTo>
                <a:lnTo>
                  <a:pt x="739629" y="742002"/>
                </a:lnTo>
                <a:lnTo>
                  <a:pt x="740512" y="742877"/>
                </a:lnTo>
                <a:lnTo>
                  <a:pt x="741395" y="743751"/>
                </a:lnTo>
                <a:lnTo>
                  <a:pt x="742277" y="744626"/>
                </a:lnTo>
                <a:lnTo>
                  <a:pt x="743160" y="745500"/>
                </a:lnTo>
                <a:lnTo>
                  <a:pt x="744042" y="746375"/>
                </a:lnTo>
                <a:lnTo>
                  <a:pt x="744925" y="747249"/>
                </a:lnTo>
                <a:lnTo>
                  <a:pt x="745808" y="748124"/>
                </a:lnTo>
                <a:lnTo>
                  <a:pt x="746690" y="748999"/>
                </a:lnTo>
                <a:lnTo>
                  <a:pt x="747573" y="749873"/>
                </a:lnTo>
                <a:lnTo>
                  <a:pt x="748455" y="750748"/>
                </a:lnTo>
                <a:lnTo>
                  <a:pt x="749338" y="751622"/>
                </a:lnTo>
                <a:lnTo>
                  <a:pt x="750221" y="752497"/>
                </a:lnTo>
                <a:lnTo>
                  <a:pt x="751103" y="753371"/>
                </a:lnTo>
                <a:lnTo>
                  <a:pt x="751986" y="754246"/>
                </a:lnTo>
                <a:lnTo>
                  <a:pt x="752868" y="755121"/>
                </a:lnTo>
                <a:lnTo>
                  <a:pt x="753751" y="755995"/>
                </a:lnTo>
                <a:lnTo>
                  <a:pt x="754634" y="756870"/>
                </a:lnTo>
                <a:lnTo>
                  <a:pt x="755516" y="757744"/>
                </a:lnTo>
                <a:lnTo>
                  <a:pt x="756399" y="758619"/>
                </a:lnTo>
                <a:lnTo>
                  <a:pt x="757282" y="759493"/>
                </a:lnTo>
                <a:lnTo>
                  <a:pt x="758164" y="760368"/>
                </a:lnTo>
                <a:lnTo>
                  <a:pt x="759047" y="761243"/>
                </a:lnTo>
                <a:lnTo>
                  <a:pt x="759929" y="762117"/>
                </a:lnTo>
                <a:lnTo>
                  <a:pt x="760812" y="762992"/>
                </a:lnTo>
                <a:lnTo>
                  <a:pt x="761695" y="763866"/>
                </a:lnTo>
                <a:lnTo>
                  <a:pt x="762577" y="764741"/>
                </a:lnTo>
                <a:lnTo>
                  <a:pt x="763460" y="765615"/>
                </a:lnTo>
                <a:lnTo>
                  <a:pt x="764342" y="766490"/>
                </a:lnTo>
                <a:lnTo>
                  <a:pt x="765225" y="767365"/>
                </a:lnTo>
                <a:lnTo>
                  <a:pt x="766108" y="768239"/>
                </a:lnTo>
                <a:lnTo>
                  <a:pt x="766990" y="769114"/>
                </a:lnTo>
                <a:lnTo>
                  <a:pt x="767873" y="769988"/>
                </a:lnTo>
                <a:lnTo>
                  <a:pt x="768756" y="770863"/>
                </a:lnTo>
                <a:lnTo>
                  <a:pt x="769638" y="771737"/>
                </a:lnTo>
                <a:lnTo>
                  <a:pt x="770521" y="772612"/>
                </a:lnTo>
                <a:lnTo>
                  <a:pt x="771403" y="773487"/>
                </a:lnTo>
                <a:lnTo>
                  <a:pt x="772286" y="774361"/>
                </a:lnTo>
                <a:lnTo>
                  <a:pt x="773169" y="775236"/>
                </a:lnTo>
                <a:lnTo>
                  <a:pt x="774051" y="776110"/>
                </a:lnTo>
                <a:lnTo>
                  <a:pt x="774934" y="776985"/>
                </a:lnTo>
                <a:lnTo>
                  <a:pt x="775816" y="777859"/>
                </a:lnTo>
                <a:lnTo>
                  <a:pt x="776699" y="778734"/>
                </a:lnTo>
                <a:lnTo>
                  <a:pt x="777582" y="779609"/>
                </a:lnTo>
                <a:lnTo>
                  <a:pt x="778464" y="780483"/>
                </a:lnTo>
                <a:lnTo>
                  <a:pt x="779347" y="781358"/>
                </a:lnTo>
                <a:lnTo>
                  <a:pt x="780229" y="782232"/>
                </a:lnTo>
                <a:lnTo>
                  <a:pt x="781112" y="783107"/>
                </a:lnTo>
                <a:lnTo>
                  <a:pt x="781995" y="783981"/>
                </a:lnTo>
                <a:lnTo>
                  <a:pt x="782877" y="784856"/>
                </a:lnTo>
                <a:lnTo>
                  <a:pt x="783760" y="785731"/>
                </a:lnTo>
                <a:lnTo>
                  <a:pt x="784643" y="786605"/>
                </a:lnTo>
                <a:lnTo>
                  <a:pt x="785525" y="787480"/>
                </a:lnTo>
                <a:lnTo>
                  <a:pt x="786408" y="788354"/>
                </a:lnTo>
                <a:lnTo>
                  <a:pt x="787290" y="789229"/>
                </a:lnTo>
                <a:lnTo>
                  <a:pt x="788173" y="790103"/>
                </a:lnTo>
                <a:lnTo>
                  <a:pt x="789056" y="790978"/>
                </a:lnTo>
                <a:lnTo>
                  <a:pt x="789938" y="791853"/>
                </a:lnTo>
                <a:lnTo>
                  <a:pt x="790821" y="792727"/>
                </a:lnTo>
                <a:lnTo>
                  <a:pt x="791703" y="793602"/>
                </a:lnTo>
                <a:lnTo>
                  <a:pt x="792586" y="794476"/>
                </a:lnTo>
                <a:lnTo>
                  <a:pt x="793469" y="795351"/>
                </a:lnTo>
                <a:lnTo>
                  <a:pt x="794351" y="796225"/>
                </a:lnTo>
                <a:lnTo>
                  <a:pt x="795234" y="797100"/>
                </a:lnTo>
                <a:lnTo>
                  <a:pt x="796117" y="797974"/>
                </a:lnTo>
                <a:lnTo>
                  <a:pt x="796999" y="798849"/>
                </a:lnTo>
                <a:lnTo>
                  <a:pt x="797882" y="799724"/>
                </a:lnTo>
                <a:lnTo>
                  <a:pt x="798764" y="800598"/>
                </a:lnTo>
                <a:lnTo>
                  <a:pt x="799647" y="801473"/>
                </a:lnTo>
                <a:lnTo>
                  <a:pt x="800530" y="802347"/>
                </a:lnTo>
                <a:lnTo>
                  <a:pt x="801412" y="803222"/>
                </a:lnTo>
                <a:lnTo>
                  <a:pt x="802295" y="804096"/>
                </a:lnTo>
                <a:lnTo>
                  <a:pt x="803177" y="804971"/>
                </a:lnTo>
                <a:lnTo>
                  <a:pt x="804060" y="805846"/>
                </a:lnTo>
                <a:lnTo>
                  <a:pt x="804943" y="806720"/>
                </a:lnTo>
                <a:lnTo>
                  <a:pt x="805825" y="807595"/>
                </a:lnTo>
                <a:lnTo>
                  <a:pt x="806708" y="808469"/>
                </a:lnTo>
                <a:lnTo>
                  <a:pt x="807590" y="809344"/>
                </a:lnTo>
                <a:lnTo>
                  <a:pt x="808473" y="810218"/>
                </a:lnTo>
                <a:lnTo>
                  <a:pt x="809356" y="811093"/>
                </a:lnTo>
                <a:lnTo>
                  <a:pt x="810238" y="811968"/>
                </a:lnTo>
                <a:lnTo>
                  <a:pt x="811121" y="812842"/>
                </a:lnTo>
                <a:lnTo>
                  <a:pt x="812004" y="813717"/>
                </a:lnTo>
                <a:lnTo>
                  <a:pt x="812886" y="814591"/>
                </a:lnTo>
                <a:lnTo>
                  <a:pt x="813769" y="815466"/>
                </a:lnTo>
                <a:lnTo>
                  <a:pt x="814651" y="816340"/>
                </a:lnTo>
                <a:lnTo>
                  <a:pt x="815534" y="817215"/>
                </a:lnTo>
                <a:lnTo>
                  <a:pt x="816417" y="818090"/>
                </a:lnTo>
                <a:lnTo>
                  <a:pt x="817299" y="818964"/>
                </a:lnTo>
                <a:lnTo>
                  <a:pt x="818182" y="819839"/>
                </a:lnTo>
                <a:lnTo>
                  <a:pt x="819064" y="820713"/>
                </a:lnTo>
                <a:lnTo>
                  <a:pt x="819947" y="821588"/>
                </a:lnTo>
                <a:lnTo>
                  <a:pt x="820830" y="822462"/>
                </a:lnTo>
                <a:lnTo>
                  <a:pt x="821712" y="823337"/>
                </a:lnTo>
                <a:lnTo>
                  <a:pt x="822595" y="824212"/>
                </a:lnTo>
                <a:lnTo>
                  <a:pt x="823477" y="825086"/>
                </a:lnTo>
                <a:lnTo>
                  <a:pt x="824360" y="825961"/>
                </a:lnTo>
                <a:lnTo>
                  <a:pt x="825243" y="826835"/>
                </a:lnTo>
                <a:lnTo>
                  <a:pt x="826125" y="827710"/>
                </a:lnTo>
                <a:lnTo>
                  <a:pt x="827008" y="828584"/>
                </a:lnTo>
                <a:lnTo>
                  <a:pt x="827891" y="829459"/>
                </a:lnTo>
                <a:lnTo>
                  <a:pt x="828773" y="830334"/>
                </a:lnTo>
                <a:lnTo>
                  <a:pt x="829656" y="831208"/>
                </a:lnTo>
                <a:lnTo>
                  <a:pt x="830538" y="832083"/>
                </a:lnTo>
                <a:lnTo>
                  <a:pt x="831421" y="832957"/>
                </a:lnTo>
                <a:lnTo>
                  <a:pt x="832304" y="833832"/>
                </a:lnTo>
                <a:lnTo>
                  <a:pt x="833186" y="834706"/>
                </a:lnTo>
                <a:lnTo>
                  <a:pt x="834069" y="835581"/>
                </a:lnTo>
                <a:lnTo>
                  <a:pt x="834951" y="836456"/>
                </a:lnTo>
                <a:lnTo>
                  <a:pt x="835834" y="837330"/>
                </a:lnTo>
                <a:lnTo>
                  <a:pt x="836717" y="838205"/>
                </a:lnTo>
                <a:lnTo>
                  <a:pt x="837599" y="839079"/>
                </a:lnTo>
                <a:lnTo>
                  <a:pt x="838482" y="839954"/>
                </a:lnTo>
                <a:lnTo>
                  <a:pt x="839365" y="840828"/>
                </a:lnTo>
                <a:lnTo>
                  <a:pt x="840247" y="841703"/>
                </a:lnTo>
                <a:lnTo>
                  <a:pt x="841130" y="842578"/>
                </a:lnTo>
                <a:lnTo>
                  <a:pt x="842012" y="843452"/>
                </a:lnTo>
                <a:lnTo>
                  <a:pt x="842895" y="844327"/>
                </a:lnTo>
                <a:lnTo>
                  <a:pt x="843778" y="845201"/>
                </a:lnTo>
                <a:lnTo>
                  <a:pt x="844660" y="846076"/>
                </a:lnTo>
                <a:lnTo>
                  <a:pt x="845543" y="846950"/>
                </a:lnTo>
                <a:lnTo>
                  <a:pt x="846425" y="847825"/>
                </a:lnTo>
                <a:lnTo>
                  <a:pt x="847308" y="848700"/>
                </a:lnTo>
                <a:lnTo>
                  <a:pt x="848191" y="849574"/>
                </a:lnTo>
                <a:lnTo>
                  <a:pt x="849073" y="850449"/>
                </a:lnTo>
                <a:lnTo>
                  <a:pt x="849956" y="851323"/>
                </a:lnTo>
                <a:lnTo>
                  <a:pt x="850838" y="852198"/>
                </a:lnTo>
                <a:lnTo>
                  <a:pt x="851721" y="853072"/>
                </a:lnTo>
                <a:lnTo>
                  <a:pt x="852604" y="853947"/>
                </a:lnTo>
                <a:lnTo>
                  <a:pt x="853486" y="854822"/>
                </a:lnTo>
                <a:lnTo>
                  <a:pt x="854369" y="855696"/>
                </a:lnTo>
                <a:lnTo>
                  <a:pt x="855252" y="856571"/>
                </a:lnTo>
                <a:lnTo>
                  <a:pt x="856134" y="857445"/>
                </a:lnTo>
                <a:lnTo>
                  <a:pt x="857017" y="858320"/>
                </a:lnTo>
                <a:lnTo>
                  <a:pt x="857899" y="859194"/>
                </a:lnTo>
                <a:lnTo>
                  <a:pt x="858782" y="860069"/>
                </a:lnTo>
                <a:lnTo>
                  <a:pt x="859665" y="860943"/>
                </a:lnTo>
                <a:lnTo>
                  <a:pt x="860547" y="861818"/>
                </a:lnTo>
                <a:lnTo>
                  <a:pt x="861430" y="862693"/>
                </a:lnTo>
                <a:lnTo>
                  <a:pt x="862312" y="863567"/>
                </a:lnTo>
                <a:lnTo>
                  <a:pt x="863195" y="864442"/>
                </a:lnTo>
                <a:lnTo>
                  <a:pt x="864078" y="865316"/>
                </a:lnTo>
                <a:lnTo>
                  <a:pt x="864960" y="866191"/>
                </a:lnTo>
                <a:lnTo>
                  <a:pt x="865843" y="867065"/>
                </a:lnTo>
                <a:lnTo>
                  <a:pt x="866726" y="867940"/>
                </a:lnTo>
                <a:lnTo>
                  <a:pt x="867608" y="868815"/>
                </a:lnTo>
                <a:lnTo>
                  <a:pt x="868491" y="869689"/>
                </a:lnTo>
                <a:lnTo>
                  <a:pt x="869373" y="870564"/>
                </a:lnTo>
                <a:lnTo>
                  <a:pt x="870256" y="871438"/>
                </a:lnTo>
                <a:lnTo>
                  <a:pt x="871139" y="872313"/>
                </a:lnTo>
                <a:lnTo>
                  <a:pt x="872021" y="873187"/>
                </a:lnTo>
                <a:lnTo>
                  <a:pt x="872904" y="874062"/>
                </a:lnTo>
                <a:lnTo>
                  <a:pt x="873786" y="874937"/>
                </a:lnTo>
                <a:lnTo>
                  <a:pt x="874669" y="875811"/>
                </a:lnTo>
                <a:lnTo>
                  <a:pt x="875552" y="876686"/>
                </a:lnTo>
                <a:lnTo>
                  <a:pt x="876434" y="877560"/>
                </a:lnTo>
                <a:lnTo>
                  <a:pt x="877317" y="878435"/>
                </a:lnTo>
                <a:lnTo>
                  <a:pt x="878199" y="879309"/>
                </a:lnTo>
                <a:lnTo>
                  <a:pt x="879082" y="880184"/>
                </a:lnTo>
                <a:lnTo>
                  <a:pt x="879965" y="881059"/>
                </a:lnTo>
                <a:lnTo>
                  <a:pt x="880847" y="881933"/>
                </a:lnTo>
                <a:lnTo>
                  <a:pt x="881730" y="882808"/>
                </a:lnTo>
                <a:lnTo>
                  <a:pt x="882613" y="883682"/>
                </a:lnTo>
                <a:lnTo>
                  <a:pt x="883495" y="884557"/>
                </a:lnTo>
                <a:lnTo>
                  <a:pt x="884378" y="885431"/>
                </a:lnTo>
                <a:lnTo>
                  <a:pt x="885260" y="886306"/>
                </a:lnTo>
                <a:lnTo>
                  <a:pt x="886143" y="887181"/>
                </a:lnTo>
                <a:lnTo>
                  <a:pt x="887026" y="888055"/>
                </a:lnTo>
                <a:lnTo>
                  <a:pt x="887908" y="888930"/>
                </a:lnTo>
                <a:lnTo>
                  <a:pt x="888791" y="889804"/>
                </a:lnTo>
                <a:lnTo>
                  <a:pt x="889673" y="890679"/>
                </a:lnTo>
                <a:lnTo>
                  <a:pt x="890556" y="891553"/>
                </a:lnTo>
                <a:lnTo>
                  <a:pt x="891439" y="892428"/>
                </a:lnTo>
                <a:lnTo>
                  <a:pt x="892321" y="893303"/>
                </a:lnTo>
                <a:lnTo>
                  <a:pt x="893204" y="894177"/>
                </a:lnTo>
                <a:lnTo>
                  <a:pt x="894086" y="895052"/>
                </a:lnTo>
                <a:lnTo>
                  <a:pt x="894969" y="895926"/>
                </a:lnTo>
                <a:lnTo>
                  <a:pt x="895852" y="896801"/>
                </a:lnTo>
                <a:lnTo>
                  <a:pt x="896734" y="897675"/>
                </a:lnTo>
                <a:lnTo>
                  <a:pt x="897617" y="898550"/>
                </a:lnTo>
                <a:lnTo>
                  <a:pt x="898500" y="899425"/>
                </a:lnTo>
                <a:lnTo>
                  <a:pt x="899382" y="900299"/>
                </a:lnTo>
                <a:lnTo>
                  <a:pt x="900265" y="901174"/>
                </a:lnTo>
                <a:lnTo>
                  <a:pt x="901147" y="902048"/>
                </a:lnTo>
                <a:lnTo>
                  <a:pt x="902030" y="902923"/>
                </a:lnTo>
                <a:lnTo>
                  <a:pt x="902913" y="903797"/>
                </a:lnTo>
                <a:lnTo>
                  <a:pt x="903795" y="904672"/>
                </a:lnTo>
                <a:lnTo>
                  <a:pt x="904678" y="905547"/>
                </a:lnTo>
                <a:lnTo>
                  <a:pt x="905560" y="906421"/>
                </a:lnTo>
                <a:lnTo>
                  <a:pt x="906443" y="907296"/>
                </a:lnTo>
                <a:lnTo>
                  <a:pt x="907326" y="908170"/>
                </a:lnTo>
                <a:lnTo>
                  <a:pt x="908208" y="909045"/>
                </a:lnTo>
                <a:lnTo>
                  <a:pt x="909091" y="909919"/>
                </a:lnTo>
                <a:lnTo>
                  <a:pt x="909974" y="910794"/>
                </a:lnTo>
                <a:lnTo>
                  <a:pt x="910856" y="911669"/>
                </a:lnTo>
                <a:lnTo>
                  <a:pt x="911739" y="912543"/>
                </a:lnTo>
                <a:lnTo>
                  <a:pt x="912621" y="913418"/>
                </a:lnTo>
                <a:lnTo>
                  <a:pt x="913504" y="914292"/>
                </a:lnTo>
                <a:lnTo>
                  <a:pt x="914387" y="915167"/>
                </a:lnTo>
                <a:lnTo>
                  <a:pt x="915269" y="916041"/>
                </a:lnTo>
                <a:lnTo>
                  <a:pt x="916152" y="916916"/>
                </a:lnTo>
                <a:lnTo>
                  <a:pt x="917034" y="917790"/>
                </a:lnTo>
                <a:lnTo>
                  <a:pt x="917917" y="918665"/>
                </a:lnTo>
                <a:lnTo>
                  <a:pt x="918800" y="919540"/>
                </a:lnTo>
                <a:lnTo>
                  <a:pt x="919682" y="920414"/>
                </a:lnTo>
                <a:lnTo>
                  <a:pt x="920565" y="921289"/>
                </a:lnTo>
                <a:lnTo>
                  <a:pt x="921447" y="922163"/>
                </a:lnTo>
                <a:lnTo>
                  <a:pt x="922330" y="923038"/>
                </a:lnTo>
                <a:lnTo>
                  <a:pt x="923213" y="923912"/>
                </a:lnTo>
                <a:lnTo>
                  <a:pt x="924095" y="924787"/>
                </a:lnTo>
                <a:lnTo>
                  <a:pt x="924978" y="925662"/>
                </a:lnTo>
                <a:lnTo>
                  <a:pt x="925861" y="926536"/>
                </a:lnTo>
                <a:lnTo>
                  <a:pt x="926743" y="927411"/>
                </a:lnTo>
                <a:lnTo>
                  <a:pt x="927626" y="928285"/>
                </a:lnTo>
                <a:lnTo>
                  <a:pt x="928508" y="929160"/>
                </a:lnTo>
                <a:lnTo>
                  <a:pt x="929391" y="930034"/>
                </a:lnTo>
                <a:lnTo>
                  <a:pt x="930274" y="930909"/>
                </a:lnTo>
                <a:lnTo>
                  <a:pt x="931156" y="931784"/>
                </a:lnTo>
                <a:lnTo>
                  <a:pt x="932039" y="932658"/>
                </a:lnTo>
                <a:lnTo>
                  <a:pt x="932921" y="933533"/>
                </a:lnTo>
                <a:lnTo>
                  <a:pt x="933804" y="934407"/>
                </a:lnTo>
                <a:lnTo>
                  <a:pt x="934687" y="935282"/>
                </a:lnTo>
                <a:lnTo>
                  <a:pt x="935569" y="936156"/>
                </a:lnTo>
                <a:lnTo>
                  <a:pt x="936452" y="937031"/>
                </a:lnTo>
                <a:lnTo>
                  <a:pt x="937335" y="937906"/>
                </a:lnTo>
                <a:lnTo>
                  <a:pt x="938217" y="938780"/>
                </a:lnTo>
                <a:lnTo>
                  <a:pt x="939100" y="939655"/>
                </a:lnTo>
                <a:lnTo>
                  <a:pt x="939982" y="940529"/>
                </a:lnTo>
                <a:lnTo>
                  <a:pt x="940865" y="941404"/>
                </a:lnTo>
                <a:lnTo>
                  <a:pt x="941748" y="942278"/>
                </a:lnTo>
                <a:lnTo>
                  <a:pt x="942630" y="943153"/>
                </a:lnTo>
                <a:lnTo>
                  <a:pt x="943513" y="944028"/>
                </a:lnTo>
                <a:lnTo>
                  <a:pt x="944395" y="944902"/>
                </a:lnTo>
                <a:lnTo>
                  <a:pt x="945278" y="945777"/>
                </a:lnTo>
                <a:lnTo>
                  <a:pt x="946161" y="946651"/>
                </a:lnTo>
                <a:lnTo>
                  <a:pt x="947043" y="947526"/>
                </a:lnTo>
                <a:lnTo>
                  <a:pt x="947926" y="948400"/>
                </a:lnTo>
                <a:lnTo>
                  <a:pt x="948808" y="949275"/>
                </a:lnTo>
                <a:lnTo>
                  <a:pt x="949691" y="950150"/>
                </a:lnTo>
                <a:lnTo>
                  <a:pt x="950574" y="951024"/>
                </a:lnTo>
                <a:lnTo>
                  <a:pt x="951456" y="951899"/>
                </a:lnTo>
                <a:lnTo>
                  <a:pt x="952339" y="952773"/>
                </a:lnTo>
                <a:lnTo>
                  <a:pt x="953222" y="953648"/>
                </a:lnTo>
                <a:lnTo>
                  <a:pt x="954104" y="954522"/>
                </a:lnTo>
                <a:lnTo>
                  <a:pt x="954987" y="955397"/>
                </a:lnTo>
                <a:lnTo>
                  <a:pt x="955869" y="956272"/>
                </a:lnTo>
                <a:lnTo>
                  <a:pt x="956752" y="957146"/>
                </a:lnTo>
                <a:lnTo>
                  <a:pt x="957635" y="958021"/>
                </a:lnTo>
                <a:lnTo>
                  <a:pt x="958517" y="958895"/>
                </a:lnTo>
                <a:lnTo>
                  <a:pt x="959400" y="959770"/>
                </a:lnTo>
                <a:lnTo>
                  <a:pt x="960282" y="960644"/>
                </a:lnTo>
                <a:lnTo>
                  <a:pt x="961165" y="961519"/>
                </a:lnTo>
                <a:lnTo>
                  <a:pt x="962048" y="962394"/>
                </a:lnTo>
                <a:lnTo>
                  <a:pt x="962930" y="963268"/>
                </a:lnTo>
                <a:lnTo>
                  <a:pt x="963813" y="964143"/>
                </a:lnTo>
                <a:lnTo>
                  <a:pt x="964695" y="965017"/>
                </a:lnTo>
                <a:lnTo>
                  <a:pt x="965578" y="965892"/>
                </a:lnTo>
                <a:lnTo>
                  <a:pt x="966461" y="966766"/>
                </a:lnTo>
                <a:lnTo>
                  <a:pt x="967343" y="967641"/>
                </a:lnTo>
                <a:lnTo>
                  <a:pt x="968226" y="968516"/>
                </a:lnTo>
                <a:lnTo>
                  <a:pt x="969109" y="969390"/>
                </a:lnTo>
                <a:lnTo>
                  <a:pt x="969991" y="970265"/>
                </a:lnTo>
                <a:lnTo>
                  <a:pt x="970874" y="971139"/>
                </a:lnTo>
                <a:lnTo>
                  <a:pt x="971756" y="972014"/>
                </a:lnTo>
                <a:lnTo>
                  <a:pt x="972639" y="972888"/>
                </a:lnTo>
                <a:lnTo>
                  <a:pt x="973522" y="973763"/>
                </a:lnTo>
                <a:lnTo>
                  <a:pt x="974404" y="974637"/>
                </a:lnTo>
                <a:lnTo>
                  <a:pt x="975287" y="975512"/>
                </a:lnTo>
                <a:lnTo>
                  <a:pt x="976169" y="976387"/>
                </a:lnTo>
                <a:lnTo>
                  <a:pt x="977052" y="977261"/>
                </a:lnTo>
                <a:lnTo>
                  <a:pt x="977935" y="978136"/>
                </a:lnTo>
                <a:lnTo>
                  <a:pt x="978817" y="979010"/>
                </a:lnTo>
                <a:lnTo>
                  <a:pt x="979700" y="979885"/>
                </a:lnTo>
                <a:lnTo>
                  <a:pt x="980583" y="980759"/>
                </a:lnTo>
                <a:lnTo>
                  <a:pt x="981465" y="981634"/>
                </a:lnTo>
                <a:lnTo>
                  <a:pt x="982348" y="982509"/>
                </a:lnTo>
                <a:lnTo>
                  <a:pt x="983230" y="983383"/>
                </a:lnTo>
                <a:lnTo>
                  <a:pt x="984113" y="984258"/>
                </a:lnTo>
                <a:lnTo>
                  <a:pt x="984996" y="985132"/>
                </a:lnTo>
                <a:lnTo>
                  <a:pt x="985878" y="986007"/>
                </a:lnTo>
                <a:lnTo>
                  <a:pt x="986761" y="986881"/>
                </a:lnTo>
                <a:lnTo>
                  <a:pt x="987643" y="987756"/>
                </a:lnTo>
                <a:lnTo>
                  <a:pt x="988526" y="988631"/>
                </a:lnTo>
                <a:lnTo>
                  <a:pt x="989409" y="989505"/>
                </a:lnTo>
                <a:lnTo>
                  <a:pt x="990291" y="990380"/>
                </a:lnTo>
                <a:lnTo>
                  <a:pt x="991174" y="991254"/>
                </a:lnTo>
                <a:lnTo>
                  <a:pt x="992056" y="992129"/>
                </a:lnTo>
                <a:lnTo>
                  <a:pt x="992939" y="993003"/>
                </a:lnTo>
                <a:lnTo>
                  <a:pt x="993822" y="993878"/>
                </a:lnTo>
                <a:lnTo>
                  <a:pt x="994704" y="994753"/>
                </a:lnTo>
                <a:lnTo>
                  <a:pt x="995587" y="995627"/>
                </a:lnTo>
                <a:lnTo>
                  <a:pt x="996470" y="996502"/>
                </a:lnTo>
                <a:lnTo>
                  <a:pt x="997352" y="997376"/>
                </a:lnTo>
                <a:lnTo>
                  <a:pt x="998235" y="998251"/>
                </a:lnTo>
                <a:lnTo>
                  <a:pt x="999117" y="999125"/>
                </a:lnTo>
                <a:lnTo>
                  <a:pt x="1000000" y="1000000"/>
                </a:lnTo>
              </a:path>
            </a:pathLst>
          </a:custGeom>
          <a:noFill/>
          <a:ln w="33000" cap="rnd">
            <a:solidFill>
              <a:srgbClr val="2F5597"/>
            </a:solidFill>
            <a:round/>
          </a:ln>
        </p:spPr>
        <p:txBody>
          <a:bodyPr/>
          <a:lstStyle/>
          <a:p>
            <a:endParaRPr lang="en-US"/>
          </a:p>
        </p:txBody>
      </p:sp>
      <p:sp>
        <p:nvSpPr>
          <p:cNvPr id="34" name="Core MT hit rank 1"/>
          <p:cNvSpPr/>
          <p:nvPr/>
        </p:nvSpPr>
        <p:spPr>
          <a:xfrm>
            <a:off x="4700000" y="4805000"/>
            <a:ext cx="0" cy="180000"/>
          </a:xfrm>
          <a:prstGeom prst="line">
            <a:avLst/>
          </a:prstGeom>
          <a:ln w="18000">
            <a:solidFill>
              <a:srgbClr val="D55E00"/>
            </a:solidFill>
          </a:ln>
        </p:spPr>
        <p:txBody>
          <a:bodyPr/>
          <a:lstStyle/>
          <a:p>
            <a:endParaRPr lang="en-US"/>
          </a:p>
        </p:txBody>
      </p:sp>
      <p:sp>
        <p:nvSpPr>
          <p:cNvPr id="35" name="Core MT hit rank 2"/>
          <p:cNvSpPr/>
          <p:nvPr/>
        </p:nvSpPr>
        <p:spPr>
          <a:xfrm>
            <a:off x="4705525" y="4805000"/>
            <a:ext cx="0" cy="180000"/>
          </a:xfrm>
          <a:prstGeom prst="line">
            <a:avLst/>
          </a:prstGeom>
          <a:ln w="18000">
            <a:solidFill>
              <a:srgbClr val="D55E00"/>
            </a:solidFill>
          </a:ln>
        </p:spPr>
        <p:txBody>
          <a:bodyPr/>
          <a:lstStyle/>
          <a:p>
            <a:endParaRPr lang="en-US"/>
          </a:p>
        </p:txBody>
      </p:sp>
      <p:sp>
        <p:nvSpPr>
          <p:cNvPr id="36" name="Core MT hit rank 6"/>
          <p:cNvSpPr/>
          <p:nvPr/>
        </p:nvSpPr>
        <p:spPr>
          <a:xfrm>
            <a:off x="4727626" y="4805000"/>
            <a:ext cx="0" cy="180000"/>
          </a:xfrm>
          <a:prstGeom prst="line">
            <a:avLst/>
          </a:prstGeom>
          <a:ln w="18000">
            <a:solidFill>
              <a:srgbClr val="D55E00"/>
            </a:solidFill>
          </a:ln>
        </p:spPr>
        <p:txBody>
          <a:bodyPr/>
          <a:lstStyle/>
          <a:p>
            <a:endParaRPr lang="en-US"/>
          </a:p>
        </p:txBody>
      </p:sp>
      <p:sp>
        <p:nvSpPr>
          <p:cNvPr id="37" name="Core MT hit rank 8"/>
          <p:cNvSpPr/>
          <p:nvPr/>
        </p:nvSpPr>
        <p:spPr>
          <a:xfrm>
            <a:off x="4738676" y="4805000"/>
            <a:ext cx="0" cy="180000"/>
          </a:xfrm>
          <a:prstGeom prst="line">
            <a:avLst/>
          </a:prstGeom>
          <a:ln w="18000">
            <a:solidFill>
              <a:srgbClr val="D55E00"/>
            </a:solidFill>
          </a:ln>
        </p:spPr>
        <p:txBody>
          <a:bodyPr/>
          <a:lstStyle/>
          <a:p>
            <a:endParaRPr lang="en-US"/>
          </a:p>
        </p:txBody>
      </p:sp>
      <p:sp>
        <p:nvSpPr>
          <p:cNvPr id="38" name="Core MT hit rank 11"/>
          <p:cNvSpPr/>
          <p:nvPr/>
        </p:nvSpPr>
        <p:spPr>
          <a:xfrm>
            <a:off x="4755252" y="4805000"/>
            <a:ext cx="0" cy="180000"/>
          </a:xfrm>
          <a:prstGeom prst="line">
            <a:avLst/>
          </a:prstGeom>
          <a:ln w="18000">
            <a:solidFill>
              <a:srgbClr val="D55E00"/>
            </a:solidFill>
          </a:ln>
        </p:spPr>
        <p:txBody>
          <a:bodyPr/>
          <a:lstStyle/>
          <a:p>
            <a:endParaRPr lang="en-US"/>
          </a:p>
        </p:txBody>
      </p:sp>
      <p:sp>
        <p:nvSpPr>
          <p:cNvPr id="39" name="Core MT hit rank 12"/>
          <p:cNvSpPr/>
          <p:nvPr/>
        </p:nvSpPr>
        <p:spPr>
          <a:xfrm>
            <a:off x="4760777" y="4805000"/>
            <a:ext cx="0" cy="180000"/>
          </a:xfrm>
          <a:prstGeom prst="line">
            <a:avLst/>
          </a:prstGeom>
          <a:ln w="18000">
            <a:solidFill>
              <a:srgbClr val="D55E00"/>
            </a:solidFill>
          </a:ln>
        </p:spPr>
        <p:txBody>
          <a:bodyPr/>
          <a:lstStyle/>
          <a:p>
            <a:endParaRPr lang="en-US"/>
          </a:p>
        </p:txBody>
      </p:sp>
      <p:sp>
        <p:nvSpPr>
          <p:cNvPr id="40" name="Core MT hit rank 14"/>
          <p:cNvSpPr/>
          <p:nvPr/>
        </p:nvSpPr>
        <p:spPr>
          <a:xfrm>
            <a:off x="4771827" y="4805000"/>
            <a:ext cx="0" cy="180000"/>
          </a:xfrm>
          <a:prstGeom prst="line">
            <a:avLst/>
          </a:prstGeom>
          <a:ln w="18000">
            <a:solidFill>
              <a:srgbClr val="D55E00"/>
            </a:solidFill>
          </a:ln>
        </p:spPr>
        <p:txBody>
          <a:bodyPr/>
          <a:lstStyle/>
          <a:p>
            <a:endParaRPr lang="en-US"/>
          </a:p>
        </p:txBody>
      </p:sp>
      <p:sp>
        <p:nvSpPr>
          <p:cNvPr id="41" name="Core MT hit rank 16"/>
          <p:cNvSpPr/>
          <p:nvPr/>
        </p:nvSpPr>
        <p:spPr>
          <a:xfrm>
            <a:off x="4782877" y="4805000"/>
            <a:ext cx="0" cy="180000"/>
          </a:xfrm>
          <a:prstGeom prst="line">
            <a:avLst/>
          </a:prstGeom>
          <a:ln w="18000">
            <a:solidFill>
              <a:srgbClr val="D55E00"/>
            </a:solidFill>
          </a:ln>
        </p:spPr>
        <p:txBody>
          <a:bodyPr/>
          <a:lstStyle/>
          <a:p>
            <a:endParaRPr lang="en-US"/>
          </a:p>
        </p:txBody>
      </p:sp>
      <p:sp>
        <p:nvSpPr>
          <p:cNvPr id="42" name="Core MT hit rank 17"/>
          <p:cNvSpPr/>
          <p:nvPr/>
        </p:nvSpPr>
        <p:spPr>
          <a:xfrm>
            <a:off x="4788402" y="4805000"/>
            <a:ext cx="0" cy="180000"/>
          </a:xfrm>
          <a:prstGeom prst="line">
            <a:avLst/>
          </a:prstGeom>
          <a:ln w="18000">
            <a:solidFill>
              <a:srgbClr val="D55E00"/>
            </a:solidFill>
          </a:ln>
        </p:spPr>
        <p:txBody>
          <a:bodyPr/>
          <a:lstStyle/>
          <a:p>
            <a:endParaRPr lang="en-US"/>
          </a:p>
        </p:txBody>
      </p:sp>
      <p:sp>
        <p:nvSpPr>
          <p:cNvPr id="43" name="Core MT hit rank 18"/>
          <p:cNvSpPr/>
          <p:nvPr/>
        </p:nvSpPr>
        <p:spPr>
          <a:xfrm>
            <a:off x="4793928" y="4805000"/>
            <a:ext cx="0" cy="180000"/>
          </a:xfrm>
          <a:prstGeom prst="line">
            <a:avLst/>
          </a:prstGeom>
          <a:ln w="18000">
            <a:solidFill>
              <a:srgbClr val="D55E00"/>
            </a:solidFill>
          </a:ln>
        </p:spPr>
        <p:txBody>
          <a:bodyPr/>
          <a:lstStyle/>
          <a:p>
            <a:endParaRPr lang="en-US"/>
          </a:p>
        </p:txBody>
      </p:sp>
      <p:sp>
        <p:nvSpPr>
          <p:cNvPr id="44" name="Core MT hit rank 19"/>
          <p:cNvSpPr/>
          <p:nvPr/>
        </p:nvSpPr>
        <p:spPr>
          <a:xfrm>
            <a:off x="4799453" y="4805000"/>
            <a:ext cx="0" cy="180000"/>
          </a:xfrm>
          <a:prstGeom prst="line">
            <a:avLst/>
          </a:prstGeom>
          <a:ln w="18000">
            <a:solidFill>
              <a:srgbClr val="D55E00"/>
            </a:solidFill>
          </a:ln>
        </p:spPr>
        <p:txBody>
          <a:bodyPr/>
          <a:lstStyle/>
          <a:p>
            <a:endParaRPr lang="en-US"/>
          </a:p>
        </p:txBody>
      </p:sp>
      <p:sp>
        <p:nvSpPr>
          <p:cNvPr id="45" name="Core MT hit rank 34"/>
          <p:cNvSpPr/>
          <p:nvPr/>
        </p:nvSpPr>
        <p:spPr>
          <a:xfrm>
            <a:off x="4882330" y="4805000"/>
            <a:ext cx="0" cy="180000"/>
          </a:xfrm>
          <a:prstGeom prst="line">
            <a:avLst/>
          </a:prstGeom>
          <a:ln w="18000">
            <a:solidFill>
              <a:srgbClr val="D55E00"/>
            </a:solidFill>
          </a:ln>
        </p:spPr>
        <p:txBody>
          <a:bodyPr/>
          <a:lstStyle/>
          <a:p>
            <a:endParaRPr lang="en-US"/>
          </a:p>
        </p:txBody>
      </p:sp>
      <p:sp>
        <p:nvSpPr>
          <p:cNvPr id="46" name="Core MT hit rank 239"/>
          <p:cNvSpPr/>
          <p:nvPr/>
        </p:nvSpPr>
        <p:spPr>
          <a:xfrm>
            <a:off x="6014987" y="4805000"/>
            <a:ext cx="0" cy="180000"/>
          </a:xfrm>
          <a:prstGeom prst="line">
            <a:avLst/>
          </a:prstGeom>
          <a:ln w="18000">
            <a:solidFill>
              <a:srgbClr val="D55E00"/>
            </a:solidFill>
          </a:ln>
        </p:spPr>
        <p:txBody>
          <a:bodyPr/>
          <a:lstStyle/>
          <a:p>
            <a:endParaRPr lang="en-US"/>
          </a:p>
        </p:txBody>
      </p:sp>
      <p:sp>
        <p:nvSpPr>
          <p:cNvPr id="47" name="Peak guide"/>
          <p:cNvSpPr/>
          <p:nvPr/>
        </p:nvSpPr>
        <p:spPr>
          <a:xfrm>
            <a:off x="4882330" y="2279536"/>
            <a:ext cx="0" cy="2490464"/>
          </a:xfrm>
          <a:prstGeom prst="line">
            <a:avLst/>
          </a:prstGeom>
          <a:ln w="11000">
            <a:solidFill>
              <a:srgbClr val="7E4C9A"/>
            </a:solidFill>
            <a:prstDash val="dash"/>
          </a:ln>
        </p:spPr>
        <p:txBody>
          <a:bodyPr/>
          <a:lstStyle/>
          <a:p>
            <a:endParaRPr lang="en-US"/>
          </a:p>
        </p:txBody>
      </p:sp>
      <p:sp>
        <p:nvSpPr>
          <p:cNvPr id="48" name="Peak point"/>
          <p:cNvSpPr/>
          <p:nvPr/>
        </p:nvSpPr>
        <p:spPr>
          <a:xfrm>
            <a:off x="4827330" y="2224536"/>
            <a:ext cx="110000" cy="110000"/>
          </a:xfrm>
          <a:prstGeom prst="ellipse">
            <a:avLst/>
          </a:prstGeom>
          <a:solidFill>
            <a:srgbClr val="7E4C9A"/>
          </a:solidFill>
          <a:ln>
            <a:noFill/>
          </a:ln>
        </p:spPr>
        <p:txBody>
          <a:bodyPr/>
          <a:lstStyle/>
          <a:p>
            <a:endParaRPr lang="en-US"/>
          </a:p>
        </p:txBody>
      </p:sp>
      <p:sp>
        <p:nvSpPr>
          <p:cNvPr id="49" name="Peak annotation"/>
          <p:cNvSpPr>
            <a:spLocks noGrp="1"/>
          </p:cNvSpPr>
          <p:nvPr/>
        </p:nvSpPr>
        <p:spPr>
          <a:xfrm>
            <a:off x="4962330" y="2379536"/>
            <a:ext cx="1400000" cy="430000"/>
          </a:xfrm>
          <a:prstGeom prst="rect">
            <a:avLst/>
          </a:prstGeom>
          <a:noFill/>
        </p:spPr>
        <p:txBody>
          <a:bodyPr wrap="square" lIns="27432" tIns="13716" rIns="27432" bIns="13716" anchor="ctr"/>
          <a:lstStyle/>
          <a:p>
            <a:pPr algn="l">
              <a:buNone/>
            </a:pPr>
            <a:r>
              <a:rPr sz="930" b="1">
                <a:solidFill>
                  <a:srgbClr val="7E4C9A"/>
                </a:solidFill>
                <a:latin typeface="Arial"/>
                <a:ea typeface="Arial"/>
                <a:cs typeface="Arial"/>
              </a:rPr>
              <a:t>Peak ES = +0.9586</a:t>
            </a:r>
            <a:endParaRPr lang="en-US"/>
          </a:p>
          <a:p>
            <a:pPr algn="l">
              <a:buNone/>
            </a:pPr>
            <a:r>
              <a:rPr sz="930" b="1">
                <a:solidFill>
                  <a:srgbClr val="7E4C9A"/>
                </a:solidFill>
                <a:latin typeface="Arial"/>
                <a:ea typeface="Arial"/>
                <a:cs typeface="Arial"/>
              </a:rPr>
              <a:t>at rank 34</a:t>
            </a:r>
            <a:endParaRPr lang="en-US"/>
          </a:p>
        </p:txBody>
      </p:sp>
      <p:sp>
        <p:nvSpPr>
          <p:cNvPr id="50" name="AD-up label"/>
          <p:cNvSpPr>
            <a:spLocks noGrp="1"/>
          </p:cNvSpPr>
          <p:nvPr/>
        </p:nvSpPr>
        <p:spPr>
          <a:xfrm>
            <a:off x="4700000" y="5030000"/>
            <a:ext cx="1200000" cy="250000"/>
          </a:xfrm>
          <a:prstGeom prst="rect">
            <a:avLst/>
          </a:prstGeom>
          <a:noFill/>
        </p:spPr>
        <p:txBody>
          <a:bodyPr wrap="square" lIns="27432" tIns="13716" rIns="27432" bIns="13716" anchor="t"/>
          <a:lstStyle/>
          <a:p>
            <a:pPr algn="l">
              <a:buNone/>
            </a:pPr>
            <a:r>
              <a:rPr sz="930" b="1">
                <a:solidFill>
                  <a:srgbClr val="2F5597"/>
                </a:solidFill>
                <a:latin typeface="Arial"/>
                <a:ea typeface="Arial"/>
                <a:cs typeface="Arial"/>
              </a:rPr>
              <a:t>AD-up</a:t>
            </a:r>
            <a:endParaRPr lang="en-US"/>
          </a:p>
        </p:txBody>
      </p:sp>
      <p:sp>
        <p:nvSpPr>
          <p:cNvPr id="51" name="AD-down label"/>
          <p:cNvSpPr>
            <a:spLocks noGrp="1"/>
          </p:cNvSpPr>
          <p:nvPr/>
        </p:nvSpPr>
        <p:spPr>
          <a:xfrm>
            <a:off x="9760000" y="5030000"/>
            <a:ext cx="1200000" cy="250000"/>
          </a:xfrm>
          <a:prstGeom prst="rect">
            <a:avLst/>
          </a:prstGeom>
          <a:noFill/>
        </p:spPr>
        <p:txBody>
          <a:bodyPr wrap="square" lIns="27432" tIns="13716" rIns="27432" bIns="13716" anchor="t"/>
          <a:lstStyle/>
          <a:p>
            <a:pPr algn="r">
              <a:buNone/>
            </a:pPr>
            <a:r>
              <a:rPr sz="930" b="1">
                <a:solidFill>
                  <a:srgbClr val="D55E00"/>
                </a:solidFill>
                <a:latin typeface="Arial"/>
                <a:ea typeface="Arial"/>
                <a:cs typeface="Arial"/>
              </a:rPr>
              <a:t>AD-down</a:t>
            </a:r>
            <a:endParaRPr lang="en-US"/>
          </a:p>
        </p:txBody>
      </p:sp>
      <p:sp>
        <p:nvSpPr>
          <p:cNvPr id="52" name="Rank axis label"/>
          <p:cNvSpPr>
            <a:spLocks noGrp="1"/>
          </p:cNvSpPr>
          <p:nvPr/>
        </p:nvSpPr>
        <p:spPr>
          <a:xfrm>
            <a:off x="5800000" y="5290000"/>
            <a:ext cx="4060000" cy="300000"/>
          </a:xfrm>
          <a:prstGeom prst="rect">
            <a:avLst/>
          </a:prstGeom>
          <a:noFill/>
        </p:spPr>
        <p:txBody>
          <a:bodyPr wrap="square" lIns="27432" tIns="13716" rIns="27432" bIns="13716" anchor="t"/>
          <a:lstStyle/>
          <a:p>
            <a:pPr algn="ctr">
              <a:buNone/>
            </a:pPr>
            <a:r>
              <a:rPr sz="900" b="0">
                <a:solidFill>
                  <a:srgbClr val="4E5A68"/>
                </a:solidFill>
                <a:latin typeface="Arial"/>
                <a:ea typeface="Arial"/>
                <a:cs typeface="Arial"/>
              </a:rPr>
              <a:t>Ranked tested MitoCarta MT genes</a:t>
            </a:r>
            <a:endParaRPr lang="en-US"/>
          </a:p>
        </p:txBody>
      </p:sp>
      <p:sp>
        <p:nvSpPr>
          <p:cNvPr id="53" name="Running score label"/>
          <p:cNvSpPr>
            <a:spLocks noGrp="1"/>
          </p:cNvSpPr>
          <p:nvPr/>
        </p:nvSpPr>
        <p:spPr>
          <a:xfrm>
            <a:off x="4680000" y="1860000"/>
            <a:ext cx="1400000" cy="230000"/>
          </a:xfrm>
          <a:prstGeom prst="rect">
            <a:avLst/>
          </a:prstGeom>
          <a:noFill/>
        </p:spPr>
        <p:txBody>
          <a:bodyPr wrap="square" lIns="27432" tIns="13716" rIns="27432" bIns="13716" anchor="t"/>
          <a:lstStyle/>
          <a:p>
            <a:pPr algn="l">
              <a:buNone/>
            </a:pPr>
            <a:r>
              <a:rPr sz="900" b="0">
                <a:solidFill>
                  <a:srgbClr val="4E5A68"/>
                </a:solidFill>
                <a:latin typeface="Arial"/>
                <a:ea typeface="Arial"/>
                <a:cs typeface="Arial"/>
              </a:rPr>
              <a:t>Running score</a:t>
            </a:r>
            <a:endParaRPr lang="en-US"/>
          </a:p>
        </p:txBody>
      </p:sp>
      <p:sp>
        <p:nvSpPr>
          <p:cNvPr id="54" name="Hit rug legend"/>
          <p:cNvSpPr>
            <a:spLocks noGrp="1"/>
          </p:cNvSpPr>
          <p:nvPr/>
        </p:nvSpPr>
        <p:spPr>
          <a:xfrm>
            <a:off x="8660000" y="1860000"/>
            <a:ext cx="2300000" cy="230000"/>
          </a:xfrm>
          <a:prstGeom prst="rect">
            <a:avLst/>
          </a:prstGeom>
          <a:noFill/>
        </p:spPr>
        <p:txBody>
          <a:bodyPr wrap="square" lIns="27432" tIns="13716" rIns="27432" bIns="13716" anchor="t"/>
          <a:lstStyle/>
          <a:p>
            <a:pPr algn="r">
              <a:buNone/>
            </a:pPr>
            <a:r>
              <a:rPr sz="860" b="0">
                <a:solidFill>
                  <a:srgbClr val="D55E00"/>
                </a:solidFill>
                <a:latin typeface="Arial"/>
                <a:ea typeface="Arial"/>
                <a:cs typeface="Arial"/>
              </a:rPr>
              <a:t>Orange marks = core MT genes</a:t>
            </a:r>
            <a:endParaRPr lang="en-US"/>
          </a:p>
        </p:txBody>
      </p:sp>
    </p:spTree>
    <p:extLst>
      <p:ext uri="{BB962C8B-B14F-4D97-AF65-F5344CB8AC3E}">
        <p14:creationId xmlns:p14="http://schemas.microsoft.com/office/powerpoint/2010/main" val="12621582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How the normalized enrichment score is calculated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NES compares the observed enrichment score with random gene sets of the same size.</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Observed ES</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Same-size random sets</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Same direction</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Normalized score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1. OBSERVED ES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Use the real pathway genes</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Calculate ES from the positions of the pathway genes in the ranked MitoCarta MT gene list.</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2. NULL ES VALUES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Use random sets of the same size</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Repeat the ES calculation for random gene sets with the same number of genes. Keep null scores with the same sign as the observed 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3. NORMALIZE</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NES = ESₒᵦₛ ÷ mean(|ESₙᵤₗₗ|)</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null mean uses scores with the same sign as the observed ES. The NES keeps that sign.</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73812"/>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The NES sign gives direction. Adjusted P &lt; 0.05 gives significance. NES alone does not define significance.</a:t>
            </a:r>
          </a:p>
        </p:txBody>
      </p:sp>
    </p:spTree>
    <p:extLst>
      <p:ext uri="{BB962C8B-B14F-4D97-AF65-F5344CB8AC3E}">
        <p14:creationId xmlns:p14="http://schemas.microsoft.com/office/powerpoint/2010/main" val="1262158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Worked example: female ε3/ε3 excitatory core MT genes</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direct broad-cell pathway result</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Direct broad-cell</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13 core MT genes</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Positive NES</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ES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+0.9586</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running score reaches its largest distance from zero near the AD-up end of the ranking.</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MEAN POSITIVE NULL 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0.3491</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normalization factor is implied by the reported ES divided by the reported NES.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NORMALIZED SCORE</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+2.746 ≈ +2.75</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NES = 0.9586 ÷ 0.3491. The positive sign gives the AD-up pathway direction.</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73812"/>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Local BH-adjusted P = 2.73 × 10⁻¹². The pathway result is significant and AD-up; +2.75 is not a fold change.</a:t>
            </a:r>
          </a:p>
        </p:txBody>
      </p:sp>
    </p:spTree>
    <p:extLst>
      <p:ext uri="{BB962C8B-B14F-4D97-AF65-F5344CB8AC3E}">
        <p14:creationId xmlns:p14="http://schemas.microsoft.com/office/powerpoint/2010/main" val="12621582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7</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8</a:t>
            </a:r>
          </a:p>
        </p:txBody>
      </p:sp>
    </p:spTree>
    <p:extLst>
      <p:ext uri="{BB962C8B-B14F-4D97-AF65-F5344CB8AC3E}">
        <p14:creationId xmlns:p14="http://schemas.microsoft.com/office/powerpoint/2010/main" val="6867040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Within </a:t>
            </a:r>
            <a:r>
              <a:rPr sz="1520" b="1">
                <a:solidFill>
                  <a:srgbClr val="0F233D"/>
                </a:solidFill>
                <a:latin typeface="Arial"/>
                <a:ea typeface="Arial"/>
                <a:cs typeface="Arial"/>
              </a:rPr>
              <a:t>excitatory</a:t>
            </a:r>
            <a:r>
              <a:rPr sz="1520" b="1" i="0">
                <a:solidFill>
                  <a:srgbClr val="0F233D"/>
                </a:solidFill>
                <a:latin typeface="Arial"/>
                <a:ea typeface="Arial"/>
                <a:cs typeface="Arial"/>
              </a:rPr>
              <a:t> neurons</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f</a:t>
            </a:r>
            <a:r>
              <a:rPr sz="1019" b="1" i="0">
                <a:solidFill>
                  <a:srgbClr val="0F233D"/>
                </a:solidFill>
                <a:latin typeface="Arial"/>
                <a:ea typeface="Arial"/>
                <a:cs typeface="Arial"/>
              </a:rPr>
              <a:t>ine-cell DEG lists included</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All included female ε3/ε3 DEG lists</a:t>
            </a:r>
          </a:p>
        </p:txBody>
      </p:sp>
    </p:spTree>
    <p:extLst>
      <p:ext uri="{BB962C8B-B14F-4D97-AF65-F5344CB8AC3E}">
        <p14:creationId xmlns:p14="http://schemas.microsoft.com/office/powerpoint/2010/main" val="3319326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SEA-AD fine-cell DEG list contributed to the matched female ε3/ε3 excitatory-neuron comparison, so coverage is limited.</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SEA-AD MitoCarta MT DEGs also found in ROSMAP</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core MT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All nine core MT genes are upregulated in both cohorts.</a:t>
            </a:r>
          </a:p>
        </p:txBody>
      </p:sp>
    </p:spTree>
    <p:extLst>
      <p:ext uri="{BB962C8B-B14F-4D97-AF65-F5344CB8AC3E}">
        <p14:creationId xmlns:p14="http://schemas.microsoft.com/office/powerpoint/2010/main" val="11104947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analyzing AD networks separately by sex.</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based on the directions of two defined OXPHOS gene sets.</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pattern through shared DEGs with matching AD directions.</a:t>
            </a:r>
          </a:p>
        </p:txBody>
      </p:sp>
    </p:spTree>
    <p:extLst>
      <p:ext uri="{BB962C8B-B14F-4D97-AF65-F5344CB8AC3E}">
        <p14:creationId xmlns:p14="http://schemas.microsoft.com/office/powerpoint/2010/main" val="19805011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neurons</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ROSMAP provides the primary evidence. SEA-AD adds support from matched inhibitory-neuron DEGs.</a:t>
            </a:r>
          </a:p>
        </p:txBody>
      </p:sp>
    </p:spTree>
    <p:extLst>
      <p:ext uri="{BB962C8B-B14F-4D97-AF65-F5344CB8AC3E}">
        <p14:creationId xmlns:p14="http://schemas.microsoft.com/office/powerpoint/2010/main" val="13367061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included fine-cell DEG lists. The same gene can recur in different comparisons.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DEG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Eight SEA-AD fine-cell DEG lists contributed. Support comes from shared MitoCarta MT DEGs with the same AD direction.</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DEGs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Nuclear-encoded MT genes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Genes for OXPHOS, protein import, mitochondrial ribosomes, and DNA/RNA maintenance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Sensitivity check excluding genes with uncertain mitochondrial identity: 21 shared, adjusted P = 0.0486.</a:t>
            </a:r>
          </a:p>
        </p:txBody>
      </p:sp>
    </p:spTree>
    <p:extLst>
      <p:ext uri="{BB962C8B-B14F-4D97-AF65-F5344CB8AC3E}">
        <p14:creationId xmlns:p14="http://schemas.microsoft.com/office/powerpoint/2010/main" val="19303677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account for the matched inhibitory-neuron pattern?</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Shared genes include OXPHOS subunits and genes for protein import, mitochondrial ribosomes, and DNA/RNA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genes with the same direction</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genes with opposite directions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Other mitochondrial processes also decrease</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Genes for protein import, mitochondrial ribosomes, metabolite transport, and DNA/RNA maintenance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biological context, but not this exact pattern</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Two-genome OXPHOS biology and cell-resolved AD studies make the finding plausible without independently reproducing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Two-genome OXPHOS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 Opposite OXPHOS directions are biologically plausible,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nuclear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no cognitive impairment</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occurrences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included fine-cell comparisons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included fine-cell comparisons</a:t>
            </a:r>
          </a:p>
        </p:txBody>
      </p:sp>
    </p:spTree>
    <p:extLst>
      <p:ext uri="{BB962C8B-B14F-4D97-AF65-F5344CB8AC3E}">
        <p14:creationId xmlns:p14="http://schemas.microsoft.com/office/powerpoint/2010/main" val="4580754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dirty="0">
                <a:solidFill>
                  <a:srgbClr val="0F233D"/>
                </a:solidFill>
                <a:latin typeface="Arial"/>
                <a:ea typeface="Arial"/>
                <a:cs typeface="Arial"/>
              </a:rPr>
              <a:t>Fine-cell </a:t>
            </a:r>
            <a:r>
              <a:rPr lang="en-US" sz="2200" b="1" i="0" dirty="0">
                <a:solidFill>
                  <a:srgbClr val="0F233D"/>
                </a:solidFill>
                <a:latin typeface="Arial"/>
                <a:ea typeface="Arial"/>
                <a:cs typeface="Arial"/>
              </a:rPr>
              <a:t>and broad-cell </a:t>
            </a:r>
            <a:r>
              <a:rPr sz="2200" b="1" i="0" dirty="0">
                <a:solidFill>
                  <a:srgbClr val="0F233D"/>
                </a:solidFill>
                <a:latin typeface="Arial"/>
                <a:ea typeface="Arial"/>
                <a:cs typeface="Arial"/>
              </a:rPr>
              <a:t>evidence support</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FINE-CELL ROSMAP</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Significant enrichment of upregulated genes appeared in 9 of 12 fine cell types for core MT genes and 8 of 12 for nuclear-encoded OXPHOS genes.</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female ε2 fine-cell DEG result was available. This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2929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dirty="0">
                <a:solidFill>
                  <a:srgbClr val="7E4C9A"/>
                </a:solidFill>
                <a:latin typeface="Arial"/>
                <a:ea typeface="Arial"/>
                <a:cs typeface="Arial"/>
              </a:rPr>
              <a:t>The two-gene-set pattern </a:t>
            </a:r>
            <a:r>
              <a:rPr lang="en-US" sz="1130" b="1" i="0" dirty="0">
                <a:solidFill>
                  <a:srgbClr val="7E4C9A"/>
                </a:solidFill>
                <a:latin typeface="Arial"/>
                <a:ea typeface="Arial"/>
                <a:cs typeface="Arial"/>
              </a:rPr>
              <a:t>is </a:t>
            </a:r>
            <a:r>
              <a:rPr sz="1130" b="1" i="0" dirty="0">
                <a:solidFill>
                  <a:srgbClr val="7E4C9A"/>
                </a:solidFill>
                <a:latin typeface="Arial"/>
                <a:ea typeface="Arial"/>
                <a:cs typeface="Arial"/>
              </a:rPr>
              <a:t>mainly </a:t>
            </a:r>
            <a:r>
              <a:rPr lang="en-US" sz="1130" b="1" i="0" dirty="0">
                <a:solidFill>
                  <a:srgbClr val="7E4C9A"/>
                </a:solidFill>
                <a:latin typeface="Arial"/>
                <a:ea typeface="Arial"/>
                <a:cs typeface="Arial"/>
              </a:rPr>
              <a:t>supported by</a:t>
            </a:r>
            <a:r>
              <a:rPr sz="1130" b="1" i="0" dirty="0">
                <a:solidFill>
                  <a:srgbClr val="7E4C9A"/>
                </a:solidFill>
                <a:latin typeface="Arial"/>
                <a:ea typeface="Arial"/>
                <a:cs typeface="Arial"/>
              </a:rPr>
              <a:t> fine-cell ROSMAP evidence.</a:t>
            </a:r>
          </a:p>
        </p:txBody>
      </p:sp>
    </p:spTree>
    <p:extLst>
      <p:ext uri="{BB962C8B-B14F-4D97-AF65-F5344CB8AC3E}">
        <p14:creationId xmlns:p14="http://schemas.microsoft.com/office/powerpoint/2010/main" val="20427968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fine-cell OXPHOS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AD-up direction,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neurons: NES = +0.70 and adjusted P = 0.991. The AD-up direction is not significant.</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pathway is significantly AD-up</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neurons: NES = +2.01 and adjusted P = 5.62 × 10⁻⁵. The pathway result is significantly AD-up.</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DEG CHECK</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small astrocyte DEG list</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Only two DEGs overlapped with ROSMAP, and the overlap was not significant (adjusted P =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female ε4 decrease is specific to the fine-cell analysis. Direct broad-cell results point upward.</a:t>
            </a:r>
          </a:p>
        </p:txBody>
      </p:sp>
    </p:spTree>
    <p:extLst>
      <p:ext uri="{BB962C8B-B14F-4D97-AF65-F5344CB8AC3E}">
        <p14:creationId xmlns:p14="http://schemas.microsoft.com/office/powerpoint/2010/main" val="8429484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decrease may reflect reduced expression of respiratory-complex genes, cellular stress, or a different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Differences in the mix of fine cell types may influence the direct broad-cell result.</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mitochondrial quality control</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removal of damaged mitochondria.</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maintenance of mitochondrial function.</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gene sets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DEG sets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most downward OXPHOS DEG occurrences</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Larger DEG sets help explain why male ε2 contributes many DEG occurrences.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male ε2 DEG set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INCLUDED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DEG-set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male ε2 fine-cell DEG result was available,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Larger DEG sets can produce more DEG occurrences across fine-cell comparisons. This does not change the direction percentages on the preceding slide.</a:t>
            </a:r>
          </a:p>
        </p:txBody>
      </p:sp>
    </p:spTree>
    <p:extLst>
      <p:ext uri="{BB962C8B-B14F-4D97-AF65-F5344CB8AC3E}">
        <p14:creationId xmlns:p14="http://schemas.microsoft.com/office/powerpoint/2010/main" val="20455409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TotalTime>
  <Words>37409</Words>
  <Application>Microsoft Macintosh PowerPoint</Application>
  <DocSecurity>0</DocSecurity>
  <PresentationFormat>Widescreen</PresentationFormat>
  <Paragraphs>3500</Paragraphs>
  <Slides>155</Slides>
  <Notes>155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155</vt:i4>
      </vt:variant>
    </vt:vector>
  </HeadingPairs>
  <TitlesOfParts>
    <vt:vector size="15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18</cp:revision>
  <dcterms:created xsi:type="dcterms:W3CDTF">2026-09-20T15:55:40Z</dcterms:created>
  <dcterms:modified xsi:type="dcterms:W3CDTF">2026-09-22T01:23:12Z</dcterms:modified>
</cp:coreProperties>
</file>