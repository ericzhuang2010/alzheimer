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63" r:id="rId4"/>
    <p:sldId id="258" r:id="rId5"/>
    <p:sldId id="259" r:id="rId6"/>
    <p:sldId id="260" r:id="rId7"/>
    <p:sldId id="261" r:id="rId8"/>
    <p:sldId id="262" r:id="rId9"/>
    <p:sldId id="264" r:id="rId10"/>
    <p:sldId id="265" r:id="rId11"/>
    <p:sldId id="266" r:id="rId12"/>
    <p:sldId id="267" r:id="rId13"/>
    <p:sldId id="268" r:id="rId14"/>
    <p:sldId id="269" r:id="rId15"/>
    <p:sldId id="270"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28"/>
    <p:restoredTop sz="87541"/>
  </p:normalViewPr>
  <p:slideViewPr>
    <p:cSldViewPr snapToGrid="0" snapToObjects="1">
      <p:cViewPr varScale="1">
        <p:scale>
          <a:sx n="139" d="100"/>
          <a:sy n="139" d="100"/>
        </p:scale>
        <p:origin x="368"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21773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to point at:</a:t>
            </a:r>
          </a:p>
          <a:p>
            <a:r>
              <a:t>The first four criteria ask whether the biology matches the human prefrontal-cortex question. Strong means a direct match, partial means useful but qualified support, and not matched means that dimension cannot answer the intended claim. Cortex is only a partial regional match to human PFC unless a frontal subdivision is documented.</a:t>
            </a:r>
          </a:p>
          <a:p>
            <a:endParaRPr/>
          </a:p>
          <a:p>
            <a:r>
              <a:t>Main takeaway:</a:t>
            </a:r>
          </a:p>
          <a:p>
            <a:r>
              <a:t>No exact dataset was identified in the openly auditable candidate set. That does not mean no such dataset exists; it means the reviewed public studies contribute complementary pieces rather than one complete PFC × APOE × sex × disease design.</a:t>
            </a:r>
          </a:p>
          <a:p>
            <a:endParaRPr/>
          </a:p>
          <a:p>
            <a:r>
              <a:t>Boundary / transition:</a:t>
            </a:r>
          </a:p>
          <a:p>
            <a:r>
              <a:t>The next slide defines evidence quality and the biological replicate rule used throughout the dataset profiles.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What to point at:</a:t>
            </a:r>
          </a:p>
          <a:p>
            <a:r>
              <a:rPr dirty="0"/>
              <a:t>The second four criteria determine whether a study can support mouse-level inference and whether the public files can be audited. The worked example shows why many nuclei do not increase biological n. A pooled library is one profile even if several animals contributed tissue.</a:t>
            </a:r>
          </a:p>
          <a:p>
            <a:endParaRPr dirty="0"/>
          </a:p>
          <a:p>
            <a:r>
              <a:rPr dirty="0"/>
              <a:t>Main takeaway:</a:t>
            </a:r>
          </a:p>
          <a:p>
            <a:r>
              <a:rPr dirty="0"/>
              <a:t>These criteria are </a:t>
            </a:r>
            <a:r>
              <a:rPr dirty="0" err="1"/>
              <a:t>noncompensatory</a:t>
            </a:r>
            <a:r>
              <a:rPr dirty="0"/>
              <a:t>. Exceptional cell count or cell-type breadth cannot replace missing independent mice, a missing APOE factor, or the wrong anatomy. Batch correction can reduce technical variation, but it cannot transform hippocampus into prefrontal cortex.</a:t>
            </a:r>
          </a:p>
          <a:p>
            <a:endParaRPr dirty="0"/>
          </a:p>
          <a:p>
            <a:r>
              <a:rPr dirty="0"/>
              <a:t>Boundary / transition:</a:t>
            </a:r>
          </a:p>
          <a:p>
            <a:r>
              <a:rPr dirty="0"/>
              <a:t>Every remaining slide applies the same eight labels and factual evidence lines, followed by a defensible use and a claim boundary.</a:t>
            </a:r>
            <a:endParaRPr lang="en-US" dirty="0"/>
          </a:p>
          <a:p>
            <a:endParaRPr lang="en-US" dirty="0"/>
          </a:p>
          <a:p>
            <a:endParaRPr lang="en-US" dirty="0"/>
          </a:p>
          <a:p>
            <a:r>
              <a:rPr lang="en-US" dirty="0"/>
              <a:t>“Replication” means the number of independent mice contributing separate measurements to each experimental group.</a:t>
            </a:r>
          </a:p>
          <a:p>
            <a:pPr lvl="0"/>
            <a:r>
              <a:rPr lang="en-US" dirty="0"/>
              <a:t>Strong: multiple mice are sequenced separately in each group, allowing animal-to-animal variability to be estimated.</a:t>
            </a:r>
          </a:p>
          <a:p>
            <a:pPr lvl="0"/>
            <a:r>
              <a:rPr lang="en-US" dirty="0"/>
              <a:t>Partial: very few mice, or several mice are pooled into one sequencing library.</a:t>
            </a:r>
          </a:p>
          <a:p>
            <a:pPr lvl="0"/>
            <a:r>
              <a:rPr lang="en-US" dirty="0"/>
              <a:t>Not matched: only cells/wells are identifiable and the contributing mice cannot be recovered.</a:t>
            </a:r>
          </a:p>
          <a:p>
            <a:r>
              <a:rPr lang="en-US" dirty="0"/>
              <a:t>For example, 3 mice with 5,000 cells each gives a biological sample size of </a:t>
            </a:r>
            <a:r>
              <a:rPr lang="en-US" b="1" dirty="0"/>
              <a:t>n = 3 mice</a:t>
            </a:r>
            <a:r>
              <a:rPr lang="en-US" dirty="0"/>
              <a:t>, not 15,000. Cells and technical libraries improve measurement precision but do not replace independent animals.</a:t>
            </a:r>
          </a:p>
          <a:p>
            <a:endParaRPr lang="en-US" dirty="0"/>
          </a:p>
          <a:p>
            <a:pPr lvl="0"/>
            <a:r>
              <a:rPr lang="en-US" dirty="0"/>
              <a:t>“Pooling mice creates one pooled profile.”</a:t>
            </a:r>
            <a:br>
              <a:rPr lang="en-US" dirty="0"/>
            </a:br>
            <a:r>
              <a:rPr lang="en-US" dirty="0"/>
              <a:t>If tissue from three mice is physically mixed before sequencing, the result is one averaged measurement. You cannot recover each mouse’s response or estimate mouse-to-mouse variability. Statistically, that is one pooled replicate—not three independent replicates. Multiple separately prepared pools would provide replication.</a:t>
            </a:r>
          </a:p>
          <a:p>
            <a:pPr lvl="0"/>
            <a:r>
              <a:rPr lang="en-US" dirty="0"/>
              <a:t>“Batch correction cannot convert hippocampus into PFC.”</a:t>
            </a:r>
            <a:br>
              <a:rPr lang="en-US" dirty="0"/>
            </a:br>
            <a:r>
              <a:rPr lang="en-US" dirty="0"/>
              <a:t>Batch correction can reduce technical differences such as sequencing run or laboratory effects. It cannot remove real biological differences between brain regions. Hippocampal data may provide cross-region pathway support, but it cannot be presented as direct PFC replication.</a:t>
            </a:r>
          </a:p>
          <a:p>
            <a:endParaRPr lang="en-US"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to point at:</a:t>
            </a:r>
          </a:p>
          <a:p>
            <a:r>
              <a:t>Start with the role and study snapshot, then scan the eight criterion states. Most of the study and its main all-cell atlas are not cortex/PFC; the cortical arm has one WT and one 5xFAD mouse at each of two ages. The colored state is always paired with a factual line, so the judgment does not depend on color alone.</a:t>
            </a:r>
          </a:p>
          <a:p>
            <a:endParaRPr/>
          </a:p>
          <a:p>
            <a:r>
              <a:t>Main takeaway:</a:t>
            </a:r>
          </a:p>
          <a:p>
            <a:r>
              <a:t>Best use: Support hippocampal astrocyte, aging, and descriptive cross-region pathways. Main limitation: The cortical component is astrocyte-focused, with one record per age×genotype group; it is not a replicated broad-cell PFC cohort.</a:t>
            </a:r>
          </a:p>
          <a:p>
            <a:endParaRPr/>
          </a:p>
          <a:p>
            <a:r>
              <a:t>Boundary / transition:</a:t>
            </a:r>
          </a:p>
          <a:p>
            <a:r>
              <a:t>Cortical data exist, but use them only for descriptive astrocyte concordance—not replicated all-cell PFC validation. The biological unit must remain the mouse—or the pre-sequencing pool when mice were pooled—and raw matrices from separate studies should not be merged as one cohort. The next profile applies the same criteria to GSE225503 / GSE239999.</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4496289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to point at:</a:t>
            </a:r>
          </a:p>
          <a:p>
            <a:r>
              <a:t>Start with the role and study snapshot, then scan the eight criterion states. The letter F in names such as E3F means floxed, not female. The colored state is always paired with a factual line, so the judgment does not depend on color alone.</a:t>
            </a:r>
          </a:p>
          <a:p>
            <a:endParaRPr/>
          </a:p>
          <a:p>
            <a:r>
              <a:t>Main takeaway:</a:t>
            </a:r>
          </a:p>
          <a:p>
            <a:r>
              <a:t>Best use: Localize human PFC APOE-associated modules across cortical cell types. Main limitation: No disease factor; sex-specific inference is unsafe without a verified mouse map.</a:t>
            </a:r>
          </a:p>
          <a:p>
            <a:endParaRPr/>
          </a:p>
          <a:p>
            <a:r>
              <a:t>Boundary / transition:</a:t>
            </a:r>
          </a:p>
          <a:p>
            <a:r>
              <a:t>Use the label “cortical cross-species APOE concordance”—not direct mouse PFC replication. The biological unit must remain the mouse—or the pre-sequencing pool when mice were pooled—and raw matrices from separate studies should not be merged as one cohort. The next profile applies the same criteria to GSE241553.</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to point at:</a:t>
            </a:r>
          </a:p>
          <a:p>
            <a:r>
              <a:t>Start with the role and study snapshot, then scan the eight criterion states. The preferred mechanistic contrast is (E4-T − E4-C) − (E3-T − E3-C). The colored state is always paired with a factual line, so the judgment does not depend on color alone.</a:t>
            </a:r>
          </a:p>
          <a:p>
            <a:endParaRPr/>
          </a:p>
          <a:p>
            <a:r>
              <a:t>Main takeaway:</a:t>
            </a:r>
          </a:p>
          <a:p>
            <a:r>
              <a:t>Best use: Test sex-aware microglia/CAM apoE3-versus-apoE4 induction responses under amyloid. Main limitation: C versus T is non-induced versus induced—not control versus AD; only three mice per sex×line×induction group.</a:t>
            </a:r>
          </a:p>
          <a:p>
            <a:endParaRPr/>
          </a:p>
          <a:p>
            <a:r>
              <a:t>Boundary / transition:</a:t>
            </a:r>
          </a:p>
          <a:p>
            <a:r>
              <a:t>Call this a microglia/CAM-specific APOE induction response under amyloid. The biological unit must remain the mouse—or the pre-sequencing pool when mice were pooled—and raw matrices from separate studies should not be merged as one cohort. The next profile applies the same criteria to GSE163857.</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to point at:</a:t>
            </a:r>
          </a:p>
          <a:p>
            <a:r>
              <a:t>Start with the role and study snapshot, then scan the eight criterion states. The 30-mouse design contains all eight groups, but the male APOE3 control group has one mouse. The colored state is always paired with a factual line, so the judgment does not depend on color alone.</a:t>
            </a:r>
          </a:p>
          <a:p>
            <a:endParaRPr/>
          </a:p>
          <a:p>
            <a:r>
              <a:t>Main takeaway:</a:t>
            </a:r>
          </a:p>
          <a:p>
            <a:r>
              <a:t>Best use: Directly benchmark APOE-by-sex-by-5xFAD effects in microglia. Main limitation: Not regional or broad-cell; small, imbalanced controls make the three-way interaction underpowered.</a:t>
            </a:r>
          </a:p>
          <a:p>
            <a:endParaRPr/>
          </a:p>
          <a:p>
            <a:r>
              <a:t>Boundary / transition:</a:t>
            </a:r>
          </a:p>
          <a:p>
            <a:r>
              <a:t>Report factorial microglial support with effect estimates and uncertainty—not PFC replication. The biological unit must remain the mouse—or the pre-sequencing pool when mice were pooled—and raw matrices from separate studies should not be merged as one cohort. The next profile applies the same criteria to GSE140399.</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to point at:</a:t>
            </a:r>
          </a:p>
          <a:p>
            <a:r>
              <a:t>Start with the role and study snapshot, then scan the eight criterion states. Pooling three mice improves the pool estimate but still produces one inferential profile. The colored state is always paired with a factual line, so the judgment does not depend on color alone.</a:t>
            </a:r>
          </a:p>
          <a:p>
            <a:endParaRPr/>
          </a:p>
          <a:p>
            <a:r>
              <a:t>Main takeaway:</a:t>
            </a:r>
          </a:p>
          <a:p>
            <a:r>
              <a:t>Best use: Check the direction of frozen human modules in homologous cortical cell types. Main limitation: One expression pool per condition means no mouse-level variance or ordinary inferential P values.</a:t>
            </a:r>
          </a:p>
          <a:p>
            <a:endParaRPr/>
          </a:p>
          <a:p>
            <a:r>
              <a:t>Boundary / transition:</a:t>
            </a:r>
          </a:p>
          <a:p>
            <a:r>
              <a:t>Use “descriptive cortical concordance”—never “replicated in three mice per group.” The biological unit must remain the mouse—or the pre-sequencing pool when mice were pooled—and raw matrices from separate studies should not be merged as one cohort. The next profile applies the same criteria to GSE140510.</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to point at:</a:t>
            </a:r>
          </a:p>
          <a:p>
            <a:r>
              <a:t>Start with the role and study snapshot, then scan the eight criterion states. This study trades stronger mouse-level replication for weaker regional matching. The colored state is always paired with a factual line, so the judgment does not depend on color alone.</a:t>
            </a:r>
          </a:p>
          <a:p>
            <a:endParaRPr/>
          </a:p>
          <a:p>
            <a:r>
              <a:t>Main takeaway:</a:t>
            </a:r>
          </a:p>
          <a:p>
            <a:r>
              <a:t>Best use: Provide replicated broad-cell AD-direction support across homologous cell types. Main limitation: Regional mismatch and no APOE or sex factor; keep separate from cortical GSE140399.</a:t>
            </a:r>
          </a:p>
          <a:p>
            <a:endParaRPr/>
          </a:p>
          <a:p>
            <a:r>
              <a:t>Boundary / transition:</a:t>
            </a:r>
          </a:p>
          <a:p>
            <a:r>
              <a:t>Use when inferential replication matters more than exact cortical localization. The biological unit must remain the mouse—or the pre-sequencing pool when mice were pooled—and raw matrices from separate studies should not be merged as one cohort. The next profile applies the same criteria to GSE143758.</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to point at:</a:t>
            </a:r>
          </a:p>
          <a:p>
            <a:r>
              <a:t>Start with the role and study snapshot, then scan the eight criterion states. Eight GEO records are multiplexed experiment files, not eight independent mice. The colored state is always paired with a factual line, so the judgment does not depend on color alone.</a:t>
            </a:r>
          </a:p>
          <a:p>
            <a:endParaRPr/>
          </a:p>
          <a:p>
            <a:r>
              <a:t>Main takeaway:</a:t>
            </a:r>
          </a:p>
          <a:p>
            <a:r>
              <a:t>Best use: Study APOE2/3/4 immune aging, late microglial states, and chromatin under 5xFAD. Main limitation: No non-AD arm, usable sex factor, broad cell coverage, or direct PFC match.</a:t>
            </a:r>
          </a:p>
          <a:p>
            <a:endParaRPr/>
          </a:p>
          <a:p>
            <a:r>
              <a:t>Boundary / transition:</a:t>
            </a:r>
          </a:p>
          <a:p>
            <a:r>
              <a:t>Call this APOE2/3/4 immune-cell support under 5xFAD—not an APOE-by-sex AD-control test. The biological unit must remain the mouse—or the pre-sequencing pool when mice were pooled—and raw matrices from separate studies should not be merged as one cohort. The next profile applies the same criteria to GSE127892.</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to point at:</a:t>
            </a:r>
          </a:p>
          <a:p>
            <a:r>
              <a:t>Start with the role and study snapshot, then scan the eight criterion states. The 32-condition design is rich, but each condition has one pooled expression profile. The colored state is always paired with a factual line, so the judgment does not depend on color alone.</a:t>
            </a:r>
          </a:p>
          <a:p>
            <a:endParaRPr/>
          </a:p>
          <a:p>
            <a:r>
              <a:t>Main takeaway:</a:t>
            </a:r>
          </a:p>
          <a:p>
            <a:r>
              <a:t>Best use: Describe sex-by-amyloid microglial state trajectories across age and region. Main limitation: Pooling removes mouse-level variance; human APOE isoforms and broad cells are absent.</a:t>
            </a:r>
          </a:p>
          <a:p>
            <a:endParaRPr/>
          </a:p>
          <a:p>
            <a:r>
              <a:t>Boundary / transition:</a:t>
            </a:r>
          </a:p>
          <a:p>
            <a:r>
              <a:t>Treat as condition-level descriptive support—not a replicated mouse-level interaction. The biological unit must remain the mouse—or the pre-sequencing pool when mice were pooled—and raw matrices from separate studies should not be merged as one cohort. The next profile applies the same criteria to GSE212606.</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to point at:</a:t>
            </a:r>
          </a:p>
          <a:p>
            <a:r>
              <a:t>Start with the role and study snapshot, then scan the eight criterion states. The scale is a strength for cell breadth, but it does not repair the genetic or regional confounding. The colored state is always paired with a factual line, so the judgment does not depend on color alone.</a:t>
            </a:r>
          </a:p>
          <a:p>
            <a:endParaRPr/>
          </a:p>
          <a:p>
            <a:r>
              <a:t>Main takeaway:</a:t>
            </a:r>
          </a:p>
          <a:p>
            <a:r>
              <a:t>Best use: Assess broad sex/disease convergence, rare populations, and chromatin support. Main limitation: APOE4 cannot be separated from TREM2 R47H; not region matched or directly APOE3-versus-APOE4.</a:t>
            </a:r>
          </a:p>
          <a:p>
            <a:endParaRPr/>
          </a:p>
          <a:p>
            <a:r>
              <a:t>Boundary / transition:</a:t>
            </a:r>
          </a:p>
          <a:p>
            <a:r>
              <a:t>Use as broad whole-brain convergence and chromatin evidence—not direct PFC/APOE validation. The biological unit must remain the mouse—or the pre-sequencing pool when mice were pooled—and raw matrices from separate studies should not be merged as one cohort. The next profile applies the same criteria to GSE213446.</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to point at:</a:t>
            </a:r>
          </a:p>
          <a:p>
            <a:r>
              <a:t>Start with the role and study snapshot, then scan the eight criterion states. Antibiotic versus water treatment adds another biological factor that must remain explicit. The colored state is always paired with a factual line, so the judgment does not depend on color alone.</a:t>
            </a:r>
          </a:p>
          <a:p>
            <a:endParaRPr/>
          </a:p>
          <a:p>
            <a:r>
              <a:t>Main takeaway:</a:t>
            </a:r>
          </a:p>
          <a:p>
            <a:r>
              <a:t>Best use: Provide pathway-level, cross-region and cross-pathology APOE-by-tau support. Main limitation: Hippocampal tau model; sex mapping and independent mouse replication are unresolved.</a:t>
            </a:r>
          </a:p>
          <a:p>
            <a:endParaRPr/>
          </a:p>
          <a:p>
            <a:r>
              <a:t>Boundary / transition:</a:t>
            </a:r>
          </a:p>
          <a:p>
            <a:r>
              <a:t>Keep conclusions descriptive until animal-level metadata are recovered. The biological unit must remain the mouse—or the pre-sequencing pool when mice were pooled—and raw matrices from separate studies should not be merged as one cohort. The next profile applies the same criteria to GSE212317 / GSE213391.</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to point at:</a:t>
            </a:r>
          </a:p>
          <a:p>
            <a:r>
              <a:t>Start with the role and study snapshot, then scan the eight criterion states. Middle-age groups are 5xFAD whereas young and aged groups represent different pathology contexts. The colored state is always paired with a factual line, so the judgment does not depend on color alone.</a:t>
            </a:r>
          </a:p>
          <a:p>
            <a:endParaRPr/>
          </a:p>
          <a:p>
            <a:r>
              <a:t>Main takeaway:</a:t>
            </a:r>
          </a:p>
          <a:p>
            <a:r>
              <a:t>Best use: Explore female APOE immunometabolism, glycolysis, TCA, and lipid handling. Main limitation: One pooled library/group, female-only design, and age/disease confounding prevent interaction claims.</a:t>
            </a:r>
          </a:p>
          <a:p>
            <a:endParaRPr/>
          </a:p>
          <a:p>
            <a:r>
              <a:t>Boundary / transition:</a:t>
            </a:r>
          </a:p>
          <a:p>
            <a:r>
              <a:t>Use for descriptive female APOE immunometabolism—not sex or clean APOE-by-disease replication. The biological unit must remain the mouse—or the pre-sequencing pool when mice were pooled—and raw matrices from separate studies should not be merged as one cohort. The next profile applies the same criteria to GSE127884.</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to point at:</a:t>
            </a:r>
          </a:p>
          <a:p>
            <a:r>
              <a:t>Start with the role and study snapshot, then scan the eight criterion states. The 3,072 GEO records must never be used as the biological sample count. The colored state is always paired with a factual line, so the judgment does not depend on color alone.</a:t>
            </a:r>
          </a:p>
          <a:p>
            <a:endParaRPr/>
          </a:p>
          <a:p>
            <a:r>
              <a:t>Main takeaway:</a:t>
            </a:r>
          </a:p>
          <a:p>
            <a:r>
              <a:t>Best use: Test whether endogenous mouse Apoe is required for amyloid-associated microglial states. Main limitation: Male-only, microglia-only design with no human isoform comparison and unclear mouse replication.</a:t>
            </a:r>
          </a:p>
          <a:p>
            <a:endParaRPr/>
          </a:p>
          <a:p>
            <a:r>
              <a:t>Boundary / transition:</a:t>
            </a:r>
          </a:p>
          <a:p>
            <a:r>
              <a:t>Use as mechanistic Apoe-dependence support—not human APOE or sex validation. The biological unit must remain the mouse—or the pre-sequencing pool when mice were pooled—and raw matrices from separate studies should not be merged as one cohort. This is the final dataset profile; compare roles across slides rather than treating these studies as one merged cohort.</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to point at:</a:t>
            </a:r>
          </a:p>
          <a:p>
            <a:r>
              <a:t>The recommended minimum is three complementary anchors, not one supposedly complete mouse cohort. GSE185063 asks where the human APOE-associated module appears across cortical cell types. GSE241553 tests sex-aware microglia/CAM apoE induction under amyloid. GSE163857 supplies the direct APOE-by-sex-by-5xFAD factorial microglial comparison. Then add one disease-direction dataset chosen for the human cell type; GSE212606 can supplement neuronal and oligodendroglial questions.</a:t>
            </a:r>
          </a:p>
          <a:p>
            <a:endParaRPr/>
          </a:p>
          <a:p>
            <a:r>
              <a:t>Main takeaway:</a:t>
            </a:r>
          </a:p>
          <a:p>
            <a:r>
              <a:t>Freeze the human PFC cell type, contrast, direction, and module before looking at mouse results. Analyze every study separately at its valid mouse or pooled-sample unit, then compare orthologous effect direction, ranked genes, module enrichment, and pathway concordance.</a:t>
            </a:r>
          </a:p>
          <a:p>
            <a:endParaRPr/>
          </a:p>
          <a:p>
            <a:r>
              <a:t>Boundary / transition:</a:t>
            </a:r>
          </a:p>
          <a:p>
            <a:r>
              <a:t>Do not merge raw count matrices across these studies or erase region, disease-model, APOE, sex, and replication differences with batch correction. Agreement should be reported as triangulated external validation or convergent support—not as one complete, direct mouse PFC replication cohort.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8/23/26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8/23/26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8/23/26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8/23/26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02920" y="146304"/>
            <a:ext cx="5577840"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19" b="1" i="0">
                <a:solidFill>
                  <a:srgbClr val="0072B2"/>
                </a:solidFill>
                <a:latin typeface="Arial"/>
              </a:rPr>
              <a:t>MOUSE DATASET COMPARISON</a:t>
            </a:r>
          </a:p>
        </p:txBody>
      </p:sp>
      <p:sp>
        <p:nvSpPr>
          <p:cNvPr id="3" name="slide_title"/>
          <p:cNvSpPr txBox="1"/>
          <p:nvPr/>
        </p:nvSpPr>
        <p:spPr>
          <a:xfrm>
            <a:off x="502920" y="356616"/>
            <a:ext cx="11018520" cy="713232"/>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2400" b="1" i="0">
                <a:solidFill>
                  <a:srgbClr val="0F233D"/>
                </a:solidFill>
                <a:latin typeface="Arial"/>
              </a:rPr>
              <a:t>Evaluation criteria used in this report: biological fit</a:t>
            </a:r>
          </a:p>
        </p:txBody>
      </p:sp>
      <p:sp>
        <p:nvSpPr>
          <p:cNvPr id="4" name="TextBox 3"/>
          <p:cNvSpPr txBox="1"/>
          <p:nvPr/>
        </p:nvSpPr>
        <p:spPr>
          <a:xfrm>
            <a:off x="11402568" y="155448"/>
            <a:ext cx="274320" cy="164592"/>
          </a:xfrm>
          <a:prstGeom prst="rect">
            <a:avLst/>
          </a:prstGeom>
          <a:noFill/>
        </p:spPr>
        <p:txBody>
          <a:bodyPr wrap="square" lIns="27432" tIns="27432" rIns="27432" bIns="27432" anchor="t">
            <a:spAutoFit/>
          </a:bodyPr>
          <a:lstStyle/>
          <a:p>
            <a:pPr algn="r">
              <a:lnSpc>
                <a:spcPct val="100000"/>
              </a:lnSpc>
              <a:spcBef>
                <a:spcPts val="0"/>
              </a:spcBef>
              <a:spcAft>
                <a:spcPts val="0"/>
              </a:spcAft>
            </a:pPr>
            <a:r>
              <a:rPr sz="880" b="1" i="0">
                <a:solidFill>
                  <a:srgbClr val="606C7B"/>
                </a:solidFill>
                <a:latin typeface="Arial"/>
              </a:rPr>
              <a:t>01</a:t>
            </a:r>
          </a:p>
        </p:txBody>
      </p:sp>
      <p:sp>
        <p:nvSpPr>
          <p:cNvPr id="5" name="Rounded Rectangle 4"/>
          <p:cNvSpPr/>
          <p:nvPr/>
        </p:nvSpPr>
        <p:spPr>
          <a:xfrm>
            <a:off x="594360" y="1234440"/>
            <a:ext cx="5440680" cy="1755648"/>
          </a:xfrm>
          <a:prstGeom prst="roundRect">
            <a:avLst/>
          </a:prstGeom>
          <a:solidFill>
            <a:srgbClr val="FFFFFF"/>
          </a:solidFill>
          <a:ln w="1905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94360" y="1234440"/>
            <a:ext cx="5440680" cy="10058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444752"/>
            <a:ext cx="5074920" cy="32918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700" b="1" i="0">
                <a:solidFill>
                  <a:srgbClr val="0F233D"/>
                </a:solidFill>
                <a:latin typeface="Arial"/>
              </a:rPr>
              <a:t>Region</a:t>
            </a:r>
          </a:p>
        </p:txBody>
      </p:sp>
      <p:sp>
        <p:nvSpPr>
          <p:cNvPr id="8" name="TextBox 7"/>
          <p:cNvSpPr txBox="1"/>
          <p:nvPr/>
        </p:nvSpPr>
        <p:spPr>
          <a:xfrm>
            <a:off x="777240" y="1892808"/>
            <a:ext cx="93268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0" b="1" i="0">
                <a:solidFill>
                  <a:srgbClr val="232A33"/>
                </a:solidFill>
                <a:latin typeface="Arial"/>
              </a:rPr>
              <a:t>STRONG</a:t>
            </a:r>
          </a:p>
        </p:txBody>
      </p:sp>
      <p:sp>
        <p:nvSpPr>
          <p:cNvPr id="9" name="TextBox 8"/>
          <p:cNvSpPr txBox="1"/>
          <p:nvPr/>
        </p:nvSpPr>
        <p:spPr>
          <a:xfrm>
            <a:off x="1783080" y="1874520"/>
            <a:ext cx="4069080" cy="265176"/>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19" b="0" i="0">
                <a:solidFill>
                  <a:srgbClr val="232A33"/>
                </a:solidFill>
                <a:latin typeface="Arial"/>
              </a:rPr>
              <a:t>Explicit frontal/PFC tissue.</a:t>
            </a:r>
          </a:p>
        </p:txBody>
      </p:sp>
      <p:sp>
        <p:nvSpPr>
          <p:cNvPr id="10" name="TextBox 9"/>
          <p:cNvSpPr txBox="1"/>
          <p:nvPr/>
        </p:nvSpPr>
        <p:spPr>
          <a:xfrm>
            <a:off x="777240" y="2249424"/>
            <a:ext cx="93268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0" b="1" i="0">
                <a:solidFill>
                  <a:srgbClr val="232A33"/>
                </a:solidFill>
                <a:latin typeface="Arial"/>
              </a:rPr>
              <a:t>PARTIAL</a:t>
            </a:r>
          </a:p>
        </p:txBody>
      </p:sp>
      <p:sp>
        <p:nvSpPr>
          <p:cNvPr id="11" name="TextBox 10"/>
          <p:cNvSpPr txBox="1"/>
          <p:nvPr/>
        </p:nvSpPr>
        <p:spPr>
          <a:xfrm>
            <a:off x="1783080" y="2231136"/>
            <a:ext cx="4069080" cy="265176"/>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19" b="0" i="0">
                <a:solidFill>
                  <a:srgbClr val="232A33"/>
                </a:solidFill>
                <a:latin typeface="Arial"/>
              </a:rPr>
              <a:t>Cortex, or mixed cortex + hippocampus.</a:t>
            </a:r>
          </a:p>
        </p:txBody>
      </p:sp>
      <p:sp>
        <p:nvSpPr>
          <p:cNvPr id="12" name="TextBox 11"/>
          <p:cNvSpPr txBox="1"/>
          <p:nvPr/>
        </p:nvSpPr>
        <p:spPr>
          <a:xfrm>
            <a:off x="777240" y="2606040"/>
            <a:ext cx="93268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0" b="1" i="0">
                <a:solidFill>
                  <a:srgbClr val="232A33"/>
                </a:solidFill>
                <a:latin typeface="Arial"/>
              </a:rPr>
              <a:t>NOT MATCHED</a:t>
            </a:r>
          </a:p>
        </p:txBody>
      </p:sp>
      <p:sp>
        <p:nvSpPr>
          <p:cNvPr id="13" name="TextBox 12"/>
          <p:cNvSpPr txBox="1"/>
          <p:nvPr/>
        </p:nvSpPr>
        <p:spPr>
          <a:xfrm>
            <a:off x="1783080" y="2587752"/>
            <a:ext cx="4069080" cy="265176"/>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19" b="0" i="0">
                <a:solidFill>
                  <a:srgbClr val="232A33"/>
                </a:solidFill>
                <a:latin typeface="Arial"/>
              </a:rPr>
              <a:t>Hippocampus, whole brain, or unclear anatomy.</a:t>
            </a:r>
          </a:p>
        </p:txBody>
      </p:sp>
      <p:sp>
        <p:nvSpPr>
          <p:cNvPr id="14" name="Rounded Rectangle 13"/>
          <p:cNvSpPr/>
          <p:nvPr/>
        </p:nvSpPr>
        <p:spPr>
          <a:xfrm>
            <a:off x="6172200" y="1234440"/>
            <a:ext cx="5440680" cy="1755648"/>
          </a:xfrm>
          <a:prstGeom prst="roundRect">
            <a:avLst/>
          </a:prstGeom>
          <a:solidFill>
            <a:srgbClr val="FFFFFF"/>
          </a:solidFill>
          <a:ln w="19050">
            <a:solidFill>
              <a:srgbClr val="7E4C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172200" y="1234440"/>
            <a:ext cx="5440680" cy="100584"/>
          </a:xfrm>
          <a:prstGeom prst="rect">
            <a:avLst/>
          </a:prstGeom>
          <a:solidFill>
            <a:srgbClr val="7E4C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55080" y="1444752"/>
            <a:ext cx="5074920" cy="32918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700" b="1" i="0">
                <a:solidFill>
                  <a:srgbClr val="0F233D"/>
                </a:solidFill>
                <a:latin typeface="Arial"/>
              </a:rPr>
              <a:t>APOE</a:t>
            </a:r>
          </a:p>
        </p:txBody>
      </p:sp>
      <p:sp>
        <p:nvSpPr>
          <p:cNvPr id="17" name="TextBox 16"/>
          <p:cNvSpPr txBox="1"/>
          <p:nvPr/>
        </p:nvSpPr>
        <p:spPr>
          <a:xfrm>
            <a:off x="6355080" y="1892808"/>
            <a:ext cx="93268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0" b="1" i="0">
                <a:solidFill>
                  <a:srgbClr val="232A33"/>
                </a:solidFill>
                <a:latin typeface="Arial"/>
              </a:rPr>
              <a:t>STRONG</a:t>
            </a:r>
          </a:p>
        </p:txBody>
      </p:sp>
      <p:sp>
        <p:nvSpPr>
          <p:cNvPr id="18" name="TextBox 17"/>
          <p:cNvSpPr txBox="1"/>
          <p:nvPr/>
        </p:nvSpPr>
        <p:spPr>
          <a:xfrm>
            <a:off x="7360920" y="1874520"/>
            <a:ext cx="4069080" cy="265176"/>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19" b="0" i="0">
                <a:solidFill>
                  <a:srgbClr val="232A33"/>
                </a:solidFill>
                <a:latin typeface="Arial"/>
              </a:rPr>
              <a:t>Human APOE3 versus APOE4 in the intended context.</a:t>
            </a:r>
          </a:p>
        </p:txBody>
      </p:sp>
      <p:sp>
        <p:nvSpPr>
          <p:cNvPr id="19" name="TextBox 18"/>
          <p:cNvSpPr txBox="1"/>
          <p:nvPr/>
        </p:nvSpPr>
        <p:spPr>
          <a:xfrm>
            <a:off x="6355080" y="2249424"/>
            <a:ext cx="93268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0" b="1" i="0">
                <a:solidFill>
                  <a:srgbClr val="232A33"/>
                </a:solidFill>
                <a:latin typeface="Arial"/>
              </a:rPr>
              <a:t>PARTIAL</a:t>
            </a:r>
          </a:p>
        </p:txBody>
      </p:sp>
      <p:sp>
        <p:nvSpPr>
          <p:cNvPr id="20" name="TextBox 19"/>
          <p:cNvSpPr txBox="1"/>
          <p:nvPr/>
        </p:nvSpPr>
        <p:spPr>
          <a:xfrm>
            <a:off x="7360920" y="2231136"/>
            <a:ext cx="4069080" cy="265176"/>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19" b="0" i="0">
                <a:solidFill>
                  <a:srgbClr val="232A33"/>
                </a:solidFill>
                <a:latin typeface="Arial"/>
              </a:rPr>
              <a:t>Conditional APOE, APOE4+other risk, or mouse Apoe.</a:t>
            </a:r>
          </a:p>
        </p:txBody>
      </p:sp>
      <p:sp>
        <p:nvSpPr>
          <p:cNvPr id="21" name="TextBox 20"/>
          <p:cNvSpPr txBox="1"/>
          <p:nvPr/>
        </p:nvSpPr>
        <p:spPr>
          <a:xfrm>
            <a:off x="6355080" y="2606040"/>
            <a:ext cx="93268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0" b="1" i="0">
                <a:solidFill>
                  <a:srgbClr val="232A33"/>
                </a:solidFill>
                <a:latin typeface="Arial"/>
              </a:rPr>
              <a:t>NOT MATCHED</a:t>
            </a:r>
          </a:p>
        </p:txBody>
      </p:sp>
      <p:sp>
        <p:nvSpPr>
          <p:cNvPr id="22" name="TextBox 21"/>
          <p:cNvSpPr txBox="1"/>
          <p:nvPr/>
        </p:nvSpPr>
        <p:spPr>
          <a:xfrm>
            <a:off x="7360920" y="2587752"/>
            <a:ext cx="4069080" cy="265176"/>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19" b="0" i="0">
                <a:solidFill>
                  <a:srgbClr val="232A33"/>
                </a:solidFill>
                <a:latin typeface="Arial"/>
              </a:rPr>
              <a:t>No APOE factor.</a:t>
            </a:r>
          </a:p>
        </p:txBody>
      </p:sp>
      <p:sp>
        <p:nvSpPr>
          <p:cNvPr id="23" name="Rounded Rectangle 22"/>
          <p:cNvSpPr/>
          <p:nvPr/>
        </p:nvSpPr>
        <p:spPr>
          <a:xfrm>
            <a:off x="594360" y="3200400"/>
            <a:ext cx="5440680" cy="1755648"/>
          </a:xfrm>
          <a:prstGeom prst="roundRect">
            <a:avLst/>
          </a:prstGeom>
          <a:solidFill>
            <a:srgbClr val="FFFFFF"/>
          </a:solidFill>
          <a:ln w="1905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594360" y="3200400"/>
            <a:ext cx="5440680" cy="100584"/>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77240" y="3410712"/>
            <a:ext cx="5074920" cy="32918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700" b="1" i="0">
                <a:solidFill>
                  <a:srgbClr val="0F233D"/>
                </a:solidFill>
                <a:latin typeface="Arial"/>
              </a:rPr>
              <a:t>Sex</a:t>
            </a:r>
          </a:p>
        </p:txBody>
      </p:sp>
      <p:sp>
        <p:nvSpPr>
          <p:cNvPr id="26" name="TextBox 25"/>
          <p:cNvSpPr txBox="1"/>
          <p:nvPr/>
        </p:nvSpPr>
        <p:spPr>
          <a:xfrm>
            <a:off x="777240" y="3858768"/>
            <a:ext cx="93268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0" b="1" i="0">
                <a:solidFill>
                  <a:srgbClr val="232A33"/>
                </a:solidFill>
                <a:latin typeface="Arial"/>
              </a:rPr>
              <a:t>STRONG</a:t>
            </a:r>
          </a:p>
        </p:txBody>
      </p:sp>
      <p:sp>
        <p:nvSpPr>
          <p:cNvPr id="27" name="TextBox 26"/>
          <p:cNvSpPr txBox="1"/>
          <p:nvPr/>
        </p:nvSpPr>
        <p:spPr>
          <a:xfrm>
            <a:off x="1783080" y="3840480"/>
            <a:ext cx="4069080" cy="265176"/>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19" b="0" i="0">
                <a:solidFill>
                  <a:srgbClr val="232A33"/>
                </a:solidFill>
                <a:latin typeface="Arial"/>
              </a:rPr>
              <a:t>Female/male labels for each mouse with replication.</a:t>
            </a:r>
          </a:p>
        </p:txBody>
      </p:sp>
      <p:sp>
        <p:nvSpPr>
          <p:cNvPr id="28" name="TextBox 27"/>
          <p:cNvSpPr txBox="1"/>
          <p:nvPr/>
        </p:nvSpPr>
        <p:spPr>
          <a:xfrm>
            <a:off x="777240" y="4215383"/>
            <a:ext cx="93268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0" b="1" i="0">
                <a:solidFill>
                  <a:srgbClr val="232A33"/>
                </a:solidFill>
                <a:latin typeface="Arial"/>
              </a:rPr>
              <a:t>PARTIAL</a:t>
            </a:r>
          </a:p>
        </p:txBody>
      </p:sp>
      <p:sp>
        <p:nvSpPr>
          <p:cNvPr id="29" name="TextBox 28"/>
          <p:cNvSpPr txBox="1"/>
          <p:nvPr/>
        </p:nvSpPr>
        <p:spPr>
          <a:xfrm>
            <a:off x="1783080" y="4197096"/>
            <a:ext cx="4069080" cy="265176"/>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19" b="0" i="0">
                <a:solidFill>
                  <a:srgbClr val="232A33"/>
                </a:solidFill>
                <a:latin typeface="Arial"/>
              </a:rPr>
              <a:t>Both sexes mentioned but mapping is missing or pooled.</a:t>
            </a:r>
          </a:p>
        </p:txBody>
      </p:sp>
      <p:sp>
        <p:nvSpPr>
          <p:cNvPr id="30" name="TextBox 29"/>
          <p:cNvSpPr txBox="1"/>
          <p:nvPr/>
        </p:nvSpPr>
        <p:spPr>
          <a:xfrm>
            <a:off x="777240" y="4572000"/>
            <a:ext cx="93268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0" b="1" i="0">
                <a:solidFill>
                  <a:srgbClr val="232A33"/>
                </a:solidFill>
                <a:latin typeface="Arial"/>
              </a:rPr>
              <a:t>NOT MATCHED</a:t>
            </a:r>
          </a:p>
        </p:txBody>
      </p:sp>
      <p:sp>
        <p:nvSpPr>
          <p:cNvPr id="31" name="TextBox 30"/>
          <p:cNvSpPr txBox="1"/>
          <p:nvPr/>
        </p:nvSpPr>
        <p:spPr>
          <a:xfrm>
            <a:off x="1783080" y="4553712"/>
            <a:ext cx="4069080" cy="265176"/>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19" b="0" i="0">
                <a:solidFill>
                  <a:srgbClr val="232A33"/>
                </a:solidFill>
                <a:latin typeface="Arial"/>
              </a:rPr>
              <a:t>One sex or unusable sex metadata.</a:t>
            </a:r>
          </a:p>
        </p:txBody>
      </p:sp>
      <p:sp>
        <p:nvSpPr>
          <p:cNvPr id="32" name="Rounded Rectangle 31"/>
          <p:cNvSpPr/>
          <p:nvPr/>
        </p:nvSpPr>
        <p:spPr>
          <a:xfrm>
            <a:off x="6172200" y="3200400"/>
            <a:ext cx="5440680" cy="1755648"/>
          </a:xfrm>
          <a:prstGeom prst="roundRect">
            <a:avLst/>
          </a:prstGeom>
          <a:solidFill>
            <a:srgbClr val="FFFFFF"/>
          </a:solidFill>
          <a:ln w="19050">
            <a:solidFill>
              <a:srgbClr val="D55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6172200" y="3200400"/>
            <a:ext cx="5440680" cy="10058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355080" y="3410712"/>
            <a:ext cx="5074920" cy="32918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700" b="1" i="0">
                <a:solidFill>
                  <a:srgbClr val="0F233D"/>
                </a:solidFill>
                <a:latin typeface="Arial"/>
              </a:rPr>
              <a:t>Disease</a:t>
            </a:r>
          </a:p>
        </p:txBody>
      </p:sp>
      <p:sp>
        <p:nvSpPr>
          <p:cNvPr id="35" name="TextBox 34"/>
          <p:cNvSpPr txBox="1"/>
          <p:nvPr/>
        </p:nvSpPr>
        <p:spPr>
          <a:xfrm>
            <a:off x="6355080" y="3858768"/>
            <a:ext cx="93268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0" b="1" i="0">
                <a:solidFill>
                  <a:srgbClr val="232A33"/>
                </a:solidFill>
                <a:latin typeface="Arial"/>
              </a:rPr>
              <a:t>STRONG</a:t>
            </a:r>
          </a:p>
        </p:txBody>
      </p:sp>
      <p:sp>
        <p:nvSpPr>
          <p:cNvPr id="36" name="TextBox 35"/>
          <p:cNvSpPr txBox="1"/>
          <p:nvPr/>
        </p:nvSpPr>
        <p:spPr>
          <a:xfrm>
            <a:off x="7360920" y="3840480"/>
            <a:ext cx="4069080" cy="265176"/>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19" b="0" i="0">
                <a:solidFill>
                  <a:srgbClr val="232A33"/>
                </a:solidFill>
                <a:latin typeface="Arial"/>
              </a:rPr>
              <a:t>AD model and matched non-AD animals in one study.</a:t>
            </a:r>
          </a:p>
        </p:txBody>
      </p:sp>
      <p:sp>
        <p:nvSpPr>
          <p:cNvPr id="37" name="TextBox 36"/>
          <p:cNvSpPr txBox="1"/>
          <p:nvPr/>
        </p:nvSpPr>
        <p:spPr>
          <a:xfrm>
            <a:off x="6355080" y="4215383"/>
            <a:ext cx="93268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0" b="1" i="0">
                <a:solidFill>
                  <a:srgbClr val="232A33"/>
                </a:solidFill>
                <a:latin typeface="Arial"/>
              </a:rPr>
              <a:t>PARTIAL</a:t>
            </a:r>
          </a:p>
        </p:txBody>
      </p:sp>
      <p:sp>
        <p:nvSpPr>
          <p:cNvPr id="38" name="TextBox 37"/>
          <p:cNvSpPr txBox="1"/>
          <p:nvPr/>
        </p:nvSpPr>
        <p:spPr>
          <a:xfrm>
            <a:off x="7360920" y="4197096"/>
            <a:ext cx="4069080" cy="265176"/>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19" b="0" i="0">
                <a:solidFill>
                  <a:srgbClr val="232A33"/>
                </a:solidFill>
                <a:latin typeface="Arial"/>
              </a:rPr>
              <a:t>All animals diseased, or pathology differs from target.</a:t>
            </a:r>
          </a:p>
        </p:txBody>
      </p:sp>
      <p:sp>
        <p:nvSpPr>
          <p:cNvPr id="39" name="TextBox 38"/>
          <p:cNvSpPr txBox="1"/>
          <p:nvPr/>
        </p:nvSpPr>
        <p:spPr>
          <a:xfrm>
            <a:off x="6355080" y="4572000"/>
            <a:ext cx="93268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0" b="1" i="0">
                <a:solidFill>
                  <a:srgbClr val="232A33"/>
                </a:solidFill>
                <a:latin typeface="Arial"/>
              </a:rPr>
              <a:t>NOT MATCHED</a:t>
            </a:r>
          </a:p>
        </p:txBody>
      </p:sp>
      <p:sp>
        <p:nvSpPr>
          <p:cNvPr id="40" name="TextBox 39"/>
          <p:cNvSpPr txBox="1"/>
          <p:nvPr/>
        </p:nvSpPr>
        <p:spPr>
          <a:xfrm>
            <a:off x="7360920" y="4553712"/>
            <a:ext cx="4069080" cy="265176"/>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19" b="0" i="0">
                <a:solidFill>
                  <a:srgbClr val="232A33"/>
                </a:solidFill>
                <a:latin typeface="Arial"/>
              </a:rPr>
              <a:t>No disease contrast.</a:t>
            </a:r>
          </a:p>
        </p:txBody>
      </p:sp>
      <p:sp>
        <p:nvSpPr>
          <p:cNvPr id="41" name="takeaway_ribbon"/>
          <p:cNvSpPr/>
          <p:nvPr/>
        </p:nvSpPr>
        <p:spPr>
          <a:xfrm>
            <a:off x="502920" y="5358384"/>
            <a:ext cx="11183112" cy="512064"/>
          </a:xfrm>
          <a:prstGeom prst="rect">
            <a:avLst/>
          </a:prstGeom>
          <a:solidFill>
            <a:srgbClr val="0F2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502920" y="5358384"/>
            <a:ext cx="91440" cy="5120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749808" y="5431536"/>
            <a:ext cx="10652760" cy="329184"/>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200" b="1" i="0">
                <a:solidFill>
                  <a:srgbClr val="FFFFFF"/>
                </a:solidFill>
                <a:latin typeface="Arial"/>
              </a:rPr>
              <a:t>No exact dataset was identified in the openly auditable set; complementary datasets answer different parts of the question.</a:t>
            </a:r>
          </a:p>
        </p:txBody>
      </p:sp>
      <p:sp>
        <p:nvSpPr>
          <p:cNvPr id="44" name="source_line"/>
          <p:cNvSpPr txBox="1"/>
          <p:nvPr/>
        </p:nvSpPr>
        <p:spPr>
          <a:xfrm>
            <a:off x="502920" y="6620256"/>
            <a:ext cx="11155680" cy="12801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670" b="0" i="0">
                <a:solidFill>
                  <a:srgbClr val="606C7B"/>
                </a:solidFill>
                <a:latin typeface="Arial"/>
              </a:rPr>
              <a:t>Source: docs/validation_mouse/mouse_dataset_comparison.md, §§2–3 (report dated Aug 23,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146304"/>
            <a:ext cx="5577840"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19" b="1" i="0">
                <a:solidFill>
                  <a:srgbClr val="009E73"/>
                </a:solidFill>
                <a:latin typeface="Arial"/>
              </a:rPr>
              <a:t>MOUSE DATASET COMPARISON</a:t>
            </a:r>
          </a:p>
        </p:txBody>
      </p:sp>
      <p:sp>
        <p:nvSpPr>
          <p:cNvPr id="3" name="slide_title"/>
          <p:cNvSpPr txBox="1"/>
          <p:nvPr/>
        </p:nvSpPr>
        <p:spPr>
          <a:xfrm>
            <a:off x="502920" y="356616"/>
            <a:ext cx="11018520" cy="713232"/>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2400" b="1" i="0">
                <a:solidFill>
                  <a:srgbClr val="0F233D"/>
                </a:solidFill>
                <a:latin typeface="Arial"/>
              </a:rPr>
              <a:t>Evaluation criteria used in this report: evidence quality</a:t>
            </a:r>
          </a:p>
        </p:txBody>
      </p:sp>
      <p:sp>
        <p:nvSpPr>
          <p:cNvPr id="4" name="TextBox 3"/>
          <p:cNvSpPr txBox="1"/>
          <p:nvPr/>
        </p:nvSpPr>
        <p:spPr>
          <a:xfrm>
            <a:off x="11402568" y="155448"/>
            <a:ext cx="274320" cy="164592"/>
          </a:xfrm>
          <a:prstGeom prst="rect">
            <a:avLst/>
          </a:prstGeom>
          <a:noFill/>
        </p:spPr>
        <p:txBody>
          <a:bodyPr wrap="square" lIns="27432" tIns="27432" rIns="27432" bIns="27432" anchor="t">
            <a:spAutoFit/>
          </a:bodyPr>
          <a:lstStyle/>
          <a:p>
            <a:pPr algn="r">
              <a:lnSpc>
                <a:spcPct val="100000"/>
              </a:lnSpc>
              <a:spcBef>
                <a:spcPts val="0"/>
              </a:spcBef>
              <a:spcAft>
                <a:spcPts val="0"/>
              </a:spcAft>
            </a:pPr>
            <a:r>
              <a:rPr sz="880" b="1" i="0">
                <a:solidFill>
                  <a:srgbClr val="606C7B"/>
                </a:solidFill>
                <a:latin typeface="Arial"/>
              </a:rPr>
              <a:t>02</a:t>
            </a:r>
          </a:p>
        </p:txBody>
      </p:sp>
      <p:sp>
        <p:nvSpPr>
          <p:cNvPr id="5" name="Rounded Rectangle 4"/>
          <p:cNvSpPr/>
          <p:nvPr/>
        </p:nvSpPr>
        <p:spPr>
          <a:xfrm>
            <a:off x="502920" y="1188720"/>
            <a:ext cx="2743200" cy="1847088"/>
          </a:xfrm>
          <a:prstGeom prst="roundRect">
            <a:avLst/>
          </a:prstGeom>
          <a:solidFill>
            <a:srgbClr val="FFFFFF"/>
          </a:solidFill>
          <a:ln w="1905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02920" y="1188720"/>
            <a:ext cx="2743200" cy="10058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85800" y="1399032"/>
            <a:ext cx="2377440" cy="32918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700" b="1" i="0">
                <a:solidFill>
                  <a:srgbClr val="0F233D"/>
                </a:solidFill>
                <a:latin typeface="Arial"/>
              </a:rPr>
              <a:t>Modality</a:t>
            </a:r>
          </a:p>
        </p:txBody>
      </p:sp>
      <p:sp>
        <p:nvSpPr>
          <p:cNvPr id="8" name="TextBox 7"/>
          <p:cNvSpPr txBox="1"/>
          <p:nvPr/>
        </p:nvSpPr>
        <p:spPr>
          <a:xfrm>
            <a:off x="685800" y="1847088"/>
            <a:ext cx="93268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0" b="1" i="0">
                <a:solidFill>
                  <a:srgbClr val="232A33"/>
                </a:solidFill>
                <a:latin typeface="Arial"/>
              </a:rPr>
              <a:t>STRONG</a:t>
            </a:r>
          </a:p>
        </p:txBody>
      </p:sp>
      <p:sp>
        <p:nvSpPr>
          <p:cNvPr id="9" name="TextBox 8"/>
          <p:cNvSpPr txBox="1"/>
          <p:nvPr/>
        </p:nvSpPr>
        <p:spPr>
          <a:xfrm>
            <a:off x="1691640" y="1828800"/>
            <a:ext cx="1371600" cy="265176"/>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19" b="0" i="0">
                <a:solidFill>
                  <a:srgbClr val="232A33"/>
                </a:solidFill>
                <a:latin typeface="Arial"/>
              </a:rPr>
              <a:t>sc/snRNA with mouse identity</a:t>
            </a:r>
          </a:p>
        </p:txBody>
      </p:sp>
      <p:sp>
        <p:nvSpPr>
          <p:cNvPr id="10" name="TextBox 9"/>
          <p:cNvSpPr txBox="1"/>
          <p:nvPr/>
        </p:nvSpPr>
        <p:spPr>
          <a:xfrm>
            <a:off x="685800" y="2203704"/>
            <a:ext cx="93268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0" b="1" i="0">
                <a:solidFill>
                  <a:srgbClr val="232A33"/>
                </a:solidFill>
                <a:latin typeface="Arial"/>
              </a:rPr>
              <a:t>PARTIAL</a:t>
            </a:r>
          </a:p>
        </p:txBody>
      </p:sp>
      <p:sp>
        <p:nvSpPr>
          <p:cNvPr id="11" name="TextBox 10"/>
          <p:cNvSpPr txBox="1"/>
          <p:nvPr/>
        </p:nvSpPr>
        <p:spPr>
          <a:xfrm>
            <a:off x="1691640" y="2185416"/>
            <a:ext cx="1371600" cy="265176"/>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19" b="0" i="0">
                <a:solidFill>
                  <a:srgbClr val="232A33"/>
                </a:solidFill>
                <a:latin typeface="Arial"/>
              </a:rPr>
              <a:t>bulk-sorted or pooled single-cell</a:t>
            </a:r>
          </a:p>
        </p:txBody>
      </p:sp>
      <p:sp>
        <p:nvSpPr>
          <p:cNvPr id="12" name="TextBox 11"/>
          <p:cNvSpPr txBox="1"/>
          <p:nvPr/>
        </p:nvSpPr>
        <p:spPr>
          <a:xfrm>
            <a:off x="685800" y="2560320"/>
            <a:ext cx="93268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0" b="1" i="0">
                <a:solidFill>
                  <a:srgbClr val="232A33"/>
                </a:solidFill>
                <a:latin typeface="Arial"/>
              </a:rPr>
              <a:t>NOT MATCHED</a:t>
            </a:r>
          </a:p>
        </p:txBody>
      </p:sp>
      <p:sp>
        <p:nvSpPr>
          <p:cNvPr id="13" name="TextBox 12"/>
          <p:cNvSpPr txBox="1"/>
          <p:nvPr/>
        </p:nvSpPr>
        <p:spPr>
          <a:xfrm>
            <a:off x="1691640" y="2542032"/>
            <a:ext cx="1371600" cy="265176"/>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19" b="0" i="0">
                <a:solidFill>
                  <a:srgbClr val="232A33"/>
                </a:solidFill>
                <a:latin typeface="Arial"/>
              </a:rPr>
              <a:t>no usable expression</a:t>
            </a:r>
          </a:p>
        </p:txBody>
      </p:sp>
      <p:sp>
        <p:nvSpPr>
          <p:cNvPr id="14" name="Rounded Rectangle 13"/>
          <p:cNvSpPr/>
          <p:nvPr/>
        </p:nvSpPr>
        <p:spPr>
          <a:xfrm>
            <a:off x="3410712" y="1188720"/>
            <a:ext cx="2743200" cy="1847088"/>
          </a:xfrm>
          <a:prstGeom prst="roundRect">
            <a:avLst/>
          </a:prstGeom>
          <a:solidFill>
            <a:srgbClr val="FFFFFF"/>
          </a:solidFill>
          <a:ln w="1905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3410712" y="1188720"/>
            <a:ext cx="2743200" cy="10058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593592" y="1399032"/>
            <a:ext cx="2377440" cy="32918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700" b="1" i="0">
                <a:solidFill>
                  <a:srgbClr val="0F233D"/>
                </a:solidFill>
                <a:latin typeface="Arial"/>
              </a:rPr>
              <a:t>Replication</a:t>
            </a:r>
          </a:p>
        </p:txBody>
      </p:sp>
      <p:sp>
        <p:nvSpPr>
          <p:cNvPr id="17" name="TextBox 16"/>
          <p:cNvSpPr txBox="1"/>
          <p:nvPr/>
        </p:nvSpPr>
        <p:spPr>
          <a:xfrm>
            <a:off x="3593592" y="1847088"/>
            <a:ext cx="93268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0" b="1" i="0">
                <a:solidFill>
                  <a:srgbClr val="232A33"/>
                </a:solidFill>
                <a:latin typeface="Arial"/>
              </a:rPr>
              <a:t>STRONG</a:t>
            </a:r>
          </a:p>
        </p:txBody>
      </p:sp>
      <p:sp>
        <p:nvSpPr>
          <p:cNvPr id="18" name="TextBox 17"/>
          <p:cNvSpPr txBox="1"/>
          <p:nvPr/>
        </p:nvSpPr>
        <p:spPr>
          <a:xfrm>
            <a:off x="4599432" y="1828800"/>
            <a:ext cx="1371600" cy="265176"/>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19" b="0" i="0">
                <a:solidFill>
                  <a:srgbClr val="232A33"/>
                </a:solidFill>
                <a:latin typeface="Arial"/>
              </a:rPr>
              <a:t>independent mice per group</a:t>
            </a:r>
          </a:p>
        </p:txBody>
      </p:sp>
      <p:sp>
        <p:nvSpPr>
          <p:cNvPr id="19" name="TextBox 18"/>
          <p:cNvSpPr txBox="1"/>
          <p:nvPr/>
        </p:nvSpPr>
        <p:spPr>
          <a:xfrm>
            <a:off x="3593592" y="2203704"/>
            <a:ext cx="93268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0" b="1" i="0">
                <a:solidFill>
                  <a:srgbClr val="232A33"/>
                </a:solidFill>
                <a:latin typeface="Arial"/>
              </a:rPr>
              <a:t>PARTIAL</a:t>
            </a:r>
          </a:p>
        </p:txBody>
      </p:sp>
      <p:sp>
        <p:nvSpPr>
          <p:cNvPr id="20" name="TextBox 19"/>
          <p:cNvSpPr txBox="1"/>
          <p:nvPr/>
        </p:nvSpPr>
        <p:spPr>
          <a:xfrm>
            <a:off x="4599432" y="2185416"/>
            <a:ext cx="1371600" cy="265176"/>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19" b="0" i="0">
                <a:solidFill>
                  <a:srgbClr val="232A33"/>
                </a:solidFill>
                <a:latin typeface="Arial"/>
              </a:rPr>
              <a:t>pooling or very small groups</a:t>
            </a:r>
          </a:p>
        </p:txBody>
      </p:sp>
      <p:sp>
        <p:nvSpPr>
          <p:cNvPr id="21" name="TextBox 20"/>
          <p:cNvSpPr txBox="1"/>
          <p:nvPr/>
        </p:nvSpPr>
        <p:spPr>
          <a:xfrm>
            <a:off x="3593592" y="2560320"/>
            <a:ext cx="93268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0" b="1" i="0">
                <a:solidFill>
                  <a:srgbClr val="232A33"/>
                </a:solidFill>
                <a:latin typeface="Arial"/>
              </a:rPr>
              <a:t>NOT MATCHED</a:t>
            </a:r>
          </a:p>
        </p:txBody>
      </p:sp>
      <p:sp>
        <p:nvSpPr>
          <p:cNvPr id="22" name="TextBox 21"/>
          <p:cNvSpPr txBox="1"/>
          <p:nvPr/>
        </p:nvSpPr>
        <p:spPr>
          <a:xfrm>
            <a:off x="4599432" y="2542032"/>
            <a:ext cx="1371600" cy="265176"/>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19" b="0" i="0">
                <a:solidFill>
                  <a:srgbClr val="232A33"/>
                </a:solidFill>
                <a:latin typeface="Arial"/>
              </a:rPr>
              <a:t>cells/wells only; no animal n</a:t>
            </a:r>
          </a:p>
        </p:txBody>
      </p:sp>
      <p:sp>
        <p:nvSpPr>
          <p:cNvPr id="23" name="Rounded Rectangle 22"/>
          <p:cNvSpPr/>
          <p:nvPr/>
        </p:nvSpPr>
        <p:spPr>
          <a:xfrm>
            <a:off x="6318504" y="1188720"/>
            <a:ext cx="2743200" cy="1847088"/>
          </a:xfrm>
          <a:prstGeom prst="roundRect">
            <a:avLst/>
          </a:prstGeom>
          <a:solidFill>
            <a:srgbClr val="FFFFFF"/>
          </a:solidFill>
          <a:ln w="19050">
            <a:solidFill>
              <a:srgbClr val="7E4C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6318504" y="1188720"/>
            <a:ext cx="2743200" cy="100584"/>
          </a:xfrm>
          <a:prstGeom prst="rect">
            <a:avLst/>
          </a:prstGeom>
          <a:solidFill>
            <a:srgbClr val="7E4C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501384" y="1399032"/>
            <a:ext cx="2377440" cy="32918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700" b="1" i="0">
                <a:solidFill>
                  <a:srgbClr val="0F233D"/>
                </a:solidFill>
                <a:latin typeface="Arial"/>
              </a:rPr>
              <a:t>Cell breadth</a:t>
            </a:r>
          </a:p>
        </p:txBody>
      </p:sp>
      <p:sp>
        <p:nvSpPr>
          <p:cNvPr id="26" name="TextBox 25"/>
          <p:cNvSpPr txBox="1"/>
          <p:nvPr/>
        </p:nvSpPr>
        <p:spPr>
          <a:xfrm>
            <a:off x="6501384" y="1847088"/>
            <a:ext cx="93268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0" b="1" i="0">
                <a:solidFill>
                  <a:srgbClr val="232A33"/>
                </a:solidFill>
                <a:latin typeface="Arial"/>
              </a:rPr>
              <a:t>STRONG</a:t>
            </a:r>
          </a:p>
        </p:txBody>
      </p:sp>
      <p:sp>
        <p:nvSpPr>
          <p:cNvPr id="27" name="TextBox 26"/>
          <p:cNvSpPr txBox="1"/>
          <p:nvPr/>
        </p:nvSpPr>
        <p:spPr>
          <a:xfrm>
            <a:off x="7507224" y="1828800"/>
            <a:ext cx="1371600" cy="265176"/>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19" b="0" i="0">
                <a:solidFill>
                  <a:srgbClr val="232A33"/>
                </a:solidFill>
                <a:latin typeface="Arial"/>
              </a:rPr>
              <a:t>neurons + glia + vascular</a:t>
            </a:r>
          </a:p>
        </p:txBody>
      </p:sp>
      <p:sp>
        <p:nvSpPr>
          <p:cNvPr id="28" name="TextBox 27"/>
          <p:cNvSpPr txBox="1"/>
          <p:nvPr/>
        </p:nvSpPr>
        <p:spPr>
          <a:xfrm>
            <a:off x="6501384" y="2203704"/>
            <a:ext cx="93268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0" b="1" i="0">
                <a:solidFill>
                  <a:srgbClr val="232A33"/>
                </a:solidFill>
                <a:latin typeface="Arial"/>
              </a:rPr>
              <a:t>PARTIAL</a:t>
            </a:r>
          </a:p>
        </p:txBody>
      </p:sp>
      <p:sp>
        <p:nvSpPr>
          <p:cNvPr id="29" name="TextBox 28"/>
          <p:cNvSpPr txBox="1"/>
          <p:nvPr/>
        </p:nvSpPr>
        <p:spPr>
          <a:xfrm>
            <a:off x="7507224" y="2185416"/>
            <a:ext cx="1371600" cy="265176"/>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19" b="0" i="0">
                <a:solidFill>
                  <a:srgbClr val="232A33"/>
                </a:solidFill>
                <a:latin typeface="Arial"/>
              </a:rPr>
              <a:t>immune/glia enriched</a:t>
            </a:r>
          </a:p>
        </p:txBody>
      </p:sp>
      <p:sp>
        <p:nvSpPr>
          <p:cNvPr id="30" name="TextBox 29"/>
          <p:cNvSpPr txBox="1"/>
          <p:nvPr/>
        </p:nvSpPr>
        <p:spPr>
          <a:xfrm>
            <a:off x="6501384" y="2560320"/>
            <a:ext cx="93268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0" b="1" i="0">
                <a:solidFill>
                  <a:srgbClr val="232A33"/>
                </a:solidFill>
                <a:latin typeface="Arial"/>
              </a:rPr>
              <a:t>NOT MATCHED</a:t>
            </a:r>
          </a:p>
        </p:txBody>
      </p:sp>
      <p:sp>
        <p:nvSpPr>
          <p:cNvPr id="31" name="TextBox 30"/>
          <p:cNvSpPr txBox="1"/>
          <p:nvPr/>
        </p:nvSpPr>
        <p:spPr>
          <a:xfrm>
            <a:off x="7507224" y="2542032"/>
            <a:ext cx="1371600" cy="265176"/>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19" b="0" i="0">
                <a:solidFill>
                  <a:srgbClr val="232A33"/>
                </a:solidFill>
                <a:latin typeface="Arial"/>
              </a:rPr>
              <a:t>one sorted cell type</a:t>
            </a:r>
          </a:p>
        </p:txBody>
      </p:sp>
      <p:sp>
        <p:nvSpPr>
          <p:cNvPr id="32" name="Rounded Rectangle 31"/>
          <p:cNvSpPr/>
          <p:nvPr/>
        </p:nvSpPr>
        <p:spPr>
          <a:xfrm>
            <a:off x="9226296" y="1188720"/>
            <a:ext cx="2743200" cy="1847088"/>
          </a:xfrm>
          <a:prstGeom prst="roundRect">
            <a:avLst/>
          </a:prstGeom>
          <a:solidFill>
            <a:srgbClr val="FFFFFF"/>
          </a:solidFill>
          <a:ln w="1905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9226296" y="1188720"/>
            <a:ext cx="2743200" cy="100584"/>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9409176" y="1399032"/>
            <a:ext cx="2377440" cy="329184"/>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700" b="1" i="0">
                <a:solidFill>
                  <a:srgbClr val="0F233D"/>
                </a:solidFill>
                <a:latin typeface="Arial"/>
              </a:rPr>
              <a:t>Public usability</a:t>
            </a:r>
          </a:p>
        </p:txBody>
      </p:sp>
      <p:sp>
        <p:nvSpPr>
          <p:cNvPr id="35" name="TextBox 34"/>
          <p:cNvSpPr txBox="1"/>
          <p:nvPr/>
        </p:nvSpPr>
        <p:spPr>
          <a:xfrm>
            <a:off x="9409176" y="1847088"/>
            <a:ext cx="93268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0" b="1" i="0">
                <a:solidFill>
                  <a:srgbClr val="232A33"/>
                </a:solidFill>
                <a:latin typeface="Arial"/>
              </a:rPr>
              <a:t>STRONG</a:t>
            </a:r>
          </a:p>
        </p:txBody>
      </p:sp>
      <p:sp>
        <p:nvSpPr>
          <p:cNvPr id="36" name="TextBox 35"/>
          <p:cNvSpPr txBox="1"/>
          <p:nvPr/>
        </p:nvSpPr>
        <p:spPr>
          <a:xfrm>
            <a:off x="10415016" y="1828800"/>
            <a:ext cx="1371600" cy="265176"/>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19" b="0" i="0">
                <a:solidFill>
                  <a:srgbClr val="232A33"/>
                </a:solidFill>
                <a:latin typeface="Arial"/>
              </a:rPr>
              <a:t>counts + animal metadata</a:t>
            </a:r>
          </a:p>
        </p:txBody>
      </p:sp>
      <p:sp>
        <p:nvSpPr>
          <p:cNvPr id="37" name="TextBox 36"/>
          <p:cNvSpPr txBox="1"/>
          <p:nvPr/>
        </p:nvSpPr>
        <p:spPr>
          <a:xfrm>
            <a:off x="9409176" y="2203704"/>
            <a:ext cx="93268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0" b="1" i="0">
                <a:solidFill>
                  <a:srgbClr val="232A33"/>
                </a:solidFill>
                <a:latin typeface="Arial"/>
              </a:rPr>
              <a:t>PARTIAL</a:t>
            </a:r>
          </a:p>
        </p:txBody>
      </p:sp>
      <p:sp>
        <p:nvSpPr>
          <p:cNvPr id="38" name="TextBox 37"/>
          <p:cNvSpPr txBox="1"/>
          <p:nvPr/>
        </p:nvSpPr>
        <p:spPr>
          <a:xfrm>
            <a:off x="10415016" y="2185416"/>
            <a:ext cx="1371600" cy="265176"/>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19" b="0" i="0">
                <a:solidFill>
                  <a:srgbClr val="232A33"/>
                </a:solidFill>
                <a:latin typeface="Arial"/>
              </a:rPr>
              <a:t>metadata reconstruction needed</a:t>
            </a:r>
          </a:p>
        </p:txBody>
      </p:sp>
      <p:sp>
        <p:nvSpPr>
          <p:cNvPr id="39" name="TextBox 38"/>
          <p:cNvSpPr txBox="1"/>
          <p:nvPr/>
        </p:nvSpPr>
        <p:spPr>
          <a:xfrm>
            <a:off x="9409176" y="2560320"/>
            <a:ext cx="93268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0" b="1" i="0">
                <a:solidFill>
                  <a:srgbClr val="232A33"/>
                </a:solidFill>
                <a:latin typeface="Arial"/>
              </a:rPr>
              <a:t>NOT MATCHED</a:t>
            </a:r>
          </a:p>
        </p:txBody>
      </p:sp>
      <p:sp>
        <p:nvSpPr>
          <p:cNvPr id="40" name="TextBox 39"/>
          <p:cNvSpPr txBox="1"/>
          <p:nvPr/>
        </p:nvSpPr>
        <p:spPr>
          <a:xfrm>
            <a:off x="10415016" y="2542032"/>
            <a:ext cx="1371600" cy="265176"/>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19" b="0" i="0">
                <a:solidFill>
                  <a:srgbClr val="232A33"/>
                </a:solidFill>
                <a:latin typeface="Arial"/>
              </a:rPr>
              <a:t>key identities unavailable</a:t>
            </a:r>
          </a:p>
        </p:txBody>
      </p:sp>
      <p:sp>
        <p:nvSpPr>
          <p:cNvPr id="41" name="Rounded Rectangle 40"/>
          <p:cNvSpPr/>
          <p:nvPr/>
        </p:nvSpPr>
        <p:spPr>
          <a:xfrm>
            <a:off x="594360" y="3364992"/>
            <a:ext cx="5413248" cy="1508760"/>
          </a:xfrm>
          <a:prstGeom prst="roundRect">
            <a:avLst/>
          </a:prstGeom>
          <a:solidFill>
            <a:srgbClr val="E0EFF8"/>
          </a:solidFill>
          <a:ln w="1524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777240" y="3502152"/>
            <a:ext cx="5047488" cy="18288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69" b="1" i="0">
                <a:solidFill>
                  <a:srgbClr val="0072B2"/>
                </a:solidFill>
                <a:latin typeface="Arial"/>
              </a:rPr>
              <a:t>BIOLOGICAL REPLICATE</a:t>
            </a:r>
          </a:p>
        </p:txBody>
      </p:sp>
      <p:sp>
        <p:nvSpPr>
          <p:cNvPr id="43" name="TextBox 42"/>
          <p:cNvSpPr txBox="1"/>
          <p:nvPr/>
        </p:nvSpPr>
        <p:spPr>
          <a:xfrm>
            <a:off x="777240" y="3758184"/>
            <a:ext cx="5047488" cy="1005839"/>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700" b="0" i="0">
                <a:solidFill>
                  <a:srgbClr val="0F233D"/>
                </a:solidFill>
                <a:latin typeface="Arial"/>
              </a:rPr>
              <a:t>3 mice × 5,000 cells/mouse
Inferential n = 3 mice—not 15,000 cells</a:t>
            </a:r>
          </a:p>
        </p:txBody>
      </p:sp>
      <p:sp>
        <p:nvSpPr>
          <p:cNvPr id="44" name="Rounded Rectangle 43"/>
          <p:cNvSpPr/>
          <p:nvPr/>
        </p:nvSpPr>
        <p:spPr>
          <a:xfrm>
            <a:off x="6190488" y="3364992"/>
            <a:ext cx="5413248" cy="1508760"/>
          </a:xfrm>
          <a:prstGeom prst="roundRect">
            <a:avLst/>
          </a:prstGeom>
          <a:solidFill>
            <a:srgbClr val="FDEBE4"/>
          </a:solidFill>
          <a:ln w="15240">
            <a:solidFill>
              <a:srgbClr val="D55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6373368" y="3502152"/>
            <a:ext cx="5047488" cy="18288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69" b="1" i="0">
                <a:solidFill>
                  <a:srgbClr val="D55E00"/>
                </a:solidFill>
                <a:latin typeface="Arial"/>
              </a:rPr>
              <a:t>TWO NON-NEGOTIABLE RULES</a:t>
            </a:r>
          </a:p>
        </p:txBody>
      </p:sp>
      <p:sp>
        <p:nvSpPr>
          <p:cNvPr id="46" name="TextBox 45"/>
          <p:cNvSpPr txBox="1"/>
          <p:nvPr/>
        </p:nvSpPr>
        <p:spPr>
          <a:xfrm>
            <a:off x="6373368" y="3758184"/>
            <a:ext cx="5047488" cy="1005839"/>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520" b="0" i="0" dirty="0">
                <a:solidFill>
                  <a:srgbClr val="0F233D"/>
                </a:solidFill>
                <a:latin typeface="Arial"/>
              </a:rPr>
              <a:t>Pooling mice creates one pooled profile.
Batch correction cannot convert hippocampus into PFC.</a:t>
            </a:r>
          </a:p>
        </p:txBody>
      </p:sp>
      <p:sp>
        <p:nvSpPr>
          <p:cNvPr id="47" name="takeaway_ribbon"/>
          <p:cNvSpPr/>
          <p:nvPr/>
        </p:nvSpPr>
        <p:spPr>
          <a:xfrm>
            <a:off x="502920" y="5358384"/>
            <a:ext cx="11183112" cy="512064"/>
          </a:xfrm>
          <a:prstGeom prst="rect">
            <a:avLst/>
          </a:prstGeom>
          <a:solidFill>
            <a:srgbClr val="0F2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502920" y="5358384"/>
            <a:ext cx="91440" cy="5120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749808" y="5431536"/>
            <a:ext cx="10652760" cy="329184"/>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200" b="1" i="0">
                <a:solidFill>
                  <a:srgbClr val="FFFFFF"/>
                </a:solidFill>
                <a:latin typeface="Arial"/>
              </a:rPr>
              <a:t>The eight states are not summed into a score: one critical mismatch can still invalidate a specific claim.</a:t>
            </a:r>
          </a:p>
        </p:txBody>
      </p:sp>
      <p:sp>
        <p:nvSpPr>
          <p:cNvPr id="50" name="source_line"/>
          <p:cNvSpPr txBox="1"/>
          <p:nvPr/>
        </p:nvSpPr>
        <p:spPr>
          <a:xfrm>
            <a:off x="502920" y="6620256"/>
            <a:ext cx="11155680" cy="12801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670" b="0" i="0">
                <a:solidFill>
                  <a:srgbClr val="606C7B"/>
                </a:solidFill>
                <a:latin typeface="Arial"/>
              </a:rPr>
              <a:t>Source: docs/validation_mouse/mouse_dataset_comparison.md, §§2–3; biological replicate rule.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146304"/>
            <a:ext cx="5577840"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19" b="1" i="0">
                <a:solidFill>
                  <a:srgbClr val="009E73"/>
                </a:solidFill>
                <a:latin typeface="Arial"/>
              </a:rPr>
              <a:t>DATASET PROFILE • DISEASE DIRECTION</a:t>
            </a:r>
          </a:p>
        </p:txBody>
      </p:sp>
      <p:sp>
        <p:nvSpPr>
          <p:cNvPr id="3" name="slide_title"/>
          <p:cNvSpPr txBox="1"/>
          <p:nvPr/>
        </p:nvSpPr>
        <p:spPr>
          <a:xfrm>
            <a:off x="502920" y="356616"/>
            <a:ext cx="11018520" cy="713232"/>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2100" b="1" i="0">
                <a:solidFill>
                  <a:srgbClr val="0F233D"/>
                </a:solidFill>
                <a:latin typeface="Arial"/>
              </a:rPr>
              <a:t>GSE143758 supports hippocampal and astrocyte disease biology, not broad PFC validation</a:t>
            </a:r>
          </a:p>
        </p:txBody>
      </p:sp>
      <p:sp>
        <p:nvSpPr>
          <p:cNvPr id="4" name="TextBox 3"/>
          <p:cNvSpPr txBox="1"/>
          <p:nvPr/>
        </p:nvSpPr>
        <p:spPr>
          <a:xfrm>
            <a:off x="11402568" y="155448"/>
            <a:ext cx="274320" cy="164592"/>
          </a:xfrm>
          <a:prstGeom prst="rect">
            <a:avLst/>
          </a:prstGeom>
          <a:noFill/>
        </p:spPr>
        <p:txBody>
          <a:bodyPr wrap="square" lIns="27432" tIns="27432" rIns="27432" bIns="27432" anchor="t">
            <a:spAutoFit/>
          </a:bodyPr>
          <a:lstStyle/>
          <a:p>
            <a:pPr algn="r">
              <a:lnSpc>
                <a:spcPct val="100000"/>
              </a:lnSpc>
              <a:spcBef>
                <a:spcPts val="0"/>
              </a:spcBef>
              <a:spcAft>
                <a:spcPts val="0"/>
              </a:spcAft>
            </a:pPr>
            <a:r>
              <a:rPr sz="880" b="1" i="0">
                <a:solidFill>
                  <a:srgbClr val="606C7B"/>
                </a:solidFill>
                <a:latin typeface="Arial"/>
              </a:rPr>
              <a:t>08</a:t>
            </a:r>
          </a:p>
        </p:txBody>
      </p:sp>
      <p:sp>
        <p:nvSpPr>
          <p:cNvPr id="5" name="criterion_card_1_Region"/>
          <p:cNvSpPr/>
          <p:nvPr/>
        </p:nvSpPr>
        <p:spPr>
          <a:xfrm>
            <a:off x="502920" y="1225296"/>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02920" y="1225296"/>
            <a:ext cx="73152" cy="85039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67512" y="1316736"/>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Region</a:t>
            </a:r>
          </a:p>
        </p:txBody>
      </p:sp>
      <p:sp>
        <p:nvSpPr>
          <p:cNvPr id="8" name="criterion_state_1"/>
          <p:cNvSpPr/>
          <p:nvPr/>
        </p:nvSpPr>
        <p:spPr>
          <a:xfrm>
            <a:off x="649224" y="1591056"/>
            <a:ext cx="987552" cy="265176"/>
          </a:xfrm>
          <a:prstGeom prst="roundRect">
            <a:avLst/>
          </a:prstGeom>
          <a:solidFill>
            <a:srgbClr val="FFF4D8"/>
          </a:solidFill>
          <a:ln w="1016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76656" y="1618488"/>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PARTIAL</a:t>
            </a:r>
          </a:p>
        </p:txBody>
      </p:sp>
      <p:sp>
        <p:nvSpPr>
          <p:cNvPr id="10" name="TextBox 9"/>
          <p:cNvSpPr txBox="1"/>
          <p:nvPr/>
        </p:nvSpPr>
        <p:spPr>
          <a:xfrm>
            <a:off x="1764792" y="1353312"/>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Cortex data exist, but the broad atlas is hippocampal.</a:t>
            </a:r>
          </a:p>
        </p:txBody>
      </p:sp>
      <p:sp>
        <p:nvSpPr>
          <p:cNvPr id="11" name="criterion_card_2_APOE"/>
          <p:cNvSpPr/>
          <p:nvPr/>
        </p:nvSpPr>
        <p:spPr>
          <a:xfrm>
            <a:off x="502920" y="2212848"/>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502920" y="2212848"/>
            <a:ext cx="73152" cy="850392"/>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67512" y="2304288"/>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APOE</a:t>
            </a:r>
          </a:p>
        </p:txBody>
      </p:sp>
      <p:sp>
        <p:nvSpPr>
          <p:cNvPr id="14" name="criterion_state_2"/>
          <p:cNvSpPr/>
          <p:nvPr/>
        </p:nvSpPr>
        <p:spPr>
          <a:xfrm>
            <a:off x="649224" y="2578608"/>
            <a:ext cx="987552" cy="265176"/>
          </a:xfrm>
          <a:prstGeom prst="roundRect">
            <a:avLst/>
          </a:prstGeom>
          <a:solidFill>
            <a:srgbClr val="FDEBE4"/>
          </a:solidFill>
          <a:ln w="10160">
            <a:solidFill>
              <a:srgbClr val="D55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76656" y="2606040"/>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740" b="1" i="0">
                <a:solidFill>
                  <a:srgbClr val="232A33"/>
                </a:solidFill>
                <a:latin typeface="Arial"/>
              </a:rPr>
              <a:t>NOT MATCHED</a:t>
            </a:r>
          </a:p>
        </p:txBody>
      </p:sp>
      <p:sp>
        <p:nvSpPr>
          <p:cNvPr id="16" name="TextBox 15"/>
          <p:cNvSpPr txBox="1"/>
          <p:nvPr/>
        </p:nvSpPr>
        <p:spPr>
          <a:xfrm>
            <a:off x="1764792" y="2340864"/>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No human APOE isoform factor.</a:t>
            </a:r>
          </a:p>
        </p:txBody>
      </p:sp>
      <p:sp>
        <p:nvSpPr>
          <p:cNvPr id="17" name="criterion_card_3_Sex"/>
          <p:cNvSpPr/>
          <p:nvPr/>
        </p:nvSpPr>
        <p:spPr>
          <a:xfrm>
            <a:off x="502920" y="3200400"/>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502920" y="3200400"/>
            <a:ext cx="73152" cy="85039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67512" y="3291840"/>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Sex</a:t>
            </a:r>
          </a:p>
        </p:txBody>
      </p:sp>
      <p:sp>
        <p:nvSpPr>
          <p:cNvPr id="20" name="criterion_state_3"/>
          <p:cNvSpPr/>
          <p:nvPr/>
        </p:nvSpPr>
        <p:spPr>
          <a:xfrm>
            <a:off x="649224" y="3566160"/>
            <a:ext cx="987552" cy="265176"/>
          </a:xfrm>
          <a:prstGeom prst="roundRect">
            <a:avLst/>
          </a:prstGeom>
          <a:solidFill>
            <a:srgbClr val="FFF4D8"/>
          </a:solidFill>
          <a:ln w="1016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76656" y="3593592"/>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PARTIAL</a:t>
            </a:r>
          </a:p>
        </p:txBody>
      </p:sp>
      <p:sp>
        <p:nvSpPr>
          <p:cNvPr id="22" name="TextBox 21"/>
          <p:cNvSpPr txBox="1"/>
          <p:nvPr/>
        </p:nvSpPr>
        <p:spPr>
          <a:xfrm>
            <a:off x="1764792" y="3328416"/>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Main atlas is male; only two females total, one/genotype.</a:t>
            </a:r>
          </a:p>
        </p:txBody>
      </p:sp>
      <p:sp>
        <p:nvSpPr>
          <p:cNvPr id="23" name="criterion_card_4_Disease"/>
          <p:cNvSpPr/>
          <p:nvPr/>
        </p:nvSpPr>
        <p:spPr>
          <a:xfrm>
            <a:off x="502920" y="4187952"/>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502920" y="4187952"/>
            <a:ext cx="73152" cy="850392"/>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67512" y="4279392"/>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Disease</a:t>
            </a:r>
          </a:p>
        </p:txBody>
      </p:sp>
      <p:sp>
        <p:nvSpPr>
          <p:cNvPr id="26" name="criterion_state_4"/>
          <p:cNvSpPr/>
          <p:nvPr/>
        </p:nvSpPr>
        <p:spPr>
          <a:xfrm>
            <a:off x="649224" y="4553712"/>
            <a:ext cx="987552" cy="265176"/>
          </a:xfrm>
          <a:prstGeom prst="roundRect">
            <a:avLst/>
          </a:prstGeom>
          <a:solidFill>
            <a:srgbClr val="E0F4EE"/>
          </a:solidFill>
          <a:ln w="1016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76656" y="4581144"/>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STRONG</a:t>
            </a:r>
          </a:p>
        </p:txBody>
      </p:sp>
      <p:sp>
        <p:nvSpPr>
          <p:cNvPr id="28" name="TextBox 27"/>
          <p:cNvSpPr txBox="1"/>
          <p:nvPr/>
        </p:nvSpPr>
        <p:spPr>
          <a:xfrm>
            <a:off x="1764792" y="4315968"/>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5xFAD versus WT disease contrast.</a:t>
            </a:r>
          </a:p>
        </p:txBody>
      </p:sp>
      <p:sp>
        <p:nvSpPr>
          <p:cNvPr id="29" name="criterion_card_5_Modality"/>
          <p:cNvSpPr/>
          <p:nvPr/>
        </p:nvSpPr>
        <p:spPr>
          <a:xfrm>
            <a:off x="4279392" y="1225296"/>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4279392" y="1225296"/>
            <a:ext cx="73152" cy="850392"/>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443983" y="1316736"/>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Modality</a:t>
            </a:r>
          </a:p>
        </p:txBody>
      </p:sp>
      <p:sp>
        <p:nvSpPr>
          <p:cNvPr id="32" name="criterion_state_5"/>
          <p:cNvSpPr/>
          <p:nvPr/>
        </p:nvSpPr>
        <p:spPr>
          <a:xfrm>
            <a:off x="4425696" y="1591056"/>
            <a:ext cx="987552" cy="265176"/>
          </a:xfrm>
          <a:prstGeom prst="roundRect">
            <a:avLst/>
          </a:prstGeom>
          <a:solidFill>
            <a:srgbClr val="E0F4EE"/>
          </a:solidFill>
          <a:ln w="1016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4453128" y="1618488"/>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STRONG</a:t>
            </a:r>
          </a:p>
        </p:txBody>
      </p:sp>
      <p:sp>
        <p:nvSpPr>
          <p:cNvPr id="34" name="TextBox 33"/>
          <p:cNvSpPr txBox="1"/>
          <p:nvPr/>
        </p:nvSpPr>
        <p:spPr>
          <a:xfrm>
            <a:off x="5541264" y="1353312"/>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snRNA-seq; mouse-level main atlas.</a:t>
            </a:r>
          </a:p>
        </p:txBody>
      </p:sp>
      <p:sp>
        <p:nvSpPr>
          <p:cNvPr id="35" name="criterion_card_6_Replication"/>
          <p:cNvSpPr/>
          <p:nvPr/>
        </p:nvSpPr>
        <p:spPr>
          <a:xfrm>
            <a:off x="4279392" y="2212848"/>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4279392" y="2212848"/>
            <a:ext cx="73152" cy="85039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4443983" y="2304288"/>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Replication</a:t>
            </a:r>
          </a:p>
        </p:txBody>
      </p:sp>
      <p:sp>
        <p:nvSpPr>
          <p:cNvPr id="38" name="criterion_state_6"/>
          <p:cNvSpPr/>
          <p:nvPr/>
        </p:nvSpPr>
        <p:spPr>
          <a:xfrm>
            <a:off x="4425696" y="2578608"/>
            <a:ext cx="987552" cy="265176"/>
          </a:xfrm>
          <a:prstGeom prst="roundRect">
            <a:avLst/>
          </a:prstGeom>
          <a:solidFill>
            <a:srgbClr val="FFF4D8"/>
          </a:solidFill>
          <a:ln w="1016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4453128" y="2606040"/>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PARTIAL</a:t>
            </a:r>
          </a:p>
        </p:txBody>
      </p:sp>
      <p:sp>
        <p:nvSpPr>
          <p:cNvPr id="40" name="TextBox 39"/>
          <p:cNvSpPr txBox="1"/>
          <p:nvPr/>
        </p:nvSpPr>
        <p:spPr>
          <a:xfrm>
            <a:off x="5541264" y="2340864"/>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Main n=4+4; cortex has n=1 per age×genotype group.</a:t>
            </a:r>
          </a:p>
        </p:txBody>
      </p:sp>
      <p:sp>
        <p:nvSpPr>
          <p:cNvPr id="41" name="criterion_card_7_Cell breadth"/>
          <p:cNvSpPr/>
          <p:nvPr/>
        </p:nvSpPr>
        <p:spPr>
          <a:xfrm>
            <a:off x="4279392" y="3200400"/>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4279392" y="3200400"/>
            <a:ext cx="73152" cy="85039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4443983" y="3291840"/>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Cell breadth</a:t>
            </a:r>
          </a:p>
        </p:txBody>
      </p:sp>
      <p:sp>
        <p:nvSpPr>
          <p:cNvPr id="44" name="criterion_state_7"/>
          <p:cNvSpPr/>
          <p:nvPr/>
        </p:nvSpPr>
        <p:spPr>
          <a:xfrm>
            <a:off x="4425696" y="3566160"/>
            <a:ext cx="987552" cy="265176"/>
          </a:xfrm>
          <a:prstGeom prst="roundRect">
            <a:avLst/>
          </a:prstGeom>
          <a:solidFill>
            <a:srgbClr val="FFF4D8"/>
          </a:solidFill>
          <a:ln w="1016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4453128" y="3593592"/>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PARTIAL</a:t>
            </a:r>
          </a:p>
        </p:txBody>
      </p:sp>
      <p:sp>
        <p:nvSpPr>
          <p:cNvPr id="46" name="TextBox 45"/>
          <p:cNvSpPr txBox="1"/>
          <p:nvPr/>
        </p:nvSpPr>
        <p:spPr>
          <a:xfrm>
            <a:off x="5541264" y="3328416"/>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Main atlas broad; cortex matrix is astrocyte-focused.</a:t>
            </a:r>
          </a:p>
        </p:txBody>
      </p:sp>
      <p:sp>
        <p:nvSpPr>
          <p:cNvPr id="47" name="criterion_card_8_Public usability"/>
          <p:cNvSpPr/>
          <p:nvPr/>
        </p:nvSpPr>
        <p:spPr>
          <a:xfrm>
            <a:off x="4279392" y="4187952"/>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4279392" y="4187952"/>
            <a:ext cx="73152" cy="85039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4443983" y="4279392"/>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69" b="1" i="0">
                <a:solidFill>
                  <a:srgbClr val="0F233D"/>
                </a:solidFill>
                <a:latin typeface="Arial"/>
              </a:rPr>
              <a:t>Public usability</a:t>
            </a:r>
          </a:p>
        </p:txBody>
      </p:sp>
      <p:sp>
        <p:nvSpPr>
          <p:cNvPr id="50" name="criterion_state_8"/>
          <p:cNvSpPr/>
          <p:nvPr/>
        </p:nvSpPr>
        <p:spPr>
          <a:xfrm>
            <a:off x="4425696" y="4553712"/>
            <a:ext cx="987552" cy="265176"/>
          </a:xfrm>
          <a:prstGeom prst="roundRect">
            <a:avLst/>
          </a:prstGeom>
          <a:solidFill>
            <a:srgbClr val="FFF4D8"/>
          </a:solidFill>
          <a:ln w="1016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4453128" y="4581144"/>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PARTIAL</a:t>
            </a:r>
          </a:p>
        </p:txBody>
      </p:sp>
      <p:sp>
        <p:nvSpPr>
          <p:cNvPr id="52" name="TextBox 51"/>
          <p:cNvSpPr txBox="1"/>
          <p:nvPr/>
        </p:nvSpPr>
        <p:spPr>
          <a:xfrm>
            <a:off x="5541264" y="4315968"/>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Thirty-seven records mix components; IDs need care.</a:t>
            </a:r>
          </a:p>
        </p:txBody>
      </p:sp>
      <p:sp>
        <p:nvSpPr>
          <p:cNvPr id="53" name="Rounded Rectangle 52"/>
          <p:cNvSpPr/>
          <p:nvPr/>
        </p:nvSpPr>
        <p:spPr>
          <a:xfrm>
            <a:off x="8147304" y="1207008"/>
            <a:ext cx="3538728" cy="438912"/>
          </a:xfrm>
          <a:prstGeom prst="roundRect">
            <a:avLst/>
          </a:prstGeom>
          <a:solidFill>
            <a:srgbClr val="E0F4EE"/>
          </a:solidFill>
          <a:ln w="1524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8321040" y="1298448"/>
            <a:ext cx="3191256" cy="21945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030" b="1" i="0">
                <a:solidFill>
                  <a:srgbClr val="009E73"/>
                </a:solidFill>
                <a:latin typeface="Arial"/>
              </a:rPr>
              <a:t>DISEASE DIRECTION</a:t>
            </a:r>
          </a:p>
        </p:txBody>
      </p:sp>
      <p:sp>
        <p:nvSpPr>
          <p:cNvPr id="55" name="Rounded Rectangle 54"/>
          <p:cNvSpPr/>
          <p:nvPr/>
        </p:nvSpPr>
        <p:spPr>
          <a:xfrm>
            <a:off x="8147304" y="1773936"/>
            <a:ext cx="3538728" cy="932688"/>
          </a:xfrm>
          <a:prstGeom prst="roundRect">
            <a:avLst/>
          </a:prstGeom>
          <a:solidFill>
            <a:srgbClr val="E0F4EE"/>
          </a:solidFill>
          <a:ln w="1524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8330183" y="1911095"/>
            <a:ext cx="3172968" cy="18288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69" b="1" i="0">
                <a:solidFill>
                  <a:srgbClr val="009E73"/>
                </a:solidFill>
                <a:latin typeface="Arial"/>
              </a:rPr>
              <a:t>STUDY SNAPSHOT</a:t>
            </a:r>
          </a:p>
        </p:txBody>
      </p:sp>
      <p:sp>
        <p:nvSpPr>
          <p:cNvPr id="57" name="TextBox 56"/>
          <p:cNvSpPr txBox="1"/>
          <p:nvPr/>
        </p:nvSpPr>
        <p:spPr>
          <a:xfrm>
            <a:off x="8330183" y="2167128"/>
            <a:ext cx="3172968" cy="42976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140" b="1" i="0">
                <a:solidFill>
                  <a:srgbClr val="0F233D"/>
                </a:solidFill>
                <a:latin typeface="Arial"/>
              </a:rPr>
              <a:t>Main: hippocampus, 4 WT+4 5xFAD • Cortical subset: 1+1 per age</a:t>
            </a:r>
          </a:p>
        </p:txBody>
      </p:sp>
      <p:sp>
        <p:nvSpPr>
          <p:cNvPr id="58" name="Rounded Rectangle 57"/>
          <p:cNvSpPr/>
          <p:nvPr/>
        </p:nvSpPr>
        <p:spPr>
          <a:xfrm>
            <a:off x="8147304" y="2834640"/>
            <a:ext cx="3538728" cy="1243584"/>
          </a:xfrm>
          <a:prstGeom prst="roundRect">
            <a:avLst/>
          </a:prstGeom>
          <a:solidFill>
            <a:srgbClr val="E0F4EE"/>
          </a:solidFill>
          <a:ln w="1524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8330183" y="2971800"/>
            <a:ext cx="3172968" cy="18288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69" b="1" i="0">
                <a:solidFill>
                  <a:srgbClr val="009E73"/>
                </a:solidFill>
                <a:latin typeface="Arial"/>
              </a:rPr>
              <a:t>BEST USE</a:t>
            </a:r>
          </a:p>
        </p:txBody>
      </p:sp>
      <p:sp>
        <p:nvSpPr>
          <p:cNvPr id="60" name="TextBox 59"/>
          <p:cNvSpPr txBox="1"/>
          <p:nvPr/>
        </p:nvSpPr>
        <p:spPr>
          <a:xfrm>
            <a:off x="8330183" y="3227832"/>
            <a:ext cx="3172968" cy="74066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200" b="0" i="0">
                <a:solidFill>
                  <a:srgbClr val="0F233D"/>
                </a:solidFill>
                <a:latin typeface="Arial"/>
              </a:rPr>
              <a:t>Support hippocampal astrocyte, aging, and descriptive cross-region pathways.</a:t>
            </a:r>
          </a:p>
        </p:txBody>
      </p:sp>
      <p:sp>
        <p:nvSpPr>
          <p:cNvPr id="61" name="Rounded Rectangle 60"/>
          <p:cNvSpPr/>
          <p:nvPr/>
        </p:nvSpPr>
        <p:spPr>
          <a:xfrm>
            <a:off x="8147304" y="4206240"/>
            <a:ext cx="3538728" cy="1243584"/>
          </a:xfrm>
          <a:prstGeom prst="roundRect">
            <a:avLst/>
          </a:prstGeom>
          <a:solidFill>
            <a:srgbClr val="FDEBE4"/>
          </a:solidFill>
          <a:ln w="15240">
            <a:solidFill>
              <a:srgbClr val="D55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8330183" y="4343400"/>
            <a:ext cx="3172968" cy="18288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69" b="1" i="0">
                <a:solidFill>
                  <a:srgbClr val="D55E00"/>
                </a:solidFill>
                <a:latin typeface="Arial"/>
              </a:rPr>
              <a:t>DO NOT CLAIM</a:t>
            </a:r>
          </a:p>
        </p:txBody>
      </p:sp>
      <p:sp>
        <p:nvSpPr>
          <p:cNvPr id="63" name="TextBox 62"/>
          <p:cNvSpPr txBox="1"/>
          <p:nvPr/>
        </p:nvSpPr>
        <p:spPr>
          <a:xfrm>
            <a:off x="8330183" y="4599431"/>
            <a:ext cx="3172968" cy="74066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170" b="0" i="0">
                <a:solidFill>
                  <a:srgbClr val="0F233D"/>
                </a:solidFill>
                <a:latin typeface="Arial"/>
              </a:rPr>
              <a:t>The cortical component is astrocyte-focused, with one record per age×genotype group; it is not a replicated broad-cell PFC cohort.</a:t>
            </a:r>
          </a:p>
        </p:txBody>
      </p:sp>
      <p:sp>
        <p:nvSpPr>
          <p:cNvPr id="64" name="takeaway_ribbon"/>
          <p:cNvSpPr/>
          <p:nvPr/>
        </p:nvSpPr>
        <p:spPr>
          <a:xfrm>
            <a:off x="502920" y="5815584"/>
            <a:ext cx="11183112" cy="512064"/>
          </a:xfrm>
          <a:prstGeom prst="rect">
            <a:avLst/>
          </a:prstGeom>
          <a:solidFill>
            <a:srgbClr val="0F2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Rectangle 64"/>
          <p:cNvSpPr/>
          <p:nvPr/>
        </p:nvSpPr>
        <p:spPr>
          <a:xfrm>
            <a:off x="502920" y="5815584"/>
            <a:ext cx="91440" cy="5120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749808" y="5888736"/>
            <a:ext cx="10652760" cy="329184"/>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200" b="1" i="0">
                <a:solidFill>
                  <a:srgbClr val="FFFFFF"/>
                </a:solidFill>
                <a:latin typeface="Arial"/>
              </a:rPr>
              <a:t>Cortical data exist, but use them only for descriptive astrocyte concordance—not replicated all-cell PFC validation.</a:t>
            </a:r>
          </a:p>
        </p:txBody>
      </p:sp>
      <p:sp>
        <p:nvSpPr>
          <p:cNvPr id="67" name="source_line"/>
          <p:cNvSpPr txBox="1"/>
          <p:nvPr/>
        </p:nvSpPr>
        <p:spPr>
          <a:xfrm>
            <a:off x="502920" y="6620256"/>
            <a:ext cx="11155680" cy="12801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670" b="0" i="0">
                <a:solidFill>
                  <a:srgbClr val="606C7B"/>
                </a:solidFill>
                <a:latin typeface="Arial"/>
              </a:rPr>
              <a:t>Source: mouse_dataset_comparison.md §6.6; GEO GSE143758; PMID 32341542. Suitability assessment, not new matrix analysis.</a:t>
            </a:r>
          </a:p>
        </p:txBody>
      </p:sp>
    </p:spTree>
    <p:extLst>
      <p:ext uri="{BB962C8B-B14F-4D97-AF65-F5344CB8AC3E}">
        <p14:creationId xmlns:p14="http://schemas.microsoft.com/office/powerpoint/2010/main" val="5094093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02920" y="146304"/>
            <a:ext cx="5577840"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19" b="1" i="0">
                <a:solidFill>
                  <a:srgbClr val="0072B2"/>
                </a:solidFill>
                <a:latin typeface="Arial"/>
              </a:rPr>
              <a:t>DATASET PROFILE • CORE ANCHOR</a:t>
            </a:r>
          </a:p>
        </p:txBody>
      </p:sp>
      <p:sp>
        <p:nvSpPr>
          <p:cNvPr id="3" name="slide_title"/>
          <p:cNvSpPr txBox="1"/>
          <p:nvPr/>
        </p:nvSpPr>
        <p:spPr>
          <a:xfrm>
            <a:off x="502920" y="356616"/>
            <a:ext cx="11018520" cy="713232"/>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820" b="1" i="0">
                <a:solidFill>
                  <a:srgbClr val="0F233D"/>
                </a:solidFill>
                <a:latin typeface="Arial"/>
              </a:rPr>
              <a:t>Among audited candidates, GSE185063 is the strongest broad cortical APOE anchor, but lacks disease and usable sex metadata</a:t>
            </a:r>
          </a:p>
        </p:txBody>
      </p:sp>
      <p:sp>
        <p:nvSpPr>
          <p:cNvPr id="4" name="TextBox 3"/>
          <p:cNvSpPr txBox="1"/>
          <p:nvPr/>
        </p:nvSpPr>
        <p:spPr>
          <a:xfrm>
            <a:off x="11402568" y="155448"/>
            <a:ext cx="274320" cy="164592"/>
          </a:xfrm>
          <a:prstGeom prst="rect">
            <a:avLst/>
          </a:prstGeom>
          <a:noFill/>
        </p:spPr>
        <p:txBody>
          <a:bodyPr wrap="square" lIns="27432" tIns="27432" rIns="27432" bIns="27432" anchor="t">
            <a:spAutoFit/>
          </a:bodyPr>
          <a:lstStyle/>
          <a:p>
            <a:pPr algn="r">
              <a:lnSpc>
                <a:spcPct val="100000"/>
              </a:lnSpc>
              <a:spcBef>
                <a:spcPts val="0"/>
              </a:spcBef>
              <a:spcAft>
                <a:spcPts val="0"/>
              </a:spcAft>
            </a:pPr>
            <a:r>
              <a:rPr sz="880" b="1" i="0">
                <a:solidFill>
                  <a:srgbClr val="606C7B"/>
                </a:solidFill>
                <a:latin typeface="Arial"/>
              </a:rPr>
              <a:t>03</a:t>
            </a:r>
          </a:p>
        </p:txBody>
      </p:sp>
      <p:sp>
        <p:nvSpPr>
          <p:cNvPr id="5" name="criterion_card_1_Region"/>
          <p:cNvSpPr/>
          <p:nvPr/>
        </p:nvSpPr>
        <p:spPr>
          <a:xfrm>
            <a:off x="502920" y="1225296"/>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02920" y="1225296"/>
            <a:ext cx="73152" cy="85039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67512" y="1316736"/>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Region</a:t>
            </a:r>
          </a:p>
        </p:txBody>
      </p:sp>
      <p:sp>
        <p:nvSpPr>
          <p:cNvPr id="8" name="criterion_state_1"/>
          <p:cNvSpPr/>
          <p:nvPr/>
        </p:nvSpPr>
        <p:spPr>
          <a:xfrm>
            <a:off x="649224" y="1591056"/>
            <a:ext cx="987552" cy="265176"/>
          </a:xfrm>
          <a:prstGeom prst="roundRect">
            <a:avLst/>
          </a:prstGeom>
          <a:solidFill>
            <a:srgbClr val="FFF4D8"/>
          </a:solidFill>
          <a:ln w="1016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76656" y="1618488"/>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PARTIAL</a:t>
            </a:r>
          </a:p>
        </p:txBody>
      </p:sp>
      <p:sp>
        <p:nvSpPr>
          <p:cNvPr id="10" name="TextBox 9"/>
          <p:cNvSpPr txBox="1"/>
          <p:nvPr/>
        </p:nvSpPr>
        <p:spPr>
          <a:xfrm>
            <a:off x="1764792" y="1353312"/>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Cortex/cortical mantle; not explicit PFC.</a:t>
            </a:r>
          </a:p>
        </p:txBody>
      </p:sp>
      <p:sp>
        <p:nvSpPr>
          <p:cNvPr id="11" name="criterion_card_2_APOE"/>
          <p:cNvSpPr/>
          <p:nvPr/>
        </p:nvSpPr>
        <p:spPr>
          <a:xfrm>
            <a:off x="502920" y="2212848"/>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502920" y="2212848"/>
            <a:ext cx="73152" cy="850392"/>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67512" y="2304288"/>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APOE</a:t>
            </a:r>
          </a:p>
        </p:txBody>
      </p:sp>
      <p:sp>
        <p:nvSpPr>
          <p:cNvPr id="14" name="criterion_state_2"/>
          <p:cNvSpPr/>
          <p:nvPr/>
        </p:nvSpPr>
        <p:spPr>
          <a:xfrm>
            <a:off x="649224" y="2578608"/>
            <a:ext cx="987552" cy="265176"/>
          </a:xfrm>
          <a:prstGeom prst="roundRect">
            <a:avLst/>
          </a:prstGeom>
          <a:solidFill>
            <a:srgbClr val="E0F4EE"/>
          </a:solidFill>
          <a:ln w="1016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76656" y="2606040"/>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STRONG</a:t>
            </a:r>
          </a:p>
        </p:txBody>
      </p:sp>
      <p:sp>
        <p:nvSpPr>
          <p:cNvPr id="16" name="TextBox 15"/>
          <p:cNvSpPr txBox="1"/>
          <p:nvPr/>
        </p:nvSpPr>
        <p:spPr>
          <a:xfrm>
            <a:off x="1764792" y="2534125"/>
            <a:ext cx="2176272" cy="216982"/>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dirty="0">
                <a:solidFill>
                  <a:srgbClr val="232A33"/>
                </a:solidFill>
                <a:latin typeface="Arial"/>
              </a:rPr>
              <a:t>Human APOE3 versus APOE4.</a:t>
            </a:r>
          </a:p>
        </p:txBody>
      </p:sp>
      <p:sp>
        <p:nvSpPr>
          <p:cNvPr id="17" name="criterion_card_3_Sex"/>
          <p:cNvSpPr/>
          <p:nvPr/>
        </p:nvSpPr>
        <p:spPr>
          <a:xfrm>
            <a:off x="502920" y="3200400"/>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502920" y="3200400"/>
            <a:ext cx="73152" cy="85039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67512" y="3291840"/>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Sex</a:t>
            </a:r>
          </a:p>
        </p:txBody>
      </p:sp>
      <p:sp>
        <p:nvSpPr>
          <p:cNvPr id="20" name="criterion_state_3"/>
          <p:cNvSpPr/>
          <p:nvPr/>
        </p:nvSpPr>
        <p:spPr>
          <a:xfrm>
            <a:off x="649224" y="3566160"/>
            <a:ext cx="987552" cy="265176"/>
          </a:xfrm>
          <a:prstGeom prst="roundRect">
            <a:avLst/>
          </a:prstGeom>
          <a:solidFill>
            <a:srgbClr val="FFF4D8"/>
          </a:solidFill>
          <a:ln w="1016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76656" y="3593592"/>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PARTIAL</a:t>
            </a:r>
          </a:p>
        </p:txBody>
      </p:sp>
      <p:sp>
        <p:nvSpPr>
          <p:cNvPr id="22" name="TextBox 21"/>
          <p:cNvSpPr txBox="1"/>
          <p:nvPr/>
        </p:nvSpPr>
        <p:spPr>
          <a:xfrm>
            <a:off x="1764792" y="3328416"/>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Study used both sexes; snRNA mouse map unresolved.</a:t>
            </a:r>
          </a:p>
        </p:txBody>
      </p:sp>
      <p:sp>
        <p:nvSpPr>
          <p:cNvPr id="23" name="criterion_card_4_Disease"/>
          <p:cNvSpPr/>
          <p:nvPr/>
        </p:nvSpPr>
        <p:spPr>
          <a:xfrm>
            <a:off x="502920" y="4187952"/>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502920" y="4187952"/>
            <a:ext cx="73152" cy="850392"/>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67512" y="4279392"/>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Disease</a:t>
            </a:r>
          </a:p>
        </p:txBody>
      </p:sp>
      <p:sp>
        <p:nvSpPr>
          <p:cNvPr id="26" name="criterion_state_4"/>
          <p:cNvSpPr/>
          <p:nvPr/>
        </p:nvSpPr>
        <p:spPr>
          <a:xfrm>
            <a:off x="649224" y="4553712"/>
            <a:ext cx="987552" cy="265176"/>
          </a:xfrm>
          <a:prstGeom prst="roundRect">
            <a:avLst/>
          </a:prstGeom>
          <a:solidFill>
            <a:srgbClr val="FDEBE4"/>
          </a:solidFill>
          <a:ln w="10160">
            <a:solidFill>
              <a:srgbClr val="D55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76656" y="4581144"/>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740" b="1" i="0">
                <a:solidFill>
                  <a:srgbClr val="232A33"/>
                </a:solidFill>
                <a:latin typeface="Arial"/>
              </a:rPr>
              <a:t>NOT MATCHED</a:t>
            </a:r>
          </a:p>
        </p:txBody>
      </p:sp>
      <p:sp>
        <p:nvSpPr>
          <p:cNvPr id="28" name="TextBox 27"/>
          <p:cNvSpPr txBox="1"/>
          <p:nvPr/>
        </p:nvSpPr>
        <p:spPr>
          <a:xfrm>
            <a:off x="1764792" y="4315968"/>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No AD model or matched disease contrast.</a:t>
            </a:r>
          </a:p>
        </p:txBody>
      </p:sp>
      <p:sp>
        <p:nvSpPr>
          <p:cNvPr id="29" name="criterion_card_5_Modality"/>
          <p:cNvSpPr/>
          <p:nvPr/>
        </p:nvSpPr>
        <p:spPr>
          <a:xfrm>
            <a:off x="4279392" y="1225296"/>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4279392" y="1225296"/>
            <a:ext cx="73152" cy="850392"/>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443983" y="1316736"/>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Modality</a:t>
            </a:r>
          </a:p>
        </p:txBody>
      </p:sp>
      <p:sp>
        <p:nvSpPr>
          <p:cNvPr id="32" name="criterion_state_5"/>
          <p:cNvSpPr/>
          <p:nvPr/>
        </p:nvSpPr>
        <p:spPr>
          <a:xfrm>
            <a:off x="4425696" y="1591056"/>
            <a:ext cx="987552" cy="265176"/>
          </a:xfrm>
          <a:prstGeom prst="roundRect">
            <a:avLst/>
          </a:prstGeom>
          <a:solidFill>
            <a:srgbClr val="E0F4EE"/>
          </a:solidFill>
          <a:ln w="1016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4453128" y="1618488"/>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STRONG</a:t>
            </a:r>
          </a:p>
        </p:txBody>
      </p:sp>
      <p:sp>
        <p:nvSpPr>
          <p:cNvPr id="34" name="TextBox 33"/>
          <p:cNvSpPr txBox="1"/>
          <p:nvPr/>
        </p:nvSpPr>
        <p:spPr>
          <a:xfrm>
            <a:off x="5541264" y="1353312"/>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snRNA-seq with mouse-level samples.</a:t>
            </a:r>
          </a:p>
        </p:txBody>
      </p:sp>
      <p:sp>
        <p:nvSpPr>
          <p:cNvPr id="35" name="criterion_card_6_Replication"/>
          <p:cNvSpPr/>
          <p:nvPr/>
        </p:nvSpPr>
        <p:spPr>
          <a:xfrm>
            <a:off x="4279392" y="2212848"/>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4279392" y="2212848"/>
            <a:ext cx="73152" cy="850392"/>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4443983" y="2304288"/>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Replication</a:t>
            </a:r>
          </a:p>
        </p:txBody>
      </p:sp>
      <p:sp>
        <p:nvSpPr>
          <p:cNvPr id="38" name="criterion_state_6"/>
          <p:cNvSpPr/>
          <p:nvPr/>
        </p:nvSpPr>
        <p:spPr>
          <a:xfrm>
            <a:off x="4425696" y="2578608"/>
            <a:ext cx="987552" cy="265176"/>
          </a:xfrm>
          <a:prstGeom prst="roundRect">
            <a:avLst/>
          </a:prstGeom>
          <a:solidFill>
            <a:srgbClr val="E0F4EE"/>
          </a:solidFill>
          <a:ln w="1016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4453128" y="2606040"/>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STRONG</a:t>
            </a:r>
          </a:p>
        </p:txBody>
      </p:sp>
      <p:sp>
        <p:nvSpPr>
          <p:cNvPr id="40" name="TextBox 39"/>
          <p:cNvSpPr txBox="1"/>
          <p:nvPr/>
        </p:nvSpPr>
        <p:spPr>
          <a:xfrm>
            <a:off x="5541264" y="2340864"/>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16 mice; four per APOE-by-age group.</a:t>
            </a:r>
          </a:p>
        </p:txBody>
      </p:sp>
      <p:sp>
        <p:nvSpPr>
          <p:cNvPr id="41" name="criterion_card_7_Cell breadth"/>
          <p:cNvSpPr/>
          <p:nvPr/>
        </p:nvSpPr>
        <p:spPr>
          <a:xfrm>
            <a:off x="4279392" y="3200400"/>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4279392" y="3200400"/>
            <a:ext cx="73152" cy="850392"/>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4443983" y="3291840"/>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Cell breadth</a:t>
            </a:r>
          </a:p>
        </p:txBody>
      </p:sp>
      <p:sp>
        <p:nvSpPr>
          <p:cNvPr id="44" name="criterion_state_7"/>
          <p:cNvSpPr/>
          <p:nvPr/>
        </p:nvSpPr>
        <p:spPr>
          <a:xfrm>
            <a:off x="4425696" y="3566160"/>
            <a:ext cx="987552" cy="265176"/>
          </a:xfrm>
          <a:prstGeom prst="roundRect">
            <a:avLst/>
          </a:prstGeom>
          <a:solidFill>
            <a:srgbClr val="E0F4EE"/>
          </a:solidFill>
          <a:ln w="1016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4453128" y="3593592"/>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STRONG</a:t>
            </a:r>
          </a:p>
        </p:txBody>
      </p:sp>
      <p:sp>
        <p:nvSpPr>
          <p:cNvPr id="46" name="TextBox 45"/>
          <p:cNvSpPr txBox="1"/>
          <p:nvPr/>
        </p:nvSpPr>
        <p:spPr>
          <a:xfrm>
            <a:off x="5541264" y="3328416"/>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Neurons, glia, OPCs, and vascular cells.</a:t>
            </a:r>
          </a:p>
        </p:txBody>
      </p:sp>
      <p:sp>
        <p:nvSpPr>
          <p:cNvPr id="47" name="criterion_card_8_Public usability"/>
          <p:cNvSpPr/>
          <p:nvPr/>
        </p:nvSpPr>
        <p:spPr>
          <a:xfrm>
            <a:off x="4279392" y="4187952"/>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4279392" y="4187952"/>
            <a:ext cx="73152" cy="85039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4443983" y="4279392"/>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69" b="1" i="0">
                <a:solidFill>
                  <a:srgbClr val="0F233D"/>
                </a:solidFill>
                <a:latin typeface="Arial"/>
              </a:rPr>
              <a:t>Public usability</a:t>
            </a:r>
          </a:p>
        </p:txBody>
      </p:sp>
      <p:sp>
        <p:nvSpPr>
          <p:cNvPr id="50" name="criterion_state_8"/>
          <p:cNvSpPr/>
          <p:nvPr/>
        </p:nvSpPr>
        <p:spPr>
          <a:xfrm>
            <a:off x="4425696" y="4553712"/>
            <a:ext cx="987552" cy="265176"/>
          </a:xfrm>
          <a:prstGeom prst="roundRect">
            <a:avLst/>
          </a:prstGeom>
          <a:solidFill>
            <a:srgbClr val="FFF4D8"/>
          </a:solidFill>
          <a:ln w="1016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4453128" y="4581144"/>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PARTIAL</a:t>
            </a:r>
          </a:p>
        </p:txBody>
      </p:sp>
      <p:sp>
        <p:nvSpPr>
          <p:cNvPr id="52" name="TextBox 51"/>
          <p:cNvSpPr txBox="1"/>
          <p:nvPr/>
        </p:nvSpPr>
        <p:spPr>
          <a:xfrm>
            <a:off x="5541264" y="4315968"/>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Counts available; sex mapping still needs audit.</a:t>
            </a:r>
          </a:p>
        </p:txBody>
      </p:sp>
      <p:sp>
        <p:nvSpPr>
          <p:cNvPr id="53" name="Rounded Rectangle 52"/>
          <p:cNvSpPr/>
          <p:nvPr/>
        </p:nvSpPr>
        <p:spPr>
          <a:xfrm>
            <a:off x="8147304" y="1207008"/>
            <a:ext cx="3538728" cy="438912"/>
          </a:xfrm>
          <a:prstGeom prst="roundRect">
            <a:avLst/>
          </a:prstGeom>
          <a:solidFill>
            <a:srgbClr val="E0EFF8"/>
          </a:solidFill>
          <a:ln w="1524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8321040" y="1298448"/>
            <a:ext cx="3191256" cy="21945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030" b="1" i="0">
                <a:solidFill>
                  <a:srgbClr val="0072B2"/>
                </a:solidFill>
                <a:latin typeface="Arial"/>
              </a:rPr>
              <a:t>CORE ANCHOR</a:t>
            </a:r>
          </a:p>
        </p:txBody>
      </p:sp>
      <p:sp>
        <p:nvSpPr>
          <p:cNvPr id="55" name="Rounded Rectangle 54"/>
          <p:cNvSpPr/>
          <p:nvPr/>
        </p:nvSpPr>
        <p:spPr>
          <a:xfrm>
            <a:off x="8147304" y="1773936"/>
            <a:ext cx="3538728" cy="932688"/>
          </a:xfrm>
          <a:prstGeom prst="roundRect">
            <a:avLst/>
          </a:prstGeom>
          <a:solidFill>
            <a:srgbClr val="E0EFF8"/>
          </a:solidFill>
          <a:ln w="1524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8330183" y="1911095"/>
            <a:ext cx="3172968" cy="18288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69" b="1" i="0">
                <a:solidFill>
                  <a:srgbClr val="0072B2"/>
                </a:solidFill>
                <a:latin typeface="Arial"/>
              </a:rPr>
              <a:t>STUDY SNAPSHOT</a:t>
            </a:r>
          </a:p>
        </p:txBody>
      </p:sp>
      <p:sp>
        <p:nvSpPr>
          <p:cNvPr id="57" name="TextBox 56"/>
          <p:cNvSpPr txBox="1"/>
          <p:nvPr/>
        </p:nvSpPr>
        <p:spPr>
          <a:xfrm>
            <a:off x="8330183" y="2167128"/>
            <a:ext cx="3172968" cy="42976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140" b="1" i="0">
                <a:solidFill>
                  <a:srgbClr val="0F233D"/>
                </a:solidFill>
                <a:latin typeface="Arial"/>
              </a:rPr>
              <a:t>Cortex • snRNA-seq • 16 mice • 4/APOE×age group</a:t>
            </a:r>
          </a:p>
        </p:txBody>
      </p:sp>
      <p:sp>
        <p:nvSpPr>
          <p:cNvPr id="58" name="Rounded Rectangle 57"/>
          <p:cNvSpPr/>
          <p:nvPr/>
        </p:nvSpPr>
        <p:spPr>
          <a:xfrm>
            <a:off x="8147304" y="2834640"/>
            <a:ext cx="3538728" cy="1243584"/>
          </a:xfrm>
          <a:prstGeom prst="roundRect">
            <a:avLst/>
          </a:prstGeom>
          <a:solidFill>
            <a:srgbClr val="E0F4EE"/>
          </a:solidFill>
          <a:ln w="1524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8330183" y="2971800"/>
            <a:ext cx="3172968" cy="18288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69" b="1" i="0">
                <a:solidFill>
                  <a:srgbClr val="009E73"/>
                </a:solidFill>
                <a:latin typeface="Arial"/>
              </a:rPr>
              <a:t>BEST USE</a:t>
            </a:r>
          </a:p>
        </p:txBody>
      </p:sp>
      <p:sp>
        <p:nvSpPr>
          <p:cNvPr id="60" name="TextBox 59"/>
          <p:cNvSpPr txBox="1"/>
          <p:nvPr/>
        </p:nvSpPr>
        <p:spPr>
          <a:xfrm>
            <a:off x="8330183" y="3227832"/>
            <a:ext cx="3172968" cy="74066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200" b="0" i="0">
                <a:solidFill>
                  <a:srgbClr val="0F233D"/>
                </a:solidFill>
                <a:latin typeface="Arial"/>
              </a:rPr>
              <a:t>Localize human PFC APOE-associated modules across cortical cell types.</a:t>
            </a:r>
          </a:p>
        </p:txBody>
      </p:sp>
      <p:sp>
        <p:nvSpPr>
          <p:cNvPr id="61" name="Rounded Rectangle 60"/>
          <p:cNvSpPr/>
          <p:nvPr/>
        </p:nvSpPr>
        <p:spPr>
          <a:xfrm>
            <a:off x="8147304" y="4206240"/>
            <a:ext cx="3538728" cy="1243584"/>
          </a:xfrm>
          <a:prstGeom prst="roundRect">
            <a:avLst/>
          </a:prstGeom>
          <a:solidFill>
            <a:srgbClr val="FDEBE4"/>
          </a:solidFill>
          <a:ln w="15240">
            <a:solidFill>
              <a:srgbClr val="D55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8330183" y="4343400"/>
            <a:ext cx="3172968" cy="18288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69" b="1" i="0">
                <a:solidFill>
                  <a:srgbClr val="D55E00"/>
                </a:solidFill>
                <a:latin typeface="Arial"/>
              </a:rPr>
              <a:t>DO NOT CLAIM</a:t>
            </a:r>
          </a:p>
        </p:txBody>
      </p:sp>
      <p:sp>
        <p:nvSpPr>
          <p:cNvPr id="63" name="TextBox 62"/>
          <p:cNvSpPr txBox="1"/>
          <p:nvPr/>
        </p:nvSpPr>
        <p:spPr>
          <a:xfrm>
            <a:off x="8330183" y="4599431"/>
            <a:ext cx="3172968" cy="74066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170" b="0" i="0">
                <a:solidFill>
                  <a:srgbClr val="0F233D"/>
                </a:solidFill>
                <a:latin typeface="Arial"/>
              </a:rPr>
              <a:t>No disease factor; sex-specific inference is unsafe without a verified mouse map.</a:t>
            </a:r>
          </a:p>
        </p:txBody>
      </p:sp>
      <p:sp>
        <p:nvSpPr>
          <p:cNvPr id="64" name="takeaway_ribbon"/>
          <p:cNvSpPr/>
          <p:nvPr/>
        </p:nvSpPr>
        <p:spPr>
          <a:xfrm>
            <a:off x="502920" y="5815584"/>
            <a:ext cx="11183112" cy="512064"/>
          </a:xfrm>
          <a:prstGeom prst="rect">
            <a:avLst/>
          </a:prstGeom>
          <a:solidFill>
            <a:srgbClr val="0F2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Rectangle 64"/>
          <p:cNvSpPr/>
          <p:nvPr/>
        </p:nvSpPr>
        <p:spPr>
          <a:xfrm>
            <a:off x="502920" y="5815584"/>
            <a:ext cx="91440" cy="5120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749808" y="5888736"/>
            <a:ext cx="10652760" cy="329184"/>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200" b="1" i="0">
                <a:solidFill>
                  <a:srgbClr val="FFFFFF"/>
                </a:solidFill>
                <a:latin typeface="Arial"/>
              </a:rPr>
              <a:t>Use the label “cortical cross-species APOE concordance”—not direct mouse PFC replication.</a:t>
            </a:r>
          </a:p>
        </p:txBody>
      </p:sp>
      <p:sp>
        <p:nvSpPr>
          <p:cNvPr id="67" name="source_line"/>
          <p:cNvSpPr txBox="1"/>
          <p:nvPr/>
        </p:nvSpPr>
        <p:spPr>
          <a:xfrm>
            <a:off x="502920" y="6620256"/>
            <a:ext cx="11155680" cy="12801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670" b="0" i="0">
                <a:solidFill>
                  <a:srgbClr val="606C7B"/>
                </a:solidFill>
                <a:latin typeface="Arial"/>
              </a:rPr>
              <a:t>Source: mouse_dataset_comparison.md §6.1; GEO GSE185063; PMID 36040482. Suitability assessment, not new matrix analysis.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146304"/>
            <a:ext cx="5577840"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19" b="1" i="0">
                <a:solidFill>
                  <a:srgbClr val="0072B2"/>
                </a:solidFill>
                <a:latin typeface="Arial"/>
              </a:rPr>
              <a:t>DATASET PROFILE • CORE ANCHOR</a:t>
            </a:r>
          </a:p>
        </p:txBody>
      </p:sp>
      <p:sp>
        <p:nvSpPr>
          <p:cNvPr id="3" name="slide_title"/>
          <p:cNvSpPr txBox="1"/>
          <p:nvPr/>
        </p:nvSpPr>
        <p:spPr>
          <a:xfrm>
            <a:off x="502920" y="356616"/>
            <a:ext cx="11018520" cy="713232"/>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950" b="1" i="0">
                <a:solidFill>
                  <a:srgbClr val="0F233D"/>
                </a:solidFill>
                <a:latin typeface="Arial"/>
              </a:rPr>
              <a:t>GSE241553 adds sex-balanced cortical APOE induction under amyloid, but not an AD-control contrast</a:t>
            </a:r>
          </a:p>
        </p:txBody>
      </p:sp>
      <p:sp>
        <p:nvSpPr>
          <p:cNvPr id="4" name="TextBox 3"/>
          <p:cNvSpPr txBox="1"/>
          <p:nvPr/>
        </p:nvSpPr>
        <p:spPr>
          <a:xfrm>
            <a:off x="11402568" y="155448"/>
            <a:ext cx="274320" cy="164592"/>
          </a:xfrm>
          <a:prstGeom prst="rect">
            <a:avLst/>
          </a:prstGeom>
          <a:noFill/>
        </p:spPr>
        <p:txBody>
          <a:bodyPr wrap="square" lIns="27432" tIns="27432" rIns="27432" bIns="27432" anchor="t">
            <a:spAutoFit/>
          </a:bodyPr>
          <a:lstStyle/>
          <a:p>
            <a:pPr algn="r">
              <a:lnSpc>
                <a:spcPct val="100000"/>
              </a:lnSpc>
              <a:spcBef>
                <a:spcPts val="0"/>
              </a:spcBef>
              <a:spcAft>
                <a:spcPts val="0"/>
              </a:spcAft>
            </a:pPr>
            <a:r>
              <a:rPr sz="880" b="1" i="0">
                <a:solidFill>
                  <a:srgbClr val="606C7B"/>
                </a:solidFill>
                <a:latin typeface="Arial"/>
              </a:rPr>
              <a:t>04</a:t>
            </a:r>
          </a:p>
        </p:txBody>
      </p:sp>
      <p:sp>
        <p:nvSpPr>
          <p:cNvPr id="5" name="criterion_card_1_Region"/>
          <p:cNvSpPr/>
          <p:nvPr/>
        </p:nvSpPr>
        <p:spPr>
          <a:xfrm>
            <a:off x="502920" y="1225296"/>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02920" y="1225296"/>
            <a:ext cx="73152" cy="85039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67512" y="1316736"/>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Region</a:t>
            </a:r>
          </a:p>
        </p:txBody>
      </p:sp>
      <p:sp>
        <p:nvSpPr>
          <p:cNvPr id="8" name="criterion_state_1"/>
          <p:cNvSpPr/>
          <p:nvPr/>
        </p:nvSpPr>
        <p:spPr>
          <a:xfrm>
            <a:off x="649224" y="1591056"/>
            <a:ext cx="987552" cy="265176"/>
          </a:xfrm>
          <a:prstGeom prst="roundRect">
            <a:avLst/>
          </a:prstGeom>
          <a:solidFill>
            <a:srgbClr val="FFF4D8"/>
          </a:solidFill>
          <a:ln w="1016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76656" y="1618488"/>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PARTIAL</a:t>
            </a:r>
          </a:p>
        </p:txBody>
      </p:sp>
      <p:sp>
        <p:nvSpPr>
          <p:cNvPr id="10" name="TextBox 9"/>
          <p:cNvSpPr txBox="1"/>
          <p:nvPr/>
        </p:nvSpPr>
        <p:spPr>
          <a:xfrm>
            <a:off x="1764792" y="1353312"/>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Cortex; not an explicit PFC subdivision.</a:t>
            </a:r>
          </a:p>
        </p:txBody>
      </p:sp>
      <p:sp>
        <p:nvSpPr>
          <p:cNvPr id="11" name="criterion_card_2_APOE"/>
          <p:cNvSpPr/>
          <p:nvPr/>
        </p:nvSpPr>
        <p:spPr>
          <a:xfrm>
            <a:off x="502920" y="2212848"/>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502920" y="2212848"/>
            <a:ext cx="73152" cy="85039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67512" y="2304288"/>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APOE</a:t>
            </a:r>
          </a:p>
        </p:txBody>
      </p:sp>
      <p:sp>
        <p:nvSpPr>
          <p:cNvPr id="14" name="criterion_state_2"/>
          <p:cNvSpPr/>
          <p:nvPr/>
        </p:nvSpPr>
        <p:spPr>
          <a:xfrm>
            <a:off x="649224" y="2578608"/>
            <a:ext cx="987552" cy="265176"/>
          </a:xfrm>
          <a:prstGeom prst="roundRect">
            <a:avLst/>
          </a:prstGeom>
          <a:solidFill>
            <a:srgbClr val="FFF4D8"/>
          </a:solidFill>
          <a:ln w="1016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76656" y="2606040"/>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PARTIAL</a:t>
            </a:r>
          </a:p>
        </p:txBody>
      </p:sp>
      <p:sp>
        <p:nvSpPr>
          <p:cNvPr id="16" name="TextBox 15"/>
          <p:cNvSpPr txBox="1"/>
          <p:nvPr/>
        </p:nvSpPr>
        <p:spPr>
          <a:xfrm>
            <a:off x="1764792" y="2340864"/>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Conditional apoE3/apoE4 induction in microglia/CAMs.</a:t>
            </a:r>
          </a:p>
        </p:txBody>
      </p:sp>
      <p:sp>
        <p:nvSpPr>
          <p:cNvPr id="17" name="criterion_card_3_Sex"/>
          <p:cNvSpPr/>
          <p:nvPr/>
        </p:nvSpPr>
        <p:spPr>
          <a:xfrm>
            <a:off x="502920" y="3200400"/>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502920" y="3200400"/>
            <a:ext cx="73152" cy="850392"/>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67512" y="3291840"/>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Sex</a:t>
            </a:r>
          </a:p>
        </p:txBody>
      </p:sp>
      <p:sp>
        <p:nvSpPr>
          <p:cNvPr id="20" name="criterion_state_3"/>
          <p:cNvSpPr/>
          <p:nvPr/>
        </p:nvSpPr>
        <p:spPr>
          <a:xfrm>
            <a:off x="649224" y="3566160"/>
            <a:ext cx="987552" cy="265176"/>
          </a:xfrm>
          <a:prstGeom prst="roundRect">
            <a:avLst/>
          </a:prstGeom>
          <a:solidFill>
            <a:srgbClr val="E0F4EE"/>
          </a:solidFill>
          <a:ln w="1016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76656" y="3593592"/>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STRONG</a:t>
            </a:r>
          </a:p>
        </p:txBody>
      </p:sp>
      <p:sp>
        <p:nvSpPr>
          <p:cNvPr id="22" name="TextBox 21"/>
          <p:cNvSpPr txBox="1"/>
          <p:nvPr/>
        </p:nvSpPr>
        <p:spPr>
          <a:xfrm>
            <a:off x="1764792" y="3328416"/>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3 females + 3 males in each of four groups.</a:t>
            </a:r>
          </a:p>
        </p:txBody>
      </p:sp>
      <p:sp>
        <p:nvSpPr>
          <p:cNvPr id="23" name="criterion_card_4_Disease"/>
          <p:cNvSpPr/>
          <p:nvPr/>
        </p:nvSpPr>
        <p:spPr>
          <a:xfrm>
            <a:off x="502920" y="4187952"/>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502920" y="4187952"/>
            <a:ext cx="73152" cy="85039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67512" y="4279392"/>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Disease</a:t>
            </a:r>
          </a:p>
        </p:txBody>
      </p:sp>
      <p:sp>
        <p:nvSpPr>
          <p:cNvPr id="26" name="criterion_state_4"/>
          <p:cNvSpPr/>
          <p:nvPr/>
        </p:nvSpPr>
        <p:spPr>
          <a:xfrm>
            <a:off x="649224" y="4553712"/>
            <a:ext cx="987552" cy="265176"/>
          </a:xfrm>
          <a:prstGeom prst="roundRect">
            <a:avLst/>
          </a:prstGeom>
          <a:solidFill>
            <a:srgbClr val="FFF4D8"/>
          </a:solidFill>
          <a:ln w="1016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76656" y="4581144"/>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PARTIAL</a:t>
            </a:r>
          </a:p>
        </p:txBody>
      </p:sp>
      <p:sp>
        <p:nvSpPr>
          <p:cNvPr id="28" name="TextBox 27"/>
          <p:cNvSpPr txBox="1"/>
          <p:nvPr/>
        </p:nvSpPr>
        <p:spPr>
          <a:xfrm>
            <a:off x="1764792" y="4315968"/>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All mice are on an amyloid-model background; no non-amyloid arm.</a:t>
            </a:r>
          </a:p>
        </p:txBody>
      </p:sp>
      <p:sp>
        <p:nvSpPr>
          <p:cNvPr id="29" name="criterion_card_5_Modality"/>
          <p:cNvSpPr/>
          <p:nvPr/>
        </p:nvSpPr>
        <p:spPr>
          <a:xfrm>
            <a:off x="4279392" y="1225296"/>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4279392" y="1225296"/>
            <a:ext cx="73152" cy="850392"/>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443983" y="1316736"/>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Modality</a:t>
            </a:r>
          </a:p>
        </p:txBody>
      </p:sp>
      <p:sp>
        <p:nvSpPr>
          <p:cNvPr id="32" name="criterion_state_5"/>
          <p:cNvSpPr/>
          <p:nvPr/>
        </p:nvSpPr>
        <p:spPr>
          <a:xfrm>
            <a:off x="4425696" y="1591056"/>
            <a:ext cx="987552" cy="265176"/>
          </a:xfrm>
          <a:prstGeom prst="roundRect">
            <a:avLst/>
          </a:prstGeom>
          <a:solidFill>
            <a:srgbClr val="E0F4EE"/>
          </a:solidFill>
          <a:ln w="1016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4453128" y="1618488"/>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STRONG</a:t>
            </a:r>
          </a:p>
        </p:txBody>
      </p:sp>
      <p:sp>
        <p:nvSpPr>
          <p:cNvPr id="34" name="TextBox 33"/>
          <p:cNvSpPr txBox="1"/>
          <p:nvPr/>
        </p:nvSpPr>
        <p:spPr>
          <a:xfrm>
            <a:off x="5541264" y="1353312"/>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scRNA-seq with mouse-resolved samples.</a:t>
            </a:r>
          </a:p>
        </p:txBody>
      </p:sp>
      <p:sp>
        <p:nvSpPr>
          <p:cNvPr id="35" name="criterion_card_6_Replication"/>
          <p:cNvSpPr/>
          <p:nvPr/>
        </p:nvSpPr>
        <p:spPr>
          <a:xfrm>
            <a:off x="4279392" y="2212848"/>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4279392" y="2212848"/>
            <a:ext cx="73152" cy="850392"/>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4443983" y="2304288"/>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Replication</a:t>
            </a:r>
          </a:p>
        </p:txBody>
      </p:sp>
      <p:sp>
        <p:nvSpPr>
          <p:cNvPr id="38" name="criterion_state_6"/>
          <p:cNvSpPr/>
          <p:nvPr/>
        </p:nvSpPr>
        <p:spPr>
          <a:xfrm>
            <a:off x="4425696" y="2578608"/>
            <a:ext cx="987552" cy="265176"/>
          </a:xfrm>
          <a:prstGeom prst="roundRect">
            <a:avLst/>
          </a:prstGeom>
          <a:solidFill>
            <a:srgbClr val="E0F4EE"/>
          </a:solidFill>
          <a:ln w="1016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4453128" y="2606040"/>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STRONG</a:t>
            </a:r>
          </a:p>
        </p:txBody>
      </p:sp>
      <p:sp>
        <p:nvSpPr>
          <p:cNvPr id="40" name="TextBox 39"/>
          <p:cNvSpPr txBox="1"/>
          <p:nvPr/>
        </p:nvSpPr>
        <p:spPr>
          <a:xfrm>
            <a:off x="5541264" y="2340864"/>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24 mice; six per line-by-induction group.</a:t>
            </a:r>
          </a:p>
        </p:txBody>
      </p:sp>
      <p:sp>
        <p:nvSpPr>
          <p:cNvPr id="41" name="criterion_card_7_Cell breadth"/>
          <p:cNvSpPr/>
          <p:nvPr/>
        </p:nvSpPr>
        <p:spPr>
          <a:xfrm>
            <a:off x="4279392" y="3200400"/>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4279392" y="3200400"/>
            <a:ext cx="73152" cy="85039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4443983" y="3291840"/>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Cell breadth</a:t>
            </a:r>
          </a:p>
        </p:txBody>
      </p:sp>
      <p:sp>
        <p:nvSpPr>
          <p:cNvPr id="44" name="criterion_state_7"/>
          <p:cNvSpPr/>
          <p:nvPr/>
        </p:nvSpPr>
        <p:spPr>
          <a:xfrm>
            <a:off x="4425696" y="3566160"/>
            <a:ext cx="987552" cy="265176"/>
          </a:xfrm>
          <a:prstGeom prst="roundRect">
            <a:avLst/>
          </a:prstGeom>
          <a:solidFill>
            <a:srgbClr val="FFF4D8"/>
          </a:solidFill>
          <a:ln w="1016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4453128" y="3593592"/>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PARTIAL</a:t>
            </a:r>
          </a:p>
        </p:txBody>
      </p:sp>
      <p:sp>
        <p:nvSpPr>
          <p:cNvPr id="46" name="TextBox 45"/>
          <p:cNvSpPr txBox="1"/>
          <p:nvPr/>
        </p:nvSpPr>
        <p:spPr>
          <a:xfrm>
            <a:off x="5541264" y="3328416"/>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Multiple populations; direct perturbation is microglia/CAM.</a:t>
            </a:r>
          </a:p>
        </p:txBody>
      </p:sp>
      <p:sp>
        <p:nvSpPr>
          <p:cNvPr id="47" name="criterion_card_8_Public usability"/>
          <p:cNvSpPr/>
          <p:nvPr/>
        </p:nvSpPr>
        <p:spPr>
          <a:xfrm>
            <a:off x="4279392" y="4187952"/>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4279392" y="4187952"/>
            <a:ext cx="73152" cy="850392"/>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4443983" y="4279392"/>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69" b="1" i="0">
                <a:solidFill>
                  <a:srgbClr val="0F233D"/>
                </a:solidFill>
                <a:latin typeface="Arial"/>
              </a:rPr>
              <a:t>Public usability</a:t>
            </a:r>
          </a:p>
        </p:txBody>
      </p:sp>
      <p:sp>
        <p:nvSpPr>
          <p:cNvPr id="50" name="criterion_state_8"/>
          <p:cNvSpPr/>
          <p:nvPr/>
        </p:nvSpPr>
        <p:spPr>
          <a:xfrm>
            <a:off x="4425696" y="4553712"/>
            <a:ext cx="987552" cy="265176"/>
          </a:xfrm>
          <a:prstGeom prst="roundRect">
            <a:avLst/>
          </a:prstGeom>
          <a:solidFill>
            <a:srgbClr val="E0F4EE"/>
          </a:solidFill>
          <a:ln w="1016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4453128" y="4581144"/>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STRONG</a:t>
            </a:r>
          </a:p>
        </p:txBody>
      </p:sp>
      <p:sp>
        <p:nvSpPr>
          <p:cNvPr id="52" name="TextBox 51"/>
          <p:cNvSpPr txBox="1"/>
          <p:nvPr/>
        </p:nvSpPr>
        <p:spPr>
          <a:xfrm>
            <a:off x="5541264" y="4315968"/>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Per-sample files and group identities are available.</a:t>
            </a:r>
          </a:p>
        </p:txBody>
      </p:sp>
      <p:sp>
        <p:nvSpPr>
          <p:cNvPr id="53" name="Rounded Rectangle 52"/>
          <p:cNvSpPr/>
          <p:nvPr/>
        </p:nvSpPr>
        <p:spPr>
          <a:xfrm>
            <a:off x="8147304" y="1207008"/>
            <a:ext cx="3538728" cy="438912"/>
          </a:xfrm>
          <a:prstGeom prst="roundRect">
            <a:avLst/>
          </a:prstGeom>
          <a:solidFill>
            <a:srgbClr val="E0EFF8"/>
          </a:solidFill>
          <a:ln w="1524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8321040" y="1298448"/>
            <a:ext cx="3191256" cy="21945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030" b="1" i="0">
                <a:solidFill>
                  <a:srgbClr val="0072B2"/>
                </a:solidFill>
                <a:latin typeface="Arial"/>
              </a:rPr>
              <a:t>CORE ANCHOR</a:t>
            </a:r>
          </a:p>
        </p:txBody>
      </p:sp>
      <p:sp>
        <p:nvSpPr>
          <p:cNvPr id="55" name="Rounded Rectangle 54"/>
          <p:cNvSpPr/>
          <p:nvPr/>
        </p:nvSpPr>
        <p:spPr>
          <a:xfrm>
            <a:off x="8147304" y="1773936"/>
            <a:ext cx="3538728" cy="932688"/>
          </a:xfrm>
          <a:prstGeom prst="roundRect">
            <a:avLst/>
          </a:prstGeom>
          <a:solidFill>
            <a:srgbClr val="E0EFF8"/>
          </a:solidFill>
          <a:ln w="1524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8330183" y="1911095"/>
            <a:ext cx="3172968" cy="18288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69" b="1" i="0">
                <a:solidFill>
                  <a:srgbClr val="0072B2"/>
                </a:solidFill>
                <a:latin typeface="Arial"/>
              </a:rPr>
              <a:t>STUDY SNAPSHOT</a:t>
            </a:r>
          </a:p>
        </p:txBody>
      </p:sp>
      <p:sp>
        <p:nvSpPr>
          <p:cNvPr id="57" name="TextBox 56"/>
          <p:cNvSpPr txBox="1"/>
          <p:nvPr/>
        </p:nvSpPr>
        <p:spPr>
          <a:xfrm>
            <a:off x="8330183" y="2167128"/>
            <a:ext cx="3172968" cy="42976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140" b="1" i="0">
                <a:solidFill>
                  <a:srgbClr val="0F233D"/>
                </a:solidFill>
                <a:latin typeface="Arial"/>
              </a:rPr>
              <a:t>Cortex • scRNA-seq • 24 mice • 3F+3M/group</a:t>
            </a:r>
          </a:p>
        </p:txBody>
      </p:sp>
      <p:sp>
        <p:nvSpPr>
          <p:cNvPr id="58" name="Rounded Rectangle 57"/>
          <p:cNvSpPr/>
          <p:nvPr/>
        </p:nvSpPr>
        <p:spPr>
          <a:xfrm>
            <a:off x="8147304" y="2834640"/>
            <a:ext cx="3538728" cy="1243584"/>
          </a:xfrm>
          <a:prstGeom prst="roundRect">
            <a:avLst/>
          </a:prstGeom>
          <a:solidFill>
            <a:srgbClr val="E0F4EE"/>
          </a:solidFill>
          <a:ln w="1524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8330183" y="2971800"/>
            <a:ext cx="3172968" cy="18288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69" b="1" i="0">
                <a:solidFill>
                  <a:srgbClr val="009E73"/>
                </a:solidFill>
                <a:latin typeface="Arial"/>
              </a:rPr>
              <a:t>BEST USE</a:t>
            </a:r>
          </a:p>
        </p:txBody>
      </p:sp>
      <p:sp>
        <p:nvSpPr>
          <p:cNvPr id="60" name="TextBox 59"/>
          <p:cNvSpPr txBox="1"/>
          <p:nvPr/>
        </p:nvSpPr>
        <p:spPr>
          <a:xfrm>
            <a:off x="8330183" y="3227832"/>
            <a:ext cx="3172968" cy="74066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200" b="0" i="0">
                <a:solidFill>
                  <a:srgbClr val="0F233D"/>
                </a:solidFill>
                <a:latin typeface="Arial"/>
              </a:rPr>
              <a:t>Test sex-aware microglia/CAM apoE3-versus-apoE4 induction responses under amyloid.</a:t>
            </a:r>
          </a:p>
        </p:txBody>
      </p:sp>
      <p:sp>
        <p:nvSpPr>
          <p:cNvPr id="61" name="Rounded Rectangle 60"/>
          <p:cNvSpPr/>
          <p:nvPr/>
        </p:nvSpPr>
        <p:spPr>
          <a:xfrm>
            <a:off x="8147304" y="4206240"/>
            <a:ext cx="3538728" cy="1243584"/>
          </a:xfrm>
          <a:prstGeom prst="roundRect">
            <a:avLst/>
          </a:prstGeom>
          <a:solidFill>
            <a:srgbClr val="FDEBE4"/>
          </a:solidFill>
          <a:ln w="15240">
            <a:solidFill>
              <a:srgbClr val="D55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8330183" y="4343400"/>
            <a:ext cx="3172968" cy="18288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69" b="1" i="0">
                <a:solidFill>
                  <a:srgbClr val="D55E00"/>
                </a:solidFill>
                <a:latin typeface="Arial"/>
              </a:rPr>
              <a:t>DO NOT CLAIM</a:t>
            </a:r>
          </a:p>
        </p:txBody>
      </p:sp>
      <p:sp>
        <p:nvSpPr>
          <p:cNvPr id="63" name="TextBox 62"/>
          <p:cNvSpPr txBox="1"/>
          <p:nvPr/>
        </p:nvSpPr>
        <p:spPr>
          <a:xfrm>
            <a:off x="8330183" y="4599431"/>
            <a:ext cx="3172968" cy="74066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170" b="0" i="0">
                <a:solidFill>
                  <a:srgbClr val="0F233D"/>
                </a:solidFill>
                <a:latin typeface="Arial"/>
              </a:rPr>
              <a:t>C versus T is non-induced versus induced—not control versus AD; only three mice per sex×line×induction group.</a:t>
            </a:r>
          </a:p>
        </p:txBody>
      </p:sp>
      <p:sp>
        <p:nvSpPr>
          <p:cNvPr id="64" name="takeaway_ribbon"/>
          <p:cNvSpPr/>
          <p:nvPr/>
        </p:nvSpPr>
        <p:spPr>
          <a:xfrm>
            <a:off x="502920" y="5815584"/>
            <a:ext cx="11183112" cy="512064"/>
          </a:xfrm>
          <a:prstGeom prst="rect">
            <a:avLst/>
          </a:prstGeom>
          <a:solidFill>
            <a:srgbClr val="0F2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Rectangle 64"/>
          <p:cNvSpPr/>
          <p:nvPr/>
        </p:nvSpPr>
        <p:spPr>
          <a:xfrm>
            <a:off x="502920" y="5815584"/>
            <a:ext cx="91440" cy="5120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749808" y="5888736"/>
            <a:ext cx="10652760" cy="329184"/>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200" b="1" i="0">
                <a:solidFill>
                  <a:srgbClr val="FFFFFF"/>
                </a:solidFill>
                <a:latin typeface="Arial"/>
              </a:rPr>
              <a:t>Call this a microglia/CAM-specific APOE induction response under amyloid.</a:t>
            </a:r>
          </a:p>
        </p:txBody>
      </p:sp>
      <p:sp>
        <p:nvSpPr>
          <p:cNvPr id="67" name="source_line"/>
          <p:cNvSpPr txBox="1"/>
          <p:nvPr/>
        </p:nvSpPr>
        <p:spPr>
          <a:xfrm>
            <a:off x="502920" y="6620256"/>
            <a:ext cx="11155680" cy="12801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670" b="0" i="0">
                <a:solidFill>
                  <a:srgbClr val="606C7B"/>
                </a:solidFill>
                <a:latin typeface="Arial"/>
              </a:rPr>
              <a:t>Source: mouse_dataset_comparison.md §6.2; GEO GSE241553; PMID 37857825. Suitability assessment, not new matrix analysis.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02920" y="146304"/>
            <a:ext cx="5577840"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19" b="1" i="0">
                <a:solidFill>
                  <a:srgbClr val="0072B2"/>
                </a:solidFill>
                <a:latin typeface="Arial"/>
              </a:rPr>
              <a:t>DATASET PROFILE • CORE ANCHOR</a:t>
            </a:r>
          </a:p>
        </p:txBody>
      </p:sp>
      <p:sp>
        <p:nvSpPr>
          <p:cNvPr id="3" name="slide_title"/>
          <p:cNvSpPr txBox="1"/>
          <p:nvPr/>
        </p:nvSpPr>
        <p:spPr>
          <a:xfrm>
            <a:off x="502920" y="356616"/>
            <a:ext cx="11018520" cy="713232"/>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820" b="1" i="0">
                <a:solidFill>
                  <a:srgbClr val="0F233D"/>
                </a:solidFill>
                <a:latin typeface="Arial"/>
              </a:rPr>
              <a:t>Among audited candidates, GSE163857 is the only direct APOE × sex × disease design, but only in non-regional bulk microglia</a:t>
            </a:r>
          </a:p>
        </p:txBody>
      </p:sp>
      <p:sp>
        <p:nvSpPr>
          <p:cNvPr id="4" name="TextBox 3"/>
          <p:cNvSpPr txBox="1"/>
          <p:nvPr/>
        </p:nvSpPr>
        <p:spPr>
          <a:xfrm>
            <a:off x="11402568" y="155448"/>
            <a:ext cx="274320" cy="164592"/>
          </a:xfrm>
          <a:prstGeom prst="rect">
            <a:avLst/>
          </a:prstGeom>
          <a:noFill/>
        </p:spPr>
        <p:txBody>
          <a:bodyPr wrap="square" lIns="27432" tIns="27432" rIns="27432" bIns="27432" anchor="t">
            <a:spAutoFit/>
          </a:bodyPr>
          <a:lstStyle/>
          <a:p>
            <a:pPr algn="r">
              <a:lnSpc>
                <a:spcPct val="100000"/>
              </a:lnSpc>
              <a:spcBef>
                <a:spcPts val="0"/>
              </a:spcBef>
              <a:spcAft>
                <a:spcPts val="0"/>
              </a:spcAft>
            </a:pPr>
            <a:r>
              <a:rPr sz="880" b="1" i="0">
                <a:solidFill>
                  <a:srgbClr val="606C7B"/>
                </a:solidFill>
                <a:latin typeface="Arial"/>
              </a:rPr>
              <a:t>05</a:t>
            </a:r>
          </a:p>
        </p:txBody>
      </p:sp>
      <p:sp>
        <p:nvSpPr>
          <p:cNvPr id="5" name="criterion_card_1_Region"/>
          <p:cNvSpPr/>
          <p:nvPr/>
        </p:nvSpPr>
        <p:spPr>
          <a:xfrm>
            <a:off x="502920" y="1225296"/>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02920" y="1225296"/>
            <a:ext cx="73152" cy="850392"/>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67512" y="1316736"/>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Region</a:t>
            </a:r>
          </a:p>
        </p:txBody>
      </p:sp>
      <p:sp>
        <p:nvSpPr>
          <p:cNvPr id="8" name="criterion_state_1"/>
          <p:cNvSpPr/>
          <p:nvPr/>
        </p:nvSpPr>
        <p:spPr>
          <a:xfrm>
            <a:off x="649224" y="1591056"/>
            <a:ext cx="987552" cy="265176"/>
          </a:xfrm>
          <a:prstGeom prst="roundRect">
            <a:avLst/>
          </a:prstGeom>
          <a:solidFill>
            <a:srgbClr val="FDEBE4"/>
          </a:solidFill>
          <a:ln w="10160">
            <a:solidFill>
              <a:srgbClr val="D55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76656" y="1618488"/>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740" b="1" i="0">
                <a:solidFill>
                  <a:srgbClr val="232A33"/>
                </a:solidFill>
                <a:latin typeface="Arial"/>
              </a:rPr>
              <a:t>NOT MATCHED</a:t>
            </a:r>
          </a:p>
        </p:txBody>
      </p:sp>
      <p:sp>
        <p:nvSpPr>
          <p:cNvPr id="10" name="TextBox 9"/>
          <p:cNvSpPr txBox="1"/>
          <p:nvPr/>
        </p:nvSpPr>
        <p:spPr>
          <a:xfrm>
            <a:off x="1764792" y="1353312"/>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Sorted brain microglia; no cortex/PFC dissection.</a:t>
            </a:r>
          </a:p>
        </p:txBody>
      </p:sp>
      <p:sp>
        <p:nvSpPr>
          <p:cNvPr id="11" name="criterion_card_2_APOE"/>
          <p:cNvSpPr/>
          <p:nvPr/>
        </p:nvSpPr>
        <p:spPr>
          <a:xfrm>
            <a:off x="502920" y="2212848"/>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502920" y="2212848"/>
            <a:ext cx="73152" cy="850392"/>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67512" y="2304288"/>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APOE</a:t>
            </a:r>
          </a:p>
        </p:txBody>
      </p:sp>
      <p:sp>
        <p:nvSpPr>
          <p:cNvPr id="14" name="criterion_state_2"/>
          <p:cNvSpPr/>
          <p:nvPr/>
        </p:nvSpPr>
        <p:spPr>
          <a:xfrm>
            <a:off x="649224" y="2578608"/>
            <a:ext cx="987552" cy="265176"/>
          </a:xfrm>
          <a:prstGeom prst="roundRect">
            <a:avLst/>
          </a:prstGeom>
          <a:solidFill>
            <a:srgbClr val="E0F4EE"/>
          </a:solidFill>
          <a:ln w="1016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76656" y="2606040"/>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STRONG</a:t>
            </a:r>
          </a:p>
        </p:txBody>
      </p:sp>
      <p:sp>
        <p:nvSpPr>
          <p:cNvPr id="16" name="TextBox 15"/>
          <p:cNvSpPr txBox="1"/>
          <p:nvPr/>
        </p:nvSpPr>
        <p:spPr>
          <a:xfrm>
            <a:off x="1764792" y="2340864"/>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Human APOE3/APOE4 targeted replacement.</a:t>
            </a:r>
          </a:p>
        </p:txBody>
      </p:sp>
      <p:sp>
        <p:nvSpPr>
          <p:cNvPr id="17" name="criterion_card_3_Sex"/>
          <p:cNvSpPr/>
          <p:nvPr/>
        </p:nvSpPr>
        <p:spPr>
          <a:xfrm>
            <a:off x="502920" y="3200400"/>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502920" y="3200400"/>
            <a:ext cx="73152" cy="850392"/>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67512" y="3291840"/>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Sex</a:t>
            </a:r>
          </a:p>
        </p:txBody>
      </p:sp>
      <p:sp>
        <p:nvSpPr>
          <p:cNvPr id="20" name="criterion_state_3"/>
          <p:cNvSpPr/>
          <p:nvPr/>
        </p:nvSpPr>
        <p:spPr>
          <a:xfrm>
            <a:off x="649224" y="3566160"/>
            <a:ext cx="987552" cy="265176"/>
          </a:xfrm>
          <a:prstGeom prst="roundRect">
            <a:avLst/>
          </a:prstGeom>
          <a:solidFill>
            <a:srgbClr val="E0F4EE"/>
          </a:solidFill>
          <a:ln w="1016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76656" y="3593592"/>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STRONG</a:t>
            </a:r>
          </a:p>
        </p:txBody>
      </p:sp>
      <p:sp>
        <p:nvSpPr>
          <p:cNvPr id="22" name="TextBox 21"/>
          <p:cNvSpPr txBox="1"/>
          <p:nvPr/>
        </p:nvSpPr>
        <p:spPr>
          <a:xfrm>
            <a:off x="1764792" y="3328416"/>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Female and male mice are explicitly identified.</a:t>
            </a:r>
          </a:p>
        </p:txBody>
      </p:sp>
      <p:sp>
        <p:nvSpPr>
          <p:cNvPr id="23" name="criterion_card_4_Disease"/>
          <p:cNvSpPr/>
          <p:nvPr/>
        </p:nvSpPr>
        <p:spPr>
          <a:xfrm>
            <a:off x="502920" y="4187952"/>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502920" y="4187952"/>
            <a:ext cx="73152" cy="850392"/>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67512" y="4279392"/>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Disease</a:t>
            </a:r>
          </a:p>
        </p:txBody>
      </p:sp>
      <p:sp>
        <p:nvSpPr>
          <p:cNvPr id="26" name="criterion_state_4"/>
          <p:cNvSpPr/>
          <p:nvPr/>
        </p:nvSpPr>
        <p:spPr>
          <a:xfrm>
            <a:off x="649224" y="4553712"/>
            <a:ext cx="987552" cy="265176"/>
          </a:xfrm>
          <a:prstGeom prst="roundRect">
            <a:avLst/>
          </a:prstGeom>
          <a:solidFill>
            <a:srgbClr val="E0F4EE"/>
          </a:solidFill>
          <a:ln w="1016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76656" y="4581144"/>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STRONG</a:t>
            </a:r>
          </a:p>
        </p:txBody>
      </p:sp>
      <p:sp>
        <p:nvSpPr>
          <p:cNvPr id="28" name="TextBox 27"/>
          <p:cNvSpPr txBox="1"/>
          <p:nvPr/>
        </p:nvSpPr>
        <p:spPr>
          <a:xfrm>
            <a:off x="1764792" y="4315968"/>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5xFAD versus matched targeted-replacement controls.</a:t>
            </a:r>
          </a:p>
        </p:txBody>
      </p:sp>
      <p:sp>
        <p:nvSpPr>
          <p:cNvPr id="29" name="criterion_card_5_Modality"/>
          <p:cNvSpPr/>
          <p:nvPr/>
        </p:nvSpPr>
        <p:spPr>
          <a:xfrm>
            <a:off x="4279392" y="1225296"/>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4279392" y="1225296"/>
            <a:ext cx="73152" cy="85039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443983" y="1316736"/>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Modality</a:t>
            </a:r>
          </a:p>
        </p:txBody>
      </p:sp>
      <p:sp>
        <p:nvSpPr>
          <p:cNvPr id="32" name="criterion_state_5"/>
          <p:cNvSpPr/>
          <p:nvPr/>
        </p:nvSpPr>
        <p:spPr>
          <a:xfrm>
            <a:off x="4425696" y="1591056"/>
            <a:ext cx="987552" cy="265176"/>
          </a:xfrm>
          <a:prstGeom prst="roundRect">
            <a:avLst/>
          </a:prstGeom>
          <a:solidFill>
            <a:srgbClr val="FFF4D8"/>
          </a:solidFill>
          <a:ln w="1016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4453128" y="1618488"/>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PARTIAL</a:t>
            </a:r>
          </a:p>
        </p:txBody>
      </p:sp>
      <p:sp>
        <p:nvSpPr>
          <p:cNvPr id="34" name="TextBox 33"/>
          <p:cNvSpPr txBox="1"/>
          <p:nvPr/>
        </p:nvSpPr>
        <p:spPr>
          <a:xfrm>
            <a:off x="5541264" y="1353312"/>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Bulk RNA-seq of sorted microglia.</a:t>
            </a:r>
          </a:p>
        </p:txBody>
      </p:sp>
      <p:sp>
        <p:nvSpPr>
          <p:cNvPr id="35" name="criterion_card_6_Replication"/>
          <p:cNvSpPr/>
          <p:nvPr/>
        </p:nvSpPr>
        <p:spPr>
          <a:xfrm>
            <a:off x="4279392" y="2212848"/>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4279392" y="2212848"/>
            <a:ext cx="73152" cy="85039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4443983" y="2304288"/>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Replication</a:t>
            </a:r>
          </a:p>
        </p:txBody>
      </p:sp>
      <p:sp>
        <p:nvSpPr>
          <p:cNvPr id="38" name="criterion_state_6"/>
          <p:cNvSpPr/>
          <p:nvPr/>
        </p:nvSpPr>
        <p:spPr>
          <a:xfrm>
            <a:off x="4425696" y="2578608"/>
            <a:ext cx="987552" cy="265176"/>
          </a:xfrm>
          <a:prstGeom prst="roundRect">
            <a:avLst/>
          </a:prstGeom>
          <a:solidFill>
            <a:srgbClr val="FFF4D8"/>
          </a:solidFill>
          <a:ln w="1016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4453128" y="2606040"/>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PARTIAL</a:t>
            </a:r>
          </a:p>
        </p:txBody>
      </p:sp>
      <p:sp>
        <p:nvSpPr>
          <p:cNvPr id="40" name="TextBox 39"/>
          <p:cNvSpPr txBox="1"/>
          <p:nvPr/>
        </p:nvSpPr>
        <p:spPr>
          <a:xfrm>
            <a:off x="5541264" y="2340864"/>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Independent mice, but control groups have n=1–3.</a:t>
            </a:r>
          </a:p>
        </p:txBody>
      </p:sp>
      <p:sp>
        <p:nvSpPr>
          <p:cNvPr id="41" name="criterion_card_7_Cell breadth"/>
          <p:cNvSpPr/>
          <p:nvPr/>
        </p:nvSpPr>
        <p:spPr>
          <a:xfrm>
            <a:off x="4279392" y="3200400"/>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4279392" y="3200400"/>
            <a:ext cx="73152" cy="850392"/>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4443983" y="3291840"/>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Cell breadth</a:t>
            </a:r>
          </a:p>
        </p:txBody>
      </p:sp>
      <p:sp>
        <p:nvSpPr>
          <p:cNvPr id="44" name="criterion_state_7"/>
          <p:cNvSpPr/>
          <p:nvPr/>
        </p:nvSpPr>
        <p:spPr>
          <a:xfrm>
            <a:off x="4425696" y="3566160"/>
            <a:ext cx="987552" cy="265176"/>
          </a:xfrm>
          <a:prstGeom prst="roundRect">
            <a:avLst/>
          </a:prstGeom>
          <a:solidFill>
            <a:srgbClr val="FDEBE4"/>
          </a:solidFill>
          <a:ln w="10160">
            <a:solidFill>
              <a:srgbClr val="D55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4453128" y="3593592"/>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740" b="1" i="0">
                <a:solidFill>
                  <a:srgbClr val="232A33"/>
                </a:solidFill>
                <a:latin typeface="Arial"/>
              </a:rPr>
              <a:t>NOT MATCHED</a:t>
            </a:r>
          </a:p>
        </p:txBody>
      </p:sp>
      <p:sp>
        <p:nvSpPr>
          <p:cNvPr id="46" name="TextBox 45"/>
          <p:cNvSpPr txBox="1"/>
          <p:nvPr/>
        </p:nvSpPr>
        <p:spPr>
          <a:xfrm>
            <a:off x="5541264" y="3328416"/>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Microglia only.</a:t>
            </a:r>
          </a:p>
        </p:txBody>
      </p:sp>
      <p:sp>
        <p:nvSpPr>
          <p:cNvPr id="47" name="criterion_card_8_Public usability"/>
          <p:cNvSpPr/>
          <p:nvPr/>
        </p:nvSpPr>
        <p:spPr>
          <a:xfrm>
            <a:off x="4279392" y="4187952"/>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4279392" y="4187952"/>
            <a:ext cx="73152" cy="850392"/>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4443983" y="4279392"/>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69" b="1" i="0">
                <a:solidFill>
                  <a:srgbClr val="0F233D"/>
                </a:solidFill>
                <a:latin typeface="Arial"/>
              </a:rPr>
              <a:t>Public usability</a:t>
            </a:r>
          </a:p>
        </p:txBody>
      </p:sp>
      <p:sp>
        <p:nvSpPr>
          <p:cNvPr id="50" name="criterion_state_8"/>
          <p:cNvSpPr/>
          <p:nvPr/>
        </p:nvSpPr>
        <p:spPr>
          <a:xfrm>
            <a:off x="4425696" y="4553712"/>
            <a:ext cx="987552" cy="265176"/>
          </a:xfrm>
          <a:prstGeom prst="roundRect">
            <a:avLst/>
          </a:prstGeom>
          <a:solidFill>
            <a:srgbClr val="E0F4EE"/>
          </a:solidFill>
          <a:ln w="1016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4453128" y="4581144"/>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STRONG</a:t>
            </a:r>
          </a:p>
        </p:txBody>
      </p:sp>
      <p:sp>
        <p:nvSpPr>
          <p:cNvPr id="52" name="TextBox 51"/>
          <p:cNvSpPr txBox="1"/>
          <p:nvPr/>
        </p:nvSpPr>
        <p:spPr>
          <a:xfrm>
            <a:off x="5541264" y="4315968"/>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Compact processed mouse-level count matrix.</a:t>
            </a:r>
          </a:p>
        </p:txBody>
      </p:sp>
      <p:sp>
        <p:nvSpPr>
          <p:cNvPr id="53" name="Rounded Rectangle 52"/>
          <p:cNvSpPr/>
          <p:nvPr/>
        </p:nvSpPr>
        <p:spPr>
          <a:xfrm>
            <a:off x="8147304" y="1207008"/>
            <a:ext cx="3538728" cy="438912"/>
          </a:xfrm>
          <a:prstGeom prst="roundRect">
            <a:avLst/>
          </a:prstGeom>
          <a:solidFill>
            <a:srgbClr val="E0EFF8"/>
          </a:solidFill>
          <a:ln w="1524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8321040" y="1298448"/>
            <a:ext cx="3191256" cy="21945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030" b="1" i="0">
                <a:solidFill>
                  <a:srgbClr val="0072B2"/>
                </a:solidFill>
                <a:latin typeface="Arial"/>
              </a:rPr>
              <a:t>CORE ANCHOR</a:t>
            </a:r>
          </a:p>
        </p:txBody>
      </p:sp>
      <p:sp>
        <p:nvSpPr>
          <p:cNvPr id="55" name="Rounded Rectangle 54"/>
          <p:cNvSpPr/>
          <p:nvPr/>
        </p:nvSpPr>
        <p:spPr>
          <a:xfrm>
            <a:off x="8147304" y="1773936"/>
            <a:ext cx="3538728" cy="932688"/>
          </a:xfrm>
          <a:prstGeom prst="roundRect">
            <a:avLst/>
          </a:prstGeom>
          <a:solidFill>
            <a:srgbClr val="E0EFF8"/>
          </a:solidFill>
          <a:ln w="1524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8330183" y="1911095"/>
            <a:ext cx="3172968" cy="18288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69" b="1" i="0">
                <a:solidFill>
                  <a:srgbClr val="0072B2"/>
                </a:solidFill>
                <a:latin typeface="Arial"/>
              </a:rPr>
              <a:t>STUDY SNAPSHOT</a:t>
            </a:r>
          </a:p>
        </p:txBody>
      </p:sp>
      <p:sp>
        <p:nvSpPr>
          <p:cNvPr id="57" name="TextBox 56"/>
          <p:cNvSpPr txBox="1"/>
          <p:nvPr/>
        </p:nvSpPr>
        <p:spPr>
          <a:xfrm>
            <a:off x="8330183" y="2167128"/>
            <a:ext cx="3172968" cy="42976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140" b="1" i="0">
                <a:solidFill>
                  <a:srgbClr val="0F233D"/>
                </a:solidFill>
                <a:latin typeface="Arial"/>
              </a:rPr>
              <a:t>Brain microglia • bulk RNA-seq • 30 mice • all 8 APOE×sex×disease groups</a:t>
            </a:r>
          </a:p>
        </p:txBody>
      </p:sp>
      <p:sp>
        <p:nvSpPr>
          <p:cNvPr id="58" name="Rounded Rectangle 57"/>
          <p:cNvSpPr/>
          <p:nvPr/>
        </p:nvSpPr>
        <p:spPr>
          <a:xfrm>
            <a:off x="8147304" y="2834640"/>
            <a:ext cx="3538728" cy="1243584"/>
          </a:xfrm>
          <a:prstGeom prst="roundRect">
            <a:avLst/>
          </a:prstGeom>
          <a:solidFill>
            <a:srgbClr val="E0F4EE"/>
          </a:solidFill>
          <a:ln w="1524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8330183" y="2971800"/>
            <a:ext cx="3172968" cy="18288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69" b="1" i="0">
                <a:solidFill>
                  <a:srgbClr val="009E73"/>
                </a:solidFill>
                <a:latin typeface="Arial"/>
              </a:rPr>
              <a:t>BEST USE</a:t>
            </a:r>
          </a:p>
        </p:txBody>
      </p:sp>
      <p:sp>
        <p:nvSpPr>
          <p:cNvPr id="60" name="TextBox 59"/>
          <p:cNvSpPr txBox="1"/>
          <p:nvPr/>
        </p:nvSpPr>
        <p:spPr>
          <a:xfrm>
            <a:off x="8330183" y="3227832"/>
            <a:ext cx="3172968" cy="74066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200" b="0" i="0">
                <a:solidFill>
                  <a:srgbClr val="0F233D"/>
                </a:solidFill>
                <a:latin typeface="Arial"/>
              </a:rPr>
              <a:t>Directly benchmark APOE-by-sex-by-5xFAD effects in microglia.</a:t>
            </a:r>
          </a:p>
        </p:txBody>
      </p:sp>
      <p:sp>
        <p:nvSpPr>
          <p:cNvPr id="61" name="Rounded Rectangle 60"/>
          <p:cNvSpPr/>
          <p:nvPr/>
        </p:nvSpPr>
        <p:spPr>
          <a:xfrm>
            <a:off x="8147304" y="4206240"/>
            <a:ext cx="3538728" cy="1243584"/>
          </a:xfrm>
          <a:prstGeom prst="roundRect">
            <a:avLst/>
          </a:prstGeom>
          <a:solidFill>
            <a:srgbClr val="FDEBE4"/>
          </a:solidFill>
          <a:ln w="15240">
            <a:solidFill>
              <a:srgbClr val="D55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8330183" y="4343400"/>
            <a:ext cx="3172968" cy="18288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69" b="1" i="0">
                <a:solidFill>
                  <a:srgbClr val="D55E00"/>
                </a:solidFill>
                <a:latin typeface="Arial"/>
              </a:rPr>
              <a:t>DO NOT CLAIM</a:t>
            </a:r>
          </a:p>
        </p:txBody>
      </p:sp>
      <p:sp>
        <p:nvSpPr>
          <p:cNvPr id="63" name="TextBox 62"/>
          <p:cNvSpPr txBox="1"/>
          <p:nvPr/>
        </p:nvSpPr>
        <p:spPr>
          <a:xfrm>
            <a:off x="8330183" y="4599431"/>
            <a:ext cx="3172968" cy="74066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170" b="0" i="0">
                <a:solidFill>
                  <a:srgbClr val="0F233D"/>
                </a:solidFill>
                <a:latin typeface="Arial"/>
              </a:rPr>
              <a:t>Not regional or broad-cell; small, imbalanced controls make the three-way interaction underpowered.</a:t>
            </a:r>
          </a:p>
        </p:txBody>
      </p:sp>
      <p:sp>
        <p:nvSpPr>
          <p:cNvPr id="64" name="takeaway_ribbon"/>
          <p:cNvSpPr/>
          <p:nvPr/>
        </p:nvSpPr>
        <p:spPr>
          <a:xfrm>
            <a:off x="502920" y="5815584"/>
            <a:ext cx="11183112" cy="512064"/>
          </a:xfrm>
          <a:prstGeom prst="rect">
            <a:avLst/>
          </a:prstGeom>
          <a:solidFill>
            <a:srgbClr val="0F2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Rectangle 64"/>
          <p:cNvSpPr/>
          <p:nvPr/>
        </p:nvSpPr>
        <p:spPr>
          <a:xfrm>
            <a:off x="502920" y="5815584"/>
            <a:ext cx="91440" cy="5120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749808" y="5888736"/>
            <a:ext cx="10652760" cy="329184"/>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200" b="1" i="0">
                <a:solidFill>
                  <a:srgbClr val="FFFFFF"/>
                </a:solidFill>
                <a:latin typeface="Arial"/>
              </a:rPr>
              <a:t>Report factorial microglial support with effect estimates and uncertainty—not PFC replication.</a:t>
            </a:r>
          </a:p>
        </p:txBody>
      </p:sp>
      <p:sp>
        <p:nvSpPr>
          <p:cNvPr id="67" name="source_line"/>
          <p:cNvSpPr txBox="1"/>
          <p:nvPr/>
        </p:nvSpPr>
        <p:spPr>
          <a:xfrm>
            <a:off x="502920" y="6620256"/>
            <a:ext cx="11155680" cy="12801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670" b="0" i="0">
                <a:solidFill>
                  <a:srgbClr val="606C7B"/>
                </a:solidFill>
                <a:latin typeface="Arial"/>
              </a:rPr>
              <a:t>Source: mouse_dataset_comparison.md §6.3; GEO GSE163857; PMID 34746703. Suitability assessment, not new matrix analysis.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146304"/>
            <a:ext cx="5577840"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19" b="1" i="0">
                <a:solidFill>
                  <a:srgbClr val="009E73"/>
                </a:solidFill>
                <a:latin typeface="Arial"/>
              </a:rPr>
              <a:t>DATASET PROFILE • DISEASE DIRECTION</a:t>
            </a:r>
          </a:p>
        </p:txBody>
      </p:sp>
      <p:sp>
        <p:nvSpPr>
          <p:cNvPr id="3" name="slide_title"/>
          <p:cNvSpPr txBox="1"/>
          <p:nvPr/>
        </p:nvSpPr>
        <p:spPr>
          <a:xfrm>
            <a:off x="502920" y="356616"/>
            <a:ext cx="11018520" cy="713232"/>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950" b="1" i="0">
                <a:solidFill>
                  <a:srgbClr val="0F233D"/>
                </a:solidFill>
                <a:latin typeface="Arial"/>
              </a:rPr>
              <a:t>GSE140399 supplies broad-cell cortical disease direction, but pooled mice make it descriptive</a:t>
            </a:r>
          </a:p>
        </p:txBody>
      </p:sp>
      <p:sp>
        <p:nvSpPr>
          <p:cNvPr id="4" name="TextBox 3"/>
          <p:cNvSpPr txBox="1"/>
          <p:nvPr/>
        </p:nvSpPr>
        <p:spPr>
          <a:xfrm>
            <a:off x="11402568" y="155448"/>
            <a:ext cx="274320" cy="164592"/>
          </a:xfrm>
          <a:prstGeom prst="rect">
            <a:avLst/>
          </a:prstGeom>
          <a:noFill/>
        </p:spPr>
        <p:txBody>
          <a:bodyPr wrap="square" lIns="27432" tIns="27432" rIns="27432" bIns="27432" anchor="t">
            <a:spAutoFit/>
          </a:bodyPr>
          <a:lstStyle/>
          <a:p>
            <a:pPr algn="r">
              <a:lnSpc>
                <a:spcPct val="100000"/>
              </a:lnSpc>
              <a:spcBef>
                <a:spcPts val="0"/>
              </a:spcBef>
              <a:spcAft>
                <a:spcPts val="0"/>
              </a:spcAft>
            </a:pPr>
            <a:r>
              <a:rPr sz="880" b="1" i="0">
                <a:solidFill>
                  <a:srgbClr val="606C7B"/>
                </a:solidFill>
                <a:latin typeface="Arial"/>
              </a:rPr>
              <a:t>06</a:t>
            </a:r>
          </a:p>
        </p:txBody>
      </p:sp>
      <p:sp>
        <p:nvSpPr>
          <p:cNvPr id="5" name="criterion_card_1_Region"/>
          <p:cNvSpPr/>
          <p:nvPr/>
        </p:nvSpPr>
        <p:spPr>
          <a:xfrm>
            <a:off x="502920" y="1225296"/>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02920" y="1225296"/>
            <a:ext cx="73152" cy="85039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67512" y="1316736"/>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Region</a:t>
            </a:r>
          </a:p>
        </p:txBody>
      </p:sp>
      <p:sp>
        <p:nvSpPr>
          <p:cNvPr id="8" name="criterion_state_1"/>
          <p:cNvSpPr/>
          <p:nvPr/>
        </p:nvSpPr>
        <p:spPr>
          <a:xfrm>
            <a:off x="649224" y="1591056"/>
            <a:ext cx="987552" cy="265176"/>
          </a:xfrm>
          <a:prstGeom prst="roundRect">
            <a:avLst/>
          </a:prstGeom>
          <a:solidFill>
            <a:srgbClr val="FFF4D8"/>
          </a:solidFill>
          <a:ln w="1016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76656" y="1618488"/>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PARTIAL</a:t>
            </a:r>
          </a:p>
        </p:txBody>
      </p:sp>
      <p:sp>
        <p:nvSpPr>
          <p:cNvPr id="10" name="TextBox 9"/>
          <p:cNvSpPr txBox="1"/>
          <p:nvPr/>
        </p:nvSpPr>
        <p:spPr>
          <a:xfrm>
            <a:off x="1764792" y="1353312"/>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Cortex is separate from hippocampus; not explicit PFC.</a:t>
            </a:r>
          </a:p>
        </p:txBody>
      </p:sp>
      <p:sp>
        <p:nvSpPr>
          <p:cNvPr id="11" name="criterion_card_2_APOE"/>
          <p:cNvSpPr/>
          <p:nvPr/>
        </p:nvSpPr>
        <p:spPr>
          <a:xfrm>
            <a:off x="502920" y="2212848"/>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502920" y="2212848"/>
            <a:ext cx="73152" cy="850392"/>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67512" y="2304288"/>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APOE</a:t>
            </a:r>
          </a:p>
        </p:txBody>
      </p:sp>
      <p:sp>
        <p:nvSpPr>
          <p:cNvPr id="14" name="criterion_state_2"/>
          <p:cNvSpPr/>
          <p:nvPr/>
        </p:nvSpPr>
        <p:spPr>
          <a:xfrm>
            <a:off x="649224" y="2578608"/>
            <a:ext cx="987552" cy="265176"/>
          </a:xfrm>
          <a:prstGeom prst="roundRect">
            <a:avLst/>
          </a:prstGeom>
          <a:solidFill>
            <a:srgbClr val="FDEBE4"/>
          </a:solidFill>
          <a:ln w="10160">
            <a:solidFill>
              <a:srgbClr val="D55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76656" y="2606040"/>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740" b="1" i="0">
                <a:solidFill>
                  <a:srgbClr val="232A33"/>
                </a:solidFill>
                <a:latin typeface="Arial"/>
              </a:rPr>
              <a:t>NOT MATCHED</a:t>
            </a:r>
          </a:p>
        </p:txBody>
      </p:sp>
      <p:sp>
        <p:nvSpPr>
          <p:cNvPr id="16" name="TextBox 15"/>
          <p:cNvSpPr txBox="1"/>
          <p:nvPr/>
        </p:nvSpPr>
        <p:spPr>
          <a:xfrm>
            <a:off x="1764792" y="2340864"/>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No human APOE isoform; TREM2 is the modifier.</a:t>
            </a:r>
          </a:p>
        </p:txBody>
      </p:sp>
      <p:sp>
        <p:nvSpPr>
          <p:cNvPr id="17" name="criterion_card_3_Sex"/>
          <p:cNvSpPr/>
          <p:nvPr/>
        </p:nvSpPr>
        <p:spPr>
          <a:xfrm>
            <a:off x="502920" y="3200400"/>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502920" y="3200400"/>
            <a:ext cx="73152" cy="850392"/>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67512" y="3291840"/>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Sex</a:t>
            </a:r>
          </a:p>
        </p:txBody>
      </p:sp>
      <p:sp>
        <p:nvSpPr>
          <p:cNvPr id="20" name="criterion_state_3"/>
          <p:cNvSpPr/>
          <p:nvPr/>
        </p:nvSpPr>
        <p:spPr>
          <a:xfrm>
            <a:off x="649224" y="3566160"/>
            <a:ext cx="987552" cy="265176"/>
          </a:xfrm>
          <a:prstGeom prst="roundRect">
            <a:avLst/>
          </a:prstGeom>
          <a:solidFill>
            <a:srgbClr val="FDEBE4"/>
          </a:solidFill>
          <a:ln w="10160">
            <a:solidFill>
              <a:srgbClr val="D55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76656" y="3593592"/>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740" b="1" i="0">
                <a:solidFill>
                  <a:srgbClr val="232A33"/>
                </a:solidFill>
                <a:latin typeface="Arial"/>
              </a:rPr>
              <a:t>NOT MATCHED</a:t>
            </a:r>
          </a:p>
        </p:txBody>
      </p:sp>
      <p:sp>
        <p:nvSpPr>
          <p:cNvPr id="22" name="TextBox 21"/>
          <p:cNvSpPr txBox="1"/>
          <p:nvPr/>
        </p:nvSpPr>
        <p:spPr>
          <a:xfrm>
            <a:off x="1764792" y="3328416"/>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Sex is not a usable public study factor.</a:t>
            </a:r>
          </a:p>
        </p:txBody>
      </p:sp>
      <p:sp>
        <p:nvSpPr>
          <p:cNvPr id="23" name="criterion_card_4_Disease"/>
          <p:cNvSpPr/>
          <p:nvPr/>
        </p:nvSpPr>
        <p:spPr>
          <a:xfrm>
            <a:off x="502920" y="4187952"/>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502920" y="4187952"/>
            <a:ext cx="73152" cy="850392"/>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67512" y="4279392"/>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Disease</a:t>
            </a:r>
          </a:p>
        </p:txBody>
      </p:sp>
      <p:sp>
        <p:nvSpPr>
          <p:cNvPr id="26" name="criterion_state_4"/>
          <p:cNvSpPr/>
          <p:nvPr/>
        </p:nvSpPr>
        <p:spPr>
          <a:xfrm>
            <a:off x="649224" y="4553712"/>
            <a:ext cx="987552" cy="265176"/>
          </a:xfrm>
          <a:prstGeom prst="roundRect">
            <a:avLst/>
          </a:prstGeom>
          <a:solidFill>
            <a:srgbClr val="E0F4EE"/>
          </a:solidFill>
          <a:ln w="1016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76656" y="4581144"/>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STRONG</a:t>
            </a:r>
          </a:p>
        </p:txBody>
      </p:sp>
      <p:sp>
        <p:nvSpPr>
          <p:cNvPr id="28" name="TextBox 27"/>
          <p:cNvSpPr txBox="1"/>
          <p:nvPr/>
        </p:nvSpPr>
        <p:spPr>
          <a:xfrm>
            <a:off x="1764792" y="4315968"/>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WT, 5xFAD, Trem2KO, and Trem2KO×5xFAD.</a:t>
            </a:r>
          </a:p>
        </p:txBody>
      </p:sp>
      <p:sp>
        <p:nvSpPr>
          <p:cNvPr id="29" name="criterion_card_5_Modality"/>
          <p:cNvSpPr/>
          <p:nvPr/>
        </p:nvSpPr>
        <p:spPr>
          <a:xfrm>
            <a:off x="4279392" y="1225296"/>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4279392" y="1225296"/>
            <a:ext cx="73152" cy="85039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443983" y="1316736"/>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Modality</a:t>
            </a:r>
          </a:p>
        </p:txBody>
      </p:sp>
      <p:sp>
        <p:nvSpPr>
          <p:cNvPr id="32" name="criterion_state_5"/>
          <p:cNvSpPr/>
          <p:nvPr/>
        </p:nvSpPr>
        <p:spPr>
          <a:xfrm>
            <a:off x="4425696" y="1591056"/>
            <a:ext cx="987552" cy="265176"/>
          </a:xfrm>
          <a:prstGeom prst="roundRect">
            <a:avLst/>
          </a:prstGeom>
          <a:solidFill>
            <a:srgbClr val="FFF4D8"/>
          </a:solidFill>
          <a:ln w="1016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4453128" y="1618488"/>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PARTIAL</a:t>
            </a:r>
          </a:p>
        </p:txBody>
      </p:sp>
      <p:sp>
        <p:nvSpPr>
          <p:cNvPr id="34" name="TextBox 33"/>
          <p:cNvSpPr txBox="1"/>
          <p:nvPr/>
        </p:nvSpPr>
        <p:spPr>
          <a:xfrm>
            <a:off x="5541264" y="1353312"/>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snRNA-seq, but animals were pooled before profiling.</a:t>
            </a:r>
          </a:p>
        </p:txBody>
      </p:sp>
      <p:sp>
        <p:nvSpPr>
          <p:cNvPr id="35" name="criterion_card_6_Replication"/>
          <p:cNvSpPr/>
          <p:nvPr/>
        </p:nvSpPr>
        <p:spPr>
          <a:xfrm>
            <a:off x="4279392" y="2212848"/>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4279392" y="2212848"/>
            <a:ext cx="73152" cy="85039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4443983" y="2304288"/>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Replication</a:t>
            </a:r>
          </a:p>
        </p:txBody>
      </p:sp>
      <p:sp>
        <p:nvSpPr>
          <p:cNvPr id="38" name="criterion_state_6"/>
          <p:cNvSpPr/>
          <p:nvPr/>
        </p:nvSpPr>
        <p:spPr>
          <a:xfrm>
            <a:off x="4425696" y="2578608"/>
            <a:ext cx="987552" cy="265176"/>
          </a:xfrm>
          <a:prstGeom prst="roundRect">
            <a:avLst/>
          </a:prstGeom>
          <a:solidFill>
            <a:srgbClr val="FFF4D8"/>
          </a:solidFill>
          <a:ln w="1016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4453128" y="2606040"/>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PARTIAL</a:t>
            </a:r>
          </a:p>
        </p:txBody>
      </p:sp>
      <p:sp>
        <p:nvSpPr>
          <p:cNvPr id="40" name="TextBox 39"/>
          <p:cNvSpPr txBox="1"/>
          <p:nvPr/>
        </p:nvSpPr>
        <p:spPr>
          <a:xfrm>
            <a:off x="5541264" y="2340864"/>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Three mice form one pool per region×genotype.</a:t>
            </a:r>
          </a:p>
        </p:txBody>
      </p:sp>
      <p:sp>
        <p:nvSpPr>
          <p:cNvPr id="41" name="criterion_card_7_Cell breadth"/>
          <p:cNvSpPr/>
          <p:nvPr/>
        </p:nvSpPr>
        <p:spPr>
          <a:xfrm>
            <a:off x="4279392" y="3200400"/>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4279392" y="3200400"/>
            <a:ext cx="73152" cy="850392"/>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4443983" y="3291840"/>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Cell breadth</a:t>
            </a:r>
          </a:p>
        </p:txBody>
      </p:sp>
      <p:sp>
        <p:nvSpPr>
          <p:cNvPr id="44" name="criterion_state_7"/>
          <p:cNvSpPr/>
          <p:nvPr/>
        </p:nvSpPr>
        <p:spPr>
          <a:xfrm>
            <a:off x="4425696" y="3566160"/>
            <a:ext cx="987552" cy="265176"/>
          </a:xfrm>
          <a:prstGeom prst="roundRect">
            <a:avLst/>
          </a:prstGeom>
          <a:solidFill>
            <a:srgbClr val="E0F4EE"/>
          </a:solidFill>
          <a:ln w="1016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4453128" y="3593592"/>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STRONG</a:t>
            </a:r>
          </a:p>
        </p:txBody>
      </p:sp>
      <p:sp>
        <p:nvSpPr>
          <p:cNvPr id="46" name="TextBox 45"/>
          <p:cNvSpPr txBox="1"/>
          <p:nvPr/>
        </p:nvSpPr>
        <p:spPr>
          <a:xfrm>
            <a:off x="5541264" y="3328416"/>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Broad neural and glial cell coverage.</a:t>
            </a:r>
          </a:p>
        </p:txBody>
      </p:sp>
      <p:sp>
        <p:nvSpPr>
          <p:cNvPr id="47" name="criterion_card_8_Public usability"/>
          <p:cNvSpPr/>
          <p:nvPr/>
        </p:nvSpPr>
        <p:spPr>
          <a:xfrm>
            <a:off x="4279392" y="4187952"/>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4279392" y="4187952"/>
            <a:ext cx="73152" cy="85039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4443983" y="4279392"/>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69" b="1" i="0">
                <a:solidFill>
                  <a:srgbClr val="0F233D"/>
                </a:solidFill>
                <a:latin typeface="Arial"/>
              </a:rPr>
              <a:t>Public usability</a:t>
            </a:r>
          </a:p>
        </p:txBody>
      </p:sp>
      <p:sp>
        <p:nvSpPr>
          <p:cNvPr id="50" name="criterion_state_8"/>
          <p:cNvSpPr/>
          <p:nvPr/>
        </p:nvSpPr>
        <p:spPr>
          <a:xfrm>
            <a:off x="4425696" y="4553712"/>
            <a:ext cx="987552" cy="265176"/>
          </a:xfrm>
          <a:prstGeom prst="roundRect">
            <a:avLst/>
          </a:prstGeom>
          <a:solidFill>
            <a:srgbClr val="FFF4D8"/>
          </a:solidFill>
          <a:ln w="1016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4453128" y="4581144"/>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PARTIAL</a:t>
            </a:r>
          </a:p>
        </p:txBody>
      </p:sp>
      <p:sp>
        <p:nvSpPr>
          <p:cNvPr id="52" name="TextBox 51"/>
          <p:cNvSpPr txBox="1"/>
          <p:nvPr/>
        </p:nvSpPr>
        <p:spPr>
          <a:xfrm>
            <a:off x="5541264" y="4315968"/>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Counts are usable; pooling blocks ordinary inference.</a:t>
            </a:r>
          </a:p>
        </p:txBody>
      </p:sp>
      <p:sp>
        <p:nvSpPr>
          <p:cNvPr id="53" name="Rounded Rectangle 52"/>
          <p:cNvSpPr/>
          <p:nvPr/>
        </p:nvSpPr>
        <p:spPr>
          <a:xfrm>
            <a:off x="8147304" y="1207008"/>
            <a:ext cx="3538728" cy="438912"/>
          </a:xfrm>
          <a:prstGeom prst="roundRect">
            <a:avLst/>
          </a:prstGeom>
          <a:solidFill>
            <a:srgbClr val="E0F4EE"/>
          </a:solidFill>
          <a:ln w="1524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8321040" y="1298448"/>
            <a:ext cx="3191256" cy="21945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030" b="1" i="0">
                <a:solidFill>
                  <a:srgbClr val="009E73"/>
                </a:solidFill>
                <a:latin typeface="Arial"/>
              </a:rPr>
              <a:t>DISEASE DIRECTION</a:t>
            </a:r>
          </a:p>
        </p:txBody>
      </p:sp>
      <p:sp>
        <p:nvSpPr>
          <p:cNvPr id="55" name="Rounded Rectangle 54"/>
          <p:cNvSpPr/>
          <p:nvPr/>
        </p:nvSpPr>
        <p:spPr>
          <a:xfrm>
            <a:off x="8147304" y="1773936"/>
            <a:ext cx="3538728" cy="932688"/>
          </a:xfrm>
          <a:prstGeom prst="roundRect">
            <a:avLst/>
          </a:prstGeom>
          <a:solidFill>
            <a:srgbClr val="E0F4EE"/>
          </a:solidFill>
          <a:ln w="1524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8330183" y="1911095"/>
            <a:ext cx="3172968" cy="18288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69" b="1" i="0">
                <a:solidFill>
                  <a:srgbClr val="009E73"/>
                </a:solidFill>
                <a:latin typeface="Arial"/>
              </a:rPr>
              <a:t>STUDY SNAPSHOT</a:t>
            </a:r>
          </a:p>
        </p:txBody>
      </p:sp>
      <p:sp>
        <p:nvSpPr>
          <p:cNvPr id="57" name="TextBox 56"/>
          <p:cNvSpPr txBox="1"/>
          <p:nvPr/>
        </p:nvSpPr>
        <p:spPr>
          <a:xfrm>
            <a:off x="8330183" y="2167128"/>
            <a:ext cx="3172968" cy="42976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140" b="1" i="0">
                <a:solidFill>
                  <a:srgbClr val="0F233D"/>
                </a:solidFill>
                <a:latin typeface="Arial"/>
              </a:rPr>
              <a:t>15-month cortex/hippocampus • snRNA-seq • one pool/condition</a:t>
            </a:r>
          </a:p>
        </p:txBody>
      </p:sp>
      <p:sp>
        <p:nvSpPr>
          <p:cNvPr id="58" name="Rounded Rectangle 57"/>
          <p:cNvSpPr/>
          <p:nvPr/>
        </p:nvSpPr>
        <p:spPr>
          <a:xfrm>
            <a:off x="8147304" y="2834640"/>
            <a:ext cx="3538728" cy="1243584"/>
          </a:xfrm>
          <a:prstGeom prst="roundRect">
            <a:avLst/>
          </a:prstGeom>
          <a:solidFill>
            <a:srgbClr val="E0F4EE"/>
          </a:solidFill>
          <a:ln w="1524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8330183" y="2971800"/>
            <a:ext cx="3172968" cy="18288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69" b="1" i="0">
                <a:solidFill>
                  <a:srgbClr val="009E73"/>
                </a:solidFill>
                <a:latin typeface="Arial"/>
              </a:rPr>
              <a:t>BEST USE</a:t>
            </a:r>
          </a:p>
        </p:txBody>
      </p:sp>
      <p:sp>
        <p:nvSpPr>
          <p:cNvPr id="60" name="TextBox 59"/>
          <p:cNvSpPr txBox="1"/>
          <p:nvPr/>
        </p:nvSpPr>
        <p:spPr>
          <a:xfrm>
            <a:off x="8330183" y="3227832"/>
            <a:ext cx="3172968" cy="74066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200" b="0" i="0">
                <a:solidFill>
                  <a:srgbClr val="0F233D"/>
                </a:solidFill>
                <a:latin typeface="Arial"/>
              </a:rPr>
              <a:t>Check the direction of frozen human modules in homologous cortical cell types.</a:t>
            </a:r>
          </a:p>
        </p:txBody>
      </p:sp>
      <p:sp>
        <p:nvSpPr>
          <p:cNvPr id="61" name="Rounded Rectangle 60"/>
          <p:cNvSpPr/>
          <p:nvPr/>
        </p:nvSpPr>
        <p:spPr>
          <a:xfrm>
            <a:off x="8147304" y="4206240"/>
            <a:ext cx="3538728" cy="1243584"/>
          </a:xfrm>
          <a:prstGeom prst="roundRect">
            <a:avLst/>
          </a:prstGeom>
          <a:solidFill>
            <a:srgbClr val="FDEBE4"/>
          </a:solidFill>
          <a:ln w="15240">
            <a:solidFill>
              <a:srgbClr val="D55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8330183" y="4343400"/>
            <a:ext cx="3172968" cy="18288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69" b="1" i="0">
                <a:solidFill>
                  <a:srgbClr val="D55E00"/>
                </a:solidFill>
                <a:latin typeface="Arial"/>
              </a:rPr>
              <a:t>DO NOT CLAIM</a:t>
            </a:r>
          </a:p>
        </p:txBody>
      </p:sp>
      <p:sp>
        <p:nvSpPr>
          <p:cNvPr id="63" name="TextBox 62"/>
          <p:cNvSpPr txBox="1"/>
          <p:nvPr/>
        </p:nvSpPr>
        <p:spPr>
          <a:xfrm>
            <a:off x="8330183" y="4599431"/>
            <a:ext cx="3172968" cy="74066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170" b="0" i="0">
                <a:solidFill>
                  <a:srgbClr val="0F233D"/>
                </a:solidFill>
                <a:latin typeface="Arial"/>
              </a:rPr>
              <a:t>One expression pool per condition means no mouse-level variance or ordinary inferential P values.</a:t>
            </a:r>
          </a:p>
        </p:txBody>
      </p:sp>
      <p:sp>
        <p:nvSpPr>
          <p:cNvPr id="64" name="takeaway_ribbon"/>
          <p:cNvSpPr/>
          <p:nvPr/>
        </p:nvSpPr>
        <p:spPr>
          <a:xfrm>
            <a:off x="502920" y="5815584"/>
            <a:ext cx="11183112" cy="512064"/>
          </a:xfrm>
          <a:prstGeom prst="rect">
            <a:avLst/>
          </a:prstGeom>
          <a:solidFill>
            <a:srgbClr val="0F2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Rectangle 64"/>
          <p:cNvSpPr/>
          <p:nvPr/>
        </p:nvSpPr>
        <p:spPr>
          <a:xfrm>
            <a:off x="502920" y="5815584"/>
            <a:ext cx="91440" cy="5120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749808" y="5888736"/>
            <a:ext cx="10652760" cy="329184"/>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200" b="1" i="0">
                <a:solidFill>
                  <a:srgbClr val="FFFFFF"/>
                </a:solidFill>
                <a:latin typeface="Arial"/>
              </a:rPr>
              <a:t>Use “descriptive cortical concordance”—never “replicated in three mice per group.”</a:t>
            </a:r>
          </a:p>
        </p:txBody>
      </p:sp>
      <p:sp>
        <p:nvSpPr>
          <p:cNvPr id="67" name="source_line"/>
          <p:cNvSpPr txBox="1"/>
          <p:nvPr/>
        </p:nvSpPr>
        <p:spPr>
          <a:xfrm>
            <a:off x="502920" y="6620256"/>
            <a:ext cx="11155680" cy="12801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670" b="0" i="0">
                <a:solidFill>
                  <a:srgbClr val="606C7B"/>
                </a:solidFill>
                <a:latin typeface="Arial"/>
              </a:rPr>
              <a:t>Source: mouse_dataset_comparison.md §6.4; GEO GSE140399; PMID 31932797. Suitability assessment, not new matrix analysis.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02920" y="146304"/>
            <a:ext cx="5577840"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19" b="1" i="0">
                <a:solidFill>
                  <a:srgbClr val="009E73"/>
                </a:solidFill>
                <a:latin typeface="Arial"/>
              </a:rPr>
              <a:t>DATASET PROFILE • DISEASE DIRECTION</a:t>
            </a:r>
          </a:p>
        </p:txBody>
      </p:sp>
      <p:sp>
        <p:nvSpPr>
          <p:cNvPr id="3" name="slide_title"/>
          <p:cNvSpPr txBox="1"/>
          <p:nvPr/>
        </p:nvSpPr>
        <p:spPr>
          <a:xfrm>
            <a:off x="502920" y="356616"/>
            <a:ext cx="11018520" cy="713232"/>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950" b="1" i="0">
                <a:solidFill>
                  <a:srgbClr val="0F233D"/>
                </a:solidFill>
                <a:latin typeface="Arial"/>
              </a:rPr>
              <a:t>GSE140510 provides replicated broad-cell disease direction, but tissue is not explicitly cortex/PFC</a:t>
            </a:r>
          </a:p>
        </p:txBody>
      </p:sp>
      <p:sp>
        <p:nvSpPr>
          <p:cNvPr id="4" name="TextBox 3"/>
          <p:cNvSpPr txBox="1"/>
          <p:nvPr/>
        </p:nvSpPr>
        <p:spPr>
          <a:xfrm>
            <a:off x="11402568" y="155448"/>
            <a:ext cx="274320" cy="164592"/>
          </a:xfrm>
          <a:prstGeom prst="rect">
            <a:avLst/>
          </a:prstGeom>
          <a:noFill/>
        </p:spPr>
        <p:txBody>
          <a:bodyPr wrap="square" lIns="27432" tIns="27432" rIns="27432" bIns="27432" anchor="t">
            <a:spAutoFit/>
          </a:bodyPr>
          <a:lstStyle/>
          <a:p>
            <a:pPr algn="r">
              <a:lnSpc>
                <a:spcPct val="100000"/>
              </a:lnSpc>
              <a:spcBef>
                <a:spcPts val="0"/>
              </a:spcBef>
              <a:spcAft>
                <a:spcPts val="0"/>
              </a:spcAft>
            </a:pPr>
            <a:r>
              <a:rPr sz="880" b="1" i="0">
                <a:solidFill>
                  <a:srgbClr val="606C7B"/>
                </a:solidFill>
                <a:latin typeface="Arial"/>
              </a:rPr>
              <a:t>07</a:t>
            </a:r>
          </a:p>
        </p:txBody>
      </p:sp>
      <p:sp>
        <p:nvSpPr>
          <p:cNvPr id="5" name="criterion_card_1_Region"/>
          <p:cNvSpPr/>
          <p:nvPr/>
        </p:nvSpPr>
        <p:spPr>
          <a:xfrm>
            <a:off x="502920" y="1225296"/>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02920" y="1225296"/>
            <a:ext cx="73152" cy="850392"/>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67512" y="1316736"/>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Region</a:t>
            </a:r>
          </a:p>
        </p:txBody>
      </p:sp>
      <p:sp>
        <p:nvSpPr>
          <p:cNvPr id="8" name="criterion_state_1"/>
          <p:cNvSpPr/>
          <p:nvPr/>
        </p:nvSpPr>
        <p:spPr>
          <a:xfrm>
            <a:off x="649224" y="1591056"/>
            <a:ext cx="987552" cy="265176"/>
          </a:xfrm>
          <a:prstGeom prst="roundRect">
            <a:avLst/>
          </a:prstGeom>
          <a:solidFill>
            <a:srgbClr val="FDEBE4"/>
          </a:solidFill>
          <a:ln w="10160">
            <a:solidFill>
              <a:srgbClr val="D55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76656" y="1618488"/>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740" b="1" i="0">
                <a:solidFill>
                  <a:srgbClr val="232A33"/>
                </a:solidFill>
                <a:latin typeface="Arial"/>
              </a:rPr>
              <a:t>NOT MATCHED</a:t>
            </a:r>
          </a:p>
        </p:txBody>
      </p:sp>
      <p:sp>
        <p:nvSpPr>
          <p:cNvPr id="10" name="TextBox 9"/>
          <p:cNvSpPr txBox="1"/>
          <p:nvPr/>
        </p:nvSpPr>
        <p:spPr>
          <a:xfrm>
            <a:off x="1764792" y="1353312"/>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Public label is mouse brain, not cortex/PFC.</a:t>
            </a:r>
          </a:p>
        </p:txBody>
      </p:sp>
      <p:sp>
        <p:nvSpPr>
          <p:cNvPr id="11" name="criterion_card_2_APOE"/>
          <p:cNvSpPr/>
          <p:nvPr/>
        </p:nvSpPr>
        <p:spPr>
          <a:xfrm>
            <a:off x="502920" y="2212848"/>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502920" y="2212848"/>
            <a:ext cx="73152" cy="850392"/>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67512" y="2304288"/>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APOE</a:t>
            </a:r>
          </a:p>
        </p:txBody>
      </p:sp>
      <p:sp>
        <p:nvSpPr>
          <p:cNvPr id="14" name="criterion_state_2"/>
          <p:cNvSpPr/>
          <p:nvPr/>
        </p:nvSpPr>
        <p:spPr>
          <a:xfrm>
            <a:off x="649224" y="2578608"/>
            <a:ext cx="987552" cy="265176"/>
          </a:xfrm>
          <a:prstGeom prst="roundRect">
            <a:avLst/>
          </a:prstGeom>
          <a:solidFill>
            <a:srgbClr val="FDEBE4"/>
          </a:solidFill>
          <a:ln w="10160">
            <a:solidFill>
              <a:srgbClr val="D55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76656" y="2606040"/>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740" b="1" i="0">
                <a:solidFill>
                  <a:srgbClr val="232A33"/>
                </a:solidFill>
                <a:latin typeface="Arial"/>
              </a:rPr>
              <a:t>NOT MATCHED</a:t>
            </a:r>
          </a:p>
        </p:txBody>
      </p:sp>
      <p:sp>
        <p:nvSpPr>
          <p:cNvPr id="16" name="TextBox 15"/>
          <p:cNvSpPr txBox="1"/>
          <p:nvPr/>
        </p:nvSpPr>
        <p:spPr>
          <a:xfrm>
            <a:off x="1764792" y="2340864"/>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No human APOE isoform; TREM2 is the modifier.</a:t>
            </a:r>
          </a:p>
        </p:txBody>
      </p:sp>
      <p:sp>
        <p:nvSpPr>
          <p:cNvPr id="17" name="criterion_card_3_Sex"/>
          <p:cNvSpPr/>
          <p:nvPr/>
        </p:nvSpPr>
        <p:spPr>
          <a:xfrm>
            <a:off x="502920" y="3200400"/>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502920" y="3200400"/>
            <a:ext cx="73152" cy="850392"/>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67512" y="3291840"/>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Sex</a:t>
            </a:r>
          </a:p>
        </p:txBody>
      </p:sp>
      <p:sp>
        <p:nvSpPr>
          <p:cNvPr id="20" name="criterion_state_3"/>
          <p:cNvSpPr/>
          <p:nvPr/>
        </p:nvSpPr>
        <p:spPr>
          <a:xfrm>
            <a:off x="649224" y="3566160"/>
            <a:ext cx="987552" cy="265176"/>
          </a:xfrm>
          <a:prstGeom prst="roundRect">
            <a:avLst/>
          </a:prstGeom>
          <a:solidFill>
            <a:srgbClr val="FDEBE4"/>
          </a:solidFill>
          <a:ln w="10160">
            <a:solidFill>
              <a:srgbClr val="D55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76656" y="3593592"/>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740" b="1" i="0">
                <a:solidFill>
                  <a:srgbClr val="232A33"/>
                </a:solidFill>
                <a:latin typeface="Arial"/>
              </a:rPr>
              <a:t>NOT MATCHED</a:t>
            </a:r>
          </a:p>
        </p:txBody>
      </p:sp>
      <p:sp>
        <p:nvSpPr>
          <p:cNvPr id="22" name="TextBox 21"/>
          <p:cNvSpPr txBox="1"/>
          <p:nvPr/>
        </p:nvSpPr>
        <p:spPr>
          <a:xfrm>
            <a:off x="1764792" y="3328416"/>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Sex is not a usable public study factor.</a:t>
            </a:r>
          </a:p>
        </p:txBody>
      </p:sp>
      <p:sp>
        <p:nvSpPr>
          <p:cNvPr id="23" name="criterion_card_4_Disease"/>
          <p:cNvSpPr/>
          <p:nvPr/>
        </p:nvSpPr>
        <p:spPr>
          <a:xfrm>
            <a:off x="502920" y="4187952"/>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502920" y="4187952"/>
            <a:ext cx="73152" cy="850392"/>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67512" y="4279392"/>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Disease</a:t>
            </a:r>
          </a:p>
        </p:txBody>
      </p:sp>
      <p:sp>
        <p:nvSpPr>
          <p:cNvPr id="26" name="criterion_state_4"/>
          <p:cNvSpPr/>
          <p:nvPr/>
        </p:nvSpPr>
        <p:spPr>
          <a:xfrm>
            <a:off x="649224" y="4553712"/>
            <a:ext cx="987552" cy="265176"/>
          </a:xfrm>
          <a:prstGeom prst="roundRect">
            <a:avLst/>
          </a:prstGeom>
          <a:solidFill>
            <a:srgbClr val="E0F4EE"/>
          </a:solidFill>
          <a:ln w="1016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76656" y="4581144"/>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STRONG</a:t>
            </a:r>
          </a:p>
        </p:txBody>
      </p:sp>
      <p:sp>
        <p:nvSpPr>
          <p:cNvPr id="28" name="TextBox 27"/>
          <p:cNvSpPr txBox="1"/>
          <p:nvPr/>
        </p:nvSpPr>
        <p:spPr>
          <a:xfrm>
            <a:off x="1764792" y="4315968"/>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WT, 5xFAD, Trem2KO, and Trem2KO×5xFAD.</a:t>
            </a:r>
          </a:p>
        </p:txBody>
      </p:sp>
      <p:sp>
        <p:nvSpPr>
          <p:cNvPr id="29" name="criterion_card_5_Modality"/>
          <p:cNvSpPr/>
          <p:nvPr/>
        </p:nvSpPr>
        <p:spPr>
          <a:xfrm>
            <a:off x="4279392" y="1225296"/>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4279392" y="1225296"/>
            <a:ext cx="73152" cy="850392"/>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443983" y="1316736"/>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Modality</a:t>
            </a:r>
          </a:p>
        </p:txBody>
      </p:sp>
      <p:sp>
        <p:nvSpPr>
          <p:cNvPr id="32" name="criterion_state_5"/>
          <p:cNvSpPr/>
          <p:nvPr/>
        </p:nvSpPr>
        <p:spPr>
          <a:xfrm>
            <a:off x="4425696" y="1591056"/>
            <a:ext cx="987552" cy="265176"/>
          </a:xfrm>
          <a:prstGeom prst="roundRect">
            <a:avLst/>
          </a:prstGeom>
          <a:solidFill>
            <a:srgbClr val="E0F4EE"/>
          </a:solidFill>
          <a:ln w="1016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4453128" y="1618488"/>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STRONG</a:t>
            </a:r>
          </a:p>
        </p:txBody>
      </p:sp>
      <p:sp>
        <p:nvSpPr>
          <p:cNvPr id="34" name="TextBox 33"/>
          <p:cNvSpPr txBox="1"/>
          <p:nvPr/>
        </p:nvSpPr>
        <p:spPr>
          <a:xfrm>
            <a:off x="5541264" y="1353312"/>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snRNA-seq with separately processed mice.</a:t>
            </a:r>
          </a:p>
        </p:txBody>
      </p:sp>
      <p:sp>
        <p:nvSpPr>
          <p:cNvPr id="35" name="criterion_card_6_Replication"/>
          <p:cNvSpPr/>
          <p:nvPr/>
        </p:nvSpPr>
        <p:spPr>
          <a:xfrm>
            <a:off x="4279392" y="2212848"/>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4279392" y="2212848"/>
            <a:ext cx="73152" cy="850392"/>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4443983" y="2304288"/>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Replication</a:t>
            </a:r>
          </a:p>
        </p:txBody>
      </p:sp>
      <p:sp>
        <p:nvSpPr>
          <p:cNvPr id="38" name="criterion_state_6"/>
          <p:cNvSpPr/>
          <p:nvPr/>
        </p:nvSpPr>
        <p:spPr>
          <a:xfrm>
            <a:off x="4425696" y="2578608"/>
            <a:ext cx="987552" cy="265176"/>
          </a:xfrm>
          <a:prstGeom prst="roundRect">
            <a:avLst/>
          </a:prstGeom>
          <a:solidFill>
            <a:srgbClr val="E0F4EE"/>
          </a:solidFill>
          <a:ln w="1016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4453128" y="2606040"/>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STRONG</a:t>
            </a:r>
          </a:p>
        </p:txBody>
      </p:sp>
      <p:sp>
        <p:nvSpPr>
          <p:cNvPr id="40" name="TextBox 39"/>
          <p:cNvSpPr txBox="1"/>
          <p:nvPr/>
        </p:nvSpPr>
        <p:spPr>
          <a:xfrm>
            <a:off x="5541264" y="2340864"/>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12 independent mice; three per genotype.</a:t>
            </a:r>
          </a:p>
        </p:txBody>
      </p:sp>
      <p:sp>
        <p:nvSpPr>
          <p:cNvPr id="41" name="criterion_card_7_Cell breadth"/>
          <p:cNvSpPr/>
          <p:nvPr/>
        </p:nvSpPr>
        <p:spPr>
          <a:xfrm>
            <a:off x="4279392" y="3200400"/>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4279392" y="3200400"/>
            <a:ext cx="73152" cy="850392"/>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4443983" y="3291840"/>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Cell breadth</a:t>
            </a:r>
          </a:p>
        </p:txBody>
      </p:sp>
      <p:sp>
        <p:nvSpPr>
          <p:cNvPr id="44" name="criterion_state_7"/>
          <p:cNvSpPr/>
          <p:nvPr/>
        </p:nvSpPr>
        <p:spPr>
          <a:xfrm>
            <a:off x="4425696" y="3566160"/>
            <a:ext cx="987552" cy="265176"/>
          </a:xfrm>
          <a:prstGeom prst="roundRect">
            <a:avLst/>
          </a:prstGeom>
          <a:solidFill>
            <a:srgbClr val="E0F4EE"/>
          </a:solidFill>
          <a:ln w="1016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4453128" y="3593592"/>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STRONG</a:t>
            </a:r>
          </a:p>
        </p:txBody>
      </p:sp>
      <p:sp>
        <p:nvSpPr>
          <p:cNvPr id="46" name="TextBox 45"/>
          <p:cNvSpPr txBox="1"/>
          <p:nvPr/>
        </p:nvSpPr>
        <p:spPr>
          <a:xfrm>
            <a:off x="5541264" y="3328416"/>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Broad neural, glial, and vascular coverage.</a:t>
            </a:r>
          </a:p>
        </p:txBody>
      </p:sp>
      <p:sp>
        <p:nvSpPr>
          <p:cNvPr id="47" name="criterion_card_8_Public usability"/>
          <p:cNvSpPr/>
          <p:nvPr/>
        </p:nvSpPr>
        <p:spPr>
          <a:xfrm>
            <a:off x="4279392" y="4187952"/>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4279392" y="4187952"/>
            <a:ext cx="73152" cy="850392"/>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4443983" y="4279392"/>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69" b="1" i="0">
                <a:solidFill>
                  <a:srgbClr val="0F233D"/>
                </a:solidFill>
                <a:latin typeface="Arial"/>
              </a:rPr>
              <a:t>Public usability</a:t>
            </a:r>
          </a:p>
        </p:txBody>
      </p:sp>
      <p:sp>
        <p:nvSpPr>
          <p:cNvPr id="50" name="criterion_state_8"/>
          <p:cNvSpPr/>
          <p:nvPr/>
        </p:nvSpPr>
        <p:spPr>
          <a:xfrm>
            <a:off x="4425696" y="4553712"/>
            <a:ext cx="987552" cy="265176"/>
          </a:xfrm>
          <a:prstGeom prst="roundRect">
            <a:avLst/>
          </a:prstGeom>
          <a:solidFill>
            <a:srgbClr val="E0F4EE"/>
          </a:solidFill>
          <a:ln w="1016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4453128" y="4581144"/>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STRONG</a:t>
            </a:r>
          </a:p>
        </p:txBody>
      </p:sp>
      <p:sp>
        <p:nvSpPr>
          <p:cNvPr id="52" name="TextBox 51"/>
          <p:cNvSpPr txBox="1"/>
          <p:nvPr/>
        </p:nvSpPr>
        <p:spPr>
          <a:xfrm>
            <a:off x="5541264" y="4315968"/>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Mouse-level files support pseudobulk contrasts.</a:t>
            </a:r>
          </a:p>
        </p:txBody>
      </p:sp>
      <p:sp>
        <p:nvSpPr>
          <p:cNvPr id="53" name="Rounded Rectangle 52"/>
          <p:cNvSpPr/>
          <p:nvPr/>
        </p:nvSpPr>
        <p:spPr>
          <a:xfrm>
            <a:off x="8147304" y="1207008"/>
            <a:ext cx="3538728" cy="438912"/>
          </a:xfrm>
          <a:prstGeom prst="roundRect">
            <a:avLst/>
          </a:prstGeom>
          <a:solidFill>
            <a:srgbClr val="E0F4EE"/>
          </a:solidFill>
          <a:ln w="1524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8321040" y="1298448"/>
            <a:ext cx="3191256" cy="21945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030" b="1" i="0">
                <a:solidFill>
                  <a:srgbClr val="009E73"/>
                </a:solidFill>
                <a:latin typeface="Arial"/>
              </a:rPr>
              <a:t>DISEASE DIRECTION</a:t>
            </a:r>
          </a:p>
        </p:txBody>
      </p:sp>
      <p:sp>
        <p:nvSpPr>
          <p:cNvPr id="55" name="Rounded Rectangle 54"/>
          <p:cNvSpPr/>
          <p:nvPr/>
        </p:nvSpPr>
        <p:spPr>
          <a:xfrm>
            <a:off x="8147304" y="1773936"/>
            <a:ext cx="3538728" cy="932688"/>
          </a:xfrm>
          <a:prstGeom prst="roundRect">
            <a:avLst/>
          </a:prstGeom>
          <a:solidFill>
            <a:srgbClr val="E0F4EE"/>
          </a:solidFill>
          <a:ln w="1524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8330183" y="1911095"/>
            <a:ext cx="3172968" cy="18288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69" b="1" i="0">
                <a:solidFill>
                  <a:srgbClr val="009E73"/>
                </a:solidFill>
                <a:latin typeface="Arial"/>
              </a:rPr>
              <a:t>STUDY SNAPSHOT</a:t>
            </a:r>
          </a:p>
        </p:txBody>
      </p:sp>
      <p:sp>
        <p:nvSpPr>
          <p:cNvPr id="57" name="TextBox 56"/>
          <p:cNvSpPr txBox="1"/>
          <p:nvPr/>
        </p:nvSpPr>
        <p:spPr>
          <a:xfrm>
            <a:off x="8330183" y="2167128"/>
            <a:ext cx="3172968" cy="42976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140" b="1" i="0">
                <a:solidFill>
                  <a:srgbClr val="0F233D"/>
                </a:solidFill>
                <a:latin typeface="Arial"/>
              </a:rPr>
              <a:t>7-month mouse brain • snRNA-seq • 12 mice • 3/genotype</a:t>
            </a:r>
          </a:p>
        </p:txBody>
      </p:sp>
      <p:sp>
        <p:nvSpPr>
          <p:cNvPr id="58" name="Rounded Rectangle 57"/>
          <p:cNvSpPr/>
          <p:nvPr/>
        </p:nvSpPr>
        <p:spPr>
          <a:xfrm>
            <a:off x="8147304" y="2834640"/>
            <a:ext cx="3538728" cy="1243584"/>
          </a:xfrm>
          <a:prstGeom prst="roundRect">
            <a:avLst/>
          </a:prstGeom>
          <a:solidFill>
            <a:srgbClr val="E0F4EE"/>
          </a:solidFill>
          <a:ln w="1524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8330183" y="2971800"/>
            <a:ext cx="3172968" cy="18288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69" b="1" i="0">
                <a:solidFill>
                  <a:srgbClr val="009E73"/>
                </a:solidFill>
                <a:latin typeface="Arial"/>
              </a:rPr>
              <a:t>BEST USE</a:t>
            </a:r>
          </a:p>
        </p:txBody>
      </p:sp>
      <p:sp>
        <p:nvSpPr>
          <p:cNvPr id="60" name="TextBox 59"/>
          <p:cNvSpPr txBox="1"/>
          <p:nvPr/>
        </p:nvSpPr>
        <p:spPr>
          <a:xfrm>
            <a:off x="8330183" y="3227832"/>
            <a:ext cx="3172968" cy="74066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200" b="0" i="0">
                <a:solidFill>
                  <a:srgbClr val="0F233D"/>
                </a:solidFill>
                <a:latin typeface="Arial"/>
              </a:rPr>
              <a:t>Provide replicated broad-cell AD-direction support across homologous cell types.</a:t>
            </a:r>
          </a:p>
        </p:txBody>
      </p:sp>
      <p:sp>
        <p:nvSpPr>
          <p:cNvPr id="61" name="Rounded Rectangle 60"/>
          <p:cNvSpPr/>
          <p:nvPr/>
        </p:nvSpPr>
        <p:spPr>
          <a:xfrm>
            <a:off x="8147304" y="4206240"/>
            <a:ext cx="3538728" cy="1243584"/>
          </a:xfrm>
          <a:prstGeom prst="roundRect">
            <a:avLst/>
          </a:prstGeom>
          <a:solidFill>
            <a:srgbClr val="FDEBE4"/>
          </a:solidFill>
          <a:ln w="15240">
            <a:solidFill>
              <a:srgbClr val="D55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8330183" y="4343400"/>
            <a:ext cx="3172968" cy="18288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69" b="1" i="0">
                <a:solidFill>
                  <a:srgbClr val="D55E00"/>
                </a:solidFill>
                <a:latin typeface="Arial"/>
              </a:rPr>
              <a:t>DO NOT CLAIM</a:t>
            </a:r>
          </a:p>
        </p:txBody>
      </p:sp>
      <p:sp>
        <p:nvSpPr>
          <p:cNvPr id="63" name="TextBox 62"/>
          <p:cNvSpPr txBox="1"/>
          <p:nvPr/>
        </p:nvSpPr>
        <p:spPr>
          <a:xfrm>
            <a:off x="8330183" y="4599431"/>
            <a:ext cx="3172968" cy="74066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170" b="0" i="0">
                <a:solidFill>
                  <a:srgbClr val="0F233D"/>
                </a:solidFill>
                <a:latin typeface="Arial"/>
              </a:rPr>
              <a:t>Regional mismatch and no APOE or sex factor; keep separate from cortical GSE140399.</a:t>
            </a:r>
          </a:p>
        </p:txBody>
      </p:sp>
      <p:sp>
        <p:nvSpPr>
          <p:cNvPr id="64" name="takeaway_ribbon"/>
          <p:cNvSpPr/>
          <p:nvPr/>
        </p:nvSpPr>
        <p:spPr>
          <a:xfrm>
            <a:off x="502920" y="5815584"/>
            <a:ext cx="11183112" cy="512064"/>
          </a:xfrm>
          <a:prstGeom prst="rect">
            <a:avLst/>
          </a:prstGeom>
          <a:solidFill>
            <a:srgbClr val="0F2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Rectangle 64"/>
          <p:cNvSpPr/>
          <p:nvPr/>
        </p:nvSpPr>
        <p:spPr>
          <a:xfrm>
            <a:off x="502920" y="5815584"/>
            <a:ext cx="91440" cy="5120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749808" y="5888736"/>
            <a:ext cx="10652760" cy="329184"/>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200" b="1" i="0">
                <a:solidFill>
                  <a:srgbClr val="FFFFFF"/>
                </a:solidFill>
                <a:latin typeface="Arial"/>
              </a:rPr>
              <a:t>Use when inferential replication matters more than exact cortical localization.</a:t>
            </a:r>
          </a:p>
        </p:txBody>
      </p:sp>
      <p:sp>
        <p:nvSpPr>
          <p:cNvPr id="67" name="source_line"/>
          <p:cNvSpPr txBox="1"/>
          <p:nvPr/>
        </p:nvSpPr>
        <p:spPr>
          <a:xfrm>
            <a:off x="502920" y="6620256"/>
            <a:ext cx="11155680" cy="12801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670" b="0" i="0">
                <a:solidFill>
                  <a:srgbClr val="606C7B"/>
                </a:solidFill>
                <a:latin typeface="Arial"/>
              </a:rPr>
              <a:t>Source: mouse_dataset_comparison.md §6.5; GEO GSE140510; PMID 31932797. Suitability assessment, not new matrix analysis.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02920" y="146304"/>
            <a:ext cx="5577840"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19" b="1" i="0">
                <a:solidFill>
                  <a:srgbClr val="7E4C9A"/>
                </a:solidFill>
                <a:latin typeface="Arial"/>
              </a:rPr>
              <a:t>DATASET PROFILE • SPECIALIZED SUPPORT</a:t>
            </a:r>
          </a:p>
        </p:txBody>
      </p:sp>
      <p:sp>
        <p:nvSpPr>
          <p:cNvPr id="3" name="slide_title"/>
          <p:cNvSpPr txBox="1"/>
          <p:nvPr/>
        </p:nvSpPr>
        <p:spPr>
          <a:xfrm>
            <a:off x="502920" y="356616"/>
            <a:ext cx="11018520" cy="713232"/>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950" b="1" i="0">
                <a:solidFill>
                  <a:srgbClr val="0F233D"/>
                </a:solidFill>
                <a:latin typeface="Arial"/>
              </a:rPr>
              <a:t>GSE225503/GSE239999 add APOE2/3/4 immune aging under 5xFAD, but lack AD controls and usable sex metadata</a:t>
            </a:r>
          </a:p>
        </p:txBody>
      </p:sp>
      <p:sp>
        <p:nvSpPr>
          <p:cNvPr id="4" name="TextBox 3"/>
          <p:cNvSpPr txBox="1"/>
          <p:nvPr/>
        </p:nvSpPr>
        <p:spPr>
          <a:xfrm>
            <a:off x="11402568" y="155448"/>
            <a:ext cx="274320" cy="164592"/>
          </a:xfrm>
          <a:prstGeom prst="rect">
            <a:avLst/>
          </a:prstGeom>
          <a:noFill/>
        </p:spPr>
        <p:txBody>
          <a:bodyPr wrap="square" lIns="27432" tIns="27432" rIns="27432" bIns="27432" anchor="t">
            <a:spAutoFit/>
          </a:bodyPr>
          <a:lstStyle/>
          <a:p>
            <a:pPr algn="r">
              <a:lnSpc>
                <a:spcPct val="100000"/>
              </a:lnSpc>
              <a:spcBef>
                <a:spcPts val="0"/>
              </a:spcBef>
              <a:spcAft>
                <a:spcPts val="0"/>
              </a:spcAft>
            </a:pPr>
            <a:r>
              <a:rPr sz="880" b="1" i="0">
                <a:solidFill>
                  <a:srgbClr val="606C7B"/>
                </a:solidFill>
                <a:latin typeface="Arial"/>
              </a:rPr>
              <a:t>09</a:t>
            </a:r>
          </a:p>
        </p:txBody>
      </p:sp>
      <p:sp>
        <p:nvSpPr>
          <p:cNvPr id="5" name="criterion_card_1_Region"/>
          <p:cNvSpPr/>
          <p:nvPr/>
        </p:nvSpPr>
        <p:spPr>
          <a:xfrm>
            <a:off x="502920" y="1225296"/>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02920" y="1225296"/>
            <a:ext cx="73152" cy="85039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67512" y="1316736"/>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Region</a:t>
            </a:r>
          </a:p>
        </p:txBody>
      </p:sp>
      <p:sp>
        <p:nvSpPr>
          <p:cNvPr id="8" name="criterion_state_1"/>
          <p:cNvSpPr/>
          <p:nvPr/>
        </p:nvSpPr>
        <p:spPr>
          <a:xfrm>
            <a:off x="649224" y="1591056"/>
            <a:ext cx="987552" cy="265176"/>
          </a:xfrm>
          <a:prstGeom prst="roundRect">
            <a:avLst/>
          </a:prstGeom>
          <a:solidFill>
            <a:srgbClr val="FFF4D8"/>
          </a:solidFill>
          <a:ln w="1016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76656" y="1618488"/>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PARTIAL</a:t>
            </a:r>
          </a:p>
        </p:txBody>
      </p:sp>
      <p:sp>
        <p:nvSpPr>
          <p:cNvPr id="10" name="TextBox 9"/>
          <p:cNvSpPr txBox="1"/>
          <p:nvPr/>
        </p:nvSpPr>
        <p:spPr>
          <a:xfrm>
            <a:off x="1764792" y="1353312"/>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Cortical and hippocampal regions; separation needs audit.</a:t>
            </a:r>
          </a:p>
        </p:txBody>
      </p:sp>
      <p:sp>
        <p:nvSpPr>
          <p:cNvPr id="11" name="criterion_card_2_APOE"/>
          <p:cNvSpPr/>
          <p:nvPr/>
        </p:nvSpPr>
        <p:spPr>
          <a:xfrm>
            <a:off x="502920" y="2212848"/>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502920" y="2212848"/>
            <a:ext cx="73152" cy="850392"/>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67512" y="2304288"/>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APOE</a:t>
            </a:r>
          </a:p>
        </p:txBody>
      </p:sp>
      <p:sp>
        <p:nvSpPr>
          <p:cNvPr id="14" name="criterion_state_2"/>
          <p:cNvSpPr/>
          <p:nvPr/>
        </p:nvSpPr>
        <p:spPr>
          <a:xfrm>
            <a:off x="649224" y="2578608"/>
            <a:ext cx="987552" cy="265176"/>
          </a:xfrm>
          <a:prstGeom prst="roundRect">
            <a:avLst/>
          </a:prstGeom>
          <a:solidFill>
            <a:srgbClr val="E0F4EE"/>
          </a:solidFill>
          <a:ln w="1016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76656" y="2606040"/>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STRONG</a:t>
            </a:r>
          </a:p>
        </p:txBody>
      </p:sp>
      <p:sp>
        <p:nvSpPr>
          <p:cNvPr id="16" name="TextBox 15"/>
          <p:cNvSpPr txBox="1"/>
          <p:nvPr/>
        </p:nvSpPr>
        <p:spPr>
          <a:xfrm>
            <a:off x="1764792" y="2340864"/>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Human APOE2, APOE3, and APOE4 knock-in.</a:t>
            </a:r>
          </a:p>
        </p:txBody>
      </p:sp>
      <p:sp>
        <p:nvSpPr>
          <p:cNvPr id="17" name="criterion_card_3_Sex"/>
          <p:cNvSpPr/>
          <p:nvPr/>
        </p:nvSpPr>
        <p:spPr>
          <a:xfrm>
            <a:off x="502920" y="3200400"/>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502920" y="3200400"/>
            <a:ext cx="73152" cy="850392"/>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67512" y="3291840"/>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Sex</a:t>
            </a:r>
          </a:p>
        </p:txBody>
      </p:sp>
      <p:sp>
        <p:nvSpPr>
          <p:cNvPr id="20" name="criterion_state_3"/>
          <p:cNvSpPr/>
          <p:nvPr/>
        </p:nvSpPr>
        <p:spPr>
          <a:xfrm>
            <a:off x="649224" y="3566160"/>
            <a:ext cx="987552" cy="265176"/>
          </a:xfrm>
          <a:prstGeom prst="roundRect">
            <a:avLst/>
          </a:prstGeom>
          <a:solidFill>
            <a:srgbClr val="FDEBE4"/>
          </a:solidFill>
          <a:ln w="10160">
            <a:solidFill>
              <a:srgbClr val="D55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76656" y="3593592"/>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740" b="1" i="0">
                <a:solidFill>
                  <a:srgbClr val="232A33"/>
                </a:solidFill>
                <a:latin typeface="Arial"/>
              </a:rPr>
              <a:t>NOT MATCHED</a:t>
            </a:r>
          </a:p>
        </p:txBody>
      </p:sp>
      <p:sp>
        <p:nvSpPr>
          <p:cNvPr id="22" name="TextBox 21"/>
          <p:cNvSpPr txBox="1"/>
          <p:nvPr/>
        </p:nvSpPr>
        <p:spPr>
          <a:xfrm>
            <a:off x="1764792" y="3328416"/>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Public sex metadata are insufficient.</a:t>
            </a:r>
          </a:p>
        </p:txBody>
      </p:sp>
      <p:sp>
        <p:nvSpPr>
          <p:cNvPr id="23" name="criterion_card_4_Disease"/>
          <p:cNvSpPr/>
          <p:nvPr/>
        </p:nvSpPr>
        <p:spPr>
          <a:xfrm>
            <a:off x="502920" y="4187952"/>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502920" y="4187952"/>
            <a:ext cx="73152" cy="85039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67512" y="4279392"/>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Disease</a:t>
            </a:r>
          </a:p>
        </p:txBody>
      </p:sp>
      <p:sp>
        <p:nvSpPr>
          <p:cNvPr id="26" name="criterion_state_4"/>
          <p:cNvSpPr/>
          <p:nvPr/>
        </p:nvSpPr>
        <p:spPr>
          <a:xfrm>
            <a:off x="649224" y="4553712"/>
            <a:ext cx="987552" cy="265176"/>
          </a:xfrm>
          <a:prstGeom prst="roundRect">
            <a:avLst/>
          </a:prstGeom>
          <a:solidFill>
            <a:srgbClr val="FFF4D8"/>
          </a:solidFill>
          <a:ln w="1016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76656" y="4581144"/>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PARTIAL</a:t>
            </a:r>
          </a:p>
        </p:txBody>
      </p:sp>
      <p:sp>
        <p:nvSpPr>
          <p:cNvPr id="28" name="TextBox 27"/>
          <p:cNvSpPr txBox="1"/>
          <p:nvPr/>
        </p:nvSpPr>
        <p:spPr>
          <a:xfrm>
            <a:off x="1764792" y="4315968"/>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All animals are 5xFAD; no non-AD group.</a:t>
            </a:r>
          </a:p>
        </p:txBody>
      </p:sp>
      <p:sp>
        <p:nvSpPr>
          <p:cNvPr id="29" name="criterion_card_5_Modality"/>
          <p:cNvSpPr/>
          <p:nvPr/>
        </p:nvSpPr>
        <p:spPr>
          <a:xfrm>
            <a:off x="4279392" y="1225296"/>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4279392" y="1225296"/>
            <a:ext cx="73152" cy="85039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443983" y="1316736"/>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Modality</a:t>
            </a:r>
          </a:p>
        </p:txBody>
      </p:sp>
      <p:sp>
        <p:nvSpPr>
          <p:cNvPr id="32" name="criterion_state_5"/>
          <p:cNvSpPr/>
          <p:nvPr/>
        </p:nvSpPr>
        <p:spPr>
          <a:xfrm>
            <a:off x="4425696" y="1591056"/>
            <a:ext cx="987552" cy="265176"/>
          </a:xfrm>
          <a:prstGeom prst="roundRect">
            <a:avLst/>
          </a:prstGeom>
          <a:solidFill>
            <a:srgbClr val="FFF4D8"/>
          </a:solidFill>
          <a:ln w="1016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4453128" y="1618488"/>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PARTIAL</a:t>
            </a:r>
          </a:p>
        </p:txBody>
      </p:sp>
      <p:sp>
        <p:nvSpPr>
          <p:cNvPr id="34" name="TextBox 33"/>
          <p:cNvSpPr txBox="1"/>
          <p:nvPr/>
        </p:nvSpPr>
        <p:spPr>
          <a:xfrm>
            <a:off x="5541264" y="1353312"/>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Immune scRNA-seq/multiome with HTO demultiplexing.</a:t>
            </a:r>
          </a:p>
        </p:txBody>
      </p:sp>
      <p:sp>
        <p:nvSpPr>
          <p:cNvPr id="35" name="criterion_card_6_Replication"/>
          <p:cNvSpPr/>
          <p:nvPr/>
        </p:nvSpPr>
        <p:spPr>
          <a:xfrm>
            <a:off x="4279392" y="2212848"/>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4279392" y="2212848"/>
            <a:ext cx="73152" cy="85039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4443983" y="2304288"/>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Replication</a:t>
            </a:r>
          </a:p>
        </p:txBody>
      </p:sp>
      <p:sp>
        <p:nvSpPr>
          <p:cNvPr id="38" name="criterion_state_6"/>
          <p:cNvSpPr/>
          <p:nvPr/>
        </p:nvSpPr>
        <p:spPr>
          <a:xfrm>
            <a:off x="4425696" y="2578608"/>
            <a:ext cx="987552" cy="265176"/>
          </a:xfrm>
          <a:prstGeom prst="roundRect">
            <a:avLst/>
          </a:prstGeom>
          <a:solidFill>
            <a:srgbClr val="FFF4D8"/>
          </a:solidFill>
          <a:ln w="1016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4453128" y="2606040"/>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PARTIAL</a:t>
            </a:r>
          </a:p>
        </p:txBody>
      </p:sp>
      <p:sp>
        <p:nvSpPr>
          <p:cNvPr id="40" name="TextBox 39"/>
          <p:cNvSpPr txBox="1"/>
          <p:nvPr/>
        </p:nvSpPr>
        <p:spPr>
          <a:xfrm>
            <a:off x="5541264" y="2340864"/>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Mouse identities must be recovered from metadata.</a:t>
            </a:r>
          </a:p>
        </p:txBody>
      </p:sp>
      <p:sp>
        <p:nvSpPr>
          <p:cNvPr id="41" name="criterion_card_7_Cell breadth"/>
          <p:cNvSpPr/>
          <p:nvPr/>
        </p:nvSpPr>
        <p:spPr>
          <a:xfrm>
            <a:off x="4279392" y="3200400"/>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4279392" y="3200400"/>
            <a:ext cx="73152" cy="85039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4443983" y="3291840"/>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Cell breadth</a:t>
            </a:r>
          </a:p>
        </p:txBody>
      </p:sp>
      <p:sp>
        <p:nvSpPr>
          <p:cNvPr id="44" name="criterion_state_7"/>
          <p:cNvSpPr/>
          <p:nvPr/>
        </p:nvSpPr>
        <p:spPr>
          <a:xfrm>
            <a:off x="4425696" y="3566160"/>
            <a:ext cx="987552" cy="265176"/>
          </a:xfrm>
          <a:prstGeom prst="roundRect">
            <a:avLst/>
          </a:prstGeom>
          <a:solidFill>
            <a:srgbClr val="FFF4D8"/>
          </a:solidFill>
          <a:ln w="1016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4453128" y="3593592"/>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PARTIAL</a:t>
            </a:r>
          </a:p>
        </p:txBody>
      </p:sp>
      <p:sp>
        <p:nvSpPr>
          <p:cNvPr id="46" name="TextBox 45"/>
          <p:cNvSpPr txBox="1"/>
          <p:nvPr/>
        </p:nvSpPr>
        <p:spPr>
          <a:xfrm>
            <a:off x="5541264" y="3328416"/>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CD45-positive immune compartment only.</a:t>
            </a:r>
          </a:p>
        </p:txBody>
      </p:sp>
      <p:sp>
        <p:nvSpPr>
          <p:cNvPr id="47" name="criterion_card_8_Public usability"/>
          <p:cNvSpPr/>
          <p:nvPr/>
        </p:nvSpPr>
        <p:spPr>
          <a:xfrm>
            <a:off x="4279392" y="4187952"/>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4279392" y="4187952"/>
            <a:ext cx="73152" cy="85039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4443983" y="4279392"/>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69" b="1" i="0">
                <a:solidFill>
                  <a:srgbClr val="0F233D"/>
                </a:solidFill>
                <a:latin typeface="Arial"/>
              </a:rPr>
              <a:t>Public usability</a:t>
            </a:r>
          </a:p>
        </p:txBody>
      </p:sp>
      <p:sp>
        <p:nvSpPr>
          <p:cNvPr id="50" name="criterion_state_8"/>
          <p:cNvSpPr/>
          <p:nvPr/>
        </p:nvSpPr>
        <p:spPr>
          <a:xfrm>
            <a:off x="4425696" y="4553712"/>
            <a:ext cx="987552" cy="265176"/>
          </a:xfrm>
          <a:prstGeom prst="roundRect">
            <a:avLst/>
          </a:prstGeom>
          <a:solidFill>
            <a:srgbClr val="FFF4D8"/>
          </a:solidFill>
          <a:ln w="1016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4453128" y="4581144"/>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PARTIAL</a:t>
            </a:r>
          </a:p>
        </p:txBody>
      </p:sp>
      <p:sp>
        <p:nvSpPr>
          <p:cNvPr id="52" name="TextBox 51"/>
          <p:cNvSpPr txBox="1"/>
          <p:nvPr/>
        </p:nvSpPr>
        <p:spPr>
          <a:xfrm>
            <a:off x="5541264" y="4315968"/>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Large RDS objects; region/mouse fields need audit.</a:t>
            </a:r>
          </a:p>
        </p:txBody>
      </p:sp>
      <p:sp>
        <p:nvSpPr>
          <p:cNvPr id="53" name="Rounded Rectangle 52"/>
          <p:cNvSpPr/>
          <p:nvPr/>
        </p:nvSpPr>
        <p:spPr>
          <a:xfrm>
            <a:off x="8147304" y="1207008"/>
            <a:ext cx="3538728" cy="438912"/>
          </a:xfrm>
          <a:prstGeom prst="roundRect">
            <a:avLst/>
          </a:prstGeom>
          <a:solidFill>
            <a:srgbClr val="F0E9F7"/>
          </a:solidFill>
          <a:ln w="15240">
            <a:solidFill>
              <a:srgbClr val="7E4C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8321040" y="1298448"/>
            <a:ext cx="3191256" cy="21945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030" b="1" i="0">
                <a:solidFill>
                  <a:srgbClr val="7E4C9A"/>
                </a:solidFill>
                <a:latin typeface="Arial"/>
              </a:rPr>
              <a:t>SPECIALIZED SUPPORT</a:t>
            </a:r>
          </a:p>
        </p:txBody>
      </p:sp>
      <p:sp>
        <p:nvSpPr>
          <p:cNvPr id="55" name="Rounded Rectangle 54"/>
          <p:cNvSpPr/>
          <p:nvPr/>
        </p:nvSpPr>
        <p:spPr>
          <a:xfrm>
            <a:off x="8147304" y="1773936"/>
            <a:ext cx="3538728" cy="932688"/>
          </a:xfrm>
          <a:prstGeom prst="roundRect">
            <a:avLst/>
          </a:prstGeom>
          <a:solidFill>
            <a:srgbClr val="F0E9F7"/>
          </a:solidFill>
          <a:ln w="15240">
            <a:solidFill>
              <a:srgbClr val="7E4C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8330183" y="1911095"/>
            <a:ext cx="3172968" cy="18288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69" b="1" i="0">
                <a:solidFill>
                  <a:srgbClr val="7E4C9A"/>
                </a:solidFill>
                <a:latin typeface="Arial"/>
              </a:rPr>
              <a:t>STUDY SNAPSHOT</a:t>
            </a:r>
          </a:p>
        </p:txBody>
      </p:sp>
      <p:sp>
        <p:nvSpPr>
          <p:cNvPr id="57" name="TextBox 56"/>
          <p:cNvSpPr txBox="1"/>
          <p:nvPr/>
        </p:nvSpPr>
        <p:spPr>
          <a:xfrm>
            <a:off x="8330183" y="2167128"/>
            <a:ext cx="3172968" cy="42976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140" b="1" i="0">
                <a:solidFill>
                  <a:srgbClr val="0F233D"/>
                </a:solidFill>
                <a:latin typeface="Arial"/>
              </a:rPr>
              <a:t>Mixed cortex + hippocampus CD45+ cells • scRNA/multiome • multiplexed</a:t>
            </a:r>
          </a:p>
        </p:txBody>
      </p:sp>
      <p:sp>
        <p:nvSpPr>
          <p:cNvPr id="58" name="Rounded Rectangle 57"/>
          <p:cNvSpPr/>
          <p:nvPr/>
        </p:nvSpPr>
        <p:spPr>
          <a:xfrm>
            <a:off x="8147304" y="2834640"/>
            <a:ext cx="3538728" cy="1243584"/>
          </a:xfrm>
          <a:prstGeom prst="roundRect">
            <a:avLst/>
          </a:prstGeom>
          <a:solidFill>
            <a:srgbClr val="E0F4EE"/>
          </a:solidFill>
          <a:ln w="1524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8330183" y="2971800"/>
            <a:ext cx="3172968" cy="18288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69" b="1" i="0">
                <a:solidFill>
                  <a:srgbClr val="009E73"/>
                </a:solidFill>
                <a:latin typeface="Arial"/>
              </a:rPr>
              <a:t>BEST USE</a:t>
            </a:r>
          </a:p>
        </p:txBody>
      </p:sp>
      <p:sp>
        <p:nvSpPr>
          <p:cNvPr id="60" name="TextBox 59"/>
          <p:cNvSpPr txBox="1"/>
          <p:nvPr/>
        </p:nvSpPr>
        <p:spPr>
          <a:xfrm>
            <a:off x="8330183" y="3227832"/>
            <a:ext cx="3172968" cy="74066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200" b="0" i="0">
                <a:solidFill>
                  <a:srgbClr val="0F233D"/>
                </a:solidFill>
                <a:latin typeface="Arial"/>
              </a:rPr>
              <a:t>Study APOE2/3/4 immune aging, late microglial states, and chromatin under 5xFAD.</a:t>
            </a:r>
          </a:p>
        </p:txBody>
      </p:sp>
      <p:sp>
        <p:nvSpPr>
          <p:cNvPr id="61" name="Rounded Rectangle 60"/>
          <p:cNvSpPr/>
          <p:nvPr/>
        </p:nvSpPr>
        <p:spPr>
          <a:xfrm>
            <a:off x="8147304" y="4206240"/>
            <a:ext cx="3538728" cy="1243584"/>
          </a:xfrm>
          <a:prstGeom prst="roundRect">
            <a:avLst/>
          </a:prstGeom>
          <a:solidFill>
            <a:srgbClr val="FDEBE4"/>
          </a:solidFill>
          <a:ln w="15240">
            <a:solidFill>
              <a:srgbClr val="D55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8330183" y="4343400"/>
            <a:ext cx="3172968" cy="18288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69" b="1" i="0">
                <a:solidFill>
                  <a:srgbClr val="D55E00"/>
                </a:solidFill>
                <a:latin typeface="Arial"/>
              </a:rPr>
              <a:t>DO NOT CLAIM</a:t>
            </a:r>
          </a:p>
        </p:txBody>
      </p:sp>
      <p:sp>
        <p:nvSpPr>
          <p:cNvPr id="63" name="TextBox 62"/>
          <p:cNvSpPr txBox="1"/>
          <p:nvPr/>
        </p:nvSpPr>
        <p:spPr>
          <a:xfrm>
            <a:off x="8330183" y="4599431"/>
            <a:ext cx="3172968" cy="74066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170" b="0" i="0">
                <a:solidFill>
                  <a:srgbClr val="0F233D"/>
                </a:solidFill>
                <a:latin typeface="Arial"/>
              </a:rPr>
              <a:t>No non-AD arm, usable sex factor, broad cell coverage, or direct PFC match.</a:t>
            </a:r>
          </a:p>
        </p:txBody>
      </p:sp>
      <p:sp>
        <p:nvSpPr>
          <p:cNvPr id="64" name="takeaway_ribbon"/>
          <p:cNvSpPr/>
          <p:nvPr/>
        </p:nvSpPr>
        <p:spPr>
          <a:xfrm>
            <a:off x="502920" y="5815584"/>
            <a:ext cx="11183112" cy="512064"/>
          </a:xfrm>
          <a:prstGeom prst="rect">
            <a:avLst/>
          </a:prstGeom>
          <a:solidFill>
            <a:srgbClr val="0F2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Rectangle 64"/>
          <p:cNvSpPr/>
          <p:nvPr/>
        </p:nvSpPr>
        <p:spPr>
          <a:xfrm>
            <a:off x="502920" y="5815584"/>
            <a:ext cx="91440" cy="512064"/>
          </a:xfrm>
          <a:prstGeom prst="rect">
            <a:avLst/>
          </a:prstGeom>
          <a:solidFill>
            <a:srgbClr val="7E4C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749808" y="5888736"/>
            <a:ext cx="10652760" cy="329184"/>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200" b="1" i="0">
                <a:solidFill>
                  <a:srgbClr val="FFFFFF"/>
                </a:solidFill>
                <a:latin typeface="Arial"/>
              </a:rPr>
              <a:t>Call this APOE2/3/4 immune-cell support under 5xFAD—not an APOE-by-sex AD-control test.</a:t>
            </a:r>
          </a:p>
        </p:txBody>
      </p:sp>
      <p:sp>
        <p:nvSpPr>
          <p:cNvPr id="67" name="source_line"/>
          <p:cNvSpPr txBox="1"/>
          <p:nvPr/>
        </p:nvSpPr>
        <p:spPr>
          <a:xfrm>
            <a:off x="502920" y="6620256"/>
            <a:ext cx="11155680" cy="12801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670" b="0" i="0">
                <a:solidFill>
                  <a:srgbClr val="606C7B"/>
                </a:solidFill>
                <a:latin typeface="Arial"/>
              </a:rPr>
              <a:t>Source: mouse_dataset_comparison.md §6.7; GEO GSE225503/GSE239999; PMID 38159571. Suitability assessment, not new matrix analysis.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146304"/>
            <a:ext cx="5577840"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19" b="1" i="0">
                <a:solidFill>
                  <a:srgbClr val="7E4C9A"/>
                </a:solidFill>
                <a:latin typeface="Arial"/>
              </a:rPr>
              <a:t>DATASET PROFILE • SPECIALIZED SUPPORT</a:t>
            </a:r>
          </a:p>
        </p:txBody>
      </p:sp>
      <p:sp>
        <p:nvSpPr>
          <p:cNvPr id="3" name="slide_title"/>
          <p:cNvSpPr txBox="1"/>
          <p:nvPr/>
        </p:nvSpPr>
        <p:spPr>
          <a:xfrm>
            <a:off x="502920" y="356616"/>
            <a:ext cx="11018520" cy="713232"/>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950" b="1" i="0">
                <a:solidFill>
                  <a:srgbClr val="0F233D"/>
                </a:solidFill>
                <a:latin typeface="Arial"/>
              </a:rPr>
              <a:t>GSE127892 captures sex-by-amyloid microglial trajectories, but pooled mice prevent mouse-level inference</a:t>
            </a:r>
          </a:p>
        </p:txBody>
      </p:sp>
      <p:sp>
        <p:nvSpPr>
          <p:cNvPr id="4" name="TextBox 3"/>
          <p:cNvSpPr txBox="1"/>
          <p:nvPr/>
        </p:nvSpPr>
        <p:spPr>
          <a:xfrm>
            <a:off x="11402568" y="155448"/>
            <a:ext cx="274320" cy="164592"/>
          </a:xfrm>
          <a:prstGeom prst="rect">
            <a:avLst/>
          </a:prstGeom>
          <a:noFill/>
        </p:spPr>
        <p:txBody>
          <a:bodyPr wrap="square" lIns="27432" tIns="27432" rIns="27432" bIns="27432" anchor="t">
            <a:spAutoFit/>
          </a:bodyPr>
          <a:lstStyle/>
          <a:p>
            <a:pPr algn="r">
              <a:lnSpc>
                <a:spcPct val="100000"/>
              </a:lnSpc>
              <a:spcBef>
                <a:spcPts val="0"/>
              </a:spcBef>
              <a:spcAft>
                <a:spcPts val="0"/>
              </a:spcAft>
            </a:pPr>
            <a:r>
              <a:rPr sz="880" b="1" i="0">
                <a:solidFill>
                  <a:srgbClr val="606C7B"/>
                </a:solidFill>
                <a:latin typeface="Arial"/>
              </a:rPr>
              <a:t>10</a:t>
            </a:r>
          </a:p>
        </p:txBody>
      </p:sp>
      <p:sp>
        <p:nvSpPr>
          <p:cNvPr id="5" name="criterion_card_1_Region"/>
          <p:cNvSpPr/>
          <p:nvPr/>
        </p:nvSpPr>
        <p:spPr>
          <a:xfrm>
            <a:off x="502920" y="1225296"/>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02920" y="1225296"/>
            <a:ext cx="73152" cy="85039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67512" y="1316736"/>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Region</a:t>
            </a:r>
          </a:p>
        </p:txBody>
      </p:sp>
      <p:sp>
        <p:nvSpPr>
          <p:cNvPr id="8" name="criterion_state_1"/>
          <p:cNvSpPr/>
          <p:nvPr/>
        </p:nvSpPr>
        <p:spPr>
          <a:xfrm>
            <a:off x="649224" y="1591056"/>
            <a:ext cx="987552" cy="265176"/>
          </a:xfrm>
          <a:prstGeom prst="roundRect">
            <a:avLst/>
          </a:prstGeom>
          <a:solidFill>
            <a:srgbClr val="FFF4D8"/>
          </a:solidFill>
          <a:ln w="1016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76656" y="1618488"/>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PARTIAL</a:t>
            </a:r>
          </a:p>
        </p:txBody>
      </p:sp>
      <p:sp>
        <p:nvSpPr>
          <p:cNvPr id="10" name="TextBox 9"/>
          <p:cNvSpPr txBox="1"/>
          <p:nvPr/>
        </p:nvSpPr>
        <p:spPr>
          <a:xfrm>
            <a:off x="1764792" y="1353312"/>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Cortex and hippocampus; not explicit PFC.</a:t>
            </a:r>
          </a:p>
        </p:txBody>
      </p:sp>
      <p:sp>
        <p:nvSpPr>
          <p:cNvPr id="11" name="criterion_card_2_APOE"/>
          <p:cNvSpPr/>
          <p:nvPr/>
        </p:nvSpPr>
        <p:spPr>
          <a:xfrm>
            <a:off x="502920" y="2212848"/>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502920" y="2212848"/>
            <a:ext cx="73152" cy="850392"/>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67512" y="2304288"/>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APOE</a:t>
            </a:r>
          </a:p>
        </p:txBody>
      </p:sp>
      <p:sp>
        <p:nvSpPr>
          <p:cNvPr id="14" name="criterion_state_2"/>
          <p:cNvSpPr/>
          <p:nvPr/>
        </p:nvSpPr>
        <p:spPr>
          <a:xfrm>
            <a:off x="649224" y="2578608"/>
            <a:ext cx="987552" cy="265176"/>
          </a:xfrm>
          <a:prstGeom prst="roundRect">
            <a:avLst/>
          </a:prstGeom>
          <a:solidFill>
            <a:srgbClr val="FDEBE4"/>
          </a:solidFill>
          <a:ln w="10160">
            <a:solidFill>
              <a:srgbClr val="D55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76656" y="2606040"/>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740" b="1" i="0">
                <a:solidFill>
                  <a:srgbClr val="232A33"/>
                </a:solidFill>
                <a:latin typeface="Arial"/>
              </a:rPr>
              <a:t>NOT MATCHED</a:t>
            </a:r>
          </a:p>
        </p:txBody>
      </p:sp>
      <p:sp>
        <p:nvSpPr>
          <p:cNvPr id="16" name="TextBox 15"/>
          <p:cNvSpPr txBox="1"/>
          <p:nvPr/>
        </p:nvSpPr>
        <p:spPr>
          <a:xfrm>
            <a:off x="1764792" y="2340864"/>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Endogenous mouse Apoe; no human isoform contrast.</a:t>
            </a:r>
          </a:p>
        </p:txBody>
      </p:sp>
      <p:sp>
        <p:nvSpPr>
          <p:cNvPr id="17" name="criterion_card_3_Sex"/>
          <p:cNvSpPr/>
          <p:nvPr/>
        </p:nvSpPr>
        <p:spPr>
          <a:xfrm>
            <a:off x="502920" y="3200400"/>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502920" y="3200400"/>
            <a:ext cx="73152" cy="85039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67512" y="3291840"/>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Sex</a:t>
            </a:r>
          </a:p>
        </p:txBody>
      </p:sp>
      <p:sp>
        <p:nvSpPr>
          <p:cNvPr id="20" name="criterion_state_3"/>
          <p:cNvSpPr/>
          <p:nvPr/>
        </p:nvSpPr>
        <p:spPr>
          <a:xfrm>
            <a:off x="649224" y="3566160"/>
            <a:ext cx="987552" cy="265176"/>
          </a:xfrm>
          <a:prstGeom prst="roundRect">
            <a:avLst/>
          </a:prstGeom>
          <a:solidFill>
            <a:srgbClr val="FFF4D8"/>
          </a:solidFill>
          <a:ln w="1016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76656" y="3593592"/>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PARTIAL</a:t>
            </a:r>
          </a:p>
        </p:txBody>
      </p:sp>
      <p:sp>
        <p:nvSpPr>
          <p:cNvPr id="22" name="TextBox 21"/>
          <p:cNvSpPr txBox="1"/>
          <p:nvPr/>
        </p:nvSpPr>
        <p:spPr>
          <a:xfrm>
            <a:off x="1764792" y="3328416"/>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Female and male conditions, but animals are pooled.</a:t>
            </a:r>
          </a:p>
        </p:txBody>
      </p:sp>
      <p:sp>
        <p:nvSpPr>
          <p:cNvPr id="23" name="criterion_card_4_Disease"/>
          <p:cNvSpPr/>
          <p:nvPr/>
        </p:nvSpPr>
        <p:spPr>
          <a:xfrm>
            <a:off x="502920" y="4187952"/>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502920" y="4187952"/>
            <a:ext cx="73152" cy="850392"/>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67512" y="4279392"/>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Disease</a:t>
            </a:r>
          </a:p>
        </p:txBody>
      </p:sp>
      <p:sp>
        <p:nvSpPr>
          <p:cNvPr id="26" name="criterion_state_4"/>
          <p:cNvSpPr/>
          <p:nvPr/>
        </p:nvSpPr>
        <p:spPr>
          <a:xfrm>
            <a:off x="649224" y="4553712"/>
            <a:ext cx="987552" cy="265176"/>
          </a:xfrm>
          <a:prstGeom prst="roundRect">
            <a:avLst/>
          </a:prstGeom>
          <a:solidFill>
            <a:srgbClr val="E0F4EE"/>
          </a:solidFill>
          <a:ln w="1016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76656" y="4581144"/>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STRONG</a:t>
            </a:r>
          </a:p>
        </p:txBody>
      </p:sp>
      <p:sp>
        <p:nvSpPr>
          <p:cNvPr id="28" name="TextBox 27"/>
          <p:cNvSpPr txBox="1"/>
          <p:nvPr/>
        </p:nvSpPr>
        <p:spPr>
          <a:xfrm>
            <a:off x="1764792" y="4315968"/>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AppNL-G-F versus WT across four ages.</a:t>
            </a:r>
          </a:p>
        </p:txBody>
      </p:sp>
      <p:sp>
        <p:nvSpPr>
          <p:cNvPr id="29" name="criterion_card_5_Modality"/>
          <p:cNvSpPr/>
          <p:nvPr/>
        </p:nvSpPr>
        <p:spPr>
          <a:xfrm>
            <a:off x="4279392" y="1225296"/>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4279392" y="1225296"/>
            <a:ext cx="73152" cy="85039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443983" y="1316736"/>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Modality</a:t>
            </a:r>
          </a:p>
        </p:txBody>
      </p:sp>
      <p:sp>
        <p:nvSpPr>
          <p:cNvPr id="32" name="criterion_state_5"/>
          <p:cNvSpPr/>
          <p:nvPr/>
        </p:nvSpPr>
        <p:spPr>
          <a:xfrm>
            <a:off x="4425696" y="1591056"/>
            <a:ext cx="987552" cy="265176"/>
          </a:xfrm>
          <a:prstGeom prst="roundRect">
            <a:avLst/>
          </a:prstGeom>
          <a:solidFill>
            <a:srgbClr val="FFF4D8"/>
          </a:solidFill>
          <a:ln w="1016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4453128" y="1618488"/>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PARTIAL</a:t>
            </a:r>
          </a:p>
        </p:txBody>
      </p:sp>
      <p:sp>
        <p:nvSpPr>
          <p:cNvPr id="34" name="TextBox 33"/>
          <p:cNvSpPr txBox="1"/>
          <p:nvPr/>
        </p:nvSpPr>
        <p:spPr>
          <a:xfrm>
            <a:off x="5541264" y="1353312"/>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Plate scRNA-seq; GEO records are cells/wells.</a:t>
            </a:r>
          </a:p>
        </p:txBody>
      </p:sp>
      <p:sp>
        <p:nvSpPr>
          <p:cNvPr id="35" name="criterion_card_6_Replication"/>
          <p:cNvSpPr/>
          <p:nvPr/>
        </p:nvSpPr>
        <p:spPr>
          <a:xfrm>
            <a:off x="4279392" y="2212848"/>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4279392" y="2212848"/>
            <a:ext cx="73152" cy="85039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4443983" y="2304288"/>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Replication</a:t>
            </a:r>
          </a:p>
        </p:txBody>
      </p:sp>
      <p:sp>
        <p:nvSpPr>
          <p:cNvPr id="38" name="criterion_state_6"/>
          <p:cNvSpPr/>
          <p:nvPr/>
        </p:nvSpPr>
        <p:spPr>
          <a:xfrm>
            <a:off x="4425696" y="2578608"/>
            <a:ext cx="987552" cy="265176"/>
          </a:xfrm>
          <a:prstGeom prst="roundRect">
            <a:avLst/>
          </a:prstGeom>
          <a:solidFill>
            <a:srgbClr val="FFF4D8"/>
          </a:solidFill>
          <a:ln w="1016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4453128" y="2606040"/>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PARTIAL</a:t>
            </a:r>
          </a:p>
        </p:txBody>
      </p:sp>
      <p:sp>
        <p:nvSpPr>
          <p:cNvPr id="40" name="TextBox 39"/>
          <p:cNvSpPr txBox="1"/>
          <p:nvPr/>
        </p:nvSpPr>
        <p:spPr>
          <a:xfrm>
            <a:off x="5541264" y="2340864"/>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Two mice pooled into one profile per condition.</a:t>
            </a:r>
          </a:p>
        </p:txBody>
      </p:sp>
      <p:sp>
        <p:nvSpPr>
          <p:cNvPr id="41" name="criterion_card_7_Cell breadth"/>
          <p:cNvSpPr/>
          <p:nvPr/>
        </p:nvSpPr>
        <p:spPr>
          <a:xfrm>
            <a:off x="4279392" y="3200400"/>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4279392" y="3200400"/>
            <a:ext cx="73152" cy="850392"/>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4443983" y="3291840"/>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Cell breadth</a:t>
            </a:r>
          </a:p>
        </p:txBody>
      </p:sp>
      <p:sp>
        <p:nvSpPr>
          <p:cNvPr id="44" name="criterion_state_7"/>
          <p:cNvSpPr/>
          <p:nvPr/>
        </p:nvSpPr>
        <p:spPr>
          <a:xfrm>
            <a:off x="4425696" y="3566160"/>
            <a:ext cx="987552" cy="265176"/>
          </a:xfrm>
          <a:prstGeom prst="roundRect">
            <a:avLst/>
          </a:prstGeom>
          <a:solidFill>
            <a:srgbClr val="FDEBE4"/>
          </a:solidFill>
          <a:ln w="10160">
            <a:solidFill>
              <a:srgbClr val="D55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4453128" y="3593592"/>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740" b="1" i="0">
                <a:solidFill>
                  <a:srgbClr val="232A33"/>
                </a:solidFill>
                <a:latin typeface="Arial"/>
              </a:rPr>
              <a:t>NOT MATCHED</a:t>
            </a:r>
          </a:p>
        </p:txBody>
      </p:sp>
      <p:sp>
        <p:nvSpPr>
          <p:cNvPr id="46" name="TextBox 45"/>
          <p:cNvSpPr txBox="1"/>
          <p:nvPr/>
        </p:nvSpPr>
        <p:spPr>
          <a:xfrm>
            <a:off x="5541264" y="3328416"/>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Microglia only.</a:t>
            </a:r>
          </a:p>
        </p:txBody>
      </p:sp>
      <p:sp>
        <p:nvSpPr>
          <p:cNvPr id="47" name="criterion_card_8_Public usability"/>
          <p:cNvSpPr/>
          <p:nvPr/>
        </p:nvSpPr>
        <p:spPr>
          <a:xfrm>
            <a:off x="4279392" y="4187952"/>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4279392" y="4187952"/>
            <a:ext cx="73152" cy="85039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4443983" y="4279392"/>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69" b="1" i="0">
                <a:solidFill>
                  <a:srgbClr val="0F233D"/>
                </a:solidFill>
                <a:latin typeface="Arial"/>
              </a:rPr>
              <a:t>Public usability</a:t>
            </a:r>
          </a:p>
        </p:txBody>
      </p:sp>
      <p:sp>
        <p:nvSpPr>
          <p:cNvPr id="50" name="criterion_state_8"/>
          <p:cNvSpPr/>
          <p:nvPr/>
        </p:nvSpPr>
        <p:spPr>
          <a:xfrm>
            <a:off x="4425696" y="4553712"/>
            <a:ext cx="987552" cy="265176"/>
          </a:xfrm>
          <a:prstGeom prst="roundRect">
            <a:avLst/>
          </a:prstGeom>
          <a:solidFill>
            <a:srgbClr val="FFF4D8"/>
          </a:solidFill>
          <a:ln w="1016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4453128" y="4581144"/>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PARTIAL</a:t>
            </a:r>
          </a:p>
        </p:txBody>
      </p:sp>
      <p:sp>
        <p:nvSpPr>
          <p:cNvPr id="52" name="TextBox 51"/>
          <p:cNvSpPr txBox="1"/>
          <p:nvPr/>
        </p:nvSpPr>
        <p:spPr>
          <a:xfrm>
            <a:off x="5541264" y="4315968"/>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12,288 cell records require pool reconstruction.</a:t>
            </a:r>
          </a:p>
        </p:txBody>
      </p:sp>
      <p:sp>
        <p:nvSpPr>
          <p:cNvPr id="53" name="Rounded Rectangle 52"/>
          <p:cNvSpPr/>
          <p:nvPr/>
        </p:nvSpPr>
        <p:spPr>
          <a:xfrm>
            <a:off x="8147304" y="1207008"/>
            <a:ext cx="3538728" cy="438912"/>
          </a:xfrm>
          <a:prstGeom prst="roundRect">
            <a:avLst/>
          </a:prstGeom>
          <a:solidFill>
            <a:srgbClr val="F0E9F7"/>
          </a:solidFill>
          <a:ln w="15240">
            <a:solidFill>
              <a:srgbClr val="7E4C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8321040" y="1298448"/>
            <a:ext cx="3191256" cy="21945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030" b="1" i="0">
                <a:solidFill>
                  <a:srgbClr val="7E4C9A"/>
                </a:solidFill>
                <a:latin typeface="Arial"/>
              </a:rPr>
              <a:t>SPECIALIZED SUPPORT</a:t>
            </a:r>
          </a:p>
        </p:txBody>
      </p:sp>
      <p:sp>
        <p:nvSpPr>
          <p:cNvPr id="55" name="Rounded Rectangle 54"/>
          <p:cNvSpPr/>
          <p:nvPr/>
        </p:nvSpPr>
        <p:spPr>
          <a:xfrm>
            <a:off x="8147304" y="1773936"/>
            <a:ext cx="3538728" cy="932688"/>
          </a:xfrm>
          <a:prstGeom prst="roundRect">
            <a:avLst/>
          </a:prstGeom>
          <a:solidFill>
            <a:srgbClr val="F0E9F7"/>
          </a:solidFill>
          <a:ln w="15240">
            <a:solidFill>
              <a:srgbClr val="7E4C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8330183" y="1911095"/>
            <a:ext cx="3172968" cy="18288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69" b="1" i="0">
                <a:solidFill>
                  <a:srgbClr val="7E4C9A"/>
                </a:solidFill>
                <a:latin typeface="Arial"/>
              </a:rPr>
              <a:t>STUDY SNAPSHOT</a:t>
            </a:r>
          </a:p>
        </p:txBody>
      </p:sp>
      <p:sp>
        <p:nvSpPr>
          <p:cNvPr id="57" name="TextBox 56"/>
          <p:cNvSpPr txBox="1"/>
          <p:nvPr/>
        </p:nvSpPr>
        <p:spPr>
          <a:xfrm>
            <a:off x="8330183" y="2167128"/>
            <a:ext cx="3172968" cy="42976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140" b="1" i="0">
                <a:solidFill>
                  <a:srgbClr val="0F233D"/>
                </a:solidFill>
                <a:latin typeface="Arial"/>
              </a:rPr>
              <a:t>Cortex+hippocampus • plate scRNA • 32 condition pools</a:t>
            </a:r>
          </a:p>
        </p:txBody>
      </p:sp>
      <p:sp>
        <p:nvSpPr>
          <p:cNvPr id="58" name="Rounded Rectangle 57"/>
          <p:cNvSpPr/>
          <p:nvPr/>
        </p:nvSpPr>
        <p:spPr>
          <a:xfrm>
            <a:off x="8147304" y="2834640"/>
            <a:ext cx="3538728" cy="1243584"/>
          </a:xfrm>
          <a:prstGeom prst="roundRect">
            <a:avLst/>
          </a:prstGeom>
          <a:solidFill>
            <a:srgbClr val="E0F4EE"/>
          </a:solidFill>
          <a:ln w="1524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8330183" y="2971800"/>
            <a:ext cx="3172968" cy="18288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69" b="1" i="0">
                <a:solidFill>
                  <a:srgbClr val="009E73"/>
                </a:solidFill>
                <a:latin typeface="Arial"/>
              </a:rPr>
              <a:t>BEST USE</a:t>
            </a:r>
          </a:p>
        </p:txBody>
      </p:sp>
      <p:sp>
        <p:nvSpPr>
          <p:cNvPr id="60" name="TextBox 59"/>
          <p:cNvSpPr txBox="1"/>
          <p:nvPr/>
        </p:nvSpPr>
        <p:spPr>
          <a:xfrm>
            <a:off x="8330183" y="3227832"/>
            <a:ext cx="3172968" cy="74066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200" b="0" i="0">
                <a:solidFill>
                  <a:srgbClr val="0F233D"/>
                </a:solidFill>
                <a:latin typeface="Arial"/>
              </a:rPr>
              <a:t>Describe sex-by-amyloid microglial state trajectories across age and region.</a:t>
            </a:r>
          </a:p>
        </p:txBody>
      </p:sp>
      <p:sp>
        <p:nvSpPr>
          <p:cNvPr id="61" name="Rounded Rectangle 60"/>
          <p:cNvSpPr/>
          <p:nvPr/>
        </p:nvSpPr>
        <p:spPr>
          <a:xfrm>
            <a:off x="8147304" y="4206240"/>
            <a:ext cx="3538728" cy="1243584"/>
          </a:xfrm>
          <a:prstGeom prst="roundRect">
            <a:avLst/>
          </a:prstGeom>
          <a:solidFill>
            <a:srgbClr val="FDEBE4"/>
          </a:solidFill>
          <a:ln w="15240">
            <a:solidFill>
              <a:srgbClr val="D55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8330183" y="4343400"/>
            <a:ext cx="3172968" cy="18288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69" b="1" i="0">
                <a:solidFill>
                  <a:srgbClr val="D55E00"/>
                </a:solidFill>
                <a:latin typeface="Arial"/>
              </a:rPr>
              <a:t>DO NOT CLAIM</a:t>
            </a:r>
          </a:p>
        </p:txBody>
      </p:sp>
      <p:sp>
        <p:nvSpPr>
          <p:cNvPr id="63" name="TextBox 62"/>
          <p:cNvSpPr txBox="1"/>
          <p:nvPr/>
        </p:nvSpPr>
        <p:spPr>
          <a:xfrm>
            <a:off x="8330183" y="4599431"/>
            <a:ext cx="3172968" cy="74066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170" b="0" i="0">
                <a:solidFill>
                  <a:srgbClr val="0F233D"/>
                </a:solidFill>
                <a:latin typeface="Arial"/>
              </a:rPr>
              <a:t>Pooling removes mouse-level variance; human APOE isoforms and broad cells are absent.</a:t>
            </a:r>
          </a:p>
        </p:txBody>
      </p:sp>
      <p:sp>
        <p:nvSpPr>
          <p:cNvPr id="64" name="takeaway_ribbon"/>
          <p:cNvSpPr/>
          <p:nvPr/>
        </p:nvSpPr>
        <p:spPr>
          <a:xfrm>
            <a:off x="502920" y="5815584"/>
            <a:ext cx="11183112" cy="512064"/>
          </a:xfrm>
          <a:prstGeom prst="rect">
            <a:avLst/>
          </a:prstGeom>
          <a:solidFill>
            <a:srgbClr val="0F2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Rectangle 64"/>
          <p:cNvSpPr/>
          <p:nvPr/>
        </p:nvSpPr>
        <p:spPr>
          <a:xfrm>
            <a:off x="502920" y="5815584"/>
            <a:ext cx="91440" cy="512064"/>
          </a:xfrm>
          <a:prstGeom prst="rect">
            <a:avLst/>
          </a:prstGeom>
          <a:solidFill>
            <a:srgbClr val="7E4C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749808" y="5888736"/>
            <a:ext cx="10652760" cy="329184"/>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200" b="1" i="0">
                <a:solidFill>
                  <a:srgbClr val="FFFFFF"/>
                </a:solidFill>
                <a:latin typeface="Arial"/>
              </a:rPr>
              <a:t>Treat as condition-level descriptive support—not a replicated mouse-level interaction.</a:t>
            </a:r>
          </a:p>
        </p:txBody>
      </p:sp>
      <p:sp>
        <p:nvSpPr>
          <p:cNvPr id="67" name="source_line"/>
          <p:cNvSpPr txBox="1"/>
          <p:nvPr/>
        </p:nvSpPr>
        <p:spPr>
          <a:xfrm>
            <a:off x="502920" y="6620256"/>
            <a:ext cx="11155680" cy="12801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670" b="0" i="0">
                <a:solidFill>
                  <a:srgbClr val="606C7B"/>
                </a:solidFill>
                <a:latin typeface="Arial"/>
              </a:rPr>
              <a:t>Source: mouse_dataset_comparison.md §6.8; GEO GSE127892; PMID 31018141. Suitability assessment, not new matrix analysis.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02920" y="146304"/>
            <a:ext cx="5577840"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19" b="1" i="0">
                <a:solidFill>
                  <a:srgbClr val="7E4C9A"/>
                </a:solidFill>
                <a:latin typeface="Arial"/>
              </a:rPr>
              <a:t>DATASET PROFILE • SPECIALIZED SUPPORT</a:t>
            </a:r>
          </a:p>
        </p:txBody>
      </p:sp>
      <p:sp>
        <p:nvSpPr>
          <p:cNvPr id="3" name="slide_title"/>
          <p:cNvSpPr txBox="1"/>
          <p:nvPr/>
        </p:nvSpPr>
        <p:spPr>
          <a:xfrm>
            <a:off x="502920" y="356616"/>
            <a:ext cx="11018520" cy="713232"/>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950" b="1" i="0">
                <a:solidFill>
                  <a:srgbClr val="0F233D"/>
                </a:solidFill>
                <a:latin typeface="Arial"/>
              </a:rPr>
              <a:t>GSE212606 offers exceptional sex-aware whole-brain breadth, but APOE4 is confounded with TREM2 R47H</a:t>
            </a:r>
          </a:p>
        </p:txBody>
      </p:sp>
      <p:sp>
        <p:nvSpPr>
          <p:cNvPr id="4" name="TextBox 3"/>
          <p:cNvSpPr txBox="1"/>
          <p:nvPr/>
        </p:nvSpPr>
        <p:spPr>
          <a:xfrm>
            <a:off x="11402568" y="155448"/>
            <a:ext cx="274320" cy="164592"/>
          </a:xfrm>
          <a:prstGeom prst="rect">
            <a:avLst/>
          </a:prstGeom>
          <a:noFill/>
        </p:spPr>
        <p:txBody>
          <a:bodyPr wrap="square" lIns="27432" tIns="27432" rIns="27432" bIns="27432" anchor="t">
            <a:spAutoFit/>
          </a:bodyPr>
          <a:lstStyle/>
          <a:p>
            <a:pPr algn="r">
              <a:lnSpc>
                <a:spcPct val="100000"/>
              </a:lnSpc>
              <a:spcBef>
                <a:spcPts val="0"/>
              </a:spcBef>
              <a:spcAft>
                <a:spcPts val="0"/>
              </a:spcAft>
            </a:pPr>
            <a:r>
              <a:rPr sz="880" b="1" i="0">
                <a:solidFill>
                  <a:srgbClr val="606C7B"/>
                </a:solidFill>
                <a:latin typeface="Arial"/>
              </a:rPr>
              <a:t>11</a:t>
            </a:r>
          </a:p>
        </p:txBody>
      </p:sp>
      <p:sp>
        <p:nvSpPr>
          <p:cNvPr id="5" name="criterion_card_1_Region"/>
          <p:cNvSpPr/>
          <p:nvPr/>
        </p:nvSpPr>
        <p:spPr>
          <a:xfrm>
            <a:off x="502920" y="1225296"/>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02920" y="1225296"/>
            <a:ext cx="73152" cy="850392"/>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67512" y="1316736"/>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Region</a:t>
            </a:r>
          </a:p>
        </p:txBody>
      </p:sp>
      <p:sp>
        <p:nvSpPr>
          <p:cNvPr id="8" name="criterion_state_1"/>
          <p:cNvSpPr/>
          <p:nvPr/>
        </p:nvSpPr>
        <p:spPr>
          <a:xfrm>
            <a:off x="649224" y="1591056"/>
            <a:ext cx="987552" cy="265176"/>
          </a:xfrm>
          <a:prstGeom prst="roundRect">
            <a:avLst/>
          </a:prstGeom>
          <a:solidFill>
            <a:srgbClr val="FDEBE4"/>
          </a:solidFill>
          <a:ln w="10160">
            <a:solidFill>
              <a:srgbClr val="D55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76656" y="1618488"/>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740" b="1" i="0">
                <a:solidFill>
                  <a:srgbClr val="232A33"/>
                </a:solidFill>
                <a:latin typeface="Arial"/>
              </a:rPr>
              <a:t>NOT MATCHED</a:t>
            </a:r>
          </a:p>
        </p:txBody>
      </p:sp>
      <p:sp>
        <p:nvSpPr>
          <p:cNvPr id="10" name="TextBox 9"/>
          <p:cNvSpPr txBox="1"/>
          <p:nvPr/>
        </p:nvSpPr>
        <p:spPr>
          <a:xfrm>
            <a:off x="1764792" y="1353312"/>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Whole brain; not cortex or PFC.</a:t>
            </a:r>
          </a:p>
        </p:txBody>
      </p:sp>
      <p:sp>
        <p:nvSpPr>
          <p:cNvPr id="11" name="criterion_card_2_APOE"/>
          <p:cNvSpPr/>
          <p:nvPr/>
        </p:nvSpPr>
        <p:spPr>
          <a:xfrm>
            <a:off x="502920" y="2212848"/>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502920" y="2212848"/>
            <a:ext cx="73152" cy="85039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67512" y="2304288"/>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APOE</a:t>
            </a:r>
          </a:p>
        </p:txBody>
      </p:sp>
      <p:sp>
        <p:nvSpPr>
          <p:cNvPr id="14" name="criterion_state_2"/>
          <p:cNvSpPr/>
          <p:nvPr/>
        </p:nvSpPr>
        <p:spPr>
          <a:xfrm>
            <a:off x="649224" y="2578608"/>
            <a:ext cx="987552" cy="265176"/>
          </a:xfrm>
          <a:prstGeom prst="roundRect">
            <a:avLst/>
          </a:prstGeom>
          <a:solidFill>
            <a:srgbClr val="FFF4D8"/>
          </a:solidFill>
          <a:ln w="1016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76656" y="2606040"/>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PARTIAL</a:t>
            </a:r>
          </a:p>
        </p:txBody>
      </p:sp>
      <p:sp>
        <p:nvSpPr>
          <p:cNvPr id="16" name="TextBox 15"/>
          <p:cNvSpPr txBox="1"/>
          <p:nvPr/>
        </p:nvSpPr>
        <p:spPr>
          <a:xfrm>
            <a:off x="1764792" y="2340864"/>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LOAD model combines APOE4 with TREM2 R47H.</a:t>
            </a:r>
          </a:p>
        </p:txBody>
      </p:sp>
      <p:sp>
        <p:nvSpPr>
          <p:cNvPr id="17" name="criterion_card_3_Sex"/>
          <p:cNvSpPr/>
          <p:nvPr/>
        </p:nvSpPr>
        <p:spPr>
          <a:xfrm>
            <a:off x="502920" y="3200400"/>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502920" y="3200400"/>
            <a:ext cx="73152" cy="85039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67512" y="3291840"/>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Sex</a:t>
            </a:r>
          </a:p>
        </p:txBody>
      </p:sp>
      <p:sp>
        <p:nvSpPr>
          <p:cNvPr id="20" name="criterion_state_3"/>
          <p:cNvSpPr/>
          <p:nvPr/>
        </p:nvSpPr>
        <p:spPr>
          <a:xfrm>
            <a:off x="649224" y="3566160"/>
            <a:ext cx="987552" cy="265176"/>
          </a:xfrm>
          <a:prstGeom prst="roundRect">
            <a:avLst/>
          </a:prstGeom>
          <a:solidFill>
            <a:srgbClr val="FFF4D8"/>
          </a:solidFill>
          <a:ln w="1016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76656" y="3593592"/>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PARTIAL</a:t>
            </a:r>
          </a:p>
        </p:txBody>
      </p:sp>
      <p:sp>
        <p:nvSpPr>
          <p:cNvPr id="22" name="TextBox 21"/>
          <p:cNvSpPr txBox="1"/>
          <p:nvPr/>
        </p:nvSpPr>
        <p:spPr>
          <a:xfrm>
            <a:off x="1764792" y="3328416"/>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Both sexes reported; animal-level map is required.</a:t>
            </a:r>
          </a:p>
        </p:txBody>
      </p:sp>
      <p:sp>
        <p:nvSpPr>
          <p:cNvPr id="23" name="criterion_card_4_Disease"/>
          <p:cNvSpPr/>
          <p:nvPr/>
        </p:nvSpPr>
        <p:spPr>
          <a:xfrm>
            <a:off x="502920" y="4187952"/>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502920" y="4187952"/>
            <a:ext cx="73152" cy="850392"/>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67512" y="4279392"/>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Disease</a:t>
            </a:r>
          </a:p>
        </p:txBody>
      </p:sp>
      <p:sp>
        <p:nvSpPr>
          <p:cNvPr id="26" name="criterion_state_4"/>
          <p:cNvSpPr/>
          <p:nvPr/>
        </p:nvSpPr>
        <p:spPr>
          <a:xfrm>
            <a:off x="649224" y="4553712"/>
            <a:ext cx="987552" cy="265176"/>
          </a:xfrm>
          <a:prstGeom prst="roundRect">
            <a:avLst/>
          </a:prstGeom>
          <a:solidFill>
            <a:srgbClr val="E0F4EE"/>
          </a:solidFill>
          <a:ln w="1016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76656" y="4581144"/>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STRONG</a:t>
            </a:r>
          </a:p>
        </p:txBody>
      </p:sp>
      <p:sp>
        <p:nvSpPr>
          <p:cNvPr id="28" name="TextBox 27"/>
          <p:cNvSpPr txBox="1"/>
          <p:nvPr/>
        </p:nvSpPr>
        <p:spPr>
          <a:xfrm>
            <a:off x="1764792" y="4315968"/>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WT, 5xFAD, and LOAD-model comparisons.</a:t>
            </a:r>
          </a:p>
        </p:txBody>
      </p:sp>
      <p:sp>
        <p:nvSpPr>
          <p:cNvPr id="29" name="criterion_card_5_Modality"/>
          <p:cNvSpPr/>
          <p:nvPr/>
        </p:nvSpPr>
        <p:spPr>
          <a:xfrm>
            <a:off x="4279392" y="1225296"/>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4279392" y="1225296"/>
            <a:ext cx="73152" cy="85039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443983" y="1316736"/>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Modality</a:t>
            </a:r>
          </a:p>
        </p:txBody>
      </p:sp>
      <p:sp>
        <p:nvSpPr>
          <p:cNvPr id="32" name="criterion_state_5"/>
          <p:cNvSpPr/>
          <p:nvPr/>
        </p:nvSpPr>
        <p:spPr>
          <a:xfrm>
            <a:off x="4425696" y="1591056"/>
            <a:ext cx="987552" cy="265176"/>
          </a:xfrm>
          <a:prstGeom prst="roundRect">
            <a:avLst/>
          </a:prstGeom>
          <a:solidFill>
            <a:srgbClr val="FFF4D8"/>
          </a:solidFill>
          <a:ln w="1016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4453128" y="1618488"/>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PARTIAL</a:t>
            </a:r>
          </a:p>
        </p:txBody>
      </p:sp>
      <p:sp>
        <p:nvSpPr>
          <p:cNvPr id="34" name="TextBox 33"/>
          <p:cNvSpPr txBox="1"/>
          <p:nvPr/>
        </p:nvSpPr>
        <p:spPr>
          <a:xfrm>
            <a:off x="5541264" y="1353312"/>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Single-cell RNA/ATAC; GEO objects are aggregate.</a:t>
            </a:r>
          </a:p>
        </p:txBody>
      </p:sp>
      <p:sp>
        <p:nvSpPr>
          <p:cNvPr id="35" name="criterion_card_6_Replication"/>
          <p:cNvSpPr/>
          <p:nvPr/>
        </p:nvSpPr>
        <p:spPr>
          <a:xfrm>
            <a:off x="4279392" y="2212848"/>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4279392" y="2212848"/>
            <a:ext cx="73152" cy="85039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4443983" y="2304288"/>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Replication</a:t>
            </a:r>
          </a:p>
        </p:txBody>
      </p:sp>
      <p:sp>
        <p:nvSpPr>
          <p:cNvPr id="38" name="criterion_state_6"/>
          <p:cNvSpPr/>
          <p:nvPr/>
        </p:nvSpPr>
        <p:spPr>
          <a:xfrm>
            <a:off x="4425696" y="2578608"/>
            <a:ext cx="987552" cy="265176"/>
          </a:xfrm>
          <a:prstGeom prst="roundRect">
            <a:avLst/>
          </a:prstGeom>
          <a:solidFill>
            <a:srgbClr val="FFF4D8"/>
          </a:solidFill>
          <a:ln w="1016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4453128" y="2606040"/>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PARTIAL</a:t>
            </a:r>
          </a:p>
        </p:txBody>
      </p:sp>
      <p:sp>
        <p:nvSpPr>
          <p:cNvPr id="40" name="TextBox 39"/>
          <p:cNvSpPr txBox="1"/>
          <p:nvPr/>
        </p:nvSpPr>
        <p:spPr>
          <a:xfrm>
            <a:off x="5541264" y="2340864"/>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Replication becomes auditable only with a manifest.</a:t>
            </a:r>
          </a:p>
        </p:txBody>
      </p:sp>
      <p:sp>
        <p:nvSpPr>
          <p:cNvPr id="41" name="criterion_card_7_Cell breadth"/>
          <p:cNvSpPr/>
          <p:nvPr/>
        </p:nvSpPr>
        <p:spPr>
          <a:xfrm>
            <a:off x="4279392" y="3200400"/>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4279392" y="3200400"/>
            <a:ext cx="73152" cy="850392"/>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4443983" y="3291840"/>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Cell breadth</a:t>
            </a:r>
          </a:p>
        </p:txBody>
      </p:sp>
      <p:sp>
        <p:nvSpPr>
          <p:cNvPr id="44" name="criterion_state_7"/>
          <p:cNvSpPr/>
          <p:nvPr/>
        </p:nvSpPr>
        <p:spPr>
          <a:xfrm>
            <a:off x="4425696" y="3566160"/>
            <a:ext cx="987552" cy="265176"/>
          </a:xfrm>
          <a:prstGeom prst="roundRect">
            <a:avLst/>
          </a:prstGeom>
          <a:solidFill>
            <a:srgbClr val="E0F4EE"/>
          </a:solidFill>
          <a:ln w="1016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4453128" y="3593592"/>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STRONG</a:t>
            </a:r>
          </a:p>
        </p:txBody>
      </p:sp>
      <p:sp>
        <p:nvSpPr>
          <p:cNvPr id="46" name="TextBox 45"/>
          <p:cNvSpPr txBox="1"/>
          <p:nvPr/>
        </p:nvSpPr>
        <p:spPr>
          <a:xfrm>
            <a:off x="5541264" y="3328416"/>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&gt;300 reported subtypes, including rare populations.</a:t>
            </a:r>
          </a:p>
        </p:txBody>
      </p:sp>
      <p:sp>
        <p:nvSpPr>
          <p:cNvPr id="47" name="criterion_card_8_Public usability"/>
          <p:cNvSpPr/>
          <p:nvPr/>
        </p:nvSpPr>
        <p:spPr>
          <a:xfrm>
            <a:off x="4279392" y="4187952"/>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4279392" y="4187952"/>
            <a:ext cx="73152" cy="85039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4443983" y="4279392"/>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69" b="1" i="0">
                <a:solidFill>
                  <a:srgbClr val="0F233D"/>
                </a:solidFill>
                <a:latin typeface="Arial"/>
              </a:rPr>
              <a:t>Public usability</a:t>
            </a:r>
          </a:p>
        </p:txBody>
      </p:sp>
      <p:sp>
        <p:nvSpPr>
          <p:cNvPr id="50" name="criterion_state_8"/>
          <p:cNvSpPr/>
          <p:nvPr/>
        </p:nvSpPr>
        <p:spPr>
          <a:xfrm>
            <a:off x="4425696" y="4553712"/>
            <a:ext cx="987552" cy="265176"/>
          </a:xfrm>
          <a:prstGeom prst="roundRect">
            <a:avLst/>
          </a:prstGeom>
          <a:solidFill>
            <a:srgbClr val="FFF4D8"/>
          </a:solidFill>
          <a:ln w="1016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4453128" y="4581144"/>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PARTIAL</a:t>
            </a:r>
          </a:p>
        </p:txBody>
      </p:sp>
      <p:sp>
        <p:nvSpPr>
          <p:cNvPr id="52" name="TextBox 51"/>
          <p:cNvSpPr txBox="1"/>
          <p:nvPr/>
        </p:nvSpPr>
        <p:spPr>
          <a:xfrm>
            <a:off x="5541264" y="4315968"/>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Very large archive; mouse identities must be linked.</a:t>
            </a:r>
          </a:p>
        </p:txBody>
      </p:sp>
      <p:sp>
        <p:nvSpPr>
          <p:cNvPr id="53" name="Rounded Rectangle 52"/>
          <p:cNvSpPr/>
          <p:nvPr/>
        </p:nvSpPr>
        <p:spPr>
          <a:xfrm>
            <a:off x="8147304" y="1207008"/>
            <a:ext cx="3538728" cy="438912"/>
          </a:xfrm>
          <a:prstGeom prst="roundRect">
            <a:avLst/>
          </a:prstGeom>
          <a:solidFill>
            <a:srgbClr val="F0E9F7"/>
          </a:solidFill>
          <a:ln w="15240">
            <a:solidFill>
              <a:srgbClr val="7E4C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8321040" y="1298448"/>
            <a:ext cx="3191256" cy="21945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030" b="1" i="0">
                <a:solidFill>
                  <a:srgbClr val="7E4C9A"/>
                </a:solidFill>
                <a:latin typeface="Arial"/>
              </a:rPr>
              <a:t>SPECIALIZED SUPPORT</a:t>
            </a:r>
          </a:p>
        </p:txBody>
      </p:sp>
      <p:sp>
        <p:nvSpPr>
          <p:cNvPr id="55" name="Rounded Rectangle 54"/>
          <p:cNvSpPr/>
          <p:nvPr/>
        </p:nvSpPr>
        <p:spPr>
          <a:xfrm>
            <a:off x="8147304" y="1773936"/>
            <a:ext cx="3538728" cy="932688"/>
          </a:xfrm>
          <a:prstGeom prst="roundRect">
            <a:avLst/>
          </a:prstGeom>
          <a:solidFill>
            <a:srgbClr val="F0E9F7"/>
          </a:solidFill>
          <a:ln w="15240">
            <a:solidFill>
              <a:srgbClr val="7E4C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8330183" y="1911095"/>
            <a:ext cx="3172968" cy="18288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69" b="1" i="0">
                <a:solidFill>
                  <a:srgbClr val="7E4C9A"/>
                </a:solidFill>
                <a:latin typeface="Arial"/>
              </a:rPr>
              <a:t>STUDY SNAPSHOT</a:t>
            </a:r>
          </a:p>
        </p:txBody>
      </p:sp>
      <p:sp>
        <p:nvSpPr>
          <p:cNvPr id="57" name="TextBox 56"/>
          <p:cNvSpPr txBox="1"/>
          <p:nvPr/>
        </p:nvSpPr>
        <p:spPr>
          <a:xfrm>
            <a:off x="8330183" y="2167128"/>
            <a:ext cx="3172968" cy="42976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140" b="1" i="0">
                <a:solidFill>
                  <a:srgbClr val="0F233D"/>
                </a:solidFill>
                <a:latin typeface="Arial"/>
              </a:rPr>
              <a:t>Whole brain • EasySci RNA+ATAC • &gt;300 subtypes • animal manifest needed</a:t>
            </a:r>
          </a:p>
        </p:txBody>
      </p:sp>
      <p:sp>
        <p:nvSpPr>
          <p:cNvPr id="58" name="Rounded Rectangle 57"/>
          <p:cNvSpPr/>
          <p:nvPr/>
        </p:nvSpPr>
        <p:spPr>
          <a:xfrm>
            <a:off x="8147304" y="2834640"/>
            <a:ext cx="3538728" cy="1243584"/>
          </a:xfrm>
          <a:prstGeom prst="roundRect">
            <a:avLst/>
          </a:prstGeom>
          <a:solidFill>
            <a:srgbClr val="E0F4EE"/>
          </a:solidFill>
          <a:ln w="1524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8330183" y="2971800"/>
            <a:ext cx="3172968" cy="18288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69" b="1" i="0">
                <a:solidFill>
                  <a:srgbClr val="009E73"/>
                </a:solidFill>
                <a:latin typeface="Arial"/>
              </a:rPr>
              <a:t>BEST USE</a:t>
            </a:r>
          </a:p>
        </p:txBody>
      </p:sp>
      <p:sp>
        <p:nvSpPr>
          <p:cNvPr id="60" name="TextBox 59"/>
          <p:cNvSpPr txBox="1"/>
          <p:nvPr/>
        </p:nvSpPr>
        <p:spPr>
          <a:xfrm>
            <a:off x="8330183" y="3227832"/>
            <a:ext cx="3172968" cy="74066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200" b="0" i="0">
                <a:solidFill>
                  <a:srgbClr val="0F233D"/>
                </a:solidFill>
                <a:latin typeface="Arial"/>
              </a:rPr>
              <a:t>Assess broad sex/disease convergence, rare populations, and chromatin support.</a:t>
            </a:r>
          </a:p>
        </p:txBody>
      </p:sp>
      <p:sp>
        <p:nvSpPr>
          <p:cNvPr id="61" name="Rounded Rectangle 60"/>
          <p:cNvSpPr/>
          <p:nvPr/>
        </p:nvSpPr>
        <p:spPr>
          <a:xfrm>
            <a:off x="8147304" y="4206240"/>
            <a:ext cx="3538728" cy="1243584"/>
          </a:xfrm>
          <a:prstGeom prst="roundRect">
            <a:avLst/>
          </a:prstGeom>
          <a:solidFill>
            <a:srgbClr val="FDEBE4"/>
          </a:solidFill>
          <a:ln w="15240">
            <a:solidFill>
              <a:srgbClr val="D55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8330183" y="4343400"/>
            <a:ext cx="3172968" cy="18288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69" b="1" i="0">
                <a:solidFill>
                  <a:srgbClr val="D55E00"/>
                </a:solidFill>
                <a:latin typeface="Arial"/>
              </a:rPr>
              <a:t>DO NOT CLAIM</a:t>
            </a:r>
          </a:p>
        </p:txBody>
      </p:sp>
      <p:sp>
        <p:nvSpPr>
          <p:cNvPr id="63" name="TextBox 62"/>
          <p:cNvSpPr txBox="1"/>
          <p:nvPr/>
        </p:nvSpPr>
        <p:spPr>
          <a:xfrm>
            <a:off x="8330183" y="4599431"/>
            <a:ext cx="3172968" cy="74066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170" b="0" i="0">
                <a:solidFill>
                  <a:srgbClr val="0F233D"/>
                </a:solidFill>
                <a:latin typeface="Arial"/>
              </a:rPr>
              <a:t>APOE4 cannot be separated from TREM2 R47H; not region matched or directly APOE3-versus-APOE4.</a:t>
            </a:r>
          </a:p>
        </p:txBody>
      </p:sp>
      <p:sp>
        <p:nvSpPr>
          <p:cNvPr id="64" name="takeaway_ribbon"/>
          <p:cNvSpPr/>
          <p:nvPr/>
        </p:nvSpPr>
        <p:spPr>
          <a:xfrm>
            <a:off x="502920" y="5815584"/>
            <a:ext cx="11183112" cy="512064"/>
          </a:xfrm>
          <a:prstGeom prst="rect">
            <a:avLst/>
          </a:prstGeom>
          <a:solidFill>
            <a:srgbClr val="0F2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Rectangle 64"/>
          <p:cNvSpPr/>
          <p:nvPr/>
        </p:nvSpPr>
        <p:spPr>
          <a:xfrm>
            <a:off x="502920" y="5815584"/>
            <a:ext cx="91440" cy="512064"/>
          </a:xfrm>
          <a:prstGeom prst="rect">
            <a:avLst/>
          </a:prstGeom>
          <a:solidFill>
            <a:srgbClr val="7E4C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749808" y="5888736"/>
            <a:ext cx="10652760" cy="329184"/>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200" b="1" i="0">
                <a:solidFill>
                  <a:srgbClr val="FFFFFF"/>
                </a:solidFill>
                <a:latin typeface="Arial"/>
              </a:rPr>
              <a:t>Use as broad whole-brain convergence and chromatin evidence—not direct PFC/APOE validation.</a:t>
            </a:r>
          </a:p>
        </p:txBody>
      </p:sp>
      <p:sp>
        <p:nvSpPr>
          <p:cNvPr id="67" name="source_line"/>
          <p:cNvSpPr txBox="1"/>
          <p:nvPr/>
        </p:nvSpPr>
        <p:spPr>
          <a:xfrm>
            <a:off x="502920" y="6620256"/>
            <a:ext cx="11155680" cy="12801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670" b="0" i="0">
                <a:solidFill>
                  <a:srgbClr val="606C7B"/>
                </a:solidFill>
                <a:latin typeface="Arial"/>
              </a:rPr>
              <a:t>Source: mouse_dataset_comparison.md §6.9; GEO GSE212606; PMID 37774676. Suitability assessment, not new matrix analysis.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146304"/>
            <a:ext cx="5577840"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19" b="1" i="0">
                <a:solidFill>
                  <a:srgbClr val="7E4C9A"/>
                </a:solidFill>
                <a:latin typeface="Arial"/>
              </a:rPr>
              <a:t>DATASET PROFILE • SPECIALIZED SUPPORT</a:t>
            </a:r>
          </a:p>
        </p:txBody>
      </p:sp>
      <p:sp>
        <p:nvSpPr>
          <p:cNvPr id="3" name="slide_title"/>
          <p:cNvSpPr txBox="1"/>
          <p:nvPr/>
        </p:nvSpPr>
        <p:spPr>
          <a:xfrm>
            <a:off x="502920" y="356616"/>
            <a:ext cx="11018520" cy="713232"/>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950" b="1" i="0">
                <a:solidFill>
                  <a:srgbClr val="0F233D"/>
                </a:solidFill>
                <a:latin typeface="Arial"/>
              </a:rPr>
              <a:t>GSE213446 provides APOE-by-tau support in hippocampus, but mouse-level sex and replication are unresolved</a:t>
            </a:r>
          </a:p>
        </p:txBody>
      </p:sp>
      <p:sp>
        <p:nvSpPr>
          <p:cNvPr id="4" name="TextBox 3"/>
          <p:cNvSpPr txBox="1"/>
          <p:nvPr/>
        </p:nvSpPr>
        <p:spPr>
          <a:xfrm>
            <a:off x="11402568" y="155448"/>
            <a:ext cx="274320" cy="164592"/>
          </a:xfrm>
          <a:prstGeom prst="rect">
            <a:avLst/>
          </a:prstGeom>
          <a:noFill/>
        </p:spPr>
        <p:txBody>
          <a:bodyPr wrap="square" lIns="27432" tIns="27432" rIns="27432" bIns="27432" anchor="t">
            <a:spAutoFit/>
          </a:bodyPr>
          <a:lstStyle/>
          <a:p>
            <a:pPr algn="r">
              <a:lnSpc>
                <a:spcPct val="100000"/>
              </a:lnSpc>
              <a:spcBef>
                <a:spcPts val="0"/>
              </a:spcBef>
              <a:spcAft>
                <a:spcPts val="0"/>
              </a:spcAft>
            </a:pPr>
            <a:r>
              <a:rPr sz="880" b="1" i="0">
                <a:solidFill>
                  <a:srgbClr val="606C7B"/>
                </a:solidFill>
                <a:latin typeface="Arial"/>
              </a:rPr>
              <a:t>12</a:t>
            </a:r>
          </a:p>
        </p:txBody>
      </p:sp>
      <p:sp>
        <p:nvSpPr>
          <p:cNvPr id="5" name="criterion_card_1_Region"/>
          <p:cNvSpPr/>
          <p:nvPr/>
        </p:nvSpPr>
        <p:spPr>
          <a:xfrm>
            <a:off x="502920" y="1225296"/>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02920" y="1225296"/>
            <a:ext cx="73152" cy="850392"/>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67512" y="1316736"/>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Region</a:t>
            </a:r>
          </a:p>
        </p:txBody>
      </p:sp>
      <p:sp>
        <p:nvSpPr>
          <p:cNvPr id="8" name="criterion_state_1"/>
          <p:cNvSpPr/>
          <p:nvPr/>
        </p:nvSpPr>
        <p:spPr>
          <a:xfrm>
            <a:off x="649224" y="1591056"/>
            <a:ext cx="987552" cy="265176"/>
          </a:xfrm>
          <a:prstGeom prst="roundRect">
            <a:avLst/>
          </a:prstGeom>
          <a:solidFill>
            <a:srgbClr val="FDEBE4"/>
          </a:solidFill>
          <a:ln w="10160">
            <a:solidFill>
              <a:srgbClr val="D55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76656" y="1618488"/>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740" b="1" i="0">
                <a:solidFill>
                  <a:srgbClr val="232A33"/>
                </a:solidFill>
                <a:latin typeface="Arial"/>
              </a:rPr>
              <a:t>NOT MATCHED</a:t>
            </a:r>
          </a:p>
        </p:txBody>
      </p:sp>
      <p:sp>
        <p:nvSpPr>
          <p:cNvPr id="10" name="TextBox 9"/>
          <p:cNvSpPr txBox="1"/>
          <p:nvPr/>
        </p:nvSpPr>
        <p:spPr>
          <a:xfrm>
            <a:off x="1764792" y="1353312"/>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Hippocampus; not cortex/PFC.</a:t>
            </a:r>
          </a:p>
        </p:txBody>
      </p:sp>
      <p:sp>
        <p:nvSpPr>
          <p:cNvPr id="11" name="criterion_card_2_APOE"/>
          <p:cNvSpPr/>
          <p:nvPr/>
        </p:nvSpPr>
        <p:spPr>
          <a:xfrm>
            <a:off x="502920" y="2212848"/>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502920" y="2212848"/>
            <a:ext cx="73152" cy="850392"/>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67512" y="2304288"/>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APOE</a:t>
            </a:r>
          </a:p>
        </p:txBody>
      </p:sp>
      <p:sp>
        <p:nvSpPr>
          <p:cNvPr id="14" name="criterion_state_2"/>
          <p:cNvSpPr/>
          <p:nvPr/>
        </p:nvSpPr>
        <p:spPr>
          <a:xfrm>
            <a:off x="649224" y="2578608"/>
            <a:ext cx="987552" cy="265176"/>
          </a:xfrm>
          <a:prstGeom prst="roundRect">
            <a:avLst/>
          </a:prstGeom>
          <a:solidFill>
            <a:srgbClr val="E0F4EE"/>
          </a:solidFill>
          <a:ln w="1016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76656" y="2606040"/>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STRONG</a:t>
            </a:r>
          </a:p>
        </p:txBody>
      </p:sp>
      <p:sp>
        <p:nvSpPr>
          <p:cNvPr id="16" name="TextBox 15"/>
          <p:cNvSpPr txBox="1"/>
          <p:nvPr/>
        </p:nvSpPr>
        <p:spPr>
          <a:xfrm>
            <a:off x="1764792" y="2340864"/>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Human APOE3/APOE4 with and without P301S.</a:t>
            </a:r>
          </a:p>
        </p:txBody>
      </p:sp>
      <p:sp>
        <p:nvSpPr>
          <p:cNvPr id="17" name="criterion_card_3_Sex"/>
          <p:cNvSpPr/>
          <p:nvPr/>
        </p:nvSpPr>
        <p:spPr>
          <a:xfrm>
            <a:off x="502920" y="3200400"/>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502920" y="3200400"/>
            <a:ext cx="73152" cy="85039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67512" y="3291840"/>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Sex</a:t>
            </a:r>
          </a:p>
        </p:txBody>
      </p:sp>
      <p:sp>
        <p:nvSpPr>
          <p:cNvPr id="20" name="criterion_state_3"/>
          <p:cNvSpPr/>
          <p:nvPr/>
        </p:nvSpPr>
        <p:spPr>
          <a:xfrm>
            <a:off x="649224" y="3566160"/>
            <a:ext cx="987552" cy="265176"/>
          </a:xfrm>
          <a:prstGeom prst="roundRect">
            <a:avLst/>
          </a:prstGeom>
          <a:solidFill>
            <a:srgbClr val="FFF4D8"/>
          </a:solidFill>
          <a:ln w="1016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76656" y="3593592"/>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PARTIAL</a:t>
            </a:r>
          </a:p>
        </p:txBody>
      </p:sp>
      <p:sp>
        <p:nvSpPr>
          <p:cNvPr id="22" name="TextBox 21"/>
          <p:cNvSpPr txBox="1"/>
          <p:nvPr/>
        </p:nvSpPr>
        <p:spPr>
          <a:xfrm>
            <a:off x="1764792" y="3328416"/>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Sex biology reported; public library map absent.</a:t>
            </a:r>
          </a:p>
        </p:txBody>
      </p:sp>
      <p:sp>
        <p:nvSpPr>
          <p:cNvPr id="23" name="criterion_card_4_Disease"/>
          <p:cNvSpPr/>
          <p:nvPr/>
        </p:nvSpPr>
        <p:spPr>
          <a:xfrm>
            <a:off x="502920" y="4187952"/>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502920" y="4187952"/>
            <a:ext cx="73152" cy="85039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67512" y="4279392"/>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Disease</a:t>
            </a:r>
          </a:p>
        </p:txBody>
      </p:sp>
      <p:sp>
        <p:nvSpPr>
          <p:cNvPr id="26" name="criterion_state_4"/>
          <p:cNvSpPr/>
          <p:nvPr/>
        </p:nvSpPr>
        <p:spPr>
          <a:xfrm>
            <a:off x="649224" y="4553712"/>
            <a:ext cx="987552" cy="265176"/>
          </a:xfrm>
          <a:prstGeom prst="roundRect">
            <a:avLst/>
          </a:prstGeom>
          <a:solidFill>
            <a:srgbClr val="FFF4D8"/>
          </a:solidFill>
          <a:ln w="1016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76656" y="4581144"/>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PARTIAL</a:t>
            </a:r>
          </a:p>
        </p:txBody>
      </p:sp>
      <p:sp>
        <p:nvSpPr>
          <p:cNvPr id="28" name="TextBox 27"/>
          <p:cNvSpPr txBox="1"/>
          <p:nvPr/>
        </p:nvSpPr>
        <p:spPr>
          <a:xfrm>
            <a:off x="1764792" y="4315968"/>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Tauopathy versus non-tau, not the target amyloid design.</a:t>
            </a:r>
          </a:p>
        </p:txBody>
      </p:sp>
      <p:sp>
        <p:nvSpPr>
          <p:cNvPr id="29" name="criterion_card_5_Modality"/>
          <p:cNvSpPr/>
          <p:nvPr/>
        </p:nvSpPr>
        <p:spPr>
          <a:xfrm>
            <a:off x="4279392" y="1225296"/>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4279392" y="1225296"/>
            <a:ext cx="73152" cy="85039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443983" y="1316736"/>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Modality</a:t>
            </a:r>
          </a:p>
        </p:txBody>
      </p:sp>
      <p:sp>
        <p:nvSpPr>
          <p:cNvPr id="32" name="criterion_state_5"/>
          <p:cNvSpPr/>
          <p:nvPr/>
        </p:nvSpPr>
        <p:spPr>
          <a:xfrm>
            <a:off x="4425696" y="1591056"/>
            <a:ext cx="987552" cy="265176"/>
          </a:xfrm>
          <a:prstGeom prst="roundRect">
            <a:avLst/>
          </a:prstGeom>
          <a:solidFill>
            <a:srgbClr val="FFF4D8"/>
          </a:solidFill>
          <a:ln w="1016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4453128" y="1618488"/>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PARTIAL</a:t>
            </a:r>
          </a:p>
        </p:txBody>
      </p:sp>
      <p:sp>
        <p:nvSpPr>
          <p:cNvPr id="34" name="TextBox 33"/>
          <p:cNvSpPr txBox="1"/>
          <p:nvPr/>
        </p:nvSpPr>
        <p:spPr>
          <a:xfrm>
            <a:off x="5541264" y="1353312"/>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snRNA-seq, but animals per library are unclear.</a:t>
            </a:r>
          </a:p>
        </p:txBody>
      </p:sp>
      <p:sp>
        <p:nvSpPr>
          <p:cNvPr id="35" name="criterion_card_6_Replication"/>
          <p:cNvSpPr/>
          <p:nvPr/>
        </p:nvSpPr>
        <p:spPr>
          <a:xfrm>
            <a:off x="4279392" y="2212848"/>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4279392" y="2212848"/>
            <a:ext cx="73152" cy="85039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4443983" y="2304288"/>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Replication</a:t>
            </a:r>
          </a:p>
        </p:txBody>
      </p:sp>
      <p:sp>
        <p:nvSpPr>
          <p:cNvPr id="38" name="criterion_state_6"/>
          <p:cNvSpPr/>
          <p:nvPr/>
        </p:nvSpPr>
        <p:spPr>
          <a:xfrm>
            <a:off x="4425696" y="2578608"/>
            <a:ext cx="987552" cy="265176"/>
          </a:xfrm>
          <a:prstGeom prst="roundRect">
            <a:avLst/>
          </a:prstGeom>
          <a:solidFill>
            <a:srgbClr val="FFF4D8"/>
          </a:solidFill>
          <a:ln w="1016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4453128" y="2606040"/>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PARTIAL</a:t>
            </a:r>
          </a:p>
        </p:txBody>
      </p:sp>
      <p:sp>
        <p:nvSpPr>
          <p:cNvPr id="40" name="TextBox 39"/>
          <p:cNvSpPr txBox="1"/>
          <p:nvPr/>
        </p:nvSpPr>
        <p:spPr>
          <a:xfrm>
            <a:off x="5541264" y="2340864"/>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One listed library/condition; mouse n is unaudited.</a:t>
            </a:r>
          </a:p>
        </p:txBody>
      </p:sp>
      <p:sp>
        <p:nvSpPr>
          <p:cNvPr id="41" name="criterion_card_7_Cell breadth"/>
          <p:cNvSpPr/>
          <p:nvPr/>
        </p:nvSpPr>
        <p:spPr>
          <a:xfrm>
            <a:off x="4279392" y="3200400"/>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4279392" y="3200400"/>
            <a:ext cx="73152" cy="850392"/>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4443983" y="3291840"/>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Cell breadth</a:t>
            </a:r>
          </a:p>
        </p:txBody>
      </p:sp>
      <p:sp>
        <p:nvSpPr>
          <p:cNvPr id="44" name="criterion_state_7"/>
          <p:cNvSpPr/>
          <p:nvPr/>
        </p:nvSpPr>
        <p:spPr>
          <a:xfrm>
            <a:off x="4425696" y="3566160"/>
            <a:ext cx="987552" cy="265176"/>
          </a:xfrm>
          <a:prstGeom prst="roundRect">
            <a:avLst/>
          </a:prstGeom>
          <a:solidFill>
            <a:srgbClr val="E0F4EE"/>
          </a:solidFill>
          <a:ln w="1016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4453128" y="3593592"/>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STRONG</a:t>
            </a:r>
          </a:p>
        </p:txBody>
      </p:sp>
      <p:sp>
        <p:nvSpPr>
          <p:cNvPr id="46" name="TextBox 45"/>
          <p:cNvSpPr txBox="1"/>
          <p:nvPr/>
        </p:nvSpPr>
        <p:spPr>
          <a:xfrm>
            <a:off x="5541264" y="3328416"/>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Broad hippocampal cell populations.</a:t>
            </a:r>
          </a:p>
        </p:txBody>
      </p:sp>
      <p:sp>
        <p:nvSpPr>
          <p:cNvPr id="47" name="criterion_card_8_Public usability"/>
          <p:cNvSpPr/>
          <p:nvPr/>
        </p:nvSpPr>
        <p:spPr>
          <a:xfrm>
            <a:off x="4279392" y="4187952"/>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4279392" y="4187952"/>
            <a:ext cx="73152" cy="85039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4443983" y="4279392"/>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69" b="1" i="0">
                <a:solidFill>
                  <a:srgbClr val="0F233D"/>
                </a:solidFill>
                <a:latin typeface="Arial"/>
              </a:rPr>
              <a:t>Public usability</a:t>
            </a:r>
          </a:p>
        </p:txBody>
      </p:sp>
      <p:sp>
        <p:nvSpPr>
          <p:cNvPr id="50" name="criterion_state_8"/>
          <p:cNvSpPr/>
          <p:nvPr/>
        </p:nvSpPr>
        <p:spPr>
          <a:xfrm>
            <a:off x="4425696" y="4553712"/>
            <a:ext cx="987552" cy="265176"/>
          </a:xfrm>
          <a:prstGeom prst="roundRect">
            <a:avLst/>
          </a:prstGeom>
          <a:solidFill>
            <a:srgbClr val="FFF4D8"/>
          </a:solidFill>
          <a:ln w="1016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4453128" y="4581144"/>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PARTIAL</a:t>
            </a:r>
          </a:p>
        </p:txBody>
      </p:sp>
      <p:sp>
        <p:nvSpPr>
          <p:cNvPr id="52" name="TextBox 51"/>
          <p:cNvSpPr txBox="1"/>
          <p:nvPr/>
        </p:nvSpPr>
        <p:spPr>
          <a:xfrm>
            <a:off x="5541264" y="4315968"/>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Counts available; mouse/sex metadata need recovery.</a:t>
            </a:r>
          </a:p>
        </p:txBody>
      </p:sp>
      <p:sp>
        <p:nvSpPr>
          <p:cNvPr id="53" name="Rounded Rectangle 52"/>
          <p:cNvSpPr/>
          <p:nvPr/>
        </p:nvSpPr>
        <p:spPr>
          <a:xfrm>
            <a:off x="8147304" y="1207008"/>
            <a:ext cx="3538728" cy="438912"/>
          </a:xfrm>
          <a:prstGeom prst="roundRect">
            <a:avLst/>
          </a:prstGeom>
          <a:solidFill>
            <a:srgbClr val="F0E9F7"/>
          </a:solidFill>
          <a:ln w="15240">
            <a:solidFill>
              <a:srgbClr val="7E4C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8321040" y="1298448"/>
            <a:ext cx="3191256" cy="21945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030" b="1" i="0">
                <a:solidFill>
                  <a:srgbClr val="7E4C9A"/>
                </a:solidFill>
                <a:latin typeface="Arial"/>
              </a:rPr>
              <a:t>SPECIALIZED SUPPORT</a:t>
            </a:r>
          </a:p>
        </p:txBody>
      </p:sp>
      <p:sp>
        <p:nvSpPr>
          <p:cNvPr id="55" name="Rounded Rectangle 54"/>
          <p:cNvSpPr/>
          <p:nvPr/>
        </p:nvSpPr>
        <p:spPr>
          <a:xfrm>
            <a:off x="8147304" y="1773936"/>
            <a:ext cx="3538728" cy="932688"/>
          </a:xfrm>
          <a:prstGeom prst="roundRect">
            <a:avLst/>
          </a:prstGeom>
          <a:solidFill>
            <a:srgbClr val="F0E9F7"/>
          </a:solidFill>
          <a:ln w="15240">
            <a:solidFill>
              <a:srgbClr val="7E4C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8330183" y="1911095"/>
            <a:ext cx="3172968" cy="18288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69" b="1" i="0">
                <a:solidFill>
                  <a:srgbClr val="7E4C9A"/>
                </a:solidFill>
                <a:latin typeface="Arial"/>
              </a:rPr>
              <a:t>STUDY SNAPSHOT</a:t>
            </a:r>
          </a:p>
        </p:txBody>
      </p:sp>
      <p:sp>
        <p:nvSpPr>
          <p:cNvPr id="57" name="TextBox 56"/>
          <p:cNvSpPr txBox="1"/>
          <p:nvPr/>
        </p:nvSpPr>
        <p:spPr>
          <a:xfrm>
            <a:off x="8330183" y="2167128"/>
            <a:ext cx="3172968" cy="42976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140" b="1" i="0">
                <a:solidFill>
                  <a:srgbClr val="0F233D"/>
                </a:solidFill>
                <a:latin typeface="Arial"/>
              </a:rPr>
              <a:t>Hippocampus • snRNA-seq • 10 public libraries • APOE×tau×treatment</a:t>
            </a:r>
          </a:p>
        </p:txBody>
      </p:sp>
      <p:sp>
        <p:nvSpPr>
          <p:cNvPr id="58" name="Rounded Rectangle 57"/>
          <p:cNvSpPr/>
          <p:nvPr/>
        </p:nvSpPr>
        <p:spPr>
          <a:xfrm>
            <a:off x="8147304" y="2834640"/>
            <a:ext cx="3538728" cy="1243584"/>
          </a:xfrm>
          <a:prstGeom prst="roundRect">
            <a:avLst/>
          </a:prstGeom>
          <a:solidFill>
            <a:srgbClr val="E0F4EE"/>
          </a:solidFill>
          <a:ln w="1524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8330183" y="2971800"/>
            <a:ext cx="3172968" cy="18288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69" b="1" i="0">
                <a:solidFill>
                  <a:srgbClr val="009E73"/>
                </a:solidFill>
                <a:latin typeface="Arial"/>
              </a:rPr>
              <a:t>BEST USE</a:t>
            </a:r>
          </a:p>
        </p:txBody>
      </p:sp>
      <p:sp>
        <p:nvSpPr>
          <p:cNvPr id="60" name="TextBox 59"/>
          <p:cNvSpPr txBox="1"/>
          <p:nvPr/>
        </p:nvSpPr>
        <p:spPr>
          <a:xfrm>
            <a:off x="8330183" y="3227832"/>
            <a:ext cx="3172968" cy="74066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200" b="0" i="0">
                <a:solidFill>
                  <a:srgbClr val="0F233D"/>
                </a:solidFill>
                <a:latin typeface="Arial"/>
              </a:rPr>
              <a:t>Provide pathway-level, cross-region and cross-pathology APOE-by-tau support.</a:t>
            </a:r>
          </a:p>
        </p:txBody>
      </p:sp>
      <p:sp>
        <p:nvSpPr>
          <p:cNvPr id="61" name="Rounded Rectangle 60"/>
          <p:cNvSpPr/>
          <p:nvPr/>
        </p:nvSpPr>
        <p:spPr>
          <a:xfrm>
            <a:off x="8147304" y="4206240"/>
            <a:ext cx="3538728" cy="1243584"/>
          </a:xfrm>
          <a:prstGeom prst="roundRect">
            <a:avLst/>
          </a:prstGeom>
          <a:solidFill>
            <a:srgbClr val="FDEBE4"/>
          </a:solidFill>
          <a:ln w="15240">
            <a:solidFill>
              <a:srgbClr val="D55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8330183" y="4343400"/>
            <a:ext cx="3172968" cy="18288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69" b="1" i="0">
                <a:solidFill>
                  <a:srgbClr val="D55E00"/>
                </a:solidFill>
                <a:latin typeface="Arial"/>
              </a:rPr>
              <a:t>DO NOT CLAIM</a:t>
            </a:r>
          </a:p>
        </p:txBody>
      </p:sp>
      <p:sp>
        <p:nvSpPr>
          <p:cNvPr id="63" name="TextBox 62"/>
          <p:cNvSpPr txBox="1"/>
          <p:nvPr/>
        </p:nvSpPr>
        <p:spPr>
          <a:xfrm>
            <a:off x="8330183" y="4599431"/>
            <a:ext cx="3172968" cy="74066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170" b="0" i="0">
                <a:solidFill>
                  <a:srgbClr val="0F233D"/>
                </a:solidFill>
                <a:latin typeface="Arial"/>
              </a:rPr>
              <a:t>Hippocampal tau model; sex mapping and independent mouse replication are unresolved.</a:t>
            </a:r>
          </a:p>
        </p:txBody>
      </p:sp>
      <p:sp>
        <p:nvSpPr>
          <p:cNvPr id="64" name="takeaway_ribbon"/>
          <p:cNvSpPr/>
          <p:nvPr/>
        </p:nvSpPr>
        <p:spPr>
          <a:xfrm>
            <a:off x="502920" y="5815584"/>
            <a:ext cx="11183112" cy="512064"/>
          </a:xfrm>
          <a:prstGeom prst="rect">
            <a:avLst/>
          </a:prstGeom>
          <a:solidFill>
            <a:srgbClr val="0F2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Rectangle 64"/>
          <p:cNvSpPr/>
          <p:nvPr/>
        </p:nvSpPr>
        <p:spPr>
          <a:xfrm>
            <a:off x="502920" y="5815584"/>
            <a:ext cx="91440" cy="512064"/>
          </a:xfrm>
          <a:prstGeom prst="rect">
            <a:avLst/>
          </a:prstGeom>
          <a:solidFill>
            <a:srgbClr val="7E4C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749808" y="5888736"/>
            <a:ext cx="10652760" cy="329184"/>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200" b="1" i="0">
                <a:solidFill>
                  <a:srgbClr val="FFFFFF"/>
                </a:solidFill>
                <a:latin typeface="Arial"/>
              </a:rPr>
              <a:t>Keep conclusions descriptive until animal-level metadata are recovered.</a:t>
            </a:r>
          </a:p>
        </p:txBody>
      </p:sp>
      <p:sp>
        <p:nvSpPr>
          <p:cNvPr id="67" name="source_line"/>
          <p:cNvSpPr txBox="1"/>
          <p:nvPr/>
        </p:nvSpPr>
        <p:spPr>
          <a:xfrm>
            <a:off x="502920" y="6620256"/>
            <a:ext cx="11155680" cy="12801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670" b="0" i="0">
                <a:solidFill>
                  <a:srgbClr val="606C7B"/>
                </a:solidFill>
                <a:latin typeface="Arial"/>
              </a:rPr>
              <a:t>Source: mouse_dataset_comparison.md §6.10; GEO GSE213446. Suitability assessment, not new matrix analysis.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02920" y="146304"/>
            <a:ext cx="5577840"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19" b="1" i="0">
                <a:solidFill>
                  <a:srgbClr val="7E4C9A"/>
                </a:solidFill>
                <a:latin typeface="Arial"/>
              </a:rPr>
              <a:t>DATASET PROFILE • SPECIALIZED SUPPORT</a:t>
            </a:r>
          </a:p>
        </p:txBody>
      </p:sp>
      <p:sp>
        <p:nvSpPr>
          <p:cNvPr id="3" name="slide_title"/>
          <p:cNvSpPr txBox="1"/>
          <p:nvPr/>
        </p:nvSpPr>
        <p:spPr>
          <a:xfrm>
            <a:off x="502920" y="356616"/>
            <a:ext cx="11018520" cy="713232"/>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820" b="1" i="0">
                <a:solidFill>
                  <a:srgbClr val="0F233D"/>
                </a:solidFill>
                <a:latin typeface="Arial"/>
              </a:rPr>
              <a:t>GSE212317/GSE213391 support female APOE immunometabolism, but pooling and age/disease confounding limit inference</a:t>
            </a:r>
          </a:p>
        </p:txBody>
      </p:sp>
      <p:sp>
        <p:nvSpPr>
          <p:cNvPr id="4" name="TextBox 3"/>
          <p:cNvSpPr txBox="1"/>
          <p:nvPr/>
        </p:nvSpPr>
        <p:spPr>
          <a:xfrm>
            <a:off x="11402568" y="155448"/>
            <a:ext cx="274320" cy="164592"/>
          </a:xfrm>
          <a:prstGeom prst="rect">
            <a:avLst/>
          </a:prstGeom>
          <a:noFill/>
        </p:spPr>
        <p:txBody>
          <a:bodyPr wrap="square" lIns="27432" tIns="27432" rIns="27432" bIns="27432" anchor="t">
            <a:spAutoFit/>
          </a:bodyPr>
          <a:lstStyle/>
          <a:p>
            <a:pPr algn="r">
              <a:lnSpc>
                <a:spcPct val="100000"/>
              </a:lnSpc>
              <a:spcBef>
                <a:spcPts val="0"/>
              </a:spcBef>
              <a:spcAft>
                <a:spcPts val="0"/>
              </a:spcAft>
            </a:pPr>
            <a:r>
              <a:rPr sz="880" b="1" i="0">
                <a:solidFill>
                  <a:srgbClr val="606C7B"/>
                </a:solidFill>
                <a:latin typeface="Arial"/>
              </a:rPr>
              <a:t>13</a:t>
            </a:r>
          </a:p>
        </p:txBody>
      </p:sp>
      <p:sp>
        <p:nvSpPr>
          <p:cNvPr id="5" name="criterion_card_1_Region"/>
          <p:cNvSpPr/>
          <p:nvPr/>
        </p:nvSpPr>
        <p:spPr>
          <a:xfrm>
            <a:off x="502920" y="1225296"/>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02920" y="1225296"/>
            <a:ext cx="73152" cy="850392"/>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67512" y="1316736"/>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Region</a:t>
            </a:r>
          </a:p>
        </p:txBody>
      </p:sp>
      <p:sp>
        <p:nvSpPr>
          <p:cNvPr id="8" name="criterion_state_1"/>
          <p:cNvSpPr/>
          <p:nvPr/>
        </p:nvSpPr>
        <p:spPr>
          <a:xfrm>
            <a:off x="649224" y="1591056"/>
            <a:ext cx="987552" cy="265176"/>
          </a:xfrm>
          <a:prstGeom prst="roundRect">
            <a:avLst/>
          </a:prstGeom>
          <a:solidFill>
            <a:srgbClr val="FDEBE4"/>
          </a:solidFill>
          <a:ln w="10160">
            <a:solidFill>
              <a:srgbClr val="D55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76656" y="1618488"/>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740" b="1" i="0">
                <a:solidFill>
                  <a:srgbClr val="232A33"/>
                </a:solidFill>
                <a:latin typeface="Arial"/>
              </a:rPr>
              <a:t>NOT MATCHED</a:t>
            </a:r>
          </a:p>
        </p:txBody>
      </p:sp>
      <p:sp>
        <p:nvSpPr>
          <p:cNvPr id="10" name="TextBox 9"/>
          <p:cNvSpPr txBox="1"/>
          <p:nvPr/>
        </p:nvSpPr>
        <p:spPr>
          <a:xfrm>
            <a:off x="1764792" y="1353312"/>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Broad left hemisphere; not region-specific PFC.</a:t>
            </a:r>
          </a:p>
        </p:txBody>
      </p:sp>
      <p:sp>
        <p:nvSpPr>
          <p:cNvPr id="11" name="criterion_card_2_APOE"/>
          <p:cNvSpPr/>
          <p:nvPr/>
        </p:nvSpPr>
        <p:spPr>
          <a:xfrm>
            <a:off x="502920" y="2212848"/>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502920" y="2212848"/>
            <a:ext cx="73152" cy="850392"/>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67512" y="2304288"/>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APOE</a:t>
            </a:r>
          </a:p>
        </p:txBody>
      </p:sp>
      <p:sp>
        <p:nvSpPr>
          <p:cNvPr id="14" name="criterion_state_2"/>
          <p:cNvSpPr/>
          <p:nvPr/>
        </p:nvSpPr>
        <p:spPr>
          <a:xfrm>
            <a:off x="649224" y="2578608"/>
            <a:ext cx="987552" cy="265176"/>
          </a:xfrm>
          <a:prstGeom prst="roundRect">
            <a:avLst/>
          </a:prstGeom>
          <a:solidFill>
            <a:srgbClr val="E0F4EE"/>
          </a:solidFill>
          <a:ln w="1016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76656" y="2606040"/>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STRONG</a:t>
            </a:r>
          </a:p>
        </p:txBody>
      </p:sp>
      <p:sp>
        <p:nvSpPr>
          <p:cNvPr id="16" name="TextBox 15"/>
          <p:cNvSpPr txBox="1"/>
          <p:nvPr/>
        </p:nvSpPr>
        <p:spPr>
          <a:xfrm>
            <a:off x="1764792" y="2340864"/>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Human APOE3 and APOE4 contexts.</a:t>
            </a:r>
          </a:p>
        </p:txBody>
      </p:sp>
      <p:sp>
        <p:nvSpPr>
          <p:cNvPr id="17" name="criterion_card_3_Sex"/>
          <p:cNvSpPr/>
          <p:nvPr/>
        </p:nvSpPr>
        <p:spPr>
          <a:xfrm>
            <a:off x="502920" y="3200400"/>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502920" y="3200400"/>
            <a:ext cx="73152" cy="850392"/>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67512" y="3291840"/>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Sex</a:t>
            </a:r>
          </a:p>
        </p:txBody>
      </p:sp>
      <p:sp>
        <p:nvSpPr>
          <p:cNvPr id="20" name="criterion_state_3"/>
          <p:cNvSpPr/>
          <p:nvPr/>
        </p:nvSpPr>
        <p:spPr>
          <a:xfrm>
            <a:off x="649224" y="3566160"/>
            <a:ext cx="987552" cy="265176"/>
          </a:xfrm>
          <a:prstGeom prst="roundRect">
            <a:avLst/>
          </a:prstGeom>
          <a:solidFill>
            <a:srgbClr val="FDEBE4"/>
          </a:solidFill>
          <a:ln w="10160">
            <a:solidFill>
              <a:srgbClr val="D55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76656" y="3593592"/>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740" b="1" i="0">
                <a:solidFill>
                  <a:srgbClr val="232A33"/>
                </a:solidFill>
                <a:latin typeface="Arial"/>
              </a:rPr>
              <a:t>NOT MATCHED</a:t>
            </a:r>
          </a:p>
        </p:txBody>
      </p:sp>
      <p:sp>
        <p:nvSpPr>
          <p:cNvPr id="22" name="TextBox 21"/>
          <p:cNvSpPr txBox="1"/>
          <p:nvPr/>
        </p:nvSpPr>
        <p:spPr>
          <a:xfrm>
            <a:off x="1764792" y="3328416"/>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Female only; no sex comparison.</a:t>
            </a:r>
          </a:p>
        </p:txBody>
      </p:sp>
      <p:sp>
        <p:nvSpPr>
          <p:cNvPr id="23" name="criterion_card_4_Disease"/>
          <p:cNvSpPr/>
          <p:nvPr/>
        </p:nvSpPr>
        <p:spPr>
          <a:xfrm>
            <a:off x="502920" y="4187952"/>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502920" y="4187952"/>
            <a:ext cx="73152" cy="85039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67512" y="4279392"/>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Disease</a:t>
            </a:r>
          </a:p>
        </p:txBody>
      </p:sp>
      <p:sp>
        <p:nvSpPr>
          <p:cNvPr id="26" name="criterion_state_4"/>
          <p:cNvSpPr/>
          <p:nvPr/>
        </p:nvSpPr>
        <p:spPr>
          <a:xfrm>
            <a:off x="649224" y="4553712"/>
            <a:ext cx="987552" cy="265176"/>
          </a:xfrm>
          <a:prstGeom prst="roundRect">
            <a:avLst/>
          </a:prstGeom>
          <a:solidFill>
            <a:srgbClr val="FFF4D8"/>
          </a:solidFill>
          <a:ln w="1016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76656" y="4581144"/>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PARTIAL</a:t>
            </a:r>
          </a:p>
        </p:txBody>
      </p:sp>
      <p:sp>
        <p:nvSpPr>
          <p:cNvPr id="28" name="TextBox 27"/>
          <p:cNvSpPr txBox="1"/>
          <p:nvPr/>
        </p:nvSpPr>
        <p:spPr>
          <a:xfrm>
            <a:off x="1764792" y="4315968"/>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Age and 5xFAD status are not balanced factorially.</a:t>
            </a:r>
          </a:p>
        </p:txBody>
      </p:sp>
      <p:sp>
        <p:nvSpPr>
          <p:cNvPr id="29" name="criterion_card_5_Modality"/>
          <p:cNvSpPr/>
          <p:nvPr/>
        </p:nvSpPr>
        <p:spPr>
          <a:xfrm>
            <a:off x="4279392" y="1225296"/>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4279392" y="1225296"/>
            <a:ext cx="73152" cy="85039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443983" y="1316736"/>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Modality</a:t>
            </a:r>
          </a:p>
        </p:txBody>
      </p:sp>
      <p:sp>
        <p:nvSpPr>
          <p:cNvPr id="32" name="criterion_state_5"/>
          <p:cNvSpPr/>
          <p:nvPr/>
        </p:nvSpPr>
        <p:spPr>
          <a:xfrm>
            <a:off x="4425696" y="1591056"/>
            <a:ext cx="987552" cy="265176"/>
          </a:xfrm>
          <a:prstGeom prst="roundRect">
            <a:avLst/>
          </a:prstGeom>
          <a:solidFill>
            <a:srgbClr val="FFF4D8"/>
          </a:solidFill>
          <a:ln w="1016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4453128" y="1618488"/>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PARTIAL</a:t>
            </a:r>
          </a:p>
        </p:txBody>
      </p:sp>
      <p:sp>
        <p:nvSpPr>
          <p:cNvPr id="34" name="TextBox 33"/>
          <p:cNvSpPr txBox="1"/>
          <p:nvPr/>
        </p:nvSpPr>
        <p:spPr>
          <a:xfrm>
            <a:off x="5541264" y="1353312"/>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Glia-enriched scRNA plus spatial/bulk resources.</a:t>
            </a:r>
          </a:p>
        </p:txBody>
      </p:sp>
      <p:sp>
        <p:nvSpPr>
          <p:cNvPr id="35" name="criterion_card_6_Replication"/>
          <p:cNvSpPr/>
          <p:nvPr/>
        </p:nvSpPr>
        <p:spPr>
          <a:xfrm>
            <a:off x="4279392" y="2212848"/>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4279392" y="2212848"/>
            <a:ext cx="73152" cy="85039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4443983" y="2304288"/>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Replication</a:t>
            </a:r>
          </a:p>
        </p:txBody>
      </p:sp>
      <p:sp>
        <p:nvSpPr>
          <p:cNvPr id="38" name="criterion_state_6"/>
          <p:cNvSpPr/>
          <p:nvPr/>
        </p:nvSpPr>
        <p:spPr>
          <a:xfrm>
            <a:off x="4425696" y="2578608"/>
            <a:ext cx="987552" cy="265176"/>
          </a:xfrm>
          <a:prstGeom prst="roundRect">
            <a:avLst/>
          </a:prstGeom>
          <a:solidFill>
            <a:srgbClr val="FFF4D8"/>
          </a:solidFill>
          <a:ln w="1016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4453128" y="2606040"/>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PARTIAL</a:t>
            </a:r>
          </a:p>
        </p:txBody>
      </p:sp>
      <p:sp>
        <p:nvSpPr>
          <p:cNvPr id="40" name="TextBox 39"/>
          <p:cNvSpPr txBox="1"/>
          <p:nvPr/>
        </p:nvSpPr>
        <p:spPr>
          <a:xfrm>
            <a:off x="5541264" y="2340864"/>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Three mice pooled into one library per group.</a:t>
            </a:r>
          </a:p>
        </p:txBody>
      </p:sp>
      <p:sp>
        <p:nvSpPr>
          <p:cNvPr id="41" name="criterion_card_7_Cell breadth"/>
          <p:cNvSpPr/>
          <p:nvPr/>
        </p:nvSpPr>
        <p:spPr>
          <a:xfrm>
            <a:off x="4279392" y="3200400"/>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4279392" y="3200400"/>
            <a:ext cx="73152" cy="85039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4443983" y="3291840"/>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Cell breadth</a:t>
            </a:r>
          </a:p>
        </p:txBody>
      </p:sp>
      <p:sp>
        <p:nvSpPr>
          <p:cNvPr id="44" name="criterion_state_7"/>
          <p:cNvSpPr/>
          <p:nvPr/>
        </p:nvSpPr>
        <p:spPr>
          <a:xfrm>
            <a:off x="4425696" y="3566160"/>
            <a:ext cx="987552" cy="265176"/>
          </a:xfrm>
          <a:prstGeom prst="roundRect">
            <a:avLst/>
          </a:prstGeom>
          <a:solidFill>
            <a:srgbClr val="FFF4D8"/>
          </a:solidFill>
          <a:ln w="1016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4453128" y="3593592"/>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PARTIAL</a:t>
            </a:r>
          </a:p>
        </p:txBody>
      </p:sp>
      <p:sp>
        <p:nvSpPr>
          <p:cNvPr id="46" name="TextBox 45"/>
          <p:cNvSpPr txBox="1"/>
          <p:nvPr/>
        </p:nvSpPr>
        <p:spPr>
          <a:xfrm>
            <a:off x="5541264" y="3328416"/>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Glia enriched rather than broad all-cell coverage.</a:t>
            </a:r>
          </a:p>
        </p:txBody>
      </p:sp>
      <p:sp>
        <p:nvSpPr>
          <p:cNvPr id="47" name="criterion_card_8_Public usability"/>
          <p:cNvSpPr/>
          <p:nvPr/>
        </p:nvSpPr>
        <p:spPr>
          <a:xfrm>
            <a:off x="4279392" y="4187952"/>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4279392" y="4187952"/>
            <a:ext cx="73152" cy="85039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4443983" y="4279392"/>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69" b="1" i="0">
                <a:solidFill>
                  <a:srgbClr val="0F233D"/>
                </a:solidFill>
                <a:latin typeface="Arial"/>
              </a:rPr>
              <a:t>Public usability</a:t>
            </a:r>
          </a:p>
        </p:txBody>
      </p:sp>
      <p:sp>
        <p:nvSpPr>
          <p:cNvPr id="50" name="criterion_state_8"/>
          <p:cNvSpPr/>
          <p:nvPr/>
        </p:nvSpPr>
        <p:spPr>
          <a:xfrm>
            <a:off x="4425696" y="4553712"/>
            <a:ext cx="987552" cy="265176"/>
          </a:xfrm>
          <a:prstGeom prst="roundRect">
            <a:avLst/>
          </a:prstGeom>
          <a:solidFill>
            <a:srgbClr val="FFF4D8"/>
          </a:solidFill>
          <a:ln w="1016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4453128" y="4581144"/>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PARTIAL</a:t>
            </a:r>
          </a:p>
        </p:txBody>
      </p:sp>
      <p:sp>
        <p:nvSpPr>
          <p:cNvPr id="52" name="TextBox 51"/>
          <p:cNvSpPr txBox="1"/>
          <p:nvPr/>
        </p:nvSpPr>
        <p:spPr>
          <a:xfrm>
            <a:off x="5541264" y="4315968"/>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Processed resources usable; pooling limits inference.</a:t>
            </a:r>
          </a:p>
        </p:txBody>
      </p:sp>
      <p:sp>
        <p:nvSpPr>
          <p:cNvPr id="53" name="Rounded Rectangle 52"/>
          <p:cNvSpPr/>
          <p:nvPr/>
        </p:nvSpPr>
        <p:spPr>
          <a:xfrm>
            <a:off x="8147304" y="1207008"/>
            <a:ext cx="3538728" cy="438912"/>
          </a:xfrm>
          <a:prstGeom prst="roundRect">
            <a:avLst/>
          </a:prstGeom>
          <a:solidFill>
            <a:srgbClr val="F0E9F7"/>
          </a:solidFill>
          <a:ln w="15240">
            <a:solidFill>
              <a:srgbClr val="7E4C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8321040" y="1298448"/>
            <a:ext cx="3191256" cy="21945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030" b="1" i="0">
                <a:solidFill>
                  <a:srgbClr val="7E4C9A"/>
                </a:solidFill>
                <a:latin typeface="Arial"/>
              </a:rPr>
              <a:t>SPECIALIZED SUPPORT</a:t>
            </a:r>
          </a:p>
        </p:txBody>
      </p:sp>
      <p:sp>
        <p:nvSpPr>
          <p:cNvPr id="55" name="Rounded Rectangle 54"/>
          <p:cNvSpPr/>
          <p:nvPr/>
        </p:nvSpPr>
        <p:spPr>
          <a:xfrm>
            <a:off x="8147304" y="1773936"/>
            <a:ext cx="3538728" cy="932688"/>
          </a:xfrm>
          <a:prstGeom prst="roundRect">
            <a:avLst/>
          </a:prstGeom>
          <a:solidFill>
            <a:srgbClr val="F0E9F7"/>
          </a:solidFill>
          <a:ln w="15240">
            <a:solidFill>
              <a:srgbClr val="7E4C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8330183" y="1911095"/>
            <a:ext cx="3172968" cy="18288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69" b="1" i="0">
                <a:solidFill>
                  <a:srgbClr val="7E4C9A"/>
                </a:solidFill>
                <a:latin typeface="Arial"/>
              </a:rPr>
              <a:t>STUDY SNAPSHOT</a:t>
            </a:r>
          </a:p>
        </p:txBody>
      </p:sp>
      <p:sp>
        <p:nvSpPr>
          <p:cNvPr id="57" name="TextBox 56"/>
          <p:cNvSpPr txBox="1"/>
          <p:nvPr/>
        </p:nvSpPr>
        <p:spPr>
          <a:xfrm>
            <a:off x="8330183" y="2167128"/>
            <a:ext cx="3172968" cy="42976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140" b="1" i="0">
                <a:solidFill>
                  <a:srgbClr val="0F233D"/>
                </a:solidFill>
                <a:latin typeface="Arial"/>
              </a:rPr>
              <a:t>Whole left hemisphere • glia-enriched scRNA/spatial/bulk • female only</a:t>
            </a:r>
          </a:p>
        </p:txBody>
      </p:sp>
      <p:sp>
        <p:nvSpPr>
          <p:cNvPr id="58" name="Rounded Rectangle 57"/>
          <p:cNvSpPr/>
          <p:nvPr/>
        </p:nvSpPr>
        <p:spPr>
          <a:xfrm>
            <a:off x="8147304" y="2834640"/>
            <a:ext cx="3538728" cy="1243584"/>
          </a:xfrm>
          <a:prstGeom prst="roundRect">
            <a:avLst/>
          </a:prstGeom>
          <a:solidFill>
            <a:srgbClr val="E0F4EE"/>
          </a:solidFill>
          <a:ln w="1524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8330183" y="2971800"/>
            <a:ext cx="3172968" cy="18288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69" b="1" i="0">
                <a:solidFill>
                  <a:srgbClr val="009E73"/>
                </a:solidFill>
                <a:latin typeface="Arial"/>
              </a:rPr>
              <a:t>BEST USE</a:t>
            </a:r>
          </a:p>
        </p:txBody>
      </p:sp>
      <p:sp>
        <p:nvSpPr>
          <p:cNvPr id="60" name="TextBox 59"/>
          <p:cNvSpPr txBox="1"/>
          <p:nvPr/>
        </p:nvSpPr>
        <p:spPr>
          <a:xfrm>
            <a:off x="8330183" y="3227832"/>
            <a:ext cx="3172968" cy="74066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200" b="0" i="0">
                <a:solidFill>
                  <a:srgbClr val="0F233D"/>
                </a:solidFill>
                <a:latin typeface="Arial"/>
              </a:rPr>
              <a:t>Explore female APOE immunometabolism, glycolysis, TCA, and lipid handling.</a:t>
            </a:r>
          </a:p>
        </p:txBody>
      </p:sp>
      <p:sp>
        <p:nvSpPr>
          <p:cNvPr id="61" name="Rounded Rectangle 60"/>
          <p:cNvSpPr/>
          <p:nvPr/>
        </p:nvSpPr>
        <p:spPr>
          <a:xfrm>
            <a:off x="8147304" y="4206240"/>
            <a:ext cx="3538728" cy="1243584"/>
          </a:xfrm>
          <a:prstGeom prst="roundRect">
            <a:avLst/>
          </a:prstGeom>
          <a:solidFill>
            <a:srgbClr val="FDEBE4"/>
          </a:solidFill>
          <a:ln w="15240">
            <a:solidFill>
              <a:srgbClr val="D55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8330183" y="4343400"/>
            <a:ext cx="3172968" cy="18288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69" b="1" i="0">
                <a:solidFill>
                  <a:srgbClr val="D55E00"/>
                </a:solidFill>
                <a:latin typeface="Arial"/>
              </a:rPr>
              <a:t>DO NOT CLAIM</a:t>
            </a:r>
          </a:p>
        </p:txBody>
      </p:sp>
      <p:sp>
        <p:nvSpPr>
          <p:cNvPr id="63" name="TextBox 62"/>
          <p:cNvSpPr txBox="1"/>
          <p:nvPr/>
        </p:nvSpPr>
        <p:spPr>
          <a:xfrm>
            <a:off x="8330183" y="4599431"/>
            <a:ext cx="3172968" cy="74066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170" b="0" i="0">
                <a:solidFill>
                  <a:srgbClr val="0F233D"/>
                </a:solidFill>
                <a:latin typeface="Arial"/>
              </a:rPr>
              <a:t>One pooled library/group, female-only design, and age/disease confounding prevent interaction claims.</a:t>
            </a:r>
          </a:p>
        </p:txBody>
      </p:sp>
      <p:sp>
        <p:nvSpPr>
          <p:cNvPr id="64" name="takeaway_ribbon"/>
          <p:cNvSpPr/>
          <p:nvPr/>
        </p:nvSpPr>
        <p:spPr>
          <a:xfrm>
            <a:off x="502920" y="5815584"/>
            <a:ext cx="11183112" cy="512064"/>
          </a:xfrm>
          <a:prstGeom prst="rect">
            <a:avLst/>
          </a:prstGeom>
          <a:solidFill>
            <a:srgbClr val="0F2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Rectangle 64"/>
          <p:cNvSpPr/>
          <p:nvPr/>
        </p:nvSpPr>
        <p:spPr>
          <a:xfrm>
            <a:off x="502920" y="5815584"/>
            <a:ext cx="91440" cy="512064"/>
          </a:xfrm>
          <a:prstGeom prst="rect">
            <a:avLst/>
          </a:prstGeom>
          <a:solidFill>
            <a:srgbClr val="7E4C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749808" y="5888736"/>
            <a:ext cx="10652760" cy="329184"/>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200" b="1" i="0">
                <a:solidFill>
                  <a:srgbClr val="FFFFFF"/>
                </a:solidFill>
                <a:latin typeface="Arial"/>
              </a:rPr>
              <a:t>Use for descriptive female APOE immunometabolism—not sex or clean APOE-by-disease replication.</a:t>
            </a:r>
          </a:p>
        </p:txBody>
      </p:sp>
      <p:sp>
        <p:nvSpPr>
          <p:cNvPr id="67" name="source_line"/>
          <p:cNvSpPr txBox="1"/>
          <p:nvPr/>
        </p:nvSpPr>
        <p:spPr>
          <a:xfrm>
            <a:off x="502920" y="6620256"/>
            <a:ext cx="11155680" cy="12801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670" b="0" i="0">
                <a:solidFill>
                  <a:srgbClr val="606C7B"/>
                </a:solidFill>
                <a:latin typeface="Arial"/>
              </a:rPr>
              <a:t>Source: mouse_dataset_comparison.md §6.11; GEO GSE212317/GSE213391; PMID 36871219. Suitability assessment, not new matrix analysis.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146304"/>
            <a:ext cx="5577840"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19" b="1" i="0">
                <a:solidFill>
                  <a:srgbClr val="7E4C9A"/>
                </a:solidFill>
                <a:latin typeface="Arial"/>
              </a:rPr>
              <a:t>DATASET PROFILE • SPECIALIZED SUPPORT</a:t>
            </a:r>
          </a:p>
        </p:txBody>
      </p:sp>
      <p:sp>
        <p:nvSpPr>
          <p:cNvPr id="3" name="slide_title"/>
          <p:cNvSpPr txBox="1"/>
          <p:nvPr/>
        </p:nvSpPr>
        <p:spPr>
          <a:xfrm>
            <a:off x="502920" y="356616"/>
            <a:ext cx="11018520" cy="713232"/>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950" b="1" i="0">
                <a:solidFill>
                  <a:srgbClr val="0F233D"/>
                </a:solidFill>
                <a:latin typeface="Arial"/>
              </a:rPr>
              <a:t>GSE127884 tests endogenous Apoe dependence in male amyloid microglia—not human APOE isoforms or sex effects</a:t>
            </a:r>
          </a:p>
        </p:txBody>
      </p:sp>
      <p:sp>
        <p:nvSpPr>
          <p:cNvPr id="4" name="TextBox 3"/>
          <p:cNvSpPr txBox="1"/>
          <p:nvPr/>
        </p:nvSpPr>
        <p:spPr>
          <a:xfrm>
            <a:off x="11402568" y="155448"/>
            <a:ext cx="274320" cy="164592"/>
          </a:xfrm>
          <a:prstGeom prst="rect">
            <a:avLst/>
          </a:prstGeom>
          <a:noFill/>
        </p:spPr>
        <p:txBody>
          <a:bodyPr wrap="square" lIns="27432" tIns="27432" rIns="27432" bIns="27432" anchor="t">
            <a:spAutoFit/>
          </a:bodyPr>
          <a:lstStyle/>
          <a:p>
            <a:pPr algn="r">
              <a:lnSpc>
                <a:spcPct val="100000"/>
              </a:lnSpc>
              <a:spcBef>
                <a:spcPts val="0"/>
              </a:spcBef>
              <a:spcAft>
                <a:spcPts val="0"/>
              </a:spcAft>
            </a:pPr>
            <a:r>
              <a:rPr sz="880" b="1" i="0">
                <a:solidFill>
                  <a:srgbClr val="606C7B"/>
                </a:solidFill>
                <a:latin typeface="Arial"/>
              </a:rPr>
              <a:t>14</a:t>
            </a:r>
          </a:p>
        </p:txBody>
      </p:sp>
      <p:sp>
        <p:nvSpPr>
          <p:cNvPr id="5" name="criterion_card_1_Region"/>
          <p:cNvSpPr/>
          <p:nvPr/>
        </p:nvSpPr>
        <p:spPr>
          <a:xfrm>
            <a:off x="502920" y="1225296"/>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02920" y="1225296"/>
            <a:ext cx="73152" cy="85039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67512" y="1316736"/>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Region</a:t>
            </a:r>
          </a:p>
        </p:txBody>
      </p:sp>
      <p:sp>
        <p:nvSpPr>
          <p:cNvPr id="8" name="criterion_state_1"/>
          <p:cNvSpPr/>
          <p:nvPr/>
        </p:nvSpPr>
        <p:spPr>
          <a:xfrm>
            <a:off x="649224" y="1591056"/>
            <a:ext cx="987552" cy="265176"/>
          </a:xfrm>
          <a:prstGeom prst="roundRect">
            <a:avLst/>
          </a:prstGeom>
          <a:solidFill>
            <a:srgbClr val="FFF4D8"/>
          </a:solidFill>
          <a:ln w="1016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76656" y="1618488"/>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PARTIAL</a:t>
            </a:r>
          </a:p>
        </p:txBody>
      </p:sp>
      <p:sp>
        <p:nvSpPr>
          <p:cNvPr id="10" name="TextBox 9"/>
          <p:cNvSpPr txBox="1"/>
          <p:nvPr/>
        </p:nvSpPr>
        <p:spPr>
          <a:xfrm>
            <a:off x="1764792" y="1353312"/>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Cortex and hippocampus; not explicit PFC.</a:t>
            </a:r>
          </a:p>
        </p:txBody>
      </p:sp>
      <p:sp>
        <p:nvSpPr>
          <p:cNvPr id="11" name="criterion_card_2_APOE"/>
          <p:cNvSpPr/>
          <p:nvPr/>
        </p:nvSpPr>
        <p:spPr>
          <a:xfrm>
            <a:off x="502920" y="2212848"/>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502920" y="2212848"/>
            <a:ext cx="73152" cy="850392"/>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67512" y="2304288"/>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APOE</a:t>
            </a:r>
          </a:p>
        </p:txBody>
      </p:sp>
      <p:sp>
        <p:nvSpPr>
          <p:cNvPr id="14" name="criterion_state_2"/>
          <p:cNvSpPr/>
          <p:nvPr/>
        </p:nvSpPr>
        <p:spPr>
          <a:xfrm>
            <a:off x="649224" y="2578608"/>
            <a:ext cx="987552" cy="265176"/>
          </a:xfrm>
          <a:prstGeom prst="roundRect">
            <a:avLst/>
          </a:prstGeom>
          <a:solidFill>
            <a:srgbClr val="FDEBE4"/>
          </a:solidFill>
          <a:ln w="10160">
            <a:solidFill>
              <a:srgbClr val="D55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76656" y="2606040"/>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740" b="1" i="0">
                <a:solidFill>
                  <a:srgbClr val="232A33"/>
                </a:solidFill>
                <a:latin typeface="Arial"/>
              </a:rPr>
              <a:t>NOT MATCHED</a:t>
            </a:r>
          </a:p>
        </p:txBody>
      </p:sp>
      <p:sp>
        <p:nvSpPr>
          <p:cNvPr id="16" name="TextBox 15"/>
          <p:cNvSpPr txBox="1"/>
          <p:nvPr/>
        </p:nvSpPr>
        <p:spPr>
          <a:xfrm>
            <a:off x="1764792" y="2340864"/>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Mouse Apoe versus Apoe knockout; no human E3/E4.</a:t>
            </a:r>
          </a:p>
        </p:txBody>
      </p:sp>
      <p:sp>
        <p:nvSpPr>
          <p:cNvPr id="17" name="criterion_card_3_Sex"/>
          <p:cNvSpPr/>
          <p:nvPr/>
        </p:nvSpPr>
        <p:spPr>
          <a:xfrm>
            <a:off x="502920" y="3200400"/>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502920" y="3200400"/>
            <a:ext cx="73152" cy="850392"/>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67512" y="3291840"/>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Sex</a:t>
            </a:r>
          </a:p>
        </p:txBody>
      </p:sp>
      <p:sp>
        <p:nvSpPr>
          <p:cNvPr id="20" name="criterion_state_3"/>
          <p:cNvSpPr/>
          <p:nvPr/>
        </p:nvSpPr>
        <p:spPr>
          <a:xfrm>
            <a:off x="649224" y="3566160"/>
            <a:ext cx="987552" cy="265176"/>
          </a:xfrm>
          <a:prstGeom prst="roundRect">
            <a:avLst/>
          </a:prstGeom>
          <a:solidFill>
            <a:srgbClr val="FDEBE4"/>
          </a:solidFill>
          <a:ln w="10160">
            <a:solidFill>
              <a:srgbClr val="D55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76656" y="3593592"/>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740" b="1" i="0">
                <a:solidFill>
                  <a:srgbClr val="232A33"/>
                </a:solidFill>
                <a:latin typeface="Arial"/>
              </a:rPr>
              <a:t>NOT MATCHED</a:t>
            </a:r>
          </a:p>
        </p:txBody>
      </p:sp>
      <p:sp>
        <p:nvSpPr>
          <p:cNvPr id="22" name="TextBox 21"/>
          <p:cNvSpPr txBox="1"/>
          <p:nvPr/>
        </p:nvSpPr>
        <p:spPr>
          <a:xfrm>
            <a:off x="1764792" y="3328416"/>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Male only.</a:t>
            </a:r>
          </a:p>
        </p:txBody>
      </p:sp>
      <p:sp>
        <p:nvSpPr>
          <p:cNvPr id="23" name="criterion_card_4_Disease"/>
          <p:cNvSpPr/>
          <p:nvPr/>
        </p:nvSpPr>
        <p:spPr>
          <a:xfrm>
            <a:off x="502920" y="4187952"/>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502920" y="4187952"/>
            <a:ext cx="73152" cy="850392"/>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67512" y="4279392"/>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Disease</a:t>
            </a:r>
          </a:p>
        </p:txBody>
      </p:sp>
      <p:sp>
        <p:nvSpPr>
          <p:cNvPr id="26" name="criterion_state_4"/>
          <p:cNvSpPr/>
          <p:nvPr/>
        </p:nvSpPr>
        <p:spPr>
          <a:xfrm>
            <a:off x="649224" y="4553712"/>
            <a:ext cx="987552" cy="265176"/>
          </a:xfrm>
          <a:prstGeom prst="roundRect">
            <a:avLst/>
          </a:prstGeom>
          <a:solidFill>
            <a:srgbClr val="E0F4EE"/>
          </a:solidFill>
          <a:ln w="1016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76656" y="4581144"/>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STRONG</a:t>
            </a:r>
          </a:p>
        </p:txBody>
      </p:sp>
      <p:sp>
        <p:nvSpPr>
          <p:cNvPr id="28" name="TextBox 27"/>
          <p:cNvSpPr txBox="1"/>
          <p:nvPr/>
        </p:nvSpPr>
        <p:spPr>
          <a:xfrm>
            <a:off x="1764792" y="4315968"/>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APP/PS1 and controls with/without mouse Apoe.</a:t>
            </a:r>
          </a:p>
        </p:txBody>
      </p:sp>
      <p:sp>
        <p:nvSpPr>
          <p:cNvPr id="29" name="criterion_card_5_Modality"/>
          <p:cNvSpPr/>
          <p:nvPr/>
        </p:nvSpPr>
        <p:spPr>
          <a:xfrm>
            <a:off x="4279392" y="1225296"/>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4279392" y="1225296"/>
            <a:ext cx="73152" cy="85039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443983" y="1316736"/>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Modality</a:t>
            </a:r>
          </a:p>
        </p:txBody>
      </p:sp>
      <p:sp>
        <p:nvSpPr>
          <p:cNvPr id="32" name="criterion_state_5"/>
          <p:cNvSpPr/>
          <p:nvPr/>
        </p:nvSpPr>
        <p:spPr>
          <a:xfrm>
            <a:off x="4425696" y="1591056"/>
            <a:ext cx="987552" cy="265176"/>
          </a:xfrm>
          <a:prstGeom prst="roundRect">
            <a:avLst/>
          </a:prstGeom>
          <a:solidFill>
            <a:srgbClr val="FFF4D8"/>
          </a:solidFill>
          <a:ln w="1016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4453128" y="1618488"/>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19" b="1" i="0">
                <a:solidFill>
                  <a:srgbClr val="232A33"/>
                </a:solidFill>
                <a:latin typeface="Arial"/>
              </a:rPr>
              <a:t>PARTIAL</a:t>
            </a:r>
          </a:p>
        </p:txBody>
      </p:sp>
      <p:sp>
        <p:nvSpPr>
          <p:cNvPr id="34" name="TextBox 33"/>
          <p:cNvSpPr txBox="1"/>
          <p:nvPr/>
        </p:nvSpPr>
        <p:spPr>
          <a:xfrm>
            <a:off x="5541264" y="1353312"/>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Plate single-cell microglial RNA-seq.</a:t>
            </a:r>
          </a:p>
        </p:txBody>
      </p:sp>
      <p:sp>
        <p:nvSpPr>
          <p:cNvPr id="35" name="criterion_card_6_Replication"/>
          <p:cNvSpPr/>
          <p:nvPr/>
        </p:nvSpPr>
        <p:spPr>
          <a:xfrm>
            <a:off x="4279392" y="2212848"/>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4279392" y="2212848"/>
            <a:ext cx="73152" cy="850392"/>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4443983" y="2304288"/>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Replication</a:t>
            </a:r>
          </a:p>
        </p:txBody>
      </p:sp>
      <p:sp>
        <p:nvSpPr>
          <p:cNvPr id="38" name="criterion_state_6"/>
          <p:cNvSpPr/>
          <p:nvPr/>
        </p:nvSpPr>
        <p:spPr>
          <a:xfrm>
            <a:off x="4425696" y="2578608"/>
            <a:ext cx="987552" cy="265176"/>
          </a:xfrm>
          <a:prstGeom prst="roundRect">
            <a:avLst/>
          </a:prstGeom>
          <a:solidFill>
            <a:srgbClr val="FDEBE4"/>
          </a:solidFill>
          <a:ln w="10160">
            <a:solidFill>
              <a:srgbClr val="D55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4453128" y="2606040"/>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740" b="1" i="0">
                <a:solidFill>
                  <a:srgbClr val="232A33"/>
                </a:solidFill>
                <a:latin typeface="Arial"/>
              </a:rPr>
              <a:t>NOT MATCHED</a:t>
            </a:r>
          </a:p>
        </p:txBody>
      </p:sp>
      <p:sp>
        <p:nvSpPr>
          <p:cNvPr id="40" name="TextBox 39"/>
          <p:cNvSpPr txBox="1"/>
          <p:nvPr/>
        </p:nvSpPr>
        <p:spPr>
          <a:xfrm>
            <a:off x="5541264" y="2340864"/>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Animal-level replication is not exposed cleanly.</a:t>
            </a:r>
          </a:p>
        </p:txBody>
      </p:sp>
      <p:sp>
        <p:nvSpPr>
          <p:cNvPr id="41" name="criterion_card_7_Cell breadth"/>
          <p:cNvSpPr/>
          <p:nvPr/>
        </p:nvSpPr>
        <p:spPr>
          <a:xfrm>
            <a:off x="4279392" y="3200400"/>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4279392" y="3200400"/>
            <a:ext cx="73152" cy="850392"/>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4443983" y="3291840"/>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1060" b="1" i="0">
                <a:solidFill>
                  <a:srgbClr val="0F233D"/>
                </a:solidFill>
                <a:latin typeface="Arial"/>
              </a:rPr>
              <a:t>Cell breadth</a:t>
            </a:r>
          </a:p>
        </p:txBody>
      </p:sp>
      <p:sp>
        <p:nvSpPr>
          <p:cNvPr id="44" name="criterion_state_7"/>
          <p:cNvSpPr/>
          <p:nvPr/>
        </p:nvSpPr>
        <p:spPr>
          <a:xfrm>
            <a:off x="4425696" y="3566160"/>
            <a:ext cx="987552" cy="265176"/>
          </a:xfrm>
          <a:prstGeom prst="roundRect">
            <a:avLst/>
          </a:prstGeom>
          <a:solidFill>
            <a:srgbClr val="FDEBE4"/>
          </a:solidFill>
          <a:ln w="10160">
            <a:solidFill>
              <a:srgbClr val="D55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4453128" y="3593592"/>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740" b="1" i="0">
                <a:solidFill>
                  <a:srgbClr val="232A33"/>
                </a:solidFill>
                <a:latin typeface="Arial"/>
              </a:rPr>
              <a:t>NOT MATCHED</a:t>
            </a:r>
          </a:p>
        </p:txBody>
      </p:sp>
      <p:sp>
        <p:nvSpPr>
          <p:cNvPr id="46" name="TextBox 45"/>
          <p:cNvSpPr txBox="1"/>
          <p:nvPr/>
        </p:nvSpPr>
        <p:spPr>
          <a:xfrm>
            <a:off x="5541264" y="3328416"/>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Microglia only.</a:t>
            </a:r>
          </a:p>
        </p:txBody>
      </p:sp>
      <p:sp>
        <p:nvSpPr>
          <p:cNvPr id="47" name="criterion_card_8_Public usability"/>
          <p:cNvSpPr/>
          <p:nvPr/>
        </p:nvSpPr>
        <p:spPr>
          <a:xfrm>
            <a:off x="4279392" y="4187952"/>
            <a:ext cx="3602736" cy="850392"/>
          </a:xfrm>
          <a:prstGeom prst="roundRect">
            <a:avLst/>
          </a:prstGeom>
          <a:solidFill>
            <a:srgbClr val="FFFFFF"/>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4279392" y="4187952"/>
            <a:ext cx="73152" cy="850392"/>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4443983" y="4279392"/>
            <a:ext cx="1078992"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69" b="1" i="0">
                <a:solidFill>
                  <a:srgbClr val="0F233D"/>
                </a:solidFill>
                <a:latin typeface="Arial"/>
              </a:rPr>
              <a:t>Public usability</a:t>
            </a:r>
          </a:p>
        </p:txBody>
      </p:sp>
      <p:sp>
        <p:nvSpPr>
          <p:cNvPr id="50" name="criterion_state_8"/>
          <p:cNvSpPr/>
          <p:nvPr/>
        </p:nvSpPr>
        <p:spPr>
          <a:xfrm>
            <a:off x="4425696" y="4553712"/>
            <a:ext cx="987552" cy="265176"/>
          </a:xfrm>
          <a:prstGeom prst="roundRect">
            <a:avLst/>
          </a:prstGeom>
          <a:solidFill>
            <a:srgbClr val="FDEBE4"/>
          </a:solidFill>
          <a:ln w="10160">
            <a:solidFill>
              <a:srgbClr val="D55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4453128" y="4581144"/>
            <a:ext cx="932688" cy="17373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740" b="1" i="0">
                <a:solidFill>
                  <a:srgbClr val="232A33"/>
                </a:solidFill>
                <a:latin typeface="Arial"/>
              </a:rPr>
              <a:t>NOT MATCHED</a:t>
            </a:r>
          </a:p>
        </p:txBody>
      </p:sp>
      <p:sp>
        <p:nvSpPr>
          <p:cNvPr id="52" name="TextBox 51"/>
          <p:cNvSpPr txBox="1"/>
          <p:nvPr/>
        </p:nvSpPr>
        <p:spPr>
          <a:xfrm>
            <a:off x="5541264" y="4315968"/>
            <a:ext cx="2176272" cy="60350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50" b="0" i="0">
                <a:solidFill>
                  <a:srgbClr val="232A33"/>
                </a:solidFill>
                <a:latin typeface="Arial"/>
              </a:rPr>
              <a:t>3,072 GEO records are cells/wells, not mice.</a:t>
            </a:r>
          </a:p>
        </p:txBody>
      </p:sp>
      <p:sp>
        <p:nvSpPr>
          <p:cNvPr id="53" name="Rounded Rectangle 52"/>
          <p:cNvSpPr/>
          <p:nvPr/>
        </p:nvSpPr>
        <p:spPr>
          <a:xfrm>
            <a:off x="8147304" y="1207008"/>
            <a:ext cx="3538728" cy="438912"/>
          </a:xfrm>
          <a:prstGeom prst="roundRect">
            <a:avLst/>
          </a:prstGeom>
          <a:solidFill>
            <a:srgbClr val="F0E9F7"/>
          </a:solidFill>
          <a:ln w="15240">
            <a:solidFill>
              <a:srgbClr val="7E4C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8321040" y="1298448"/>
            <a:ext cx="3191256" cy="219456"/>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030" b="1" i="0">
                <a:solidFill>
                  <a:srgbClr val="7E4C9A"/>
                </a:solidFill>
                <a:latin typeface="Arial"/>
              </a:rPr>
              <a:t>SPECIALIZED SUPPORT</a:t>
            </a:r>
          </a:p>
        </p:txBody>
      </p:sp>
      <p:sp>
        <p:nvSpPr>
          <p:cNvPr id="55" name="Rounded Rectangle 54"/>
          <p:cNvSpPr/>
          <p:nvPr/>
        </p:nvSpPr>
        <p:spPr>
          <a:xfrm>
            <a:off x="8147304" y="1773936"/>
            <a:ext cx="3538728" cy="932688"/>
          </a:xfrm>
          <a:prstGeom prst="roundRect">
            <a:avLst/>
          </a:prstGeom>
          <a:solidFill>
            <a:srgbClr val="F0E9F7"/>
          </a:solidFill>
          <a:ln w="15240">
            <a:solidFill>
              <a:srgbClr val="7E4C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8330183" y="1911095"/>
            <a:ext cx="3172968" cy="18288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69" b="1" i="0">
                <a:solidFill>
                  <a:srgbClr val="7E4C9A"/>
                </a:solidFill>
                <a:latin typeface="Arial"/>
              </a:rPr>
              <a:t>STUDY SNAPSHOT</a:t>
            </a:r>
          </a:p>
        </p:txBody>
      </p:sp>
      <p:sp>
        <p:nvSpPr>
          <p:cNvPr id="57" name="TextBox 56"/>
          <p:cNvSpPr txBox="1"/>
          <p:nvPr/>
        </p:nvSpPr>
        <p:spPr>
          <a:xfrm>
            <a:off x="8330183" y="2167128"/>
            <a:ext cx="3172968" cy="42976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140" b="1" i="0">
                <a:solidFill>
                  <a:srgbClr val="0F233D"/>
                </a:solidFill>
                <a:latin typeface="Arial"/>
              </a:rPr>
              <a:t>Cortex+hippocampus • plate scRNA • male microglia • cells/wells in GEO</a:t>
            </a:r>
          </a:p>
        </p:txBody>
      </p:sp>
      <p:sp>
        <p:nvSpPr>
          <p:cNvPr id="58" name="Rounded Rectangle 57"/>
          <p:cNvSpPr/>
          <p:nvPr/>
        </p:nvSpPr>
        <p:spPr>
          <a:xfrm>
            <a:off x="8147304" y="2834640"/>
            <a:ext cx="3538728" cy="1243584"/>
          </a:xfrm>
          <a:prstGeom prst="roundRect">
            <a:avLst/>
          </a:prstGeom>
          <a:solidFill>
            <a:srgbClr val="E0F4EE"/>
          </a:solidFill>
          <a:ln w="1524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8330183" y="2971800"/>
            <a:ext cx="3172968" cy="18288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69" b="1" i="0">
                <a:solidFill>
                  <a:srgbClr val="009E73"/>
                </a:solidFill>
                <a:latin typeface="Arial"/>
              </a:rPr>
              <a:t>BEST USE</a:t>
            </a:r>
          </a:p>
        </p:txBody>
      </p:sp>
      <p:sp>
        <p:nvSpPr>
          <p:cNvPr id="60" name="TextBox 59"/>
          <p:cNvSpPr txBox="1"/>
          <p:nvPr/>
        </p:nvSpPr>
        <p:spPr>
          <a:xfrm>
            <a:off x="8330183" y="3227832"/>
            <a:ext cx="3172968" cy="74066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200" b="0" i="0">
                <a:solidFill>
                  <a:srgbClr val="0F233D"/>
                </a:solidFill>
                <a:latin typeface="Arial"/>
              </a:rPr>
              <a:t>Test whether endogenous mouse Apoe is required for amyloid-associated microglial states.</a:t>
            </a:r>
          </a:p>
        </p:txBody>
      </p:sp>
      <p:sp>
        <p:nvSpPr>
          <p:cNvPr id="61" name="Rounded Rectangle 60"/>
          <p:cNvSpPr/>
          <p:nvPr/>
        </p:nvSpPr>
        <p:spPr>
          <a:xfrm>
            <a:off x="8147304" y="4206240"/>
            <a:ext cx="3538728" cy="1243584"/>
          </a:xfrm>
          <a:prstGeom prst="roundRect">
            <a:avLst/>
          </a:prstGeom>
          <a:solidFill>
            <a:srgbClr val="FDEBE4"/>
          </a:solidFill>
          <a:ln w="15240">
            <a:solidFill>
              <a:srgbClr val="D55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8330183" y="4343400"/>
            <a:ext cx="3172968" cy="182880"/>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869" b="1" i="0">
                <a:solidFill>
                  <a:srgbClr val="D55E00"/>
                </a:solidFill>
                <a:latin typeface="Arial"/>
              </a:rPr>
              <a:t>DO NOT CLAIM</a:t>
            </a:r>
          </a:p>
        </p:txBody>
      </p:sp>
      <p:sp>
        <p:nvSpPr>
          <p:cNvPr id="63" name="TextBox 62"/>
          <p:cNvSpPr txBox="1"/>
          <p:nvPr/>
        </p:nvSpPr>
        <p:spPr>
          <a:xfrm>
            <a:off x="8330183" y="4599431"/>
            <a:ext cx="3172968" cy="74066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170" b="0" i="0">
                <a:solidFill>
                  <a:srgbClr val="0F233D"/>
                </a:solidFill>
                <a:latin typeface="Arial"/>
              </a:rPr>
              <a:t>Male-only, microglia-only design with no human isoform comparison and unclear mouse replication.</a:t>
            </a:r>
          </a:p>
        </p:txBody>
      </p:sp>
      <p:sp>
        <p:nvSpPr>
          <p:cNvPr id="64" name="takeaway_ribbon"/>
          <p:cNvSpPr/>
          <p:nvPr/>
        </p:nvSpPr>
        <p:spPr>
          <a:xfrm>
            <a:off x="502920" y="5815584"/>
            <a:ext cx="11183112" cy="512064"/>
          </a:xfrm>
          <a:prstGeom prst="rect">
            <a:avLst/>
          </a:prstGeom>
          <a:solidFill>
            <a:srgbClr val="0F2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Rectangle 64"/>
          <p:cNvSpPr/>
          <p:nvPr/>
        </p:nvSpPr>
        <p:spPr>
          <a:xfrm>
            <a:off x="502920" y="5815584"/>
            <a:ext cx="91440" cy="512064"/>
          </a:xfrm>
          <a:prstGeom prst="rect">
            <a:avLst/>
          </a:prstGeom>
          <a:solidFill>
            <a:srgbClr val="7E4C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749808" y="5888736"/>
            <a:ext cx="10652760" cy="329184"/>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200" b="1" i="0">
                <a:solidFill>
                  <a:srgbClr val="FFFFFF"/>
                </a:solidFill>
                <a:latin typeface="Arial"/>
              </a:rPr>
              <a:t>Use as mechanistic Apoe-dependence support—not human APOE or sex validation.</a:t>
            </a:r>
          </a:p>
        </p:txBody>
      </p:sp>
      <p:sp>
        <p:nvSpPr>
          <p:cNvPr id="67" name="source_line"/>
          <p:cNvSpPr txBox="1"/>
          <p:nvPr/>
        </p:nvSpPr>
        <p:spPr>
          <a:xfrm>
            <a:off x="502920" y="6620256"/>
            <a:ext cx="11155680" cy="12801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670" b="0" i="0">
                <a:solidFill>
                  <a:srgbClr val="606C7B"/>
                </a:solidFill>
                <a:latin typeface="Arial"/>
              </a:rPr>
              <a:t>Source: mouse_dataset_comparison.md §6.12; GEO GSE127884; PMID 31018141. Suitability assessment, not new matrix analysis.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02920" y="146304"/>
            <a:ext cx="5577840"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19" b="1" i="0">
                <a:solidFill>
                  <a:srgbClr val="0072B2"/>
                </a:solidFill>
                <a:latin typeface="Arial"/>
              </a:rPr>
              <a:t>RECOMMENDED VALIDATION ARCHITECTURE</a:t>
            </a:r>
          </a:p>
        </p:txBody>
      </p:sp>
      <p:sp>
        <p:nvSpPr>
          <p:cNvPr id="3" name="slide_title"/>
          <p:cNvSpPr txBox="1"/>
          <p:nvPr/>
        </p:nvSpPr>
        <p:spPr>
          <a:xfrm>
            <a:off x="502920" y="356616"/>
            <a:ext cx="11018520" cy="713232"/>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2100" b="1" i="0">
                <a:solidFill>
                  <a:srgbClr val="0F233D"/>
                </a:solidFill>
                <a:latin typeface="Arial"/>
              </a:rPr>
              <a:t>Recommended mouse validation uses complementary datasets—not one merged cohort</a:t>
            </a:r>
          </a:p>
        </p:txBody>
      </p:sp>
      <p:sp>
        <p:nvSpPr>
          <p:cNvPr id="4" name="TextBox 3"/>
          <p:cNvSpPr txBox="1"/>
          <p:nvPr/>
        </p:nvSpPr>
        <p:spPr>
          <a:xfrm>
            <a:off x="11402568" y="155448"/>
            <a:ext cx="274320" cy="164592"/>
          </a:xfrm>
          <a:prstGeom prst="rect">
            <a:avLst/>
          </a:prstGeom>
          <a:noFill/>
        </p:spPr>
        <p:txBody>
          <a:bodyPr wrap="square" lIns="27432" tIns="27432" rIns="27432" bIns="27432" anchor="t">
            <a:spAutoFit/>
          </a:bodyPr>
          <a:lstStyle/>
          <a:p>
            <a:pPr algn="r">
              <a:lnSpc>
                <a:spcPct val="100000"/>
              </a:lnSpc>
              <a:spcBef>
                <a:spcPts val="0"/>
              </a:spcBef>
              <a:spcAft>
                <a:spcPts val="0"/>
              </a:spcAft>
            </a:pPr>
            <a:r>
              <a:rPr sz="880" b="1" i="0">
                <a:solidFill>
                  <a:srgbClr val="606C7B"/>
                </a:solidFill>
                <a:latin typeface="Arial"/>
              </a:rPr>
              <a:t>15</a:t>
            </a:r>
          </a:p>
        </p:txBody>
      </p:sp>
      <p:sp>
        <p:nvSpPr>
          <p:cNvPr id="5" name="TextBox 4"/>
          <p:cNvSpPr txBox="1"/>
          <p:nvPr/>
        </p:nvSpPr>
        <p:spPr>
          <a:xfrm>
            <a:off x="521207" y="1024128"/>
            <a:ext cx="11064240" cy="246888"/>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130" b="0" i="0">
                <a:solidFill>
                  <a:srgbClr val="606C7B"/>
                </a:solidFill>
                <a:latin typeface="Arial"/>
              </a:rPr>
              <a:t>Freeze the human PFC result first; then assign one pre-specified role to each independent mouse study.</a:t>
            </a:r>
          </a:p>
        </p:txBody>
      </p:sp>
      <p:sp>
        <p:nvSpPr>
          <p:cNvPr id="6" name="Rounded Rectangle 5"/>
          <p:cNvSpPr/>
          <p:nvPr/>
        </p:nvSpPr>
        <p:spPr>
          <a:xfrm>
            <a:off x="502920" y="1481328"/>
            <a:ext cx="3456432" cy="1463040"/>
          </a:xfrm>
          <a:prstGeom prst="roundRect">
            <a:avLst/>
          </a:prstGeom>
          <a:solidFill>
            <a:srgbClr val="E0EFF8"/>
          </a:solidFill>
          <a:ln w="1905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02920" y="1481328"/>
            <a:ext cx="3456432" cy="109728"/>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04088" y="1682496"/>
            <a:ext cx="3054096"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19" b="1" i="0">
                <a:solidFill>
                  <a:srgbClr val="0072B2"/>
                </a:solidFill>
                <a:latin typeface="Arial"/>
              </a:rPr>
              <a:t>1 • WHERE?</a:t>
            </a:r>
          </a:p>
        </p:txBody>
      </p:sp>
      <p:sp>
        <p:nvSpPr>
          <p:cNvPr id="9" name="TextBox 8"/>
          <p:cNvSpPr txBox="1"/>
          <p:nvPr/>
        </p:nvSpPr>
        <p:spPr>
          <a:xfrm>
            <a:off x="704088" y="1920240"/>
            <a:ext cx="3054096" cy="301752"/>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750" b="1" i="0">
                <a:solidFill>
                  <a:srgbClr val="0F233D"/>
                </a:solidFill>
                <a:latin typeface="Arial"/>
              </a:rPr>
              <a:t>GSE185063</a:t>
            </a:r>
          </a:p>
        </p:txBody>
      </p:sp>
      <p:sp>
        <p:nvSpPr>
          <p:cNvPr id="10" name="TextBox 9"/>
          <p:cNvSpPr txBox="1"/>
          <p:nvPr/>
        </p:nvSpPr>
        <p:spPr>
          <a:xfrm>
            <a:off x="704088" y="2258568"/>
            <a:ext cx="3054096" cy="32918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120" b="1" i="0">
                <a:solidFill>
                  <a:srgbClr val="232A33"/>
                </a:solidFill>
                <a:latin typeface="Arial"/>
              </a:rPr>
              <a:t>Cortical cell-type localization of APOE modules</a:t>
            </a:r>
          </a:p>
        </p:txBody>
      </p:sp>
      <p:sp>
        <p:nvSpPr>
          <p:cNvPr id="11" name="TextBox 10"/>
          <p:cNvSpPr txBox="1"/>
          <p:nvPr/>
        </p:nvSpPr>
        <p:spPr>
          <a:xfrm>
            <a:off x="704088" y="2633472"/>
            <a:ext cx="3054096" cy="20116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869" b="0" i="1">
                <a:solidFill>
                  <a:srgbClr val="606C7B"/>
                </a:solidFill>
                <a:latin typeface="Arial"/>
              </a:rPr>
              <a:t>Cortex, not explicit PFC • no AD model</a:t>
            </a:r>
          </a:p>
        </p:txBody>
      </p:sp>
      <p:sp>
        <p:nvSpPr>
          <p:cNvPr id="12" name="Rounded Rectangle 11"/>
          <p:cNvSpPr/>
          <p:nvPr/>
        </p:nvSpPr>
        <p:spPr>
          <a:xfrm>
            <a:off x="4370832" y="1481328"/>
            <a:ext cx="3456432" cy="1463040"/>
          </a:xfrm>
          <a:prstGeom prst="roundRect">
            <a:avLst/>
          </a:prstGeom>
          <a:solidFill>
            <a:srgbClr val="E0F4EE"/>
          </a:solidFill>
          <a:ln w="1905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370832" y="1481328"/>
            <a:ext cx="3456432" cy="109728"/>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0" y="1682496"/>
            <a:ext cx="3054096"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19" b="1" i="0">
                <a:solidFill>
                  <a:srgbClr val="009E73"/>
                </a:solidFill>
                <a:latin typeface="Arial"/>
              </a:rPr>
              <a:t>2 • MECHANISM + SEX?</a:t>
            </a:r>
          </a:p>
        </p:txBody>
      </p:sp>
      <p:sp>
        <p:nvSpPr>
          <p:cNvPr id="15" name="TextBox 14"/>
          <p:cNvSpPr txBox="1"/>
          <p:nvPr/>
        </p:nvSpPr>
        <p:spPr>
          <a:xfrm>
            <a:off x="4572000" y="1920240"/>
            <a:ext cx="3054096" cy="301752"/>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750" b="1" i="0">
                <a:solidFill>
                  <a:srgbClr val="0F233D"/>
                </a:solidFill>
                <a:latin typeface="Arial"/>
              </a:rPr>
              <a:t>GSE241553</a:t>
            </a:r>
          </a:p>
        </p:txBody>
      </p:sp>
      <p:sp>
        <p:nvSpPr>
          <p:cNvPr id="16" name="TextBox 15"/>
          <p:cNvSpPr txBox="1"/>
          <p:nvPr/>
        </p:nvSpPr>
        <p:spPr>
          <a:xfrm>
            <a:off x="4572000" y="2258568"/>
            <a:ext cx="3054096" cy="32918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120" b="1" i="0">
                <a:solidFill>
                  <a:srgbClr val="232A33"/>
                </a:solidFill>
                <a:latin typeface="Arial"/>
              </a:rPr>
              <a:t>Microglia/CAM apoE3-versus-apoE4 induction under amyloid</a:t>
            </a:r>
          </a:p>
        </p:txBody>
      </p:sp>
      <p:sp>
        <p:nvSpPr>
          <p:cNvPr id="17" name="TextBox 16"/>
          <p:cNvSpPr txBox="1"/>
          <p:nvPr/>
        </p:nvSpPr>
        <p:spPr>
          <a:xfrm>
            <a:off x="4572000" y="2633472"/>
            <a:ext cx="3054096" cy="20116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869" b="0" i="1">
                <a:solidFill>
                  <a:srgbClr val="606C7B"/>
                </a:solidFill>
                <a:latin typeface="Arial"/>
              </a:rPr>
              <a:t>Conditional induction • no non-amyloid arm</a:t>
            </a:r>
          </a:p>
        </p:txBody>
      </p:sp>
      <p:sp>
        <p:nvSpPr>
          <p:cNvPr id="18" name="Rounded Rectangle 17"/>
          <p:cNvSpPr/>
          <p:nvPr/>
        </p:nvSpPr>
        <p:spPr>
          <a:xfrm>
            <a:off x="8229600" y="1481328"/>
            <a:ext cx="3456432" cy="1463040"/>
          </a:xfrm>
          <a:prstGeom prst="roundRect">
            <a:avLst/>
          </a:prstGeom>
          <a:solidFill>
            <a:srgbClr val="F0E9F7"/>
          </a:solidFill>
          <a:ln w="19050">
            <a:solidFill>
              <a:srgbClr val="7E4C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8229600" y="1481328"/>
            <a:ext cx="3456432" cy="109728"/>
          </a:xfrm>
          <a:prstGeom prst="rect">
            <a:avLst/>
          </a:prstGeom>
          <a:solidFill>
            <a:srgbClr val="7E4C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430768" y="1682496"/>
            <a:ext cx="3054096" cy="201168"/>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919" b="1" i="0">
                <a:solidFill>
                  <a:srgbClr val="7E4C9A"/>
                </a:solidFill>
                <a:latin typeface="Arial"/>
              </a:rPr>
              <a:t>3 • FACTORIAL SUPPORT?</a:t>
            </a:r>
          </a:p>
        </p:txBody>
      </p:sp>
      <p:sp>
        <p:nvSpPr>
          <p:cNvPr id="21" name="TextBox 20"/>
          <p:cNvSpPr txBox="1"/>
          <p:nvPr/>
        </p:nvSpPr>
        <p:spPr>
          <a:xfrm>
            <a:off x="8430768" y="1920240"/>
            <a:ext cx="3054096" cy="301752"/>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750" b="1" i="0">
                <a:solidFill>
                  <a:srgbClr val="0F233D"/>
                </a:solidFill>
                <a:latin typeface="Arial"/>
              </a:rPr>
              <a:t>GSE163857</a:t>
            </a:r>
          </a:p>
        </p:txBody>
      </p:sp>
      <p:sp>
        <p:nvSpPr>
          <p:cNvPr id="22" name="TextBox 21"/>
          <p:cNvSpPr txBox="1"/>
          <p:nvPr/>
        </p:nvSpPr>
        <p:spPr>
          <a:xfrm>
            <a:off x="8430768" y="2258568"/>
            <a:ext cx="3054096" cy="329184"/>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120" b="1" i="0">
                <a:solidFill>
                  <a:srgbClr val="232A33"/>
                </a:solidFill>
                <a:latin typeface="Arial"/>
              </a:rPr>
              <a:t>APOE × sex × 5xFAD/control in microglia</a:t>
            </a:r>
          </a:p>
        </p:txBody>
      </p:sp>
      <p:sp>
        <p:nvSpPr>
          <p:cNvPr id="23" name="TextBox 22"/>
          <p:cNvSpPr txBox="1"/>
          <p:nvPr/>
        </p:nvSpPr>
        <p:spPr>
          <a:xfrm>
            <a:off x="8430768" y="2633472"/>
            <a:ext cx="3054096" cy="201168"/>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869" b="0" i="1">
                <a:solidFill>
                  <a:srgbClr val="606C7B"/>
                </a:solidFill>
                <a:latin typeface="Arial"/>
              </a:rPr>
              <a:t>Bulk, non-regional • small control groups</a:t>
            </a:r>
          </a:p>
        </p:txBody>
      </p:sp>
      <p:sp>
        <p:nvSpPr>
          <p:cNvPr id="24" name="TextBox 23"/>
          <p:cNvSpPr txBox="1"/>
          <p:nvPr/>
        </p:nvSpPr>
        <p:spPr>
          <a:xfrm>
            <a:off x="548640" y="3090672"/>
            <a:ext cx="11064240" cy="182880"/>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919" b="1" i="0">
                <a:solidFill>
                  <a:srgbClr val="E69F00"/>
                </a:solidFill>
                <a:latin typeface="Arial"/>
              </a:rPr>
              <a:t>ADD ONE DISEASE-DIRECTION LAYER MATCHED TO THE HUMAN CELL TYPE</a:t>
            </a:r>
          </a:p>
        </p:txBody>
      </p:sp>
      <p:sp>
        <p:nvSpPr>
          <p:cNvPr id="25" name="Rounded Rectangle 24"/>
          <p:cNvSpPr/>
          <p:nvPr/>
        </p:nvSpPr>
        <p:spPr>
          <a:xfrm>
            <a:off x="502920" y="3429000"/>
            <a:ext cx="2587752" cy="566928"/>
          </a:xfrm>
          <a:prstGeom prst="roundRect">
            <a:avLst/>
          </a:prstGeom>
          <a:solidFill>
            <a:srgbClr val="FFFFFF"/>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12648" y="3511296"/>
            <a:ext cx="804672" cy="164592"/>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760" b="1" i="0">
                <a:solidFill>
                  <a:srgbClr val="E69F00"/>
                </a:solidFill>
                <a:latin typeface="Arial"/>
              </a:rPr>
              <a:t>MICROGLIA</a:t>
            </a:r>
          </a:p>
        </p:txBody>
      </p:sp>
      <p:sp>
        <p:nvSpPr>
          <p:cNvPr id="27" name="TextBox 26"/>
          <p:cNvSpPr txBox="1"/>
          <p:nvPr/>
        </p:nvSpPr>
        <p:spPr>
          <a:xfrm>
            <a:off x="1472184" y="3447288"/>
            <a:ext cx="1490472" cy="384048"/>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80" b="1" i="0">
                <a:solidFill>
                  <a:srgbClr val="0F233D"/>
                </a:solidFill>
                <a:latin typeface="Arial"/>
              </a:rPr>
              <a:t>GSE127892 / GSE140510</a:t>
            </a:r>
          </a:p>
        </p:txBody>
      </p:sp>
      <p:sp>
        <p:nvSpPr>
          <p:cNvPr id="28" name="Rounded Rectangle 27"/>
          <p:cNvSpPr/>
          <p:nvPr/>
        </p:nvSpPr>
        <p:spPr>
          <a:xfrm>
            <a:off x="3374136" y="3429000"/>
            <a:ext cx="2587752" cy="566928"/>
          </a:xfrm>
          <a:prstGeom prst="roundRect">
            <a:avLst/>
          </a:prstGeom>
          <a:solidFill>
            <a:srgbClr val="FFFFFF"/>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3483864" y="3511296"/>
            <a:ext cx="804672" cy="164592"/>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760" b="1" i="0">
                <a:solidFill>
                  <a:srgbClr val="E69F00"/>
                </a:solidFill>
                <a:latin typeface="Arial"/>
              </a:rPr>
              <a:t>ASTROCYTES</a:t>
            </a:r>
          </a:p>
        </p:txBody>
      </p:sp>
      <p:sp>
        <p:nvSpPr>
          <p:cNvPr id="30" name="TextBox 29"/>
          <p:cNvSpPr txBox="1"/>
          <p:nvPr/>
        </p:nvSpPr>
        <p:spPr>
          <a:xfrm>
            <a:off x="4343400" y="3447288"/>
            <a:ext cx="1490472" cy="384048"/>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80" b="1" i="0">
                <a:solidFill>
                  <a:srgbClr val="0F233D"/>
                </a:solidFill>
                <a:latin typeface="Arial"/>
              </a:rPr>
              <a:t>GSE140399 + GSE143758</a:t>
            </a:r>
          </a:p>
        </p:txBody>
      </p:sp>
      <p:sp>
        <p:nvSpPr>
          <p:cNvPr id="31" name="Rounded Rectangle 30"/>
          <p:cNvSpPr/>
          <p:nvPr/>
        </p:nvSpPr>
        <p:spPr>
          <a:xfrm>
            <a:off x="6245352" y="3429000"/>
            <a:ext cx="2587752" cy="566928"/>
          </a:xfrm>
          <a:prstGeom prst="roundRect">
            <a:avLst/>
          </a:prstGeom>
          <a:solidFill>
            <a:srgbClr val="FFFFFF"/>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355080" y="3511296"/>
            <a:ext cx="804672" cy="164592"/>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760" b="1" i="0">
                <a:solidFill>
                  <a:srgbClr val="E69F00"/>
                </a:solidFill>
                <a:latin typeface="Arial"/>
              </a:rPr>
              <a:t>NEURONS / OLIGO</a:t>
            </a:r>
          </a:p>
        </p:txBody>
      </p:sp>
      <p:sp>
        <p:nvSpPr>
          <p:cNvPr id="33" name="TextBox 32"/>
          <p:cNvSpPr txBox="1"/>
          <p:nvPr/>
        </p:nvSpPr>
        <p:spPr>
          <a:xfrm>
            <a:off x="7214616" y="3447288"/>
            <a:ext cx="1490472" cy="384048"/>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80" b="1" i="0">
                <a:solidFill>
                  <a:srgbClr val="0F233D"/>
                </a:solidFill>
                <a:latin typeface="Arial"/>
              </a:rPr>
              <a:t>GSE140399 / GSE140510
+ GSE212606</a:t>
            </a:r>
          </a:p>
        </p:txBody>
      </p:sp>
      <p:sp>
        <p:nvSpPr>
          <p:cNvPr id="34" name="Rounded Rectangle 33"/>
          <p:cNvSpPr/>
          <p:nvPr/>
        </p:nvSpPr>
        <p:spPr>
          <a:xfrm>
            <a:off x="9116568" y="3429000"/>
            <a:ext cx="2587752" cy="566928"/>
          </a:xfrm>
          <a:prstGeom prst="roundRect">
            <a:avLst/>
          </a:prstGeom>
          <a:solidFill>
            <a:srgbClr val="FFFFFF"/>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9226296" y="3511296"/>
            <a:ext cx="804672" cy="164592"/>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760" b="1" i="0">
                <a:solidFill>
                  <a:srgbClr val="E69F00"/>
                </a:solidFill>
                <a:latin typeface="Arial"/>
              </a:rPr>
              <a:t>VASCULAR</a:t>
            </a:r>
          </a:p>
        </p:txBody>
      </p:sp>
      <p:sp>
        <p:nvSpPr>
          <p:cNvPr id="36" name="TextBox 35"/>
          <p:cNvSpPr txBox="1"/>
          <p:nvPr/>
        </p:nvSpPr>
        <p:spPr>
          <a:xfrm>
            <a:off x="10085832" y="3447288"/>
            <a:ext cx="1490472" cy="384048"/>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880" b="1" i="0">
                <a:solidFill>
                  <a:srgbClr val="0F233D"/>
                </a:solidFill>
                <a:latin typeface="Arial"/>
              </a:rPr>
              <a:t>GSE140399 / GSE212606</a:t>
            </a:r>
          </a:p>
        </p:txBody>
      </p:sp>
      <p:sp>
        <p:nvSpPr>
          <p:cNvPr id="37" name="TextBox 36"/>
          <p:cNvSpPr txBox="1"/>
          <p:nvPr/>
        </p:nvSpPr>
        <p:spPr>
          <a:xfrm>
            <a:off x="548640" y="4169663"/>
            <a:ext cx="11064240" cy="182880"/>
          </a:xfrm>
          <a:prstGeom prst="rect">
            <a:avLst/>
          </a:prstGeom>
          <a:noFill/>
        </p:spPr>
        <p:txBody>
          <a:bodyPr wrap="square" lIns="27432" tIns="27432" rIns="27432" bIns="27432" anchor="t">
            <a:spAutoFit/>
          </a:bodyPr>
          <a:lstStyle/>
          <a:p>
            <a:pPr algn="ctr">
              <a:lnSpc>
                <a:spcPct val="100000"/>
              </a:lnSpc>
              <a:spcBef>
                <a:spcPts val="0"/>
              </a:spcBef>
              <a:spcAft>
                <a:spcPts val="0"/>
              </a:spcAft>
            </a:pPr>
            <a:r>
              <a:rPr sz="919" b="1" i="0">
                <a:solidFill>
                  <a:srgbClr val="0F233D"/>
                </a:solidFill>
                <a:latin typeface="Arial"/>
              </a:rPr>
              <a:t>COMBINE CONCLUSIONS—NOT RAW COUNT MATRICES</a:t>
            </a:r>
          </a:p>
        </p:txBody>
      </p:sp>
      <p:sp>
        <p:nvSpPr>
          <p:cNvPr id="38" name="Rounded Rectangle 37"/>
          <p:cNvSpPr/>
          <p:nvPr/>
        </p:nvSpPr>
        <p:spPr>
          <a:xfrm>
            <a:off x="502920" y="4443984"/>
            <a:ext cx="2468880" cy="877824"/>
          </a:xfrm>
          <a:prstGeom prst="roundRect">
            <a:avLst/>
          </a:prstGeom>
          <a:solidFill>
            <a:srgbClr val="EFF3F7"/>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630936" y="4645152"/>
            <a:ext cx="384048" cy="384048"/>
          </a:xfrm>
          <a:prstGeom prst="ellipse">
            <a:avLst/>
          </a:prstGeom>
          <a:solidFill>
            <a:srgbClr val="0F2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30936" y="4681728"/>
            <a:ext cx="384048" cy="182880"/>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000" b="1" i="0">
                <a:solidFill>
                  <a:srgbClr val="FFFFFF"/>
                </a:solidFill>
                <a:latin typeface="Arial"/>
              </a:rPr>
              <a:t>1</a:t>
            </a:r>
          </a:p>
        </p:txBody>
      </p:sp>
      <p:sp>
        <p:nvSpPr>
          <p:cNvPr id="41" name="TextBox 40"/>
          <p:cNvSpPr txBox="1"/>
          <p:nvPr/>
        </p:nvSpPr>
        <p:spPr>
          <a:xfrm>
            <a:off x="1124712" y="4562856"/>
            <a:ext cx="1700784" cy="45720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40" b="1" i="0">
                <a:solidFill>
                  <a:srgbClr val="0F233D"/>
                </a:solidFill>
                <a:latin typeface="Arial"/>
              </a:rPr>
              <a:t>Freeze human PFC cell type, contrast, and module</a:t>
            </a:r>
          </a:p>
        </p:txBody>
      </p:sp>
      <p:sp>
        <p:nvSpPr>
          <p:cNvPr id="42" name="TextBox 41"/>
          <p:cNvSpPr txBox="1"/>
          <p:nvPr/>
        </p:nvSpPr>
        <p:spPr>
          <a:xfrm>
            <a:off x="2990088" y="4681728"/>
            <a:ext cx="329184" cy="228600"/>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800" b="1" i="0">
                <a:solidFill>
                  <a:srgbClr val="606C7B"/>
                </a:solidFill>
                <a:latin typeface="Arial"/>
              </a:rPr>
              <a:t>→</a:t>
            </a:r>
          </a:p>
        </p:txBody>
      </p:sp>
      <p:sp>
        <p:nvSpPr>
          <p:cNvPr id="43" name="Rounded Rectangle 42"/>
          <p:cNvSpPr/>
          <p:nvPr/>
        </p:nvSpPr>
        <p:spPr>
          <a:xfrm>
            <a:off x="3337560" y="4443984"/>
            <a:ext cx="2468880" cy="877824"/>
          </a:xfrm>
          <a:prstGeom prst="roundRect">
            <a:avLst/>
          </a:prstGeom>
          <a:solidFill>
            <a:srgbClr val="EFF3F7"/>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Oval 43"/>
          <p:cNvSpPr/>
          <p:nvPr/>
        </p:nvSpPr>
        <p:spPr>
          <a:xfrm>
            <a:off x="3465576" y="4645152"/>
            <a:ext cx="384048" cy="384048"/>
          </a:xfrm>
          <a:prstGeom prst="ellipse">
            <a:avLst/>
          </a:prstGeom>
          <a:solidFill>
            <a:srgbClr val="0F2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3465576" y="4681728"/>
            <a:ext cx="384048" cy="182880"/>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000" b="1" i="0">
                <a:solidFill>
                  <a:srgbClr val="FFFFFF"/>
                </a:solidFill>
                <a:latin typeface="Arial"/>
              </a:rPr>
              <a:t>2</a:t>
            </a:r>
          </a:p>
        </p:txBody>
      </p:sp>
      <p:sp>
        <p:nvSpPr>
          <p:cNvPr id="46" name="TextBox 45"/>
          <p:cNvSpPr txBox="1"/>
          <p:nvPr/>
        </p:nvSpPr>
        <p:spPr>
          <a:xfrm>
            <a:off x="3959352" y="4562856"/>
            <a:ext cx="1700784" cy="45720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40" b="1" i="0">
                <a:solidFill>
                  <a:srgbClr val="0F233D"/>
                </a:solidFill>
                <a:latin typeface="Arial"/>
              </a:rPr>
              <a:t>Analyze each study separately at mouse/pool level</a:t>
            </a:r>
          </a:p>
        </p:txBody>
      </p:sp>
      <p:sp>
        <p:nvSpPr>
          <p:cNvPr id="47" name="TextBox 46"/>
          <p:cNvSpPr txBox="1"/>
          <p:nvPr/>
        </p:nvSpPr>
        <p:spPr>
          <a:xfrm>
            <a:off x="5824728" y="4681728"/>
            <a:ext cx="329184" cy="228600"/>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800" b="1" i="0">
                <a:solidFill>
                  <a:srgbClr val="606C7B"/>
                </a:solidFill>
                <a:latin typeface="Arial"/>
              </a:rPr>
              <a:t>→</a:t>
            </a:r>
          </a:p>
        </p:txBody>
      </p:sp>
      <p:sp>
        <p:nvSpPr>
          <p:cNvPr id="48" name="Rounded Rectangle 47"/>
          <p:cNvSpPr/>
          <p:nvPr/>
        </p:nvSpPr>
        <p:spPr>
          <a:xfrm>
            <a:off x="6172200" y="4443984"/>
            <a:ext cx="2468880" cy="877824"/>
          </a:xfrm>
          <a:prstGeom prst="roundRect">
            <a:avLst/>
          </a:prstGeom>
          <a:solidFill>
            <a:srgbClr val="EFF3F7"/>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6300216" y="4645152"/>
            <a:ext cx="384048" cy="384048"/>
          </a:xfrm>
          <a:prstGeom prst="ellipse">
            <a:avLst/>
          </a:prstGeom>
          <a:solidFill>
            <a:srgbClr val="0F2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6300216" y="4681728"/>
            <a:ext cx="384048" cy="182880"/>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000" b="1" i="0">
                <a:solidFill>
                  <a:srgbClr val="FFFFFF"/>
                </a:solidFill>
                <a:latin typeface="Arial"/>
              </a:rPr>
              <a:t>3</a:t>
            </a:r>
          </a:p>
        </p:txBody>
      </p:sp>
      <p:sp>
        <p:nvSpPr>
          <p:cNvPr id="51" name="TextBox 50"/>
          <p:cNvSpPr txBox="1"/>
          <p:nvPr/>
        </p:nvSpPr>
        <p:spPr>
          <a:xfrm>
            <a:off x="6793992" y="4562856"/>
            <a:ext cx="1700784" cy="45720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40" b="1" i="0">
                <a:solidFill>
                  <a:srgbClr val="0F233D"/>
                </a:solidFill>
                <a:latin typeface="Arial"/>
              </a:rPr>
              <a:t>Compare orthologous direction and enrichment</a:t>
            </a:r>
          </a:p>
        </p:txBody>
      </p:sp>
      <p:sp>
        <p:nvSpPr>
          <p:cNvPr id="52" name="TextBox 51"/>
          <p:cNvSpPr txBox="1"/>
          <p:nvPr/>
        </p:nvSpPr>
        <p:spPr>
          <a:xfrm>
            <a:off x="8659368" y="4681728"/>
            <a:ext cx="329184" cy="228600"/>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800" b="1" i="0">
                <a:solidFill>
                  <a:srgbClr val="606C7B"/>
                </a:solidFill>
                <a:latin typeface="Arial"/>
              </a:rPr>
              <a:t>→</a:t>
            </a:r>
          </a:p>
        </p:txBody>
      </p:sp>
      <p:sp>
        <p:nvSpPr>
          <p:cNvPr id="53" name="Rounded Rectangle 52"/>
          <p:cNvSpPr/>
          <p:nvPr/>
        </p:nvSpPr>
        <p:spPr>
          <a:xfrm>
            <a:off x="9006840" y="4443984"/>
            <a:ext cx="2468880" cy="877824"/>
          </a:xfrm>
          <a:prstGeom prst="roundRect">
            <a:avLst/>
          </a:prstGeom>
          <a:solidFill>
            <a:srgbClr val="EFF3F7"/>
          </a:solidFill>
          <a:ln w="12700">
            <a:solidFill>
              <a:srgbClr val="DCE4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p:cNvSpPr/>
          <p:nvPr/>
        </p:nvSpPr>
        <p:spPr>
          <a:xfrm>
            <a:off x="9134856" y="4645152"/>
            <a:ext cx="384048" cy="384048"/>
          </a:xfrm>
          <a:prstGeom prst="ellipse">
            <a:avLst/>
          </a:prstGeom>
          <a:solidFill>
            <a:srgbClr val="0F2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9134856" y="4681728"/>
            <a:ext cx="384048" cy="182880"/>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000" b="1" i="0">
                <a:solidFill>
                  <a:srgbClr val="FFFFFF"/>
                </a:solidFill>
                <a:latin typeface="Arial"/>
              </a:rPr>
              <a:t>4</a:t>
            </a:r>
          </a:p>
        </p:txBody>
      </p:sp>
      <p:sp>
        <p:nvSpPr>
          <p:cNvPr id="56" name="TextBox 55"/>
          <p:cNvSpPr txBox="1"/>
          <p:nvPr/>
        </p:nvSpPr>
        <p:spPr>
          <a:xfrm>
            <a:off x="9628632" y="4562856"/>
            <a:ext cx="1700784" cy="457200"/>
          </a:xfrm>
          <a:prstGeom prst="rect">
            <a:avLst/>
          </a:prstGeom>
          <a:noFill/>
        </p:spPr>
        <p:txBody>
          <a:bodyPr wrap="square" lIns="27432" tIns="27432" rIns="27432" bIns="27432" anchor="ctr">
            <a:spAutoFit/>
          </a:bodyPr>
          <a:lstStyle/>
          <a:p>
            <a:pPr algn="l">
              <a:lnSpc>
                <a:spcPct val="100000"/>
              </a:lnSpc>
              <a:spcBef>
                <a:spcPts val="0"/>
              </a:spcBef>
              <a:spcAft>
                <a:spcPts val="0"/>
              </a:spcAft>
            </a:pPr>
            <a:r>
              <a:rPr sz="1040" b="1" i="0">
                <a:solidFill>
                  <a:srgbClr val="0F233D"/>
                </a:solidFill>
                <a:latin typeface="Arial"/>
              </a:rPr>
              <a:t>Report convergent evidence with boundaries</a:t>
            </a:r>
          </a:p>
        </p:txBody>
      </p:sp>
      <p:sp>
        <p:nvSpPr>
          <p:cNvPr id="57" name="takeaway_ribbon"/>
          <p:cNvSpPr/>
          <p:nvPr/>
        </p:nvSpPr>
        <p:spPr>
          <a:xfrm>
            <a:off x="502920" y="5815584"/>
            <a:ext cx="11183112" cy="512064"/>
          </a:xfrm>
          <a:prstGeom prst="rect">
            <a:avLst/>
          </a:prstGeom>
          <a:solidFill>
            <a:srgbClr val="0F2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Rectangle 57"/>
          <p:cNvSpPr/>
          <p:nvPr/>
        </p:nvSpPr>
        <p:spPr>
          <a:xfrm>
            <a:off x="502920" y="5815584"/>
            <a:ext cx="91440" cy="5120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749808" y="5888736"/>
            <a:ext cx="10652760" cy="329184"/>
          </a:xfrm>
          <a:prstGeom prst="rect">
            <a:avLst/>
          </a:prstGeom>
          <a:noFill/>
        </p:spPr>
        <p:txBody>
          <a:bodyPr wrap="square" lIns="27432" tIns="27432" rIns="27432" bIns="27432" anchor="ctr">
            <a:spAutoFit/>
          </a:bodyPr>
          <a:lstStyle/>
          <a:p>
            <a:pPr algn="ctr">
              <a:lnSpc>
                <a:spcPct val="100000"/>
              </a:lnSpc>
              <a:spcBef>
                <a:spcPts val="0"/>
              </a:spcBef>
              <a:spcAft>
                <a:spcPts val="0"/>
              </a:spcAft>
            </a:pPr>
            <a:r>
              <a:rPr sz="1200" b="1" i="0">
                <a:solidFill>
                  <a:srgbClr val="FFFFFF"/>
                </a:solidFill>
                <a:latin typeface="Arial"/>
              </a:rPr>
              <a:t>Report “triangulated external validation” or “convergent support”—not complete direct mouse PFC replication.</a:t>
            </a:r>
          </a:p>
        </p:txBody>
      </p:sp>
      <p:sp>
        <p:nvSpPr>
          <p:cNvPr id="60" name="source_line"/>
          <p:cNvSpPr txBox="1"/>
          <p:nvPr/>
        </p:nvSpPr>
        <p:spPr>
          <a:xfrm>
            <a:off x="502920" y="6620256"/>
            <a:ext cx="11155680" cy="128016"/>
          </a:xfrm>
          <a:prstGeom prst="rect">
            <a:avLst/>
          </a:prstGeom>
          <a:noFill/>
        </p:spPr>
        <p:txBody>
          <a:bodyPr wrap="square" lIns="27432" tIns="27432" rIns="27432" bIns="27432" anchor="t">
            <a:spAutoFit/>
          </a:bodyPr>
          <a:lstStyle/>
          <a:p>
            <a:pPr algn="l">
              <a:lnSpc>
                <a:spcPct val="100000"/>
              </a:lnSpc>
              <a:spcBef>
                <a:spcPts val="0"/>
              </a:spcBef>
              <a:spcAft>
                <a:spcPts val="0"/>
              </a:spcAft>
            </a:pPr>
            <a:r>
              <a:rPr sz="670" b="0" i="0">
                <a:solidFill>
                  <a:srgbClr val="606C7B"/>
                </a:solidFill>
                <a:latin typeface="Arial"/>
              </a:rPr>
              <a:t>Source: docs/validation_mouse/mouse_dataset_comparison.md, §§5, 8, 10, 13, and 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TotalTime>
  <Words>5431</Words>
  <Application>Microsoft Macintosh PowerPoint</Application>
  <PresentationFormat>Widescreen</PresentationFormat>
  <Paragraphs>671</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Mouse Public-Dataset Comparison for Human PFC Validation</dc:title>
  <dc:subject>Eight-criterion assessment of 12 mouse dataset profiles</dc:subject>
  <dc:creator>Alzheimer project analysis team</dc:creator>
  <cp:keywords>mouse validation, PFC, APOE, sex, Alzheimer disease, scRNA-seq, snRNA-seq, GEO</cp:keywords>
  <dc:description>Generated from docs/validation_mouse/mouse_dataset_comparison.md. This deck summarizes dataset suitability and does not report new expression analysis. Source Markdown SHA-256: 1d6178dee8b717c5baa43148027110600f92621d4c327145626815868a8385aa.</dc:description>
  <cp:lastModifiedBy>Richard Zhuang</cp:lastModifiedBy>
  <cp:revision>3</cp:revision>
  <dcterms:created xsi:type="dcterms:W3CDTF">2013-01-27T09:14:16Z</dcterms:created>
  <dcterms:modified xsi:type="dcterms:W3CDTF">2026-08-23T19:17:51Z</dcterms:modified>
  <cp:category/>
</cp:coreProperties>
</file>