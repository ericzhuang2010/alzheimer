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63" r:id="rId4"/>
    <p:sldId id="258" r:id="rId5"/>
    <p:sldId id="259" r:id="rId6"/>
    <p:sldId id="260" r:id="rId7"/>
    <p:sldId id="261" r:id="rId8"/>
    <p:sldId id="262"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315"/>
    <p:restoredTop sz="65126"/>
  </p:normalViewPr>
  <p:slideViewPr>
    <p:cSldViewPr snapToGrid="0" snapToObjects="1">
      <p:cViewPr varScale="1">
        <p:scale>
          <a:sx n="141" d="100"/>
          <a:sy n="141" d="100"/>
        </p:scale>
        <p:origin x="3880"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217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The first four criteria ask whether the biology matches the human prefrontal-cortex question. Strong means a direct match, partial means useful but qualified support, and not matched means that dimension cannot answer the intended claim. Cortex is only a partial regional match to human PFC unless a frontal subdivision is documented.</a:t>
            </a:r>
          </a:p>
          <a:p>
            <a:endParaRPr/>
          </a:p>
          <a:p>
            <a:r>
              <a:t>Main takeaway:</a:t>
            </a:r>
          </a:p>
          <a:p>
            <a:r>
              <a:t>No exact dataset was identified in the openly auditable candidate set. That does not mean no such dataset exists; it means the reviewed public studies contribute complementary pieces rather than one complete PFC × APOE × sex × disease design.</a:t>
            </a:r>
          </a:p>
          <a:p>
            <a:endParaRPr/>
          </a:p>
          <a:p>
            <a:r>
              <a:t>Boundary / transition:</a:t>
            </a:r>
          </a:p>
          <a:p>
            <a:r>
              <a:t>The next slide defines evidence quality and the biological replicate rule used throughout the dataset profiles.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a:t>
            </a:r>
          </a:p>
          <a:p>
            <a:r>
              <a:rPr dirty="0"/>
              <a:t>The second four criteria determine whether a study can support mouse-level inference and whether the public files can be audited. The worked example shows why many nuclei do not increase biological n. A pooled library is one profile even if several animals contributed tissue.</a:t>
            </a:r>
          </a:p>
          <a:p>
            <a:endParaRPr dirty="0"/>
          </a:p>
          <a:p>
            <a:r>
              <a:rPr dirty="0"/>
              <a:t>Main takeaway:</a:t>
            </a:r>
          </a:p>
          <a:p>
            <a:r>
              <a:rPr dirty="0"/>
              <a:t>These criteria are </a:t>
            </a:r>
            <a:r>
              <a:rPr dirty="0" err="1"/>
              <a:t>noncompensatory</a:t>
            </a:r>
            <a:r>
              <a:rPr dirty="0"/>
              <a:t>. Exceptional cell count or cell-type breadth cannot replace missing independent mice, a missing APOE factor, or the wrong anatomy. Batch correction can reduce technical variation, but it cannot transform hippocampus into prefrontal cortex.</a:t>
            </a:r>
          </a:p>
          <a:p>
            <a:endParaRPr dirty="0"/>
          </a:p>
          <a:p>
            <a:r>
              <a:rPr dirty="0"/>
              <a:t>Boundary / transition:</a:t>
            </a:r>
          </a:p>
          <a:p>
            <a:r>
              <a:rPr dirty="0"/>
              <a:t>Every remaining slide applies the same eight labels and factual evidence lines, followed by a defensible use and a claim boundary.</a:t>
            </a:r>
            <a:endParaRPr lang="en-US" dirty="0"/>
          </a:p>
          <a:p>
            <a:endParaRPr lang="en-US" dirty="0"/>
          </a:p>
          <a:p>
            <a:endParaRPr lang="en-US" dirty="0"/>
          </a:p>
          <a:p>
            <a:r>
              <a:rPr lang="en-US" dirty="0"/>
              <a:t>“Replication” means the number of independent mice contributing separate measurements to each experimental group.</a:t>
            </a:r>
          </a:p>
          <a:p>
            <a:pPr lvl="0"/>
            <a:r>
              <a:rPr lang="en-US" dirty="0"/>
              <a:t>Strong: multiple mice are sequenced separately in each group, allowing animal-to-animal variability to be estimated.</a:t>
            </a:r>
          </a:p>
          <a:p>
            <a:pPr lvl="0"/>
            <a:r>
              <a:rPr lang="en-US" dirty="0"/>
              <a:t>Partial: very few mice, or several mice are pooled into one sequencing library.</a:t>
            </a:r>
          </a:p>
          <a:p>
            <a:pPr lvl="0"/>
            <a:r>
              <a:rPr lang="en-US" dirty="0"/>
              <a:t>Not matched: only cells/wells are identifiable and the contributing mice cannot be recovered.</a:t>
            </a:r>
          </a:p>
          <a:p>
            <a:r>
              <a:rPr lang="en-US" dirty="0"/>
              <a:t>For example, 3 mice with 5,000 cells each gives a biological sample size of </a:t>
            </a:r>
            <a:r>
              <a:rPr lang="en-US" b="1" dirty="0"/>
              <a:t>n = 3 mice</a:t>
            </a:r>
            <a:r>
              <a:rPr lang="en-US" dirty="0"/>
              <a:t>, not 15,000. Cells and technical libraries improve measurement precision but do not replace independent animals.</a:t>
            </a:r>
          </a:p>
          <a:p>
            <a:endParaRPr lang="en-US" dirty="0"/>
          </a:p>
          <a:p>
            <a:pPr lvl="0"/>
            <a:r>
              <a:rPr lang="en-US" dirty="0"/>
              <a:t>“Pooling mice creates one pooled profile.”</a:t>
            </a:r>
            <a:br>
              <a:rPr lang="en-US" dirty="0"/>
            </a:br>
            <a:r>
              <a:rPr lang="en-US" dirty="0"/>
              <a:t>If tissue from three mice is physically mixed before sequencing, the result is one averaged measurement. You cannot recover each mouse’s response or estimate mouse-to-mouse variability. Statistically, that is one pooled replicate—not three independent replicates. Multiple separately prepared pools would provide replication.</a:t>
            </a:r>
          </a:p>
          <a:p>
            <a:pPr lvl="0"/>
            <a:r>
              <a:rPr lang="en-US" dirty="0"/>
              <a:t>“Batch correction cannot convert hippocampus into PFC.”</a:t>
            </a:r>
            <a:br>
              <a:rPr lang="en-US" dirty="0"/>
            </a:br>
            <a:r>
              <a:rPr lang="en-US" dirty="0"/>
              <a:t>Batch correction can reduce technical differences such as sequencing run or laboratory effects. It cannot remove real biological differences between brain regions. Hippocampal data may provide cross-region pathway support, but it cannot be presented as direct PFC replication.</a:t>
            </a:r>
          </a:p>
          <a:p>
            <a:endParaRPr lang="en-US"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Most of the study and its main all-cell atlas are not cortex/PFC; the cortical arm has one WT and one 5xFAD mouse at each of two ages. The colored state is always paired with a factual line, so the judgment does not depend on color alone.</a:t>
            </a:r>
          </a:p>
          <a:p>
            <a:endParaRPr/>
          </a:p>
          <a:p>
            <a:r>
              <a:t>Main takeaway:</a:t>
            </a:r>
          </a:p>
          <a:p>
            <a:r>
              <a:t>Best use: Support hippocampal astrocyte, aging, and descriptive cross-region pathways. Main limitation: The cortical component is astrocyte-focused, with one record per age×genotype group; it is not a replicated broad-cell PFC cohort.</a:t>
            </a:r>
          </a:p>
          <a:p>
            <a:endParaRPr/>
          </a:p>
          <a:p>
            <a:r>
              <a:t>Boundary / transition:</a:t>
            </a:r>
          </a:p>
          <a:p>
            <a:r>
              <a:t>Cortical data exist, but use them only for descriptive astrocyte concordance—not replicated all-cell PFC validation. The biological unit must remain the mouse—or the pre-sequencing pool when mice were pooled—and raw matrices from separate studies should not be merged as one cohort. The next profile applies the same criteria to GSE225503 / GSE239999.</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644962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a:t>
            </a:r>
          </a:p>
          <a:p>
            <a:r>
              <a:rPr dirty="0"/>
              <a:t>Start with the role and study snapshot, then scan the eight criterion states. The letter F in names such as E3F means </a:t>
            </a:r>
            <a:r>
              <a:rPr dirty="0" err="1"/>
              <a:t>floxed</a:t>
            </a:r>
            <a:r>
              <a:rPr dirty="0"/>
              <a:t>, not female. The colored state is always paired with a factual line, so the judgment does not depend on color alone.</a:t>
            </a:r>
          </a:p>
          <a:p>
            <a:endParaRPr dirty="0"/>
          </a:p>
          <a:p>
            <a:r>
              <a:rPr dirty="0"/>
              <a:t>Main takeaway:</a:t>
            </a:r>
          </a:p>
          <a:p>
            <a:r>
              <a:rPr dirty="0"/>
              <a:t>Best use: Localize human PFC APOE-associated modules across cortical cell types. Main limitation: No disease factor; sex-specific inference is unsafe without a verified mouse map.</a:t>
            </a:r>
          </a:p>
          <a:p>
            <a:endParaRPr dirty="0"/>
          </a:p>
          <a:p>
            <a:r>
              <a:rPr dirty="0"/>
              <a:t>Boundary / transition:</a:t>
            </a:r>
          </a:p>
          <a:p>
            <a:r>
              <a:rPr dirty="0"/>
              <a:t>Use the label “cortical cross-species APOE concordance”—not direct mouse PFC replication. The biological unit must remain the mouse—or the pre-sequencing pool when mice were pooled—and raw matrices from separate studies should not be merged as one cohort. The next profile applies the same criteria to GSE241553.</a:t>
            </a:r>
            <a:endParaRPr lang="en-US" dirty="0"/>
          </a:p>
          <a:p>
            <a:endParaRPr lang="en-US" dirty="0"/>
          </a:p>
          <a:p>
            <a:endParaRPr lang="en-US" dirty="0"/>
          </a:p>
          <a:p>
            <a:r>
              <a:rPr lang="en-US" dirty="0"/>
              <a:t>GSE185063 compares mice carrying human APOE3 versus APOE4, but the mice do not have an induced Alzheimer-like disease model such as 5xFAD or APP/PS1. </a:t>
            </a:r>
          </a:p>
          <a:p>
            <a:r>
              <a:rPr lang="en-US" dirty="0"/>
              <a:t>Therefore, it has no matched </a:t>
            </a:r>
            <a:r>
              <a:rPr lang="en-US" b="1" dirty="0"/>
              <a:t>AD-model versus non-AD control</a:t>
            </a:r>
            <a:r>
              <a:rPr lang="en-US" dirty="0"/>
              <a:t> comparison.</a:t>
            </a:r>
          </a:p>
          <a:p>
            <a:endParaRPr lang="en-US" dirty="0"/>
          </a:p>
          <a:p>
            <a:r>
              <a:rPr lang="en-US" dirty="0"/>
              <a:t>It can answer:</a:t>
            </a:r>
          </a:p>
          <a:p>
            <a:pPr lvl="0"/>
            <a:r>
              <a:rPr lang="en-US" dirty="0"/>
              <a:t>Where an APOE-associated signal appears across cortical cell types</a:t>
            </a:r>
          </a:p>
          <a:p>
            <a:pPr lvl="0"/>
            <a:r>
              <a:rPr lang="en-US" dirty="0"/>
              <a:t>Whether APOE4 differs from APOE3</a:t>
            </a:r>
          </a:p>
          <a:p>
            <a:pPr lvl="0"/>
            <a:r>
              <a:rPr lang="en-US" dirty="0"/>
              <a:t>Whether APOE effects vary with age</a:t>
            </a:r>
          </a:p>
          <a:p>
            <a:endParaRPr lang="en-US" dirty="0"/>
          </a:p>
          <a:p>
            <a:r>
              <a:rPr lang="en-US" dirty="0"/>
              <a:t>It cannot answer:</a:t>
            </a:r>
          </a:p>
          <a:p>
            <a:pPr lvl="0"/>
            <a:r>
              <a:rPr lang="en-US" dirty="0"/>
              <a:t>Whether the signal changes because of AD pathology</a:t>
            </a:r>
          </a:p>
          <a:p>
            <a:pPr lvl="0"/>
            <a:r>
              <a:rPr lang="en-US" dirty="0"/>
              <a:t>Whether APOE modifies the disease response</a:t>
            </a:r>
          </a:p>
          <a:p>
            <a:pPr lvl="0"/>
            <a:r>
              <a:rPr lang="en-US" dirty="0"/>
              <a:t>Whether an APOE × sex × disease interaction replicates</a:t>
            </a:r>
          </a:p>
          <a:p>
            <a:pPr lvl="0"/>
            <a:r>
              <a:rPr lang="en-US" dirty="0"/>
              <a:t>Whether a human AD-versus-control result is reproduced</a:t>
            </a:r>
          </a:p>
          <a:p>
            <a:endParaRPr lang="en-US" dirty="0"/>
          </a:p>
          <a:p>
            <a:r>
              <a:rPr lang="en-US" dirty="0"/>
              <a:t>There are two additional limitations:</a:t>
            </a:r>
          </a:p>
          <a:p>
            <a:pPr lvl="0"/>
            <a:r>
              <a:rPr lang="en-US" dirty="0"/>
              <a:t>1. The tissue is cortex, but not explicitly PFC.</a:t>
            </a:r>
          </a:p>
          <a:p>
            <a:pPr lvl="0"/>
            <a:r>
              <a:rPr lang="en-US" dirty="0"/>
              <a:t>2. Both sexes were reportedly used, but reliable mouse-level sex labels are not clearly available publicly.</a:t>
            </a:r>
          </a:p>
          <a:p>
            <a:endParaRPr lang="en-US" dirty="0"/>
          </a:p>
          <a:p>
            <a:r>
              <a:rPr lang="en-US" dirty="0"/>
              <a:t>So the simplest interpretation is:</a:t>
            </a:r>
          </a:p>
          <a:p>
            <a:r>
              <a:rPr lang="en-US" b="1" dirty="0"/>
              <a:t>GSE185063 is a strong cortical APOE reference, but not an AD-disease validation dataset.</a:t>
            </a:r>
            <a:endParaRPr lang="en-US" dirty="0"/>
          </a:p>
          <a:p>
            <a:r>
              <a:rPr lang="en-US" dirty="0"/>
              <a:t>The lack of an AD model is a weakness for disease validation, although it can be useful for isolating APOE-related effects without AD pathology as a confounder.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What to point at:</a:t>
            </a:r>
          </a:p>
          <a:p>
            <a:r>
              <a:rPr dirty="0"/>
              <a:t>Start with the role and study snapshot, then scan the eight criterion states. The preferred mechanistic contrast is (E4-T − E4-C) − (E3-T − E3-C). The colored state is always paired with a factual line, so the judgment does not depend on color alone.</a:t>
            </a:r>
          </a:p>
          <a:p>
            <a:endParaRPr dirty="0"/>
          </a:p>
          <a:p>
            <a:r>
              <a:rPr dirty="0"/>
              <a:t>Main takeaway:</a:t>
            </a:r>
          </a:p>
          <a:p>
            <a:r>
              <a:rPr dirty="0"/>
              <a:t>Best use: Test sex-aware microglia/CAM apoE3-versus-apoE4 induction responses under amyloid. Main limitation: C versus T is non-induced versus induced—not control versus AD; only three mice per </a:t>
            </a:r>
            <a:r>
              <a:rPr dirty="0" err="1"/>
              <a:t>sex×line×induction</a:t>
            </a:r>
            <a:r>
              <a:rPr dirty="0"/>
              <a:t> group.</a:t>
            </a:r>
          </a:p>
          <a:p>
            <a:endParaRPr dirty="0"/>
          </a:p>
          <a:p>
            <a:r>
              <a:rPr dirty="0"/>
              <a:t>Boundary / transition:</a:t>
            </a:r>
          </a:p>
          <a:p>
            <a:r>
              <a:rPr dirty="0"/>
              <a:t>Call this a microglia/CAM-specific APOE induction response under amyloid. The biological unit must remain the mouse—or the pre-sequencing pool when mice were pooled—and raw matrices from separate studies should not be merged as one cohort. The next profile applies the same criteria to GSE163857.</a:t>
            </a:r>
            <a:endParaRPr lang="en-US" dirty="0"/>
          </a:p>
          <a:p>
            <a:endParaRPr lang="en-US" dirty="0"/>
          </a:p>
          <a:p>
            <a:endParaRPr lang="en-US" dirty="0"/>
          </a:p>
          <a:p>
            <a:r>
              <a:rPr lang="en-US" dirty="0"/>
              <a:t>The main issue with GSE241553 is different from GSE185063:</a:t>
            </a:r>
          </a:p>
          <a:p>
            <a:r>
              <a:rPr lang="en-US" b="1" dirty="0"/>
              <a:t>GSE241553 has an amyloid disease model, but it has no non-amyloid control group.</a:t>
            </a:r>
            <a:endParaRPr lang="en-US" dirty="0"/>
          </a:p>
          <a:p>
            <a:r>
              <a:rPr lang="en-US" dirty="0"/>
              <a:t>All mice are already on an amyloid-model background. The experiment compares conditional apoE3 or apoE4 induction—essentially APOE expression off versus on—not AD-model mice versus healthy controls.</a:t>
            </a:r>
          </a:p>
          <a:p>
            <a:r>
              <a:rPr lang="en-US" dirty="0"/>
              <a:t>It can test:</a:t>
            </a:r>
          </a:p>
          <a:p>
            <a:pPr lvl="0"/>
            <a:r>
              <a:rPr lang="en-US" dirty="0"/>
              <a:t>apoE3 versus apoE4 induction under amyloid pathology</a:t>
            </a:r>
          </a:p>
          <a:p>
            <a:pPr lvl="0"/>
            <a:r>
              <a:rPr lang="en-US" dirty="0"/>
              <a:t>Whether that response differs between females and males</a:t>
            </a:r>
          </a:p>
          <a:p>
            <a:pPr lvl="0"/>
            <a:r>
              <a:rPr lang="en-US" dirty="0"/>
              <a:t>Microglial/CAM-specific APOE mechanisms</a:t>
            </a:r>
          </a:p>
          <a:p>
            <a:pPr lvl="0"/>
            <a:endParaRPr lang="en-US" dirty="0"/>
          </a:p>
          <a:p>
            <a:r>
              <a:rPr lang="en-US" dirty="0"/>
              <a:t>It cannot test:</a:t>
            </a:r>
          </a:p>
          <a:p>
            <a:pPr lvl="0"/>
            <a:r>
              <a:rPr lang="en-US" dirty="0"/>
              <a:t>The effect of AD pathology itself</a:t>
            </a:r>
          </a:p>
          <a:p>
            <a:pPr lvl="0"/>
            <a:r>
              <a:rPr lang="en-US" dirty="0"/>
              <a:t>AD-model versus non-AD control</a:t>
            </a:r>
          </a:p>
          <a:p>
            <a:pPr lvl="0"/>
            <a:r>
              <a:rPr lang="en-US" dirty="0"/>
              <a:t>Whether APOE changes the response to developing AD pathology</a:t>
            </a:r>
          </a:p>
          <a:p>
            <a:pPr lvl="0"/>
            <a:r>
              <a:rPr lang="en-US" dirty="0"/>
              <a:t>A complete APOE × sex × disease interaction</a:t>
            </a:r>
          </a:p>
          <a:p>
            <a:r>
              <a:rPr lang="en-US" dirty="0"/>
              <a:t>A secondary limitation is that APOE is conditionally induced mainly in microglia/CAMs, rather than representing a normal whole-animal APOE3-versus-APOE4 genotype comparison.</a:t>
            </a:r>
          </a:p>
          <a:p>
            <a:endParaRPr lang="en-US" dirty="0"/>
          </a:p>
          <a:p>
            <a:r>
              <a:rPr lang="en-US" dirty="0"/>
              <a:t>In short:</a:t>
            </a:r>
          </a:p>
          <a:p>
            <a:r>
              <a:rPr lang="en-US" b="1" dirty="0"/>
              <a:t>GSE241553 is a strong sex-aware APOE mechanism study within amyloid disease, but not an AD-versus-control validation study.</a:t>
            </a:r>
            <a:endParaRPr lang="en-US" dirty="0"/>
          </a:p>
          <a:p>
            <a:br>
              <a:rPr lang="en-US" dirty="0"/>
            </a:b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The 30-mouse design contains all eight groups, but the male APOE3 control group has one mouse. The colored state is always paired with a factual line, so the judgment does not depend on color alone.</a:t>
            </a:r>
          </a:p>
          <a:p>
            <a:endParaRPr/>
          </a:p>
          <a:p>
            <a:r>
              <a:t>Main takeaway:</a:t>
            </a:r>
          </a:p>
          <a:p>
            <a:r>
              <a:t>Best use: Directly benchmark APOE-by-sex-by-5xFAD effects in microglia. Main limitation: Not regional or broad-cell; small, imbalanced controls make the three-way interaction underpowered.</a:t>
            </a:r>
          </a:p>
          <a:p>
            <a:endParaRPr/>
          </a:p>
          <a:p>
            <a:r>
              <a:t>Boundary / transition:</a:t>
            </a:r>
          </a:p>
          <a:p>
            <a:r>
              <a:t>Report factorial microglial support with effect estimates and uncertainty—not PFC replication. The biological unit must remain the mouse—or the pre-sequencing pool when mice were pooled—and raw matrices from separate studies should not be merged as one cohort. The next profile applies the same criteria to GSE140399.</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Pooling three mice improves the pool estimate but still produces one inferential profile. The colored state is always paired with a factual line, so the judgment does not depend on color alone.</a:t>
            </a:r>
          </a:p>
          <a:p>
            <a:endParaRPr/>
          </a:p>
          <a:p>
            <a:r>
              <a:t>Main takeaway:</a:t>
            </a:r>
          </a:p>
          <a:p>
            <a:r>
              <a:t>Best use: Check the direction of frozen human modules in homologous cortical cell types. Main limitation: One expression pool per condition means no mouse-level variance or ordinary inferential P values.</a:t>
            </a:r>
          </a:p>
          <a:p>
            <a:endParaRPr/>
          </a:p>
          <a:p>
            <a:r>
              <a:t>Boundary / transition:</a:t>
            </a:r>
          </a:p>
          <a:p>
            <a:r>
              <a:t>Use “descriptive cortical concordance”—never “replicated in three mice per group.” The biological unit must remain the mouse—or the pre-sequencing pool when mice were pooled—and raw matrices from separate studies should not be merged as one cohort. The next profile applies the same criteria to GSE140510.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This study trades stronger mouse-level replication for weaker regional matching. The colored state is always paired with a factual line, so the judgment does not depend on color alone.</a:t>
            </a:r>
          </a:p>
          <a:p>
            <a:endParaRPr/>
          </a:p>
          <a:p>
            <a:r>
              <a:t>Main takeaway:</a:t>
            </a:r>
          </a:p>
          <a:p>
            <a:r>
              <a:t>Best use: Provide replicated broad-cell AD-direction support across homologous cell types. Main limitation: Regional mismatch and no APOE or sex factor; keep separate from cortical GSE140399.</a:t>
            </a:r>
          </a:p>
          <a:p>
            <a:endParaRPr/>
          </a:p>
          <a:p>
            <a:r>
              <a:t>Boundary / transition:</a:t>
            </a:r>
          </a:p>
          <a:p>
            <a:r>
              <a:t>Use when inferential replication matters more than exact cortical localization. The biological unit must remain the mouse—or the pre-sequencing pool when mice were pooled—and raw matrices from separate studies should not be merged as one cohort. The next profile applies the same criteria to GSE143758.</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Eight GEO records are multiplexed experiment files, not eight independent mice. The colored state is always paired with a factual line, so the judgment does not depend on color alone.</a:t>
            </a:r>
          </a:p>
          <a:p>
            <a:endParaRPr/>
          </a:p>
          <a:p>
            <a:r>
              <a:t>Main takeaway:</a:t>
            </a:r>
          </a:p>
          <a:p>
            <a:r>
              <a:t>Best use: Study APOE2/3/4 immune aging, late microglial states, and chromatin under 5xFAD. Main limitation: No non-AD arm, usable sex factor, broad cell coverage, or direct PFC match.</a:t>
            </a:r>
          </a:p>
          <a:p>
            <a:endParaRPr/>
          </a:p>
          <a:p>
            <a:r>
              <a:t>Boundary / transition:</a:t>
            </a:r>
          </a:p>
          <a:p>
            <a:r>
              <a:t>Call this APOE2/3/4 immune-cell support under 5xFAD—not an APOE-by-sex AD-control test. The biological unit must remain the mouse—or the pre-sequencing pool when mice were pooled—and raw matrices from separate studies should not be merged as one cohort. The next profile applies the same criteria to GSE127892.</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The 32-condition design is rich, but each condition has one pooled expression profile. The colored state is always paired with a factual line, so the judgment does not depend on color alone.</a:t>
            </a:r>
          </a:p>
          <a:p>
            <a:endParaRPr/>
          </a:p>
          <a:p>
            <a:r>
              <a:t>Main takeaway:</a:t>
            </a:r>
          </a:p>
          <a:p>
            <a:r>
              <a:t>Best use: Describe sex-by-amyloid microglial state trajectories across age and region. Main limitation: Pooling removes mouse-level variance; human APOE isoforms and broad cells are absent.</a:t>
            </a:r>
          </a:p>
          <a:p>
            <a:endParaRPr/>
          </a:p>
          <a:p>
            <a:r>
              <a:t>Boundary / transition:</a:t>
            </a:r>
          </a:p>
          <a:p>
            <a:r>
              <a:t>Treat as condition-level descriptive support—not a replicated mouse-level interaction. The biological unit must remain the mouse—or the pre-sequencing pool when mice were pooled—and raw matrices from separate studies should not be merged as one cohort. The next profile applies the same criteria to GSE212606.</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The scale is a strength for cell breadth, but it does not repair the genetic or regional confounding. The colored state is always paired with a factual line, so the judgment does not depend on color alone.</a:t>
            </a:r>
          </a:p>
          <a:p>
            <a:endParaRPr/>
          </a:p>
          <a:p>
            <a:r>
              <a:t>Main takeaway:</a:t>
            </a:r>
          </a:p>
          <a:p>
            <a:r>
              <a:t>Best use: Assess broad sex/disease convergence, rare populations, and chromatin support. Main limitation: APOE4 cannot be separated from TREM2 R47H; not region matched or directly APOE3-versus-APOE4.</a:t>
            </a:r>
          </a:p>
          <a:p>
            <a:endParaRPr/>
          </a:p>
          <a:p>
            <a:r>
              <a:t>Boundary / transition:</a:t>
            </a:r>
          </a:p>
          <a:p>
            <a:r>
              <a:t>Use as broad whole-brain convergence and chromatin evidence—not direct PFC/APOE validation. The biological unit must remain the mouse—or the pre-sequencing pool when mice were pooled—and raw matrices from separate studies should not be merged as one cohort. The next profile applies the same criteria to GSE213446.</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Antibiotic versus water treatment adds another biological factor that must remain explicit. The colored state is always paired with a factual line, so the judgment does not depend on color alone.</a:t>
            </a:r>
          </a:p>
          <a:p>
            <a:endParaRPr/>
          </a:p>
          <a:p>
            <a:r>
              <a:t>Main takeaway:</a:t>
            </a:r>
          </a:p>
          <a:p>
            <a:r>
              <a:t>Best use: Provide pathway-level, cross-region and cross-pathology APOE-by-tau support. Main limitation: Hippocampal tau model; sex mapping and independent mouse replication are unresolved.</a:t>
            </a:r>
          </a:p>
          <a:p>
            <a:endParaRPr/>
          </a:p>
          <a:p>
            <a:r>
              <a:t>Boundary / transition:</a:t>
            </a:r>
          </a:p>
          <a:p>
            <a:r>
              <a:t>Keep conclusions descriptive until animal-level metadata are recovered. The biological unit must remain the mouse—or the pre-sequencing pool when mice were pooled—and raw matrices from separate studies should not be merged as one cohort. The next profile applies the same criteria to GSE212317 / GSE213391.</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Middle-age groups are 5xFAD whereas young and aged groups represent different pathology contexts. The colored state is always paired with a factual line, so the judgment does not depend on color alone.</a:t>
            </a:r>
          </a:p>
          <a:p>
            <a:endParaRPr/>
          </a:p>
          <a:p>
            <a:r>
              <a:t>Main takeaway:</a:t>
            </a:r>
          </a:p>
          <a:p>
            <a:r>
              <a:t>Best use: Explore female APOE immunometabolism, glycolysis, TCA, and lipid handling. Main limitation: One pooled library/group, female-only design, and age/disease confounding prevent interaction claims.</a:t>
            </a:r>
          </a:p>
          <a:p>
            <a:endParaRPr/>
          </a:p>
          <a:p>
            <a:r>
              <a:t>Boundary / transition:</a:t>
            </a:r>
          </a:p>
          <a:p>
            <a:r>
              <a:t>Use for descriptive female APOE immunometabolism—not sex or clean APOE-by-disease replication. The biological unit must remain the mouse—or the pre-sequencing pool when mice were pooled—and raw matrices from separate studies should not be merged as one cohort. The next profile applies the same criteria to GSE127884.</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to point at:</a:t>
            </a:r>
          </a:p>
          <a:p>
            <a:r>
              <a:t>Start with the role and study snapshot, then scan the eight criterion states. The 3,072 GEO records must never be used as the biological sample count. The colored state is always paired with a factual line, so the judgment does not depend on color alone.</a:t>
            </a:r>
          </a:p>
          <a:p>
            <a:endParaRPr/>
          </a:p>
          <a:p>
            <a:r>
              <a:t>Main takeaway:</a:t>
            </a:r>
          </a:p>
          <a:p>
            <a:r>
              <a:t>Best use: Test whether endogenous mouse Apoe is required for amyloid-associated microglial states. Main limitation: Male-only, microglia-only design with no human isoform comparison and unclear mouse replication.</a:t>
            </a:r>
          </a:p>
          <a:p>
            <a:endParaRPr/>
          </a:p>
          <a:p>
            <a:r>
              <a:t>Boundary / transition:</a:t>
            </a:r>
          </a:p>
          <a:p>
            <a:r>
              <a:t>Use as mechanistic Apoe-dependence support—not human APOE or sex validation. The biological unit must remain the mouse—or the pre-sequencing pool when mice were pooled—and raw matrices from separate studies should not be merged as one cohort. This is the final dataset profile; compare roles across slides rather than treating these studies as one merged cohort.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three datasets act as complementary tests of the same frozen human PFC finding. They should not be merged into one dataset.</a:t>
            </a:r>
          </a:p>
          <a:p>
            <a:endParaRPr lang="en-US" dirty="0"/>
          </a:p>
          <a:p>
            <a:r>
              <a:rPr lang="en-US" dirty="0"/>
              <a:t>Dataset</a:t>
            </a:r>
          </a:p>
          <a:p>
            <a:r>
              <a:rPr lang="en-US" dirty="0"/>
              <a:t>Role</a:t>
            </a:r>
          </a:p>
          <a:p>
            <a:r>
              <a:rPr lang="en-US" dirty="0"/>
              <a:t>Main question</a:t>
            </a:r>
          </a:p>
          <a:p>
            <a:r>
              <a:rPr lang="en-US" dirty="0"/>
              <a:t>GSE185063</a:t>
            </a:r>
            <a:r>
              <a:rPr lang="en-US" b="1" dirty="0"/>
              <a:t>Where?</a:t>
            </a:r>
            <a:r>
              <a:rPr lang="en-US" dirty="0"/>
              <a:t>Does the APOE-associated signal appear in the corresponding cortical cell type?</a:t>
            </a:r>
          </a:p>
          <a:p>
            <a:r>
              <a:rPr lang="en-US" dirty="0"/>
              <a:t>GSE241553</a:t>
            </a:r>
            <a:r>
              <a:rPr lang="en-US" b="1" dirty="0"/>
              <a:t>Mechanism and </a:t>
            </a:r>
            <a:r>
              <a:rPr lang="en-US" b="1" dirty="0" err="1"/>
              <a:t>sex</a:t>
            </a:r>
            <a:r>
              <a:rPr lang="en-US" dirty="0" err="1"/>
              <a:t>Under</a:t>
            </a:r>
            <a:r>
              <a:rPr lang="en-US" dirty="0"/>
              <a:t> amyloid pathology, does apoE4 induction affect microglia differently from apoE3, and does this differ by sex?</a:t>
            </a:r>
          </a:p>
          <a:p>
            <a:r>
              <a:rPr lang="en-US" dirty="0"/>
              <a:t>GSE163857</a:t>
            </a:r>
            <a:r>
              <a:rPr lang="en-US" b="1" dirty="0"/>
              <a:t>Disease </a:t>
            </a:r>
            <a:r>
              <a:rPr lang="en-US" b="1" dirty="0" err="1"/>
              <a:t>interaction</a:t>
            </a:r>
            <a:r>
              <a:rPr lang="en-US" dirty="0" err="1"/>
              <a:t>Does</a:t>
            </a:r>
            <a:r>
              <a:rPr lang="en-US" dirty="0"/>
              <a:t> the APOE effect change between 5xFAD and control mice, separately in females and males?</a:t>
            </a:r>
          </a:p>
          <a:p>
            <a:endParaRPr lang="en-US" dirty="0"/>
          </a:p>
          <a:p>
            <a:r>
              <a:rPr lang="en-US" dirty="0"/>
              <a:t>For example, suppose the human result is:</a:t>
            </a:r>
          </a:p>
          <a:p>
            <a:r>
              <a:rPr lang="en-US" dirty="0"/>
              <a:t>Female APOE4 AD microglia have reduced oxidative-phosphorylation activity.</a:t>
            </a:r>
          </a:p>
          <a:p>
            <a:r>
              <a:rPr lang="en-US" dirty="0"/>
              <a:t>Then:</a:t>
            </a:r>
          </a:p>
          <a:p>
            <a:pPr lvl="0"/>
            <a:r>
              <a:rPr lang="en-US" b="1" dirty="0"/>
              <a:t>GSE185063</a:t>
            </a:r>
            <a:r>
              <a:rPr lang="en-US" dirty="0"/>
              <a:t> tests whether the same module differs between APOE4 and APOE3 in cortical microglia.</a:t>
            </a:r>
          </a:p>
          <a:p>
            <a:pPr lvl="0"/>
            <a:r>
              <a:rPr lang="en-US" b="1" dirty="0"/>
              <a:t>GSE241553</a:t>
            </a:r>
            <a:r>
              <a:rPr lang="en-US" dirty="0"/>
              <a:t> tests whether apoE4 induction produces the predicted response under amyloid pathology, especially in females.</a:t>
            </a:r>
          </a:p>
          <a:p>
            <a:pPr lvl="0"/>
            <a:r>
              <a:rPr lang="en-US" b="1" dirty="0"/>
              <a:t>GSE163857</a:t>
            </a:r>
            <a:r>
              <a:rPr lang="en-US" dirty="0"/>
              <a:t> tests whether the 5xFAD-versus-control effect depends on APOE and sex.</a:t>
            </a:r>
          </a:p>
          <a:p>
            <a:r>
              <a:rPr lang="en-US" dirty="0"/>
              <a:t>Each dataset is analyzed separately at the mouse level. We then compare:</a:t>
            </a:r>
          </a:p>
          <a:p>
            <a:pPr lvl="0"/>
            <a:endParaRPr lang="en-US" dirty="0"/>
          </a:p>
          <a:p>
            <a:pPr lvl="0"/>
            <a:r>
              <a:rPr lang="en-US" dirty="0"/>
              <a:t>Direction of change</a:t>
            </a:r>
          </a:p>
          <a:p>
            <a:pPr lvl="0"/>
            <a:r>
              <a:rPr lang="en-US" dirty="0"/>
              <a:t>Mouse ortholog effect sizes</a:t>
            </a:r>
          </a:p>
          <a:p>
            <a:pPr lvl="0"/>
            <a:r>
              <a:rPr lang="en-US" dirty="0"/>
              <a:t>Ranked-gene enrichment</a:t>
            </a:r>
          </a:p>
          <a:p>
            <a:pPr lvl="0"/>
            <a:r>
              <a:rPr lang="en-US" dirty="0"/>
              <a:t>Mitochondrial module or pathway enrichment</a:t>
            </a:r>
          </a:p>
          <a:p>
            <a:pPr lvl="0"/>
            <a:r>
              <a:rPr lang="en-US" dirty="0"/>
              <a:t>Cell-type consistency</a:t>
            </a:r>
          </a:p>
          <a:p>
            <a:r>
              <a:rPr lang="en-US" dirty="0"/>
              <a:t>If the three independent analyses point in the same direction, the result has </a:t>
            </a:r>
            <a:r>
              <a:rPr lang="en-US" b="1" dirty="0"/>
              <a:t>convergent or triangulated support</a:t>
            </a:r>
            <a:r>
              <a:rPr lang="en-US" dirty="0"/>
              <a:t>. It does not mean that they collectively become one perfectly matched PFC cohort.</a:t>
            </a:r>
          </a:p>
          <a:p>
            <a:r>
              <a:rPr lang="en-US" dirty="0"/>
              <a:t>In simple terms:</a:t>
            </a:r>
          </a:p>
          <a:p>
            <a:r>
              <a:rPr lang="en-US" dirty="0"/>
              <a:t>GSE185063 provides the cortical location, GSE241553 provides the sex-aware amyloid mechanism, and GSE163857 provides the APOE-by-sex-by-disease test.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MOUSE DATASET COMPARISON</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00" b="1" i="0">
                <a:solidFill>
                  <a:srgbClr val="0F233D"/>
                </a:solidFill>
                <a:latin typeface="Arial"/>
              </a:rPr>
              <a:t>Evaluation criteria used in this report: biological fit</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01</a:t>
            </a:r>
          </a:p>
        </p:txBody>
      </p:sp>
      <p:sp>
        <p:nvSpPr>
          <p:cNvPr id="5" name="Rounded Rectangle 4"/>
          <p:cNvSpPr/>
          <p:nvPr/>
        </p:nvSpPr>
        <p:spPr>
          <a:xfrm>
            <a:off x="594360" y="1234440"/>
            <a:ext cx="5440680" cy="1755648"/>
          </a:xfrm>
          <a:prstGeom prst="roundRect">
            <a:avLst/>
          </a:prstGeom>
          <a:solidFill>
            <a:srgbClr val="FFFFFF"/>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234440"/>
            <a:ext cx="5440680" cy="10058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444752"/>
            <a:ext cx="50749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Region</a:t>
            </a:r>
          </a:p>
        </p:txBody>
      </p:sp>
      <p:sp>
        <p:nvSpPr>
          <p:cNvPr id="8" name="TextBox 7"/>
          <p:cNvSpPr txBox="1"/>
          <p:nvPr/>
        </p:nvSpPr>
        <p:spPr>
          <a:xfrm>
            <a:off x="777240" y="189280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9" name="TextBox 8"/>
          <p:cNvSpPr txBox="1"/>
          <p:nvPr/>
        </p:nvSpPr>
        <p:spPr>
          <a:xfrm>
            <a:off x="1783080" y="1874520"/>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Explicit frontal/PFC tissue.</a:t>
            </a:r>
          </a:p>
        </p:txBody>
      </p:sp>
      <p:sp>
        <p:nvSpPr>
          <p:cNvPr id="10" name="TextBox 9"/>
          <p:cNvSpPr txBox="1"/>
          <p:nvPr/>
        </p:nvSpPr>
        <p:spPr>
          <a:xfrm>
            <a:off x="777240" y="224942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11" name="TextBox 10"/>
          <p:cNvSpPr txBox="1"/>
          <p:nvPr/>
        </p:nvSpPr>
        <p:spPr>
          <a:xfrm>
            <a:off x="1783080" y="2231136"/>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Cortex, or mixed cortex + hippocampus.</a:t>
            </a:r>
          </a:p>
        </p:txBody>
      </p:sp>
      <p:sp>
        <p:nvSpPr>
          <p:cNvPr id="12" name="TextBox 11"/>
          <p:cNvSpPr txBox="1"/>
          <p:nvPr/>
        </p:nvSpPr>
        <p:spPr>
          <a:xfrm>
            <a:off x="777240" y="260604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13" name="TextBox 12"/>
          <p:cNvSpPr txBox="1"/>
          <p:nvPr/>
        </p:nvSpPr>
        <p:spPr>
          <a:xfrm>
            <a:off x="1783080" y="2587752"/>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Hippocampus, whole brain, or unclear anatomy.</a:t>
            </a:r>
          </a:p>
        </p:txBody>
      </p:sp>
      <p:sp>
        <p:nvSpPr>
          <p:cNvPr id="14" name="Rounded Rectangle 13"/>
          <p:cNvSpPr/>
          <p:nvPr/>
        </p:nvSpPr>
        <p:spPr>
          <a:xfrm>
            <a:off x="6172200" y="1234440"/>
            <a:ext cx="5440680" cy="1755648"/>
          </a:xfrm>
          <a:prstGeom prst="roundRect">
            <a:avLst/>
          </a:prstGeom>
          <a:solidFill>
            <a:srgbClr val="FFFFFF"/>
          </a:solidFill>
          <a:ln w="1905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72200" y="1234440"/>
            <a:ext cx="5440680" cy="10058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55080" y="1444752"/>
            <a:ext cx="50749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APOE</a:t>
            </a:r>
          </a:p>
        </p:txBody>
      </p:sp>
      <p:sp>
        <p:nvSpPr>
          <p:cNvPr id="17" name="TextBox 16"/>
          <p:cNvSpPr txBox="1"/>
          <p:nvPr/>
        </p:nvSpPr>
        <p:spPr>
          <a:xfrm>
            <a:off x="6355080" y="189280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18" name="TextBox 17"/>
          <p:cNvSpPr txBox="1"/>
          <p:nvPr/>
        </p:nvSpPr>
        <p:spPr>
          <a:xfrm>
            <a:off x="7360920" y="1874520"/>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Human APOE3 versus APOE4 in the intended context.</a:t>
            </a:r>
          </a:p>
        </p:txBody>
      </p:sp>
      <p:sp>
        <p:nvSpPr>
          <p:cNvPr id="19" name="TextBox 18"/>
          <p:cNvSpPr txBox="1"/>
          <p:nvPr/>
        </p:nvSpPr>
        <p:spPr>
          <a:xfrm>
            <a:off x="6355080" y="224942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20" name="TextBox 19"/>
          <p:cNvSpPr txBox="1"/>
          <p:nvPr/>
        </p:nvSpPr>
        <p:spPr>
          <a:xfrm>
            <a:off x="7360920" y="2231136"/>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Conditional APOE, APOE4+other risk, or mouse Apoe.</a:t>
            </a:r>
          </a:p>
        </p:txBody>
      </p:sp>
      <p:sp>
        <p:nvSpPr>
          <p:cNvPr id="21" name="TextBox 20"/>
          <p:cNvSpPr txBox="1"/>
          <p:nvPr/>
        </p:nvSpPr>
        <p:spPr>
          <a:xfrm>
            <a:off x="6355080" y="260604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22" name="TextBox 21"/>
          <p:cNvSpPr txBox="1"/>
          <p:nvPr/>
        </p:nvSpPr>
        <p:spPr>
          <a:xfrm>
            <a:off x="7360920" y="2587752"/>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No APOE factor.</a:t>
            </a:r>
          </a:p>
        </p:txBody>
      </p:sp>
      <p:sp>
        <p:nvSpPr>
          <p:cNvPr id="23" name="Rounded Rectangle 22"/>
          <p:cNvSpPr/>
          <p:nvPr/>
        </p:nvSpPr>
        <p:spPr>
          <a:xfrm>
            <a:off x="594360" y="3200400"/>
            <a:ext cx="5440680" cy="1755648"/>
          </a:xfrm>
          <a:prstGeom prst="roundRect">
            <a:avLst/>
          </a:prstGeom>
          <a:solidFill>
            <a:srgbClr val="FFFFFF"/>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94360" y="3200400"/>
            <a:ext cx="5440680" cy="10058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77240" y="3410712"/>
            <a:ext cx="50749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Sex</a:t>
            </a:r>
          </a:p>
        </p:txBody>
      </p:sp>
      <p:sp>
        <p:nvSpPr>
          <p:cNvPr id="26" name="TextBox 25"/>
          <p:cNvSpPr txBox="1"/>
          <p:nvPr/>
        </p:nvSpPr>
        <p:spPr>
          <a:xfrm>
            <a:off x="777240" y="385876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27" name="TextBox 26"/>
          <p:cNvSpPr txBox="1"/>
          <p:nvPr/>
        </p:nvSpPr>
        <p:spPr>
          <a:xfrm>
            <a:off x="1783080" y="3840480"/>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Female/male labels for each mouse with replication.</a:t>
            </a:r>
          </a:p>
        </p:txBody>
      </p:sp>
      <p:sp>
        <p:nvSpPr>
          <p:cNvPr id="28" name="TextBox 27"/>
          <p:cNvSpPr txBox="1"/>
          <p:nvPr/>
        </p:nvSpPr>
        <p:spPr>
          <a:xfrm>
            <a:off x="777240" y="4215383"/>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29" name="TextBox 28"/>
          <p:cNvSpPr txBox="1"/>
          <p:nvPr/>
        </p:nvSpPr>
        <p:spPr>
          <a:xfrm>
            <a:off x="1783080" y="4197096"/>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Both sexes mentioned but mapping is missing or pooled.</a:t>
            </a:r>
          </a:p>
        </p:txBody>
      </p:sp>
      <p:sp>
        <p:nvSpPr>
          <p:cNvPr id="30" name="TextBox 29"/>
          <p:cNvSpPr txBox="1"/>
          <p:nvPr/>
        </p:nvSpPr>
        <p:spPr>
          <a:xfrm>
            <a:off x="777240" y="457200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31" name="TextBox 30"/>
          <p:cNvSpPr txBox="1"/>
          <p:nvPr/>
        </p:nvSpPr>
        <p:spPr>
          <a:xfrm>
            <a:off x="1783080" y="4553712"/>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One sex or unusable sex metadata.</a:t>
            </a:r>
          </a:p>
        </p:txBody>
      </p:sp>
      <p:sp>
        <p:nvSpPr>
          <p:cNvPr id="32" name="Rounded Rectangle 31"/>
          <p:cNvSpPr/>
          <p:nvPr/>
        </p:nvSpPr>
        <p:spPr>
          <a:xfrm>
            <a:off x="6172200" y="3200400"/>
            <a:ext cx="5440680" cy="1755648"/>
          </a:xfrm>
          <a:prstGeom prst="roundRect">
            <a:avLst/>
          </a:prstGeom>
          <a:solidFill>
            <a:srgbClr val="FFFFFF"/>
          </a:solidFill>
          <a:ln w="1905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72200" y="3200400"/>
            <a:ext cx="5440680" cy="10058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55080" y="3410712"/>
            <a:ext cx="507492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Disease</a:t>
            </a:r>
          </a:p>
        </p:txBody>
      </p:sp>
      <p:sp>
        <p:nvSpPr>
          <p:cNvPr id="35" name="TextBox 34"/>
          <p:cNvSpPr txBox="1"/>
          <p:nvPr/>
        </p:nvSpPr>
        <p:spPr>
          <a:xfrm>
            <a:off x="6355080" y="385876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36" name="TextBox 35"/>
          <p:cNvSpPr txBox="1"/>
          <p:nvPr/>
        </p:nvSpPr>
        <p:spPr>
          <a:xfrm>
            <a:off x="7360920" y="3840480"/>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AD model and matched non-AD animals in one study.</a:t>
            </a:r>
          </a:p>
        </p:txBody>
      </p:sp>
      <p:sp>
        <p:nvSpPr>
          <p:cNvPr id="37" name="TextBox 36"/>
          <p:cNvSpPr txBox="1"/>
          <p:nvPr/>
        </p:nvSpPr>
        <p:spPr>
          <a:xfrm>
            <a:off x="6355080" y="4215383"/>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38" name="TextBox 37"/>
          <p:cNvSpPr txBox="1"/>
          <p:nvPr/>
        </p:nvSpPr>
        <p:spPr>
          <a:xfrm>
            <a:off x="7360920" y="4197096"/>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All animals diseased, or pathology differs from target.</a:t>
            </a:r>
          </a:p>
        </p:txBody>
      </p:sp>
      <p:sp>
        <p:nvSpPr>
          <p:cNvPr id="39" name="TextBox 38"/>
          <p:cNvSpPr txBox="1"/>
          <p:nvPr/>
        </p:nvSpPr>
        <p:spPr>
          <a:xfrm>
            <a:off x="6355080" y="457200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40" name="TextBox 39"/>
          <p:cNvSpPr txBox="1"/>
          <p:nvPr/>
        </p:nvSpPr>
        <p:spPr>
          <a:xfrm>
            <a:off x="7360920" y="4553712"/>
            <a:ext cx="406908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No disease contrast.</a:t>
            </a:r>
          </a:p>
        </p:txBody>
      </p:sp>
      <p:sp>
        <p:nvSpPr>
          <p:cNvPr id="41" name="takeaway_ribbon"/>
          <p:cNvSpPr/>
          <p:nvPr/>
        </p:nvSpPr>
        <p:spPr>
          <a:xfrm>
            <a:off x="502920" y="53583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502920" y="5358384"/>
            <a:ext cx="91440" cy="5120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49808" y="54315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No exact dataset was identified in the openly auditable set; complementary datasets answer different parts of the question.</a:t>
            </a:r>
          </a:p>
        </p:txBody>
      </p:sp>
      <p:sp>
        <p:nvSpPr>
          <p:cNvPr id="44"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docs/validation_mouse/mouse_dataset_comparison.md, §§2–3 (report dated Aug 23,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9E73"/>
                </a:solidFill>
                <a:latin typeface="Arial"/>
              </a:rPr>
              <a:t>MOUSE DATASET COMPARISON</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400" b="1" i="0">
                <a:solidFill>
                  <a:srgbClr val="0F233D"/>
                </a:solidFill>
                <a:latin typeface="Arial"/>
              </a:rPr>
              <a:t>Evaluation criteria used in this report: evidence quality</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02</a:t>
            </a:r>
          </a:p>
        </p:txBody>
      </p:sp>
      <p:sp>
        <p:nvSpPr>
          <p:cNvPr id="5" name="Rounded Rectangle 4"/>
          <p:cNvSpPr/>
          <p:nvPr/>
        </p:nvSpPr>
        <p:spPr>
          <a:xfrm>
            <a:off x="502920" y="1188720"/>
            <a:ext cx="2743200" cy="1847088"/>
          </a:xfrm>
          <a:prstGeom prst="roundRect">
            <a:avLst/>
          </a:prstGeom>
          <a:solidFill>
            <a:srgbClr val="FFFFFF"/>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188720"/>
            <a:ext cx="2743200" cy="10058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23774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Data type</a:t>
            </a:r>
          </a:p>
        </p:txBody>
      </p:sp>
      <p:sp>
        <p:nvSpPr>
          <p:cNvPr id="8" name="TextBox 7"/>
          <p:cNvSpPr txBox="1"/>
          <p:nvPr/>
        </p:nvSpPr>
        <p:spPr>
          <a:xfrm>
            <a:off x="685800" y="184708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9" name="TextBox 8"/>
          <p:cNvSpPr txBox="1"/>
          <p:nvPr/>
        </p:nvSpPr>
        <p:spPr>
          <a:xfrm>
            <a:off x="1691640" y="1828800"/>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sc/snRNA with mouse identity</a:t>
            </a:r>
          </a:p>
        </p:txBody>
      </p:sp>
      <p:sp>
        <p:nvSpPr>
          <p:cNvPr id="10" name="TextBox 9"/>
          <p:cNvSpPr txBox="1"/>
          <p:nvPr/>
        </p:nvSpPr>
        <p:spPr>
          <a:xfrm>
            <a:off x="685800" y="220370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11" name="TextBox 10"/>
          <p:cNvSpPr txBox="1"/>
          <p:nvPr/>
        </p:nvSpPr>
        <p:spPr>
          <a:xfrm>
            <a:off x="1691640" y="2185416"/>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bulk-sorted or pooled single-cell</a:t>
            </a:r>
          </a:p>
        </p:txBody>
      </p:sp>
      <p:sp>
        <p:nvSpPr>
          <p:cNvPr id="12" name="TextBox 11"/>
          <p:cNvSpPr txBox="1"/>
          <p:nvPr/>
        </p:nvSpPr>
        <p:spPr>
          <a:xfrm>
            <a:off x="685800" y="256032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13" name="TextBox 12"/>
          <p:cNvSpPr txBox="1"/>
          <p:nvPr/>
        </p:nvSpPr>
        <p:spPr>
          <a:xfrm>
            <a:off x="1691640" y="2542032"/>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no usable expression</a:t>
            </a:r>
          </a:p>
        </p:txBody>
      </p:sp>
      <p:sp>
        <p:nvSpPr>
          <p:cNvPr id="14" name="Rounded Rectangle 13"/>
          <p:cNvSpPr/>
          <p:nvPr/>
        </p:nvSpPr>
        <p:spPr>
          <a:xfrm>
            <a:off x="3410712" y="1188720"/>
            <a:ext cx="2743200" cy="1847088"/>
          </a:xfrm>
          <a:prstGeom prst="roundRect">
            <a:avLst/>
          </a:prstGeom>
          <a:solidFill>
            <a:srgbClr val="FFFFFF"/>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10712" y="1188720"/>
            <a:ext cx="2743200" cy="10058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93592" y="1399032"/>
            <a:ext cx="23774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Replication</a:t>
            </a:r>
          </a:p>
        </p:txBody>
      </p:sp>
      <p:sp>
        <p:nvSpPr>
          <p:cNvPr id="17" name="TextBox 16"/>
          <p:cNvSpPr txBox="1"/>
          <p:nvPr/>
        </p:nvSpPr>
        <p:spPr>
          <a:xfrm>
            <a:off x="3593592" y="184708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18" name="TextBox 17"/>
          <p:cNvSpPr txBox="1"/>
          <p:nvPr/>
        </p:nvSpPr>
        <p:spPr>
          <a:xfrm>
            <a:off x="4599432" y="1828800"/>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independent mice per group</a:t>
            </a:r>
          </a:p>
        </p:txBody>
      </p:sp>
      <p:sp>
        <p:nvSpPr>
          <p:cNvPr id="19" name="TextBox 18"/>
          <p:cNvSpPr txBox="1"/>
          <p:nvPr/>
        </p:nvSpPr>
        <p:spPr>
          <a:xfrm>
            <a:off x="3593592" y="220370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20" name="TextBox 19"/>
          <p:cNvSpPr txBox="1"/>
          <p:nvPr/>
        </p:nvSpPr>
        <p:spPr>
          <a:xfrm>
            <a:off x="4599432" y="2185416"/>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pooling or very small groups</a:t>
            </a:r>
          </a:p>
        </p:txBody>
      </p:sp>
      <p:sp>
        <p:nvSpPr>
          <p:cNvPr id="21" name="TextBox 20"/>
          <p:cNvSpPr txBox="1"/>
          <p:nvPr/>
        </p:nvSpPr>
        <p:spPr>
          <a:xfrm>
            <a:off x="3593592" y="256032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22" name="TextBox 21"/>
          <p:cNvSpPr txBox="1"/>
          <p:nvPr/>
        </p:nvSpPr>
        <p:spPr>
          <a:xfrm>
            <a:off x="4599432" y="2542032"/>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cells/wells only; no animal n</a:t>
            </a:r>
          </a:p>
        </p:txBody>
      </p:sp>
      <p:sp>
        <p:nvSpPr>
          <p:cNvPr id="23" name="Rounded Rectangle 22"/>
          <p:cNvSpPr/>
          <p:nvPr/>
        </p:nvSpPr>
        <p:spPr>
          <a:xfrm>
            <a:off x="6318504" y="1188720"/>
            <a:ext cx="2743200" cy="1847088"/>
          </a:xfrm>
          <a:prstGeom prst="roundRect">
            <a:avLst/>
          </a:prstGeom>
          <a:solidFill>
            <a:srgbClr val="FFFFFF"/>
          </a:solidFill>
          <a:ln w="1905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318504" y="1188720"/>
            <a:ext cx="2743200" cy="10058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01384" y="1399032"/>
            <a:ext cx="23774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Cell breadth</a:t>
            </a:r>
          </a:p>
        </p:txBody>
      </p:sp>
      <p:sp>
        <p:nvSpPr>
          <p:cNvPr id="26" name="TextBox 25"/>
          <p:cNvSpPr txBox="1"/>
          <p:nvPr/>
        </p:nvSpPr>
        <p:spPr>
          <a:xfrm>
            <a:off x="6501384" y="184708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27" name="TextBox 26"/>
          <p:cNvSpPr txBox="1"/>
          <p:nvPr/>
        </p:nvSpPr>
        <p:spPr>
          <a:xfrm>
            <a:off x="7507224" y="1828800"/>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neurons + glia + vascular</a:t>
            </a:r>
          </a:p>
        </p:txBody>
      </p:sp>
      <p:sp>
        <p:nvSpPr>
          <p:cNvPr id="28" name="TextBox 27"/>
          <p:cNvSpPr txBox="1"/>
          <p:nvPr/>
        </p:nvSpPr>
        <p:spPr>
          <a:xfrm>
            <a:off x="6501384" y="220370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29" name="TextBox 28"/>
          <p:cNvSpPr txBox="1"/>
          <p:nvPr/>
        </p:nvSpPr>
        <p:spPr>
          <a:xfrm>
            <a:off x="7507224" y="2185416"/>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immune/glia enriched</a:t>
            </a:r>
          </a:p>
        </p:txBody>
      </p:sp>
      <p:sp>
        <p:nvSpPr>
          <p:cNvPr id="30" name="TextBox 29"/>
          <p:cNvSpPr txBox="1"/>
          <p:nvPr/>
        </p:nvSpPr>
        <p:spPr>
          <a:xfrm>
            <a:off x="6501384" y="256032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31" name="TextBox 30"/>
          <p:cNvSpPr txBox="1"/>
          <p:nvPr/>
        </p:nvSpPr>
        <p:spPr>
          <a:xfrm>
            <a:off x="7507224" y="2542032"/>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one sorted cell type</a:t>
            </a:r>
          </a:p>
        </p:txBody>
      </p:sp>
      <p:sp>
        <p:nvSpPr>
          <p:cNvPr id="32" name="Rounded Rectangle 31"/>
          <p:cNvSpPr/>
          <p:nvPr/>
        </p:nvSpPr>
        <p:spPr>
          <a:xfrm>
            <a:off x="9226296" y="1188720"/>
            <a:ext cx="2743200" cy="1847088"/>
          </a:xfrm>
          <a:prstGeom prst="roundRect">
            <a:avLst/>
          </a:prstGeom>
          <a:solidFill>
            <a:srgbClr val="FFFFFF"/>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9226296" y="1188720"/>
            <a:ext cx="2743200" cy="10058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9409176" y="1399032"/>
            <a:ext cx="237744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1" i="0">
                <a:solidFill>
                  <a:srgbClr val="0F233D"/>
                </a:solidFill>
                <a:latin typeface="Arial"/>
              </a:rPr>
              <a:t>Public usability</a:t>
            </a:r>
          </a:p>
        </p:txBody>
      </p:sp>
      <p:sp>
        <p:nvSpPr>
          <p:cNvPr id="35" name="TextBox 34"/>
          <p:cNvSpPr txBox="1"/>
          <p:nvPr/>
        </p:nvSpPr>
        <p:spPr>
          <a:xfrm>
            <a:off x="9409176" y="1847088"/>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STRONG</a:t>
            </a:r>
          </a:p>
        </p:txBody>
      </p:sp>
      <p:sp>
        <p:nvSpPr>
          <p:cNvPr id="36" name="TextBox 35"/>
          <p:cNvSpPr txBox="1"/>
          <p:nvPr/>
        </p:nvSpPr>
        <p:spPr>
          <a:xfrm>
            <a:off x="10415016" y="1828800"/>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counts + animal metadata</a:t>
            </a:r>
          </a:p>
        </p:txBody>
      </p:sp>
      <p:sp>
        <p:nvSpPr>
          <p:cNvPr id="37" name="TextBox 36"/>
          <p:cNvSpPr txBox="1"/>
          <p:nvPr/>
        </p:nvSpPr>
        <p:spPr>
          <a:xfrm>
            <a:off x="9409176" y="2203704"/>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PARTIAL</a:t>
            </a:r>
          </a:p>
        </p:txBody>
      </p:sp>
      <p:sp>
        <p:nvSpPr>
          <p:cNvPr id="38" name="TextBox 37"/>
          <p:cNvSpPr txBox="1"/>
          <p:nvPr/>
        </p:nvSpPr>
        <p:spPr>
          <a:xfrm>
            <a:off x="10415016" y="2185416"/>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metadata reconstruction needed</a:t>
            </a:r>
          </a:p>
        </p:txBody>
      </p:sp>
      <p:sp>
        <p:nvSpPr>
          <p:cNvPr id="39" name="TextBox 38"/>
          <p:cNvSpPr txBox="1"/>
          <p:nvPr/>
        </p:nvSpPr>
        <p:spPr>
          <a:xfrm>
            <a:off x="9409176" y="2560320"/>
            <a:ext cx="93268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0" b="1" i="0">
                <a:solidFill>
                  <a:srgbClr val="232A33"/>
                </a:solidFill>
                <a:latin typeface="Arial"/>
              </a:rPr>
              <a:t>NOT MATCHED</a:t>
            </a:r>
          </a:p>
        </p:txBody>
      </p:sp>
      <p:sp>
        <p:nvSpPr>
          <p:cNvPr id="40" name="TextBox 39"/>
          <p:cNvSpPr txBox="1"/>
          <p:nvPr/>
        </p:nvSpPr>
        <p:spPr>
          <a:xfrm>
            <a:off x="10415016" y="2542032"/>
            <a:ext cx="1371600" cy="2651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0" i="0">
                <a:solidFill>
                  <a:srgbClr val="232A33"/>
                </a:solidFill>
                <a:latin typeface="Arial"/>
              </a:rPr>
              <a:t>key identities unavailable</a:t>
            </a:r>
          </a:p>
        </p:txBody>
      </p:sp>
      <p:sp>
        <p:nvSpPr>
          <p:cNvPr id="41" name="Rounded Rectangle 40"/>
          <p:cNvSpPr/>
          <p:nvPr/>
        </p:nvSpPr>
        <p:spPr>
          <a:xfrm>
            <a:off x="594360" y="3364992"/>
            <a:ext cx="5413248" cy="1508760"/>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7240" y="3502152"/>
            <a:ext cx="504748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72B2"/>
                </a:solidFill>
                <a:latin typeface="Arial"/>
              </a:rPr>
              <a:t>BIOLOGICAL REPLICATE</a:t>
            </a:r>
          </a:p>
        </p:txBody>
      </p:sp>
      <p:sp>
        <p:nvSpPr>
          <p:cNvPr id="43" name="TextBox 42"/>
          <p:cNvSpPr txBox="1"/>
          <p:nvPr/>
        </p:nvSpPr>
        <p:spPr>
          <a:xfrm>
            <a:off x="777240" y="3758184"/>
            <a:ext cx="5047488" cy="100583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00" b="0" i="0">
                <a:solidFill>
                  <a:srgbClr val="0F233D"/>
                </a:solidFill>
                <a:latin typeface="Arial"/>
              </a:rPr>
              <a:t>3 mice × 5,000 cells/mouse
Inferential n = 3 mice—not 15,000 cells</a:t>
            </a:r>
          </a:p>
        </p:txBody>
      </p:sp>
      <p:sp>
        <p:nvSpPr>
          <p:cNvPr id="44" name="Rounded Rectangle 43"/>
          <p:cNvSpPr/>
          <p:nvPr/>
        </p:nvSpPr>
        <p:spPr>
          <a:xfrm>
            <a:off x="6190488" y="3364992"/>
            <a:ext cx="5413248" cy="1508760"/>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6373368" y="3502152"/>
            <a:ext cx="504748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TWO NON-NEGOTIABLE RULES</a:t>
            </a:r>
          </a:p>
        </p:txBody>
      </p:sp>
      <p:sp>
        <p:nvSpPr>
          <p:cNvPr id="46" name="TextBox 45"/>
          <p:cNvSpPr txBox="1"/>
          <p:nvPr/>
        </p:nvSpPr>
        <p:spPr>
          <a:xfrm>
            <a:off x="6373368" y="3758184"/>
            <a:ext cx="5047488" cy="1005839"/>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520" b="0" i="0" dirty="0">
                <a:solidFill>
                  <a:srgbClr val="0F233D"/>
                </a:solidFill>
                <a:latin typeface="Arial"/>
              </a:rPr>
              <a:t>Pooling mice creates one pooled profile.
Batch correction cannot convert hippocampus into PFC.</a:t>
            </a:r>
          </a:p>
        </p:txBody>
      </p:sp>
      <p:sp>
        <p:nvSpPr>
          <p:cNvPr id="47" name="takeaway_ribbon"/>
          <p:cNvSpPr/>
          <p:nvPr/>
        </p:nvSpPr>
        <p:spPr>
          <a:xfrm>
            <a:off x="502920" y="53583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502920" y="5358384"/>
            <a:ext cx="91440" cy="5120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49808" y="54315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The eight states are not summed into a score: one critical mismatch can still invalidate a specific claim.</a:t>
            </a:r>
          </a:p>
        </p:txBody>
      </p:sp>
      <p:sp>
        <p:nvSpPr>
          <p:cNvPr id="50"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docs/validation_mouse/mouse_dataset_comparison.md, §§2–3; biological replicate rule.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9E73"/>
                </a:solidFill>
                <a:latin typeface="Arial"/>
              </a:rPr>
              <a:t>DATASET PROFILE • DISEASE DIRECTION</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0F233D"/>
                </a:solidFill>
                <a:latin typeface="Arial"/>
              </a:rPr>
              <a:t>GSE143758 supports hippocampal and astrocyte disease biology, not broad PFC validation</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08</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 data exist, but the broad atlas is hippocampal.</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No human APOE isoform factor.</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Main atlas is male; only two females total, one/genotype.</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5xFAD versus WT disease contrast.</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snRNA-seq; mouse-level main atlas.</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Main n=4+4; cortex has n=1 per age×genotype group.</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Main atlas broad; cortex matrix is astrocyte-focused.</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Thirty-seven records mix components; IDs need care.</a:t>
            </a:r>
          </a:p>
        </p:txBody>
      </p:sp>
      <p:sp>
        <p:nvSpPr>
          <p:cNvPr id="53" name="Rounded Rectangle 52"/>
          <p:cNvSpPr/>
          <p:nvPr/>
        </p:nvSpPr>
        <p:spPr>
          <a:xfrm>
            <a:off x="8147304" y="1207008"/>
            <a:ext cx="3538728" cy="438912"/>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9E73"/>
                </a:solidFill>
                <a:latin typeface="Arial"/>
              </a:rPr>
              <a:t>DISEASE DIRECTION</a:t>
            </a:r>
          </a:p>
        </p:txBody>
      </p:sp>
      <p:sp>
        <p:nvSpPr>
          <p:cNvPr id="55" name="Rounded Rectangle 54"/>
          <p:cNvSpPr/>
          <p:nvPr/>
        </p:nvSpPr>
        <p:spPr>
          <a:xfrm>
            <a:off x="8147304" y="1773936"/>
            <a:ext cx="3538728" cy="932688"/>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Main: hippocampus, 4 WT+4 5xFAD • Cortical subset: 1+1 per age</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Support hippocampal astrocyte, aging, and descriptive cross-region pathways.</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The cortical component is astrocyte-focused, with one record per age×genotype group; it is not a replicated broad-cell PFC cohort.</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Cortical data exist, but use them only for descriptive astrocyte concordance—not replicated all-cell PFC validation.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§6.6; GEO GSE143758; PMID 32341542. Suitability assessment, not new matrix analysis.</a:t>
            </a:r>
          </a:p>
        </p:txBody>
      </p:sp>
    </p:spTree>
    <p:extLst>
      <p:ext uri="{BB962C8B-B14F-4D97-AF65-F5344CB8AC3E}">
        <p14:creationId xmlns:p14="http://schemas.microsoft.com/office/powerpoint/2010/main" val="509409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DATASET PROFILE • CORE ANCHOR</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20" b="1" i="0">
                <a:solidFill>
                  <a:srgbClr val="0F233D"/>
                </a:solidFill>
                <a:latin typeface="Arial"/>
              </a:rPr>
              <a:t>Among audited candidates, GSE185063 is the strongest broad cortical APOE anchor, but lacks disease and usable sex metadata</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03</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Cortex/cortical mantle; not explicit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16" name="TextBox 15"/>
          <p:cNvSpPr txBox="1"/>
          <p:nvPr/>
        </p:nvSpPr>
        <p:spPr>
          <a:xfrm>
            <a:off x="1764792" y="2534125"/>
            <a:ext cx="2176272" cy="21698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dirty="0">
                <a:solidFill>
                  <a:srgbClr val="232A33"/>
                </a:solidFill>
                <a:latin typeface="Arial"/>
              </a:rPr>
              <a:t>Human APOE3 versus APOE4.</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Study used both sexes; snRNA mouse map unresolved.</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No AD model or matched disease contrast.</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snRNA-seq with mouse-level samples.</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16 mice; four per APOE-by-age group.</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Neurons, glia, OPCs, and vascular cells.</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Counts available; sex mapping still needs audit.</a:t>
            </a:r>
          </a:p>
        </p:txBody>
      </p:sp>
      <p:sp>
        <p:nvSpPr>
          <p:cNvPr id="53" name="Rounded Rectangle 52"/>
          <p:cNvSpPr/>
          <p:nvPr/>
        </p:nvSpPr>
        <p:spPr>
          <a:xfrm>
            <a:off x="8147304" y="1207008"/>
            <a:ext cx="3538728" cy="438912"/>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72B2"/>
                </a:solidFill>
                <a:latin typeface="Arial"/>
              </a:rPr>
              <a:t>CORE ANCHOR</a:t>
            </a:r>
          </a:p>
        </p:txBody>
      </p:sp>
      <p:sp>
        <p:nvSpPr>
          <p:cNvPr id="55" name="Rounded Rectangle 54"/>
          <p:cNvSpPr/>
          <p:nvPr/>
        </p:nvSpPr>
        <p:spPr>
          <a:xfrm>
            <a:off x="8147304" y="1773936"/>
            <a:ext cx="3538728" cy="932688"/>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72B2"/>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Cortex • snRNA-seq • 16 mice • 4/APOE×age group</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Localize human PFC APOE-associated modules across cortical cell types.</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No disease factor; sex-specific inference is unsafe without a verified mouse map.</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the label “cortical cross-species APOE concordance”—not direct mouse PFC replication.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§6.1; GEO GSE185063; PMID 36040482. Suitability assessment, not new matrix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DATASET PROFILE • CORE ANCHOR</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dirty="0">
                <a:solidFill>
                  <a:srgbClr val="0F233D"/>
                </a:solidFill>
                <a:latin typeface="Arial"/>
              </a:rPr>
              <a:t>GSE241553 adds sex-balanced cortical APOE induction under amyloid, but not an AD-control contrast</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04</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 not an explicit PFC subdivision.</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Conditional apoE3/apoE4 induction in microglia/CAMs.</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3 females + 3 males in each of four groups.</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All mice are on an amyloid-model background; no non-amyloid arm.</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scRNA-seq with mouse-resolved samples.</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24 mice; six per line-by-induction group.</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Multiple populations; direct perturbation is microglia/CAM.</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Per-sample files and group identities are available.</a:t>
            </a:r>
          </a:p>
        </p:txBody>
      </p:sp>
      <p:sp>
        <p:nvSpPr>
          <p:cNvPr id="53" name="Rounded Rectangle 52"/>
          <p:cNvSpPr/>
          <p:nvPr/>
        </p:nvSpPr>
        <p:spPr>
          <a:xfrm>
            <a:off x="8147304" y="1207008"/>
            <a:ext cx="3538728" cy="438912"/>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72B2"/>
                </a:solidFill>
                <a:latin typeface="Arial"/>
              </a:rPr>
              <a:t>CORE ANCHOR</a:t>
            </a:r>
          </a:p>
        </p:txBody>
      </p:sp>
      <p:sp>
        <p:nvSpPr>
          <p:cNvPr id="55" name="Rounded Rectangle 54"/>
          <p:cNvSpPr/>
          <p:nvPr/>
        </p:nvSpPr>
        <p:spPr>
          <a:xfrm>
            <a:off x="8147304" y="1773936"/>
            <a:ext cx="3538728" cy="932688"/>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72B2"/>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Cortex • scRNA-seq • 24 mice • 3F+3M/group</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Test sex-aware microglia/CAM apoE3-versus-apoE4 induction responses under amyloid.</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C versus T is non-induced versus induced—not control versus AD; only three mice per sex×line×induction group.</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Call this a microglia/CAM-specific APOE induction response under amyloid.</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§6.2; GEO GSE241553; PMID 37857825. Suitability assessment, not new matrix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DATASET PROFILE • CORE ANCHOR</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20" b="1" i="0">
                <a:solidFill>
                  <a:srgbClr val="0F233D"/>
                </a:solidFill>
                <a:latin typeface="Arial"/>
              </a:rPr>
              <a:t>Among audited candidates, GSE163857 is the only direct APOE × sex × disease design, but only in non-regional bulk microglia</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05</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Sorted brain microglia; no cortex/PFC dissection.</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Human APOE3/APOE4 targeted replacement.</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Female and male mice are explicitly identified.</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5xFAD versus matched targeted-replacement controls.</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Bulk RNA-seq of sorted microglia.</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Independent mice, but control groups have n=1–3.</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Microglia only.</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Compact processed mouse-level count matrix.</a:t>
            </a:r>
          </a:p>
        </p:txBody>
      </p:sp>
      <p:sp>
        <p:nvSpPr>
          <p:cNvPr id="53" name="Rounded Rectangle 52"/>
          <p:cNvSpPr/>
          <p:nvPr/>
        </p:nvSpPr>
        <p:spPr>
          <a:xfrm>
            <a:off x="8147304" y="1207008"/>
            <a:ext cx="3538728" cy="438912"/>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72B2"/>
                </a:solidFill>
                <a:latin typeface="Arial"/>
              </a:rPr>
              <a:t>CORE ANCHOR</a:t>
            </a:r>
          </a:p>
        </p:txBody>
      </p:sp>
      <p:sp>
        <p:nvSpPr>
          <p:cNvPr id="55" name="Rounded Rectangle 54"/>
          <p:cNvSpPr/>
          <p:nvPr/>
        </p:nvSpPr>
        <p:spPr>
          <a:xfrm>
            <a:off x="8147304" y="1773936"/>
            <a:ext cx="3538728" cy="932688"/>
          </a:xfrm>
          <a:prstGeom prst="roundRect">
            <a:avLst/>
          </a:prstGeom>
          <a:solidFill>
            <a:srgbClr val="E0EFF8"/>
          </a:solidFill>
          <a:ln w="1524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72B2"/>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Brain microglia • bulk RNA-seq • 30 mice • all 8 APOE×sex×disease groups</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Directly benchmark APOE-by-sex-by-5xFAD effects in microglia.</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Not regional or broad-cell; small, imbalanced controls make the three-way interaction underpowered.</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Report factorial microglial support with effect estimates and uncertainty—not PFC replication.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§6.3; GEO GSE163857; PMID 34746703. Suitability assessment, not new matrix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9E73"/>
                </a:solidFill>
                <a:latin typeface="Arial"/>
              </a:rPr>
              <a:t>DATASET PROFILE • DISEASE DIRECTION</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GSE140399 supplies broad-cell cortical disease direction, but pooled mice make it descriptive</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06</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 is separate from hippocampus; not explicit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No human APOE isoform; TREM2 is the modifier.</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Sex is not a usable public study factor.</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WT, 5xFAD, Trem2KO, and Trem2KO×5xFAD.</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snRNA-seq, but animals were pooled before profiling.</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Three mice form one pool per region×genotype.</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Broad neural and glial cell coverage.</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Counts are usable; pooling blocks ordinary inference.</a:t>
            </a:r>
          </a:p>
        </p:txBody>
      </p:sp>
      <p:sp>
        <p:nvSpPr>
          <p:cNvPr id="53" name="Rounded Rectangle 52"/>
          <p:cNvSpPr/>
          <p:nvPr/>
        </p:nvSpPr>
        <p:spPr>
          <a:xfrm>
            <a:off x="8147304" y="1207008"/>
            <a:ext cx="3538728" cy="438912"/>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9E73"/>
                </a:solidFill>
                <a:latin typeface="Arial"/>
              </a:rPr>
              <a:t>DISEASE DIRECTION</a:t>
            </a:r>
          </a:p>
        </p:txBody>
      </p:sp>
      <p:sp>
        <p:nvSpPr>
          <p:cNvPr id="55" name="Rounded Rectangle 54"/>
          <p:cNvSpPr/>
          <p:nvPr/>
        </p:nvSpPr>
        <p:spPr>
          <a:xfrm>
            <a:off x="8147304" y="1773936"/>
            <a:ext cx="3538728" cy="932688"/>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15-month cortex/hippocampus • snRNA-seq • one pool/condition</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Check the direction of frozen human modules in homologous cortical cell types.</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One expression pool per condition means no mouse-level variance or ordinary inferential P values.</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“descriptive cortical concordance”—never “replicated in three mice per group.”</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§6.4; GEO GSE140399; PMID 31932797. Suitability assessment, not new matrix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9E73"/>
                </a:solidFill>
                <a:latin typeface="Arial"/>
              </a:rPr>
              <a:t>DATASET PROFILE • DISEASE DIRECTION</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GSE140510 provides replicated broad-cell disease direction, but tissue is not explicitly cortex/PFC</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07</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Public label is mouse brain, not cortex/PFC.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No human APOE isoform; TREM2 is the modifier.</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Sex is not a usable public study factor.</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WT, 5xFAD, Trem2KO, and Trem2KO×5xFAD.</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snRNA-seq with separately processed mice.</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12 independent mice; three per genotype.</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Broad neural, glial, and vascular coverage.</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Mouse-level files support pseudobulk contrasts.</a:t>
            </a:r>
          </a:p>
        </p:txBody>
      </p:sp>
      <p:sp>
        <p:nvSpPr>
          <p:cNvPr id="53" name="Rounded Rectangle 52"/>
          <p:cNvSpPr/>
          <p:nvPr/>
        </p:nvSpPr>
        <p:spPr>
          <a:xfrm>
            <a:off x="8147304" y="1207008"/>
            <a:ext cx="3538728" cy="438912"/>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009E73"/>
                </a:solidFill>
                <a:latin typeface="Arial"/>
              </a:rPr>
              <a:t>DISEASE DIRECTION</a:t>
            </a:r>
          </a:p>
        </p:txBody>
      </p:sp>
      <p:sp>
        <p:nvSpPr>
          <p:cNvPr id="55" name="Rounded Rectangle 54"/>
          <p:cNvSpPr/>
          <p:nvPr/>
        </p:nvSpPr>
        <p:spPr>
          <a:xfrm>
            <a:off x="8147304" y="1773936"/>
            <a:ext cx="3538728" cy="932688"/>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7-month mouse brain • snRNA-seq • 12 mice • 3/genotype</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Provide replicated broad-cell AD-direction support across homologous cell types.</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Regional mismatch and no APOE or sex factor; keep separate from cortical GSE140399.</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when inferential replication matters more than exact cortical localization.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§6.5; GEO GSE140510; PMID 31932797. Suitability assessment, not new matrix analysis.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GSE225503/GSE239999 add APOE2/3/4 immune aging under 5xFAD, but lack AD controls and usable sex metadata</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09</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Cortical and hippocampal regions; separation needs audit.</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Human APOE2, APOE3, and APOE4 knock-in.</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Public sex metadata are insufficient.</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All animals are 5xFAD; no non-AD group.</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Immune scRNA-seq/multiome with HTO demultiplexing.</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Mouse identities must be recovered from metadata.</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CD45-positive immune compartment only.</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Large RDS objects; region/mouse fields need audit.</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Mixed cortex + hippocampus CD45+ cells • scRNA/multiome • multiplexed</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Study APOE2/3/4 immune aging, late microglial states, and chromatin under 5xFAD.</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No non-AD arm, usable sex factor, broad cell coverage, or direct PFC match.</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Call this APOE2/3/4 immune-cell support under 5xFAD—not an APOE-by-sex AD-control test.</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§6.7; GEO GSE225503/GSE239999; PMID 38159571. Suitability assessment, not new matrix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GSE127892 captures sex-by-amyloid microglial trajectories, but pooled mice prevent mouse-level inference</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10</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 and hippocampus; not explicit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Endogenous mouse Apoe; no human isoform contrast.</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Female and male conditions, but animals are pooled.</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AppNL-G-F versus WT across four ages.</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Plate scRNA-seq; GEO records are cells/wells.</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Two mice pooled into one profile per condition.</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Microglia only.</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12,288 cell records require pool reconstruction.</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Cortex+hippocampus • plate scRNA • 32 condition pools</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Describe sex-by-amyloid microglial state trajectories across age and region.</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Pooling removes mouse-level variance; human APOE isoforms and broad cells are absent.</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Treat as condition-level descriptive support—not a replicated mouse-level interaction.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§6.8; GEO GSE127892; PMID 31018141. Suitability assessment, not new matrix analysis.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GSE212606 offers exceptional sex-aware whole-brain breadth, but APOE4 is confounded with TREM2 R47H</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11</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Whole brain; not cortex or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LOAD model combines APOE4 with TREM2 R47H.</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Both sexes reported; animal-level map is required.</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WT, 5xFAD, and LOAD-model comparisons.</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Single-cell RNA/ATAC; GEO objects are aggregate.</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Replication becomes auditable only with a manifest.</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&gt;300 reported subtypes, including rare populations.</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Very large archive; mouse identities must be linked.</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Whole brain • EasySci RNA+ATAC • &gt;300 subtypes • animal manifest needed</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Assess broad sex/disease convergence, rare populations, and chromatin support.</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APOE4 cannot be separated from TREM2 R47H; not region matched or directly APOE3-versus-APOE4.</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as broad whole-brain convergence and chromatin evidence—not direct PFC/APOE validation.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§6.9; GEO GSE212606; PMID 37774676. Suitability assessment, not new matrix analysis.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GSE213446 provides APOE-by-tau support in hippocampus, but mouse-level sex and replication are unresolved</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12</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Hippocampus; not cortex/PFC.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Human APOE3/APOE4 with and without P301S.</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Sex biology reported; public library map absent.</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Tauopathy versus non-tau, not the target amyloid design.</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snRNA-seq, but animals per library are unclear.</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One listed library/condition; mouse n is unaudited.</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Broad hippocampal cell populations.</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Counts available; mouse/sex metadata need recovery.</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Hippocampus • snRNA-seq • 10 public libraries • APOE×tau×treatment</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Provide pathway-level, cross-region and cross-pathology APOE-by-tau support.</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Hippocampal tau model; sex mapping and independent mouse replication are unresolved.</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Keep conclusions descriptive until animal-level metadata are recovered.</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§6.10; GEO GSE213446. Suitability assessment, not new matrix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820" b="1" i="0">
                <a:solidFill>
                  <a:srgbClr val="0F233D"/>
                </a:solidFill>
                <a:latin typeface="Arial"/>
              </a:rPr>
              <a:t>GSE212317/GSE213391 support female APOE immunometabolism, but pooling and age/disease confounding limit inference</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13</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Broad left hemisphere; not region-specific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Human APOE3 and APOE4 contexts.</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Female only; no sex comparison.</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Age and 5xFAD status are not balanced factorially.</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Glia-enriched scRNA plus spatial/bulk resources.</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Three mice pooled into one library per group.</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Glia enriched rather than broad all-cell coverage.</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Processed resources usable; pooling limits inference.</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Whole left hemisphere • glia-enriched scRNA/spatial/bulk • female only</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Explore female APOE immunometabolism, glycolysis, TCA, and lipid handling.</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One pooled library/group, female-only design, and age/disease confounding prevent interaction claims.</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for descriptive female APOE immunometabolism—not sex or clean APOE-by-disease replication.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§6.11; GEO GSE212317/GSE213391; PMID 36871219. Suitability assessment, not new matrix analysis.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DATASET PROFILE • SPECIALIZED SUPPORT</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950" b="1" i="0">
                <a:solidFill>
                  <a:srgbClr val="0F233D"/>
                </a:solidFill>
                <a:latin typeface="Arial"/>
              </a:rPr>
              <a:t>GSE127884 tests endogenous Apoe dependence in male amyloid microglia—not human APOE isoforms or sex effects</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14</a:t>
            </a:r>
          </a:p>
        </p:txBody>
      </p:sp>
      <p:sp>
        <p:nvSpPr>
          <p:cNvPr id="5" name="criterion_card_1_Region"/>
          <p:cNvSpPr/>
          <p:nvPr/>
        </p:nvSpPr>
        <p:spPr>
          <a:xfrm>
            <a:off x="502920"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67512"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Region</a:t>
            </a:r>
          </a:p>
        </p:txBody>
      </p:sp>
      <p:sp>
        <p:nvSpPr>
          <p:cNvPr id="8" name="criterion_state_1"/>
          <p:cNvSpPr/>
          <p:nvPr/>
        </p:nvSpPr>
        <p:spPr>
          <a:xfrm>
            <a:off x="649224"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76656"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10" name="TextBox 9"/>
          <p:cNvSpPr txBox="1"/>
          <p:nvPr/>
        </p:nvSpPr>
        <p:spPr>
          <a:xfrm>
            <a:off x="1764792"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Cortex and hippocampus; not explicit PFC.</a:t>
            </a:r>
          </a:p>
        </p:txBody>
      </p:sp>
      <p:sp>
        <p:nvSpPr>
          <p:cNvPr id="11" name="criterion_card_2_APOE"/>
          <p:cNvSpPr/>
          <p:nvPr/>
        </p:nvSpPr>
        <p:spPr>
          <a:xfrm>
            <a:off x="502920"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02920"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12"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APOE</a:t>
            </a:r>
          </a:p>
        </p:txBody>
      </p:sp>
      <p:sp>
        <p:nvSpPr>
          <p:cNvPr id="14" name="criterion_state_2"/>
          <p:cNvSpPr/>
          <p:nvPr/>
        </p:nvSpPr>
        <p:spPr>
          <a:xfrm>
            <a:off x="649224"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6656"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16" name="TextBox 15"/>
          <p:cNvSpPr txBox="1"/>
          <p:nvPr/>
        </p:nvSpPr>
        <p:spPr>
          <a:xfrm>
            <a:off x="1764792"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Mouse Apoe versus Apoe knockout; no human E3/E4.</a:t>
            </a:r>
          </a:p>
        </p:txBody>
      </p:sp>
      <p:sp>
        <p:nvSpPr>
          <p:cNvPr id="17" name="criterion_card_3_Sex"/>
          <p:cNvSpPr/>
          <p:nvPr/>
        </p:nvSpPr>
        <p:spPr>
          <a:xfrm>
            <a:off x="502920"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02920"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7512"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Sex</a:t>
            </a:r>
          </a:p>
        </p:txBody>
      </p:sp>
      <p:sp>
        <p:nvSpPr>
          <p:cNvPr id="20" name="criterion_state_3"/>
          <p:cNvSpPr/>
          <p:nvPr/>
        </p:nvSpPr>
        <p:spPr>
          <a:xfrm>
            <a:off x="649224"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6656"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22" name="TextBox 21"/>
          <p:cNvSpPr txBox="1"/>
          <p:nvPr/>
        </p:nvSpPr>
        <p:spPr>
          <a:xfrm>
            <a:off x="1764792"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Male only.</a:t>
            </a:r>
          </a:p>
        </p:txBody>
      </p:sp>
      <p:sp>
        <p:nvSpPr>
          <p:cNvPr id="23" name="criterion_card_4_Disease"/>
          <p:cNvSpPr/>
          <p:nvPr/>
        </p:nvSpPr>
        <p:spPr>
          <a:xfrm>
            <a:off x="502920"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02920" y="4187952"/>
            <a:ext cx="73152" cy="85039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7512"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Disease</a:t>
            </a:r>
          </a:p>
        </p:txBody>
      </p:sp>
      <p:sp>
        <p:nvSpPr>
          <p:cNvPr id="26" name="criterion_state_4"/>
          <p:cNvSpPr/>
          <p:nvPr/>
        </p:nvSpPr>
        <p:spPr>
          <a:xfrm>
            <a:off x="649224" y="4553712"/>
            <a:ext cx="987552" cy="265176"/>
          </a:xfrm>
          <a:prstGeom prst="roundRect">
            <a:avLst/>
          </a:prstGeom>
          <a:solidFill>
            <a:srgbClr val="E0F4EE"/>
          </a:solidFill>
          <a:ln w="101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STRONG</a:t>
            </a:r>
          </a:p>
        </p:txBody>
      </p:sp>
      <p:sp>
        <p:nvSpPr>
          <p:cNvPr id="28" name="TextBox 27"/>
          <p:cNvSpPr txBox="1"/>
          <p:nvPr/>
        </p:nvSpPr>
        <p:spPr>
          <a:xfrm>
            <a:off x="1764792"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APP/PS1 and controls with/without mouse Apoe.</a:t>
            </a:r>
          </a:p>
        </p:txBody>
      </p:sp>
      <p:sp>
        <p:nvSpPr>
          <p:cNvPr id="29" name="criterion_card_5_Modality"/>
          <p:cNvSpPr/>
          <p:nvPr/>
        </p:nvSpPr>
        <p:spPr>
          <a:xfrm>
            <a:off x="4279392" y="1225296"/>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279392" y="1225296"/>
            <a:ext cx="73152" cy="85039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443983" y="1316736"/>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Data type</a:t>
            </a:r>
          </a:p>
        </p:txBody>
      </p:sp>
      <p:sp>
        <p:nvSpPr>
          <p:cNvPr id="32" name="criterion_state_5"/>
          <p:cNvSpPr/>
          <p:nvPr/>
        </p:nvSpPr>
        <p:spPr>
          <a:xfrm>
            <a:off x="4425696" y="1591056"/>
            <a:ext cx="987552" cy="265176"/>
          </a:xfrm>
          <a:prstGeom prst="roundRect">
            <a:avLst/>
          </a:prstGeom>
          <a:solidFill>
            <a:srgbClr val="FFF4D8"/>
          </a:solidFill>
          <a:ln w="1016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453128" y="1618488"/>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232A33"/>
                </a:solidFill>
                <a:latin typeface="Arial"/>
              </a:rPr>
              <a:t>PARTIAL</a:t>
            </a:r>
          </a:p>
        </p:txBody>
      </p:sp>
      <p:sp>
        <p:nvSpPr>
          <p:cNvPr id="34" name="TextBox 33"/>
          <p:cNvSpPr txBox="1"/>
          <p:nvPr/>
        </p:nvSpPr>
        <p:spPr>
          <a:xfrm>
            <a:off x="5541264" y="1353312"/>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Plate single-cell microglial RNA-seq.</a:t>
            </a:r>
          </a:p>
        </p:txBody>
      </p:sp>
      <p:sp>
        <p:nvSpPr>
          <p:cNvPr id="35" name="criterion_card_6_Replication"/>
          <p:cNvSpPr/>
          <p:nvPr/>
        </p:nvSpPr>
        <p:spPr>
          <a:xfrm>
            <a:off x="4279392" y="2212848"/>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4279392" y="2212848"/>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43983" y="2304288"/>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Replication</a:t>
            </a:r>
          </a:p>
        </p:txBody>
      </p:sp>
      <p:sp>
        <p:nvSpPr>
          <p:cNvPr id="38" name="criterion_state_6"/>
          <p:cNvSpPr/>
          <p:nvPr/>
        </p:nvSpPr>
        <p:spPr>
          <a:xfrm>
            <a:off x="4425696" y="2578608"/>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453128" y="2606040"/>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40" name="TextBox 39"/>
          <p:cNvSpPr txBox="1"/>
          <p:nvPr/>
        </p:nvSpPr>
        <p:spPr>
          <a:xfrm>
            <a:off x="5541264" y="2340864"/>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Animal-level replication is not exposed cleanly.</a:t>
            </a:r>
          </a:p>
        </p:txBody>
      </p:sp>
      <p:sp>
        <p:nvSpPr>
          <p:cNvPr id="41" name="criterion_card_7_Cell breadth"/>
          <p:cNvSpPr/>
          <p:nvPr/>
        </p:nvSpPr>
        <p:spPr>
          <a:xfrm>
            <a:off x="4279392" y="3200400"/>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4279392" y="3200400"/>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443983" y="3291840"/>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60" b="1" i="0">
                <a:solidFill>
                  <a:srgbClr val="0F233D"/>
                </a:solidFill>
                <a:latin typeface="Arial"/>
              </a:rPr>
              <a:t>Cell breadth</a:t>
            </a:r>
          </a:p>
        </p:txBody>
      </p:sp>
      <p:sp>
        <p:nvSpPr>
          <p:cNvPr id="44" name="criterion_state_7"/>
          <p:cNvSpPr/>
          <p:nvPr/>
        </p:nvSpPr>
        <p:spPr>
          <a:xfrm>
            <a:off x="4425696" y="3566160"/>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453128" y="3593592"/>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46" name="TextBox 45"/>
          <p:cNvSpPr txBox="1"/>
          <p:nvPr/>
        </p:nvSpPr>
        <p:spPr>
          <a:xfrm>
            <a:off x="5541264" y="3328416"/>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Microglia only.</a:t>
            </a:r>
          </a:p>
        </p:txBody>
      </p:sp>
      <p:sp>
        <p:nvSpPr>
          <p:cNvPr id="47" name="criterion_card_8_Public usability"/>
          <p:cNvSpPr/>
          <p:nvPr/>
        </p:nvSpPr>
        <p:spPr>
          <a:xfrm>
            <a:off x="4279392" y="4187952"/>
            <a:ext cx="3602736" cy="850392"/>
          </a:xfrm>
          <a:prstGeom prst="roundRect">
            <a:avLst/>
          </a:prstGeom>
          <a:solidFill>
            <a:srgbClr val="FFFFFF"/>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4279392" y="4187952"/>
            <a:ext cx="73152" cy="850392"/>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443983" y="4279392"/>
            <a:ext cx="1078992"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F233D"/>
                </a:solidFill>
                <a:latin typeface="Arial"/>
              </a:rPr>
              <a:t>Public usability</a:t>
            </a:r>
          </a:p>
        </p:txBody>
      </p:sp>
      <p:sp>
        <p:nvSpPr>
          <p:cNvPr id="50" name="criterion_state_8"/>
          <p:cNvSpPr/>
          <p:nvPr/>
        </p:nvSpPr>
        <p:spPr>
          <a:xfrm>
            <a:off x="4425696" y="4553712"/>
            <a:ext cx="987552" cy="265176"/>
          </a:xfrm>
          <a:prstGeom prst="roundRect">
            <a:avLst/>
          </a:prstGeom>
          <a:solidFill>
            <a:srgbClr val="FDEBE4"/>
          </a:solidFill>
          <a:ln w="1016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453128" y="4581144"/>
            <a:ext cx="932688" cy="17373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40" b="1" i="0">
                <a:solidFill>
                  <a:srgbClr val="232A33"/>
                </a:solidFill>
                <a:latin typeface="Arial"/>
              </a:rPr>
              <a:t>NOT MATCHED</a:t>
            </a:r>
          </a:p>
        </p:txBody>
      </p:sp>
      <p:sp>
        <p:nvSpPr>
          <p:cNvPr id="52" name="TextBox 51"/>
          <p:cNvSpPr txBox="1"/>
          <p:nvPr/>
        </p:nvSpPr>
        <p:spPr>
          <a:xfrm>
            <a:off x="5541264" y="4315968"/>
            <a:ext cx="2176272" cy="6035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50" b="0" i="0">
                <a:solidFill>
                  <a:srgbClr val="232A33"/>
                </a:solidFill>
                <a:latin typeface="Arial"/>
              </a:rPr>
              <a:t>3,072 GEO records are cells/wells, not mice.</a:t>
            </a:r>
          </a:p>
        </p:txBody>
      </p:sp>
      <p:sp>
        <p:nvSpPr>
          <p:cNvPr id="53" name="Rounded Rectangle 52"/>
          <p:cNvSpPr/>
          <p:nvPr/>
        </p:nvSpPr>
        <p:spPr>
          <a:xfrm>
            <a:off x="8147304" y="1207008"/>
            <a:ext cx="3538728" cy="438912"/>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321040" y="1298448"/>
            <a:ext cx="3191256" cy="219456"/>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30" b="1" i="0">
                <a:solidFill>
                  <a:srgbClr val="7E4C9A"/>
                </a:solidFill>
                <a:latin typeface="Arial"/>
              </a:rPr>
              <a:t>SPECIALIZED SUPPORT</a:t>
            </a:r>
          </a:p>
        </p:txBody>
      </p:sp>
      <p:sp>
        <p:nvSpPr>
          <p:cNvPr id="55" name="Rounded Rectangle 54"/>
          <p:cNvSpPr/>
          <p:nvPr/>
        </p:nvSpPr>
        <p:spPr>
          <a:xfrm>
            <a:off x="8147304" y="1773936"/>
            <a:ext cx="3538728" cy="932688"/>
          </a:xfrm>
          <a:prstGeom prst="roundRect">
            <a:avLst/>
          </a:prstGeom>
          <a:solidFill>
            <a:srgbClr val="F0E9F7"/>
          </a:solidFill>
          <a:ln w="1524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8330183" y="1911095"/>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7E4C9A"/>
                </a:solidFill>
                <a:latin typeface="Arial"/>
              </a:rPr>
              <a:t>STUDY SNAPSHOT</a:t>
            </a:r>
          </a:p>
        </p:txBody>
      </p:sp>
      <p:sp>
        <p:nvSpPr>
          <p:cNvPr id="57" name="TextBox 56"/>
          <p:cNvSpPr txBox="1"/>
          <p:nvPr/>
        </p:nvSpPr>
        <p:spPr>
          <a:xfrm>
            <a:off x="8330183" y="2167128"/>
            <a:ext cx="3172968" cy="4297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40" b="1" i="0">
                <a:solidFill>
                  <a:srgbClr val="0F233D"/>
                </a:solidFill>
                <a:latin typeface="Arial"/>
              </a:rPr>
              <a:t>Cortex+hippocampus • plate scRNA • male microglia • cells/wells in GEO</a:t>
            </a:r>
          </a:p>
        </p:txBody>
      </p:sp>
      <p:sp>
        <p:nvSpPr>
          <p:cNvPr id="58" name="Rounded Rectangle 57"/>
          <p:cNvSpPr/>
          <p:nvPr/>
        </p:nvSpPr>
        <p:spPr>
          <a:xfrm>
            <a:off x="8147304" y="2834640"/>
            <a:ext cx="3538728" cy="1243584"/>
          </a:xfrm>
          <a:prstGeom prst="roundRect">
            <a:avLst/>
          </a:prstGeom>
          <a:solidFill>
            <a:srgbClr val="E0F4EE"/>
          </a:solidFill>
          <a:ln w="1524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330183" y="29718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009E73"/>
                </a:solidFill>
                <a:latin typeface="Arial"/>
              </a:rPr>
              <a:t>BEST USE</a:t>
            </a:r>
          </a:p>
        </p:txBody>
      </p:sp>
      <p:sp>
        <p:nvSpPr>
          <p:cNvPr id="60" name="TextBox 59"/>
          <p:cNvSpPr txBox="1"/>
          <p:nvPr/>
        </p:nvSpPr>
        <p:spPr>
          <a:xfrm>
            <a:off x="8330183" y="3227832"/>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200" b="0" i="0">
                <a:solidFill>
                  <a:srgbClr val="0F233D"/>
                </a:solidFill>
                <a:latin typeface="Arial"/>
              </a:rPr>
              <a:t>Test whether endogenous mouse Apoe is required for amyloid-associated microglial states.</a:t>
            </a:r>
          </a:p>
        </p:txBody>
      </p:sp>
      <p:sp>
        <p:nvSpPr>
          <p:cNvPr id="61" name="Rounded Rectangle 60"/>
          <p:cNvSpPr/>
          <p:nvPr/>
        </p:nvSpPr>
        <p:spPr>
          <a:xfrm>
            <a:off x="8147304" y="4206240"/>
            <a:ext cx="3538728" cy="1243584"/>
          </a:xfrm>
          <a:prstGeom prst="roundRect">
            <a:avLst/>
          </a:prstGeom>
          <a:solidFill>
            <a:srgbClr val="FDEBE4"/>
          </a:solidFill>
          <a:ln w="1524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8330183" y="4343400"/>
            <a:ext cx="3172968"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1" i="0">
                <a:solidFill>
                  <a:srgbClr val="D55E00"/>
                </a:solidFill>
                <a:latin typeface="Arial"/>
              </a:rPr>
              <a:t>DO NOT CLAIM</a:t>
            </a:r>
          </a:p>
        </p:txBody>
      </p:sp>
      <p:sp>
        <p:nvSpPr>
          <p:cNvPr id="63" name="TextBox 62"/>
          <p:cNvSpPr txBox="1"/>
          <p:nvPr/>
        </p:nvSpPr>
        <p:spPr>
          <a:xfrm>
            <a:off x="8330183" y="4599431"/>
            <a:ext cx="3172968" cy="74066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70" b="0" i="0">
                <a:solidFill>
                  <a:srgbClr val="0F233D"/>
                </a:solidFill>
                <a:latin typeface="Arial"/>
              </a:rPr>
              <a:t>Male-only, microglia-only design with no human isoform comparison and unclear mouse replication.</a:t>
            </a:r>
          </a:p>
        </p:txBody>
      </p:sp>
      <p:sp>
        <p:nvSpPr>
          <p:cNvPr id="64"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502920" y="5815584"/>
            <a:ext cx="91440" cy="5120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Use as mechanistic Apoe-dependence support—not human APOE or sex validation.</a:t>
            </a:r>
          </a:p>
        </p:txBody>
      </p:sp>
      <p:sp>
        <p:nvSpPr>
          <p:cNvPr id="67"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mouse_dataset_comparison.md §6.12; GEO GSE127884; PMID 31018141. Suitability assessment, not new matrix analysis.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02920" y="146304"/>
            <a:ext cx="5577840"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RECOMMENDED VALIDATION ARCHITECTURE</a:t>
            </a:r>
          </a:p>
        </p:txBody>
      </p:sp>
      <p:sp>
        <p:nvSpPr>
          <p:cNvPr id="3" name="slide_title"/>
          <p:cNvSpPr txBox="1"/>
          <p:nvPr/>
        </p:nvSpPr>
        <p:spPr>
          <a:xfrm>
            <a:off x="502920" y="356616"/>
            <a:ext cx="11018520" cy="71323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2100" b="1" i="0">
                <a:solidFill>
                  <a:srgbClr val="0F233D"/>
                </a:solidFill>
                <a:latin typeface="Arial"/>
              </a:rPr>
              <a:t>Recommended mouse validation uses complementary datasets—not one merged cohort</a:t>
            </a:r>
          </a:p>
        </p:txBody>
      </p:sp>
      <p:sp>
        <p:nvSpPr>
          <p:cNvPr id="4" name="TextBox 3"/>
          <p:cNvSpPr txBox="1"/>
          <p:nvPr/>
        </p:nvSpPr>
        <p:spPr>
          <a:xfrm>
            <a:off x="11402568" y="155448"/>
            <a:ext cx="274320" cy="164592"/>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880" b="1" i="0">
                <a:solidFill>
                  <a:srgbClr val="606C7B"/>
                </a:solidFill>
                <a:latin typeface="Arial"/>
              </a:rPr>
              <a:t>15</a:t>
            </a:r>
          </a:p>
        </p:txBody>
      </p:sp>
      <p:sp>
        <p:nvSpPr>
          <p:cNvPr id="5" name="TextBox 4"/>
          <p:cNvSpPr txBox="1"/>
          <p:nvPr/>
        </p:nvSpPr>
        <p:spPr>
          <a:xfrm>
            <a:off x="521207" y="1024128"/>
            <a:ext cx="11064240" cy="24688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606C7B"/>
                </a:solidFill>
                <a:latin typeface="Arial"/>
              </a:rPr>
              <a:t>Freeze the human PFC result first; then assign one pre-specified role to each independent mouse study.</a:t>
            </a:r>
          </a:p>
        </p:txBody>
      </p:sp>
      <p:sp>
        <p:nvSpPr>
          <p:cNvPr id="6" name="Rounded Rectangle 5"/>
          <p:cNvSpPr/>
          <p:nvPr/>
        </p:nvSpPr>
        <p:spPr>
          <a:xfrm>
            <a:off x="502920" y="1481328"/>
            <a:ext cx="3456432" cy="1463040"/>
          </a:xfrm>
          <a:prstGeom prst="roundRect">
            <a:avLst/>
          </a:prstGeom>
          <a:solidFill>
            <a:srgbClr val="E0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481328"/>
            <a:ext cx="3456432" cy="10972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682496"/>
            <a:ext cx="3054096"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72B2"/>
                </a:solidFill>
                <a:latin typeface="Arial"/>
              </a:rPr>
              <a:t>1 • WHERE?</a:t>
            </a:r>
          </a:p>
        </p:txBody>
      </p:sp>
      <p:sp>
        <p:nvSpPr>
          <p:cNvPr id="9" name="TextBox 8"/>
          <p:cNvSpPr txBox="1"/>
          <p:nvPr/>
        </p:nvSpPr>
        <p:spPr>
          <a:xfrm>
            <a:off x="704088" y="1920240"/>
            <a:ext cx="3054096" cy="30175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50" b="1" i="0">
                <a:solidFill>
                  <a:srgbClr val="0F233D"/>
                </a:solidFill>
                <a:latin typeface="Arial"/>
              </a:rPr>
              <a:t>GSE185063</a:t>
            </a:r>
          </a:p>
        </p:txBody>
      </p:sp>
      <p:sp>
        <p:nvSpPr>
          <p:cNvPr id="10" name="TextBox 9"/>
          <p:cNvSpPr txBox="1"/>
          <p:nvPr/>
        </p:nvSpPr>
        <p:spPr>
          <a:xfrm>
            <a:off x="704088" y="2258568"/>
            <a:ext cx="3054096" cy="32918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20" b="1" i="0">
                <a:solidFill>
                  <a:srgbClr val="232A33"/>
                </a:solidFill>
                <a:latin typeface="Arial"/>
              </a:rPr>
              <a:t>Cortical cell-type localization of APOE modules</a:t>
            </a:r>
          </a:p>
        </p:txBody>
      </p:sp>
      <p:sp>
        <p:nvSpPr>
          <p:cNvPr id="11" name="TextBox 10"/>
          <p:cNvSpPr txBox="1"/>
          <p:nvPr/>
        </p:nvSpPr>
        <p:spPr>
          <a:xfrm>
            <a:off x="704088" y="2633472"/>
            <a:ext cx="3054096"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9" b="0" i="1">
                <a:solidFill>
                  <a:srgbClr val="606C7B"/>
                </a:solidFill>
                <a:latin typeface="Arial"/>
              </a:rPr>
              <a:t>Cortex, not explicit PFC • no AD model</a:t>
            </a:r>
          </a:p>
        </p:txBody>
      </p:sp>
      <p:sp>
        <p:nvSpPr>
          <p:cNvPr id="12" name="Rounded Rectangle 11"/>
          <p:cNvSpPr/>
          <p:nvPr/>
        </p:nvSpPr>
        <p:spPr>
          <a:xfrm>
            <a:off x="4370832" y="1481328"/>
            <a:ext cx="3456432" cy="1463040"/>
          </a:xfrm>
          <a:prstGeom prst="roundRect">
            <a:avLst/>
          </a:prstGeom>
          <a:solidFill>
            <a:srgbClr val="E0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70832" y="1481328"/>
            <a:ext cx="3456432" cy="109728"/>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72000" y="1682496"/>
            <a:ext cx="3054096"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009E73"/>
                </a:solidFill>
                <a:latin typeface="Arial"/>
              </a:rPr>
              <a:t>2 • MECHANISM + SEX?</a:t>
            </a:r>
          </a:p>
        </p:txBody>
      </p:sp>
      <p:sp>
        <p:nvSpPr>
          <p:cNvPr id="15" name="TextBox 14"/>
          <p:cNvSpPr txBox="1"/>
          <p:nvPr/>
        </p:nvSpPr>
        <p:spPr>
          <a:xfrm>
            <a:off x="4572000" y="1920240"/>
            <a:ext cx="3054096" cy="30175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50" b="1" i="0">
                <a:solidFill>
                  <a:srgbClr val="0F233D"/>
                </a:solidFill>
                <a:latin typeface="Arial"/>
              </a:rPr>
              <a:t>GSE241553</a:t>
            </a:r>
          </a:p>
        </p:txBody>
      </p:sp>
      <p:sp>
        <p:nvSpPr>
          <p:cNvPr id="16" name="TextBox 15"/>
          <p:cNvSpPr txBox="1"/>
          <p:nvPr/>
        </p:nvSpPr>
        <p:spPr>
          <a:xfrm>
            <a:off x="4572000" y="2258568"/>
            <a:ext cx="3054096" cy="32918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20" b="1" i="0">
                <a:solidFill>
                  <a:srgbClr val="232A33"/>
                </a:solidFill>
                <a:latin typeface="Arial"/>
              </a:rPr>
              <a:t>Microglia/CAM apoE3-versus-apoE4 induction under amyloid</a:t>
            </a:r>
          </a:p>
        </p:txBody>
      </p:sp>
      <p:sp>
        <p:nvSpPr>
          <p:cNvPr id="17" name="TextBox 16"/>
          <p:cNvSpPr txBox="1"/>
          <p:nvPr/>
        </p:nvSpPr>
        <p:spPr>
          <a:xfrm>
            <a:off x="4572000" y="2633472"/>
            <a:ext cx="3054096"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9" b="0" i="1">
                <a:solidFill>
                  <a:srgbClr val="606C7B"/>
                </a:solidFill>
                <a:latin typeface="Arial"/>
              </a:rPr>
              <a:t>Conditional induction • no non-amyloid arm</a:t>
            </a:r>
          </a:p>
        </p:txBody>
      </p:sp>
      <p:sp>
        <p:nvSpPr>
          <p:cNvPr id="18" name="Rounded Rectangle 17"/>
          <p:cNvSpPr/>
          <p:nvPr/>
        </p:nvSpPr>
        <p:spPr>
          <a:xfrm>
            <a:off x="8229600" y="1481328"/>
            <a:ext cx="3456432" cy="1463040"/>
          </a:xfrm>
          <a:prstGeom prst="roundRect">
            <a:avLst/>
          </a:prstGeom>
          <a:solidFill>
            <a:srgbClr val="F0E9F7"/>
          </a:solidFill>
          <a:ln w="1905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229600" y="1481328"/>
            <a:ext cx="3456432" cy="109728"/>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30768" y="1682496"/>
            <a:ext cx="3054096"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19" b="1" i="0">
                <a:solidFill>
                  <a:srgbClr val="7E4C9A"/>
                </a:solidFill>
                <a:latin typeface="Arial"/>
              </a:rPr>
              <a:t>3 • FACTORIAL SUPPORT?</a:t>
            </a:r>
          </a:p>
        </p:txBody>
      </p:sp>
      <p:sp>
        <p:nvSpPr>
          <p:cNvPr id="21" name="TextBox 20"/>
          <p:cNvSpPr txBox="1"/>
          <p:nvPr/>
        </p:nvSpPr>
        <p:spPr>
          <a:xfrm>
            <a:off x="8430768" y="1920240"/>
            <a:ext cx="3054096" cy="30175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750" b="1" i="0">
                <a:solidFill>
                  <a:srgbClr val="0F233D"/>
                </a:solidFill>
                <a:latin typeface="Arial"/>
              </a:rPr>
              <a:t>GSE163857</a:t>
            </a:r>
          </a:p>
        </p:txBody>
      </p:sp>
      <p:sp>
        <p:nvSpPr>
          <p:cNvPr id="22" name="TextBox 21"/>
          <p:cNvSpPr txBox="1"/>
          <p:nvPr/>
        </p:nvSpPr>
        <p:spPr>
          <a:xfrm>
            <a:off x="8430768" y="2258568"/>
            <a:ext cx="3054096" cy="32918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120" b="1" i="0">
                <a:solidFill>
                  <a:srgbClr val="232A33"/>
                </a:solidFill>
                <a:latin typeface="Arial"/>
              </a:rPr>
              <a:t>APOE × sex × 5xFAD/control in microglia</a:t>
            </a:r>
          </a:p>
        </p:txBody>
      </p:sp>
      <p:sp>
        <p:nvSpPr>
          <p:cNvPr id="23" name="TextBox 22"/>
          <p:cNvSpPr txBox="1"/>
          <p:nvPr/>
        </p:nvSpPr>
        <p:spPr>
          <a:xfrm>
            <a:off x="8430768" y="2633472"/>
            <a:ext cx="3054096" cy="20116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869" b="0" i="1">
                <a:solidFill>
                  <a:srgbClr val="606C7B"/>
                </a:solidFill>
                <a:latin typeface="Arial"/>
              </a:rPr>
              <a:t>Bulk, non-regional • small control groups</a:t>
            </a:r>
          </a:p>
        </p:txBody>
      </p:sp>
      <p:sp>
        <p:nvSpPr>
          <p:cNvPr id="24" name="TextBox 23"/>
          <p:cNvSpPr txBox="1"/>
          <p:nvPr/>
        </p:nvSpPr>
        <p:spPr>
          <a:xfrm>
            <a:off x="548640" y="3090672"/>
            <a:ext cx="1106424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19" b="1" i="0">
                <a:solidFill>
                  <a:srgbClr val="E69F00"/>
                </a:solidFill>
                <a:latin typeface="Arial"/>
              </a:rPr>
              <a:t>ADD ONE DISEASE-DIRECTION LAYER MATCHED TO THE HUMAN CELL TYPE</a:t>
            </a:r>
          </a:p>
        </p:txBody>
      </p:sp>
      <p:sp>
        <p:nvSpPr>
          <p:cNvPr id="25" name="Rounded Rectangle 24"/>
          <p:cNvSpPr/>
          <p:nvPr/>
        </p:nvSpPr>
        <p:spPr>
          <a:xfrm>
            <a:off x="502920" y="3429000"/>
            <a:ext cx="2587752" cy="566928"/>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12648" y="3511296"/>
            <a:ext cx="804672"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60" b="1" i="0">
                <a:solidFill>
                  <a:srgbClr val="E69F00"/>
                </a:solidFill>
                <a:latin typeface="Arial"/>
              </a:rPr>
              <a:t>MICROGLIA</a:t>
            </a:r>
          </a:p>
        </p:txBody>
      </p:sp>
      <p:sp>
        <p:nvSpPr>
          <p:cNvPr id="27" name="TextBox 26"/>
          <p:cNvSpPr txBox="1"/>
          <p:nvPr/>
        </p:nvSpPr>
        <p:spPr>
          <a:xfrm>
            <a:off x="1472184" y="3447288"/>
            <a:ext cx="1490472"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80" b="1" i="0">
                <a:solidFill>
                  <a:srgbClr val="0F233D"/>
                </a:solidFill>
                <a:latin typeface="Arial"/>
              </a:rPr>
              <a:t>GSE127892 / GSE140510</a:t>
            </a:r>
          </a:p>
        </p:txBody>
      </p:sp>
      <p:sp>
        <p:nvSpPr>
          <p:cNvPr id="28" name="Rounded Rectangle 27"/>
          <p:cNvSpPr/>
          <p:nvPr/>
        </p:nvSpPr>
        <p:spPr>
          <a:xfrm>
            <a:off x="3374136" y="3429000"/>
            <a:ext cx="2587752" cy="566928"/>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83864" y="3511296"/>
            <a:ext cx="804672"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60" b="1" i="0">
                <a:solidFill>
                  <a:srgbClr val="E69F00"/>
                </a:solidFill>
                <a:latin typeface="Arial"/>
              </a:rPr>
              <a:t>ASTROCYTES</a:t>
            </a:r>
          </a:p>
        </p:txBody>
      </p:sp>
      <p:sp>
        <p:nvSpPr>
          <p:cNvPr id="30" name="TextBox 29"/>
          <p:cNvSpPr txBox="1"/>
          <p:nvPr/>
        </p:nvSpPr>
        <p:spPr>
          <a:xfrm>
            <a:off x="4343400" y="3447288"/>
            <a:ext cx="1490472"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80" b="1" i="0">
                <a:solidFill>
                  <a:srgbClr val="0F233D"/>
                </a:solidFill>
                <a:latin typeface="Arial"/>
              </a:rPr>
              <a:t>GSE140399 + GSE143758</a:t>
            </a:r>
          </a:p>
        </p:txBody>
      </p:sp>
      <p:sp>
        <p:nvSpPr>
          <p:cNvPr id="31" name="Rounded Rectangle 30"/>
          <p:cNvSpPr/>
          <p:nvPr/>
        </p:nvSpPr>
        <p:spPr>
          <a:xfrm>
            <a:off x="6245352" y="3429000"/>
            <a:ext cx="2587752" cy="566928"/>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55080" y="3511296"/>
            <a:ext cx="804672"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60" b="1" i="0">
                <a:solidFill>
                  <a:srgbClr val="E69F00"/>
                </a:solidFill>
                <a:latin typeface="Arial"/>
              </a:rPr>
              <a:t>NEURONS / OLIGO</a:t>
            </a:r>
          </a:p>
        </p:txBody>
      </p:sp>
      <p:sp>
        <p:nvSpPr>
          <p:cNvPr id="33" name="TextBox 32"/>
          <p:cNvSpPr txBox="1"/>
          <p:nvPr/>
        </p:nvSpPr>
        <p:spPr>
          <a:xfrm>
            <a:off x="7214616" y="3447288"/>
            <a:ext cx="1490472"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80" b="1" i="0">
                <a:solidFill>
                  <a:srgbClr val="0F233D"/>
                </a:solidFill>
                <a:latin typeface="Arial"/>
              </a:rPr>
              <a:t>GSE140399 / GSE140510
+ GSE212606</a:t>
            </a:r>
          </a:p>
        </p:txBody>
      </p:sp>
      <p:sp>
        <p:nvSpPr>
          <p:cNvPr id="34" name="Rounded Rectangle 33"/>
          <p:cNvSpPr/>
          <p:nvPr/>
        </p:nvSpPr>
        <p:spPr>
          <a:xfrm>
            <a:off x="9116568" y="3429000"/>
            <a:ext cx="2587752" cy="566928"/>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226296" y="3511296"/>
            <a:ext cx="804672" cy="164592"/>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760" b="1" i="0">
                <a:solidFill>
                  <a:srgbClr val="E69F00"/>
                </a:solidFill>
                <a:latin typeface="Arial"/>
              </a:rPr>
              <a:t>VASCULAR</a:t>
            </a:r>
          </a:p>
        </p:txBody>
      </p:sp>
      <p:sp>
        <p:nvSpPr>
          <p:cNvPr id="36" name="TextBox 35"/>
          <p:cNvSpPr txBox="1"/>
          <p:nvPr/>
        </p:nvSpPr>
        <p:spPr>
          <a:xfrm>
            <a:off x="10085832" y="3447288"/>
            <a:ext cx="1490472" cy="3840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80" b="1" i="0">
                <a:solidFill>
                  <a:srgbClr val="0F233D"/>
                </a:solidFill>
                <a:latin typeface="Arial"/>
              </a:rPr>
              <a:t>GSE140399 / GSE212606</a:t>
            </a:r>
          </a:p>
        </p:txBody>
      </p:sp>
      <p:sp>
        <p:nvSpPr>
          <p:cNvPr id="37" name="TextBox 36"/>
          <p:cNvSpPr txBox="1"/>
          <p:nvPr/>
        </p:nvSpPr>
        <p:spPr>
          <a:xfrm>
            <a:off x="548640" y="4169663"/>
            <a:ext cx="11064240" cy="1828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19" b="1" i="0">
                <a:solidFill>
                  <a:srgbClr val="0F233D"/>
                </a:solidFill>
                <a:latin typeface="Arial"/>
              </a:rPr>
              <a:t>COMBINE CONCLUSIONS—NOT RAW COUNT MATRICES</a:t>
            </a:r>
          </a:p>
        </p:txBody>
      </p:sp>
      <p:sp>
        <p:nvSpPr>
          <p:cNvPr id="38" name="Rounded Rectangle 37"/>
          <p:cNvSpPr/>
          <p:nvPr/>
        </p:nvSpPr>
        <p:spPr>
          <a:xfrm>
            <a:off x="502920" y="4443984"/>
            <a:ext cx="2468880" cy="877824"/>
          </a:xfrm>
          <a:prstGeom prst="roundRect">
            <a:avLst/>
          </a:prstGeom>
          <a:solidFill>
            <a:srgbClr val="EFF3F7"/>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val 38"/>
          <p:cNvSpPr/>
          <p:nvPr/>
        </p:nvSpPr>
        <p:spPr>
          <a:xfrm>
            <a:off x="630936" y="4645152"/>
            <a:ext cx="384048" cy="384048"/>
          </a:xfrm>
          <a:prstGeom prst="ellipse">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0936" y="4681728"/>
            <a:ext cx="384048"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00" b="1" i="0">
                <a:solidFill>
                  <a:srgbClr val="FFFFFF"/>
                </a:solidFill>
                <a:latin typeface="Arial"/>
              </a:rPr>
              <a:t>1</a:t>
            </a:r>
          </a:p>
        </p:txBody>
      </p:sp>
      <p:sp>
        <p:nvSpPr>
          <p:cNvPr id="41" name="TextBox 40"/>
          <p:cNvSpPr txBox="1"/>
          <p:nvPr/>
        </p:nvSpPr>
        <p:spPr>
          <a:xfrm>
            <a:off x="1124712" y="4562856"/>
            <a:ext cx="1700784" cy="4572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1" i="0">
                <a:solidFill>
                  <a:srgbClr val="0F233D"/>
                </a:solidFill>
                <a:latin typeface="Arial"/>
              </a:rPr>
              <a:t>Freeze human PFC cell type, contrast, and module</a:t>
            </a:r>
          </a:p>
        </p:txBody>
      </p:sp>
      <p:sp>
        <p:nvSpPr>
          <p:cNvPr id="42" name="TextBox 41"/>
          <p:cNvSpPr txBox="1"/>
          <p:nvPr/>
        </p:nvSpPr>
        <p:spPr>
          <a:xfrm>
            <a:off x="2990088" y="4681728"/>
            <a:ext cx="329184" cy="22860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800" b="1" i="0">
                <a:solidFill>
                  <a:srgbClr val="606C7B"/>
                </a:solidFill>
                <a:latin typeface="Arial"/>
              </a:rPr>
              <a:t>→</a:t>
            </a:r>
          </a:p>
        </p:txBody>
      </p:sp>
      <p:sp>
        <p:nvSpPr>
          <p:cNvPr id="43" name="Rounded Rectangle 42"/>
          <p:cNvSpPr/>
          <p:nvPr/>
        </p:nvSpPr>
        <p:spPr>
          <a:xfrm>
            <a:off x="3337560" y="4443984"/>
            <a:ext cx="2468880" cy="877824"/>
          </a:xfrm>
          <a:prstGeom prst="roundRect">
            <a:avLst/>
          </a:prstGeom>
          <a:solidFill>
            <a:srgbClr val="EFF3F7"/>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3465576" y="4645152"/>
            <a:ext cx="384048" cy="384048"/>
          </a:xfrm>
          <a:prstGeom prst="ellipse">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465576" y="4681728"/>
            <a:ext cx="384048"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00" b="1" i="0">
                <a:solidFill>
                  <a:srgbClr val="FFFFFF"/>
                </a:solidFill>
                <a:latin typeface="Arial"/>
              </a:rPr>
              <a:t>2</a:t>
            </a:r>
          </a:p>
        </p:txBody>
      </p:sp>
      <p:sp>
        <p:nvSpPr>
          <p:cNvPr id="46" name="TextBox 45"/>
          <p:cNvSpPr txBox="1"/>
          <p:nvPr/>
        </p:nvSpPr>
        <p:spPr>
          <a:xfrm>
            <a:off x="3959352" y="4562856"/>
            <a:ext cx="1700784" cy="4572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1" i="0">
                <a:solidFill>
                  <a:srgbClr val="0F233D"/>
                </a:solidFill>
                <a:latin typeface="Arial"/>
              </a:rPr>
              <a:t>Analyze each study separately at mouse/pool level</a:t>
            </a:r>
          </a:p>
        </p:txBody>
      </p:sp>
      <p:sp>
        <p:nvSpPr>
          <p:cNvPr id="47" name="TextBox 46"/>
          <p:cNvSpPr txBox="1"/>
          <p:nvPr/>
        </p:nvSpPr>
        <p:spPr>
          <a:xfrm>
            <a:off x="5824728" y="4681728"/>
            <a:ext cx="329184" cy="22860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800" b="1" i="0">
                <a:solidFill>
                  <a:srgbClr val="606C7B"/>
                </a:solidFill>
                <a:latin typeface="Arial"/>
              </a:rPr>
              <a:t>→</a:t>
            </a:r>
          </a:p>
        </p:txBody>
      </p:sp>
      <p:sp>
        <p:nvSpPr>
          <p:cNvPr id="48" name="Rounded Rectangle 47"/>
          <p:cNvSpPr/>
          <p:nvPr/>
        </p:nvSpPr>
        <p:spPr>
          <a:xfrm>
            <a:off x="6172200" y="4443984"/>
            <a:ext cx="2468880" cy="877824"/>
          </a:xfrm>
          <a:prstGeom prst="roundRect">
            <a:avLst/>
          </a:prstGeom>
          <a:solidFill>
            <a:srgbClr val="EFF3F7"/>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val 48"/>
          <p:cNvSpPr/>
          <p:nvPr/>
        </p:nvSpPr>
        <p:spPr>
          <a:xfrm>
            <a:off x="6300216" y="4645152"/>
            <a:ext cx="384048" cy="384048"/>
          </a:xfrm>
          <a:prstGeom prst="ellipse">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300216" y="4681728"/>
            <a:ext cx="384048"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00" b="1" i="0">
                <a:solidFill>
                  <a:srgbClr val="FFFFFF"/>
                </a:solidFill>
                <a:latin typeface="Arial"/>
              </a:rPr>
              <a:t>3</a:t>
            </a:r>
          </a:p>
        </p:txBody>
      </p:sp>
      <p:sp>
        <p:nvSpPr>
          <p:cNvPr id="51" name="TextBox 50"/>
          <p:cNvSpPr txBox="1"/>
          <p:nvPr/>
        </p:nvSpPr>
        <p:spPr>
          <a:xfrm>
            <a:off x="6793992" y="4562856"/>
            <a:ext cx="1700784" cy="4572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1" i="0">
                <a:solidFill>
                  <a:srgbClr val="0F233D"/>
                </a:solidFill>
                <a:latin typeface="Arial"/>
              </a:rPr>
              <a:t>Compare orthologous direction and enrichment</a:t>
            </a:r>
          </a:p>
        </p:txBody>
      </p:sp>
      <p:sp>
        <p:nvSpPr>
          <p:cNvPr id="52" name="TextBox 51"/>
          <p:cNvSpPr txBox="1"/>
          <p:nvPr/>
        </p:nvSpPr>
        <p:spPr>
          <a:xfrm>
            <a:off x="8659368" y="4681728"/>
            <a:ext cx="329184" cy="22860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800" b="1" i="0">
                <a:solidFill>
                  <a:srgbClr val="606C7B"/>
                </a:solidFill>
                <a:latin typeface="Arial"/>
              </a:rPr>
              <a:t>→</a:t>
            </a:r>
          </a:p>
        </p:txBody>
      </p:sp>
      <p:sp>
        <p:nvSpPr>
          <p:cNvPr id="53" name="Rounded Rectangle 52"/>
          <p:cNvSpPr/>
          <p:nvPr/>
        </p:nvSpPr>
        <p:spPr>
          <a:xfrm>
            <a:off x="9006840" y="4443984"/>
            <a:ext cx="2468880" cy="877824"/>
          </a:xfrm>
          <a:prstGeom prst="roundRect">
            <a:avLst/>
          </a:prstGeom>
          <a:solidFill>
            <a:srgbClr val="EFF3F7"/>
          </a:solidFill>
          <a:ln w="12700">
            <a:solidFill>
              <a:srgbClr val="DCE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9134856" y="4645152"/>
            <a:ext cx="384048" cy="384048"/>
          </a:xfrm>
          <a:prstGeom prst="ellipse">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9134856" y="4681728"/>
            <a:ext cx="384048" cy="18288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000" b="1" i="0">
                <a:solidFill>
                  <a:srgbClr val="FFFFFF"/>
                </a:solidFill>
                <a:latin typeface="Arial"/>
              </a:rPr>
              <a:t>4</a:t>
            </a:r>
          </a:p>
        </p:txBody>
      </p:sp>
      <p:sp>
        <p:nvSpPr>
          <p:cNvPr id="56" name="TextBox 55"/>
          <p:cNvSpPr txBox="1"/>
          <p:nvPr/>
        </p:nvSpPr>
        <p:spPr>
          <a:xfrm>
            <a:off x="9628632" y="4562856"/>
            <a:ext cx="1700784" cy="45720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1" i="0">
                <a:solidFill>
                  <a:srgbClr val="0F233D"/>
                </a:solidFill>
                <a:latin typeface="Arial"/>
              </a:rPr>
              <a:t>Report convergent evidence with boundaries</a:t>
            </a:r>
          </a:p>
        </p:txBody>
      </p:sp>
      <p:sp>
        <p:nvSpPr>
          <p:cNvPr id="57" name="takeaway_ribbon"/>
          <p:cNvSpPr/>
          <p:nvPr/>
        </p:nvSpPr>
        <p:spPr>
          <a:xfrm>
            <a:off x="502920" y="5815584"/>
            <a:ext cx="11183112" cy="512064"/>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Rectangle 57"/>
          <p:cNvSpPr/>
          <p:nvPr/>
        </p:nvSpPr>
        <p:spPr>
          <a:xfrm>
            <a:off x="502920" y="5815584"/>
            <a:ext cx="91440" cy="5120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749808" y="5888736"/>
            <a:ext cx="10652760" cy="329184"/>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FFFFFF"/>
                </a:solidFill>
                <a:latin typeface="Arial"/>
              </a:rPr>
              <a:t>Report “triangulated external validation” or “convergent support”—not complete direct mouse PFC replication.</a:t>
            </a:r>
          </a:p>
        </p:txBody>
      </p:sp>
      <p:sp>
        <p:nvSpPr>
          <p:cNvPr id="60" name="source_line"/>
          <p:cNvSpPr txBox="1"/>
          <p:nvPr/>
        </p:nvSpPr>
        <p:spPr>
          <a:xfrm>
            <a:off x="502920" y="6620256"/>
            <a:ext cx="11155680" cy="1280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670" b="0" i="0">
                <a:solidFill>
                  <a:srgbClr val="606C7B"/>
                </a:solidFill>
                <a:latin typeface="Arial"/>
              </a:rPr>
              <a:t>Source: docs/validation_mouse/mouse_dataset_comparison.md, §§5, 8, 10, 13, and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TotalTime>
  <Words>5846</Words>
  <Application>Microsoft Macintosh PowerPoint</Application>
  <PresentationFormat>Widescreen</PresentationFormat>
  <Paragraphs>731</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Mouse Public-Dataset Comparison for Human PFC Validation</dc:title>
  <dc:subject>Eight-criterion assessment of 12 mouse dataset profiles</dc:subject>
  <dc:creator>Alzheimer project analysis team</dc:creator>
  <cp:keywords>mouse validation, PFC, APOE, sex, Alzheimer disease, scRNA-seq, snRNA-seq, GEO</cp:keywords>
  <dc:description>Generated from docs/validation_mouse/mouse_dataset_comparison.md. This deck summarizes dataset suitability and does not report new expression analysis. Source Markdown SHA-256: 1d6178dee8b717c5baa43148027110600f92621d4c327145626815868a8385aa.</dc:description>
  <cp:lastModifiedBy>Richard Zhuang</cp:lastModifiedBy>
  <cp:revision>6</cp:revision>
  <dcterms:created xsi:type="dcterms:W3CDTF">2013-01-27T09:14:16Z</dcterms:created>
  <dcterms:modified xsi:type="dcterms:W3CDTF">2026-08-24T00:26:21Z</dcterms:modified>
  <cp:category/>
</cp:coreProperties>
</file>