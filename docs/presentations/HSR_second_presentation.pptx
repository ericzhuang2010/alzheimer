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f5692903b842a6" /><Relationship Type="http://schemas.openxmlformats.org/officeDocument/2006/relationships/extended-properties" Target="/docProps/app.xml" Id="R6bd66aba3d434936" /><Relationship Type="http://schemas.openxmlformats.org/officeDocument/2006/relationships/officeDocument" Target="/ppt/presentation.xml" Id="R88232d7c1755479a" /></Relationships>
</file>

<file path=ppt/presentation.xml><?xml version="1.0" encoding="utf-8"?>
<p:presentation xmlns:p="http://schemas.openxmlformats.org/presentationml/2006/main">
  <p:sldMasterIdLst>
    <p:sldMasterId xmlns:r="http://schemas.openxmlformats.org/officeDocument/2006/relationships" id="2147483648" r:id="Rf41d3ff0781a4f74"/>
  </p:sldMasterIdLst>
  <p:notesMasterIdLst>
    <p:notesMasterId xmlns:r="http://schemas.openxmlformats.org/officeDocument/2006/relationships" r:id="R62e442a82f734119"/>
  </p:notesMasterIdLst>
  <p:sldIdLst>
    <p:sldId xmlns:r="http://schemas.openxmlformats.org/officeDocument/2006/relationships" id="256" r:id="Re1d5c347e0e04458"/>
    <p:sldId xmlns:r="http://schemas.openxmlformats.org/officeDocument/2006/relationships" id="257" r:id="R8785ae3808f5435e"/>
    <p:sldId xmlns:r="http://schemas.openxmlformats.org/officeDocument/2006/relationships" id="258" r:id="Ra0f820c6afd14282"/>
    <p:sldId xmlns:r="http://schemas.openxmlformats.org/officeDocument/2006/relationships" id="259" r:id="Rb5990a6428eb4dc8"/>
    <p:sldId xmlns:r="http://schemas.openxmlformats.org/officeDocument/2006/relationships" id="260" r:id="R6bdabc460b174b0c"/>
    <p:sldId xmlns:r="http://schemas.openxmlformats.org/officeDocument/2006/relationships" id="261" r:id="R7fbc999cf8904618"/>
    <p:sldId xmlns:r="http://schemas.openxmlformats.org/officeDocument/2006/relationships" id="262" r:id="R9ed8dfe25ef243f7"/>
    <p:sldId xmlns:r="http://schemas.openxmlformats.org/officeDocument/2006/relationships" id="263" r:id="Rf99c1a4135484ab9"/>
    <p:sldId xmlns:r="http://schemas.openxmlformats.org/officeDocument/2006/relationships" id="264" r:id="Rce6d1c101f4946e2"/>
    <p:sldId xmlns:r="http://schemas.openxmlformats.org/officeDocument/2006/relationships" id="265" r:id="Rec1ec492019e4079"/>
    <p:sldId xmlns:r="http://schemas.openxmlformats.org/officeDocument/2006/relationships" id="266" r:id="Re347d8d01cf049c6"/>
    <p:sldId xmlns:r="http://schemas.openxmlformats.org/officeDocument/2006/relationships" id="267" r:id="R55adc052e2b9475f"/>
    <p:sldId xmlns:r="http://schemas.openxmlformats.org/officeDocument/2006/relationships" id="268" r:id="Rf2bafcf54fef43ca"/>
    <p:sldId xmlns:r="http://schemas.openxmlformats.org/officeDocument/2006/relationships" id="269" r:id="R86fc9b5cecf2417d"/>
    <p:sldId xmlns:r="http://schemas.openxmlformats.org/officeDocument/2006/relationships" id="270" r:id="R1937041244a94a34"/>
    <p:sldId xmlns:r="http://schemas.openxmlformats.org/officeDocument/2006/relationships" id="271" r:id="Rf34db0e64d344d89"/>
    <p:sldId xmlns:r="http://schemas.openxmlformats.org/officeDocument/2006/relationships" id="272" r:id="R31f661065e8c4c4f"/>
    <p:sldId xmlns:r="http://schemas.openxmlformats.org/officeDocument/2006/relationships" id="273" r:id="Rcf336a5935ab4c14"/>
    <p:sldId xmlns:r="http://schemas.openxmlformats.org/officeDocument/2006/relationships" id="274" r:id="Rb69c67a8354a4d30"/>
    <p:sldId xmlns:r="http://schemas.openxmlformats.org/officeDocument/2006/relationships" id="275" r:id="Re28b691f70f54198"/>
    <p:sldId xmlns:r="http://schemas.openxmlformats.org/officeDocument/2006/relationships" id="276" r:id="R2666581e6e964318"/>
    <p:sldId xmlns:r="http://schemas.openxmlformats.org/officeDocument/2006/relationships" id="277" r:id="Raaabd8ea60a24520"/>
    <p:sldId xmlns:r="http://schemas.openxmlformats.org/officeDocument/2006/relationships" id="278" r:id="R6c1965d4e0224344"/>
    <p:sldId xmlns:r="http://schemas.openxmlformats.org/officeDocument/2006/relationships" id="279" r:id="Rb36403518622423b"/>
    <p:sldId xmlns:r="http://schemas.openxmlformats.org/officeDocument/2006/relationships" id="280" r:id="R6315b771482949cb"/>
    <p:sldId xmlns:r="http://schemas.openxmlformats.org/officeDocument/2006/relationships" id="281" r:id="R138bf72bcb784088"/>
    <p:sldId xmlns:r="http://schemas.openxmlformats.org/officeDocument/2006/relationships" id="282" r:id="Rd058a9f3dcd0470b"/>
    <p:sldId xmlns:r="http://schemas.openxmlformats.org/officeDocument/2006/relationships" id="283" r:id="Redf0c7f24cc94396"/>
    <p:sldId xmlns:r="http://schemas.openxmlformats.org/officeDocument/2006/relationships" id="284" r:id="R592eee66a9cb4762"/>
    <p:sldId xmlns:r="http://schemas.openxmlformats.org/officeDocument/2006/relationships" id="285" r:id="Rf07a7f52d7be4453"/>
    <p:sldId xmlns:r="http://schemas.openxmlformats.org/officeDocument/2006/relationships" id="286" r:id="R69c839d2d6be4b19"/>
    <p:sldId xmlns:r="http://schemas.openxmlformats.org/officeDocument/2006/relationships" id="287" r:id="R3878475dafb04159"/>
    <p:sldId xmlns:r="http://schemas.openxmlformats.org/officeDocument/2006/relationships" id="288" r:id="Re812c3eeb6764fde"/>
    <p:sldId xmlns:r="http://schemas.openxmlformats.org/officeDocument/2006/relationships" id="289" r:id="R22a8d60b63b74aa8"/>
    <p:sldId xmlns:r="http://schemas.openxmlformats.org/officeDocument/2006/relationships" id="290" r:id="R51a87f2183ef4cb6"/>
    <p:sldId xmlns:r="http://schemas.openxmlformats.org/officeDocument/2006/relationships" id="291" r:id="R2d07498eef30412f"/>
    <p:sldId xmlns:r="http://schemas.openxmlformats.org/officeDocument/2006/relationships" id="292" r:id="R11b5517a7bc9454a"/>
    <p:sldId xmlns:r="http://schemas.openxmlformats.org/officeDocument/2006/relationships" id="293" r:id="R32ad62a116344492"/>
    <p:sldId xmlns:r="http://schemas.openxmlformats.org/officeDocument/2006/relationships" id="294" r:id="R00beb2b66ab94727"/>
    <p:sldId xmlns:r="http://schemas.openxmlformats.org/officeDocument/2006/relationships" id="295" r:id="R3cccf290a43b40f9"/>
    <p:sldId xmlns:r="http://schemas.openxmlformats.org/officeDocument/2006/relationships" id="296" r:id="R619f07edaf11422f"/>
    <p:sldId xmlns:r="http://schemas.openxmlformats.org/officeDocument/2006/relationships" id="297" r:id="R6da2f55c65334869"/>
    <p:sldId xmlns:r="http://schemas.openxmlformats.org/officeDocument/2006/relationships" id="298" r:id="Rb56b74f6d6bf40e3"/>
    <p:sldId xmlns:r="http://schemas.openxmlformats.org/officeDocument/2006/relationships" id="299" r:id="R5b39f2de5fa84265"/>
    <p:sldId xmlns:r="http://schemas.openxmlformats.org/officeDocument/2006/relationships" id="300" r:id="R46440f8d3b564e2a"/>
    <p:sldId xmlns:r="http://schemas.openxmlformats.org/officeDocument/2006/relationships" id="301" r:id="Ra277410204eb4069"/>
    <p:sldId xmlns:r="http://schemas.openxmlformats.org/officeDocument/2006/relationships" id="302" r:id="R962741a7b3d44cd5"/>
    <p:sldId xmlns:r="http://schemas.openxmlformats.org/officeDocument/2006/relationships" id="303" r:id="R31db2a0599c2427c"/>
    <p:sldId xmlns:r="http://schemas.openxmlformats.org/officeDocument/2006/relationships" id="304" r:id="R1f87e5d9af6e4e5a"/>
    <p:sldId xmlns:r="http://schemas.openxmlformats.org/officeDocument/2006/relationships" id="305" r:id="Rd827546045824e1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cb84920ddee4feb" /><Relationship Type="http://schemas.openxmlformats.org/officeDocument/2006/relationships/slideMaster" Target="/ppt/slideMasters/slideMaster1.xml" Id="Rf41d3ff0781a4f74" /><Relationship Type="http://schemas.openxmlformats.org/officeDocument/2006/relationships/notesMaster" Target="/ppt/notesMasters/notesMaster1.xml" Id="R62e442a82f734119" /><Relationship Type="http://schemas.openxmlformats.org/officeDocument/2006/relationships/presProps" Target="/ppt/presProps.xml" Id="R6aec9220ae4941f4" /><Relationship Type="http://schemas.openxmlformats.org/officeDocument/2006/relationships/viewProps" Target="/ppt/viewProps.xml" Id="R80bc3ab3c33a4e67" /><Relationship Type="http://schemas.openxmlformats.org/officeDocument/2006/relationships/tableStyles" Target="/ppt/tableStyles.xml" Id="R83d012199fe14a7f" /><Relationship Type="http://schemas.openxmlformats.org/officeDocument/2006/relationships/slide" Target="/ppt/slides/slide1.xml" Id="Re1d5c347e0e04458" /><Relationship Type="http://schemas.openxmlformats.org/officeDocument/2006/relationships/slide" Target="/ppt/slides/slide2.xml" Id="R8785ae3808f5435e" /><Relationship Type="http://schemas.openxmlformats.org/officeDocument/2006/relationships/slide" Target="/ppt/slides/slide3.xml" Id="Ra0f820c6afd14282" /><Relationship Type="http://schemas.openxmlformats.org/officeDocument/2006/relationships/slide" Target="/ppt/slides/slide4.xml" Id="Rb5990a6428eb4dc8" /><Relationship Type="http://schemas.openxmlformats.org/officeDocument/2006/relationships/slide" Target="/ppt/slides/slide5.xml" Id="R6bdabc460b174b0c" /><Relationship Type="http://schemas.openxmlformats.org/officeDocument/2006/relationships/slide" Target="/ppt/slides/slide6.xml" Id="R7fbc999cf8904618" /><Relationship Type="http://schemas.openxmlformats.org/officeDocument/2006/relationships/slide" Target="/ppt/slides/slide7.xml" Id="R9ed8dfe25ef243f7" /><Relationship Type="http://schemas.openxmlformats.org/officeDocument/2006/relationships/slide" Target="/ppt/slides/slide8.xml" Id="Rf99c1a4135484ab9" /><Relationship Type="http://schemas.openxmlformats.org/officeDocument/2006/relationships/slide" Target="/ppt/slides/slide9.xml" Id="Rce6d1c101f4946e2" /><Relationship Type="http://schemas.openxmlformats.org/officeDocument/2006/relationships/slide" Target="/ppt/slides/slide10.xml" Id="Rec1ec492019e4079" /><Relationship Type="http://schemas.openxmlformats.org/officeDocument/2006/relationships/slide" Target="/ppt/slides/slide11.xml" Id="Re347d8d01cf049c6" /><Relationship Type="http://schemas.openxmlformats.org/officeDocument/2006/relationships/slide" Target="/ppt/slides/slide12.xml" Id="R55adc052e2b9475f" /><Relationship Type="http://schemas.openxmlformats.org/officeDocument/2006/relationships/slide" Target="/ppt/slides/slide13.xml" Id="Rf2bafcf54fef43ca" /><Relationship Type="http://schemas.openxmlformats.org/officeDocument/2006/relationships/slide" Target="/ppt/slides/slide14.xml" Id="R86fc9b5cecf2417d" /><Relationship Type="http://schemas.openxmlformats.org/officeDocument/2006/relationships/slide" Target="/ppt/slides/slide15.xml" Id="R1937041244a94a34" /><Relationship Type="http://schemas.openxmlformats.org/officeDocument/2006/relationships/slide" Target="/ppt/slides/slide16.xml" Id="Rf34db0e64d344d89" /><Relationship Type="http://schemas.openxmlformats.org/officeDocument/2006/relationships/slide" Target="/ppt/slides/slide17.xml" Id="R31f661065e8c4c4f" /><Relationship Type="http://schemas.openxmlformats.org/officeDocument/2006/relationships/slide" Target="/ppt/slides/slide18.xml" Id="Rcf336a5935ab4c14" /><Relationship Type="http://schemas.openxmlformats.org/officeDocument/2006/relationships/slide" Target="/ppt/slides/slide19.xml" Id="Rb69c67a8354a4d30" /><Relationship Type="http://schemas.openxmlformats.org/officeDocument/2006/relationships/slide" Target="/ppt/slides/slide20.xml" Id="Re28b691f70f54198" /><Relationship Type="http://schemas.openxmlformats.org/officeDocument/2006/relationships/slide" Target="/ppt/slides/slide21.xml" Id="R2666581e6e964318" /><Relationship Type="http://schemas.openxmlformats.org/officeDocument/2006/relationships/slide" Target="/ppt/slides/slide22.xml" Id="Raaabd8ea60a24520" /><Relationship Type="http://schemas.openxmlformats.org/officeDocument/2006/relationships/slide" Target="/ppt/slides/slide23.xml" Id="R6c1965d4e0224344" /><Relationship Type="http://schemas.openxmlformats.org/officeDocument/2006/relationships/slide" Target="/ppt/slides/slide24.xml" Id="Rb36403518622423b" /><Relationship Type="http://schemas.openxmlformats.org/officeDocument/2006/relationships/slide" Target="/ppt/slides/slide25.xml" Id="R6315b771482949cb" /><Relationship Type="http://schemas.openxmlformats.org/officeDocument/2006/relationships/slide" Target="/ppt/slides/slide26.xml" Id="R138bf72bcb784088" /><Relationship Type="http://schemas.openxmlformats.org/officeDocument/2006/relationships/slide" Target="/ppt/slides/slide27.xml" Id="Rd058a9f3dcd0470b" /><Relationship Type="http://schemas.openxmlformats.org/officeDocument/2006/relationships/slide" Target="/ppt/slides/slide28.xml" Id="Redf0c7f24cc94396" /><Relationship Type="http://schemas.openxmlformats.org/officeDocument/2006/relationships/slide" Target="/ppt/slides/slide29.xml" Id="R592eee66a9cb4762" /><Relationship Type="http://schemas.openxmlformats.org/officeDocument/2006/relationships/slide" Target="/ppt/slides/slide30.xml" Id="Rf07a7f52d7be4453" /><Relationship Type="http://schemas.openxmlformats.org/officeDocument/2006/relationships/slide" Target="/ppt/slides/slide31.xml" Id="R69c839d2d6be4b19" /><Relationship Type="http://schemas.openxmlformats.org/officeDocument/2006/relationships/slide" Target="/ppt/slides/slide32.xml" Id="R3878475dafb04159" /><Relationship Type="http://schemas.openxmlformats.org/officeDocument/2006/relationships/slide" Target="/ppt/slides/slide33.xml" Id="Re812c3eeb6764fde" /><Relationship Type="http://schemas.openxmlformats.org/officeDocument/2006/relationships/slide" Target="/ppt/slides/slide34.xml" Id="R22a8d60b63b74aa8" /><Relationship Type="http://schemas.openxmlformats.org/officeDocument/2006/relationships/slide" Target="/ppt/slides/slide35.xml" Id="R51a87f2183ef4cb6" /><Relationship Type="http://schemas.openxmlformats.org/officeDocument/2006/relationships/slide" Target="/ppt/slides/slide36.xml" Id="R2d07498eef30412f" /><Relationship Type="http://schemas.openxmlformats.org/officeDocument/2006/relationships/slide" Target="/ppt/slides/slide37.xml" Id="R11b5517a7bc9454a" /><Relationship Type="http://schemas.openxmlformats.org/officeDocument/2006/relationships/slide" Target="/ppt/slides/slide38.xml" Id="R32ad62a116344492" /><Relationship Type="http://schemas.openxmlformats.org/officeDocument/2006/relationships/slide" Target="/ppt/slides/slide39.xml" Id="R00beb2b66ab94727" /><Relationship Type="http://schemas.openxmlformats.org/officeDocument/2006/relationships/slide" Target="/ppt/slides/slide40.xml" Id="R3cccf290a43b40f9" /><Relationship Type="http://schemas.openxmlformats.org/officeDocument/2006/relationships/slide" Target="/ppt/slides/slide41.xml" Id="R619f07edaf11422f" /><Relationship Type="http://schemas.openxmlformats.org/officeDocument/2006/relationships/slide" Target="/ppt/slides/slide42.xml" Id="R6da2f55c65334869" /><Relationship Type="http://schemas.openxmlformats.org/officeDocument/2006/relationships/slide" Target="/ppt/slides/slide43.xml" Id="Rb56b74f6d6bf40e3" /><Relationship Type="http://schemas.openxmlformats.org/officeDocument/2006/relationships/slide" Target="/ppt/slides/slide44.xml" Id="R5b39f2de5fa84265" /><Relationship Type="http://schemas.openxmlformats.org/officeDocument/2006/relationships/slide" Target="/ppt/slides/slide45.xml" Id="R46440f8d3b564e2a" /><Relationship Type="http://schemas.openxmlformats.org/officeDocument/2006/relationships/slide" Target="/ppt/slides/slide46.xml" Id="Ra277410204eb4069" /><Relationship Type="http://schemas.openxmlformats.org/officeDocument/2006/relationships/slide" Target="/ppt/slides/slide47.xml" Id="R962741a7b3d44cd5" /><Relationship Type="http://schemas.openxmlformats.org/officeDocument/2006/relationships/slide" Target="/ppt/slides/slide48.xml" Id="R31db2a0599c2427c" /><Relationship Type="http://schemas.openxmlformats.org/officeDocument/2006/relationships/slide" Target="/ppt/slides/slide49.xml" Id="R1f87e5d9af6e4e5a" /><Relationship Type="http://schemas.openxmlformats.org/officeDocument/2006/relationships/slide" Target="/ppt/slides/slide50.xml" Id="Rd827546045824e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5bcba238fc45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fe0b69e0c74b9b" /><Relationship Type="http://schemas.openxmlformats.org/officeDocument/2006/relationships/notesMaster" Target="/ppt/notesMasters/notesMaster1.xml" Id="R9e9677a3053548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11f4e185d64256" /><Relationship Type="http://schemas.openxmlformats.org/officeDocument/2006/relationships/notesMaster" Target="/ppt/notesMasters/notesMaster1.xml" Id="Rab3fa9db96554e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fdb7088c6e4368" /><Relationship Type="http://schemas.openxmlformats.org/officeDocument/2006/relationships/notesMaster" Target="/ppt/notesMasters/notesMaster1.xml" Id="R7f13a79c30fe43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2610a8d7104f28" /><Relationship Type="http://schemas.openxmlformats.org/officeDocument/2006/relationships/notesMaster" Target="/ppt/notesMasters/notesMaster1.xml" Id="R19b1e40c559140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31d2569eb4ef1" /><Relationship Type="http://schemas.openxmlformats.org/officeDocument/2006/relationships/notesMaster" Target="/ppt/notesMasters/notesMaster1.xml" Id="R0da269283fef40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30b42f1a1d4665" /><Relationship Type="http://schemas.openxmlformats.org/officeDocument/2006/relationships/notesMaster" Target="/ppt/notesMasters/notesMaster1.xml" Id="R1b1cc5a835b24f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604e0f1e964145" /><Relationship Type="http://schemas.openxmlformats.org/officeDocument/2006/relationships/notesMaster" Target="/ppt/notesMasters/notesMaster1.xml" Id="R940e6b3140fd4c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c3a17badbf423e" /><Relationship Type="http://schemas.openxmlformats.org/officeDocument/2006/relationships/notesMaster" Target="/ppt/notesMasters/notesMaster1.xml" Id="R5fce421a1e5143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d77e487f8c4878" /><Relationship Type="http://schemas.openxmlformats.org/officeDocument/2006/relationships/notesMaster" Target="/ppt/notesMasters/notesMaster1.xml" Id="Rb8b3c16f5f3d48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d7a41c6d4c43ef" /><Relationship Type="http://schemas.openxmlformats.org/officeDocument/2006/relationships/notesMaster" Target="/ppt/notesMasters/notesMaster1.xml" Id="R87cb7ecf456642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c391095e5e40a2" /><Relationship Type="http://schemas.openxmlformats.org/officeDocument/2006/relationships/notesMaster" Target="/ppt/notesMasters/notesMaster1.xml" Id="R1f3df1b2f85b46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8252bfa17a44c5" /><Relationship Type="http://schemas.openxmlformats.org/officeDocument/2006/relationships/notesMaster" Target="/ppt/notesMasters/notesMaster1.xml" Id="R2deff7bd601f4b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ca75e3b9cd475f" /><Relationship Type="http://schemas.openxmlformats.org/officeDocument/2006/relationships/notesMaster" Target="/ppt/notesMasters/notesMaster1.xml" Id="R708a2284b39f4a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0cee8395a14e5b" /><Relationship Type="http://schemas.openxmlformats.org/officeDocument/2006/relationships/notesMaster" Target="/ppt/notesMasters/notesMaster1.xml" Id="Rc66466b536b94c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f344c2bd8e4396" /><Relationship Type="http://schemas.openxmlformats.org/officeDocument/2006/relationships/notesMaster" Target="/ppt/notesMasters/notesMaster1.xml" Id="R4786002439c640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d490068ce348aa" /><Relationship Type="http://schemas.openxmlformats.org/officeDocument/2006/relationships/notesMaster" Target="/ppt/notesMasters/notesMaster1.xml" Id="Rb810d29e44e846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9e38e7e8cd4b9d" /><Relationship Type="http://schemas.openxmlformats.org/officeDocument/2006/relationships/notesMaster" Target="/ppt/notesMasters/notesMaster1.xml" Id="R5c9f491f5b844c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087c1aa9764f1f" /><Relationship Type="http://schemas.openxmlformats.org/officeDocument/2006/relationships/notesMaster" Target="/ppt/notesMasters/notesMaster1.xml" Id="R2b425bb62dbb43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21b7e6a3e34ebd" /><Relationship Type="http://schemas.openxmlformats.org/officeDocument/2006/relationships/notesMaster" Target="/ppt/notesMasters/notesMaster1.xml" Id="Rbc0087da78244e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6f172f3bb14d93" /><Relationship Type="http://schemas.openxmlformats.org/officeDocument/2006/relationships/notesMaster" Target="/ppt/notesMasters/notesMaster1.xml" Id="Rb747a16e0efa47d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0b5a3920fd41cd" /><Relationship Type="http://schemas.openxmlformats.org/officeDocument/2006/relationships/notesMaster" Target="/ppt/notesMasters/notesMaster1.xml" Id="R8b9c824b901544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3fa586b8f14a19" /><Relationship Type="http://schemas.openxmlformats.org/officeDocument/2006/relationships/notesMaster" Target="/ppt/notesMasters/notesMaster1.xml" Id="R02c22ea49d0f4c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b302ae9ab54d89" /><Relationship Type="http://schemas.openxmlformats.org/officeDocument/2006/relationships/notesMaster" Target="/ppt/notesMasters/notesMaster1.xml" Id="R8f1a3707db124c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d2a36fdb5074644" /><Relationship Type="http://schemas.openxmlformats.org/officeDocument/2006/relationships/notesMaster" Target="/ppt/notesMasters/notesMaster1.xml" Id="R187f11a9427848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6d6aa3257064e04" /><Relationship Type="http://schemas.openxmlformats.org/officeDocument/2006/relationships/notesMaster" Target="/ppt/notesMasters/notesMaster1.xml" Id="Raf78f54f6a3d44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11207196ef4e5e" /><Relationship Type="http://schemas.openxmlformats.org/officeDocument/2006/relationships/notesMaster" Target="/ppt/notesMasters/notesMaster1.xml" Id="R7e4c2f14f85747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4c247495bf4e5b" /><Relationship Type="http://schemas.openxmlformats.org/officeDocument/2006/relationships/notesMaster" Target="/ppt/notesMasters/notesMaster1.xml" Id="R18214263ecd54ab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16e15fc0c64ab2" /><Relationship Type="http://schemas.openxmlformats.org/officeDocument/2006/relationships/notesMaster" Target="/ppt/notesMasters/notesMaster1.xml" Id="R5a846e069d9743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448e61d49d4d01" /><Relationship Type="http://schemas.openxmlformats.org/officeDocument/2006/relationships/notesMaster" Target="/ppt/notesMasters/notesMaster1.xml" Id="Rce63bf1fd9ee41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88e59706de04495" /><Relationship Type="http://schemas.openxmlformats.org/officeDocument/2006/relationships/notesMaster" Target="/ppt/notesMasters/notesMaster1.xml" Id="R9648b8359d6449a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164d1ebfa44445" /><Relationship Type="http://schemas.openxmlformats.org/officeDocument/2006/relationships/notesMaster" Target="/ppt/notesMasters/notesMaster1.xml" Id="R07fa159f00074d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7c653e3ea64788" /><Relationship Type="http://schemas.openxmlformats.org/officeDocument/2006/relationships/notesMaster" Target="/ppt/notesMasters/notesMaster1.xml" Id="Rdd9560d7213b456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8bb5643354e4607" /><Relationship Type="http://schemas.openxmlformats.org/officeDocument/2006/relationships/notesMaster" Target="/ppt/notesMasters/notesMaster1.xml" Id="R6c9e6b1ada41448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b3fc9f4a3c94831" /><Relationship Type="http://schemas.openxmlformats.org/officeDocument/2006/relationships/notesMaster" Target="/ppt/notesMasters/notesMaster1.xml" Id="Ra81bd8fc65b54b7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77c523189c04e87" /><Relationship Type="http://schemas.openxmlformats.org/officeDocument/2006/relationships/notesMaster" Target="/ppt/notesMasters/notesMaster1.xml" Id="R16193dbe798942b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46d6e4ed0a3490a" /><Relationship Type="http://schemas.openxmlformats.org/officeDocument/2006/relationships/notesMaster" Target="/ppt/notesMasters/notesMaster1.xml" Id="Rabc7d32b0141417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5e0384f95b54930" /><Relationship Type="http://schemas.openxmlformats.org/officeDocument/2006/relationships/notesMaster" Target="/ppt/notesMasters/notesMaster1.xml" Id="R031956ccdce14e4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52901bc5ef4259" /><Relationship Type="http://schemas.openxmlformats.org/officeDocument/2006/relationships/notesMaster" Target="/ppt/notesMasters/notesMaster1.xml" Id="R5e8dc6bf909847e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67fb829824a4617" /><Relationship Type="http://schemas.openxmlformats.org/officeDocument/2006/relationships/notesMaster" Target="/ppt/notesMasters/notesMaster1.xml" Id="Rf74e859fa57349f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d2861e71aae45df" /><Relationship Type="http://schemas.openxmlformats.org/officeDocument/2006/relationships/notesMaster" Target="/ppt/notesMasters/notesMaster1.xml" Id="R987f1e07728b4ad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f52547efe584820" /><Relationship Type="http://schemas.openxmlformats.org/officeDocument/2006/relationships/notesMaster" Target="/ppt/notesMasters/notesMaster1.xml" Id="Rc57727479afc42d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c2e9ad6c2784e9c" /><Relationship Type="http://schemas.openxmlformats.org/officeDocument/2006/relationships/notesMaster" Target="/ppt/notesMasters/notesMaster1.xml" Id="Rbce679ea68314f2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129733fcddf4105" /><Relationship Type="http://schemas.openxmlformats.org/officeDocument/2006/relationships/notesMaster" Target="/ppt/notesMasters/notesMaster1.xml" Id="R302e39c7a6a247d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2a869d9a0d74b98" /><Relationship Type="http://schemas.openxmlformats.org/officeDocument/2006/relationships/notesMaster" Target="/ppt/notesMasters/notesMaster1.xml" Id="Rc24e8b4f61bc46b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ee6c969802244c8" /><Relationship Type="http://schemas.openxmlformats.org/officeDocument/2006/relationships/notesMaster" Target="/ppt/notesMasters/notesMaster1.xml" Id="R255d653320994d1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7bcc6edc0204325" /><Relationship Type="http://schemas.openxmlformats.org/officeDocument/2006/relationships/notesMaster" Target="/ppt/notesMasters/notesMaster1.xml" Id="R85004566682742c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9956ca894f14013" /><Relationship Type="http://schemas.openxmlformats.org/officeDocument/2006/relationships/notesMaster" Target="/ppt/notesMasters/notesMaster1.xml" Id="Rd6b68624943642c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c00535b07834db7" /><Relationship Type="http://schemas.openxmlformats.org/officeDocument/2006/relationships/notesMaster" Target="/ppt/notesMasters/notesMaster1.xml" Id="R4f801a3b33c64bc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3d566fe06d4dfd" /><Relationship Type="http://schemas.openxmlformats.org/officeDocument/2006/relationships/notesMaster" Target="/ppt/notesMasters/notesMaster1.xml" Id="Rcc193bf3b59a46c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48baabb9de9413f" /><Relationship Type="http://schemas.openxmlformats.org/officeDocument/2006/relationships/notesMaster" Target="/ppt/notesMasters/notesMaster1.xml" Id="Rc02a265893044a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xmlns:a="http://schemas.openxmlformats.org/drawingml/2006/main">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endParaRPr/>
          </a:p>
          <a:p xmlns:a="http://schemas.openxmlformats.org/drawingml/2006/main">
            <a:r>
              <a:t>Transition: Begin with Part 1, the study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study moves from cell-level gene expression to candidate prioritization and validation.</a:t>
            </a:r>
          </a:p>
          <a:p xmlns:a="http://schemas.openxmlformats.org/drawingml/2006/main">
            <a:endParaRPr/>
          </a:p>
          <a:p xmlns:a="http://schemas.openxmlformats.org/drawingml/2006/main">
            <a:r>
              <a:t>Walk through: First, DEG analysis identifies genes with higher or lower RNA abundance in Alzheimer’s disease within each fine-cell, sex, and APOE comparison. Second, pathway analysis summarizes the mitochondrial processes represented among those DEGs. Third, key driver analysis, abbreviated KDA, uses gene networks to nominate genes connected to the MitoCarta MT DEGs.</a:t>
            </a:r>
          </a:p>
          <a:p xmlns:a="http://schemas.openxmlformats.org/drawingml/2006/main">
            <a:endParaRPr/>
          </a:p>
          <a:p xmlns:a="http://schemas.openxmlformats.org/drawingml/2006/main">
            <a:r>
              <a:t>Fourth, genetic support evaluates candidate genes using Alzheimer’s genetic-association and gene-regulation evidence. This provides gene-level support. It does not by itself validate the cell type, sex or APOE group, or network connections from the KDA calls.</a:t>
            </a:r>
          </a:p>
          <a:p xmlns:a="http://schemas.openxmlformats.org/drawingml/2006/main">
            <a:endParaRPr/>
          </a:p>
          <a:p xmlns:a="http://schemas.openxmlformats.org/drawingml/2006/main">
            <a:r>
              <a:t>Fifth, human validation compares the ROSMAP findings with SEA-AD and with direct broad-cell analyses. The final stage shown here is mouse validation, which would test selected candidates and mitochondrial function in targeted models.</a:t>
            </a:r>
          </a:p>
          <a:p xmlns:a="http://schemas.openxmlformats.org/drawingml/2006/main">
            <a:endParaRPr/>
          </a:p>
          <a:p xmlns:a="http://schemas.openxmlformats.org/drawingml/2006/main">
            <a:r>
              <a:t>Scientific boundary: DEG analysis, pathway analysis, KDA, genetic support, and human validation contribute evidence presented in this deck. Mouse validation remains a potential next step and does not contribute evidence to the current findings.</a:t>
            </a:r>
          </a:p>
          <a:p xmlns:a="http://schemas.openxmlformats.org/drawingml/2006/main">
            <a:endParaRPr/>
          </a:p>
          <a:p xmlns:a="http://schemas.openxmlformats.org/drawingml/2006/main">
            <a:r>
              <a:t>Transition: Next, introduce the two human brain cohorts.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Distinguish the roles and scales of ROSMAP and SEA-AD before presenting the analyses.</a:t>
            </a:r>
          </a:p>
          <a:p xmlns:a="http://schemas.openxmlformats.org/drawingml/2006/main">
            <a:endParaRPr/>
          </a:p>
          <a:p xmlns:a="http://schemas.openxmlformats.org/drawingml/2006/main">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xmlns:a="http://schemas.openxmlformats.org/drawingml/2006/main">
            <a:endParaRPr/>
          </a:p>
          <a:p xmlns:a="http://schemas.openxmlformats.org/drawingml/2006/main">
            <a:r>
              <a:t>Scientific boundary: Planned comparisons describe the study design. They are not counts of estimable comparisons or completed KDA calls. The cohorts also use cohort-specific network backgrounds, and SEA-AD coverage is uneven across sex and APOE groups.</a:t>
            </a:r>
          </a:p>
          <a:p xmlns:a="http://schemas.openxmlformats.org/drawingml/2006/main">
            <a:endParaRPr/>
          </a:p>
          <a:p xmlns:a="http://schemas.openxmlformats.org/drawingml/2006/main">
            <a:r>
              <a:t>Transition: Next, define the mitochondrial gene sets used throughout the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structural OXPHOS gene set is contained within the MitoCarta MT inventory.</a:t>
            </a:r>
          </a:p>
          <a:p xmlns:a="http://schemas.openxmlformats.org/drawingml/2006/main">
            <a:endParaRPr/>
          </a:p>
          <a:p xmlns:a="http://schemas.openxmlformats.org/drawingml/2006/main">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xmlns:a="http://schemas.openxmlformats.org/drawingml/2006/main">
            <a:endParaRPr/>
          </a:p>
          <a:p xmlns:a="http://schemas.openxmlformats.org/drawingml/2006/main">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xmlns:a="http://schemas.openxmlformats.org/drawingml/2006/main">
            <a:endParaRPr/>
          </a:p>
          <a:p xmlns:a="http://schemas.openxmlformats.org/drawingml/2006/main">
            <a:r>
              <a:t>Transition: Next, introduce the three levels used to organize MitoCarta pathways.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three MitoCarta pathway levels used in the analysis.</a:t>
            </a:r>
          </a:p>
          <a:p xmlns:a="http://schemas.openxmlformats.org/drawingml/2006/main">
            <a:endParaRPr/>
          </a:p>
          <a:p xmlns:a="http://schemas.openxmlformats.org/drawingml/2006/main">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xmlns:a="http://schemas.openxmlformats.org/drawingml/2006/main">
            <a:endParaRPr/>
          </a:p>
          <a:p xmlns:a="http://schemas.openxmlformats.org/drawingml/2006/main">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xmlns:a="http://schemas.openxmlformats.org/drawingml/2006/main">
            <a:endParaRPr/>
          </a:p>
          <a:p xmlns:a="http://schemas.openxmlformats.org/drawingml/2006/main">
            <a:r>
              <a:t>Transition: With the mitochondrial gene sets and pathway hierarchy defined, next define a contrast.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Distinguish the contrast unit from the KDA call it may generate.</a:t>
            </a:r>
          </a:p>
          <a:p xmlns:a="http://schemas.openxmlformats.org/drawingml/2006/main">
            <a:endParaRPr/>
          </a:p>
          <a:p xmlns:a="http://schemas.openxmlformats.org/drawingml/2006/main">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xmlns:a="http://schemas.openxmlformats.org/drawingml/2006/main">
            <a:endParaRPr/>
          </a:p>
          <a:p xmlns:a="http://schemas.openxmlformats.org/drawingml/2006/main">
            <a:r>
              <a:t>Scientific boundary: A planned contrast is a comparison opportunity, not a completed KDA call or an independent biological replication. A skipped contrast is unavailable rather than a completed null result.</a:t>
            </a:r>
          </a:p>
          <a:p xmlns:a="http://schemas.openxmlformats.org/drawingml/2006/main">
            <a:endParaRPr/>
          </a:p>
          <a:p xmlns:a="http://schemas.openxmlformats.org/drawingml/2006/main">
            <a:r>
              <a:t>Transition: With the contrast defined, next define the category used to summarize fine-cell KDA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category unit and the fine-cell-to-broad aggregation.</a:t>
            </a:r>
          </a:p>
          <a:p xmlns:a="http://schemas.openxmlformats.org/drawingml/2006/main">
            <a:endParaRPr/>
          </a:p>
          <a:p xmlns:a="http://schemas.openxmlformats.org/drawingml/2006/main">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xmlns:a="http://schemas.openxmlformats.org/drawingml/2006/main">
            <a:endParaRPr/>
          </a:p>
          <a:p xmlns:a="http://schemas.openxmlformats.org/drawingml/2006/main">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xmlns:a="http://schemas.openxmlformats.org/drawingml/2006/main">
            <a:endParaRPr/>
          </a:p>
          <a:p xmlns:a="http://schemas.openxmlformats.org/drawingml/2006/main">
            <a:r>
              <a:t>Transition: With contrast and category defined, next explain what counts as one DEG occurrence.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a DEG and a DEG occurrence before showing DEG counts and direction percentages.</a:t>
            </a:r>
          </a:p>
          <a:p xmlns:a="http://schemas.openxmlformats.org/drawingml/2006/main">
            <a:endParaRPr/>
          </a:p>
          <a:p xmlns:a="http://schemas.openxmlformats.org/drawingml/2006/main">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xmlns:a="http://schemas.openxmlformats.org/drawingml/2006/main">
            <a:endParaRPr/>
          </a:p>
          <a:p xmlns:a="http://schemas.openxmlformats.org/drawingml/2006/main">
            <a:r>
              <a:t>Scientific boundary: The DEG criteria are evaluated separately within each contrast. A DEG occurrence is a repeated DEG result, not a unique gene, participant, or independent replication. Meeting the DEG criteria does not establish causation.</a:t>
            </a:r>
          </a:p>
          <a:p xmlns:a="http://schemas.openxmlformats.org/drawingml/2006/main">
            <a:endParaRPr/>
          </a:p>
          <a:p xmlns:a="http://schemas.openxmlformats.org/drawingml/2006/main">
            <a:r>
              <a:t>Transition: With the Part 1 concepts established, begin Part 2 with the overall DEG counts.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complete fine-cell DEG results before pathway analysis.</a:t>
            </a:r>
          </a:p>
          <a:p xmlns:a="http://schemas.openxmlformats.org/drawingml/2006/main">
            <a:endParaRPr/>
          </a:p>
          <a:p xmlns:a="http://schemas.openxmlformats.org/drawingml/2006/main">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xmlns:a="http://schemas.openxmlformats.org/drawingml/2006/main">
            <a:endParaRPr/>
          </a:p>
          <a:p xmlns:a="http://schemas.openxmlformats.org/drawingml/2006/main">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xmlns:a="http://schemas.openxmlformats.org/drawingml/2006/main">
            <a:endParaRPr/>
          </a:p>
          <a:p xmlns:a="http://schemas.openxmlformats.org/drawingml/2006/main">
            <a:r>
              <a:t>Transition: Move from the all-gene DEG counts to pathway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four pathway sets through the heatmap and show the breadth of their overlap with the fine-cell DEG results.</a:t>
            </a:r>
          </a:p>
          <a:p xmlns:a="http://schemas.openxmlformats.org/drawingml/2006/main">
            <a:endParaRPr/>
          </a:p>
          <a:p xmlns:a="http://schemas.openxmlformats.org/drawingml/2006/main">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xmlns:a="http://schemas.openxmlformats.org/drawingml/2006/main">
            <a:endParaRPr/>
          </a:p>
          <a:p xmlns:a="http://schemas.openxmlformats.org/drawingml/2006/main">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xmlns:a="http://schemas.openxmlformats.org/drawingml/2006/main">
            <a:endParaRPr/>
          </a:p>
          <a:p xmlns:a="http://schemas.openxmlformats.org/drawingml/2006/main">
            <a:r>
              <a:t>Transition: Define how the OXPHOS direction percentage is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a DEG occurrence and show how the upregulated OXPHOS occurrence percentage is calculated.</a:t>
            </a:r>
          </a:p>
          <a:p xmlns:a="http://schemas.openxmlformats.org/drawingml/2006/main">
            <a:endParaRPr/>
          </a:p>
          <a:p xmlns:a="http://schemas.openxmlformats.org/drawingml/2006/main">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xmlns:a="http://schemas.openxmlformats.org/drawingml/2006/main">
            <a:endParaRPr/>
          </a:p>
          <a:p xmlns:a="http://schemas.openxmlformats.org/drawingml/2006/main">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xmlns:a="http://schemas.openxmlformats.org/drawingml/2006/main">
            <a:endParaRPr/>
          </a:p>
          <a:p xmlns:a="http://schemas.openxmlformats.org/drawingml/2006/main">
            <a:r>
              <a:t>Transition: Compare the upregulated occurrence percentage across the six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OXPHOS DEG direction across sex/APOE groups and highlight the contrasting epsilon-3 homozygous patterns.</a:t>
            </a:r>
          </a:p>
          <a:p xmlns:a="http://schemas.openxmlformats.org/drawingml/2006/main">
            <a:endParaRPr/>
          </a:p>
          <a:p xmlns:a="http://schemas.openxmlformats.org/drawingml/2006/main">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xmlns:a="http://schemas.openxmlformats.org/drawingml/2006/main">
            <a:endParaRPr/>
          </a:p>
          <a:p xmlns:a="http://schemas.openxmlformats.org/drawingml/2006/main">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xmlns:a="http://schemas.openxmlformats.org/drawingml/2006/main">
            <a:endParaRPr/>
          </a:p>
          <a:p xmlns:a="http://schemas.openxmlformats.org/drawingml/2006/main">
            <a:r>
              <a:t>Transition: Now move to Part 4,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Findings 1–6 summarize DEG and pathway results. KDA calls are not involved in these findings.</a:t>
            </a:r>
          </a:p>
          <a:p xmlns:a="http://schemas.openxmlformats.org/drawingml/2006/main">
            <a:endParaRPr/>
          </a:p>
          <a:p xmlns:a="http://schemas.openxmlformats.org/drawingml/2006/main">
            <a:r>
              <a:t>Female ε3/ε3 shows increased core MT genes, and nuclear-encoded OXPHOS genes also mostly increase in ROSMAP. Male ε3/ε3 shows a mismatch: core MT genes increase while nuclear-encoded OXPHOS genes decrease. Female ε2 shows increases in both sets. Female ε4 shows a strong decrease in nuclear-encoded OXPHOS genes.</a:t>
            </a:r>
          </a:p>
          <a:p xmlns:a="http://schemas.openxmlformats.org/drawingml/2006/main">
            <a:endParaRPr/>
          </a:p>
          <a:p xmlns:a="http://schemas.openxmlformats.org/drawingml/2006/main">
            <a:r>
              <a:t>For male ε2, the two OXPHOS sets are the 13 core MT genes and the nuclear-encoded OXPHOS genes. Both sets show broad decreases. Male ε4 shows increased core MT genes with a more modest decrease in nuclear-encoded OXPHOS genes.</a:t>
            </a:r>
          </a:p>
          <a:p xmlns:a="http://schemas.openxmlformats.org/drawingml/2006/main">
            <a:endParaRPr/>
          </a:p>
          <a:p xmlns:a="http://schemas.openxmlformats.org/drawingml/2006/main">
            <a:r>
              <a:t>These patterns summarize DEG occurrences and pathway direction across fine cell types. They do not establish ATP production, mitochondrial performance, or a formal interaction between groups.</a:t>
            </a:r>
          </a:p>
          <a:p xmlns:a="http://schemas.openxmlformats.org/drawingml/2006/main">
            <a:endParaRPr/>
          </a:p>
          <a:p xmlns:a="http://schemas.openxmlformats.org/drawingml/2006/main">
            <a:r>
              <a:t>Novelty is provisional. It describes how much the specific result adds beyond prior research and is separate from evidence strength. Ratings: Findings 1, 4, and 6 are Moderate; Findings 2, 3, and 5 are High.</a:t>
            </a:r>
          </a:p>
          <a:p xmlns:a="http://schemas.openxmlformats.org/drawingml/2006/main">
            <a:endParaRPr/>
          </a:p>
          <a:p xmlns:a="http://schemas.openxmlformats.org/drawingml/2006/main">
            <a:r>
              <a:t>Source: docs/analysis/kda_w_human_validation/rosmap_sex_apoe_broad_kda_analysis.md, Findings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 as a strong core MT gene increase with secondary nuclear-encoded OXPHOS support in ROSMAP.</a:t>
            </a:r>
          </a:p>
          <a:p xmlns:a="http://schemas.openxmlformats.org/drawingml/2006/main">
            <a:endParaRPr/>
          </a:p>
          <a:p xmlns:a="http://schemas.openxmlformats.org/drawingml/2006/main">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xmlns:a="http://schemas.openxmlformats.org/drawingml/2006/main">
            <a:endParaRPr/>
          </a:p>
          <a:p xmlns:a="http://schemas.openxmlformats.org/drawingml/2006/main">
            <a:r>
              <a:t>Scientific boundary: The evidence does not establish increased ATP production, a causal regulator, or a disease-by-sex-by-APOE interaction. The nuclear-encoded OXPHOS observation is secondary ROSMAP evidence rather than a replicated cross-cohort conclusion.</a:t>
            </a:r>
          </a:p>
          <a:p xmlns:a="http://schemas.openxmlformats.org/drawingml/2006/main">
            <a:endParaRPr/>
          </a:p>
          <a:p xmlns:a="http://schemas.openxmlformats.org/drawingml/2006/main">
            <a:r>
              <a:t>Scope: Observed in: female ε3/ε3</a:t>
            </a:r>
          </a:p>
          <a:p xmlns:a="http://schemas.openxmlformats.org/drawingml/2006/main">
            <a:endParaRPr/>
          </a:p>
          <a:p xmlns:a="http://schemas.openxmlformats.org/drawingml/2006/main">
            <a:r>
              <a:t>Transition: State the primary core MT gene result and the secondary nuclear result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primary and secondary parts of Finding 1 in plain language.</a:t>
            </a:r>
          </a:p>
          <a:p xmlns:a="http://schemas.openxmlformats.org/drawingml/2006/main">
            <a:endParaRPr/>
          </a:p>
          <a:p xmlns:a="http://schemas.openxmlformats.org/drawingml/2006/main">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xmlns:a="http://schemas.openxmlformats.org/drawingml/2006/main">
            <a:endParaRPr/>
          </a:p>
          <a:p xmlns:a="http://schemas.openxmlformats.org/drawingml/2006/main">
            <a:r>
              <a:t>Scientific boundary: Higher RNA abundance does not demonstrate more OXPHOS protein, greater respiration, increased ATP production, or healthier mitochondria. It also does not establish that the disease response differs statistically by sex or APOE genotype.</a:t>
            </a:r>
          </a:p>
          <a:p xmlns:a="http://schemas.openxmlformats.org/drawingml/2006/main">
            <a:endParaRPr/>
          </a:p>
          <a:p xmlns:a="http://schemas.openxmlformats.org/drawingml/2006/main">
            <a:r>
              <a:t>Transition: Show how repeatedly the two OXPHOS gene sets appear among ROSMAP fine-cell DEGs.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ROSMAP DEG occurrence counts across all female epsilon-3 homozygous comparisons and within excitatory neurons.</a:t>
            </a:r>
          </a:p>
          <a:p xmlns:a="http://schemas.openxmlformats.org/drawingml/2006/main">
            <a:endParaRPr/>
          </a:p>
          <a:p xmlns:a="http://schemas.openxmlformats.org/drawingml/2006/main">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xmlns:a="http://schemas.openxmlformats.org/drawingml/2006/main">
            <a:endParaRPr/>
          </a:p>
          <a:p xmlns:a="http://schemas.openxmlformats.org/drawingml/2006/main">
            <a:r>
              <a:t>Scientific boundary: The occurrence counts do not represent unique genes, expression magnitude, independent donors, or replication. They summarize repeated DEG observations across fine-cell comparisons.</a:t>
            </a:r>
          </a:p>
          <a:p xmlns:a="http://schemas.openxmlformats.org/drawingml/2006/main">
            <a:endParaRPr/>
          </a:p>
          <a:p xmlns:a="http://schemas.openxmlformats.org/drawingml/2006/main">
            <a:r>
              <a:t>Transition: Ask whether the excitatory-neuron core MT gene pattern appears in SEA-AD.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matched SEA-AD evidence for the excitatory-neuron result.</a:t>
            </a:r>
          </a:p>
          <a:p xmlns:a="http://schemas.openxmlformats.org/drawingml/2006/main">
            <a:endParaRPr/>
          </a:p>
          <a:p xmlns:a="http://schemas.openxmlformats.org/drawingml/2006/main">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xmlns:a="http://schemas.openxmlformats.org/drawingml/2006/main">
            <a:endParaRPr/>
          </a:p>
          <a:p xmlns:a="http://schemas.openxmlformats.org/drawingml/2006/main">
            <a:r>
              <a:t>Scientific boundary: This slide supports the core MT component of Finding 1. It does not establish broad replication across excitatory-neuron subtypes or cross-cohort replication of the secondary nuclear-encoded OXPHOS increase.</a:t>
            </a:r>
          </a:p>
          <a:p xmlns:a="http://schemas.openxmlformats.org/drawingml/2006/main">
            <a:endParaRPr/>
          </a:p>
          <a:p xmlns:a="http://schemas.openxmlformats.org/drawingml/2006/main">
            <a:r>
              <a:t>Transition: Explain why the repeated mitochondrial response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the repeated excitatory-neuron response may matter.</a:t>
            </a:r>
          </a:p>
          <a:p xmlns:a="http://schemas.openxmlformats.org/drawingml/2006/main">
            <a:endParaRPr/>
          </a:p>
          <a:p xmlns:a="http://schemas.openxmlformats.org/drawingml/2006/main">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xmlns:a="http://schemas.openxmlformats.org/drawingml/2006/main">
            <a:endParaRPr/>
          </a:p>
          <a:p xmlns:a="http://schemas.openxmlformats.org/drawingml/2006/main">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xmlns:a="http://schemas.openxmlformats.org/drawingml/2006/main">
            <a:endParaRPr/>
          </a:p>
          <a:p xmlns:a="http://schemas.openxmlformats.org/drawingml/2006/main">
            <a:r>
              <a:t>Transition: Place the result in prior research and clarify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 in prior research while preserving its novelty limits.</a:t>
            </a:r>
          </a:p>
          <a:p xmlns:a="http://schemas.openxmlformats.org/drawingml/2006/main">
            <a:endParaRPr/>
          </a:p>
          <a:p xmlns:a="http://schemas.openxmlformats.org/drawingml/2006/main">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xmlns:a="http://schemas.openxmlformats.org/drawingml/2006/main">
            <a:endParaRPr/>
          </a:p>
          <a:p xmlns:a="http://schemas.openxmlformats.org/drawingml/2006/main">
            <a:r>
              <a:t>Scientific boundary: None of the cited studies independently establishes this exact pattern. The novelty assessment is therefore moderate: the mitochondrial biology is established, while this sex, APOE, and cell-type context is less established.</a:t>
            </a:r>
          </a:p>
          <a:p xmlns:a="http://schemas.openxmlformats.org/drawingml/2006/main">
            <a:endParaRPr/>
          </a:p>
          <a:p xmlns:a="http://schemas.openxmlformats.org/drawingml/2006/main">
            <a:r>
              <a:t>Transition: Proceed to Finding 2, the male epsilon-3 homozygous pattern with opposite OXPHOS directions.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second biological finding.</a:t>
            </a:r>
          </a:p>
          <a:p xmlns:a="http://schemas.openxmlformats.org/drawingml/2006/main">
            <a:endParaRPr/>
          </a:p>
          <a:p xmlns:a="http://schemas.openxmlformats.org/drawingml/2006/main">
            <a:r>
              <a:t>Walk through: Male APOE epsilon-3 homozygous cells show opposite gene-expression directions across the core MT and nuclear-encoded OXPHOS gene sets. The matched inhibitory-neuron gene-set pattern also appears in SEA-AD.</a:t>
            </a:r>
          </a:p>
          <a:p xmlns:a="http://schemas.openxmlformats.org/drawingml/2006/main">
            <a:endParaRPr/>
          </a:p>
          <a:p xmlns:a="http://schemas.openxmlformats.org/drawingml/2006/main">
            <a:r>
              <a:t>Scientific boundary: This is a transcript-level pattern across two mitochondrial gene sets. It does not prove protein imbalance, mitochondrial dysfunction, or a male-by-APOE interaction.</a:t>
            </a:r>
          </a:p>
          <a:p xmlns:a="http://schemas.openxmlformats.org/drawingml/2006/main">
            <a:endParaRPr/>
          </a:p>
          <a:p xmlns:a="http://schemas.openxmlformats.org/drawingml/2006/main">
            <a:r>
              <a:t>Scope: Observed in: male ε3/ε3</a:t>
            </a:r>
          </a:p>
          <a:p xmlns:a="http://schemas.openxmlformats.org/drawingml/2006/main">
            <a:endParaRPr/>
          </a:p>
          <a:p xmlns:a="http://schemas.openxmlformats.org/drawingml/2006/main">
            <a:r>
              <a:t>Transition: State the second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opposite OXPHOS gene-expression directions without statistical jargon.</a:t>
            </a:r>
          </a:p>
          <a:p xmlns:a="http://schemas.openxmlformats.org/drawingml/2006/main">
            <a:endParaRPr/>
          </a:p>
          <a:p xmlns:a="http://schemas.openxmlformats.org/drawingml/2006/main">
            <a:r>
              <a:t>Walk through: In male APOE epsilon-3 homozygous cells, expression of core MT genes usually rises in Alzheimer’s disease while expression of nuclear-encoded OXPHOS genes usually falls. Inhibitory neurons provide the clearest cross-cohort support.</a:t>
            </a:r>
          </a:p>
          <a:p xmlns:a="http://schemas.openxmlformats.org/drawingml/2006/main">
            <a:endParaRPr/>
          </a:p>
          <a:p xmlns:a="http://schemas.openxmlformats.org/drawingml/2006/main">
            <a:r>
              <a:t>Scientific boundary: Opposite directions in gene expression do not demonstrate mismatched proteins, reduced respiration, or unhealthy mitochondria.</a:t>
            </a:r>
          </a:p>
          <a:p xmlns:a="http://schemas.openxmlformats.org/drawingml/2006/main">
            <a:endParaRPr/>
          </a:p>
          <a:p xmlns:a="http://schemas.openxmlformats.org/drawingml/2006/main">
            <a:r>
              <a:t>Transition: Show the ROSMAP numbers behind the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evidence for opposite OXPHOS directions in male epsilon-3 homozygous cells.</a:t>
            </a:r>
          </a:p>
          <a:p xmlns:a="http://schemas.openxmlformats.org/drawingml/2006/main">
            <a:endParaRPr/>
          </a:p>
          <a:p xmlns:a="http://schemas.openxmlformats.org/drawingml/2006/main">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xmlns:a="http://schemas.openxmlformats.org/drawingml/2006/main">
            <a:endParaRPr/>
          </a:p>
          <a:p xmlns:a="http://schemas.openxmlformats.org/drawingml/2006/main">
            <a:r>
              <a:t>Scientific boundary: These are repeated DEG occurrences, not counts of unique genes or independent donors. Opposite directions in gene expression do not demonstrate mismatched proteins or impaired respiration.</a:t>
            </a:r>
          </a:p>
          <a:p xmlns:a="http://schemas.openxmlformats.org/drawingml/2006/main">
            <a:endParaRPr/>
          </a:p>
          <a:p xmlns:a="http://schemas.openxmlformats.org/drawingml/2006/main">
            <a:r>
              <a:t>Transition: Ask whether the matched male epsilon-3 homozygous inhibitory-neuron pattern appears in SEA-AD.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matched SEA-AD DEG support and what the same AD direction across cohorts means here.</a:t>
            </a:r>
          </a:p>
          <a:p xmlns:a="http://schemas.openxmlformats.org/drawingml/2006/main">
            <a:endParaRPr/>
          </a:p>
          <a:p xmlns:a="http://schemas.openxmlformats.org/drawingml/2006/main">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xmlns:a="http://schemas.openxmlformats.org/drawingml/2006/main">
            <a:endParaRPr/>
          </a:p>
          <a:p xmlns:a="http://schemas.openxmlformats.org/drawingml/2006/main">
            <a:r>
              <a:t>Scientific boundary: This is focused cross-cohort DEG support within the matched inhibitory-neuron context. It does not establish protein-level imbalance, mitochondrial dysfunction, or a formal disease-by-sex-by-APOE interaction.</a:t>
            </a:r>
          </a:p>
          <a:p xmlns:a="http://schemas.openxmlformats.org/drawingml/2006/main">
            <a:endParaRPr/>
          </a:p>
          <a:p xmlns:a="http://schemas.openxmlformats.org/drawingml/2006/main">
            <a:r>
              <a:t>Transition: Identify the genes that account for the cross-cohort directional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Name the genes with the same or opposite AD directions in the matched inhibitory-neuron comparison.</a:t>
            </a:r>
          </a:p>
          <a:p xmlns:a="http://schemas.openxmlformats.org/drawingml/2006/main">
            <a:endParaRPr/>
          </a:p>
          <a:p xmlns:a="http://schemas.openxmlformats.org/drawingml/2006/main">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xmlns:a="http://schemas.openxmlformats.org/drawingml/2006/main">
            <a:endParaRPr/>
          </a:p>
          <a:p xmlns:a="http://schemas.openxmlformats.org/drawingml/2006/main">
            <a:r>
              <a:t>Scientific boundary: These are shared MitoCarta MT DEGs. Matching AD directions do not establish matched protein abundance, respiratory-complex assembly, or mitochondrial function.</a:t>
            </a:r>
          </a:p>
          <a:p xmlns:a="http://schemas.openxmlformats.org/drawingml/2006/main">
            <a:endParaRPr/>
          </a:p>
          <a:p xmlns:a="http://schemas.openxmlformats.org/drawingml/2006/main">
            <a:r>
              <a:t>Transition: Explain why coordinated expression from two genomes and their support systems may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biological relevance of the two-genome pattern without claiming impaired function.</a:t>
            </a:r>
          </a:p>
          <a:p xmlns:a="http://schemas.openxmlformats.org/drawingml/2006/main">
            <a:endParaRPr/>
          </a:p>
          <a:p xmlns:a="http://schemas.openxmlformats.org/drawingml/2006/main">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xmlns:a="http://schemas.openxmlformats.org/drawingml/2006/main">
            <a:endParaRPr/>
          </a:p>
          <a:p xmlns:a="http://schemas.openxmlformats.org/drawingml/2006/main">
            <a:r>
              <a:t>Scientific boundary: This is an RNA-level difference between two OXPHOS gene sets. It does not show that respiratory proteins, complex assembly, respiration, or ATP production are unbalanced. The possible explanations are hypotheses for follow-up.</a:t>
            </a:r>
          </a:p>
          <a:p xmlns:a="http://schemas.openxmlformats.org/drawingml/2006/main">
            <a:endParaRPr/>
          </a:p>
          <a:p xmlns:a="http://schemas.openxmlformats.org/drawingml/2006/main">
            <a:r>
              <a:t>Transition: Place the finding in prior two-genome OXPHOS and cell-resolved Alzheimer’s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the finding to prior research while preserving the evidence and novelty boundaries.</a:t>
            </a:r>
          </a:p>
          <a:p xmlns:a="http://schemas.openxmlformats.org/drawingml/2006/main">
            <a:endParaRPr/>
          </a:p>
          <a:p xmlns:a="http://schemas.openxmlformats.org/drawingml/2006/main">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xmlns:a="http://schemas.openxmlformats.org/drawingml/2006/main">
            <a:endParaRPr/>
          </a:p>
          <a:p xmlns:a="http://schemas.openxmlformats.org/drawingml/2006/main">
            <a:r>
              <a:t>Scientific boundary: Plausibility and novelty are separate from proof. None of these sources independently establishes the exact subgroup pattern, protein imbalance, or mitochondrial dysfunction.</a:t>
            </a:r>
          </a:p>
          <a:p xmlns:a="http://schemas.openxmlformats.org/drawingml/2006/main">
            <a:endParaRPr/>
          </a:p>
          <a:p xmlns:a="http://schemas.openxmlformats.org/drawingml/2006/main">
            <a:r>
              <a:t>Transition: Proceed to Finding 3, where both OXPHOS gene sets increase in female epsilon-2 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3 and preview the evidence used to support it.</a:t>
            </a:r>
          </a:p>
          <a:p xmlns:a="http://schemas.openxmlformats.org/drawingml/2006/main">
            <a:endParaRPr/>
          </a:p>
          <a:p xmlns:a="http://schemas.openxmlformats.org/drawingml/2006/main">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xmlns:a="http://schemas.openxmlformats.org/drawingml/2006/main">
            <a:endParaRPr/>
          </a:p>
          <a:p xmlns:a="http://schemas.openxmlformats.org/drawingml/2006/main">
            <a:r>
              <a:t>Scientific boundary: These within-stratum results do not establish a disease-by-sex or disease-by-APOE interaction. Coordinated gene expression also does not demonstrate greater OXPHOS protein abundance, increased ATP production, or improved mitochondrial function.</a:t>
            </a:r>
          </a:p>
          <a:p xmlns:a="http://schemas.openxmlformats.org/drawingml/2006/main">
            <a:endParaRPr/>
          </a:p>
          <a:p xmlns:a="http://schemas.openxmlformats.org/drawingml/2006/main">
            <a:r>
              <a:t>Scope: Observed in: female ε2</a:t>
            </a:r>
          </a:p>
          <a:p xmlns:a="http://schemas.openxmlformats.org/drawingml/2006/main">
            <a:endParaRPr/>
          </a:p>
          <a:p xmlns:a="http://schemas.openxmlformats.org/drawingml/2006/main">
            <a:r>
              <a:t>Transition: Define the two OXPHOS gene sets and show their direction in female APOE ε2 cells.</a:t>
            </a:r>
          </a:p>
          <a:p xmlns:a="http://schemas.openxmlformats.org/drawingml/2006/main">
            <a:endParaRPr/>
          </a:p>
          <a:p xmlns:a="http://schemas.openxmlformats.org/drawingml/2006/main">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both OXPHOS gene sets are described as upregulated together.</a:t>
            </a:r>
          </a:p>
          <a:p xmlns:a="http://schemas.openxmlformats.org/drawingml/2006/main">
            <a:endParaRPr/>
          </a:p>
          <a:p xmlns:a="http://schemas.openxmlformats.org/drawingml/2006/main">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xmlns:a="http://schemas.openxmlformats.org/drawingml/2006/main">
            <a:endParaRPr/>
          </a:p>
          <a:p xmlns:a="http://schemas.openxmlformats.org/drawingml/2006/main">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xmlns:a="http://schemas.openxmlformats.org/drawingml/2006/main">
            <a:endParaRPr/>
          </a:p>
          <a:p xmlns:a="http://schemas.openxmlformats.org/drawingml/2006/main">
            <a:r>
              <a:t>Transition: Quantify the AD-up and AD-down occurrences for each gene set.</a:t>
            </a:r>
          </a:p>
          <a:p xmlns:a="http://schemas.openxmlformats.org/drawingml/2006/main">
            <a:endParaRPr/>
          </a:p>
          <a:p xmlns:a="http://schemas.openxmlformats.org/drawingml/2006/main">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ROSMAP DEG-occurrence pattern for Finding 3.</a:t>
            </a:r>
          </a:p>
          <a:p xmlns:a="http://schemas.openxmlformats.org/drawingml/2006/main">
            <a:endParaRPr/>
          </a:p>
          <a:p xmlns:a="http://schemas.openxmlformats.org/drawingml/2006/main">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xmlns:a="http://schemas.openxmlformats.org/drawingml/2006/main">
            <a:endParaRPr/>
          </a:p>
          <a:p xmlns:a="http://schemas.openxmlformats.org/drawingml/2006/main">
            <a:r>
              <a:t>Scientific boundary: The numbers 128 and 243 are gene-by-comparison occurrences, not counts of unique genes, cells, or donors. The percentages do not measure expression magnitude, OXPHOS protein abundance, respiration, or ATP production.</a:t>
            </a:r>
          </a:p>
          <a:p xmlns:a="http://schemas.openxmlformats.org/drawingml/2006/main">
            <a:endParaRPr/>
          </a:p>
          <a:p xmlns:a="http://schemas.openxmlformats.org/drawingml/2006/main">
            <a:r>
              <a:t>Transition: Compare this primary fine-cell DEG pattern with the direct broad-cell ROSMAP result and the available SEA-AD coverage.</a:t>
            </a:r>
          </a:p>
          <a:p xmlns:a="http://schemas.openxmlformats.org/drawingml/2006/main">
            <a:endParaRPr/>
          </a:p>
          <a:p xmlns:a="http://schemas.openxmlformats.org/drawingml/2006/main">
            <a:r>
              <a:t>Sources: docs/analysis/kda_w_human_validation/rosmap_sex_apoe_broad_kda_analysis.md, Finding 3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Compare the fine-cell and direct broad-cell evidence for Finding 3.</a:t>
            </a:r>
          </a:p>
          <a:p xmlns:a="http://schemas.openxmlformats.org/drawingml/2006/main">
            <a:endParaRPr/>
          </a:p>
          <a:p xmlns:a="http://schemas.openxmlformats.org/drawingml/2006/main">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xmlns:a="http://schemas.openxmlformats.org/drawingml/2006/main">
            <a:endParaRPr/>
          </a:p>
          <a:p xmlns:a="http://schemas.openxmlformats.org/drawingml/2006/main">
            <a:r>
              <a:t>Scientific boundary: The direct broad-cell result partially supports the finding but does not reproduce the coordinated two-gene-set pattern. The complete pattern is therefore supported mainly by fine-cell ROSMAP. Missing SEA-AD coverage is neutral.</a:t>
            </a:r>
          </a:p>
          <a:p xmlns:a="http://schemas.openxmlformats.org/drawingml/2006/main">
            <a:endParaRPr/>
          </a:p>
          <a:p xmlns:a="http://schemas.openxmlformats.org/drawingml/2006/main">
            <a:r>
              <a:t>Transition: Consider what coordinated upregulation might mean without assuming that it is protective.</a:t>
            </a:r>
          </a:p>
          <a:p xmlns:a="http://schemas.openxmlformats.org/drawingml/2006/main">
            <a:endParaRPr/>
          </a:p>
          <a:p xmlns:a="http://schemas.openxmlformats.org/drawingml/2006/main">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biological hypothesis while separating it from the evidence.</a:t>
            </a:r>
          </a:p>
          <a:p xmlns:a="http://schemas.openxmlformats.org/drawingml/2006/main">
            <a:endParaRPr/>
          </a:p>
          <a:p xmlns:a="http://schemas.openxmlformats.org/drawingml/2006/main">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xmlns:a="http://schemas.openxmlformats.org/drawingml/2006/main">
            <a:endParaRPr/>
          </a:p>
          <a:p xmlns:a="http://schemas.openxmlformats.org/drawingml/2006/main">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xmlns:a="http://schemas.openxmlformats.org/drawingml/2006/main">
            <a:endParaRPr/>
          </a:p>
          <a:p xmlns:a="http://schemas.openxmlformats.org/drawingml/2006/main">
            <a:r>
              <a:t>Transition: Review the prior research that supports parts of this interpretation.</a:t>
            </a:r>
          </a:p>
          <a:p xmlns:a="http://schemas.openxmlformats.org/drawingml/2006/main">
            <a:endParaRPr/>
          </a:p>
          <a:p xmlns:a="http://schemas.openxmlformats.org/drawingml/2006/main">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which part of the interpretation each cited study supports.</a:t>
            </a:r>
          </a:p>
          <a:p xmlns:a="http://schemas.openxmlformats.org/drawingml/2006/main">
            <a:endParaRPr/>
          </a:p>
          <a:p xmlns:a="http://schemas.openxmlformats.org/drawingml/2006/main">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xmlns:a="http://schemas.openxmlformats.org/drawingml/2006/main">
            <a:endParaRPr/>
          </a:p>
          <a:p xmlns:a="http://schemas.openxmlformats.org/drawingml/2006/main">
            <a:r>
              <a:t>Scientific boundary: These studies make the interpretation plausible, but none independently reproduces the same sex, APOE, cell-type, and disease comparison. The novelty assessment comes from a focused review rather than a systematic literature search.</a:t>
            </a:r>
          </a:p>
          <a:p xmlns:a="http://schemas.openxmlformats.org/drawingml/2006/main">
            <a:endParaRPr/>
          </a:p>
          <a:p xmlns:a="http://schemas.openxmlformats.org/drawingml/2006/main">
            <a:r>
              <a:t>Transition: Move to Finding 4 and the different OXPHOS direction in female APOE ε4 cells.</a:t>
            </a:r>
          </a:p>
          <a:p xmlns:a="http://schemas.openxmlformats.org/drawingml/2006/main">
            <a:endParaRPr/>
          </a:p>
          <a:p xmlns:a="http://schemas.openxmlformats.org/drawingml/2006/main">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 as a female APOE ε4 DEG-direction result.</a:t>
            </a:r>
          </a:p>
          <a:p xmlns:a="http://schemas.openxmlformats.org/drawingml/2006/main">
            <a:endParaRPr/>
          </a:p>
          <a:p xmlns:a="http://schemas.openxmlformats.org/drawingml/2006/main">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xmlns:a="http://schemas.openxmlformats.org/drawingml/2006/main">
            <a:endParaRPr/>
          </a:p>
          <a:p xmlns:a="http://schemas.openxmlformats.org/drawingml/2006/main">
            <a:r>
              <a:t>Scientific boundary: This finding describes differential gene expression. It does not directly measure respiratory-complex proteins, oxygen consumption, ATP production, or a causal sex-by-APOE interaction.</a:t>
            </a:r>
          </a:p>
          <a:p xmlns:a="http://schemas.openxmlformats.org/drawingml/2006/main">
            <a:endParaRPr/>
          </a:p>
          <a:p xmlns:a="http://schemas.openxmlformats.org/drawingml/2006/main">
            <a:r>
              <a:t>Scope: Observed in: female ε4</a:t>
            </a:r>
          </a:p>
          <a:p xmlns:a="http://schemas.openxmlformats.org/drawingml/2006/main">
            <a:endParaRPr/>
          </a:p>
          <a:p xmlns:a="http://schemas.openxmlformats.org/drawingml/2006/main">
            <a:r>
              <a:t>Transition: State the two OXPHOS gene-set directions in plain language.</a:t>
            </a:r>
          </a:p>
          <a:p xmlns:a="http://schemas.openxmlformats.org/drawingml/2006/main">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female APOE ε4 pattern before showing the counts.</a:t>
            </a:r>
          </a:p>
          <a:p xmlns:a="http://schemas.openxmlformats.org/drawingml/2006/main">
            <a:endParaRPr/>
          </a:p>
          <a:p xmlns:a="http://schemas.openxmlformats.org/drawingml/2006/main">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xmlns:a="http://schemas.openxmlformats.org/drawingml/2006/main">
            <a:endParaRPr/>
          </a:p>
          <a:p xmlns:a="http://schemas.openxmlformats.org/drawingml/2006/main">
            <a:r>
              <a:t>Scientific boundary: An occurrence is one gene observed as a DEG in one fine-cell comparison. Repeated occurrences are not independent donors or unique genes, and the direct broad-cell result points in the opposite direction.</a:t>
            </a:r>
          </a:p>
          <a:p xmlns:a="http://schemas.openxmlformats.org/drawingml/2006/main">
            <a:endParaRPr/>
          </a:p>
          <a:p xmlns:a="http://schemas.openxmlformats.org/drawingml/2006/main">
            <a:r>
              <a:t>Transition: Show the exact occurrence counts and percentages.</a:t>
            </a:r>
          </a:p>
          <a:p xmlns:a="http://schemas.openxmlformats.org/drawingml/2006/main">
            <a:endParaRP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female APOE ε4 DEG directions without mixing them with pathway statistics.</a:t>
            </a:r>
          </a:p>
          <a:p xmlns:a="http://schemas.openxmlformats.org/drawingml/2006/main">
            <a:endParaRPr/>
          </a:p>
          <a:p xmlns:a="http://schemas.openxmlformats.org/drawingml/2006/main">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xmlns:a="http://schemas.openxmlformats.org/drawingml/2006/main">
            <a:endParaRPr/>
          </a:p>
          <a:p xmlns:a="http://schemas.openxmlformats.org/drawingml/2006/main">
            <a:r>
              <a:t>Scientific boundary: These are repeated gene-by-fine-cell DEG occurrences. They are not counts of unique genes, cells, or donors, and they do not quantify the magnitude of expression change.</a:t>
            </a:r>
          </a:p>
          <a:p xmlns:a="http://schemas.openxmlformats.org/drawingml/2006/main">
            <a:endParaRPr/>
          </a:p>
          <a:p xmlns:a="http://schemas.openxmlformats.org/drawingml/2006/main">
            <a:r>
              <a:t>Transition: Check whether direct broad-cell analysis supports the same direction.</a:t>
            </a:r>
          </a:p>
          <a:p xmlns:a="http://schemas.openxmlformats.org/drawingml/2006/main">
            <a:endParaRP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that the female APOE ε4 result changes with cell-type resolution.</a:t>
            </a:r>
          </a:p>
          <a:p xmlns:a="http://schemas.openxmlformats.org/drawingml/2006/main">
            <a:endParaRPr/>
          </a:p>
          <a:p xmlns:a="http://schemas.openxmlformats.org/drawingml/2006/main">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xmlns:a="http://schemas.openxmlformats.org/drawingml/2006/main">
            <a:endParaRPr/>
          </a:p>
          <a:p xmlns:a="http://schemas.openxmlformats.org/drawingml/2006/main">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xmlns:a="http://schemas.openxmlformats.org/drawingml/2006/main">
            <a:endParaRPr/>
          </a:p>
          <a:p xmlns:a="http://schemas.openxmlformats.org/drawingml/2006/main">
            <a:r>
              <a:t>Transition: Explain the biological importance and the resolution warning together.</a:t>
            </a:r>
          </a:p>
          <a:p xmlns:a="http://schemas.openxmlformats.org/drawingml/2006/main">
            <a:endParaRPr/>
          </a:p>
          <a:p xmlns:a="http://schemas.openxmlformats.org/drawingml/2006/main">
            <a:r>
              <a:t>Sources: docs/analysis/kda_w_human_validation/rosmap_sex_apoe_broad_kda_analysis.md, Finding 4 and validation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a nuclear-encoded OXPHOS decrease could matter biologically.</a:t>
            </a:r>
          </a:p>
          <a:p xmlns:a="http://schemas.openxmlformats.org/drawingml/2006/main">
            <a:endParaRPr/>
          </a:p>
          <a:p xmlns:a="http://schemas.openxmlformats.org/drawingml/2006/main">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xmlns:a="http://schemas.openxmlformats.org/drawingml/2006/main">
            <a:endParaRPr/>
          </a:p>
          <a:p xmlns:a="http://schemas.openxmlformats.org/drawingml/2006/main">
            <a:r>
              <a:t>Scientific boundary: Gene expression alone cannot establish lower respiratory capacity. The direct broad-cell pathway results point in the opposite direction, so the most cautious interpretation is a fine-cell signal that warrants targeted follow-up.</a:t>
            </a:r>
          </a:p>
          <a:p xmlns:a="http://schemas.openxmlformats.org/drawingml/2006/main">
            <a:endParaRPr/>
          </a:p>
          <a:p xmlns:a="http://schemas.openxmlformats.org/drawingml/2006/main">
            <a:r>
              <a:t>Transition: Place the result in prior research and summarize its evidence level.</a:t>
            </a:r>
          </a:p>
          <a:p xmlns:a="http://schemas.openxmlformats.org/drawingml/2006/main">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how the cited studies support parts of Finding 4 and why the slide rates its novelty as moderate.</a:t>
            </a:r>
          </a:p>
          <a:p xmlns:a="http://schemas.openxmlformats.org/drawingml/2006/main">
            <a:endParaRPr/>
          </a:p>
          <a:p xmlns:a="http://schemas.openxmlformats.org/drawingml/2006/main">
            <a:r>
              <a:t>Walk through: Schmukler and colleagues link APOE4 models to altered mitochondrial dynamics and removal of damaged mitochondria, but they do not reproduce the nuclear-encoded OXPHOS gene-expression pattern. Lee and colleagues connect APOE4 astrocytes with impaired maintenance of mitochondrial function, but the cell context and experimental design differ. Mathys and colleagues demonstrate strong differences among brain cell states, but that work also uses ROSMAP and is not independent replication. These sources support parts of the interpretation. None establishes the complete female APOE ε4 finding. The slide therefore rates novelty as moderate.</a:t>
            </a:r>
          </a:p>
          <a:p xmlns:a="http://schemas.openxmlformats.org/drawingml/2006/main">
            <a:endParaRPr/>
          </a:p>
          <a:p xmlns:a="http://schemas.openxmlformats.org/drawingml/2006/main">
            <a:r>
              <a:t>Scientific boundary: The novelty rating summarizes this focused literature comparison. It does not strengthen the direct evidence, and the finding remains sensitive to analysis resolution and lacks independent confirmation.</a:t>
            </a:r>
          </a:p>
          <a:p xmlns:a="http://schemas.openxmlformats.org/drawingml/2006/main">
            <a:endParaRPr/>
          </a:p>
          <a:p xmlns:a="http://schemas.openxmlformats.org/drawingml/2006/main">
            <a:r>
              <a:t>Transition: Move to the coordinated downward OXPHOS pattern in male APOE ε2 cells.</a:t>
            </a:r>
          </a:p>
          <a:p xmlns:a="http://schemas.openxmlformats.org/drawingml/2006/main">
            <a:endParaRPr/>
          </a:p>
          <a:p xmlns:a="http://schemas.openxmlformats.org/drawingml/2006/main">
            <a:r>
              <a:t>Sources: docs/analysis/kda_w_human_validation/rosmap_sex_apoe_broad_kda_analysis.md, Finding 4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 as a coordinated male APOE ε2 DEG decrease.</a:t>
            </a:r>
          </a:p>
          <a:p xmlns:a="http://schemas.openxmlformats.org/drawingml/2006/main">
            <a:endParaRPr/>
          </a:p>
          <a:p xmlns:a="http://schemas.openxmlformats.org/drawingml/2006/main">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xmlns:a="http://schemas.openxmlformats.org/drawingml/2006/main">
            <a:endParaRPr/>
          </a:p>
          <a:p xmlns:a="http://schemas.openxmlformats.org/drawingml/2006/main">
            <a:r>
              <a:t>Scientific boundary: The result describes disease-associated gene expression in observed tissue. It does not imply that APOE ε2 causes the decrease or that lower expression explains APOE ε2 population-level protection.</a:t>
            </a:r>
          </a:p>
          <a:p xmlns:a="http://schemas.openxmlformats.org/drawingml/2006/main">
            <a:endParaRPr/>
          </a:p>
          <a:p xmlns:a="http://schemas.openxmlformats.org/drawingml/2006/main">
            <a:r>
              <a:t>Scope: Observed in: male ε2</a:t>
            </a:r>
          </a:p>
          <a:p xmlns:a="http://schemas.openxmlformats.org/drawingml/2006/main">
            <a:endParaRPr/>
          </a:p>
          <a:p xmlns:a="http://schemas.openxmlformats.org/drawingml/2006/main">
            <a:r>
              <a:t>Transition: State the coordinated direction and its contrast with male APOE ε3/ε3.</a:t>
            </a:r>
          </a:p>
          <a:p xmlns:a="http://schemas.openxmlformats.org/drawingml/2006/main">
            <a:endParaRP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coordinated male APOE ε2 decrease in plain language.</a:t>
            </a:r>
          </a:p>
          <a:p xmlns:a="http://schemas.openxmlformats.org/drawingml/2006/main">
            <a:endParaRPr/>
          </a:p>
          <a:p xmlns:a="http://schemas.openxmlformats.org/drawingml/2006/main">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xmlns:a="http://schemas.openxmlformats.org/drawingml/2006/main">
            <a:endParaRPr/>
          </a:p>
          <a:p xmlns:a="http://schemas.openxmlformats.org/drawingml/2006/main">
            <a:r>
              <a:t>Scientific boundary: APOE ε2 lowers average Alzheimer’s disease risk at the population level, but that does not predict every molecular state after disease develops. The observed expression pattern is descriptive rather than causal.</a:t>
            </a:r>
          </a:p>
          <a:p xmlns:a="http://schemas.openxmlformats.org/drawingml/2006/main">
            <a:endParaRPr/>
          </a:p>
          <a:p xmlns:a="http://schemas.openxmlformats.org/drawingml/2006/main">
            <a:r>
              <a:t>Transition: Show the exact DEG-occurrence percentages.</a:t>
            </a:r>
          </a:p>
          <a:p xmlns:a="http://schemas.openxmlformats.org/drawingml/2006/main">
            <a:endParaRP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male APOE ε2 DEG burden in both OXPHOS gene sets.</a:t>
            </a:r>
          </a:p>
          <a:p xmlns:a="http://schemas.openxmlformats.org/drawingml/2006/main">
            <a:endParaRPr/>
          </a:p>
          <a:p xmlns:a="http://schemas.openxmlformats.org/drawingml/2006/main">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xmlns:a="http://schemas.openxmlformats.org/drawingml/2006/main">
            <a:endParaRPr/>
          </a:p>
          <a:p xmlns:a="http://schemas.openxmlformats.org/drawingml/2006/main">
            <a:r>
              <a:t>Scientific boundary: The 523 value combines repeated gene-by-fine-cell occurrences from two defined gene sets. It is not a count of unique genes, donors, or cells, and it does not measure expression magnitude or mitochondrial function.</a:t>
            </a:r>
          </a:p>
          <a:p xmlns:a="http://schemas.openxmlformats.org/drawingml/2006/main">
            <a:endParaRPr/>
          </a:p>
          <a:p xmlns:a="http://schemas.openxmlformats.org/drawingml/2006/main">
            <a:r>
              <a:t>Transition: Explain why the male APOE ε2 DEG sets are unusually large.</a:t>
            </a:r>
          </a:p>
          <a:p xmlns:a="http://schemas.openxmlformats.org/drawingml/2006/main">
            <a:endParaRP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DEG-set-size caveat for male APOE ε2.</a:t>
            </a:r>
          </a:p>
          <a:p xmlns:a="http://schemas.openxmlformats.org/drawingml/2006/main">
            <a:endParaRPr/>
          </a:p>
          <a:p xmlns:a="http://schemas.openxmlformats.org/drawingml/2006/main">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xmlns:a="http://schemas.openxmlformats.org/drawingml/2006/main">
            <a:endParaRPr/>
          </a:p>
          <a:p xmlns:a="http://schemas.openxmlformats.org/drawingml/2006/main">
            <a:r>
              <a:t>Scientific boundary: This size difference helps explain the large occurrence count, but it does not change the proportion of upregulated versus downregulated occurrences. SEA-AD has no matched male APOE ε2 fine-cell DEG result here.</a:t>
            </a:r>
          </a:p>
          <a:p xmlns:a="http://schemas.openxmlformats.org/drawingml/2006/main">
            <a:endParaRPr/>
          </a:p>
          <a:p xmlns:a="http://schemas.openxmlformats.org/drawingml/2006/main">
            <a:r>
              <a:t>Transition: Return to the biological meaning of the coordinated DEG direction.</a:t>
            </a:r>
          </a:p>
          <a:p xmlns:a="http://schemas.openxmlformats.org/drawingml/2006/main">
            <a:endParaRPr/>
          </a:p>
          <a:p xmlns:a="http://schemas.openxmlformats.org/drawingml/2006/main">
            <a:r>
              <a:t>Sources: docs/analysis/kda_w_human_validation/rosmap_sex_apoe_broad_kda_analysis.md, Finding 5 and DEG-set-size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the male APOE ε2 DEG direction from inherited-risk interpretation and mitochondrial function.</a:t>
            </a:r>
          </a:p>
          <a:p xmlns:a="http://schemas.openxmlformats.org/drawingml/2006/main">
            <a:endParaRPr/>
          </a:p>
          <a:p xmlns:a="http://schemas.openxmlformats.org/drawingml/2006/main">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xmlns:a="http://schemas.openxmlformats.org/drawingml/2006/main">
            <a:endParaRPr/>
          </a:p>
          <a:p xmlns:a="http://schemas.openxmlformats.org/drawingml/2006/main">
            <a:r>
              <a:t>Scientific boundary: Lower gene expression does not by itself demonstrate lower respiratory-complex abundance, respiration, ATP production, or mitochondrial fitness. Protein and functional measurements are needed.</a:t>
            </a:r>
          </a:p>
          <a:p xmlns:a="http://schemas.openxmlformats.org/drawingml/2006/main">
            <a:endParaRPr/>
          </a:p>
          <a:p xmlns:a="http://schemas.openxmlformats.org/drawingml/2006/main">
            <a:r>
              <a:t>Transition: Place the result in prior research and summarize its evidence level.</a:t>
            </a:r>
          </a:p>
          <a:p xmlns:a="http://schemas.openxmlformats.org/drawingml/2006/main">
            <a:endParaRP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how the cited studies frame Finding 5 and why the slide rates its novelty as high.</a:t>
            </a:r>
          </a:p>
          <a:p xmlns:a="http://schemas.openxmlformats.org/drawingml/2006/main">
            <a:endParaRPr/>
          </a:p>
          <a:p xmlns:a="http://schemas.openxmlformats.org/drawingml/2006/main">
            <a:r>
              <a:t>Walk through: Belloy and colleagues establish the population-level protection associated with APOE ε2, but inherited risk does not predict the molecular state of diseased male ε2 cells. Guo and colleagues support sex-aware network analysis but do not report this exact male ε2 decrease. Mathys and colleagues show that Alzheimer’s responses differ among brain cell populations, but the study also uses ROSMAP and cannot independently validate this pattern. None of these sources reproduces the coordinated decrease across both OXPHOS gene sets. The slide therefore rates novelty as high.</a:t>
            </a:r>
          </a:p>
          <a:p xmlns:a="http://schemas.openxmlformats.org/drawingml/2006/main">
            <a:endParaRPr/>
          </a:p>
          <a:p xmlns:a="http://schemas.openxmlformats.org/drawingml/2006/main">
            <a:r>
              <a:t>Scientific boundary: The novelty rating comes from a focused literature comparison. The finding still lacks a matched SEA-AD category and functional validation.</a:t>
            </a:r>
          </a:p>
          <a:p xmlns:a="http://schemas.openxmlformats.org/drawingml/2006/main">
            <a:endParaRPr/>
          </a:p>
          <a:p xmlns:a="http://schemas.openxmlformats.org/drawingml/2006/main">
            <a:r>
              <a:t>Transition: Move to Finding 6, where male APOE ε4 cells may show opposite directions across the two OXPHOS gene sets.</a:t>
            </a:r>
          </a:p>
          <a:p xmlns:a="http://schemas.openxmlformats.org/drawingml/2006/main">
            <a:endParaRPr/>
          </a:p>
          <a:p xmlns:a="http://schemas.openxmlformats.org/drawingml/2006/main">
            <a:r>
              <a:t>Sources: docs/analysis/kda_w_human_validation/rosmap_sex_apoe_broad_kda_analysis.md, Finding 5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6.</a:t>
            </a:r>
          </a:p>
          <a:p xmlns:a="http://schemas.openxmlformats.org/drawingml/2006/main">
            <a:endParaRPr/>
          </a:p>
          <a:p xmlns:a="http://schemas.openxmlformats.org/drawingml/2006/main">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Scope: Observed in: male ε4</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is described as a possible OXPHOS mismatch.</a:t>
            </a:r>
          </a:p>
          <a:p xmlns:a="http://schemas.openxmlformats.org/drawingml/2006/main">
            <a:endParaRPr/>
          </a:p>
          <a:p xmlns:a="http://schemas.openxmlformats.org/drawingml/2006/main">
            <a:r>
              <a:t>Walk through: In male APOE ε4 cells, 87 of 110 core MT gene occurrences are upregulated in AD, whereas 55 of 89 nuclear-encoded OXPHOS gene occurrences are downregulated. This direction split resembles the male APOE ε3 homozygous pattern, but the nuclear-encoded decrease is less consistent. Direct broad-cell evidence also disagrees across cohorts. The slide therefore describes a possible mismatch that needs replication rather than a definitive mismatch.</a:t>
            </a:r>
          </a:p>
          <a:p xmlns:a="http://schemas.openxmlformats.org/drawingml/2006/main">
            <a:endParaRPr/>
          </a:p>
          <a:p xmlns:a="http://schemas.openxmlformats.org/drawingml/2006/main">
            <a:r>
              <a:t>Scientific boundary: This is an RNA-level pattern. It does not demonstrate unbalanced respiratory proteins, impaired mitochondrial function, or a disease-by-APOE interaction.</a:t>
            </a:r>
          </a:p>
          <a:p xmlns:a="http://schemas.openxmlformats.org/drawingml/2006/main">
            <a:endParaRPr/>
          </a:p>
          <a:p xmlns:a="http://schemas.openxmlformats.org/drawingml/2006/main">
            <a:r>
              <a:t>Transition: Show the ROSMAP DEG-occurrence counts behind the direction split.</a:t>
            </a:r>
          </a:p>
          <a:p xmlns:a="http://schemas.openxmlformats.org/drawingml/2006/main">
            <a:endParaRPr/>
          </a:p>
          <a:p xmlns:a="http://schemas.openxmlformats.org/drawingml/2006/main">
            <a:r>
              <a:t>Sources: docs/analysis/kda_w_human_validation/rosmap_sex_apoe_broad_kda_analysis.md, Finding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6 and explain why the opposite-direction pattern remains provisional.</a:t>
            </a:r>
          </a:p>
          <a:p xmlns:a="http://schemas.openxmlformats.org/drawingml/2006/main">
            <a:endParaRPr/>
          </a:p>
          <a:p xmlns:a="http://schemas.openxmlformats.org/drawingml/2006/main">
            <a:r>
              <a:t>Walk through: Core MT genes contributed 110 DEG occurrences, with 87 upregulated and 23 downregulated, so 79 percent were upregulated. Nuclear-encoded OXPHOS genes contributed 89 occurrences, with 34 upregulated and 55 downregulated, so 62 percent were downregulated.</a:t>
            </a:r>
          </a:p>
          <a:p xmlns:a="http://schemas.openxmlformats.org/drawingml/2006/main">
            <a:endParaRPr/>
          </a:p>
          <a:p xmlns:a="http://schemas.openxmlformats.org/drawingml/2006/main">
            <a:r>
              <a:t>Evidence of opposite direction means that the dominant direction differs between the two gene sets: core MT genes are mainly upregulated, while nuclear-encoded OXPHOS genes are mainly downregulated. This is a qualitative interpretation, not a separate statistical score. The nuclear result is fairly mixed, which makes the pattern weaker than Finding 2 and supports the label possible rather than definitive.</a:t>
            </a:r>
          </a:p>
          <a:p xmlns:a="http://schemas.openxmlformats.org/drawingml/2006/main">
            <a:endParaRPr/>
          </a:p>
          <a:p xmlns:a="http://schemas.openxmlformats.org/drawingml/2006/main">
            <a:r>
              <a:t>The enrichment counts provide a second view. Core MT enrichment appeared broadly across the eligible calls, whereas significant nuclear-encoded OXPHOS enrichment appeared in only three eligible calls.</a:t>
            </a:r>
          </a:p>
          <a:p xmlns:a="http://schemas.openxmlformats.org/drawingml/2006/main">
            <a:endParaRPr/>
          </a:p>
          <a:p xmlns:a="http://schemas.openxmlformats.org/drawingml/2006/main">
            <a:r>
              <a:t>Scientific boundary: DEG occurrences can repeat the same gene across fine cell types. They are not counts of unique genes, donors, or cells, and the percentages do not measure expression magnitude or mitochondrial function.</a:t>
            </a:r>
          </a:p>
          <a:p xmlns:a="http://schemas.openxmlformats.org/drawingml/2006/main">
            <a:endParaRPr/>
          </a:p>
          <a:p xmlns:a="http://schemas.openxmlformats.org/drawingml/2006/main">
            <a:r>
              <a:t>Transition: Next, compare the fine-cell summary with the direct broad-cell results in ROSMAP and SEA-AD.</a:t>
            </a:r>
          </a:p>
          <a:p xmlns:a="http://schemas.openxmlformats.org/drawingml/2006/main">
            <a:endParaRPr/>
          </a:p>
          <a:p xmlns:a="http://schemas.openxmlformats.org/drawingml/2006/main">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Compare the male APOE ε4 opposite-direction pattern across analysis resolutions and cohorts.</a:t>
            </a:r>
          </a:p>
          <a:p xmlns:a="http://schemas.openxmlformats.org/drawingml/2006/main">
            <a:endParaRPr/>
          </a:p>
          <a:p xmlns:a="http://schemas.openxmlformats.org/drawingml/2006/main">
            <a:r>
              <a:t>Walk through: In the direct ROSMAP excitatory-neuron analysis, the core MT pathway had a positive normalized enrichment score of 2.03 and the nuclear-encoded OXPHOS pathway had a negative score of 1.72. Both results remained significant after adjustment for broad-cell composition, so the ROSMAP broad-cell result supports the same opposite directions shown by the fine-cell summary.</a:t>
            </a:r>
          </a:p>
          <a:p xmlns:a="http://schemas.openxmlformats.org/drawingml/2006/main">
            <a:endParaRPr/>
          </a:p>
          <a:p xmlns:a="http://schemas.openxmlformats.org/drawingml/2006/main">
            <a:r>
              <a:t>SEA-AD did not reproduce the nuclear direction. Its excitatory-neuron nuclear-encoded OXPHOS score was positive 2.46, and its core MT result was not significant. SEA-AD also had no active male APOE ε4 fine-cell KDA query, so it cannot test the finding at the same fine-cell KDA resolution.</a:t>
            </a:r>
          </a:p>
          <a:p xmlns:a="http://schemas.openxmlformats.org/drawingml/2006/main">
            <a:endParaRPr/>
          </a:p>
          <a:p xmlns:a="http://schemas.openxmlformats.org/drawingml/2006/main">
            <a:r>
              <a:t>Cross-resolution disagreement means that the fine-cell summary and direct broad-cell analyses do not give a consistent result across both cohorts. This keeps the male APOE ε4 mismatch provisional.</a:t>
            </a:r>
          </a:p>
          <a:p xmlns:a="http://schemas.openxmlformats.org/drawingml/2006/main">
            <a:endParaRPr/>
          </a:p>
          <a:p xmlns:a="http://schemas.openxmlformats.org/drawingml/2006/main">
            <a:r>
              <a:t>Scientific boundary: A direct broad-cell result is calculated from donor-level expression for the broad cell type. It is different from aggregating results across fine cell types. Differences in cohort composition and cell resolution can contribute to disagreement.</a:t>
            </a:r>
          </a:p>
          <a:p xmlns:a="http://schemas.openxmlformats.org/drawingml/2006/main">
            <a:endParaRPr/>
          </a:p>
          <a:p xmlns:a="http://schemas.openxmlformats.org/drawingml/2006/main">
            <a:r>
              <a:t>Transition: Explain what the weaker pattern could mean and why direct group comparisons are required.</a:t>
            </a:r>
          </a:p>
          <a:p xmlns:a="http://schemas.openxmlformats.org/drawingml/2006/main">
            <a:endParaRPr/>
          </a:p>
          <a:p xmlns:a="http://schemas.openxmlformats.org/drawingml/2006/main">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the evidence.</a:t>
            </a:r>
          </a:p>
          <a:p xmlns:a="http://schemas.openxmlformats.org/drawingml/2006/main">
            <a:endParaRPr/>
          </a:p>
          <a:p xmlns:a="http://schemas.openxmlformats.org/drawingml/2006/main">
            <a:r>
              <a:t>Walk through: Finding 6 resembles Finding 2 because core MT genes mainly increase while nuclear-encoded OXPHOS genes mainly decrease. The APOE ε4 pattern is weaker because its nuclear component contains many more upregulated occurrences than the male APOE ε3/ε3 result.</a:t>
            </a:r>
          </a:p>
          <a:p xmlns:a="http://schemas.openxmlformats.org/drawingml/2006/main">
            <a:endParaRPr/>
          </a:p>
          <a:p xmlns:a="http://schemas.openxmlformats.org/drawingml/2006/main">
            <a:r>
              <a:t>Separate analyses of male APOE ε3/ε3 and male APOE ε4 cannot determine whether the pattern is a general male response or differs by APOE genotype. That question requires a direct statistical comparison across groups.</a:t>
            </a:r>
          </a:p>
          <a:p xmlns:a="http://schemas.openxmlformats.org/drawingml/2006/main">
            <a:endParaRPr/>
          </a:p>
          <a:p xmlns:a="http://schemas.openxmlformats.org/drawingml/2006/main">
            <a:r>
              <a:t>A prespecified balance score would summarize the relative directions of the core MT and nuclear-encoded OXPHOS gene sets using a rule defined before comparing groups. Applying the same score to every group would provide a direct test of whether the opposite-direction evidence differs across sex and APOE groups.</a:t>
            </a:r>
          </a:p>
          <a:p xmlns:a="http://schemas.openxmlformats.org/drawingml/2006/main">
            <a:endParaRPr/>
          </a:p>
          <a:p xmlns:a="http://schemas.openxmlformats.org/drawingml/2006/main">
            <a:r>
              <a:t>Scientific boundary: This remains a hypothesis. RNA direction does not establish OXPHOS protein imbalance, mitochondrial dysfunction, or an APOE-dependent effect.</a:t>
            </a:r>
          </a:p>
          <a:p xmlns:a="http://schemas.openxmlformats.org/drawingml/2006/main">
            <a:endParaRPr/>
          </a:p>
          <a:p xmlns:a="http://schemas.openxmlformats.org/drawingml/2006/main">
            <a:r>
              <a:t>Transition: Place Finding 6 in the context of prior research and summarize its evidence level.</a:t>
            </a:r>
          </a:p>
          <a:p xmlns:a="http://schemas.openxmlformats.org/drawingml/2006/main">
            <a:endParaRPr/>
          </a:p>
          <a:p xmlns:a="http://schemas.openxmlformats.org/drawingml/2006/main">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how the cited studies frame Finding 6 and why the slide rates its novelty as moderate.</a:t>
            </a:r>
          </a:p>
          <a:p xmlns:a="http://schemas.openxmlformats.org/drawingml/2006/main">
            <a:endParaRPr/>
          </a:p>
          <a:p xmlns:a="http://schemas.openxmlformats.org/drawingml/2006/main">
            <a:r>
              <a:t>Walk through: Belloy and colleagues establish APOE ε4 as a major common risk allele for late-onset Alzheimer’s disease, but risk association does not validate the gene-expression direction split. Lee and colleagues show that APOE4 can alter mitochondrial homeostasis in astrocyte models, not in this male cell context. Guo and colleagues support testing Alzheimer’s molecular patterns separately by sex but do not establish this male ε4 pattern. The studies support the rationale for the analysis without reproducing the result. The slide rates novelty as moderate.</a:t>
            </a:r>
          </a:p>
          <a:p xmlns:a="http://schemas.openxmlformats.org/drawingml/2006/main">
            <a:endParaRPr/>
          </a:p>
          <a:p xmlns:a="http://schemas.openxmlformats.org/drawingml/2006/main">
            <a:r>
              <a:t>Scientific boundary: The novelty rating comes from a focused literature comparison. The male ε4 direction split remains provisional because its nuclear-encoded component is weaker and cross-cohort broad-cell evidence disagrees.</a:t>
            </a:r>
          </a:p>
          <a:p xmlns:a="http://schemas.openxmlformats.org/drawingml/2006/main">
            <a:endParaRPr/>
          </a:p>
          <a:p xmlns:a="http://schemas.openxmlformats.org/drawingml/2006/main">
            <a:r>
              <a:t>Transition: Proceed to Finding 7 and the recurrent cytosolic-ribosome module.</a:t>
            </a:r>
          </a:p>
          <a:p xmlns:a="http://schemas.openxmlformats.org/drawingml/2006/main">
            <a:endParaRPr/>
          </a:p>
          <a:p xmlns:a="http://schemas.openxmlformats.org/drawingml/2006/main">
            <a:r>
              <a:t>Sources: docs/analysis/kda_w_human_validation/rosmap_sex_apoe_broad_kda_analysis.md, Finding 6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e617402aac4c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fee862a21c4b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8bfd34f3964b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54cdba8ce64a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428245dbc942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248668739742d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9054016ec04469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dd54ed57f344e8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6715f560b85424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316143864c14a2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9320c52bc19440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9BA105-4B24-46A8-AF1E-746362AECBE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153A9A4-39A0-4527-BCC8-87E8B379E88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130D54B-796E-481E-8C08-BA01FBA2FB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5" name="Footer Placeholder 4">
            <a:extLst xmlns:a="http://schemas.openxmlformats.org/drawingml/2006/main">
              <a:ext uri="{FF2B5EF4-FFF2-40B4-BE49-F238E27FC236}">
                <a16:creationId xmlns:a16="http://schemas.microsoft.com/office/drawing/2014/main" id="{FC8D336F-2113-4BE9-B57A-0B488AA310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DB447C-5DD6-487E-8966-80A70E2A14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D45C28-A521-4016-A859-5CDF157072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41D5F0D-3BEC-4F03-B479-F5491D27304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B921A8A-5687-460F-8627-57019F2B30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5" name="Footer Placeholder 4">
            <a:extLst xmlns:a="http://schemas.openxmlformats.org/drawingml/2006/main">
              <a:ext uri="{FF2B5EF4-FFF2-40B4-BE49-F238E27FC236}">
                <a16:creationId xmlns:a16="http://schemas.microsoft.com/office/drawing/2014/main" id="{2A32EE1D-CDAC-4B84-9CDA-9E0A2E101C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6D9969-7263-434E-85BA-616B70F0F6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0E578C-327B-437D-9B83-9555D5872F7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D18478C-FB06-48F7-8BEF-170985AB489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AC0CE1F-9B2E-49D7-8D5C-16F25C9832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5" name="Footer Placeholder 4">
            <a:extLst xmlns:a="http://schemas.openxmlformats.org/drawingml/2006/main">
              <a:ext uri="{FF2B5EF4-FFF2-40B4-BE49-F238E27FC236}">
                <a16:creationId xmlns:a16="http://schemas.microsoft.com/office/drawing/2014/main" id="{5769DEF4-BD2C-45AE-B50F-F80E3FEF57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ABBFF11-CE87-4491-8FE1-B34F6F5D60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2E0FD6-7325-4BAE-B158-0AF28703D2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1B9E55E-5FBD-41FE-A156-FBD61AD2E58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92D2BBA-9FF3-4D93-9F11-A7B7707A5CF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C434C50-7A6B-46C2-9F04-8456F22244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6" name="Footer Placeholder 5">
            <a:extLst xmlns:a="http://schemas.openxmlformats.org/drawingml/2006/main">
              <a:ext uri="{FF2B5EF4-FFF2-40B4-BE49-F238E27FC236}">
                <a16:creationId xmlns:a16="http://schemas.microsoft.com/office/drawing/2014/main" id="{4F378908-8C1E-449A-9A0C-21909ADDF7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FEEC09-795E-489D-9504-3B44CB5AA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981A13-D01A-4639-9441-9EC57E0140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6EF0EA9-550A-4D7F-858D-12C4362BC17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ACA97FA-5666-4E7B-AF25-82C69827DAD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81B0157-C047-4AC4-B60B-AC374C2DC854}"/>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62A9E80-ABF2-4CB0-A883-8BAE7511051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5126AB6-169A-4049-B2B0-415A430E17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8" name="Footer Placeholder 7">
            <a:extLst xmlns:a="http://schemas.openxmlformats.org/drawingml/2006/main">
              <a:ext uri="{FF2B5EF4-FFF2-40B4-BE49-F238E27FC236}">
                <a16:creationId xmlns:a16="http://schemas.microsoft.com/office/drawing/2014/main" id="{F7AAF46D-1D70-4152-B3A5-0E25EA8A8C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3AE2825-6870-4AFD-8C3D-17D9697BC4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2E3350-79AD-454B-BB3B-E545049432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8A11277A-119B-4C22-9FC5-1A4217BC45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4" name="Footer Placeholder 3">
            <a:extLst xmlns:a="http://schemas.openxmlformats.org/drawingml/2006/main">
              <a:ext uri="{FF2B5EF4-FFF2-40B4-BE49-F238E27FC236}">
                <a16:creationId xmlns:a16="http://schemas.microsoft.com/office/drawing/2014/main" id="{8F2E988A-0294-4518-9131-4707DAB254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A7AD5DD-ABB5-44F6-B093-E1499C54A8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BDCC284-4903-4405-85A0-D1A57B9D92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3" name="Footer Placeholder 2">
            <a:extLst xmlns:a="http://schemas.openxmlformats.org/drawingml/2006/main">
              <a:ext uri="{FF2B5EF4-FFF2-40B4-BE49-F238E27FC236}">
                <a16:creationId xmlns:a16="http://schemas.microsoft.com/office/drawing/2014/main" id="{ED141682-5DE1-4CBF-9569-373FE0B9BA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5914B2A-D7F2-4159-8F69-309A5F773B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EAE9D-CBCA-4A4B-B8D6-7AA34F8FC57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4DB1A8F-971E-4746-AF4B-BFD89C5FAE1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B5F97F2-8320-44DF-AD44-ED692B69593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F591FE0-785C-4A07-B472-DEA202AE0F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6" name="Footer Placeholder 5">
            <a:extLst xmlns:a="http://schemas.openxmlformats.org/drawingml/2006/main">
              <a:ext uri="{FF2B5EF4-FFF2-40B4-BE49-F238E27FC236}">
                <a16:creationId xmlns:a16="http://schemas.microsoft.com/office/drawing/2014/main" id="{58C68A51-38CA-43E0-8B25-5C296B6D72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C76129-082E-4010-995E-1A5CAB350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E2586B-36D9-4D69-B104-4DA42CD2CB4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2F09145-3BCD-4CA1-BFED-E06BE6CDF96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1E2E8AB-3FDA-4762-9EBF-75E6F952199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7630AB2-0EAA-400F-BBFF-70171F0B77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6" name="Footer Placeholder 5">
            <a:extLst xmlns:a="http://schemas.openxmlformats.org/drawingml/2006/main">
              <a:ext uri="{FF2B5EF4-FFF2-40B4-BE49-F238E27FC236}">
                <a16:creationId xmlns:a16="http://schemas.microsoft.com/office/drawing/2014/main" id="{27B3CC1A-7049-40A0-8239-F3E2491963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240AA53-86D7-4E25-B6E1-D0C0AA006D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DEBF38-4BA8-4B01-8C99-0E769930C7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04F0F90-D54B-4EF4-8018-5AE775362E9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4096C5B-B3CD-48C2-8D22-17A9C72D93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5" name="Footer Placeholder 4">
            <a:extLst xmlns:a="http://schemas.openxmlformats.org/drawingml/2006/main">
              <a:ext uri="{FF2B5EF4-FFF2-40B4-BE49-F238E27FC236}">
                <a16:creationId xmlns:a16="http://schemas.microsoft.com/office/drawing/2014/main" id="{F4C35787-6E7C-40C7-BA5E-00B865B70B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E8490C8-CEB3-4CE2-A455-02DB222234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C24AAC7-17EB-4F15-841B-6603F68C7477}"/>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A072281-7E51-431F-BA06-B1F8B94C45C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0FBBD04-DEBB-4D2A-B110-D09DD3DFBA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9/24/26</a:t>
            </a:fld>
            <a:endParaRPr/>
          </a:p>
        </p:txBody>
      </p:sp>
      <p:sp>
        <p:nvSpPr>
          <p:cNvPr id="5" name="Footer Placeholder 4">
            <a:extLst xmlns:a="http://schemas.openxmlformats.org/drawingml/2006/main">
              <a:ext uri="{FF2B5EF4-FFF2-40B4-BE49-F238E27FC236}">
                <a16:creationId xmlns:a16="http://schemas.microsoft.com/office/drawing/2014/main" id="{B1EAC1E3-8832-4FA1-9E1C-6641B26179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44CD56-F4C0-4208-A1CD-85495B3AF2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d626f92aff4e69" /><Relationship Type="http://schemas.openxmlformats.org/officeDocument/2006/relationships/slideLayout" Target="/ppt/slideLayouts/slideLayout1.xml" Id="Ra40dc6733581429d" /><Relationship Type="http://schemas.openxmlformats.org/officeDocument/2006/relationships/slideLayout" Target="/ppt/slideLayouts/slideLayout2.xml" Id="R64c379a11d334d76" /><Relationship Type="http://schemas.openxmlformats.org/officeDocument/2006/relationships/slideLayout" Target="/ppt/slideLayouts/slideLayout3.xml" Id="R856c65068222434b" /><Relationship Type="http://schemas.openxmlformats.org/officeDocument/2006/relationships/slideLayout" Target="/ppt/slideLayouts/slideLayout4.xml" Id="R001b30cbfdcb4813" /><Relationship Type="http://schemas.openxmlformats.org/officeDocument/2006/relationships/slideLayout" Target="/ppt/slideLayouts/slideLayout5.xml" Id="R258c6dd07c794c9c" /><Relationship Type="http://schemas.openxmlformats.org/officeDocument/2006/relationships/slideLayout" Target="/ppt/slideLayouts/slideLayout6.xml" Id="Reb24c129ee8b4c4f" /><Relationship Type="http://schemas.openxmlformats.org/officeDocument/2006/relationships/slideLayout" Target="/ppt/slideLayouts/slideLayout7.xml" Id="Rb5052dfa20534d57" /><Relationship Type="http://schemas.openxmlformats.org/officeDocument/2006/relationships/slideLayout" Target="/ppt/slideLayouts/slideLayout8.xml" Id="R567a037799a7474e" /><Relationship Type="http://schemas.openxmlformats.org/officeDocument/2006/relationships/slideLayout" Target="/ppt/slideLayouts/slideLayout9.xml" Id="R90a585a282c0467f" /><Relationship Type="http://schemas.openxmlformats.org/officeDocument/2006/relationships/slideLayout" Target="/ppt/slideLayouts/slideLayout10.xml" Id="Rcaf1ef0283614f66" /><Relationship Type="http://schemas.openxmlformats.org/officeDocument/2006/relationships/slideLayout" Target="/ppt/slideLayouts/slideLayout11.xml" Id="R09a460a2304d46c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39895C2-58CF-4796-9A2F-60BFF31E6F0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DB0848-96C1-4747-94C1-8CC3A12832B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A3588A0-AE2B-40F4-AA6A-BFC9BE89514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9/24/26</a:t>
            </a:fld>
            <a:endParaRPr/>
          </a:p>
        </p:txBody>
      </p:sp>
      <p:sp>
        <p:nvSpPr>
          <p:cNvPr id="5" name="Footer Placeholder 4">
            <a:extLst xmlns:a="http://schemas.openxmlformats.org/drawingml/2006/main">
              <a:ext uri="{FF2B5EF4-FFF2-40B4-BE49-F238E27FC236}">
                <a16:creationId xmlns:a16="http://schemas.microsoft.com/office/drawing/2014/main" id="{EC6D0DB2-A037-4EF8-94A0-B6597B8D83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D5E4468-25E1-4C9F-9E11-193DF27CB83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0dc6733581429d"/>
    <p:sldLayoutId xmlns:r="http://schemas.openxmlformats.org/officeDocument/2006/relationships" id="2147483650" r:id="R64c379a11d334d76"/>
    <p:sldLayoutId xmlns:r="http://schemas.openxmlformats.org/officeDocument/2006/relationships" id="2147483651" r:id="R856c65068222434b"/>
    <p:sldLayoutId xmlns:r="http://schemas.openxmlformats.org/officeDocument/2006/relationships" id="2147483652" r:id="R001b30cbfdcb4813"/>
    <p:sldLayoutId xmlns:r="http://schemas.openxmlformats.org/officeDocument/2006/relationships" id="2147483653" r:id="R258c6dd07c794c9c"/>
    <p:sldLayoutId xmlns:r="http://schemas.openxmlformats.org/officeDocument/2006/relationships" id="2147483654" r:id="Reb24c129ee8b4c4f"/>
    <p:sldLayoutId xmlns:r="http://schemas.openxmlformats.org/officeDocument/2006/relationships" id="2147483655" r:id="Rb5052dfa20534d57"/>
    <p:sldLayoutId xmlns:r="http://schemas.openxmlformats.org/officeDocument/2006/relationships" id="2147483656" r:id="R567a037799a7474e"/>
    <p:sldLayoutId xmlns:r="http://schemas.openxmlformats.org/officeDocument/2006/relationships" id="2147483657" r:id="R90a585a282c0467f"/>
    <p:sldLayoutId xmlns:r="http://schemas.openxmlformats.org/officeDocument/2006/relationships" id="2147483658" r:id="Rcaf1ef0283614f66"/>
    <p:sldLayoutId xmlns:r="http://schemas.openxmlformats.org/officeDocument/2006/relationships" id="2147483659" r:id="R09a460a2304d46cb"/>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a1149ed10e548f2" /><Relationship Type="http://schemas.openxmlformats.org/officeDocument/2006/relationships/notesSlide" Target="/ppt/notesSlides/notesSlide1.xml" Id="R3ed767f7eb1549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47bbca6106e47c7" /><Relationship Type="http://schemas.openxmlformats.org/officeDocument/2006/relationships/notesSlide" Target="/ppt/notesSlides/notesSlide2.xml" Id="R090a533322f94e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71864a7a0794fea" /><Relationship Type="http://schemas.openxmlformats.org/officeDocument/2006/relationships/notesSlide" Target="/ppt/notesSlides/notesSlide3.xml" Id="R396424c34b6b48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650cb9d70be4e0b" /><Relationship Type="http://schemas.openxmlformats.org/officeDocument/2006/relationships/notesSlide" Target="/ppt/notesSlides/notesSlide4.xml" Id="Rc10bbd495cd148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a6b530b26b1402f" /><Relationship Type="http://schemas.openxmlformats.org/officeDocument/2006/relationships/notesSlide" Target="/ppt/notesSlides/notesSlide5.xml" Id="R19fa8044b19548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877c549f7a24123" /><Relationship Type="http://schemas.openxmlformats.org/officeDocument/2006/relationships/notesSlide" Target="/ppt/notesSlides/notesSlide6.xml" Id="R459baf71f4c14d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41aca694f854fc9" /><Relationship Type="http://schemas.openxmlformats.org/officeDocument/2006/relationships/notesSlide" Target="/ppt/notesSlides/notesSlide7.xml" Id="R77547cfb5c0f46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fc376888df3b4e71" /><Relationship Type="http://schemas.openxmlformats.org/officeDocument/2006/relationships/notesSlide" Target="/ppt/notesSlides/notesSlide8.xml" Id="R77ad4c34ee3747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68a2caeb6e24361" /><Relationship Type="http://schemas.openxmlformats.org/officeDocument/2006/relationships/image" Target="/ppt/media/image.png" Id="R8ae5dc08bd1b4363" /><Relationship Type="http://schemas.openxmlformats.org/officeDocument/2006/relationships/notesSlide" Target="/ppt/notesSlides/notesSlide9.xml" Id="R37de8e40f68d48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fbcd918f7c54ce4" /><Relationship Type="http://schemas.openxmlformats.org/officeDocument/2006/relationships/image" Target="/ppt/media/image2.png" Id="R5285fe2565ef46f9" /><Relationship Type="http://schemas.openxmlformats.org/officeDocument/2006/relationships/notesSlide" Target="/ppt/notesSlides/notesSlide10.xml" Id="Rde1388c97e944b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4a7ddf601904969" /><Relationship Type="http://schemas.openxmlformats.org/officeDocument/2006/relationships/notesSlide" Target="/ppt/notesSlides/notesSlide11.xml" Id="R4d771655830b4d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f0d9b02f6e84db8" /><Relationship Type="http://schemas.openxmlformats.org/officeDocument/2006/relationships/image" Target="/ppt/media/image3.png" Id="Rec4c5da0f1f94de5" /><Relationship Type="http://schemas.openxmlformats.org/officeDocument/2006/relationships/chart" Target="/ppt/slides/charts/chart1.xml" Id="Rb3f6d6b7e87c4d51" /><Relationship Type="http://schemas.openxmlformats.org/officeDocument/2006/relationships/notesSlide" Target="/ppt/notesSlides/notesSlide12.xml" Id="R86698e87cd3747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c24757d62e74035" /><Relationship Type="http://schemas.openxmlformats.org/officeDocument/2006/relationships/notesSlide" Target="/ppt/notesSlides/notesSlide13.xml" Id="Rf68c1a57aada4d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712874b0ea34e5b" /><Relationship Type="http://schemas.openxmlformats.org/officeDocument/2006/relationships/notesSlide" Target="/ppt/notesSlides/notesSlide14.xml" Id="R67281c47ffae4c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1fe8e45e9664440" /><Relationship Type="http://schemas.openxmlformats.org/officeDocument/2006/relationships/notesSlide" Target="/ppt/notesSlides/notesSlide15.xml" Id="Re82e154af35a4d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fd28a1f69924445" /><Relationship Type="http://schemas.openxmlformats.org/officeDocument/2006/relationships/notesSlide" Target="/ppt/notesSlides/notesSlide16.xml" Id="R376dd1e0a62c48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4a70e0aa998641cb" /><Relationship Type="http://schemas.openxmlformats.org/officeDocument/2006/relationships/notesSlide" Target="/ppt/notesSlides/notesSlide17.xml" Id="Rcbc0e8c8363749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106fb23f2f514ce2" /><Relationship Type="http://schemas.openxmlformats.org/officeDocument/2006/relationships/notesSlide" Target="/ppt/notesSlides/notesSlide18.xml" Id="Ree70b869c9b845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a1d07a052a9a4271" /><Relationship Type="http://schemas.openxmlformats.org/officeDocument/2006/relationships/notesSlide" Target="/ppt/notesSlides/notesSlide19.xml" Id="R1a8118eaae9643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1048e89a77ae4028" /><Relationship Type="http://schemas.openxmlformats.org/officeDocument/2006/relationships/notesSlide" Target="/ppt/notesSlides/notesSlide20.xml" Id="R6d3af36b498242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fdf2c41401494b0e" /><Relationship Type="http://schemas.openxmlformats.org/officeDocument/2006/relationships/notesSlide" Target="/ppt/notesSlides/notesSlide21.xml" Id="R9f6dfa319e6544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52f69ba111d249f4" /><Relationship Type="http://schemas.openxmlformats.org/officeDocument/2006/relationships/notesSlide" Target="/ppt/notesSlides/notesSlide22.xml" Id="R4d217a27a7f5432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f7642c98de914b52" /><Relationship Type="http://schemas.openxmlformats.org/officeDocument/2006/relationships/notesSlide" Target="/ppt/notesSlides/notesSlide23.xml" Id="Rdc58432be3c5441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17b9ea89bcf64106" /><Relationship Type="http://schemas.openxmlformats.org/officeDocument/2006/relationships/notesSlide" Target="/ppt/notesSlides/notesSlide24.xml" Id="R1722a9ac5fb54a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ce3ce9aa27da4181" /><Relationship Type="http://schemas.openxmlformats.org/officeDocument/2006/relationships/notesSlide" Target="/ppt/notesSlides/notesSlide25.xml" Id="Rd3a2742f08954fb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c865831f7c0d403f" /><Relationship Type="http://schemas.openxmlformats.org/officeDocument/2006/relationships/notesSlide" Target="/ppt/notesSlides/notesSlide26.xml" Id="R12467e94e94b431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cb8e24edafca47bb" /><Relationship Type="http://schemas.openxmlformats.org/officeDocument/2006/relationships/notesSlide" Target="/ppt/notesSlides/notesSlide27.xml" Id="R078f3e9bf64342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95e866e18eef4300" /><Relationship Type="http://schemas.openxmlformats.org/officeDocument/2006/relationships/notesSlide" Target="/ppt/notesSlides/notesSlide28.xml" Id="R02abe13e9e1e464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75a1ad6baf394611" /><Relationship Type="http://schemas.openxmlformats.org/officeDocument/2006/relationships/notesSlide" Target="/ppt/notesSlides/notesSlide29.xml" Id="R7f21eabccf764c9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d67ec27ffd284c3b" /><Relationship Type="http://schemas.openxmlformats.org/officeDocument/2006/relationships/notesSlide" Target="/ppt/notesSlides/notesSlide30.xml" Id="R2880cf6f70804c2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03ef962794fb4479" /><Relationship Type="http://schemas.openxmlformats.org/officeDocument/2006/relationships/notesSlide" Target="/ppt/notesSlides/notesSlide31.xml" Id="R0ca878f7dec64ad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929d87ca537a4dcd" /><Relationship Type="http://schemas.openxmlformats.org/officeDocument/2006/relationships/notesSlide" Target="/ppt/notesSlides/notesSlide32.xml" Id="Rbe7bb578af214d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7e80086034074b7d" /><Relationship Type="http://schemas.openxmlformats.org/officeDocument/2006/relationships/notesSlide" Target="/ppt/notesSlides/notesSlide33.xml" Id="R5d10329f2d23447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e0bc7bc22b5045ea" /><Relationship Type="http://schemas.openxmlformats.org/officeDocument/2006/relationships/notesSlide" Target="/ppt/notesSlides/notesSlide34.xml" Id="R8dee82777fc4483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9cef3f9347fc443f" /><Relationship Type="http://schemas.openxmlformats.org/officeDocument/2006/relationships/notesSlide" Target="/ppt/notesSlides/notesSlide35.xml" Id="Racb810c086274e7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bf66579982154a7e" /><Relationship Type="http://schemas.openxmlformats.org/officeDocument/2006/relationships/notesSlide" Target="/ppt/notesSlides/notesSlide36.xml" Id="R6cbd420c9d174cb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93d9b3d658574d20" /><Relationship Type="http://schemas.openxmlformats.org/officeDocument/2006/relationships/notesSlide" Target="/ppt/notesSlides/notesSlide37.xml" Id="Ra0543762385b449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781c0df232e444e1" /><Relationship Type="http://schemas.openxmlformats.org/officeDocument/2006/relationships/notesSlide" Target="/ppt/notesSlides/notesSlide38.xml" Id="R3dba2a3e2b4d47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718e63a730da4506" /><Relationship Type="http://schemas.openxmlformats.org/officeDocument/2006/relationships/notesSlide" Target="/ppt/notesSlides/notesSlide39.xml" Id="Rc537b748eee249a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85824ed7b4b74853" /><Relationship Type="http://schemas.openxmlformats.org/officeDocument/2006/relationships/notesSlide" Target="/ppt/notesSlides/notesSlide40.xml" Id="R2dabdf8a52a14c3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f0b7c06fe81144bb" /><Relationship Type="http://schemas.openxmlformats.org/officeDocument/2006/relationships/notesSlide" Target="/ppt/notesSlides/notesSlide41.xml" Id="R78c56c2af50c415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4aa0d4ac3dd04adf" /><Relationship Type="http://schemas.openxmlformats.org/officeDocument/2006/relationships/notesSlide" Target="/ppt/notesSlides/notesSlide42.xml" Id="Ra9e82c1308404f1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cd7417de61e14549" /><Relationship Type="http://schemas.openxmlformats.org/officeDocument/2006/relationships/notesSlide" Target="/ppt/notesSlides/notesSlide43.xml" Id="Re3d4bfac05734f9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9347a09f7d104475" /><Relationship Type="http://schemas.openxmlformats.org/officeDocument/2006/relationships/notesSlide" Target="/ppt/notesSlides/notesSlide44.xml" Id="R126a3a2ee9694f7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70baeed3c5f0424f" /><Relationship Type="http://schemas.openxmlformats.org/officeDocument/2006/relationships/notesSlide" Target="/ppt/notesSlides/notesSlide45.xml" Id="Rfff86cb6652c425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b16074eb888f4890" /><Relationship Type="http://schemas.openxmlformats.org/officeDocument/2006/relationships/notesSlide" Target="/ppt/notesSlides/notesSlide46.xml" Id="Rf915afa4eb1d478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7a096e93280040eb" /><Relationship Type="http://schemas.openxmlformats.org/officeDocument/2006/relationships/notesSlide" Target="/ppt/notesSlides/notesSlide47.xml" Id="Rc124e0a248aa442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9cebc3d13df14014" /><Relationship Type="http://schemas.openxmlformats.org/officeDocument/2006/relationships/notesSlide" Target="/ppt/notesSlides/notesSlide48.xml" Id="R787a53a671ba48a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578135199d7540e5" /><Relationship Type="http://schemas.openxmlformats.org/officeDocument/2006/relationships/notesSlide" Target="/ppt/notesSlides/notesSlide49.xml" Id="R8d45412a35104bc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0c83fa4cf128430b" /><Relationship Type="http://schemas.openxmlformats.org/officeDocument/2006/relationships/notesSlide" Target="/ppt/notesSlides/notesSlide50.xml" Id="R132b40a4b89d4042" /></Relationships>
</file>

<file path=ppt/slides/charts/chart1.xml><?xml version="1.0" encoding="utf-8"?>
<c:chartSpace xmlns:c="http://schemas.openxmlformats.org/drawingml/2006/chart">
  <c:lang val="en-US"/>
  <c:roundedCorners val="1"/>
  <c:style val="2"/>
  <c:chart>
    <c:autoTitleDeleted val="1"/>
    <c:plotArea>
      <c:layout>
        <c:manualLayout>
          <c:layoutTarget val="inner"/>
          <c:xMode val="edge"/>
          <c:yMode val="edge"/>
          <c:x val="0.0873708220100806"/>
          <c:y val="0.13000066540978153"/>
          <c:w val="0.899649826957471"/>
          <c:h val="0.7714831984030165"/>
        </c:manualLayout>
      </c:layout>
      <c:barChart>
        <c:barDir val="col"/>
        <c:grouping val="clustered"/>
        <c:varyColors val="0"/>
        <c:ser>
          <c:idx val="0"/>
          <c:order val="0"/>
          <c:tx>
            <c:v>Core MT genes (13)</c:v>
          </c:tx>
          <c:spPr>
            <a:solidFill xmlns:a="http://schemas.openxmlformats.org/drawingml/2006/main">
              <a:srgbClr val="0072B2"/>
            </a:solidFill>
            <a:ln xmlns:a="http://schemas.openxmlformats.org/drawingml/2006/main" w="9525">
              <a:solidFill>
                <a:srgbClr val="0072B2"/>
              </a:solidFill>
              <a:prstDash val="solid"/>
            </a:ln>
          </c:spPr>
          <c:invertIfNegative val="0"/>
          <c:dLbls>
            <c:dLbl>
              <c:idx val="0"/>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99%</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100%</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125" b="1">
                        <a:solidFill>
                          <a:srgbClr val="0072B2"/>
                        </a:solidFill>
                        <a:latin typeface="Arial"/>
                        <a:ea typeface="Arial"/>
                        <a:cs typeface="Arial"/>
                      </a:rPr>
                      <a:t>41%</a:t>
                    </a:r>
                  </a:p>
                </c:rich>
              </c:tx>
              <c:txPr>
                <a:bodyPr xmlns:a="http://schemas.openxmlformats.org/drawingml/2006/main" anchorCtr="1"/>
                <a:lstStyle xmlns:a="http://schemas.openxmlformats.org/drawingml/2006/main"/>
                <a:p xmlns:a="http://schemas.openxmlformats.org/drawingml/2006/main">
                  <a:pPr>
                    <a:defRPr sz="1125" b="1">
                      <a:solidFill>
                        <a:srgbClr val="0072B2"/>
                      </a:solidFill>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125" b="1">
                        <a:solidFill>
                          <a:srgbClr val="0072B2"/>
                        </a:solidFill>
                        <a:latin typeface="Arial"/>
                        <a:ea typeface="Arial"/>
                        <a:cs typeface="Arial"/>
                      </a:rPr>
                      <a:t>10%</a:t>
                    </a:r>
                  </a:p>
                </c:rich>
              </c:tx>
              <c:txPr>
                <a:bodyPr xmlns:a="http://schemas.openxmlformats.org/drawingml/2006/main" anchorCtr="1"/>
                <a:lstStyle xmlns:a="http://schemas.openxmlformats.org/drawingml/2006/main"/>
                <a:p xmlns:a="http://schemas.openxmlformats.org/drawingml/2006/main">
                  <a:pPr>
                    <a:defRPr sz="1125" b="1">
                      <a:solidFill>
                        <a:srgbClr val="0072B2"/>
                      </a:solidFill>
                      <a:latin typeface="Arial"/>
                      <a:ea typeface="Arial"/>
                      <a:cs typeface="Arial"/>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86%</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79%</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spPr>
              <a:noFill xmlns:a="http://schemas.openxmlformats.org/drawingml/2006/main"/>
              <a:ln xmlns:a="http://schemas.openxmlformats.org/drawingml/2006/main">
                <a:noFill/>
              </a:ln>
            </c:spPr>
            <c:showLegendKey val="1"/>
            <c:showVal val="1"/>
            <c:showCatName val="1"/>
            <c:showSerName val="1"/>
            <c:showPercent val="1"/>
            <c:showBubbleSize val="1"/>
            <c:showLeaderLines val="0"/>
          </c:dLbls>
          <c:cat>
            <c:strLit>
              <c:ptCount val="6"/>
              <c:pt idx="0">
                <c:v>Female ε2</c:v>
              </c:pt>
              <c:pt idx="1">
                <c:v>Female ε3/ε3</c:v>
              </c:pt>
              <c:pt idx="2">
                <c:v>Female ε4</c:v>
              </c:pt>
              <c:pt idx="3">
                <c:v>Male ε2</c:v>
              </c:pt>
              <c:pt idx="4">
                <c:v>Male ε3/ε3</c:v>
              </c:pt>
              <c:pt idx="5">
                <c:v>Male ε4</c:v>
              </c:pt>
            </c:strLit>
          </c:cat>
          <c:val>
            <c:numLit>
              <c:formatCode>0" pp"</c:formatCode>
              <c:ptCount val="6"/>
              <c:pt idx="0">
                <c:v>49</c:v>
              </c:pt>
              <c:pt idx="1">
                <c:v>50</c:v>
              </c:pt>
              <c:pt idx="2">
                <c:v>-9</c:v>
              </c:pt>
              <c:pt idx="3">
                <c:v>-40</c:v>
              </c:pt>
              <c:pt idx="4">
                <c:v>36</c:v>
              </c:pt>
              <c:pt idx="5">
                <c:v>29</c:v>
              </c:pt>
            </c:numLit>
          </c:val>
        </c:ser>
        <c:ser>
          <c:idx val="1"/>
          <c:order val="1"/>
          <c:tx>
            <c:v>Nuclear-encoded OXPHOS genes (86)</c:v>
          </c:tx>
          <c:spPr>
            <a:solidFill xmlns:a="http://schemas.openxmlformats.org/drawingml/2006/main">
              <a:srgbClr val="D55E00"/>
            </a:solidFill>
            <a:ln xmlns:a="http://schemas.openxmlformats.org/drawingml/2006/main" w="9525">
              <a:solidFill>
                <a:srgbClr val="D55E00"/>
              </a:solidFill>
              <a:prstDash val="solid"/>
            </a:ln>
          </c:spPr>
          <c:invertIfNegative val="0"/>
          <c:dLbls>
            <c:dLbl>
              <c:idx val="0"/>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98%</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85%</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5%</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13%</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12%</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38%</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spPr>
              <a:noFill xmlns:a="http://schemas.openxmlformats.org/drawingml/2006/main"/>
              <a:ln xmlns:a="http://schemas.openxmlformats.org/drawingml/2006/main">
                <a:noFill/>
              </a:ln>
            </c:spPr>
            <c:showLegendKey val="1"/>
            <c:showVal val="1"/>
            <c:showCatName val="1"/>
            <c:showSerName val="1"/>
            <c:showPercent val="1"/>
            <c:showBubbleSize val="1"/>
            <c:showLeaderLines val="0"/>
          </c:dLbls>
          <c:cat>
            <c:strLit>
              <c:ptCount val="6"/>
              <c:pt idx="0">
                <c:v>Female ε2</c:v>
              </c:pt>
              <c:pt idx="1">
                <c:v>Female ε3/ε3</c:v>
              </c:pt>
              <c:pt idx="2">
                <c:v>Female ε4</c:v>
              </c:pt>
              <c:pt idx="3">
                <c:v>Male ε2</c:v>
              </c:pt>
              <c:pt idx="4">
                <c:v>Male ε3/ε3</c:v>
              </c:pt>
              <c:pt idx="5">
                <c:v>Male ε4</c:v>
              </c:pt>
            </c:strLit>
          </c:cat>
          <c:val>
            <c:numLit>
              <c:formatCode>0" pp"</c:formatCode>
              <c:ptCount val="6"/>
              <c:pt idx="0">
                <c:v>48</c:v>
              </c:pt>
              <c:pt idx="1">
                <c:v>35</c:v>
              </c:pt>
              <c:pt idx="2">
                <c:v>-45</c:v>
              </c:pt>
              <c:pt idx="3">
                <c:v>-37</c:v>
              </c:pt>
              <c:pt idx="4">
                <c:v>-38</c:v>
              </c:pt>
              <c:pt idx="5">
                <c:v>-12</c:v>
              </c:pt>
            </c:numLit>
          </c:val>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xmlns:a="http://schemas.openxmlformats.org/drawingml/2006/main" w="9525">
            <a:solidFill>
              <a:srgbClr val="667788"/>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1F2730"/>
                </a:solidFill>
                <a:latin typeface="Arial"/>
                <a:ea typeface="Arial"/>
                <a:cs typeface="Arial"/>
              </a:defRPr>
            </a:pPr>
          </a:p>
        </c:txPr>
        <c:crossAx val="48672768"/>
        <c:crosses val="autoZero"/>
        <c:lblOffset val="100"/>
      </c:catAx>
      <c:valAx>
        <c:axId val="48672768"/>
        <c:scaling>
          <c:orientation val="minMax"/>
          <c:max val="50"/>
          <c:min val="-50"/>
        </c:scaling>
        <c:delete val="0"/>
        <c:axPos val="l"/>
        <c:majorGridlines>
          <c:spPr>
            <a:ln xmlns:a="http://schemas.openxmlformats.org/drawingml/2006/main" w="9525">
              <a:solidFill>
                <a:srgbClr val="D5DDE6"/>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1F2730"/>
                    </a:solidFill>
                    <a:latin typeface="Arial"/>
                    <a:ea typeface="Arial"/>
                    <a:cs typeface="Arial"/>
                  </a:rPr>
                  <a:t>Difference from 50% (percentage points)</a:t>
                </a:r>
              </a:p>
            </c:rich>
          </c:tx>
          <c:layout>
            <c:manualLayout>
              <c:xMode val="edge"/>
              <c:yMode val="edge"/>
              <c:x val="0"/>
              <c:y val="0.160671620272818"/>
            </c:manualLayout>
          </c:layout>
          <c:overlay val="0"/>
          <c:txPr>
            <a:bodyPr xmlns:a="http://schemas.openxmlformats.org/drawingml/2006/main" anchorCtr="1"/>
            <a:lstStyle xmlns:a="http://schemas.openxmlformats.org/drawingml/2006/main"/>
            <a:p xmlns:a="http://schemas.openxmlformats.org/drawingml/2006/main">
              <a:pPr>
                <a:defRPr sz="1050">
                  <a:solidFill>
                    <a:srgbClr val="1F2730"/>
                  </a:solidFill>
                  <a:latin typeface="Arial"/>
                  <a:ea typeface="Arial"/>
                  <a:cs typeface="Arial"/>
                </a:defRPr>
              </a:pPr>
            </a:p>
          </c:txPr>
        </c:title>
        <c:numFmt formatCode="\+0&quot; pp&quot;;\-0&quot; pp&quot;;&quot;50% equal&quot;" sourceLinked="0"/>
        <c:majorTickMark val="none"/>
        <c:minorTickMark val="none"/>
        <c:tickLblPos val="nextTo"/>
        <c:spPr>
          <a:ln xmlns:a="http://schemas.openxmlformats.org/drawingml/2006/main" w="9525">
            <a:solidFill>
              <a:srgbClr val="667788"/>
            </a:solidFill>
            <a:prstDash val="solid"/>
          </a:ln>
        </c:spPr>
        <c:txPr>
          <a:bodyPr xmlns:a="http://schemas.openxmlformats.org/drawingml/2006/main" anchorCtr="1"/>
          <a:lstStyle xmlns:a="http://schemas.openxmlformats.org/drawingml/2006/main"/>
          <a:p xmlns:a="http://schemas.openxmlformats.org/drawingml/2006/main">
            <a:pPr>
              <a:defRPr sz="975">
                <a:solidFill>
                  <a:srgbClr val="1F2730"/>
                </a:solidFill>
                <a:latin typeface="Arial"/>
                <a:ea typeface="Arial"/>
                <a:cs typeface="Arial"/>
              </a:defRPr>
            </a:pPr>
          </a:p>
        </c:txPr>
        <c:crossAx val="48650112"/>
        <c:crosses val="autoZero"/>
        <c:crossBetween val="between"/>
        <c:majorUnit val="25"/>
      </c:valAx>
      <c:spPr>
        <a:solidFill xmlns:a="http://schemas.openxmlformats.org/drawingml/2006/main">
          <a:srgbClr val="FFFFFF"/>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F27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D116230-CD20-4199-A460-95D3D4C64572}"/>
              </a:ext>
            </a:extLst>
          </p:cNvPr>
          <p:cNvSpPr>
            <a:spLocks xmlns:a="http://schemas.openxmlformats.org/drawingml/2006/main" noGrp="1"/>
          </p:cNvSpPr>
          <p:nvPr/>
        </p:nvSpPr>
        <p:spPr>
          <a:xfrm xmlns:a="http://schemas.openxmlformats.org/drawingml/2006/main">
            <a:off x="713232" y="367974"/>
            <a:ext cx="10287000" cy="356405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Sex- and APOE-Specific Mitochondrial Gene Expression and Network Analysis in Alzheimer’s Disease</a:t>
            </a:r>
            <a:endParaRPr sz="3400" b="1">
              <a:solidFill>
                <a:srgbClr val="FFFFFF"/>
              </a:solidFill>
              <a:latin typeface="Arial"/>
              <a:ea typeface="Arial"/>
              <a:cs typeface="Arial"/>
            </a:endParaRPr>
          </a:p>
          <a:p xmlns:a="http://schemas.openxmlformats.org/drawingml/2006/main">
            <a:endParaRPr sz="3400" b="1">
              <a:solidFill>
                <a:srgbClr val="FFFFFF"/>
              </a:solidFill>
              <a:latin typeface="Arial"/>
              <a:ea typeface="Arial"/>
              <a:cs typeface="Arial"/>
            </a:endParaRPr>
          </a:p>
          <a:p xmlns:a="http://schemas.openxmlformats.org/drawingml/2006/main">
            <a:r>
              <a:rPr sz="2000">
                <a:solidFill>
                  <a:srgbClr val="FFFFFF"/>
                </a:solidFill>
                <a:latin typeface="Arial"/>
                <a:ea typeface="Arial"/>
                <a:cs typeface="Arial"/>
              </a:rPr>
              <a:t>Cell-</a:t>
            </a:r>
            <a:r>
              <a:rPr sz="2000">
                <a:solidFill>
                  <a:srgbClr val="FFFFFF"/>
                </a:solidFill>
                <a:latin typeface="Arial"/>
                <a:ea typeface="Arial"/>
                <a:cs typeface="Arial"/>
              </a:rPr>
              <a:t>level</a:t>
            </a:r>
            <a:r>
              <a:rPr sz="2000">
                <a:solidFill>
                  <a:srgbClr val="FFFFFF"/>
                </a:solidFill>
                <a:latin typeface="Arial"/>
                <a:ea typeface="Arial"/>
                <a:cs typeface="Arial"/>
              </a:rPr>
              <a:t> differential-expression, pathway, and key driver analyses with cross-cohort human validation</a:t>
            </a:r>
            <a:endParaRPr sz="2000">
              <a:solidFill>
                <a:srgbClr val="FFFFFF"/>
              </a:solidFill>
              <a:latin typeface="Arial"/>
              <a:ea typeface="Arial"/>
              <a:cs typeface="Arial"/>
            </a:endParaRPr>
          </a:p>
          <a:p xmlns:a="http://schemas.openxmlformats.org/drawingml/2006/main">
            <a:endParaRPr sz="2000">
              <a:solidFill>
                <a:srgbClr val="FFFFFF"/>
              </a:solidFill>
              <a:latin typeface="Arial"/>
              <a:ea typeface="Arial"/>
              <a:cs typeface="Arial"/>
            </a:endParaRPr>
          </a:p>
          <a:p xmlns:a="http://schemas.openxmlformats.org/drawingml/2006/main">
            <a:endParaRPr sz="1200">
              <a:solidFill>
                <a:srgbClr val="FFFFFF"/>
              </a:solidFill>
              <a:latin typeface="Arial"/>
              <a:ea typeface="Arial"/>
              <a:cs typeface="Arial"/>
            </a:endParaRPr>
          </a:p>
          <a:p xmlns:a="http://schemas.openxmlformats.org/drawingml/2006/main">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sld>
</file>

<file path=ppt/slides/slide2.xml><?xml version="1.0" encoding="utf-8"?>
<p:sld xmlns:p="http://schemas.openxmlformats.org/presentationml/2006/main">
  <p:cSld>
    <p:bg>
      <p:bgPr>
        <a:solidFill xmlns:a="http://schemas.openxmlformats.org/drawingml/2006/main">
          <a:srgbClr val="11263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2903A140-F0FA-4657-A65D-E6427102C17D}"/>
              </a:ext>
            </a:extLst>
          </p:cNvPr>
          <p:cNvSpPr>
            <a:spLocks xmlns:a="http://schemas.openxmlformats.org/drawingml/2006/main" noGrp="1"/>
          </p:cNvSpPr>
          <p:nvPr/>
        </p:nvSpPr>
        <p:spPr>
          <a:xfrm xmlns:a="http://schemas.openxmlformats.org/drawingml/2006/main">
            <a:off x="714375" y="12573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225" b="1">
                <a:solidFill>
                  <a:srgbClr val="FFFFFF"/>
                </a:solidFill>
                <a:latin typeface="Arial"/>
                <a:ea typeface="Arial"/>
                <a:cs typeface="Arial"/>
              </a:defRPr>
            </a:pPr>
            <a:r>
              <a:rPr sz="3225" b="1">
                <a:solidFill>
                  <a:srgbClr val="FFFFFF"/>
                </a:solidFill>
                <a:latin typeface="Arial"/>
                <a:ea typeface="Arial"/>
                <a:cs typeface="Arial"/>
              </a:rPr>
              <a:t>Overall workflow</a:t>
            </a:r>
          </a:p>
        </p:txBody>
      </p:sp>
      <p:sp>
        <p:nvSpPr>
          <p:cNvPr id="3" name="Slide Subtitle">
            <a:extLst xmlns:a="http://schemas.openxmlformats.org/drawingml/2006/main">
              <a:ext uri="{FF2B5EF4-FFF2-40B4-BE49-F238E27FC236}">
                <a16:creationId xmlns:a16="http://schemas.microsoft.com/office/drawing/2014/main" id="{28640D70-435C-4D9E-ACAC-5083B9D097B7}"/>
              </a:ext>
            </a:extLst>
          </p:cNvPr>
          <p:cNvSpPr>
            <a:spLocks xmlns:a="http://schemas.openxmlformats.org/drawingml/2006/main" noGrp="1"/>
          </p:cNvSpPr>
          <p:nvPr/>
        </p:nvSpPr>
        <p:spPr>
          <a:xfrm xmlns:a="http://schemas.openxmlformats.org/drawingml/2006/main">
            <a:off x="714375" y="20764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a:solidFill>
                  <a:srgbClr val="CED8E5"/>
                </a:solidFill>
                <a:latin typeface="Arial"/>
                <a:ea typeface="Arial"/>
                <a:cs typeface="Arial"/>
              </a:defRPr>
            </a:pPr>
            <a:r>
              <a:rPr sz="1500">
                <a:solidFill>
                  <a:srgbClr val="CED8E5"/>
                </a:solidFill>
                <a:latin typeface="Arial"/>
                <a:ea typeface="Arial"/>
                <a:cs typeface="Arial"/>
              </a:rPr>
              <a:t>From cell-level gene expression to candidate prioritization and validation</a:t>
            </a:r>
          </a:p>
        </p:txBody>
      </p:sp>
      <p:sp>
        <p:nvSpPr>
          <p:cNvPr id="4" name="Workflow Line">
            <a:extLst xmlns:a="http://schemas.openxmlformats.org/drawingml/2006/main">
              <a:ext uri="{FF2B5EF4-FFF2-40B4-BE49-F238E27FC236}">
                <a16:creationId xmlns:a16="http://schemas.microsoft.com/office/drawing/2014/main" id="{3E34F6CA-8AA5-47C5-AE0A-4D5AEBB22612}"/>
              </a:ext>
            </a:extLst>
          </p:cNvPr>
          <p:cNvSpPr>
            <a:spLocks xmlns:a="http://schemas.openxmlformats.org/drawingml/2006/main" noGrp="1"/>
          </p:cNvSpPr>
          <p:nvPr/>
        </p:nvSpPr>
        <p:spPr>
          <a:xfrm xmlns:a="http://schemas.openxmlformats.org/drawingml/2006/main">
            <a:off x="1095375" y="3228975"/>
            <a:ext cx="10001250" cy="28575"/>
          </a:xfrm>
          <a:prstGeom xmlns:a="http://schemas.openxmlformats.org/drawingml/2006/main" prst="rect">
            <a:avLst/>
          </a:prstGeom>
          <a:solidFill xmlns:a="http://schemas.openxmlformats.org/drawingml/2006/main">
            <a:srgbClr val="72869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Workflow Step 1">
            <a:extLst xmlns:a="http://schemas.openxmlformats.org/drawingml/2006/main">
              <a:ext uri="{FF2B5EF4-FFF2-40B4-BE49-F238E27FC236}">
                <a16:creationId xmlns:a16="http://schemas.microsoft.com/office/drawing/2014/main" id="{396F4314-1CD2-4672-AAC0-A3D7FB884167}"/>
              </a:ext>
            </a:extLst>
          </p:cNvPr>
          <p:cNvSpPr>
            <a:spLocks xmlns:a="http://schemas.openxmlformats.org/drawingml/2006/main" noGrp="1"/>
          </p:cNvSpPr>
          <p:nvPr/>
        </p:nvSpPr>
        <p:spPr>
          <a:xfrm xmlns:a="http://schemas.openxmlformats.org/drawingml/2006/main">
            <a:off x="866775" y="3009900"/>
            <a:ext cx="457200" cy="457200"/>
          </a:xfrm>
          <a:prstGeom xmlns:a="http://schemas.openxmlformats.org/drawingml/2006/main" prst="ellipse">
            <a:avLst/>
          </a:prstGeom>
          <a:solidFill xmlns:a="http://schemas.openxmlformats.org/drawingml/2006/main">
            <a:srgbClr val="0087C8"/>
          </a:solidFill>
          <a:ln xmlns:a="http://schemas.openxmlformats.org/drawingml/2006/main" w="0">
            <a:noFill/>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6" name="Workflow Step 1 Title">
            <a:extLst xmlns:a="http://schemas.openxmlformats.org/drawingml/2006/main">
              <a:ext uri="{FF2B5EF4-FFF2-40B4-BE49-F238E27FC236}">
                <a16:creationId xmlns:a16="http://schemas.microsoft.com/office/drawing/2014/main" id="{45BA1EA2-ECE6-4A3E-939A-79EAF98EC470}"/>
              </a:ext>
            </a:extLst>
          </p:cNvPr>
          <p:cNvSpPr>
            <a:spLocks xmlns:a="http://schemas.openxmlformats.org/drawingml/2006/main" noGrp="1"/>
          </p:cNvSpPr>
          <p:nvPr/>
        </p:nvSpPr>
        <p:spPr>
          <a:xfrm xmlns:a="http://schemas.openxmlformats.org/drawingml/2006/main">
            <a:off x="14287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7" name="Workflow Step 1 Description">
            <a:extLst xmlns:a="http://schemas.openxmlformats.org/drawingml/2006/main">
              <a:ext uri="{FF2B5EF4-FFF2-40B4-BE49-F238E27FC236}">
                <a16:creationId xmlns:a16="http://schemas.microsoft.com/office/drawing/2014/main" id="{05C52D86-D7B5-406D-8868-0EA8586074D1}"/>
              </a:ext>
            </a:extLst>
          </p:cNvPr>
          <p:cNvSpPr>
            <a:spLocks xmlns:a="http://schemas.openxmlformats.org/drawingml/2006/main" noGrp="1"/>
          </p:cNvSpPr>
          <p:nvPr/>
        </p:nvSpPr>
        <p:spPr>
          <a:xfrm xmlns:a="http://schemas.openxmlformats.org/drawingml/2006/main">
            <a:off x="18097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a:solidFill>
                  <a:srgbClr val="CED8E5"/>
                </a:solidFill>
                <a:latin typeface="Arial"/>
                <a:ea typeface="Arial"/>
                <a:cs typeface="Arial"/>
              </a:defRPr>
            </a:pPr>
            <a:r>
              <a:rPr sz="1050">
                <a:solidFill>
                  <a:srgbClr val="CED8E5"/>
                </a:solidFill>
                <a:latin typeface="Arial"/>
                <a:ea typeface="Arial"/>
                <a:cs typeface="Arial"/>
              </a:rPr>
              <a:t>Identify genes with higher or lower RNA abundance in AD.</a:t>
            </a:r>
          </a:p>
        </p:txBody>
      </p:sp>
      <p:sp>
        <p:nvSpPr>
          <p:cNvPr id="8" name="Workflow Step 2">
            <a:extLst xmlns:a="http://schemas.openxmlformats.org/drawingml/2006/main">
              <a:ext uri="{FF2B5EF4-FFF2-40B4-BE49-F238E27FC236}">
                <a16:creationId xmlns:a16="http://schemas.microsoft.com/office/drawing/2014/main" id="{97C16EB0-2DF6-4CFF-9BB0-A0141C67493D}"/>
              </a:ext>
            </a:extLst>
          </p:cNvPr>
          <p:cNvSpPr>
            <a:spLocks xmlns:a="http://schemas.openxmlformats.org/drawingml/2006/main" noGrp="1"/>
          </p:cNvSpPr>
          <p:nvPr/>
        </p:nvSpPr>
        <p:spPr>
          <a:xfrm xmlns:a="http://schemas.openxmlformats.org/drawingml/2006/main">
            <a:off x="2867025" y="3009900"/>
            <a:ext cx="457200" cy="457200"/>
          </a:xfrm>
          <a:prstGeom xmlns:a="http://schemas.openxmlformats.org/drawingml/2006/main" prst="ellipse">
            <a:avLst/>
          </a:prstGeom>
          <a:solidFill xmlns:a="http://schemas.openxmlformats.org/drawingml/2006/main">
            <a:srgbClr val="55B5E3"/>
          </a:solidFill>
          <a:ln xmlns:a="http://schemas.openxmlformats.org/drawingml/2006/main" w="0">
            <a:noFill/>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9" name="Workflow Step 2 Title">
            <a:extLst xmlns:a="http://schemas.openxmlformats.org/drawingml/2006/main">
              <a:ext uri="{FF2B5EF4-FFF2-40B4-BE49-F238E27FC236}">
                <a16:creationId xmlns:a16="http://schemas.microsoft.com/office/drawing/2014/main" id="{9438841E-A247-4C27-8AB3-C09E01F4999C}"/>
              </a:ext>
            </a:extLst>
          </p:cNvPr>
          <p:cNvSpPr>
            <a:spLocks xmlns:a="http://schemas.openxmlformats.org/drawingml/2006/main" noGrp="1"/>
          </p:cNvSpPr>
          <p:nvPr/>
        </p:nvSpPr>
        <p:spPr>
          <a:xfrm xmlns:a="http://schemas.openxmlformats.org/drawingml/2006/main">
            <a:off x="214312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0" name="Workflow Step 2 Description">
            <a:extLst xmlns:a="http://schemas.openxmlformats.org/drawingml/2006/main">
              <a:ext uri="{FF2B5EF4-FFF2-40B4-BE49-F238E27FC236}">
                <a16:creationId xmlns:a16="http://schemas.microsoft.com/office/drawing/2014/main" id="{E240C161-BCB7-4707-981F-40BC0FA81B46}"/>
              </a:ext>
            </a:extLst>
          </p:cNvPr>
          <p:cNvSpPr>
            <a:spLocks xmlns:a="http://schemas.openxmlformats.org/drawingml/2006/main" noGrp="1"/>
          </p:cNvSpPr>
          <p:nvPr/>
        </p:nvSpPr>
        <p:spPr>
          <a:xfrm xmlns:a="http://schemas.openxmlformats.org/drawingml/2006/main">
            <a:off x="218122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a:solidFill>
                  <a:srgbClr val="CED8E5"/>
                </a:solidFill>
                <a:latin typeface="Arial"/>
                <a:ea typeface="Arial"/>
                <a:cs typeface="Arial"/>
              </a:defRPr>
            </a:pPr>
            <a:r>
              <a:rPr sz="1050">
                <a:solidFill>
                  <a:srgbClr val="CED8E5"/>
                </a:solidFill>
                <a:latin typeface="Arial"/>
                <a:ea typeface="Arial"/>
                <a:cs typeface="Arial"/>
              </a:rPr>
              <a:t>Summarize mitochondrial processes represented among the DEGs.</a:t>
            </a:r>
          </a:p>
        </p:txBody>
      </p:sp>
      <p:sp>
        <p:nvSpPr>
          <p:cNvPr id="11" name="Workflow Step 3">
            <a:extLst xmlns:a="http://schemas.openxmlformats.org/drawingml/2006/main">
              <a:ext uri="{FF2B5EF4-FFF2-40B4-BE49-F238E27FC236}">
                <a16:creationId xmlns:a16="http://schemas.microsoft.com/office/drawing/2014/main" id="{EDE93D8E-D62F-47FE-9665-437A7945CD93}"/>
              </a:ext>
            </a:extLst>
          </p:cNvPr>
          <p:cNvSpPr>
            <a:spLocks xmlns:a="http://schemas.openxmlformats.org/drawingml/2006/main" noGrp="1"/>
          </p:cNvSpPr>
          <p:nvPr/>
        </p:nvSpPr>
        <p:spPr>
          <a:xfrm xmlns:a="http://schemas.openxmlformats.org/drawingml/2006/main">
            <a:off x="4867275" y="3009900"/>
            <a:ext cx="457200" cy="457200"/>
          </a:xfrm>
          <a:prstGeom xmlns:a="http://schemas.openxmlformats.org/drawingml/2006/main" prst="ellipse">
            <a:avLst/>
          </a:prstGeom>
          <a:solidFill xmlns:a="http://schemas.openxmlformats.org/drawingml/2006/main">
            <a:srgbClr val="00A87E"/>
          </a:solidFill>
          <a:ln xmlns:a="http://schemas.openxmlformats.org/drawingml/2006/main" w="0">
            <a:noFill/>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2" name="Workflow Step 3 Title">
            <a:extLst xmlns:a="http://schemas.openxmlformats.org/drawingml/2006/main">
              <a:ext uri="{FF2B5EF4-FFF2-40B4-BE49-F238E27FC236}">
                <a16:creationId xmlns:a16="http://schemas.microsoft.com/office/drawing/2014/main" id="{05489A92-F28C-49A3-93D8-18DD21C6038E}"/>
              </a:ext>
            </a:extLst>
          </p:cNvPr>
          <p:cNvSpPr>
            <a:spLocks xmlns:a="http://schemas.openxmlformats.org/drawingml/2006/main" noGrp="1"/>
          </p:cNvSpPr>
          <p:nvPr/>
        </p:nvSpPr>
        <p:spPr>
          <a:xfrm xmlns:a="http://schemas.openxmlformats.org/drawingml/2006/main">
            <a:off x="414337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Key driver analysis</a:t>
            </a:r>
          </a:p>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(KDA)</a:t>
            </a:r>
          </a:p>
        </p:txBody>
      </p:sp>
      <p:sp>
        <p:nvSpPr>
          <p:cNvPr id="13" name="Workflow Step 3 Description">
            <a:extLst xmlns:a="http://schemas.openxmlformats.org/drawingml/2006/main">
              <a:ext uri="{FF2B5EF4-FFF2-40B4-BE49-F238E27FC236}">
                <a16:creationId xmlns:a16="http://schemas.microsoft.com/office/drawing/2014/main" id="{84E3013A-644D-468E-B714-31EA5CFBBF5E}"/>
              </a:ext>
            </a:extLst>
          </p:cNvPr>
          <p:cNvSpPr>
            <a:spLocks xmlns:a="http://schemas.openxmlformats.org/drawingml/2006/main" noGrp="1"/>
          </p:cNvSpPr>
          <p:nvPr/>
        </p:nvSpPr>
        <p:spPr>
          <a:xfrm xmlns:a="http://schemas.openxmlformats.org/drawingml/2006/main">
            <a:off x="418147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a:solidFill>
                  <a:srgbClr val="CED8E5"/>
                </a:solidFill>
                <a:latin typeface="Arial"/>
                <a:ea typeface="Arial"/>
                <a:cs typeface="Arial"/>
              </a:defRPr>
            </a:pPr>
            <a:r>
              <a:rPr sz="1050">
                <a:solidFill>
                  <a:srgbClr val="CED8E5"/>
                </a:solidFill>
                <a:latin typeface="Arial"/>
                <a:ea typeface="Arial"/>
                <a:cs typeface="Arial"/>
              </a:rPr>
              <a:t>Use gene networks to nominate genes connected to MitoCarta MT DEGs.</a:t>
            </a:r>
          </a:p>
        </p:txBody>
      </p:sp>
      <p:sp>
        <p:nvSpPr>
          <p:cNvPr id="14" name="Workflow Step 4">
            <a:extLst xmlns:a="http://schemas.openxmlformats.org/drawingml/2006/main">
              <a:ext uri="{FF2B5EF4-FFF2-40B4-BE49-F238E27FC236}">
                <a16:creationId xmlns:a16="http://schemas.microsoft.com/office/drawing/2014/main" id="{865DFC26-E58B-43CD-9304-5559645744FA}"/>
              </a:ext>
            </a:extLst>
          </p:cNvPr>
          <p:cNvSpPr>
            <a:spLocks xmlns:a="http://schemas.openxmlformats.org/drawingml/2006/main" noGrp="1"/>
          </p:cNvSpPr>
          <p:nvPr/>
        </p:nvSpPr>
        <p:spPr>
          <a:xfrm xmlns:a="http://schemas.openxmlformats.org/drawingml/2006/main">
            <a:off x="6867525" y="3009900"/>
            <a:ext cx="457200" cy="457200"/>
          </a:xfrm>
          <a:prstGeom xmlns:a="http://schemas.openxmlformats.org/drawingml/2006/main" prst="ellipse">
            <a:avLst/>
          </a:prstGeom>
          <a:solidFill xmlns:a="http://schemas.openxmlformats.org/drawingml/2006/main">
            <a:srgbClr val="7D4FA1"/>
          </a:solidFill>
          <a:ln xmlns:a="http://schemas.openxmlformats.org/drawingml/2006/main" w="0">
            <a:noFill/>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5" name="Workflow Step 4 Title">
            <a:extLst xmlns:a="http://schemas.openxmlformats.org/drawingml/2006/main">
              <a:ext uri="{FF2B5EF4-FFF2-40B4-BE49-F238E27FC236}">
                <a16:creationId xmlns:a16="http://schemas.microsoft.com/office/drawing/2014/main" id="{C9DCB836-B4E6-4791-A768-4E9185A20C92}"/>
              </a:ext>
            </a:extLst>
          </p:cNvPr>
          <p:cNvSpPr>
            <a:spLocks xmlns:a="http://schemas.openxmlformats.org/drawingml/2006/main" noGrp="1"/>
          </p:cNvSpPr>
          <p:nvPr/>
        </p:nvSpPr>
        <p:spPr>
          <a:xfrm xmlns:a="http://schemas.openxmlformats.org/drawingml/2006/main">
            <a:off x="614362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Genetic support</a:t>
            </a:r>
          </a:p>
        </p:txBody>
      </p:sp>
      <p:sp>
        <p:nvSpPr>
          <p:cNvPr id="16" name="Workflow Step 4 Description">
            <a:extLst xmlns:a="http://schemas.openxmlformats.org/drawingml/2006/main">
              <a:ext uri="{FF2B5EF4-FFF2-40B4-BE49-F238E27FC236}">
                <a16:creationId xmlns:a16="http://schemas.microsoft.com/office/drawing/2014/main" id="{C43A0ADA-5BBB-49BB-8BCF-A5050AB55EA8}"/>
              </a:ext>
            </a:extLst>
          </p:cNvPr>
          <p:cNvSpPr>
            <a:spLocks xmlns:a="http://schemas.openxmlformats.org/drawingml/2006/main" noGrp="1"/>
          </p:cNvSpPr>
          <p:nvPr/>
        </p:nvSpPr>
        <p:spPr>
          <a:xfrm xmlns:a="http://schemas.openxmlformats.org/drawingml/2006/main">
            <a:off x="618172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a:solidFill>
                  <a:srgbClr val="CED8E5"/>
                </a:solidFill>
                <a:latin typeface="Arial"/>
                <a:ea typeface="Arial"/>
                <a:cs typeface="Arial"/>
              </a:defRPr>
            </a:pPr>
            <a:r>
              <a:rPr sz="1050">
                <a:solidFill>
                  <a:srgbClr val="CED8E5"/>
                </a:solidFill>
                <a:latin typeface="Arial"/>
                <a:ea typeface="Arial"/>
                <a:cs typeface="Arial"/>
              </a:rPr>
              <a:t>Evaluate candidate genes using Alzheimer’s genetic-association and gene-regulation evidence.</a:t>
            </a:r>
          </a:p>
        </p:txBody>
      </p:sp>
      <p:sp>
        <p:nvSpPr>
          <p:cNvPr id="17" name="Workflow Step 5">
            <a:extLst xmlns:a="http://schemas.openxmlformats.org/drawingml/2006/main">
              <a:ext uri="{FF2B5EF4-FFF2-40B4-BE49-F238E27FC236}">
                <a16:creationId xmlns:a16="http://schemas.microsoft.com/office/drawing/2014/main" id="{07F03F7B-DCD5-46A3-B1C0-A67DDB0968BC}"/>
              </a:ext>
            </a:extLst>
          </p:cNvPr>
          <p:cNvSpPr>
            <a:spLocks xmlns:a="http://schemas.openxmlformats.org/drawingml/2006/main" noGrp="1"/>
          </p:cNvSpPr>
          <p:nvPr/>
        </p:nvSpPr>
        <p:spPr>
          <a:xfrm xmlns:a="http://schemas.openxmlformats.org/drawingml/2006/main">
            <a:off x="8867775" y="3009900"/>
            <a:ext cx="457200" cy="457200"/>
          </a:xfrm>
          <a:prstGeom xmlns:a="http://schemas.openxmlformats.org/drawingml/2006/main" prst="ellipse">
            <a:avLst/>
          </a:prstGeom>
          <a:solidFill xmlns:a="http://schemas.openxmlformats.org/drawingml/2006/main">
            <a:srgbClr val="F5B000"/>
          </a:solidFill>
          <a:ln xmlns:a="http://schemas.openxmlformats.org/drawingml/2006/main" w="0">
            <a:noFill/>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8" name="Workflow Step 5 Title">
            <a:extLst xmlns:a="http://schemas.openxmlformats.org/drawingml/2006/main">
              <a:ext uri="{FF2B5EF4-FFF2-40B4-BE49-F238E27FC236}">
                <a16:creationId xmlns:a16="http://schemas.microsoft.com/office/drawing/2014/main" id="{9E2FD706-B153-4C71-8A05-9DCC1373B00D}"/>
              </a:ext>
            </a:extLst>
          </p:cNvPr>
          <p:cNvSpPr>
            <a:spLocks xmlns:a="http://schemas.openxmlformats.org/drawingml/2006/main" noGrp="1"/>
          </p:cNvSpPr>
          <p:nvPr/>
        </p:nvSpPr>
        <p:spPr>
          <a:xfrm xmlns:a="http://schemas.openxmlformats.org/drawingml/2006/main">
            <a:off x="814387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19" name="Workflow Step 5 Description">
            <a:extLst xmlns:a="http://schemas.openxmlformats.org/drawingml/2006/main">
              <a:ext uri="{FF2B5EF4-FFF2-40B4-BE49-F238E27FC236}">
                <a16:creationId xmlns:a16="http://schemas.microsoft.com/office/drawing/2014/main" id="{0FE57129-74A7-44F4-9DE6-EAC7783C2163}"/>
              </a:ext>
            </a:extLst>
          </p:cNvPr>
          <p:cNvSpPr>
            <a:spLocks xmlns:a="http://schemas.openxmlformats.org/drawingml/2006/main" noGrp="1"/>
          </p:cNvSpPr>
          <p:nvPr/>
        </p:nvSpPr>
        <p:spPr>
          <a:xfrm xmlns:a="http://schemas.openxmlformats.org/drawingml/2006/main">
            <a:off x="818197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a:solidFill>
                  <a:srgbClr val="CED8E5"/>
                </a:solidFill>
                <a:latin typeface="Arial"/>
                <a:ea typeface="Arial"/>
                <a:cs typeface="Arial"/>
              </a:defRPr>
            </a:pPr>
            <a:r>
              <a:rPr sz="1050">
                <a:solidFill>
                  <a:srgbClr val="CED8E5"/>
                </a:solidFill>
                <a:latin typeface="Arial"/>
                <a:ea typeface="Arial"/>
                <a:cs typeface="Arial"/>
              </a:rPr>
              <a:t>Compare ROSMAP findings with SEA-AD and direct broad-cell analyses.</a:t>
            </a:r>
          </a:p>
        </p:txBody>
      </p:sp>
      <p:sp>
        <p:nvSpPr>
          <p:cNvPr id="20" name="Workflow Step 6">
            <a:extLst xmlns:a="http://schemas.openxmlformats.org/drawingml/2006/main">
              <a:ext uri="{FF2B5EF4-FFF2-40B4-BE49-F238E27FC236}">
                <a16:creationId xmlns:a16="http://schemas.microsoft.com/office/drawing/2014/main" id="{2123FA3E-4AB9-4098-9D53-E1D18C644D83}"/>
              </a:ext>
            </a:extLst>
          </p:cNvPr>
          <p:cNvSpPr>
            <a:spLocks xmlns:a="http://schemas.openxmlformats.org/drawingml/2006/main" noGrp="1"/>
          </p:cNvSpPr>
          <p:nvPr/>
        </p:nvSpPr>
        <p:spPr>
          <a:xfrm xmlns:a="http://schemas.openxmlformats.org/drawingml/2006/main">
            <a:off x="10868025" y="3009900"/>
            <a:ext cx="457200" cy="457200"/>
          </a:xfrm>
          <a:prstGeom xmlns:a="http://schemas.openxmlformats.org/drawingml/2006/main" prst="ellipse">
            <a:avLst/>
          </a:prstGeom>
          <a:solidFill xmlns:a="http://schemas.openxmlformats.org/drawingml/2006/main">
            <a:srgbClr val="11263F"/>
          </a:solidFill>
          <a:ln xmlns:a="http://schemas.openxmlformats.org/drawingml/2006/main" w="23813">
            <a:solidFill>
              <a:srgbClr val="F97300"/>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1" name="Workflow Step 6 Title">
            <a:extLst xmlns:a="http://schemas.openxmlformats.org/drawingml/2006/main">
              <a:ext uri="{FF2B5EF4-FFF2-40B4-BE49-F238E27FC236}">
                <a16:creationId xmlns:a16="http://schemas.microsoft.com/office/drawing/2014/main" id="{EC5D5AEF-3571-4836-A73A-4279C1D9E2D9}"/>
              </a:ext>
            </a:extLst>
          </p:cNvPr>
          <p:cNvSpPr>
            <a:spLocks xmlns:a="http://schemas.openxmlformats.org/drawingml/2006/main" noGrp="1"/>
          </p:cNvSpPr>
          <p:nvPr/>
        </p:nvSpPr>
        <p:spPr>
          <a:xfrm xmlns:a="http://schemas.openxmlformats.org/drawingml/2006/main">
            <a:off x="1014412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2" name="Workflow Step 6 Description">
            <a:extLst xmlns:a="http://schemas.openxmlformats.org/drawingml/2006/main">
              <a:ext uri="{FF2B5EF4-FFF2-40B4-BE49-F238E27FC236}">
                <a16:creationId xmlns:a16="http://schemas.microsoft.com/office/drawing/2014/main" id="{F32735DC-C925-4BB6-ACC9-1921D82CFBBC}"/>
              </a:ext>
            </a:extLst>
          </p:cNvPr>
          <p:cNvSpPr>
            <a:spLocks xmlns:a="http://schemas.openxmlformats.org/drawingml/2006/main" noGrp="1"/>
          </p:cNvSpPr>
          <p:nvPr/>
        </p:nvSpPr>
        <p:spPr>
          <a:xfrm xmlns:a="http://schemas.openxmlformats.org/drawingml/2006/main">
            <a:off x="1018222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a:solidFill>
                  <a:srgbClr val="CED8E5"/>
                </a:solidFill>
                <a:latin typeface="Arial"/>
                <a:ea typeface="Arial"/>
                <a:cs typeface="Arial"/>
              </a:defRPr>
            </a:pPr>
            <a:r>
              <a:rPr sz="1050">
                <a:solidFill>
                  <a:srgbClr val="CED8E5"/>
                </a:solidFill>
                <a:latin typeface="Arial"/>
                <a:ea typeface="Arial"/>
                <a:cs typeface="Arial"/>
              </a:rPr>
              <a:t>Test selected candidates and mitochondrial function in targeted models.</a:t>
            </a:r>
          </a:p>
        </p:txBody>
      </p:sp>
      <p:sp>
        <p:nvSpPr>
          <p:cNvPr id="23" name="Potential Next Step Label">
            <a:extLst xmlns:a="http://schemas.openxmlformats.org/drawingml/2006/main">
              <a:ext uri="{FF2B5EF4-FFF2-40B4-BE49-F238E27FC236}">
                <a16:creationId xmlns:a16="http://schemas.microsoft.com/office/drawing/2014/main" id="{39DEC7EF-338B-40E8-A081-3188704906B1}"/>
              </a:ext>
            </a:extLst>
          </p:cNvPr>
          <p:cNvSpPr>
            <a:spLocks xmlns:a="http://schemas.openxmlformats.org/drawingml/2006/main" noGrp="1"/>
          </p:cNvSpPr>
          <p:nvPr/>
        </p:nvSpPr>
        <p:spPr>
          <a:xfrm xmlns:a="http://schemas.openxmlformats.org/drawingml/2006/main">
            <a:off x="10096500" y="2676525"/>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900" b="1">
                <a:solidFill>
                  <a:srgbClr val="F97300"/>
                </a:solidFill>
                <a:latin typeface="Arial"/>
                <a:ea typeface="Arial"/>
                <a:cs typeface="Arial"/>
              </a:defRPr>
            </a:pPr>
            <a:r>
              <a:rPr sz="900" b="1">
                <a:solidFill>
                  <a:srgbClr val="F97300"/>
                </a:solidFill>
                <a:latin typeface="Arial"/>
                <a:ea typeface="Arial"/>
                <a:cs typeface="Arial"/>
              </a:rPr>
              <a:t>POTENTIAL NEXT STEP</a:t>
            </a:r>
          </a:p>
        </p:txBody>
      </p:sp>
    </p:spTree>
    <p:extLst>
      <p:ext uri="{BB962C8B-B14F-4D97-AF65-F5344CB8AC3E}">
        <p14:creationId xmlns:p14="http://schemas.microsoft.com/office/powerpoint/2010/main" val="1292825027"/>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87F3BD9-318F-409B-AFC1-22A20746C537}"/>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xmlns:a="http://schemas.openxmlformats.org/drawingml/2006/main">
              <a:ext uri="{FF2B5EF4-FFF2-40B4-BE49-F238E27FC236}">
                <a16:creationId xmlns:a16="http://schemas.microsoft.com/office/drawing/2014/main" id="{CAA2273C-1602-4A65-B544-947458D5B1FC}"/>
              </a:ext>
            </a:extLst>
          </p:cNvPr>
          <p:cNvSpPr>
            <a:spLocks xmlns:a="http://schemas.openxmlformats.org/drawingml/2006/main" noGrp="1"/>
          </p:cNvSpPr>
          <p:nvPr/>
        </p:nvSpPr>
        <p:spPr>
          <a:xfrm xmlns:a="http://schemas.openxmlformats.org/drawingml/2006/main">
            <a:off x="548640" y="100237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xmlns:a="http://schemas.openxmlformats.org/drawingml/2006/main">
              <a:ext uri="{FF2B5EF4-FFF2-40B4-BE49-F238E27FC236}">
                <a16:creationId xmlns:a16="http://schemas.microsoft.com/office/drawing/2014/main" id="{2583F301-FB16-4F7D-A063-1CAEDD443703}"/>
              </a:ext>
            </a:extLst>
          </p:cNvPr>
          <p:cNvSpPr>
            <a:spLocks xmlns:a="http://schemas.openxmlformats.org/drawingml/2006/main" noGrp="1"/>
          </p:cNvSpPr>
          <p:nvPr/>
        </p:nvSpPr>
        <p:spPr>
          <a:xfrm xmlns:a="http://schemas.openxmlformats.org/drawingml/2006/main">
            <a:off x="502920" y="1494024"/>
            <a:ext cx="5449824" cy="45537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C49C8AE-BE0A-498F-9234-F285AC4CD921}"/>
              </a:ext>
            </a:extLst>
          </p:cNvPr>
          <p:cNvSpPr>
            <a:spLocks xmlns:a="http://schemas.openxmlformats.org/drawingml/2006/main" noGrp="1"/>
          </p:cNvSpPr>
          <p:nvPr/>
        </p:nvSpPr>
        <p:spPr>
          <a:xfrm xmlns:a="http://schemas.openxmlformats.org/drawingml/2006/main">
            <a:off x="804672" y="1786632"/>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90666061-2FB7-422D-94B5-22AE877A608D}"/>
              </a:ext>
            </a:extLst>
          </p:cNvPr>
          <p:cNvSpPr>
            <a:spLocks xmlns:a="http://schemas.openxmlformats.org/drawingml/2006/main" noGrp="1"/>
          </p:cNvSpPr>
          <p:nvPr/>
        </p:nvSpPr>
        <p:spPr>
          <a:xfrm xmlns:a="http://schemas.openxmlformats.org/drawingml/2006/main">
            <a:off x="950976" y="1759200"/>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xmlns:a="http://schemas.openxmlformats.org/drawingml/2006/main">
              <a:ext uri="{FF2B5EF4-FFF2-40B4-BE49-F238E27FC236}">
                <a16:creationId xmlns:a16="http://schemas.microsoft.com/office/drawing/2014/main" id="{9B64A450-35F6-49E7-B896-56E3431DEE1B}"/>
              </a:ext>
            </a:extLst>
          </p:cNvPr>
          <p:cNvSpPr>
            <a:spLocks xmlns:a="http://schemas.openxmlformats.org/drawingml/2006/main" noGrp="1"/>
          </p:cNvSpPr>
          <p:nvPr/>
        </p:nvSpPr>
        <p:spPr>
          <a:xfrm xmlns:a="http://schemas.openxmlformats.org/drawingml/2006/main">
            <a:off x="822960" y="2463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8" name="TextBox 7">
            <a:extLst xmlns:a="http://schemas.openxmlformats.org/drawingml/2006/main">
              <a:ext uri="{FF2B5EF4-FFF2-40B4-BE49-F238E27FC236}">
                <a16:creationId xmlns:a16="http://schemas.microsoft.com/office/drawing/2014/main" id="{87E75F13-4BEE-49A0-BB02-44F7A674F9A1}"/>
              </a:ext>
            </a:extLst>
          </p:cNvPr>
          <p:cNvSpPr>
            <a:spLocks xmlns:a="http://schemas.openxmlformats.org/drawingml/2006/main" noGrp="1"/>
          </p:cNvSpPr>
          <p:nvPr/>
        </p:nvSpPr>
        <p:spPr>
          <a:xfrm xmlns:a="http://schemas.openxmlformats.org/drawingml/2006/main">
            <a:off x="996696" y="2335272"/>
            <a:ext cx="455371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Primary discovery cohort</a:t>
            </a:r>
          </a:p>
        </p:txBody>
      </p:sp>
      <p:sp>
        <p:nvSpPr>
          <p:cNvPr id="9" name="Oval 8">
            <a:extLst xmlns:a="http://schemas.openxmlformats.org/drawingml/2006/main">
              <a:ext uri="{FF2B5EF4-FFF2-40B4-BE49-F238E27FC236}">
                <a16:creationId xmlns:a16="http://schemas.microsoft.com/office/drawing/2014/main" id="{EB242F70-6173-4ADC-B7E0-C9D41BAF149F}"/>
              </a:ext>
            </a:extLst>
          </p:cNvPr>
          <p:cNvSpPr>
            <a:spLocks xmlns:a="http://schemas.openxmlformats.org/drawingml/2006/main" noGrp="1"/>
          </p:cNvSpPr>
          <p:nvPr/>
        </p:nvSpPr>
        <p:spPr>
          <a:xfrm xmlns:a="http://schemas.openxmlformats.org/drawingml/2006/main">
            <a:off x="822960" y="31490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10" name="TextBox 9">
            <a:extLst xmlns:a="http://schemas.openxmlformats.org/drawingml/2006/main">
              <a:ext uri="{FF2B5EF4-FFF2-40B4-BE49-F238E27FC236}">
                <a16:creationId xmlns:a16="http://schemas.microsoft.com/office/drawing/2014/main" id="{B2EE15F1-10AF-49D1-9764-99452FBDA6BE}"/>
              </a:ext>
            </a:extLst>
          </p:cNvPr>
          <p:cNvSpPr>
            <a:spLocks xmlns:a="http://schemas.openxmlformats.org/drawingml/2006/main" noGrp="1"/>
          </p:cNvSpPr>
          <p:nvPr/>
        </p:nvSpPr>
        <p:spPr>
          <a:xfrm xmlns:a="http://schemas.openxmlformats.org/drawingml/2006/main">
            <a:off x="996696" y="3021072"/>
            <a:ext cx="455371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54 fine cell types</a:t>
            </a:r>
          </a:p>
        </p:txBody>
      </p:sp>
      <p:sp>
        <p:nvSpPr>
          <p:cNvPr id="11" name="Oval 10">
            <a:extLst xmlns:a="http://schemas.openxmlformats.org/drawingml/2006/main">
              <a:ext uri="{FF2B5EF4-FFF2-40B4-BE49-F238E27FC236}">
                <a16:creationId xmlns:a16="http://schemas.microsoft.com/office/drawing/2014/main" id="{7DC9B75C-1927-4510-AC8A-1A9AA0DB27FB}"/>
              </a:ext>
            </a:extLst>
          </p:cNvPr>
          <p:cNvSpPr>
            <a:spLocks xmlns:a="http://schemas.openxmlformats.org/drawingml/2006/main" noGrp="1"/>
          </p:cNvSpPr>
          <p:nvPr/>
        </p:nvSpPr>
        <p:spPr>
          <a:xfrm xmlns:a="http://schemas.openxmlformats.org/drawingml/2006/main">
            <a:off x="822960" y="38348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12" name="TextBox 11">
            <a:extLst xmlns:a="http://schemas.openxmlformats.org/drawingml/2006/main">
              <a:ext uri="{FF2B5EF4-FFF2-40B4-BE49-F238E27FC236}">
                <a16:creationId xmlns:a16="http://schemas.microsoft.com/office/drawing/2014/main" id="{E27DBE8F-4D92-49B0-81BC-C1569A7B8ACC}"/>
              </a:ext>
            </a:extLst>
          </p:cNvPr>
          <p:cNvSpPr>
            <a:spLocks xmlns:a="http://schemas.openxmlformats.org/drawingml/2006/main" noGrp="1"/>
          </p:cNvSpPr>
          <p:nvPr/>
        </p:nvSpPr>
        <p:spPr>
          <a:xfrm xmlns:a="http://schemas.openxmlformats.org/drawingml/2006/main">
            <a:off x="996696" y="3706872"/>
            <a:ext cx="455371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324 planned comparisons across sex and APOE groups</a:t>
            </a:r>
          </a:p>
        </p:txBody>
      </p:sp>
      <p:sp>
        <p:nvSpPr>
          <p:cNvPr id="13" name="Oval 12">
            <a:extLst xmlns:a="http://schemas.openxmlformats.org/drawingml/2006/main">
              <a:ext uri="{FF2B5EF4-FFF2-40B4-BE49-F238E27FC236}">
                <a16:creationId xmlns:a16="http://schemas.microsoft.com/office/drawing/2014/main" id="{E2D8EFE8-8D11-408B-A35F-5A43656E2EC8}"/>
              </a:ext>
            </a:extLst>
          </p:cNvPr>
          <p:cNvSpPr>
            <a:spLocks xmlns:a="http://schemas.openxmlformats.org/drawingml/2006/main" noGrp="1"/>
          </p:cNvSpPr>
          <p:nvPr/>
        </p:nvSpPr>
        <p:spPr>
          <a:xfrm xmlns:a="http://schemas.openxmlformats.org/drawingml/2006/main">
            <a:off x="822960" y="45206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14" name="TextBox 13">
            <a:extLst xmlns:a="http://schemas.openxmlformats.org/drawingml/2006/main">
              <a:ext uri="{FF2B5EF4-FFF2-40B4-BE49-F238E27FC236}">
                <a16:creationId xmlns:a16="http://schemas.microsoft.com/office/drawing/2014/main" id="{9705EE32-BCF4-4AF3-AECB-D0A43DBA2EF6}"/>
              </a:ext>
            </a:extLst>
          </p:cNvPr>
          <p:cNvSpPr>
            <a:spLocks xmlns:a="http://schemas.openxmlformats.org/drawingml/2006/main" noGrp="1"/>
          </p:cNvSpPr>
          <p:nvPr/>
        </p:nvSpPr>
        <p:spPr>
          <a:xfrm xmlns:a="http://schemas.openxmlformats.org/drawingml/2006/main">
            <a:off x="996696" y="4392672"/>
            <a:ext cx="4553712"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Primary source for differential expression, pathway, and KDA findings</a:t>
            </a:r>
          </a:p>
        </p:txBody>
      </p:sp>
      <p:sp>
        <p:nvSpPr>
          <p:cNvPr id="15" name="Rounded Rectangle 14">
            <a:extLst xmlns:a="http://schemas.openxmlformats.org/drawingml/2006/main">
              <a:ext uri="{FF2B5EF4-FFF2-40B4-BE49-F238E27FC236}">
                <a16:creationId xmlns:a16="http://schemas.microsoft.com/office/drawing/2014/main" id="{E0A1641C-D135-40DB-B699-75F4F682D8B0}"/>
              </a:ext>
            </a:extLst>
          </p:cNvPr>
          <p:cNvSpPr>
            <a:spLocks xmlns:a="http://schemas.openxmlformats.org/drawingml/2006/main" noGrp="1"/>
          </p:cNvSpPr>
          <p:nvPr/>
        </p:nvSpPr>
        <p:spPr>
          <a:xfrm xmlns:a="http://schemas.openxmlformats.org/drawingml/2006/main">
            <a:off x="822960" y="5350929"/>
            <a:ext cx="4828032" cy="583601"/>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16" name="TextBox 15">
            <a:extLst xmlns:a="http://schemas.openxmlformats.org/drawingml/2006/main">
              <a:ext uri="{FF2B5EF4-FFF2-40B4-BE49-F238E27FC236}">
                <a16:creationId xmlns:a16="http://schemas.microsoft.com/office/drawing/2014/main" id="{54181D60-B174-489D-8592-1639F84E3BF0}"/>
              </a:ext>
            </a:extLst>
          </p:cNvPr>
          <p:cNvSpPr>
            <a:spLocks xmlns:a="http://schemas.openxmlformats.org/drawingml/2006/main" noGrp="1"/>
          </p:cNvSpPr>
          <p:nvPr/>
        </p:nvSpPr>
        <p:spPr>
          <a:xfrm xmlns:a="http://schemas.openxmlformats.org/drawingml/2006/main">
            <a:off x="987552" y="5416800"/>
            <a:ext cx="4498848"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9E3A00"/>
                </a:solidFill>
                <a:latin typeface="Arial"/>
                <a:ea typeface="Arial"/>
                <a:cs typeface="Arial"/>
              </a:rPr>
              <a:t>Fine-cell evidence is aggregated to broad cell categories.</a:t>
            </a:r>
          </a:p>
        </p:txBody>
      </p:sp>
      <p:sp>
        <p:nvSpPr>
          <p:cNvPr id="17" name="Rounded Rectangle 16">
            <a:extLst xmlns:a="http://schemas.openxmlformats.org/drawingml/2006/main">
              <a:ext uri="{FF2B5EF4-FFF2-40B4-BE49-F238E27FC236}">
                <a16:creationId xmlns:a16="http://schemas.microsoft.com/office/drawing/2014/main" id="{3E3AF054-3F60-43C0-8096-4317EA714615}"/>
              </a:ext>
            </a:extLst>
          </p:cNvPr>
          <p:cNvSpPr>
            <a:spLocks xmlns:a="http://schemas.openxmlformats.org/drawingml/2006/main" noGrp="1"/>
          </p:cNvSpPr>
          <p:nvPr/>
        </p:nvSpPr>
        <p:spPr>
          <a:xfrm xmlns:a="http://schemas.openxmlformats.org/drawingml/2006/main">
            <a:off x="6254496" y="1494024"/>
            <a:ext cx="5449824" cy="45537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06E7118-C8A4-47B9-A62A-78B2ADF5CB18}"/>
              </a:ext>
            </a:extLst>
          </p:cNvPr>
          <p:cNvSpPr>
            <a:spLocks xmlns:a="http://schemas.openxmlformats.org/drawingml/2006/main" noGrp="1"/>
          </p:cNvSpPr>
          <p:nvPr/>
        </p:nvSpPr>
        <p:spPr>
          <a:xfrm xmlns:a="http://schemas.openxmlformats.org/drawingml/2006/main">
            <a:off x="6537960" y="1786632"/>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3ADB3342-0EB2-4EBD-9EFC-7EB840DB23D3}"/>
              </a:ext>
            </a:extLst>
          </p:cNvPr>
          <p:cNvSpPr>
            <a:spLocks xmlns:a="http://schemas.openxmlformats.org/drawingml/2006/main" noGrp="1"/>
          </p:cNvSpPr>
          <p:nvPr/>
        </p:nvSpPr>
        <p:spPr>
          <a:xfrm xmlns:a="http://schemas.openxmlformats.org/drawingml/2006/main">
            <a:off x="6684264" y="1759200"/>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xmlns:a="http://schemas.openxmlformats.org/drawingml/2006/main">
              <a:ext uri="{FF2B5EF4-FFF2-40B4-BE49-F238E27FC236}">
                <a16:creationId xmlns:a16="http://schemas.microsoft.com/office/drawing/2014/main" id="{5E3459A1-CD38-4B42-A469-075BDE5A391B}"/>
              </a:ext>
            </a:extLst>
          </p:cNvPr>
          <p:cNvSpPr>
            <a:spLocks xmlns:a="http://schemas.openxmlformats.org/drawingml/2006/main" noGrp="1"/>
          </p:cNvSpPr>
          <p:nvPr/>
        </p:nvSpPr>
        <p:spPr>
          <a:xfrm xmlns:a="http://schemas.openxmlformats.org/drawingml/2006/main">
            <a:off x="6556248" y="2463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21" name="TextBox 20">
            <a:extLst xmlns:a="http://schemas.openxmlformats.org/drawingml/2006/main">
              <a:ext uri="{FF2B5EF4-FFF2-40B4-BE49-F238E27FC236}">
                <a16:creationId xmlns:a16="http://schemas.microsoft.com/office/drawing/2014/main" id="{EA5E5AFB-51EF-4384-9BD4-F94236FDB059}"/>
              </a:ext>
            </a:extLst>
          </p:cNvPr>
          <p:cNvSpPr>
            <a:spLocks xmlns:a="http://schemas.openxmlformats.org/drawingml/2006/main" noGrp="1"/>
          </p:cNvSpPr>
          <p:nvPr/>
        </p:nvSpPr>
        <p:spPr>
          <a:xfrm xmlns:a="http://schemas.openxmlformats.org/drawingml/2006/main">
            <a:off x="6729984" y="2335272"/>
            <a:ext cx="455371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Supplemental human validation cohort</a:t>
            </a:r>
          </a:p>
        </p:txBody>
      </p:sp>
      <p:sp>
        <p:nvSpPr>
          <p:cNvPr id="22" name="Oval 21">
            <a:extLst xmlns:a="http://schemas.openxmlformats.org/drawingml/2006/main">
              <a:ext uri="{FF2B5EF4-FFF2-40B4-BE49-F238E27FC236}">
                <a16:creationId xmlns:a16="http://schemas.microsoft.com/office/drawing/2014/main" id="{1CD7A9B7-24FC-4737-8884-CCC8C19D858E}"/>
              </a:ext>
            </a:extLst>
          </p:cNvPr>
          <p:cNvSpPr>
            <a:spLocks xmlns:a="http://schemas.openxmlformats.org/drawingml/2006/main" noGrp="1"/>
          </p:cNvSpPr>
          <p:nvPr/>
        </p:nvSpPr>
        <p:spPr>
          <a:xfrm xmlns:a="http://schemas.openxmlformats.org/drawingml/2006/main">
            <a:off x="6556248" y="31490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23" name="TextBox 22">
            <a:extLst xmlns:a="http://schemas.openxmlformats.org/drawingml/2006/main">
              <a:ext uri="{FF2B5EF4-FFF2-40B4-BE49-F238E27FC236}">
                <a16:creationId xmlns:a16="http://schemas.microsoft.com/office/drawing/2014/main" id="{26D1BAA3-179B-49F2-992D-4BE5733CEB9D}"/>
              </a:ext>
            </a:extLst>
          </p:cNvPr>
          <p:cNvSpPr>
            <a:spLocks xmlns:a="http://schemas.openxmlformats.org/drawingml/2006/main" noGrp="1"/>
          </p:cNvSpPr>
          <p:nvPr/>
        </p:nvSpPr>
        <p:spPr>
          <a:xfrm xmlns:a="http://schemas.openxmlformats.org/drawingml/2006/main">
            <a:off x="6729984" y="3021072"/>
            <a:ext cx="455371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129 fine cell categories, called supertypes in SEA-AD</a:t>
            </a:r>
          </a:p>
        </p:txBody>
      </p:sp>
      <p:sp>
        <p:nvSpPr>
          <p:cNvPr id="24" name="Oval 23">
            <a:extLst xmlns:a="http://schemas.openxmlformats.org/drawingml/2006/main">
              <a:ext uri="{FF2B5EF4-FFF2-40B4-BE49-F238E27FC236}">
                <a16:creationId xmlns:a16="http://schemas.microsoft.com/office/drawing/2014/main" id="{5D382635-C3A8-44E6-B270-75BC0140AD97}"/>
              </a:ext>
            </a:extLst>
          </p:cNvPr>
          <p:cNvSpPr>
            <a:spLocks xmlns:a="http://schemas.openxmlformats.org/drawingml/2006/main" noGrp="1"/>
          </p:cNvSpPr>
          <p:nvPr/>
        </p:nvSpPr>
        <p:spPr>
          <a:xfrm xmlns:a="http://schemas.openxmlformats.org/drawingml/2006/main">
            <a:off x="6556248" y="38348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25" name="TextBox 24">
            <a:extLst xmlns:a="http://schemas.openxmlformats.org/drawingml/2006/main">
              <a:ext uri="{FF2B5EF4-FFF2-40B4-BE49-F238E27FC236}">
                <a16:creationId xmlns:a16="http://schemas.microsoft.com/office/drawing/2014/main" id="{E3B061FB-AFD7-4421-9DF5-153113832DCD}"/>
              </a:ext>
            </a:extLst>
          </p:cNvPr>
          <p:cNvSpPr>
            <a:spLocks xmlns:a="http://schemas.openxmlformats.org/drawingml/2006/main" noGrp="1"/>
          </p:cNvSpPr>
          <p:nvPr/>
        </p:nvSpPr>
        <p:spPr>
          <a:xfrm xmlns:a="http://schemas.openxmlformats.org/drawingml/2006/main">
            <a:off x="6729984" y="3706872"/>
            <a:ext cx="455371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774 planned comparisons across sex and APOE groups</a:t>
            </a:r>
          </a:p>
        </p:txBody>
      </p:sp>
      <p:sp>
        <p:nvSpPr>
          <p:cNvPr id="26" name="Oval 25">
            <a:extLst xmlns:a="http://schemas.openxmlformats.org/drawingml/2006/main">
              <a:ext uri="{FF2B5EF4-FFF2-40B4-BE49-F238E27FC236}">
                <a16:creationId xmlns:a16="http://schemas.microsoft.com/office/drawing/2014/main" id="{3D9085F4-5EBB-402B-9E2A-899C11BCCAAB}"/>
              </a:ext>
            </a:extLst>
          </p:cNvPr>
          <p:cNvSpPr>
            <a:spLocks xmlns:a="http://schemas.openxmlformats.org/drawingml/2006/main" noGrp="1"/>
          </p:cNvSpPr>
          <p:nvPr/>
        </p:nvSpPr>
        <p:spPr>
          <a:xfrm xmlns:a="http://schemas.openxmlformats.org/drawingml/2006/main">
            <a:off x="6556248" y="45206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27" name="TextBox 26">
            <a:extLst xmlns:a="http://schemas.openxmlformats.org/drawingml/2006/main">
              <a:ext uri="{FF2B5EF4-FFF2-40B4-BE49-F238E27FC236}">
                <a16:creationId xmlns:a16="http://schemas.microsoft.com/office/drawing/2014/main" id="{D3545E6B-B67B-4980-A00D-F0A941E55AF6}"/>
              </a:ext>
            </a:extLst>
          </p:cNvPr>
          <p:cNvSpPr>
            <a:spLocks xmlns:a="http://schemas.openxmlformats.org/drawingml/2006/main" noGrp="1"/>
          </p:cNvSpPr>
          <p:nvPr/>
        </p:nvSpPr>
        <p:spPr>
          <a:xfrm xmlns:a="http://schemas.openxmlformats.org/drawingml/2006/main">
            <a:off x="6729984" y="4392672"/>
            <a:ext cx="4553712"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Tests whether ROSMAP gene-set patterns and KDA candidates recur</a:t>
            </a:r>
          </a:p>
        </p:txBody>
      </p:sp>
      <p:sp>
        <p:nvSpPr>
          <p:cNvPr id="28" name="Rounded Rectangle 27">
            <a:extLst xmlns:a="http://schemas.openxmlformats.org/drawingml/2006/main">
              <a:ext uri="{FF2B5EF4-FFF2-40B4-BE49-F238E27FC236}">
                <a16:creationId xmlns:a16="http://schemas.microsoft.com/office/drawing/2014/main" id="{A2FAC7CB-D0D0-4886-8507-ACF32FA1C832}"/>
              </a:ext>
            </a:extLst>
          </p:cNvPr>
          <p:cNvSpPr>
            <a:spLocks xmlns:a="http://schemas.openxmlformats.org/drawingml/2006/main" noGrp="1"/>
          </p:cNvSpPr>
          <p:nvPr/>
        </p:nvSpPr>
        <p:spPr>
          <a:xfrm xmlns:a="http://schemas.openxmlformats.org/drawingml/2006/main">
            <a:off x="6556248" y="5337881"/>
            <a:ext cx="4828032" cy="56520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00"/>
          </a:p>
        </p:txBody>
      </p:sp>
      <p:sp>
        <p:nvSpPr>
          <p:cNvPr id="29" name="TextBox 28">
            <a:extLst xmlns:a="http://schemas.openxmlformats.org/drawingml/2006/main">
              <a:ext uri="{FF2B5EF4-FFF2-40B4-BE49-F238E27FC236}">
                <a16:creationId xmlns:a16="http://schemas.microsoft.com/office/drawing/2014/main" id="{84E848BC-5599-4F79-BA63-85B1F3D5621C}"/>
              </a:ext>
            </a:extLst>
          </p:cNvPr>
          <p:cNvSpPr>
            <a:spLocks xmlns:a="http://schemas.openxmlformats.org/drawingml/2006/main" noGrp="1"/>
          </p:cNvSpPr>
          <p:nvPr/>
        </p:nvSpPr>
        <p:spPr>
          <a:xfrm xmlns:a="http://schemas.openxmlformats.org/drawingml/2006/main">
            <a:off x="6720840" y="5416800"/>
            <a:ext cx="4498848"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0684D"/>
                </a:solidFill>
                <a:latin typeface="Arial"/>
                <a:ea typeface="Arial"/>
                <a:cs typeface="Arial"/>
              </a:rPr>
              <a:t>Coverage is narrower and uneven across sex/APOE groups.</a:t>
            </a:r>
          </a:p>
        </p:txBody>
      </p:sp>
    </p:spTree>
    <p:extLst>
      <p:ext uri="{BB962C8B-B14F-4D97-AF65-F5344CB8AC3E}">
        <p14:creationId xmlns:p14="http://schemas.microsoft.com/office/powerpoint/2010/main" val="9128036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mitocarta-oxphos-background">
            <a:extLst xmlns:a="http://schemas.openxmlformats.org/drawingml/2006/main">
              <a:ext uri="{FF2B5EF4-FFF2-40B4-BE49-F238E27FC236}">
                <a16:creationId xmlns:a16="http://schemas.microsoft.com/office/drawing/2014/main" id="{8BD098F1-D7B9-4881-9766-B74346626A53}"/>
              </a:ext>
            </a:extLst>
          </p:cNvPr>
          <p:cNvSpPr>
            <a:spLocks xmlns:a="http://schemas.openxmlformats.org/drawingml/2006/main" noGrp="1"/>
          </p:cNvSpPr>
          <p:nvPr/>
        </p:nvSpPr>
        <p:spPr>
          <a:xfrm xmlns:a="http://schemas.openxmlformats.org/drawingml/2006/main">
            <a:off x="0" y="5715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mitocarta-oxphos-title">
            <a:extLst xmlns:a="http://schemas.openxmlformats.org/drawingml/2006/main">
              <a:ext uri="{FF2B5EF4-FFF2-40B4-BE49-F238E27FC236}">
                <a16:creationId xmlns:a16="http://schemas.microsoft.com/office/drawing/2014/main" id="{2CEE02BB-7B54-40EA-B667-8600227DA807}"/>
              </a:ext>
            </a:extLst>
          </p:cNvPr>
          <p:cNvSpPr>
            <a:spLocks xmlns:a="http://schemas.openxmlformats.org/drawingml/2006/main" noGrp="1"/>
          </p:cNvSpPr>
          <p:nvPr/>
        </p:nvSpPr>
        <p:spPr>
          <a:xfrm xmlns:a="http://schemas.openxmlformats.org/drawingml/2006/main">
            <a:off x="533400" y="371475"/>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Mitochondrial Related Genes</a:t>
            </a:r>
            <a:endParaRPr sz="2475" b="1">
              <a:solidFill>
                <a:srgbClr val="0F233D"/>
              </a:solidFill>
              <a:latin typeface="Arial"/>
              <a:ea typeface="Arial"/>
              <a:cs typeface="Arial"/>
            </a:endParaRPr>
          </a:p>
        </p:txBody>
      </p:sp>
      <p:sp>
        <p:nvSpPr>
          <p:cNvPr id="3" name="mitocarta-oxphos-subtitle">
            <a:extLst xmlns:a="http://schemas.openxmlformats.org/drawingml/2006/main">
              <a:ext uri="{FF2B5EF4-FFF2-40B4-BE49-F238E27FC236}">
                <a16:creationId xmlns:a16="http://schemas.microsoft.com/office/drawing/2014/main" id="{DD9D4925-A7C1-4544-BB5A-32BB9540712F}"/>
              </a:ext>
            </a:extLst>
          </p:cNvPr>
          <p:cNvSpPr>
            <a:spLocks xmlns:a="http://schemas.openxmlformats.org/drawingml/2006/main" noGrp="1"/>
          </p:cNvSpPr>
          <p:nvPr/>
        </p:nvSpPr>
        <p:spPr>
          <a:xfrm xmlns:a="http://schemas.openxmlformats.org/drawingml/2006/main">
            <a:off x="552450" y="94297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4E5A68"/>
                </a:solidFill>
                <a:latin typeface="Arial"/>
                <a:ea typeface="Arial"/>
                <a:cs typeface="Arial"/>
              </a:defRPr>
            </a:pPr>
            <a:r>
              <a:rPr sz="1400" b="1">
                <a:latin typeface="Arial"/>
                <a:ea typeface="Arial"/>
                <a:cs typeface="Arial"/>
              </a:rPr>
              <a:t>All 99 structural OXPHOS genes analyzed here are part of the 1,136-gene </a:t>
            </a:r>
            <a:r>
              <a:rPr sz="1400" b="1">
                <a:latin typeface="Arial"/>
                <a:ea typeface="Arial"/>
                <a:cs typeface="Arial"/>
              </a:rPr>
              <a:t>MitoCarta</a:t>
            </a:r>
            <a:r>
              <a:rPr sz="1400" b="1">
                <a:latin typeface="Arial"/>
                <a:ea typeface="Arial"/>
                <a:cs typeface="Arial"/>
              </a:rPr>
              <a:t> inventory.</a:t>
            </a:r>
          </a:p>
        </p:txBody>
      </p:sp>
      <p:sp>
        <p:nvSpPr>
          <p:cNvPr id="4" name="mitocarta-circle">
            <a:extLst xmlns:a="http://schemas.openxmlformats.org/drawingml/2006/main">
              <a:ext uri="{FF2B5EF4-FFF2-40B4-BE49-F238E27FC236}">
                <a16:creationId xmlns:a16="http://schemas.microsoft.com/office/drawing/2014/main" id="{6D89F07B-0923-4C61-BD3E-C2228C4B0F49}"/>
              </a:ext>
            </a:extLst>
          </p:cNvPr>
          <p:cNvSpPr>
            <a:spLocks xmlns:a="http://schemas.openxmlformats.org/drawingml/2006/main" noGrp="1"/>
          </p:cNvSpPr>
          <p:nvPr/>
        </p:nvSpPr>
        <p:spPr>
          <a:xfrm xmlns:a="http://schemas.openxmlformats.org/drawingml/2006/main">
            <a:off x="838200" y="1381125"/>
            <a:ext cx="7524750" cy="4762500"/>
          </a:xfrm>
          <a:prstGeom xmlns:a="http://schemas.openxmlformats.org/drawingml/2006/main" prst="ellipse">
            <a:avLst/>
          </a:prstGeom>
          <a:solidFill xmlns:a="http://schemas.openxmlformats.org/drawingml/2006/main">
            <a:srgbClr val="E4F4EE"/>
          </a:solidFill>
          <a:ln xmlns:a="http://schemas.openxmlformats.org/drawingml/2006/main" w="28575">
            <a:solidFill>
              <a:srgbClr val="008A6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mitocarta-circle-label">
            <a:extLst xmlns:a="http://schemas.openxmlformats.org/drawingml/2006/main">
              <a:ext uri="{FF2B5EF4-FFF2-40B4-BE49-F238E27FC236}">
                <a16:creationId xmlns:a16="http://schemas.microsoft.com/office/drawing/2014/main" id="{55316FDE-78CC-4DBD-8F40-FAFC00A01D62}"/>
              </a:ext>
            </a:extLst>
          </p:cNvPr>
          <p:cNvSpPr>
            <a:spLocks xmlns:a="http://schemas.openxmlformats.org/drawingml/2006/main" noGrp="1"/>
          </p:cNvSpPr>
          <p:nvPr/>
        </p:nvSpPr>
        <p:spPr>
          <a:xfrm xmlns:a="http://schemas.openxmlformats.org/drawingml/2006/main">
            <a:off x="438150" y="1347552"/>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800" b="1">
                <a:solidFill>
                  <a:srgbClr val="008A68"/>
                </a:solidFill>
                <a:latin typeface="Arial"/>
                <a:ea typeface="Arial"/>
                <a:cs typeface="Arial"/>
              </a:defRPr>
            </a:pPr>
            <a:r>
              <a:rPr sz="1800" b="1">
                <a:solidFill>
                  <a:srgbClr val="008A68"/>
                </a:solidFill>
                <a:latin typeface="Arial"/>
                <a:ea typeface="Arial"/>
                <a:cs typeface="Arial"/>
              </a:rPr>
              <a:t>MitoCarta</a:t>
            </a:r>
            <a:r>
              <a:rPr sz="1800" b="1">
                <a:solidFill>
                  <a:srgbClr val="008A68"/>
                </a:solidFill>
                <a:latin typeface="Arial"/>
                <a:ea typeface="Arial"/>
                <a:cs typeface="Arial"/>
              </a:rPr>
              <a:t> MT genes</a:t>
            </a:r>
          </a:p>
          <a:p xmlns:a="http://schemas.openxmlformats.org/drawingml/2006/main">
            <a:pPr algn="ctr">
              <a:buNone/>
              <a:defRPr sz="1800" b="1">
                <a:solidFill>
                  <a:srgbClr val="008A68"/>
                </a:solidFill>
                <a:latin typeface="Arial"/>
                <a:ea typeface="Arial"/>
                <a:cs typeface="Arial"/>
              </a:defRPr>
            </a:pPr>
            <a:r>
              <a:rPr sz="1800" b="1">
                <a:solidFill>
                  <a:srgbClr val="008A68"/>
                </a:solidFill>
                <a:latin typeface="Arial"/>
                <a:ea typeface="Arial"/>
                <a:cs typeface="Arial"/>
              </a:rPr>
              <a:t>1,136</a:t>
            </a:r>
          </a:p>
        </p:txBody>
      </p:sp>
      <p:sp>
        <p:nvSpPr>
          <p:cNvPr id="6" name="oxphos-circle">
            <a:extLst xmlns:a="http://schemas.openxmlformats.org/drawingml/2006/main">
              <a:ext uri="{FF2B5EF4-FFF2-40B4-BE49-F238E27FC236}">
                <a16:creationId xmlns:a16="http://schemas.microsoft.com/office/drawing/2014/main" id="{F15C5D05-AC2D-4740-BEED-DA42E385D1B9}"/>
              </a:ext>
            </a:extLst>
          </p:cNvPr>
          <p:cNvSpPr>
            <a:spLocks xmlns:a="http://schemas.openxmlformats.org/drawingml/2006/main" noGrp="1"/>
          </p:cNvSpPr>
          <p:nvPr/>
        </p:nvSpPr>
        <p:spPr>
          <a:xfrm xmlns:a="http://schemas.openxmlformats.org/drawingml/2006/main">
            <a:off x="3238500" y="2095500"/>
            <a:ext cx="4524375" cy="3476625"/>
          </a:xfrm>
          <a:prstGeom xmlns:a="http://schemas.openxmlformats.org/drawingml/2006/main" prst="ellipse">
            <a:avLst/>
          </a:prstGeom>
          <a:solidFill xmlns:a="http://schemas.openxmlformats.org/drawingml/2006/main">
            <a:srgbClr val="FFF3D6"/>
          </a:solidFill>
          <a:ln xmlns:a="http://schemas.openxmlformats.org/drawingml/2006/main" w="28575">
            <a:solidFill>
              <a:srgbClr val="A56600"/>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xphos-circle-label">
            <a:extLst xmlns:a="http://schemas.openxmlformats.org/drawingml/2006/main">
              <a:ext uri="{FF2B5EF4-FFF2-40B4-BE49-F238E27FC236}">
                <a16:creationId xmlns:a16="http://schemas.microsoft.com/office/drawing/2014/main" id="{406340AF-81D0-41FC-944A-D7279E499107}"/>
              </a:ext>
            </a:extLst>
          </p:cNvPr>
          <p:cNvSpPr>
            <a:spLocks xmlns:a="http://schemas.openxmlformats.org/drawingml/2006/main" noGrp="1"/>
          </p:cNvSpPr>
          <p:nvPr/>
        </p:nvSpPr>
        <p:spPr>
          <a:xfrm xmlns:a="http://schemas.openxmlformats.org/drawingml/2006/main">
            <a:off x="3981450" y="252412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xmlns:a="http://schemas.openxmlformats.org/drawingml/2006/main">
            <a:pPr algn="ctr">
              <a:buNone/>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xmlns:a="http://schemas.openxmlformats.org/drawingml/2006/main">
              <a:ext uri="{FF2B5EF4-FFF2-40B4-BE49-F238E27FC236}">
                <a16:creationId xmlns:a16="http://schemas.microsoft.com/office/drawing/2014/main" id="{04C1DBB6-74E1-4F30-905C-8E1BE0A4F2E2}"/>
              </a:ext>
            </a:extLst>
          </p:cNvPr>
          <p:cNvSpPr>
            <a:spLocks xmlns:a="http://schemas.openxmlformats.org/drawingml/2006/main" noGrp="1"/>
          </p:cNvSpPr>
          <p:nvPr/>
        </p:nvSpPr>
        <p:spPr>
          <a:xfrm xmlns:a="http://schemas.openxmlformats.org/drawingml/2006/main">
            <a:off x="5505450" y="3429000"/>
            <a:ext cx="0" cy="1381125"/>
          </a:xfrm>
          <a:prstGeom xmlns:a="http://schemas.openxmlformats.org/drawingml/2006/main" prst="line">
            <a:avLst/>
          </a:prstGeom>
          <a:noFill xmlns:a="http://schemas.openxmlformats.org/drawingml/2006/main"/>
          <a:ln xmlns:a="http://schemas.openxmlformats.org/drawingml/2006/main" w="19050">
            <a:solidFill>
              <a:srgbClr val="A5660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core-mt-region-label">
            <a:extLst xmlns:a="http://schemas.openxmlformats.org/drawingml/2006/main">
              <a:ext uri="{FF2B5EF4-FFF2-40B4-BE49-F238E27FC236}">
                <a16:creationId xmlns:a16="http://schemas.microsoft.com/office/drawing/2014/main" id="{57CDC2A8-9156-4479-86CF-D5DE6199FFE9}"/>
              </a:ext>
            </a:extLst>
          </p:cNvPr>
          <p:cNvSpPr>
            <a:spLocks xmlns:a="http://schemas.openxmlformats.org/drawingml/2006/main" noGrp="1"/>
          </p:cNvSpPr>
          <p:nvPr/>
        </p:nvSpPr>
        <p:spPr>
          <a:xfrm xmlns:a="http://schemas.openxmlformats.org/drawingml/2006/main">
            <a:off x="3667125" y="3486150"/>
            <a:ext cx="16192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0072B2"/>
                </a:solidFill>
                <a:latin typeface="Arial"/>
                <a:ea typeface="Arial"/>
                <a:cs typeface="Arial"/>
              </a:defRPr>
            </a:pPr>
            <a:r>
              <a:rPr sz="1500" b="1">
                <a:solidFill>
                  <a:srgbClr val="0072B2"/>
                </a:solidFill>
                <a:latin typeface="Arial"/>
                <a:ea typeface="Arial"/>
                <a:cs typeface="Arial"/>
              </a:rPr>
              <a:t>Core MT genes</a:t>
            </a:r>
          </a:p>
          <a:p xmlns:a="http://schemas.openxmlformats.org/drawingml/2006/main">
            <a:pPr algn="ctr">
              <a:buNone/>
              <a:defRPr sz="1500" b="1">
                <a:solidFill>
                  <a:srgbClr val="0072B2"/>
                </a:solidFill>
                <a:latin typeface="Arial"/>
                <a:ea typeface="Arial"/>
                <a:cs typeface="Arial"/>
              </a:defRPr>
            </a:pPr>
            <a:r>
              <a:rPr sz="1500" b="1">
                <a:solidFill>
                  <a:srgbClr val="0072B2"/>
                </a:solidFill>
                <a:latin typeface="Arial"/>
                <a:ea typeface="Arial"/>
                <a:cs typeface="Arial"/>
              </a:rPr>
              <a:t>13</a:t>
            </a:r>
          </a:p>
          <a:p xmlns:a="http://schemas.openxmlformats.org/drawingml/2006/main">
            <a:pPr algn="ctr">
              <a:buNone/>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xmlns:a="http://schemas.openxmlformats.org/drawingml/2006/main">
              <a:ext uri="{FF2B5EF4-FFF2-40B4-BE49-F238E27FC236}">
                <a16:creationId xmlns:a16="http://schemas.microsoft.com/office/drawing/2014/main" id="{D1E66855-C665-4F0B-A285-F6C1EE8C9A06}"/>
              </a:ext>
            </a:extLst>
          </p:cNvPr>
          <p:cNvSpPr>
            <a:spLocks xmlns:a="http://schemas.openxmlformats.org/drawingml/2006/main" noGrp="1"/>
          </p:cNvSpPr>
          <p:nvPr/>
        </p:nvSpPr>
        <p:spPr>
          <a:xfrm xmlns:a="http://schemas.openxmlformats.org/drawingml/2006/main">
            <a:off x="5715000" y="3486150"/>
            <a:ext cx="16573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0F233D"/>
                </a:solidFill>
                <a:latin typeface="Arial"/>
                <a:ea typeface="Arial"/>
                <a:cs typeface="Arial"/>
              </a:defRPr>
            </a:pPr>
            <a:r>
              <a:rPr sz="1500" b="1">
                <a:solidFill>
                  <a:srgbClr val="0F233D"/>
                </a:solidFill>
                <a:latin typeface="Arial"/>
                <a:ea typeface="Arial"/>
                <a:cs typeface="Arial"/>
              </a:rPr>
              <a:t>Nuclear-encoded</a:t>
            </a:r>
          </a:p>
          <a:p xmlns:a="http://schemas.openxmlformats.org/drawingml/2006/main">
            <a:pPr algn="ctr">
              <a:buNone/>
              <a:defRPr sz="1500" b="1">
                <a:solidFill>
                  <a:srgbClr val="0F233D"/>
                </a:solidFill>
                <a:latin typeface="Arial"/>
                <a:ea typeface="Arial"/>
                <a:cs typeface="Arial"/>
              </a:defRPr>
            </a:pPr>
            <a:r>
              <a:rPr sz="1500" b="1">
                <a:solidFill>
                  <a:srgbClr val="0F233D"/>
                </a:solidFill>
                <a:latin typeface="Arial"/>
                <a:ea typeface="Arial"/>
                <a:cs typeface="Arial"/>
              </a:rPr>
              <a:t>OXPHOS genes</a:t>
            </a:r>
          </a:p>
          <a:p xmlns:a="http://schemas.openxmlformats.org/drawingml/2006/main">
            <a:pPr algn="ctr">
              <a:buNone/>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xmlns:a="http://schemas.openxmlformats.org/drawingml/2006/main">
              <a:ext uri="{FF2B5EF4-FFF2-40B4-BE49-F238E27FC236}">
                <a16:creationId xmlns:a16="http://schemas.microsoft.com/office/drawing/2014/main" id="{C7BFE8CC-0CED-4FB5-BADF-C7EE9DEE7D07}"/>
              </a:ext>
            </a:extLst>
          </p:cNvPr>
          <p:cNvSpPr>
            <a:spLocks xmlns:a="http://schemas.openxmlformats.org/drawingml/2006/main" noGrp="1"/>
          </p:cNvSpPr>
          <p:nvPr/>
        </p:nvSpPr>
        <p:spPr>
          <a:xfrm xmlns:a="http://schemas.openxmlformats.org/drawingml/2006/main">
            <a:off x="1204913" y="4200525"/>
            <a:ext cx="2176457"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algn="ctr">
              <a:buNone/>
              <a:defRPr sz="1500" b="1">
                <a:solidFill>
                  <a:srgbClr val="008A68"/>
                </a:solidFill>
                <a:latin typeface="Arial"/>
                <a:ea typeface="Arial"/>
                <a:cs typeface="Arial"/>
              </a:defRPr>
            </a:pPr>
            <a:r>
              <a:rPr sz="1500" b="1">
                <a:solidFill>
                  <a:srgbClr val="008A68"/>
                </a:solidFill>
                <a:latin typeface="Arial"/>
                <a:ea typeface="Arial"/>
                <a:cs typeface="Arial"/>
              </a:rPr>
              <a:t>Other </a:t>
            </a:r>
            <a:r>
              <a:rPr sz="1500" b="1">
                <a:solidFill>
                  <a:srgbClr val="008A68"/>
                </a:solidFill>
                <a:latin typeface="Arial"/>
                <a:ea typeface="Arial"/>
                <a:cs typeface="Arial"/>
              </a:rPr>
              <a:t>MitoCarta</a:t>
            </a:r>
            <a:r>
              <a:rPr sz="1500" b="1">
                <a:solidFill>
                  <a:srgbClr val="008A68"/>
                </a:solidFill>
                <a:latin typeface="Arial"/>
                <a:ea typeface="Arial"/>
                <a:cs typeface="Arial"/>
              </a:rPr>
              <a:t> MT genes</a:t>
            </a:r>
            <a:r>
              <a:rPr sz="1500" b="1">
                <a:solidFill>
                  <a:srgbClr val="008A68"/>
                </a:solidFill>
                <a:latin typeface="Arial"/>
                <a:ea typeface="Arial"/>
                <a:cs typeface="Arial"/>
              </a:rPr>
              <a:t> (Nuclear-encoded)</a:t>
            </a:r>
          </a:p>
          <a:p xmlns:a="http://schemas.openxmlformats.org/drawingml/2006/main">
            <a:pPr algn="ctr">
              <a:buNone/>
              <a:defRPr sz="1500" b="1">
                <a:solidFill>
                  <a:srgbClr val="008A68"/>
                </a:solidFill>
                <a:latin typeface="Arial"/>
                <a:ea typeface="Arial"/>
                <a:cs typeface="Arial"/>
              </a:defRPr>
            </a:pPr>
            <a:r>
              <a:rPr sz="1500" b="1">
                <a:solidFill>
                  <a:srgbClr val="008A68"/>
                </a:solidFill>
                <a:latin typeface="Arial"/>
                <a:ea typeface="Arial"/>
                <a:cs typeface="Arial"/>
              </a:rPr>
              <a:t>1,037</a:t>
            </a:r>
          </a:p>
        </p:txBody>
      </p:sp>
      <p:sp>
        <p:nvSpPr>
          <p:cNvPr id="12" name="oxphos-equation-card">
            <a:extLst xmlns:a="http://schemas.openxmlformats.org/drawingml/2006/main">
              <a:ext uri="{FF2B5EF4-FFF2-40B4-BE49-F238E27FC236}">
                <a16:creationId xmlns:a16="http://schemas.microsoft.com/office/drawing/2014/main" id="{1AC7A0C8-CBE4-4664-8FB0-E3AEE0B4C104}"/>
              </a:ext>
            </a:extLst>
          </p:cNvPr>
          <p:cNvSpPr>
            <a:spLocks xmlns:a="http://schemas.openxmlformats.org/drawingml/2006/main" noGrp="1"/>
          </p:cNvSpPr>
          <p:nvPr/>
        </p:nvSpPr>
        <p:spPr>
          <a:xfrm xmlns:a="http://schemas.openxmlformats.org/drawingml/2006/main">
            <a:off x="8763000" y="1952625"/>
            <a:ext cx="2781300" cy="1447800"/>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4288">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3" name="oxphos-equation">
            <a:extLst xmlns:a="http://schemas.openxmlformats.org/drawingml/2006/main">
              <a:ext uri="{FF2B5EF4-FFF2-40B4-BE49-F238E27FC236}">
                <a16:creationId xmlns:a16="http://schemas.microsoft.com/office/drawing/2014/main" id="{D7D3BC97-B2E1-48B8-B8EA-25C6B2E3C59E}"/>
              </a:ext>
            </a:extLst>
          </p:cNvPr>
          <p:cNvSpPr>
            <a:spLocks xmlns:a="http://schemas.openxmlformats.org/drawingml/2006/main" noGrp="1"/>
          </p:cNvSpPr>
          <p:nvPr/>
        </p:nvSpPr>
        <p:spPr>
          <a:xfrm xmlns:a="http://schemas.openxmlformats.org/drawingml/2006/main">
            <a:off x="9010650" y="22098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xmlns:a="http://schemas.openxmlformats.org/drawingml/2006/main">
              <a:ext uri="{FF2B5EF4-FFF2-40B4-BE49-F238E27FC236}">
                <a16:creationId xmlns:a16="http://schemas.microsoft.com/office/drawing/2014/main" id="{7EAA0B6C-3898-4C88-B8C2-005657C6F73A}"/>
              </a:ext>
            </a:extLst>
          </p:cNvPr>
          <p:cNvSpPr>
            <a:spLocks xmlns:a="http://schemas.openxmlformats.org/drawingml/2006/main" noGrp="1"/>
          </p:cNvSpPr>
          <p:nvPr/>
        </p:nvSpPr>
        <p:spPr>
          <a:xfrm xmlns:a="http://schemas.openxmlformats.org/drawingml/2006/main">
            <a:off x="9010650" y="2752725"/>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xmlns:a="http://schemas.openxmlformats.org/drawingml/2006/main">
              <a:ext uri="{FF2B5EF4-FFF2-40B4-BE49-F238E27FC236}">
                <a16:creationId xmlns:a16="http://schemas.microsoft.com/office/drawing/2014/main" id="{7827315D-29FF-4BC2-A1DD-81EC492A0E87}"/>
              </a:ext>
            </a:extLst>
          </p:cNvPr>
          <p:cNvSpPr>
            <a:spLocks xmlns:a="http://schemas.openxmlformats.org/drawingml/2006/main" noGrp="1"/>
          </p:cNvSpPr>
          <p:nvPr/>
        </p:nvSpPr>
        <p:spPr>
          <a:xfrm xmlns:a="http://schemas.openxmlformats.org/drawingml/2006/main">
            <a:off x="8763000" y="3657600"/>
            <a:ext cx="2781300" cy="1600200"/>
          </a:xfrm>
          <a:prstGeom xmlns:a="http://schemas.openxmlformats.org/drawingml/2006/main" prst="roundRect">
            <a:avLst>
              <a:gd name="adj" fmla="val 7143"/>
            </a:avLst>
          </a:prstGeom>
          <a:solidFill xmlns:a="http://schemas.openxmlformats.org/drawingml/2006/main">
            <a:srgbClr val="E8F5FB"/>
          </a:solidFill>
          <a:ln xmlns:a="http://schemas.openxmlformats.org/drawingml/2006/main" w="9525">
            <a:solidFill>
              <a:srgbClr val="D8E2E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nuclear-definition-title">
            <a:extLst xmlns:a="http://schemas.openxmlformats.org/drawingml/2006/main">
              <a:ext uri="{FF2B5EF4-FFF2-40B4-BE49-F238E27FC236}">
                <a16:creationId xmlns:a16="http://schemas.microsoft.com/office/drawing/2014/main" id="{115E4BE4-E1EC-4B5D-8942-08E716799A93}"/>
              </a:ext>
            </a:extLst>
          </p:cNvPr>
          <p:cNvSpPr>
            <a:spLocks xmlns:a="http://schemas.openxmlformats.org/drawingml/2006/main" noGrp="1"/>
          </p:cNvSpPr>
          <p:nvPr/>
        </p:nvSpPr>
        <p:spPr>
          <a:xfrm xmlns:a="http://schemas.openxmlformats.org/drawingml/2006/main">
            <a:off x="9029700" y="38957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xmlns:a="http://schemas.openxmlformats.org/drawingml/2006/main">
              <a:ext uri="{FF2B5EF4-FFF2-40B4-BE49-F238E27FC236}">
                <a16:creationId xmlns:a16="http://schemas.microsoft.com/office/drawing/2014/main" id="{3E2593A7-7F57-43B3-8DFB-2A7C254F5A2C}"/>
              </a:ext>
            </a:extLst>
          </p:cNvPr>
          <p:cNvSpPr>
            <a:spLocks xmlns:a="http://schemas.openxmlformats.org/drawingml/2006/main" noGrp="1"/>
          </p:cNvSpPr>
          <p:nvPr/>
        </p:nvSpPr>
        <p:spPr>
          <a:xfrm xmlns:a="http://schemas.openxmlformats.org/drawingml/2006/main">
            <a:off x="9048750" y="4305300"/>
            <a:ext cx="2209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mitocarta-hierarchy-background">
            <a:extLst xmlns:a="http://schemas.openxmlformats.org/drawingml/2006/main">
              <a:ext uri="{FF2B5EF4-FFF2-40B4-BE49-F238E27FC236}">
                <a16:creationId xmlns:a16="http://schemas.microsoft.com/office/drawing/2014/main" id="{C32135CE-1DB8-4A86-8CC5-0C743A9946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mitocarta-hierarchy-title">
            <a:extLst xmlns:a="http://schemas.openxmlformats.org/drawingml/2006/main">
              <a:ext uri="{FF2B5EF4-FFF2-40B4-BE49-F238E27FC236}">
                <a16:creationId xmlns:a16="http://schemas.microsoft.com/office/drawing/2014/main" id="{D9B4A397-B91D-45E4-A1A7-81D64922ACB6}"/>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xmlns:a="http://schemas.openxmlformats.org/drawingml/2006/main">
              <a:ext uri="{FF2B5EF4-FFF2-40B4-BE49-F238E27FC236}">
                <a16:creationId xmlns:a16="http://schemas.microsoft.com/office/drawing/2014/main" id="{28C990DB-3CCC-454A-A0A6-54EC6E9CABC9}"/>
              </a:ext>
            </a:extLst>
          </p:cNvPr>
          <p:cNvSpPr>
            <a:spLocks xmlns:a="http://schemas.openxmlformats.org/drawingml/2006/main" noGrp="1"/>
          </p:cNvSpPr>
          <p:nvPr/>
        </p:nvSpPr>
        <p:spPr>
          <a:xfrm xmlns:a="http://schemas.openxmlformats.org/drawingml/2006/main">
            <a:off x="552450" y="9144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xmlns:a="http://schemas.openxmlformats.org/drawingml/2006/main">
              <a:ext uri="{FF2B5EF4-FFF2-40B4-BE49-F238E27FC236}">
                <a16:creationId xmlns:a16="http://schemas.microsoft.com/office/drawing/2014/main" id="{18A9D7A3-88E9-4952-9CAA-1FC2A1ED5F43}"/>
              </a:ext>
            </a:extLst>
          </p:cNvPr>
          <p:cNvSpPr>
            <a:spLocks xmlns:a="http://schemas.openxmlformats.org/drawingml/2006/main" noGrp="1"/>
          </p:cNvSpPr>
          <p:nvPr/>
        </p:nvSpPr>
        <p:spPr>
          <a:xfrm xmlns:a="http://schemas.openxmlformats.org/drawingml/2006/main">
            <a:off x="857250" y="1543050"/>
            <a:ext cx="10477500" cy="990600"/>
          </a:xfrm>
          <a:prstGeom xmlns:a="http://schemas.openxmlformats.org/drawingml/2006/main" prst="roundRect">
            <a:avLst>
              <a:gd name="adj" fmla="val 13462"/>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 name="mitocarta-level-1-level">
            <a:extLst xmlns:a="http://schemas.openxmlformats.org/drawingml/2006/main">
              <a:ext uri="{FF2B5EF4-FFF2-40B4-BE49-F238E27FC236}">
                <a16:creationId xmlns:a16="http://schemas.microsoft.com/office/drawing/2014/main" id="{E9D0E325-D5F5-4481-8B3B-16271FC0DB6E}"/>
              </a:ext>
            </a:extLst>
          </p:cNvPr>
          <p:cNvSpPr>
            <a:spLocks xmlns:a="http://schemas.openxmlformats.org/drawingml/2006/main" noGrp="1"/>
          </p:cNvSpPr>
          <p:nvPr/>
        </p:nvSpPr>
        <p:spPr>
          <a:xfrm xmlns:a="http://schemas.openxmlformats.org/drawingml/2006/main">
            <a:off x="1123950" y="17240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xmlns:a="http://schemas.openxmlformats.org/drawingml/2006/main">
              <a:ext uri="{FF2B5EF4-FFF2-40B4-BE49-F238E27FC236}">
                <a16:creationId xmlns:a16="http://schemas.microsoft.com/office/drawing/2014/main" id="{E9A17CB0-3A4C-45E3-86A2-52E80F61BADE}"/>
              </a:ext>
            </a:extLst>
          </p:cNvPr>
          <p:cNvSpPr>
            <a:spLocks xmlns:a="http://schemas.openxmlformats.org/drawingml/2006/main" noGrp="1"/>
          </p:cNvSpPr>
          <p:nvPr/>
        </p:nvSpPr>
        <p:spPr>
          <a:xfrm xmlns:a="http://schemas.openxmlformats.org/drawingml/2006/main">
            <a:off x="1123950" y="2028825"/>
            <a:ext cx="4505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xmlns:a="http://schemas.openxmlformats.org/drawingml/2006/main">
              <a:ext uri="{FF2B5EF4-FFF2-40B4-BE49-F238E27FC236}">
                <a16:creationId xmlns:a16="http://schemas.microsoft.com/office/drawing/2014/main" id="{9CE53DE4-53D8-4F37-89A9-CEB2184F3052}"/>
              </a:ext>
            </a:extLst>
          </p:cNvPr>
          <p:cNvSpPr>
            <a:spLocks xmlns:a="http://schemas.openxmlformats.org/drawingml/2006/main" noGrp="1"/>
          </p:cNvSpPr>
          <p:nvPr/>
        </p:nvSpPr>
        <p:spPr>
          <a:xfrm xmlns:a="http://schemas.openxmlformats.org/drawingml/2006/main">
            <a:off x="5886450" y="1885950"/>
            <a:ext cx="2828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xmlns:a="http://schemas.openxmlformats.org/drawingml/2006/main">
              <a:ext uri="{FF2B5EF4-FFF2-40B4-BE49-F238E27FC236}">
                <a16:creationId xmlns:a16="http://schemas.microsoft.com/office/drawing/2014/main" id="{A0B6881E-78F2-46CC-90CB-35966ED6AC8E}"/>
              </a:ext>
            </a:extLst>
          </p:cNvPr>
          <p:cNvSpPr>
            <a:spLocks xmlns:a="http://schemas.openxmlformats.org/drawingml/2006/main" noGrp="1"/>
          </p:cNvSpPr>
          <p:nvPr/>
        </p:nvSpPr>
        <p:spPr>
          <a:xfrm xmlns:a="http://schemas.openxmlformats.org/drawingml/2006/main">
            <a:off x="9620250" y="181927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xmlns:a="http://schemas.openxmlformats.org/drawingml/2006/main">
              <a:ext uri="{FF2B5EF4-FFF2-40B4-BE49-F238E27FC236}">
                <a16:creationId xmlns:a16="http://schemas.microsoft.com/office/drawing/2014/main" id="{5DAF0BA4-AC5A-446A-84BE-194A8EF81A1D}"/>
              </a:ext>
            </a:extLst>
          </p:cNvPr>
          <p:cNvSpPr>
            <a:spLocks xmlns:a="http://schemas.openxmlformats.org/drawingml/2006/main" noGrp="1"/>
          </p:cNvSpPr>
          <p:nvPr/>
        </p:nvSpPr>
        <p:spPr>
          <a:xfrm xmlns:a="http://schemas.openxmlformats.org/drawingml/2006/main">
            <a:off x="1619250" y="2705100"/>
            <a:ext cx="8953500" cy="990600"/>
          </a:xfrm>
          <a:prstGeom xmlns:a="http://schemas.openxmlformats.org/drawingml/2006/main" prst="roundRect">
            <a:avLst>
              <a:gd name="adj" fmla="val 13462"/>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mitocarta-level-2-level">
            <a:extLst xmlns:a="http://schemas.openxmlformats.org/drawingml/2006/main">
              <a:ext uri="{FF2B5EF4-FFF2-40B4-BE49-F238E27FC236}">
                <a16:creationId xmlns:a16="http://schemas.microsoft.com/office/drawing/2014/main" id="{E307DD48-2E33-4870-AB47-AC61B7104C30}"/>
              </a:ext>
            </a:extLst>
          </p:cNvPr>
          <p:cNvSpPr>
            <a:spLocks xmlns:a="http://schemas.openxmlformats.org/drawingml/2006/main" noGrp="1"/>
          </p:cNvSpPr>
          <p:nvPr/>
        </p:nvSpPr>
        <p:spPr>
          <a:xfrm xmlns:a="http://schemas.openxmlformats.org/drawingml/2006/main">
            <a:off x="1885950" y="28860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xmlns:a="http://schemas.openxmlformats.org/drawingml/2006/main">
              <a:ext uri="{FF2B5EF4-FFF2-40B4-BE49-F238E27FC236}">
                <a16:creationId xmlns:a16="http://schemas.microsoft.com/office/drawing/2014/main" id="{2087C0A6-AC42-45D6-A8DF-F8950D8B57CF}"/>
              </a:ext>
            </a:extLst>
          </p:cNvPr>
          <p:cNvSpPr>
            <a:spLocks xmlns:a="http://schemas.openxmlformats.org/drawingml/2006/main" noGrp="1"/>
          </p:cNvSpPr>
          <p:nvPr/>
        </p:nvSpPr>
        <p:spPr>
          <a:xfrm xmlns:a="http://schemas.openxmlformats.org/drawingml/2006/main">
            <a:off x="1885950" y="3190875"/>
            <a:ext cx="385000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xmlns:a="http://schemas.openxmlformats.org/drawingml/2006/main">
              <a:ext uri="{FF2B5EF4-FFF2-40B4-BE49-F238E27FC236}">
                <a16:creationId xmlns:a16="http://schemas.microsoft.com/office/drawing/2014/main" id="{21C35936-7529-43A8-A037-314B375217E3}"/>
              </a:ext>
            </a:extLst>
          </p:cNvPr>
          <p:cNvSpPr>
            <a:spLocks xmlns:a="http://schemas.openxmlformats.org/drawingml/2006/main" noGrp="1"/>
          </p:cNvSpPr>
          <p:nvPr/>
        </p:nvSpPr>
        <p:spPr>
          <a:xfrm xmlns:a="http://schemas.openxmlformats.org/drawingml/2006/main">
            <a:off x="5916930" y="3048000"/>
            <a:ext cx="241744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xmlns:a="http://schemas.openxmlformats.org/drawingml/2006/main">
              <a:ext uri="{FF2B5EF4-FFF2-40B4-BE49-F238E27FC236}">
                <a16:creationId xmlns:a16="http://schemas.microsoft.com/office/drawing/2014/main" id="{D9693E17-B9DB-4D16-B3E6-9AE81C1CE84C}"/>
              </a:ext>
            </a:extLst>
          </p:cNvPr>
          <p:cNvSpPr>
            <a:spLocks xmlns:a="http://schemas.openxmlformats.org/drawingml/2006/main" noGrp="1"/>
          </p:cNvSpPr>
          <p:nvPr/>
        </p:nvSpPr>
        <p:spPr>
          <a:xfrm xmlns:a="http://schemas.openxmlformats.org/drawingml/2006/main">
            <a:off x="8858250" y="298132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xmlns:a="http://schemas.openxmlformats.org/drawingml/2006/main">
              <a:ext uri="{FF2B5EF4-FFF2-40B4-BE49-F238E27FC236}">
                <a16:creationId xmlns:a16="http://schemas.microsoft.com/office/drawing/2014/main" id="{2A8008ED-6648-4AF0-B933-D57921172975}"/>
              </a:ext>
            </a:extLst>
          </p:cNvPr>
          <p:cNvSpPr>
            <a:spLocks xmlns:a="http://schemas.openxmlformats.org/drawingml/2006/main" noGrp="1"/>
          </p:cNvSpPr>
          <p:nvPr/>
        </p:nvSpPr>
        <p:spPr>
          <a:xfrm xmlns:a="http://schemas.openxmlformats.org/drawingml/2006/main">
            <a:off x="2381250" y="3867150"/>
            <a:ext cx="7429500" cy="990600"/>
          </a:xfrm>
          <a:prstGeom xmlns:a="http://schemas.openxmlformats.org/drawingml/2006/main" prst="roundRect">
            <a:avLst>
              <a:gd name="adj" fmla="val 13462"/>
            </a:avLst>
          </a:prstGeom>
          <a:solidFill xmlns:a="http://schemas.openxmlformats.org/drawingml/2006/main">
            <a:srgbClr val="FFF3D6"/>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 name="mitocarta-level-3-level">
            <a:extLst xmlns:a="http://schemas.openxmlformats.org/drawingml/2006/main">
              <a:ext uri="{FF2B5EF4-FFF2-40B4-BE49-F238E27FC236}">
                <a16:creationId xmlns:a16="http://schemas.microsoft.com/office/drawing/2014/main" id="{81DB79D4-CD73-4A5C-963B-057666B719FB}"/>
              </a:ext>
            </a:extLst>
          </p:cNvPr>
          <p:cNvSpPr>
            <a:spLocks xmlns:a="http://schemas.openxmlformats.org/drawingml/2006/main" noGrp="1"/>
          </p:cNvSpPr>
          <p:nvPr/>
        </p:nvSpPr>
        <p:spPr>
          <a:xfrm xmlns:a="http://schemas.openxmlformats.org/drawingml/2006/main">
            <a:off x="2647950" y="40481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xmlns:a="http://schemas.openxmlformats.org/drawingml/2006/main">
              <a:ext uri="{FF2B5EF4-FFF2-40B4-BE49-F238E27FC236}">
                <a16:creationId xmlns:a16="http://schemas.microsoft.com/office/drawing/2014/main" id="{140C0801-B7C3-4D31-A665-7222FAAD0F71}"/>
              </a:ext>
            </a:extLst>
          </p:cNvPr>
          <p:cNvSpPr>
            <a:spLocks xmlns:a="http://schemas.openxmlformats.org/drawingml/2006/main" noGrp="1"/>
          </p:cNvSpPr>
          <p:nvPr/>
        </p:nvSpPr>
        <p:spPr>
          <a:xfrm xmlns:a="http://schemas.openxmlformats.org/drawingml/2006/main">
            <a:off x="2647950" y="4352925"/>
            <a:ext cx="319468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xmlns:a="http://schemas.openxmlformats.org/drawingml/2006/main">
              <a:ext uri="{FF2B5EF4-FFF2-40B4-BE49-F238E27FC236}">
                <a16:creationId xmlns:a16="http://schemas.microsoft.com/office/drawing/2014/main" id="{A94DF118-F7D1-4507-9C22-4CD1DDAB2A0A}"/>
              </a:ext>
            </a:extLst>
          </p:cNvPr>
          <p:cNvSpPr>
            <a:spLocks xmlns:a="http://schemas.openxmlformats.org/drawingml/2006/main" noGrp="1"/>
          </p:cNvSpPr>
          <p:nvPr/>
        </p:nvSpPr>
        <p:spPr>
          <a:xfrm xmlns:a="http://schemas.openxmlformats.org/drawingml/2006/main">
            <a:off x="5947410" y="4210050"/>
            <a:ext cx="200596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xmlns:a="http://schemas.openxmlformats.org/drawingml/2006/main">
              <a:ext uri="{FF2B5EF4-FFF2-40B4-BE49-F238E27FC236}">
                <a16:creationId xmlns:a16="http://schemas.microsoft.com/office/drawing/2014/main" id="{BB15147C-0D72-4962-85BB-A1B83412BA89}"/>
              </a:ext>
            </a:extLst>
          </p:cNvPr>
          <p:cNvSpPr>
            <a:spLocks xmlns:a="http://schemas.openxmlformats.org/drawingml/2006/main" noGrp="1"/>
          </p:cNvSpPr>
          <p:nvPr/>
        </p:nvSpPr>
        <p:spPr>
          <a:xfrm xmlns:a="http://schemas.openxmlformats.org/drawingml/2006/main">
            <a:off x="8096250" y="414337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xmlns:a="http://schemas.openxmlformats.org/drawingml/2006/main">
              <a:ext uri="{FF2B5EF4-FFF2-40B4-BE49-F238E27FC236}">
                <a16:creationId xmlns:a16="http://schemas.microsoft.com/office/drawing/2014/main" id="{C106CBB7-A914-4CAA-A2D6-1E8DECF94573}"/>
              </a:ext>
            </a:extLst>
          </p:cNvPr>
          <p:cNvSpPr>
            <a:spLocks xmlns:a="http://schemas.openxmlformats.org/drawingml/2006/main" noGrp="1"/>
          </p:cNvSpPr>
          <p:nvPr/>
        </p:nvSpPr>
        <p:spPr>
          <a:xfrm xmlns:a="http://schemas.openxmlformats.org/drawingml/2006/main">
            <a:off x="1238250" y="5362575"/>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xmlns:a="http://schemas.openxmlformats.org/drawingml/2006/main">
              <a:ext uri="{FF2B5EF4-FFF2-40B4-BE49-F238E27FC236}">
                <a16:creationId xmlns:a16="http://schemas.microsoft.com/office/drawing/2014/main" id="{8732A8D5-E54F-4818-8258-7BB4F33E4664}"/>
              </a:ext>
            </a:extLst>
          </p:cNvPr>
          <p:cNvSpPr>
            <a:spLocks xmlns:a="http://schemas.openxmlformats.org/drawingml/2006/main" noGrp="1"/>
          </p:cNvSpPr>
          <p:nvPr/>
        </p:nvSpPr>
        <p:spPr>
          <a:xfrm xmlns:a="http://schemas.openxmlformats.org/drawingml/2006/main">
            <a:off x="1714500" y="5915025"/>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ABE309-C9E3-48FF-A8F2-A0EF08A29372}"/>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xmlns:a="http://schemas.openxmlformats.org/drawingml/2006/main">
              <a:ext uri="{FF2B5EF4-FFF2-40B4-BE49-F238E27FC236}">
                <a16:creationId xmlns:a16="http://schemas.microsoft.com/office/drawing/2014/main" id="{AFCB9572-86B4-40FF-8174-14DE2FC5F595}"/>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xmlns:a="http://schemas.openxmlformats.org/drawingml/2006/main">
              <a:ext uri="{FF2B5EF4-FFF2-40B4-BE49-F238E27FC236}">
                <a16:creationId xmlns:a16="http://schemas.microsoft.com/office/drawing/2014/main" id="{783C0F05-8BCC-4C1E-99DB-9C95EA400582}"/>
              </a:ext>
            </a:extLst>
          </p:cNvPr>
          <p:cNvSpPr>
            <a:spLocks xmlns:a="http://schemas.openxmlformats.org/drawingml/2006/main" noGrp="1"/>
          </p:cNvSpPr>
          <p:nvPr/>
        </p:nvSpPr>
        <p:spPr>
          <a:xfrm xmlns:a="http://schemas.openxmlformats.org/drawingml/2006/main">
            <a:off x="603504" y="1261872"/>
            <a:ext cx="2157984" cy="84124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2042E1-1881-4A0D-A856-6BD035FB9B6E}"/>
              </a:ext>
            </a:extLst>
          </p:cNvPr>
          <p:cNvSpPr>
            <a:spLocks xmlns:a="http://schemas.openxmlformats.org/drawingml/2006/main" noGrp="1"/>
          </p:cNvSpPr>
          <p:nvPr/>
        </p:nvSpPr>
        <p:spPr>
          <a:xfrm xmlns:a="http://schemas.openxmlformats.org/drawingml/2006/main">
            <a:off x="713232" y="1404673"/>
            <a:ext cx="694944" cy="4093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a:solidFill>
                  <a:srgbClr val="0072B2"/>
                </a:solidFill>
                <a:latin typeface="Arial"/>
                <a:ea typeface="Arial"/>
                <a:cs typeface="Arial"/>
              </a:rPr>
              <a:t>54</a:t>
            </a:r>
            <a:endParaRPr sz="2300" b="1" i="0">
              <a:solidFill>
                <a:srgbClr val="0072B2"/>
              </a:solidFill>
              <a:latin typeface="Arial"/>
              <a:ea typeface="Arial"/>
              <a:cs typeface="Arial"/>
            </a:endParaRPr>
          </a:p>
        </p:txBody>
      </p:sp>
      <p:sp>
        <p:nvSpPr>
          <p:cNvPr id="6" name="TextBox 5">
            <a:extLst xmlns:a="http://schemas.openxmlformats.org/drawingml/2006/main">
              <a:ext uri="{FF2B5EF4-FFF2-40B4-BE49-F238E27FC236}">
                <a16:creationId xmlns:a16="http://schemas.microsoft.com/office/drawing/2014/main" id="{4CA06EC8-5501-4A49-8CF5-CF9C879F44D2}"/>
              </a:ext>
            </a:extLst>
          </p:cNvPr>
          <p:cNvSpPr>
            <a:spLocks xmlns:a="http://schemas.openxmlformats.org/drawingml/2006/main" noGrp="1"/>
          </p:cNvSpPr>
          <p:nvPr/>
        </p:nvSpPr>
        <p:spPr>
          <a:xfrm xmlns:a="http://schemas.openxmlformats.org/drawingml/2006/main">
            <a:off x="1463040" y="1463040"/>
            <a:ext cx="1188719"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xmlns:a="http://schemas.openxmlformats.org/drawingml/2006/main">
              <a:ext uri="{FF2B5EF4-FFF2-40B4-BE49-F238E27FC236}">
                <a16:creationId xmlns:a16="http://schemas.microsoft.com/office/drawing/2014/main" id="{C2A22B25-B9D1-4F1E-B499-772695760BDA}"/>
              </a:ext>
            </a:extLst>
          </p:cNvPr>
          <p:cNvSpPr>
            <a:spLocks xmlns:a="http://schemas.openxmlformats.org/drawingml/2006/main" noGrp="1"/>
          </p:cNvSpPr>
          <p:nvPr/>
        </p:nvSpPr>
        <p:spPr>
          <a:xfrm xmlns:a="http://schemas.openxmlformats.org/drawingml/2006/main">
            <a:off x="2852928"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xmlns:a="http://schemas.openxmlformats.org/drawingml/2006/main">
              <a:ext uri="{FF2B5EF4-FFF2-40B4-BE49-F238E27FC236}">
                <a16:creationId xmlns:a16="http://schemas.microsoft.com/office/drawing/2014/main" id="{D2148A89-00B9-4DD8-B7DF-A655AEBC4A4E}"/>
              </a:ext>
            </a:extLst>
          </p:cNvPr>
          <p:cNvSpPr>
            <a:spLocks xmlns:a="http://schemas.openxmlformats.org/drawingml/2006/main" noGrp="1"/>
          </p:cNvSpPr>
          <p:nvPr/>
        </p:nvSpPr>
        <p:spPr>
          <a:xfrm xmlns:a="http://schemas.openxmlformats.org/drawingml/2006/main">
            <a:off x="3310128" y="1261872"/>
            <a:ext cx="1975104" cy="84124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2D9BD53-74AD-440A-877E-734044EEC58A}"/>
              </a:ext>
            </a:extLst>
          </p:cNvPr>
          <p:cNvSpPr>
            <a:spLocks xmlns:a="http://schemas.openxmlformats.org/drawingml/2006/main" noGrp="1"/>
          </p:cNvSpPr>
          <p:nvPr/>
        </p:nvSpPr>
        <p:spPr>
          <a:xfrm xmlns:a="http://schemas.openxmlformats.org/drawingml/2006/main">
            <a:off x="3419856"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xmlns:a="http://schemas.openxmlformats.org/drawingml/2006/main">
              <a:ext uri="{FF2B5EF4-FFF2-40B4-BE49-F238E27FC236}">
                <a16:creationId xmlns:a16="http://schemas.microsoft.com/office/drawing/2014/main" id="{A8D6D415-6CCA-4784-A9AD-1A28B381EBFB}"/>
              </a:ext>
            </a:extLst>
          </p:cNvPr>
          <p:cNvSpPr>
            <a:spLocks xmlns:a="http://schemas.openxmlformats.org/drawingml/2006/main" noGrp="1"/>
          </p:cNvSpPr>
          <p:nvPr/>
        </p:nvSpPr>
        <p:spPr>
          <a:xfrm xmlns:a="http://schemas.openxmlformats.org/drawingml/2006/main">
            <a:off x="4169664" y="1463040"/>
            <a:ext cx="1005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xmlns:a="http://schemas.openxmlformats.org/drawingml/2006/main">
              <a:ext uri="{FF2B5EF4-FFF2-40B4-BE49-F238E27FC236}">
                <a16:creationId xmlns:a16="http://schemas.microsoft.com/office/drawing/2014/main" id="{82807640-81E0-4A92-92A6-EBB7277467DE}"/>
              </a:ext>
            </a:extLst>
          </p:cNvPr>
          <p:cNvSpPr>
            <a:spLocks xmlns:a="http://schemas.openxmlformats.org/drawingml/2006/main" noGrp="1"/>
          </p:cNvSpPr>
          <p:nvPr/>
        </p:nvSpPr>
        <p:spPr>
          <a:xfrm xmlns:a="http://schemas.openxmlformats.org/drawingml/2006/main">
            <a:off x="5376672"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xmlns:a="http://schemas.openxmlformats.org/drawingml/2006/main">
              <a:ext uri="{FF2B5EF4-FFF2-40B4-BE49-F238E27FC236}">
                <a16:creationId xmlns:a16="http://schemas.microsoft.com/office/drawing/2014/main" id="{5C1612BB-C0AB-4676-B620-7CFBF03B12A0}"/>
              </a:ext>
            </a:extLst>
          </p:cNvPr>
          <p:cNvSpPr>
            <a:spLocks xmlns:a="http://schemas.openxmlformats.org/drawingml/2006/main" noGrp="1"/>
          </p:cNvSpPr>
          <p:nvPr/>
        </p:nvSpPr>
        <p:spPr>
          <a:xfrm xmlns:a="http://schemas.openxmlformats.org/drawingml/2006/main">
            <a:off x="5833872" y="1261872"/>
            <a:ext cx="2157984" cy="841248"/>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92F8939-D400-412A-94EF-7BC0FF1FB9B1}"/>
              </a:ext>
            </a:extLst>
          </p:cNvPr>
          <p:cNvSpPr>
            <a:spLocks xmlns:a="http://schemas.openxmlformats.org/drawingml/2006/main" noGrp="1"/>
          </p:cNvSpPr>
          <p:nvPr/>
        </p:nvSpPr>
        <p:spPr>
          <a:xfrm xmlns:a="http://schemas.openxmlformats.org/drawingml/2006/main">
            <a:off x="5943600"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xmlns:a="http://schemas.openxmlformats.org/drawingml/2006/main">
              <a:ext uri="{FF2B5EF4-FFF2-40B4-BE49-F238E27FC236}">
                <a16:creationId xmlns:a16="http://schemas.microsoft.com/office/drawing/2014/main" id="{CD39BEE1-7B75-4AC0-B404-2BC9A78F8411}"/>
              </a:ext>
            </a:extLst>
          </p:cNvPr>
          <p:cNvSpPr>
            <a:spLocks xmlns:a="http://schemas.openxmlformats.org/drawingml/2006/main" noGrp="1"/>
          </p:cNvSpPr>
          <p:nvPr/>
        </p:nvSpPr>
        <p:spPr>
          <a:xfrm xmlns:a="http://schemas.openxmlformats.org/drawingml/2006/main">
            <a:off x="6693408" y="1463040"/>
            <a:ext cx="1188719"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xmlns:a="http://schemas.openxmlformats.org/drawingml/2006/main">
              <a:ext uri="{FF2B5EF4-FFF2-40B4-BE49-F238E27FC236}">
                <a16:creationId xmlns:a16="http://schemas.microsoft.com/office/drawing/2014/main" id="{0F149D61-E0B1-43EA-9C60-5C83750A956E}"/>
              </a:ext>
            </a:extLst>
          </p:cNvPr>
          <p:cNvSpPr>
            <a:spLocks xmlns:a="http://schemas.openxmlformats.org/drawingml/2006/main" noGrp="1"/>
          </p:cNvSpPr>
          <p:nvPr/>
        </p:nvSpPr>
        <p:spPr>
          <a:xfrm xmlns:a="http://schemas.openxmlformats.org/drawingml/2006/main">
            <a:off x="8083296"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xmlns:a="http://schemas.openxmlformats.org/drawingml/2006/main">
              <a:ext uri="{FF2B5EF4-FFF2-40B4-BE49-F238E27FC236}">
                <a16:creationId xmlns:a16="http://schemas.microsoft.com/office/drawing/2014/main" id="{295304B1-6E48-4817-80DA-93860307ABB8}"/>
              </a:ext>
            </a:extLst>
          </p:cNvPr>
          <p:cNvSpPr>
            <a:spLocks xmlns:a="http://schemas.openxmlformats.org/drawingml/2006/main" noGrp="1"/>
          </p:cNvSpPr>
          <p:nvPr/>
        </p:nvSpPr>
        <p:spPr>
          <a:xfrm xmlns:a="http://schemas.openxmlformats.org/drawingml/2006/main">
            <a:off x="8540496" y="1261872"/>
            <a:ext cx="3044952" cy="841248"/>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01C2CFF-53CF-4D76-A412-6C11E2CA0186}"/>
              </a:ext>
            </a:extLst>
          </p:cNvPr>
          <p:cNvSpPr>
            <a:spLocks xmlns:a="http://schemas.openxmlformats.org/drawingml/2006/main" noGrp="1"/>
          </p:cNvSpPr>
          <p:nvPr/>
        </p:nvSpPr>
        <p:spPr>
          <a:xfrm xmlns:a="http://schemas.openxmlformats.org/drawingml/2006/main">
            <a:off x="8650224" y="1404673"/>
            <a:ext cx="694944" cy="4093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9E3A00"/>
                </a:solidFill>
                <a:latin typeface="Arial"/>
                <a:ea typeface="Arial"/>
                <a:cs typeface="Arial"/>
              </a:rPr>
              <a:t>324</a:t>
            </a:r>
            <a:endParaRPr sz="2300" b="1" i="0">
              <a:solidFill>
                <a:srgbClr val="9E3A00"/>
              </a:solidFill>
              <a:latin typeface="Arial"/>
              <a:ea typeface="Arial"/>
              <a:cs typeface="Arial"/>
            </a:endParaRPr>
          </a:p>
        </p:txBody>
      </p:sp>
      <p:sp>
        <p:nvSpPr>
          <p:cNvPr id="18" name="TextBox 17">
            <a:extLst xmlns:a="http://schemas.openxmlformats.org/drawingml/2006/main">
              <a:ext uri="{FF2B5EF4-FFF2-40B4-BE49-F238E27FC236}">
                <a16:creationId xmlns:a16="http://schemas.microsoft.com/office/drawing/2014/main" id="{A7BD88E4-29E5-4E20-9001-225028ABFB98}"/>
              </a:ext>
            </a:extLst>
          </p:cNvPr>
          <p:cNvSpPr>
            <a:spLocks xmlns:a="http://schemas.openxmlformats.org/drawingml/2006/main" noGrp="1"/>
          </p:cNvSpPr>
          <p:nvPr/>
        </p:nvSpPr>
        <p:spPr>
          <a:xfrm xmlns:a="http://schemas.openxmlformats.org/drawingml/2006/main">
            <a:off x="9400032" y="1463040"/>
            <a:ext cx="2075688"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20" name="Rounded Rectangle 19">
            <a:extLst xmlns:a="http://schemas.openxmlformats.org/drawingml/2006/main">
              <a:ext uri="{FF2B5EF4-FFF2-40B4-BE49-F238E27FC236}">
                <a16:creationId xmlns:a16="http://schemas.microsoft.com/office/drawing/2014/main" id="{EADAEADC-96D3-4FD9-84AB-CD1B9DCD3675}"/>
              </a:ext>
            </a:extLst>
          </p:cNvPr>
          <p:cNvSpPr>
            <a:spLocks xmlns:a="http://schemas.openxmlformats.org/drawingml/2006/main" noGrp="1"/>
          </p:cNvSpPr>
          <p:nvPr/>
        </p:nvSpPr>
        <p:spPr>
          <a:xfrm xmlns:a="http://schemas.openxmlformats.org/drawingml/2006/main">
            <a:off x="603504" y="2639771"/>
            <a:ext cx="5422392" cy="321868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48DB1D99-3E39-4EE8-81B1-E579A7B0AB7D}"/>
              </a:ext>
            </a:extLst>
          </p:cNvPr>
          <p:cNvSpPr>
            <a:spLocks xmlns:a="http://schemas.openxmlformats.org/drawingml/2006/main" noGrp="1"/>
          </p:cNvSpPr>
          <p:nvPr/>
        </p:nvSpPr>
        <p:spPr>
          <a:xfrm xmlns:a="http://schemas.openxmlformats.org/drawingml/2006/main">
            <a:off x="877824" y="2923235"/>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58DA8C8-935B-45B6-B3E0-C2E00D6AF0EF}"/>
              </a:ext>
            </a:extLst>
          </p:cNvPr>
          <p:cNvSpPr>
            <a:spLocks xmlns:a="http://schemas.openxmlformats.org/drawingml/2006/main" noGrp="1"/>
          </p:cNvSpPr>
          <p:nvPr/>
        </p:nvSpPr>
        <p:spPr>
          <a:xfrm xmlns:a="http://schemas.openxmlformats.org/drawingml/2006/main">
            <a:off x="1024126" y="2895803"/>
            <a:ext cx="4855465" cy="5181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xmlns:a="http://schemas.openxmlformats.org/drawingml/2006/main">
              <a:ext uri="{FF2B5EF4-FFF2-40B4-BE49-F238E27FC236}">
                <a16:creationId xmlns:a16="http://schemas.microsoft.com/office/drawing/2014/main" id="{C4B88BEE-3638-4BD9-9B63-6CC149E79E1B}"/>
              </a:ext>
            </a:extLst>
          </p:cNvPr>
          <p:cNvSpPr>
            <a:spLocks xmlns:a="http://schemas.openxmlformats.org/drawingml/2006/main" noGrp="1"/>
          </p:cNvSpPr>
          <p:nvPr/>
        </p:nvSpPr>
        <p:spPr>
          <a:xfrm xmlns:a="http://schemas.openxmlformats.org/drawingml/2006/main">
            <a:off x="896112" y="3371291"/>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C3149286-B7B6-4FDD-B244-1D2656E7D904}"/>
              </a:ext>
            </a:extLst>
          </p:cNvPr>
          <p:cNvSpPr>
            <a:spLocks xmlns:a="http://schemas.openxmlformats.org/drawingml/2006/main" noGrp="1"/>
          </p:cNvSpPr>
          <p:nvPr/>
        </p:nvSpPr>
        <p:spPr>
          <a:xfrm xmlns:a="http://schemas.openxmlformats.org/drawingml/2006/main">
            <a:off x="932688" y="3444443"/>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xmlns:a="http://schemas.openxmlformats.org/drawingml/2006/main">
              <a:ext uri="{FF2B5EF4-FFF2-40B4-BE49-F238E27FC236}">
                <a16:creationId xmlns:a16="http://schemas.microsoft.com/office/drawing/2014/main" id="{D0B71D92-1D0F-424C-A9F0-0E2D9A5DB977}"/>
              </a:ext>
            </a:extLst>
          </p:cNvPr>
          <p:cNvSpPr>
            <a:spLocks xmlns:a="http://schemas.openxmlformats.org/drawingml/2006/main" noGrp="1"/>
          </p:cNvSpPr>
          <p:nvPr/>
        </p:nvSpPr>
        <p:spPr>
          <a:xfrm xmlns:a="http://schemas.openxmlformats.org/drawingml/2006/main">
            <a:off x="1426464" y="3362147"/>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xmlns:a="http://schemas.openxmlformats.org/drawingml/2006/main">
              <a:ext uri="{FF2B5EF4-FFF2-40B4-BE49-F238E27FC236}">
                <a16:creationId xmlns:a16="http://schemas.microsoft.com/office/drawing/2014/main" id="{8C70D56D-0CCD-495E-8997-2A5B133C8488}"/>
              </a:ext>
            </a:extLst>
          </p:cNvPr>
          <p:cNvSpPr>
            <a:spLocks xmlns:a="http://schemas.openxmlformats.org/drawingml/2006/main" noGrp="1"/>
          </p:cNvSpPr>
          <p:nvPr/>
        </p:nvSpPr>
        <p:spPr>
          <a:xfrm xmlns:a="http://schemas.openxmlformats.org/drawingml/2006/main">
            <a:off x="1426464" y="3627323"/>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xmlns:a="http://schemas.openxmlformats.org/drawingml/2006/main">
              <a:ext uri="{FF2B5EF4-FFF2-40B4-BE49-F238E27FC236}">
                <a16:creationId xmlns:a16="http://schemas.microsoft.com/office/drawing/2014/main" id="{A80F91B4-3516-4DD6-BA0D-268F93A810E7}"/>
              </a:ext>
            </a:extLst>
          </p:cNvPr>
          <p:cNvSpPr>
            <a:spLocks xmlns:a="http://schemas.openxmlformats.org/drawingml/2006/main" noGrp="1"/>
          </p:cNvSpPr>
          <p:nvPr/>
        </p:nvSpPr>
        <p:spPr>
          <a:xfrm xmlns:a="http://schemas.openxmlformats.org/drawingml/2006/main">
            <a:off x="896112" y="4102811"/>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EF04FE43-13D6-484A-B039-B372042A2829}"/>
              </a:ext>
            </a:extLst>
          </p:cNvPr>
          <p:cNvSpPr>
            <a:spLocks xmlns:a="http://schemas.openxmlformats.org/drawingml/2006/main" noGrp="1"/>
          </p:cNvSpPr>
          <p:nvPr/>
        </p:nvSpPr>
        <p:spPr>
          <a:xfrm xmlns:a="http://schemas.openxmlformats.org/drawingml/2006/main">
            <a:off x="932688" y="4175963"/>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xmlns:a="http://schemas.openxmlformats.org/drawingml/2006/main">
              <a:ext uri="{FF2B5EF4-FFF2-40B4-BE49-F238E27FC236}">
                <a16:creationId xmlns:a16="http://schemas.microsoft.com/office/drawing/2014/main" id="{5736C7D4-2035-4552-92AF-07B779DE35AF}"/>
              </a:ext>
            </a:extLst>
          </p:cNvPr>
          <p:cNvSpPr>
            <a:spLocks xmlns:a="http://schemas.openxmlformats.org/drawingml/2006/main" noGrp="1"/>
          </p:cNvSpPr>
          <p:nvPr/>
        </p:nvSpPr>
        <p:spPr>
          <a:xfrm xmlns:a="http://schemas.openxmlformats.org/drawingml/2006/main">
            <a:off x="1426464" y="4093667"/>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xmlns:a="http://schemas.openxmlformats.org/drawingml/2006/main">
              <a:ext uri="{FF2B5EF4-FFF2-40B4-BE49-F238E27FC236}">
                <a16:creationId xmlns:a16="http://schemas.microsoft.com/office/drawing/2014/main" id="{6171DA4D-EC31-46B8-8933-8FDBEF20E69D}"/>
              </a:ext>
            </a:extLst>
          </p:cNvPr>
          <p:cNvSpPr>
            <a:spLocks xmlns:a="http://schemas.openxmlformats.org/drawingml/2006/main" noGrp="1"/>
          </p:cNvSpPr>
          <p:nvPr/>
        </p:nvSpPr>
        <p:spPr>
          <a:xfrm xmlns:a="http://schemas.openxmlformats.org/drawingml/2006/main">
            <a:off x="1426464" y="4358843"/>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xmlns:a="http://schemas.openxmlformats.org/drawingml/2006/main">
              <a:ext uri="{FF2B5EF4-FFF2-40B4-BE49-F238E27FC236}">
                <a16:creationId xmlns:a16="http://schemas.microsoft.com/office/drawing/2014/main" id="{E2E97212-C405-4666-A760-5F666393EB7A}"/>
              </a:ext>
            </a:extLst>
          </p:cNvPr>
          <p:cNvSpPr>
            <a:spLocks xmlns:a="http://schemas.openxmlformats.org/drawingml/2006/main" noGrp="1"/>
          </p:cNvSpPr>
          <p:nvPr/>
        </p:nvSpPr>
        <p:spPr>
          <a:xfrm xmlns:a="http://schemas.openxmlformats.org/drawingml/2006/main">
            <a:off x="896112" y="4834331"/>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5B0274D2-88AD-45E6-978C-FAF32FE11228}"/>
              </a:ext>
            </a:extLst>
          </p:cNvPr>
          <p:cNvSpPr>
            <a:spLocks xmlns:a="http://schemas.openxmlformats.org/drawingml/2006/main" noGrp="1"/>
          </p:cNvSpPr>
          <p:nvPr/>
        </p:nvSpPr>
        <p:spPr>
          <a:xfrm xmlns:a="http://schemas.openxmlformats.org/drawingml/2006/main">
            <a:off x="932688" y="4907483"/>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xmlns:a="http://schemas.openxmlformats.org/drawingml/2006/main">
              <a:ext uri="{FF2B5EF4-FFF2-40B4-BE49-F238E27FC236}">
                <a16:creationId xmlns:a16="http://schemas.microsoft.com/office/drawing/2014/main" id="{B07195D3-0AF3-4C79-B939-C94D6B45091D}"/>
              </a:ext>
            </a:extLst>
          </p:cNvPr>
          <p:cNvSpPr>
            <a:spLocks xmlns:a="http://schemas.openxmlformats.org/drawingml/2006/main" noGrp="1"/>
          </p:cNvSpPr>
          <p:nvPr/>
        </p:nvSpPr>
        <p:spPr>
          <a:xfrm xmlns:a="http://schemas.openxmlformats.org/drawingml/2006/main">
            <a:off x="1426464" y="4825187"/>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xmlns:a="http://schemas.openxmlformats.org/drawingml/2006/main">
              <a:ext uri="{FF2B5EF4-FFF2-40B4-BE49-F238E27FC236}">
                <a16:creationId xmlns:a16="http://schemas.microsoft.com/office/drawing/2014/main" id="{85E39F14-A8C0-4769-87B1-B058A6B2CA46}"/>
              </a:ext>
            </a:extLst>
          </p:cNvPr>
          <p:cNvSpPr>
            <a:spLocks xmlns:a="http://schemas.openxmlformats.org/drawingml/2006/main" noGrp="1"/>
          </p:cNvSpPr>
          <p:nvPr/>
        </p:nvSpPr>
        <p:spPr>
          <a:xfrm xmlns:a="http://schemas.openxmlformats.org/drawingml/2006/main">
            <a:off x="1426464" y="5090363"/>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xmlns:a="http://schemas.openxmlformats.org/drawingml/2006/main">
              <a:ext uri="{FF2B5EF4-FFF2-40B4-BE49-F238E27FC236}">
                <a16:creationId xmlns:a16="http://schemas.microsoft.com/office/drawing/2014/main" id="{FD51EC53-17DF-4D40-80D7-2125471ACD26}"/>
              </a:ext>
            </a:extLst>
          </p:cNvPr>
          <p:cNvSpPr>
            <a:spLocks xmlns:a="http://schemas.openxmlformats.org/drawingml/2006/main" noGrp="1"/>
          </p:cNvSpPr>
          <p:nvPr/>
        </p:nvSpPr>
        <p:spPr>
          <a:xfrm xmlns:a="http://schemas.openxmlformats.org/drawingml/2006/main">
            <a:off x="896112" y="5474411"/>
            <a:ext cx="4828032" cy="2560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74DE4D49-467D-4B7D-9F80-30601359881A}"/>
              </a:ext>
            </a:extLst>
          </p:cNvPr>
          <p:cNvSpPr>
            <a:spLocks xmlns:a="http://schemas.openxmlformats.org/drawingml/2006/main" noGrp="1"/>
          </p:cNvSpPr>
          <p:nvPr/>
        </p:nvSpPr>
        <p:spPr>
          <a:xfrm xmlns:a="http://schemas.openxmlformats.org/drawingml/2006/main">
            <a:off x="1005840" y="5529275"/>
            <a:ext cx="4608576"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xmlns:a="http://schemas.openxmlformats.org/drawingml/2006/main">
              <a:ext uri="{FF2B5EF4-FFF2-40B4-BE49-F238E27FC236}">
                <a16:creationId xmlns:a16="http://schemas.microsoft.com/office/drawing/2014/main" id="{7D7384FB-D376-4FA3-8A4E-91DC64A3556D}"/>
              </a:ext>
            </a:extLst>
          </p:cNvPr>
          <p:cNvSpPr>
            <a:spLocks xmlns:a="http://schemas.openxmlformats.org/drawingml/2006/main" noGrp="1"/>
          </p:cNvSpPr>
          <p:nvPr/>
        </p:nvSpPr>
        <p:spPr>
          <a:xfrm xmlns:a="http://schemas.openxmlformats.org/drawingml/2006/main">
            <a:off x="6172200" y="2639771"/>
            <a:ext cx="5413248" cy="321868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D3C55418-6D23-4352-AAEC-A0063E0B35DA}"/>
              </a:ext>
            </a:extLst>
          </p:cNvPr>
          <p:cNvSpPr>
            <a:spLocks xmlns:a="http://schemas.openxmlformats.org/drawingml/2006/main" noGrp="1"/>
          </p:cNvSpPr>
          <p:nvPr/>
        </p:nvSpPr>
        <p:spPr>
          <a:xfrm xmlns:a="http://schemas.openxmlformats.org/drawingml/2006/main">
            <a:off x="6446520" y="2923235"/>
            <a:ext cx="64008" cy="283464"/>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212F5AD5-3BB0-487B-A4D6-9676B5C188F7}"/>
              </a:ext>
            </a:extLst>
          </p:cNvPr>
          <p:cNvSpPr>
            <a:spLocks xmlns:a="http://schemas.openxmlformats.org/drawingml/2006/main" noGrp="1"/>
          </p:cNvSpPr>
          <p:nvPr/>
        </p:nvSpPr>
        <p:spPr>
          <a:xfrm xmlns:a="http://schemas.openxmlformats.org/drawingml/2006/main">
            <a:off x="6592824" y="2895803"/>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xmlns:a="http://schemas.openxmlformats.org/drawingml/2006/main">
              <a:ext uri="{FF2B5EF4-FFF2-40B4-BE49-F238E27FC236}">
                <a16:creationId xmlns:a16="http://schemas.microsoft.com/office/drawing/2014/main" id="{C833B54A-2A24-40FC-A71E-FBA7A97EE97B}"/>
              </a:ext>
            </a:extLst>
          </p:cNvPr>
          <p:cNvSpPr>
            <a:spLocks xmlns:a="http://schemas.openxmlformats.org/drawingml/2006/main" noGrp="1"/>
          </p:cNvSpPr>
          <p:nvPr/>
        </p:nvSpPr>
        <p:spPr>
          <a:xfrm xmlns:a="http://schemas.openxmlformats.org/drawingml/2006/main">
            <a:off x="6455664" y="3407867"/>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0248288B-D890-462D-85C6-E307A88B9A36}"/>
              </a:ext>
            </a:extLst>
          </p:cNvPr>
          <p:cNvSpPr>
            <a:spLocks xmlns:a="http://schemas.openxmlformats.org/drawingml/2006/main" noGrp="1"/>
          </p:cNvSpPr>
          <p:nvPr/>
        </p:nvSpPr>
        <p:spPr>
          <a:xfrm xmlns:a="http://schemas.openxmlformats.org/drawingml/2006/main">
            <a:off x="6547104" y="3490163"/>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xmlns:a="http://schemas.openxmlformats.org/drawingml/2006/main">
              <a:ext uri="{FF2B5EF4-FFF2-40B4-BE49-F238E27FC236}">
                <a16:creationId xmlns:a16="http://schemas.microsoft.com/office/drawing/2014/main" id="{4AFBD91A-E125-4874-80EF-554CA4E0D1D5}"/>
              </a:ext>
            </a:extLst>
          </p:cNvPr>
          <p:cNvSpPr>
            <a:spLocks xmlns:a="http://schemas.openxmlformats.org/drawingml/2006/main" noGrp="1"/>
          </p:cNvSpPr>
          <p:nvPr/>
        </p:nvSpPr>
        <p:spPr>
          <a:xfrm xmlns:a="http://schemas.openxmlformats.org/drawingml/2006/main">
            <a:off x="7772400" y="3481019"/>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xmlns:a="http://schemas.openxmlformats.org/drawingml/2006/main">
              <a:ext uri="{FF2B5EF4-FFF2-40B4-BE49-F238E27FC236}">
                <a16:creationId xmlns:a16="http://schemas.microsoft.com/office/drawing/2014/main" id="{2F568DBE-0F43-4C16-85EC-85624CD1870F}"/>
              </a:ext>
            </a:extLst>
          </p:cNvPr>
          <p:cNvSpPr>
            <a:spLocks xmlns:a="http://schemas.openxmlformats.org/drawingml/2006/main" noGrp="1"/>
          </p:cNvSpPr>
          <p:nvPr/>
        </p:nvSpPr>
        <p:spPr>
          <a:xfrm xmlns:a="http://schemas.openxmlformats.org/drawingml/2006/main">
            <a:off x="6455664" y="3883355"/>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036E5509-D6EA-42C3-8C6F-FB5DEF3D7801}"/>
              </a:ext>
            </a:extLst>
          </p:cNvPr>
          <p:cNvSpPr>
            <a:spLocks xmlns:a="http://schemas.openxmlformats.org/drawingml/2006/main" noGrp="1"/>
          </p:cNvSpPr>
          <p:nvPr/>
        </p:nvSpPr>
        <p:spPr>
          <a:xfrm xmlns:a="http://schemas.openxmlformats.org/drawingml/2006/main">
            <a:off x="6547104" y="3965651"/>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xmlns:a="http://schemas.openxmlformats.org/drawingml/2006/main">
              <a:ext uri="{FF2B5EF4-FFF2-40B4-BE49-F238E27FC236}">
                <a16:creationId xmlns:a16="http://schemas.microsoft.com/office/drawing/2014/main" id="{54AF386C-455F-4CEC-B1B5-26D702D3A9A1}"/>
              </a:ext>
            </a:extLst>
          </p:cNvPr>
          <p:cNvSpPr>
            <a:spLocks xmlns:a="http://schemas.openxmlformats.org/drawingml/2006/main" noGrp="1"/>
          </p:cNvSpPr>
          <p:nvPr/>
        </p:nvSpPr>
        <p:spPr>
          <a:xfrm xmlns:a="http://schemas.openxmlformats.org/drawingml/2006/main">
            <a:off x="7772400" y="3956507"/>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xmlns:a="http://schemas.openxmlformats.org/drawingml/2006/main">
              <a:ext uri="{FF2B5EF4-FFF2-40B4-BE49-F238E27FC236}">
                <a16:creationId xmlns:a16="http://schemas.microsoft.com/office/drawing/2014/main" id="{18B1D105-F4F5-499B-8D9D-146C85FFB287}"/>
              </a:ext>
            </a:extLst>
          </p:cNvPr>
          <p:cNvSpPr>
            <a:spLocks xmlns:a="http://schemas.openxmlformats.org/drawingml/2006/main" noGrp="1"/>
          </p:cNvSpPr>
          <p:nvPr/>
        </p:nvSpPr>
        <p:spPr>
          <a:xfrm xmlns:a="http://schemas.openxmlformats.org/drawingml/2006/main">
            <a:off x="6455664" y="4358843"/>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77E25C2-27B9-44D5-A4AF-032AFFB475AF}"/>
              </a:ext>
            </a:extLst>
          </p:cNvPr>
          <p:cNvSpPr>
            <a:spLocks xmlns:a="http://schemas.openxmlformats.org/drawingml/2006/main" noGrp="1"/>
          </p:cNvSpPr>
          <p:nvPr/>
        </p:nvSpPr>
        <p:spPr>
          <a:xfrm xmlns:a="http://schemas.openxmlformats.org/drawingml/2006/main">
            <a:off x="6547104" y="4441139"/>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xmlns:a="http://schemas.openxmlformats.org/drawingml/2006/main">
              <a:ext uri="{FF2B5EF4-FFF2-40B4-BE49-F238E27FC236}">
                <a16:creationId xmlns:a16="http://schemas.microsoft.com/office/drawing/2014/main" id="{AC14697B-BAA4-4EB2-9A1F-CA4001B9F977}"/>
              </a:ext>
            </a:extLst>
          </p:cNvPr>
          <p:cNvSpPr>
            <a:spLocks xmlns:a="http://schemas.openxmlformats.org/drawingml/2006/main" noGrp="1"/>
          </p:cNvSpPr>
          <p:nvPr/>
        </p:nvSpPr>
        <p:spPr>
          <a:xfrm xmlns:a="http://schemas.openxmlformats.org/drawingml/2006/main">
            <a:off x="7772400" y="4431995"/>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xmlns:a="http://schemas.openxmlformats.org/drawingml/2006/main">
              <a:ext uri="{FF2B5EF4-FFF2-40B4-BE49-F238E27FC236}">
                <a16:creationId xmlns:a16="http://schemas.microsoft.com/office/drawing/2014/main" id="{81D51346-4628-40F8-98C3-7606F98BEA29}"/>
              </a:ext>
            </a:extLst>
          </p:cNvPr>
          <p:cNvSpPr>
            <a:spLocks xmlns:a="http://schemas.openxmlformats.org/drawingml/2006/main" noGrp="1"/>
          </p:cNvSpPr>
          <p:nvPr/>
        </p:nvSpPr>
        <p:spPr>
          <a:xfrm xmlns:a="http://schemas.openxmlformats.org/drawingml/2006/main">
            <a:off x="8558784" y="4779467"/>
            <a:ext cx="640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xmlns:a="http://schemas.openxmlformats.org/drawingml/2006/main">
              <a:ext uri="{FF2B5EF4-FFF2-40B4-BE49-F238E27FC236}">
                <a16:creationId xmlns:a16="http://schemas.microsoft.com/office/drawing/2014/main" id="{CF1142D9-79EE-4554-A4E0-4F56775D72D0}"/>
              </a:ext>
            </a:extLst>
          </p:cNvPr>
          <p:cNvSpPr>
            <a:spLocks xmlns:a="http://schemas.openxmlformats.org/drawingml/2006/main" noGrp="1"/>
          </p:cNvSpPr>
          <p:nvPr/>
        </p:nvSpPr>
        <p:spPr>
          <a:xfrm xmlns:a="http://schemas.openxmlformats.org/drawingml/2006/main">
            <a:off x="6473952" y="5116490"/>
            <a:ext cx="4809744"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C42809C4-8FDF-4405-A450-1394492DD9DB}"/>
              </a:ext>
            </a:extLst>
          </p:cNvPr>
          <p:cNvSpPr>
            <a:spLocks xmlns:a="http://schemas.openxmlformats.org/drawingml/2006/main" noGrp="1"/>
          </p:cNvSpPr>
          <p:nvPr/>
        </p:nvSpPr>
        <p:spPr>
          <a:xfrm xmlns:a="http://schemas.openxmlformats.org/drawingml/2006/main">
            <a:off x="6656832" y="5262794"/>
            <a:ext cx="44439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B453143-B114-4286-963B-B60E1F13106E}"/>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xmlns:a="http://schemas.openxmlformats.org/drawingml/2006/main">
              <a:ext uri="{FF2B5EF4-FFF2-40B4-BE49-F238E27FC236}">
                <a16:creationId xmlns:a16="http://schemas.microsoft.com/office/drawing/2014/main" id="{00B92CF1-041B-48A9-9F2B-1D4B3D840791}"/>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xmlns:a="http://schemas.openxmlformats.org/drawingml/2006/main">
              <a:ext uri="{FF2B5EF4-FFF2-40B4-BE49-F238E27FC236}">
                <a16:creationId xmlns:a16="http://schemas.microsoft.com/office/drawing/2014/main" id="{8F8DFE99-15B0-4AD0-B8BD-DD4144C10CB2}"/>
              </a:ext>
            </a:extLst>
          </p:cNvPr>
          <p:cNvSpPr>
            <a:spLocks xmlns:a="http://schemas.openxmlformats.org/drawingml/2006/main" noGrp="1"/>
          </p:cNvSpPr>
          <p:nvPr/>
        </p:nvSpPr>
        <p:spPr>
          <a:xfrm xmlns:a="http://schemas.openxmlformats.org/drawingml/2006/main">
            <a:off x="603504" y="1134548"/>
            <a:ext cx="2029968" cy="1042415"/>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96CC436-7D92-4989-8C7D-6F150120999E}"/>
              </a:ext>
            </a:extLst>
          </p:cNvPr>
          <p:cNvSpPr>
            <a:spLocks xmlns:a="http://schemas.openxmlformats.org/drawingml/2006/main" noGrp="1"/>
          </p:cNvSpPr>
          <p:nvPr/>
        </p:nvSpPr>
        <p:spPr>
          <a:xfrm xmlns:a="http://schemas.openxmlformats.org/drawingml/2006/main">
            <a:off x="768096"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xmlns:a="http://schemas.openxmlformats.org/drawingml/2006/main">
              <a:ext uri="{FF2B5EF4-FFF2-40B4-BE49-F238E27FC236}">
                <a16:creationId xmlns:a16="http://schemas.microsoft.com/office/drawing/2014/main" id="{8A82ECB7-407D-40A6-A935-1A410D12F99E}"/>
              </a:ext>
            </a:extLst>
          </p:cNvPr>
          <p:cNvSpPr>
            <a:spLocks xmlns:a="http://schemas.openxmlformats.org/drawingml/2006/main" noGrp="1"/>
          </p:cNvSpPr>
          <p:nvPr/>
        </p:nvSpPr>
        <p:spPr>
          <a:xfrm xmlns:a="http://schemas.openxmlformats.org/drawingml/2006/main">
            <a:off x="1408176" y="1308284"/>
            <a:ext cx="1069848"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xmlns:a="http://schemas.openxmlformats.org/drawingml/2006/main">
              <a:ext uri="{FF2B5EF4-FFF2-40B4-BE49-F238E27FC236}">
                <a16:creationId xmlns:a16="http://schemas.microsoft.com/office/drawing/2014/main" id="{A2B1E95F-AD75-4D02-A1AB-E953465AEF70}"/>
              </a:ext>
            </a:extLst>
          </p:cNvPr>
          <p:cNvSpPr>
            <a:spLocks xmlns:a="http://schemas.openxmlformats.org/drawingml/2006/main" noGrp="1"/>
          </p:cNvSpPr>
          <p:nvPr/>
        </p:nvSpPr>
        <p:spPr>
          <a:xfrm xmlns:a="http://schemas.openxmlformats.org/drawingml/2006/main">
            <a:off x="1408176" y="1628324"/>
            <a:ext cx="10698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xmlns:a="http://schemas.openxmlformats.org/drawingml/2006/main">
              <a:ext uri="{FF2B5EF4-FFF2-40B4-BE49-F238E27FC236}">
                <a16:creationId xmlns:a16="http://schemas.microsoft.com/office/drawing/2014/main" id="{1431877B-7942-4330-AA1D-D8F2E271D1A8}"/>
              </a:ext>
            </a:extLst>
          </p:cNvPr>
          <p:cNvSpPr>
            <a:spLocks xmlns:a="http://schemas.openxmlformats.org/drawingml/2006/main" noGrp="1"/>
          </p:cNvSpPr>
          <p:nvPr/>
        </p:nvSpPr>
        <p:spPr>
          <a:xfrm xmlns:a="http://schemas.openxmlformats.org/drawingml/2006/main">
            <a:off x="2724912"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xmlns:a="http://schemas.openxmlformats.org/drawingml/2006/main">
              <a:ext uri="{FF2B5EF4-FFF2-40B4-BE49-F238E27FC236}">
                <a16:creationId xmlns:a16="http://schemas.microsoft.com/office/drawing/2014/main" id="{35BBD3CD-DEF6-4352-9ADC-C0E86905865E}"/>
              </a:ext>
            </a:extLst>
          </p:cNvPr>
          <p:cNvSpPr>
            <a:spLocks xmlns:a="http://schemas.openxmlformats.org/drawingml/2006/main" noGrp="1"/>
          </p:cNvSpPr>
          <p:nvPr/>
        </p:nvSpPr>
        <p:spPr>
          <a:xfrm xmlns:a="http://schemas.openxmlformats.org/drawingml/2006/main">
            <a:off x="3200400" y="1134548"/>
            <a:ext cx="2542032" cy="1042415"/>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10764ED-0D24-49E4-AC0E-6E83A96A1D22}"/>
              </a:ext>
            </a:extLst>
          </p:cNvPr>
          <p:cNvSpPr>
            <a:spLocks xmlns:a="http://schemas.openxmlformats.org/drawingml/2006/main" noGrp="1"/>
          </p:cNvSpPr>
          <p:nvPr/>
        </p:nvSpPr>
        <p:spPr>
          <a:xfrm xmlns:a="http://schemas.openxmlformats.org/drawingml/2006/main">
            <a:off x="3364992"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xmlns:a="http://schemas.openxmlformats.org/drawingml/2006/main">
              <a:ext uri="{FF2B5EF4-FFF2-40B4-BE49-F238E27FC236}">
                <a16:creationId xmlns:a16="http://schemas.microsoft.com/office/drawing/2014/main" id="{D925246A-A4C6-4FA4-847E-0D5ABF59052E}"/>
              </a:ext>
            </a:extLst>
          </p:cNvPr>
          <p:cNvSpPr>
            <a:spLocks xmlns:a="http://schemas.openxmlformats.org/drawingml/2006/main" noGrp="1"/>
          </p:cNvSpPr>
          <p:nvPr/>
        </p:nvSpPr>
        <p:spPr>
          <a:xfrm xmlns:a="http://schemas.openxmlformats.org/drawingml/2006/main">
            <a:off x="4005072" y="1308284"/>
            <a:ext cx="1581911"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xmlns:a="http://schemas.openxmlformats.org/drawingml/2006/main">
              <a:ext uri="{FF2B5EF4-FFF2-40B4-BE49-F238E27FC236}">
                <a16:creationId xmlns:a16="http://schemas.microsoft.com/office/drawing/2014/main" id="{6C7A4290-E4A9-4AE0-A569-E41B00922F9B}"/>
              </a:ext>
            </a:extLst>
          </p:cNvPr>
          <p:cNvSpPr>
            <a:spLocks xmlns:a="http://schemas.openxmlformats.org/drawingml/2006/main" noGrp="1"/>
          </p:cNvSpPr>
          <p:nvPr/>
        </p:nvSpPr>
        <p:spPr>
          <a:xfrm xmlns:a="http://schemas.openxmlformats.org/drawingml/2006/main">
            <a:off x="4005072" y="1628324"/>
            <a:ext cx="1581911"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xmlns:a="http://schemas.openxmlformats.org/drawingml/2006/main">
              <a:ext uri="{FF2B5EF4-FFF2-40B4-BE49-F238E27FC236}">
                <a16:creationId xmlns:a16="http://schemas.microsoft.com/office/drawing/2014/main" id="{AE44AE31-1C47-4592-84C3-1865FC46D572}"/>
              </a:ext>
            </a:extLst>
          </p:cNvPr>
          <p:cNvSpPr>
            <a:spLocks xmlns:a="http://schemas.openxmlformats.org/drawingml/2006/main" noGrp="1"/>
          </p:cNvSpPr>
          <p:nvPr/>
        </p:nvSpPr>
        <p:spPr>
          <a:xfrm xmlns:a="http://schemas.openxmlformats.org/drawingml/2006/main">
            <a:off x="5833872"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xmlns:a="http://schemas.openxmlformats.org/drawingml/2006/main">
              <a:ext uri="{FF2B5EF4-FFF2-40B4-BE49-F238E27FC236}">
                <a16:creationId xmlns:a16="http://schemas.microsoft.com/office/drawing/2014/main" id="{4A65B7AF-CB5C-43C3-8CA1-C66BA5F7BB03}"/>
              </a:ext>
            </a:extLst>
          </p:cNvPr>
          <p:cNvSpPr>
            <a:spLocks xmlns:a="http://schemas.openxmlformats.org/drawingml/2006/main" noGrp="1"/>
          </p:cNvSpPr>
          <p:nvPr/>
        </p:nvSpPr>
        <p:spPr>
          <a:xfrm xmlns:a="http://schemas.openxmlformats.org/drawingml/2006/main">
            <a:off x="6309360" y="1134548"/>
            <a:ext cx="2121408" cy="1042415"/>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47D5A70-7BA9-4192-8B5D-9889D220F1BA}"/>
              </a:ext>
            </a:extLst>
          </p:cNvPr>
          <p:cNvSpPr>
            <a:spLocks xmlns:a="http://schemas.openxmlformats.org/drawingml/2006/main" noGrp="1"/>
          </p:cNvSpPr>
          <p:nvPr/>
        </p:nvSpPr>
        <p:spPr>
          <a:xfrm xmlns:a="http://schemas.openxmlformats.org/drawingml/2006/main">
            <a:off x="6473952"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xmlns:a="http://schemas.openxmlformats.org/drawingml/2006/main">
              <a:ext uri="{FF2B5EF4-FFF2-40B4-BE49-F238E27FC236}">
                <a16:creationId xmlns:a16="http://schemas.microsoft.com/office/drawing/2014/main" id="{0F52C426-33FB-46C6-BDF1-EC028753A731}"/>
              </a:ext>
            </a:extLst>
          </p:cNvPr>
          <p:cNvSpPr>
            <a:spLocks xmlns:a="http://schemas.openxmlformats.org/drawingml/2006/main" noGrp="1"/>
          </p:cNvSpPr>
          <p:nvPr/>
        </p:nvSpPr>
        <p:spPr>
          <a:xfrm xmlns:a="http://schemas.openxmlformats.org/drawingml/2006/main">
            <a:off x="7114032" y="1308284"/>
            <a:ext cx="1161287"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xmlns:a="http://schemas.openxmlformats.org/drawingml/2006/main">
              <a:ext uri="{FF2B5EF4-FFF2-40B4-BE49-F238E27FC236}">
                <a16:creationId xmlns:a16="http://schemas.microsoft.com/office/drawing/2014/main" id="{59907BBC-FFB6-4080-BC97-1947882A4001}"/>
              </a:ext>
            </a:extLst>
          </p:cNvPr>
          <p:cNvSpPr>
            <a:spLocks xmlns:a="http://schemas.openxmlformats.org/drawingml/2006/main" noGrp="1"/>
          </p:cNvSpPr>
          <p:nvPr/>
        </p:nvSpPr>
        <p:spPr>
          <a:xfrm xmlns:a="http://schemas.openxmlformats.org/drawingml/2006/main">
            <a:off x="7114032" y="1628324"/>
            <a:ext cx="1161287"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xmlns:a="http://schemas.openxmlformats.org/drawingml/2006/main">
              <a:ext uri="{FF2B5EF4-FFF2-40B4-BE49-F238E27FC236}">
                <a16:creationId xmlns:a16="http://schemas.microsoft.com/office/drawing/2014/main" id="{D98D2DB5-3A0E-4623-B0B8-FA5465C503C1}"/>
              </a:ext>
            </a:extLst>
          </p:cNvPr>
          <p:cNvSpPr>
            <a:spLocks xmlns:a="http://schemas.openxmlformats.org/drawingml/2006/main" noGrp="1"/>
          </p:cNvSpPr>
          <p:nvPr/>
        </p:nvSpPr>
        <p:spPr>
          <a:xfrm xmlns:a="http://schemas.openxmlformats.org/drawingml/2006/main">
            <a:off x="8522208"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xmlns:a="http://schemas.openxmlformats.org/drawingml/2006/main">
              <a:ext uri="{FF2B5EF4-FFF2-40B4-BE49-F238E27FC236}">
                <a16:creationId xmlns:a16="http://schemas.microsoft.com/office/drawing/2014/main" id="{EB94EC70-314C-4BA8-95D7-349F2F373427}"/>
              </a:ext>
            </a:extLst>
          </p:cNvPr>
          <p:cNvSpPr>
            <a:spLocks xmlns:a="http://schemas.openxmlformats.org/drawingml/2006/main" noGrp="1"/>
          </p:cNvSpPr>
          <p:nvPr/>
        </p:nvSpPr>
        <p:spPr>
          <a:xfrm xmlns:a="http://schemas.openxmlformats.org/drawingml/2006/main">
            <a:off x="8997696" y="1134548"/>
            <a:ext cx="2587752" cy="1042415"/>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66134D-FCEE-4C41-9D80-037CE574FA56}"/>
              </a:ext>
            </a:extLst>
          </p:cNvPr>
          <p:cNvSpPr>
            <a:spLocks xmlns:a="http://schemas.openxmlformats.org/drawingml/2006/main" noGrp="1"/>
          </p:cNvSpPr>
          <p:nvPr/>
        </p:nvSpPr>
        <p:spPr>
          <a:xfrm xmlns:a="http://schemas.openxmlformats.org/drawingml/2006/main">
            <a:off x="9162288"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xmlns:a="http://schemas.openxmlformats.org/drawingml/2006/main">
              <a:ext uri="{FF2B5EF4-FFF2-40B4-BE49-F238E27FC236}">
                <a16:creationId xmlns:a16="http://schemas.microsoft.com/office/drawing/2014/main" id="{BC64DA88-8BB9-43CD-A70B-6AA5550C15DE}"/>
              </a:ext>
            </a:extLst>
          </p:cNvPr>
          <p:cNvSpPr>
            <a:spLocks xmlns:a="http://schemas.openxmlformats.org/drawingml/2006/main" noGrp="1"/>
          </p:cNvSpPr>
          <p:nvPr/>
        </p:nvSpPr>
        <p:spPr>
          <a:xfrm xmlns:a="http://schemas.openxmlformats.org/drawingml/2006/main">
            <a:off x="9802368" y="1308284"/>
            <a:ext cx="16276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xmlns:a="http://schemas.openxmlformats.org/drawingml/2006/main">
              <a:ext uri="{FF2B5EF4-FFF2-40B4-BE49-F238E27FC236}">
                <a16:creationId xmlns:a16="http://schemas.microsoft.com/office/drawing/2014/main" id="{CBBD629D-ADE0-46F7-A435-73FFBE662FDB}"/>
              </a:ext>
            </a:extLst>
          </p:cNvPr>
          <p:cNvSpPr>
            <a:spLocks xmlns:a="http://schemas.openxmlformats.org/drawingml/2006/main" noGrp="1"/>
          </p:cNvSpPr>
          <p:nvPr/>
        </p:nvSpPr>
        <p:spPr>
          <a:xfrm xmlns:a="http://schemas.openxmlformats.org/drawingml/2006/main">
            <a:off x="9802368" y="1628324"/>
            <a:ext cx="1627632"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xmlns:a="http://schemas.openxmlformats.org/drawingml/2006/main">
              <a:ext uri="{FF2B5EF4-FFF2-40B4-BE49-F238E27FC236}">
                <a16:creationId xmlns:a16="http://schemas.microsoft.com/office/drawing/2014/main" id="{B494B280-69DC-4470-9F05-DC79C8BCD8ED}"/>
              </a:ext>
            </a:extLst>
          </p:cNvPr>
          <p:cNvSpPr>
            <a:spLocks xmlns:a="http://schemas.openxmlformats.org/drawingml/2006/main" noGrp="1"/>
          </p:cNvSpPr>
          <p:nvPr/>
        </p:nvSpPr>
        <p:spPr>
          <a:xfrm xmlns:a="http://schemas.openxmlformats.org/drawingml/2006/main">
            <a:off x="603504" y="2487860"/>
            <a:ext cx="5422392" cy="288950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5DA32A0B-167A-47CC-85FD-83F23A6AFD1E}"/>
              </a:ext>
            </a:extLst>
          </p:cNvPr>
          <p:cNvSpPr>
            <a:spLocks xmlns:a="http://schemas.openxmlformats.org/drawingml/2006/main" noGrp="1"/>
          </p:cNvSpPr>
          <p:nvPr/>
        </p:nvSpPr>
        <p:spPr>
          <a:xfrm xmlns:a="http://schemas.openxmlformats.org/drawingml/2006/main">
            <a:off x="877824" y="2771324"/>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04FEA757-4833-4D66-A8E3-ED58955CE4E2}"/>
              </a:ext>
            </a:extLst>
          </p:cNvPr>
          <p:cNvSpPr>
            <a:spLocks xmlns:a="http://schemas.openxmlformats.org/drawingml/2006/main" noGrp="1"/>
          </p:cNvSpPr>
          <p:nvPr/>
        </p:nvSpPr>
        <p:spPr>
          <a:xfrm xmlns:a="http://schemas.openxmlformats.org/drawingml/2006/main">
            <a:off x="1024127" y="2743892"/>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xmlns:a="http://schemas.openxmlformats.org/drawingml/2006/main">
              <a:ext uri="{FF2B5EF4-FFF2-40B4-BE49-F238E27FC236}">
                <a16:creationId xmlns:a16="http://schemas.microsoft.com/office/drawing/2014/main" id="{5B63075E-CC09-4D81-B8B3-08C85EEAA6A9}"/>
              </a:ext>
            </a:extLst>
          </p:cNvPr>
          <p:cNvSpPr>
            <a:spLocks xmlns:a="http://schemas.openxmlformats.org/drawingml/2006/main" noGrp="1"/>
          </p:cNvSpPr>
          <p:nvPr/>
        </p:nvSpPr>
        <p:spPr>
          <a:xfrm xmlns:a="http://schemas.openxmlformats.org/drawingml/2006/main">
            <a:off x="896112" y="3383972"/>
            <a:ext cx="7863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xmlns:a="http://schemas.openxmlformats.org/drawingml/2006/main">
              <a:ext uri="{FF2B5EF4-FFF2-40B4-BE49-F238E27FC236}">
                <a16:creationId xmlns:a16="http://schemas.microsoft.com/office/drawing/2014/main" id="{589BB5D0-CCAD-42B8-9BE6-E9E82F4819E6}"/>
              </a:ext>
            </a:extLst>
          </p:cNvPr>
          <p:cNvSpPr>
            <a:spLocks xmlns:a="http://schemas.openxmlformats.org/drawingml/2006/main" noGrp="1"/>
          </p:cNvSpPr>
          <p:nvPr/>
        </p:nvSpPr>
        <p:spPr>
          <a:xfrm xmlns:a="http://schemas.openxmlformats.org/drawingml/2006/main">
            <a:off x="896112" y="4005763"/>
            <a:ext cx="7863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xmlns:a="http://schemas.openxmlformats.org/drawingml/2006/main">
              <a:ext uri="{FF2B5EF4-FFF2-40B4-BE49-F238E27FC236}">
                <a16:creationId xmlns:a16="http://schemas.microsoft.com/office/drawing/2014/main" id="{BA674D85-7891-4E55-BFD8-0A44638823AE}"/>
              </a:ext>
            </a:extLst>
          </p:cNvPr>
          <p:cNvSpPr>
            <a:spLocks xmlns:a="http://schemas.openxmlformats.org/drawingml/2006/main" noGrp="1"/>
          </p:cNvSpPr>
          <p:nvPr/>
        </p:nvSpPr>
        <p:spPr>
          <a:xfrm xmlns:a="http://schemas.openxmlformats.org/drawingml/2006/main">
            <a:off x="17007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F03F4139-214F-4285-9BA1-A595E003B025}"/>
              </a:ext>
            </a:extLst>
          </p:cNvPr>
          <p:cNvSpPr>
            <a:spLocks xmlns:a="http://schemas.openxmlformats.org/drawingml/2006/main" noGrp="1"/>
          </p:cNvSpPr>
          <p:nvPr/>
        </p:nvSpPr>
        <p:spPr>
          <a:xfrm xmlns:a="http://schemas.openxmlformats.org/drawingml/2006/main">
            <a:off x="17739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xmlns:a="http://schemas.openxmlformats.org/drawingml/2006/main">
              <a:ext uri="{FF2B5EF4-FFF2-40B4-BE49-F238E27FC236}">
                <a16:creationId xmlns:a16="http://schemas.microsoft.com/office/drawing/2014/main" id="{002F3515-4D2F-4F16-BF98-13BD06D63850}"/>
              </a:ext>
            </a:extLst>
          </p:cNvPr>
          <p:cNvSpPr>
            <a:spLocks xmlns:a="http://schemas.openxmlformats.org/drawingml/2006/main" noGrp="1"/>
          </p:cNvSpPr>
          <p:nvPr/>
        </p:nvSpPr>
        <p:spPr>
          <a:xfrm xmlns:a="http://schemas.openxmlformats.org/drawingml/2006/main">
            <a:off x="17007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1C36D793-3530-42C0-8140-1E7A28CF30C4}"/>
              </a:ext>
            </a:extLst>
          </p:cNvPr>
          <p:cNvSpPr>
            <a:spLocks xmlns:a="http://schemas.openxmlformats.org/drawingml/2006/main" noGrp="1"/>
          </p:cNvSpPr>
          <p:nvPr/>
        </p:nvSpPr>
        <p:spPr>
          <a:xfrm xmlns:a="http://schemas.openxmlformats.org/drawingml/2006/main">
            <a:off x="17739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xmlns:a="http://schemas.openxmlformats.org/drawingml/2006/main">
              <a:ext uri="{FF2B5EF4-FFF2-40B4-BE49-F238E27FC236}">
                <a16:creationId xmlns:a16="http://schemas.microsoft.com/office/drawing/2014/main" id="{9C1A7CE5-E1A6-40B0-B8BD-4266BF069827}"/>
              </a:ext>
            </a:extLst>
          </p:cNvPr>
          <p:cNvSpPr>
            <a:spLocks xmlns:a="http://schemas.openxmlformats.org/drawingml/2006/main" noGrp="1"/>
          </p:cNvSpPr>
          <p:nvPr/>
        </p:nvSpPr>
        <p:spPr>
          <a:xfrm xmlns:a="http://schemas.openxmlformats.org/drawingml/2006/main">
            <a:off x="30723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4925B471-BF86-42D8-8276-2FF6DDDDBB18}"/>
              </a:ext>
            </a:extLst>
          </p:cNvPr>
          <p:cNvSpPr>
            <a:spLocks xmlns:a="http://schemas.openxmlformats.org/drawingml/2006/main" noGrp="1"/>
          </p:cNvSpPr>
          <p:nvPr/>
        </p:nvSpPr>
        <p:spPr>
          <a:xfrm xmlns:a="http://schemas.openxmlformats.org/drawingml/2006/main">
            <a:off x="31455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xmlns:a="http://schemas.openxmlformats.org/drawingml/2006/main">
              <a:ext uri="{FF2B5EF4-FFF2-40B4-BE49-F238E27FC236}">
                <a16:creationId xmlns:a16="http://schemas.microsoft.com/office/drawing/2014/main" id="{F2142C82-5F53-493A-BE90-4BA2F922B9AD}"/>
              </a:ext>
            </a:extLst>
          </p:cNvPr>
          <p:cNvSpPr>
            <a:spLocks xmlns:a="http://schemas.openxmlformats.org/drawingml/2006/main" noGrp="1"/>
          </p:cNvSpPr>
          <p:nvPr/>
        </p:nvSpPr>
        <p:spPr>
          <a:xfrm xmlns:a="http://schemas.openxmlformats.org/drawingml/2006/main">
            <a:off x="30723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E990F137-911D-407D-95C3-9DCF01FCABAB}"/>
              </a:ext>
            </a:extLst>
          </p:cNvPr>
          <p:cNvSpPr>
            <a:spLocks xmlns:a="http://schemas.openxmlformats.org/drawingml/2006/main" noGrp="1"/>
          </p:cNvSpPr>
          <p:nvPr/>
        </p:nvSpPr>
        <p:spPr>
          <a:xfrm xmlns:a="http://schemas.openxmlformats.org/drawingml/2006/main">
            <a:off x="31455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xmlns:a="http://schemas.openxmlformats.org/drawingml/2006/main">
              <a:ext uri="{FF2B5EF4-FFF2-40B4-BE49-F238E27FC236}">
                <a16:creationId xmlns:a16="http://schemas.microsoft.com/office/drawing/2014/main" id="{6DC4B910-710E-4996-8C48-6BD291CECE0A}"/>
              </a:ext>
            </a:extLst>
          </p:cNvPr>
          <p:cNvSpPr>
            <a:spLocks xmlns:a="http://schemas.openxmlformats.org/drawingml/2006/main" noGrp="1"/>
          </p:cNvSpPr>
          <p:nvPr/>
        </p:nvSpPr>
        <p:spPr>
          <a:xfrm xmlns:a="http://schemas.openxmlformats.org/drawingml/2006/main">
            <a:off x="44439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56E00175-9B35-4406-AF53-796D05AAF164}"/>
              </a:ext>
            </a:extLst>
          </p:cNvPr>
          <p:cNvSpPr>
            <a:spLocks xmlns:a="http://schemas.openxmlformats.org/drawingml/2006/main" noGrp="1"/>
          </p:cNvSpPr>
          <p:nvPr/>
        </p:nvSpPr>
        <p:spPr>
          <a:xfrm xmlns:a="http://schemas.openxmlformats.org/drawingml/2006/main">
            <a:off x="45171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xmlns:a="http://schemas.openxmlformats.org/drawingml/2006/main">
              <a:ext uri="{FF2B5EF4-FFF2-40B4-BE49-F238E27FC236}">
                <a16:creationId xmlns:a16="http://schemas.microsoft.com/office/drawing/2014/main" id="{325485EA-C4E4-4B5A-B1CA-7462544B97C6}"/>
              </a:ext>
            </a:extLst>
          </p:cNvPr>
          <p:cNvSpPr>
            <a:spLocks xmlns:a="http://schemas.openxmlformats.org/drawingml/2006/main" noGrp="1"/>
          </p:cNvSpPr>
          <p:nvPr/>
        </p:nvSpPr>
        <p:spPr>
          <a:xfrm xmlns:a="http://schemas.openxmlformats.org/drawingml/2006/main">
            <a:off x="44439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F714AAAA-B4A9-43AD-A0E4-351E14DE3F41}"/>
              </a:ext>
            </a:extLst>
          </p:cNvPr>
          <p:cNvSpPr>
            <a:spLocks xmlns:a="http://schemas.openxmlformats.org/drawingml/2006/main" noGrp="1"/>
          </p:cNvSpPr>
          <p:nvPr/>
        </p:nvSpPr>
        <p:spPr>
          <a:xfrm xmlns:a="http://schemas.openxmlformats.org/drawingml/2006/main">
            <a:off x="45171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xmlns:a="http://schemas.openxmlformats.org/drawingml/2006/main">
              <a:ext uri="{FF2B5EF4-FFF2-40B4-BE49-F238E27FC236}">
                <a16:creationId xmlns:a16="http://schemas.microsoft.com/office/drawing/2014/main" id="{13C3DEEE-8B63-4F17-949B-EE21B1731C09}"/>
              </a:ext>
            </a:extLst>
          </p:cNvPr>
          <p:cNvSpPr>
            <a:spLocks xmlns:a="http://schemas.openxmlformats.org/drawingml/2006/main" noGrp="1"/>
          </p:cNvSpPr>
          <p:nvPr/>
        </p:nvSpPr>
        <p:spPr>
          <a:xfrm xmlns:a="http://schemas.openxmlformats.org/drawingml/2006/main">
            <a:off x="896112" y="4664132"/>
            <a:ext cx="4809744"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xmlns:a="http://schemas.openxmlformats.org/drawingml/2006/main">
              <a:ext uri="{FF2B5EF4-FFF2-40B4-BE49-F238E27FC236}">
                <a16:creationId xmlns:a16="http://schemas.microsoft.com/office/drawing/2014/main" id="{6A6C5A5F-CCF6-4E84-841D-077E84133767}"/>
              </a:ext>
            </a:extLst>
          </p:cNvPr>
          <p:cNvSpPr>
            <a:spLocks xmlns:a="http://schemas.openxmlformats.org/drawingml/2006/main" noGrp="1"/>
          </p:cNvSpPr>
          <p:nvPr/>
        </p:nvSpPr>
        <p:spPr>
          <a:xfrm xmlns:a="http://schemas.openxmlformats.org/drawingml/2006/main">
            <a:off x="6172200" y="2487860"/>
            <a:ext cx="5413248" cy="288950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Rectangle 41">
            <a:extLst xmlns:a="http://schemas.openxmlformats.org/drawingml/2006/main">
              <a:ext uri="{FF2B5EF4-FFF2-40B4-BE49-F238E27FC236}">
                <a16:creationId xmlns:a16="http://schemas.microsoft.com/office/drawing/2014/main" id="{F7604787-0199-47D3-9DFF-47AEBCB849D0}"/>
              </a:ext>
            </a:extLst>
          </p:cNvPr>
          <p:cNvSpPr>
            <a:spLocks xmlns:a="http://schemas.openxmlformats.org/drawingml/2006/main" noGrp="1"/>
          </p:cNvSpPr>
          <p:nvPr/>
        </p:nvSpPr>
        <p:spPr>
          <a:xfrm xmlns:a="http://schemas.openxmlformats.org/drawingml/2006/main">
            <a:off x="6446520" y="2771324"/>
            <a:ext cx="64008" cy="283464"/>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3484896B-2FE2-4D4C-8BAF-A6753F03A45A}"/>
              </a:ext>
            </a:extLst>
          </p:cNvPr>
          <p:cNvSpPr>
            <a:spLocks xmlns:a="http://schemas.openxmlformats.org/drawingml/2006/main" noGrp="1"/>
          </p:cNvSpPr>
          <p:nvPr/>
        </p:nvSpPr>
        <p:spPr>
          <a:xfrm xmlns:a="http://schemas.openxmlformats.org/drawingml/2006/main">
            <a:off x="6592824" y="2743892"/>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xmlns:a="http://schemas.openxmlformats.org/drawingml/2006/main">
              <a:ext uri="{FF2B5EF4-FFF2-40B4-BE49-F238E27FC236}">
                <a16:creationId xmlns:a16="http://schemas.microsoft.com/office/drawing/2014/main" id="{06CA765D-3399-4D97-A3AC-C2D9311C7292}"/>
              </a:ext>
            </a:extLst>
          </p:cNvPr>
          <p:cNvSpPr>
            <a:spLocks xmlns:a="http://schemas.openxmlformats.org/drawingml/2006/main" noGrp="1"/>
          </p:cNvSpPr>
          <p:nvPr/>
        </p:nvSpPr>
        <p:spPr>
          <a:xfrm xmlns:a="http://schemas.openxmlformats.org/drawingml/2006/main">
            <a:off x="6446520" y="323766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17D76026-8450-4E92-AE17-B1A278E1E126}"/>
              </a:ext>
            </a:extLst>
          </p:cNvPr>
          <p:cNvSpPr>
            <a:spLocks xmlns:a="http://schemas.openxmlformats.org/drawingml/2006/main" noGrp="1"/>
          </p:cNvSpPr>
          <p:nvPr/>
        </p:nvSpPr>
        <p:spPr>
          <a:xfrm xmlns:a="http://schemas.openxmlformats.org/drawingml/2006/main">
            <a:off x="6556248" y="333825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xmlns:a="http://schemas.openxmlformats.org/drawingml/2006/main">
              <a:ext uri="{FF2B5EF4-FFF2-40B4-BE49-F238E27FC236}">
                <a16:creationId xmlns:a16="http://schemas.microsoft.com/office/drawing/2014/main" id="{4435C50D-673E-4420-9054-2BF44683ADBF}"/>
              </a:ext>
            </a:extLst>
          </p:cNvPr>
          <p:cNvSpPr>
            <a:spLocks xmlns:a="http://schemas.openxmlformats.org/drawingml/2006/main" noGrp="1"/>
          </p:cNvSpPr>
          <p:nvPr/>
        </p:nvSpPr>
        <p:spPr>
          <a:xfrm xmlns:a="http://schemas.openxmlformats.org/drawingml/2006/main">
            <a:off x="6446520" y="374058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7CA50A34-12D6-4C4C-B402-E572FD4A1AE9}"/>
              </a:ext>
            </a:extLst>
          </p:cNvPr>
          <p:cNvSpPr>
            <a:spLocks xmlns:a="http://schemas.openxmlformats.org/drawingml/2006/main" noGrp="1"/>
          </p:cNvSpPr>
          <p:nvPr/>
        </p:nvSpPr>
        <p:spPr>
          <a:xfrm xmlns:a="http://schemas.openxmlformats.org/drawingml/2006/main">
            <a:off x="6556248" y="384117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xmlns:a="http://schemas.openxmlformats.org/drawingml/2006/main">
              <a:ext uri="{FF2B5EF4-FFF2-40B4-BE49-F238E27FC236}">
                <a16:creationId xmlns:a16="http://schemas.microsoft.com/office/drawing/2014/main" id="{6922206C-048C-41CD-9AD0-934269F4B68C}"/>
              </a:ext>
            </a:extLst>
          </p:cNvPr>
          <p:cNvSpPr>
            <a:spLocks xmlns:a="http://schemas.openxmlformats.org/drawingml/2006/main" noGrp="1"/>
          </p:cNvSpPr>
          <p:nvPr/>
        </p:nvSpPr>
        <p:spPr>
          <a:xfrm xmlns:a="http://schemas.openxmlformats.org/drawingml/2006/main">
            <a:off x="6446520" y="424350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22B6329A-8794-4F20-AE32-4E22A22ADBE6}"/>
              </a:ext>
            </a:extLst>
          </p:cNvPr>
          <p:cNvSpPr>
            <a:spLocks xmlns:a="http://schemas.openxmlformats.org/drawingml/2006/main" noGrp="1"/>
          </p:cNvSpPr>
          <p:nvPr/>
        </p:nvSpPr>
        <p:spPr>
          <a:xfrm xmlns:a="http://schemas.openxmlformats.org/drawingml/2006/main">
            <a:off x="6556248" y="434409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xmlns:a="http://schemas.openxmlformats.org/drawingml/2006/main">
              <a:ext uri="{FF2B5EF4-FFF2-40B4-BE49-F238E27FC236}">
                <a16:creationId xmlns:a16="http://schemas.microsoft.com/office/drawing/2014/main" id="{4E37577C-AAD9-4458-8BE2-0DB0FAE4F33A}"/>
              </a:ext>
            </a:extLst>
          </p:cNvPr>
          <p:cNvSpPr>
            <a:spLocks xmlns:a="http://schemas.openxmlformats.org/drawingml/2006/main" noGrp="1"/>
          </p:cNvSpPr>
          <p:nvPr/>
        </p:nvSpPr>
        <p:spPr>
          <a:xfrm xmlns:a="http://schemas.openxmlformats.org/drawingml/2006/main">
            <a:off x="6446520" y="474642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19ECF647-C4C2-4EBE-B7D9-117AB20695EF}"/>
              </a:ext>
            </a:extLst>
          </p:cNvPr>
          <p:cNvSpPr>
            <a:spLocks xmlns:a="http://schemas.openxmlformats.org/drawingml/2006/main" noGrp="1"/>
          </p:cNvSpPr>
          <p:nvPr/>
        </p:nvSpPr>
        <p:spPr>
          <a:xfrm xmlns:a="http://schemas.openxmlformats.org/drawingml/2006/main">
            <a:off x="6556248" y="484701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xmlns:a="http://schemas.openxmlformats.org/drawingml/2006/main">
              <a:ext uri="{FF2B5EF4-FFF2-40B4-BE49-F238E27FC236}">
                <a16:creationId xmlns:a16="http://schemas.microsoft.com/office/drawing/2014/main" id="{99C1AC61-AA6A-4A31-A36B-4D2604F2BF3A}"/>
              </a:ext>
            </a:extLst>
          </p:cNvPr>
          <p:cNvSpPr>
            <a:spLocks xmlns:a="http://schemas.openxmlformats.org/drawingml/2006/main" noGrp="1"/>
          </p:cNvSpPr>
          <p:nvPr/>
        </p:nvSpPr>
        <p:spPr>
          <a:xfrm xmlns:a="http://schemas.openxmlformats.org/drawingml/2006/main">
            <a:off x="8979408" y="323766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8EBFD78F-6A4C-42A4-8988-EBA51CF70B33}"/>
              </a:ext>
            </a:extLst>
          </p:cNvPr>
          <p:cNvSpPr>
            <a:spLocks xmlns:a="http://schemas.openxmlformats.org/drawingml/2006/main" noGrp="1"/>
          </p:cNvSpPr>
          <p:nvPr/>
        </p:nvSpPr>
        <p:spPr>
          <a:xfrm xmlns:a="http://schemas.openxmlformats.org/drawingml/2006/main">
            <a:off x="9089136" y="333825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xmlns:a="http://schemas.openxmlformats.org/drawingml/2006/main">
              <a:ext uri="{FF2B5EF4-FFF2-40B4-BE49-F238E27FC236}">
                <a16:creationId xmlns:a16="http://schemas.microsoft.com/office/drawing/2014/main" id="{5AA63555-0C23-471F-BCAA-992D3B431350}"/>
              </a:ext>
            </a:extLst>
          </p:cNvPr>
          <p:cNvSpPr>
            <a:spLocks xmlns:a="http://schemas.openxmlformats.org/drawingml/2006/main" noGrp="1"/>
          </p:cNvSpPr>
          <p:nvPr/>
        </p:nvSpPr>
        <p:spPr>
          <a:xfrm xmlns:a="http://schemas.openxmlformats.org/drawingml/2006/main">
            <a:off x="8979408" y="374058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B4A771FC-E47D-4201-8C0A-FACABB49166E}"/>
              </a:ext>
            </a:extLst>
          </p:cNvPr>
          <p:cNvSpPr>
            <a:spLocks xmlns:a="http://schemas.openxmlformats.org/drawingml/2006/main" noGrp="1"/>
          </p:cNvSpPr>
          <p:nvPr/>
        </p:nvSpPr>
        <p:spPr>
          <a:xfrm xmlns:a="http://schemas.openxmlformats.org/drawingml/2006/main">
            <a:off x="9089136" y="384117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xmlns:a="http://schemas.openxmlformats.org/drawingml/2006/main">
              <a:ext uri="{FF2B5EF4-FFF2-40B4-BE49-F238E27FC236}">
                <a16:creationId xmlns:a16="http://schemas.microsoft.com/office/drawing/2014/main" id="{8FC98E53-B787-4823-B69B-8F788A089A85}"/>
              </a:ext>
            </a:extLst>
          </p:cNvPr>
          <p:cNvSpPr>
            <a:spLocks xmlns:a="http://schemas.openxmlformats.org/drawingml/2006/main" noGrp="1"/>
          </p:cNvSpPr>
          <p:nvPr/>
        </p:nvSpPr>
        <p:spPr>
          <a:xfrm xmlns:a="http://schemas.openxmlformats.org/drawingml/2006/main">
            <a:off x="8979408" y="424350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735B5593-297E-4656-A489-677258F64C1F}"/>
              </a:ext>
            </a:extLst>
          </p:cNvPr>
          <p:cNvSpPr>
            <a:spLocks xmlns:a="http://schemas.openxmlformats.org/drawingml/2006/main" noGrp="1"/>
          </p:cNvSpPr>
          <p:nvPr/>
        </p:nvSpPr>
        <p:spPr>
          <a:xfrm xmlns:a="http://schemas.openxmlformats.org/drawingml/2006/main">
            <a:off x="9089136" y="434409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xmlns:a="http://schemas.openxmlformats.org/drawingml/2006/main">
              <a:ext uri="{FF2B5EF4-FFF2-40B4-BE49-F238E27FC236}">
                <a16:creationId xmlns:a16="http://schemas.microsoft.com/office/drawing/2014/main" id="{031661F2-BBCE-4BEA-8C61-B69A1AFDD975}"/>
              </a:ext>
            </a:extLst>
          </p:cNvPr>
          <p:cNvSpPr>
            <a:spLocks xmlns:a="http://schemas.openxmlformats.org/drawingml/2006/main" noGrp="1"/>
          </p:cNvSpPr>
          <p:nvPr/>
        </p:nvSpPr>
        <p:spPr>
          <a:xfrm xmlns:a="http://schemas.openxmlformats.org/drawingml/2006/main">
            <a:off x="603504" y="5493303"/>
            <a:ext cx="10981944" cy="60350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9EAEE7F6-4272-41C2-9E39-4B7A20B11B59}"/>
              </a:ext>
            </a:extLst>
          </p:cNvPr>
          <p:cNvSpPr>
            <a:spLocks xmlns:a="http://schemas.openxmlformats.org/drawingml/2006/main" noGrp="1"/>
          </p:cNvSpPr>
          <p:nvPr/>
        </p:nvSpPr>
        <p:spPr>
          <a:xfrm xmlns:a="http://schemas.openxmlformats.org/drawingml/2006/main">
            <a:off x="859536" y="5657895"/>
            <a:ext cx="129844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xmlns:a="http://schemas.openxmlformats.org/drawingml/2006/main">
              <a:ext uri="{FF2B5EF4-FFF2-40B4-BE49-F238E27FC236}">
                <a16:creationId xmlns:a16="http://schemas.microsoft.com/office/drawing/2014/main" id="{B4F93260-CACC-42D8-A296-C2812E9E1907}"/>
              </a:ext>
            </a:extLst>
          </p:cNvPr>
          <p:cNvSpPr>
            <a:spLocks xmlns:a="http://schemas.openxmlformats.org/drawingml/2006/main" noGrp="1"/>
          </p:cNvSpPr>
          <p:nvPr/>
        </p:nvSpPr>
        <p:spPr>
          <a:xfrm xmlns:a="http://schemas.openxmlformats.org/drawingml/2006/main">
            <a:off x="2139696" y="5612175"/>
            <a:ext cx="3072384"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xmlns:a="http://schemas.openxmlformats.org/drawingml/2006/main">
              <a:ext uri="{FF2B5EF4-FFF2-40B4-BE49-F238E27FC236}">
                <a16:creationId xmlns:a16="http://schemas.microsoft.com/office/drawing/2014/main" id="{802138E5-FD06-4CDD-944B-42FE9F7A853E}"/>
              </a:ext>
            </a:extLst>
          </p:cNvPr>
          <p:cNvSpPr>
            <a:spLocks xmlns:a="http://schemas.openxmlformats.org/drawingml/2006/main" noGrp="1"/>
          </p:cNvSpPr>
          <p:nvPr/>
        </p:nvSpPr>
        <p:spPr>
          <a:xfrm xmlns:a="http://schemas.openxmlformats.org/drawingml/2006/main">
            <a:off x="5157216" y="5621319"/>
            <a:ext cx="6144768" cy="3535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xmlns:a="http://schemas.openxmlformats.org/drawingml/2006/main">
              <a:ext uri="{FF2B5EF4-FFF2-40B4-BE49-F238E27FC236}">
                <a16:creationId xmlns:a16="http://schemas.microsoft.com/office/drawing/2014/main" id="{A7CB8CE8-B4BA-4BDE-9C49-8FAB5177F6A8}"/>
              </a:ext>
            </a:extLst>
          </p:cNvPr>
          <p:cNvSpPr>
            <a:spLocks xmlns:a="http://schemas.openxmlformats.org/drawingml/2006/main" noGrp="1"/>
          </p:cNvSpPr>
          <p:nvPr/>
        </p:nvSpPr>
        <p:spPr>
          <a:xfrm xmlns:a="http://schemas.openxmlformats.org/drawingml/2006/main">
            <a:off x="603504" y="2231828"/>
            <a:ext cx="10981944"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xmlns:a="http://schemas.openxmlformats.org/drawingml/2006/main">
              <a:ext uri="{FF2B5EF4-FFF2-40B4-BE49-F238E27FC236}">
                <a16:creationId xmlns:a16="http://schemas.microsoft.com/office/drawing/2014/main" id="{B83C867B-6719-61CC-B78E-6D222519F57E}"/>
              </a:ext>
            </a:extLst>
          </p:cNvPr>
          <p:cNvSpPr>
            <a:spLocks xmlns:a="http://schemas.openxmlformats.org/drawingml/2006/main" noGrp="1"/>
          </p:cNvSpPr>
          <p:nvPr/>
        </p:nvSpPr>
        <p:spPr>
          <a:xfrm xmlns:a="http://schemas.openxmlformats.org/drawingml/2006/main">
            <a:off x="603504" y="6217231"/>
            <a:ext cx="10981944" cy="501368"/>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Box 63">
            <a:extLst xmlns:a="http://schemas.openxmlformats.org/drawingml/2006/main">
              <a:ext uri="{FF2B5EF4-FFF2-40B4-BE49-F238E27FC236}">
                <a16:creationId xmlns:a16="http://schemas.microsoft.com/office/drawing/2014/main" id="{C194CD37-5809-AAED-3984-64508649098C}"/>
              </a:ext>
            </a:extLst>
          </p:cNvPr>
          <p:cNvSpPr>
            <a:spLocks xmlns:a="http://schemas.openxmlformats.org/drawingml/2006/main" noGrp="1"/>
          </p:cNvSpPr>
          <p:nvPr/>
        </p:nvSpPr>
        <p:spPr>
          <a:xfrm xmlns:a="http://schemas.openxmlformats.org/drawingml/2006/main">
            <a:off x="822960" y="6336103"/>
            <a:ext cx="10533888" cy="3627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0A66124-49F8-45E3-87B8-3A2D4B8074D7}"/>
              </a:ext>
            </a:extLst>
          </p:cNvPr>
          <p:cNvSpPr>
            <a:spLocks xmlns:a="http://schemas.openxmlformats.org/drawingml/2006/main" noGrp="1"/>
          </p:cNvSpPr>
          <p:nvPr/>
        </p:nvSpPr>
        <p:spPr>
          <a:xfrm xmlns:a="http://schemas.openxmlformats.org/drawingml/2006/main">
            <a:off x="530352" y="411480"/>
            <a:ext cx="11000000" cy="5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100000" tIns="100000" rIns="100000" bIns="100000"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a:extLst xmlns:a="http://schemas.openxmlformats.org/drawingml/2006/main">
              <a:ext uri="{FF2B5EF4-FFF2-40B4-BE49-F238E27FC236}">
                <a16:creationId xmlns:a16="http://schemas.microsoft.com/office/drawing/2014/main" id="{4FCFADD8-B125-42C3-B048-846717624121}"/>
              </a:ext>
            </a:extLst>
          </p:cNvPr>
          <p:cNvSpPr>
            <a:spLocks xmlns:a="http://schemas.openxmlformats.org/drawingml/2006/main" noGrp="1"/>
          </p:cNvSpPr>
          <p:nvPr/>
        </p:nvSpPr>
        <p:spPr>
          <a:xfrm xmlns:a="http://schemas.openxmlformats.org/drawingml/2006/main">
            <a:off x="760000" y="2416112"/>
            <a:ext cx="2860000" cy="1360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txBody>
          <a:bodyPr xmlns:a="http://schemas.openxmlformats.org/drawingml/2006/main" wrap="square" lIns="120000" tIns="120000" rIns="120000" bIns="120000"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072B2"/>
                </a:solidFill>
                <a:latin typeface="Arial"/>
                <a:ea typeface="Arial"/>
                <a:cs typeface="Arial"/>
              </a:rPr>
              <a:t>1</a:t>
            </a:r>
          </a:p>
          <a:p xmlns:a="http://schemas.openxmlformats.org/drawingml/2006/main">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a:extLst xmlns:a="http://schemas.openxmlformats.org/drawingml/2006/main">
              <a:ext uri="{FF2B5EF4-FFF2-40B4-BE49-F238E27FC236}">
                <a16:creationId xmlns:a16="http://schemas.microsoft.com/office/drawing/2014/main" id="{7EC45E10-FFA6-4018-8ACC-5A366C6C0A2C}"/>
              </a:ext>
            </a:extLst>
          </p:cNvPr>
          <p:cNvSpPr>
            <a:spLocks xmlns:a="http://schemas.openxmlformats.org/drawingml/2006/main" noGrp="1"/>
          </p:cNvSpPr>
          <p:nvPr/>
        </p:nvSpPr>
        <p:spPr>
          <a:xfrm xmlns:a="http://schemas.openxmlformats.org/drawingml/2006/main">
            <a:off x="3700000" y="2796112"/>
            <a:ext cx="420000" cy="5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spAutoFit/>
          </a:bodyPr>
          <a:lstStyle xmlns:a="http://schemas.openxmlformats.org/drawingml/2006/main"/>
          <a:p xmlns:a="http://schemas.openxmlformats.org/drawingml/2006/main">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a:extLst xmlns:a="http://schemas.openxmlformats.org/drawingml/2006/main">
              <a:ext uri="{FF2B5EF4-FFF2-40B4-BE49-F238E27FC236}">
                <a16:creationId xmlns:a16="http://schemas.microsoft.com/office/drawing/2014/main" id="{87D4BBB9-30A2-4BB2-B188-9DE3B7BB594F}"/>
              </a:ext>
            </a:extLst>
          </p:cNvPr>
          <p:cNvSpPr>
            <a:spLocks xmlns:a="http://schemas.openxmlformats.org/drawingml/2006/main" noGrp="1"/>
          </p:cNvSpPr>
          <p:nvPr/>
        </p:nvSpPr>
        <p:spPr>
          <a:xfrm xmlns:a="http://schemas.openxmlformats.org/drawingml/2006/main">
            <a:off x="4200000" y="2416112"/>
            <a:ext cx="3000000" cy="1360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txBody>
          <a:bodyPr xmlns:a="http://schemas.openxmlformats.org/drawingml/2006/main" wrap="square" lIns="120000" tIns="120000" rIns="120000" bIns="120000"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0684D"/>
                </a:solidFill>
                <a:latin typeface="Arial"/>
                <a:ea typeface="Arial"/>
                <a:cs typeface="Arial"/>
              </a:rPr>
              <a:t>1</a:t>
            </a:r>
          </a:p>
          <a:p xmlns:a="http://schemas.openxmlformats.org/drawingml/2006/main">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a:extLst xmlns:a="http://schemas.openxmlformats.org/drawingml/2006/main">
              <a:ext uri="{FF2B5EF4-FFF2-40B4-BE49-F238E27FC236}">
                <a16:creationId xmlns:a16="http://schemas.microsoft.com/office/drawing/2014/main" id="{768F9638-B3A2-46A1-875D-7AB3213D96E5}"/>
              </a:ext>
            </a:extLst>
          </p:cNvPr>
          <p:cNvSpPr>
            <a:spLocks xmlns:a="http://schemas.openxmlformats.org/drawingml/2006/main" noGrp="1"/>
          </p:cNvSpPr>
          <p:nvPr/>
        </p:nvSpPr>
        <p:spPr>
          <a:xfrm xmlns:a="http://schemas.openxmlformats.org/drawingml/2006/main">
            <a:off x="7310000" y="2796112"/>
            <a:ext cx="420000" cy="5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spAutoFit/>
          </a:bodyPr>
          <a:lstStyle xmlns:a="http://schemas.openxmlformats.org/drawingml/2006/main"/>
          <a:p xmlns:a="http://schemas.openxmlformats.org/drawingml/2006/main">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a:extLst xmlns:a="http://schemas.openxmlformats.org/drawingml/2006/main">
              <a:ext uri="{FF2B5EF4-FFF2-40B4-BE49-F238E27FC236}">
                <a16:creationId xmlns:a16="http://schemas.microsoft.com/office/drawing/2014/main" id="{8C078E52-F21C-43DC-9269-3BEB81F7F60D}"/>
              </a:ext>
            </a:extLst>
          </p:cNvPr>
          <p:cNvSpPr>
            <a:spLocks xmlns:a="http://schemas.openxmlformats.org/drawingml/2006/main" noGrp="1"/>
          </p:cNvSpPr>
          <p:nvPr/>
        </p:nvSpPr>
        <p:spPr>
          <a:xfrm xmlns:a="http://schemas.openxmlformats.org/drawingml/2006/main">
            <a:off x="7800000" y="2416112"/>
            <a:ext cx="3600000" cy="1360000"/>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txBody>
          <a:bodyPr xmlns:a="http://schemas.openxmlformats.org/drawingml/2006/main" wrap="square" lIns="120000" tIns="120000" rIns="120000" bIns="120000"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9E3A00"/>
                </a:solidFill>
                <a:latin typeface="Arial"/>
                <a:ea typeface="Arial"/>
                <a:cs typeface="Arial"/>
              </a:rPr>
              <a:t>1</a:t>
            </a:r>
          </a:p>
          <a:p xmlns:a="http://schemas.openxmlformats.org/drawingml/2006/main">
            <a:pPr algn="ctr">
              <a:lnSpc>
                <a:spcPct val="100000"/>
              </a:lnSpc>
              <a:spcBef>
                <a:spcPts val="0"/>
              </a:spcBef>
              <a:spcAft>
                <a:spcPts val="0"/>
              </a:spcAft>
              <a:buNone/>
            </a:pPr>
            <a:r>
              <a:rPr sz="1900" b="1" i="0">
                <a:solidFill>
                  <a:srgbClr val="9E3A00"/>
                </a:solidFill>
                <a:latin typeface="Arial"/>
                <a:ea typeface="Arial"/>
                <a:cs typeface="Arial"/>
              </a:rPr>
              <a:t>DEG OCCURRENCE</a:t>
            </a:r>
          </a:p>
        </p:txBody>
      </p:sp>
      <p:sp>
        <p:nvSpPr>
          <p:cNvPr id="9" name="Repeated evidence">
            <a:extLst xmlns:a="http://schemas.openxmlformats.org/drawingml/2006/main">
              <a:ext uri="{FF2B5EF4-FFF2-40B4-BE49-F238E27FC236}">
                <a16:creationId xmlns:a16="http://schemas.microsoft.com/office/drawing/2014/main" id="{8DCD95F6-0F7C-4DD0-ABF2-DDA6F75FC3E7}"/>
              </a:ext>
            </a:extLst>
          </p:cNvPr>
          <p:cNvSpPr>
            <a:spLocks xmlns:a="http://schemas.openxmlformats.org/drawingml/2006/main" noGrp="1"/>
          </p:cNvSpPr>
          <p:nvPr/>
        </p:nvSpPr>
        <p:spPr>
          <a:xfrm xmlns:a="http://schemas.openxmlformats.org/drawingml/2006/main">
            <a:off x="950000" y="3894944"/>
            <a:ext cx="10200000" cy="5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50000" tIns="50000" rIns="50000" bIns="50000"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F233D"/>
                </a:solidFill>
                <a:latin typeface="Arial"/>
                <a:ea typeface="Arial"/>
                <a:cs typeface="Arial"/>
              </a:rPr>
              <a:t>The same gene contributes another occurrence when it is a DEG in another fine-cell contrast.</a:t>
            </a:r>
          </a:p>
        </p:txBody>
      </p:sp>
      <p:sp>
        <p:nvSpPr>
          <p:cNvPr id="10" name="Example box">
            <a:extLst xmlns:a="http://schemas.openxmlformats.org/drawingml/2006/main">
              <a:ext uri="{FF2B5EF4-FFF2-40B4-BE49-F238E27FC236}">
                <a16:creationId xmlns:a16="http://schemas.microsoft.com/office/drawing/2014/main" id="{B746ACAB-EC51-43A1-8F28-803301784DC6}"/>
              </a:ext>
            </a:extLst>
          </p:cNvPr>
          <p:cNvSpPr>
            <a:spLocks xmlns:a="http://schemas.openxmlformats.org/drawingml/2006/main" noGrp="1"/>
          </p:cNvSpPr>
          <p:nvPr/>
        </p:nvSpPr>
        <p:spPr>
          <a:xfrm xmlns:a="http://schemas.openxmlformats.org/drawingml/2006/main">
            <a:off x="1370000" y="4636072"/>
            <a:ext cx="9450000" cy="1500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C9DDD7"/>
            </a:solidFill>
          </a:ln>
        </p:spPr>
        <p:txBody>
          <a:bodyPr xmlns:a="http://schemas.openxmlformats.org/drawingml/2006/main" wrap="square" lIns="180000" tIns="180000" rIns="180000" bIns="180000" anchor="ctr">
            <a:spAutoFit/>
          </a:bodyPr>
          <a:lstStyle xmlns:a="http://schemas.openxmlformats.org/drawingml/2006/main"/>
          <a:p xmlns:a="http://schemas.openxmlformats.org/drawingml/2006/main">
            <a:pPr algn="ctr">
              <a:lnSpc>
                <a:spcPct val="100000"/>
              </a:lnSpc>
              <a:spcBef>
                <a:spcPts val="0"/>
              </a:spcBef>
              <a:spcAft>
                <a:spcPts val="0"/>
              </a:spcAft>
              <a:buNone/>
            </a:pPr>
            <a:r>
              <a:rPr sz="1550" b="1" i="0">
                <a:solidFill>
                  <a:srgbClr val="00684D"/>
                </a:solidFill>
                <a:latin typeface="Arial"/>
                <a:ea typeface="Arial"/>
                <a:cs typeface="Arial"/>
              </a:rPr>
              <a:t>Example: Gene A is a DEG in three fine-cell contrasts</a:t>
            </a:r>
          </a:p>
          <a:p xmlns:a="http://schemas.openxmlformats.org/drawingml/2006/main">
            <a:pPr algn="ctr">
              <a:lnSpc>
                <a:spcPct val="100000"/>
              </a:lnSpc>
              <a:spcBef>
                <a:spcPts val="0"/>
              </a:spcBef>
              <a:spcAft>
                <a:spcPts val="0"/>
              </a:spcAft>
              <a:buNone/>
            </a:pPr>
            <a:endParaRPr sz="1550" b="1" i="0">
              <a:solidFill>
                <a:srgbClr val="00684D"/>
              </a:solidFill>
              <a:latin typeface="Arial"/>
              <a:ea typeface="Arial"/>
              <a:cs typeface="Arial"/>
            </a:endParaRPr>
          </a:p>
          <a:p xmlns:a="http://schemas.openxmlformats.org/drawingml/2006/main">
            <a:pPr algn="ctr">
              <a:lnSpc>
                <a:spcPct val="100000"/>
              </a:lnSpc>
              <a:spcBef>
                <a:spcPts val="0"/>
              </a:spcBef>
              <a:spcAft>
                <a:spcPts val="0"/>
              </a:spcAft>
              <a:buNone/>
            </a:pPr>
            <a:r>
              <a:rPr sz="1550" b="1" i="0">
                <a:solidFill>
                  <a:srgbClr val="00684D"/>
                </a:solidFill>
                <a:latin typeface="Arial"/>
                <a:ea typeface="Arial"/>
                <a:cs typeface="Arial"/>
              </a:rPr>
              <a:t>3 DEG occurrences     1 unique gene</a:t>
            </a:r>
          </a:p>
        </p:txBody>
      </p:sp>
      <p:sp>
        <p:nvSpPr>
          <p:cNvPr id="11" name="Interpretation">
            <a:extLst xmlns:a="http://schemas.openxmlformats.org/drawingml/2006/main">
              <a:ext uri="{FF2B5EF4-FFF2-40B4-BE49-F238E27FC236}">
                <a16:creationId xmlns:a16="http://schemas.microsoft.com/office/drawing/2014/main" id="{19DF423D-D794-42DC-ADB5-C45236F41153}"/>
              </a:ext>
            </a:extLst>
          </p:cNvPr>
          <p:cNvSpPr>
            <a:spLocks xmlns:a="http://schemas.openxmlformats.org/drawingml/2006/main" noGrp="1"/>
          </p:cNvSpPr>
          <p:nvPr/>
        </p:nvSpPr>
        <p:spPr>
          <a:xfrm xmlns:a="http://schemas.openxmlformats.org/drawingml/2006/main">
            <a:off x="1370000" y="6327295"/>
            <a:ext cx="9450000" cy="35008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7E1EC"/>
            </a:solidFill>
          </a:ln>
        </p:spPr>
        <p:txBody>
          <a:bodyPr xmlns:a="http://schemas.openxmlformats.org/drawingml/2006/main" wrap="square" lIns="50000" tIns="50000" rIns="50000" bIns="50000"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latin typeface="Arial"/>
                <a:ea typeface="Arial"/>
                <a:cs typeface="Arial"/>
              </a:rPr>
              <a:t>Occurrence counts repeat DEGs across contrasts. Unique-gene counts count each gene once.</a:t>
            </a:r>
          </a:p>
        </p:txBody>
      </p:sp>
      <p:sp>
        <p:nvSpPr>
          <p:cNvPr id="12" name="Example box">
            <a:extLst xmlns:a="http://schemas.openxmlformats.org/drawingml/2006/main">
              <a:ext uri="{FF2B5EF4-FFF2-40B4-BE49-F238E27FC236}">
                <a16:creationId xmlns:a16="http://schemas.microsoft.com/office/drawing/2014/main" id="{98A82523-6157-948B-7B62-74813E73F3E9}"/>
              </a:ext>
            </a:extLst>
          </p:cNvPr>
          <p:cNvSpPr>
            <a:spLocks xmlns:a="http://schemas.openxmlformats.org/drawingml/2006/main" noGrp="1"/>
          </p:cNvSpPr>
          <p:nvPr/>
        </p:nvSpPr>
        <p:spPr>
          <a:xfrm xmlns:a="http://schemas.openxmlformats.org/drawingml/2006/main">
            <a:off x="760000" y="1111869"/>
            <a:ext cx="10640000" cy="981069"/>
          </a:xfrm>
          <a:prstGeom xmlns:a="http://schemas.openxmlformats.org/drawingml/2006/main" prst="roundRect">
            <a:avLst/>
          </a:prstGeom>
          <a:solidFill xmlns:a="http://schemas.openxmlformats.org/drawingml/2006/main">
            <a:schemeClr val="accent1">
              <a:lumMod val="20000"/>
              <a:lumOff val="80000"/>
            </a:schemeClr>
          </a:solidFill>
          <a:ln xmlns:a="http://schemas.openxmlformats.org/drawingml/2006/main" w="12700">
            <a:solidFill>
              <a:srgbClr val="C9DDD7"/>
            </a:solidFill>
          </a:ln>
        </p:spPr>
        <p:txBody>
          <a:bodyPr xmlns:a="http://schemas.openxmlformats.org/drawingml/2006/main" wrap="square" lIns="180000" tIns="180000" rIns="180000" bIns="180000" anchor="ctr">
            <a:spAutoFit/>
          </a:bodyPr>
          <a:lstStyle xmlns:a="http://schemas.openxmlformats.org/drawingml/2006/main"/>
          <a:p xmlns:a="http://schemas.openxmlformats.org/drawingml/2006/main">
            <a:r>
              <a:rPr sz="1600">
                <a:solidFill>
                  <a:srgbClr val="4E5A68"/>
                </a:solidFill>
                <a:latin typeface="Arial"/>
                <a:ea typeface="Arial"/>
                <a:cs typeface="Arial"/>
              </a:rPr>
              <a:t>A gene is a </a:t>
            </a:r>
            <a:r>
              <a:rPr sz="1600" b="1">
                <a:solidFill>
                  <a:srgbClr val="FF0000"/>
                </a:solidFill>
                <a:latin typeface="Arial"/>
                <a:ea typeface="Arial"/>
                <a:cs typeface="Arial"/>
              </a:rPr>
              <a:t>DEG</a:t>
            </a:r>
            <a:r>
              <a:rPr sz="1600">
                <a:solidFill>
                  <a:srgbClr val="4E5A68"/>
                </a:solidFill>
                <a:latin typeface="Arial"/>
                <a:ea typeface="Arial"/>
                <a:cs typeface="Arial"/>
              </a:rPr>
              <a:t> within one fine-cell contrast when it meets both criteria:</a:t>
            </a:r>
          </a:p>
          <a:p xmlns:a="http://schemas.openxmlformats.org/drawingml/2006/main">
            <a:r>
              <a:rPr sz="160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650B09C-4D0A-47F0-84CE-851C400294B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xmlns:a="http://schemas.openxmlformats.org/drawingml/2006/main">
              <a:ext uri="{FF2B5EF4-FFF2-40B4-BE49-F238E27FC236}">
                <a16:creationId xmlns:a16="http://schemas.microsoft.com/office/drawing/2014/main" id="{E8473722-5B37-4654-A9C8-AAC87D0440E8}"/>
              </a:ext>
            </a:extLst>
          </p:cNvPr>
          <p:cNvSpPr>
            <a:spLocks xmlns:a="http://schemas.openxmlformats.org/drawingml/2006/main" noGrp="1"/>
          </p:cNvSpPr>
          <p:nvPr/>
        </p:nvSpPr>
        <p:spPr>
          <a:xfrm xmlns:a="http://schemas.openxmlformats.org/drawingml/2006/main">
            <a:off x="548640" y="861567"/>
            <a:ext cx="10561320" cy="2277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xmlns:a="http://schemas.openxmlformats.org/drawingml/2006/main">
              <a:ext uri="{FF2B5EF4-FFF2-40B4-BE49-F238E27FC236}">
                <a16:creationId xmlns:a16="http://schemas.microsoft.com/office/drawing/2014/main" id="{D8AE6BF2-D0CF-42F8-94CD-98CFE6F44DD7}"/>
              </a:ext>
            </a:extLst>
          </p:cNvPr>
          <p:cNvSpPr>
            <a:spLocks xmlns:a="http://schemas.openxmlformats.org/drawingml/2006/main" noGrp="1"/>
          </p:cNvSpPr>
          <p:nvPr/>
        </p:nvSpPr>
        <p:spPr>
          <a:xfrm xmlns:a="http://schemas.openxmlformats.org/drawingml/2006/main">
            <a:off x="658368"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0E5C88F-6CE1-43C6-971F-770E5D4BA0FA}"/>
              </a:ext>
            </a:extLst>
          </p:cNvPr>
          <p:cNvSpPr>
            <a:spLocks xmlns:a="http://schemas.openxmlformats.org/drawingml/2006/main" noGrp="1"/>
          </p:cNvSpPr>
          <p:nvPr/>
        </p:nvSpPr>
        <p:spPr>
          <a:xfrm xmlns:a="http://schemas.openxmlformats.org/drawingml/2006/main">
            <a:off x="822959"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xmlns:a="http://schemas.openxmlformats.org/drawingml/2006/main">
              <a:ext uri="{FF2B5EF4-FFF2-40B4-BE49-F238E27FC236}">
                <a16:creationId xmlns:a16="http://schemas.microsoft.com/office/drawing/2014/main" id="{F99010AA-ED42-4086-B32F-37D37A40B545}"/>
              </a:ext>
            </a:extLst>
          </p:cNvPr>
          <p:cNvSpPr>
            <a:spLocks xmlns:a="http://schemas.openxmlformats.org/drawingml/2006/main" noGrp="1"/>
          </p:cNvSpPr>
          <p:nvPr/>
        </p:nvSpPr>
        <p:spPr>
          <a:xfrm xmlns:a="http://schemas.openxmlformats.org/drawingml/2006/main">
            <a:off x="2048256" y="1314491"/>
            <a:ext cx="1828800" cy="39395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xmlns:a="http://schemas.openxmlformats.org/drawingml/2006/main">
              <a:ext uri="{FF2B5EF4-FFF2-40B4-BE49-F238E27FC236}">
                <a16:creationId xmlns:a16="http://schemas.microsoft.com/office/drawing/2014/main" id="{98A0FD29-D12C-4F6B-A119-773CE09124F6}"/>
              </a:ext>
            </a:extLst>
          </p:cNvPr>
          <p:cNvSpPr>
            <a:spLocks xmlns:a="http://schemas.openxmlformats.org/drawingml/2006/main" noGrp="1"/>
          </p:cNvSpPr>
          <p:nvPr/>
        </p:nvSpPr>
        <p:spPr>
          <a:xfrm xmlns:a="http://schemas.openxmlformats.org/drawingml/2006/main">
            <a:off x="4398264"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E4D690A-DFEA-44D7-A12A-7D5256786E1B}"/>
              </a:ext>
            </a:extLst>
          </p:cNvPr>
          <p:cNvSpPr>
            <a:spLocks xmlns:a="http://schemas.openxmlformats.org/drawingml/2006/main" noGrp="1"/>
          </p:cNvSpPr>
          <p:nvPr/>
        </p:nvSpPr>
        <p:spPr>
          <a:xfrm xmlns:a="http://schemas.openxmlformats.org/drawingml/2006/main">
            <a:off x="4562855"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xmlns:a="http://schemas.openxmlformats.org/drawingml/2006/main">
              <a:ext uri="{FF2B5EF4-FFF2-40B4-BE49-F238E27FC236}">
                <a16:creationId xmlns:a16="http://schemas.microsoft.com/office/drawing/2014/main" id="{26F99527-EECB-4761-8873-875DD10921AF}"/>
              </a:ext>
            </a:extLst>
          </p:cNvPr>
          <p:cNvSpPr>
            <a:spLocks xmlns:a="http://schemas.openxmlformats.org/drawingml/2006/main" noGrp="1"/>
          </p:cNvSpPr>
          <p:nvPr/>
        </p:nvSpPr>
        <p:spPr>
          <a:xfrm xmlns:a="http://schemas.openxmlformats.org/drawingml/2006/main">
            <a:off x="5788152" y="1358734"/>
            <a:ext cx="182880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xmlns:a="http://schemas.openxmlformats.org/drawingml/2006/main">
              <a:ext uri="{FF2B5EF4-FFF2-40B4-BE49-F238E27FC236}">
                <a16:creationId xmlns:a16="http://schemas.microsoft.com/office/drawing/2014/main" id="{CE980754-5288-410C-9D81-9B8EFFDCB7B2}"/>
              </a:ext>
            </a:extLst>
          </p:cNvPr>
          <p:cNvSpPr>
            <a:spLocks xmlns:a="http://schemas.openxmlformats.org/drawingml/2006/main" noGrp="1"/>
          </p:cNvSpPr>
          <p:nvPr/>
        </p:nvSpPr>
        <p:spPr>
          <a:xfrm xmlns:a="http://schemas.openxmlformats.org/drawingml/2006/main">
            <a:off x="8138160"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FFD5AF3-A618-4E76-B0F5-AA1C8BB43020}"/>
              </a:ext>
            </a:extLst>
          </p:cNvPr>
          <p:cNvSpPr>
            <a:spLocks xmlns:a="http://schemas.openxmlformats.org/drawingml/2006/main" noGrp="1"/>
          </p:cNvSpPr>
          <p:nvPr/>
        </p:nvSpPr>
        <p:spPr>
          <a:xfrm xmlns:a="http://schemas.openxmlformats.org/drawingml/2006/main">
            <a:off x="8302752"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xmlns:a="http://schemas.openxmlformats.org/drawingml/2006/main">
              <a:ext uri="{FF2B5EF4-FFF2-40B4-BE49-F238E27FC236}">
                <a16:creationId xmlns:a16="http://schemas.microsoft.com/office/drawing/2014/main" id="{2B0F084A-B43C-4E28-9D0D-E60D0A60A20B}"/>
              </a:ext>
            </a:extLst>
          </p:cNvPr>
          <p:cNvSpPr>
            <a:spLocks xmlns:a="http://schemas.openxmlformats.org/drawingml/2006/main" noGrp="1"/>
          </p:cNvSpPr>
          <p:nvPr/>
        </p:nvSpPr>
        <p:spPr>
          <a:xfrm xmlns:a="http://schemas.openxmlformats.org/drawingml/2006/main">
            <a:off x="9528048" y="1274065"/>
            <a:ext cx="182880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xmlns:a="http://schemas.openxmlformats.org/drawingml/2006/main">
              <a:ext uri="{FF2B5EF4-FFF2-40B4-BE49-F238E27FC236}">
                <a16:creationId xmlns:a16="http://schemas.microsoft.com/office/drawing/2014/main" id="{C21281E1-0F01-4EAF-AF2A-DC9B0C3B143B}"/>
              </a:ext>
            </a:extLst>
          </p:cNvPr>
          <p:cNvSpPr>
            <a:spLocks xmlns:a="http://schemas.openxmlformats.org/drawingml/2006/main" noGrp="1"/>
          </p:cNvSpPr>
          <p:nvPr/>
        </p:nvSpPr>
        <p:spPr>
          <a:xfrm xmlns:a="http://schemas.openxmlformats.org/drawingml/2006/main">
            <a:off x="9528048" y="1539241"/>
            <a:ext cx="182880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xmlns:a="http://schemas.openxmlformats.org/drawingml/2006/main" noChangeAspect="1"/>
          </p:cNvPicPr>
          <p:nvPr/>
        </p:nvPicPr>
        <p:blipFill>
          <a:blip xmlns:r="http://schemas.openxmlformats.org/officeDocument/2006/relationships" xmlns:a="http://schemas.openxmlformats.org/drawingml/2006/main" r:embed="R8ae5dc08bd1b4363"/>
          <a:stretch xmlns:a="http://schemas.openxmlformats.org/drawingml/2006/main">
            <a:fillRect l="0" t="0" r="0" b="0"/>
          </a:stretch>
        </p:blipFill>
        <p:spPr>
          <a:xfrm xmlns:a="http://schemas.openxmlformats.org/drawingml/2006/main">
            <a:off x="658368" y="2069326"/>
            <a:ext cx="10881360" cy="3139970"/>
          </a:xfrm>
          <a:prstGeom xmlns:a="http://schemas.openxmlformats.org/drawingml/2006/main" prst="rect">
            <a:avLst/>
          </a:prstGeom>
        </p:spPr>
      </p:pic>
      <p:sp>
        <p:nvSpPr>
          <p:cNvPr id="16" name="Rounded Rectangle 15">
            <a:extLst xmlns:a="http://schemas.openxmlformats.org/drawingml/2006/main">
              <a:ext uri="{FF2B5EF4-FFF2-40B4-BE49-F238E27FC236}">
                <a16:creationId xmlns:a16="http://schemas.microsoft.com/office/drawing/2014/main" id="{6694235D-55CF-49EF-A672-C9778E61257F}"/>
              </a:ext>
            </a:extLst>
          </p:cNvPr>
          <p:cNvSpPr>
            <a:spLocks xmlns:a="http://schemas.openxmlformats.org/drawingml/2006/main" noGrp="1"/>
          </p:cNvSpPr>
          <p:nvPr/>
        </p:nvSpPr>
        <p:spPr>
          <a:xfrm xmlns:a="http://schemas.openxmlformats.org/drawingml/2006/main">
            <a:off x="658368" y="5596128"/>
            <a:ext cx="10881360" cy="65836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3EF7780-BF1A-49FD-8AE0-8480E45DC812}"/>
              </a:ext>
            </a:extLst>
          </p:cNvPr>
          <p:cNvSpPr>
            <a:spLocks xmlns:a="http://schemas.openxmlformats.org/drawingml/2006/main" noGrp="1"/>
          </p:cNvSpPr>
          <p:nvPr/>
        </p:nvSpPr>
        <p:spPr>
          <a:xfrm xmlns:a="http://schemas.openxmlformats.org/drawingml/2006/main">
            <a:off x="923544" y="5797296"/>
            <a:ext cx="118872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xmlns:a="http://schemas.openxmlformats.org/drawingml/2006/main">
              <a:ext uri="{FF2B5EF4-FFF2-40B4-BE49-F238E27FC236}">
                <a16:creationId xmlns:a16="http://schemas.microsoft.com/office/drawing/2014/main" id="{BD8B6944-62D2-41F5-BA50-537C49D71BF8}"/>
              </a:ext>
            </a:extLst>
          </p:cNvPr>
          <p:cNvSpPr>
            <a:spLocks xmlns:a="http://schemas.openxmlformats.org/drawingml/2006/main" noGrp="1"/>
          </p:cNvSpPr>
          <p:nvPr/>
        </p:nvSpPr>
        <p:spPr>
          <a:xfrm xmlns:a="http://schemas.openxmlformats.org/drawingml/2006/main">
            <a:off x="2212848" y="5776219"/>
            <a:ext cx="8924544" cy="2616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4879499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D6851B-2665-4B39-9E54-29EA09D75374}"/>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xmlns:a="http://schemas.openxmlformats.org/drawingml/2006/main">
              <a:ext uri="{FF2B5EF4-FFF2-40B4-BE49-F238E27FC236}">
                <a16:creationId xmlns:a16="http://schemas.microsoft.com/office/drawing/2014/main" id="{202906A2-37D3-4429-9040-3FB6B411CE9C}"/>
              </a:ext>
            </a:extLst>
          </p:cNvPr>
          <p:cNvSpPr>
            <a:spLocks xmlns:a="http://schemas.openxmlformats.org/drawingml/2006/main" noGrp="1"/>
          </p:cNvSpPr>
          <p:nvPr/>
        </p:nvSpPr>
        <p:spPr>
          <a:xfrm xmlns:a="http://schemas.openxmlformats.org/drawingml/2006/main">
            <a:off x="548640" y="886968"/>
            <a:ext cx="1056132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1" i="0">
                <a:latin typeface="Arial"/>
                <a:ea typeface="Arial"/>
                <a:cs typeface="Arial"/>
              </a:rPr>
              <a:t>Each cell shows unique DEGs</a:t>
            </a:r>
            <a:r>
              <a:rPr sz="1400" b="1" i="0">
                <a:latin typeface="Arial"/>
                <a:ea typeface="Arial"/>
                <a:cs typeface="Arial"/>
              </a:rPr>
              <a:t> in that pathway</a:t>
            </a:r>
            <a:r>
              <a:rPr sz="1400" b="1" i="0">
                <a:latin typeface="Arial"/>
                <a:ea typeface="Arial"/>
                <a:cs typeface="Arial"/>
              </a:rPr>
              <a:t>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xmlns:a="http://schemas.openxmlformats.org/drawingml/2006/main" noChangeAspect="1"/>
          </p:cNvPicPr>
          <p:nvPr/>
        </p:nvPicPr>
        <p:blipFill>
          <a:blip xmlns:r="http://schemas.openxmlformats.org/officeDocument/2006/relationships" xmlns:a="http://schemas.openxmlformats.org/drawingml/2006/main" r:embed="R5285fe2565ef46f9"/>
          <a:stretch xmlns:a="http://schemas.openxmlformats.org/drawingml/2006/main">
            <a:fillRect l="0" t="0" r="0" b="0"/>
          </a:stretch>
        </p:blipFill>
        <p:spPr>
          <a:xfrm xmlns:a="http://schemas.openxmlformats.org/drawingml/2006/main">
            <a:off x="658368" y="1360188"/>
            <a:ext cx="10881360" cy="3991318"/>
          </a:xfrm>
          <a:prstGeom xmlns:a="http://schemas.openxmlformats.org/drawingml/2006/main" prst="rect">
            <a:avLst/>
          </a:prstGeom>
        </p:spPr>
      </p:pic>
      <p:sp>
        <p:nvSpPr>
          <p:cNvPr id="5" name="Rounded Rectangle 4">
            <a:extLst xmlns:a="http://schemas.openxmlformats.org/drawingml/2006/main">
              <a:ext uri="{FF2B5EF4-FFF2-40B4-BE49-F238E27FC236}">
                <a16:creationId xmlns:a16="http://schemas.microsoft.com/office/drawing/2014/main" id="{CE733A69-C72D-4B96-8FC3-7663882BDDC8}"/>
              </a:ext>
            </a:extLst>
          </p:cNvPr>
          <p:cNvSpPr>
            <a:spLocks xmlns:a="http://schemas.openxmlformats.org/drawingml/2006/main" noGrp="1"/>
          </p:cNvSpPr>
          <p:nvPr/>
        </p:nvSpPr>
        <p:spPr>
          <a:xfrm xmlns:a="http://schemas.openxmlformats.org/drawingml/2006/main">
            <a:off x="658368" y="5614416"/>
            <a:ext cx="10881360" cy="65836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FE0CB97-0983-4919-8A05-A1A1D07850DF}"/>
              </a:ext>
            </a:extLst>
          </p:cNvPr>
          <p:cNvSpPr>
            <a:spLocks xmlns:a="http://schemas.openxmlformats.org/drawingml/2006/main" noGrp="1"/>
          </p:cNvSpPr>
          <p:nvPr/>
        </p:nvSpPr>
        <p:spPr>
          <a:xfrm xmlns:a="http://schemas.openxmlformats.org/drawingml/2006/main">
            <a:off x="932688" y="5806440"/>
            <a:ext cx="138988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xmlns:a="http://schemas.openxmlformats.org/drawingml/2006/main">
              <a:ext uri="{FF2B5EF4-FFF2-40B4-BE49-F238E27FC236}">
                <a16:creationId xmlns:a16="http://schemas.microsoft.com/office/drawing/2014/main" id="{1C2DC68E-7E8D-4FDC-BFB1-795A5C6534E6}"/>
              </a:ext>
            </a:extLst>
          </p:cNvPr>
          <p:cNvSpPr>
            <a:spLocks xmlns:a="http://schemas.openxmlformats.org/drawingml/2006/main" noGrp="1"/>
          </p:cNvSpPr>
          <p:nvPr/>
        </p:nvSpPr>
        <p:spPr>
          <a:xfrm xmlns:a="http://schemas.openxmlformats.org/drawingml/2006/main">
            <a:off x="2468880" y="5751576"/>
            <a:ext cx="86319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39225623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direction-formula-background">
            <a:extLst xmlns:a="http://schemas.openxmlformats.org/drawingml/2006/main">
              <a:ext uri="{FF2B5EF4-FFF2-40B4-BE49-F238E27FC236}">
                <a16:creationId xmlns:a16="http://schemas.microsoft.com/office/drawing/2014/main" id="{25ABB92D-ECD7-4CD0-8EC8-3E97BA5ECA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direction-formula-title">
            <a:extLst xmlns:a="http://schemas.openxmlformats.org/drawingml/2006/main">
              <a:ext uri="{FF2B5EF4-FFF2-40B4-BE49-F238E27FC236}">
                <a16:creationId xmlns:a16="http://schemas.microsoft.com/office/drawing/2014/main" id="{AE051D85-F47D-4AD6-893D-6C8E7D3161BE}"/>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xmlns:a="http://schemas.openxmlformats.org/drawingml/2006/main">
              <a:ext uri="{FF2B5EF4-FFF2-40B4-BE49-F238E27FC236}">
                <a16:creationId xmlns:a16="http://schemas.microsoft.com/office/drawing/2014/main" id="{28486D60-6F13-489B-8CDC-A572FA2FB822}"/>
              </a:ext>
            </a:extLst>
          </p:cNvPr>
          <p:cNvSpPr>
            <a:spLocks xmlns:a="http://schemas.openxmlformats.org/drawingml/2006/main" noGrp="1"/>
          </p:cNvSpPr>
          <p:nvPr/>
        </p:nvSpPr>
        <p:spPr>
          <a:xfrm xmlns:a="http://schemas.openxmlformats.org/drawingml/2006/main">
            <a:off x="552450" y="9239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xmlns:a="http://schemas.openxmlformats.org/drawingml/2006/main">
              <a:ext uri="{FF2B5EF4-FFF2-40B4-BE49-F238E27FC236}">
                <a16:creationId xmlns:a16="http://schemas.microsoft.com/office/drawing/2014/main" id="{00B2A2A6-2FD4-487B-8E74-155D0BBFB263}"/>
              </a:ext>
            </a:extLst>
          </p:cNvPr>
          <p:cNvSpPr>
            <a:spLocks xmlns:a="http://schemas.openxmlformats.org/drawingml/2006/main" noGrp="1"/>
          </p:cNvSpPr>
          <p:nvPr/>
        </p:nvSpPr>
        <p:spPr>
          <a:xfrm xmlns:a="http://schemas.openxmlformats.org/drawingml/2006/main">
            <a:off x="1000125" y="1504950"/>
            <a:ext cx="10191750" cy="1885950"/>
          </a:xfrm>
          <a:prstGeom xmlns:a="http://schemas.openxmlformats.org/drawingml/2006/main" prst="roundRect">
            <a:avLst>
              <a:gd name="adj" fmla="val 8081"/>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 name="direction-formula-label">
            <a:extLst xmlns:a="http://schemas.openxmlformats.org/drawingml/2006/main">
              <a:ext uri="{FF2B5EF4-FFF2-40B4-BE49-F238E27FC236}">
                <a16:creationId xmlns:a16="http://schemas.microsoft.com/office/drawing/2014/main" id="{1A56C8AB-0418-4085-95EC-B42427F12956}"/>
              </a:ext>
            </a:extLst>
          </p:cNvPr>
          <p:cNvSpPr>
            <a:spLocks xmlns:a="http://schemas.openxmlformats.org/drawingml/2006/main" noGrp="1"/>
          </p:cNvSpPr>
          <p:nvPr/>
        </p:nvSpPr>
        <p:spPr>
          <a:xfrm xmlns:a="http://schemas.openxmlformats.org/drawingml/2006/main">
            <a:off x="1143000" y="21336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66"/>
          </a:bodyPr>
          <a:lstStyle xmlns:a="http://schemas.openxmlformats.org/drawingml/2006/main"/>
          <a:p xmlns:a="http://schemas.openxmlformats.org/drawingml/2006/main">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xmlns:a="http://schemas.openxmlformats.org/drawingml/2006/main">
              <a:ext uri="{FF2B5EF4-FFF2-40B4-BE49-F238E27FC236}">
                <a16:creationId xmlns:a16="http://schemas.microsoft.com/office/drawing/2014/main" id="{8F22A7C5-55F4-4E36-9453-F5ED053F2050}"/>
              </a:ext>
            </a:extLst>
          </p:cNvPr>
          <p:cNvSpPr>
            <a:spLocks xmlns:a="http://schemas.openxmlformats.org/drawingml/2006/main" noGrp="1"/>
          </p:cNvSpPr>
          <p:nvPr/>
        </p:nvSpPr>
        <p:spPr>
          <a:xfrm xmlns:a="http://schemas.openxmlformats.org/drawingml/2006/main">
            <a:off x="4400550" y="1743075"/>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a:bodyPr>
          <a:lstStyle xmlns:a="http://schemas.openxmlformats.org/drawingml/2006/main"/>
          <a:p xmlns:a="http://schemas.openxmlformats.org/drawingml/2006/main">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xmlns:a="http://schemas.openxmlformats.org/drawingml/2006/main">
              <a:ext uri="{FF2B5EF4-FFF2-40B4-BE49-F238E27FC236}">
                <a16:creationId xmlns:a16="http://schemas.microsoft.com/office/drawing/2014/main" id="{DCE5E515-7AA6-4088-80B7-07A00CA1A1FB}"/>
              </a:ext>
            </a:extLst>
          </p:cNvPr>
          <p:cNvSpPr>
            <a:spLocks xmlns:a="http://schemas.openxmlformats.org/drawingml/2006/main" noGrp="1"/>
          </p:cNvSpPr>
          <p:nvPr/>
        </p:nvSpPr>
        <p:spPr>
          <a:xfrm xmlns:a="http://schemas.openxmlformats.org/drawingml/2006/main">
            <a:off x="4476750" y="2400300"/>
            <a:ext cx="5476875"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direction-formula-denominator">
            <a:extLst xmlns:a="http://schemas.openxmlformats.org/drawingml/2006/main">
              <a:ext uri="{FF2B5EF4-FFF2-40B4-BE49-F238E27FC236}">
                <a16:creationId xmlns:a16="http://schemas.microsoft.com/office/drawing/2014/main" id="{5F3CFBCC-997F-4F30-9D9B-DFC0C9AA67C2}"/>
              </a:ext>
            </a:extLst>
          </p:cNvPr>
          <p:cNvSpPr>
            <a:spLocks xmlns:a="http://schemas.openxmlformats.org/drawingml/2006/main" noGrp="1"/>
          </p:cNvSpPr>
          <p:nvPr/>
        </p:nvSpPr>
        <p:spPr>
          <a:xfrm xmlns:a="http://schemas.openxmlformats.org/drawingml/2006/main">
            <a:off x="4400550" y="2543175"/>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xmlns:a="http://schemas.openxmlformats.org/drawingml/2006/main">
              <a:ext uri="{FF2B5EF4-FFF2-40B4-BE49-F238E27FC236}">
                <a16:creationId xmlns:a16="http://schemas.microsoft.com/office/drawing/2014/main" id="{EB01F018-37C2-4C63-864D-CDA16EA5A332}"/>
              </a:ext>
            </a:extLst>
          </p:cNvPr>
          <p:cNvSpPr>
            <a:spLocks xmlns:a="http://schemas.openxmlformats.org/drawingml/2006/main" noGrp="1"/>
          </p:cNvSpPr>
          <p:nvPr/>
        </p:nvSpPr>
        <p:spPr>
          <a:xfrm xmlns:a="http://schemas.openxmlformats.org/drawingml/2006/main">
            <a:off x="10134600" y="2133600"/>
            <a:ext cx="91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xmlns:a="http://schemas.openxmlformats.org/drawingml/2006/main">
              <a:ext uri="{FF2B5EF4-FFF2-40B4-BE49-F238E27FC236}">
                <a16:creationId xmlns:a16="http://schemas.microsoft.com/office/drawing/2014/main" id="{8C0FA3DB-02A9-46F2-AB6C-6C0BC5F3494B}"/>
              </a:ext>
            </a:extLst>
          </p:cNvPr>
          <p:cNvSpPr>
            <a:spLocks xmlns:a="http://schemas.openxmlformats.org/drawingml/2006/main" noGrp="1"/>
          </p:cNvSpPr>
          <p:nvPr/>
        </p:nvSpPr>
        <p:spPr>
          <a:xfrm xmlns:a="http://schemas.openxmlformats.org/drawingml/2006/main">
            <a:off x="1143000" y="3600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xmlns:a="http://schemas.openxmlformats.org/drawingml/2006/main">
              <a:ext uri="{FF2B5EF4-FFF2-40B4-BE49-F238E27FC236}">
                <a16:creationId xmlns:a16="http://schemas.microsoft.com/office/drawing/2014/main" id="{4A4B1164-3B13-455C-A204-DC47BE324F4E}"/>
              </a:ext>
            </a:extLst>
          </p:cNvPr>
          <p:cNvSpPr>
            <a:spLocks xmlns:a="http://schemas.openxmlformats.org/drawingml/2006/main" noGrp="1"/>
          </p:cNvSpPr>
          <p:nvPr/>
        </p:nvSpPr>
        <p:spPr>
          <a:xfrm xmlns:a="http://schemas.openxmlformats.org/drawingml/2006/main">
            <a:off x="1524000" y="4309784"/>
            <a:ext cx="9144000" cy="1238250"/>
          </a:xfrm>
          <a:prstGeom xmlns:a="http://schemas.openxmlformats.org/drawingml/2006/main" prst="roundRect">
            <a:avLst>
              <a:gd name="adj" fmla="val 12308"/>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 name="direction-example-label">
            <a:extLst xmlns:a="http://schemas.openxmlformats.org/drawingml/2006/main">
              <a:ext uri="{FF2B5EF4-FFF2-40B4-BE49-F238E27FC236}">
                <a16:creationId xmlns:a16="http://schemas.microsoft.com/office/drawing/2014/main" id="{DD39F9E9-7D49-4BD8-AC6E-644ABF159B48}"/>
              </a:ext>
            </a:extLst>
          </p:cNvPr>
          <p:cNvSpPr>
            <a:spLocks xmlns:a="http://schemas.openxmlformats.org/drawingml/2006/main" noGrp="1"/>
          </p:cNvSpPr>
          <p:nvPr/>
        </p:nvSpPr>
        <p:spPr>
          <a:xfrm xmlns:a="http://schemas.openxmlformats.org/drawingml/2006/main">
            <a:off x="1952625" y="4509809"/>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xmlns:a="http://schemas.openxmlformats.org/drawingml/2006/main">
              <a:ext uri="{FF2B5EF4-FFF2-40B4-BE49-F238E27FC236}">
                <a16:creationId xmlns:a16="http://schemas.microsoft.com/office/drawing/2014/main" id="{33B5E7EC-043A-49BC-A2B4-06D42CCAEA44}"/>
              </a:ext>
            </a:extLst>
          </p:cNvPr>
          <p:cNvSpPr>
            <a:spLocks xmlns:a="http://schemas.openxmlformats.org/drawingml/2006/main" noGrp="1"/>
          </p:cNvSpPr>
          <p:nvPr/>
        </p:nvSpPr>
        <p:spPr>
          <a:xfrm xmlns:a="http://schemas.openxmlformats.org/drawingml/2006/main">
            <a:off x="1952625" y="4919384"/>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xmlns:a="http://schemas.openxmlformats.org/drawingml/2006/main">
              <a:ext uri="{FF2B5EF4-FFF2-40B4-BE49-F238E27FC236}">
                <a16:creationId xmlns:a16="http://schemas.microsoft.com/office/drawing/2014/main" id="{DE281373-4DE5-4682-A3E3-9B19408BAB52}"/>
              </a:ext>
            </a:extLst>
          </p:cNvPr>
          <p:cNvSpPr>
            <a:spLocks xmlns:a="http://schemas.openxmlformats.org/drawingml/2006/main" noGrp="1"/>
          </p:cNvSpPr>
          <p:nvPr/>
        </p:nvSpPr>
        <p:spPr>
          <a:xfrm xmlns:a="http://schemas.openxmlformats.org/drawingml/2006/main">
            <a:off x="1000125" y="5844989"/>
            <a:ext cx="10191750" cy="590550"/>
          </a:xfrm>
          <a:prstGeom xmlns:a="http://schemas.openxmlformats.org/drawingml/2006/main" prst="roundRect">
            <a:avLst>
              <a:gd name="adj" fmla="val 19355"/>
            </a:avLst>
          </a:prstGeom>
          <a:solidFill xmlns:a="http://schemas.openxmlformats.org/drawingml/2006/main">
            <a:srgbClr val="F1F4F7"/>
          </a:solidFill>
          <a:ln xmlns:a="http://schemas.openxmlformats.org/drawingml/2006/main" w="9525">
            <a:solidFill>
              <a:srgbClr val="D8E2EC"/>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direction-reading-label">
            <a:extLst xmlns:a="http://schemas.openxmlformats.org/drawingml/2006/main">
              <a:ext uri="{FF2B5EF4-FFF2-40B4-BE49-F238E27FC236}">
                <a16:creationId xmlns:a16="http://schemas.microsoft.com/office/drawing/2014/main" id="{DE4F20A9-5D22-492D-8F29-00AF265C1FE6}"/>
              </a:ext>
            </a:extLst>
          </p:cNvPr>
          <p:cNvSpPr>
            <a:spLocks xmlns:a="http://schemas.openxmlformats.org/drawingml/2006/main" noGrp="1"/>
          </p:cNvSpPr>
          <p:nvPr/>
        </p:nvSpPr>
        <p:spPr>
          <a:xfrm xmlns:a="http://schemas.openxmlformats.org/drawingml/2006/main">
            <a:off x="1276350" y="6006914"/>
            <a:ext cx="1666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xmlns:a="http://schemas.openxmlformats.org/drawingml/2006/main">
              <a:ext uri="{FF2B5EF4-FFF2-40B4-BE49-F238E27FC236}">
                <a16:creationId xmlns:a16="http://schemas.microsoft.com/office/drawing/2014/main" id="{191E78E3-6505-4ACF-BE68-F0D5576FD62F}"/>
              </a:ext>
            </a:extLst>
          </p:cNvPr>
          <p:cNvSpPr>
            <a:spLocks xmlns:a="http://schemas.openxmlformats.org/drawingml/2006/main" noGrp="1"/>
          </p:cNvSpPr>
          <p:nvPr/>
        </p:nvSpPr>
        <p:spPr>
          <a:xfrm xmlns:a="http://schemas.openxmlformats.org/drawingml/2006/main">
            <a:off x="3000375" y="5968814"/>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379" lnSpcReduction="10000"/>
          </a:bodyPr>
          <a:lstStyle xmlns:a="http://schemas.openxmlformats.org/drawingml/2006/main"/>
          <a:p xmlns:a="http://schemas.openxmlformats.org/drawingml/2006/main">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xmlns:a="http://schemas.openxmlformats.org/drawingml/2006/main">
              <a:ext uri="{FF2B5EF4-FFF2-40B4-BE49-F238E27FC236}">
                <a16:creationId xmlns:a16="http://schemas.microsoft.com/office/drawing/2014/main" id="{D2ED8626-1F9D-4E36-BAE4-63F077D61F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up-share-formula-title">
            <a:extLst xmlns:a="http://schemas.openxmlformats.org/drawingml/2006/main">
              <a:ext uri="{FF2B5EF4-FFF2-40B4-BE49-F238E27FC236}">
                <a16:creationId xmlns:a16="http://schemas.microsoft.com/office/drawing/2014/main" id="{8E5F143E-6305-4B38-9005-7657993A5D63}"/>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xmlns:a="http://schemas.openxmlformats.org/drawingml/2006/main">
              <a:ext uri="{FF2B5EF4-FFF2-40B4-BE49-F238E27FC236}">
                <a16:creationId xmlns:a16="http://schemas.microsoft.com/office/drawing/2014/main" id="{61AEDA80-AEB4-486A-971C-54131334840B}"/>
              </a:ext>
            </a:extLst>
          </p:cNvPr>
          <p:cNvSpPr>
            <a:spLocks xmlns:a="http://schemas.openxmlformats.org/drawingml/2006/main" noGrp="1"/>
          </p:cNvSpPr>
          <p:nvPr/>
        </p:nvSpPr>
        <p:spPr>
          <a:xfrm xmlns:a="http://schemas.openxmlformats.org/drawingml/2006/main">
            <a:off x="552450" y="9239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xmlns:a="http://schemas.openxmlformats.org/drawingml/2006/main">
              <a:ext uri="{FF2B5EF4-FFF2-40B4-BE49-F238E27FC236}">
                <a16:creationId xmlns:a16="http://schemas.microsoft.com/office/drawing/2014/main" id="{0443B4DA-9127-470C-A1D0-05F3D4CB57A4}"/>
              </a:ext>
            </a:extLst>
          </p:cNvPr>
          <p:cNvSpPr>
            <a:spLocks xmlns:a="http://schemas.openxmlformats.org/drawingml/2006/main" noGrp="1"/>
          </p:cNvSpPr>
          <p:nvPr/>
        </p:nvSpPr>
        <p:spPr>
          <a:xfrm xmlns:a="http://schemas.openxmlformats.org/drawingml/2006/main">
            <a:off x="1000125" y="1504950"/>
            <a:ext cx="10191750" cy="1885950"/>
          </a:xfrm>
          <a:prstGeom xmlns:a="http://schemas.openxmlformats.org/drawingml/2006/main" prst="roundRect">
            <a:avLst>
              <a:gd name="adj" fmla="val 8081"/>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2" name="up-share-formula-label">
            <a:extLst xmlns:a="http://schemas.openxmlformats.org/drawingml/2006/main">
              <a:ext uri="{FF2B5EF4-FFF2-40B4-BE49-F238E27FC236}">
                <a16:creationId xmlns:a16="http://schemas.microsoft.com/office/drawing/2014/main" id="{1688DF3F-06AF-453B-BD4A-9353CDFF1B13}"/>
              </a:ext>
            </a:extLst>
          </p:cNvPr>
          <p:cNvSpPr>
            <a:spLocks xmlns:a="http://schemas.openxmlformats.org/drawingml/2006/main" noGrp="1"/>
          </p:cNvSpPr>
          <p:nvPr/>
        </p:nvSpPr>
        <p:spPr>
          <a:xfrm xmlns:a="http://schemas.openxmlformats.org/drawingml/2006/main">
            <a:off x="1143000" y="21336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xmlns:a="http://schemas.openxmlformats.org/drawingml/2006/main">
              <a:ext uri="{FF2B5EF4-FFF2-40B4-BE49-F238E27FC236}">
                <a16:creationId xmlns:a16="http://schemas.microsoft.com/office/drawing/2014/main" id="{2F35C907-F14B-40C4-88D4-4430E70999A9}"/>
              </a:ext>
            </a:extLst>
          </p:cNvPr>
          <p:cNvSpPr>
            <a:spLocks xmlns:a="http://schemas.openxmlformats.org/drawingml/2006/main" noGrp="1"/>
          </p:cNvSpPr>
          <p:nvPr/>
        </p:nvSpPr>
        <p:spPr>
          <a:xfrm xmlns:a="http://schemas.openxmlformats.org/drawingml/2006/main">
            <a:off x="4762500" y="17907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a:bodyPr>
          <a:lstStyle xmlns:a="http://schemas.openxmlformats.org/drawingml/2006/main"/>
          <a:p xmlns:a="http://schemas.openxmlformats.org/drawingml/2006/main">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xmlns:a="http://schemas.openxmlformats.org/drawingml/2006/main">
              <a:ext uri="{FF2B5EF4-FFF2-40B4-BE49-F238E27FC236}">
                <a16:creationId xmlns:a16="http://schemas.microsoft.com/office/drawing/2014/main" id="{A95E5007-62D8-416B-86F0-D2DE235D5B28}"/>
              </a:ext>
            </a:extLst>
          </p:cNvPr>
          <p:cNvSpPr>
            <a:spLocks xmlns:a="http://schemas.openxmlformats.org/drawingml/2006/main" noGrp="1"/>
          </p:cNvSpPr>
          <p:nvPr/>
        </p:nvSpPr>
        <p:spPr>
          <a:xfrm xmlns:a="http://schemas.openxmlformats.org/drawingml/2006/main">
            <a:off x="4619625" y="2400300"/>
            <a:ext cx="5048250"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up-share-formula-denominator">
            <a:extLst xmlns:a="http://schemas.openxmlformats.org/drawingml/2006/main">
              <a:ext uri="{FF2B5EF4-FFF2-40B4-BE49-F238E27FC236}">
                <a16:creationId xmlns:a16="http://schemas.microsoft.com/office/drawing/2014/main" id="{ED116C25-3046-449D-80B2-0EDADE14B683}"/>
              </a:ext>
            </a:extLst>
          </p:cNvPr>
          <p:cNvSpPr>
            <a:spLocks xmlns:a="http://schemas.openxmlformats.org/drawingml/2006/main" noGrp="1"/>
          </p:cNvSpPr>
          <p:nvPr/>
        </p:nvSpPr>
        <p:spPr>
          <a:xfrm xmlns:a="http://schemas.openxmlformats.org/drawingml/2006/main">
            <a:off x="4524375" y="25431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17" lnSpcReduction="10000"/>
          </a:bodyPr>
          <a:lstStyle xmlns:a="http://schemas.openxmlformats.org/drawingml/2006/main"/>
          <a:p xmlns:a="http://schemas.openxmlformats.org/drawingml/2006/main">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xmlns:a="http://schemas.openxmlformats.org/drawingml/2006/main">
              <a:ext uri="{FF2B5EF4-FFF2-40B4-BE49-F238E27FC236}">
                <a16:creationId xmlns:a16="http://schemas.microsoft.com/office/drawing/2014/main" id="{90AA0374-C8CA-40E5-9B4A-D01802E9E008}"/>
              </a:ext>
            </a:extLst>
          </p:cNvPr>
          <p:cNvSpPr>
            <a:spLocks xmlns:a="http://schemas.openxmlformats.org/drawingml/2006/main" noGrp="1"/>
          </p:cNvSpPr>
          <p:nvPr/>
        </p:nvSpPr>
        <p:spPr>
          <a:xfrm xmlns:a="http://schemas.openxmlformats.org/drawingml/2006/main">
            <a:off x="9906000" y="2133600"/>
            <a:ext cx="95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xmlns:a="http://schemas.openxmlformats.org/drawingml/2006/main">
              <a:ext uri="{FF2B5EF4-FFF2-40B4-BE49-F238E27FC236}">
                <a16:creationId xmlns:a16="http://schemas.microsoft.com/office/drawing/2014/main" id="{1A6CE354-8C72-486A-828A-0EBE27A94B79}"/>
              </a:ext>
            </a:extLst>
          </p:cNvPr>
          <p:cNvSpPr>
            <a:spLocks xmlns:a="http://schemas.openxmlformats.org/drawingml/2006/main" noGrp="1"/>
          </p:cNvSpPr>
          <p:nvPr/>
        </p:nvSpPr>
        <p:spPr>
          <a:xfrm xmlns:a="http://schemas.openxmlformats.org/drawingml/2006/main">
            <a:off x="1143000" y="3600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xmlns:a="http://schemas.openxmlformats.org/drawingml/2006/main">
              <a:ext uri="{FF2B5EF4-FFF2-40B4-BE49-F238E27FC236}">
                <a16:creationId xmlns:a16="http://schemas.microsoft.com/office/drawing/2014/main" id="{E7A883B5-E2EA-4CAA-ACF6-8ACD938659A8}"/>
              </a:ext>
            </a:extLst>
          </p:cNvPr>
          <p:cNvSpPr>
            <a:spLocks xmlns:a="http://schemas.openxmlformats.org/drawingml/2006/main" noGrp="1"/>
          </p:cNvSpPr>
          <p:nvPr/>
        </p:nvSpPr>
        <p:spPr>
          <a:xfrm xmlns:a="http://schemas.openxmlformats.org/drawingml/2006/main">
            <a:off x="1524000" y="4309784"/>
            <a:ext cx="9144000" cy="1238250"/>
          </a:xfrm>
          <a:prstGeom xmlns:a="http://schemas.openxmlformats.org/drawingml/2006/main" prst="roundRect">
            <a:avLst>
              <a:gd name="adj" fmla="val 12308"/>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9" name="up-share-example-label">
            <a:extLst xmlns:a="http://schemas.openxmlformats.org/drawingml/2006/main">
              <a:ext uri="{FF2B5EF4-FFF2-40B4-BE49-F238E27FC236}">
                <a16:creationId xmlns:a16="http://schemas.microsoft.com/office/drawing/2014/main" id="{000ADEC4-160C-4935-8190-C81488BAB034}"/>
              </a:ext>
            </a:extLst>
          </p:cNvPr>
          <p:cNvSpPr>
            <a:spLocks xmlns:a="http://schemas.openxmlformats.org/drawingml/2006/main" noGrp="1"/>
          </p:cNvSpPr>
          <p:nvPr/>
        </p:nvSpPr>
        <p:spPr>
          <a:xfrm xmlns:a="http://schemas.openxmlformats.org/drawingml/2006/main">
            <a:off x="1952625" y="4509809"/>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xmlns:a="http://schemas.openxmlformats.org/drawingml/2006/main">
              <a:ext uri="{FF2B5EF4-FFF2-40B4-BE49-F238E27FC236}">
                <a16:creationId xmlns:a16="http://schemas.microsoft.com/office/drawing/2014/main" id="{178F17E4-AD5A-4864-A4D6-0543141C8923}"/>
              </a:ext>
            </a:extLst>
          </p:cNvPr>
          <p:cNvSpPr>
            <a:spLocks xmlns:a="http://schemas.openxmlformats.org/drawingml/2006/main" noGrp="1"/>
          </p:cNvSpPr>
          <p:nvPr/>
        </p:nvSpPr>
        <p:spPr>
          <a:xfrm xmlns:a="http://schemas.openxmlformats.org/drawingml/2006/main">
            <a:off x="1952625" y="4919384"/>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xmlns:a="http://schemas.openxmlformats.org/drawingml/2006/main">
              <a:ext uri="{FF2B5EF4-FFF2-40B4-BE49-F238E27FC236}">
                <a16:creationId xmlns:a16="http://schemas.microsoft.com/office/drawing/2014/main" id="{0C3AE05E-6042-4D00-84A3-548A07C992B0}"/>
              </a:ext>
            </a:extLst>
          </p:cNvPr>
          <p:cNvSpPr>
            <a:spLocks xmlns:a="http://schemas.openxmlformats.org/drawingml/2006/main" noGrp="1"/>
          </p:cNvSpPr>
          <p:nvPr/>
        </p:nvSpPr>
        <p:spPr>
          <a:xfrm xmlns:a="http://schemas.openxmlformats.org/drawingml/2006/main">
            <a:off x="1000125" y="5844989"/>
            <a:ext cx="10191750" cy="590550"/>
          </a:xfrm>
          <a:prstGeom xmlns:a="http://schemas.openxmlformats.org/drawingml/2006/main" prst="roundRect">
            <a:avLst>
              <a:gd name="adj" fmla="val 19355"/>
            </a:avLst>
          </a:prstGeom>
          <a:solidFill xmlns:a="http://schemas.openxmlformats.org/drawingml/2006/main">
            <a:srgbClr val="F1F4F7"/>
          </a:solidFill>
          <a:ln xmlns:a="http://schemas.openxmlformats.org/drawingml/2006/main" w="9525">
            <a:solidFill>
              <a:srgbClr val="D8E2EC"/>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up-share-reading-label">
            <a:extLst xmlns:a="http://schemas.openxmlformats.org/drawingml/2006/main">
              <a:ext uri="{FF2B5EF4-FFF2-40B4-BE49-F238E27FC236}">
                <a16:creationId xmlns:a16="http://schemas.microsoft.com/office/drawing/2014/main" id="{AD424F90-92D4-473C-A03F-F2FC6E453976}"/>
              </a:ext>
            </a:extLst>
          </p:cNvPr>
          <p:cNvSpPr>
            <a:spLocks xmlns:a="http://schemas.openxmlformats.org/drawingml/2006/main" noGrp="1"/>
          </p:cNvSpPr>
          <p:nvPr/>
        </p:nvSpPr>
        <p:spPr>
          <a:xfrm xmlns:a="http://schemas.openxmlformats.org/drawingml/2006/main">
            <a:off x="1276350" y="6006914"/>
            <a:ext cx="1666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xmlns:a="http://schemas.openxmlformats.org/drawingml/2006/main">
              <a:ext uri="{FF2B5EF4-FFF2-40B4-BE49-F238E27FC236}">
                <a16:creationId xmlns:a16="http://schemas.microsoft.com/office/drawing/2014/main" id="{1E657A0D-8437-4DBF-8A41-D78543DB84CE}"/>
              </a:ext>
            </a:extLst>
          </p:cNvPr>
          <p:cNvSpPr>
            <a:spLocks xmlns:a="http://schemas.openxmlformats.org/drawingml/2006/main" noGrp="1"/>
          </p:cNvSpPr>
          <p:nvPr/>
        </p:nvSpPr>
        <p:spPr>
          <a:xfrm xmlns:a="http://schemas.openxmlformats.org/drawingml/2006/main">
            <a:off x="3000375" y="5930714"/>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FFB8A0-DEAC-440E-806C-3B607915AFB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xmlns:a="http://schemas.openxmlformats.org/drawingml/2006/main">
              <a:ext uri="{FF2B5EF4-FFF2-40B4-BE49-F238E27FC236}">
                <a16:creationId xmlns:a16="http://schemas.microsoft.com/office/drawing/2014/main" id="{F2B80348-3939-45C0-ACEB-4A1F32F42960}"/>
              </a:ext>
            </a:extLst>
          </p:cNvPr>
          <p:cNvSpPr>
            <a:spLocks xmlns:a="http://schemas.openxmlformats.org/drawingml/2006/main" noGrp="1"/>
          </p:cNvSpPr>
          <p:nvPr/>
        </p:nvSpPr>
        <p:spPr>
          <a:xfrm xmlns:a="http://schemas.openxmlformats.org/drawingml/2006/main">
            <a:off x="1140312" y="1173838"/>
            <a:ext cx="9877313"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xmlns:a="http://schemas.openxmlformats.org/drawingml/2006/main">
              <a:ext uri="{FF2B5EF4-FFF2-40B4-BE49-F238E27FC236}">
                <a16:creationId xmlns:a16="http://schemas.microsoft.com/office/drawing/2014/main" id="{7BFC1DB3-DFD2-40A6-BEF9-C7D358422FDC}"/>
              </a:ext>
            </a:extLst>
          </p:cNvPr>
          <p:cNvSpPr>
            <a:spLocks xmlns:a="http://schemas.openxmlformats.org/drawingml/2006/main" noGrp="1"/>
          </p:cNvSpPr>
          <p:nvPr/>
        </p:nvSpPr>
        <p:spPr>
          <a:xfrm xmlns:a="http://schemas.openxmlformats.org/drawingml/2006/main">
            <a:off x="658368" y="5650992"/>
            <a:ext cx="10881360" cy="640080"/>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7D15E47-25EF-48E5-9080-CEFB5FCC0506}"/>
              </a:ext>
            </a:extLst>
          </p:cNvPr>
          <p:cNvSpPr>
            <a:spLocks xmlns:a="http://schemas.openxmlformats.org/drawingml/2006/main" noGrp="1"/>
          </p:cNvSpPr>
          <p:nvPr/>
        </p:nvSpPr>
        <p:spPr>
          <a:xfrm xmlns:a="http://schemas.openxmlformats.org/drawingml/2006/main">
            <a:off x="932688" y="5843016"/>
            <a:ext cx="111556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xmlns:a="http://schemas.openxmlformats.org/drawingml/2006/main">
              <a:ext uri="{FF2B5EF4-FFF2-40B4-BE49-F238E27FC236}">
                <a16:creationId xmlns:a16="http://schemas.microsoft.com/office/drawing/2014/main" id="{B7B88507-A599-4037-BD24-A84D179AFD21}"/>
              </a:ext>
            </a:extLst>
          </p:cNvPr>
          <p:cNvSpPr>
            <a:spLocks xmlns:a="http://schemas.openxmlformats.org/drawingml/2006/main" noGrp="1"/>
          </p:cNvSpPr>
          <p:nvPr/>
        </p:nvSpPr>
        <p:spPr>
          <a:xfrm xmlns:a="http://schemas.openxmlformats.org/drawingml/2006/main">
            <a:off x="2148840" y="5797296"/>
            <a:ext cx="8979408"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xmlns:a="http://schemas.openxmlformats.org/drawingml/2006/main" noChangeAspect="1"/>
          </p:cNvPicPr>
          <p:nvPr/>
        </p:nvPicPr>
        <p:blipFill>
          <a:blip xmlns:r="http://schemas.openxmlformats.org/officeDocument/2006/relationships" xmlns:a="http://schemas.openxmlformats.org/drawingml/2006/main" r:embed="Rec4c5da0f1f94de5"/>
          <a:stretch xmlns:a="http://schemas.openxmlformats.org/drawingml/2006/main">
            <a:fillRect l="0" t="0" r="0" b="0"/>
          </a:stretch>
        </p:blipFill>
        <p:spPr>
          <a:xfrm xmlns:a="http://schemas.openxmlformats.org/drawingml/2006/main">
            <a:off x="612648" y="1758132"/>
            <a:ext cx="10972800" cy="3232007"/>
          </a:xfrm>
          <a:prstGeom xmlns:a="http://schemas.openxmlformats.org/drawingml/2006/main" prst="rect">
            <a:avLst/>
          </a:prstGeom>
        </p:spPr>
      </p:pic>
      <p:sp>
        <p:nvSpPr>
          <p:cNvPr id="9" name="up-share-chart-background">
            <a:extLst xmlns:a="http://schemas.openxmlformats.org/drawingml/2006/main">
              <a:ext uri="{FF2B5EF4-FFF2-40B4-BE49-F238E27FC236}">
                <a16:creationId xmlns:a16="http://schemas.microsoft.com/office/drawing/2014/main" id="{F3D88217-4D79-49C6-B63B-2B75F4D08C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up-share-chart-title">
            <a:extLst xmlns:a="http://schemas.openxmlformats.org/drawingml/2006/main">
              <a:ext uri="{FF2B5EF4-FFF2-40B4-BE49-F238E27FC236}">
                <a16:creationId xmlns:a16="http://schemas.microsoft.com/office/drawing/2014/main" id="{55D6B509-3AFF-4ECC-A9BF-A92BC1266806}"/>
              </a:ext>
            </a:extLst>
          </p:cNvPr>
          <p:cNvSpPr>
            <a:spLocks xmlns:a="http://schemas.openxmlformats.org/drawingml/2006/main" noGrp="1"/>
          </p:cNvSpPr>
          <p:nvPr/>
        </p:nvSpPr>
        <p:spPr>
          <a:xfrm xmlns:a="http://schemas.openxmlformats.org/drawingml/2006/main">
            <a:off x="552450" y="428625"/>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xmlns:a="http://schemas.openxmlformats.org/drawingml/2006/main">
              <a:ext uri="{FF2B5EF4-FFF2-40B4-BE49-F238E27FC236}">
                <a16:creationId xmlns:a16="http://schemas.microsoft.com/office/drawing/2014/main" id="{683407C2-9A63-47C5-A661-F12A42F00D95}"/>
              </a:ext>
            </a:extLst>
          </p:cNvPr>
          <p:cNvSpPr>
            <a:spLocks xmlns:a="http://schemas.openxmlformats.org/drawingml/2006/main" noGrp="1"/>
          </p:cNvSpPr>
          <p:nvPr/>
        </p:nvSpPr>
        <p:spPr>
          <a:xfrm xmlns:a="http://schemas.openxmlformats.org/drawingml/2006/main">
            <a:off x="1162050" y="1143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xmlns:a="http://schemas.openxmlformats.org/drawingml/2006/main">
              <a:ext uri="{FF2B5EF4-FFF2-40B4-BE49-F238E27FC236}">
                <a16:creationId xmlns:a16="http://schemas.microsoft.com/office/drawing/2014/main" id="{C28648A0-45A1-4934-A17C-4EB76AFCB4E1}"/>
              </a:ext>
            </a:extLst>
          </p:cNvPr>
          <p:cNvSpPr>
            <a:spLocks xmlns:a="http://schemas.openxmlformats.org/drawingml/2006/main" noGrp="1"/>
          </p:cNvSpPr>
          <p:nvPr/>
        </p:nvSpPr>
        <p:spPr>
          <a:xfrm xmlns:a="http://schemas.openxmlformats.org/drawingml/2006/main">
            <a:off x="714375" y="158115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mlns:a="http://schemas.openxmlformats.org/drawingml/2006/main" x="714375" y="1835090"/>
          <a:ext xmlns:a="http://schemas.openxmlformats.org/drawingml/2006/main" cx="10763250" cy="3381375"/>
        </p:xfrm>
        <a:graphic xmlns:a="http://schemas.openxmlformats.org/drawingml/2006/main">
          <a:graphicData uri="http://schemas.openxmlformats.org/drawingml/2006/chart">
            <c:chart xmlns:r="http://schemas.openxmlformats.org/officeDocument/2006/relationships" xmlns:c="http://schemas.openxmlformats.org/drawingml/2006/chart" r:id="Rb3f6d6b7e87c4d51"/>
          </a:graphicData>
        </a:graphic>
      </p:graphicFrame>
      <p:sp>
        <p:nvSpPr>
          <p:cNvPr id="14" name="up-share-key-contrast-surface">
            <a:extLst xmlns:a="http://schemas.openxmlformats.org/drawingml/2006/main">
              <a:ext uri="{FF2B5EF4-FFF2-40B4-BE49-F238E27FC236}">
                <a16:creationId xmlns:a16="http://schemas.microsoft.com/office/drawing/2014/main" id="{0FA2CAA8-3E8A-4BA2-9A72-13F758802B18}"/>
              </a:ext>
            </a:extLst>
          </p:cNvPr>
          <p:cNvSpPr>
            <a:spLocks xmlns:a="http://schemas.openxmlformats.org/drawingml/2006/main" noGrp="1"/>
          </p:cNvSpPr>
          <p:nvPr/>
        </p:nvSpPr>
        <p:spPr>
          <a:xfrm xmlns:a="http://schemas.openxmlformats.org/drawingml/2006/main">
            <a:off x="647700" y="5638800"/>
            <a:ext cx="10896600" cy="657225"/>
          </a:xfrm>
          <a:prstGeom xmlns:a="http://schemas.openxmlformats.org/drawingml/2006/main" prst="roundRect">
            <a:avLst>
              <a:gd name="adj" fmla="val 17391"/>
            </a:avLst>
          </a:prstGeom>
          <a:solidFill xmlns:a="http://schemas.openxmlformats.org/drawingml/2006/main">
            <a:srgbClr val="F1F4F7"/>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 name="up-share-key-contrast-label">
            <a:extLst xmlns:a="http://schemas.openxmlformats.org/drawingml/2006/main">
              <a:ext uri="{FF2B5EF4-FFF2-40B4-BE49-F238E27FC236}">
                <a16:creationId xmlns:a16="http://schemas.microsoft.com/office/drawing/2014/main" id="{71C5911B-901A-4011-9F94-7EEA80440391}"/>
              </a:ext>
            </a:extLst>
          </p:cNvPr>
          <p:cNvSpPr>
            <a:spLocks xmlns:a="http://schemas.openxmlformats.org/drawingml/2006/main" noGrp="1"/>
          </p:cNvSpPr>
          <p:nvPr/>
        </p:nvSpPr>
        <p:spPr>
          <a:xfrm xmlns:a="http://schemas.openxmlformats.org/drawingml/2006/main">
            <a:off x="952500" y="5867400"/>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xmlns:a="http://schemas.openxmlformats.org/drawingml/2006/main">
              <a:ext uri="{FF2B5EF4-FFF2-40B4-BE49-F238E27FC236}">
                <a16:creationId xmlns:a16="http://schemas.microsoft.com/office/drawing/2014/main" id="{4DB05E54-9576-4DFA-ABE0-0D2D774F5762}"/>
              </a:ext>
            </a:extLst>
          </p:cNvPr>
          <p:cNvSpPr>
            <a:spLocks xmlns:a="http://schemas.openxmlformats.org/drawingml/2006/main" noGrp="1"/>
          </p:cNvSpPr>
          <p:nvPr/>
        </p:nvSpPr>
        <p:spPr>
          <a:xfrm xmlns:a="http://schemas.openxmlformats.org/drawingml/2006/main">
            <a:off x="2171700" y="5762625"/>
            <a:ext cx="8953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25860534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Summary 2 Title">
            <a:extLst xmlns:a="http://schemas.openxmlformats.org/drawingml/2006/main">
              <a:ext uri="{FF2B5EF4-FFF2-40B4-BE49-F238E27FC236}">
                <a16:creationId xmlns:a16="http://schemas.microsoft.com/office/drawing/2014/main" id="{B419B389-D248-A676-9085-30EAEF0FB506}"/>
              </a:ext>
            </a:extLst>
          </p:cNvPr>
          <p:cNvSpPr>
            <a:spLocks xmlns:a="http://schemas.openxmlformats.org/drawingml/2006/main" noGrp="1"/>
          </p:cNvSpPr>
          <p:nvPr/>
        </p:nvSpPr>
        <p:spPr>
          <a:xfrm xmlns:a="http://schemas.openxmlformats.org/drawingml/2006/main">
            <a:off x="609600" y="361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p xmlns:a="http://schemas.openxmlformats.org/drawingml/2006/main">
            <a:pPr algn="l">
              <a:buNone/>
              <a:defRPr sz="2250" b="1">
                <a:solidFill>
                  <a:srgbClr val="11263F"/>
                </a:solidFill>
                <a:latin typeface="Arial"/>
                <a:ea typeface="Arial"/>
                <a:cs typeface="Arial"/>
              </a:defRPr>
            </a:pPr>
            <a:r>
              <a:rPr sz="2250" b="1">
                <a:solidFill>
                  <a:srgbClr val="11263F"/>
                </a:solidFill>
                <a:latin typeface="Arial"/>
                <a:ea typeface="Arial"/>
                <a:cs typeface="Arial"/>
              </a:rPr>
              <a:t>DEG and pathway results</a:t>
            </a:r>
          </a:p>
        </p:txBody>
      </p:sp>
      <p:graphicFrame>
        <p:nvGraphicFramePr>
          <p:cNvPr id="8" name="Summary 2 Table"/>
          <p:cNvGraphicFramePr/>
          <p:nvPr/>
        </p:nvGraphicFramePr>
        <p:xfrm>
          <a:off xmlns:a="http://schemas.openxmlformats.org/drawingml/2006/main" x="666750" y="1524000"/>
          <a:ext xmlns:a="http://schemas.openxmlformats.org/drawingml/2006/main" cx="10858500" cy="4391028"/>
        </p:xfrm>
        <a:graphic xmlns:a="http://schemas.openxmlformats.org/drawingml/2006/main">
          <a:graphicData uri="http://schemas.openxmlformats.org/drawingml/2006/table">
            <a:tbl>
              <a:tblPr firstRow="1"/>
              <a:tblGrid>
                <a:gridCol w="857250"/>
                <a:gridCol w="2095500"/>
                <a:gridCol w="6572250"/>
                <a:gridCol w="1333500"/>
              </a:tblGrid>
              <a:tr h="495300">
                <a:tc>
                  <a:txBody>
                    <a:bodyPr/>
                    <a:lstStyle/>
                    <a:p>
                      <a:pPr algn="ctr">
                        <a:buNone/>
                      </a:pP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buNone/>
                      </a:pPr>
                      <a:r>
                        <a:rPr sz="1125" b="1">
                          <a:solidFill>
                            <a:srgbClr val="FFFFFF"/>
                          </a:solidFill>
                          <a:latin typeface="Arial"/>
                          <a:ea typeface="Arial"/>
                          <a:cs typeface="Arial"/>
                        </a:rPr>
                        <a:t>Sex/APOE group</a:t>
                      </a:r>
                    </a:p>
                  </a:txBody>
                  <a:tcPr marL="95250" marR="95250" marT="66675" marB="66675" anchor="ctr">
                    <a:solidFill>
                      <a:srgbClr val="11263F"/>
                    </a:solidFill>
                  </a:tcPr>
                </a:tc>
                <a:tc>
                  <a:txBody>
                    <a:bodyPr/>
                    <a:lstStyle/>
                    <a:p>
                      <a:pPr algn="l">
                        <a:buNone/>
                      </a:pPr>
                      <a:r>
                        <a:rPr sz="1125" b="1">
                          <a:solidFill>
                            <a:srgbClr val="FFFFFF"/>
                          </a:solidFill>
                          <a:latin typeface="Arial"/>
                          <a:ea typeface="Arial"/>
                          <a:cs typeface="Arial"/>
                        </a:rPr>
                        <a:t>Main result</a:t>
                      </a:r>
                    </a:p>
                  </a:txBody>
                  <a:tcPr marL="95250" marR="95250" marT="66675" marB="66675" anchor="ctr">
                    <a:solidFill>
                      <a:srgbClr val="11263F"/>
                    </a:solidFill>
                  </a:tcPr>
                </a:tc>
                <a:tc>
                  <a:txBody>
                    <a:bodyPr/>
                    <a:lstStyle/>
                    <a:p>
                      <a:pPr algn="ctr">
                        <a:buNone/>
                      </a:pPr>
                      <a:r>
                        <a:rPr sz="1125" b="1">
                          <a:solidFill>
                            <a:srgbClr val="FFFFFF"/>
                          </a:solidFill>
                          <a:latin typeface="Arial"/>
                          <a:ea typeface="Arial"/>
                          <a:cs typeface="Arial"/>
                        </a:rPr>
                        <a:t>Novelty</a:t>
                      </a:r>
                    </a:p>
                  </a:txBody>
                  <a:tcPr marL="95250" marR="95250" marT="66675" marB="66675" anchor="ctr">
                    <a:solidFill>
                      <a:srgbClr val="11263F"/>
                    </a:solidFill>
                  </a:tcPr>
                </a:tc>
              </a:tr>
              <a:tr h="649288">
                <a:tc>
                  <a:txBody>
                    <a:bodyPr/>
                    <a:lstStyle/>
                    <a:p>
                      <a:pPr algn="ctr">
                        <a:buNone/>
                      </a:pPr>
                      <a:r>
                        <a:rPr sz="1125" b="1">
                          <a:solidFill>
                            <a:srgbClr val="FFFFFF"/>
                          </a:solidFill>
                          <a:latin typeface="Arial"/>
                          <a:ea typeface="Arial"/>
                          <a:cs typeface="Arial"/>
                        </a:rPr>
                        <a:t>1</a:t>
                      </a:r>
                    </a:p>
                  </a:txBody>
                  <a:tcPr marL="95250" marR="95250" marT="66675" marB="66675" anchor="ctr">
                    <a:solidFill>
                      <a:srgbClr val="0077B6"/>
                    </a:solidFill>
                  </a:tcPr>
                </a:tc>
                <a:tc>
                  <a:txBody>
                    <a:bodyPr/>
                    <a:lstStyle/>
                    <a:p>
                      <a:pPr algn="l">
                        <a:buNone/>
                      </a:pPr>
                      <a:r>
                        <a:rPr sz="1125">
                          <a:solidFill>
                            <a:srgbClr val="1F2D3D"/>
                          </a:solidFill>
                          <a:latin typeface="Arial"/>
                          <a:ea typeface="Arial"/>
                          <a:cs typeface="Arial"/>
                        </a:rPr>
                        <a:t>Female ε3/ε3</a:t>
                      </a:r>
                    </a:p>
                  </a:txBody>
                  <a:tcPr marL="95250" marR="95250" marT="66675" marB="66675" anchor="ctr">
                    <a:solidFill>
                      <a:srgbClr val="FFFFFF"/>
                    </a:solidFill>
                  </a:tcPr>
                </a:tc>
                <a:tc>
                  <a:txBody>
                    <a:bodyPr/>
                    <a:lstStyle/>
                    <a:p>
                      <a:pPr algn="l">
                        <a:buNone/>
                      </a:pPr>
                      <a:r>
                        <a:rPr sz="1125">
                          <a:solidFill>
                            <a:srgbClr val="1F2D3D"/>
                          </a:solidFill>
                          <a:latin typeface="Arial"/>
                          <a:ea typeface="Arial"/>
                          <a:cs typeface="Arial"/>
                        </a:rPr>
                        <a:t>Core MT genes rise; nuclear-encoded OXPHOS genes also mostly rise in ROSMAP.</a:t>
                      </a:r>
                    </a:p>
                  </a:txBody>
                  <a:tcPr marL="95250" marR="95250" marT="66675" marB="66675" anchor="ctr">
                    <a:solidFill>
                      <a:srgbClr val="FFFFFF"/>
                    </a:solidFill>
                  </a:tcPr>
                </a:tc>
                <a:tc>
                  <a:txBody>
                    <a:bodyPr/>
                    <a:lstStyle/>
                    <a:p>
                      <a:pPr algn="ctr">
                        <a:buNone/>
                      </a:pPr>
                      <a:r>
                        <a:rPr sz="1125" b="1">
                          <a:solidFill>
                            <a:srgbClr val="005E82"/>
                          </a:solidFill>
                          <a:latin typeface="Arial"/>
                          <a:ea typeface="Arial"/>
                          <a:cs typeface="Arial"/>
                        </a:rPr>
                        <a:t>Moderate</a:t>
                      </a:r>
                    </a:p>
                  </a:txBody>
                  <a:tcPr marL="95250" marR="95250" marT="66675" marB="66675" anchor="ctr">
                    <a:solidFill>
                      <a:srgbClr val="E5F2FA"/>
                    </a:solidFill>
                  </a:tcPr>
                </a:tc>
              </a:tr>
              <a:tr h="649288">
                <a:tc>
                  <a:txBody>
                    <a:bodyPr/>
                    <a:lstStyle/>
                    <a:p>
                      <a:pPr algn="ctr">
                        <a:buNone/>
                      </a:pPr>
                      <a:r>
                        <a:rPr sz="1125" b="1">
                          <a:solidFill>
                            <a:srgbClr val="FFFFFF"/>
                          </a:solidFill>
                          <a:latin typeface="Arial"/>
                          <a:ea typeface="Arial"/>
                          <a:cs typeface="Arial"/>
                        </a:rPr>
                        <a:t>2</a:t>
                      </a:r>
                    </a:p>
                  </a:txBody>
                  <a:tcPr marL="95250" marR="95250" marT="66675" marB="66675" anchor="ctr">
                    <a:solidFill>
                      <a:srgbClr val="0077B6"/>
                    </a:solidFill>
                  </a:tcPr>
                </a:tc>
                <a:tc>
                  <a:txBody>
                    <a:bodyPr/>
                    <a:lstStyle/>
                    <a:p>
                      <a:pPr algn="l">
                        <a:buNone/>
                      </a:pPr>
                      <a:r>
                        <a:rPr sz="1125">
                          <a:solidFill>
                            <a:srgbClr val="1F2D3D"/>
                          </a:solidFill>
                          <a:latin typeface="Arial"/>
                          <a:ea typeface="Arial"/>
                          <a:cs typeface="Arial"/>
                        </a:rPr>
                        <a:t>Male ε3/ε3</a:t>
                      </a:r>
                    </a:p>
                  </a:txBody>
                  <a:tcPr marL="95250" marR="95250" marT="66675" marB="66675" anchor="ctr">
                    <a:solidFill>
                      <a:srgbClr val="F7FAFD"/>
                    </a:solidFill>
                  </a:tcPr>
                </a:tc>
                <a:tc>
                  <a:txBody>
                    <a:bodyPr/>
                    <a:lstStyle/>
                    <a:p>
                      <a:pPr algn="l">
                        <a:buNone/>
                      </a:pPr>
                      <a:r>
                        <a:rPr sz="1125">
                          <a:solidFill>
                            <a:srgbClr val="1F2D3D"/>
                          </a:solidFill>
                          <a:latin typeface="Arial"/>
                          <a:ea typeface="Arial"/>
                          <a:cs typeface="Arial"/>
                        </a:rPr>
                        <a:t>Core MT genes rise while nuclear-encoded OXPHOS genes fall.</a:t>
                      </a:r>
                    </a:p>
                  </a:txBody>
                  <a:tcPr marL="95250" marR="95250" marT="66675" marB="66675" anchor="ctr">
                    <a:solidFill>
                      <a:srgbClr val="F7FAFD"/>
                    </a:solidFill>
                  </a:tcPr>
                </a:tc>
                <a:tc>
                  <a:txBody>
                    <a:bodyPr/>
                    <a:lstStyle/>
                    <a:p>
                      <a:pPr algn="ctr">
                        <a:buNone/>
                      </a:pPr>
                      <a:r>
                        <a:rPr sz="1125" b="1">
                          <a:solidFill>
                            <a:srgbClr val="8A4A00"/>
                          </a:solidFill>
                          <a:latin typeface="Arial"/>
                          <a:ea typeface="Arial"/>
                          <a:cs typeface="Arial"/>
                        </a:rPr>
                        <a:t>High</a:t>
                      </a:r>
                    </a:p>
                  </a:txBody>
                  <a:tcPr marL="95250" marR="95250" marT="66675" marB="66675" anchor="ctr">
                    <a:solidFill>
                      <a:srgbClr val="FFF1CE"/>
                    </a:solidFill>
                  </a:tcPr>
                </a:tc>
              </a:tr>
              <a:tr h="649288">
                <a:tc>
                  <a:txBody>
                    <a:bodyPr/>
                    <a:lstStyle/>
                    <a:p>
                      <a:pPr algn="ctr">
                        <a:buNone/>
                      </a:pPr>
                      <a:r>
                        <a:rPr sz="1125" b="1">
                          <a:solidFill>
                            <a:srgbClr val="FFFFFF"/>
                          </a:solidFill>
                          <a:latin typeface="Arial"/>
                          <a:ea typeface="Arial"/>
                          <a:cs typeface="Arial"/>
                        </a:rPr>
                        <a:t>3</a:t>
                      </a:r>
                    </a:p>
                  </a:txBody>
                  <a:tcPr marL="95250" marR="95250" marT="66675" marB="66675" anchor="ctr">
                    <a:solidFill>
                      <a:srgbClr val="0077B6"/>
                    </a:solidFill>
                  </a:tcPr>
                </a:tc>
                <a:tc>
                  <a:txBody>
                    <a:bodyPr/>
                    <a:lstStyle/>
                    <a:p>
                      <a:pPr algn="l">
                        <a:buNone/>
                      </a:pPr>
                      <a:r>
                        <a:rPr sz="1125">
                          <a:solidFill>
                            <a:srgbClr val="1F2D3D"/>
                          </a:solidFill>
                          <a:latin typeface="Arial"/>
                          <a:ea typeface="Arial"/>
                          <a:cs typeface="Arial"/>
                        </a:rPr>
                        <a:t>Female ε2</a:t>
                      </a:r>
                    </a:p>
                  </a:txBody>
                  <a:tcPr marL="95250" marR="95250" marT="66675" marB="66675" anchor="ctr">
                    <a:solidFill>
                      <a:srgbClr val="FFFFFF"/>
                    </a:solidFill>
                  </a:tcPr>
                </a:tc>
                <a:tc>
                  <a:txBody>
                    <a:bodyPr/>
                    <a:lstStyle/>
                    <a:p>
                      <a:pPr algn="l">
                        <a:buNone/>
                      </a:pPr>
                      <a:r>
                        <a:rPr sz="1125">
                          <a:solidFill>
                            <a:srgbClr val="1F2D3D"/>
                          </a:solidFill>
                          <a:latin typeface="Arial"/>
                          <a:ea typeface="Arial"/>
                          <a:cs typeface="Arial"/>
                        </a:rPr>
                        <a:t>Core MT and nuclear-encoded OXPHOS genes both rise.</a:t>
                      </a:r>
                    </a:p>
                  </a:txBody>
                  <a:tcPr marL="95250" marR="95250" marT="66675" marB="66675" anchor="ctr">
                    <a:solidFill>
                      <a:srgbClr val="FFFFFF"/>
                    </a:solidFill>
                  </a:tcPr>
                </a:tc>
                <a:tc>
                  <a:txBody>
                    <a:bodyPr/>
                    <a:lstStyle/>
                    <a:p>
                      <a:pPr algn="ctr">
                        <a:buNone/>
                      </a:pPr>
                      <a:r>
                        <a:rPr sz="1125" b="1">
                          <a:solidFill>
                            <a:srgbClr val="8A4A00"/>
                          </a:solidFill>
                          <a:latin typeface="Arial"/>
                          <a:ea typeface="Arial"/>
                          <a:cs typeface="Arial"/>
                        </a:rPr>
                        <a:t>High</a:t>
                      </a:r>
                    </a:p>
                  </a:txBody>
                  <a:tcPr marL="95250" marR="95250" marT="66675" marB="66675" anchor="ctr">
                    <a:solidFill>
                      <a:srgbClr val="FFF1CE"/>
                    </a:solidFill>
                  </a:tcPr>
                </a:tc>
              </a:tr>
              <a:tr h="649288">
                <a:tc>
                  <a:txBody>
                    <a:bodyPr/>
                    <a:lstStyle/>
                    <a:p>
                      <a:pPr algn="ctr">
                        <a:buNone/>
                      </a:pPr>
                      <a:r>
                        <a:rPr sz="1125" b="1">
                          <a:solidFill>
                            <a:srgbClr val="FFFFFF"/>
                          </a:solidFill>
                          <a:latin typeface="Arial"/>
                          <a:ea typeface="Arial"/>
                          <a:cs typeface="Arial"/>
                        </a:rPr>
                        <a:t>4</a:t>
                      </a:r>
                    </a:p>
                  </a:txBody>
                  <a:tcPr marL="95250" marR="95250" marT="66675" marB="66675" anchor="ctr">
                    <a:solidFill>
                      <a:srgbClr val="0077B6"/>
                    </a:solidFill>
                  </a:tcPr>
                </a:tc>
                <a:tc>
                  <a:txBody>
                    <a:bodyPr/>
                    <a:lstStyle/>
                    <a:p>
                      <a:pPr algn="l">
                        <a:buNone/>
                      </a:pPr>
                      <a:r>
                        <a:rPr sz="1125">
                          <a:solidFill>
                            <a:srgbClr val="1F2D3D"/>
                          </a:solidFill>
                          <a:latin typeface="Arial"/>
                          <a:ea typeface="Arial"/>
                          <a:cs typeface="Arial"/>
                        </a:rPr>
                        <a:t>Female ε4</a:t>
                      </a:r>
                    </a:p>
                  </a:txBody>
                  <a:tcPr marL="95250" marR="95250" marT="66675" marB="66675" anchor="ctr">
                    <a:solidFill>
                      <a:srgbClr val="F7FAFD"/>
                    </a:solidFill>
                  </a:tcPr>
                </a:tc>
                <a:tc>
                  <a:txBody>
                    <a:bodyPr/>
                    <a:lstStyle/>
                    <a:p>
                      <a:pPr algn="l">
                        <a:buNone/>
                      </a:pPr>
                      <a:r>
                        <a:rPr sz="1125">
                          <a:solidFill>
                            <a:srgbClr val="1F2D3D"/>
                          </a:solidFill>
                          <a:latin typeface="Arial"/>
                          <a:ea typeface="Arial"/>
                          <a:cs typeface="Arial"/>
                        </a:rPr>
                        <a:t>Nuclear-encoded OXPHOS genes show a strong decrease.</a:t>
                      </a:r>
                    </a:p>
                  </a:txBody>
                  <a:tcPr marL="95250" marR="95250" marT="66675" marB="66675" anchor="ctr">
                    <a:solidFill>
                      <a:srgbClr val="F7FAFD"/>
                    </a:solidFill>
                  </a:tcPr>
                </a:tc>
                <a:tc>
                  <a:txBody>
                    <a:bodyPr/>
                    <a:lstStyle/>
                    <a:p>
                      <a:pPr algn="ctr">
                        <a:buNone/>
                      </a:pPr>
                      <a:r>
                        <a:rPr sz="1125" b="1">
                          <a:solidFill>
                            <a:srgbClr val="005E82"/>
                          </a:solidFill>
                          <a:latin typeface="Arial"/>
                          <a:ea typeface="Arial"/>
                          <a:cs typeface="Arial"/>
                        </a:rPr>
                        <a:t>Moderate</a:t>
                      </a:r>
                    </a:p>
                  </a:txBody>
                  <a:tcPr marL="95250" marR="95250" marT="66675" marB="66675" anchor="ctr">
                    <a:solidFill>
                      <a:srgbClr val="E5F2FA"/>
                    </a:solidFill>
                  </a:tcPr>
                </a:tc>
              </a:tr>
              <a:tr h="649288">
                <a:tc>
                  <a:txBody>
                    <a:bodyPr/>
                    <a:lstStyle/>
                    <a:p>
                      <a:pPr algn="ctr">
                        <a:buNone/>
                      </a:pPr>
                      <a:r>
                        <a:rPr sz="1125" b="1">
                          <a:solidFill>
                            <a:srgbClr val="FFFFFF"/>
                          </a:solidFill>
                          <a:latin typeface="Arial"/>
                          <a:ea typeface="Arial"/>
                          <a:cs typeface="Arial"/>
                        </a:rPr>
                        <a:t>5</a:t>
                      </a:r>
                    </a:p>
                  </a:txBody>
                  <a:tcPr marL="95250" marR="95250" marT="66675" marB="66675" anchor="ctr">
                    <a:solidFill>
                      <a:srgbClr val="0077B6"/>
                    </a:solidFill>
                  </a:tcPr>
                </a:tc>
                <a:tc>
                  <a:txBody>
                    <a:bodyPr/>
                    <a:lstStyle/>
                    <a:p>
                      <a:pPr algn="l">
                        <a:buNone/>
                      </a:pPr>
                      <a:r>
                        <a:rPr sz="1125">
                          <a:solidFill>
                            <a:srgbClr val="1F2D3D"/>
                          </a:solidFill>
                          <a:latin typeface="Arial"/>
                          <a:ea typeface="Arial"/>
                          <a:cs typeface="Arial"/>
                        </a:rPr>
                        <a:t>Male ε2</a:t>
                      </a:r>
                    </a:p>
                  </a:txBody>
                  <a:tcPr marL="95250" marR="95250" marT="66675" marB="66675" anchor="ctr">
                    <a:solidFill>
                      <a:srgbClr val="FFFFFF"/>
                    </a:solidFill>
                  </a:tcPr>
                </a:tc>
                <a:tc>
                  <a:txBody>
                    <a:bodyPr/>
                    <a:lstStyle/>
                    <a:p>
                      <a:pPr algn="l">
                        <a:buNone/>
                      </a:pPr>
                      <a:r>
                        <a:rPr sz="1125">
                          <a:solidFill>
                            <a:srgbClr val="1F2D3D"/>
                          </a:solidFill>
                          <a:latin typeface="Arial"/>
                          <a:ea typeface="Arial"/>
                          <a:cs typeface="Arial"/>
                        </a:rPr>
                        <a:t>Both core MT and nuclear-encoded OXPHOS gene sets show broad decreases.</a:t>
                      </a:r>
                    </a:p>
                  </a:txBody>
                  <a:tcPr marL="95250" marR="95250" marT="66675" marB="66675" anchor="ctr">
                    <a:solidFill>
                      <a:srgbClr val="FFFFFF"/>
                    </a:solidFill>
                  </a:tcPr>
                </a:tc>
                <a:tc>
                  <a:txBody>
                    <a:bodyPr/>
                    <a:lstStyle/>
                    <a:p>
                      <a:pPr algn="ctr">
                        <a:buNone/>
                      </a:pPr>
                      <a:r>
                        <a:rPr sz="1125" b="1">
                          <a:solidFill>
                            <a:srgbClr val="8A4A00"/>
                          </a:solidFill>
                          <a:latin typeface="Arial"/>
                          <a:ea typeface="Arial"/>
                          <a:cs typeface="Arial"/>
                        </a:rPr>
                        <a:t>High</a:t>
                      </a:r>
                    </a:p>
                  </a:txBody>
                  <a:tcPr marL="95250" marR="95250" marT="66675" marB="66675" anchor="ctr">
                    <a:solidFill>
                      <a:srgbClr val="FFF1CE"/>
                    </a:solidFill>
                  </a:tcPr>
                </a:tc>
              </a:tr>
              <a:tr h="649288">
                <a:tc>
                  <a:txBody>
                    <a:bodyPr/>
                    <a:lstStyle/>
                    <a:p>
                      <a:pPr algn="ctr">
                        <a:buNone/>
                      </a:pPr>
                      <a:r>
                        <a:rPr sz="1125" b="1">
                          <a:solidFill>
                            <a:srgbClr val="FFFFFF"/>
                          </a:solidFill>
                          <a:latin typeface="Arial"/>
                          <a:ea typeface="Arial"/>
                          <a:cs typeface="Arial"/>
                        </a:rPr>
                        <a:t>6</a:t>
                      </a:r>
                    </a:p>
                  </a:txBody>
                  <a:tcPr marL="95250" marR="95250" marT="66675" marB="66675" anchor="ctr">
                    <a:solidFill>
                      <a:srgbClr val="0077B6"/>
                    </a:solidFill>
                  </a:tcPr>
                </a:tc>
                <a:tc>
                  <a:txBody>
                    <a:bodyPr/>
                    <a:lstStyle/>
                    <a:p>
                      <a:pPr algn="l">
                        <a:buNone/>
                      </a:pPr>
                      <a:r>
                        <a:rPr sz="1125">
                          <a:solidFill>
                            <a:srgbClr val="1F2D3D"/>
                          </a:solidFill>
                          <a:latin typeface="Arial"/>
                          <a:ea typeface="Arial"/>
                          <a:cs typeface="Arial"/>
                        </a:rPr>
                        <a:t>Male ε4</a:t>
                      </a:r>
                    </a:p>
                  </a:txBody>
                  <a:tcPr marL="95250" marR="95250" marT="66675" marB="66675" anchor="ctr">
                    <a:solidFill>
                      <a:srgbClr val="F7FAFD"/>
                    </a:solidFill>
                  </a:tcPr>
                </a:tc>
                <a:tc>
                  <a:txBody>
                    <a:bodyPr/>
                    <a:lstStyle/>
                    <a:p>
                      <a:pPr algn="l">
                        <a:buNone/>
                      </a:pPr>
                      <a:r>
                        <a:rPr sz="1125">
                          <a:solidFill>
                            <a:srgbClr val="1F2D3D"/>
                          </a:solidFill>
                          <a:latin typeface="Arial"/>
                          <a:ea typeface="Arial"/>
                          <a:cs typeface="Arial"/>
                        </a:rPr>
                        <a:t>Core MT genes rise while nuclear-encoded OXPHOS genes decrease more modestly.</a:t>
                      </a:r>
                    </a:p>
                  </a:txBody>
                  <a:tcPr marL="95250" marR="95250" marT="66675" marB="66675" anchor="ctr">
                    <a:solidFill>
                      <a:srgbClr val="F7FAFD"/>
                    </a:solidFill>
                  </a:tcPr>
                </a:tc>
                <a:tc>
                  <a:txBody>
                    <a:bodyPr/>
                    <a:lstStyle/>
                    <a:p>
                      <a:pPr algn="ctr">
                        <a:buNone/>
                      </a:pPr>
                      <a:r>
                        <a:rPr sz="1125" b="1">
                          <a:solidFill>
                            <a:srgbClr val="005E82"/>
                          </a:solidFill>
                          <a:latin typeface="Arial"/>
                          <a:ea typeface="Arial"/>
                          <a:cs typeface="Arial"/>
                        </a:rPr>
                        <a:t>Moderate</a:t>
                      </a:r>
                    </a:p>
                  </a:txBody>
                  <a:tcPr marL="95250" marR="95250" marT="66675" marB="66675" anchor="ctr">
                    <a:solidFill>
                      <a:srgbClr val="E5F2FA"/>
                    </a:solidFill>
                  </a:tcPr>
                </a:tc>
              </a:tr>
            </a:tbl>
          </a:graphicData>
        </a:graphic>
      </p:graphicFrame>
    </p:spTree>
    <p:extLst>
      <p:ext uri="{BB962C8B-B14F-4D97-AF65-F5344CB8AC3E}">
        <p14:creationId xmlns:p14="http://schemas.microsoft.com/office/powerpoint/2010/main" val="2816583897"/>
      </p:ext>
    </p:extLst>
  </p:cSld>
</p:sld>
</file>

<file path=ppt/slides/slide14.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EAEA5C-C8A9-4613-8C0C-F852EA9F568B}"/>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E69F00"/>
                </a:solidFill>
                <a:latin typeface="Arial"/>
                <a:ea typeface="Arial"/>
                <a:cs typeface="Arial"/>
              </a:rPr>
              <a:t>FINDING 1</a:t>
            </a:r>
          </a:p>
        </p:txBody>
      </p:sp>
      <p:sp>
        <p:nvSpPr>
          <p:cNvPr id="3" name="Rectangle 2">
            <a:extLst xmlns:a="http://schemas.openxmlformats.org/drawingml/2006/main">
              <a:ext uri="{FF2B5EF4-FFF2-40B4-BE49-F238E27FC236}">
                <a16:creationId xmlns:a16="http://schemas.microsoft.com/office/drawing/2014/main" id="{3B5CE9DA-02F6-45CB-82B1-5B51626912F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2C82376-515E-4BC4-AB74-CDB0A113DFE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xmlns:a="http://schemas.openxmlformats.org/drawingml/2006/main">
              <a:ext uri="{FF2B5EF4-FFF2-40B4-BE49-F238E27FC236}">
                <a16:creationId xmlns:a16="http://schemas.microsoft.com/office/drawing/2014/main" id="{ABD64F1D-6D65-4657-8920-B21C23BC4133}"/>
              </a:ext>
            </a:extLst>
          </p:cNvPr>
          <p:cNvSpPr>
            <a:spLocks xmlns:a="http://schemas.openxmlformats.org/drawingml/2006/main" noGrp="1"/>
          </p:cNvSpPr>
          <p:nvPr/>
        </p:nvSpPr>
        <p:spPr>
          <a:xfrm xmlns:a="http://schemas.openxmlformats.org/drawingml/2006/main">
            <a:off x="1097280" y="2468880"/>
            <a:ext cx="740664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a:t>
            </a:r>
          </a:p>
        </p:txBody>
      </p:sp>
      <p:sp>
        <p:nvSpPr>
          <p:cNvPr id="6" name="Rounded Rectangle 5">
            <a:extLst xmlns:a="http://schemas.openxmlformats.org/drawingml/2006/main">
              <a:ext uri="{FF2B5EF4-FFF2-40B4-BE49-F238E27FC236}">
                <a16:creationId xmlns:a16="http://schemas.microsoft.com/office/drawing/2014/main" id="{34E0ABAC-67E4-40F8-9669-78A49DD79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F94795F-DBCB-4875-AB3A-F194EC1F06F1}"/>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D54CAFC9-5CFB-41BD-BDA0-EF2426297699}"/>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B93F141-862A-46A7-8709-1CD099813C3D}"/>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86E4D91-2C00-493D-807F-3794CDCD150B}"/>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0750FA47-1898-4838-BE6A-74C319AE052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ED5175-98F8-43D7-8773-283594ABBDE3}"/>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2133B16D-F51E-4BE2-BBD2-081AF8E3C22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222AAAA-C164-425B-9350-3F447103C87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9078990-BE1C-48B0-A6B8-29581B7E1CAA}"/>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F6663891-7441-48F4-B939-1E71CD727891}"/>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SEA-AD support</a:t>
            </a:r>
          </a:p>
        </p:txBody>
      </p:sp>
      <p:sp>
        <p:nvSpPr>
          <p:cNvPr id="17" name="Oval 16">
            <a:extLst xmlns:a="http://schemas.openxmlformats.org/drawingml/2006/main">
              <a:ext uri="{FF2B5EF4-FFF2-40B4-BE49-F238E27FC236}">
                <a16:creationId xmlns:a16="http://schemas.microsoft.com/office/drawing/2014/main" id="{80EBB8DB-43E2-4F2A-97AF-E1463B5EFB2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90F30C7-B84D-4FB0-A4DE-1A5FC5698B4E}"/>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787F9A3-3CAD-449B-AA09-9C76EAFDB58E}"/>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85323ECB-521C-4237-AF84-44BE8F32CD4D}"/>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B802350-BEC6-48F2-870F-29D8C0D5C40A}"/>
              </a:ext>
            </a:extLst>
          </p:cNvPr>
          <p:cNvSpPr>
            <a:spLocks xmlns:a="http://schemas.openxmlformats.org/drawingml/2006/main" noGrp="1"/>
          </p:cNvSpPr>
          <p:nvPr/>
        </p:nvSpPr>
        <p:spPr>
          <a:xfrm xmlns:a="http://schemas.openxmlformats.org/drawingml/2006/main">
            <a:off x="1353312" y="4270248"/>
            <a:ext cx="6720840" cy="3962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044F1F-1ABD-4D0A-8F0B-681D66C1A916}"/>
              </a:ext>
            </a:extLst>
          </p:cNvPr>
          <p:cNvSpPr>
            <a:spLocks xmlns:a="http://schemas.openxmlformats.org/drawingml/2006/main" noGrp="1"/>
          </p:cNvSpPr>
          <p:nvPr/>
        </p:nvSpPr>
        <p:spPr>
          <a:xfrm xmlns:a="http://schemas.openxmlformats.org/drawingml/2006/main">
            <a:off x="530352" y="292608"/>
            <a:ext cx="11064240" cy="3631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xmlns:a="http://schemas.openxmlformats.org/drawingml/2006/main">
              <a:ext uri="{FF2B5EF4-FFF2-40B4-BE49-F238E27FC236}">
                <a16:creationId xmlns:a16="http://schemas.microsoft.com/office/drawing/2014/main" id="{515E76ED-6A59-406E-8089-417BDE580C2F}"/>
              </a:ext>
            </a:extLst>
          </p:cNvPr>
          <p:cNvSpPr>
            <a:spLocks xmlns:a="http://schemas.openxmlformats.org/drawingml/2006/main" noGrp="1"/>
          </p:cNvSpPr>
          <p:nvPr/>
        </p:nvSpPr>
        <p:spPr>
          <a:xfrm xmlns:a="http://schemas.openxmlformats.org/drawingml/2006/main">
            <a:off x="548640" y="969264"/>
            <a:ext cx="10927080" cy="2215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xmlns:a="http://schemas.openxmlformats.org/drawingml/2006/main">
              <a:ext uri="{FF2B5EF4-FFF2-40B4-BE49-F238E27FC236}">
                <a16:creationId xmlns:a16="http://schemas.microsoft.com/office/drawing/2014/main" id="{AA4AC83A-3FBC-485B-880B-B5B0458B8079}"/>
              </a:ext>
            </a:extLst>
          </p:cNvPr>
          <p:cNvSpPr>
            <a:spLocks xmlns:a="http://schemas.openxmlformats.org/drawingml/2006/main" noGrp="1"/>
          </p:cNvSpPr>
          <p:nvPr/>
        </p:nvSpPr>
        <p:spPr>
          <a:xfrm xmlns:a="http://schemas.openxmlformats.org/drawingml/2006/main">
            <a:off x="1024128" y="1353312"/>
            <a:ext cx="1920240"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27D5D64-ED97-4494-BE56-EBEEE62CD4D0}"/>
              </a:ext>
            </a:extLst>
          </p:cNvPr>
          <p:cNvSpPr>
            <a:spLocks xmlns:a="http://schemas.openxmlformats.org/drawingml/2006/main" noGrp="1"/>
          </p:cNvSpPr>
          <p:nvPr/>
        </p:nvSpPr>
        <p:spPr>
          <a:xfrm xmlns:a="http://schemas.openxmlformats.org/drawingml/2006/main">
            <a:off x="1115568" y="1453896"/>
            <a:ext cx="173736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D0B0C734-01ED-475F-B954-0FE60F88F2C2}"/>
              </a:ext>
            </a:extLst>
          </p:cNvPr>
          <p:cNvSpPr>
            <a:spLocks xmlns:a="http://schemas.openxmlformats.org/drawingml/2006/main" noGrp="1"/>
          </p:cNvSpPr>
          <p:nvPr/>
        </p:nvSpPr>
        <p:spPr>
          <a:xfrm xmlns:a="http://schemas.openxmlformats.org/drawingml/2006/main">
            <a:off x="3218688" y="1353312"/>
            <a:ext cx="2212848"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85DC248-7CF2-4975-9306-53F576C3A3F3}"/>
              </a:ext>
            </a:extLst>
          </p:cNvPr>
          <p:cNvSpPr>
            <a:spLocks xmlns:a="http://schemas.openxmlformats.org/drawingml/2006/main" noGrp="1"/>
          </p:cNvSpPr>
          <p:nvPr/>
        </p:nvSpPr>
        <p:spPr>
          <a:xfrm xmlns:a="http://schemas.openxmlformats.org/drawingml/2006/main">
            <a:off x="3310128" y="1453896"/>
            <a:ext cx="202996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00684D"/>
                </a:solidFill>
                <a:latin typeface="Arial"/>
                <a:ea typeface="Arial"/>
                <a:cs typeface="Arial"/>
              </a:rPr>
              <a:t>APOE ε3/ε3</a:t>
            </a:r>
          </a:p>
        </p:txBody>
      </p:sp>
      <p:sp>
        <p:nvSpPr>
          <p:cNvPr id="8" name="Rounded Rectangle 7">
            <a:extLst xmlns:a="http://schemas.openxmlformats.org/drawingml/2006/main">
              <a:ext uri="{FF2B5EF4-FFF2-40B4-BE49-F238E27FC236}">
                <a16:creationId xmlns:a16="http://schemas.microsoft.com/office/drawing/2014/main" id="{3AB56433-6330-4E5B-A03A-0D04DD099496}"/>
              </a:ext>
            </a:extLst>
          </p:cNvPr>
          <p:cNvSpPr>
            <a:spLocks xmlns:a="http://schemas.openxmlformats.org/drawingml/2006/main" noGrp="1"/>
          </p:cNvSpPr>
          <p:nvPr/>
        </p:nvSpPr>
        <p:spPr>
          <a:xfrm xmlns:a="http://schemas.openxmlformats.org/drawingml/2006/main">
            <a:off x="5705856" y="1353312"/>
            <a:ext cx="2432304"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2A1115-4137-4A36-A46A-41F40755B622}"/>
              </a:ext>
            </a:extLst>
          </p:cNvPr>
          <p:cNvSpPr>
            <a:spLocks xmlns:a="http://schemas.openxmlformats.org/drawingml/2006/main" noGrp="1"/>
          </p:cNvSpPr>
          <p:nvPr/>
        </p:nvSpPr>
        <p:spPr>
          <a:xfrm xmlns:a="http://schemas.openxmlformats.org/drawingml/2006/main">
            <a:off x="5797296" y="1453896"/>
            <a:ext cx="2249424"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895600"/>
                </a:solidFill>
                <a:latin typeface="Arial"/>
                <a:ea typeface="Arial"/>
                <a:cs typeface="Arial"/>
              </a:rPr>
              <a:t>Excitatory neurons</a:t>
            </a:r>
          </a:p>
        </p:txBody>
      </p:sp>
      <p:sp>
        <p:nvSpPr>
          <p:cNvPr id="10" name="Rounded Rectangle 9">
            <a:extLst xmlns:a="http://schemas.openxmlformats.org/drawingml/2006/main">
              <a:ext uri="{FF2B5EF4-FFF2-40B4-BE49-F238E27FC236}">
                <a16:creationId xmlns:a16="http://schemas.microsoft.com/office/drawing/2014/main" id="{574799C2-CF17-459D-91E9-70B819B78EB9}"/>
              </a:ext>
            </a:extLst>
          </p:cNvPr>
          <p:cNvSpPr>
            <a:spLocks xmlns:a="http://schemas.openxmlformats.org/drawingml/2006/main" noGrp="1"/>
          </p:cNvSpPr>
          <p:nvPr/>
        </p:nvSpPr>
        <p:spPr>
          <a:xfrm xmlns:a="http://schemas.openxmlformats.org/drawingml/2006/main">
            <a:off x="8412480" y="1353312"/>
            <a:ext cx="2578608"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0D7B8DD-CD91-47E6-9973-24078DC4CF8B}"/>
              </a:ext>
            </a:extLst>
          </p:cNvPr>
          <p:cNvSpPr>
            <a:spLocks xmlns:a="http://schemas.openxmlformats.org/drawingml/2006/main" noGrp="1"/>
          </p:cNvSpPr>
          <p:nvPr/>
        </p:nvSpPr>
        <p:spPr>
          <a:xfrm xmlns:a="http://schemas.openxmlformats.org/drawingml/2006/main">
            <a:off x="8503919" y="1453896"/>
            <a:ext cx="239572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9E3A00"/>
                </a:solidFill>
                <a:latin typeface="Arial"/>
                <a:ea typeface="Arial"/>
                <a:cs typeface="Arial"/>
              </a:rPr>
              <a:t>Alzheimer’s disease</a:t>
            </a:r>
          </a:p>
        </p:txBody>
      </p:sp>
      <p:sp>
        <p:nvSpPr>
          <p:cNvPr id="12" name="Rounded Rectangle 11">
            <a:extLst xmlns:a="http://schemas.openxmlformats.org/drawingml/2006/main">
              <a:ext uri="{FF2B5EF4-FFF2-40B4-BE49-F238E27FC236}">
                <a16:creationId xmlns:a16="http://schemas.microsoft.com/office/drawing/2014/main" id="{6B01C44E-8A6D-4ACD-B5B0-6312A120CBC1}"/>
              </a:ext>
            </a:extLst>
          </p:cNvPr>
          <p:cNvSpPr>
            <a:spLocks xmlns:a="http://schemas.openxmlformats.org/drawingml/2006/main" noGrp="1"/>
          </p:cNvSpPr>
          <p:nvPr/>
        </p:nvSpPr>
        <p:spPr>
          <a:xfrm xmlns:a="http://schemas.openxmlformats.org/drawingml/2006/main">
            <a:off x="749808" y="2066543"/>
            <a:ext cx="10698480" cy="283464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F36BA67-ED29-41BE-BD84-B18FABE2CA22}"/>
              </a:ext>
            </a:extLst>
          </p:cNvPr>
          <p:cNvSpPr>
            <a:spLocks xmlns:a="http://schemas.openxmlformats.org/drawingml/2006/main" noGrp="1"/>
          </p:cNvSpPr>
          <p:nvPr/>
        </p:nvSpPr>
        <p:spPr>
          <a:xfrm xmlns:a="http://schemas.openxmlformats.org/drawingml/2006/main">
            <a:off x="1115568" y="2532888"/>
            <a:ext cx="3017520"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800" b="1" i="0">
                <a:solidFill>
                  <a:srgbClr val="0F233D"/>
                </a:solidFill>
                <a:latin typeface="Arial"/>
                <a:ea typeface="Arial"/>
                <a:cs typeface="Arial"/>
              </a:rPr>
              <a:t>CORE MT GENES</a:t>
            </a:r>
          </a:p>
        </p:txBody>
      </p:sp>
      <p:sp>
        <p:nvSpPr>
          <p:cNvPr id="14" name="TextBox 13">
            <a:extLst xmlns:a="http://schemas.openxmlformats.org/drawingml/2006/main">
              <a:ext uri="{FF2B5EF4-FFF2-40B4-BE49-F238E27FC236}">
                <a16:creationId xmlns:a16="http://schemas.microsoft.com/office/drawing/2014/main" id="{B808481D-718F-4842-807C-5AA9E803C37D}"/>
              </a:ext>
            </a:extLst>
          </p:cNvPr>
          <p:cNvSpPr>
            <a:spLocks xmlns:a="http://schemas.openxmlformats.org/drawingml/2006/main" noGrp="1"/>
          </p:cNvSpPr>
          <p:nvPr/>
        </p:nvSpPr>
        <p:spPr>
          <a:xfrm xmlns:a="http://schemas.openxmlformats.org/drawingml/2006/main">
            <a:off x="1115568" y="3108960"/>
            <a:ext cx="3017520"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1F2730"/>
                </a:solidFill>
                <a:latin typeface="Arial"/>
                <a:ea typeface="Arial"/>
                <a:cs typeface="Arial"/>
              </a:rPr>
              <a:t>13 protein-coding genes</a:t>
            </a:r>
            <a:br>
              <a:rPr sz="1400" b="1" i="0">
                <a:solidFill>
                  <a:srgbClr val="1F2730"/>
                </a:solidFill>
                <a:latin typeface="Arial"/>
                <a:ea typeface="Arial"/>
                <a:cs typeface="Arial"/>
              </a:rPr>
            </a:br>
            <a:r>
              <a:rPr sz="1400" b="1" i="0">
                <a:solidFill>
                  <a:srgbClr val="1F2730"/>
                </a:solidFill>
                <a:latin typeface="Arial"/>
                <a:ea typeface="Arial"/>
                <a:cs typeface="Arial"/>
              </a:rPr>
              <a:t>encoded by mtDNA</a:t>
            </a:r>
          </a:p>
        </p:txBody>
      </p:sp>
      <p:sp>
        <p:nvSpPr>
          <p:cNvPr id="15" name="TextBox 14">
            <a:extLst xmlns:a="http://schemas.openxmlformats.org/drawingml/2006/main">
              <a:ext uri="{FF2B5EF4-FFF2-40B4-BE49-F238E27FC236}">
                <a16:creationId xmlns:a16="http://schemas.microsoft.com/office/drawing/2014/main" id="{34A38E06-808B-4DBC-84B7-B0DCCCE65514}"/>
              </a:ext>
            </a:extLst>
          </p:cNvPr>
          <p:cNvSpPr>
            <a:spLocks xmlns:a="http://schemas.openxmlformats.org/drawingml/2006/main" noGrp="1"/>
          </p:cNvSpPr>
          <p:nvPr/>
        </p:nvSpPr>
        <p:spPr>
          <a:xfrm xmlns:a="http://schemas.openxmlformats.org/drawingml/2006/main">
            <a:off x="4590288" y="2880360"/>
            <a:ext cx="914400" cy="6766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3400" b="1" i="0">
                <a:solidFill>
                  <a:srgbClr val="0072B2"/>
                </a:solidFill>
                <a:latin typeface="Arial"/>
                <a:ea typeface="Arial"/>
                <a:cs typeface="Arial"/>
              </a:rPr>
              <a:t>→</a:t>
            </a:r>
          </a:p>
        </p:txBody>
      </p:sp>
      <p:sp>
        <p:nvSpPr>
          <p:cNvPr id="16" name="TextBox 15">
            <a:extLst xmlns:a="http://schemas.openxmlformats.org/drawingml/2006/main">
              <a:ext uri="{FF2B5EF4-FFF2-40B4-BE49-F238E27FC236}">
                <a16:creationId xmlns:a16="http://schemas.microsoft.com/office/drawing/2014/main" id="{C07D0BB6-E278-4ED9-873F-178358A80ED7}"/>
              </a:ext>
            </a:extLst>
          </p:cNvPr>
          <p:cNvSpPr>
            <a:spLocks xmlns:a="http://schemas.openxmlformats.org/drawingml/2006/main" noGrp="1"/>
          </p:cNvSpPr>
          <p:nvPr/>
        </p:nvSpPr>
        <p:spPr>
          <a:xfrm xmlns:a="http://schemas.openxmlformats.org/drawingml/2006/main">
            <a:off x="5833872" y="2532888"/>
            <a:ext cx="2926080"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800" b="1" i="0">
                <a:solidFill>
                  <a:srgbClr val="0F233D"/>
                </a:solidFill>
                <a:latin typeface="Arial"/>
                <a:ea typeface="Arial"/>
                <a:cs typeface="Arial"/>
              </a:rPr>
              <a:t>RNA abundance</a:t>
            </a:r>
          </a:p>
        </p:txBody>
      </p:sp>
      <p:sp>
        <p:nvSpPr>
          <p:cNvPr id="17" name="TextBox 16">
            <a:extLst xmlns:a="http://schemas.openxmlformats.org/drawingml/2006/main">
              <a:ext uri="{FF2B5EF4-FFF2-40B4-BE49-F238E27FC236}">
                <a16:creationId xmlns:a16="http://schemas.microsoft.com/office/drawing/2014/main" id="{FB189D88-BC57-415E-BBA7-B40A4B0E74B3}"/>
              </a:ext>
            </a:extLst>
          </p:cNvPr>
          <p:cNvSpPr>
            <a:spLocks xmlns:a="http://schemas.openxmlformats.org/drawingml/2006/main" noGrp="1"/>
          </p:cNvSpPr>
          <p:nvPr/>
        </p:nvSpPr>
        <p:spPr>
          <a:xfrm xmlns:a="http://schemas.openxmlformats.org/drawingml/2006/main">
            <a:off x="8887968" y="2587752"/>
            <a:ext cx="1133856" cy="11521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5200" b="1" i="0">
                <a:solidFill>
                  <a:srgbClr val="00684D"/>
                </a:solidFill>
                <a:latin typeface="Arial"/>
                <a:ea typeface="Arial"/>
                <a:cs typeface="Arial"/>
              </a:rPr>
              <a:t>↑</a:t>
            </a:r>
          </a:p>
        </p:txBody>
      </p:sp>
      <p:sp>
        <p:nvSpPr>
          <p:cNvPr id="18" name="TextBox 17">
            <a:extLst xmlns:a="http://schemas.openxmlformats.org/drawingml/2006/main">
              <a:ext uri="{FF2B5EF4-FFF2-40B4-BE49-F238E27FC236}">
                <a16:creationId xmlns:a16="http://schemas.microsoft.com/office/drawing/2014/main" id="{B59759B8-2C33-455B-AA6A-ADCAEDC593E8}"/>
              </a:ext>
            </a:extLst>
          </p:cNvPr>
          <p:cNvSpPr>
            <a:spLocks xmlns:a="http://schemas.openxmlformats.org/drawingml/2006/main" noGrp="1"/>
          </p:cNvSpPr>
          <p:nvPr/>
        </p:nvSpPr>
        <p:spPr>
          <a:xfrm xmlns:a="http://schemas.openxmlformats.org/drawingml/2006/main">
            <a:off x="5596128" y="3136392"/>
            <a:ext cx="3401568"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380" b="1" i="0">
                <a:solidFill>
                  <a:srgbClr val="1F2730"/>
                </a:solidFill>
                <a:latin typeface="Arial"/>
                <a:ea typeface="Arial"/>
                <a:cs typeface="Arial"/>
              </a:rPr>
              <a:t>higher core MT gene expression</a:t>
            </a:r>
            <a:br>
              <a:rPr sz="1380" b="1" i="0">
                <a:solidFill>
                  <a:srgbClr val="1F2730"/>
                </a:solidFill>
                <a:latin typeface="Arial"/>
                <a:ea typeface="Arial"/>
                <a:cs typeface="Arial"/>
              </a:rPr>
            </a:br>
            <a:r>
              <a:rPr sz="1380" b="1" i="0">
                <a:solidFill>
                  <a:srgbClr val="1F2730"/>
                </a:solidFill>
                <a:latin typeface="Arial"/>
                <a:ea typeface="Arial"/>
                <a:cs typeface="Arial"/>
              </a:rPr>
              <a:t>in AD than in the comparison group</a:t>
            </a:r>
          </a:p>
        </p:txBody>
      </p:sp>
      <p:sp>
        <p:nvSpPr>
          <p:cNvPr id="19" name="Rounded Rectangle 18">
            <a:extLst xmlns:a="http://schemas.openxmlformats.org/drawingml/2006/main">
              <a:ext uri="{FF2B5EF4-FFF2-40B4-BE49-F238E27FC236}">
                <a16:creationId xmlns:a16="http://schemas.microsoft.com/office/drawing/2014/main" id="{DF0611BE-3342-4FDE-A989-60D2197AE405}"/>
              </a:ext>
            </a:extLst>
          </p:cNvPr>
          <p:cNvSpPr>
            <a:spLocks xmlns:a="http://schemas.openxmlformats.org/drawingml/2006/main" noGrp="1"/>
          </p:cNvSpPr>
          <p:nvPr/>
        </p:nvSpPr>
        <p:spPr>
          <a:xfrm xmlns:a="http://schemas.openxmlformats.org/drawingml/2006/main">
            <a:off x="749808" y="5230368"/>
            <a:ext cx="10698480" cy="69494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167EC3F6-1DCC-4C95-8C82-A4F04FD76544}"/>
              </a:ext>
            </a:extLst>
          </p:cNvPr>
          <p:cNvSpPr>
            <a:spLocks xmlns:a="http://schemas.openxmlformats.org/drawingml/2006/main" noGrp="1"/>
          </p:cNvSpPr>
          <p:nvPr/>
        </p:nvSpPr>
        <p:spPr>
          <a:xfrm xmlns:a="http://schemas.openxmlformats.org/drawingml/2006/main">
            <a:off x="987552" y="5431536"/>
            <a:ext cx="10222992" cy="4815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9A384A-7A4A-4863-A573-B5BF9F11190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xmlns:a="http://schemas.openxmlformats.org/drawingml/2006/main">
              <a:ext uri="{FF2B5EF4-FFF2-40B4-BE49-F238E27FC236}">
                <a16:creationId xmlns:a16="http://schemas.microsoft.com/office/drawing/2014/main" id="{ECBBD7C1-5CD4-4521-8FF3-D64CCD516E5C}"/>
              </a:ext>
            </a:extLst>
          </p:cNvPr>
          <p:cNvSpPr>
            <a:spLocks xmlns:a="http://schemas.openxmlformats.org/drawingml/2006/main" noGrp="1"/>
          </p:cNvSpPr>
          <p:nvPr/>
        </p:nvSpPr>
        <p:spPr>
          <a:xfrm xmlns:a="http://schemas.openxmlformats.org/drawingml/2006/main">
            <a:off x="658368" y="2402699"/>
            <a:ext cx="10881360" cy="11338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7C5A574-BC49-484D-9EE8-4581842795EE}"/>
              </a:ext>
            </a:extLst>
          </p:cNvPr>
          <p:cNvSpPr>
            <a:spLocks xmlns:a="http://schemas.openxmlformats.org/drawingml/2006/main" noGrp="1"/>
          </p:cNvSpPr>
          <p:nvPr/>
        </p:nvSpPr>
        <p:spPr>
          <a:xfrm xmlns:a="http://schemas.openxmlformats.org/drawingml/2006/main">
            <a:off x="987552" y="2727763"/>
            <a:ext cx="4946904" cy="67095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000" b="1" i="0">
                <a:solidFill>
                  <a:srgbClr val="0072B2"/>
                </a:solidFill>
                <a:latin typeface="Arial"/>
                <a:ea typeface="Arial"/>
                <a:cs typeface="Arial"/>
              </a:rPr>
              <a:t>Core MT genes</a:t>
            </a:r>
          </a:p>
          <a:p xmlns:a="http://schemas.openxmlformats.org/drawingml/2006/main">
            <a:pPr algn="ctr">
              <a:lnSpc>
                <a:spcPct val="100000"/>
              </a:lnSpc>
              <a:spcBef>
                <a:spcPct val="0"/>
              </a:spcBef>
              <a:spcAft>
                <a:spcPct val="0"/>
              </a:spcAft>
              <a:buNone/>
            </a:pPr>
            <a:r>
              <a:rPr sz="2000" b="1" i="0">
                <a:solidFill>
                  <a:srgbClr val="0072B2"/>
                </a:solidFill>
                <a:latin typeface="Arial"/>
                <a:ea typeface="Arial"/>
                <a:cs typeface="Arial"/>
              </a:rPr>
              <a:t>217/217 occurrences are AD-up</a:t>
            </a:r>
          </a:p>
        </p:txBody>
      </p:sp>
      <p:sp>
        <p:nvSpPr>
          <p:cNvPr id="7" name="TextBox 6">
            <a:extLst xmlns:a="http://schemas.openxmlformats.org/drawingml/2006/main">
              <a:ext uri="{FF2B5EF4-FFF2-40B4-BE49-F238E27FC236}">
                <a16:creationId xmlns:a16="http://schemas.microsoft.com/office/drawing/2014/main" id="{8557A361-83E3-46C3-9ED2-8824F70BA33C}"/>
              </a:ext>
            </a:extLst>
          </p:cNvPr>
          <p:cNvSpPr>
            <a:spLocks xmlns:a="http://schemas.openxmlformats.org/drawingml/2006/main" noGrp="1"/>
          </p:cNvSpPr>
          <p:nvPr/>
        </p:nvSpPr>
        <p:spPr>
          <a:xfrm xmlns:a="http://schemas.openxmlformats.org/drawingml/2006/main">
            <a:off x="6263640" y="2578608"/>
            <a:ext cx="4901184" cy="4247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200" b="1" i="0">
                <a:solidFill>
                  <a:srgbClr val="4E5A68"/>
                </a:solidFill>
                <a:latin typeface="Arial"/>
                <a:ea typeface="Arial"/>
                <a:cs typeface="Arial"/>
              </a:rPr>
              <a:t>Nuclear-encoded OXPHOS genes</a:t>
            </a:r>
          </a:p>
          <a:p xmlns:a="http://schemas.openxmlformats.org/drawingml/2006/main">
            <a:pPr algn="ctr">
              <a:lnSpc>
                <a:spcPct val="100000"/>
              </a:lnSpc>
              <a:spcBef>
                <a:spcPct val="0"/>
              </a:spcBef>
              <a:spcAft>
                <a:spcPct val="0"/>
              </a:spcAft>
              <a:buNone/>
            </a:pPr>
            <a:r>
              <a:rPr sz="1200" b="1" i="0">
                <a:solidFill>
                  <a:srgbClr val="4E5A68"/>
                </a:solidFill>
                <a:latin typeface="Arial"/>
                <a:ea typeface="Arial"/>
                <a:cs typeface="Arial"/>
              </a:rPr>
              <a:t>76/89 occurrences are AD-up (85%)</a:t>
            </a:r>
          </a:p>
        </p:txBody>
      </p:sp>
      <p:sp>
        <p:nvSpPr>
          <p:cNvPr id="8" name="Rectangle 7">
            <a:extLst xmlns:a="http://schemas.openxmlformats.org/drawingml/2006/main">
              <a:ext uri="{FF2B5EF4-FFF2-40B4-BE49-F238E27FC236}">
                <a16:creationId xmlns:a16="http://schemas.microsoft.com/office/drawing/2014/main" id="{DDFC3800-4C7F-4A91-8AB1-911E83C21F47}"/>
              </a:ext>
            </a:extLst>
          </p:cNvPr>
          <p:cNvSpPr>
            <a:spLocks xmlns:a="http://schemas.openxmlformats.org/drawingml/2006/main" noGrp="1"/>
          </p:cNvSpPr>
          <p:nvPr/>
        </p:nvSpPr>
        <p:spPr>
          <a:xfrm xmlns:a="http://schemas.openxmlformats.org/drawingml/2006/main">
            <a:off x="822960" y="3911459"/>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B033C06-FC81-48EB-A493-B65D6F687FB5}"/>
              </a:ext>
            </a:extLst>
          </p:cNvPr>
          <p:cNvSpPr>
            <a:spLocks xmlns:a="http://schemas.openxmlformats.org/drawingml/2006/main" noGrp="1"/>
          </p:cNvSpPr>
          <p:nvPr/>
        </p:nvSpPr>
        <p:spPr>
          <a:xfrm xmlns:a="http://schemas.openxmlformats.org/drawingml/2006/main">
            <a:off x="969264" y="3884027"/>
            <a:ext cx="10387584"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xmlns:a="http://schemas.openxmlformats.org/drawingml/2006/main">
              <a:ext uri="{FF2B5EF4-FFF2-40B4-BE49-F238E27FC236}">
                <a16:creationId xmlns:a16="http://schemas.microsoft.com/office/drawing/2014/main" id="{37072A8D-E6F1-4F46-A677-AF6EC3872EAF}"/>
              </a:ext>
            </a:extLst>
          </p:cNvPr>
          <p:cNvSpPr>
            <a:spLocks xmlns:a="http://schemas.openxmlformats.org/drawingml/2006/main" noGrp="1"/>
          </p:cNvSpPr>
          <p:nvPr/>
        </p:nvSpPr>
        <p:spPr>
          <a:xfrm xmlns:a="http://schemas.openxmlformats.org/drawingml/2006/main">
            <a:off x="2622890" y="4432667"/>
            <a:ext cx="3255264"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940C169-80D6-4CCC-B256-D0096F52BA60}"/>
              </a:ext>
            </a:extLst>
          </p:cNvPr>
          <p:cNvSpPr>
            <a:spLocks xmlns:a="http://schemas.openxmlformats.org/drawingml/2006/main" noGrp="1"/>
          </p:cNvSpPr>
          <p:nvPr/>
        </p:nvSpPr>
        <p:spPr>
          <a:xfrm xmlns:a="http://schemas.openxmlformats.org/drawingml/2006/main">
            <a:off x="2787482"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14</a:t>
            </a:r>
          </a:p>
        </p:txBody>
      </p:sp>
      <p:sp>
        <p:nvSpPr>
          <p:cNvPr id="12" name="TextBox 11">
            <a:extLst xmlns:a="http://schemas.openxmlformats.org/drawingml/2006/main">
              <a:ext uri="{FF2B5EF4-FFF2-40B4-BE49-F238E27FC236}">
                <a16:creationId xmlns:a16="http://schemas.microsoft.com/office/drawing/2014/main" id="{131575DD-DCF1-470C-AFD7-7261A2130067}"/>
              </a:ext>
            </a:extLst>
          </p:cNvPr>
          <p:cNvSpPr>
            <a:spLocks xmlns:a="http://schemas.openxmlformats.org/drawingml/2006/main" noGrp="1"/>
          </p:cNvSpPr>
          <p:nvPr/>
        </p:nvSpPr>
        <p:spPr>
          <a:xfrm xmlns:a="http://schemas.openxmlformats.org/drawingml/2006/main">
            <a:off x="2787482" y="5091035"/>
            <a:ext cx="2926080" cy="21223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xmlns:a="http://schemas.openxmlformats.org/drawingml/2006/main">
              <a:ext uri="{FF2B5EF4-FFF2-40B4-BE49-F238E27FC236}">
                <a16:creationId xmlns:a16="http://schemas.microsoft.com/office/drawing/2014/main" id="{21900610-13B3-4EB5-B45E-381F8D68E466}"/>
              </a:ext>
            </a:extLst>
          </p:cNvPr>
          <p:cNvSpPr>
            <a:spLocks xmlns:a="http://schemas.openxmlformats.org/drawingml/2006/main" noGrp="1"/>
          </p:cNvSpPr>
          <p:nvPr/>
        </p:nvSpPr>
        <p:spPr>
          <a:xfrm xmlns:a="http://schemas.openxmlformats.org/drawingml/2006/main">
            <a:off x="6262202" y="4432667"/>
            <a:ext cx="3255264"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EE7BE3BB-092A-435E-AE34-69336CCD976C}"/>
              </a:ext>
            </a:extLst>
          </p:cNvPr>
          <p:cNvSpPr>
            <a:spLocks xmlns:a="http://schemas.openxmlformats.org/drawingml/2006/main" noGrp="1"/>
          </p:cNvSpPr>
          <p:nvPr/>
        </p:nvSpPr>
        <p:spPr>
          <a:xfrm xmlns:a="http://schemas.openxmlformats.org/drawingml/2006/main">
            <a:off x="6426794"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123</a:t>
            </a:r>
          </a:p>
        </p:txBody>
      </p:sp>
      <p:sp>
        <p:nvSpPr>
          <p:cNvPr id="15" name="TextBox 14">
            <a:extLst xmlns:a="http://schemas.openxmlformats.org/drawingml/2006/main">
              <a:ext uri="{FF2B5EF4-FFF2-40B4-BE49-F238E27FC236}">
                <a16:creationId xmlns:a16="http://schemas.microsoft.com/office/drawing/2014/main" id="{874B3382-6DE7-4669-98B0-2EBBCFE51CA5}"/>
              </a:ext>
            </a:extLst>
          </p:cNvPr>
          <p:cNvSpPr>
            <a:spLocks xmlns:a="http://schemas.openxmlformats.org/drawingml/2006/main" noGrp="1"/>
          </p:cNvSpPr>
          <p:nvPr/>
        </p:nvSpPr>
        <p:spPr>
          <a:xfrm xmlns:a="http://schemas.openxmlformats.org/drawingml/2006/main">
            <a:off x="6426794" y="5091035"/>
            <a:ext cx="2926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core MT gene DEG occurrences</a:t>
            </a:r>
          </a:p>
        </p:txBody>
      </p:sp>
      <p:sp>
        <p:nvSpPr>
          <p:cNvPr id="19" name="Rounded Rectangle 18">
            <a:extLst xmlns:a="http://schemas.openxmlformats.org/drawingml/2006/main">
              <a:ext uri="{FF2B5EF4-FFF2-40B4-BE49-F238E27FC236}">
                <a16:creationId xmlns:a16="http://schemas.microsoft.com/office/drawing/2014/main" id="{111CC3A6-1B5D-4A64-8308-AD8C656EC246}"/>
              </a:ext>
            </a:extLst>
          </p:cNvPr>
          <p:cNvSpPr>
            <a:spLocks xmlns:a="http://schemas.openxmlformats.org/drawingml/2006/main" noGrp="1"/>
          </p:cNvSpPr>
          <p:nvPr/>
        </p:nvSpPr>
        <p:spPr>
          <a:xfrm xmlns:a="http://schemas.openxmlformats.org/drawingml/2006/main">
            <a:off x="822960" y="5880464"/>
            <a:ext cx="10533888" cy="60350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B9432BB9-196A-4B83-BF88-F362828F559D}"/>
              </a:ext>
            </a:extLst>
          </p:cNvPr>
          <p:cNvSpPr>
            <a:spLocks xmlns:a="http://schemas.openxmlformats.org/drawingml/2006/main" noGrp="1"/>
          </p:cNvSpPr>
          <p:nvPr/>
        </p:nvSpPr>
        <p:spPr>
          <a:xfrm xmlns:a="http://schemas.openxmlformats.org/drawingml/2006/main">
            <a:off x="1042415" y="6142595"/>
            <a:ext cx="8924544" cy="182880"/>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8F193D5-6095-4F4D-A363-B705B9523607}"/>
              </a:ext>
            </a:extLst>
          </p:cNvPr>
          <p:cNvSpPr>
            <a:spLocks xmlns:a="http://schemas.openxmlformats.org/drawingml/2006/main" noGrp="1"/>
          </p:cNvSpPr>
          <p:nvPr/>
        </p:nvSpPr>
        <p:spPr>
          <a:xfrm xmlns:a="http://schemas.openxmlformats.org/drawingml/2006/main">
            <a:off x="1042415" y="5895707"/>
            <a:ext cx="219456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00684D"/>
                </a:solidFill>
                <a:latin typeface="Arial"/>
                <a:ea typeface="Arial"/>
                <a:cs typeface="Arial"/>
              </a:rPr>
              <a:t>123 AD-up</a:t>
            </a:r>
          </a:p>
        </p:txBody>
      </p:sp>
      <p:sp>
        <p:nvSpPr>
          <p:cNvPr id="22" name="TextBox 21">
            <a:extLst xmlns:a="http://schemas.openxmlformats.org/drawingml/2006/main">
              <a:ext uri="{FF2B5EF4-FFF2-40B4-BE49-F238E27FC236}">
                <a16:creationId xmlns:a16="http://schemas.microsoft.com/office/drawing/2014/main" id="{C5F40C86-C6A3-4BF6-98A0-CD69CC071E4B}"/>
              </a:ext>
            </a:extLst>
          </p:cNvPr>
          <p:cNvSpPr>
            <a:spLocks xmlns:a="http://schemas.openxmlformats.org/drawingml/2006/main" noGrp="1"/>
          </p:cNvSpPr>
          <p:nvPr/>
        </p:nvSpPr>
        <p:spPr>
          <a:xfrm xmlns:a="http://schemas.openxmlformats.org/drawingml/2006/main">
            <a:off x="9948672" y="5895707"/>
            <a:ext cx="1133856"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ct val="0"/>
              </a:spcBef>
              <a:spcAft>
                <a:spcPct val="0"/>
              </a:spcAft>
              <a:buNone/>
            </a:pPr>
            <a:r>
              <a:rPr sz="1050" b="1" i="0">
                <a:solidFill>
                  <a:srgbClr val="9E3A00"/>
                </a:solidFill>
                <a:latin typeface="Arial"/>
                <a:ea typeface="Arial"/>
                <a:cs typeface="Arial"/>
              </a:rPr>
              <a:t>0 AD-down</a:t>
            </a:r>
          </a:p>
        </p:txBody>
      </p:sp>
      <p:sp>
        <p:nvSpPr>
          <p:cNvPr id="26" name="Rectangle 25">
            <a:extLst xmlns:a="http://schemas.openxmlformats.org/drawingml/2006/main">
              <a:ext uri="{FF2B5EF4-FFF2-40B4-BE49-F238E27FC236}">
                <a16:creationId xmlns:a16="http://schemas.microsoft.com/office/drawing/2014/main" id="{A3EE13A9-22D5-50A2-11CE-AB3CAD176957}"/>
              </a:ext>
            </a:extLst>
          </p:cNvPr>
          <p:cNvSpPr>
            <a:spLocks xmlns:a="http://schemas.openxmlformats.org/drawingml/2006/main" noGrp="1"/>
          </p:cNvSpPr>
          <p:nvPr/>
        </p:nvSpPr>
        <p:spPr>
          <a:xfrm xmlns:a="http://schemas.openxmlformats.org/drawingml/2006/main">
            <a:off x="809895" y="2008624"/>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15B8895-9C9B-00FA-D032-13DF052A1BD1}"/>
              </a:ext>
            </a:extLst>
          </p:cNvPr>
          <p:cNvSpPr>
            <a:spLocks xmlns:a="http://schemas.openxmlformats.org/drawingml/2006/main" noGrp="1"/>
          </p:cNvSpPr>
          <p:nvPr/>
        </p:nvSpPr>
        <p:spPr>
          <a:xfrm xmlns:a="http://schemas.openxmlformats.org/drawingml/2006/main">
            <a:off x="956199" y="1981192"/>
            <a:ext cx="10387584"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6D2DCA-6440-4FC8-ADC6-70416DB822CC}"/>
              </a:ext>
            </a:extLst>
          </p:cNvPr>
          <p:cNvSpPr>
            <a:spLocks xmlns:a="http://schemas.openxmlformats.org/drawingml/2006/main" noGrp="1"/>
          </p:cNvSpPr>
          <p:nvPr/>
        </p:nvSpPr>
        <p:spPr>
          <a:xfrm xmlns:a="http://schemas.openxmlformats.org/drawingml/2006/main">
            <a:off x="530352" y="292608"/>
            <a:ext cx="11064240" cy="39395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xmlns:a="http://schemas.openxmlformats.org/drawingml/2006/main">
              <a:ext uri="{FF2B5EF4-FFF2-40B4-BE49-F238E27FC236}">
                <a16:creationId xmlns:a16="http://schemas.microsoft.com/office/drawing/2014/main" id="{57C75997-8929-4D69-A9F0-62952DF2C73C}"/>
              </a:ext>
            </a:extLst>
          </p:cNvPr>
          <p:cNvSpPr>
            <a:spLocks xmlns:a="http://schemas.openxmlformats.org/drawingml/2006/main" noGrp="1"/>
          </p:cNvSpPr>
          <p:nvPr/>
        </p:nvSpPr>
        <p:spPr>
          <a:xfrm xmlns:a="http://schemas.openxmlformats.org/drawingml/2006/main">
            <a:off x="548640" y="969264"/>
            <a:ext cx="10927080" cy="24006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xmlns:a="http://schemas.openxmlformats.org/drawingml/2006/main">
              <a:ext uri="{FF2B5EF4-FFF2-40B4-BE49-F238E27FC236}">
                <a16:creationId xmlns:a16="http://schemas.microsoft.com/office/drawing/2014/main" id="{8C4139BF-7618-4986-9D53-5EF567B29CD6}"/>
              </a:ext>
            </a:extLst>
          </p:cNvPr>
          <p:cNvSpPr>
            <a:spLocks xmlns:a="http://schemas.openxmlformats.org/drawingml/2006/main" noGrp="1"/>
          </p:cNvSpPr>
          <p:nvPr/>
        </p:nvSpPr>
        <p:spPr>
          <a:xfrm xmlns:a="http://schemas.openxmlformats.org/drawingml/2006/main">
            <a:off x="713232" y="1371600"/>
            <a:ext cx="3273552"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BE2FF06-B7A9-4AEC-9585-668D9E48A9C9}"/>
              </a:ext>
            </a:extLst>
          </p:cNvPr>
          <p:cNvSpPr>
            <a:spLocks xmlns:a="http://schemas.openxmlformats.org/drawingml/2006/main" noGrp="1"/>
          </p:cNvSpPr>
          <p:nvPr/>
        </p:nvSpPr>
        <p:spPr>
          <a:xfrm xmlns:a="http://schemas.openxmlformats.org/drawingml/2006/main">
            <a:off x="877824" y="1499616"/>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9/10</a:t>
            </a:r>
          </a:p>
        </p:txBody>
      </p:sp>
      <p:sp>
        <p:nvSpPr>
          <p:cNvPr id="6" name="TextBox 5">
            <a:extLst xmlns:a="http://schemas.openxmlformats.org/drawingml/2006/main">
              <a:ext uri="{FF2B5EF4-FFF2-40B4-BE49-F238E27FC236}">
                <a16:creationId xmlns:a16="http://schemas.microsoft.com/office/drawing/2014/main" id="{6BA52C5B-057E-49B8-8749-CCB6EA7832A8}"/>
              </a:ext>
            </a:extLst>
          </p:cNvPr>
          <p:cNvSpPr>
            <a:spLocks xmlns:a="http://schemas.openxmlformats.org/drawingml/2006/main" noGrp="1"/>
          </p:cNvSpPr>
          <p:nvPr/>
        </p:nvSpPr>
        <p:spPr>
          <a:xfrm xmlns:a="http://schemas.openxmlformats.org/drawingml/2006/main">
            <a:off x="877824" y="2029967"/>
            <a:ext cx="2944368" cy="36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SEA-AD MitoCarta MT DEGs also found in ROSMAP</a:t>
            </a:r>
          </a:p>
        </p:txBody>
      </p:sp>
      <p:sp>
        <p:nvSpPr>
          <p:cNvPr id="7" name="Rounded Rectangle 6">
            <a:extLst xmlns:a="http://schemas.openxmlformats.org/drawingml/2006/main">
              <a:ext uri="{FF2B5EF4-FFF2-40B4-BE49-F238E27FC236}">
                <a16:creationId xmlns:a16="http://schemas.microsoft.com/office/drawing/2014/main" id="{90943F31-8715-48FB-9D25-65D2570FE648}"/>
              </a:ext>
            </a:extLst>
          </p:cNvPr>
          <p:cNvSpPr>
            <a:spLocks xmlns:a="http://schemas.openxmlformats.org/drawingml/2006/main" noGrp="1"/>
          </p:cNvSpPr>
          <p:nvPr/>
        </p:nvSpPr>
        <p:spPr>
          <a:xfrm xmlns:a="http://schemas.openxmlformats.org/drawingml/2006/main">
            <a:off x="713232" y="2807208"/>
            <a:ext cx="3273552"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CECCD25-F81C-44BD-B1BE-6CCD007CCAFF}"/>
              </a:ext>
            </a:extLst>
          </p:cNvPr>
          <p:cNvSpPr>
            <a:spLocks xmlns:a="http://schemas.openxmlformats.org/drawingml/2006/main" noGrp="1"/>
          </p:cNvSpPr>
          <p:nvPr/>
        </p:nvSpPr>
        <p:spPr>
          <a:xfrm xmlns:a="http://schemas.openxmlformats.org/drawingml/2006/main">
            <a:off x="877824" y="2935224"/>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9/9</a:t>
            </a:r>
          </a:p>
        </p:txBody>
      </p:sp>
      <p:sp>
        <p:nvSpPr>
          <p:cNvPr id="9" name="TextBox 8">
            <a:extLst xmlns:a="http://schemas.openxmlformats.org/drawingml/2006/main">
              <a:ext uri="{FF2B5EF4-FFF2-40B4-BE49-F238E27FC236}">
                <a16:creationId xmlns:a16="http://schemas.microsoft.com/office/drawing/2014/main" id="{B2BC4AF6-22C0-4101-A1EC-194EF2F07DA1}"/>
              </a:ext>
            </a:extLst>
          </p:cNvPr>
          <p:cNvSpPr>
            <a:spLocks xmlns:a="http://schemas.openxmlformats.org/drawingml/2006/main" noGrp="1"/>
          </p:cNvSpPr>
          <p:nvPr/>
        </p:nvSpPr>
        <p:spPr>
          <a:xfrm xmlns:a="http://schemas.openxmlformats.org/drawingml/2006/main">
            <a:off x="877824" y="3465576"/>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shared genes are AD-up in both cohorts</a:t>
            </a:r>
          </a:p>
        </p:txBody>
      </p:sp>
      <p:sp>
        <p:nvSpPr>
          <p:cNvPr id="10" name="Rounded Rectangle 9">
            <a:extLst xmlns:a="http://schemas.openxmlformats.org/drawingml/2006/main">
              <a:ext uri="{FF2B5EF4-FFF2-40B4-BE49-F238E27FC236}">
                <a16:creationId xmlns:a16="http://schemas.microsoft.com/office/drawing/2014/main" id="{EAA86796-15D8-42E8-A625-E146CA6C3481}"/>
              </a:ext>
            </a:extLst>
          </p:cNvPr>
          <p:cNvSpPr>
            <a:spLocks xmlns:a="http://schemas.openxmlformats.org/drawingml/2006/main" noGrp="1"/>
          </p:cNvSpPr>
          <p:nvPr/>
        </p:nvSpPr>
        <p:spPr>
          <a:xfrm xmlns:a="http://schemas.openxmlformats.org/drawingml/2006/main">
            <a:off x="713232" y="4242816"/>
            <a:ext cx="327355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15DA7CE-911F-44E8-9A2F-474FE65548FF}"/>
              </a:ext>
            </a:extLst>
          </p:cNvPr>
          <p:cNvSpPr>
            <a:spLocks xmlns:a="http://schemas.openxmlformats.org/drawingml/2006/main" noGrp="1"/>
          </p:cNvSpPr>
          <p:nvPr/>
        </p:nvSpPr>
        <p:spPr>
          <a:xfrm xmlns:a="http://schemas.openxmlformats.org/drawingml/2006/main">
            <a:off x="877824" y="4370831"/>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300" b="1" i="0">
                <a:solidFill>
                  <a:srgbClr val="895600"/>
                </a:solidFill>
                <a:latin typeface="Arial"/>
                <a:ea typeface="Arial"/>
                <a:cs typeface="Arial"/>
              </a:rPr>
              <a:t>Adjusted P = 0.005</a:t>
            </a:r>
          </a:p>
        </p:txBody>
      </p:sp>
      <p:sp>
        <p:nvSpPr>
          <p:cNvPr id="12" name="TextBox 11">
            <a:extLst xmlns:a="http://schemas.openxmlformats.org/drawingml/2006/main">
              <a:ext uri="{FF2B5EF4-FFF2-40B4-BE49-F238E27FC236}">
                <a16:creationId xmlns:a16="http://schemas.microsoft.com/office/drawing/2014/main" id="{9ADD6921-AD74-4B94-AB0A-D0B2CFFAC018}"/>
              </a:ext>
            </a:extLst>
          </p:cNvPr>
          <p:cNvSpPr>
            <a:spLocks xmlns:a="http://schemas.openxmlformats.org/drawingml/2006/main" noGrp="1"/>
          </p:cNvSpPr>
          <p:nvPr/>
        </p:nvSpPr>
        <p:spPr>
          <a:xfrm xmlns:a="http://schemas.openxmlformats.org/drawingml/2006/main">
            <a:off x="877824" y="4901183"/>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shared-gene overlap between cohorts</a:t>
            </a:r>
          </a:p>
        </p:txBody>
      </p:sp>
      <p:sp>
        <p:nvSpPr>
          <p:cNvPr id="13" name="TextBox 12">
            <a:extLst xmlns:a="http://schemas.openxmlformats.org/drawingml/2006/main">
              <a:ext uri="{FF2B5EF4-FFF2-40B4-BE49-F238E27FC236}">
                <a16:creationId xmlns:a16="http://schemas.microsoft.com/office/drawing/2014/main" id="{04AF87D9-8701-44A2-A573-D4F8BFC9199F}"/>
              </a:ext>
            </a:extLst>
          </p:cNvPr>
          <p:cNvSpPr>
            <a:spLocks xmlns:a="http://schemas.openxmlformats.org/drawingml/2006/main" noGrp="1"/>
          </p:cNvSpPr>
          <p:nvPr/>
        </p:nvSpPr>
        <p:spPr>
          <a:xfrm xmlns:a="http://schemas.openxmlformats.org/drawingml/2006/main">
            <a:off x="877824" y="5230368"/>
            <a:ext cx="294436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9 shared versus 3.83 expected</a:t>
            </a:r>
          </a:p>
        </p:txBody>
      </p:sp>
      <p:sp>
        <p:nvSpPr>
          <p:cNvPr id="14" name="Rounded Rectangle 13">
            <a:extLst xmlns:a="http://schemas.openxmlformats.org/drawingml/2006/main">
              <a:ext uri="{FF2B5EF4-FFF2-40B4-BE49-F238E27FC236}">
                <a16:creationId xmlns:a16="http://schemas.microsoft.com/office/drawing/2014/main" id="{41A2725F-0694-4957-AE4A-FD6EC15292FD}"/>
              </a:ext>
            </a:extLst>
          </p:cNvPr>
          <p:cNvSpPr>
            <a:spLocks xmlns:a="http://schemas.openxmlformats.org/drawingml/2006/main" noGrp="1"/>
          </p:cNvSpPr>
          <p:nvPr/>
        </p:nvSpPr>
        <p:spPr>
          <a:xfrm xmlns:a="http://schemas.openxmlformats.org/drawingml/2006/main">
            <a:off x="4315968" y="1371600"/>
            <a:ext cx="7150608" cy="433425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ACEB790C-B7A7-447A-8FDC-7C5664E31F24}"/>
              </a:ext>
            </a:extLst>
          </p:cNvPr>
          <p:cNvSpPr>
            <a:spLocks xmlns:a="http://schemas.openxmlformats.org/drawingml/2006/main" noGrp="1"/>
          </p:cNvSpPr>
          <p:nvPr/>
        </p:nvSpPr>
        <p:spPr>
          <a:xfrm xmlns:a="http://schemas.openxmlformats.org/drawingml/2006/main">
            <a:off x="4608576" y="169164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4F275946-0725-45E6-843F-95BBC8C7CAFC}"/>
              </a:ext>
            </a:extLst>
          </p:cNvPr>
          <p:cNvSpPr>
            <a:spLocks xmlns:a="http://schemas.openxmlformats.org/drawingml/2006/main" noGrp="1"/>
          </p:cNvSpPr>
          <p:nvPr/>
        </p:nvSpPr>
        <p:spPr>
          <a:xfrm xmlns:a="http://schemas.openxmlformats.org/drawingml/2006/main">
            <a:off x="4754880" y="1664208"/>
            <a:ext cx="63642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Nine shared core MT genes</a:t>
            </a:r>
          </a:p>
        </p:txBody>
      </p:sp>
      <p:sp>
        <p:nvSpPr>
          <p:cNvPr id="17" name="Rounded Rectangle 16">
            <a:extLst xmlns:a="http://schemas.openxmlformats.org/drawingml/2006/main">
              <a:ext uri="{FF2B5EF4-FFF2-40B4-BE49-F238E27FC236}">
                <a16:creationId xmlns:a16="http://schemas.microsoft.com/office/drawing/2014/main" id="{CAD8F1F9-49BD-489B-A42F-855641139CE9}"/>
              </a:ext>
            </a:extLst>
          </p:cNvPr>
          <p:cNvSpPr>
            <a:spLocks xmlns:a="http://schemas.openxmlformats.org/drawingml/2006/main" noGrp="1"/>
          </p:cNvSpPr>
          <p:nvPr/>
        </p:nvSpPr>
        <p:spPr>
          <a:xfrm xmlns:a="http://schemas.openxmlformats.org/drawingml/2006/main">
            <a:off x="4626864"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11F70E4-676B-43C5-B532-4C6DDBAE917C}"/>
              </a:ext>
            </a:extLst>
          </p:cNvPr>
          <p:cNvSpPr>
            <a:spLocks xmlns:a="http://schemas.openxmlformats.org/drawingml/2006/main" noGrp="1"/>
          </p:cNvSpPr>
          <p:nvPr/>
        </p:nvSpPr>
        <p:spPr>
          <a:xfrm xmlns:a="http://schemas.openxmlformats.org/drawingml/2006/main">
            <a:off x="4718303"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MT-ATP6</a:t>
            </a:r>
          </a:p>
        </p:txBody>
      </p:sp>
      <p:sp>
        <p:nvSpPr>
          <p:cNvPr id="19" name="Rounded Rectangle 18">
            <a:extLst xmlns:a="http://schemas.openxmlformats.org/drawingml/2006/main">
              <a:ext uri="{FF2B5EF4-FFF2-40B4-BE49-F238E27FC236}">
                <a16:creationId xmlns:a16="http://schemas.microsoft.com/office/drawing/2014/main" id="{28889E98-08F5-4EA2-B5E9-BF6C95FC4AE3}"/>
              </a:ext>
            </a:extLst>
          </p:cNvPr>
          <p:cNvSpPr>
            <a:spLocks xmlns:a="http://schemas.openxmlformats.org/drawingml/2006/main" noGrp="1"/>
          </p:cNvSpPr>
          <p:nvPr/>
        </p:nvSpPr>
        <p:spPr>
          <a:xfrm xmlns:a="http://schemas.openxmlformats.org/drawingml/2006/main">
            <a:off x="6729983"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13AF5785-B372-4F0A-B5EE-9CA243B074C7}"/>
              </a:ext>
            </a:extLst>
          </p:cNvPr>
          <p:cNvSpPr>
            <a:spLocks xmlns:a="http://schemas.openxmlformats.org/drawingml/2006/main" noGrp="1"/>
          </p:cNvSpPr>
          <p:nvPr/>
        </p:nvSpPr>
        <p:spPr>
          <a:xfrm xmlns:a="http://schemas.openxmlformats.org/drawingml/2006/main">
            <a:off x="6821423"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MT-CO1</a:t>
            </a:r>
          </a:p>
        </p:txBody>
      </p:sp>
      <p:sp>
        <p:nvSpPr>
          <p:cNvPr id="21" name="Rounded Rectangle 20">
            <a:extLst xmlns:a="http://schemas.openxmlformats.org/drawingml/2006/main">
              <a:ext uri="{FF2B5EF4-FFF2-40B4-BE49-F238E27FC236}">
                <a16:creationId xmlns:a16="http://schemas.microsoft.com/office/drawing/2014/main" id="{53655F11-2343-48DD-91C0-608962052EEA}"/>
              </a:ext>
            </a:extLst>
          </p:cNvPr>
          <p:cNvSpPr>
            <a:spLocks xmlns:a="http://schemas.openxmlformats.org/drawingml/2006/main" noGrp="1"/>
          </p:cNvSpPr>
          <p:nvPr/>
        </p:nvSpPr>
        <p:spPr>
          <a:xfrm xmlns:a="http://schemas.openxmlformats.org/drawingml/2006/main">
            <a:off x="8833104"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9F497667-459B-41E4-A14A-F2D5989BAC9F}"/>
              </a:ext>
            </a:extLst>
          </p:cNvPr>
          <p:cNvSpPr>
            <a:spLocks xmlns:a="http://schemas.openxmlformats.org/drawingml/2006/main" noGrp="1"/>
          </p:cNvSpPr>
          <p:nvPr/>
        </p:nvSpPr>
        <p:spPr>
          <a:xfrm xmlns:a="http://schemas.openxmlformats.org/drawingml/2006/main">
            <a:off x="8924544"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MT-CO2</a:t>
            </a:r>
          </a:p>
        </p:txBody>
      </p:sp>
      <p:sp>
        <p:nvSpPr>
          <p:cNvPr id="23" name="Rounded Rectangle 22">
            <a:extLst xmlns:a="http://schemas.openxmlformats.org/drawingml/2006/main">
              <a:ext uri="{FF2B5EF4-FFF2-40B4-BE49-F238E27FC236}">
                <a16:creationId xmlns:a16="http://schemas.microsoft.com/office/drawing/2014/main" id="{88514EA0-9428-48CB-BEA4-1FC3FCA51D15}"/>
              </a:ext>
            </a:extLst>
          </p:cNvPr>
          <p:cNvSpPr>
            <a:spLocks xmlns:a="http://schemas.openxmlformats.org/drawingml/2006/main" noGrp="1"/>
          </p:cNvSpPr>
          <p:nvPr/>
        </p:nvSpPr>
        <p:spPr>
          <a:xfrm xmlns:a="http://schemas.openxmlformats.org/drawingml/2006/main">
            <a:off x="4626864"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5BFBB08-39FF-42FC-8B5C-979C25BA3C13}"/>
              </a:ext>
            </a:extLst>
          </p:cNvPr>
          <p:cNvSpPr>
            <a:spLocks xmlns:a="http://schemas.openxmlformats.org/drawingml/2006/main" noGrp="1"/>
          </p:cNvSpPr>
          <p:nvPr/>
        </p:nvSpPr>
        <p:spPr>
          <a:xfrm xmlns:a="http://schemas.openxmlformats.org/drawingml/2006/main">
            <a:off x="4718303"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MT-CO3</a:t>
            </a:r>
          </a:p>
        </p:txBody>
      </p:sp>
      <p:sp>
        <p:nvSpPr>
          <p:cNvPr id="25" name="Rounded Rectangle 24">
            <a:extLst xmlns:a="http://schemas.openxmlformats.org/drawingml/2006/main">
              <a:ext uri="{FF2B5EF4-FFF2-40B4-BE49-F238E27FC236}">
                <a16:creationId xmlns:a16="http://schemas.microsoft.com/office/drawing/2014/main" id="{1FB03E35-E519-4ABD-A350-B0B73DEF330D}"/>
              </a:ext>
            </a:extLst>
          </p:cNvPr>
          <p:cNvSpPr>
            <a:spLocks xmlns:a="http://schemas.openxmlformats.org/drawingml/2006/main" noGrp="1"/>
          </p:cNvSpPr>
          <p:nvPr/>
        </p:nvSpPr>
        <p:spPr>
          <a:xfrm xmlns:a="http://schemas.openxmlformats.org/drawingml/2006/main">
            <a:off x="6729983"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BC938378-EC21-405A-9015-88126D16BFF6}"/>
              </a:ext>
            </a:extLst>
          </p:cNvPr>
          <p:cNvSpPr>
            <a:spLocks xmlns:a="http://schemas.openxmlformats.org/drawingml/2006/main" noGrp="1"/>
          </p:cNvSpPr>
          <p:nvPr/>
        </p:nvSpPr>
        <p:spPr>
          <a:xfrm xmlns:a="http://schemas.openxmlformats.org/drawingml/2006/main">
            <a:off x="6821423"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MT-CYB</a:t>
            </a:r>
          </a:p>
        </p:txBody>
      </p:sp>
      <p:sp>
        <p:nvSpPr>
          <p:cNvPr id="27" name="Rounded Rectangle 26">
            <a:extLst xmlns:a="http://schemas.openxmlformats.org/drawingml/2006/main">
              <a:ext uri="{FF2B5EF4-FFF2-40B4-BE49-F238E27FC236}">
                <a16:creationId xmlns:a16="http://schemas.microsoft.com/office/drawing/2014/main" id="{654B293A-1D64-4775-A6A4-BE65C26A1FF7}"/>
              </a:ext>
            </a:extLst>
          </p:cNvPr>
          <p:cNvSpPr>
            <a:spLocks xmlns:a="http://schemas.openxmlformats.org/drawingml/2006/main" noGrp="1"/>
          </p:cNvSpPr>
          <p:nvPr/>
        </p:nvSpPr>
        <p:spPr>
          <a:xfrm xmlns:a="http://schemas.openxmlformats.org/drawingml/2006/main">
            <a:off x="8833104"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B52AD8F-EDD8-4C34-A877-8829A680EF2B}"/>
              </a:ext>
            </a:extLst>
          </p:cNvPr>
          <p:cNvSpPr>
            <a:spLocks xmlns:a="http://schemas.openxmlformats.org/drawingml/2006/main" noGrp="1"/>
          </p:cNvSpPr>
          <p:nvPr/>
        </p:nvSpPr>
        <p:spPr>
          <a:xfrm xmlns:a="http://schemas.openxmlformats.org/drawingml/2006/main">
            <a:off x="8924544"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MT-ND1</a:t>
            </a:r>
          </a:p>
        </p:txBody>
      </p:sp>
      <p:sp>
        <p:nvSpPr>
          <p:cNvPr id="29" name="Rounded Rectangle 28">
            <a:extLst xmlns:a="http://schemas.openxmlformats.org/drawingml/2006/main">
              <a:ext uri="{FF2B5EF4-FFF2-40B4-BE49-F238E27FC236}">
                <a16:creationId xmlns:a16="http://schemas.microsoft.com/office/drawing/2014/main" id="{163336B0-1C3F-47A7-9CF3-B5551FCC3669}"/>
              </a:ext>
            </a:extLst>
          </p:cNvPr>
          <p:cNvSpPr>
            <a:spLocks xmlns:a="http://schemas.openxmlformats.org/drawingml/2006/main" noGrp="1"/>
          </p:cNvSpPr>
          <p:nvPr/>
        </p:nvSpPr>
        <p:spPr>
          <a:xfrm xmlns:a="http://schemas.openxmlformats.org/drawingml/2006/main">
            <a:off x="4626864"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1463F87-EB9A-4B85-8E11-C5961CA95310}"/>
              </a:ext>
            </a:extLst>
          </p:cNvPr>
          <p:cNvSpPr>
            <a:spLocks xmlns:a="http://schemas.openxmlformats.org/drawingml/2006/main" noGrp="1"/>
          </p:cNvSpPr>
          <p:nvPr/>
        </p:nvSpPr>
        <p:spPr>
          <a:xfrm xmlns:a="http://schemas.openxmlformats.org/drawingml/2006/main">
            <a:off x="4718303"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MT-ND2</a:t>
            </a:r>
          </a:p>
        </p:txBody>
      </p:sp>
      <p:sp>
        <p:nvSpPr>
          <p:cNvPr id="31" name="Rounded Rectangle 30">
            <a:extLst xmlns:a="http://schemas.openxmlformats.org/drawingml/2006/main">
              <a:ext uri="{FF2B5EF4-FFF2-40B4-BE49-F238E27FC236}">
                <a16:creationId xmlns:a16="http://schemas.microsoft.com/office/drawing/2014/main" id="{DA78BB86-560D-465E-853B-8709711AC76C}"/>
              </a:ext>
            </a:extLst>
          </p:cNvPr>
          <p:cNvSpPr>
            <a:spLocks xmlns:a="http://schemas.openxmlformats.org/drawingml/2006/main" noGrp="1"/>
          </p:cNvSpPr>
          <p:nvPr/>
        </p:nvSpPr>
        <p:spPr>
          <a:xfrm xmlns:a="http://schemas.openxmlformats.org/drawingml/2006/main">
            <a:off x="6729983"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FCD6E3EF-3EA1-45FC-8A36-71F17563A453}"/>
              </a:ext>
            </a:extLst>
          </p:cNvPr>
          <p:cNvSpPr>
            <a:spLocks xmlns:a="http://schemas.openxmlformats.org/drawingml/2006/main" noGrp="1"/>
          </p:cNvSpPr>
          <p:nvPr/>
        </p:nvSpPr>
        <p:spPr>
          <a:xfrm xmlns:a="http://schemas.openxmlformats.org/drawingml/2006/main">
            <a:off x="6821423"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MT-ND4</a:t>
            </a:r>
          </a:p>
        </p:txBody>
      </p:sp>
      <p:sp>
        <p:nvSpPr>
          <p:cNvPr id="33" name="Rounded Rectangle 32">
            <a:extLst xmlns:a="http://schemas.openxmlformats.org/drawingml/2006/main">
              <a:ext uri="{FF2B5EF4-FFF2-40B4-BE49-F238E27FC236}">
                <a16:creationId xmlns:a16="http://schemas.microsoft.com/office/drawing/2014/main" id="{DB2F1ABD-2547-4C59-8D56-6E9F4049067B}"/>
              </a:ext>
            </a:extLst>
          </p:cNvPr>
          <p:cNvSpPr>
            <a:spLocks xmlns:a="http://schemas.openxmlformats.org/drawingml/2006/main" noGrp="1"/>
          </p:cNvSpPr>
          <p:nvPr/>
        </p:nvSpPr>
        <p:spPr>
          <a:xfrm xmlns:a="http://schemas.openxmlformats.org/drawingml/2006/main">
            <a:off x="8833104"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2B3495B9-FC33-4BB1-BD9D-AEA2D3999F0E}"/>
              </a:ext>
            </a:extLst>
          </p:cNvPr>
          <p:cNvSpPr>
            <a:spLocks xmlns:a="http://schemas.openxmlformats.org/drawingml/2006/main" noGrp="1"/>
          </p:cNvSpPr>
          <p:nvPr/>
        </p:nvSpPr>
        <p:spPr>
          <a:xfrm xmlns:a="http://schemas.openxmlformats.org/drawingml/2006/main">
            <a:off x="8924544"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60" b="1" i="0">
                <a:solidFill>
                  <a:srgbClr val="0072B2"/>
                </a:solidFill>
                <a:latin typeface="Arial"/>
                <a:ea typeface="Arial"/>
                <a:cs typeface="Arial"/>
              </a:rPr>
              <a:t>MT-ND5</a:t>
            </a:r>
          </a:p>
        </p:txBody>
      </p:sp>
      <p:sp>
        <p:nvSpPr>
          <p:cNvPr id="35" name="Rounded Rectangle 34">
            <a:extLst xmlns:a="http://schemas.openxmlformats.org/drawingml/2006/main">
              <a:ext uri="{FF2B5EF4-FFF2-40B4-BE49-F238E27FC236}">
                <a16:creationId xmlns:a16="http://schemas.microsoft.com/office/drawing/2014/main" id="{B37771B0-73EB-4918-A9F6-1BC3F202E5AA}"/>
              </a:ext>
            </a:extLst>
          </p:cNvPr>
          <p:cNvSpPr>
            <a:spLocks xmlns:a="http://schemas.openxmlformats.org/drawingml/2006/main" noGrp="1"/>
          </p:cNvSpPr>
          <p:nvPr/>
        </p:nvSpPr>
        <p:spPr>
          <a:xfrm xmlns:a="http://schemas.openxmlformats.org/drawingml/2006/main">
            <a:off x="4626864" y="4828032"/>
            <a:ext cx="6272784" cy="54864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B6AB063-6B63-4EA7-9907-FC63046875D9}"/>
              </a:ext>
            </a:extLst>
          </p:cNvPr>
          <p:cNvSpPr>
            <a:spLocks xmlns:a="http://schemas.openxmlformats.org/drawingml/2006/main" noGrp="1"/>
          </p:cNvSpPr>
          <p:nvPr/>
        </p:nvSpPr>
        <p:spPr>
          <a:xfrm xmlns:a="http://schemas.openxmlformats.org/drawingml/2006/main">
            <a:off x="4828032" y="4992624"/>
            <a:ext cx="587044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CA654A-AB07-4E8B-BA1D-A8745CB8ECC8}"/>
              </a:ext>
            </a:extLst>
          </p:cNvPr>
          <p:cNvSpPr>
            <a:spLocks xmlns:a="http://schemas.openxmlformats.org/drawingml/2006/main" noGrp="1"/>
          </p:cNvSpPr>
          <p:nvPr/>
        </p:nvSpPr>
        <p:spPr>
          <a:xfrm xmlns:a="http://schemas.openxmlformats.org/drawingml/2006/main">
            <a:off x="530352" y="292608"/>
            <a:ext cx="11064240" cy="67095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xmlns:a="http://schemas.openxmlformats.org/drawingml/2006/main">
              <a:ext uri="{FF2B5EF4-FFF2-40B4-BE49-F238E27FC236}">
                <a16:creationId xmlns:a16="http://schemas.microsoft.com/office/drawing/2014/main" id="{B99129EA-A2AE-46B0-8E3F-650537ACB88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xmlns:a="http://schemas.openxmlformats.org/drawingml/2006/main">
              <a:ext uri="{FF2B5EF4-FFF2-40B4-BE49-F238E27FC236}">
                <a16:creationId xmlns:a16="http://schemas.microsoft.com/office/drawing/2014/main" id="{3F1E3BBD-14B7-4A02-B94E-67585B5D8D48}"/>
              </a:ext>
            </a:extLst>
          </p:cNvPr>
          <p:cNvSpPr>
            <a:spLocks xmlns:a="http://schemas.openxmlformats.org/drawingml/2006/main" noGrp="1"/>
          </p:cNvSpPr>
          <p:nvPr/>
        </p:nvSpPr>
        <p:spPr>
          <a:xfrm xmlns:a="http://schemas.openxmlformats.org/drawingml/2006/main">
            <a:off x="658368" y="1444752"/>
            <a:ext cx="3456432" cy="29260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8F5142AC-4C6A-4EA2-AFC8-2728EB6DF64F}"/>
              </a:ext>
            </a:extLst>
          </p:cNvPr>
          <p:cNvSpPr>
            <a:spLocks xmlns:a="http://schemas.openxmlformats.org/drawingml/2006/main" noGrp="1"/>
          </p:cNvSpPr>
          <p:nvPr/>
        </p:nvSpPr>
        <p:spPr>
          <a:xfrm xmlns:a="http://schemas.openxmlformats.org/drawingml/2006/main">
            <a:off x="914400" y="1755648"/>
            <a:ext cx="512064" cy="51206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82E2D5C6-C022-45AF-B4C2-A43A7FF17B8B}"/>
              </a:ext>
            </a:extLst>
          </p:cNvPr>
          <p:cNvSpPr>
            <a:spLocks xmlns:a="http://schemas.openxmlformats.org/drawingml/2006/main" noGrp="1"/>
          </p:cNvSpPr>
          <p:nvPr/>
        </p:nvSpPr>
        <p:spPr>
          <a:xfrm xmlns:a="http://schemas.openxmlformats.org/drawingml/2006/main">
            <a:off x="91440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380516AF-6A39-4FEB-BB55-12201169B8D9}"/>
              </a:ext>
            </a:extLst>
          </p:cNvPr>
          <p:cNvSpPr>
            <a:spLocks xmlns:a="http://schemas.openxmlformats.org/drawingml/2006/main" noGrp="1"/>
          </p:cNvSpPr>
          <p:nvPr/>
        </p:nvSpPr>
        <p:spPr>
          <a:xfrm xmlns:a="http://schemas.openxmlformats.org/drawingml/2006/main">
            <a:off x="157276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600" b="1" i="0">
                <a:solidFill>
                  <a:srgbClr val="0F233D"/>
                </a:solidFill>
                <a:latin typeface="Arial"/>
                <a:ea typeface="Arial"/>
                <a:cs typeface="Arial"/>
              </a:rPr>
              <a:t>High energy demand</a:t>
            </a:r>
          </a:p>
        </p:txBody>
      </p:sp>
      <p:sp>
        <p:nvSpPr>
          <p:cNvPr id="8" name="TextBox 7">
            <a:extLst xmlns:a="http://schemas.openxmlformats.org/drawingml/2006/main">
              <a:ext uri="{FF2B5EF4-FFF2-40B4-BE49-F238E27FC236}">
                <a16:creationId xmlns:a16="http://schemas.microsoft.com/office/drawing/2014/main" id="{73B618EF-651F-449B-9C83-89A5D4523DA3}"/>
              </a:ext>
            </a:extLst>
          </p:cNvPr>
          <p:cNvSpPr>
            <a:spLocks xmlns:a="http://schemas.openxmlformats.org/drawingml/2006/main" noGrp="1"/>
          </p:cNvSpPr>
          <p:nvPr/>
        </p:nvSpPr>
        <p:spPr>
          <a:xfrm xmlns:a="http://schemas.openxmlformats.org/drawingml/2006/main">
            <a:off x="95097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xmlns:a="http://schemas.openxmlformats.org/drawingml/2006/main">
              <a:ext uri="{FF2B5EF4-FFF2-40B4-BE49-F238E27FC236}">
                <a16:creationId xmlns:a16="http://schemas.microsoft.com/office/drawing/2014/main" id="{BEB91B40-BDC4-472D-9374-07C6725FDCBD}"/>
              </a:ext>
            </a:extLst>
          </p:cNvPr>
          <p:cNvSpPr>
            <a:spLocks xmlns:a="http://schemas.openxmlformats.org/drawingml/2006/main" noGrp="1"/>
          </p:cNvSpPr>
          <p:nvPr/>
        </p:nvSpPr>
        <p:spPr>
          <a:xfrm xmlns:a="http://schemas.openxmlformats.org/drawingml/2006/main">
            <a:off x="4453128" y="1444752"/>
            <a:ext cx="3456432" cy="292608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9A65E5DC-1AAC-4450-AFD0-D7826B5DEAE0}"/>
              </a:ext>
            </a:extLst>
          </p:cNvPr>
          <p:cNvSpPr>
            <a:spLocks xmlns:a="http://schemas.openxmlformats.org/drawingml/2006/main" noGrp="1"/>
          </p:cNvSpPr>
          <p:nvPr/>
        </p:nvSpPr>
        <p:spPr>
          <a:xfrm xmlns:a="http://schemas.openxmlformats.org/drawingml/2006/main">
            <a:off x="4709160" y="1755648"/>
            <a:ext cx="512064" cy="51206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B2D1F9B-9B71-49A6-9999-3FE1F8A78E7C}"/>
              </a:ext>
            </a:extLst>
          </p:cNvPr>
          <p:cNvSpPr>
            <a:spLocks xmlns:a="http://schemas.openxmlformats.org/drawingml/2006/main" noGrp="1"/>
          </p:cNvSpPr>
          <p:nvPr/>
        </p:nvSpPr>
        <p:spPr>
          <a:xfrm xmlns:a="http://schemas.openxmlformats.org/drawingml/2006/main">
            <a:off x="470916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FFFFFF"/>
                </a:solidFill>
                <a:latin typeface="Arial"/>
                <a:ea typeface="Arial"/>
                <a:cs typeface="Arial"/>
              </a:rPr>
              <a:t>2</a:t>
            </a:r>
          </a:p>
        </p:txBody>
      </p:sp>
      <p:sp>
        <p:nvSpPr>
          <p:cNvPr id="12" name="TextBox 11">
            <a:extLst xmlns:a="http://schemas.openxmlformats.org/drawingml/2006/main">
              <a:ext uri="{FF2B5EF4-FFF2-40B4-BE49-F238E27FC236}">
                <a16:creationId xmlns:a16="http://schemas.microsoft.com/office/drawing/2014/main" id="{969D0F82-104E-4BEF-B341-49D46A6D1A8C}"/>
              </a:ext>
            </a:extLst>
          </p:cNvPr>
          <p:cNvSpPr>
            <a:spLocks xmlns:a="http://schemas.openxmlformats.org/drawingml/2006/main" noGrp="1"/>
          </p:cNvSpPr>
          <p:nvPr/>
        </p:nvSpPr>
        <p:spPr>
          <a:xfrm xmlns:a="http://schemas.openxmlformats.org/drawingml/2006/main">
            <a:off x="5367528" y="1773936"/>
            <a:ext cx="224942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600" b="1" i="0">
                <a:solidFill>
                  <a:srgbClr val="0F233D"/>
                </a:solidFill>
                <a:latin typeface="Arial"/>
                <a:ea typeface="Arial"/>
                <a:cs typeface="Arial"/>
              </a:rPr>
              <a:t>Essential core MT genes</a:t>
            </a:r>
          </a:p>
        </p:txBody>
      </p:sp>
      <p:sp>
        <p:nvSpPr>
          <p:cNvPr id="13" name="TextBox 12">
            <a:extLst xmlns:a="http://schemas.openxmlformats.org/drawingml/2006/main">
              <a:ext uri="{FF2B5EF4-FFF2-40B4-BE49-F238E27FC236}">
                <a16:creationId xmlns:a16="http://schemas.microsoft.com/office/drawing/2014/main" id="{AD5164C9-0653-483A-A83B-798C6BD58C43}"/>
              </a:ext>
            </a:extLst>
          </p:cNvPr>
          <p:cNvSpPr>
            <a:spLocks xmlns:a="http://schemas.openxmlformats.org/drawingml/2006/main" noGrp="1"/>
          </p:cNvSpPr>
          <p:nvPr/>
        </p:nvSpPr>
        <p:spPr>
          <a:xfrm xmlns:a="http://schemas.openxmlformats.org/drawingml/2006/main">
            <a:off x="474573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xmlns:a="http://schemas.openxmlformats.org/drawingml/2006/main">
              <a:ext uri="{FF2B5EF4-FFF2-40B4-BE49-F238E27FC236}">
                <a16:creationId xmlns:a16="http://schemas.microsoft.com/office/drawing/2014/main" id="{A63BD49F-492F-49A8-8701-D94C1DE8F87D}"/>
              </a:ext>
            </a:extLst>
          </p:cNvPr>
          <p:cNvSpPr>
            <a:spLocks xmlns:a="http://schemas.openxmlformats.org/drawingml/2006/main" noGrp="1"/>
          </p:cNvSpPr>
          <p:nvPr/>
        </p:nvSpPr>
        <p:spPr>
          <a:xfrm xmlns:a="http://schemas.openxmlformats.org/drawingml/2006/main">
            <a:off x="8247888" y="1444752"/>
            <a:ext cx="3456432" cy="29260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4DA3D490-7D99-463B-8604-7EDF75732275}"/>
              </a:ext>
            </a:extLst>
          </p:cNvPr>
          <p:cNvSpPr>
            <a:spLocks xmlns:a="http://schemas.openxmlformats.org/drawingml/2006/main" noGrp="1"/>
          </p:cNvSpPr>
          <p:nvPr/>
        </p:nvSpPr>
        <p:spPr>
          <a:xfrm xmlns:a="http://schemas.openxmlformats.org/drawingml/2006/main">
            <a:off x="8503920" y="1755648"/>
            <a:ext cx="512064" cy="512064"/>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12242748-53CE-4A4C-BCD5-10502CC6D3BD}"/>
              </a:ext>
            </a:extLst>
          </p:cNvPr>
          <p:cNvSpPr>
            <a:spLocks xmlns:a="http://schemas.openxmlformats.org/drawingml/2006/main" noGrp="1"/>
          </p:cNvSpPr>
          <p:nvPr/>
        </p:nvSpPr>
        <p:spPr>
          <a:xfrm xmlns:a="http://schemas.openxmlformats.org/drawingml/2006/main">
            <a:off x="850392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FFFFFF"/>
                </a:solidFill>
                <a:latin typeface="Arial"/>
                <a:ea typeface="Arial"/>
                <a:cs typeface="Arial"/>
              </a:rPr>
              <a:t>3</a:t>
            </a:r>
          </a:p>
        </p:txBody>
      </p:sp>
      <p:sp>
        <p:nvSpPr>
          <p:cNvPr id="17" name="TextBox 16">
            <a:extLst xmlns:a="http://schemas.openxmlformats.org/drawingml/2006/main">
              <a:ext uri="{FF2B5EF4-FFF2-40B4-BE49-F238E27FC236}">
                <a16:creationId xmlns:a16="http://schemas.microsoft.com/office/drawing/2014/main" id="{588883E8-7003-4329-BB64-A8502198D660}"/>
              </a:ext>
            </a:extLst>
          </p:cNvPr>
          <p:cNvSpPr>
            <a:spLocks xmlns:a="http://schemas.openxmlformats.org/drawingml/2006/main" noGrp="1"/>
          </p:cNvSpPr>
          <p:nvPr/>
        </p:nvSpPr>
        <p:spPr>
          <a:xfrm xmlns:a="http://schemas.openxmlformats.org/drawingml/2006/main">
            <a:off x="916228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600" b="1" i="0">
                <a:solidFill>
                  <a:srgbClr val="0F233D"/>
                </a:solidFill>
                <a:latin typeface="Arial"/>
                <a:ea typeface="Arial"/>
                <a:cs typeface="Arial"/>
              </a:rPr>
              <a:t>Repeated AD response</a:t>
            </a:r>
          </a:p>
        </p:txBody>
      </p:sp>
      <p:sp>
        <p:nvSpPr>
          <p:cNvPr id="18" name="TextBox 17">
            <a:extLst xmlns:a="http://schemas.openxmlformats.org/drawingml/2006/main">
              <a:ext uri="{FF2B5EF4-FFF2-40B4-BE49-F238E27FC236}">
                <a16:creationId xmlns:a16="http://schemas.microsoft.com/office/drawing/2014/main" id="{5F19A3CD-3D44-4938-90FF-50898D83B761}"/>
              </a:ext>
            </a:extLst>
          </p:cNvPr>
          <p:cNvSpPr>
            <a:spLocks xmlns:a="http://schemas.openxmlformats.org/drawingml/2006/main" noGrp="1"/>
          </p:cNvSpPr>
          <p:nvPr/>
        </p:nvSpPr>
        <p:spPr>
          <a:xfrm xmlns:a="http://schemas.openxmlformats.org/drawingml/2006/main">
            <a:off x="854049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xmlns:a="http://schemas.openxmlformats.org/drawingml/2006/main">
              <a:ext uri="{FF2B5EF4-FFF2-40B4-BE49-F238E27FC236}">
                <a16:creationId xmlns:a16="http://schemas.microsoft.com/office/drawing/2014/main" id="{E2D5DF43-11A8-4F0E-9BBD-EFE3CF9F45F3}"/>
              </a:ext>
            </a:extLst>
          </p:cNvPr>
          <p:cNvSpPr>
            <a:spLocks xmlns:a="http://schemas.openxmlformats.org/drawingml/2006/main" noGrp="1"/>
          </p:cNvSpPr>
          <p:nvPr/>
        </p:nvSpPr>
        <p:spPr>
          <a:xfrm xmlns:a="http://schemas.openxmlformats.org/drawingml/2006/main">
            <a:off x="658368" y="4736592"/>
            <a:ext cx="10881360" cy="1042415"/>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CC970E90-991B-45D4-B5BD-5B5891C6F68C}"/>
              </a:ext>
            </a:extLst>
          </p:cNvPr>
          <p:cNvSpPr>
            <a:spLocks xmlns:a="http://schemas.openxmlformats.org/drawingml/2006/main" noGrp="1"/>
          </p:cNvSpPr>
          <p:nvPr/>
        </p:nvSpPr>
        <p:spPr>
          <a:xfrm xmlns:a="http://schemas.openxmlformats.org/drawingml/2006/main">
            <a:off x="896112" y="4992624"/>
            <a:ext cx="219456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solidFill>
                  <a:srgbClr val="9E3A00"/>
                </a:solidFill>
                <a:latin typeface="Arial"/>
                <a:ea typeface="Arial"/>
                <a:cs typeface="Arial"/>
              </a:rPr>
              <a:t>Most cautious interpretation</a:t>
            </a:r>
          </a:p>
        </p:txBody>
      </p:sp>
      <p:sp>
        <p:nvSpPr>
          <p:cNvPr id="21" name="TextBox 20">
            <a:extLst xmlns:a="http://schemas.openxmlformats.org/drawingml/2006/main">
              <a:ext uri="{FF2B5EF4-FFF2-40B4-BE49-F238E27FC236}">
                <a16:creationId xmlns:a16="http://schemas.microsoft.com/office/drawing/2014/main" id="{7EB9ECA3-37D5-4D30-BB16-F102C2520C90}"/>
              </a:ext>
            </a:extLst>
          </p:cNvPr>
          <p:cNvSpPr>
            <a:spLocks xmlns:a="http://schemas.openxmlformats.org/drawingml/2006/main" noGrp="1"/>
          </p:cNvSpPr>
          <p:nvPr/>
        </p:nvSpPr>
        <p:spPr>
          <a:xfrm xmlns:a="http://schemas.openxmlformats.org/drawingml/2006/main">
            <a:off x="3246120" y="4886641"/>
            <a:ext cx="7836408"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78B5F9-322B-4386-A785-C37404D5BAC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xmlns:a="http://schemas.openxmlformats.org/drawingml/2006/main">
              <a:ext uri="{FF2B5EF4-FFF2-40B4-BE49-F238E27FC236}">
                <a16:creationId xmlns:a16="http://schemas.microsoft.com/office/drawing/2014/main" id="{81CF9610-7B95-4B5F-B65C-16227BB579F7}"/>
              </a:ext>
            </a:extLst>
          </p:cNvPr>
          <p:cNvSpPr>
            <a:spLocks xmlns:a="http://schemas.openxmlformats.org/drawingml/2006/main" noGrp="1"/>
          </p:cNvSpPr>
          <p:nvPr/>
        </p:nvSpPr>
        <p:spPr>
          <a:xfrm xmlns:a="http://schemas.openxmlformats.org/drawingml/2006/main">
            <a:off x="548640" y="872550"/>
            <a:ext cx="10927080" cy="24006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xmlns:a="http://schemas.openxmlformats.org/drawingml/2006/main">
              <a:ext uri="{FF2B5EF4-FFF2-40B4-BE49-F238E27FC236}">
                <a16:creationId xmlns:a16="http://schemas.microsoft.com/office/drawing/2014/main" id="{394C9100-E676-4B83-BBF5-208FF175DCC7}"/>
              </a:ext>
            </a:extLst>
          </p:cNvPr>
          <p:cNvSpPr>
            <a:spLocks xmlns:a="http://schemas.openxmlformats.org/drawingml/2006/main" noGrp="1"/>
          </p:cNvSpPr>
          <p:nvPr/>
        </p:nvSpPr>
        <p:spPr>
          <a:xfrm xmlns:a="http://schemas.openxmlformats.org/drawingml/2006/main">
            <a:off x="658368" y="1353312"/>
            <a:ext cx="3456432" cy="4169663"/>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71738A-BFCA-46D3-B314-8F7BC03CEBF9}"/>
              </a:ext>
            </a:extLst>
          </p:cNvPr>
          <p:cNvSpPr>
            <a:spLocks xmlns:a="http://schemas.openxmlformats.org/drawingml/2006/main" noGrp="1"/>
          </p:cNvSpPr>
          <p:nvPr/>
        </p:nvSpPr>
        <p:spPr>
          <a:xfrm xmlns:a="http://schemas.openxmlformats.org/drawingml/2006/main">
            <a:off x="93268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72B2"/>
                </a:solidFill>
                <a:latin typeface="Arial"/>
                <a:ea typeface="Arial"/>
                <a:cs typeface="Arial"/>
              </a:rPr>
              <a:t>Guo et al. 2023</a:t>
            </a:r>
          </a:p>
        </p:txBody>
      </p:sp>
      <p:sp>
        <p:nvSpPr>
          <p:cNvPr id="6" name="TextBox 5">
            <a:extLst xmlns:a="http://schemas.openxmlformats.org/drawingml/2006/main">
              <a:ext uri="{FF2B5EF4-FFF2-40B4-BE49-F238E27FC236}">
                <a16:creationId xmlns:a16="http://schemas.microsoft.com/office/drawing/2014/main" id="{C6B97ED5-851E-44EE-BCBE-CD2D5F21106D}"/>
              </a:ext>
            </a:extLst>
          </p:cNvPr>
          <p:cNvSpPr>
            <a:spLocks xmlns:a="http://schemas.openxmlformats.org/drawingml/2006/main" noGrp="1"/>
          </p:cNvSpPr>
          <p:nvPr/>
        </p:nvSpPr>
        <p:spPr>
          <a:xfrm xmlns:a="http://schemas.openxmlformats.org/drawingml/2006/main">
            <a:off x="93268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Sex-specific AD networks</a:t>
            </a:r>
          </a:p>
        </p:txBody>
      </p:sp>
      <p:sp>
        <p:nvSpPr>
          <p:cNvPr id="7" name="TextBox 6">
            <a:extLst xmlns:a="http://schemas.openxmlformats.org/drawingml/2006/main">
              <a:ext uri="{FF2B5EF4-FFF2-40B4-BE49-F238E27FC236}">
                <a16:creationId xmlns:a16="http://schemas.microsoft.com/office/drawing/2014/main" id="{3F863A1C-2D8D-4748-BAD0-697A8716AA65}"/>
              </a:ext>
            </a:extLst>
          </p:cNvPr>
          <p:cNvSpPr>
            <a:spLocks xmlns:a="http://schemas.openxmlformats.org/drawingml/2006/main" noGrp="1"/>
          </p:cNvSpPr>
          <p:nvPr/>
        </p:nvSpPr>
        <p:spPr>
          <a:xfrm xmlns:a="http://schemas.openxmlformats.org/drawingml/2006/main">
            <a:off x="95097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248D306-76C9-45EB-960F-CD5C7D675957}"/>
              </a:ext>
            </a:extLst>
          </p:cNvPr>
          <p:cNvSpPr>
            <a:spLocks xmlns:a="http://schemas.openxmlformats.org/drawingml/2006/main" noGrp="1"/>
          </p:cNvSpPr>
          <p:nvPr/>
        </p:nvSpPr>
        <p:spPr>
          <a:xfrm xmlns:a="http://schemas.openxmlformats.org/drawingml/2006/main">
            <a:off x="95097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0" i="0">
                <a:solidFill>
                  <a:srgbClr val="1F2730"/>
                </a:solidFill>
                <a:latin typeface="Arial"/>
                <a:ea typeface="Arial"/>
                <a:cs typeface="Arial"/>
              </a:rPr>
              <a:t>Supports analyzing AD networks separately by sex.</a:t>
            </a:r>
          </a:p>
        </p:txBody>
      </p:sp>
      <p:sp>
        <p:nvSpPr>
          <p:cNvPr id="9" name="TextBox 8">
            <a:extLst xmlns:a="http://schemas.openxmlformats.org/drawingml/2006/main">
              <a:ext uri="{FF2B5EF4-FFF2-40B4-BE49-F238E27FC236}">
                <a16:creationId xmlns:a16="http://schemas.microsoft.com/office/drawing/2014/main" id="{FE198E2D-1E7A-47A1-ABD2-F6EB57BDE7D1}"/>
              </a:ext>
            </a:extLst>
          </p:cNvPr>
          <p:cNvSpPr>
            <a:spLocks xmlns:a="http://schemas.openxmlformats.org/drawingml/2006/main" noGrp="1"/>
          </p:cNvSpPr>
          <p:nvPr/>
        </p:nvSpPr>
        <p:spPr>
          <a:xfrm xmlns:a="http://schemas.openxmlformats.org/drawingml/2006/main">
            <a:off x="95097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A62546F6-86E1-4B50-A624-902AFFE83666}"/>
              </a:ext>
            </a:extLst>
          </p:cNvPr>
          <p:cNvSpPr>
            <a:spLocks xmlns:a="http://schemas.openxmlformats.org/drawingml/2006/main" noGrp="1"/>
          </p:cNvSpPr>
          <p:nvPr/>
        </p:nvSpPr>
        <p:spPr>
          <a:xfrm xmlns:a="http://schemas.openxmlformats.org/drawingml/2006/main">
            <a:off x="95097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4E5A68"/>
                </a:solidFill>
                <a:latin typeface="Arial"/>
                <a:ea typeface="Arial"/>
                <a:cs typeface="Arial"/>
              </a:rPr>
              <a:t>Does not test this exact core MT gene pattern.</a:t>
            </a:r>
          </a:p>
        </p:txBody>
      </p:sp>
      <p:sp>
        <p:nvSpPr>
          <p:cNvPr id="11" name="Rounded Rectangle 10">
            <a:extLst xmlns:a="http://schemas.openxmlformats.org/drawingml/2006/main">
              <a:ext uri="{FF2B5EF4-FFF2-40B4-BE49-F238E27FC236}">
                <a16:creationId xmlns:a16="http://schemas.microsoft.com/office/drawing/2014/main" id="{99DA58C5-0667-4403-9E80-28206F6D5529}"/>
              </a:ext>
            </a:extLst>
          </p:cNvPr>
          <p:cNvSpPr>
            <a:spLocks xmlns:a="http://schemas.openxmlformats.org/drawingml/2006/main" noGrp="1"/>
          </p:cNvSpPr>
          <p:nvPr/>
        </p:nvSpPr>
        <p:spPr>
          <a:xfrm xmlns:a="http://schemas.openxmlformats.org/drawingml/2006/main">
            <a:off x="4453128" y="1353312"/>
            <a:ext cx="3456432" cy="4169663"/>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9D63C74-7D1D-4243-A747-9DFFB3A7A462}"/>
              </a:ext>
            </a:extLst>
          </p:cNvPr>
          <p:cNvSpPr>
            <a:spLocks xmlns:a="http://schemas.openxmlformats.org/drawingml/2006/main" noGrp="1"/>
          </p:cNvSpPr>
          <p:nvPr/>
        </p:nvSpPr>
        <p:spPr>
          <a:xfrm xmlns:a="http://schemas.openxmlformats.org/drawingml/2006/main">
            <a:off x="472744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684D"/>
                </a:solidFill>
                <a:latin typeface="Arial"/>
                <a:ea typeface="Arial"/>
                <a:cs typeface="Arial"/>
              </a:rPr>
              <a:t>Mathys et al. 2024</a:t>
            </a:r>
          </a:p>
        </p:txBody>
      </p:sp>
      <p:sp>
        <p:nvSpPr>
          <p:cNvPr id="13" name="TextBox 12">
            <a:extLst xmlns:a="http://schemas.openxmlformats.org/drawingml/2006/main">
              <a:ext uri="{FF2B5EF4-FFF2-40B4-BE49-F238E27FC236}">
                <a16:creationId xmlns:a16="http://schemas.microsoft.com/office/drawing/2014/main" id="{8B139909-1E60-4B7D-9E5A-7BE7C0E71598}"/>
              </a:ext>
            </a:extLst>
          </p:cNvPr>
          <p:cNvSpPr>
            <a:spLocks xmlns:a="http://schemas.openxmlformats.org/drawingml/2006/main" noGrp="1"/>
          </p:cNvSpPr>
          <p:nvPr/>
        </p:nvSpPr>
        <p:spPr>
          <a:xfrm xmlns:a="http://schemas.openxmlformats.org/drawingml/2006/main">
            <a:off x="472744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Cell-resolved AD responses</a:t>
            </a:r>
          </a:p>
        </p:txBody>
      </p:sp>
      <p:sp>
        <p:nvSpPr>
          <p:cNvPr id="14" name="TextBox 13">
            <a:extLst xmlns:a="http://schemas.openxmlformats.org/drawingml/2006/main">
              <a:ext uri="{FF2B5EF4-FFF2-40B4-BE49-F238E27FC236}">
                <a16:creationId xmlns:a16="http://schemas.microsoft.com/office/drawing/2014/main" id="{D07D753A-5819-43D5-9D8E-692D4BCC19D7}"/>
              </a:ext>
            </a:extLst>
          </p:cNvPr>
          <p:cNvSpPr>
            <a:spLocks xmlns:a="http://schemas.openxmlformats.org/drawingml/2006/main" noGrp="1"/>
          </p:cNvSpPr>
          <p:nvPr/>
        </p:nvSpPr>
        <p:spPr>
          <a:xfrm xmlns:a="http://schemas.openxmlformats.org/drawingml/2006/main">
            <a:off x="474573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094C5EDA-62A5-4BA8-9214-4716D14A290F}"/>
              </a:ext>
            </a:extLst>
          </p:cNvPr>
          <p:cNvSpPr>
            <a:spLocks xmlns:a="http://schemas.openxmlformats.org/drawingml/2006/main" noGrp="1"/>
          </p:cNvSpPr>
          <p:nvPr/>
        </p:nvSpPr>
        <p:spPr>
          <a:xfrm xmlns:a="http://schemas.openxmlformats.org/drawingml/2006/main">
            <a:off x="474573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0" i="0">
                <a:solidFill>
                  <a:srgbClr val="1F2730"/>
                </a:solidFill>
                <a:latin typeface="Arial"/>
                <a:ea typeface="Arial"/>
                <a:cs typeface="Arial"/>
              </a:rPr>
              <a:t>Supports strong cell-type heterogeneity.</a:t>
            </a:r>
          </a:p>
        </p:txBody>
      </p:sp>
      <p:sp>
        <p:nvSpPr>
          <p:cNvPr id="16" name="TextBox 15">
            <a:extLst xmlns:a="http://schemas.openxmlformats.org/drawingml/2006/main">
              <a:ext uri="{FF2B5EF4-FFF2-40B4-BE49-F238E27FC236}">
                <a16:creationId xmlns:a16="http://schemas.microsoft.com/office/drawing/2014/main" id="{88F43116-0C65-4488-A9FA-1811F9FE34AD}"/>
              </a:ext>
            </a:extLst>
          </p:cNvPr>
          <p:cNvSpPr>
            <a:spLocks xmlns:a="http://schemas.openxmlformats.org/drawingml/2006/main" noGrp="1"/>
          </p:cNvSpPr>
          <p:nvPr/>
        </p:nvSpPr>
        <p:spPr>
          <a:xfrm xmlns:a="http://schemas.openxmlformats.org/drawingml/2006/main">
            <a:off x="474573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7F77D202-D2A9-435A-BC07-B5EFCE7D469E}"/>
              </a:ext>
            </a:extLst>
          </p:cNvPr>
          <p:cNvSpPr>
            <a:spLocks xmlns:a="http://schemas.openxmlformats.org/drawingml/2006/main" noGrp="1"/>
          </p:cNvSpPr>
          <p:nvPr/>
        </p:nvSpPr>
        <p:spPr>
          <a:xfrm xmlns:a="http://schemas.openxmlformats.org/drawingml/2006/main">
            <a:off x="474573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4E5A68"/>
                </a:solidFill>
                <a:latin typeface="Arial"/>
                <a:ea typeface="Arial"/>
                <a:cs typeface="Arial"/>
              </a:rPr>
              <a:t>Uses ROSMAP, so it is not independent.</a:t>
            </a:r>
          </a:p>
        </p:txBody>
      </p:sp>
      <p:sp>
        <p:nvSpPr>
          <p:cNvPr id="18" name="Rounded Rectangle 17">
            <a:extLst xmlns:a="http://schemas.openxmlformats.org/drawingml/2006/main">
              <a:ext uri="{FF2B5EF4-FFF2-40B4-BE49-F238E27FC236}">
                <a16:creationId xmlns:a16="http://schemas.microsoft.com/office/drawing/2014/main" id="{6B8728A4-00D1-4FE0-B181-2C5422370349}"/>
              </a:ext>
            </a:extLst>
          </p:cNvPr>
          <p:cNvSpPr>
            <a:spLocks xmlns:a="http://schemas.openxmlformats.org/drawingml/2006/main" noGrp="1"/>
          </p:cNvSpPr>
          <p:nvPr/>
        </p:nvSpPr>
        <p:spPr>
          <a:xfrm xmlns:a="http://schemas.openxmlformats.org/drawingml/2006/main">
            <a:off x="8247888" y="1353312"/>
            <a:ext cx="3456432" cy="4169663"/>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7DD6AA2-4D33-4522-829A-91B4C555BCB3}"/>
              </a:ext>
            </a:extLst>
          </p:cNvPr>
          <p:cNvSpPr>
            <a:spLocks xmlns:a="http://schemas.openxmlformats.org/drawingml/2006/main" noGrp="1"/>
          </p:cNvSpPr>
          <p:nvPr/>
        </p:nvSpPr>
        <p:spPr>
          <a:xfrm xmlns:a="http://schemas.openxmlformats.org/drawingml/2006/main">
            <a:off x="852220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895600"/>
                </a:solidFill>
                <a:latin typeface="Arial"/>
                <a:ea typeface="Arial"/>
                <a:cs typeface="Arial"/>
              </a:rPr>
              <a:t>Lee et al. 2023</a:t>
            </a:r>
          </a:p>
        </p:txBody>
      </p:sp>
      <p:sp>
        <p:nvSpPr>
          <p:cNvPr id="20" name="TextBox 19">
            <a:extLst xmlns:a="http://schemas.openxmlformats.org/drawingml/2006/main">
              <a:ext uri="{FF2B5EF4-FFF2-40B4-BE49-F238E27FC236}">
                <a16:creationId xmlns:a16="http://schemas.microsoft.com/office/drawing/2014/main" id="{D3350B37-7599-494A-99BD-AE1E6AAD4AA5}"/>
              </a:ext>
            </a:extLst>
          </p:cNvPr>
          <p:cNvSpPr>
            <a:spLocks xmlns:a="http://schemas.openxmlformats.org/drawingml/2006/main" noGrp="1"/>
          </p:cNvSpPr>
          <p:nvPr/>
        </p:nvSpPr>
        <p:spPr>
          <a:xfrm xmlns:a="http://schemas.openxmlformats.org/drawingml/2006/main">
            <a:off x="852220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APOE and mitochondria</a:t>
            </a:r>
          </a:p>
        </p:txBody>
      </p:sp>
      <p:sp>
        <p:nvSpPr>
          <p:cNvPr id="21" name="TextBox 20">
            <a:extLst xmlns:a="http://schemas.openxmlformats.org/drawingml/2006/main">
              <a:ext uri="{FF2B5EF4-FFF2-40B4-BE49-F238E27FC236}">
                <a16:creationId xmlns:a16="http://schemas.microsoft.com/office/drawing/2014/main" id="{5772E729-F288-432E-B988-644CE4473BF0}"/>
              </a:ext>
            </a:extLst>
          </p:cNvPr>
          <p:cNvSpPr>
            <a:spLocks xmlns:a="http://schemas.openxmlformats.org/drawingml/2006/main" noGrp="1"/>
          </p:cNvSpPr>
          <p:nvPr/>
        </p:nvSpPr>
        <p:spPr>
          <a:xfrm xmlns:a="http://schemas.openxmlformats.org/drawingml/2006/main">
            <a:off x="854049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37A3CE70-752E-44EA-8215-399BC87A0B06}"/>
              </a:ext>
            </a:extLst>
          </p:cNvPr>
          <p:cNvSpPr>
            <a:spLocks xmlns:a="http://schemas.openxmlformats.org/drawingml/2006/main" noGrp="1"/>
          </p:cNvSpPr>
          <p:nvPr/>
        </p:nvSpPr>
        <p:spPr>
          <a:xfrm xmlns:a="http://schemas.openxmlformats.org/drawingml/2006/main">
            <a:off x="854049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xmlns:a="http://schemas.openxmlformats.org/drawingml/2006/main">
              <a:ext uri="{FF2B5EF4-FFF2-40B4-BE49-F238E27FC236}">
                <a16:creationId xmlns:a16="http://schemas.microsoft.com/office/drawing/2014/main" id="{1D0B974E-5CAB-4B97-9C99-4892975302B5}"/>
              </a:ext>
            </a:extLst>
          </p:cNvPr>
          <p:cNvSpPr>
            <a:spLocks xmlns:a="http://schemas.openxmlformats.org/drawingml/2006/main" noGrp="1"/>
          </p:cNvSpPr>
          <p:nvPr/>
        </p:nvSpPr>
        <p:spPr>
          <a:xfrm xmlns:a="http://schemas.openxmlformats.org/drawingml/2006/main">
            <a:off x="854049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CB1EF16E-4104-415B-9EE6-BFEB0DEE37AA}"/>
              </a:ext>
            </a:extLst>
          </p:cNvPr>
          <p:cNvSpPr>
            <a:spLocks xmlns:a="http://schemas.openxmlformats.org/drawingml/2006/main" noGrp="1"/>
          </p:cNvSpPr>
          <p:nvPr/>
        </p:nvSpPr>
        <p:spPr>
          <a:xfrm xmlns:a="http://schemas.openxmlformats.org/drawingml/2006/main">
            <a:off x="854049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4E5A68"/>
                </a:solidFill>
                <a:latin typeface="Arial"/>
                <a:ea typeface="Arial"/>
                <a:cs typeface="Arial"/>
              </a:rPr>
              <a:t>Different APOE group and cell type.</a:t>
            </a:r>
          </a:p>
        </p:txBody>
      </p:sp>
      <p:sp>
        <p:nvSpPr>
          <p:cNvPr id="25" name="Rounded Rectangle 24">
            <a:extLst xmlns:a="http://schemas.openxmlformats.org/drawingml/2006/main">
              <a:ext uri="{FF2B5EF4-FFF2-40B4-BE49-F238E27FC236}">
                <a16:creationId xmlns:a16="http://schemas.microsoft.com/office/drawing/2014/main" id="{99DC217A-C5DA-41D7-BA8B-F4026C1DFE30}"/>
              </a:ext>
            </a:extLst>
          </p:cNvPr>
          <p:cNvSpPr>
            <a:spLocks xmlns:a="http://schemas.openxmlformats.org/drawingml/2006/main" noGrp="1"/>
          </p:cNvSpPr>
          <p:nvPr/>
        </p:nvSpPr>
        <p:spPr>
          <a:xfrm xmlns:a="http://schemas.openxmlformats.org/drawingml/2006/main">
            <a:off x="658368" y="5742432"/>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8B586943-769E-49E5-85F0-0DDD8D4EDDA4}"/>
              </a:ext>
            </a:extLst>
          </p:cNvPr>
          <p:cNvSpPr>
            <a:spLocks xmlns:a="http://schemas.openxmlformats.org/drawingml/2006/main" noGrp="1"/>
          </p:cNvSpPr>
          <p:nvPr/>
        </p:nvSpPr>
        <p:spPr>
          <a:xfrm xmlns:a="http://schemas.openxmlformats.org/drawingml/2006/main">
            <a:off x="896112" y="5897880"/>
            <a:ext cx="10405872" cy="22467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00" b="1" i="0">
                <a:solidFill>
                  <a:srgbClr val="7E4C9A"/>
                </a:solidFill>
                <a:latin typeface="Arial"/>
                <a:ea typeface="Arial"/>
                <a:cs typeface="Arial"/>
              </a:rPr>
              <a:t>Novelty: moderate</a:t>
            </a:r>
            <a:r>
              <a:rPr sz="1100" b="1" i="0">
                <a:solidFill>
                  <a:srgbClr val="7E4C9A"/>
                </a:solidFill>
                <a:latin typeface="Arial"/>
                <a:ea typeface="Arial"/>
                <a:cs typeface="Arial"/>
              </a:rPr>
              <a:t>. </a:t>
            </a:r>
            <a:r>
              <a:rPr sz="1100" b="1">
                <a:solidFill>
                  <a:srgbClr val="7E4C9A"/>
                </a:solidFill>
                <a:latin typeface="Arial"/>
                <a:ea typeface="Arial"/>
                <a:cs typeface="Arial"/>
              </a:rPr>
              <a:t>K</a:t>
            </a:r>
            <a:r>
              <a:rPr sz="1100" b="1" i="0">
                <a:solidFill>
                  <a:srgbClr val="7E4C9A"/>
                </a:solidFill>
                <a:latin typeface="Arial"/>
                <a:ea typeface="Arial"/>
                <a:cs typeface="Arial"/>
              </a:rPr>
              <a:t>nown mitochondrial biology in a less-established sex/APOE/cell context.</a:t>
            </a:r>
          </a:p>
        </p:txBody>
      </p:sp>
    </p:spTree>
    <p:extLst>
      <p:ext uri="{BB962C8B-B14F-4D97-AF65-F5344CB8AC3E}">
        <p14:creationId xmlns:p14="http://schemas.microsoft.com/office/powerpoint/2010/main" val="348113769"/>
      </p:ext>
    </p:extLst>
  </p:cSld>
</p:sld>
</file>

<file path=ppt/slides/slide20.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F9124A-1A92-4E9C-B8C1-0F36083BD1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E69F00"/>
                </a:solidFill>
                <a:latin typeface="Arial"/>
                <a:ea typeface="Arial"/>
                <a:cs typeface="Arial"/>
              </a:rPr>
              <a:t>FINDING 2</a:t>
            </a:r>
          </a:p>
        </p:txBody>
      </p:sp>
      <p:sp>
        <p:nvSpPr>
          <p:cNvPr id="3" name="Rectangle 2">
            <a:extLst xmlns:a="http://schemas.openxmlformats.org/drawingml/2006/main">
              <a:ext uri="{FF2B5EF4-FFF2-40B4-BE49-F238E27FC236}">
                <a16:creationId xmlns:a16="http://schemas.microsoft.com/office/drawing/2014/main" id="{F29E777B-DE41-4CC4-A223-0DAE0AF9458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F2EE16-EB2B-4E46-B9D4-E66404F13B03}"/>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xmlns:a="http://schemas.openxmlformats.org/drawingml/2006/main">
              <a:ext uri="{FF2B5EF4-FFF2-40B4-BE49-F238E27FC236}">
                <a16:creationId xmlns:a16="http://schemas.microsoft.com/office/drawing/2014/main" id="{A588FD2C-EB60-4577-8821-E5F5021BA1C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ε3/ε3</a:t>
            </a:r>
          </a:p>
        </p:txBody>
      </p:sp>
      <p:sp>
        <p:nvSpPr>
          <p:cNvPr id="6" name="Rounded Rectangle 5">
            <a:extLst xmlns:a="http://schemas.openxmlformats.org/drawingml/2006/main">
              <a:ext uri="{FF2B5EF4-FFF2-40B4-BE49-F238E27FC236}">
                <a16:creationId xmlns:a16="http://schemas.microsoft.com/office/drawing/2014/main" id="{4AB68BF7-738C-44F8-84C1-D77201484E6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D86FA87E-93AC-45B3-84EA-A3CA04235AE7}"/>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97A04348-1C76-4D1C-B8AC-3EAF85E045F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52F1C3F-7A36-4E03-A6C4-0613900CEA2D}"/>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552BAB4-2207-4F4D-8992-69750669E91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7A656E3B-C25F-4358-8744-6B69A65324AB}"/>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857FEE0-4FA6-4463-9B7D-74746D463189}"/>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A57F751B-861E-4858-BE4F-8A6DD59F1938}"/>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973D29A-9145-4E4D-89F5-AC1BCDB8D5B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D7D48CD-32D2-496C-BA2E-A10C4966E0B8}"/>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698853C-FD5E-4454-95DC-0E479B798FB5}"/>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SEA-AD support</a:t>
            </a:r>
          </a:p>
        </p:txBody>
      </p:sp>
      <p:sp>
        <p:nvSpPr>
          <p:cNvPr id="17" name="Oval 16">
            <a:extLst xmlns:a="http://schemas.openxmlformats.org/drawingml/2006/main">
              <a:ext uri="{FF2B5EF4-FFF2-40B4-BE49-F238E27FC236}">
                <a16:creationId xmlns:a16="http://schemas.microsoft.com/office/drawing/2014/main" id="{AE991DE2-7759-4369-BB68-091CD975BA85}"/>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5E18EF7-8353-4915-84F5-D0AADCED05F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1059528-957D-41CF-8D38-5860BE5B5CD5}"/>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9783892-98D7-4CBA-9CBA-83A45F37F2E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E3B01D2-604E-44C2-A51B-87CA43C45395}"/>
              </a:ext>
            </a:extLst>
          </p:cNvPr>
          <p:cNvSpPr>
            <a:spLocks xmlns:a="http://schemas.openxmlformats.org/drawingml/2006/main" noGrp="1"/>
          </p:cNvSpPr>
          <p:nvPr/>
        </p:nvSpPr>
        <p:spPr>
          <a:xfrm xmlns:a="http://schemas.openxmlformats.org/drawingml/2006/main">
            <a:off x="1353312" y="4270248"/>
            <a:ext cx="6720840" cy="3962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3EDD71-7F75-4FE2-8F11-10F0B9E568D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xmlns:a="http://schemas.openxmlformats.org/drawingml/2006/main">
              <a:ext uri="{FF2B5EF4-FFF2-40B4-BE49-F238E27FC236}">
                <a16:creationId xmlns:a16="http://schemas.microsoft.com/office/drawing/2014/main" id="{02698264-837A-4235-8D99-EC3D63D97BD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xmlns:a="http://schemas.openxmlformats.org/drawingml/2006/main">
              <a:ext uri="{FF2B5EF4-FFF2-40B4-BE49-F238E27FC236}">
                <a16:creationId xmlns:a16="http://schemas.microsoft.com/office/drawing/2014/main" id="{397E169F-A1C0-44A6-9812-A2BC35F60F22}"/>
              </a:ext>
            </a:extLst>
          </p:cNvPr>
          <p:cNvSpPr>
            <a:spLocks xmlns:a="http://schemas.openxmlformats.org/drawingml/2006/main" noGrp="1"/>
          </p:cNvSpPr>
          <p:nvPr/>
        </p:nvSpPr>
        <p:spPr>
          <a:xfrm xmlns:a="http://schemas.openxmlformats.org/drawingml/2006/main">
            <a:off x="1024128" y="1353312"/>
            <a:ext cx="1920240"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2C7E636-8347-42FB-B8CE-ECB30E056362}"/>
              </a:ext>
            </a:extLst>
          </p:cNvPr>
          <p:cNvSpPr>
            <a:spLocks xmlns:a="http://schemas.openxmlformats.org/drawingml/2006/main" noGrp="1"/>
          </p:cNvSpPr>
          <p:nvPr/>
        </p:nvSpPr>
        <p:spPr>
          <a:xfrm xmlns:a="http://schemas.openxmlformats.org/drawingml/2006/main">
            <a:off x="1115568" y="1453896"/>
            <a:ext cx="173736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080E6272-1353-49C9-9122-5FE680AC7958}"/>
              </a:ext>
            </a:extLst>
          </p:cNvPr>
          <p:cNvSpPr>
            <a:spLocks xmlns:a="http://schemas.openxmlformats.org/drawingml/2006/main" noGrp="1"/>
          </p:cNvSpPr>
          <p:nvPr/>
        </p:nvSpPr>
        <p:spPr>
          <a:xfrm xmlns:a="http://schemas.openxmlformats.org/drawingml/2006/main">
            <a:off x="3218688" y="1353312"/>
            <a:ext cx="2212848"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7F5CC54D-8B7F-4617-A22B-EA9AB2170A91}"/>
              </a:ext>
            </a:extLst>
          </p:cNvPr>
          <p:cNvSpPr>
            <a:spLocks xmlns:a="http://schemas.openxmlformats.org/drawingml/2006/main" noGrp="1"/>
          </p:cNvSpPr>
          <p:nvPr/>
        </p:nvSpPr>
        <p:spPr>
          <a:xfrm xmlns:a="http://schemas.openxmlformats.org/drawingml/2006/main">
            <a:off x="3310128" y="1453896"/>
            <a:ext cx="202996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00684D"/>
                </a:solidFill>
                <a:latin typeface="Arial"/>
                <a:ea typeface="Arial"/>
                <a:cs typeface="Arial"/>
              </a:rPr>
              <a:t>APOE ε3/ε3</a:t>
            </a:r>
          </a:p>
        </p:txBody>
      </p:sp>
      <p:sp>
        <p:nvSpPr>
          <p:cNvPr id="8" name="Rounded Rectangle 7">
            <a:extLst xmlns:a="http://schemas.openxmlformats.org/drawingml/2006/main">
              <a:ext uri="{FF2B5EF4-FFF2-40B4-BE49-F238E27FC236}">
                <a16:creationId xmlns:a16="http://schemas.microsoft.com/office/drawing/2014/main" id="{E37D0E96-E63A-4D64-B1AD-FFEF11108557}"/>
              </a:ext>
            </a:extLst>
          </p:cNvPr>
          <p:cNvSpPr>
            <a:spLocks xmlns:a="http://schemas.openxmlformats.org/drawingml/2006/main" noGrp="1"/>
          </p:cNvSpPr>
          <p:nvPr/>
        </p:nvSpPr>
        <p:spPr>
          <a:xfrm xmlns:a="http://schemas.openxmlformats.org/drawingml/2006/main">
            <a:off x="5705856" y="1353312"/>
            <a:ext cx="2432304"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2EC3789-9769-4D18-A494-38C1F2CBEFD3}"/>
              </a:ext>
            </a:extLst>
          </p:cNvPr>
          <p:cNvSpPr>
            <a:spLocks xmlns:a="http://schemas.openxmlformats.org/drawingml/2006/main" noGrp="1"/>
          </p:cNvSpPr>
          <p:nvPr/>
        </p:nvSpPr>
        <p:spPr>
          <a:xfrm xmlns:a="http://schemas.openxmlformats.org/drawingml/2006/main">
            <a:off x="5797296" y="1453896"/>
            <a:ext cx="2249424"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895600"/>
                </a:solidFill>
                <a:latin typeface="Arial"/>
                <a:ea typeface="Arial"/>
                <a:cs typeface="Arial"/>
              </a:rPr>
              <a:t>Inhibitory neurons</a:t>
            </a:r>
          </a:p>
        </p:txBody>
      </p:sp>
      <p:sp>
        <p:nvSpPr>
          <p:cNvPr id="10" name="Rounded Rectangle 9">
            <a:extLst xmlns:a="http://schemas.openxmlformats.org/drawingml/2006/main">
              <a:ext uri="{FF2B5EF4-FFF2-40B4-BE49-F238E27FC236}">
                <a16:creationId xmlns:a16="http://schemas.microsoft.com/office/drawing/2014/main" id="{60146EAA-D4F4-45A4-9355-40543682B813}"/>
              </a:ext>
            </a:extLst>
          </p:cNvPr>
          <p:cNvSpPr>
            <a:spLocks xmlns:a="http://schemas.openxmlformats.org/drawingml/2006/main" noGrp="1"/>
          </p:cNvSpPr>
          <p:nvPr/>
        </p:nvSpPr>
        <p:spPr>
          <a:xfrm xmlns:a="http://schemas.openxmlformats.org/drawingml/2006/main">
            <a:off x="8412480" y="1353312"/>
            <a:ext cx="2578608"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96D18F2-A872-41A6-97F4-F5C7EF050809}"/>
              </a:ext>
            </a:extLst>
          </p:cNvPr>
          <p:cNvSpPr>
            <a:spLocks xmlns:a="http://schemas.openxmlformats.org/drawingml/2006/main" noGrp="1"/>
          </p:cNvSpPr>
          <p:nvPr/>
        </p:nvSpPr>
        <p:spPr>
          <a:xfrm xmlns:a="http://schemas.openxmlformats.org/drawingml/2006/main">
            <a:off x="8503919" y="1453896"/>
            <a:ext cx="239572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9E3A00"/>
                </a:solidFill>
                <a:latin typeface="Arial"/>
                <a:ea typeface="Arial"/>
                <a:cs typeface="Arial"/>
              </a:rPr>
              <a:t>Alzheimer’s disease</a:t>
            </a:r>
          </a:p>
        </p:txBody>
      </p:sp>
      <p:sp>
        <p:nvSpPr>
          <p:cNvPr id="12" name="Rounded Rectangle 11">
            <a:extLst xmlns:a="http://schemas.openxmlformats.org/drawingml/2006/main">
              <a:ext uri="{FF2B5EF4-FFF2-40B4-BE49-F238E27FC236}">
                <a16:creationId xmlns:a16="http://schemas.microsoft.com/office/drawing/2014/main" id="{6D84102F-E14A-43A2-A63D-C515B39DDDC8}"/>
              </a:ext>
            </a:extLst>
          </p:cNvPr>
          <p:cNvSpPr>
            <a:spLocks xmlns:a="http://schemas.openxmlformats.org/drawingml/2006/main" noGrp="1"/>
          </p:cNvSpPr>
          <p:nvPr/>
        </p:nvSpPr>
        <p:spPr>
          <a:xfrm xmlns:a="http://schemas.openxmlformats.org/drawingml/2006/main">
            <a:off x="749808" y="2084831"/>
            <a:ext cx="5047488" cy="276148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9273371-8277-45C0-BF8D-3E927D545CAB}"/>
              </a:ext>
            </a:extLst>
          </p:cNvPr>
          <p:cNvSpPr>
            <a:spLocks xmlns:a="http://schemas.openxmlformats.org/drawingml/2006/main" noGrp="1"/>
          </p:cNvSpPr>
          <p:nvPr/>
        </p:nvSpPr>
        <p:spPr>
          <a:xfrm xmlns:a="http://schemas.openxmlformats.org/drawingml/2006/main">
            <a:off x="1024128" y="2468880"/>
            <a:ext cx="4498848"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800" b="1" i="0">
                <a:solidFill>
                  <a:srgbClr val="0F233D"/>
                </a:solidFill>
                <a:latin typeface="Arial"/>
                <a:ea typeface="Arial"/>
                <a:cs typeface="Arial"/>
              </a:rPr>
              <a:t>CORE MT GENES</a:t>
            </a:r>
          </a:p>
        </p:txBody>
      </p:sp>
      <p:sp>
        <p:nvSpPr>
          <p:cNvPr id="14" name="TextBox 13">
            <a:extLst xmlns:a="http://schemas.openxmlformats.org/drawingml/2006/main">
              <a:ext uri="{FF2B5EF4-FFF2-40B4-BE49-F238E27FC236}">
                <a16:creationId xmlns:a16="http://schemas.microsoft.com/office/drawing/2014/main" id="{EC86CDF9-4226-49D3-AC82-153B477F37E8}"/>
              </a:ext>
            </a:extLst>
          </p:cNvPr>
          <p:cNvSpPr>
            <a:spLocks xmlns:a="http://schemas.openxmlformats.org/drawingml/2006/main" noGrp="1"/>
          </p:cNvSpPr>
          <p:nvPr/>
        </p:nvSpPr>
        <p:spPr>
          <a:xfrm xmlns:a="http://schemas.openxmlformats.org/drawingml/2006/main">
            <a:off x="1188720" y="2953512"/>
            <a:ext cx="1188720"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4800" b="1" i="0">
                <a:solidFill>
                  <a:srgbClr val="00684D"/>
                </a:solidFill>
                <a:latin typeface="Arial"/>
                <a:ea typeface="Arial"/>
                <a:cs typeface="Arial"/>
              </a:rPr>
              <a:t>↑</a:t>
            </a:r>
          </a:p>
        </p:txBody>
      </p:sp>
      <p:sp>
        <p:nvSpPr>
          <p:cNvPr id="15" name="TextBox 14">
            <a:extLst xmlns:a="http://schemas.openxmlformats.org/drawingml/2006/main">
              <a:ext uri="{FF2B5EF4-FFF2-40B4-BE49-F238E27FC236}">
                <a16:creationId xmlns:a16="http://schemas.microsoft.com/office/drawing/2014/main" id="{10DFCD5E-8BA6-4D59-9D89-DB09251C5134}"/>
              </a:ext>
            </a:extLst>
          </p:cNvPr>
          <p:cNvSpPr>
            <a:spLocks xmlns:a="http://schemas.openxmlformats.org/drawingml/2006/main" noGrp="1"/>
          </p:cNvSpPr>
          <p:nvPr/>
        </p:nvSpPr>
        <p:spPr>
          <a:xfrm xmlns:a="http://schemas.openxmlformats.org/drawingml/2006/main">
            <a:off x="2267712" y="3099816"/>
            <a:ext cx="2944368" cy="7406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1F2730"/>
                </a:solidFill>
                <a:latin typeface="Arial"/>
                <a:ea typeface="Arial"/>
                <a:cs typeface="Arial"/>
              </a:rPr>
              <a:t>core MT gene expression</a:t>
            </a:r>
          </a:p>
        </p:txBody>
      </p:sp>
      <p:sp>
        <p:nvSpPr>
          <p:cNvPr id="16" name="Rounded Rectangle 15">
            <a:extLst xmlns:a="http://schemas.openxmlformats.org/drawingml/2006/main">
              <a:ext uri="{FF2B5EF4-FFF2-40B4-BE49-F238E27FC236}">
                <a16:creationId xmlns:a16="http://schemas.microsoft.com/office/drawing/2014/main" id="{F2C9BFD7-5374-4B5C-A818-B7754BFF8571}"/>
              </a:ext>
            </a:extLst>
          </p:cNvPr>
          <p:cNvSpPr>
            <a:spLocks xmlns:a="http://schemas.openxmlformats.org/drawingml/2006/main" noGrp="1"/>
          </p:cNvSpPr>
          <p:nvPr/>
        </p:nvSpPr>
        <p:spPr>
          <a:xfrm xmlns:a="http://schemas.openxmlformats.org/drawingml/2006/main">
            <a:off x="6382512" y="2084831"/>
            <a:ext cx="5065776" cy="276148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B10E5A-F95E-4833-9E71-C100046AE67B}"/>
              </a:ext>
            </a:extLst>
          </p:cNvPr>
          <p:cNvSpPr>
            <a:spLocks xmlns:a="http://schemas.openxmlformats.org/drawingml/2006/main" noGrp="1"/>
          </p:cNvSpPr>
          <p:nvPr/>
        </p:nvSpPr>
        <p:spPr>
          <a:xfrm xmlns:a="http://schemas.openxmlformats.org/drawingml/2006/main">
            <a:off x="6656832" y="2468880"/>
            <a:ext cx="4517136"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8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3FB05672-2D66-45B7-9F63-D10F46741A3D}"/>
              </a:ext>
            </a:extLst>
          </p:cNvPr>
          <p:cNvSpPr>
            <a:spLocks xmlns:a="http://schemas.openxmlformats.org/drawingml/2006/main" noGrp="1"/>
          </p:cNvSpPr>
          <p:nvPr/>
        </p:nvSpPr>
        <p:spPr>
          <a:xfrm xmlns:a="http://schemas.openxmlformats.org/drawingml/2006/main">
            <a:off x="6821424" y="2953512"/>
            <a:ext cx="1188720"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4800" b="1" i="0">
                <a:solidFill>
                  <a:srgbClr val="9E3A00"/>
                </a:solidFill>
                <a:latin typeface="Arial"/>
                <a:ea typeface="Arial"/>
                <a:cs typeface="Arial"/>
              </a:rPr>
              <a:t>↓</a:t>
            </a:r>
          </a:p>
        </p:txBody>
      </p:sp>
      <p:sp>
        <p:nvSpPr>
          <p:cNvPr id="19" name="TextBox 18">
            <a:extLst xmlns:a="http://schemas.openxmlformats.org/drawingml/2006/main">
              <a:ext uri="{FF2B5EF4-FFF2-40B4-BE49-F238E27FC236}">
                <a16:creationId xmlns:a16="http://schemas.microsoft.com/office/drawing/2014/main" id="{951C76EB-DABD-49D9-AD3C-D22A60A26F75}"/>
              </a:ext>
            </a:extLst>
          </p:cNvPr>
          <p:cNvSpPr>
            <a:spLocks xmlns:a="http://schemas.openxmlformats.org/drawingml/2006/main" noGrp="1"/>
          </p:cNvSpPr>
          <p:nvPr/>
        </p:nvSpPr>
        <p:spPr>
          <a:xfrm xmlns:a="http://schemas.openxmlformats.org/drawingml/2006/main">
            <a:off x="7900416" y="3099816"/>
            <a:ext cx="2962656" cy="7406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1F2730"/>
                </a:solidFill>
                <a:latin typeface="Arial"/>
                <a:ea typeface="Arial"/>
                <a:cs typeface="Arial"/>
              </a:rPr>
              <a:t>nuclear-encoded OXPHOS gene expression</a:t>
            </a:r>
          </a:p>
        </p:txBody>
      </p:sp>
      <p:sp>
        <p:nvSpPr>
          <p:cNvPr id="20" name="Rounded Rectangle 19">
            <a:extLst xmlns:a="http://schemas.openxmlformats.org/drawingml/2006/main">
              <a:ext uri="{FF2B5EF4-FFF2-40B4-BE49-F238E27FC236}">
                <a16:creationId xmlns:a16="http://schemas.microsoft.com/office/drawing/2014/main" id="{9191A2DE-8434-4DED-9FA6-D055D1E9F3CC}"/>
              </a:ext>
            </a:extLst>
          </p:cNvPr>
          <p:cNvSpPr>
            <a:spLocks xmlns:a="http://schemas.openxmlformats.org/drawingml/2006/main" noGrp="1"/>
          </p:cNvSpPr>
          <p:nvPr/>
        </p:nvSpPr>
        <p:spPr>
          <a:xfrm xmlns:a="http://schemas.openxmlformats.org/drawingml/2006/main">
            <a:off x="749808" y="5230368"/>
            <a:ext cx="10698480" cy="69494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916A2FE-9DEB-444D-B9B7-8EF09A72E49E}"/>
              </a:ext>
            </a:extLst>
          </p:cNvPr>
          <p:cNvSpPr>
            <a:spLocks xmlns:a="http://schemas.openxmlformats.org/drawingml/2006/main" noGrp="1"/>
          </p:cNvSpPr>
          <p:nvPr/>
        </p:nvSpPr>
        <p:spPr>
          <a:xfrm xmlns:a="http://schemas.openxmlformats.org/drawingml/2006/main">
            <a:off x="987552" y="5422392"/>
            <a:ext cx="1022299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xmlns:a="http://schemas.openxmlformats.org/drawingml/2006/main">
              <a:ext uri="{FF2B5EF4-FFF2-40B4-BE49-F238E27FC236}">
                <a16:creationId xmlns:a16="http://schemas.microsoft.com/office/drawing/2014/main" id="{8B9BB39C-2AD4-4988-96CB-DE0217C23F63}"/>
              </a:ext>
            </a:extLst>
          </p:cNvPr>
          <p:cNvSpPr>
            <a:spLocks xmlns:a="http://schemas.openxmlformats.org/drawingml/2006/main" noGrp="1"/>
          </p:cNvSpPr>
          <p:nvPr/>
        </p:nvSpPr>
        <p:spPr>
          <a:xfrm xmlns:a="http://schemas.openxmlformats.org/drawingml/2006/main">
            <a:off x="658368" y="6473952"/>
            <a:ext cx="10881360" cy="1661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ct val="0"/>
              </a:spcBef>
              <a:spcAft>
                <a:spcPct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0DF3AA2-2949-4CB9-BFD3-1140A994245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xmlns:a="http://schemas.openxmlformats.org/drawingml/2006/main">
              <a:ext uri="{FF2B5EF4-FFF2-40B4-BE49-F238E27FC236}">
                <a16:creationId xmlns:a16="http://schemas.microsoft.com/office/drawing/2014/main" id="{8F0EBA17-C3F1-4CBE-BFAA-4125E846F848}"/>
              </a:ext>
            </a:extLst>
          </p:cNvPr>
          <p:cNvSpPr>
            <a:spLocks xmlns:a="http://schemas.openxmlformats.org/drawingml/2006/main" noGrp="1"/>
          </p:cNvSpPr>
          <p:nvPr/>
        </p:nvSpPr>
        <p:spPr>
          <a:xfrm xmlns:a="http://schemas.openxmlformats.org/drawingml/2006/main">
            <a:off x="548640" y="969264"/>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Across 31 included fine-cell DEG lists. The same gene can recur in different comparisons.</a:t>
            </a:r>
          </a:p>
        </p:txBody>
      </p:sp>
      <p:sp>
        <p:nvSpPr>
          <p:cNvPr id="4" name="Rounded Rectangle 3">
            <a:extLst xmlns:a="http://schemas.openxmlformats.org/drawingml/2006/main">
              <a:ext uri="{FF2B5EF4-FFF2-40B4-BE49-F238E27FC236}">
                <a16:creationId xmlns:a16="http://schemas.microsoft.com/office/drawing/2014/main" id="{A7492153-533E-45DD-89CE-40239C37D7DC}"/>
              </a:ext>
            </a:extLst>
          </p:cNvPr>
          <p:cNvSpPr>
            <a:spLocks xmlns:a="http://schemas.openxmlformats.org/drawingml/2006/main" noGrp="1"/>
          </p:cNvSpPr>
          <p:nvPr/>
        </p:nvSpPr>
        <p:spPr>
          <a:xfrm xmlns:a="http://schemas.openxmlformats.org/drawingml/2006/main">
            <a:off x="658368" y="1649771"/>
            <a:ext cx="5285232" cy="4370832"/>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D24C7C6-C67A-4444-91EC-6C3A647E6A12}"/>
              </a:ext>
            </a:extLst>
          </p:cNvPr>
          <p:cNvSpPr>
            <a:spLocks xmlns:a="http://schemas.openxmlformats.org/drawingml/2006/main" noGrp="1"/>
          </p:cNvSpPr>
          <p:nvPr/>
        </p:nvSpPr>
        <p:spPr>
          <a:xfrm xmlns:a="http://schemas.openxmlformats.org/drawingml/2006/main">
            <a:off x="950976" y="1988099"/>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60C00B9-577D-4DCA-AA58-174B80A2AF4E}"/>
              </a:ext>
            </a:extLst>
          </p:cNvPr>
          <p:cNvSpPr>
            <a:spLocks xmlns:a="http://schemas.openxmlformats.org/drawingml/2006/main" noGrp="1"/>
          </p:cNvSpPr>
          <p:nvPr/>
        </p:nvSpPr>
        <p:spPr>
          <a:xfrm xmlns:a="http://schemas.openxmlformats.org/drawingml/2006/main">
            <a:off x="1097280" y="1960667"/>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Core MT genes</a:t>
            </a:r>
          </a:p>
        </p:txBody>
      </p:sp>
      <p:sp>
        <p:nvSpPr>
          <p:cNvPr id="7" name="TextBox 6">
            <a:extLst xmlns:a="http://schemas.openxmlformats.org/drawingml/2006/main">
              <a:ext uri="{FF2B5EF4-FFF2-40B4-BE49-F238E27FC236}">
                <a16:creationId xmlns:a16="http://schemas.microsoft.com/office/drawing/2014/main" id="{F47E809B-8CCD-4960-984D-A19B502F51A9}"/>
              </a:ext>
            </a:extLst>
          </p:cNvPr>
          <p:cNvSpPr>
            <a:spLocks xmlns:a="http://schemas.openxmlformats.org/drawingml/2006/main" noGrp="1"/>
          </p:cNvSpPr>
          <p:nvPr/>
        </p:nvSpPr>
        <p:spPr>
          <a:xfrm xmlns:a="http://schemas.openxmlformats.org/drawingml/2006/main">
            <a:off x="987552" y="2408723"/>
            <a:ext cx="14447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3100" b="1" i="0">
                <a:solidFill>
                  <a:srgbClr val="0072B2"/>
                </a:solidFill>
                <a:latin typeface="Arial"/>
                <a:ea typeface="Arial"/>
                <a:cs typeface="Arial"/>
              </a:rPr>
              <a:t>81</a:t>
            </a:r>
          </a:p>
        </p:txBody>
      </p:sp>
      <p:sp>
        <p:nvSpPr>
          <p:cNvPr id="8" name="TextBox 7">
            <a:extLst xmlns:a="http://schemas.openxmlformats.org/drawingml/2006/main">
              <a:ext uri="{FF2B5EF4-FFF2-40B4-BE49-F238E27FC236}">
                <a16:creationId xmlns:a16="http://schemas.microsoft.com/office/drawing/2014/main" id="{C3665464-878D-4BEE-A99A-4A05CF1AB15F}"/>
              </a:ext>
            </a:extLst>
          </p:cNvPr>
          <p:cNvSpPr>
            <a:spLocks xmlns:a="http://schemas.openxmlformats.org/drawingml/2006/main" noGrp="1"/>
          </p:cNvSpPr>
          <p:nvPr/>
        </p:nvSpPr>
        <p:spPr>
          <a:xfrm xmlns:a="http://schemas.openxmlformats.org/drawingml/2006/main">
            <a:off x="2432304" y="2600747"/>
            <a:ext cx="272491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solidFill>
                  <a:srgbClr val="1F2730"/>
                </a:solidFill>
                <a:latin typeface="Arial"/>
                <a:ea typeface="Arial"/>
                <a:cs typeface="Arial"/>
              </a:rPr>
              <a:t>DEG occurrences</a:t>
            </a:r>
          </a:p>
        </p:txBody>
      </p:sp>
      <p:sp>
        <p:nvSpPr>
          <p:cNvPr id="9" name="TextBox 8">
            <a:extLst xmlns:a="http://schemas.openxmlformats.org/drawingml/2006/main">
              <a:ext uri="{FF2B5EF4-FFF2-40B4-BE49-F238E27FC236}">
                <a16:creationId xmlns:a16="http://schemas.microsoft.com/office/drawing/2014/main" id="{1FB611C5-B6CD-4E54-A575-ACB7B18BADA9}"/>
              </a:ext>
            </a:extLst>
          </p:cNvPr>
          <p:cNvSpPr>
            <a:spLocks xmlns:a="http://schemas.openxmlformats.org/drawingml/2006/main" noGrp="1"/>
          </p:cNvSpPr>
          <p:nvPr/>
        </p:nvSpPr>
        <p:spPr>
          <a:xfrm xmlns:a="http://schemas.openxmlformats.org/drawingml/2006/main">
            <a:off x="1024128" y="3277403"/>
            <a:ext cx="45720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1F2730"/>
                </a:solidFill>
                <a:latin typeface="Arial"/>
                <a:ea typeface="Arial"/>
                <a:cs typeface="Arial"/>
              </a:rPr>
              <a:t>70 AD-up  •  11 AD-down</a:t>
            </a:r>
          </a:p>
        </p:txBody>
      </p:sp>
      <p:sp>
        <p:nvSpPr>
          <p:cNvPr id="10" name="Rounded Rectangle 9">
            <a:extLst xmlns:a="http://schemas.openxmlformats.org/drawingml/2006/main">
              <a:ext uri="{FF2B5EF4-FFF2-40B4-BE49-F238E27FC236}">
                <a16:creationId xmlns:a16="http://schemas.microsoft.com/office/drawing/2014/main" id="{FCE84EFA-3452-4D3C-9141-37E6717F9FE4}"/>
              </a:ext>
            </a:extLst>
          </p:cNvPr>
          <p:cNvSpPr>
            <a:spLocks xmlns:a="http://schemas.openxmlformats.org/drawingml/2006/main" noGrp="1"/>
          </p:cNvSpPr>
          <p:nvPr/>
        </p:nvSpPr>
        <p:spPr>
          <a:xfrm xmlns:a="http://schemas.openxmlformats.org/drawingml/2006/main">
            <a:off x="1024128" y="3734603"/>
            <a:ext cx="4315968" cy="310896"/>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0D57644E-EF30-480F-8C6B-15E9084154A8}"/>
              </a:ext>
            </a:extLst>
          </p:cNvPr>
          <p:cNvSpPr>
            <a:spLocks xmlns:a="http://schemas.openxmlformats.org/drawingml/2006/main" noGrp="1"/>
          </p:cNvSpPr>
          <p:nvPr/>
        </p:nvSpPr>
        <p:spPr>
          <a:xfrm xmlns:a="http://schemas.openxmlformats.org/drawingml/2006/main">
            <a:off x="1024128" y="3734603"/>
            <a:ext cx="3730752" cy="310896"/>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D9E5B954-A61F-42C6-BC7E-E70F51280E4C}"/>
              </a:ext>
            </a:extLst>
          </p:cNvPr>
          <p:cNvSpPr>
            <a:spLocks xmlns:a="http://schemas.openxmlformats.org/drawingml/2006/main" noGrp="1"/>
          </p:cNvSpPr>
          <p:nvPr/>
        </p:nvSpPr>
        <p:spPr>
          <a:xfrm xmlns:a="http://schemas.openxmlformats.org/drawingml/2006/main">
            <a:off x="4754880" y="3734603"/>
            <a:ext cx="585216" cy="310896"/>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2656C86-8A13-48BD-A01D-EE40E47DD509}"/>
              </a:ext>
            </a:extLst>
          </p:cNvPr>
          <p:cNvSpPr>
            <a:spLocks xmlns:a="http://schemas.openxmlformats.org/drawingml/2006/main" noGrp="1"/>
          </p:cNvSpPr>
          <p:nvPr/>
        </p:nvSpPr>
        <p:spPr>
          <a:xfrm xmlns:a="http://schemas.openxmlformats.org/drawingml/2006/main">
            <a:off x="1078992" y="4127795"/>
            <a:ext cx="184708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40" b="1" i="0">
                <a:solidFill>
                  <a:srgbClr val="00684D"/>
                </a:solidFill>
                <a:latin typeface="Arial"/>
                <a:ea typeface="Arial"/>
                <a:cs typeface="Arial"/>
              </a:rPr>
              <a:t>86% up</a:t>
            </a:r>
          </a:p>
        </p:txBody>
      </p:sp>
      <p:sp>
        <p:nvSpPr>
          <p:cNvPr id="16" name="Rounded Rectangle 15">
            <a:extLst xmlns:a="http://schemas.openxmlformats.org/drawingml/2006/main">
              <a:ext uri="{FF2B5EF4-FFF2-40B4-BE49-F238E27FC236}">
                <a16:creationId xmlns:a16="http://schemas.microsoft.com/office/drawing/2014/main" id="{78B2F20E-1F38-4D6E-866C-62A34CC13AC4}"/>
              </a:ext>
            </a:extLst>
          </p:cNvPr>
          <p:cNvSpPr>
            <a:spLocks xmlns:a="http://schemas.openxmlformats.org/drawingml/2006/main" noGrp="1"/>
          </p:cNvSpPr>
          <p:nvPr/>
        </p:nvSpPr>
        <p:spPr>
          <a:xfrm xmlns:a="http://schemas.openxmlformats.org/drawingml/2006/main">
            <a:off x="6236208" y="1649771"/>
            <a:ext cx="5303520" cy="437083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5D3AD0A4-50E9-47AC-A0A1-2293894B4878}"/>
              </a:ext>
            </a:extLst>
          </p:cNvPr>
          <p:cNvSpPr>
            <a:spLocks xmlns:a="http://schemas.openxmlformats.org/drawingml/2006/main" noGrp="1"/>
          </p:cNvSpPr>
          <p:nvPr/>
        </p:nvSpPr>
        <p:spPr>
          <a:xfrm xmlns:a="http://schemas.openxmlformats.org/drawingml/2006/main">
            <a:off x="6528816" y="1988099"/>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ABEF69A-04D3-462A-802D-2ACC8A25F572}"/>
              </a:ext>
            </a:extLst>
          </p:cNvPr>
          <p:cNvSpPr>
            <a:spLocks xmlns:a="http://schemas.openxmlformats.org/drawingml/2006/main" noGrp="1"/>
          </p:cNvSpPr>
          <p:nvPr/>
        </p:nvSpPr>
        <p:spPr>
          <a:xfrm xmlns:a="http://schemas.openxmlformats.org/drawingml/2006/main">
            <a:off x="6675120" y="1960667"/>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Nuclear-encoded OXPHOS genes</a:t>
            </a:r>
          </a:p>
        </p:txBody>
      </p:sp>
      <p:sp>
        <p:nvSpPr>
          <p:cNvPr id="19" name="TextBox 18">
            <a:extLst xmlns:a="http://schemas.openxmlformats.org/drawingml/2006/main">
              <a:ext uri="{FF2B5EF4-FFF2-40B4-BE49-F238E27FC236}">
                <a16:creationId xmlns:a16="http://schemas.microsoft.com/office/drawing/2014/main" id="{98AB4C81-D082-4C02-A468-F1B3B6B33BB4}"/>
              </a:ext>
            </a:extLst>
          </p:cNvPr>
          <p:cNvSpPr>
            <a:spLocks xmlns:a="http://schemas.openxmlformats.org/drawingml/2006/main" noGrp="1"/>
          </p:cNvSpPr>
          <p:nvPr/>
        </p:nvSpPr>
        <p:spPr>
          <a:xfrm xmlns:a="http://schemas.openxmlformats.org/drawingml/2006/main">
            <a:off x="6565392" y="2408723"/>
            <a:ext cx="14447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3100" b="1" i="0">
                <a:solidFill>
                  <a:srgbClr val="9E3A00"/>
                </a:solidFill>
                <a:latin typeface="Arial"/>
                <a:ea typeface="Arial"/>
                <a:cs typeface="Arial"/>
              </a:rPr>
              <a:t>68</a:t>
            </a:r>
          </a:p>
        </p:txBody>
      </p:sp>
      <p:sp>
        <p:nvSpPr>
          <p:cNvPr id="20" name="TextBox 19">
            <a:extLst xmlns:a="http://schemas.openxmlformats.org/drawingml/2006/main">
              <a:ext uri="{FF2B5EF4-FFF2-40B4-BE49-F238E27FC236}">
                <a16:creationId xmlns:a16="http://schemas.microsoft.com/office/drawing/2014/main" id="{D27BC3EE-2871-40FE-B812-4BFA9C23525E}"/>
              </a:ext>
            </a:extLst>
          </p:cNvPr>
          <p:cNvSpPr>
            <a:spLocks xmlns:a="http://schemas.openxmlformats.org/drawingml/2006/main" noGrp="1"/>
          </p:cNvSpPr>
          <p:nvPr/>
        </p:nvSpPr>
        <p:spPr>
          <a:xfrm xmlns:a="http://schemas.openxmlformats.org/drawingml/2006/main">
            <a:off x="8010144" y="2600747"/>
            <a:ext cx="272491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solidFill>
                  <a:srgbClr val="1F2730"/>
                </a:solidFill>
                <a:latin typeface="Arial"/>
                <a:ea typeface="Arial"/>
                <a:cs typeface="Arial"/>
              </a:rPr>
              <a:t>DEG occurrences</a:t>
            </a:r>
          </a:p>
        </p:txBody>
      </p:sp>
      <p:sp>
        <p:nvSpPr>
          <p:cNvPr id="21" name="TextBox 20">
            <a:extLst xmlns:a="http://schemas.openxmlformats.org/drawingml/2006/main">
              <a:ext uri="{FF2B5EF4-FFF2-40B4-BE49-F238E27FC236}">
                <a16:creationId xmlns:a16="http://schemas.microsoft.com/office/drawing/2014/main" id="{ADFD6B79-6388-463F-833F-96BF45701DE8}"/>
              </a:ext>
            </a:extLst>
          </p:cNvPr>
          <p:cNvSpPr>
            <a:spLocks xmlns:a="http://schemas.openxmlformats.org/drawingml/2006/main" noGrp="1"/>
          </p:cNvSpPr>
          <p:nvPr/>
        </p:nvSpPr>
        <p:spPr>
          <a:xfrm xmlns:a="http://schemas.openxmlformats.org/drawingml/2006/main">
            <a:off x="6601968" y="3277403"/>
            <a:ext cx="45720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1F2730"/>
                </a:solidFill>
                <a:latin typeface="Arial"/>
                <a:ea typeface="Arial"/>
                <a:cs typeface="Arial"/>
              </a:rPr>
              <a:t>8 AD-up  •  60 AD-down</a:t>
            </a:r>
          </a:p>
        </p:txBody>
      </p:sp>
      <p:sp>
        <p:nvSpPr>
          <p:cNvPr id="22" name="Rounded Rectangle 21">
            <a:extLst xmlns:a="http://schemas.openxmlformats.org/drawingml/2006/main">
              <a:ext uri="{FF2B5EF4-FFF2-40B4-BE49-F238E27FC236}">
                <a16:creationId xmlns:a16="http://schemas.microsoft.com/office/drawing/2014/main" id="{CBD8C23D-E7E8-4741-B714-1B48EBCA084D}"/>
              </a:ext>
            </a:extLst>
          </p:cNvPr>
          <p:cNvSpPr>
            <a:spLocks xmlns:a="http://schemas.openxmlformats.org/drawingml/2006/main" noGrp="1"/>
          </p:cNvSpPr>
          <p:nvPr/>
        </p:nvSpPr>
        <p:spPr>
          <a:xfrm xmlns:a="http://schemas.openxmlformats.org/drawingml/2006/main">
            <a:off x="6601968" y="3734603"/>
            <a:ext cx="4315968" cy="310896"/>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E3E38530-2E12-4E4C-9B74-8EA94064FF94}"/>
              </a:ext>
            </a:extLst>
          </p:cNvPr>
          <p:cNvSpPr>
            <a:spLocks xmlns:a="http://schemas.openxmlformats.org/drawingml/2006/main" noGrp="1"/>
          </p:cNvSpPr>
          <p:nvPr/>
        </p:nvSpPr>
        <p:spPr>
          <a:xfrm xmlns:a="http://schemas.openxmlformats.org/drawingml/2006/main">
            <a:off x="6601968" y="3734603"/>
            <a:ext cx="512064" cy="310896"/>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9D1FA94D-B10C-490A-94FA-1D28EA88EA4D}"/>
              </a:ext>
            </a:extLst>
          </p:cNvPr>
          <p:cNvSpPr>
            <a:spLocks xmlns:a="http://schemas.openxmlformats.org/drawingml/2006/main" noGrp="1"/>
          </p:cNvSpPr>
          <p:nvPr/>
        </p:nvSpPr>
        <p:spPr>
          <a:xfrm xmlns:a="http://schemas.openxmlformats.org/drawingml/2006/main">
            <a:off x="7114032" y="3734603"/>
            <a:ext cx="3803904" cy="310896"/>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24F91E6-E18B-4D94-90DF-F8F2769C0BE2}"/>
              </a:ext>
            </a:extLst>
          </p:cNvPr>
          <p:cNvSpPr>
            <a:spLocks xmlns:a="http://schemas.openxmlformats.org/drawingml/2006/main" noGrp="1"/>
          </p:cNvSpPr>
          <p:nvPr/>
        </p:nvSpPr>
        <p:spPr>
          <a:xfrm xmlns:a="http://schemas.openxmlformats.org/drawingml/2006/main">
            <a:off x="9070848" y="4127795"/>
            <a:ext cx="184708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ct val="0"/>
              </a:spcBef>
              <a:spcAft>
                <a:spcPct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F228AE8-F522-4A04-90BB-C26467E300B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xmlns:a="http://schemas.openxmlformats.org/drawingml/2006/main">
              <a:ext uri="{FF2B5EF4-FFF2-40B4-BE49-F238E27FC236}">
                <a16:creationId xmlns:a16="http://schemas.microsoft.com/office/drawing/2014/main" id="{D73F4564-F934-415C-B6E2-00B42ED64D58}"/>
              </a:ext>
            </a:extLst>
          </p:cNvPr>
          <p:cNvSpPr>
            <a:spLocks xmlns:a="http://schemas.openxmlformats.org/drawingml/2006/main" noGrp="1"/>
          </p:cNvSpPr>
          <p:nvPr/>
        </p:nvSpPr>
        <p:spPr>
          <a:xfrm xmlns:a="http://schemas.openxmlformats.org/drawingml/2006/main">
            <a:off x="548640" y="969264"/>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xmlns:a="http://schemas.openxmlformats.org/drawingml/2006/main">
              <a:ext uri="{FF2B5EF4-FFF2-40B4-BE49-F238E27FC236}">
                <a16:creationId xmlns:a16="http://schemas.microsoft.com/office/drawing/2014/main" id="{9B84C10C-3569-44E6-ACF0-AA947B15657B}"/>
              </a:ext>
            </a:extLst>
          </p:cNvPr>
          <p:cNvSpPr>
            <a:spLocks xmlns:a="http://schemas.openxmlformats.org/drawingml/2006/main" noGrp="1"/>
          </p:cNvSpPr>
          <p:nvPr/>
        </p:nvSpPr>
        <p:spPr>
          <a:xfrm xmlns:a="http://schemas.openxmlformats.org/drawingml/2006/main">
            <a:off x="658368" y="1447639"/>
            <a:ext cx="3456432"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70DED24-64B1-41A2-B72D-E56FEA529086}"/>
              </a:ext>
            </a:extLst>
          </p:cNvPr>
          <p:cNvSpPr>
            <a:spLocks xmlns:a="http://schemas.openxmlformats.org/drawingml/2006/main" noGrp="1"/>
          </p:cNvSpPr>
          <p:nvPr/>
        </p:nvSpPr>
        <p:spPr>
          <a:xfrm xmlns:a="http://schemas.openxmlformats.org/drawingml/2006/main">
            <a:off x="822959" y="157565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22</a:t>
            </a:r>
          </a:p>
        </p:txBody>
      </p:sp>
      <p:sp>
        <p:nvSpPr>
          <p:cNvPr id="6" name="TextBox 5">
            <a:extLst xmlns:a="http://schemas.openxmlformats.org/drawingml/2006/main">
              <a:ext uri="{FF2B5EF4-FFF2-40B4-BE49-F238E27FC236}">
                <a16:creationId xmlns:a16="http://schemas.microsoft.com/office/drawing/2014/main" id="{D93AB62E-39C3-4E0C-BBF9-9AF87160AC38}"/>
              </a:ext>
            </a:extLst>
          </p:cNvPr>
          <p:cNvSpPr>
            <a:spLocks xmlns:a="http://schemas.openxmlformats.org/drawingml/2006/main" noGrp="1"/>
          </p:cNvSpPr>
          <p:nvPr/>
        </p:nvSpPr>
        <p:spPr>
          <a:xfrm xmlns:a="http://schemas.openxmlformats.org/drawingml/2006/main">
            <a:off x="822959" y="2106007"/>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shared MitoCarta MT DEGs</a:t>
            </a:r>
          </a:p>
        </p:txBody>
      </p:sp>
      <p:sp>
        <p:nvSpPr>
          <p:cNvPr id="7" name="Rounded Rectangle 6">
            <a:extLst xmlns:a="http://schemas.openxmlformats.org/drawingml/2006/main">
              <a:ext uri="{FF2B5EF4-FFF2-40B4-BE49-F238E27FC236}">
                <a16:creationId xmlns:a16="http://schemas.microsoft.com/office/drawing/2014/main" id="{0D99DAC8-4944-4587-9967-2F5576FB7CF0}"/>
              </a:ext>
            </a:extLst>
          </p:cNvPr>
          <p:cNvSpPr>
            <a:spLocks xmlns:a="http://schemas.openxmlformats.org/drawingml/2006/main" noGrp="1"/>
          </p:cNvSpPr>
          <p:nvPr/>
        </p:nvSpPr>
        <p:spPr>
          <a:xfrm xmlns:a="http://schemas.openxmlformats.org/drawingml/2006/main">
            <a:off x="4370832" y="1447639"/>
            <a:ext cx="3456432"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8405ABA6-E07E-40BB-B8D7-F8A0ACDCD496}"/>
              </a:ext>
            </a:extLst>
          </p:cNvPr>
          <p:cNvSpPr>
            <a:spLocks xmlns:a="http://schemas.openxmlformats.org/drawingml/2006/main" noGrp="1"/>
          </p:cNvSpPr>
          <p:nvPr/>
        </p:nvSpPr>
        <p:spPr>
          <a:xfrm xmlns:a="http://schemas.openxmlformats.org/drawingml/2006/main">
            <a:off x="4535424" y="157565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19/22</a:t>
            </a:r>
          </a:p>
        </p:txBody>
      </p:sp>
      <p:sp>
        <p:nvSpPr>
          <p:cNvPr id="9" name="TextBox 8">
            <a:extLst xmlns:a="http://schemas.openxmlformats.org/drawingml/2006/main">
              <a:ext uri="{FF2B5EF4-FFF2-40B4-BE49-F238E27FC236}">
                <a16:creationId xmlns:a16="http://schemas.microsoft.com/office/drawing/2014/main" id="{88943738-AAC9-4816-8E05-B0BF5F0B3367}"/>
              </a:ext>
            </a:extLst>
          </p:cNvPr>
          <p:cNvSpPr>
            <a:spLocks xmlns:a="http://schemas.openxmlformats.org/drawingml/2006/main" noGrp="1"/>
          </p:cNvSpPr>
          <p:nvPr/>
        </p:nvSpPr>
        <p:spPr>
          <a:xfrm xmlns:a="http://schemas.openxmlformats.org/drawingml/2006/main">
            <a:off x="4535424" y="2106007"/>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shared genes have the same AD direction</a:t>
            </a:r>
          </a:p>
        </p:txBody>
      </p:sp>
      <p:sp>
        <p:nvSpPr>
          <p:cNvPr id="10" name="Rounded Rectangle 9">
            <a:extLst xmlns:a="http://schemas.openxmlformats.org/drawingml/2006/main">
              <a:ext uri="{FF2B5EF4-FFF2-40B4-BE49-F238E27FC236}">
                <a16:creationId xmlns:a16="http://schemas.microsoft.com/office/drawing/2014/main" id="{9C09C538-8BDC-4B39-80AB-2D30E7263B31}"/>
              </a:ext>
            </a:extLst>
          </p:cNvPr>
          <p:cNvSpPr>
            <a:spLocks xmlns:a="http://schemas.openxmlformats.org/drawingml/2006/main" noGrp="1"/>
          </p:cNvSpPr>
          <p:nvPr/>
        </p:nvSpPr>
        <p:spPr>
          <a:xfrm xmlns:a="http://schemas.openxmlformats.org/drawingml/2006/main">
            <a:off x="8083296" y="1447639"/>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7A8EBF3-50B2-4CC3-BEC8-2FAAB654E0FB}"/>
              </a:ext>
            </a:extLst>
          </p:cNvPr>
          <p:cNvSpPr>
            <a:spLocks xmlns:a="http://schemas.openxmlformats.org/drawingml/2006/main" noGrp="1"/>
          </p:cNvSpPr>
          <p:nvPr/>
        </p:nvSpPr>
        <p:spPr>
          <a:xfrm xmlns:a="http://schemas.openxmlformats.org/drawingml/2006/main">
            <a:off x="8247888" y="157565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300" b="1" i="0">
                <a:solidFill>
                  <a:srgbClr val="895600"/>
                </a:solidFill>
                <a:latin typeface="Arial"/>
                <a:ea typeface="Arial"/>
                <a:cs typeface="Arial"/>
              </a:rPr>
              <a:t>Adjusted P = 0.0417</a:t>
            </a:r>
          </a:p>
        </p:txBody>
      </p:sp>
      <p:sp>
        <p:nvSpPr>
          <p:cNvPr id="12" name="TextBox 11">
            <a:extLst xmlns:a="http://schemas.openxmlformats.org/drawingml/2006/main">
              <a:ext uri="{FF2B5EF4-FFF2-40B4-BE49-F238E27FC236}">
                <a16:creationId xmlns:a16="http://schemas.microsoft.com/office/drawing/2014/main" id="{1E1FC778-0DBC-4885-802B-F114AFCC49FF}"/>
              </a:ext>
            </a:extLst>
          </p:cNvPr>
          <p:cNvSpPr>
            <a:spLocks xmlns:a="http://schemas.openxmlformats.org/drawingml/2006/main" noGrp="1"/>
          </p:cNvSpPr>
          <p:nvPr/>
        </p:nvSpPr>
        <p:spPr>
          <a:xfrm xmlns:a="http://schemas.openxmlformats.org/drawingml/2006/main">
            <a:off x="8247888" y="2106007"/>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shared-gene overlap between cohorts</a:t>
            </a:r>
          </a:p>
        </p:txBody>
      </p:sp>
      <p:sp>
        <p:nvSpPr>
          <p:cNvPr id="13" name="TextBox 12">
            <a:extLst xmlns:a="http://schemas.openxmlformats.org/drawingml/2006/main">
              <a:ext uri="{FF2B5EF4-FFF2-40B4-BE49-F238E27FC236}">
                <a16:creationId xmlns:a16="http://schemas.microsoft.com/office/drawing/2014/main" id="{729EEACE-7AB7-49AB-8CFE-8379EA3FAF06}"/>
              </a:ext>
            </a:extLst>
          </p:cNvPr>
          <p:cNvSpPr>
            <a:spLocks xmlns:a="http://schemas.openxmlformats.org/drawingml/2006/main" noGrp="1"/>
          </p:cNvSpPr>
          <p:nvPr/>
        </p:nvSpPr>
        <p:spPr>
          <a:xfrm xmlns:a="http://schemas.openxmlformats.org/drawingml/2006/main">
            <a:off x="8247888" y="2435191"/>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22 shared versus 15.17 expected</a:t>
            </a:r>
          </a:p>
        </p:txBody>
      </p:sp>
      <p:sp>
        <p:nvSpPr>
          <p:cNvPr id="14" name="Rounded Rectangle 13">
            <a:extLst xmlns:a="http://schemas.openxmlformats.org/drawingml/2006/main">
              <a:ext uri="{FF2B5EF4-FFF2-40B4-BE49-F238E27FC236}">
                <a16:creationId xmlns:a16="http://schemas.microsoft.com/office/drawing/2014/main" id="{C52CC1AA-C592-409D-9C8F-C4C7C5796C52}"/>
              </a:ext>
            </a:extLst>
          </p:cNvPr>
          <p:cNvSpPr>
            <a:spLocks xmlns:a="http://schemas.openxmlformats.org/drawingml/2006/main" noGrp="1"/>
          </p:cNvSpPr>
          <p:nvPr/>
        </p:nvSpPr>
        <p:spPr>
          <a:xfrm xmlns:a="http://schemas.openxmlformats.org/drawingml/2006/main">
            <a:off x="658368" y="3005006"/>
            <a:ext cx="5285232" cy="25786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EC22928-71CD-4979-B6FD-7044B29A7691}"/>
              </a:ext>
            </a:extLst>
          </p:cNvPr>
          <p:cNvSpPr>
            <a:spLocks xmlns:a="http://schemas.openxmlformats.org/drawingml/2006/main" noGrp="1"/>
          </p:cNvSpPr>
          <p:nvPr/>
        </p:nvSpPr>
        <p:spPr>
          <a:xfrm xmlns:a="http://schemas.openxmlformats.org/drawingml/2006/main">
            <a:off x="969264" y="3352478"/>
            <a:ext cx="327355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700" b="1" i="0">
                <a:solidFill>
                  <a:srgbClr val="0F233D"/>
                </a:solidFill>
                <a:latin typeface="Arial"/>
                <a:ea typeface="Arial"/>
                <a:cs typeface="Arial"/>
              </a:rPr>
              <a:t>CORE MT GENES</a:t>
            </a:r>
          </a:p>
        </p:txBody>
      </p:sp>
      <p:sp>
        <p:nvSpPr>
          <p:cNvPr id="16" name="TextBox 15">
            <a:extLst xmlns:a="http://schemas.openxmlformats.org/drawingml/2006/main">
              <a:ext uri="{FF2B5EF4-FFF2-40B4-BE49-F238E27FC236}">
                <a16:creationId xmlns:a16="http://schemas.microsoft.com/office/drawing/2014/main" id="{05E7B790-23B2-4282-8021-0D8ED01E8BE6}"/>
              </a:ext>
            </a:extLst>
          </p:cNvPr>
          <p:cNvSpPr>
            <a:spLocks xmlns:a="http://schemas.openxmlformats.org/drawingml/2006/main" noGrp="1"/>
          </p:cNvSpPr>
          <p:nvPr/>
        </p:nvSpPr>
        <p:spPr>
          <a:xfrm xmlns:a="http://schemas.openxmlformats.org/drawingml/2006/main">
            <a:off x="4370832" y="3242750"/>
            <a:ext cx="987552"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3800" b="1" i="0">
                <a:solidFill>
                  <a:srgbClr val="00684D"/>
                </a:solidFill>
                <a:latin typeface="Arial"/>
                <a:ea typeface="Arial"/>
                <a:cs typeface="Arial"/>
              </a:rPr>
              <a:t>↑</a:t>
            </a:r>
          </a:p>
        </p:txBody>
      </p:sp>
      <p:sp>
        <p:nvSpPr>
          <p:cNvPr id="17" name="TextBox 16">
            <a:extLst xmlns:a="http://schemas.openxmlformats.org/drawingml/2006/main">
              <a:ext uri="{FF2B5EF4-FFF2-40B4-BE49-F238E27FC236}">
                <a16:creationId xmlns:a16="http://schemas.microsoft.com/office/drawing/2014/main" id="{21EBDE05-7773-43CF-99DF-996AA2B14BF8}"/>
              </a:ext>
            </a:extLst>
          </p:cNvPr>
          <p:cNvSpPr>
            <a:spLocks xmlns:a="http://schemas.openxmlformats.org/drawingml/2006/main" noGrp="1"/>
          </p:cNvSpPr>
          <p:nvPr/>
        </p:nvSpPr>
        <p:spPr>
          <a:xfrm xmlns:a="http://schemas.openxmlformats.org/drawingml/2006/main">
            <a:off x="969264" y="4138862"/>
            <a:ext cx="46634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1F2730"/>
                </a:solidFill>
                <a:latin typeface="Arial"/>
                <a:ea typeface="Arial"/>
                <a:cs typeface="Arial"/>
              </a:rPr>
              <a:t>9 core MT genes are AD-up in both cohorts</a:t>
            </a:r>
          </a:p>
        </p:txBody>
      </p:sp>
      <p:sp>
        <p:nvSpPr>
          <p:cNvPr id="18" name="Rounded Rectangle 17">
            <a:extLst xmlns:a="http://schemas.openxmlformats.org/drawingml/2006/main">
              <a:ext uri="{FF2B5EF4-FFF2-40B4-BE49-F238E27FC236}">
                <a16:creationId xmlns:a16="http://schemas.microsoft.com/office/drawing/2014/main" id="{21A736C1-D371-4DFB-85A3-D5F9EC58CEDA}"/>
              </a:ext>
            </a:extLst>
          </p:cNvPr>
          <p:cNvSpPr>
            <a:spLocks xmlns:a="http://schemas.openxmlformats.org/drawingml/2006/main" noGrp="1"/>
          </p:cNvSpPr>
          <p:nvPr/>
        </p:nvSpPr>
        <p:spPr>
          <a:xfrm xmlns:a="http://schemas.openxmlformats.org/drawingml/2006/main">
            <a:off x="6236208" y="3005006"/>
            <a:ext cx="5303520" cy="25786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AEA45A9-E7D1-44D5-8311-0C8E2001C095}"/>
              </a:ext>
            </a:extLst>
          </p:cNvPr>
          <p:cNvSpPr>
            <a:spLocks xmlns:a="http://schemas.openxmlformats.org/drawingml/2006/main" noGrp="1"/>
          </p:cNvSpPr>
          <p:nvPr/>
        </p:nvSpPr>
        <p:spPr>
          <a:xfrm xmlns:a="http://schemas.openxmlformats.org/drawingml/2006/main">
            <a:off x="6547104" y="3352478"/>
            <a:ext cx="3456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700" b="1" i="0">
                <a:solidFill>
                  <a:srgbClr val="0F233D"/>
                </a:solidFill>
                <a:latin typeface="Arial"/>
                <a:ea typeface="Arial"/>
                <a:cs typeface="Arial"/>
              </a:rPr>
              <a:t>Nuclear-encoded MT genes</a:t>
            </a:r>
          </a:p>
        </p:txBody>
      </p:sp>
      <p:sp>
        <p:nvSpPr>
          <p:cNvPr id="20" name="TextBox 19">
            <a:extLst xmlns:a="http://schemas.openxmlformats.org/drawingml/2006/main">
              <a:ext uri="{FF2B5EF4-FFF2-40B4-BE49-F238E27FC236}">
                <a16:creationId xmlns:a16="http://schemas.microsoft.com/office/drawing/2014/main" id="{05A97C27-82B4-45D6-B9F2-F51E224B071E}"/>
              </a:ext>
            </a:extLst>
          </p:cNvPr>
          <p:cNvSpPr>
            <a:spLocks xmlns:a="http://schemas.openxmlformats.org/drawingml/2006/main" noGrp="1"/>
          </p:cNvSpPr>
          <p:nvPr/>
        </p:nvSpPr>
        <p:spPr>
          <a:xfrm xmlns:a="http://schemas.openxmlformats.org/drawingml/2006/main">
            <a:off x="10094976" y="3242750"/>
            <a:ext cx="987552"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3800" b="1" i="0">
                <a:solidFill>
                  <a:srgbClr val="9E3A00"/>
                </a:solidFill>
                <a:latin typeface="Arial"/>
                <a:ea typeface="Arial"/>
                <a:cs typeface="Arial"/>
              </a:rPr>
              <a:t>↓</a:t>
            </a:r>
          </a:p>
        </p:txBody>
      </p:sp>
      <p:sp>
        <p:nvSpPr>
          <p:cNvPr id="21" name="TextBox 20">
            <a:extLst xmlns:a="http://schemas.openxmlformats.org/drawingml/2006/main">
              <a:ext uri="{FF2B5EF4-FFF2-40B4-BE49-F238E27FC236}">
                <a16:creationId xmlns:a16="http://schemas.microsoft.com/office/drawing/2014/main" id="{FEDF88CC-C203-439A-A4B9-853512E75892}"/>
              </a:ext>
            </a:extLst>
          </p:cNvPr>
          <p:cNvSpPr>
            <a:spLocks xmlns:a="http://schemas.openxmlformats.org/drawingml/2006/main" noGrp="1"/>
          </p:cNvSpPr>
          <p:nvPr/>
        </p:nvSpPr>
        <p:spPr>
          <a:xfrm xmlns:a="http://schemas.openxmlformats.org/drawingml/2006/main">
            <a:off x="6547104" y="4047422"/>
            <a:ext cx="4663440" cy="8229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xmlns:a="http://schemas.openxmlformats.org/drawingml/2006/main">
              <a:ext uri="{FF2B5EF4-FFF2-40B4-BE49-F238E27FC236}">
                <a16:creationId xmlns:a16="http://schemas.microsoft.com/office/drawing/2014/main" id="{52E1BD7B-24E1-436E-8704-3A9BB378E2B3}"/>
              </a:ext>
            </a:extLst>
          </p:cNvPr>
          <p:cNvSpPr>
            <a:spLocks xmlns:a="http://schemas.openxmlformats.org/drawingml/2006/main" noGrp="1"/>
          </p:cNvSpPr>
          <p:nvPr/>
        </p:nvSpPr>
        <p:spPr>
          <a:xfrm xmlns:a="http://schemas.openxmlformats.org/drawingml/2006/main">
            <a:off x="658368" y="5912798"/>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5D11F732-E17F-4B19-A6DF-B3E7019864C6}"/>
              </a:ext>
            </a:extLst>
          </p:cNvPr>
          <p:cNvSpPr>
            <a:spLocks xmlns:a="http://schemas.openxmlformats.org/drawingml/2006/main" noGrp="1"/>
          </p:cNvSpPr>
          <p:nvPr/>
        </p:nvSpPr>
        <p:spPr>
          <a:xfrm xmlns:a="http://schemas.openxmlformats.org/drawingml/2006/main">
            <a:off x="896112" y="6059102"/>
            <a:ext cx="10405872"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141920-9135-499A-86FA-022B8A4032B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Which genes account for the matched inhibitory-neuron pattern?</a:t>
            </a:r>
          </a:p>
        </p:txBody>
      </p:sp>
      <p:sp>
        <p:nvSpPr>
          <p:cNvPr id="3" name="TextBox 2">
            <a:extLst xmlns:a="http://schemas.openxmlformats.org/drawingml/2006/main">
              <a:ext uri="{FF2B5EF4-FFF2-40B4-BE49-F238E27FC236}">
                <a16:creationId xmlns:a16="http://schemas.microsoft.com/office/drawing/2014/main" id="{73C71CD7-CDF5-47CA-9D73-AF47E6DC1D79}"/>
              </a:ext>
            </a:extLst>
          </p:cNvPr>
          <p:cNvSpPr>
            <a:spLocks xmlns:a="http://schemas.openxmlformats.org/drawingml/2006/main" noGrp="1"/>
          </p:cNvSpPr>
          <p:nvPr/>
        </p:nvSpPr>
        <p:spPr>
          <a:xfrm xmlns:a="http://schemas.openxmlformats.org/drawingml/2006/main">
            <a:off x="548640" y="873013"/>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xmlns:a="http://schemas.openxmlformats.org/drawingml/2006/main">
              <a:ext uri="{FF2B5EF4-FFF2-40B4-BE49-F238E27FC236}">
                <a16:creationId xmlns:a16="http://schemas.microsoft.com/office/drawing/2014/main" id="{A238567A-BE19-4CB9-9289-BCA988D2517D}"/>
              </a:ext>
            </a:extLst>
          </p:cNvPr>
          <p:cNvSpPr>
            <a:spLocks xmlns:a="http://schemas.openxmlformats.org/drawingml/2006/main" noGrp="1"/>
          </p:cNvSpPr>
          <p:nvPr/>
        </p:nvSpPr>
        <p:spPr>
          <a:xfrm xmlns:a="http://schemas.openxmlformats.org/drawingml/2006/main">
            <a:off x="658368" y="1353312"/>
            <a:ext cx="5285232" cy="360273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0BB154C-7586-4643-B485-3B1EEAAD8995}"/>
              </a:ext>
            </a:extLst>
          </p:cNvPr>
          <p:cNvSpPr>
            <a:spLocks xmlns:a="http://schemas.openxmlformats.org/drawingml/2006/main" noGrp="1"/>
          </p:cNvSpPr>
          <p:nvPr/>
        </p:nvSpPr>
        <p:spPr>
          <a:xfrm xmlns:a="http://schemas.openxmlformats.org/drawingml/2006/main">
            <a:off x="950976" y="169164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C8E6BC7-981A-43D3-8A45-EB2FCC434A4E}"/>
              </a:ext>
            </a:extLst>
          </p:cNvPr>
          <p:cNvSpPr>
            <a:spLocks xmlns:a="http://schemas.openxmlformats.org/drawingml/2006/main" noGrp="1"/>
          </p:cNvSpPr>
          <p:nvPr/>
        </p:nvSpPr>
        <p:spPr>
          <a:xfrm xmlns:a="http://schemas.openxmlformats.org/drawingml/2006/main">
            <a:off x="1097280" y="1664208"/>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9 core MT genes ↑ in both</a:t>
            </a:r>
          </a:p>
        </p:txBody>
      </p:sp>
      <p:sp>
        <p:nvSpPr>
          <p:cNvPr id="7" name="Rounded Rectangle 6">
            <a:extLst xmlns:a="http://schemas.openxmlformats.org/drawingml/2006/main">
              <a:ext uri="{FF2B5EF4-FFF2-40B4-BE49-F238E27FC236}">
                <a16:creationId xmlns:a16="http://schemas.microsoft.com/office/drawing/2014/main" id="{574FAC51-7F33-40DB-AE27-D43AFD85E769}"/>
              </a:ext>
            </a:extLst>
          </p:cNvPr>
          <p:cNvSpPr>
            <a:spLocks xmlns:a="http://schemas.openxmlformats.org/drawingml/2006/main" noGrp="1"/>
          </p:cNvSpPr>
          <p:nvPr/>
        </p:nvSpPr>
        <p:spPr>
          <a:xfrm xmlns:a="http://schemas.openxmlformats.org/drawingml/2006/main">
            <a:off x="950976"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0E6F877-FE86-45C8-84AA-40630E895549}"/>
              </a:ext>
            </a:extLst>
          </p:cNvPr>
          <p:cNvSpPr>
            <a:spLocks xmlns:a="http://schemas.openxmlformats.org/drawingml/2006/main" noGrp="1"/>
          </p:cNvSpPr>
          <p:nvPr/>
        </p:nvSpPr>
        <p:spPr>
          <a:xfrm xmlns:a="http://schemas.openxmlformats.org/drawingml/2006/main">
            <a:off x="1042416"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MT-ATP6</a:t>
            </a:r>
          </a:p>
        </p:txBody>
      </p:sp>
      <p:sp>
        <p:nvSpPr>
          <p:cNvPr id="9" name="Rounded Rectangle 8">
            <a:extLst xmlns:a="http://schemas.openxmlformats.org/drawingml/2006/main">
              <a:ext uri="{FF2B5EF4-FFF2-40B4-BE49-F238E27FC236}">
                <a16:creationId xmlns:a16="http://schemas.microsoft.com/office/drawing/2014/main" id="{5BBFD0A2-393E-4060-9F36-FD8B6C9BFA65}"/>
              </a:ext>
            </a:extLst>
          </p:cNvPr>
          <p:cNvSpPr>
            <a:spLocks xmlns:a="http://schemas.openxmlformats.org/drawingml/2006/main" noGrp="1"/>
          </p:cNvSpPr>
          <p:nvPr/>
        </p:nvSpPr>
        <p:spPr>
          <a:xfrm xmlns:a="http://schemas.openxmlformats.org/drawingml/2006/main">
            <a:off x="2478024"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3E93762-9440-458A-8CFC-05D7BA1BFC2D}"/>
              </a:ext>
            </a:extLst>
          </p:cNvPr>
          <p:cNvSpPr>
            <a:spLocks xmlns:a="http://schemas.openxmlformats.org/drawingml/2006/main" noGrp="1"/>
          </p:cNvSpPr>
          <p:nvPr/>
        </p:nvSpPr>
        <p:spPr>
          <a:xfrm xmlns:a="http://schemas.openxmlformats.org/drawingml/2006/main">
            <a:off x="2569464"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MT-CO2</a:t>
            </a:r>
          </a:p>
        </p:txBody>
      </p:sp>
      <p:sp>
        <p:nvSpPr>
          <p:cNvPr id="11" name="Rounded Rectangle 10">
            <a:extLst xmlns:a="http://schemas.openxmlformats.org/drawingml/2006/main">
              <a:ext uri="{FF2B5EF4-FFF2-40B4-BE49-F238E27FC236}">
                <a16:creationId xmlns:a16="http://schemas.microsoft.com/office/drawing/2014/main" id="{1171B2B7-9E0A-4A84-8B7F-BA91C1AB4279}"/>
              </a:ext>
            </a:extLst>
          </p:cNvPr>
          <p:cNvSpPr>
            <a:spLocks xmlns:a="http://schemas.openxmlformats.org/drawingml/2006/main" noGrp="1"/>
          </p:cNvSpPr>
          <p:nvPr/>
        </p:nvSpPr>
        <p:spPr>
          <a:xfrm xmlns:a="http://schemas.openxmlformats.org/drawingml/2006/main">
            <a:off x="4005072"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B3EC02D-C44E-4392-BB9E-1AA71DDB5D93}"/>
              </a:ext>
            </a:extLst>
          </p:cNvPr>
          <p:cNvSpPr>
            <a:spLocks xmlns:a="http://schemas.openxmlformats.org/drawingml/2006/main" noGrp="1"/>
          </p:cNvSpPr>
          <p:nvPr/>
        </p:nvSpPr>
        <p:spPr>
          <a:xfrm xmlns:a="http://schemas.openxmlformats.org/drawingml/2006/main">
            <a:off x="4096511"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MT-CO3</a:t>
            </a:r>
          </a:p>
        </p:txBody>
      </p:sp>
      <p:sp>
        <p:nvSpPr>
          <p:cNvPr id="13" name="Rounded Rectangle 12">
            <a:extLst xmlns:a="http://schemas.openxmlformats.org/drawingml/2006/main">
              <a:ext uri="{FF2B5EF4-FFF2-40B4-BE49-F238E27FC236}">
                <a16:creationId xmlns:a16="http://schemas.microsoft.com/office/drawing/2014/main" id="{C8783C2B-A917-46AB-A1EE-C734B385F2E4}"/>
              </a:ext>
            </a:extLst>
          </p:cNvPr>
          <p:cNvSpPr>
            <a:spLocks xmlns:a="http://schemas.openxmlformats.org/drawingml/2006/main" noGrp="1"/>
          </p:cNvSpPr>
          <p:nvPr/>
        </p:nvSpPr>
        <p:spPr>
          <a:xfrm xmlns:a="http://schemas.openxmlformats.org/drawingml/2006/main">
            <a:off x="950976"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ED2432E-722A-42AA-A1E2-8B74EE2A28D8}"/>
              </a:ext>
            </a:extLst>
          </p:cNvPr>
          <p:cNvSpPr>
            <a:spLocks xmlns:a="http://schemas.openxmlformats.org/drawingml/2006/main" noGrp="1"/>
          </p:cNvSpPr>
          <p:nvPr/>
        </p:nvSpPr>
        <p:spPr>
          <a:xfrm xmlns:a="http://schemas.openxmlformats.org/drawingml/2006/main">
            <a:off x="1042416"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MT-CYB</a:t>
            </a:r>
          </a:p>
        </p:txBody>
      </p:sp>
      <p:sp>
        <p:nvSpPr>
          <p:cNvPr id="15" name="Rounded Rectangle 14">
            <a:extLst xmlns:a="http://schemas.openxmlformats.org/drawingml/2006/main">
              <a:ext uri="{FF2B5EF4-FFF2-40B4-BE49-F238E27FC236}">
                <a16:creationId xmlns:a16="http://schemas.microsoft.com/office/drawing/2014/main" id="{BDF2196C-1BD1-4FF0-B623-2E82FCDEC8C3}"/>
              </a:ext>
            </a:extLst>
          </p:cNvPr>
          <p:cNvSpPr>
            <a:spLocks xmlns:a="http://schemas.openxmlformats.org/drawingml/2006/main" noGrp="1"/>
          </p:cNvSpPr>
          <p:nvPr/>
        </p:nvSpPr>
        <p:spPr>
          <a:xfrm xmlns:a="http://schemas.openxmlformats.org/drawingml/2006/main">
            <a:off x="2478024"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091A08BF-16AF-4B58-A566-0552A3C0164B}"/>
              </a:ext>
            </a:extLst>
          </p:cNvPr>
          <p:cNvSpPr>
            <a:spLocks xmlns:a="http://schemas.openxmlformats.org/drawingml/2006/main" noGrp="1"/>
          </p:cNvSpPr>
          <p:nvPr/>
        </p:nvSpPr>
        <p:spPr>
          <a:xfrm xmlns:a="http://schemas.openxmlformats.org/drawingml/2006/main">
            <a:off x="2569464"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MT-ND1</a:t>
            </a:r>
          </a:p>
        </p:txBody>
      </p:sp>
      <p:sp>
        <p:nvSpPr>
          <p:cNvPr id="17" name="Rounded Rectangle 16">
            <a:extLst xmlns:a="http://schemas.openxmlformats.org/drawingml/2006/main">
              <a:ext uri="{FF2B5EF4-FFF2-40B4-BE49-F238E27FC236}">
                <a16:creationId xmlns:a16="http://schemas.microsoft.com/office/drawing/2014/main" id="{A09B3222-631D-4C02-BD7C-C8B4F6716921}"/>
              </a:ext>
            </a:extLst>
          </p:cNvPr>
          <p:cNvSpPr>
            <a:spLocks xmlns:a="http://schemas.openxmlformats.org/drawingml/2006/main" noGrp="1"/>
          </p:cNvSpPr>
          <p:nvPr/>
        </p:nvSpPr>
        <p:spPr>
          <a:xfrm xmlns:a="http://schemas.openxmlformats.org/drawingml/2006/main">
            <a:off x="4005072"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A70FDBD-B0EE-475D-B398-3015AEA676E3}"/>
              </a:ext>
            </a:extLst>
          </p:cNvPr>
          <p:cNvSpPr>
            <a:spLocks xmlns:a="http://schemas.openxmlformats.org/drawingml/2006/main" noGrp="1"/>
          </p:cNvSpPr>
          <p:nvPr/>
        </p:nvSpPr>
        <p:spPr>
          <a:xfrm xmlns:a="http://schemas.openxmlformats.org/drawingml/2006/main">
            <a:off x="4096511"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MT-ND2</a:t>
            </a:r>
          </a:p>
        </p:txBody>
      </p:sp>
      <p:sp>
        <p:nvSpPr>
          <p:cNvPr id="19" name="Rounded Rectangle 18">
            <a:extLst xmlns:a="http://schemas.openxmlformats.org/drawingml/2006/main">
              <a:ext uri="{FF2B5EF4-FFF2-40B4-BE49-F238E27FC236}">
                <a16:creationId xmlns:a16="http://schemas.microsoft.com/office/drawing/2014/main" id="{9E4EDCEE-330A-4C30-B731-B4AFFDA016A9}"/>
              </a:ext>
            </a:extLst>
          </p:cNvPr>
          <p:cNvSpPr>
            <a:spLocks xmlns:a="http://schemas.openxmlformats.org/drawingml/2006/main" noGrp="1"/>
          </p:cNvSpPr>
          <p:nvPr/>
        </p:nvSpPr>
        <p:spPr>
          <a:xfrm xmlns:a="http://schemas.openxmlformats.org/drawingml/2006/main">
            <a:off x="950976"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93B357DB-153B-4294-B85A-B8EB8A00302C}"/>
              </a:ext>
            </a:extLst>
          </p:cNvPr>
          <p:cNvSpPr>
            <a:spLocks xmlns:a="http://schemas.openxmlformats.org/drawingml/2006/main" noGrp="1"/>
          </p:cNvSpPr>
          <p:nvPr/>
        </p:nvSpPr>
        <p:spPr>
          <a:xfrm xmlns:a="http://schemas.openxmlformats.org/drawingml/2006/main">
            <a:off x="1042416"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MT-ND3</a:t>
            </a:r>
          </a:p>
        </p:txBody>
      </p:sp>
      <p:sp>
        <p:nvSpPr>
          <p:cNvPr id="21" name="Rounded Rectangle 20">
            <a:extLst xmlns:a="http://schemas.openxmlformats.org/drawingml/2006/main">
              <a:ext uri="{FF2B5EF4-FFF2-40B4-BE49-F238E27FC236}">
                <a16:creationId xmlns:a16="http://schemas.microsoft.com/office/drawing/2014/main" id="{DCA6CB8D-35EC-45D1-B544-B245023B6A11}"/>
              </a:ext>
            </a:extLst>
          </p:cNvPr>
          <p:cNvSpPr>
            <a:spLocks xmlns:a="http://schemas.openxmlformats.org/drawingml/2006/main" noGrp="1"/>
          </p:cNvSpPr>
          <p:nvPr/>
        </p:nvSpPr>
        <p:spPr>
          <a:xfrm xmlns:a="http://schemas.openxmlformats.org/drawingml/2006/main">
            <a:off x="2478024"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30CB0331-FFB8-4D19-87C8-C8EB747B2B72}"/>
              </a:ext>
            </a:extLst>
          </p:cNvPr>
          <p:cNvSpPr>
            <a:spLocks xmlns:a="http://schemas.openxmlformats.org/drawingml/2006/main" noGrp="1"/>
          </p:cNvSpPr>
          <p:nvPr/>
        </p:nvSpPr>
        <p:spPr>
          <a:xfrm xmlns:a="http://schemas.openxmlformats.org/drawingml/2006/main">
            <a:off x="2569464"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MT-ND4</a:t>
            </a:r>
          </a:p>
        </p:txBody>
      </p:sp>
      <p:sp>
        <p:nvSpPr>
          <p:cNvPr id="23" name="Rounded Rectangle 22">
            <a:extLst xmlns:a="http://schemas.openxmlformats.org/drawingml/2006/main">
              <a:ext uri="{FF2B5EF4-FFF2-40B4-BE49-F238E27FC236}">
                <a16:creationId xmlns:a16="http://schemas.microsoft.com/office/drawing/2014/main" id="{04029D47-3EA5-4D85-9276-1AC2B5CC904A}"/>
              </a:ext>
            </a:extLst>
          </p:cNvPr>
          <p:cNvSpPr>
            <a:spLocks xmlns:a="http://schemas.openxmlformats.org/drawingml/2006/main" noGrp="1"/>
          </p:cNvSpPr>
          <p:nvPr/>
        </p:nvSpPr>
        <p:spPr>
          <a:xfrm xmlns:a="http://schemas.openxmlformats.org/drawingml/2006/main">
            <a:off x="4005072"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0A26401-7BFB-4C8F-9EA3-C4B6F0E212CA}"/>
              </a:ext>
            </a:extLst>
          </p:cNvPr>
          <p:cNvSpPr>
            <a:spLocks xmlns:a="http://schemas.openxmlformats.org/drawingml/2006/main" noGrp="1"/>
          </p:cNvSpPr>
          <p:nvPr/>
        </p:nvSpPr>
        <p:spPr>
          <a:xfrm xmlns:a="http://schemas.openxmlformats.org/drawingml/2006/main">
            <a:off x="4096511"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00" b="1" i="0">
                <a:solidFill>
                  <a:srgbClr val="0072B2"/>
                </a:solidFill>
                <a:latin typeface="Arial"/>
                <a:ea typeface="Arial"/>
                <a:cs typeface="Arial"/>
              </a:rPr>
              <a:t>MT-ND4L</a:t>
            </a:r>
          </a:p>
        </p:txBody>
      </p:sp>
      <p:sp>
        <p:nvSpPr>
          <p:cNvPr id="25" name="Rounded Rectangle 24">
            <a:extLst xmlns:a="http://schemas.openxmlformats.org/drawingml/2006/main">
              <a:ext uri="{FF2B5EF4-FFF2-40B4-BE49-F238E27FC236}">
                <a16:creationId xmlns:a16="http://schemas.microsoft.com/office/drawing/2014/main" id="{20673662-2E76-4EEE-AD3E-DBC5A8F792CC}"/>
              </a:ext>
            </a:extLst>
          </p:cNvPr>
          <p:cNvSpPr>
            <a:spLocks xmlns:a="http://schemas.openxmlformats.org/drawingml/2006/main" noGrp="1"/>
          </p:cNvSpPr>
          <p:nvPr/>
        </p:nvSpPr>
        <p:spPr>
          <a:xfrm xmlns:a="http://schemas.openxmlformats.org/drawingml/2006/main">
            <a:off x="6236208" y="1353312"/>
            <a:ext cx="5303520" cy="3602736"/>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ctangle 25">
            <a:extLst xmlns:a="http://schemas.openxmlformats.org/drawingml/2006/main">
              <a:ext uri="{FF2B5EF4-FFF2-40B4-BE49-F238E27FC236}">
                <a16:creationId xmlns:a16="http://schemas.microsoft.com/office/drawing/2014/main" id="{BA34ED79-956B-413D-B5CE-FEFFF8D61234}"/>
              </a:ext>
            </a:extLst>
          </p:cNvPr>
          <p:cNvSpPr>
            <a:spLocks xmlns:a="http://schemas.openxmlformats.org/drawingml/2006/main" noGrp="1"/>
          </p:cNvSpPr>
          <p:nvPr/>
        </p:nvSpPr>
        <p:spPr>
          <a:xfrm xmlns:a="http://schemas.openxmlformats.org/drawingml/2006/main">
            <a:off x="6528816" y="169164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ECCD7B4-D946-4D83-A898-FA961ED119BE}"/>
              </a:ext>
            </a:extLst>
          </p:cNvPr>
          <p:cNvSpPr>
            <a:spLocks xmlns:a="http://schemas.openxmlformats.org/drawingml/2006/main" noGrp="1"/>
          </p:cNvSpPr>
          <p:nvPr/>
        </p:nvSpPr>
        <p:spPr>
          <a:xfrm xmlns:a="http://schemas.openxmlformats.org/drawingml/2006/main">
            <a:off x="6675120" y="1664208"/>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20" b="1" i="0">
                <a:solidFill>
                  <a:srgbClr val="0F233D"/>
                </a:solidFill>
                <a:latin typeface="Arial"/>
                <a:ea typeface="Arial"/>
                <a:cs typeface="Arial"/>
              </a:rPr>
              <a:t>8 nuclear-encoded MitoCarta MT genes ↓ in both</a:t>
            </a:r>
          </a:p>
        </p:txBody>
      </p:sp>
      <p:sp>
        <p:nvSpPr>
          <p:cNvPr id="28" name="Rounded Rectangle 27">
            <a:extLst xmlns:a="http://schemas.openxmlformats.org/drawingml/2006/main">
              <a:ext uri="{FF2B5EF4-FFF2-40B4-BE49-F238E27FC236}">
                <a16:creationId xmlns:a16="http://schemas.microsoft.com/office/drawing/2014/main" id="{FAA68ABB-712A-45AE-862F-5D741259402E}"/>
              </a:ext>
            </a:extLst>
          </p:cNvPr>
          <p:cNvSpPr>
            <a:spLocks xmlns:a="http://schemas.openxmlformats.org/drawingml/2006/main" noGrp="1"/>
          </p:cNvSpPr>
          <p:nvPr/>
        </p:nvSpPr>
        <p:spPr>
          <a:xfrm xmlns:a="http://schemas.openxmlformats.org/drawingml/2006/main">
            <a:off x="6565392" y="2139696"/>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CE661190-7927-4A73-8473-F125B946518C}"/>
              </a:ext>
            </a:extLst>
          </p:cNvPr>
          <p:cNvSpPr>
            <a:spLocks xmlns:a="http://schemas.openxmlformats.org/drawingml/2006/main" noGrp="1"/>
          </p:cNvSpPr>
          <p:nvPr/>
        </p:nvSpPr>
        <p:spPr>
          <a:xfrm xmlns:a="http://schemas.openxmlformats.org/drawingml/2006/main">
            <a:off x="6656831" y="2240279"/>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UQCRFS1</a:t>
            </a:r>
          </a:p>
        </p:txBody>
      </p:sp>
      <p:sp>
        <p:nvSpPr>
          <p:cNvPr id="30" name="Rounded Rectangle 29">
            <a:extLst xmlns:a="http://schemas.openxmlformats.org/drawingml/2006/main">
              <a:ext uri="{FF2B5EF4-FFF2-40B4-BE49-F238E27FC236}">
                <a16:creationId xmlns:a16="http://schemas.microsoft.com/office/drawing/2014/main" id="{BBABDB61-D35F-4ED9-994F-9A0CF5B82E15}"/>
              </a:ext>
            </a:extLst>
          </p:cNvPr>
          <p:cNvSpPr>
            <a:spLocks xmlns:a="http://schemas.openxmlformats.org/drawingml/2006/main" noGrp="1"/>
          </p:cNvSpPr>
          <p:nvPr/>
        </p:nvSpPr>
        <p:spPr>
          <a:xfrm xmlns:a="http://schemas.openxmlformats.org/drawingml/2006/main">
            <a:off x="8833104" y="2139696"/>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740B0317-278F-4347-92F7-6319EB85A48D}"/>
              </a:ext>
            </a:extLst>
          </p:cNvPr>
          <p:cNvSpPr>
            <a:spLocks xmlns:a="http://schemas.openxmlformats.org/drawingml/2006/main" noGrp="1"/>
          </p:cNvSpPr>
          <p:nvPr/>
        </p:nvSpPr>
        <p:spPr>
          <a:xfrm xmlns:a="http://schemas.openxmlformats.org/drawingml/2006/main">
            <a:off x="8924544" y="2240279"/>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SLC25A5</a:t>
            </a:r>
          </a:p>
        </p:txBody>
      </p:sp>
      <p:sp>
        <p:nvSpPr>
          <p:cNvPr id="32" name="Rounded Rectangle 31">
            <a:extLst xmlns:a="http://schemas.openxmlformats.org/drawingml/2006/main">
              <a:ext uri="{FF2B5EF4-FFF2-40B4-BE49-F238E27FC236}">
                <a16:creationId xmlns:a16="http://schemas.microsoft.com/office/drawing/2014/main" id="{1D48AAAC-0032-4DDD-83FE-48AE10AEA4C4}"/>
              </a:ext>
            </a:extLst>
          </p:cNvPr>
          <p:cNvSpPr>
            <a:spLocks xmlns:a="http://schemas.openxmlformats.org/drawingml/2006/main" noGrp="1"/>
          </p:cNvSpPr>
          <p:nvPr/>
        </p:nvSpPr>
        <p:spPr>
          <a:xfrm xmlns:a="http://schemas.openxmlformats.org/drawingml/2006/main">
            <a:off x="6565392" y="2761488"/>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E53ADCE1-CA88-4B3F-80B5-7456C4A245FC}"/>
              </a:ext>
            </a:extLst>
          </p:cNvPr>
          <p:cNvSpPr>
            <a:spLocks xmlns:a="http://schemas.openxmlformats.org/drawingml/2006/main" noGrp="1"/>
          </p:cNvSpPr>
          <p:nvPr/>
        </p:nvSpPr>
        <p:spPr>
          <a:xfrm xmlns:a="http://schemas.openxmlformats.org/drawingml/2006/main">
            <a:off x="6656831" y="2862072"/>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TIMM13</a:t>
            </a:r>
          </a:p>
        </p:txBody>
      </p:sp>
      <p:sp>
        <p:nvSpPr>
          <p:cNvPr id="34" name="Rounded Rectangle 33">
            <a:extLst xmlns:a="http://schemas.openxmlformats.org/drawingml/2006/main">
              <a:ext uri="{FF2B5EF4-FFF2-40B4-BE49-F238E27FC236}">
                <a16:creationId xmlns:a16="http://schemas.microsoft.com/office/drawing/2014/main" id="{A6ED0EB4-CC97-4758-9DE0-4B394B4EE270}"/>
              </a:ext>
            </a:extLst>
          </p:cNvPr>
          <p:cNvSpPr>
            <a:spLocks xmlns:a="http://schemas.openxmlformats.org/drawingml/2006/main" noGrp="1"/>
          </p:cNvSpPr>
          <p:nvPr/>
        </p:nvSpPr>
        <p:spPr>
          <a:xfrm xmlns:a="http://schemas.openxmlformats.org/drawingml/2006/main">
            <a:off x="8833104" y="2761488"/>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0E25720A-91FC-49D1-8D91-9088C37BC187}"/>
              </a:ext>
            </a:extLst>
          </p:cNvPr>
          <p:cNvSpPr>
            <a:spLocks xmlns:a="http://schemas.openxmlformats.org/drawingml/2006/main" noGrp="1"/>
          </p:cNvSpPr>
          <p:nvPr/>
        </p:nvSpPr>
        <p:spPr>
          <a:xfrm xmlns:a="http://schemas.openxmlformats.org/drawingml/2006/main">
            <a:off x="8924544" y="2862072"/>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TIMM17A</a:t>
            </a:r>
          </a:p>
        </p:txBody>
      </p:sp>
      <p:sp>
        <p:nvSpPr>
          <p:cNvPr id="36" name="Rounded Rectangle 35">
            <a:extLst xmlns:a="http://schemas.openxmlformats.org/drawingml/2006/main">
              <a:ext uri="{FF2B5EF4-FFF2-40B4-BE49-F238E27FC236}">
                <a16:creationId xmlns:a16="http://schemas.microsoft.com/office/drawing/2014/main" id="{8D0EAADA-EA66-48E7-B3F4-1F04C0904F51}"/>
              </a:ext>
            </a:extLst>
          </p:cNvPr>
          <p:cNvSpPr>
            <a:spLocks xmlns:a="http://schemas.openxmlformats.org/drawingml/2006/main" noGrp="1"/>
          </p:cNvSpPr>
          <p:nvPr/>
        </p:nvSpPr>
        <p:spPr>
          <a:xfrm xmlns:a="http://schemas.openxmlformats.org/drawingml/2006/main">
            <a:off x="6565392" y="3383280"/>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D73FE672-1675-4AFF-B10F-F3C3DA4C0FD6}"/>
              </a:ext>
            </a:extLst>
          </p:cNvPr>
          <p:cNvSpPr>
            <a:spLocks xmlns:a="http://schemas.openxmlformats.org/drawingml/2006/main" noGrp="1"/>
          </p:cNvSpPr>
          <p:nvPr/>
        </p:nvSpPr>
        <p:spPr>
          <a:xfrm xmlns:a="http://schemas.openxmlformats.org/drawingml/2006/main">
            <a:off x="6656831" y="3483864"/>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MRPL16</a:t>
            </a:r>
          </a:p>
        </p:txBody>
      </p:sp>
      <p:sp>
        <p:nvSpPr>
          <p:cNvPr id="38" name="Rounded Rectangle 37">
            <a:extLst xmlns:a="http://schemas.openxmlformats.org/drawingml/2006/main">
              <a:ext uri="{FF2B5EF4-FFF2-40B4-BE49-F238E27FC236}">
                <a16:creationId xmlns:a16="http://schemas.microsoft.com/office/drawing/2014/main" id="{9465C8DE-8788-4B61-894D-1FA77641511B}"/>
              </a:ext>
            </a:extLst>
          </p:cNvPr>
          <p:cNvSpPr>
            <a:spLocks xmlns:a="http://schemas.openxmlformats.org/drawingml/2006/main" noGrp="1"/>
          </p:cNvSpPr>
          <p:nvPr/>
        </p:nvSpPr>
        <p:spPr>
          <a:xfrm xmlns:a="http://schemas.openxmlformats.org/drawingml/2006/main">
            <a:off x="8833104" y="3383280"/>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0D14650F-E567-4F55-9B53-A70E1B67177B}"/>
              </a:ext>
            </a:extLst>
          </p:cNvPr>
          <p:cNvSpPr>
            <a:spLocks xmlns:a="http://schemas.openxmlformats.org/drawingml/2006/main" noGrp="1"/>
          </p:cNvSpPr>
          <p:nvPr/>
        </p:nvSpPr>
        <p:spPr>
          <a:xfrm xmlns:a="http://schemas.openxmlformats.org/drawingml/2006/main">
            <a:off x="8924544" y="3483864"/>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MRPS34</a:t>
            </a:r>
          </a:p>
        </p:txBody>
      </p:sp>
      <p:sp>
        <p:nvSpPr>
          <p:cNvPr id="40" name="Rounded Rectangle 39">
            <a:extLst xmlns:a="http://schemas.openxmlformats.org/drawingml/2006/main">
              <a:ext uri="{FF2B5EF4-FFF2-40B4-BE49-F238E27FC236}">
                <a16:creationId xmlns:a16="http://schemas.microsoft.com/office/drawing/2014/main" id="{FC6DA421-533E-419C-9152-C997B7449409}"/>
              </a:ext>
            </a:extLst>
          </p:cNvPr>
          <p:cNvSpPr>
            <a:spLocks xmlns:a="http://schemas.openxmlformats.org/drawingml/2006/main" noGrp="1"/>
          </p:cNvSpPr>
          <p:nvPr/>
        </p:nvSpPr>
        <p:spPr>
          <a:xfrm xmlns:a="http://schemas.openxmlformats.org/drawingml/2006/main">
            <a:off x="6565392" y="4005072"/>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086D0335-838E-466D-88BE-65362C921125}"/>
              </a:ext>
            </a:extLst>
          </p:cNvPr>
          <p:cNvSpPr>
            <a:spLocks xmlns:a="http://schemas.openxmlformats.org/drawingml/2006/main" noGrp="1"/>
          </p:cNvSpPr>
          <p:nvPr/>
        </p:nvSpPr>
        <p:spPr>
          <a:xfrm xmlns:a="http://schemas.openxmlformats.org/drawingml/2006/main">
            <a:off x="6656831" y="4105656"/>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ENDOG</a:t>
            </a:r>
          </a:p>
        </p:txBody>
      </p:sp>
      <p:sp>
        <p:nvSpPr>
          <p:cNvPr id="42" name="Rounded Rectangle 41">
            <a:extLst xmlns:a="http://schemas.openxmlformats.org/drawingml/2006/main">
              <a:ext uri="{FF2B5EF4-FFF2-40B4-BE49-F238E27FC236}">
                <a16:creationId xmlns:a16="http://schemas.microsoft.com/office/drawing/2014/main" id="{10CD3535-2950-4B88-B210-BE54B8A346C8}"/>
              </a:ext>
            </a:extLst>
          </p:cNvPr>
          <p:cNvSpPr>
            <a:spLocks xmlns:a="http://schemas.openxmlformats.org/drawingml/2006/main" noGrp="1"/>
          </p:cNvSpPr>
          <p:nvPr/>
        </p:nvSpPr>
        <p:spPr>
          <a:xfrm xmlns:a="http://schemas.openxmlformats.org/drawingml/2006/main">
            <a:off x="8833104" y="4005072"/>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281CBB33-160C-4C25-9404-B8B4781F70F5}"/>
              </a:ext>
            </a:extLst>
          </p:cNvPr>
          <p:cNvSpPr>
            <a:spLocks xmlns:a="http://schemas.openxmlformats.org/drawingml/2006/main" noGrp="1"/>
          </p:cNvSpPr>
          <p:nvPr/>
        </p:nvSpPr>
        <p:spPr>
          <a:xfrm xmlns:a="http://schemas.openxmlformats.org/drawingml/2006/main">
            <a:off x="8924544" y="4105656"/>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30" b="1" i="0">
                <a:solidFill>
                  <a:srgbClr val="9E3A00"/>
                </a:solidFill>
                <a:latin typeface="Arial"/>
                <a:ea typeface="Arial"/>
                <a:cs typeface="Arial"/>
              </a:rPr>
              <a:t>MTCH1</a:t>
            </a:r>
          </a:p>
        </p:txBody>
      </p:sp>
      <p:sp>
        <p:nvSpPr>
          <p:cNvPr id="44" name="Rounded Rectangle 43">
            <a:extLst xmlns:a="http://schemas.openxmlformats.org/drawingml/2006/main">
              <a:ext uri="{FF2B5EF4-FFF2-40B4-BE49-F238E27FC236}">
                <a16:creationId xmlns:a16="http://schemas.microsoft.com/office/drawing/2014/main" id="{4E440860-7147-4579-B9E0-1945D3EF1CF2}"/>
              </a:ext>
            </a:extLst>
          </p:cNvPr>
          <p:cNvSpPr>
            <a:spLocks xmlns:a="http://schemas.openxmlformats.org/drawingml/2006/main" noGrp="1"/>
          </p:cNvSpPr>
          <p:nvPr/>
        </p:nvSpPr>
        <p:spPr>
          <a:xfrm xmlns:a="http://schemas.openxmlformats.org/drawingml/2006/main">
            <a:off x="658368" y="5230368"/>
            <a:ext cx="5285232" cy="95097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F3E5D0AC-ECBE-445D-8D6B-C4442DCF3908}"/>
              </a:ext>
            </a:extLst>
          </p:cNvPr>
          <p:cNvSpPr>
            <a:spLocks xmlns:a="http://schemas.openxmlformats.org/drawingml/2006/main" noGrp="1"/>
          </p:cNvSpPr>
          <p:nvPr/>
        </p:nvSpPr>
        <p:spPr>
          <a:xfrm xmlns:a="http://schemas.openxmlformats.org/drawingml/2006/main">
            <a:off x="932688" y="5449824"/>
            <a:ext cx="202996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00" b="1" i="0">
                <a:solidFill>
                  <a:srgbClr val="00684D"/>
                </a:solidFill>
                <a:latin typeface="Arial"/>
                <a:ea typeface="Arial"/>
                <a:cs typeface="Arial"/>
              </a:rPr>
              <a:t>Other genes with the same direction</a:t>
            </a:r>
          </a:p>
        </p:txBody>
      </p:sp>
      <p:sp>
        <p:nvSpPr>
          <p:cNvPr id="46" name="TextBox 45">
            <a:extLst xmlns:a="http://schemas.openxmlformats.org/drawingml/2006/main">
              <a:ext uri="{FF2B5EF4-FFF2-40B4-BE49-F238E27FC236}">
                <a16:creationId xmlns:a16="http://schemas.microsoft.com/office/drawing/2014/main" id="{D8AC2C88-E4B4-4FB6-8956-990AD7AE975A}"/>
              </a:ext>
            </a:extLst>
          </p:cNvPr>
          <p:cNvSpPr>
            <a:spLocks xmlns:a="http://schemas.openxmlformats.org/drawingml/2006/main" noGrp="1"/>
          </p:cNvSpPr>
          <p:nvPr/>
        </p:nvSpPr>
        <p:spPr>
          <a:xfrm xmlns:a="http://schemas.openxmlformats.org/drawingml/2006/main">
            <a:off x="2816352" y="5422392"/>
            <a:ext cx="277977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200" b="1" i="0">
                <a:solidFill>
                  <a:srgbClr val="1F2730"/>
                </a:solidFill>
                <a:latin typeface="Arial"/>
                <a:ea typeface="Arial"/>
                <a:cs typeface="Arial"/>
              </a:rPr>
              <a:t>DBP ↓   •   PRELID2 ↑</a:t>
            </a:r>
          </a:p>
        </p:txBody>
      </p:sp>
      <p:sp>
        <p:nvSpPr>
          <p:cNvPr id="47" name="Rounded Rectangle 46">
            <a:extLst xmlns:a="http://schemas.openxmlformats.org/drawingml/2006/main">
              <a:ext uri="{FF2B5EF4-FFF2-40B4-BE49-F238E27FC236}">
                <a16:creationId xmlns:a16="http://schemas.microsoft.com/office/drawing/2014/main" id="{663F6E21-C900-4814-90AB-BA9EE26BB292}"/>
              </a:ext>
            </a:extLst>
          </p:cNvPr>
          <p:cNvSpPr>
            <a:spLocks xmlns:a="http://schemas.openxmlformats.org/drawingml/2006/main" noGrp="1"/>
          </p:cNvSpPr>
          <p:nvPr/>
        </p:nvSpPr>
        <p:spPr>
          <a:xfrm xmlns:a="http://schemas.openxmlformats.org/drawingml/2006/main">
            <a:off x="6236208" y="5230368"/>
            <a:ext cx="5303520" cy="95097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08C11003-7189-4AE0-B9A7-977E6461EB5C}"/>
              </a:ext>
            </a:extLst>
          </p:cNvPr>
          <p:cNvSpPr>
            <a:spLocks xmlns:a="http://schemas.openxmlformats.org/drawingml/2006/main" noGrp="1"/>
          </p:cNvSpPr>
          <p:nvPr/>
        </p:nvSpPr>
        <p:spPr>
          <a:xfrm xmlns:a="http://schemas.openxmlformats.org/drawingml/2006/main">
            <a:off x="6510528" y="5449824"/>
            <a:ext cx="1773936"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00" b="1" i="0">
                <a:solidFill>
                  <a:srgbClr val="895600"/>
                </a:solidFill>
                <a:latin typeface="Arial"/>
                <a:ea typeface="Arial"/>
                <a:cs typeface="Arial"/>
              </a:rPr>
              <a:t>3 genes with opposite directions</a:t>
            </a:r>
          </a:p>
        </p:txBody>
      </p:sp>
      <p:sp>
        <p:nvSpPr>
          <p:cNvPr id="49" name="TextBox 48">
            <a:extLst xmlns:a="http://schemas.openxmlformats.org/drawingml/2006/main">
              <a:ext uri="{FF2B5EF4-FFF2-40B4-BE49-F238E27FC236}">
                <a16:creationId xmlns:a16="http://schemas.microsoft.com/office/drawing/2014/main" id="{D84AABC3-9771-44B1-9E16-FCE13BC2D2E5}"/>
              </a:ext>
            </a:extLst>
          </p:cNvPr>
          <p:cNvSpPr>
            <a:spLocks xmlns:a="http://schemas.openxmlformats.org/drawingml/2006/main" noGrp="1"/>
          </p:cNvSpPr>
          <p:nvPr/>
        </p:nvSpPr>
        <p:spPr>
          <a:xfrm xmlns:a="http://schemas.openxmlformats.org/drawingml/2006/main">
            <a:off x="8174736" y="5422392"/>
            <a:ext cx="305409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F89BDDB-19F9-43E6-B898-18332942BF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xmlns:a="http://schemas.openxmlformats.org/drawingml/2006/main">
              <a:ext uri="{FF2B5EF4-FFF2-40B4-BE49-F238E27FC236}">
                <a16:creationId xmlns:a16="http://schemas.microsoft.com/office/drawing/2014/main" id="{C6E31DFF-652B-4442-ADF2-A5AB65F6F94A}"/>
              </a:ext>
            </a:extLst>
          </p:cNvPr>
          <p:cNvSpPr>
            <a:spLocks xmlns:a="http://schemas.openxmlformats.org/drawingml/2006/main" noGrp="1"/>
          </p:cNvSpPr>
          <p:nvPr/>
        </p:nvSpPr>
        <p:spPr>
          <a:xfrm xmlns:a="http://schemas.openxmlformats.org/drawingml/2006/main">
            <a:off x="548640" y="930764"/>
            <a:ext cx="10927080" cy="24006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xmlns:a="http://schemas.openxmlformats.org/drawingml/2006/main">
              <a:ext uri="{FF2B5EF4-FFF2-40B4-BE49-F238E27FC236}">
                <a16:creationId xmlns:a16="http://schemas.microsoft.com/office/drawing/2014/main" id="{80FA1F4E-346A-40E9-A30B-0C83C1DD8C40}"/>
              </a:ext>
            </a:extLst>
          </p:cNvPr>
          <p:cNvSpPr>
            <a:spLocks xmlns:a="http://schemas.openxmlformats.org/drawingml/2006/main" noGrp="1"/>
          </p:cNvSpPr>
          <p:nvPr/>
        </p:nvSpPr>
        <p:spPr>
          <a:xfrm xmlns:a="http://schemas.openxmlformats.org/drawingml/2006/main">
            <a:off x="658368" y="1444752"/>
            <a:ext cx="3456432" cy="29260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5F4915F5-1C46-40F3-8E59-A43B43378EA6}"/>
              </a:ext>
            </a:extLst>
          </p:cNvPr>
          <p:cNvSpPr>
            <a:spLocks xmlns:a="http://schemas.openxmlformats.org/drawingml/2006/main" noGrp="1"/>
          </p:cNvSpPr>
          <p:nvPr/>
        </p:nvSpPr>
        <p:spPr>
          <a:xfrm xmlns:a="http://schemas.openxmlformats.org/drawingml/2006/main">
            <a:off x="914400" y="1755648"/>
            <a:ext cx="512064" cy="51206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B51B34E-EBD8-4101-9893-44567F046DBE}"/>
              </a:ext>
            </a:extLst>
          </p:cNvPr>
          <p:cNvSpPr>
            <a:spLocks xmlns:a="http://schemas.openxmlformats.org/drawingml/2006/main" noGrp="1"/>
          </p:cNvSpPr>
          <p:nvPr/>
        </p:nvSpPr>
        <p:spPr>
          <a:xfrm xmlns:a="http://schemas.openxmlformats.org/drawingml/2006/main">
            <a:off x="91440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AC336E15-6B87-4A24-BC94-2175198B6CB6}"/>
              </a:ext>
            </a:extLst>
          </p:cNvPr>
          <p:cNvSpPr>
            <a:spLocks xmlns:a="http://schemas.openxmlformats.org/drawingml/2006/main" noGrp="1"/>
          </p:cNvSpPr>
          <p:nvPr/>
        </p:nvSpPr>
        <p:spPr>
          <a:xfrm xmlns:a="http://schemas.openxmlformats.org/drawingml/2006/main">
            <a:off x="1572768" y="1773936"/>
            <a:ext cx="2249424" cy="286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00" b="1" i="0">
                <a:solidFill>
                  <a:srgbClr val="0F233D"/>
                </a:solidFill>
                <a:latin typeface="Arial"/>
                <a:ea typeface="Arial"/>
                <a:cs typeface="Arial"/>
              </a:rPr>
              <a:t>Two genomes</a:t>
            </a:r>
          </a:p>
        </p:txBody>
      </p:sp>
      <p:sp>
        <p:nvSpPr>
          <p:cNvPr id="8" name="TextBox 7">
            <a:extLst xmlns:a="http://schemas.openxmlformats.org/drawingml/2006/main">
              <a:ext uri="{FF2B5EF4-FFF2-40B4-BE49-F238E27FC236}">
                <a16:creationId xmlns:a16="http://schemas.microsoft.com/office/drawing/2014/main" id="{68925F42-4398-4E11-B6EF-79DA1E2328C2}"/>
              </a:ext>
            </a:extLst>
          </p:cNvPr>
          <p:cNvSpPr>
            <a:spLocks xmlns:a="http://schemas.openxmlformats.org/drawingml/2006/main" noGrp="1"/>
          </p:cNvSpPr>
          <p:nvPr/>
        </p:nvSpPr>
        <p:spPr>
          <a:xfrm xmlns:a="http://schemas.openxmlformats.org/drawingml/2006/main">
            <a:off x="95097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xmlns:a="http://schemas.openxmlformats.org/drawingml/2006/main">
              <a:ext uri="{FF2B5EF4-FFF2-40B4-BE49-F238E27FC236}">
                <a16:creationId xmlns:a16="http://schemas.microsoft.com/office/drawing/2014/main" id="{8C8F44F2-A583-41BD-8AAE-D065D0E3A44C}"/>
              </a:ext>
            </a:extLst>
          </p:cNvPr>
          <p:cNvSpPr>
            <a:spLocks xmlns:a="http://schemas.openxmlformats.org/drawingml/2006/main" noGrp="1"/>
          </p:cNvSpPr>
          <p:nvPr/>
        </p:nvSpPr>
        <p:spPr>
          <a:xfrm xmlns:a="http://schemas.openxmlformats.org/drawingml/2006/main">
            <a:off x="4453128" y="1444752"/>
            <a:ext cx="3456432" cy="2926080"/>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55535B3C-9025-4877-AE27-4F730F4EDCEB}"/>
              </a:ext>
            </a:extLst>
          </p:cNvPr>
          <p:cNvSpPr>
            <a:spLocks xmlns:a="http://schemas.openxmlformats.org/drawingml/2006/main" noGrp="1"/>
          </p:cNvSpPr>
          <p:nvPr/>
        </p:nvSpPr>
        <p:spPr>
          <a:xfrm xmlns:a="http://schemas.openxmlformats.org/drawingml/2006/main">
            <a:off x="4709160" y="1755648"/>
            <a:ext cx="512064" cy="51206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7B9ADB5A-D665-478D-A4C2-D6F552769A60}"/>
              </a:ext>
            </a:extLst>
          </p:cNvPr>
          <p:cNvSpPr>
            <a:spLocks xmlns:a="http://schemas.openxmlformats.org/drawingml/2006/main" noGrp="1"/>
          </p:cNvSpPr>
          <p:nvPr/>
        </p:nvSpPr>
        <p:spPr>
          <a:xfrm xmlns:a="http://schemas.openxmlformats.org/drawingml/2006/main">
            <a:off x="470916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FFFFFF"/>
                </a:solidFill>
                <a:latin typeface="Arial"/>
                <a:ea typeface="Arial"/>
                <a:cs typeface="Arial"/>
              </a:rPr>
              <a:t>2</a:t>
            </a:r>
          </a:p>
        </p:txBody>
      </p:sp>
      <p:sp>
        <p:nvSpPr>
          <p:cNvPr id="12" name="TextBox 11">
            <a:extLst xmlns:a="http://schemas.openxmlformats.org/drawingml/2006/main">
              <a:ext uri="{FF2B5EF4-FFF2-40B4-BE49-F238E27FC236}">
                <a16:creationId xmlns:a16="http://schemas.microsoft.com/office/drawing/2014/main" id="{A52A05AC-F6B3-4522-9E9D-440CF3FD3009}"/>
              </a:ext>
            </a:extLst>
          </p:cNvPr>
          <p:cNvSpPr>
            <a:spLocks xmlns:a="http://schemas.openxmlformats.org/drawingml/2006/main" noGrp="1"/>
          </p:cNvSpPr>
          <p:nvPr/>
        </p:nvSpPr>
        <p:spPr>
          <a:xfrm xmlns:a="http://schemas.openxmlformats.org/drawingml/2006/main">
            <a:off x="536752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00" b="1" i="0">
                <a:solidFill>
                  <a:srgbClr val="0F233D"/>
                </a:solidFill>
                <a:latin typeface="Arial"/>
                <a:ea typeface="Arial"/>
                <a:cs typeface="Arial"/>
              </a:rPr>
              <a:t>Other mitochondrial processes also decrease</a:t>
            </a:r>
          </a:p>
        </p:txBody>
      </p:sp>
      <p:sp>
        <p:nvSpPr>
          <p:cNvPr id="13" name="TextBox 12">
            <a:extLst xmlns:a="http://schemas.openxmlformats.org/drawingml/2006/main">
              <a:ext uri="{FF2B5EF4-FFF2-40B4-BE49-F238E27FC236}">
                <a16:creationId xmlns:a16="http://schemas.microsoft.com/office/drawing/2014/main" id="{737F4522-E85C-4374-8AFE-3C93CC6427A3}"/>
              </a:ext>
            </a:extLst>
          </p:cNvPr>
          <p:cNvSpPr>
            <a:spLocks xmlns:a="http://schemas.openxmlformats.org/drawingml/2006/main" noGrp="1"/>
          </p:cNvSpPr>
          <p:nvPr/>
        </p:nvSpPr>
        <p:spPr>
          <a:xfrm xmlns:a="http://schemas.openxmlformats.org/drawingml/2006/main">
            <a:off x="474573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xmlns:a="http://schemas.openxmlformats.org/drawingml/2006/main">
              <a:ext uri="{FF2B5EF4-FFF2-40B4-BE49-F238E27FC236}">
                <a16:creationId xmlns:a16="http://schemas.microsoft.com/office/drawing/2014/main" id="{4E5AE5C1-CACE-4CDD-BA6B-58AFC97688E0}"/>
              </a:ext>
            </a:extLst>
          </p:cNvPr>
          <p:cNvSpPr>
            <a:spLocks xmlns:a="http://schemas.openxmlformats.org/drawingml/2006/main" noGrp="1"/>
          </p:cNvSpPr>
          <p:nvPr/>
        </p:nvSpPr>
        <p:spPr>
          <a:xfrm xmlns:a="http://schemas.openxmlformats.org/drawingml/2006/main">
            <a:off x="8247888" y="1444752"/>
            <a:ext cx="3456432" cy="29260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3C73238A-1805-4B14-9818-C3823CA03A84}"/>
              </a:ext>
            </a:extLst>
          </p:cNvPr>
          <p:cNvSpPr>
            <a:spLocks xmlns:a="http://schemas.openxmlformats.org/drawingml/2006/main" noGrp="1"/>
          </p:cNvSpPr>
          <p:nvPr/>
        </p:nvSpPr>
        <p:spPr>
          <a:xfrm xmlns:a="http://schemas.openxmlformats.org/drawingml/2006/main">
            <a:off x="8503920" y="1755648"/>
            <a:ext cx="512064" cy="512064"/>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3937DE2F-CA42-4B1A-BBD9-9BDE6CE438CA}"/>
              </a:ext>
            </a:extLst>
          </p:cNvPr>
          <p:cNvSpPr>
            <a:spLocks xmlns:a="http://schemas.openxmlformats.org/drawingml/2006/main" noGrp="1"/>
          </p:cNvSpPr>
          <p:nvPr/>
        </p:nvSpPr>
        <p:spPr>
          <a:xfrm xmlns:a="http://schemas.openxmlformats.org/drawingml/2006/main">
            <a:off x="850392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00" b="1" i="0">
                <a:solidFill>
                  <a:srgbClr val="FFFFFF"/>
                </a:solidFill>
                <a:latin typeface="Arial"/>
                <a:ea typeface="Arial"/>
                <a:cs typeface="Arial"/>
              </a:rPr>
              <a:t>3</a:t>
            </a:r>
          </a:p>
        </p:txBody>
      </p:sp>
      <p:sp>
        <p:nvSpPr>
          <p:cNvPr id="17" name="TextBox 16">
            <a:extLst xmlns:a="http://schemas.openxmlformats.org/drawingml/2006/main">
              <a:ext uri="{FF2B5EF4-FFF2-40B4-BE49-F238E27FC236}">
                <a16:creationId xmlns:a16="http://schemas.microsoft.com/office/drawing/2014/main" id="{C903F3CC-926C-4B85-B76F-E6FC31B3195D}"/>
              </a:ext>
            </a:extLst>
          </p:cNvPr>
          <p:cNvSpPr>
            <a:spLocks xmlns:a="http://schemas.openxmlformats.org/drawingml/2006/main" noGrp="1"/>
          </p:cNvSpPr>
          <p:nvPr/>
        </p:nvSpPr>
        <p:spPr>
          <a:xfrm xmlns:a="http://schemas.openxmlformats.org/drawingml/2006/main">
            <a:off x="916228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500" b="1" i="0">
                <a:solidFill>
                  <a:srgbClr val="0F233D"/>
                </a:solidFill>
                <a:latin typeface="Arial"/>
                <a:ea typeface="Arial"/>
                <a:cs typeface="Arial"/>
              </a:rPr>
              <a:t>Possible cellular strain</a:t>
            </a:r>
          </a:p>
        </p:txBody>
      </p:sp>
      <p:sp>
        <p:nvSpPr>
          <p:cNvPr id="18" name="TextBox 17">
            <a:extLst xmlns:a="http://schemas.openxmlformats.org/drawingml/2006/main">
              <a:ext uri="{FF2B5EF4-FFF2-40B4-BE49-F238E27FC236}">
                <a16:creationId xmlns:a16="http://schemas.microsoft.com/office/drawing/2014/main" id="{B5EE971D-CCA3-40AB-B239-DC9FA51E5711}"/>
              </a:ext>
            </a:extLst>
          </p:cNvPr>
          <p:cNvSpPr>
            <a:spLocks xmlns:a="http://schemas.openxmlformats.org/drawingml/2006/main" noGrp="1"/>
          </p:cNvSpPr>
          <p:nvPr/>
        </p:nvSpPr>
        <p:spPr>
          <a:xfrm xmlns:a="http://schemas.openxmlformats.org/drawingml/2006/main">
            <a:off x="854049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xmlns:a="http://schemas.openxmlformats.org/drawingml/2006/main">
              <a:ext uri="{FF2B5EF4-FFF2-40B4-BE49-F238E27FC236}">
                <a16:creationId xmlns:a16="http://schemas.microsoft.com/office/drawing/2014/main" id="{A96C6193-504C-4278-BE8F-B54E3187356F}"/>
              </a:ext>
            </a:extLst>
          </p:cNvPr>
          <p:cNvSpPr>
            <a:spLocks xmlns:a="http://schemas.openxmlformats.org/drawingml/2006/main" noGrp="1"/>
          </p:cNvSpPr>
          <p:nvPr/>
        </p:nvSpPr>
        <p:spPr>
          <a:xfrm xmlns:a="http://schemas.openxmlformats.org/drawingml/2006/main">
            <a:off x="658368" y="4736592"/>
            <a:ext cx="10881360" cy="1042415"/>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44DB96F8-B5A0-4FA3-808C-4E1766C0D259}"/>
              </a:ext>
            </a:extLst>
          </p:cNvPr>
          <p:cNvSpPr>
            <a:spLocks xmlns:a="http://schemas.openxmlformats.org/drawingml/2006/main" noGrp="1"/>
          </p:cNvSpPr>
          <p:nvPr/>
        </p:nvSpPr>
        <p:spPr>
          <a:xfrm xmlns:a="http://schemas.openxmlformats.org/drawingml/2006/main">
            <a:off x="896112" y="4992624"/>
            <a:ext cx="219456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200" b="1" i="0">
                <a:solidFill>
                  <a:srgbClr val="9E3A00"/>
                </a:solidFill>
                <a:latin typeface="Arial"/>
                <a:ea typeface="Arial"/>
                <a:cs typeface="Arial"/>
              </a:rPr>
              <a:t>Most cautious interpretation</a:t>
            </a:r>
          </a:p>
        </p:txBody>
      </p:sp>
      <p:sp>
        <p:nvSpPr>
          <p:cNvPr id="21" name="TextBox 20">
            <a:extLst xmlns:a="http://schemas.openxmlformats.org/drawingml/2006/main">
              <a:ext uri="{FF2B5EF4-FFF2-40B4-BE49-F238E27FC236}">
                <a16:creationId xmlns:a16="http://schemas.microsoft.com/office/drawing/2014/main" id="{C4612D2D-EB94-410E-98BE-66523814461D}"/>
              </a:ext>
            </a:extLst>
          </p:cNvPr>
          <p:cNvSpPr>
            <a:spLocks xmlns:a="http://schemas.openxmlformats.org/drawingml/2006/main" noGrp="1"/>
          </p:cNvSpPr>
          <p:nvPr/>
        </p:nvSpPr>
        <p:spPr>
          <a:xfrm xmlns:a="http://schemas.openxmlformats.org/drawingml/2006/main">
            <a:off x="3246120" y="4882896"/>
            <a:ext cx="7836408"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A1E831F-9C83-460B-A9F6-F57B4FD91C2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xmlns:a="http://schemas.openxmlformats.org/drawingml/2006/main">
              <a:ext uri="{FF2B5EF4-FFF2-40B4-BE49-F238E27FC236}">
                <a16:creationId xmlns:a16="http://schemas.microsoft.com/office/drawing/2014/main" id="{FFC3B33B-FA26-4DB3-90A1-C59CD3B5D429}"/>
              </a:ext>
            </a:extLst>
          </p:cNvPr>
          <p:cNvSpPr>
            <a:spLocks xmlns:a="http://schemas.openxmlformats.org/drawingml/2006/main" noGrp="1"/>
          </p:cNvSpPr>
          <p:nvPr/>
        </p:nvSpPr>
        <p:spPr>
          <a:xfrm xmlns:a="http://schemas.openxmlformats.org/drawingml/2006/main">
            <a:off x="548640" y="892264"/>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xmlns:a="http://schemas.openxmlformats.org/drawingml/2006/main">
              <a:ext uri="{FF2B5EF4-FFF2-40B4-BE49-F238E27FC236}">
                <a16:creationId xmlns:a16="http://schemas.microsoft.com/office/drawing/2014/main" id="{F9060371-20DB-4C6A-8FCA-CF7D5B51DB8B}"/>
              </a:ext>
            </a:extLst>
          </p:cNvPr>
          <p:cNvSpPr>
            <a:spLocks xmlns:a="http://schemas.openxmlformats.org/drawingml/2006/main" noGrp="1"/>
          </p:cNvSpPr>
          <p:nvPr/>
        </p:nvSpPr>
        <p:spPr>
          <a:xfrm xmlns:a="http://schemas.openxmlformats.org/drawingml/2006/main">
            <a:off x="658368" y="1353312"/>
            <a:ext cx="3456432" cy="4169663"/>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39C4ABF-05B2-4485-B2CB-5AC16080D05A}"/>
              </a:ext>
            </a:extLst>
          </p:cNvPr>
          <p:cNvSpPr>
            <a:spLocks xmlns:a="http://schemas.openxmlformats.org/drawingml/2006/main" noGrp="1"/>
          </p:cNvSpPr>
          <p:nvPr/>
        </p:nvSpPr>
        <p:spPr>
          <a:xfrm xmlns:a="http://schemas.openxmlformats.org/drawingml/2006/main">
            <a:off x="93268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072B2"/>
                </a:solidFill>
                <a:latin typeface="Arial"/>
                <a:ea typeface="Arial"/>
                <a:cs typeface="Arial"/>
              </a:rPr>
              <a:t>Two-genome OXPHOS biology</a:t>
            </a:r>
          </a:p>
        </p:txBody>
      </p:sp>
      <p:sp>
        <p:nvSpPr>
          <p:cNvPr id="6" name="TextBox 5">
            <a:extLst xmlns:a="http://schemas.openxmlformats.org/drawingml/2006/main">
              <a:ext uri="{FF2B5EF4-FFF2-40B4-BE49-F238E27FC236}">
                <a16:creationId xmlns:a16="http://schemas.microsoft.com/office/drawing/2014/main" id="{E4E8C0BF-18CE-4AFE-A685-EE6B952528DC}"/>
              </a:ext>
            </a:extLst>
          </p:cNvPr>
          <p:cNvSpPr>
            <a:spLocks xmlns:a="http://schemas.openxmlformats.org/drawingml/2006/main" noGrp="1"/>
          </p:cNvSpPr>
          <p:nvPr/>
        </p:nvSpPr>
        <p:spPr>
          <a:xfrm xmlns:a="http://schemas.openxmlformats.org/drawingml/2006/main">
            <a:off x="93268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Two-genome assembly</a:t>
            </a:r>
          </a:p>
        </p:txBody>
      </p:sp>
      <p:sp>
        <p:nvSpPr>
          <p:cNvPr id="7" name="TextBox 6">
            <a:extLst xmlns:a="http://schemas.openxmlformats.org/drawingml/2006/main">
              <a:ext uri="{FF2B5EF4-FFF2-40B4-BE49-F238E27FC236}">
                <a16:creationId xmlns:a16="http://schemas.microsoft.com/office/drawing/2014/main" id="{AFF2BC40-434D-4FBA-A545-2D12E535E323}"/>
              </a:ext>
            </a:extLst>
          </p:cNvPr>
          <p:cNvSpPr>
            <a:spLocks xmlns:a="http://schemas.openxmlformats.org/drawingml/2006/main" noGrp="1"/>
          </p:cNvSpPr>
          <p:nvPr/>
        </p:nvSpPr>
        <p:spPr>
          <a:xfrm xmlns:a="http://schemas.openxmlformats.org/drawingml/2006/main">
            <a:off x="95097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3449C21F-77B6-4B10-A6D6-BCE8CD5DBF86}"/>
              </a:ext>
            </a:extLst>
          </p:cNvPr>
          <p:cNvSpPr>
            <a:spLocks xmlns:a="http://schemas.openxmlformats.org/drawingml/2006/main" noGrp="1"/>
          </p:cNvSpPr>
          <p:nvPr/>
        </p:nvSpPr>
        <p:spPr>
          <a:xfrm xmlns:a="http://schemas.openxmlformats.org/drawingml/2006/main">
            <a:off x="95097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xmlns:a="http://schemas.openxmlformats.org/drawingml/2006/main">
              <a:ext uri="{FF2B5EF4-FFF2-40B4-BE49-F238E27FC236}">
                <a16:creationId xmlns:a16="http://schemas.microsoft.com/office/drawing/2014/main" id="{4601FF6A-C67F-4716-A237-7D321428E363}"/>
              </a:ext>
            </a:extLst>
          </p:cNvPr>
          <p:cNvSpPr>
            <a:spLocks xmlns:a="http://schemas.openxmlformats.org/drawingml/2006/main" noGrp="1"/>
          </p:cNvSpPr>
          <p:nvPr/>
        </p:nvSpPr>
        <p:spPr>
          <a:xfrm xmlns:a="http://schemas.openxmlformats.org/drawingml/2006/main">
            <a:off x="95097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B86DC17D-EE6F-4D02-827E-650F8C66C97D}"/>
              </a:ext>
            </a:extLst>
          </p:cNvPr>
          <p:cNvSpPr>
            <a:spLocks xmlns:a="http://schemas.openxmlformats.org/drawingml/2006/main" noGrp="1"/>
          </p:cNvSpPr>
          <p:nvPr/>
        </p:nvSpPr>
        <p:spPr>
          <a:xfrm xmlns:a="http://schemas.openxmlformats.org/drawingml/2006/main">
            <a:off x="95097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70" b="0" i="0">
                <a:solidFill>
                  <a:srgbClr val="4E5A68"/>
                </a:solidFill>
                <a:latin typeface="Arial"/>
                <a:ea typeface="Arial"/>
                <a:cs typeface="Arial"/>
              </a:rPr>
              <a:t>Does not show protein imbalance in these samples.</a:t>
            </a:r>
          </a:p>
        </p:txBody>
      </p:sp>
      <p:sp>
        <p:nvSpPr>
          <p:cNvPr id="11" name="Rounded Rectangle 10">
            <a:extLst xmlns:a="http://schemas.openxmlformats.org/drawingml/2006/main">
              <a:ext uri="{FF2B5EF4-FFF2-40B4-BE49-F238E27FC236}">
                <a16:creationId xmlns:a16="http://schemas.microsoft.com/office/drawing/2014/main" id="{0B2A38F5-FB2D-4CF3-A9F0-F457BE571D03}"/>
              </a:ext>
            </a:extLst>
          </p:cNvPr>
          <p:cNvSpPr>
            <a:spLocks xmlns:a="http://schemas.openxmlformats.org/drawingml/2006/main" noGrp="1"/>
          </p:cNvSpPr>
          <p:nvPr/>
        </p:nvSpPr>
        <p:spPr>
          <a:xfrm xmlns:a="http://schemas.openxmlformats.org/drawingml/2006/main">
            <a:off x="4453128" y="1353312"/>
            <a:ext cx="3456432" cy="4169663"/>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C6BFD020-53F5-4564-97F4-8BD4130FC6FC}"/>
              </a:ext>
            </a:extLst>
          </p:cNvPr>
          <p:cNvSpPr>
            <a:spLocks xmlns:a="http://schemas.openxmlformats.org/drawingml/2006/main" noGrp="1"/>
          </p:cNvSpPr>
          <p:nvPr/>
        </p:nvSpPr>
        <p:spPr>
          <a:xfrm xmlns:a="http://schemas.openxmlformats.org/drawingml/2006/main">
            <a:off x="472744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6D0A466B-8AB2-45E9-84F1-FFCD242B7E59}"/>
              </a:ext>
            </a:extLst>
          </p:cNvPr>
          <p:cNvSpPr>
            <a:spLocks xmlns:a="http://schemas.openxmlformats.org/drawingml/2006/main" noGrp="1"/>
          </p:cNvSpPr>
          <p:nvPr/>
        </p:nvSpPr>
        <p:spPr>
          <a:xfrm xmlns:a="http://schemas.openxmlformats.org/drawingml/2006/main">
            <a:off x="472744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Sex-aware AD networks</a:t>
            </a:r>
          </a:p>
        </p:txBody>
      </p:sp>
      <p:sp>
        <p:nvSpPr>
          <p:cNvPr id="14" name="TextBox 13">
            <a:extLst xmlns:a="http://schemas.openxmlformats.org/drawingml/2006/main">
              <a:ext uri="{FF2B5EF4-FFF2-40B4-BE49-F238E27FC236}">
                <a16:creationId xmlns:a16="http://schemas.microsoft.com/office/drawing/2014/main" id="{586FD83A-3ACD-4F9D-A2A5-4F124A27883A}"/>
              </a:ext>
            </a:extLst>
          </p:cNvPr>
          <p:cNvSpPr>
            <a:spLocks xmlns:a="http://schemas.openxmlformats.org/drawingml/2006/main" noGrp="1"/>
          </p:cNvSpPr>
          <p:nvPr/>
        </p:nvSpPr>
        <p:spPr>
          <a:xfrm xmlns:a="http://schemas.openxmlformats.org/drawingml/2006/main">
            <a:off x="474573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9EEDF50F-9447-4FD7-800B-EA90B0F6DB82}"/>
              </a:ext>
            </a:extLst>
          </p:cNvPr>
          <p:cNvSpPr>
            <a:spLocks xmlns:a="http://schemas.openxmlformats.org/drawingml/2006/main" noGrp="1"/>
          </p:cNvSpPr>
          <p:nvPr/>
        </p:nvSpPr>
        <p:spPr>
          <a:xfrm xmlns:a="http://schemas.openxmlformats.org/drawingml/2006/main">
            <a:off x="474573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00" b="0" i="0">
                <a:solidFill>
                  <a:srgbClr val="1F2730"/>
                </a:solidFill>
                <a:latin typeface="Arial"/>
                <a:ea typeface="Arial"/>
                <a:cs typeface="Arial"/>
              </a:rPr>
              <a:t>Supports analyzing Alzheimer’s biology separately by sex.</a:t>
            </a:r>
          </a:p>
        </p:txBody>
      </p:sp>
      <p:sp>
        <p:nvSpPr>
          <p:cNvPr id="16" name="TextBox 15">
            <a:extLst xmlns:a="http://schemas.openxmlformats.org/drawingml/2006/main">
              <a:ext uri="{FF2B5EF4-FFF2-40B4-BE49-F238E27FC236}">
                <a16:creationId xmlns:a16="http://schemas.microsoft.com/office/drawing/2014/main" id="{6384EE38-F467-440F-9FD8-2D72FFA42C82}"/>
              </a:ext>
            </a:extLst>
          </p:cNvPr>
          <p:cNvSpPr>
            <a:spLocks xmlns:a="http://schemas.openxmlformats.org/drawingml/2006/main" noGrp="1"/>
          </p:cNvSpPr>
          <p:nvPr/>
        </p:nvSpPr>
        <p:spPr>
          <a:xfrm xmlns:a="http://schemas.openxmlformats.org/drawingml/2006/main">
            <a:off x="474573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5A05C343-C7CE-4368-8C99-FBF7A2F6885F}"/>
              </a:ext>
            </a:extLst>
          </p:cNvPr>
          <p:cNvSpPr>
            <a:spLocks xmlns:a="http://schemas.openxmlformats.org/drawingml/2006/main" noGrp="1"/>
          </p:cNvSpPr>
          <p:nvPr/>
        </p:nvSpPr>
        <p:spPr>
          <a:xfrm xmlns:a="http://schemas.openxmlformats.org/drawingml/2006/main">
            <a:off x="474573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70" b="0" i="0">
                <a:solidFill>
                  <a:srgbClr val="4E5A68"/>
                </a:solidFill>
                <a:latin typeface="Arial"/>
                <a:ea typeface="Arial"/>
                <a:cs typeface="Arial"/>
              </a:rPr>
              <a:t>Does not test this exact male ε3/ε3 mismatch.</a:t>
            </a:r>
          </a:p>
        </p:txBody>
      </p:sp>
      <p:sp>
        <p:nvSpPr>
          <p:cNvPr id="18" name="Rounded Rectangle 17">
            <a:extLst xmlns:a="http://schemas.openxmlformats.org/drawingml/2006/main">
              <a:ext uri="{FF2B5EF4-FFF2-40B4-BE49-F238E27FC236}">
                <a16:creationId xmlns:a16="http://schemas.microsoft.com/office/drawing/2014/main" id="{18EF5C68-B1D9-439B-BE8C-543E06DF563B}"/>
              </a:ext>
            </a:extLst>
          </p:cNvPr>
          <p:cNvSpPr>
            <a:spLocks xmlns:a="http://schemas.openxmlformats.org/drawingml/2006/main" noGrp="1"/>
          </p:cNvSpPr>
          <p:nvPr/>
        </p:nvSpPr>
        <p:spPr>
          <a:xfrm xmlns:a="http://schemas.openxmlformats.org/drawingml/2006/main">
            <a:off x="8247888" y="1353312"/>
            <a:ext cx="3456432" cy="4169663"/>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6B41355-BED5-4D8F-9063-8D53F6E2A4AB}"/>
              </a:ext>
            </a:extLst>
          </p:cNvPr>
          <p:cNvSpPr>
            <a:spLocks xmlns:a="http://schemas.openxmlformats.org/drawingml/2006/main" noGrp="1"/>
          </p:cNvSpPr>
          <p:nvPr/>
        </p:nvSpPr>
        <p:spPr>
          <a:xfrm xmlns:a="http://schemas.openxmlformats.org/drawingml/2006/main">
            <a:off x="852220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C801EF30-8F56-4FC1-9D6C-63768761F467}"/>
              </a:ext>
            </a:extLst>
          </p:cNvPr>
          <p:cNvSpPr>
            <a:spLocks xmlns:a="http://schemas.openxmlformats.org/drawingml/2006/main" noGrp="1"/>
          </p:cNvSpPr>
          <p:nvPr/>
        </p:nvSpPr>
        <p:spPr>
          <a:xfrm xmlns:a="http://schemas.openxmlformats.org/drawingml/2006/main">
            <a:off x="852220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Cell-resolved AD responses</a:t>
            </a:r>
          </a:p>
        </p:txBody>
      </p:sp>
      <p:sp>
        <p:nvSpPr>
          <p:cNvPr id="21" name="TextBox 20">
            <a:extLst xmlns:a="http://schemas.openxmlformats.org/drawingml/2006/main">
              <a:ext uri="{FF2B5EF4-FFF2-40B4-BE49-F238E27FC236}">
                <a16:creationId xmlns:a16="http://schemas.microsoft.com/office/drawing/2014/main" id="{E072959F-CF85-425C-9FCB-B3BFE0AF227D}"/>
              </a:ext>
            </a:extLst>
          </p:cNvPr>
          <p:cNvSpPr>
            <a:spLocks xmlns:a="http://schemas.openxmlformats.org/drawingml/2006/main" noGrp="1"/>
          </p:cNvSpPr>
          <p:nvPr/>
        </p:nvSpPr>
        <p:spPr>
          <a:xfrm xmlns:a="http://schemas.openxmlformats.org/drawingml/2006/main">
            <a:off x="854049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7F8B516A-AB2C-4A36-8602-CE0E5358BFDC}"/>
              </a:ext>
            </a:extLst>
          </p:cNvPr>
          <p:cNvSpPr>
            <a:spLocks xmlns:a="http://schemas.openxmlformats.org/drawingml/2006/main" noGrp="1"/>
          </p:cNvSpPr>
          <p:nvPr/>
        </p:nvSpPr>
        <p:spPr>
          <a:xfrm xmlns:a="http://schemas.openxmlformats.org/drawingml/2006/main">
            <a:off x="854049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00" b="0" i="0">
                <a:solidFill>
                  <a:srgbClr val="1F2730"/>
                </a:solidFill>
                <a:latin typeface="Arial"/>
                <a:ea typeface="Arial"/>
                <a:cs typeface="Arial"/>
              </a:rPr>
              <a:t>Supports strong differences among brain cell populations.</a:t>
            </a:r>
          </a:p>
        </p:txBody>
      </p:sp>
      <p:sp>
        <p:nvSpPr>
          <p:cNvPr id="23" name="TextBox 22">
            <a:extLst xmlns:a="http://schemas.openxmlformats.org/drawingml/2006/main">
              <a:ext uri="{FF2B5EF4-FFF2-40B4-BE49-F238E27FC236}">
                <a16:creationId xmlns:a16="http://schemas.microsoft.com/office/drawing/2014/main" id="{A6ECEF22-FABE-410D-8784-E7F2998E20A6}"/>
              </a:ext>
            </a:extLst>
          </p:cNvPr>
          <p:cNvSpPr>
            <a:spLocks xmlns:a="http://schemas.openxmlformats.org/drawingml/2006/main" noGrp="1"/>
          </p:cNvSpPr>
          <p:nvPr/>
        </p:nvSpPr>
        <p:spPr>
          <a:xfrm xmlns:a="http://schemas.openxmlformats.org/drawingml/2006/main">
            <a:off x="854049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21FD359D-C558-432B-914A-593D1E0168A9}"/>
              </a:ext>
            </a:extLst>
          </p:cNvPr>
          <p:cNvSpPr>
            <a:spLocks xmlns:a="http://schemas.openxmlformats.org/drawingml/2006/main" noGrp="1"/>
          </p:cNvSpPr>
          <p:nvPr/>
        </p:nvSpPr>
        <p:spPr>
          <a:xfrm xmlns:a="http://schemas.openxmlformats.org/drawingml/2006/main">
            <a:off x="854049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70" b="0" i="0">
                <a:solidFill>
                  <a:srgbClr val="4E5A68"/>
                </a:solidFill>
                <a:latin typeface="Arial"/>
                <a:ea typeface="Arial"/>
                <a:cs typeface="Arial"/>
              </a:rPr>
              <a:t>Uses ROSMAP, so it is not independent replication.</a:t>
            </a:r>
          </a:p>
        </p:txBody>
      </p:sp>
      <p:sp>
        <p:nvSpPr>
          <p:cNvPr id="25" name="Rounded Rectangle 24">
            <a:extLst xmlns:a="http://schemas.openxmlformats.org/drawingml/2006/main">
              <a:ext uri="{FF2B5EF4-FFF2-40B4-BE49-F238E27FC236}">
                <a16:creationId xmlns:a16="http://schemas.microsoft.com/office/drawing/2014/main" id="{B37725D5-7D86-4A21-A63D-7705A5353CB5}"/>
              </a:ext>
            </a:extLst>
          </p:cNvPr>
          <p:cNvSpPr>
            <a:spLocks xmlns:a="http://schemas.openxmlformats.org/drawingml/2006/main" noGrp="1"/>
          </p:cNvSpPr>
          <p:nvPr/>
        </p:nvSpPr>
        <p:spPr>
          <a:xfrm xmlns:a="http://schemas.openxmlformats.org/drawingml/2006/main">
            <a:off x="658368" y="5742432"/>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159CF6FA-4A58-409C-9C1D-D761CE118228}"/>
              </a:ext>
            </a:extLst>
          </p:cNvPr>
          <p:cNvSpPr>
            <a:spLocks xmlns:a="http://schemas.openxmlformats.org/drawingml/2006/main" noGrp="1"/>
          </p:cNvSpPr>
          <p:nvPr/>
        </p:nvSpPr>
        <p:spPr>
          <a:xfrm xmlns:a="http://schemas.openxmlformats.org/drawingml/2006/main">
            <a:off x="896112" y="5852160"/>
            <a:ext cx="10405872" cy="2154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7E4C9A"/>
                </a:solidFill>
                <a:latin typeface="Arial"/>
                <a:ea typeface="Arial"/>
                <a:cs typeface="Arial"/>
              </a:rPr>
              <a:t>Novelty: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sld>
</file>

<file path=ppt/slides/slide27.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4ECE486-CA54-4977-8625-3EA1DCB44296}"/>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E69F00"/>
                </a:solidFill>
                <a:latin typeface="Arial"/>
                <a:ea typeface="Arial"/>
                <a:cs typeface="Arial"/>
              </a:rPr>
              <a:t>FINDING 3</a:t>
            </a:r>
          </a:p>
        </p:txBody>
      </p:sp>
      <p:sp>
        <p:nvSpPr>
          <p:cNvPr id="3" name="Rectangle 2">
            <a:extLst xmlns:a="http://schemas.openxmlformats.org/drawingml/2006/main">
              <a:ext uri="{FF2B5EF4-FFF2-40B4-BE49-F238E27FC236}">
                <a16:creationId xmlns:a16="http://schemas.microsoft.com/office/drawing/2014/main" id="{138471B2-2173-4244-8D10-17BE35E5E136}"/>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4645D77-F763-49F2-A727-2F3A58991A9F}"/>
              </a:ext>
            </a:extLst>
          </p:cNvPr>
          <p:cNvSpPr>
            <a:spLocks xmlns:a="http://schemas.openxmlformats.org/drawingml/2006/main" noGrp="1"/>
          </p:cNvSpPr>
          <p:nvPr/>
        </p:nvSpPr>
        <p:spPr>
          <a:xfrm xmlns:a="http://schemas.openxmlformats.org/drawingml/2006/main">
            <a:off x="1078992" y="1357390"/>
            <a:ext cx="7498079" cy="7325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FFFFFF"/>
                </a:solidFill>
                <a:latin typeface="Arial"/>
                <a:ea typeface="Arial"/>
                <a:cs typeface="Arial"/>
              </a:rPr>
              <a:t>Both core MT and nuclear-encoded OXPHOS genes were upregulated in Female APOE ε2</a:t>
            </a:r>
          </a:p>
        </p:txBody>
      </p:sp>
      <p:sp>
        <p:nvSpPr>
          <p:cNvPr id="6" name="Rounded Rectangle 5">
            <a:extLst xmlns:a="http://schemas.openxmlformats.org/drawingml/2006/main">
              <a:ext uri="{FF2B5EF4-FFF2-40B4-BE49-F238E27FC236}">
                <a16:creationId xmlns:a16="http://schemas.microsoft.com/office/drawing/2014/main" id="{5E40BCAB-0F47-47AB-A9D0-246DD9EA3AFF}"/>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47EE485-852A-4E1F-B149-698806EE7684}"/>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2AB918F-F4EF-4C88-85CD-B16EDBBD6506}"/>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8A4456E-170C-4FFB-AC21-DF2280DD295B}"/>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278BE8F-D6C8-4B5E-9FBA-1D3C52140AE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CD5FFA43-332B-40D2-8B89-D38EFFCAB4BB}"/>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2771F0-C602-4C21-9B3E-92F904F7EF39}"/>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F40AA60-FA3E-4F24-9E55-D64A18F27189}"/>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000DDA4A-5D72-41DD-B527-A35D174524D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DD67D77-8008-4EB2-AAAF-977A95B417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E19B0672-1812-442D-B01C-B11154BC8AB0}"/>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C0BE10BC-91E1-4F79-9CC6-930A4D220218}"/>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CFD26F0-03BF-4B2A-B699-0CC95CEC035F}"/>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AFF45227-BD7A-4773-91B1-26BD077F7D7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TextBox 4">
            <a:extLst xmlns:a="http://schemas.openxmlformats.org/drawingml/2006/main">
              <a:ext uri="{FF2B5EF4-FFF2-40B4-BE49-F238E27FC236}">
                <a16:creationId xmlns:a16="http://schemas.microsoft.com/office/drawing/2014/main" id="{9699EF05-4280-4719-BB95-E583D6653721}"/>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E6A700"/>
                </a:solidFill>
                <a:latin typeface="Arial"/>
                <a:ea typeface="Arial"/>
                <a:cs typeface="Arial"/>
              </a:defRPr>
            </a:pPr>
            <a:r>
              <a:rPr sz="1350" b="1">
                <a:solidFill>
                  <a:srgbClr val="E6A700"/>
                </a:solidFill>
                <a:latin typeface="Arial"/>
                <a:ea typeface="Arial"/>
                <a:cs typeface="Arial"/>
              </a:rPr>
              <a:t>Observed in: female ε2</a:t>
            </a:r>
          </a:p>
        </p:txBody>
      </p:sp>
    </p:spTree>
    <p:extLst>
      <p:ext uri="{BB962C8B-B14F-4D97-AF65-F5344CB8AC3E}">
        <p14:creationId xmlns:p14="http://schemas.microsoft.com/office/powerpoint/2010/main" val="1417142778"/>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08ADFB2-0905-45C5-8F69-3585DC82971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xmlns:a="http://schemas.openxmlformats.org/drawingml/2006/main">
              <a:ext uri="{FF2B5EF4-FFF2-40B4-BE49-F238E27FC236}">
                <a16:creationId xmlns:a16="http://schemas.microsoft.com/office/drawing/2014/main" id="{45FEE0B3-D031-42B6-AA03-FB4DA928DE3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xmlns:a="http://schemas.openxmlformats.org/drawingml/2006/main">
              <a:ext uri="{FF2B5EF4-FFF2-40B4-BE49-F238E27FC236}">
                <a16:creationId xmlns:a16="http://schemas.microsoft.com/office/drawing/2014/main" id="{615CD607-31E8-4B00-8C02-834BBE7C7BD2}"/>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6C90F5E-0846-4909-9774-8333DBC3088B}"/>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4D522616-4114-4BA1-B5FD-1BF342F326A4}"/>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FB5F3E0-35DB-4F5C-8DA6-E665DF603B1F}"/>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684D"/>
                </a:solidFill>
                <a:latin typeface="Arial"/>
                <a:ea typeface="Arial"/>
                <a:cs typeface="Arial"/>
              </a:rPr>
              <a:t>APOE ε2</a:t>
            </a:r>
          </a:p>
        </p:txBody>
      </p:sp>
      <p:sp>
        <p:nvSpPr>
          <p:cNvPr id="8" name="Rounded Rectangle 7">
            <a:extLst xmlns:a="http://schemas.openxmlformats.org/drawingml/2006/main">
              <a:ext uri="{FF2B5EF4-FFF2-40B4-BE49-F238E27FC236}">
                <a16:creationId xmlns:a16="http://schemas.microsoft.com/office/drawing/2014/main" id="{81AAE375-C85C-434E-9749-A1D973322FD8}"/>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0BAB63-6C86-40F0-A5CF-58DB3379316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895600"/>
                </a:solidFill>
                <a:latin typeface="Arial"/>
                <a:ea typeface="Arial"/>
                <a:cs typeface="Arial"/>
              </a:rPr>
              <a:t>Fine cell types</a:t>
            </a:r>
          </a:p>
        </p:txBody>
      </p:sp>
      <p:sp>
        <p:nvSpPr>
          <p:cNvPr id="10" name="Rounded Rectangle 9">
            <a:extLst xmlns:a="http://schemas.openxmlformats.org/drawingml/2006/main">
              <a:ext uri="{FF2B5EF4-FFF2-40B4-BE49-F238E27FC236}">
                <a16:creationId xmlns:a16="http://schemas.microsoft.com/office/drawing/2014/main" id="{640BB072-0DE5-4A4B-8633-40676AC2DD3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9BD09F1-B0CE-49CA-8812-B979165F134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9E3A00"/>
                </a:solidFill>
                <a:latin typeface="Arial"/>
                <a:ea typeface="Arial"/>
                <a:cs typeface="Arial"/>
              </a:rPr>
              <a:t>AD versus no cognitive impairment</a:t>
            </a:r>
          </a:p>
        </p:txBody>
      </p:sp>
      <p:sp>
        <p:nvSpPr>
          <p:cNvPr id="12" name="Rounded Rectangle 11">
            <a:extLst xmlns:a="http://schemas.openxmlformats.org/drawingml/2006/main">
              <a:ext uri="{FF2B5EF4-FFF2-40B4-BE49-F238E27FC236}">
                <a16:creationId xmlns:a16="http://schemas.microsoft.com/office/drawing/2014/main" id="{CCFF4350-6F05-4276-B473-B297DCE1FAF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E6151C1-09D4-4C23-A48E-921FE70A771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CORE MT GENES</a:t>
            </a:r>
          </a:p>
        </p:txBody>
      </p:sp>
      <p:sp>
        <p:nvSpPr>
          <p:cNvPr id="14" name="TextBox 13">
            <a:extLst xmlns:a="http://schemas.openxmlformats.org/drawingml/2006/main">
              <a:ext uri="{FF2B5EF4-FFF2-40B4-BE49-F238E27FC236}">
                <a16:creationId xmlns:a16="http://schemas.microsoft.com/office/drawing/2014/main" id="{35B4C088-C07B-495E-8DE3-46A33B87E624}"/>
              </a:ext>
            </a:extLst>
          </p:cNvPr>
          <p:cNvSpPr>
            <a:spLocks xmlns:a="http://schemas.openxmlformats.org/drawingml/2006/main" noGrp="1"/>
          </p:cNvSpPr>
          <p:nvPr/>
        </p:nvSpPr>
        <p:spPr>
          <a:xfrm xmlns:a="http://schemas.openxmlformats.org/drawingml/2006/main">
            <a:off x="932688" y="2930717"/>
            <a:ext cx="2907792" cy="30162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127 of 128 </a:t>
            </a:r>
            <a:r>
              <a:rPr sz="1600" b="1" i="0">
                <a:solidFill>
                  <a:srgbClr val="0F233D"/>
                </a:solidFill>
                <a:latin typeface="Arial"/>
                <a:ea typeface="Arial"/>
                <a:cs typeface="Arial"/>
              </a:rPr>
              <a:t>occurrences </a:t>
            </a:r>
            <a:r>
              <a:rPr sz="1600" b="1" i="0">
                <a:solidFill>
                  <a:srgbClr val="0F233D"/>
                </a:solidFill>
                <a:latin typeface="Arial"/>
                <a:ea typeface="Arial"/>
                <a:cs typeface="Arial"/>
              </a:rPr>
              <a:t>up</a:t>
            </a:r>
          </a:p>
        </p:txBody>
      </p:sp>
      <p:sp>
        <p:nvSpPr>
          <p:cNvPr id="15" name="TextBox 14">
            <a:extLst xmlns:a="http://schemas.openxmlformats.org/drawingml/2006/main">
              <a:ext uri="{FF2B5EF4-FFF2-40B4-BE49-F238E27FC236}">
                <a16:creationId xmlns:a16="http://schemas.microsoft.com/office/drawing/2014/main" id="{C6F28943-3E6E-4BBB-950C-78E3CFE22210}"/>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xmlns:a="http://schemas.openxmlformats.org/drawingml/2006/main">
              <a:ext uri="{FF2B5EF4-FFF2-40B4-BE49-F238E27FC236}">
                <a16:creationId xmlns:a16="http://schemas.microsoft.com/office/drawing/2014/main" id="{B3F8FAB2-AB08-4807-999C-9A29E0EAD926}"/>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5E57DE2-C8A5-4024-AFEF-21B7B1D37A96}"/>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684D"/>
                </a:solidFill>
                <a:latin typeface="Arial"/>
                <a:ea typeface="Arial"/>
                <a:cs typeface="Arial"/>
              </a:rPr>
              <a:t>NUCLEAR-ENCODED OXPHOS</a:t>
            </a:r>
          </a:p>
        </p:txBody>
      </p:sp>
      <p:sp>
        <p:nvSpPr>
          <p:cNvPr id="18" name="TextBox 17">
            <a:extLst xmlns:a="http://schemas.openxmlformats.org/drawingml/2006/main">
              <a:ext uri="{FF2B5EF4-FFF2-40B4-BE49-F238E27FC236}">
                <a16:creationId xmlns:a16="http://schemas.microsoft.com/office/drawing/2014/main" id="{8647837D-D3D4-4731-A23D-F871D75BEB80}"/>
              </a:ext>
            </a:extLst>
          </p:cNvPr>
          <p:cNvSpPr>
            <a:spLocks xmlns:a="http://schemas.openxmlformats.org/drawingml/2006/main" noGrp="1"/>
          </p:cNvSpPr>
          <p:nvPr/>
        </p:nvSpPr>
        <p:spPr>
          <a:xfrm xmlns:a="http://schemas.openxmlformats.org/drawingml/2006/main">
            <a:off x="4727448" y="2930717"/>
            <a:ext cx="2907792" cy="30162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239 of 243 </a:t>
            </a:r>
            <a:r>
              <a:rPr sz="1600" b="1" i="0">
                <a:solidFill>
                  <a:srgbClr val="0F233D"/>
                </a:solidFill>
                <a:latin typeface="Arial"/>
                <a:ea typeface="Arial"/>
                <a:cs typeface="Arial"/>
              </a:rPr>
              <a:t>occurrences </a:t>
            </a:r>
            <a:r>
              <a:rPr sz="1600" b="1" i="0">
                <a:solidFill>
                  <a:srgbClr val="0F233D"/>
                </a:solidFill>
                <a:latin typeface="Arial"/>
                <a:ea typeface="Arial"/>
                <a:cs typeface="Arial"/>
              </a:rPr>
              <a:t>up</a:t>
            </a:r>
          </a:p>
        </p:txBody>
      </p:sp>
      <p:sp>
        <p:nvSpPr>
          <p:cNvPr id="19" name="TextBox 18">
            <a:extLst xmlns:a="http://schemas.openxmlformats.org/drawingml/2006/main">
              <a:ext uri="{FF2B5EF4-FFF2-40B4-BE49-F238E27FC236}">
                <a16:creationId xmlns:a16="http://schemas.microsoft.com/office/drawing/2014/main" id="{81D08820-2DCE-4653-B509-0A6618C668A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xmlns:a="http://schemas.openxmlformats.org/drawingml/2006/main">
              <a:ext uri="{FF2B5EF4-FFF2-40B4-BE49-F238E27FC236}">
                <a16:creationId xmlns:a16="http://schemas.microsoft.com/office/drawing/2014/main" id="{C10ADB4A-6CEB-4F5C-A064-A60E535BCA5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382F0BF-8B66-4367-B4E4-02AF2B343585}"/>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READING</a:t>
            </a:r>
          </a:p>
        </p:txBody>
      </p:sp>
      <p:sp>
        <p:nvSpPr>
          <p:cNvPr id="22" name="TextBox 21">
            <a:extLst xmlns:a="http://schemas.openxmlformats.org/drawingml/2006/main">
              <a:ext uri="{FF2B5EF4-FFF2-40B4-BE49-F238E27FC236}">
                <a16:creationId xmlns:a16="http://schemas.microsoft.com/office/drawing/2014/main" id="{86755171-8733-4E22-8C19-C708562A8E36}"/>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Coordinated gene expression</a:t>
            </a:r>
          </a:p>
        </p:txBody>
      </p:sp>
      <p:sp>
        <p:nvSpPr>
          <p:cNvPr id="23" name="TextBox 22">
            <a:extLst xmlns:a="http://schemas.openxmlformats.org/drawingml/2006/main">
              <a:ext uri="{FF2B5EF4-FFF2-40B4-BE49-F238E27FC236}">
                <a16:creationId xmlns:a16="http://schemas.microsoft.com/office/drawing/2014/main" id="{56550C95-A42B-4A0A-AF6B-EDAF263C268F}"/>
              </a:ext>
            </a:extLst>
          </p:cNvPr>
          <p:cNvSpPr>
            <a:spLocks xmlns:a="http://schemas.openxmlformats.org/drawingml/2006/main" noGrp="1"/>
          </p:cNvSpPr>
          <p:nvPr/>
        </p:nvSpPr>
        <p:spPr>
          <a:xfrm xmlns:a="http://schemas.openxmlformats.org/drawingml/2006/main">
            <a:off x="8558784" y="4162100"/>
            <a:ext cx="2834640" cy="61863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Both gene sets are upregulated together. Protein assembly and ATP </a:t>
            </a:r>
            <a:r>
              <a:rPr sz="1220" b="0" i="0">
                <a:solidFill>
                  <a:srgbClr val="1F2730"/>
                </a:solidFill>
                <a:latin typeface="Arial"/>
                <a:ea typeface="Arial"/>
                <a:cs typeface="Arial"/>
              </a:rPr>
              <a:t>are not </a:t>
            </a:r>
            <a:r>
              <a:rPr sz="1220" b="0" i="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BC9E2C-A43A-428C-8D32-D565D0C09F7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xmlns:a="http://schemas.openxmlformats.org/drawingml/2006/main">
              <a:ext uri="{FF2B5EF4-FFF2-40B4-BE49-F238E27FC236}">
                <a16:creationId xmlns:a16="http://schemas.microsoft.com/office/drawing/2014/main" id="{690C6019-63E3-4A80-8A7C-577AC9655D7D}"/>
              </a:ext>
            </a:extLst>
          </p:cNvPr>
          <p:cNvSpPr>
            <a:spLocks xmlns:a="http://schemas.openxmlformats.org/drawingml/2006/main" noGrp="1"/>
          </p:cNvSpPr>
          <p:nvPr/>
        </p:nvSpPr>
        <p:spPr>
          <a:xfrm xmlns:a="http://schemas.openxmlformats.org/drawingml/2006/main">
            <a:off x="2691561"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3979D85-AEF6-4DC8-86D5-170C6E2B4A70}"/>
              </a:ext>
            </a:extLst>
          </p:cNvPr>
          <p:cNvSpPr>
            <a:spLocks xmlns:a="http://schemas.openxmlformats.org/drawingml/2006/main" noGrp="1"/>
          </p:cNvSpPr>
          <p:nvPr/>
        </p:nvSpPr>
        <p:spPr>
          <a:xfrm xmlns:a="http://schemas.openxmlformats.org/drawingml/2006/main">
            <a:off x="2856152"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128</a:t>
            </a:r>
          </a:p>
        </p:txBody>
      </p:sp>
      <p:sp>
        <p:nvSpPr>
          <p:cNvPr id="6" name="TextBox 5">
            <a:extLst xmlns:a="http://schemas.openxmlformats.org/drawingml/2006/main">
              <a:ext uri="{FF2B5EF4-FFF2-40B4-BE49-F238E27FC236}">
                <a16:creationId xmlns:a16="http://schemas.microsoft.com/office/drawing/2014/main" id="{25F5AA99-A99A-4836-BDEA-BD8AA79D623E}"/>
              </a:ext>
            </a:extLst>
          </p:cNvPr>
          <p:cNvSpPr>
            <a:spLocks xmlns:a="http://schemas.openxmlformats.org/drawingml/2006/main" noGrp="1"/>
          </p:cNvSpPr>
          <p:nvPr/>
        </p:nvSpPr>
        <p:spPr>
          <a:xfrm xmlns:a="http://schemas.openxmlformats.org/drawingml/2006/main">
            <a:off x="2856152"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0024E1DE-484B-49AC-A43A-45F8CE93BB80}"/>
              </a:ext>
            </a:extLst>
          </p:cNvPr>
          <p:cNvSpPr>
            <a:spLocks xmlns:a="http://schemas.openxmlformats.org/drawingml/2006/main" noGrp="1"/>
          </p:cNvSpPr>
          <p:nvPr/>
        </p:nvSpPr>
        <p:spPr>
          <a:xfrm xmlns:a="http://schemas.openxmlformats.org/drawingml/2006/main">
            <a:off x="2856152"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127 up, 1 down</a:t>
            </a:r>
          </a:p>
        </p:txBody>
      </p:sp>
      <p:sp>
        <p:nvSpPr>
          <p:cNvPr id="8" name="Rounded Rectangle 7">
            <a:extLst xmlns:a="http://schemas.openxmlformats.org/drawingml/2006/main">
              <a:ext uri="{FF2B5EF4-FFF2-40B4-BE49-F238E27FC236}">
                <a16:creationId xmlns:a16="http://schemas.microsoft.com/office/drawing/2014/main" id="{08BFA9F0-5974-463C-A027-995ECDD47DB3}"/>
              </a:ext>
            </a:extLst>
          </p:cNvPr>
          <p:cNvSpPr>
            <a:spLocks xmlns:a="http://schemas.openxmlformats.org/drawingml/2006/main" noGrp="1"/>
          </p:cNvSpPr>
          <p:nvPr/>
        </p:nvSpPr>
        <p:spPr>
          <a:xfrm xmlns:a="http://schemas.openxmlformats.org/drawingml/2006/main">
            <a:off x="6486321"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C42CBD5-2B07-46FC-87C5-DF4702DD9054}"/>
              </a:ext>
            </a:extLst>
          </p:cNvPr>
          <p:cNvSpPr>
            <a:spLocks xmlns:a="http://schemas.openxmlformats.org/drawingml/2006/main" noGrp="1"/>
          </p:cNvSpPr>
          <p:nvPr/>
        </p:nvSpPr>
        <p:spPr>
          <a:xfrm xmlns:a="http://schemas.openxmlformats.org/drawingml/2006/main">
            <a:off x="6650913"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243</a:t>
            </a:r>
          </a:p>
        </p:txBody>
      </p:sp>
      <p:sp>
        <p:nvSpPr>
          <p:cNvPr id="10" name="TextBox 9">
            <a:extLst xmlns:a="http://schemas.openxmlformats.org/drawingml/2006/main">
              <a:ext uri="{FF2B5EF4-FFF2-40B4-BE49-F238E27FC236}">
                <a16:creationId xmlns:a16="http://schemas.microsoft.com/office/drawing/2014/main" id="{F674C36B-A52D-4CF0-B90D-21A6784CFCB9}"/>
              </a:ext>
            </a:extLst>
          </p:cNvPr>
          <p:cNvSpPr>
            <a:spLocks xmlns:a="http://schemas.openxmlformats.org/drawingml/2006/main" noGrp="1"/>
          </p:cNvSpPr>
          <p:nvPr/>
        </p:nvSpPr>
        <p:spPr>
          <a:xfrm xmlns:a="http://schemas.openxmlformats.org/drawingml/2006/main">
            <a:off x="6650913"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6BBDB451-3509-4807-A5AC-128A5957B884}"/>
              </a:ext>
            </a:extLst>
          </p:cNvPr>
          <p:cNvSpPr>
            <a:spLocks xmlns:a="http://schemas.openxmlformats.org/drawingml/2006/main" noGrp="1"/>
          </p:cNvSpPr>
          <p:nvPr/>
        </p:nvSpPr>
        <p:spPr>
          <a:xfrm xmlns:a="http://schemas.openxmlformats.org/drawingml/2006/main">
            <a:off x="6650913"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239 up, 4 down</a:t>
            </a:r>
          </a:p>
        </p:txBody>
      </p:sp>
      <p:sp>
        <p:nvSpPr>
          <p:cNvPr id="16" name="Rounded Rectangle 15">
            <a:extLst xmlns:a="http://schemas.openxmlformats.org/drawingml/2006/main">
              <a:ext uri="{FF2B5EF4-FFF2-40B4-BE49-F238E27FC236}">
                <a16:creationId xmlns:a16="http://schemas.microsoft.com/office/drawing/2014/main" id="{082648EB-DE55-4599-9CE8-1ED13F13BBB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5D3823A-19DE-4472-860E-72CC4D79ACA7}"/>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B547348-8D7D-4F53-8F7B-7E679F66C989}"/>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684D"/>
                </a:solidFill>
                <a:latin typeface="Arial"/>
                <a:ea typeface="Arial"/>
                <a:cs typeface="Arial"/>
              </a:rPr>
              <a:t>99% up</a:t>
            </a:r>
          </a:p>
        </p:txBody>
      </p:sp>
      <p:sp>
        <p:nvSpPr>
          <p:cNvPr id="19" name="TextBox 18">
            <a:extLst xmlns:a="http://schemas.openxmlformats.org/drawingml/2006/main">
              <a:ext uri="{FF2B5EF4-FFF2-40B4-BE49-F238E27FC236}">
                <a16:creationId xmlns:a16="http://schemas.microsoft.com/office/drawing/2014/main" id="{6FF06687-1865-42AE-B585-878BF683F694}"/>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xmlns:a="http://schemas.openxmlformats.org/drawingml/2006/main">
              <a:ext uri="{FF2B5EF4-FFF2-40B4-BE49-F238E27FC236}">
                <a16:creationId xmlns:a16="http://schemas.microsoft.com/office/drawing/2014/main" id="{1DBC9E74-A637-4BB2-A479-E6D6BDAF3B58}"/>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A7F0D26-0619-47EA-A6A1-8C19ADC3A018}"/>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8C2B5561-5EC5-4B47-BB0A-B05F6D88826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684D"/>
                </a:solidFill>
                <a:latin typeface="Arial"/>
                <a:ea typeface="Arial"/>
                <a:cs typeface="Arial"/>
              </a:rPr>
              <a:t>98% up</a:t>
            </a:r>
          </a:p>
        </p:txBody>
      </p:sp>
      <p:sp>
        <p:nvSpPr>
          <p:cNvPr id="23" name="TextBox 22">
            <a:extLst xmlns:a="http://schemas.openxmlformats.org/drawingml/2006/main">
              <a:ext uri="{FF2B5EF4-FFF2-40B4-BE49-F238E27FC236}">
                <a16:creationId xmlns:a16="http://schemas.microsoft.com/office/drawing/2014/main" id="{597D4E02-CBE3-4430-9468-C95E08B5BC15}"/>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B1853A5-994E-46E2-BCD9-22CA9C32B780}"/>
              </a:ext>
            </a:extLst>
          </p:cNvPr>
          <p:cNvSpPr>
            <a:spLocks xmlns:a="http://schemas.openxmlformats.org/drawingml/2006/main" noGrp="1"/>
          </p:cNvSpPr>
          <p:nvPr/>
        </p:nvSpPr>
        <p:spPr>
          <a:xfrm xmlns:a="http://schemas.openxmlformats.org/drawingml/2006/main">
            <a:off x="530352" y="292608"/>
            <a:ext cx="11064240" cy="39395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Fine-cell </a:t>
            </a:r>
            <a:r>
              <a:rPr sz="2200" b="1" i="0">
                <a:solidFill>
                  <a:srgbClr val="0F233D"/>
                </a:solidFill>
                <a:latin typeface="Arial"/>
                <a:ea typeface="Arial"/>
                <a:cs typeface="Arial"/>
              </a:rPr>
              <a:t>and broad-cell </a:t>
            </a:r>
            <a:r>
              <a:rPr sz="2200" b="1" i="0">
                <a:solidFill>
                  <a:srgbClr val="0F233D"/>
                </a:solidFill>
                <a:latin typeface="Arial"/>
                <a:ea typeface="Arial"/>
                <a:cs typeface="Arial"/>
              </a:rPr>
              <a:t>evidence support</a:t>
            </a:r>
          </a:p>
        </p:txBody>
      </p:sp>
      <p:sp>
        <p:nvSpPr>
          <p:cNvPr id="4" name="Rounded Rectangle 3">
            <a:extLst xmlns:a="http://schemas.openxmlformats.org/drawingml/2006/main">
              <a:ext uri="{FF2B5EF4-FFF2-40B4-BE49-F238E27FC236}">
                <a16:creationId xmlns:a16="http://schemas.microsoft.com/office/drawing/2014/main" id="{3A6C7F85-F045-4386-B7A4-EA6B72A7075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B52520A-0047-4427-91B1-3EE62DE3F104}"/>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684D"/>
                </a:solidFill>
                <a:latin typeface="Arial"/>
                <a:ea typeface="Arial"/>
                <a:cs typeface="Arial"/>
              </a:rPr>
              <a:t>FINE-CELL ROSMAP</a:t>
            </a:r>
          </a:p>
        </p:txBody>
      </p:sp>
      <p:sp>
        <p:nvSpPr>
          <p:cNvPr id="6" name="TextBox 5">
            <a:extLst xmlns:a="http://schemas.openxmlformats.org/drawingml/2006/main">
              <a:ext uri="{FF2B5EF4-FFF2-40B4-BE49-F238E27FC236}">
                <a16:creationId xmlns:a16="http://schemas.microsoft.com/office/drawing/2014/main" id="{ABC276E4-FF64-4D51-AE53-9D60FB423C9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Excitatory localization</a:t>
            </a:r>
          </a:p>
        </p:txBody>
      </p:sp>
      <p:sp>
        <p:nvSpPr>
          <p:cNvPr id="7" name="TextBox 6">
            <a:extLst xmlns:a="http://schemas.openxmlformats.org/drawingml/2006/main">
              <a:ext uri="{FF2B5EF4-FFF2-40B4-BE49-F238E27FC236}">
                <a16:creationId xmlns:a16="http://schemas.microsoft.com/office/drawing/2014/main" id="{441224C6-C4A4-4EE8-8AAB-5BF6A3FE672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xmlns:a="http://schemas.openxmlformats.org/drawingml/2006/main">
              <a:ext uri="{FF2B5EF4-FFF2-40B4-BE49-F238E27FC236}">
                <a16:creationId xmlns:a16="http://schemas.microsoft.com/office/drawing/2014/main" id="{E191E617-D79A-4B13-B3AE-72E76F97CD0F}"/>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04144AD-9907-4814-B2E3-280F7CF3C2E8}"/>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DIRECT BROAD ROSMAP</a:t>
            </a:r>
          </a:p>
        </p:txBody>
      </p:sp>
      <p:sp>
        <p:nvSpPr>
          <p:cNvPr id="10" name="TextBox 9">
            <a:extLst xmlns:a="http://schemas.openxmlformats.org/drawingml/2006/main">
              <a:ext uri="{FF2B5EF4-FFF2-40B4-BE49-F238E27FC236}">
                <a16:creationId xmlns:a16="http://schemas.microsoft.com/office/drawing/2014/main" id="{856D1FAC-D9FA-4090-840C-9579AFAD082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Only the nuclear side persists</a:t>
            </a:r>
          </a:p>
        </p:txBody>
      </p:sp>
      <p:sp>
        <p:nvSpPr>
          <p:cNvPr id="11" name="TextBox 10">
            <a:extLst xmlns:a="http://schemas.openxmlformats.org/drawingml/2006/main">
              <a:ext uri="{FF2B5EF4-FFF2-40B4-BE49-F238E27FC236}">
                <a16:creationId xmlns:a16="http://schemas.microsoft.com/office/drawing/2014/main" id="{2CA38377-BFA0-4F99-B085-CDE6E588C02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xmlns:a="http://schemas.openxmlformats.org/drawingml/2006/main">
              <a:ext uri="{FF2B5EF4-FFF2-40B4-BE49-F238E27FC236}">
                <a16:creationId xmlns:a16="http://schemas.microsoft.com/office/drawing/2014/main" id="{5EEFC995-60E4-4876-8C6A-EADB6260D5B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625C7E5-16CD-4D93-B551-4008E19FAD33}"/>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8914A330-5E1F-4013-B018-561B8F4493B6}"/>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No matched DEG result</a:t>
            </a:r>
          </a:p>
        </p:txBody>
      </p:sp>
      <p:sp>
        <p:nvSpPr>
          <p:cNvPr id="15" name="TextBox 14">
            <a:extLst xmlns:a="http://schemas.openxmlformats.org/drawingml/2006/main">
              <a:ext uri="{FF2B5EF4-FFF2-40B4-BE49-F238E27FC236}">
                <a16:creationId xmlns:a16="http://schemas.microsoft.com/office/drawing/2014/main" id="{23A27A98-4197-4AFA-B5BB-F540A02FF31C}"/>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xmlns:a="http://schemas.openxmlformats.org/drawingml/2006/main">
              <a:ext uri="{FF2B5EF4-FFF2-40B4-BE49-F238E27FC236}">
                <a16:creationId xmlns:a16="http://schemas.microsoft.com/office/drawing/2014/main" id="{1A6898F8-61A4-4041-BEDA-98E3CB5D450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A85A977-FC6A-4379-959A-9714301A1434}"/>
              </a:ext>
            </a:extLst>
          </p:cNvPr>
          <p:cNvSpPr>
            <a:spLocks xmlns:a="http://schemas.openxmlformats.org/drawingml/2006/main" noGrp="1"/>
          </p:cNvSpPr>
          <p:nvPr/>
        </p:nvSpPr>
        <p:spPr>
          <a:xfrm xmlns:a="http://schemas.openxmlformats.org/drawingml/2006/main">
            <a:off x="896112" y="5888736"/>
            <a:ext cx="10405872" cy="2292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30" b="1" i="0">
                <a:solidFill>
                  <a:srgbClr val="7E4C9A"/>
                </a:solidFill>
                <a:latin typeface="Arial"/>
                <a:ea typeface="Arial"/>
                <a:cs typeface="Arial"/>
              </a:rPr>
              <a:t>The two-gene-set pattern </a:t>
            </a:r>
            <a:r>
              <a:rPr sz="1130" b="1" i="0">
                <a:solidFill>
                  <a:srgbClr val="7E4C9A"/>
                </a:solidFill>
                <a:latin typeface="Arial"/>
                <a:ea typeface="Arial"/>
                <a:cs typeface="Arial"/>
              </a:rPr>
              <a:t>is </a:t>
            </a:r>
            <a:r>
              <a:rPr sz="1130" b="1" i="0">
                <a:solidFill>
                  <a:srgbClr val="7E4C9A"/>
                </a:solidFill>
                <a:latin typeface="Arial"/>
                <a:ea typeface="Arial"/>
                <a:cs typeface="Arial"/>
              </a:rPr>
              <a:t>mainly </a:t>
            </a:r>
            <a:r>
              <a:rPr sz="1130" b="1" i="0">
                <a:solidFill>
                  <a:srgbClr val="7E4C9A"/>
                </a:solidFill>
                <a:latin typeface="Arial"/>
                <a:ea typeface="Arial"/>
                <a:cs typeface="Arial"/>
              </a:rPr>
              <a:t>supported by</a:t>
            </a:r>
            <a:r>
              <a:rPr sz="1130" b="1" i="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601813-29EF-4238-9DCE-E978BA98BEA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xmlns:a="http://schemas.openxmlformats.org/drawingml/2006/main">
              <a:ext uri="{FF2B5EF4-FFF2-40B4-BE49-F238E27FC236}">
                <a16:creationId xmlns:a16="http://schemas.microsoft.com/office/drawing/2014/main" id="{E9093F75-875C-4040-980C-59BF7BF94D9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xmlns:a="http://schemas.openxmlformats.org/drawingml/2006/main">
              <a:ext uri="{FF2B5EF4-FFF2-40B4-BE49-F238E27FC236}">
                <a16:creationId xmlns:a16="http://schemas.microsoft.com/office/drawing/2014/main" id="{F8F3EA24-6E25-44FD-8895-B1D141F1500C}"/>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0D8776F-F3E6-4C8A-ACC7-D490392899F6}"/>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BIOLOGICAL CONTRAST</a:t>
            </a:r>
          </a:p>
        </p:txBody>
      </p:sp>
      <p:sp>
        <p:nvSpPr>
          <p:cNvPr id="6" name="TextBox 5">
            <a:extLst xmlns:a="http://schemas.openxmlformats.org/drawingml/2006/main">
              <a:ext uri="{FF2B5EF4-FFF2-40B4-BE49-F238E27FC236}">
                <a16:creationId xmlns:a16="http://schemas.microsoft.com/office/drawing/2014/main" id="{A645CCA1-BA20-45BD-B5F1-31701CBF696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Different from the male ε3/ε3 mismatch</a:t>
            </a:r>
          </a:p>
        </p:txBody>
      </p:sp>
      <p:sp>
        <p:nvSpPr>
          <p:cNvPr id="7" name="TextBox 6">
            <a:extLst xmlns:a="http://schemas.openxmlformats.org/drawingml/2006/main">
              <a:ext uri="{FF2B5EF4-FFF2-40B4-BE49-F238E27FC236}">
                <a16:creationId xmlns:a16="http://schemas.microsoft.com/office/drawing/2014/main" id="{C5A86D1A-7A19-481B-944C-00BB512EEA55}"/>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xmlns:a="http://schemas.openxmlformats.org/drawingml/2006/main">
              <a:ext uri="{FF2B5EF4-FFF2-40B4-BE49-F238E27FC236}">
                <a16:creationId xmlns:a16="http://schemas.microsoft.com/office/drawing/2014/main" id="{9A4BCC61-9636-4A2B-A2CE-63EEE69E6E38}"/>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96F0F40-70A6-4848-A3C8-4C32BE1D34E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684D"/>
                </a:solidFill>
                <a:latin typeface="Arial"/>
                <a:ea typeface="Arial"/>
                <a:cs typeface="Arial"/>
              </a:rPr>
              <a:t>POSSIBLE MEANING</a:t>
            </a:r>
          </a:p>
        </p:txBody>
      </p:sp>
      <p:sp>
        <p:nvSpPr>
          <p:cNvPr id="10" name="TextBox 9">
            <a:extLst xmlns:a="http://schemas.openxmlformats.org/drawingml/2006/main">
              <a:ext uri="{FF2B5EF4-FFF2-40B4-BE49-F238E27FC236}">
                <a16:creationId xmlns:a16="http://schemas.microsoft.com/office/drawing/2014/main" id="{C8101B43-A67E-4665-B80D-079DAC2C323C}"/>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400" b="1" i="0">
                <a:solidFill>
                  <a:srgbClr val="0F233D"/>
                </a:solidFill>
                <a:latin typeface="Arial"/>
                <a:ea typeface="Arial"/>
                <a:cs typeface="Arial"/>
              </a:rPr>
              <a:t>Compensation or altered disease state</a:t>
            </a:r>
          </a:p>
        </p:txBody>
      </p:sp>
      <p:sp>
        <p:nvSpPr>
          <p:cNvPr id="11" name="TextBox 10">
            <a:extLst xmlns:a="http://schemas.openxmlformats.org/drawingml/2006/main">
              <a:ext uri="{FF2B5EF4-FFF2-40B4-BE49-F238E27FC236}">
                <a16:creationId xmlns:a16="http://schemas.microsoft.com/office/drawing/2014/main" id="{F13BEB7D-9922-4326-BA53-236575A05E4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xmlns:a="http://schemas.openxmlformats.org/drawingml/2006/main">
              <a:ext uri="{FF2B5EF4-FFF2-40B4-BE49-F238E27FC236}">
                <a16:creationId xmlns:a16="http://schemas.microsoft.com/office/drawing/2014/main" id="{BF7D3617-7BB7-40B0-AA73-01C21E72DE8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1DA468E-DF43-40D4-BB38-376AF1C7C9B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REQUIRED CAUTION</a:t>
            </a:r>
          </a:p>
        </p:txBody>
      </p:sp>
      <p:sp>
        <p:nvSpPr>
          <p:cNvPr id="14" name="TextBox 13">
            <a:extLst xmlns:a="http://schemas.openxmlformats.org/drawingml/2006/main">
              <a:ext uri="{FF2B5EF4-FFF2-40B4-BE49-F238E27FC236}">
                <a16:creationId xmlns:a16="http://schemas.microsoft.com/office/drawing/2014/main" id="{351080BB-A239-4C80-997C-2A88CDB161A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Protection is not established</a:t>
            </a:r>
          </a:p>
        </p:txBody>
      </p:sp>
      <p:sp>
        <p:nvSpPr>
          <p:cNvPr id="15" name="TextBox 14">
            <a:extLst xmlns:a="http://schemas.openxmlformats.org/drawingml/2006/main">
              <a:ext uri="{FF2B5EF4-FFF2-40B4-BE49-F238E27FC236}">
                <a16:creationId xmlns:a16="http://schemas.microsoft.com/office/drawing/2014/main" id="{FC9545C3-7A2A-4865-823B-BFE5DB57A6C8}"/>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xmlns:a="http://schemas.openxmlformats.org/drawingml/2006/main">
              <a:ext uri="{FF2B5EF4-FFF2-40B4-BE49-F238E27FC236}">
                <a16:creationId xmlns:a16="http://schemas.microsoft.com/office/drawing/2014/main" id="{72B95D4F-865C-4AA6-B047-94D15301D1AE}"/>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804DB52-7FA7-4AAB-8877-BE461C0F6E7A}"/>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CB5FEA1-0D6F-449C-AC3F-4A75E5EEEF19}"/>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85345D8-743B-4F92-856E-EAD323BC0C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3</a:t>
            </a:r>
          </a:p>
        </p:txBody>
      </p:sp>
      <p:sp>
        <p:nvSpPr>
          <p:cNvPr id="3" name="TextBox 2">
            <a:extLst xmlns:a="http://schemas.openxmlformats.org/drawingml/2006/main">
              <a:ext uri="{FF2B5EF4-FFF2-40B4-BE49-F238E27FC236}">
                <a16:creationId xmlns:a16="http://schemas.microsoft.com/office/drawing/2014/main" id="{8F063471-6559-4E80-8221-8E8E2AF2B40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38C23AC6-435A-4B38-9349-5942E7DAA4C2}"/>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1BCAEEB-4B50-4ABA-A8B0-141138736D74}"/>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E61D72E2-F3A7-448B-8E28-1B08522E943E}"/>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 allele risk</a:t>
            </a:r>
          </a:p>
        </p:txBody>
      </p:sp>
      <p:sp>
        <p:nvSpPr>
          <p:cNvPr id="7" name="TextBox 6">
            <a:extLst xmlns:a="http://schemas.openxmlformats.org/drawingml/2006/main">
              <a:ext uri="{FF2B5EF4-FFF2-40B4-BE49-F238E27FC236}">
                <a16:creationId xmlns:a16="http://schemas.microsoft.com/office/drawing/2014/main" id="{D687DE74-4101-4CE6-8670-93675C247769}"/>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454F7115-1BAA-4921-8EA5-3E94FDE49069}"/>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xmlns:a="http://schemas.openxmlformats.org/drawingml/2006/main">
              <a:ext uri="{FF2B5EF4-FFF2-40B4-BE49-F238E27FC236}">
                <a16:creationId xmlns:a16="http://schemas.microsoft.com/office/drawing/2014/main" id="{F7A4BB6B-4371-4A92-B9E3-2A1BD6D0DEE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DFD8B593-B01A-48F9-BB3C-5E3014169FE2}"/>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xmlns:a="http://schemas.openxmlformats.org/drawingml/2006/main">
              <a:ext uri="{FF2B5EF4-FFF2-40B4-BE49-F238E27FC236}">
                <a16:creationId xmlns:a16="http://schemas.microsoft.com/office/drawing/2014/main" id="{48A8DA3D-79F5-4576-B2F1-D754D20871E3}"/>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171C25C-B0DF-4E30-B811-5B7D7B8C2B9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BA2BFD3F-0612-46E2-8E43-4866376D2BC3}"/>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 and mitochondria</a:t>
            </a:r>
          </a:p>
        </p:txBody>
      </p:sp>
      <p:sp>
        <p:nvSpPr>
          <p:cNvPr id="14" name="TextBox 13">
            <a:extLst xmlns:a="http://schemas.openxmlformats.org/drawingml/2006/main">
              <a:ext uri="{FF2B5EF4-FFF2-40B4-BE49-F238E27FC236}">
                <a16:creationId xmlns:a16="http://schemas.microsoft.com/office/drawing/2014/main" id="{25365557-B7E5-4D1B-87DE-59982CA620AE}"/>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269B6732-CCEE-4283-8AAE-4B009FFC4C19}"/>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Shows that APOE state can alter mitochondrial homeostasis.</a:t>
            </a:r>
          </a:p>
        </p:txBody>
      </p:sp>
      <p:sp>
        <p:nvSpPr>
          <p:cNvPr id="16" name="TextBox 15">
            <a:extLst xmlns:a="http://schemas.openxmlformats.org/drawingml/2006/main">
              <a:ext uri="{FF2B5EF4-FFF2-40B4-BE49-F238E27FC236}">
                <a16:creationId xmlns:a16="http://schemas.microsoft.com/office/drawing/2014/main" id="{7EC2DEB2-A3B7-4A7A-B89F-241825498DE1}"/>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C3723745-3BD7-4BE7-8470-6C4A4EBD304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xmlns:a="http://schemas.openxmlformats.org/drawingml/2006/main">
              <a:ext uri="{FF2B5EF4-FFF2-40B4-BE49-F238E27FC236}">
                <a16:creationId xmlns:a16="http://schemas.microsoft.com/office/drawing/2014/main" id="{35D9A967-C87D-4290-958C-CD5FAAE4FBB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7082910-6C3F-4CCD-B1B3-2C7AA23783EF}"/>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895600"/>
                </a:solidFill>
                <a:latin typeface="Arial"/>
                <a:ea typeface="Arial"/>
                <a:cs typeface="Arial"/>
              </a:rPr>
              <a:t>Guo et al. 2023</a:t>
            </a:r>
          </a:p>
        </p:txBody>
      </p:sp>
      <p:sp>
        <p:nvSpPr>
          <p:cNvPr id="20" name="TextBox 19">
            <a:extLst xmlns:a="http://schemas.openxmlformats.org/drawingml/2006/main">
              <a:ext uri="{FF2B5EF4-FFF2-40B4-BE49-F238E27FC236}">
                <a16:creationId xmlns:a16="http://schemas.microsoft.com/office/drawing/2014/main" id="{123A1DF3-BCAE-45BE-8442-BDD96635F438}"/>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Sex-aware AD networks</a:t>
            </a:r>
          </a:p>
        </p:txBody>
      </p:sp>
      <p:sp>
        <p:nvSpPr>
          <p:cNvPr id="21" name="TextBox 20">
            <a:extLst xmlns:a="http://schemas.openxmlformats.org/drawingml/2006/main">
              <a:ext uri="{FF2B5EF4-FFF2-40B4-BE49-F238E27FC236}">
                <a16:creationId xmlns:a16="http://schemas.microsoft.com/office/drawing/2014/main" id="{59F07A75-2EE1-4D60-9786-0F23DF2582DC}"/>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66A71E1-1013-4A2B-A10D-B5DFDBF4D5C7}"/>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Supports analyzing Alzheimer’s biology by sex and cell type.</a:t>
            </a:r>
          </a:p>
        </p:txBody>
      </p:sp>
      <p:sp>
        <p:nvSpPr>
          <p:cNvPr id="23" name="TextBox 22">
            <a:extLst xmlns:a="http://schemas.openxmlformats.org/drawingml/2006/main">
              <a:ext uri="{FF2B5EF4-FFF2-40B4-BE49-F238E27FC236}">
                <a16:creationId xmlns:a16="http://schemas.microsoft.com/office/drawing/2014/main" id="{B8AF796C-C116-4095-8204-2CF009C27950}"/>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81CFC136-DBEC-4C06-AE7C-AF8530697833}"/>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xmlns:a="http://schemas.openxmlformats.org/drawingml/2006/main">
              <a:ext uri="{FF2B5EF4-FFF2-40B4-BE49-F238E27FC236}">
                <a16:creationId xmlns:a16="http://schemas.microsoft.com/office/drawing/2014/main" id="{B8DC183B-16BE-40EC-BF0B-B42D31C88BCC}"/>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3212225-CCEC-4FB4-8350-843AC90B44C7}"/>
              </a:ext>
            </a:extLst>
          </p:cNvPr>
          <p:cNvSpPr>
            <a:spLocks xmlns:a="http://schemas.openxmlformats.org/drawingml/2006/main" noGrp="1"/>
          </p:cNvSpPr>
          <p:nvPr/>
        </p:nvSpPr>
        <p:spPr>
          <a:xfrm xmlns:a="http://schemas.openxmlformats.org/drawingml/2006/main">
            <a:off x="896112" y="5952744"/>
            <a:ext cx="10405872" cy="2215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sld>
</file>

<file path=ppt/slides/slide33.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ε4</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sld>
</file>

<file path=ppt/slides/slide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725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NUCLEAR-ENCODED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Nuclear-encoded OXPHOS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sld>
</file>

<file path=ppt/slides/slide3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895600"/>
                </a:solidFill>
                <a:latin typeface="Arial"/>
                <a:ea typeface="Arial"/>
                <a:cs typeface="Arial"/>
              </a:rPr>
              <a:t>95%</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nuclear-encoded OXPHOS occurrences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AD-down across fine-cell comparisons</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206 AD-down and 10 AD-up occurrences</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38 AD-down and 26 AD-up occurrences</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Main DEG pattern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72B2"/>
                </a:solidFill>
                <a:latin typeface="Arial"/>
                <a:ea typeface="Arial"/>
                <a:cs typeface="Arial"/>
              </a:rPr>
              <a:t>Nuclear-encoded decrease</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sld>
</file>

<file path=ppt/slides/slide3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230396-C711-48F4-9F3F-E125CDE36E8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xmlns:a="http://schemas.openxmlformats.org/drawingml/2006/main">
              <a:ext uri="{FF2B5EF4-FFF2-40B4-BE49-F238E27FC236}">
                <a16:creationId xmlns:a16="http://schemas.microsoft.com/office/drawing/2014/main" id="{90C9A94E-CA5C-479F-A04F-576DC97C1DC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xmlns:a="http://schemas.openxmlformats.org/drawingml/2006/main">
              <a:ext uri="{FF2B5EF4-FFF2-40B4-BE49-F238E27FC236}">
                <a16:creationId xmlns:a16="http://schemas.microsoft.com/office/drawing/2014/main" id="{F5165143-019E-4190-A879-4C33055182B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5FB12EF-F685-41F0-B76D-A60DE55D51F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4E5A68"/>
                </a:solidFill>
                <a:latin typeface="Arial"/>
                <a:ea typeface="Arial"/>
                <a:cs typeface="Arial"/>
              </a:rPr>
              <a:t>ROSMAP DIRECT BROAD</a:t>
            </a:r>
          </a:p>
        </p:txBody>
      </p:sp>
      <p:sp>
        <p:nvSpPr>
          <p:cNvPr id="6" name="TextBox 5">
            <a:extLst xmlns:a="http://schemas.openxmlformats.org/drawingml/2006/main">
              <a:ext uri="{FF2B5EF4-FFF2-40B4-BE49-F238E27FC236}">
                <a16:creationId xmlns:a16="http://schemas.microsoft.com/office/drawing/2014/main" id="{FA677EEF-E3B8-454B-9005-52648E8CD2D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AD-up direction, not significant</a:t>
            </a:r>
          </a:p>
        </p:txBody>
      </p:sp>
      <p:sp>
        <p:nvSpPr>
          <p:cNvPr id="7" name="TextBox 6">
            <a:extLst xmlns:a="http://schemas.openxmlformats.org/drawingml/2006/main">
              <a:ext uri="{FF2B5EF4-FFF2-40B4-BE49-F238E27FC236}">
                <a16:creationId xmlns:a16="http://schemas.microsoft.com/office/drawing/2014/main" id="{A9ADC9DF-DE25-4165-9BCE-7FDD7797B58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xmlns:a="http://schemas.openxmlformats.org/drawingml/2006/main">
              <a:ext uri="{FF2B5EF4-FFF2-40B4-BE49-F238E27FC236}">
                <a16:creationId xmlns:a16="http://schemas.microsoft.com/office/drawing/2014/main" id="{889EF010-CCDC-4C5D-8BAC-6BD282885F6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B111569-40F8-417C-BE49-30200131459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SEA-AD DIRECT BROAD</a:t>
            </a:r>
          </a:p>
        </p:txBody>
      </p:sp>
      <p:sp>
        <p:nvSpPr>
          <p:cNvPr id="10" name="TextBox 9">
            <a:extLst xmlns:a="http://schemas.openxmlformats.org/drawingml/2006/main">
              <a:ext uri="{FF2B5EF4-FFF2-40B4-BE49-F238E27FC236}">
                <a16:creationId xmlns:a16="http://schemas.microsoft.com/office/drawing/2014/main" id="{C5392091-01E3-4C10-9025-5BFF104E2A5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Nuclear-encoded OXPHOS pathway is significantly AD-up</a:t>
            </a:r>
          </a:p>
        </p:txBody>
      </p:sp>
      <p:sp>
        <p:nvSpPr>
          <p:cNvPr id="11" name="TextBox 10">
            <a:extLst xmlns:a="http://schemas.openxmlformats.org/drawingml/2006/main">
              <a:ext uri="{FF2B5EF4-FFF2-40B4-BE49-F238E27FC236}">
                <a16:creationId xmlns:a16="http://schemas.microsoft.com/office/drawing/2014/main" id="{F8AF9F05-3A6A-431E-902C-6B7B0F1A859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xmlns:a="http://schemas.openxmlformats.org/drawingml/2006/main">
              <a:ext uri="{FF2B5EF4-FFF2-40B4-BE49-F238E27FC236}">
                <a16:creationId xmlns:a16="http://schemas.microsoft.com/office/drawing/2014/main" id="{21869939-BD43-4C0D-A433-E130C70A870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CCFB44D-1E4B-485C-ACAF-A84BFF5D40C1}"/>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SEA-AD FINE-CELL DEG CHECK</a:t>
            </a:r>
          </a:p>
        </p:txBody>
      </p:sp>
      <p:sp>
        <p:nvSpPr>
          <p:cNvPr id="14" name="TextBox 13">
            <a:extLst xmlns:a="http://schemas.openxmlformats.org/drawingml/2006/main">
              <a:ext uri="{FF2B5EF4-FFF2-40B4-BE49-F238E27FC236}">
                <a16:creationId xmlns:a16="http://schemas.microsoft.com/office/drawing/2014/main" id="{8572C540-E22E-4F44-9781-55EC90D5766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One small astrocyte DEG list</a:t>
            </a:r>
          </a:p>
        </p:txBody>
      </p:sp>
      <p:sp>
        <p:nvSpPr>
          <p:cNvPr id="15" name="TextBox 14">
            <a:extLst xmlns:a="http://schemas.openxmlformats.org/drawingml/2006/main">
              <a:ext uri="{FF2B5EF4-FFF2-40B4-BE49-F238E27FC236}">
                <a16:creationId xmlns:a16="http://schemas.microsoft.com/office/drawing/2014/main" id="{10895380-1863-406D-9702-C421FF0FD9ED}"/>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xmlns:a="http://schemas.openxmlformats.org/drawingml/2006/main">
              <a:ext uri="{FF2B5EF4-FFF2-40B4-BE49-F238E27FC236}">
                <a16:creationId xmlns:a16="http://schemas.microsoft.com/office/drawing/2014/main" id="{A98D7891-F31E-4753-96F8-2CFBC221DFB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C6F6C08-F66F-45E6-81F4-3E8EE9F6334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sld>
</file>

<file path=ppt/slides/slide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8284EB6-DC66-4084-8B6F-64336FD34BA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xmlns:a="http://schemas.openxmlformats.org/drawingml/2006/main">
              <a:ext uri="{FF2B5EF4-FFF2-40B4-BE49-F238E27FC236}">
                <a16:creationId xmlns:a16="http://schemas.microsoft.com/office/drawing/2014/main" id="{C466DD47-872F-4C62-8377-A4EF3A49870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xmlns:a="http://schemas.openxmlformats.org/drawingml/2006/main">
              <a:ext uri="{FF2B5EF4-FFF2-40B4-BE49-F238E27FC236}">
                <a16:creationId xmlns:a16="http://schemas.microsoft.com/office/drawing/2014/main" id="{E3B1B35F-17E4-4DE0-AFDA-4B3ED47BAFA9}"/>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B4DC046-8AA5-4E91-887D-A98906E84090}"/>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RESPIRATORY MACHINERY</a:t>
            </a:r>
          </a:p>
        </p:txBody>
      </p:sp>
      <p:sp>
        <p:nvSpPr>
          <p:cNvPr id="6" name="TextBox 5">
            <a:extLst xmlns:a="http://schemas.openxmlformats.org/drawingml/2006/main">
              <a:ext uri="{FF2B5EF4-FFF2-40B4-BE49-F238E27FC236}">
                <a16:creationId xmlns:a16="http://schemas.microsoft.com/office/drawing/2014/main" id="{874D440F-894C-4273-9AB2-B5D3074AAAE7}"/>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Most subunits are nuclear-encoded</a:t>
            </a:r>
          </a:p>
        </p:txBody>
      </p:sp>
      <p:sp>
        <p:nvSpPr>
          <p:cNvPr id="7" name="TextBox 6">
            <a:extLst xmlns:a="http://schemas.openxmlformats.org/drawingml/2006/main">
              <a:ext uri="{FF2B5EF4-FFF2-40B4-BE49-F238E27FC236}">
                <a16:creationId xmlns:a16="http://schemas.microsoft.com/office/drawing/2014/main" id="{23E9BE30-1213-49F7-B09C-1418F354AE1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xmlns:a="http://schemas.openxmlformats.org/drawingml/2006/main">
              <a:ext uri="{FF2B5EF4-FFF2-40B4-BE49-F238E27FC236}">
                <a16:creationId xmlns:a16="http://schemas.microsoft.com/office/drawing/2014/main" id="{04293C45-DC1A-40F9-8632-91036F829E49}"/>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E261050-2EAF-4BA5-AF33-03400EE963A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APOE CONTEXT</a:t>
            </a:r>
          </a:p>
        </p:txBody>
      </p:sp>
      <p:sp>
        <p:nvSpPr>
          <p:cNvPr id="10" name="TextBox 9">
            <a:extLst xmlns:a="http://schemas.openxmlformats.org/drawingml/2006/main">
              <a:ext uri="{FF2B5EF4-FFF2-40B4-BE49-F238E27FC236}">
                <a16:creationId xmlns:a16="http://schemas.microsoft.com/office/drawing/2014/main" id="{09FC0182-46A2-4020-8435-213138674BC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ε4 makes the hypothesis important</a:t>
            </a:r>
          </a:p>
        </p:txBody>
      </p:sp>
      <p:sp>
        <p:nvSpPr>
          <p:cNvPr id="11" name="TextBox 10">
            <a:extLst xmlns:a="http://schemas.openxmlformats.org/drawingml/2006/main">
              <a:ext uri="{FF2B5EF4-FFF2-40B4-BE49-F238E27FC236}">
                <a16:creationId xmlns:a16="http://schemas.microsoft.com/office/drawing/2014/main" id="{12D72163-D70F-4797-96D1-5442314CE3D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xmlns:a="http://schemas.openxmlformats.org/drawingml/2006/main">
              <a:ext uri="{FF2B5EF4-FFF2-40B4-BE49-F238E27FC236}">
                <a16:creationId xmlns:a16="http://schemas.microsoft.com/office/drawing/2014/main" id="{A71F567C-33CB-4608-886E-DCC40B898C0C}"/>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F20F9C6-2CBB-4777-8A74-FE8BA83A8D8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RESOLUTION WARNING</a:t>
            </a:r>
          </a:p>
        </p:txBody>
      </p:sp>
      <p:sp>
        <p:nvSpPr>
          <p:cNvPr id="14" name="TextBox 13">
            <a:extLst xmlns:a="http://schemas.openxmlformats.org/drawingml/2006/main">
              <a:ext uri="{FF2B5EF4-FFF2-40B4-BE49-F238E27FC236}">
                <a16:creationId xmlns:a16="http://schemas.microsoft.com/office/drawing/2014/main" id="{7B508054-B88B-448D-9F25-D5D8DA0F08B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Broad-cell direction reverses</a:t>
            </a:r>
          </a:p>
        </p:txBody>
      </p:sp>
      <p:sp>
        <p:nvSpPr>
          <p:cNvPr id="15" name="TextBox 14">
            <a:extLst xmlns:a="http://schemas.openxmlformats.org/drawingml/2006/main">
              <a:ext uri="{FF2B5EF4-FFF2-40B4-BE49-F238E27FC236}">
                <a16:creationId xmlns:a16="http://schemas.microsoft.com/office/drawing/2014/main" id="{A7FF3F70-622D-4082-8EEA-32B4CF420D07}"/>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xmlns:a="http://schemas.openxmlformats.org/drawingml/2006/main">
              <a:ext uri="{FF2B5EF4-FFF2-40B4-BE49-F238E27FC236}">
                <a16:creationId xmlns:a16="http://schemas.microsoft.com/office/drawing/2014/main" id="{8C891208-1195-4DBE-B866-2D4F14AC8FF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40AEFF-653E-4E88-BB8D-F975F5126A7F}"/>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E915A7F-791C-41A5-A90B-0BC6B338FEF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sld>
</file>

<file path=ppt/slides/slide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8C40590-71AC-4C4D-A67D-0830EDF1B98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4</a:t>
            </a:r>
          </a:p>
        </p:txBody>
      </p:sp>
      <p:sp>
        <p:nvSpPr>
          <p:cNvPr id="3" name="TextBox 2">
            <a:extLst xmlns:a="http://schemas.openxmlformats.org/drawingml/2006/main">
              <a:ext uri="{FF2B5EF4-FFF2-40B4-BE49-F238E27FC236}">
                <a16:creationId xmlns:a16="http://schemas.microsoft.com/office/drawing/2014/main" id="{8B4123C0-53E7-4530-B8FD-83F2DC61A6A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CEFC189B-338C-4FB8-A899-371B4554D071}"/>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3FDB348-D11A-4E1D-B039-68758C28185B}"/>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72B2"/>
                </a:solidFill>
                <a:latin typeface="Arial"/>
                <a:ea typeface="Arial"/>
                <a:cs typeface="Arial"/>
              </a:rPr>
              <a:t>Schmukler et al. 2020</a:t>
            </a:r>
          </a:p>
        </p:txBody>
      </p:sp>
      <p:sp>
        <p:nvSpPr>
          <p:cNvPr id="6" name="TextBox 5">
            <a:extLst xmlns:a="http://schemas.openxmlformats.org/drawingml/2006/main">
              <a:ext uri="{FF2B5EF4-FFF2-40B4-BE49-F238E27FC236}">
                <a16:creationId xmlns:a16="http://schemas.microsoft.com/office/drawing/2014/main" id="{0D4984E5-FAE7-40C9-AE61-3D566A1E0915}"/>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APOE4 and mitochondrial quality control</a:t>
            </a:r>
          </a:p>
        </p:txBody>
      </p:sp>
      <p:sp>
        <p:nvSpPr>
          <p:cNvPr id="7" name="TextBox 6">
            <a:extLst xmlns:a="http://schemas.openxmlformats.org/drawingml/2006/main">
              <a:ext uri="{FF2B5EF4-FFF2-40B4-BE49-F238E27FC236}">
                <a16:creationId xmlns:a16="http://schemas.microsoft.com/office/drawing/2014/main" id="{D4FD2E75-1220-441B-926F-DEF7213E5B59}"/>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51666C0A-FAEC-4586-9035-29FCF9C2837C}"/>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xmlns:a="http://schemas.openxmlformats.org/drawingml/2006/main">
              <a:ext uri="{FF2B5EF4-FFF2-40B4-BE49-F238E27FC236}">
                <a16:creationId xmlns:a16="http://schemas.microsoft.com/office/drawing/2014/main" id="{C20664A6-60FE-4657-B500-B5BF43697864}"/>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9254D0C-D77D-4368-8BB2-4B694D4B1E53}"/>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xmlns:a="http://schemas.openxmlformats.org/drawingml/2006/main">
              <a:ext uri="{FF2B5EF4-FFF2-40B4-BE49-F238E27FC236}">
                <a16:creationId xmlns:a16="http://schemas.microsoft.com/office/drawing/2014/main" id="{FABCE98F-F22F-4B91-91E2-3E4F790D1F85}"/>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D38BFD6-1BE9-451D-8A76-029AD290F947}"/>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8033BCD3-113D-4007-BB72-3BDF025C0DF2}"/>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APOE4 astrocytes</a:t>
            </a:r>
          </a:p>
        </p:txBody>
      </p:sp>
      <p:sp>
        <p:nvSpPr>
          <p:cNvPr id="14" name="TextBox 13">
            <a:extLst xmlns:a="http://schemas.openxmlformats.org/drawingml/2006/main">
              <a:ext uri="{FF2B5EF4-FFF2-40B4-BE49-F238E27FC236}">
                <a16:creationId xmlns:a16="http://schemas.microsoft.com/office/drawing/2014/main" id="{12949E16-F32A-477E-9432-0BF74E8C5FF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50FC22AC-8BBA-448A-BFCA-77D9E8A039B8}"/>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xmlns:a="http://schemas.openxmlformats.org/drawingml/2006/main">
              <a:ext uri="{FF2B5EF4-FFF2-40B4-BE49-F238E27FC236}">
                <a16:creationId xmlns:a16="http://schemas.microsoft.com/office/drawing/2014/main" id="{63C44BE8-4AF6-40C1-A9AD-C10AC164F936}"/>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B54E93C2-E812-4EE6-8301-A43E5841C1F2}"/>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Different cell context and experimental design.</a:t>
            </a:r>
          </a:p>
        </p:txBody>
      </p:sp>
      <p:sp>
        <p:nvSpPr>
          <p:cNvPr id="18" name="Rounded Rectangle 17">
            <a:extLst xmlns:a="http://schemas.openxmlformats.org/drawingml/2006/main">
              <a:ext uri="{FF2B5EF4-FFF2-40B4-BE49-F238E27FC236}">
                <a16:creationId xmlns:a16="http://schemas.microsoft.com/office/drawing/2014/main" id="{92589BE4-7F80-4DA2-911C-363BA86ADA58}"/>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C661FB0-5058-43DE-B243-D0EF9CF4EF16}"/>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362A90CB-A637-445E-8B51-2350713A7075}"/>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Cell-resolved AD responses</a:t>
            </a:r>
          </a:p>
        </p:txBody>
      </p:sp>
      <p:sp>
        <p:nvSpPr>
          <p:cNvPr id="21" name="TextBox 20">
            <a:extLst xmlns:a="http://schemas.openxmlformats.org/drawingml/2006/main">
              <a:ext uri="{FF2B5EF4-FFF2-40B4-BE49-F238E27FC236}">
                <a16:creationId xmlns:a16="http://schemas.microsoft.com/office/drawing/2014/main" id="{597F2BA8-2007-4A85-8BC9-506143C0F9A4}"/>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CB6986F3-CF18-475A-94F9-C9A8F952B1EE}"/>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Supports strong differences among brain cell states.</a:t>
            </a:r>
          </a:p>
        </p:txBody>
      </p:sp>
      <p:sp>
        <p:nvSpPr>
          <p:cNvPr id="23" name="TextBox 22">
            <a:extLst xmlns:a="http://schemas.openxmlformats.org/drawingml/2006/main">
              <a:ext uri="{FF2B5EF4-FFF2-40B4-BE49-F238E27FC236}">
                <a16:creationId xmlns:a16="http://schemas.microsoft.com/office/drawing/2014/main" id="{7F919ED5-2F8B-4B99-8353-035EAC9329C6}"/>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37C881AE-9707-4DF5-B032-CB8AD6F94FF0}"/>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xmlns:a="http://schemas.openxmlformats.org/drawingml/2006/main">
              <a:ext uri="{FF2B5EF4-FFF2-40B4-BE49-F238E27FC236}">
                <a16:creationId xmlns:a16="http://schemas.microsoft.com/office/drawing/2014/main" id="{D22B9BBF-BCFD-4539-B9CA-7DDE989A13D7}"/>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BD11175-1C40-4C76-8D0F-A629CB558629}"/>
              </a:ext>
            </a:extLst>
          </p:cNvPr>
          <p:cNvSpPr>
            <a:spLocks xmlns:a="http://schemas.openxmlformats.org/drawingml/2006/main" noGrp="1"/>
          </p:cNvSpPr>
          <p:nvPr/>
        </p:nvSpPr>
        <p:spPr>
          <a:xfrm xmlns:a="http://schemas.openxmlformats.org/drawingml/2006/main">
            <a:off x="896112" y="5952744"/>
            <a:ext cx="10405872" cy="2215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1">
                <a:solidFill>
                  <a:srgbClr val="7E4C9A"/>
                </a:solidFill>
                <a:latin typeface="Arial"/>
                <a:ea typeface="Arial"/>
                <a:cs typeface="Arial"/>
              </a:rPr>
              <a:t>No</a:t>
            </a:r>
            <a:r>
              <a:rPr sz="1080" b="1" i="0">
                <a:solidFill>
                  <a:srgbClr val="7E4C9A"/>
                </a:solidFill>
                <a:latin typeface="Arial"/>
                <a:ea typeface="Arial"/>
                <a:cs typeface="Arial"/>
              </a:rPr>
              <a:t>velty: Moderate</a:t>
            </a:r>
          </a:p>
        </p:txBody>
      </p:sp>
    </p:spTree>
    <p:extLst>
      <p:ext uri="{BB962C8B-B14F-4D97-AF65-F5344CB8AC3E}">
        <p14:creationId xmlns:p14="http://schemas.microsoft.com/office/powerpoint/2010/main" val="687861937"/>
      </p:ext>
    </p:extLst>
  </p:cSld>
</p:sld>
</file>

<file path=ppt/slides/slide3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ε2</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sld>
</file>

<file path=ppt/slides/slide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C286BED-F564-486A-BCC8-11405F5499E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xmlns:a="http://schemas.openxmlformats.org/drawingml/2006/main">
              <a:ext uri="{FF2B5EF4-FFF2-40B4-BE49-F238E27FC236}">
                <a16:creationId xmlns:a16="http://schemas.microsoft.com/office/drawing/2014/main" id="{3D2C08D8-D9F5-4F06-B850-B7758BAABFF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xmlns:a="http://schemas.openxmlformats.org/drawingml/2006/main">
              <a:ext uri="{FF2B5EF4-FFF2-40B4-BE49-F238E27FC236}">
                <a16:creationId xmlns:a16="http://schemas.microsoft.com/office/drawing/2014/main" id="{AF633511-2899-4B97-9AB6-D15EDC6E6558}"/>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44AC28-46AD-4350-B6AE-F9533B31B94F}"/>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E0A46577-F0BD-402F-8EC0-3EA55F4145E5}"/>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CC54C5A-2B30-48CC-AA93-BD5183BD696A}"/>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684D"/>
                </a:solidFill>
                <a:latin typeface="Arial"/>
                <a:ea typeface="Arial"/>
                <a:cs typeface="Arial"/>
              </a:rPr>
              <a:t>APOE ε2</a:t>
            </a:r>
          </a:p>
        </p:txBody>
      </p:sp>
      <p:sp>
        <p:nvSpPr>
          <p:cNvPr id="8" name="Rounded Rectangle 7">
            <a:extLst xmlns:a="http://schemas.openxmlformats.org/drawingml/2006/main">
              <a:ext uri="{FF2B5EF4-FFF2-40B4-BE49-F238E27FC236}">
                <a16:creationId xmlns:a16="http://schemas.microsoft.com/office/drawing/2014/main" id="{50151338-65D5-4E79-A86F-F25D1C48D69A}"/>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C526B50-273F-448E-82DE-6DA8ECEE9FC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895600"/>
                </a:solidFill>
                <a:latin typeface="Arial"/>
                <a:ea typeface="Arial"/>
                <a:cs typeface="Arial"/>
              </a:rPr>
              <a:t>Both gene sets down</a:t>
            </a:r>
          </a:p>
        </p:txBody>
      </p:sp>
      <p:sp>
        <p:nvSpPr>
          <p:cNvPr id="10" name="Rounded Rectangle 9">
            <a:extLst xmlns:a="http://schemas.openxmlformats.org/drawingml/2006/main">
              <a:ext uri="{FF2B5EF4-FFF2-40B4-BE49-F238E27FC236}">
                <a16:creationId xmlns:a16="http://schemas.microsoft.com/office/drawing/2014/main" id="{0B34286A-226C-482A-A665-5A8CD6EC5CFC}"/>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90E08D2-330A-472E-8033-832F01D56BAE}"/>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9E3A00"/>
                </a:solidFill>
                <a:latin typeface="Arial"/>
                <a:ea typeface="Arial"/>
                <a:cs typeface="Arial"/>
              </a:rPr>
              <a:t>Large DEG sets</a:t>
            </a:r>
          </a:p>
        </p:txBody>
      </p:sp>
      <p:sp>
        <p:nvSpPr>
          <p:cNvPr id="12" name="Rounded Rectangle 11">
            <a:extLst xmlns:a="http://schemas.openxmlformats.org/drawingml/2006/main">
              <a:ext uri="{FF2B5EF4-FFF2-40B4-BE49-F238E27FC236}">
                <a16:creationId xmlns:a16="http://schemas.microsoft.com/office/drawing/2014/main" id="{54262262-A93C-4CDF-AB68-A8E1F318B890}"/>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73E70AAA-A0B8-4007-BA8D-B263820634C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CORE MT GENES</a:t>
            </a:r>
          </a:p>
        </p:txBody>
      </p:sp>
      <p:sp>
        <p:nvSpPr>
          <p:cNvPr id="14" name="TextBox 13">
            <a:extLst xmlns:a="http://schemas.openxmlformats.org/drawingml/2006/main">
              <a:ext uri="{FF2B5EF4-FFF2-40B4-BE49-F238E27FC236}">
                <a16:creationId xmlns:a16="http://schemas.microsoft.com/office/drawing/2014/main" id="{8076B748-9DA2-4800-A2FF-5A4ED6F02FBF}"/>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119 of 132 down</a:t>
            </a:r>
          </a:p>
        </p:txBody>
      </p:sp>
      <p:sp>
        <p:nvSpPr>
          <p:cNvPr id="15" name="TextBox 14">
            <a:extLst xmlns:a="http://schemas.openxmlformats.org/drawingml/2006/main">
              <a:ext uri="{FF2B5EF4-FFF2-40B4-BE49-F238E27FC236}">
                <a16:creationId xmlns:a16="http://schemas.microsoft.com/office/drawing/2014/main" id="{38BFA3FB-E15C-416C-9B94-C74F2F0ADFCD}"/>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xmlns:a="http://schemas.openxmlformats.org/drawingml/2006/main">
              <a:ext uri="{FF2B5EF4-FFF2-40B4-BE49-F238E27FC236}">
                <a16:creationId xmlns:a16="http://schemas.microsoft.com/office/drawing/2014/main" id="{27F1F4AA-18FD-4180-9D37-EEB5D5304B4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94082EB-264B-4B5A-8297-C444A4D08140}"/>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NUCLEAR-ENCODED OXPHOS</a:t>
            </a:r>
          </a:p>
        </p:txBody>
      </p:sp>
      <p:sp>
        <p:nvSpPr>
          <p:cNvPr id="18" name="TextBox 17">
            <a:extLst xmlns:a="http://schemas.openxmlformats.org/drawingml/2006/main">
              <a:ext uri="{FF2B5EF4-FFF2-40B4-BE49-F238E27FC236}">
                <a16:creationId xmlns:a16="http://schemas.microsoft.com/office/drawing/2014/main" id="{118FE9BB-5E81-4FCC-B356-42F37286EB45}"/>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404 of 467 down</a:t>
            </a:r>
          </a:p>
        </p:txBody>
      </p:sp>
      <p:sp>
        <p:nvSpPr>
          <p:cNvPr id="19" name="TextBox 18">
            <a:extLst xmlns:a="http://schemas.openxmlformats.org/drawingml/2006/main">
              <a:ext uri="{FF2B5EF4-FFF2-40B4-BE49-F238E27FC236}">
                <a16:creationId xmlns:a16="http://schemas.microsoft.com/office/drawing/2014/main" id="{294A6B3A-48A7-41A4-9C9F-DD509BA8951E}"/>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xmlns:a="http://schemas.openxmlformats.org/drawingml/2006/main">
              <a:ext uri="{FF2B5EF4-FFF2-40B4-BE49-F238E27FC236}">
                <a16:creationId xmlns:a16="http://schemas.microsoft.com/office/drawing/2014/main" id="{58AA7E7F-69E0-4505-8E3C-62A2BB94F23D}"/>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5ADE7F7-B4AE-44FC-847A-765D98C65B77}"/>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KEY DISTINCTION</a:t>
            </a:r>
          </a:p>
        </p:txBody>
      </p:sp>
      <p:sp>
        <p:nvSpPr>
          <p:cNvPr id="22" name="TextBox 21">
            <a:extLst xmlns:a="http://schemas.openxmlformats.org/drawingml/2006/main">
              <a:ext uri="{FF2B5EF4-FFF2-40B4-BE49-F238E27FC236}">
                <a16:creationId xmlns:a16="http://schemas.microsoft.com/office/drawing/2014/main" id="{E6CD5148-E748-4F6A-B1D0-98451BF00C5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Coordinated decrease</a:t>
            </a:r>
          </a:p>
        </p:txBody>
      </p:sp>
      <p:sp>
        <p:nvSpPr>
          <p:cNvPr id="23" name="TextBox 22">
            <a:extLst xmlns:a="http://schemas.openxmlformats.org/drawingml/2006/main">
              <a:ext uri="{FF2B5EF4-FFF2-40B4-BE49-F238E27FC236}">
                <a16:creationId xmlns:a16="http://schemas.microsoft.com/office/drawing/2014/main" id="{414D44C9-D8CE-4D80-B982-C37B9274C8CE}"/>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xmlns:a="http://schemas.openxmlformats.org/drawingml/2006/main">
              <a:ext uri="{FF2B5EF4-FFF2-40B4-BE49-F238E27FC236}">
                <a16:creationId xmlns:a16="http://schemas.microsoft.com/office/drawing/2014/main" id="{35B557CF-AC23-44D3-8493-322B013D4621}"/>
              </a:ext>
            </a:extLst>
          </p:cNvPr>
          <p:cNvSpPr>
            <a:spLocks xmlns:a="http://schemas.openxmlformats.org/drawingml/2006/main" noGrp="1"/>
          </p:cNvSpPr>
          <p:nvPr/>
        </p:nvSpPr>
        <p:spPr>
          <a:xfrm xmlns:a="http://schemas.openxmlformats.org/drawingml/2006/main">
            <a:off x="658368" y="6205669"/>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DA97776B-399C-4369-BD4F-5FAE65064E55}"/>
              </a:ext>
            </a:extLst>
          </p:cNvPr>
          <p:cNvSpPr>
            <a:spLocks xmlns:a="http://schemas.openxmlformats.org/drawingml/2006/main" noGrp="1"/>
          </p:cNvSpPr>
          <p:nvPr/>
        </p:nvSpPr>
        <p:spPr>
          <a:xfrm xmlns:a="http://schemas.openxmlformats.org/drawingml/2006/main">
            <a:off x="896112" y="6333685"/>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sld>
</file>

<file path=ppt/slides/slide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ROSMAP: male ε2 has the most downward OXPHOS DEG occurrences</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895600"/>
                </a:solidFill>
                <a:latin typeface="Arial"/>
                <a:ea typeface="Arial"/>
                <a:cs typeface="Arial"/>
              </a:rPr>
              <a:t>523</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AD-down OXPHOS occurrences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119 core MT + 404 nuclear-encoded</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119 AD-down and 13 AD-up occurrences</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404 AD-down and 63 AD-up occurrences</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Overall DEG direction</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72B2"/>
                </a:solidFill>
                <a:latin typeface="Arial"/>
                <a:ea typeface="Arial"/>
                <a:cs typeface="Arial"/>
              </a:rPr>
              <a:t>Both gene sets down</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sld>
</file>

<file path=ppt/slides/slide4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Male ε2 has unusually large MitoCarta MT DEG sets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85 MitoCarta MT DEGs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ALL INCLUDED FINE-CELL COMPARISONS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16.5 MitoCarta MT DEGs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No matched DEG result</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39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sld>
</file>

<file path=ppt/slides/slide4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The downward OXPHOS pattern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DEG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863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Direction, not function</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70182"/>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sld>
</file>

<file path=ppt/slides/slide4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2EECCD3-32E9-4799-B078-0328186A382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5</a:t>
            </a:r>
          </a:p>
        </p:txBody>
      </p:sp>
      <p:sp>
        <p:nvSpPr>
          <p:cNvPr id="3" name="TextBox 2">
            <a:extLst xmlns:a="http://schemas.openxmlformats.org/drawingml/2006/main">
              <a:ext uri="{FF2B5EF4-FFF2-40B4-BE49-F238E27FC236}">
                <a16:creationId xmlns:a16="http://schemas.microsoft.com/office/drawing/2014/main" id="{B83245C9-1A4F-4159-A55B-06835EB2C15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FEE309FE-2CC6-4645-81A1-9CA70B59ECCB}"/>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D9CF9D7-C2B8-4D10-B60E-EBD8E3E4D121}"/>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F39FA4C9-46FF-4AF9-A8A0-9F057D7A6B47}"/>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 allele risk</a:t>
            </a:r>
          </a:p>
        </p:txBody>
      </p:sp>
      <p:sp>
        <p:nvSpPr>
          <p:cNvPr id="7" name="TextBox 6">
            <a:extLst xmlns:a="http://schemas.openxmlformats.org/drawingml/2006/main">
              <a:ext uri="{FF2B5EF4-FFF2-40B4-BE49-F238E27FC236}">
                <a16:creationId xmlns:a16="http://schemas.microsoft.com/office/drawing/2014/main" id="{E3BB55D8-B954-4C37-B212-71FDD0B75B20}"/>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39850BBF-2F52-401A-8F19-4C831D1C735E}"/>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Establishes population-level protection associated with ε2.</a:t>
            </a:r>
          </a:p>
        </p:txBody>
      </p:sp>
      <p:sp>
        <p:nvSpPr>
          <p:cNvPr id="9" name="TextBox 8">
            <a:extLst xmlns:a="http://schemas.openxmlformats.org/drawingml/2006/main">
              <a:ext uri="{FF2B5EF4-FFF2-40B4-BE49-F238E27FC236}">
                <a16:creationId xmlns:a16="http://schemas.microsoft.com/office/drawing/2014/main" id="{2FC401E3-803C-46BE-8656-4375034AA842}"/>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946D9350-046E-4CC6-BA4A-B02DB049C1F4}"/>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xmlns:a="http://schemas.openxmlformats.org/drawingml/2006/main">
              <a:ext uri="{FF2B5EF4-FFF2-40B4-BE49-F238E27FC236}">
                <a16:creationId xmlns:a16="http://schemas.microsoft.com/office/drawing/2014/main" id="{F3D49414-E866-4051-8C1E-2CF5C9B0B5D0}"/>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50ADC2B-B8E2-4CBD-8FD8-133E6FF0BAAF}"/>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DCCF2D89-9588-4B41-AE19-2380E965678D}"/>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Sex-specific AD networks</a:t>
            </a:r>
          </a:p>
        </p:txBody>
      </p:sp>
      <p:sp>
        <p:nvSpPr>
          <p:cNvPr id="14" name="TextBox 13">
            <a:extLst xmlns:a="http://schemas.openxmlformats.org/drawingml/2006/main">
              <a:ext uri="{FF2B5EF4-FFF2-40B4-BE49-F238E27FC236}">
                <a16:creationId xmlns:a16="http://schemas.microsoft.com/office/drawing/2014/main" id="{B7F6D7F7-B557-4536-BF32-AB8C0AADCE78}"/>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BDB25E9D-229E-4B2C-B4A3-C88164419555}"/>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Supports sex-aware cell-resolved analysis.</a:t>
            </a:r>
          </a:p>
        </p:txBody>
      </p:sp>
      <p:sp>
        <p:nvSpPr>
          <p:cNvPr id="16" name="TextBox 15">
            <a:extLst xmlns:a="http://schemas.openxmlformats.org/drawingml/2006/main">
              <a:ext uri="{FF2B5EF4-FFF2-40B4-BE49-F238E27FC236}">
                <a16:creationId xmlns:a16="http://schemas.microsoft.com/office/drawing/2014/main" id="{5FF9F344-78A9-4C9C-B23C-F5E2EF6EFCCB}"/>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73559057-2595-45C1-8AF9-C068FC58D80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Does not report this exact male ε2 decrease.</a:t>
            </a:r>
          </a:p>
        </p:txBody>
      </p:sp>
      <p:sp>
        <p:nvSpPr>
          <p:cNvPr id="18" name="Rounded Rectangle 17">
            <a:extLst xmlns:a="http://schemas.openxmlformats.org/drawingml/2006/main">
              <a:ext uri="{FF2B5EF4-FFF2-40B4-BE49-F238E27FC236}">
                <a16:creationId xmlns:a16="http://schemas.microsoft.com/office/drawing/2014/main" id="{3440115D-D044-4790-A7C4-56C39B0C4628}"/>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CFD44C0-79A2-42FD-A8CD-CCE2A07859D7}"/>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EB7DAED1-A768-40A3-B470-2623950E9D32}"/>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Cell-state heterogeneity</a:t>
            </a:r>
          </a:p>
        </p:txBody>
      </p:sp>
      <p:sp>
        <p:nvSpPr>
          <p:cNvPr id="21" name="TextBox 20">
            <a:extLst xmlns:a="http://schemas.openxmlformats.org/drawingml/2006/main">
              <a:ext uri="{FF2B5EF4-FFF2-40B4-BE49-F238E27FC236}">
                <a16:creationId xmlns:a16="http://schemas.microsoft.com/office/drawing/2014/main" id="{DDEA53DF-F394-4E28-8387-CDB3D64F7849}"/>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F1BF8061-0CE4-4A14-92B2-C14E1CCF93F8}"/>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xmlns:a="http://schemas.openxmlformats.org/drawingml/2006/main">
              <a:ext uri="{FF2B5EF4-FFF2-40B4-BE49-F238E27FC236}">
                <a16:creationId xmlns:a16="http://schemas.microsoft.com/office/drawing/2014/main" id="{A8F93BE3-227F-4761-ACCD-4E2651C422DC}"/>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E5E719CF-4F66-44AD-875C-18F417D34923}"/>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xmlns:a="http://schemas.openxmlformats.org/drawingml/2006/main">
              <a:ext uri="{FF2B5EF4-FFF2-40B4-BE49-F238E27FC236}">
                <a16:creationId xmlns:a16="http://schemas.microsoft.com/office/drawing/2014/main" id="{DE86A240-4B7B-42CC-BD80-2A8B031010EC}"/>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65DF215-5B13-44E3-9C3B-0D412781BBE1}"/>
              </a:ext>
            </a:extLst>
          </p:cNvPr>
          <p:cNvSpPr>
            <a:spLocks xmlns:a="http://schemas.openxmlformats.org/drawingml/2006/main" noGrp="1"/>
          </p:cNvSpPr>
          <p:nvPr/>
        </p:nvSpPr>
        <p:spPr>
          <a:xfrm xmlns:a="http://schemas.openxmlformats.org/drawingml/2006/main">
            <a:off x="896112" y="5952744"/>
            <a:ext cx="10405872" cy="2215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xmlns:p14="http://schemas.microsoft.com/office/powerpoint/2010/main" val="1790777695"/>
      </p:ext>
    </p:extLst>
  </p:cSld>
</p:sld>
</file>

<file path=ppt/slides/slide4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BE19B05-BA8A-4AAD-8256-41950FD1AE8D}"/>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50" b="1" i="0">
                <a:solidFill>
                  <a:srgbClr val="E69F00"/>
                </a:solidFill>
                <a:latin typeface="Arial"/>
                <a:ea typeface="Arial"/>
                <a:cs typeface="Arial"/>
              </a:rPr>
              <a:t>FINDING 6</a:t>
            </a:r>
          </a:p>
        </p:txBody>
      </p:sp>
      <p:sp>
        <p:nvSpPr>
          <p:cNvPr id="3" name="Rectangle 2">
            <a:extLst xmlns:a="http://schemas.openxmlformats.org/drawingml/2006/main">
              <a:ext uri="{FF2B5EF4-FFF2-40B4-BE49-F238E27FC236}">
                <a16:creationId xmlns:a16="http://schemas.microsoft.com/office/drawing/2014/main" id="{9C414A89-DDB8-42A0-9EC6-D293FB14A02B}"/>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6B6825F1-FF14-4CD5-96CA-6ADABC833E68}"/>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xmlns:a="http://schemas.openxmlformats.org/drawingml/2006/main">
              <a:ext uri="{FF2B5EF4-FFF2-40B4-BE49-F238E27FC236}">
                <a16:creationId xmlns:a16="http://schemas.microsoft.com/office/drawing/2014/main" id="{5D9D1649-587C-4456-8166-A2187405784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ε4</a:t>
            </a:r>
          </a:p>
        </p:txBody>
      </p:sp>
      <p:sp>
        <p:nvSpPr>
          <p:cNvPr id="6" name="Rounded Rectangle 5">
            <a:extLst xmlns:a="http://schemas.openxmlformats.org/drawingml/2006/main">
              <a:ext uri="{FF2B5EF4-FFF2-40B4-BE49-F238E27FC236}">
                <a16:creationId xmlns:a16="http://schemas.microsoft.com/office/drawing/2014/main" id="{33A304A7-B58D-4C4E-A99B-7833A7FA23F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BEE6627-F54D-4C1B-AE70-D3BFAE6C28A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B651492E-D736-49FB-BB72-A69322B800BF}"/>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B114C09-DD52-47D4-9524-99BEFDE7BF25}"/>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4D7426F-91F4-4023-8BA9-3061DDF9557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5270CF31-5481-440D-B33F-BADDCF5D132C}"/>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2C89362-138A-4072-BCF2-AC08AE17FCD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7458DE17-7623-4714-9E30-190E103E7D83}"/>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1F52A3A3-A0C6-4294-A8A8-435411787EDF}"/>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1B79BF-C986-4D02-BD2E-C7260DE1D23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CEBC224F-844D-49AA-8950-F906778CD2E8}"/>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CF549B9-704B-48D1-A9CC-6A29B7C9DD16}"/>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B7F4820-68C4-4DBF-8007-85F4C1EC83AD}"/>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5AE5697A-FEB6-42FE-8F43-0AB15C40E286}"/>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C4B01E0B-2F27-4747-ACB5-C2FD2A0C2721}"/>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F03B32E-B45F-4290-8A68-D9149DD41445}"/>
              </a:ext>
            </a:extLst>
          </p:cNvPr>
          <p:cNvSpPr>
            <a:spLocks xmlns:a="http://schemas.openxmlformats.org/drawingml/2006/main" noGrp="1"/>
          </p:cNvSpPr>
          <p:nvPr/>
        </p:nvSpPr>
        <p:spPr>
          <a:xfrm xmlns:a="http://schemas.openxmlformats.org/drawingml/2006/main">
            <a:off x="1353312" y="4270248"/>
            <a:ext cx="6720840" cy="3962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sld>
</file>

<file path=ppt/slides/slide4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F51D327-FE6B-4D0A-BADE-FE0B68D28D3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xmlns:a="http://schemas.openxmlformats.org/drawingml/2006/main">
              <a:ext uri="{FF2B5EF4-FFF2-40B4-BE49-F238E27FC236}">
                <a16:creationId xmlns:a16="http://schemas.microsoft.com/office/drawing/2014/main" id="{866E4AAE-C2DA-4F9B-94EA-3819FFE96433}"/>
              </a:ext>
            </a:extLst>
          </p:cNvPr>
          <p:cNvSpPr>
            <a:spLocks xmlns:a="http://schemas.openxmlformats.org/drawingml/2006/main" noGrp="1"/>
          </p:cNvSpPr>
          <p:nvPr/>
        </p:nvSpPr>
        <p:spPr>
          <a:xfrm xmlns:a="http://schemas.openxmlformats.org/drawingml/2006/main">
            <a:off x="548640" y="907118"/>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The direction split resembles male ε3/ε3, but the nuclear decrease is weaker and cross-cohort broad-cell evidence disagrees.</a:t>
            </a:r>
          </a:p>
        </p:txBody>
      </p:sp>
      <p:sp>
        <p:nvSpPr>
          <p:cNvPr id="4" name="Rounded Rectangle 3">
            <a:extLst xmlns:a="http://schemas.openxmlformats.org/drawingml/2006/main">
              <a:ext uri="{FF2B5EF4-FFF2-40B4-BE49-F238E27FC236}">
                <a16:creationId xmlns:a16="http://schemas.microsoft.com/office/drawing/2014/main" id="{DBB05C66-5366-4F96-BB98-5A2B16F87ADC}"/>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6908346-AE80-496F-B440-A54BBFED468C}"/>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B9FD771D-AE09-4B06-B711-5406E8C28D3F}"/>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1CD4C10-E134-428F-985D-8F02AF10B30D}"/>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D4E877AF-D3FE-4F76-B9A0-902C832EF70E}"/>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EC5E80-C583-4798-9C40-FF744018F62B}"/>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895600"/>
                </a:solidFill>
                <a:latin typeface="Arial"/>
                <a:ea typeface="Arial"/>
                <a:cs typeface="Arial"/>
              </a:rPr>
              <a:t>Possible mismatch</a:t>
            </a:r>
          </a:p>
        </p:txBody>
      </p:sp>
      <p:sp>
        <p:nvSpPr>
          <p:cNvPr id="10" name="Rounded Rectangle 9">
            <a:extLst xmlns:a="http://schemas.openxmlformats.org/drawingml/2006/main">
              <a:ext uri="{FF2B5EF4-FFF2-40B4-BE49-F238E27FC236}">
                <a16:creationId xmlns:a16="http://schemas.microsoft.com/office/drawing/2014/main" id="{CF923EF2-BD44-484F-9B6C-6EE0E7F4FD97}"/>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828C884-CF67-4323-BBA1-48B292856B1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040" b="1" i="0">
                <a:solidFill>
                  <a:srgbClr val="9E3A00"/>
                </a:solidFill>
                <a:latin typeface="Arial"/>
                <a:ea typeface="Arial"/>
                <a:cs typeface="Arial"/>
              </a:rPr>
              <a:t>Needs replication</a:t>
            </a:r>
          </a:p>
        </p:txBody>
      </p:sp>
      <p:sp>
        <p:nvSpPr>
          <p:cNvPr id="12" name="Rounded Rectangle 11">
            <a:extLst xmlns:a="http://schemas.openxmlformats.org/drawingml/2006/main">
              <a:ext uri="{FF2B5EF4-FFF2-40B4-BE49-F238E27FC236}">
                <a16:creationId xmlns:a16="http://schemas.microsoft.com/office/drawing/2014/main" id="{019B40E9-BFC8-4286-BBE1-85E17BAD1A8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DDFE37A-0F2D-41E1-A604-F71E6B424F5F}"/>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CORE MT GENES</a:t>
            </a:r>
          </a:p>
        </p:txBody>
      </p:sp>
      <p:sp>
        <p:nvSpPr>
          <p:cNvPr id="14" name="TextBox 13">
            <a:extLst xmlns:a="http://schemas.openxmlformats.org/drawingml/2006/main">
              <a:ext uri="{FF2B5EF4-FFF2-40B4-BE49-F238E27FC236}">
                <a16:creationId xmlns:a16="http://schemas.microsoft.com/office/drawing/2014/main" id="{E94F56C6-CAC0-4C2A-9D04-AB1C93AB477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87 of 110 up</a:t>
            </a:r>
          </a:p>
        </p:txBody>
      </p:sp>
      <p:sp>
        <p:nvSpPr>
          <p:cNvPr id="15" name="TextBox 14">
            <a:extLst xmlns:a="http://schemas.openxmlformats.org/drawingml/2006/main">
              <a:ext uri="{FF2B5EF4-FFF2-40B4-BE49-F238E27FC236}">
                <a16:creationId xmlns:a16="http://schemas.microsoft.com/office/drawing/2014/main" id="{3B12252E-94C2-421D-B8E5-BC76C9CD82BE}"/>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Core MT gene expression mostly increases in AD.</a:t>
            </a:r>
          </a:p>
        </p:txBody>
      </p:sp>
      <p:sp>
        <p:nvSpPr>
          <p:cNvPr id="16" name="Rounded Rectangle 15">
            <a:extLst xmlns:a="http://schemas.openxmlformats.org/drawingml/2006/main">
              <a:ext uri="{FF2B5EF4-FFF2-40B4-BE49-F238E27FC236}">
                <a16:creationId xmlns:a16="http://schemas.microsoft.com/office/drawing/2014/main" id="{9AFA687E-D246-4A14-8D2E-A6635ECDA8CD}"/>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7BF302F-CECB-4A9F-A24A-E027071673A0}"/>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NUCLEAR-ENCODED OXPHOS</a:t>
            </a:r>
          </a:p>
        </p:txBody>
      </p:sp>
      <p:sp>
        <p:nvSpPr>
          <p:cNvPr id="18" name="TextBox 17">
            <a:extLst xmlns:a="http://schemas.openxmlformats.org/drawingml/2006/main">
              <a:ext uri="{FF2B5EF4-FFF2-40B4-BE49-F238E27FC236}">
                <a16:creationId xmlns:a16="http://schemas.microsoft.com/office/drawing/2014/main" id="{A2A1D15B-EA5F-477D-AF2B-21FB5A93F2A7}"/>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55 of 89 down</a:t>
            </a:r>
          </a:p>
        </p:txBody>
      </p:sp>
      <p:sp>
        <p:nvSpPr>
          <p:cNvPr id="19" name="TextBox 18">
            <a:extLst xmlns:a="http://schemas.openxmlformats.org/drawingml/2006/main">
              <a:ext uri="{FF2B5EF4-FFF2-40B4-BE49-F238E27FC236}">
                <a16:creationId xmlns:a16="http://schemas.microsoft.com/office/drawing/2014/main" id="{A471FEAF-08F4-405F-9F71-ACEA3114684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xmlns:a="http://schemas.openxmlformats.org/drawingml/2006/main">
              <a:ext uri="{FF2B5EF4-FFF2-40B4-BE49-F238E27FC236}">
                <a16:creationId xmlns:a16="http://schemas.microsoft.com/office/drawing/2014/main" id="{127EC019-DEAF-4830-9BDF-E8FC4E5D6C9F}"/>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01E40FA-D200-4AB8-9D14-C59E36BACC7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READING</a:t>
            </a:r>
          </a:p>
        </p:txBody>
      </p:sp>
      <p:sp>
        <p:nvSpPr>
          <p:cNvPr id="22" name="TextBox 21">
            <a:extLst xmlns:a="http://schemas.openxmlformats.org/drawingml/2006/main">
              <a:ext uri="{FF2B5EF4-FFF2-40B4-BE49-F238E27FC236}">
                <a16:creationId xmlns:a16="http://schemas.microsoft.com/office/drawing/2014/main" id="{847AB25A-4A19-469E-B083-E1E9AECA12F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Weaker mismatch</a:t>
            </a:r>
          </a:p>
        </p:txBody>
      </p:sp>
      <p:sp>
        <p:nvSpPr>
          <p:cNvPr id="23" name="TextBox 22">
            <a:extLst xmlns:a="http://schemas.openxmlformats.org/drawingml/2006/main">
              <a:ext uri="{FF2B5EF4-FFF2-40B4-BE49-F238E27FC236}">
                <a16:creationId xmlns:a16="http://schemas.microsoft.com/office/drawing/2014/main" id="{32530C92-1924-49DF-8A13-2600E990EAE4}"/>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two sides differ, but the evidence does not support a definitive mismatch claim.</a:t>
            </a:r>
          </a:p>
        </p:txBody>
      </p:sp>
    </p:spTree>
    <p:extLst>
      <p:ext uri="{BB962C8B-B14F-4D97-AF65-F5344CB8AC3E}">
        <p14:creationId xmlns:p14="http://schemas.microsoft.com/office/powerpoint/2010/main" val="438493806"/>
      </p:ext>
    </p:extLst>
  </p:cSld>
</p:sld>
</file>

<file path=ppt/slides/slide4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A58526-89F3-4E38-BF49-AEBBD936060E}"/>
              </a:ext>
            </a:extLst>
          </p:cNvPr>
          <p:cNvSpPr>
            <a:spLocks xmlns:a="http://schemas.openxmlformats.org/drawingml/2006/main" noGrp="1"/>
          </p:cNvSpPr>
          <p:nvPr/>
        </p:nvSpPr>
        <p:spPr>
          <a:xfrm xmlns:a="http://schemas.openxmlformats.org/drawingml/2006/main">
            <a:off x="530352" y="292608"/>
            <a:ext cx="11064240" cy="664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xmlns:a="http://schemas.openxmlformats.org/drawingml/2006/main">
              <a:ext uri="{FF2B5EF4-FFF2-40B4-BE49-F238E27FC236}">
                <a16:creationId xmlns:a16="http://schemas.microsoft.com/office/drawing/2014/main" id="{ECFA4E0E-884F-4652-96F2-167C56BD9EE7}"/>
              </a:ext>
            </a:extLst>
          </p:cNvPr>
          <p:cNvSpPr>
            <a:spLocks xmlns:a="http://schemas.openxmlformats.org/drawingml/2006/main" noGrp="1"/>
          </p:cNvSpPr>
          <p:nvPr/>
        </p:nvSpPr>
        <p:spPr>
          <a:xfrm xmlns:a="http://schemas.openxmlformats.org/drawingml/2006/main">
            <a:off x="548640" y="969264"/>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The nuclear direction is substantially less one-sided than in male ε3/ε3.</a:t>
            </a:r>
          </a:p>
        </p:txBody>
      </p:sp>
      <p:sp>
        <p:nvSpPr>
          <p:cNvPr id="4" name="Rounded Rectangle 3">
            <a:extLst xmlns:a="http://schemas.openxmlformats.org/drawingml/2006/main">
              <a:ext uri="{FF2B5EF4-FFF2-40B4-BE49-F238E27FC236}">
                <a16:creationId xmlns:a16="http://schemas.microsoft.com/office/drawing/2014/main" id="{8839F25B-91B3-46BE-887D-E61B8C50F23C}"/>
              </a:ext>
            </a:extLst>
          </p:cNvPr>
          <p:cNvSpPr>
            <a:spLocks xmlns:a="http://schemas.openxmlformats.org/drawingml/2006/main" noGrp="1"/>
          </p:cNvSpPr>
          <p:nvPr/>
        </p:nvSpPr>
        <p:spPr>
          <a:xfrm xmlns:a="http://schemas.openxmlformats.org/drawingml/2006/main">
            <a:off x="658368" y="1672111"/>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C7138D0-B75E-406D-B74A-89AFB1B13312}"/>
              </a:ext>
            </a:extLst>
          </p:cNvPr>
          <p:cNvSpPr>
            <a:spLocks xmlns:a="http://schemas.openxmlformats.org/drawingml/2006/main" noGrp="1"/>
          </p:cNvSpPr>
          <p:nvPr/>
        </p:nvSpPr>
        <p:spPr>
          <a:xfrm xmlns:a="http://schemas.openxmlformats.org/drawingml/2006/main">
            <a:off x="822959" y="1800126"/>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72B2"/>
                </a:solidFill>
                <a:latin typeface="Arial"/>
                <a:ea typeface="Arial"/>
                <a:cs typeface="Arial"/>
              </a:rPr>
              <a:t>110</a:t>
            </a:r>
          </a:p>
        </p:txBody>
      </p:sp>
      <p:sp>
        <p:nvSpPr>
          <p:cNvPr id="6" name="TextBox 5">
            <a:extLst xmlns:a="http://schemas.openxmlformats.org/drawingml/2006/main">
              <a:ext uri="{FF2B5EF4-FFF2-40B4-BE49-F238E27FC236}">
                <a16:creationId xmlns:a16="http://schemas.microsoft.com/office/drawing/2014/main" id="{35317A91-B5E5-4086-970C-D8770C8A9AAE}"/>
              </a:ext>
            </a:extLst>
          </p:cNvPr>
          <p:cNvSpPr>
            <a:spLocks xmlns:a="http://schemas.openxmlformats.org/drawingml/2006/main" noGrp="1"/>
          </p:cNvSpPr>
          <p:nvPr/>
        </p:nvSpPr>
        <p:spPr>
          <a:xfrm xmlns:a="http://schemas.openxmlformats.org/drawingml/2006/main">
            <a:off x="822959" y="2330479"/>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FB5B17FA-E20B-417B-B6BD-6FAEE0CBA6F0}"/>
              </a:ext>
            </a:extLst>
          </p:cNvPr>
          <p:cNvSpPr>
            <a:spLocks xmlns:a="http://schemas.openxmlformats.org/drawingml/2006/main" noGrp="1"/>
          </p:cNvSpPr>
          <p:nvPr/>
        </p:nvSpPr>
        <p:spPr>
          <a:xfrm xmlns:a="http://schemas.openxmlformats.org/drawingml/2006/main">
            <a:off x="822959" y="2659663"/>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87 up, 23 down</a:t>
            </a:r>
          </a:p>
        </p:txBody>
      </p:sp>
      <p:sp>
        <p:nvSpPr>
          <p:cNvPr id="8" name="Rounded Rectangle 7">
            <a:extLst xmlns:a="http://schemas.openxmlformats.org/drawingml/2006/main">
              <a:ext uri="{FF2B5EF4-FFF2-40B4-BE49-F238E27FC236}">
                <a16:creationId xmlns:a16="http://schemas.microsoft.com/office/drawing/2014/main" id="{5B61249A-9F51-456A-BDD9-B5D54681952E}"/>
              </a:ext>
            </a:extLst>
          </p:cNvPr>
          <p:cNvSpPr>
            <a:spLocks xmlns:a="http://schemas.openxmlformats.org/drawingml/2006/main" noGrp="1"/>
          </p:cNvSpPr>
          <p:nvPr/>
        </p:nvSpPr>
        <p:spPr>
          <a:xfrm xmlns:a="http://schemas.openxmlformats.org/drawingml/2006/main">
            <a:off x="4453128" y="1672111"/>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BDCA7DC-736C-442B-8A2B-26A895ECD844}"/>
              </a:ext>
            </a:extLst>
          </p:cNvPr>
          <p:cNvSpPr>
            <a:spLocks xmlns:a="http://schemas.openxmlformats.org/drawingml/2006/main" noGrp="1"/>
          </p:cNvSpPr>
          <p:nvPr/>
        </p:nvSpPr>
        <p:spPr>
          <a:xfrm xmlns:a="http://schemas.openxmlformats.org/drawingml/2006/main">
            <a:off x="4617720" y="1800126"/>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00684D"/>
                </a:solidFill>
                <a:latin typeface="Arial"/>
                <a:ea typeface="Arial"/>
                <a:cs typeface="Arial"/>
              </a:rPr>
              <a:t>89</a:t>
            </a:r>
          </a:p>
        </p:txBody>
      </p:sp>
      <p:sp>
        <p:nvSpPr>
          <p:cNvPr id="10" name="TextBox 9">
            <a:extLst xmlns:a="http://schemas.openxmlformats.org/drawingml/2006/main">
              <a:ext uri="{FF2B5EF4-FFF2-40B4-BE49-F238E27FC236}">
                <a16:creationId xmlns:a16="http://schemas.microsoft.com/office/drawing/2014/main" id="{D30E1E56-4519-4229-853B-C5AC802C6F5B}"/>
              </a:ext>
            </a:extLst>
          </p:cNvPr>
          <p:cNvSpPr>
            <a:spLocks xmlns:a="http://schemas.openxmlformats.org/drawingml/2006/main" noGrp="1"/>
          </p:cNvSpPr>
          <p:nvPr/>
        </p:nvSpPr>
        <p:spPr>
          <a:xfrm xmlns:a="http://schemas.openxmlformats.org/drawingml/2006/main">
            <a:off x="4617720" y="2330479"/>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1A25E093-3DDF-4EAE-9E85-E28645A8669C}"/>
              </a:ext>
            </a:extLst>
          </p:cNvPr>
          <p:cNvSpPr>
            <a:spLocks xmlns:a="http://schemas.openxmlformats.org/drawingml/2006/main" noGrp="1"/>
          </p:cNvSpPr>
          <p:nvPr/>
        </p:nvSpPr>
        <p:spPr>
          <a:xfrm xmlns:a="http://schemas.openxmlformats.org/drawingml/2006/main">
            <a:off x="4617720" y="2659663"/>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34 up, 55 down</a:t>
            </a:r>
          </a:p>
        </p:txBody>
      </p:sp>
      <p:sp>
        <p:nvSpPr>
          <p:cNvPr id="12" name="Rounded Rectangle 11">
            <a:extLst xmlns:a="http://schemas.openxmlformats.org/drawingml/2006/main">
              <a:ext uri="{FF2B5EF4-FFF2-40B4-BE49-F238E27FC236}">
                <a16:creationId xmlns:a16="http://schemas.microsoft.com/office/drawing/2014/main" id="{D457E9F9-CA25-410E-B050-7D1E6E146DC3}"/>
              </a:ext>
            </a:extLst>
          </p:cNvPr>
          <p:cNvSpPr>
            <a:spLocks xmlns:a="http://schemas.openxmlformats.org/drawingml/2006/main" noGrp="1"/>
          </p:cNvSpPr>
          <p:nvPr/>
        </p:nvSpPr>
        <p:spPr>
          <a:xfrm xmlns:a="http://schemas.openxmlformats.org/drawingml/2006/main">
            <a:off x="8247888" y="1672111"/>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D72DAD8-ADBF-4AAD-B91E-03EC7BC07290}"/>
              </a:ext>
            </a:extLst>
          </p:cNvPr>
          <p:cNvSpPr>
            <a:spLocks xmlns:a="http://schemas.openxmlformats.org/drawingml/2006/main" noGrp="1"/>
          </p:cNvSpPr>
          <p:nvPr/>
        </p:nvSpPr>
        <p:spPr>
          <a:xfrm xmlns:a="http://schemas.openxmlformats.org/drawingml/2006/main">
            <a:off x="8412480" y="1800126"/>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2800" b="1" i="0">
                <a:solidFill>
                  <a:srgbClr val="895600"/>
                </a:solidFill>
                <a:latin typeface="Arial"/>
                <a:ea typeface="Arial"/>
                <a:cs typeface="Arial"/>
              </a:rPr>
              <a:t>11/13</a:t>
            </a:r>
          </a:p>
        </p:txBody>
      </p:sp>
      <p:sp>
        <p:nvSpPr>
          <p:cNvPr id="14" name="TextBox 13">
            <a:extLst xmlns:a="http://schemas.openxmlformats.org/drawingml/2006/main">
              <a:ext uri="{FF2B5EF4-FFF2-40B4-BE49-F238E27FC236}">
                <a16:creationId xmlns:a16="http://schemas.microsoft.com/office/drawing/2014/main" id="{7CC83DB0-9BCF-47E2-8983-1478D16862E8}"/>
              </a:ext>
            </a:extLst>
          </p:cNvPr>
          <p:cNvSpPr>
            <a:spLocks xmlns:a="http://schemas.openxmlformats.org/drawingml/2006/main" noGrp="1"/>
          </p:cNvSpPr>
          <p:nvPr/>
        </p:nvSpPr>
        <p:spPr>
          <a:xfrm xmlns:a="http://schemas.openxmlformats.org/drawingml/2006/main">
            <a:off x="8412480" y="2330479"/>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19" b="1" i="0">
                <a:solidFill>
                  <a:srgbClr val="0F233D"/>
                </a:solidFill>
                <a:latin typeface="Arial"/>
                <a:ea typeface="Arial"/>
                <a:cs typeface="Arial"/>
              </a:rPr>
              <a:t>excitatory fine types</a:t>
            </a:r>
          </a:p>
        </p:txBody>
      </p:sp>
      <p:sp>
        <p:nvSpPr>
          <p:cNvPr id="15" name="TextBox 14">
            <a:extLst xmlns:a="http://schemas.openxmlformats.org/drawingml/2006/main">
              <a:ext uri="{FF2B5EF4-FFF2-40B4-BE49-F238E27FC236}">
                <a16:creationId xmlns:a16="http://schemas.microsoft.com/office/drawing/2014/main" id="{4EDDD363-790B-4679-91A8-652C214FE2A1}"/>
              </a:ext>
            </a:extLst>
          </p:cNvPr>
          <p:cNvSpPr>
            <a:spLocks xmlns:a="http://schemas.openxmlformats.org/drawingml/2006/main" noGrp="1"/>
          </p:cNvSpPr>
          <p:nvPr/>
        </p:nvSpPr>
        <p:spPr>
          <a:xfrm xmlns:a="http://schemas.openxmlformats.org/drawingml/2006/main">
            <a:off x="8412480" y="2659663"/>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880" b="0" i="0">
                <a:solidFill>
                  <a:srgbClr val="4E5A68"/>
                </a:solidFill>
                <a:latin typeface="Arial"/>
                <a:ea typeface="Arial"/>
                <a:cs typeface="Arial"/>
              </a:rPr>
              <a:t>core MT gene enrichment</a:t>
            </a:r>
          </a:p>
        </p:txBody>
      </p:sp>
      <p:sp>
        <p:nvSpPr>
          <p:cNvPr id="16" name="Rounded Rectangle 15">
            <a:extLst xmlns:a="http://schemas.openxmlformats.org/drawingml/2006/main">
              <a:ext uri="{FF2B5EF4-FFF2-40B4-BE49-F238E27FC236}">
                <a16:creationId xmlns:a16="http://schemas.microsoft.com/office/drawing/2014/main" id="{8B5F62F4-DC64-47A1-A18A-5FD88265ED93}"/>
              </a:ext>
            </a:extLst>
          </p:cNvPr>
          <p:cNvSpPr>
            <a:spLocks xmlns:a="http://schemas.openxmlformats.org/drawingml/2006/main" noGrp="1"/>
          </p:cNvSpPr>
          <p:nvPr/>
        </p:nvSpPr>
        <p:spPr>
          <a:xfrm xmlns:a="http://schemas.openxmlformats.org/drawingml/2006/main">
            <a:off x="749808" y="3272311"/>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093E008-61D7-40F6-9A6F-BC2FF076758D}"/>
              </a:ext>
            </a:extLst>
          </p:cNvPr>
          <p:cNvSpPr>
            <a:spLocks xmlns:a="http://schemas.openxmlformats.org/drawingml/2006/main" noGrp="1"/>
          </p:cNvSpPr>
          <p:nvPr/>
        </p:nvSpPr>
        <p:spPr>
          <a:xfrm xmlns:a="http://schemas.openxmlformats.org/drawingml/2006/main">
            <a:off x="987552" y="3436903"/>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707857E-E969-4440-A759-25E1BA124429}"/>
              </a:ext>
            </a:extLst>
          </p:cNvPr>
          <p:cNvSpPr>
            <a:spLocks xmlns:a="http://schemas.openxmlformats.org/drawingml/2006/main" noGrp="1"/>
          </p:cNvSpPr>
          <p:nvPr/>
        </p:nvSpPr>
        <p:spPr>
          <a:xfrm xmlns:a="http://schemas.openxmlformats.org/drawingml/2006/main">
            <a:off x="3419856" y="3391183"/>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0684D"/>
                </a:solidFill>
                <a:latin typeface="Arial"/>
                <a:ea typeface="Arial"/>
                <a:cs typeface="Arial"/>
              </a:rPr>
              <a:t>79% up</a:t>
            </a:r>
          </a:p>
        </p:txBody>
      </p:sp>
      <p:sp>
        <p:nvSpPr>
          <p:cNvPr id="19" name="TextBox 18">
            <a:extLst xmlns:a="http://schemas.openxmlformats.org/drawingml/2006/main">
              <a:ext uri="{FF2B5EF4-FFF2-40B4-BE49-F238E27FC236}">
                <a16:creationId xmlns:a16="http://schemas.microsoft.com/office/drawing/2014/main" id="{825E04B9-EB02-49C9-AD11-CA5CE1282DFD}"/>
              </a:ext>
            </a:extLst>
          </p:cNvPr>
          <p:cNvSpPr>
            <a:spLocks xmlns:a="http://schemas.openxmlformats.org/drawingml/2006/main" noGrp="1"/>
          </p:cNvSpPr>
          <p:nvPr/>
        </p:nvSpPr>
        <p:spPr>
          <a:xfrm xmlns:a="http://schemas.openxmlformats.org/drawingml/2006/main">
            <a:off x="5596128" y="3391183"/>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xmlns:a="http://schemas.openxmlformats.org/drawingml/2006/main">
              <a:ext uri="{FF2B5EF4-FFF2-40B4-BE49-F238E27FC236}">
                <a16:creationId xmlns:a16="http://schemas.microsoft.com/office/drawing/2014/main" id="{1EEF9F57-B4FE-490B-8BD7-9C11F26EC805}"/>
              </a:ext>
            </a:extLst>
          </p:cNvPr>
          <p:cNvSpPr>
            <a:spLocks xmlns:a="http://schemas.openxmlformats.org/drawingml/2006/main" noGrp="1"/>
          </p:cNvSpPr>
          <p:nvPr/>
        </p:nvSpPr>
        <p:spPr>
          <a:xfrm xmlns:a="http://schemas.openxmlformats.org/drawingml/2006/main">
            <a:off x="749808" y="4232431"/>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87777A6-286D-4DA8-9447-43A8BD798CE7}"/>
              </a:ext>
            </a:extLst>
          </p:cNvPr>
          <p:cNvSpPr>
            <a:spLocks xmlns:a="http://schemas.openxmlformats.org/drawingml/2006/main" noGrp="1"/>
          </p:cNvSpPr>
          <p:nvPr/>
        </p:nvSpPr>
        <p:spPr>
          <a:xfrm xmlns:a="http://schemas.openxmlformats.org/drawingml/2006/main">
            <a:off x="987552" y="439702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426D93DF-FA27-484D-978D-B97329F1FB30}"/>
              </a:ext>
            </a:extLst>
          </p:cNvPr>
          <p:cNvSpPr>
            <a:spLocks xmlns:a="http://schemas.openxmlformats.org/drawingml/2006/main" noGrp="1"/>
          </p:cNvSpPr>
          <p:nvPr/>
        </p:nvSpPr>
        <p:spPr>
          <a:xfrm xmlns:a="http://schemas.openxmlformats.org/drawingml/2006/main">
            <a:off x="3419856" y="4351303"/>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9E3A00"/>
                </a:solidFill>
                <a:latin typeface="Arial"/>
                <a:ea typeface="Arial"/>
                <a:cs typeface="Arial"/>
              </a:rPr>
              <a:t>62% down</a:t>
            </a:r>
          </a:p>
        </p:txBody>
      </p:sp>
      <p:sp>
        <p:nvSpPr>
          <p:cNvPr id="23" name="TextBox 22">
            <a:extLst xmlns:a="http://schemas.openxmlformats.org/drawingml/2006/main">
              <a:ext uri="{FF2B5EF4-FFF2-40B4-BE49-F238E27FC236}">
                <a16:creationId xmlns:a16="http://schemas.microsoft.com/office/drawing/2014/main" id="{FCF53A21-6035-4E39-BA20-E4B69FCE5D94}"/>
              </a:ext>
            </a:extLst>
          </p:cNvPr>
          <p:cNvSpPr>
            <a:spLocks xmlns:a="http://schemas.openxmlformats.org/drawingml/2006/main" noGrp="1"/>
          </p:cNvSpPr>
          <p:nvPr/>
        </p:nvSpPr>
        <p:spPr>
          <a:xfrm xmlns:a="http://schemas.openxmlformats.org/drawingml/2006/main">
            <a:off x="5596128" y="4351303"/>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xmlns:a="http://schemas.openxmlformats.org/drawingml/2006/main">
              <a:ext uri="{FF2B5EF4-FFF2-40B4-BE49-F238E27FC236}">
                <a16:creationId xmlns:a16="http://schemas.microsoft.com/office/drawing/2014/main" id="{C35569EA-A504-4FEF-A234-A7B52E09A639}"/>
              </a:ext>
            </a:extLst>
          </p:cNvPr>
          <p:cNvSpPr>
            <a:spLocks xmlns:a="http://schemas.openxmlformats.org/drawingml/2006/main" noGrp="1"/>
          </p:cNvSpPr>
          <p:nvPr/>
        </p:nvSpPr>
        <p:spPr>
          <a:xfrm xmlns:a="http://schemas.openxmlformats.org/drawingml/2006/main">
            <a:off x="749808" y="5192551"/>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E2A3A88-02E2-4D5C-8DC6-503323D5E5C5}"/>
              </a:ext>
            </a:extLst>
          </p:cNvPr>
          <p:cNvSpPr>
            <a:spLocks xmlns:a="http://schemas.openxmlformats.org/drawingml/2006/main" noGrp="1"/>
          </p:cNvSpPr>
          <p:nvPr/>
        </p:nvSpPr>
        <p:spPr>
          <a:xfrm xmlns:a="http://schemas.openxmlformats.org/drawingml/2006/main">
            <a:off x="987552" y="5357143"/>
            <a:ext cx="2331720" cy="45550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300" b="1" i="0">
                <a:solidFill>
                  <a:srgbClr val="0F233D"/>
                </a:solidFill>
                <a:latin typeface="Arial"/>
                <a:ea typeface="Arial"/>
                <a:cs typeface="Arial"/>
              </a:rPr>
              <a:t>Evidence of opposite direction</a:t>
            </a:r>
            <a:endParaRPr sz="1300" b="1" i="0">
              <a:solidFill>
                <a:srgbClr val="0F233D"/>
              </a:solidFill>
              <a:latin typeface="Arial"/>
              <a:ea typeface="Arial"/>
              <a:cs typeface="Arial"/>
            </a:endParaRPr>
          </a:p>
        </p:txBody>
      </p:sp>
      <p:sp>
        <p:nvSpPr>
          <p:cNvPr id="26" name="TextBox 25">
            <a:extLst xmlns:a="http://schemas.openxmlformats.org/drawingml/2006/main">
              <a:ext uri="{FF2B5EF4-FFF2-40B4-BE49-F238E27FC236}">
                <a16:creationId xmlns:a16="http://schemas.microsoft.com/office/drawing/2014/main" id="{B161D71B-8C91-4EA5-AAFD-66B5A5D14474}"/>
              </a:ext>
            </a:extLst>
          </p:cNvPr>
          <p:cNvSpPr>
            <a:spLocks xmlns:a="http://schemas.openxmlformats.org/drawingml/2006/main" noGrp="1"/>
          </p:cNvSpPr>
          <p:nvPr/>
        </p:nvSpPr>
        <p:spPr>
          <a:xfrm xmlns:a="http://schemas.openxmlformats.org/drawingml/2006/main">
            <a:off x="3419856" y="5311423"/>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895600"/>
                </a:solidFill>
                <a:latin typeface="Arial"/>
                <a:ea typeface="Arial"/>
                <a:cs typeface="Arial"/>
              </a:rPr>
              <a:t>Possible, not definitive</a:t>
            </a:r>
          </a:p>
        </p:txBody>
      </p:sp>
      <p:sp>
        <p:nvSpPr>
          <p:cNvPr id="27" name="TextBox 26">
            <a:extLst xmlns:a="http://schemas.openxmlformats.org/drawingml/2006/main">
              <a:ext uri="{FF2B5EF4-FFF2-40B4-BE49-F238E27FC236}">
                <a16:creationId xmlns:a16="http://schemas.microsoft.com/office/drawing/2014/main" id="{323F2BA4-0FC2-4EFB-8919-5680A33994A4}"/>
              </a:ext>
            </a:extLst>
          </p:cNvPr>
          <p:cNvSpPr>
            <a:spLocks xmlns:a="http://schemas.openxmlformats.org/drawingml/2006/main" noGrp="1"/>
          </p:cNvSpPr>
          <p:nvPr/>
        </p:nvSpPr>
        <p:spPr>
          <a:xfrm xmlns:a="http://schemas.openxmlformats.org/drawingml/2006/main">
            <a:off x="5596128" y="5414693"/>
            <a:ext cx="5468112"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ct val="0"/>
              </a:spcBef>
              <a:spcAft>
                <a:spcPct val="0"/>
              </a:spcAft>
              <a:buNone/>
            </a:pPr>
            <a:r>
              <a:rPr sz="1150" b="0" i="0">
                <a:solidFill>
                  <a:srgbClr val="1F2730"/>
                </a:solidFill>
                <a:latin typeface="Arial"/>
                <a:ea typeface="Arial"/>
                <a:cs typeface="Arial"/>
              </a:rPr>
              <a:t>The nuclear side is too mixed</a:t>
            </a:r>
            <a:r>
              <a:rPr sz="1150" b="0" i="0">
                <a:solidFill>
                  <a:srgbClr val="1F2730"/>
                </a:solidFill>
                <a:latin typeface="Arial"/>
                <a:ea typeface="Arial"/>
                <a:cs typeface="Arial"/>
              </a:rPr>
              <a:t>, so weaker than</a:t>
            </a:r>
            <a:r>
              <a:rPr sz="1150" b="0" i="0">
                <a:solidFill>
                  <a:srgbClr val="1F2730"/>
                </a:solidFill>
                <a:latin typeface="Arial"/>
                <a:ea typeface="Arial"/>
                <a:cs typeface="Arial"/>
              </a:rPr>
              <a:t> Finding 2</a:t>
            </a:r>
          </a:p>
        </p:txBody>
      </p:sp>
    </p:spTree>
    <p:extLst>
      <p:ext uri="{BB962C8B-B14F-4D97-AF65-F5344CB8AC3E}">
        <p14:creationId xmlns:p14="http://schemas.microsoft.com/office/powerpoint/2010/main" val="238565285"/>
      </p:ext>
    </p:extLst>
  </p:cSld>
</p:sld>
</file>

<file path=ppt/slides/slide4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B9C1982-3E55-4313-9CE5-CFD54282201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xmlns:a="http://schemas.openxmlformats.org/drawingml/2006/main">
              <a:ext uri="{FF2B5EF4-FFF2-40B4-BE49-F238E27FC236}">
                <a16:creationId xmlns:a16="http://schemas.microsoft.com/office/drawing/2014/main" id="{D5AA194A-7D48-410F-B140-EDD62AD58FB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xmlns:a="http://schemas.openxmlformats.org/drawingml/2006/main">
              <a:ext uri="{FF2B5EF4-FFF2-40B4-BE49-F238E27FC236}">
                <a16:creationId xmlns:a16="http://schemas.microsoft.com/office/drawing/2014/main" id="{73F80850-1DD1-48CA-9C04-41340D4E44B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248C75F-F33A-4A18-9BE1-6D4E87512E57}"/>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ROSMAP EXCITATORY</a:t>
            </a:r>
          </a:p>
        </p:txBody>
      </p:sp>
      <p:sp>
        <p:nvSpPr>
          <p:cNvPr id="6" name="TextBox 5">
            <a:extLst xmlns:a="http://schemas.openxmlformats.org/drawingml/2006/main">
              <a:ext uri="{FF2B5EF4-FFF2-40B4-BE49-F238E27FC236}">
                <a16:creationId xmlns:a16="http://schemas.microsoft.com/office/drawing/2014/main" id="{864C8E28-1A3C-4699-ADBE-859F3C0D8C9C}"/>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+2.03 core MT NES</a:t>
            </a:r>
          </a:p>
        </p:txBody>
      </p:sp>
      <p:sp>
        <p:nvSpPr>
          <p:cNvPr id="7" name="TextBox 6">
            <a:extLst xmlns:a="http://schemas.openxmlformats.org/drawingml/2006/main">
              <a:ext uri="{FF2B5EF4-FFF2-40B4-BE49-F238E27FC236}">
                <a16:creationId xmlns:a16="http://schemas.microsoft.com/office/drawing/2014/main" id="{03F655E6-FFC7-4631-970A-44D7AFB7CF6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xmlns:a="http://schemas.openxmlformats.org/drawingml/2006/main">
              <a:ext uri="{FF2B5EF4-FFF2-40B4-BE49-F238E27FC236}">
                <a16:creationId xmlns:a16="http://schemas.microsoft.com/office/drawing/2014/main" id="{7E6B98DB-8D6C-4CAB-BF4E-9C7F83465275}"/>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EEE532F-578A-4EA2-8AA2-22F222211B6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ROSMAP EXCITATORY</a:t>
            </a:r>
          </a:p>
        </p:txBody>
      </p:sp>
      <p:sp>
        <p:nvSpPr>
          <p:cNvPr id="10" name="TextBox 9">
            <a:extLst xmlns:a="http://schemas.openxmlformats.org/drawingml/2006/main">
              <a:ext uri="{FF2B5EF4-FFF2-40B4-BE49-F238E27FC236}">
                <a16:creationId xmlns:a16="http://schemas.microsoft.com/office/drawing/2014/main" id="{32654655-8723-4E99-BD57-5845AA5E34A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−1.72 nuclear NES</a:t>
            </a:r>
          </a:p>
        </p:txBody>
      </p:sp>
      <p:sp>
        <p:nvSpPr>
          <p:cNvPr id="11" name="TextBox 10">
            <a:extLst xmlns:a="http://schemas.openxmlformats.org/drawingml/2006/main">
              <a:ext uri="{FF2B5EF4-FFF2-40B4-BE49-F238E27FC236}">
                <a16:creationId xmlns:a16="http://schemas.microsoft.com/office/drawing/2014/main" id="{D4FE3084-A79F-4FDE-8D72-2E973ED4F01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xmlns:a="http://schemas.openxmlformats.org/drawingml/2006/main">
              <a:ext uri="{FF2B5EF4-FFF2-40B4-BE49-F238E27FC236}">
                <a16:creationId xmlns:a16="http://schemas.microsoft.com/office/drawing/2014/main" id="{833837A4-38EF-47FE-AB96-23F07DD25D5A}"/>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75B039C5-F3B5-4569-B1E5-C8A190B4B196}"/>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SEA-AD EXCITATORY</a:t>
            </a:r>
          </a:p>
        </p:txBody>
      </p:sp>
      <p:sp>
        <p:nvSpPr>
          <p:cNvPr id="14" name="TextBox 13">
            <a:extLst xmlns:a="http://schemas.openxmlformats.org/drawingml/2006/main">
              <a:ext uri="{FF2B5EF4-FFF2-40B4-BE49-F238E27FC236}">
                <a16:creationId xmlns:a16="http://schemas.microsoft.com/office/drawing/2014/main" id="{E255F907-3726-4ED6-BA97-1B56DA232D5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+2.46 nuclear NES</a:t>
            </a:r>
          </a:p>
        </p:txBody>
      </p:sp>
      <p:sp>
        <p:nvSpPr>
          <p:cNvPr id="15" name="TextBox 14">
            <a:extLst xmlns:a="http://schemas.openxmlformats.org/drawingml/2006/main">
              <a:ext uri="{FF2B5EF4-FFF2-40B4-BE49-F238E27FC236}">
                <a16:creationId xmlns:a16="http://schemas.microsoft.com/office/drawing/2014/main" id="{826F063C-28A4-4A84-B6BB-4F74EAADF36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xmlns:a="http://schemas.openxmlformats.org/drawingml/2006/main">
              <a:ext uri="{FF2B5EF4-FFF2-40B4-BE49-F238E27FC236}">
                <a16:creationId xmlns:a16="http://schemas.microsoft.com/office/drawing/2014/main" id="{300DBFEC-3417-4C51-B020-FF44A48774A1}"/>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2029546-FCA5-418B-A6A9-3321BA3150B0}"/>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sld>
</file>

<file path=ppt/slides/slide4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405641A-583C-4992-BB25-C4C9E643239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xmlns:a="http://schemas.openxmlformats.org/drawingml/2006/main">
              <a:ext uri="{FF2B5EF4-FFF2-40B4-BE49-F238E27FC236}">
                <a16:creationId xmlns:a16="http://schemas.microsoft.com/office/drawing/2014/main" id="{58633844-E6EF-4BE9-970C-B818B8CC1EFE}"/>
              </a:ext>
            </a:extLst>
          </p:cNvPr>
          <p:cNvSpPr>
            <a:spLocks xmlns:a="http://schemas.openxmlformats.org/drawingml/2006/main" noGrp="1"/>
          </p:cNvSpPr>
          <p:nvPr/>
        </p:nvSpPr>
        <p:spPr>
          <a:xfrm xmlns:a="http://schemas.openxmlformats.org/drawingml/2006/main">
            <a:off x="548640" y="898242"/>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If confirmed, the split could represent a general male response or an APOE-dependent gradient.</a:t>
            </a:r>
          </a:p>
        </p:txBody>
      </p:sp>
      <p:sp>
        <p:nvSpPr>
          <p:cNvPr id="4" name="Rounded Rectangle 3">
            <a:extLst xmlns:a="http://schemas.openxmlformats.org/drawingml/2006/main">
              <a:ext uri="{FF2B5EF4-FFF2-40B4-BE49-F238E27FC236}">
                <a16:creationId xmlns:a16="http://schemas.microsoft.com/office/drawing/2014/main" id="{FBF3FBD6-C6C0-4535-80F5-8E418D24ECCB}"/>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821D29E-021F-40F6-88D9-1738C9BDB4B9}"/>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0072B2"/>
                </a:solidFill>
                <a:latin typeface="Arial"/>
                <a:ea typeface="Arial"/>
                <a:cs typeface="Arial"/>
              </a:rPr>
              <a:t>COMPARISON</a:t>
            </a:r>
          </a:p>
        </p:txBody>
      </p:sp>
      <p:sp>
        <p:nvSpPr>
          <p:cNvPr id="6" name="TextBox 5">
            <a:extLst xmlns:a="http://schemas.openxmlformats.org/drawingml/2006/main">
              <a:ext uri="{FF2B5EF4-FFF2-40B4-BE49-F238E27FC236}">
                <a16:creationId xmlns:a16="http://schemas.microsoft.com/office/drawing/2014/main" id="{9B95D7C0-68A2-44B6-8AE3-10803B0BEF75}"/>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Related to Finding 2</a:t>
            </a:r>
          </a:p>
        </p:txBody>
      </p:sp>
      <p:sp>
        <p:nvSpPr>
          <p:cNvPr id="7" name="TextBox 6">
            <a:extLst xmlns:a="http://schemas.openxmlformats.org/drawingml/2006/main">
              <a:ext uri="{FF2B5EF4-FFF2-40B4-BE49-F238E27FC236}">
                <a16:creationId xmlns:a16="http://schemas.microsoft.com/office/drawing/2014/main" id="{3C634A4A-98EB-4C7E-90DD-E2FD0C6976C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xmlns:a="http://schemas.openxmlformats.org/drawingml/2006/main">
              <a:ext uri="{FF2B5EF4-FFF2-40B4-BE49-F238E27FC236}">
                <a16:creationId xmlns:a16="http://schemas.microsoft.com/office/drawing/2014/main" id="{44A3155E-5365-4F5E-AFD2-554245C06004}"/>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A644B14-4140-4C64-8588-8E8B9A63FFF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895600"/>
                </a:solidFill>
                <a:latin typeface="Arial"/>
                <a:ea typeface="Arial"/>
                <a:cs typeface="Arial"/>
              </a:rPr>
              <a:t>DIFFERENCE</a:t>
            </a:r>
          </a:p>
        </p:txBody>
      </p:sp>
      <p:sp>
        <p:nvSpPr>
          <p:cNvPr id="10" name="TextBox 9">
            <a:extLst xmlns:a="http://schemas.openxmlformats.org/drawingml/2006/main">
              <a:ext uri="{FF2B5EF4-FFF2-40B4-BE49-F238E27FC236}">
                <a16:creationId xmlns:a16="http://schemas.microsoft.com/office/drawing/2014/main" id="{97870FB4-2C51-4BE1-B022-2E22607B8047}"/>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The ε4 split is weaker</a:t>
            </a:r>
          </a:p>
        </p:txBody>
      </p:sp>
      <p:sp>
        <p:nvSpPr>
          <p:cNvPr id="11" name="TextBox 10">
            <a:extLst xmlns:a="http://schemas.openxmlformats.org/drawingml/2006/main">
              <a:ext uri="{FF2B5EF4-FFF2-40B4-BE49-F238E27FC236}">
                <a16:creationId xmlns:a16="http://schemas.microsoft.com/office/drawing/2014/main" id="{0917A412-A9D7-4B98-842E-4C1E412EED3C}"/>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xmlns:a="http://schemas.openxmlformats.org/drawingml/2006/main">
              <a:ext uri="{FF2B5EF4-FFF2-40B4-BE49-F238E27FC236}">
                <a16:creationId xmlns:a16="http://schemas.microsoft.com/office/drawing/2014/main" id="{20DB37EA-5442-450B-925E-213927510EE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95C0462-B63B-42A0-A2F9-871984922E23}"/>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40" b="1" i="0">
                <a:solidFill>
                  <a:srgbClr val="9E3A00"/>
                </a:solidFill>
                <a:latin typeface="Arial"/>
                <a:ea typeface="Arial"/>
                <a:cs typeface="Arial"/>
              </a:rPr>
              <a:t>INFERENCE</a:t>
            </a:r>
          </a:p>
        </p:txBody>
      </p:sp>
      <p:sp>
        <p:nvSpPr>
          <p:cNvPr id="14" name="TextBox 13">
            <a:extLst xmlns:a="http://schemas.openxmlformats.org/drawingml/2006/main">
              <a:ext uri="{FF2B5EF4-FFF2-40B4-BE49-F238E27FC236}">
                <a16:creationId xmlns:a16="http://schemas.microsoft.com/office/drawing/2014/main" id="{4585C609-7948-4621-91F5-67CE7ED0E18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600" b="1" i="0">
                <a:solidFill>
                  <a:srgbClr val="0F233D"/>
                </a:solidFill>
                <a:latin typeface="Arial"/>
                <a:ea typeface="Arial"/>
                <a:cs typeface="Arial"/>
              </a:rPr>
              <a:t>Direct comparisons are required</a:t>
            </a:r>
          </a:p>
        </p:txBody>
      </p:sp>
      <p:sp>
        <p:nvSpPr>
          <p:cNvPr id="15" name="TextBox 14">
            <a:extLst xmlns:a="http://schemas.openxmlformats.org/drawingml/2006/main">
              <a:ext uri="{FF2B5EF4-FFF2-40B4-BE49-F238E27FC236}">
                <a16:creationId xmlns:a16="http://schemas.microsoft.com/office/drawing/2014/main" id="{0BBC561B-EB2C-4DFB-BD6D-952F4250608D}"/>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xmlns:a="http://schemas.openxmlformats.org/drawingml/2006/main">
              <a:ext uri="{FF2B5EF4-FFF2-40B4-BE49-F238E27FC236}">
                <a16:creationId xmlns:a16="http://schemas.microsoft.com/office/drawing/2014/main" id="{3D286636-188B-4CE3-950A-6F3D38DF3FDD}"/>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4682283-93A0-457E-86E4-942B19E5A046}"/>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A3BAB5CC-C225-4EBE-BB90-009213F7E394}"/>
              </a:ext>
            </a:extLst>
          </p:cNvPr>
          <p:cNvSpPr>
            <a:spLocks xmlns:a="http://schemas.openxmlformats.org/drawingml/2006/main" noGrp="1"/>
          </p:cNvSpPr>
          <p:nvPr/>
        </p:nvSpPr>
        <p:spPr>
          <a:xfrm xmlns:a="http://schemas.openxmlformats.org/drawingml/2006/main">
            <a:off x="2788920" y="5861304"/>
            <a:ext cx="8321040" cy="2277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120" b="1" i="0">
                <a:solidFill>
                  <a:srgbClr val="1F2730"/>
                </a:solidFill>
                <a:latin typeface="Arial"/>
                <a:ea typeface="Arial"/>
                <a:cs typeface="Arial"/>
              </a:rPr>
              <a:t>A prespecified balance score would test the </a:t>
            </a:r>
            <a:r>
              <a:rPr sz="1120" b="1" i="0">
                <a:solidFill>
                  <a:srgbClr val="1F2730"/>
                </a:solidFill>
                <a:latin typeface="Arial"/>
                <a:ea typeface="Arial"/>
                <a:cs typeface="Arial"/>
              </a:rPr>
              <a:t>evidence</a:t>
            </a:r>
            <a:r>
              <a:rPr sz="1120" b="1" i="0">
                <a:solidFill>
                  <a:srgbClr val="1F2730"/>
                </a:solidFill>
                <a:latin typeface="Arial"/>
                <a:ea typeface="Arial"/>
                <a:cs typeface="Arial"/>
              </a:rPr>
              <a:t> of </a:t>
            </a:r>
            <a:r>
              <a:rPr sz="1120" b="1" i="0">
                <a:solidFill>
                  <a:srgbClr val="1F2730"/>
                </a:solidFill>
                <a:latin typeface="Arial"/>
                <a:ea typeface="Arial"/>
                <a:cs typeface="Arial"/>
              </a:rPr>
              <a:t>opposite direction</a:t>
            </a:r>
            <a:r>
              <a:rPr sz="1120" b="1" i="0">
                <a:solidFill>
                  <a:srgbClr val="1F2730"/>
                </a:solidFill>
                <a:latin typeface="Arial"/>
                <a:ea typeface="Arial"/>
                <a:cs typeface="Arial"/>
              </a:rPr>
              <a:t> directly across groups.</a:t>
            </a:r>
          </a:p>
        </p:txBody>
      </p:sp>
    </p:spTree>
    <p:extLst>
      <p:ext uri="{BB962C8B-B14F-4D97-AF65-F5344CB8AC3E}">
        <p14:creationId xmlns:p14="http://schemas.microsoft.com/office/powerpoint/2010/main" val="620284458"/>
      </p:ext>
    </p:extLst>
  </p:cSld>
</p:sld>
</file>

<file path=ppt/slides/slide5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A2A71E9-ACDA-4765-A7F9-B0CEB1DF662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6</a:t>
            </a:r>
          </a:p>
        </p:txBody>
      </p:sp>
      <p:sp>
        <p:nvSpPr>
          <p:cNvPr id="3" name="TextBox 2">
            <a:extLst xmlns:a="http://schemas.openxmlformats.org/drawingml/2006/main">
              <a:ext uri="{FF2B5EF4-FFF2-40B4-BE49-F238E27FC236}">
                <a16:creationId xmlns:a16="http://schemas.microsoft.com/office/drawing/2014/main" id="{48F05558-F943-4C0C-9C78-73E3EBC443DF}"/>
              </a:ext>
            </a:extLst>
          </p:cNvPr>
          <p:cNvSpPr>
            <a:spLocks xmlns:a="http://schemas.openxmlformats.org/drawingml/2006/main" noGrp="1"/>
          </p:cNvSpPr>
          <p:nvPr/>
        </p:nvSpPr>
        <p:spPr>
          <a:xfrm xmlns:a="http://schemas.openxmlformats.org/drawingml/2006/main">
            <a:off x="548640" y="915996"/>
            <a:ext cx="1092708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0C903E9D-C867-4E6D-B6F1-2D65D2917DF6}"/>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17AE226-23F7-4507-B0B8-8C300C84E9AE}"/>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CE5FF710-8136-46D7-B9C6-284FD0953E34}"/>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 ε4 risk</a:t>
            </a:r>
          </a:p>
        </p:txBody>
      </p:sp>
      <p:sp>
        <p:nvSpPr>
          <p:cNvPr id="7" name="TextBox 6">
            <a:extLst xmlns:a="http://schemas.openxmlformats.org/drawingml/2006/main">
              <a:ext uri="{FF2B5EF4-FFF2-40B4-BE49-F238E27FC236}">
                <a16:creationId xmlns:a16="http://schemas.microsoft.com/office/drawing/2014/main" id="{BE9C768D-62BE-407B-828D-D02B15976982}"/>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9BAE84CC-1156-45D1-B3EC-2DE3677830A1}"/>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xmlns:a="http://schemas.openxmlformats.org/drawingml/2006/main">
              <a:ext uri="{FF2B5EF4-FFF2-40B4-BE49-F238E27FC236}">
                <a16:creationId xmlns:a16="http://schemas.microsoft.com/office/drawing/2014/main" id="{86212FEB-C905-4023-B4CE-3E39222AAF43}"/>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A6DF6AFE-5D1D-4221-BE74-25CA572331ED}"/>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xmlns:a="http://schemas.openxmlformats.org/drawingml/2006/main">
              <a:ext uri="{FF2B5EF4-FFF2-40B4-BE49-F238E27FC236}">
                <a16:creationId xmlns:a16="http://schemas.microsoft.com/office/drawing/2014/main" id="{FA5A70B5-ED40-4A94-9C96-69CF00AAD108}"/>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619859B-7770-4E65-9610-E6F7B16750F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A6B440C9-AFA2-4622-B717-DF2B9BEE1DDA}"/>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APOE4 mitochondrial biology</a:t>
            </a:r>
          </a:p>
        </p:txBody>
      </p:sp>
      <p:sp>
        <p:nvSpPr>
          <p:cNvPr id="14" name="TextBox 13">
            <a:extLst xmlns:a="http://schemas.openxmlformats.org/drawingml/2006/main">
              <a:ext uri="{FF2B5EF4-FFF2-40B4-BE49-F238E27FC236}">
                <a16:creationId xmlns:a16="http://schemas.microsoft.com/office/drawing/2014/main" id="{20C1216D-627E-4BAF-93EC-FF63B2D2A9AB}"/>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F7CF12F-A69F-4AE5-8842-F672880271B2}"/>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Shows that APOE4 can alter mitochondrial homeostasis.</a:t>
            </a:r>
          </a:p>
        </p:txBody>
      </p:sp>
      <p:sp>
        <p:nvSpPr>
          <p:cNvPr id="16" name="TextBox 15">
            <a:extLst xmlns:a="http://schemas.openxmlformats.org/drawingml/2006/main">
              <a:ext uri="{FF2B5EF4-FFF2-40B4-BE49-F238E27FC236}">
                <a16:creationId xmlns:a16="http://schemas.microsoft.com/office/drawing/2014/main" id="{D60C0674-C91F-4F95-B95A-6EDEAF6B2D83}"/>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DFEF089C-4CF8-487F-BC4B-57340E96F366}"/>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xmlns:a="http://schemas.openxmlformats.org/drawingml/2006/main">
              <a:ext uri="{FF2B5EF4-FFF2-40B4-BE49-F238E27FC236}">
                <a16:creationId xmlns:a16="http://schemas.microsoft.com/office/drawing/2014/main" id="{087EB3B4-9294-4423-B7F0-8277CEE7876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7CBDB310-912D-46D4-9AA6-6CD32DDC683A}"/>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500" b="1" i="0">
                <a:solidFill>
                  <a:srgbClr val="895600"/>
                </a:solidFill>
                <a:latin typeface="Arial"/>
                <a:ea typeface="Arial"/>
                <a:cs typeface="Arial"/>
              </a:rPr>
              <a:t>Guo et al. 2023</a:t>
            </a:r>
          </a:p>
        </p:txBody>
      </p:sp>
      <p:sp>
        <p:nvSpPr>
          <p:cNvPr id="20" name="TextBox 19">
            <a:extLst xmlns:a="http://schemas.openxmlformats.org/drawingml/2006/main">
              <a:ext uri="{FF2B5EF4-FFF2-40B4-BE49-F238E27FC236}">
                <a16:creationId xmlns:a16="http://schemas.microsoft.com/office/drawing/2014/main" id="{B57CC57B-E52D-4903-8DEE-48C40C4A2597}"/>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ct val="0"/>
              </a:spcBef>
              <a:spcAft>
                <a:spcPct val="0"/>
              </a:spcAft>
              <a:buNone/>
            </a:pPr>
            <a:r>
              <a:rPr sz="1350" b="1" i="0">
                <a:solidFill>
                  <a:srgbClr val="0F233D"/>
                </a:solidFill>
                <a:latin typeface="Arial"/>
                <a:ea typeface="Arial"/>
                <a:cs typeface="Arial"/>
              </a:rPr>
              <a:t>Sex-aware networks</a:t>
            </a:r>
          </a:p>
        </p:txBody>
      </p:sp>
      <p:sp>
        <p:nvSpPr>
          <p:cNvPr id="21" name="TextBox 20">
            <a:extLst xmlns:a="http://schemas.openxmlformats.org/drawingml/2006/main">
              <a:ext uri="{FF2B5EF4-FFF2-40B4-BE49-F238E27FC236}">
                <a16:creationId xmlns:a16="http://schemas.microsoft.com/office/drawing/2014/main" id="{517E81FA-421A-4304-A594-F165D93BA2F1}"/>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209B394-6AA7-4AE2-B249-1B9166E9C76C}"/>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xmlns:a="http://schemas.openxmlformats.org/drawingml/2006/main">
              <a:ext uri="{FF2B5EF4-FFF2-40B4-BE49-F238E27FC236}">
                <a16:creationId xmlns:a16="http://schemas.microsoft.com/office/drawing/2014/main" id="{C90C4C24-932F-41F6-B2ED-490C4F59A28D}"/>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14A7C164-EF61-40AF-86A9-58D75AA0F8B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xmlns:a="http://schemas.openxmlformats.org/drawingml/2006/main">
              <a:ext uri="{FF2B5EF4-FFF2-40B4-BE49-F238E27FC236}">
                <a16:creationId xmlns:a16="http://schemas.microsoft.com/office/drawing/2014/main" id="{AF22BE5D-53D8-4A84-8D39-F3A1BF013D0F}"/>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CE44620-9CD4-47D3-984A-8DA730CB5F67}"/>
              </a:ext>
            </a:extLst>
          </p:cNvPr>
          <p:cNvSpPr>
            <a:spLocks xmlns:a="http://schemas.openxmlformats.org/drawingml/2006/main" noGrp="1"/>
          </p:cNvSpPr>
          <p:nvPr/>
        </p:nvSpPr>
        <p:spPr>
          <a:xfrm xmlns:a="http://schemas.openxmlformats.org/drawingml/2006/main">
            <a:off x="896112" y="5952744"/>
            <a:ext cx="10405872" cy="2215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ct val="0"/>
              </a:spcBef>
              <a:spcAft>
                <a:spcPct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Moderate</a:t>
            </a:r>
          </a:p>
        </p:txBody>
      </p:sp>
    </p:spTree>
    <p:extLst>
      <p:ext uri="{BB962C8B-B14F-4D97-AF65-F5344CB8AC3E}">
        <p14:creationId xmlns:p14="http://schemas.microsoft.com/office/powerpoint/2010/main" val="66955689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2026-09-25T02:18:46.0270000Z</dcterms:created>
  <dcterms:modified xsi:type="dcterms:W3CDTF">2026-09-25T02:18:46.0270000Z</dcterms:modified>
</coreProperties>
</file>