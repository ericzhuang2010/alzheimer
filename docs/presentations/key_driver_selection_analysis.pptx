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321040" y="713232"/>
            <a:ext cx="1078992" cy="1078992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720072" y="1078992"/>
            <a:ext cx="685800" cy="685800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71632" y="566928"/>
            <a:ext cx="384048" cy="384048"/>
          </a:xfrm>
          <a:prstGeom prst="ellipse">
            <a:avLst/>
          </a:prstGeom>
          <a:solidFill>
            <a:srgbClr val="56B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96528" y="2578608"/>
            <a:ext cx="530352" cy="530352"/>
          </a:xfrm>
          <a:prstGeom prst="ellipse">
            <a:avLst/>
          </a:prstGeom>
          <a:solidFill>
            <a:srgbClr val="7E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168128" y="2761488"/>
            <a:ext cx="932688" cy="932688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08592" y="4352544"/>
            <a:ext cx="384048" cy="384048"/>
          </a:xfrm>
          <a:prstGeom prst="ellipse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817352" y="4681728"/>
            <a:ext cx="640080" cy="640080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8869680" y="1234440"/>
            <a:ext cx="1170432" cy="192024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76688" y="1572768"/>
            <a:ext cx="512064" cy="1389888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98280" y="2834640"/>
            <a:ext cx="1280160" cy="365760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81744" y="3108960"/>
            <a:ext cx="118872" cy="1408176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634472" y="3675887"/>
            <a:ext cx="493776" cy="1280161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65208" y="4553712"/>
            <a:ext cx="1225296" cy="457200"/>
          </a:xfrm>
          <a:prstGeom prst="line">
            <a:avLst/>
          </a:prstGeom>
          <a:ln w="20320">
            <a:solidFill>
              <a:srgbClr val="89A7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658368"/>
            <a:ext cx="67665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6B4E9"/>
                </a:solidFill>
                <a:latin typeface="Arial"/>
              </a:rPr>
              <a:t>PHASE 18 • KEY-DRIVER PRIORITIZATION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143000"/>
            <a:ext cx="7178040" cy="2148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Arial"/>
              </a:rPr>
              <a:t>From run-level KDA
evidence to a focused
key-driver atlas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94176"/>
            <a:ext cx="6656832" cy="6583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2DEEB"/>
                </a:solidFill>
                <a:latin typeface="Arial"/>
              </a:rPr>
              <a:t>Selection logic • cross-network recurrence • evidence breadth • descriptive sex/APOE patterns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00016"/>
            <a:ext cx="6355080" cy="5029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983480"/>
            <a:ext cx="6583680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BECFE1"/>
                </a:solidFill>
                <a:latin typeface="Arial"/>
              </a:rPr>
              <a:t>MT drivers and non-MT drivers are ranked separately within seven broad cell-network models.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309360"/>
            <a:ext cx="6492240" cy="2103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1ABC5"/>
                </a:solidFill>
                <a:latin typeface="Arial"/>
              </a:rPr>
              <a:t>Prepared from validated Phase 18 outputs • 16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SELECTION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strict intersection of coverage, support, and aggregate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pipeline changes counting units as run-level tests are aggregated into network × driver-class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02</a:t>
            </a:r>
          </a:p>
        </p:txBody>
      </p:sp>
      <p:pic>
        <p:nvPicPr>
          <p:cNvPr id="6" name="Phase 18 key-driver selection process from 95,557 run-level tests to 47 displayed positions" descr="Phase 18 key-driver selection process from 95,557 run-level tests to 47 displayed posi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74416"/>
            <a:ext cx="7818120" cy="53321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02752" y="1298448"/>
            <a:ext cx="3401568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58784" y="160020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23376" y="1572768"/>
            <a:ext cx="2624327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earns a place</a:t>
            </a:r>
          </a:p>
        </p:txBody>
      </p:sp>
      <p:sp>
        <p:nvSpPr>
          <p:cNvPr id="10" name="Oval 9"/>
          <p:cNvSpPr/>
          <p:nvPr/>
        </p:nvSpPr>
        <p:spPr>
          <a:xfrm>
            <a:off x="8558784" y="22128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32519" y="2084831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All three gates are required: ≥80% usable-run coverage, ≥1 conservative-support run, and aggregate ACAT q ≤ 0.05.</a:t>
            </a:r>
          </a:p>
        </p:txBody>
      </p:sp>
      <p:sp>
        <p:nvSpPr>
          <p:cNvPr id="12" name="Oval 11"/>
          <p:cNvSpPr/>
          <p:nvPr/>
        </p:nvSpPr>
        <p:spPr>
          <a:xfrm>
            <a:off x="8558784" y="2907792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19" y="2779776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The intersection retains 78 of 10,433 represented candidate units (0.75%).</a:t>
            </a:r>
          </a:p>
        </p:txBody>
      </p:sp>
      <p:sp>
        <p:nvSpPr>
          <p:cNvPr id="14" name="Oval 13"/>
          <p:cNvSpPr/>
          <p:nvPr/>
        </p:nvSpPr>
        <p:spPr>
          <a:xfrm>
            <a:off x="8558784" y="360273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2519" y="3474720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Candidates are ranked independently in 14 lists: 7 broad networks × 2 driver classes.</a:t>
            </a:r>
          </a:p>
        </p:txBody>
      </p:sp>
      <p:sp>
        <p:nvSpPr>
          <p:cNvPr id="16" name="Oval 15"/>
          <p:cNvSpPr/>
          <p:nvPr/>
        </p:nvSpPr>
        <p:spPr>
          <a:xfrm>
            <a:off x="8558784" y="4297679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32519" y="4169663"/>
            <a:ext cx="2624328" cy="6949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1F2730"/>
                </a:solidFill>
                <a:latin typeface="Arial"/>
              </a:rPr>
              <a:t>Ranks 1–5 are displayed with no backfilling when fewer candidates pass.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58784" y="5029200"/>
            <a:ext cx="1325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05088" y="5120640"/>
            <a:ext cx="1033271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2B2"/>
                </a:solidFill>
                <a:latin typeface="Arial"/>
              </a:rPr>
              <a:t>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5586984"/>
            <a:ext cx="1033271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displayed gene × network positions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30968" y="5029200"/>
            <a:ext cx="132588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77272" y="5120640"/>
            <a:ext cx="1033271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77272" y="5586984"/>
            <a:ext cx="1033271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unique displayed genes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86216" y="6062472"/>
            <a:ext cx="276148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55E00"/>
                </a:solidFill>
                <a:latin typeface="Arial"/>
              </a:rPr>
              <a:t>Prioritization—not proof of causal regulation.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phase18_key_driver_selection_process.png and accompanying validated caption/methods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ular view of selected mitochondrial key drivers across seven broad cell networks" descr="Circular view of selected mitochondrial key drivers across seven broad cell netwo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568" y="18288"/>
            <a:ext cx="8155815" cy="63276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MT view: 10 genes occupy 26 displayed positions; MT-CO2 recurs in 7 of 7 networks, while gray slots preserve lists with fewer than five passers.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phase18_mt_driver_circular.png • center curves show recurrence, not network edges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ular view of selected non-mitochondrial key drivers across seven broad cell networks" descr="Circular view of selected non-mitochondrial key drivers across seven broad cell network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112" y="18288"/>
            <a:ext cx="8224726" cy="63276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Non-MT view: 15 genes occupy 21 displayed positions; RPL11 recurs in 4 networks, and vasculature has no passing non-MT candidate.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phase18_non_mt_driver_circular.png • non-MT means outside core MitoCarta, not absence of mitochondrial function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vidence atlas for 10 selected mitochondrial key-driver genes" descr="Evidence atlas for 10 selected mitochondrial key-driver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" y="271775"/>
            <a:ext cx="12097512" cy="59121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" y="6199632"/>
            <a:ext cx="11183112" cy="438912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6199632"/>
            <a:ext cx="91440" cy="43891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6281928"/>
            <a:ext cx="10698480" cy="2468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FFFFFF"/>
                </a:solidFill>
                <a:latin typeface="Arial"/>
              </a:rPr>
              <a:t>MT evidence is broadest for MT-CO2: 62/89 conservative-support runs, 29 fine cell types, all 7 networks, all 6 primary groups, and both AD directions.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phase18_evidence_atlas_mt.png • stability is diagnostic and did not determine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EVIDENCE ATLAS • NON-MT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Ribosomal candidates carry the broadest non-MT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Network evidence, recurrence, breadth, and leave-one-fine-cell-type stability are complementary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06</a:t>
            </a:r>
          </a:p>
        </p:txBody>
      </p:sp>
      <p:pic>
        <p:nvPicPr>
          <p:cNvPr id="6" name="Evidence atlas for 15 selected non-mitochondrial key-driver genes" descr="Evidence atlas for 15 selected non-mitochondrial key-driver gen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222548"/>
            <a:ext cx="8385048" cy="52541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96528" y="1325880"/>
            <a:ext cx="2907792" cy="4928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043416" y="1600200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08008" y="1572768"/>
            <a:ext cx="2249424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Presentation readout</a:t>
            </a:r>
          </a:p>
        </p:txBody>
      </p:sp>
      <p:sp>
        <p:nvSpPr>
          <p:cNvPr id="10" name="Oval 9"/>
          <p:cNvSpPr/>
          <p:nvPr/>
        </p:nvSpPr>
        <p:spPr>
          <a:xfrm>
            <a:off x="9043416" y="22128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17152" y="2084831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RPL11 passes in 4 networks with 25/84 conservative-support runs across 15 fine cell types.</a:t>
            </a:r>
          </a:p>
        </p:txBody>
      </p:sp>
      <p:sp>
        <p:nvSpPr>
          <p:cNvPr id="12" name="Oval 11"/>
          <p:cNvSpPr/>
          <p:nvPr/>
        </p:nvSpPr>
        <p:spPr>
          <a:xfrm>
            <a:off x="9043416" y="2935224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17152" y="2807208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RPS15 has the widest non-MT fine-cell breadth (18) and passes in 3 networks.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9043416" y="3657600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2" y="3529584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The dashed RPS15 excitatory-neuron tile passed selection but ranked below that network's five-gene display cap.</a:t>
            </a:r>
          </a:p>
        </p:txBody>
      </p:sp>
      <p:sp>
        <p:nvSpPr>
          <p:cNvPr id="16" name="Oval 15"/>
          <p:cNvSpPr/>
          <p:nvPr/>
        </p:nvSpPr>
        <p:spPr>
          <a:xfrm>
            <a:off x="9043416" y="437997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17152" y="4251960"/>
            <a:ext cx="2221992" cy="7223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1F2730"/>
                </a:solidFill>
                <a:latin typeface="Arial"/>
              </a:rPr>
              <a:t>RPL/RPS genes recur across networks; LAMTOR5 spans excitatory and inhibitory networks; APOE is astrocyte-localized.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43416" y="5202936"/>
            <a:ext cx="2395728" cy="64008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17152" y="5340096"/>
            <a:ext cx="204825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F233D"/>
                </a:solidFill>
                <a:latin typeface="Arial"/>
              </a:rPr>
              <a:t>The top-five rule is a display cap—not an evidence threshold.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phase18_evidence_atlas_non_mt.png and gene summary TSV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What Phase 18 establishes—and what it leaves 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broad atlas establishes which candidates emerged; the next slides localize support before the RPL11 case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3456432" cy="2240280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865376"/>
            <a:ext cx="310896" cy="3108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3312" y="1819656"/>
            <a:ext cx="239572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6312"/>
            <a:ext cx="2898648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78 passing units become 47 displayed network positions across two separately ranked driver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72768"/>
            <a:ext cx="3456432" cy="2240280"/>
          </a:xfrm>
          <a:prstGeom prst="roundRect">
            <a:avLst/>
          </a:prstGeom>
          <a:solidFill>
            <a:srgbClr val="E1EEF7"/>
          </a:solidFill>
          <a:ln w="1270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36592" y="1865376"/>
            <a:ext cx="310896" cy="3108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3" y="1819656"/>
            <a:ext cx="239572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MT landscape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496312"/>
            <a:ext cx="2898648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Respiratory-chain genes dominate recurrence; MT-CO2 is the clearest cross-network sentinel.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1572768"/>
            <a:ext cx="3456432" cy="2240280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58784" y="1865376"/>
            <a:ext cx="310896" cy="3108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97696" y="1819656"/>
            <a:ext cx="2395728" cy="3566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F233D"/>
                </a:solidFill>
                <a:latin typeface="Arial"/>
              </a:rPr>
              <a:t>Non-MT landscape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8784" y="2496312"/>
            <a:ext cx="2898648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25E6C"/>
                </a:solidFill>
                <a:latin typeface="Arial"/>
              </a:rPr>
              <a:t>Ribosomal candidates lead breadth and recurrence, with additional signaling, trafficking, and APOE-linked hypotheses.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224528"/>
            <a:ext cx="10497312" cy="1252728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4507992"/>
            <a:ext cx="9829800" cy="67665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56B4E9"/>
                </a:solidFill>
                <a:latin typeface="Arial"/>
              </a:rPr>
              <a:t>Interpretive boundary: </a:t>
            </a:r>
            <a:r>
              <a:rPr sz="1700" b="0" i="0">
                <a:solidFill>
                  <a:srgbClr val="FFFFFF"/>
                </a:solidFill>
                <a:latin typeface="Arial"/>
              </a:rPr>
              <a:t>the figures prioritize network-associated key-driver candidates and show where evidence recurs.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They do not prove causality or formally test sex/APOE interactions.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806440"/>
            <a:ext cx="9838944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F233D"/>
                </a:solidFill>
                <a:latin typeface="Arial"/>
              </a:rPr>
              <a:t>Next: localize candidate evidence across sex/APOE strata, then examine RPL11 in depth.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Slides 10–15 extend the atlas with the requested RPL11 pathway and STRING figures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72B2"/>
                </a:solidFill>
                <a:latin typeface="Arial"/>
              </a:rPr>
              <a:t>SEX/APOE EVIDENCE • 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MT support is widespread but uneven across descriptive strata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Each row is a gene × broad-network context; columns partition AD-up and AD-down queries by sex and APOE group.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08</a:t>
            </a:r>
          </a:p>
        </p:txBody>
      </p:sp>
      <p:pic>
        <p:nvPicPr>
          <p:cNvPr id="6" name="Sex- and APOE-stratified support for selected mitochondrial key drivers" descr="Sex- and APOE-stratified support for selected mitochondrial key dri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666" y="1170432"/>
            <a:ext cx="5310370" cy="5468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03136" y="1316736"/>
            <a:ext cx="4910328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086600" y="1600200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51192" y="1572768"/>
            <a:ext cx="415137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How to read the matrix</a:t>
            </a:r>
          </a:p>
        </p:txBody>
      </p:sp>
      <p:sp>
        <p:nvSpPr>
          <p:cNvPr id="10" name="Oval 9"/>
          <p:cNvSpPr/>
          <p:nvPr/>
        </p:nvSpPr>
        <p:spPr>
          <a:xfrm>
            <a:off x="7086600" y="2185416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0336" y="2057400"/>
            <a:ext cx="4096511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Dot area = fraction of usable queries with conservative support; fill = capped −log10(stratum ACAT P).</a:t>
            </a:r>
          </a:p>
        </p:txBody>
      </p:sp>
      <p:sp>
        <p:nvSpPr>
          <p:cNvPr id="12" name="Oval 11"/>
          <p:cNvSpPr/>
          <p:nvPr/>
        </p:nvSpPr>
        <p:spPr>
          <a:xfrm>
            <a:off x="7086600" y="28072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0336" y="2679192"/>
            <a:ext cx="4096511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Small open circles mean usable tests with zero conservative support; dashes mean no eligible query.</a:t>
            </a:r>
          </a:p>
        </p:txBody>
      </p:sp>
      <p:sp>
        <p:nvSpPr>
          <p:cNvPr id="14" name="Oval 13"/>
          <p:cNvSpPr/>
          <p:nvPr/>
        </p:nvSpPr>
        <p:spPr>
          <a:xfrm>
            <a:off x="7086600" y="3429000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0336" y="3300984"/>
            <a:ext cx="4096511" cy="6217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The right tracks report official network-level q, support/usable, coverage, evidence tier, and rank.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397764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1192" y="3950208"/>
            <a:ext cx="4151376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Descriptive pattern</a:t>
            </a:r>
          </a:p>
        </p:txBody>
      </p:sp>
      <p:sp>
        <p:nvSpPr>
          <p:cNvPr id="18" name="Oval 17"/>
          <p:cNvSpPr/>
          <p:nvPr/>
        </p:nvSpPr>
        <p:spPr>
          <a:xfrm>
            <a:off x="7086600" y="45354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0336" y="4407408"/>
            <a:ext cx="4032503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AD-up female ε3/ε3: 68 supporting runs across 15 contexts</a:t>
            </a:r>
          </a:p>
        </p:txBody>
      </p:sp>
      <p:sp>
        <p:nvSpPr>
          <p:cNvPr id="20" name="Oval 19"/>
          <p:cNvSpPr/>
          <p:nvPr/>
        </p:nvSpPr>
        <p:spPr>
          <a:xfrm>
            <a:off x="7086600" y="49926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60336" y="4864608"/>
            <a:ext cx="4032503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AD-down male ε2: 65 supporting runs across 30 contexts</a:t>
            </a:r>
          </a:p>
        </p:txBody>
      </p:sp>
      <p:sp>
        <p:nvSpPr>
          <p:cNvPr id="22" name="Oval 21"/>
          <p:cNvSpPr/>
          <p:nvPr/>
        </p:nvSpPr>
        <p:spPr>
          <a:xfrm>
            <a:off x="7086600" y="544982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60336" y="5321808"/>
            <a:ext cx="4032503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730"/>
                </a:solidFill>
                <a:latin typeface="Arial"/>
              </a:rPr>
              <a:t>AD-up female ε2: 63 supporting runs across 15 contexts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2" y="5925312"/>
            <a:ext cx="4151376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55E00"/>
                </a:solidFill>
                <a:latin typeface="Arial"/>
              </a:rPr>
              <a:t>These are not formal sex, APOE, or interaction tests.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phase18_sex_apoe_mt.png • supporting-run totals are descriptive across displayed contexts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SEX/APOE EVIDENCE • NON-MT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Non-MT support concentrates in a smaller set of strata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same visual grammar reveals broad recurrence for some drivers and sharply localized evidence for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09</a:t>
            </a:r>
          </a:p>
        </p:txBody>
      </p:sp>
      <p:pic>
        <p:nvPicPr>
          <p:cNvPr id="6" name="Sex- and APOE-stratified support for selected non-mitochondrial key drivers" descr="Sex- and APOE-stratified support for selected non-mitochondrial key driv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82" y="1188720"/>
            <a:ext cx="7113547" cy="535838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38744" y="1335024"/>
            <a:ext cx="3465576" cy="49286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1609344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68512" y="1581912"/>
            <a:ext cx="277063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Leading patterns</a:t>
            </a:r>
          </a:p>
        </p:txBody>
      </p:sp>
      <p:sp>
        <p:nvSpPr>
          <p:cNvPr id="10" name="Oval 9"/>
          <p:cNvSpPr/>
          <p:nvPr/>
        </p:nvSpPr>
        <p:spPr>
          <a:xfrm>
            <a:off x="8503920" y="218541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77656" y="2057400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male ε2: 62 supporting runs in 19 contexts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752344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77656" y="2624328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AD-up female ε2: 28 supporting runs in 11 contexts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0" y="3319272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77656" y="3191256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female ε4: 16 supporting runs in 10 contexts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0" y="3886200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77656" y="3758184"/>
            <a:ext cx="2706624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F2730"/>
                </a:solidFill>
                <a:latin typeface="Arial"/>
              </a:rPr>
              <a:t>AD-down male ε4: 10 supporting runs in 7 contexts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4370832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68512" y="4343400"/>
            <a:ext cx="2770632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Candidate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791456"/>
            <a:ext cx="2825496" cy="96926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25E6C"/>
                </a:solidFill>
                <a:latin typeface="Arial"/>
              </a:rPr>
              <a:t>RPL11 is recurrent across four networks; RPS15 is broad across neuronal/OPC contexts; APOE is localized to astrocytes. Large dots with small denominators should not be mistaken for broad replication.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5843016"/>
            <a:ext cx="2816352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D55E00"/>
                </a:solidFill>
                <a:latin typeface="Arial"/>
              </a:rPr>
              <a:t>Patterned evidence generates hypotheses; it does not establish specificity.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phase18_sex_apoe_non_mt.png • descriptive totals match the validated figure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93776"/>
            <a:ext cx="36576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6B4E9"/>
                </a:solidFill>
                <a:latin typeface="Arial"/>
              </a:rPr>
              <a:t>RPL11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7543800" cy="11521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rial"/>
              </a:rPr>
              <a:t>A ribosomal-stress candidate at the
translation–mitochondria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13432"/>
            <a:ext cx="740664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DBEA"/>
                </a:solidFill>
                <a:latin typeface="Arial"/>
              </a:rPr>
              <a:t>RPL11 is the broadest non-MT network candidate, but the mechanistic claim depends on distinguishing a true stress transducer from a highly connected module marker.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E73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passing broad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9464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56B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15768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56B4E9"/>
                </a:solidFill>
                <a:latin typeface="Arial"/>
              </a:rPr>
              <a:t>29/84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significant / tested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conservative-support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3264408"/>
            <a:ext cx="1700784" cy="1115568"/>
          </a:xfrm>
          <a:prstGeom prst="roundRect">
            <a:avLst/>
          </a:prstGeom>
          <a:solidFill>
            <a:srgbClr val="1E3B5B"/>
          </a:solidFill>
          <a:ln w="12700">
            <a:solidFill>
              <a:srgbClr val="7E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3429000"/>
            <a:ext cx="1408176" cy="42062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7E4C9A"/>
                </a:solidFill>
                <a:latin typeface="Arial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895344"/>
            <a:ext cx="1426464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CFDCEA"/>
                </a:solidFill>
                <a:latin typeface="Arial"/>
              </a:rPr>
              <a:t>supporting fine cell 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30768" y="667512"/>
            <a:ext cx="3136392" cy="240487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0" y="941832"/>
            <a:ext cx="2615184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Mechanistic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1426464"/>
            <a:ext cx="2560320" cy="10698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25E6C"/>
                </a:solidFill>
                <a:latin typeface="Arial"/>
              </a:rPr>
              <a:t>Free RPL11 can inhibit MDM2 and activate p53; neuronal ribosomal stress can require RPL11 for p53-linked cell death.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542032"/>
            <a:ext cx="2578608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09E73"/>
                </a:solidFill>
                <a:latin typeface="Arial"/>
              </a:rPr>
              <a:t>RPL11 transmits stress into mitochondrial and survival programs.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30768" y="3300984"/>
            <a:ext cx="3136392" cy="2414016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0" y="3575304"/>
            <a:ext cx="2615184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F233D"/>
                </a:solidFill>
                <a:latin typeface="Arial"/>
              </a:rPr>
              <a:t>Module-marker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59936"/>
            <a:ext cx="2560320" cy="10607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25E6C"/>
                </a:solidFill>
                <a:latin typeface="Arial"/>
              </a:rPr>
              <a:t>RPL11 may inherit strong KDA and STRING signals from high expression, ribosomal connectivity, or a general disease/quality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175504"/>
            <a:ext cx="2578608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D55E00"/>
                </a:solidFill>
                <a:latin typeface="Arial"/>
              </a:rPr>
              <a:t>Target specificity and matched ribosomal nulls decide between the models.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28032"/>
            <a:ext cx="7360920" cy="969264"/>
          </a:xfrm>
          <a:prstGeom prst="roundRect">
            <a:avLst/>
          </a:prstGeom>
          <a:solidFill>
            <a:srgbClr val="1E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047488"/>
            <a:ext cx="12801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6B4E9"/>
                </a:solidFill>
                <a:latin typeface="Arial"/>
              </a:rPr>
              <a:t>Human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9696" y="4956048"/>
            <a:ext cx="5550408" cy="5760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FFFFFF"/>
                </a:solidFill>
                <a:latin typeface="Arial"/>
              </a:rPr>
              <a:t>AD capillary proteomics reported increased RPL11/RPL15 protein, while earlier AD work supports ribosomal dysfunction. The capillary signal does not establish neuronal or astrocytic localization.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11128" y="31089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1ABC5"/>
                </a:solidFill>
                <a:latin typeface="Arial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Biological discussion: phase18_key_driver_gene_by_gene_initial_analysis.md • Zhang 2003; Slomnicki 2018; Suzuki 2022; Ding 2005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focused respiratory branch emerges from three supporting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Directed Bayesian-network edges are model-derived regulatory hypotheses; pathway outlines summarize the displayed genes.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11</a:t>
            </a:r>
          </a:p>
        </p:txBody>
      </p:sp>
      <p:pic>
        <p:nvPicPr>
          <p:cNvPr id="6" name="RPL11-centered astrocyte consensus network with pathway annotations" descr="RPL11-centered astrocyte consensus network with pathway anno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92" y="1143000"/>
            <a:ext cx="6208710" cy="5349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10727" y="1307592"/>
            <a:ext cx="3593592" cy="4992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75904" y="1581912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0496" y="1554480"/>
            <a:ext cx="289864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75904" y="1993392"/>
            <a:ext cx="140817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22208" y="2084832"/>
            <a:ext cx="1115568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9E73"/>
                </a:solidFill>
                <a:latin typeface="Arial"/>
              </a:rPr>
              <a:t>3/20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2551176"/>
            <a:ext cx="1115568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supporting / usable astrocyte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48672" y="1993392"/>
            <a:ext cx="143560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94976" y="2084832"/>
            <a:ext cx="1143000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72B2"/>
                </a:solidFill>
                <a:latin typeface="Arial"/>
              </a:rPr>
              <a:t>3.44×10⁻⁵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4976" y="2551176"/>
            <a:ext cx="114300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75904" y="3209544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0496" y="3182112"/>
            <a:ext cx="2898648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375904" y="3749039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3621024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18 nodes, 17 directed edges, and 12 mitochondrial query hits.</a:t>
            </a:r>
          </a:p>
        </p:txBody>
      </p:sp>
      <p:sp>
        <p:nvSpPr>
          <p:cNvPr id="20" name="Oval 19"/>
          <p:cNvSpPr/>
          <p:nvPr/>
        </p:nvSpPr>
        <p:spPr>
          <a:xfrm>
            <a:off x="8375904" y="430682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4178808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Upstream chain: RPS25 → RPLP1 → RPL11. Direct outputs: COX7C, CWC15, and PRDX1.</a:t>
            </a:r>
          </a:p>
        </p:txBody>
      </p:sp>
      <p:sp>
        <p:nvSpPr>
          <p:cNvPr id="22" name="Oval 21"/>
          <p:cNvSpPr/>
          <p:nvPr/>
        </p:nvSpPr>
        <p:spPr>
          <a:xfrm>
            <a:off x="8375904" y="48646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49640" y="4736592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ETC/OXPHOS: 8 genes, BH FDR 1.98×10⁻⁸. Cristae formation: 3 genes, FDR 0.00475.</a:t>
            </a:r>
          </a:p>
        </p:txBody>
      </p:sp>
      <p:sp>
        <p:nvSpPr>
          <p:cNvPr id="24" name="Oval 23"/>
          <p:cNvSpPr/>
          <p:nvPr/>
        </p:nvSpPr>
        <p:spPr>
          <a:xfrm>
            <a:off x="8375904" y="5422392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49640" y="5294376"/>
            <a:ext cx="2816352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F2730"/>
                </a:solidFill>
                <a:latin typeface="Arial"/>
              </a:rPr>
              <a:t>The ribosome outline is contextual (FDR 0.0805), not significant at 0.05.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5907024"/>
            <a:ext cx="2926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0F233D"/>
                </a:solidFill>
                <a:latin typeface="Arial"/>
              </a:rPr>
              <a:t>Interpretation: a reproducible but relatively small astrocyte signal connects RPL11 to a coherent respiratory/cristae branch.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phase18_rpl11_astrocyte_consensus_network_pathways.png, caption, methods, and ORA table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• ASTROCYTES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supports target-module coherence more clearly than direct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Medium-confidence STRING functional associations are undirected and are not astrocyte- or AD-specific.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" y="1271016"/>
            <a:ext cx="491947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TRING medium-confidence network for RPL11 and astrocyte mitochondrial target proteins" descr="STRING medium-confidence network for RPL11 and astrocyte mitochondrial target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511" y="1481327"/>
            <a:ext cx="3962832" cy="45537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59552" y="1271016"/>
            <a:ext cx="6144768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70448" y="1618488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1591056"/>
            <a:ext cx="5303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What the image supports</a:t>
            </a:r>
          </a:p>
        </p:txBody>
      </p:sp>
      <p:sp>
        <p:nvSpPr>
          <p:cNvPr id="11" name="Oval 10"/>
          <p:cNvSpPr/>
          <p:nvPr/>
        </p:nvSpPr>
        <p:spPr>
          <a:xfrm>
            <a:off x="5870448" y="2203704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4184" y="2075688"/>
            <a:ext cx="5230368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The respiratory targets form a dense protein-association core spanning complex I, III, IV, and V proteins.</a:t>
            </a:r>
          </a:p>
        </p:txBody>
      </p:sp>
      <p:sp>
        <p:nvSpPr>
          <p:cNvPr id="13" name="Oval 12"/>
          <p:cNvSpPr/>
          <p:nvPr/>
        </p:nvSpPr>
        <p:spPr>
          <a:xfrm>
            <a:off x="5870448" y="2834640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44184" y="2706624"/>
            <a:ext cx="5230368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RPL11 is sparsely connected relative to the target-to-target core; PSAP and CYB5R3 remain visually isolated in this view.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3465576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44184" y="3337560"/>
            <a:ext cx="5230368" cy="6309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730"/>
                </a:solidFill>
                <a:latin typeface="Arial"/>
              </a:rPr>
              <a:t>The visual density therefore supports a coherent mitochondrial module, but it cannot by itself show that RPL11 regulates that module.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4261104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0" y="4233672"/>
            <a:ext cx="53035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Claim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4681728"/>
            <a:ext cx="5303520" cy="9326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25E6C"/>
                </a:solidFill>
                <a:latin typeface="Arial"/>
              </a:rPr>
              <a:t>A direct RPL11 claim requires the input-only physical network, edge-level experimental/curated evidence, a ≥0.700 threshold, and matched ribosomal/topology controls. Until then, the medium-confidence figure is suggestive module-level cross-validation.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9592" y="5696712"/>
            <a:ext cx="5266944" cy="384048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9904" y="5769864"/>
            <a:ext cx="48463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0F233D"/>
                </a:solidFill>
                <a:latin typeface="Arial"/>
              </a:rPr>
              <a:t>Allowed conclusion: protein-level coherence of the target module; direct RPL11 support remains provisional.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astrocyte/string_full_medium_conf.png • interpretation follows rpl11_astrocyte_string_analysis_guide.md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RPL11 • EXCITATORY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A broader translation–mitochondria interface recurs across 20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excitatory context has stronger aggregate evidence and complete leave-one-fine-cell-type candidate retention.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13</a:t>
            </a:r>
          </a:p>
        </p:txBody>
      </p:sp>
      <p:pic>
        <p:nvPicPr>
          <p:cNvPr id="6" name="RPL11-centered excitatory-neuron consensus network with pathway annotations" descr="RPL11-centered excitatory-neuron consensus network with pathway annotatio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19" y="1133856"/>
            <a:ext cx="7513665" cy="538581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93024" y="1298448"/>
            <a:ext cx="3511296" cy="5221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39912" y="1581912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554480"/>
            <a:ext cx="283463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Evidence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9912" y="1993392"/>
            <a:ext cx="1417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86216" y="2084832"/>
            <a:ext cx="112471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E69F00"/>
                </a:solidFill>
                <a:latin typeface="Arial"/>
              </a:rPr>
              <a:t>20/97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2551176"/>
            <a:ext cx="1124712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525E6C"/>
                </a:solidFill>
                <a:latin typeface="Arial"/>
              </a:rPr>
              <a:t>supporting / usable excitatory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1824" y="1993392"/>
            <a:ext cx="1453896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68128" y="2084832"/>
            <a:ext cx="1124712" cy="43891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72B2"/>
                </a:solidFill>
                <a:latin typeface="Arial"/>
              </a:rPr>
              <a:t>1.84×10⁻⁹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8128" y="2532888"/>
            <a:ext cx="1188720" cy="21223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 dirty="0">
                <a:solidFill>
                  <a:srgbClr val="525E6C"/>
                </a:solidFill>
                <a:latin typeface="Arial"/>
              </a:rPr>
              <a:t>aggregate ACAT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9912" y="3209544"/>
            <a:ext cx="64008" cy="31089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04504" y="3182112"/>
            <a:ext cx="2834639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Network readout</a:t>
            </a:r>
          </a:p>
        </p:txBody>
      </p:sp>
      <p:sp>
        <p:nvSpPr>
          <p:cNvPr id="18" name="Oval 17"/>
          <p:cNvSpPr/>
          <p:nvPr/>
        </p:nvSpPr>
        <p:spPr>
          <a:xfrm>
            <a:off x="8439912" y="3749039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3621024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35 nodes, 34 directed edges, 21 mitochondrial query hits, and 9 direct RPL11 outputs.</a:t>
            </a:r>
          </a:p>
        </p:txBody>
      </p:sp>
      <p:sp>
        <p:nvSpPr>
          <p:cNvPr id="20" name="Oval 19"/>
          <p:cNvSpPr/>
          <p:nvPr/>
        </p:nvSpPr>
        <p:spPr>
          <a:xfrm>
            <a:off x="8439912" y="4306824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3648" y="4178808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730"/>
                </a:solidFill>
                <a:latin typeface="Arial"/>
              </a:rPr>
              <a:t>Direct outputs include ribosomal proteins plus COX7C and SMDT1, creating a model-derived bridge to mitochondrial functions.</a:t>
            </a:r>
          </a:p>
        </p:txBody>
      </p:sp>
      <p:sp>
        <p:nvSpPr>
          <p:cNvPr id="22" name="Oval 21"/>
          <p:cNvSpPr/>
          <p:nvPr/>
        </p:nvSpPr>
        <p:spPr>
          <a:xfrm>
            <a:off x="8439912" y="4864608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13648" y="4736592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dirty="0">
                <a:solidFill>
                  <a:srgbClr val="1F2730"/>
                </a:solidFill>
                <a:latin typeface="Arial"/>
              </a:rPr>
              <a:t>Cytosolic ribosome: 14 genes, FDR 1.35×10⁻¹⁶; ETC/OXPHOS: 12 genes, FDR 3.20×10⁻¹³.</a:t>
            </a:r>
          </a:p>
        </p:txBody>
      </p:sp>
      <p:sp>
        <p:nvSpPr>
          <p:cNvPr id="24" name="Oval 23"/>
          <p:cNvSpPr/>
          <p:nvPr/>
        </p:nvSpPr>
        <p:spPr>
          <a:xfrm>
            <a:off x="8439912" y="5422392"/>
            <a:ext cx="82296" cy="82296"/>
          </a:xfrm>
          <a:prstGeom prst="ellipse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13648" y="5294376"/>
            <a:ext cx="2743200" cy="5577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 dirty="0">
                <a:solidFill>
                  <a:srgbClr val="1F2730"/>
                </a:solidFill>
                <a:latin typeface="Arial"/>
              </a:rPr>
              <a:t>Mitochondrial protein degradation (FDR 0.00180) and cristae formation (FDR 0.00762) add </a:t>
            </a:r>
            <a:r>
              <a:rPr sz="1120" b="0" i="0" dirty="0" err="1">
                <a:solidFill>
                  <a:srgbClr val="1F2730"/>
                </a:solidFill>
                <a:latin typeface="Arial"/>
              </a:rPr>
              <a:t>proteostasis</a:t>
            </a:r>
            <a:r>
              <a:rPr sz="1120" b="0" i="0" dirty="0">
                <a:solidFill>
                  <a:srgbClr val="1F2730"/>
                </a:solidFill>
                <a:latin typeface="Arial"/>
              </a:rPr>
              <a:t>/structure hypotheses.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5916168"/>
            <a:ext cx="2852928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 dirty="0">
                <a:solidFill>
                  <a:srgbClr val="0F233D"/>
                </a:solidFill>
                <a:latin typeface="Arial"/>
              </a:rPr>
              <a:t>Interpretation: the excitatory signal is broader and more recurrent, but its ribosomal density makes specificity controls essential.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phase18_rpl11_excitatory_consensus_network_pathways.png, node/edge tables, and ORA 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9F00"/>
                </a:solidFill>
                <a:latin typeface="Arial"/>
              </a:rPr>
              <a:t>RPL11 • EXCITATORY NEURONS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STRING resolves ribosomal and respiratory protein neighborhoods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The displayed functional network is useful for architecture; it does not preserve Bayesian edge direction.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6976872" cy="4965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STRING medium-confidence network for RPL11 and excitatory-neuron target proteins" descr="STRING medium-confidence network for RPL11 and excitatory-neuron target prote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88" y="1481328"/>
            <a:ext cx="6207462" cy="45628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16368" y="1280160"/>
            <a:ext cx="4187952" cy="4965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81544" y="1618488"/>
            <a:ext cx="64008" cy="310896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46136" y="1591056"/>
            <a:ext cx="34747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7781544" y="218541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2057400"/>
            <a:ext cx="335584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RPL11 sits with cytosolic/mitochondrial ribosomal proteins, while the respiratory proteins form a dense OXPHOS core.</a:t>
            </a:r>
          </a:p>
        </p:txBody>
      </p:sp>
      <p:sp>
        <p:nvSpPr>
          <p:cNvPr id="13" name="Oval 12"/>
          <p:cNvSpPr/>
          <p:nvPr/>
        </p:nvSpPr>
        <p:spPr>
          <a:xfrm>
            <a:off x="7781544" y="282549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80"/>
            <a:ext cx="335584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The view is consistent with a ribosome–mitochondria interface rather than one simple RPL11→target protein chain.</a:t>
            </a:r>
          </a:p>
        </p:txBody>
      </p:sp>
      <p:sp>
        <p:nvSpPr>
          <p:cNvPr id="15" name="Oval 14"/>
          <p:cNvSpPr/>
          <p:nvPr/>
        </p:nvSpPr>
        <p:spPr>
          <a:xfrm>
            <a:off x="7781544" y="3465576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3337560"/>
            <a:ext cx="3355848" cy="6400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1F2730"/>
                </a:solidFill>
                <a:latin typeface="Arial"/>
              </a:rPr>
              <a:t>Respiratory-protein density is expected and can dominate whole-network PPI enrichment.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81544" y="4160520"/>
            <a:ext cx="64008" cy="310896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46136" y="4133087"/>
            <a:ext cx="3474720" cy="3474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F233D"/>
                </a:solidFill>
                <a:latin typeface="Arial"/>
              </a:rPr>
              <a:t>Exploratory elements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4599432"/>
            <a:ext cx="3465576" cy="7680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MRPS18C, COX17, COX20, and PINK1 appear as STRING-side connectors rather than prespecified Bayesian-consensus nodes. They are mechanism hypotheses—not validation endpoints.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81544" y="5532120"/>
            <a:ext cx="3511296" cy="512064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3568" y="5641848"/>
            <a:ext cx="313639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0F233D"/>
                </a:solidFill>
                <a:latin typeface="Arial"/>
              </a:rPr>
              <a:t>Test RPL11-to-target edges separately from target-to-target connectivity.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Source: excitatory/full_medium_conf.png • medium-confidence functional STRING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438912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09E73"/>
                </a:solidFill>
                <a:latin typeface="Arial"/>
              </a:rPr>
              <a:t>RPL11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29768"/>
            <a:ext cx="109270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33D"/>
                </a:solidFill>
                <a:latin typeface="Arial"/>
              </a:rPr>
              <a:t>The excitatory signal is broader; the astrocyte signal is more focused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905256"/>
            <a:ext cx="106527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E6C"/>
                </a:solidFill>
                <a:latin typeface="Arial"/>
              </a:rPr>
              <a:t>Both contexts support a translation/stress-to-mitochondria hypothesis, while leaving target specificity unresolved.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20272" y="219456"/>
            <a:ext cx="384048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48291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" y="1417320"/>
            <a:ext cx="5385816" cy="3319272"/>
          </a:xfrm>
          <a:prstGeom prst="roundRect">
            <a:avLst/>
          </a:prstGeom>
          <a:solidFill>
            <a:srgbClr val="E1F3ED"/>
          </a:solidFill>
          <a:ln w="1270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E73"/>
                </a:solidFill>
                <a:latin typeface="Arial"/>
              </a:rPr>
              <a:t>ASTROCYTES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02536"/>
            <a:ext cx="450799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233D"/>
                </a:solidFill>
                <a:latin typeface="Arial"/>
              </a:rPr>
              <a:t>Focused respiratory branch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8136" y="2542032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3/20 supporting runs; aggregate q 3.44×10⁻⁵.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1272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" y="2999232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18-node directed consensus with ETC/OXPHOS and cristae enrichment.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584448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88136" y="3456432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STRING shows a dense target core but comparatively sparse RPL11 connectivity.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041647"/>
            <a:ext cx="82296" cy="82296"/>
          </a:xfrm>
          <a:prstGeom prst="ellipse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" y="3913631"/>
            <a:ext cx="44348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Best current framing: focused, plausible, and still in need of protein-edge/null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417320"/>
            <a:ext cx="5358384" cy="3319272"/>
          </a:xfrm>
          <a:prstGeom prst="roundRect">
            <a:avLst/>
          </a:prstGeom>
          <a:solidFill>
            <a:srgbClr val="FCF0D3"/>
          </a:solidFill>
          <a:ln w="1270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673352"/>
            <a:ext cx="2514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69F00"/>
                </a:solidFill>
                <a:latin typeface="Arial"/>
              </a:rPr>
              <a:t>EXCITATORY NEURONS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002536"/>
            <a:ext cx="4590288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F233D"/>
                </a:solidFill>
                <a:latin typeface="Arial"/>
              </a:rPr>
              <a:t>Broad translation–mitochondria interface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26700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5976" y="2542032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20/97 supporting runs; aggregate q 1.84×10⁻⁹.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1272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65976" y="2999232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35-node consensus combines ribosome, OXPHOS, cristae, and mitochondrial proteostasis.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584448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5976" y="3456432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STRING separates a ribosomal neighborhood and dense respiratory core with exploratory connectors.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041647"/>
            <a:ext cx="82296" cy="82296"/>
          </a:xfrm>
          <a:prstGeom prst="ellipse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5976" y="3913631"/>
            <a:ext cx="4370831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F2730"/>
                </a:solidFill>
                <a:latin typeface="Arial"/>
              </a:rPr>
              <a:t>Best current framing: stronger recurrence, but higher risk of generic ribosomal-module effects.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" y="5038344"/>
            <a:ext cx="10515600" cy="1170432"/>
          </a:xfrm>
          <a:prstGeom prst="roundRect">
            <a:avLst/>
          </a:prstGeom>
          <a:solidFill>
            <a:srgbClr val="0F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78992" y="5230368"/>
            <a:ext cx="1627632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6B4E9"/>
                </a:solidFill>
                <a:latin typeface="Arial"/>
              </a:rPr>
              <a:t>DECISIVE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78608" y="5193792"/>
            <a:ext cx="8366760" cy="7132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FFFFFF"/>
                </a:solidFill>
                <a:latin typeface="Arial"/>
              </a:rPr>
              <a:t>Match for expression, degree, neighborhood size, and ribosomal class → use partial CRISPRi/CRISPRa in APOE-isogenic astrocytes and excitatory neurons → measure predicted MT targets, p53, nascent translation, respiration, and viability → add p53 inhibition/rescue and spatial/vascular proteomics.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629400"/>
            <a:ext cx="10972800" cy="12801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48291"/>
                </a:solidFill>
                <a:latin typeface="Arial"/>
              </a:rPr>
              <a:t>Interpretation and validation priorities synthesized from phase18_key_driver_gene_by_gene_initial_analysis.md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1940</Words>
  <Application>Microsoft Macintosh PowerPoint</Application>
  <PresentationFormat>Widescreen</PresentationFormat>
  <Paragraphs>173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18 Key-Driver Selection</dc:title>
  <dc:subject>Selection, cross-network evidence, and descriptive sex/APOE support</dc:subject>
  <dc:creator>Alzheimer project analysis team</dc:creator>
  <cp:keywords>Alzheimer, mitochondria, KDA, key drivers, APOE, sex</cp:keywords>
  <dc:description>generated using python-pptx</dc:description>
  <cp:lastModifiedBy>Richard Zhuang</cp:lastModifiedBy>
  <cp:revision>2</cp:revision>
  <dcterms:created xsi:type="dcterms:W3CDTF">2013-01-27T09:14:16Z</dcterms:created>
  <dcterms:modified xsi:type="dcterms:W3CDTF">2026-08-16T20:14:34Z</dcterms:modified>
  <cp:category/>
</cp:coreProperties>
</file>