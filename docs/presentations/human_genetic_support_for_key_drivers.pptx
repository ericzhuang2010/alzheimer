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analysis tested whether network-derived key drivers also have inherited human-genetic support; it did not retest or rerank the upstream network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phases provide complementary evidence and should not be expected to return identical rankings.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was intentionally conservative and distinguishes a measured negative from missing or incompatible inputs.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Formal support is concentrated in one gene; most other rows are either unsupported by this screen or not testable with the chosen data. COX7C's two weak rows derive from one source record, and the supplemental RPS15 audit was not integrated into the formal 47-row grade.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APOE is strongly supported as an AD gene, but this analysis does not establish that the association acts through the exact astrocyte mechanism nominated by the network analysis.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Significant regional association alone does not identify which gene mediates the locus.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bottleneck was upstream evidence and input completeness, not a series of completed colocalizations favoring distinct signals.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negative evidence lowers confidence in a simple common cis-germline mechanism; it does not refute a downstream or state-specific functional role.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immediate scientific opportunity is resolving APOE and RPS15 with complete, signal-aware molecular-QTL packages.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disciplined genetic annotation of the network-derived list, not broad genetic validation or rejection of the network drivers.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reference: the exact frozen upstream top-five display set, retained without genetic reranking.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reference: versions, accessions, and the specific analytical role of each public source.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reference: frozen gates and mutually distinct terminal states used throughout the genetic-support analysis.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reference: the complete 47-row formal evidence audit, retained as a dense matrix for lookup.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reference: regional AD signals at four candidate windows did not resolve candidate-gene shared-signal analyses.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reference: APOE direct rs429358 mapping and the three CSF regional-plus-gene-based gate results. The malformed Aβ42 locus rendering is deliberately excluded.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reference: the RPS15 audit measured 31 of 37 eligible routes; three bulk-brain tracks recur across two candidate contexts, with no resolved primary H0–H4 analysis.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reference: known provenance and integrity limitations that should be repaired before the bundle is considered fully complete.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3D"/>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 y="612648"/>
            <a:ext cx="6583680"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50" b="1" i="0">
                <a:solidFill>
                  <a:srgbClr val="56B4E9"/>
                </a:solidFill>
                <a:latin typeface="Arial"/>
              </a:rPr>
              <a:t>HUMAN GENETIC SUPPORT</a:t>
            </a:r>
          </a:p>
        </p:txBody>
      </p:sp>
      <p:sp>
        <p:nvSpPr>
          <p:cNvPr id="4" name="TextBox 3"/>
          <p:cNvSpPr txBox="1"/>
          <p:nvPr/>
        </p:nvSpPr>
        <p:spPr>
          <a:xfrm>
            <a:off x="694944" y="1143000"/>
            <a:ext cx="7543800" cy="1627632"/>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3400" b="1" i="0">
                <a:solidFill>
                  <a:srgbClr val="FFFFFF"/>
                </a:solidFill>
                <a:latin typeface="Arial"/>
              </a:rPr>
              <a:t>Human genetic support
for network-derived key drivers</a:t>
            </a:r>
          </a:p>
        </p:txBody>
      </p:sp>
      <p:sp>
        <p:nvSpPr>
          <p:cNvPr id="5" name="TextBox 4"/>
          <p:cNvSpPr txBox="1"/>
          <p:nvPr/>
        </p:nvSpPr>
        <p:spPr>
          <a:xfrm>
            <a:off x="713232" y="3090672"/>
            <a:ext cx="7086600" cy="56692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700" b="0" i="0">
                <a:solidFill>
                  <a:srgbClr val="D2E0EF"/>
                </a:solidFill>
                <a:latin typeface="Arial"/>
              </a:rPr>
              <a:t>Public-data evaluation of 25 genes across 47 gene-by-network contexts</a:t>
            </a:r>
          </a:p>
        </p:txBody>
      </p:sp>
      <p:sp>
        <p:nvSpPr>
          <p:cNvPr id="6" name="Rectangle 5"/>
          <p:cNvSpPr/>
          <p:nvPr/>
        </p:nvSpPr>
        <p:spPr>
          <a:xfrm>
            <a:off x="713232" y="3931920"/>
            <a:ext cx="7022592" cy="548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4251960"/>
            <a:ext cx="7132320" cy="68580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450" b="0" i="0">
                <a:solidFill>
                  <a:srgbClr val="BFD2E5"/>
                </a:solidFill>
                <a:latin typeface="Arial"/>
              </a:rPr>
              <a:t>Inherited support is concentrated in APOE; several non-APOE loci remain suggestive or unresolved.</a:t>
            </a:r>
          </a:p>
        </p:txBody>
      </p:sp>
      <p:sp>
        <p:nvSpPr>
          <p:cNvPr id="8" name="Oval 7"/>
          <p:cNvSpPr/>
          <p:nvPr/>
        </p:nvSpPr>
        <p:spPr>
          <a:xfrm>
            <a:off x="8458200" y="960120"/>
            <a:ext cx="841248" cy="841248"/>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829800" y="1408176"/>
            <a:ext cx="566928" cy="566928"/>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0762488" y="822960"/>
            <a:ext cx="384048" cy="384048"/>
          </a:xfrm>
          <a:prstGeom prst="ellipse">
            <a:avLst/>
          </a:prstGeom>
          <a:solidFill>
            <a:srgbClr val="56B4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732520" y="2578608"/>
            <a:ext cx="457200" cy="457200"/>
          </a:xfrm>
          <a:prstGeom prst="ellipse">
            <a:avLst/>
          </a:prstGeom>
          <a:solidFill>
            <a:srgbClr val="7E4C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41280" y="2798064"/>
            <a:ext cx="749808" cy="749808"/>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400032" y="4169663"/>
            <a:ext cx="384048" cy="384048"/>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762488" y="4434840"/>
            <a:ext cx="566928" cy="566928"/>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887968" y="1353312"/>
            <a:ext cx="1207008" cy="320040"/>
          </a:xfrm>
          <a:prstGeom prst="line">
            <a:avLst/>
          </a:prstGeom>
          <a:ln w="19050">
            <a:solidFill>
              <a:srgbClr val="85A4C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113264" y="1783080"/>
            <a:ext cx="457200" cy="1216152"/>
          </a:xfrm>
          <a:prstGeom prst="line">
            <a:avLst/>
          </a:prstGeom>
          <a:ln w="19050">
            <a:solidFill>
              <a:srgbClr val="85A4C2"/>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961120" y="2779776"/>
            <a:ext cx="1490472" cy="384048"/>
          </a:xfrm>
          <a:prstGeom prst="line">
            <a:avLst/>
          </a:prstGeom>
          <a:ln w="19050">
            <a:solidFill>
              <a:srgbClr val="85A4C2"/>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162288" y="3017520"/>
            <a:ext cx="411480" cy="1280160"/>
          </a:xfrm>
          <a:prstGeom prst="line">
            <a:avLst/>
          </a:prstGeom>
          <a:ln w="19050">
            <a:solidFill>
              <a:srgbClr val="85A4C2"/>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10543032" y="3383280"/>
            <a:ext cx="484632" cy="1316736"/>
          </a:xfrm>
          <a:prstGeom prst="line">
            <a:avLst/>
          </a:prstGeom>
          <a:ln w="19050">
            <a:solidFill>
              <a:srgbClr val="85A4C2"/>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747504" y="4343400"/>
            <a:ext cx="1207008" cy="338328"/>
          </a:xfrm>
          <a:prstGeom prst="line">
            <a:avLst/>
          </a:prstGeom>
          <a:ln w="19050">
            <a:solidFill>
              <a:srgbClr val="85A4C2"/>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13232" y="5623560"/>
            <a:ext cx="3017520" cy="585216"/>
          </a:xfrm>
          <a:prstGeom prst="roundRect">
            <a:avLst/>
          </a:prstGeom>
          <a:solidFill>
            <a:srgbClr val="E6F2F9"/>
          </a:solidFill>
          <a:ln w="1905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77824" y="5824728"/>
            <a:ext cx="164592" cy="16459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70432" y="5769864"/>
            <a:ext cx="2404872" cy="274320"/>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300" b="1" i="0">
                <a:solidFill>
                  <a:srgbClr val="0F233D"/>
                </a:solidFill>
                <a:latin typeface="Arial"/>
              </a:rPr>
              <a:t>APOE — strong</a:t>
            </a:r>
          </a:p>
        </p:txBody>
      </p:sp>
      <p:sp>
        <p:nvSpPr>
          <p:cNvPr id="24" name="Rounded Rectangle 23"/>
          <p:cNvSpPr/>
          <p:nvPr/>
        </p:nvSpPr>
        <p:spPr>
          <a:xfrm>
            <a:off x="3950208" y="5623560"/>
            <a:ext cx="3703320" cy="585216"/>
          </a:xfrm>
          <a:prstGeom prst="roundRect">
            <a:avLst/>
          </a:prstGeom>
          <a:solidFill>
            <a:srgbClr val="FFF6E0"/>
          </a:solidFill>
          <a:ln w="1905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4114800" y="5824728"/>
            <a:ext cx="164592" cy="16459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07408" y="5769864"/>
            <a:ext cx="3090672" cy="274320"/>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300" b="1" i="0">
                <a:solidFill>
                  <a:srgbClr val="0F233D"/>
                </a:solidFill>
                <a:latin typeface="Arial"/>
              </a:rPr>
              <a:t>COX7C / SELENOW — weak</a:t>
            </a:r>
          </a:p>
        </p:txBody>
      </p:sp>
      <p:sp>
        <p:nvSpPr>
          <p:cNvPr id="27" name="Rounded Rectangle 26"/>
          <p:cNvSpPr/>
          <p:nvPr/>
        </p:nvSpPr>
        <p:spPr>
          <a:xfrm>
            <a:off x="7882127" y="5623560"/>
            <a:ext cx="3657600" cy="585216"/>
          </a:xfrm>
          <a:prstGeom prst="roundRect">
            <a:avLst/>
          </a:prstGeom>
          <a:solidFill>
            <a:srgbClr val="FDEBE4"/>
          </a:solidFill>
          <a:ln w="1905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46719" y="5824728"/>
            <a:ext cx="164592" cy="164592"/>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39327" y="5769864"/>
            <a:ext cx="3044952" cy="274320"/>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300" b="1" i="0">
                <a:solidFill>
                  <a:srgbClr val="0F233D"/>
                </a:solidFill>
                <a:latin typeface="Arial"/>
              </a:rPr>
              <a:t>RPS15 — promising, unresolved</a:t>
            </a:r>
          </a:p>
        </p:txBody>
      </p:sp>
      <p:sp>
        <p:nvSpPr>
          <p:cNvPr id="30" name="TextBox 29"/>
          <p:cNvSpPr txBox="1"/>
          <p:nvPr/>
        </p:nvSpPr>
        <p:spPr>
          <a:xfrm>
            <a:off x="713232" y="6428232"/>
            <a:ext cx="3840480" cy="16459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850" b="0" i="0">
                <a:solidFill>
                  <a:srgbClr val="91ABC5"/>
                </a:solidFill>
                <a:latin typeface="Arial"/>
              </a:rPr>
              <a:t>Public-data update • 21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009E73"/>
                </a:solidFill>
                <a:latin typeface="Arial"/>
              </a:rPr>
              <a:t>FRAMING</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200" b="1" i="0">
                <a:solidFill>
                  <a:srgbClr val="0F233D"/>
                </a:solidFill>
                <a:latin typeface="Arial"/>
              </a:rPr>
              <a:t>The genetic analysis asks a narrower question than the network analysis</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02</a:t>
            </a:r>
          </a:p>
        </p:txBody>
      </p:sp>
      <p:sp>
        <p:nvSpPr>
          <p:cNvPr id="5" name="Rounded Rectangle 4"/>
          <p:cNvSpPr/>
          <p:nvPr/>
        </p:nvSpPr>
        <p:spPr>
          <a:xfrm>
            <a:off x="667512" y="1298448"/>
            <a:ext cx="4526280" cy="1865376"/>
          </a:xfrm>
          <a:prstGeom prst="roundRect">
            <a:avLst/>
          </a:prstGeom>
          <a:solidFill>
            <a:srgbClr val="E5F4EF"/>
          </a:solidFill>
          <a:ln w="1905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41832" y="1572768"/>
            <a:ext cx="1920240" cy="23774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00" b="1" i="0">
                <a:solidFill>
                  <a:srgbClr val="009E73"/>
                </a:solidFill>
                <a:latin typeface="Arial"/>
              </a:rPr>
              <a:t>NETWORK ANALYSIS</a:t>
            </a:r>
          </a:p>
        </p:txBody>
      </p:sp>
      <p:sp>
        <p:nvSpPr>
          <p:cNvPr id="7" name="TextBox 6"/>
          <p:cNvSpPr txBox="1"/>
          <p:nvPr/>
        </p:nvSpPr>
        <p:spPr>
          <a:xfrm>
            <a:off x="941832" y="1901952"/>
            <a:ext cx="3913632" cy="36576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850" b="1" i="0">
                <a:solidFill>
                  <a:srgbClr val="0F233D"/>
                </a:solidFill>
                <a:latin typeface="Arial"/>
              </a:rPr>
              <a:t>Network-associated key drivers</a:t>
            </a:r>
          </a:p>
        </p:txBody>
      </p:sp>
      <p:sp>
        <p:nvSpPr>
          <p:cNvPr id="8" name="TextBox 7"/>
          <p:cNvSpPr txBox="1"/>
          <p:nvPr/>
        </p:nvSpPr>
        <p:spPr>
          <a:xfrm>
            <a:off x="941832" y="2542032"/>
            <a:ext cx="3886200" cy="29260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550" b="1" i="0">
                <a:solidFill>
                  <a:srgbClr val="4D4D4D"/>
                </a:solidFill>
                <a:latin typeface="Arial"/>
              </a:rPr>
              <a:t>47 contexts  •  25 unique genes</a:t>
            </a:r>
          </a:p>
        </p:txBody>
      </p:sp>
      <p:cxnSp>
        <p:nvCxnSpPr>
          <p:cNvPr id="9" name="Connector 8"/>
          <p:cNvCxnSpPr/>
          <p:nvPr/>
        </p:nvCxnSpPr>
        <p:spPr>
          <a:xfrm>
            <a:off x="5349240" y="2231136"/>
            <a:ext cx="1325880" cy="0"/>
          </a:xfrm>
          <a:prstGeom prst="line">
            <a:avLst/>
          </a:prstGeom>
          <a:ln w="31750">
            <a:solidFill>
              <a:srgbClr val="0072B2"/>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266944" y="2459736"/>
            <a:ext cx="1472184" cy="56692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00" b="1" i="0">
                <a:solidFill>
                  <a:srgbClr val="677484"/>
                </a:solidFill>
                <a:latin typeface="Arial"/>
              </a:rPr>
              <a:t>complementary
evidence</a:t>
            </a:r>
          </a:p>
        </p:txBody>
      </p:sp>
      <p:sp>
        <p:nvSpPr>
          <p:cNvPr id="11" name="Rounded Rectangle 10"/>
          <p:cNvSpPr/>
          <p:nvPr/>
        </p:nvSpPr>
        <p:spPr>
          <a:xfrm>
            <a:off x="6812280" y="1298448"/>
            <a:ext cx="4690872" cy="1865376"/>
          </a:xfrm>
          <a:prstGeom prst="roundRect">
            <a:avLst/>
          </a:prstGeom>
          <a:solidFill>
            <a:srgbClr val="E6F2F9"/>
          </a:solidFill>
          <a:ln w="1905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04888" y="1572768"/>
            <a:ext cx="1920240" cy="23774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00" b="1" i="0">
                <a:solidFill>
                  <a:srgbClr val="0072B2"/>
                </a:solidFill>
                <a:latin typeface="Arial"/>
              </a:rPr>
              <a:t>GENETIC ANALYSIS</a:t>
            </a:r>
          </a:p>
        </p:txBody>
      </p:sp>
      <p:sp>
        <p:nvSpPr>
          <p:cNvPr id="13" name="TextBox 12"/>
          <p:cNvSpPr txBox="1"/>
          <p:nvPr/>
        </p:nvSpPr>
        <p:spPr>
          <a:xfrm>
            <a:off x="7104888" y="1901952"/>
            <a:ext cx="4069080" cy="36576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850" b="1" i="0">
                <a:solidFill>
                  <a:srgbClr val="0F233D"/>
                </a:solidFill>
                <a:latin typeface="Arial"/>
              </a:rPr>
              <a:t>Inherited human-genetic support</a:t>
            </a:r>
          </a:p>
        </p:txBody>
      </p:sp>
      <p:sp>
        <p:nvSpPr>
          <p:cNvPr id="14" name="TextBox 13"/>
          <p:cNvSpPr txBox="1"/>
          <p:nvPr/>
        </p:nvSpPr>
        <p:spPr>
          <a:xfrm>
            <a:off x="7104888" y="2542032"/>
            <a:ext cx="4069080" cy="43891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50" b="1" i="0">
                <a:solidFill>
                  <a:srgbClr val="4D4D4D"/>
                </a:solidFill>
                <a:latin typeface="Arial"/>
              </a:rPr>
              <a:t>19 nuclear genes tested  •  6 mtDNA genes need a separate design</a:t>
            </a:r>
          </a:p>
        </p:txBody>
      </p:sp>
      <p:sp>
        <p:nvSpPr>
          <p:cNvPr id="15" name="Oval 14"/>
          <p:cNvSpPr/>
          <p:nvPr/>
        </p:nvSpPr>
        <p:spPr>
          <a:xfrm>
            <a:off x="932688" y="3913632"/>
            <a:ext cx="82296" cy="822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15568" y="3794760"/>
            <a:ext cx="10104120" cy="63093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600" b="0" i="0">
                <a:solidFill>
                  <a:srgbClr val="2F2F2F"/>
                </a:solidFill>
                <a:latin typeface="Arial"/>
              </a:rPr>
              <a:t>The network analysis identifies genes central to disease-associated network modules.</a:t>
            </a:r>
          </a:p>
        </p:txBody>
      </p:sp>
      <p:sp>
        <p:nvSpPr>
          <p:cNvPr id="17" name="Oval 16"/>
          <p:cNvSpPr/>
          <p:nvPr/>
        </p:nvSpPr>
        <p:spPr>
          <a:xfrm>
            <a:off x="932688" y="4544568"/>
            <a:ext cx="82296" cy="822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15568" y="4425696"/>
            <a:ext cx="10104120" cy="63093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600" b="0" i="0">
                <a:solidFill>
                  <a:srgbClr val="2F2F2F"/>
                </a:solidFill>
                <a:latin typeface="Arial"/>
              </a:rPr>
              <a:t>The genetic analysis asks whether AD or endophenotype associations map to a candidate—and share a QTL signal when compatible inputs exist.</a:t>
            </a:r>
          </a:p>
        </p:txBody>
      </p:sp>
      <p:sp>
        <p:nvSpPr>
          <p:cNvPr id="19" name="Oval 18"/>
          <p:cNvSpPr/>
          <p:nvPr/>
        </p:nvSpPr>
        <p:spPr>
          <a:xfrm>
            <a:off x="932688" y="5175504"/>
            <a:ext cx="82296" cy="822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15568" y="5056632"/>
            <a:ext cx="10104120" cy="63093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600" b="0" i="0">
                <a:solidFill>
                  <a:srgbClr val="2F2F2F"/>
                </a:solidFill>
                <a:latin typeface="Arial"/>
              </a:rPr>
              <a:t>Biological network importance need not imply inherited susceptibility.</a:t>
            </a:r>
          </a:p>
        </p:txBody>
      </p:sp>
      <p:sp>
        <p:nvSpPr>
          <p:cNvPr id="21" name="Rectangle 20"/>
          <p:cNvSpPr/>
          <p:nvPr/>
        </p:nvSpPr>
        <p:spPr>
          <a:xfrm>
            <a:off x="502920" y="5870448"/>
            <a:ext cx="11183112"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5870448"/>
            <a:ext cx="91440" cy="50292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961888"/>
            <a:ext cx="10716768" cy="2834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FFFFFF"/>
                </a:solidFill>
                <a:latin typeface="Arial"/>
              </a:rPr>
              <a:t>Genetic evidence annotates the frozen candidate set; it does not rerank the network analysis.</a:t>
            </a:r>
          </a:p>
        </p:txBody>
      </p:sp>
      <p:sp>
        <p:nvSpPr>
          <p:cNvPr id="24" name="TextBox 23"/>
          <p:cNvSpPr txBox="1"/>
          <p:nvPr/>
        </p:nvSpPr>
        <p:spPr>
          <a:xfrm>
            <a:off x="502920" y="6629400"/>
            <a:ext cx="11109960" cy="1280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680" b="0" i="0">
                <a:solidFill>
                  <a:srgbClr val="677484"/>
                </a:solidFill>
                <a:latin typeface="Arial"/>
              </a:rPr>
              <a:t>Source: genetic-support consolidated summary §1.1; call_key_driver_returns.tsv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0072B2"/>
                </a:solidFill>
                <a:latin typeface="Arial"/>
              </a:rPr>
              <a:t>HUMAN GENETICS • MAIN RESULT</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A frozen, gated design prevents overinterpretation</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03</a:t>
            </a:r>
          </a:p>
        </p:txBody>
      </p:sp>
      <p:pic>
        <p:nvPicPr>
          <p:cNvPr id="5" name="Parallel genetic-support workflow: direct public-summary screening and gated nuclear regional-QTL analysis" descr="Parallel genetic-support workflow: direct public-summary screening and gated nuclear regional-QTL analysis"/>
          <p:cNvPicPr>
            <a:picLocks noChangeAspect="1"/>
          </p:cNvPicPr>
          <p:nvPr/>
        </p:nvPicPr>
        <p:blipFill>
          <a:blip r:embed="rId2"/>
          <a:stretch>
            <a:fillRect/>
          </a:stretch>
        </p:blipFill>
        <p:spPr>
          <a:xfrm>
            <a:off x="502920" y="1062731"/>
            <a:ext cx="11183112" cy="4238760"/>
          </a:xfrm>
          <a:prstGeom prst="rect">
            <a:avLst/>
          </a:prstGeom>
        </p:spPr>
      </p:pic>
      <p:sp>
        <p:nvSpPr>
          <p:cNvPr id="6" name="Rectangle 5"/>
          <p:cNvSpPr/>
          <p:nvPr/>
        </p:nvSpPr>
        <p:spPr>
          <a:xfrm>
            <a:off x="502920" y="5596128"/>
            <a:ext cx="11183112"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5596128"/>
            <a:ext cx="91440" cy="502920"/>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687568"/>
            <a:ext cx="10716768" cy="2834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FFFFFF"/>
                </a:solidFill>
                <a:latin typeface="Arial"/>
              </a:rPr>
              <a:t>A route stops at the first failed requirement; arrows describe analysis flow, not a causal mechanism.</a:t>
            </a:r>
          </a:p>
        </p:txBody>
      </p:sp>
      <p:sp>
        <p:nvSpPr>
          <p:cNvPr id="9" name="TextBox 8"/>
          <p:cNvSpPr txBox="1"/>
          <p:nvPr/>
        </p:nvSpPr>
        <p:spPr>
          <a:xfrm>
            <a:off x="502920" y="6629400"/>
            <a:ext cx="11109960" cy="1280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680" b="0" i="0">
                <a:solidFill>
                  <a:srgbClr val="677484"/>
                </a:solidFill>
                <a:latin typeface="Arial"/>
              </a:rPr>
              <a:t>Source: generated workflow package; analysis contracts, registries, and route manifests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0072B2"/>
                </a:solidFill>
                <a:latin typeface="Arial"/>
              </a:rPr>
              <a:t>HUMAN GENETICS • MAIN RESULT</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Only APOE achieved strong formal support</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04</a:t>
            </a:r>
          </a:p>
        </p:txBody>
      </p:sp>
      <p:pic>
        <p:nvPicPr>
          <p:cNvPr id="5" name="Formal Tier 1 scorecard for all 47 candidate-context rows" descr="Formal Tier 1 scorecard for all 47 candidate-context rows"/>
          <p:cNvPicPr>
            <a:picLocks noChangeAspect="1"/>
          </p:cNvPicPr>
          <p:nvPr/>
        </p:nvPicPr>
        <p:blipFill>
          <a:blip r:embed="rId2"/>
          <a:stretch>
            <a:fillRect/>
          </a:stretch>
        </p:blipFill>
        <p:spPr>
          <a:xfrm>
            <a:off x="502920" y="1062731"/>
            <a:ext cx="11183112" cy="4238760"/>
          </a:xfrm>
          <a:prstGeom prst="rect">
            <a:avLst/>
          </a:prstGeom>
        </p:spPr>
      </p:pic>
      <p:sp>
        <p:nvSpPr>
          <p:cNvPr id="6" name="Rectangle 5"/>
          <p:cNvSpPr/>
          <p:nvPr/>
        </p:nvSpPr>
        <p:spPr>
          <a:xfrm>
            <a:off x="502920" y="5596128"/>
            <a:ext cx="11183112"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5596128"/>
            <a:ext cx="91440" cy="502920"/>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687568"/>
            <a:ext cx="10716768" cy="2834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FFFFFF"/>
                </a:solidFill>
                <a:latin typeface="Arial"/>
              </a:rPr>
              <a:t>Supplemental RPS15 audit: weak/suggestive; not integrated into the formal 47-row grade.</a:t>
            </a:r>
          </a:p>
        </p:txBody>
      </p:sp>
      <p:sp>
        <p:nvSpPr>
          <p:cNvPr id="9" name="TextBox 8"/>
          <p:cNvSpPr txBox="1"/>
          <p:nvPr/>
        </p:nvSpPr>
        <p:spPr>
          <a:xfrm>
            <a:off x="502920" y="6629400"/>
            <a:ext cx="11109960" cy="1280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680" b="0" i="0">
                <a:solidFill>
                  <a:srgbClr val="677484"/>
                </a:solidFill>
                <a:latin typeface="Arial"/>
              </a:rPr>
              <a:t>Source: Tier 1 genetic_support_evidence_summary.tsv and genetic_support_status.tsv</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0072B2"/>
                </a:solidFill>
                <a:latin typeface="Arial"/>
              </a:rPr>
              <a:t>HUMAN GENETICS • MAIN RESULT</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APOE has convergent AD and CSF biomarker evidence</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05</a:t>
            </a:r>
          </a:p>
        </p:txBody>
      </p:sp>
      <p:pic>
        <p:nvPicPr>
          <p:cNvPr id="5" name="CSF trait-level gate decisions showing APOE as the only positive gene across all three traits" descr="CSF trait-level gate decisions showing APOE as the only positive gene across all three traits"/>
          <p:cNvPicPr>
            <a:picLocks noChangeAspect="1"/>
          </p:cNvPicPr>
          <p:nvPr/>
        </p:nvPicPr>
        <p:blipFill>
          <a:blip r:embed="rId2"/>
          <a:stretch>
            <a:fillRect/>
          </a:stretch>
        </p:blipFill>
        <p:spPr>
          <a:xfrm>
            <a:off x="502920" y="1062731"/>
            <a:ext cx="11183112" cy="4238760"/>
          </a:xfrm>
          <a:prstGeom prst="rect">
            <a:avLst/>
          </a:prstGeom>
        </p:spPr>
      </p:pic>
      <p:sp>
        <p:nvSpPr>
          <p:cNvPr id="6" name="Rectangle 5"/>
          <p:cNvSpPr/>
          <p:nvPr/>
        </p:nvSpPr>
        <p:spPr>
          <a:xfrm>
            <a:off x="502920" y="5596128"/>
            <a:ext cx="11183112"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5596128"/>
            <a:ext cx="91440" cy="502920"/>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687568"/>
            <a:ext cx="10716768" cy="2834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FFFFFF"/>
                </a:solidFill>
                <a:latin typeface="Arial"/>
              </a:rPr>
              <a:t>Direct AD evidence: rs429358, inclusion 1.0, P ≈ 1.88×10⁻¹⁵⁵ • exact astrocyte mechanism remains unresolved.</a:t>
            </a:r>
          </a:p>
        </p:txBody>
      </p:sp>
      <p:sp>
        <p:nvSpPr>
          <p:cNvPr id="9" name="TextBox 8"/>
          <p:cNvSpPr txBox="1"/>
          <p:nvPr/>
        </p:nvSpPr>
        <p:spPr>
          <a:xfrm>
            <a:off x="502920" y="6629400"/>
            <a:ext cx="11109960" cy="1280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680" b="0" i="0">
                <a:solidFill>
                  <a:srgbClr val="677484"/>
                </a:solidFill>
                <a:latin typeface="Arial"/>
              </a:rPr>
              <a:t>Source: CSF endophenotype_gate_decisions.tsv and MAGMA candidate-gene results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E69F00"/>
                </a:solidFill>
                <a:latin typeface="Arial"/>
              </a:rPr>
              <a:t>HUMAN GENETICS • MAIN RESULT</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Non-APOE signals remain suggestive, regional, or unresolved</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06</a:t>
            </a:r>
          </a:p>
        </p:txBody>
      </p:sp>
      <p:pic>
        <p:nvPicPr>
          <p:cNvPr id="5" name="Evidence cards for COX7C, SELENOW, RPS15, and ANKRD11" descr="Evidence cards for COX7C, SELENOW, RPS15, and ANKRD11"/>
          <p:cNvPicPr>
            <a:picLocks noChangeAspect="1"/>
          </p:cNvPicPr>
          <p:nvPr/>
        </p:nvPicPr>
        <p:blipFill>
          <a:blip r:embed="rId2"/>
          <a:stretch>
            <a:fillRect/>
          </a:stretch>
        </p:blipFill>
        <p:spPr>
          <a:xfrm>
            <a:off x="502920" y="1062731"/>
            <a:ext cx="11183112" cy="4238760"/>
          </a:xfrm>
          <a:prstGeom prst="rect">
            <a:avLst/>
          </a:prstGeom>
        </p:spPr>
      </p:pic>
      <p:sp>
        <p:nvSpPr>
          <p:cNvPr id="6" name="Rectangle 5"/>
          <p:cNvSpPr/>
          <p:nvPr/>
        </p:nvSpPr>
        <p:spPr>
          <a:xfrm>
            <a:off x="502920" y="5596128"/>
            <a:ext cx="11183112"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5596128"/>
            <a:ext cx="91440" cy="502920"/>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687568"/>
            <a:ext cx="10716768" cy="2834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FFFFFF"/>
                </a:solidFill>
                <a:latin typeface="Arial"/>
              </a:rPr>
              <a:t>Regional P values are locus evidence—not candidate-gene assignment or cross-gene effect-size ranks.</a:t>
            </a:r>
          </a:p>
        </p:txBody>
      </p:sp>
      <p:sp>
        <p:nvSpPr>
          <p:cNvPr id="9" name="TextBox 8"/>
          <p:cNvSpPr txBox="1"/>
          <p:nvPr/>
        </p:nvSpPr>
        <p:spPr>
          <a:xfrm>
            <a:off x="502920" y="6629400"/>
            <a:ext cx="11109960" cy="1280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680" b="0" i="0">
                <a:solidFill>
                  <a:srgbClr val="677484"/>
                </a:solidFill>
                <a:latin typeface="Arial"/>
              </a:rPr>
              <a:t>Source: generated non-APOE plot data; Tier 1, recovery, RPS15 audit, and CSF result bundles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D55E00"/>
                </a:solidFill>
                <a:latin typeface="Arial"/>
              </a:rPr>
              <a:t>HUMAN GENETICS • MAIN RESULT</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All 54 Tier 2 routes stopped before a valid shared-signal analysis</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07</a:t>
            </a:r>
          </a:p>
        </p:txBody>
      </p:sp>
      <p:pic>
        <p:nvPicPr>
          <p:cNvPr id="5" name="Mutually exclusive terminal outcomes across 54 prespecified Tier 2 eQTL and sQTL routes" descr="Mutually exclusive terminal outcomes across 54 prespecified Tier 2 eQTL and sQTL routes"/>
          <p:cNvPicPr>
            <a:picLocks noChangeAspect="1"/>
          </p:cNvPicPr>
          <p:nvPr/>
        </p:nvPicPr>
        <p:blipFill>
          <a:blip r:embed="rId2"/>
          <a:stretch>
            <a:fillRect/>
          </a:stretch>
        </p:blipFill>
        <p:spPr>
          <a:xfrm>
            <a:off x="502920" y="1062731"/>
            <a:ext cx="11183112" cy="4238760"/>
          </a:xfrm>
          <a:prstGeom prst="rect">
            <a:avLst/>
          </a:prstGeom>
        </p:spPr>
      </p:pic>
      <p:sp>
        <p:nvSpPr>
          <p:cNvPr id="6" name="Rectangle 5"/>
          <p:cNvSpPr/>
          <p:nvPr/>
        </p:nvSpPr>
        <p:spPr>
          <a:xfrm>
            <a:off x="502920" y="5596128"/>
            <a:ext cx="11183112"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5596128"/>
            <a:ext cx="91440" cy="502920"/>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687568"/>
            <a:ext cx="10716768" cy="2834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FFFFFF"/>
                </a:solidFill>
                <a:latin typeface="Arial"/>
              </a:rPr>
              <a:t>The 42 / 4 / 2 / 6 states are terminal categories; zero valid analyses means PP.H4 is unavailable.</a:t>
            </a:r>
          </a:p>
        </p:txBody>
      </p:sp>
      <p:sp>
        <p:nvSpPr>
          <p:cNvPr id="9" name="TextBox 8"/>
          <p:cNvSpPr txBox="1"/>
          <p:nvPr/>
        </p:nvSpPr>
        <p:spPr>
          <a:xfrm>
            <a:off x="502920" y="6629400"/>
            <a:ext cx="11109960" cy="1280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680" b="0" i="0">
                <a:solidFill>
                  <a:srgbClr val="677484"/>
                </a:solidFill>
                <a:latin typeface="Arial"/>
              </a:rPr>
              <a:t>Source: Tier 2 recovery_route_decisions.tsv and header-only recovery_colocalization.tsv.gz</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D55E00"/>
                </a:solidFill>
                <a:latin typeface="Arial"/>
              </a:rPr>
              <a:t>INTERPRETATION</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No support has three non-equivalent meanings</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08</a:t>
            </a:r>
          </a:p>
        </p:txBody>
      </p:sp>
      <p:sp>
        <p:nvSpPr>
          <p:cNvPr id="5" name="Rounded Rectangle 4"/>
          <p:cNvSpPr/>
          <p:nvPr/>
        </p:nvSpPr>
        <p:spPr>
          <a:xfrm>
            <a:off x="640080" y="1298448"/>
            <a:ext cx="3502152" cy="4343400"/>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298448"/>
            <a:ext cx="3502152" cy="731520"/>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444751"/>
            <a:ext cx="411480" cy="34747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600" b="1" i="0">
                <a:solidFill>
                  <a:srgbClr val="BDBDBD"/>
                </a:solidFill>
                <a:latin typeface="Arial"/>
              </a:rPr>
              <a:t>01</a:t>
            </a:r>
          </a:p>
        </p:txBody>
      </p:sp>
      <p:sp>
        <p:nvSpPr>
          <p:cNvPr id="8" name="TextBox 7"/>
          <p:cNvSpPr txBox="1"/>
          <p:nvPr/>
        </p:nvSpPr>
        <p:spPr>
          <a:xfrm>
            <a:off x="1316736" y="1417319"/>
            <a:ext cx="2624328" cy="42062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700" b="1" i="0">
                <a:solidFill>
                  <a:srgbClr val="0F233D"/>
                </a:solidFill>
                <a:latin typeface="Arial"/>
              </a:rPr>
              <a:t>Signal-negative</a:t>
            </a:r>
          </a:p>
        </p:txBody>
      </p:sp>
      <p:sp>
        <p:nvSpPr>
          <p:cNvPr id="9" name="TextBox 8"/>
          <p:cNvSpPr txBox="1"/>
          <p:nvPr/>
        </p:nvSpPr>
        <p:spPr>
          <a:xfrm>
            <a:off x="886968" y="2322576"/>
            <a:ext cx="3008376" cy="306324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400" b="0" i="0">
                <a:solidFill>
                  <a:srgbClr val="2F2F2F"/>
                </a:solidFill>
                <a:latin typeface="Arial"/>
              </a:rPr>
              <a:t>15 of 19 nuclear genes lacked a clinical-AD regional signal at P &lt; 5×10⁻⁸.
All 18 non-APOE nuclear genes failed the CSF gates.</a:t>
            </a:r>
          </a:p>
        </p:txBody>
      </p:sp>
      <p:sp>
        <p:nvSpPr>
          <p:cNvPr id="10" name="Rounded Rectangle 9"/>
          <p:cNvSpPr/>
          <p:nvPr/>
        </p:nvSpPr>
        <p:spPr>
          <a:xfrm>
            <a:off x="4389120" y="1298448"/>
            <a:ext cx="3502152" cy="4343400"/>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298448"/>
            <a:ext cx="3502152" cy="731520"/>
          </a:xfrm>
          <a:prstGeom prst="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1444751"/>
            <a:ext cx="411480" cy="34747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600" b="1" i="0">
                <a:solidFill>
                  <a:srgbClr val="D55E00"/>
                </a:solidFill>
                <a:latin typeface="Arial"/>
              </a:rPr>
              <a:t>02</a:t>
            </a:r>
          </a:p>
        </p:txBody>
      </p:sp>
      <p:sp>
        <p:nvSpPr>
          <p:cNvPr id="13" name="TextBox 12"/>
          <p:cNvSpPr txBox="1"/>
          <p:nvPr/>
        </p:nvSpPr>
        <p:spPr>
          <a:xfrm>
            <a:off x="5065776" y="1417319"/>
            <a:ext cx="2624328" cy="42062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700" b="1" i="0">
                <a:solidFill>
                  <a:srgbClr val="0F233D"/>
                </a:solidFill>
                <a:latin typeface="Arial"/>
              </a:rPr>
              <a:t>Technically unresolved</a:t>
            </a:r>
          </a:p>
        </p:txBody>
      </p:sp>
      <p:sp>
        <p:nvSpPr>
          <p:cNvPr id="14" name="TextBox 13"/>
          <p:cNvSpPr txBox="1"/>
          <p:nvPr/>
        </p:nvSpPr>
        <p:spPr>
          <a:xfrm>
            <a:off x="4636008" y="2322576"/>
            <a:ext cx="3008376" cy="306324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400" b="0" i="0">
                <a:solidFill>
                  <a:srgbClr val="2F2F2F"/>
                </a:solidFill>
                <a:latin typeface="Arial"/>
              </a:rPr>
              <a:t>Complete candidate-QTL models, variant order, or source-matched LD were missing.
Exact-cell QTL data were sparse, unavailable, or context-mismatched.</a:t>
            </a:r>
          </a:p>
        </p:txBody>
      </p:sp>
      <p:sp>
        <p:nvSpPr>
          <p:cNvPr id="15" name="Rounded Rectangle 14"/>
          <p:cNvSpPr/>
          <p:nvPr/>
        </p:nvSpPr>
        <p:spPr>
          <a:xfrm>
            <a:off x="8138159" y="1298448"/>
            <a:ext cx="3502152" cy="4343400"/>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59" y="1298448"/>
            <a:ext cx="3502152"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7" y="1444751"/>
            <a:ext cx="411480" cy="34747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600" b="1" i="0">
                <a:solidFill>
                  <a:srgbClr val="4D4D4D"/>
                </a:solidFill>
                <a:latin typeface="Arial"/>
              </a:rPr>
              <a:t>03</a:t>
            </a:r>
          </a:p>
        </p:txBody>
      </p:sp>
      <p:sp>
        <p:nvSpPr>
          <p:cNvPr id="18" name="TextBox 17"/>
          <p:cNvSpPr txBox="1"/>
          <p:nvPr/>
        </p:nvSpPr>
        <p:spPr>
          <a:xfrm>
            <a:off x="8814815" y="1417319"/>
            <a:ext cx="2624328" cy="42062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700" b="1" i="0">
                <a:solidFill>
                  <a:srgbClr val="0F233D"/>
                </a:solidFill>
                <a:latin typeface="Arial"/>
              </a:rPr>
              <a:t>Outside this design</a:t>
            </a:r>
          </a:p>
        </p:txBody>
      </p:sp>
      <p:sp>
        <p:nvSpPr>
          <p:cNvPr id="19" name="TextBox 18"/>
          <p:cNvSpPr txBox="1"/>
          <p:nvPr/>
        </p:nvSpPr>
        <p:spPr>
          <a:xfrm>
            <a:off x="8385047" y="2322576"/>
            <a:ext cx="3008376" cy="306324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400" b="0" i="0">
                <a:solidFill>
                  <a:srgbClr val="2F2F2F"/>
                </a:solidFill>
                <a:latin typeface="Arial"/>
              </a:rPr>
              <a:t>mtDNA, rare/structural variation, trans regulation, interactions, disease stage, progression, resilience, and post-transcriptional mechanisms.</a:t>
            </a:r>
          </a:p>
        </p:txBody>
      </p:sp>
      <p:sp>
        <p:nvSpPr>
          <p:cNvPr id="20" name="Rectangle 19"/>
          <p:cNvSpPr/>
          <p:nvPr/>
        </p:nvSpPr>
        <p:spPr>
          <a:xfrm>
            <a:off x="502920" y="5852160"/>
            <a:ext cx="11183112"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5852160"/>
            <a:ext cx="91440" cy="502920"/>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943600"/>
            <a:ext cx="10716768" cy="2834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FFFFFF"/>
                </a:solidFill>
                <a:latin typeface="Arial"/>
              </a:rPr>
              <a:t>The six mtDNA genes were not tested negatively.</a:t>
            </a:r>
          </a:p>
        </p:txBody>
      </p:sp>
      <p:sp>
        <p:nvSpPr>
          <p:cNvPr id="23" name="TextBox 22"/>
          <p:cNvSpPr txBox="1"/>
          <p:nvPr/>
        </p:nvSpPr>
        <p:spPr>
          <a:xfrm>
            <a:off x="502920" y="6629400"/>
            <a:ext cx="11109960" cy="1280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680" b="0" i="0">
                <a:solidFill>
                  <a:srgbClr val="677484"/>
                </a:solidFill>
                <a:latin typeface="Arial"/>
              </a:rPr>
              <a:t>Source: recovery_regional_gwas_summary.tsv; CSF gate decisions; Tier 1 mtDNA evidence states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009E73"/>
                </a:solidFill>
                <a:latin typeface="Arial"/>
              </a:rPr>
              <a:t>NEXT STEPS</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The next work should resolve key loci, then broaden mechanisms</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09</a:t>
            </a:r>
          </a:p>
        </p:txBody>
      </p:sp>
      <p:sp>
        <p:nvSpPr>
          <p:cNvPr id="5" name="Rounded Rectangle 4"/>
          <p:cNvSpPr/>
          <p:nvPr/>
        </p:nvSpPr>
        <p:spPr>
          <a:xfrm>
            <a:off x="640080" y="1371600"/>
            <a:ext cx="3502152" cy="4160520"/>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371600"/>
            <a:ext cx="3502152" cy="731520"/>
          </a:xfrm>
          <a:prstGeom prst="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7" y="1517904"/>
            <a:ext cx="411480" cy="34747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600" b="1" i="0">
                <a:solidFill>
                  <a:srgbClr val="D55E00"/>
                </a:solidFill>
                <a:latin typeface="Arial"/>
              </a:rPr>
              <a:t>01</a:t>
            </a:r>
          </a:p>
        </p:txBody>
      </p:sp>
      <p:sp>
        <p:nvSpPr>
          <p:cNvPr id="8" name="TextBox 7"/>
          <p:cNvSpPr txBox="1"/>
          <p:nvPr/>
        </p:nvSpPr>
        <p:spPr>
          <a:xfrm>
            <a:off x="1316736" y="1490472"/>
            <a:ext cx="2624328" cy="42062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700" b="1" i="0">
                <a:solidFill>
                  <a:srgbClr val="0F233D"/>
                </a:solidFill>
                <a:latin typeface="Arial"/>
              </a:rPr>
              <a:t>Resolve APOE and RPS15</a:t>
            </a:r>
          </a:p>
        </p:txBody>
      </p:sp>
      <p:sp>
        <p:nvSpPr>
          <p:cNvPr id="9" name="TextBox 8"/>
          <p:cNvSpPr txBox="1"/>
          <p:nvPr/>
        </p:nvSpPr>
        <p:spPr>
          <a:xfrm>
            <a:off x="886968" y="2395728"/>
            <a:ext cx="3008376" cy="288036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400" b="0" i="0">
                <a:solidFill>
                  <a:srgbClr val="2F2F2F"/>
                </a:solidFill>
                <a:latin typeface="Arial"/>
              </a:rPr>
              <a:t>Complete signal-aware QTL models
+ source-matched LD
+ larger exact-cell eQTL / sQTL</a:t>
            </a:r>
          </a:p>
        </p:txBody>
      </p:sp>
      <p:sp>
        <p:nvSpPr>
          <p:cNvPr id="10" name="Rounded Rectangle 9"/>
          <p:cNvSpPr/>
          <p:nvPr/>
        </p:nvSpPr>
        <p:spPr>
          <a:xfrm>
            <a:off x="4389120" y="1371600"/>
            <a:ext cx="3502152" cy="4160520"/>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371600"/>
            <a:ext cx="3502152" cy="731520"/>
          </a:xfrm>
          <a:prstGeom prst="rect">
            <a:avLst/>
          </a:prstGeom>
          <a:solidFill>
            <a:srgbClr val="E6F2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1517904"/>
            <a:ext cx="411480" cy="34747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600" b="1" i="0">
                <a:solidFill>
                  <a:srgbClr val="0072B2"/>
                </a:solidFill>
                <a:latin typeface="Arial"/>
              </a:rPr>
              <a:t>02</a:t>
            </a:r>
          </a:p>
        </p:txBody>
      </p:sp>
      <p:sp>
        <p:nvSpPr>
          <p:cNvPr id="13" name="TextBox 12"/>
          <p:cNvSpPr txBox="1"/>
          <p:nvPr/>
        </p:nvSpPr>
        <p:spPr>
          <a:xfrm>
            <a:off x="5065776" y="1490472"/>
            <a:ext cx="2624328" cy="42062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700" b="1" i="0">
                <a:solidFill>
                  <a:srgbClr val="0F233D"/>
                </a:solidFill>
                <a:latin typeface="Arial"/>
              </a:rPr>
              <a:t>Broaden nuclear mechanisms</a:t>
            </a:r>
          </a:p>
        </p:txBody>
      </p:sp>
      <p:sp>
        <p:nvSpPr>
          <p:cNvPr id="14" name="TextBox 13"/>
          <p:cNvSpPr txBox="1"/>
          <p:nvPr/>
        </p:nvSpPr>
        <p:spPr>
          <a:xfrm>
            <a:off x="4636008" y="2395728"/>
            <a:ext cx="3008376" cy="288036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400" b="0" i="0">
                <a:solidFill>
                  <a:srgbClr val="2F2F2F"/>
                </a:solidFill>
                <a:latin typeface="Arial"/>
              </a:rPr>
              <a:t>Candidate-frozen pQTL / PWAS / TWAS
+ rare variants and interactions
+ more phenotypes and ancestries</a:t>
            </a:r>
          </a:p>
        </p:txBody>
      </p:sp>
      <p:sp>
        <p:nvSpPr>
          <p:cNvPr id="15" name="Rounded Rectangle 14"/>
          <p:cNvSpPr/>
          <p:nvPr/>
        </p:nvSpPr>
        <p:spPr>
          <a:xfrm>
            <a:off x="8138159" y="1371600"/>
            <a:ext cx="3502152" cy="4160520"/>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59" y="1371600"/>
            <a:ext cx="3502152" cy="731520"/>
          </a:xfrm>
          <a:prstGeom prst="rect">
            <a:avLst/>
          </a:prstGeom>
          <a:solidFill>
            <a:srgbClr val="E5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7" y="1517904"/>
            <a:ext cx="411480" cy="347472"/>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600" b="1" i="0">
                <a:solidFill>
                  <a:srgbClr val="009E73"/>
                </a:solidFill>
                <a:latin typeface="Arial"/>
              </a:rPr>
              <a:t>03</a:t>
            </a:r>
          </a:p>
        </p:txBody>
      </p:sp>
      <p:sp>
        <p:nvSpPr>
          <p:cNvPr id="18" name="TextBox 17"/>
          <p:cNvSpPr txBox="1"/>
          <p:nvPr/>
        </p:nvSpPr>
        <p:spPr>
          <a:xfrm>
            <a:off x="8814815" y="1490472"/>
            <a:ext cx="2624328" cy="42062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700" b="1" i="0">
                <a:solidFill>
                  <a:srgbClr val="0F233D"/>
                </a:solidFill>
                <a:latin typeface="Arial"/>
              </a:rPr>
              <a:t>Separate and validate</a:t>
            </a:r>
          </a:p>
        </p:txBody>
      </p:sp>
      <p:sp>
        <p:nvSpPr>
          <p:cNvPr id="19" name="TextBox 18"/>
          <p:cNvSpPr txBox="1"/>
          <p:nvPr/>
        </p:nvSpPr>
        <p:spPr>
          <a:xfrm>
            <a:off x="8385047" y="2395728"/>
            <a:ext cx="3008376" cy="288036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400" b="0" i="0">
                <a:solidFill>
                  <a:srgbClr val="2F2F2F"/>
                </a:solidFill>
                <a:latin typeface="Arial"/>
              </a:rPr>
              <a:t>Dedicated mtDNA analysis
+ independent network replication
+ perturbation and rescue</a:t>
            </a:r>
          </a:p>
        </p:txBody>
      </p:sp>
      <p:cxnSp>
        <p:nvCxnSpPr>
          <p:cNvPr id="20" name="Connector 19"/>
          <p:cNvCxnSpPr/>
          <p:nvPr/>
        </p:nvCxnSpPr>
        <p:spPr>
          <a:xfrm>
            <a:off x="4187952" y="3502152"/>
            <a:ext cx="411480" cy="0"/>
          </a:xfrm>
          <a:prstGeom prst="line">
            <a:avLst/>
          </a:prstGeom>
          <a:ln w="25400">
            <a:solidFill>
              <a:srgbClr val="0072B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936992" y="3502152"/>
            <a:ext cx="411479" cy="0"/>
          </a:xfrm>
          <a:prstGeom prst="line">
            <a:avLst/>
          </a:prstGeom>
          <a:ln w="25400">
            <a:solidFill>
              <a:srgbClr val="0072B2"/>
            </a:solidFill>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02920" y="5824728"/>
            <a:ext cx="11183112"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5824728"/>
            <a:ext cx="91440" cy="50292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916168"/>
            <a:ext cx="10716768" cy="2834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FFFFFF"/>
                </a:solidFill>
                <a:latin typeface="Arial"/>
              </a:rPr>
              <a:t>Highest-value next step: complete, matched molecular-QTL packages for APOE and RPS15.</a:t>
            </a:r>
          </a:p>
        </p:txBody>
      </p:sp>
      <p:sp>
        <p:nvSpPr>
          <p:cNvPr id="25" name="TextBox 24"/>
          <p:cNvSpPr txBox="1"/>
          <p:nvPr/>
        </p:nvSpPr>
        <p:spPr>
          <a:xfrm>
            <a:off x="502920" y="6629400"/>
            <a:ext cx="11109960" cy="1280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680" b="0" i="0">
                <a:solidFill>
                  <a:srgbClr val="677484"/>
                </a:solidFill>
                <a:latin typeface="Arial"/>
              </a:rPr>
              <a:t>Source: genetic-support consolidated summary §6.2; bundle-repair actions are detailed in the appendix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233D"/>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457200"/>
            <a:ext cx="4114800" cy="23774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50" b="1" i="0">
                <a:solidFill>
                  <a:srgbClr val="56B4E9"/>
                </a:solidFill>
                <a:latin typeface="Arial"/>
              </a:rPr>
              <a:t>HUMAN GENETICS • TAKE-HOME</a:t>
            </a:r>
          </a:p>
        </p:txBody>
      </p:sp>
      <p:sp>
        <p:nvSpPr>
          <p:cNvPr id="4" name="TextBox 3"/>
          <p:cNvSpPr txBox="1"/>
          <p:nvPr/>
        </p:nvSpPr>
        <p:spPr>
          <a:xfrm>
            <a:off x="658368" y="841248"/>
            <a:ext cx="10789920" cy="68580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900" b="1" i="0">
                <a:solidFill>
                  <a:srgbClr val="FFFFFF"/>
                </a:solidFill>
                <a:latin typeface="Arial"/>
              </a:rPr>
              <a:t>Human genetics narrows the candidate landscape without closing it</a:t>
            </a:r>
          </a:p>
        </p:txBody>
      </p:sp>
      <p:sp>
        <p:nvSpPr>
          <p:cNvPr id="5" name="Rounded Rectangle 4"/>
          <p:cNvSpPr/>
          <p:nvPr/>
        </p:nvSpPr>
        <p:spPr>
          <a:xfrm>
            <a:off x="658368" y="1874519"/>
            <a:ext cx="5230368" cy="1170432"/>
          </a:xfrm>
          <a:prstGeom prst="roundRect">
            <a:avLst/>
          </a:prstGeom>
          <a:solidFill>
            <a:srgbClr val="1E3B5B"/>
          </a:solidFill>
          <a:ln w="1778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7824" y="2048255"/>
            <a:ext cx="475488" cy="32918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600" b="1" i="0">
                <a:solidFill>
                  <a:srgbClr val="0072B2"/>
                </a:solidFill>
                <a:latin typeface="Arial"/>
              </a:rPr>
              <a:t>01</a:t>
            </a:r>
          </a:p>
        </p:txBody>
      </p:sp>
      <p:sp>
        <p:nvSpPr>
          <p:cNvPr id="7" name="TextBox 6"/>
          <p:cNvSpPr txBox="1"/>
          <p:nvPr/>
        </p:nvSpPr>
        <p:spPr>
          <a:xfrm>
            <a:off x="1499616" y="2029967"/>
            <a:ext cx="4114800" cy="30175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700" b="1" i="0">
                <a:solidFill>
                  <a:srgbClr val="FFFFFF"/>
                </a:solidFill>
                <a:latin typeface="Arial"/>
              </a:rPr>
              <a:t>APOE</a:t>
            </a:r>
          </a:p>
        </p:txBody>
      </p:sp>
      <p:sp>
        <p:nvSpPr>
          <p:cNvPr id="8" name="TextBox 7"/>
          <p:cNvSpPr txBox="1"/>
          <p:nvPr/>
        </p:nvSpPr>
        <p:spPr>
          <a:xfrm>
            <a:off x="1499616" y="2450591"/>
            <a:ext cx="4096512" cy="38404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00" b="0" i="0">
                <a:solidFill>
                  <a:srgbClr val="CFDEED"/>
                </a:solidFill>
                <a:latin typeface="Arial"/>
              </a:rPr>
              <a:t>Strong, convergent gene-level support.</a:t>
            </a:r>
          </a:p>
        </p:txBody>
      </p:sp>
      <p:sp>
        <p:nvSpPr>
          <p:cNvPr id="9" name="Rounded Rectangle 8"/>
          <p:cNvSpPr/>
          <p:nvPr/>
        </p:nvSpPr>
        <p:spPr>
          <a:xfrm>
            <a:off x="6236207" y="1874519"/>
            <a:ext cx="5230368" cy="1170432"/>
          </a:xfrm>
          <a:prstGeom prst="roundRect">
            <a:avLst/>
          </a:prstGeom>
          <a:solidFill>
            <a:srgbClr val="1E3B5B"/>
          </a:solidFill>
          <a:ln w="1778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55664" y="2048255"/>
            <a:ext cx="475488" cy="32918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600" b="1" i="0">
                <a:solidFill>
                  <a:srgbClr val="E69F00"/>
                </a:solidFill>
                <a:latin typeface="Arial"/>
              </a:rPr>
              <a:t>02</a:t>
            </a:r>
          </a:p>
        </p:txBody>
      </p:sp>
      <p:sp>
        <p:nvSpPr>
          <p:cNvPr id="11" name="TextBox 10"/>
          <p:cNvSpPr txBox="1"/>
          <p:nvPr/>
        </p:nvSpPr>
        <p:spPr>
          <a:xfrm>
            <a:off x="7077455" y="2029967"/>
            <a:ext cx="4114800" cy="30175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700" b="1" i="0">
                <a:solidFill>
                  <a:srgbClr val="FFFFFF"/>
                </a:solidFill>
                <a:latin typeface="Arial"/>
              </a:rPr>
              <a:t>COX7C + SELENOW</a:t>
            </a:r>
          </a:p>
        </p:txBody>
      </p:sp>
      <p:sp>
        <p:nvSpPr>
          <p:cNvPr id="12" name="TextBox 11"/>
          <p:cNvSpPr txBox="1"/>
          <p:nvPr/>
        </p:nvSpPr>
        <p:spPr>
          <a:xfrm>
            <a:off x="7077455" y="2450591"/>
            <a:ext cx="4096512" cy="38404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00" b="0" i="0">
                <a:solidFill>
                  <a:srgbClr val="CFDEED"/>
                </a:solidFill>
                <a:latin typeface="Arial"/>
              </a:rPr>
              <a:t>Weak/suggestive summary evidence.</a:t>
            </a:r>
          </a:p>
        </p:txBody>
      </p:sp>
      <p:sp>
        <p:nvSpPr>
          <p:cNvPr id="13" name="Rounded Rectangle 12"/>
          <p:cNvSpPr/>
          <p:nvPr/>
        </p:nvSpPr>
        <p:spPr>
          <a:xfrm>
            <a:off x="658368" y="3355848"/>
            <a:ext cx="5230368" cy="1170432"/>
          </a:xfrm>
          <a:prstGeom prst="roundRect">
            <a:avLst/>
          </a:prstGeom>
          <a:solidFill>
            <a:srgbClr val="1E3B5B"/>
          </a:solidFill>
          <a:ln w="1778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3529584"/>
            <a:ext cx="475488" cy="32918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600" b="1" i="0">
                <a:solidFill>
                  <a:srgbClr val="D55E00"/>
                </a:solidFill>
                <a:latin typeface="Arial"/>
              </a:rPr>
              <a:t>03</a:t>
            </a:r>
          </a:p>
        </p:txBody>
      </p:sp>
      <p:sp>
        <p:nvSpPr>
          <p:cNvPr id="15" name="TextBox 14"/>
          <p:cNvSpPr txBox="1"/>
          <p:nvPr/>
        </p:nvSpPr>
        <p:spPr>
          <a:xfrm>
            <a:off x="1499616" y="3511296"/>
            <a:ext cx="4114800" cy="30175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700" b="1" i="0">
                <a:solidFill>
                  <a:srgbClr val="FFFFFF"/>
                </a:solidFill>
                <a:latin typeface="Arial"/>
              </a:rPr>
              <a:t>RPS15 + ANKRD11</a:t>
            </a:r>
          </a:p>
        </p:txBody>
      </p:sp>
      <p:sp>
        <p:nvSpPr>
          <p:cNvPr id="16" name="TextBox 15"/>
          <p:cNvSpPr txBox="1"/>
          <p:nvPr/>
        </p:nvSpPr>
        <p:spPr>
          <a:xfrm>
            <a:off x="1499616" y="3931920"/>
            <a:ext cx="4096512" cy="38404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00" b="0" i="0">
                <a:solidFill>
                  <a:srgbClr val="CFDEED"/>
                </a:solidFill>
                <a:latin typeface="Arial"/>
              </a:rPr>
              <a:t>Highest-priority unresolved; locus-only, respectively.</a:t>
            </a:r>
          </a:p>
        </p:txBody>
      </p:sp>
      <p:sp>
        <p:nvSpPr>
          <p:cNvPr id="17" name="Rounded Rectangle 16"/>
          <p:cNvSpPr/>
          <p:nvPr/>
        </p:nvSpPr>
        <p:spPr>
          <a:xfrm>
            <a:off x="6236207" y="3355848"/>
            <a:ext cx="5230368" cy="1170432"/>
          </a:xfrm>
          <a:prstGeom prst="roundRect">
            <a:avLst/>
          </a:prstGeom>
          <a:solidFill>
            <a:srgbClr val="1E3B5B"/>
          </a:solidFill>
          <a:ln w="1778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5664" y="3529584"/>
            <a:ext cx="475488" cy="32918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600" b="1" i="0">
                <a:solidFill>
                  <a:srgbClr val="009E73"/>
                </a:solidFill>
                <a:latin typeface="Arial"/>
              </a:rPr>
              <a:t>04</a:t>
            </a:r>
          </a:p>
        </p:txBody>
      </p:sp>
      <p:sp>
        <p:nvSpPr>
          <p:cNvPr id="19" name="TextBox 18"/>
          <p:cNvSpPr txBox="1"/>
          <p:nvPr/>
        </p:nvSpPr>
        <p:spPr>
          <a:xfrm>
            <a:off x="7077455" y="3511296"/>
            <a:ext cx="4114800" cy="30175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700" b="1" i="0">
                <a:solidFill>
                  <a:srgbClr val="FFFFFF"/>
                </a:solidFill>
                <a:latin typeface="Arial"/>
              </a:rPr>
              <a:t>No new validated gene</a:t>
            </a:r>
          </a:p>
        </p:txBody>
      </p:sp>
      <p:sp>
        <p:nvSpPr>
          <p:cNvPr id="20" name="TextBox 19"/>
          <p:cNvSpPr txBox="1"/>
          <p:nvPr/>
        </p:nvSpPr>
        <p:spPr>
          <a:xfrm>
            <a:off x="7077455" y="3931920"/>
            <a:ext cx="4096512" cy="38404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00" b="0" i="0">
                <a:solidFill>
                  <a:srgbClr val="CFDEED"/>
                </a:solidFill>
                <a:latin typeface="Arial"/>
              </a:rPr>
              <a:t>Outcomes mix tested negatives, unavailable inputs, and out-of-design mechanisms.</a:t>
            </a:r>
          </a:p>
        </p:txBody>
      </p:sp>
      <p:sp>
        <p:nvSpPr>
          <p:cNvPr id="21" name="Rounded Rectangle 20"/>
          <p:cNvSpPr/>
          <p:nvPr/>
        </p:nvSpPr>
        <p:spPr>
          <a:xfrm>
            <a:off x="3218688" y="5266944"/>
            <a:ext cx="5751576" cy="667512"/>
          </a:xfrm>
          <a:prstGeom prst="roundRect">
            <a:avLst/>
          </a:prstGeom>
          <a:solidFill>
            <a:srgbClr val="FFFFFF"/>
          </a:solidFill>
          <a:ln w="2032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38144" y="5449824"/>
            <a:ext cx="5312664" cy="283464"/>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550" b="1" i="0">
                <a:solidFill>
                  <a:srgbClr val="0F233D"/>
                </a:solidFill>
                <a:latin typeface="Arial"/>
              </a:rPr>
              <a:t>full_genetic_support_complete = FALSE</a:t>
            </a:r>
          </a:p>
        </p:txBody>
      </p:sp>
      <p:sp>
        <p:nvSpPr>
          <p:cNvPr id="23" name="TextBox 22"/>
          <p:cNvSpPr txBox="1"/>
          <p:nvPr/>
        </p:nvSpPr>
        <p:spPr>
          <a:xfrm>
            <a:off x="1965960" y="6199632"/>
            <a:ext cx="8257031" cy="27432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50" b="0" i="0">
                <a:solidFill>
                  <a:srgbClr val="ADC5DC"/>
                </a:solidFill>
                <a:latin typeface="Arial"/>
              </a:rPr>
              <a:t>Disciplined genetic annotation—not broad validation or rejection of network drivers.</a:t>
            </a:r>
          </a:p>
        </p:txBody>
      </p:sp>
      <p:sp>
        <p:nvSpPr>
          <p:cNvPr id="24" name="TextBox 23"/>
          <p:cNvSpPr txBox="1"/>
          <p:nvPr/>
        </p:nvSpPr>
        <p:spPr>
          <a:xfrm>
            <a:off x="11356848" y="292608"/>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91ABC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009E73"/>
                </a:solidFill>
                <a:latin typeface="Arial"/>
              </a:rPr>
              <a:t>APPENDIX • CANDIDATE FREEZE</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The frozen candidate set contains 47 contexts across seven networks</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11</a:t>
            </a:r>
          </a:p>
        </p:txBody>
      </p:sp>
      <p:sp>
        <p:nvSpPr>
          <p:cNvPr id="5" name="Rectangle 4"/>
          <p:cNvSpPr/>
          <p:nvPr/>
        </p:nvSpPr>
        <p:spPr>
          <a:xfrm>
            <a:off x="502920" y="1188720"/>
            <a:ext cx="1737360" cy="502920"/>
          </a:xfrm>
          <a:prstGeom prst="rect">
            <a:avLst/>
          </a:prstGeom>
          <a:solidFill>
            <a:srgbClr val="0F233D"/>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07592"/>
            <a:ext cx="1517904" cy="23774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00" b="1" i="0">
                <a:solidFill>
                  <a:srgbClr val="FFFFFF"/>
                </a:solidFill>
                <a:latin typeface="Arial"/>
              </a:rPr>
              <a:t>Broad network</a:t>
            </a:r>
          </a:p>
        </p:txBody>
      </p:sp>
      <p:sp>
        <p:nvSpPr>
          <p:cNvPr id="7" name="Rectangle 6"/>
          <p:cNvSpPr/>
          <p:nvPr/>
        </p:nvSpPr>
        <p:spPr>
          <a:xfrm>
            <a:off x="2240280" y="1188720"/>
            <a:ext cx="4663440" cy="502920"/>
          </a:xfrm>
          <a:prstGeom prst="rect">
            <a:avLst/>
          </a:prstGeom>
          <a:solidFill>
            <a:srgbClr val="0F233D"/>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50008" y="1307592"/>
            <a:ext cx="4443983" cy="23774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00" b="1" i="0">
                <a:solidFill>
                  <a:srgbClr val="FFFFFF"/>
                </a:solidFill>
                <a:latin typeface="Arial"/>
              </a:rPr>
              <a:t>MT-driver class (rank order)</a:t>
            </a:r>
          </a:p>
        </p:txBody>
      </p:sp>
      <p:sp>
        <p:nvSpPr>
          <p:cNvPr id="9" name="Rectangle 8"/>
          <p:cNvSpPr/>
          <p:nvPr/>
        </p:nvSpPr>
        <p:spPr>
          <a:xfrm>
            <a:off x="6903720" y="1188720"/>
            <a:ext cx="4782312" cy="502920"/>
          </a:xfrm>
          <a:prstGeom prst="rect">
            <a:avLst/>
          </a:prstGeom>
          <a:solidFill>
            <a:srgbClr val="0F233D"/>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13448" y="1307592"/>
            <a:ext cx="4562856" cy="23774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00" b="1" i="0">
                <a:solidFill>
                  <a:srgbClr val="FFFFFF"/>
                </a:solidFill>
                <a:latin typeface="Arial"/>
              </a:rPr>
              <a:t>Non-MT-driver class (rank order)</a:t>
            </a:r>
          </a:p>
        </p:txBody>
      </p:sp>
      <p:sp>
        <p:nvSpPr>
          <p:cNvPr id="11" name="Rectangle 10"/>
          <p:cNvSpPr/>
          <p:nvPr/>
        </p:nvSpPr>
        <p:spPr>
          <a:xfrm>
            <a:off x="502920" y="1691640"/>
            <a:ext cx="1737360" cy="630936"/>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1783080"/>
            <a:ext cx="1517904"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30" b="1" i="0">
                <a:solidFill>
                  <a:srgbClr val="0F233D"/>
                </a:solidFill>
                <a:latin typeface="Arial"/>
              </a:rPr>
              <a:t>Astrocytes</a:t>
            </a:r>
          </a:p>
        </p:txBody>
      </p:sp>
      <p:sp>
        <p:nvSpPr>
          <p:cNvPr id="13" name="Rectangle 12"/>
          <p:cNvSpPr/>
          <p:nvPr/>
        </p:nvSpPr>
        <p:spPr>
          <a:xfrm>
            <a:off x="2240280" y="1691640"/>
            <a:ext cx="4663440" cy="630936"/>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350008" y="1783080"/>
            <a:ext cx="4443983"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MT-CO2, MT-CO3, MT-ATP6, COX7C, COX4I1</a:t>
            </a:r>
          </a:p>
        </p:txBody>
      </p:sp>
      <p:sp>
        <p:nvSpPr>
          <p:cNvPr id="15" name="Rectangle 14"/>
          <p:cNvSpPr/>
          <p:nvPr/>
        </p:nvSpPr>
        <p:spPr>
          <a:xfrm>
            <a:off x="6903720" y="1691640"/>
            <a:ext cx="4782312" cy="630936"/>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13448" y="1783080"/>
            <a:ext cx="4562856"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RPL11, RPLP1, RPL15, APOE, LAPTM4A</a:t>
            </a:r>
          </a:p>
        </p:txBody>
      </p:sp>
      <p:sp>
        <p:nvSpPr>
          <p:cNvPr id="17" name="Rectangle 16"/>
          <p:cNvSpPr/>
          <p:nvPr/>
        </p:nvSpPr>
        <p:spPr>
          <a:xfrm>
            <a:off x="502920" y="2322576"/>
            <a:ext cx="1737360" cy="630936"/>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2414016"/>
            <a:ext cx="1517904"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30" b="1" i="0">
                <a:solidFill>
                  <a:srgbClr val="0F233D"/>
                </a:solidFill>
                <a:latin typeface="Arial"/>
              </a:rPr>
              <a:t>Excitatory neurons</a:t>
            </a:r>
          </a:p>
        </p:txBody>
      </p:sp>
      <p:sp>
        <p:nvSpPr>
          <p:cNvPr id="19" name="Rectangle 18"/>
          <p:cNvSpPr/>
          <p:nvPr/>
        </p:nvSpPr>
        <p:spPr>
          <a:xfrm>
            <a:off x="2240280" y="2322576"/>
            <a:ext cx="4663440" cy="630936"/>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350008" y="2414016"/>
            <a:ext cx="4443983"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MT-CO2, UQCR10, COX4I1, COX6B1, MT-CYB</a:t>
            </a:r>
          </a:p>
        </p:txBody>
      </p:sp>
      <p:sp>
        <p:nvSpPr>
          <p:cNvPr id="21" name="Rectangle 20"/>
          <p:cNvSpPr/>
          <p:nvPr/>
        </p:nvSpPr>
        <p:spPr>
          <a:xfrm>
            <a:off x="6903720" y="2322576"/>
            <a:ext cx="4782312" cy="630936"/>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13448" y="2414016"/>
            <a:ext cx="4562856"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RPL11, RPS13, SELENOW, LAMTOR5, DYNLT1</a:t>
            </a:r>
          </a:p>
        </p:txBody>
      </p:sp>
      <p:sp>
        <p:nvSpPr>
          <p:cNvPr id="23" name="Rectangle 22"/>
          <p:cNvSpPr/>
          <p:nvPr/>
        </p:nvSpPr>
        <p:spPr>
          <a:xfrm>
            <a:off x="502920" y="2953512"/>
            <a:ext cx="1737360" cy="630936"/>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 y="3044952"/>
            <a:ext cx="1517904"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30" b="1" i="0">
                <a:solidFill>
                  <a:srgbClr val="0F233D"/>
                </a:solidFill>
                <a:latin typeface="Arial"/>
              </a:rPr>
              <a:t>Inhibitory neurons</a:t>
            </a:r>
          </a:p>
        </p:txBody>
      </p:sp>
      <p:sp>
        <p:nvSpPr>
          <p:cNvPr id="25" name="Rectangle 24"/>
          <p:cNvSpPr/>
          <p:nvPr/>
        </p:nvSpPr>
        <p:spPr>
          <a:xfrm>
            <a:off x="2240280" y="2953512"/>
            <a:ext cx="4663440" cy="630936"/>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350008" y="3044952"/>
            <a:ext cx="4443983"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MT-CO2, MT-CO3, MT-CYB, MT-ND5, COX7C</a:t>
            </a:r>
          </a:p>
        </p:txBody>
      </p:sp>
      <p:sp>
        <p:nvSpPr>
          <p:cNvPr id="27" name="Rectangle 26"/>
          <p:cNvSpPr/>
          <p:nvPr/>
        </p:nvSpPr>
        <p:spPr>
          <a:xfrm>
            <a:off x="6903720" y="2953512"/>
            <a:ext cx="4782312" cy="630936"/>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13448" y="3044952"/>
            <a:ext cx="4562856"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RPS15, LAMTOR5, RPLP1, ATP6V1F, RPL38</a:t>
            </a:r>
          </a:p>
        </p:txBody>
      </p:sp>
      <p:sp>
        <p:nvSpPr>
          <p:cNvPr id="29" name="Rectangle 28"/>
          <p:cNvSpPr/>
          <p:nvPr/>
        </p:nvSpPr>
        <p:spPr>
          <a:xfrm>
            <a:off x="502920" y="3584448"/>
            <a:ext cx="1737360" cy="630936"/>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3675887"/>
            <a:ext cx="1517904"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30" b="1" i="0">
                <a:solidFill>
                  <a:srgbClr val="0F233D"/>
                </a:solidFill>
                <a:latin typeface="Arial"/>
              </a:rPr>
              <a:t>Microglia</a:t>
            </a:r>
          </a:p>
        </p:txBody>
      </p:sp>
      <p:sp>
        <p:nvSpPr>
          <p:cNvPr id="31" name="Rectangle 30"/>
          <p:cNvSpPr/>
          <p:nvPr/>
        </p:nvSpPr>
        <p:spPr>
          <a:xfrm>
            <a:off x="2240280" y="3584448"/>
            <a:ext cx="4663440" cy="630936"/>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350008" y="3675887"/>
            <a:ext cx="4443983"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MT-CO2, MT-ND4</a:t>
            </a:r>
          </a:p>
        </p:txBody>
      </p:sp>
      <p:sp>
        <p:nvSpPr>
          <p:cNvPr id="33" name="Rectangle 32"/>
          <p:cNvSpPr/>
          <p:nvPr/>
        </p:nvSpPr>
        <p:spPr>
          <a:xfrm>
            <a:off x="6903720" y="3584448"/>
            <a:ext cx="4782312" cy="630936"/>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13448" y="3675887"/>
            <a:ext cx="4562856"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RPL11</a:t>
            </a:r>
          </a:p>
        </p:txBody>
      </p:sp>
      <p:sp>
        <p:nvSpPr>
          <p:cNvPr id="35" name="Rectangle 34"/>
          <p:cNvSpPr/>
          <p:nvPr/>
        </p:nvSpPr>
        <p:spPr>
          <a:xfrm>
            <a:off x="502920" y="4215383"/>
            <a:ext cx="1737360" cy="630936"/>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4306823"/>
            <a:ext cx="1517904"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30" b="1" i="0">
                <a:solidFill>
                  <a:srgbClr val="0F233D"/>
                </a:solidFill>
                <a:latin typeface="Arial"/>
              </a:rPr>
              <a:t>OPCs</a:t>
            </a:r>
          </a:p>
        </p:txBody>
      </p:sp>
      <p:sp>
        <p:nvSpPr>
          <p:cNvPr id="37" name="Rectangle 36"/>
          <p:cNvSpPr/>
          <p:nvPr/>
        </p:nvSpPr>
        <p:spPr>
          <a:xfrm>
            <a:off x="2240280" y="4215383"/>
            <a:ext cx="4663440" cy="630936"/>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350008" y="4306823"/>
            <a:ext cx="4443983"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MT-CO3, MT-CO2, MT-ND4</a:t>
            </a:r>
          </a:p>
        </p:txBody>
      </p:sp>
      <p:sp>
        <p:nvSpPr>
          <p:cNvPr id="39" name="Rectangle 38"/>
          <p:cNvSpPr/>
          <p:nvPr/>
        </p:nvSpPr>
        <p:spPr>
          <a:xfrm>
            <a:off x="6903720" y="4215383"/>
            <a:ext cx="4782312" cy="630936"/>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13448" y="4306823"/>
            <a:ext cx="4562856"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RPS15, FTL, ANKRD11, NCOA1</a:t>
            </a:r>
          </a:p>
        </p:txBody>
      </p:sp>
      <p:sp>
        <p:nvSpPr>
          <p:cNvPr id="41" name="Rectangle 40"/>
          <p:cNvSpPr/>
          <p:nvPr/>
        </p:nvSpPr>
        <p:spPr>
          <a:xfrm>
            <a:off x="502920" y="4846320"/>
            <a:ext cx="1737360" cy="630936"/>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2648" y="4937759"/>
            <a:ext cx="1517904"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30" b="1" i="0">
                <a:solidFill>
                  <a:srgbClr val="0F233D"/>
                </a:solidFill>
                <a:latin typeface="Arial"/>
              </a:rPr>
              <a:t>Oligodendrocytes</a:t>
            </a:r>
          </a:p>
        </p:txBody>
      </p:sp>
      <p:sp>
        <p:nvSpPr>
          <p:cNvPr id="43" name="Rectangle 42"/>
          <p:cNvSpPr/>
          <p:nvPr/>
        </p:nvSpPr>
        <p:spPr>
          <a:xfrm>
            <a:off x="2240280" y="4846320"/>
            <a:ext cx="4663440" cy="630936"/>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350008" y="4937759"/>
            <a:ext cx="4443983"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MT-CO2, MT-ND4</a:t>
            </a:r>
          </a:p>
        </p:txBody>
      </p:sp>
      <p:sp>
        <p:nvSpPr>
          <p:cNvPr id="45" name="Rectangle 44"/>
          <p:cNvSpPr/>
          <p:nvPr/>
        </p:nvSpPr>
        <p:spPr>
          <a:xfrm>
            <a:off x="6903720" y="4846320"/>
            <a:ext cx="4782312" cy="630936"/>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013448" y="4937759"/>
            <a:ext cx="4562856"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RPL11</a:t>
            </a:r>
          </a:p>
        </p:txBody>
      </p:sp>
      <p:sp>
        <p:nvSpPr>
          <p:cNvPr id="47" name="Rectangle 46"/>
          <p:cNvSpPr/>
          <p:nvPr/>
        </p:nvSpPr>
        <p:spPr>
          <a:xfrm>
            <a:off x="502920" y="5477256"/>
            <a:ext cx="1737360" cy="630936"/>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5568696"/>
            <a:ext cx="1517904"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30" b="1" i="0">
                <a:solidFill>
                  <a:srgbClr val="0F233D"/>
                </a:solidFill>
                <a:latin typeface="Arial"/>
              </a:rPr>
              <a:t>Vasculature cells</a:t>
            </a:r>
          </a:p>
        </p:txBody>
      </p:sp>
      <p:sp>
        <p:nvSpPr>
          <p:cNvPr id="49" name="Rectangle 48"/>
          <p:cNvSpPr/>
          <p:nvPr/>
        </p:nvSpPr>
        <p:spPr>
          <a:xfrm>
            <a:off x="2240280" y="5477256"/>
            <a:ext cx="4663440" cy="630936"/>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350008" y="5568696"/>
            <a:ext cx="4443983"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MT-CO3, MT-CO2, MT-ATP6, MT-ND4</a:t>
            </a:r>
          </a:p>
        </p:txBody>
      </p:sp>
      <p:sp>
        <p:nvSpPr>
          <p:cNvPr id="51" name="Rectangle 50"/>
          <p:cNvSpPr/>
          <p:nvPr/>
        </p:nvSpPr>
        <p:spPr>
          <a:xfrm>
            <a:off x="6903720" y="5477256"/>
            <a:ext cx="4782312" cy="630936"/>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013448" y="5568696"/>
            <a:ext cx="4562856" cy="4297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080" b="0" i="0">
                <a:solidFill>
                  <a:srgbClr val="2F2F2F"/>
                </a:solidFill>
                <a:latin typeface="Arial"/>
              </a:rPr>
              <a:t>None</a:t>
            </a:r>
          </a:p>
        </p:txBody>
      </p:sp>
      <p:sp>
        <p:nvSpPr>
          <p:cNvPr id="53" name="Rectangle 52"/>
          <p:cNvSpPr/>
          <p:nvPr/>
        </p:nvSpPr>
        <p:spPr>
          <a:xfrm>
            <a:off x="502920" y="6245352"/>
            <a:ext cx="11183112"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02920" y="6245352"/>
            <a:ext cx="91440" cy="50292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336792"/>
            <a:ext cx="10716768" cy="2834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FFFFFF"/>
                </a:solidFill>
                <a:latin typeface="Arial"/>
              </a:rPr>
              <a:t>‘MT driver’ is an upstream signature class; COX7C and UQCR10 are nuclear genes. Six listed genes are encoded by mtDNA.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0072B2"/>
                </a:solidFill>
                <a:latin typeface="Arial"/>
              </a:rPr>
              <a:t>APPENDIX • DATA INVENTORY</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Each dataset answers a different part of the genetic-support question</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12</a:t>
            </a:r>
          </a:p>
        </p:txBody>
      </p:sp>
      <p:sp>
        <p:nvSpPr>
          <p:cNvPr id="5" name="Rectangle 4"/>
          <p:cNvSpPr/>
          <p:nvPr/>
        </p:nvSpPr>
        <p:spPr>
          <a:xfrm>
            <a:off x="502920" y="1188720"/>
            <a:ext cx="1984248" cy="502920"/>
          </a:xfrm>
          <a:prstGeom prst="rect">
            <a:avLst/>
          </a:prstGeom>
          <a:solidFill>
            <a:srgbClr val="0F233D"/>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1307592"/>
            <a:ext cx="1746504" cy="23774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1" i="0">
                <a:solidFill>
                  <a:srgbClr val="FFFFFF"/>
                </a:solidFill>
                <a:latin typeface="Arial"/>
              </a:rPr>
              <a:t>Layer</a:t>
            </a:r>
          </a:p>
        </p:txBody>
      </p:sp>
      <p:sp>
        <p:nvSpPr>
          <p:cNvPr id="7" name="Rectangle 6"/>
          <p:cNvSpPr/>
          <p:nvPr/>
        </p:nvSpPr>
        <p:spPr>
          <a:xfrm>
            <a:off x="2487168" y="1188720"/>
            <a:ext cx="4315968" cy="502920"/>
          </a:xfrm>
          <a:prstGeom prst="rect">
            <a:avLst/>
          </a:prstGeom>
          <a:solidFill>
            <a:srgbClr val="0F233D"/>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06040" y="1307592"/>
            <a:ext cx="4078224" cy="23774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1" i="0">
                <a:solidFill>
                  <a:srgbClr val="FFFFFF"/>
                </a:solidFill>
                <a:latin typeface="Arial"/>
              </a:rPr>
              <a:t>Dataset / version</a:t>
            </a:r>
          </a:p>
        </p:txBody>
      </p:sp>
      <p:sp>
        <p:nvSpPr>
          <p:cNvPr id="9" name="Rectangle 8"/>
          <p:cNvSpPr/>
          <p:nvPr/>
        </p:nvSpPr>
        <p:spPr>
          <a:xfrm>
            <a:off x="6803136" y="1188720"/>
            <a:ext cx="4882896" cy="502920"/>
          </a:xfrm>
          <a:prstGeom prst="rect">
            <a:avLst/>
          </a:prstGeom>
          <a:solidFill>
            <a:srgbClr val="0F233D"/>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22008" y="1307592"/>
            <a:ext cx="4645152" cy="23774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20" b="1" i="0">
                <a:solidFill>
                  <a:srgbClr val="FFFFFF"/>
                </a:solidFill>
                <a:latin typeface="Arial"/>
              </a:rPr>
              <a:t>Why it was used</a:t>
            </a:r>
          </a:p>
        </p:txBody>
      </p:sp>
      <p:sp>
        <p:nvSpPr>
          <p:cNvPr id="11" name="Rectangle 10"/>
          <p:cNvSpPr/>
          <p:nvPr/>
        </p:nvSpPr>
        <p:spPr>
          <a:xfrm>
            <a:off x="502920" y="1691640"/>
            <a:ext cx="1984248" cy="713232"/>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1783080"/>
            <a:ext cx="1746504"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50" b="1" i="0">
                <a:solidFill>
                  <a:srgbClr val="0F233D"/>
                </a:solidFill>
                <a:latin typeface="Arial"/>
              </a:rPr>
              <a:t>Candidate freeze</a:t>
            </a:r>
          </a:p>
        </p:txBody>
      </p:sp>
      <p:sp>
        <p:nvSpPr>
          <p:cNvPr id="13" name="Rectangle 12"/>
          <p:cNvSpPr/>
          <p:nvPr/>
        </p:nvSpPr>
        <p:spPr>
          <a:xfrm>
            <a:off x="2487168" y="1691640"/>
            <a:ext cx="4315968" cy="713232"/>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6040" y="1783080"/>
            <a:ext cx="4078224"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10" b="0" i="0">
                <a:solidFill>
                  <a:srgbClr val="2F2F2F"/>
                </a:solidFill>
                <a:latin typeface="Arial"/>
              </a:rPr>
              <a:t>Upstream KDA • GENCODE v44 • HGNC 2026-06-05</a:t>
            </a:r>
          </a:p>
        </p:txBody>
      </p:sp>
      <p:sp>
        <p:nvSpPr>
          <p:cNvPr id="15" name="Rectangle 14"/>
          <p:cNvSpPr/>
          <p:nvPr/>
        </p:nvSpPr>
        <p:spPr>
          <a:xfrm>
            <a:off x="6803136" y="1691640"/>
            <a:ext cx="4882896" cy="713232"/>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22008" y="1783080"/>
            <a:ext cx="4645152"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10" b="0" i="0">
                <a:solidFill>
                  <a:srgbClr val="2F2F2F"/>
                </a:solidFill>
                <a:latin typeface="Arial"/>
              </a:rPr>
              <a:t>Fix 47 contexts; map symbols and GRCh38 intervals</a:t>
            </a:r>
          </a:p>
        </p:txBody>
      </p:sp>
      <p:sp>
        <p:nvSpPr>
          <p:cNvPr id="17" name="Rectangle 16"/>
          <p:cNvSpPr/>
          <p:nvPr/>
        </p:nvSpPr>
        <p:spPr>
          <a:xfrm>
            <a:off x="502920" y="2404872"/>
            <a:ext cx="1984248" cy="713232"/>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2496312"/>
            <a:ext cx="1746504"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50" b="1" i="0">
                <a:solidFill>
                  <a:srgbClr val="0F233D"/>
                </a:solidFill>
                <a:latin typeface="Arial"/>
              </a:rPr>
              <a:t>Direct summary</a:t>
            </a:r>
          </a:p>
        </p:txBody>
      </p:sp>
      <p:sp>
        <p:nvSpPr>
          <p:cNvPr id="19" name="Rectangle 18"/>
          <p:cNvSpPr/>
          <p:nvPr/>
        </p:nvSpPr>
        <p:spPr>
          <a:xfrm>
            <a:off x="2487168" y="2404872"/>
            <a:ext cx="4315968" cy="713232"/>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06040" y="2496312"/>
            <a:ext cx="4078224"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10" b="0" i="0">
                <a:solidFill>
                  <a:srgbClr val="2F2F2F"/>
                </a:solidFill>
                <a:latin typeface="Arial"/>
              </a:rPr>
              <a:t>FunGen-xQTL snapshot f6f63fc…</a:t>
            </a:r>
          </a:p>
        </p:txBody>
      </p:sp>
      <p:sp>
        <p:nvSpPr>
          <p:cNvPr id="21" name="Rectangle 20"/>
          <p:cNvSpPr/>
          <p:nvPr/>
        </p:nvSpPr>
        <p:spPr>
          <a:xfrm>
            <a:off x="6803136" y="2404872"/>
            <a:ext cx="4882896" cy="713232"/>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22008" y="2496312"/>
            <a:ext cx="4645152"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10" b="0" i="0">
                <a:solidFill>
                  <a:srgbClr val="2F2F2F"/>
                </a:solidFill>
                <a:latin typeface="Arial"/>
              </a:rPr>
              <a:t>AD fine mapping, xQTL, TWAS/GVC membership screen</a:t>
            </a:r>
          </a:p>
        </p:txBody>
      </p:sp>
      <p:sp>
        <p:nvSpPr>
          <p:cNvPr id="23" name="Rectangle 22"/>
          <p:cNvSpPr/>
          <p:nvPr/>
        </p:nvSpPr>
        <p:spPr>
          <a:xfrm>
            <a:off x="502920" y="3118104"/>
            <a:ext cx="1984248" cy="713232"/>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3209544"/>
            <a:ext cx="1746504"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50" b="1" i="0">
                <a:solidFill>
                  <a:srgbClr val="0F233D"/>
                </a:solidFill>
                <a:latin typeface="Arial"/>
              </a:rPr>
              <a:t>Clinical AD</a:t>
            </a:r>
          </a:p>
        </p:txBody>
      </p:sp>
      <p:sp>
        <p:nvSpPr>
          <p:cNvPr id="25" name="Rectangle 24"/>
          <p:cNvSpPr/>
          <p:nvPr/>
        </p:nvSpPr>
        <p:spPr>
          <a:xfrm>
            <a:off x="2487168" y="3118104"/>
            <a:ext cx="4315968" cy="713232"/>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06040" y="3209544"/>
            <a:ext cx="4078224"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10" b="0" i="0">
                <a:solidFill>
                  <a:srgbClr val="2F2F2F"/>
                </a:solidFill>
                <a:latin typeface="Arial"/>
              </a:rPr>
              <a:t>Bellenguez • GCST90027158</a:t>
            </a:r>
          </a:p>
        </p:txBody>
      </p:sp>
      <p:sp>
        <p:nvSpPr>
          <p:cNvPr id="27" name="Rectangle 26"/>
          <p:cNvSpPr/>
          <p:nvPr/>
        </p:nvSpPr>
        <p:spPr>
          <a:xfrm>
            <a:off x="6803136" y="3118104"/>
            <a:ext cx="4882896" cy="713232"/>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209544"/>
            <a:ext cx="4645152"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10" b="0" i="0">
                <a:solidFill>
                  <a:srgbClr val="2F2F2F"/>
                </a:solidFill>
                <a:latin typeface="Arial"/>
              </a:rPr>
              <a:t>Complete ±1 Mb nuclear candidate regions</a:t>
            </a:r>
          </a:p>
        </p:txBody>
      </p:sp>
      <p:sp>
        <p:nvSpPr>
          <p:cNvPr id="29" name="Rectangle 28"/>
          <p:cNvSpPr/>
          <p:nvPr/>
        </p:nvSpPr>
        <p:spPr>
          <a:xfrm>
            <a:off x="502920" y="3831335"/>
            <a:ext cx="1984248" cy="713232"/>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3922775"/>
            <a:ext cx="1746504"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50" b="1" i="0">
                <a:solidFill>
                  <a:srgbClr val="0F233D"/>
                </a:solidFill>
                <a:latin typeface="Arial"/>
              </a:rPr>
              <a:t>Brain QTL</a:t>
            </a:r>
          </a:p>
        </p:txBody>
      </p:sp>
      <p:sp>
        <p:nvSpPr>
          <p:cNvPr id="31" name="Rectangle 30"/>
          <p:cNvSpPr/>
          <p:nvPr/>
        </p:nvSpPr>
        <p:spPr>
          <a:xfrm>
            <a:off x="2487168" y="3831335"/>
            <a:ext cx="4315968" cy="713232"/>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606040" y="3922775"/>
            <a:ext cx="4078224"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10" b="0" i="0">
                <a:solidFill>
                  <a:srgbClr val="2F2F2F"/>
                </a:solidFill>
                <a:latin typeface="Arial"/>
              </a:rPr>
              <a:t>NG00184.v1 • eQTL Catalogue r7</a:t>
            </a:r>
          </a:p>
        </p:txBody>
      </p:sp>
      <p:sp>
        <p:nvSpPr>
          <p:cNvPr id="33" name="Rectangle 32"/>
          <p:cNvSpPr/>
          <p:nvPr/>
        </p:nvSpPr>
        <p:spPr>
          <a:xfrm>
            <a:off x="6803136" y="3831335"/>
            <a:ext cx="4882896" cy="713232"/>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3922775"/>
            <a:ext cx="4645152"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10" b="0" i="0">
                <a:solidFill>
                  <a:srgbClr val="2F2F2F"/>
                </a:solidFill>
                <a:latin typeface="Arial"/>
              </a:rPr>
              <a:t>eQTL/sQTL coverage, signal, models, and context fallback</a:t>
            </a:r>
          </a:p>
        </p:txBody>
      </p:sp>
      <p:sp>
        <p:nvSpPr>
          <p:cNvPr id="35" name="Rectangle 34"/>
          <p:cNvSpPr/>
          <p:nvPr/>
        </p:nvSpPr>
        <p:spPr>
          <a:xfrm>
            <a:off x="502920" y="4544568"/>
            <a:ext cx="1984248" cy="713232"/>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1792" y="4636008"/>
            <a:ext cx="1746504"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50" b="1" i="0">
                <a:solidFill>
                  <a:srgbClr val="0F233D"/>
                </a:solidFill>
                <a:latin typeface="Arial"/>
              </a:rPr>
              <a:t>CSF traits</a:t>
            </a:r>
          </a:p>
        </p:txBody>
      </p:sp>
      <p:sp>
        <p:nvSpPr>
          <p:cNvPr id="37" name="Rectangle 36"/>
          <p:cNvSpPr/>
          <p:nvPr/>
        </p:nvSpPr>
        <p:spPr>
          <a:xfrm>
            <a:off x="2487168" y="4544568"/>
            <a:ext cx="4315968" cy="713232"/>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606040" y="4636008"/>
            <a:ext cx="4078224"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10" b="0" i="0">
                <a:solidFill>
                  <a:srgbClr val="2F2F2F"/>
                </a:solidFill>
                <a:latin typeface="Arial"/>
              </a:rPr>
              <a:t>GCST90726396 / 397 / 398 • N=18,948 each</a:t>
            </a:r>
          </a:p>
        </p:txBody>
      </p:sp>
      <p:sp>
        <p:nvSpPr>
          <p:cNvPr id="39" name="Rectangle 38"/>
          <p:cNvSpPr/>
          <p:nvPr/>
        </p:nvSpPr>
        <p:spPr>
          <a:xfrm>
            <a:off x="6803136" y="4544568"/>
            <a:ext cx="4882896" cy="713232"/>
          </a:xfrm>
          <a:prstGeom prst="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22008" y="4636008"/>
            <a:ext cx="4645152"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10" b="0" i="0">
                <a:solidFill>
                  <a:srgbClr val="2F2F2F"/>
                </a:solidFill>
                <a:latin typeface="Arial"/>
              </a:rPr>
              <a:t>Aβ42, total tau, and p-tau181 regional + MAGMA gates</a:t>
            </a:r>
          </a:p>
        </p:txBody>
      </p:sp>
      <p:sp>
        <p:nvSpPr>
          <p:cNvPr id="41" name="Rectangle 40"/>
          <p:cNvSpPr/>
          <p:nvPr/>
        </p:nvSpPr>
        <p:spPr>
          <a:xfrm>
            <a:off x="502920" y="5257800"/>
            <a:ext cx="1984248" cy="713232"/>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21792" y="5349240"/>
            <a:ext cx="1746504"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50" b="1" i="0">
                <a:solidFill>
                  <a:srgbClr val="0F233D"/>
                </a:solidFill>
                <a:latin typeface="Arial"/>
              </a:rPr>
              <a:t>Targeted audits</a:t>
            </a:r>
          </a:p>
        </p:txBody>
      </p:sp>
      <p:sp>
        <p:nvSpPr>
          <p:cNvPr id="43" name="Rectangle 42"/>
          <p:cNvSpPr/>
          <p:nvPr/>
        </p:nvSpPr>
        <p:spPr>
          <a:xfrm>
            <a:off x="2487168" y="5257800"/>
            <a:ext cx="4315968" cy="713232"/>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606040" y="5349240"/>
            <a:ext cx="4078224"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10" b="0" i="0">
                <a:solidFill>
                  <a:srgbClr val="2F2F2F"/>
                </a:solidFill>
                <a:latin typeface="Arial"/>
              </a:rPr>
              <a:t>NG00130.v2 APOE pQTL • local NG00184 RPS15</a:t>
            </a:r>
          </a:p>
        </p:txBody>
      </p:sp>
      <p:sp>
        <p:nvSpPr>
          <p:cNvPr id="45" name="Rectangle 44"/>
          <p:cNvSpPr/>
          <p:nvPr/>
        </p:nvSpPr>
        <p:spPr>
          <a:xfrm>
            <a:off x="6803136" y="5257800"/>
            <a:ext cx="4882896" cy="713232"/>
          </a:xfrm>
          <a:prstGeom prst="rect">
            <a:avLst/>
          </a:prstGeom>
          <a:solidFill>
            <a:srgbClr val="F2F4F7"/>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922008" y="5349240"/>
            <a:ext cx="4645152" cy="493776"/>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1110" b="0" i="0">
                <a:solidFill>
                  <a:srgbClr val="2F2F2F"/>
                </a:solidFill>
                <a:latin typeface="Arial"/>
              </a:rPr>
              <a:t>Follow up APOE mechanism and unresolved RPS15 routes</a:t>
            </a:r>
          </a:p>
        </p:txBody>
      </p:sp>
      <p:sp>
        <p:nvSpPr>
          <p:cNvPr id="47" name="Rectangle 46"/>
          <p:cNvSpPr/>
          <p:nvPr/>
        </p:nvSpPr>
        <p:spPr>
          <a:xfrm>
            <a:off x="502920" y="6199632"/>
            <a:ext cx="11183112"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02920" y="6199632"/>
            <a:ext cx="91440" cy="502920"/>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6291072"/>
            <a:ext cx="10716768" cy="2834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FFFFFF"/>
                </a:solidFill>
                <a:latin typeface="Arial"/>
              </a:rPr>
              <a:t>No individual-level genotypes or phenotypes were downloaded; Bellenguez case/control counts are omitted because published bundle fields conflict.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D55E00"/>
                </a:solidFill>
                <a:latin typeface="Arial"/>
              </a:rPr>
              <a:t>APPENDIX • FROZEN DECISION RULES</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Frozen thresholds preserve distinct terminal-state meanings</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13</a:t>
            </a:r>
          </a:p>
        </p:txBody>
      </p:sp>
      <p:sp>
        <p:nvSpPr>
          <p:cNvPr id="5" name="Rounded Rectangle 4"/>
          <p:cNvSpPr/>
          <p:nvPr/>
        </p:nvSpPr>
        <p:spPr>
          <a:xfrm>
            <a:off x="502920" y="1161288"/>
            <a:ext cx="2066543" cy="950976"/>
          </a:xfrm>
          <a:prstGeom prst="roundRect">
            <a:avLst/>
          </a:prstGeom>
          <a:solidFill>
            <a:srgbClr val="E6F2F9"/>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1307592"/>
            <a:ext cx="1828799" cy="18288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880" b="1" i="0">
                <a:solidFill>
                  <a:srgbClr val="0072B2"/>
                </a:solidFill>
                <a:latin typeface="Arial"/>
              </a:rPr>
              <a:t>GWAS</a:t>
            </a:r>
          </a:p>
        </p:txBody>
      </p:sp>
      <p:sp>
        <p:nvSpPr>
          <p:cNvPr id="7" name="TextBox 6"/>
          <p:cNvSpPr txBox="1"/>
          <p:nvPr/>
        </p:nvSpPr>
        <p:spPr>
          <a:xfrm>
            <a:off x="621792" y="1636776"/>
            <a:ext cx="1828799"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20" b="1" i="0">
                <a:solidFill>
                  <a:srgbClr val="0F233D"/>
                </a:solidFill>
                <a:latin typeface="Arial"/>
              </a:rPr>
              <a:t>P &lt; 5×10⁻⁸</a:t>
            </a:r>
          </a:p>
        </p:txBody>
      </p:sp>
      <p:sp>
        <p:nvSpPr>
          <p:cNvPr id="8" name="Rounded Rectangle 7"/>
          <p:cNvSpPr/>
          <p:nvPr/>
        </p:nvSpPr>
        <p:spPr>
          <a:xfrm>
            <a:off x="2761488" y="1161288"/>
            <a:ext cx="2066543" cy="950976"/>
          </a:xfrm>
          <a:prstGeom prst="roundRect">
            <a:avLst/>
          </a:prstGeom>
          <a:solidFill>
            <a:srgbClr val="E6F2F9"/>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80360" y="1307592"/>
            <a:ext cx="1828799" cy="18288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880" b="1" i="0">
                <a:solidFill>
                  <a:srgbClr val="0072B2"/>
                </a:solidFill>
                <a:latin typeface="Arial"/>
              </a:rPr>
              <a:t>DENSE QTL</a:t>
            </a:r>
          </a:p>
        </p:txBody>
      </p:sp>
      <p:sp>
        <p:nvSpPr>
          <p:cNvPr id="10" name="TextBox 9"/>
          <p:cNvSpPr txBox="1"/>
          <p:nvPr/>
        </p:nvSpPr>
        <p:spPr>
          <a:xfrm>
            <a:off x="2880360" y="1636776"/>
            <a:ext cx="1828799"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20" b="1" i="0">
                <a:solidFill>
                  <a:srgbClr val="0F233D"/>
                </a:solidFill>
                <a:latin typeface="Arial"/>
              </a:rPr>
              <a:t>P &lt; 0.05 / N tested</a:t>
            </a:r>
          </a:p>
        </p:txBody>
      </p:sp>
      <p:sp>
        <p:nvSpPr>
          <p:cNvPr id="11" name="Rounded Rectangle 10"/>
          <p:cNvSpPr/>
          <p:nvPr/>
        </p:nvSpPr>
        <p:spPr>
          <a:xfrm>
            <a:off x="5020056" y="1161288"/>
            <a:ext cx="2066543" cy="950976"/>
          </a:xfrm>
          <a:prstGeom prst="roundRect">
            <a:avLst/>
          </a:prstGeom>
          <a:solidFill>
            <a:srgbClr val="E6F2F9"/>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38928" y="1307592"/>
            <a:ext cx="1828799" cy="18288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880" b="1" i="0">
                <a:solidFill>
                  <a:srgbClr val="0072B2"/>
                </a:solidFill>
                <a:latin typeface="Arial"/>
              </a:rPr>
              <a:t>CSF MAGMA</a:t>
            </a:r>
          </a:p>
        </p:txBody>
      </p:sp>
      <p:sp>
        <p:nvSpPr>
          <p:cNvPr id="13" name="TextBox 12"/>
          <p:cNvSpPr txBox="1"/>
          <p:nvPr/>
        </p:nvSpPr>
        <p:spPr>
          <a:xfrm>
            <a:off x="5138928" y="1636776"/>
            <a:ext cx="1828799"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20" b="1" i="0">
                <a:solidFill>
                  <a:srgbClr val="0F233D"/>
                </a:solidFill>
                <a:latin typeface="Arial"/>
              </a:rPr>
              <a:t>P &lt; 8.77193×10⁻⁴</a:t>
            </a:r>
          </a:p>
        </p:txBody>
      </p:sp>
      <p:sp>
        <p:nvSpPr>
          <p:cNvPr id="14" name="Rounded Rectangle 13"/>
          <p:cNvSpPr/>
          <p:nvPr/>
        </p:nvSpPr>
        <p:spPr>
          <a:xfrm>
            <a:off x="7278624" y="1161288"/>
            <a:ext cx="2066543" cy="950976"/>
          </a:xfrm>
          <a:prstGeom prst="roundRect">
            <a:avLst/>
          </a:prstGeom>
          <a:solidFill>
            <a:srgbClr val="E6F2F9"/>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97496" y="1307592"/>
            <a:ext cx="1828799" cy="18288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880" b="1" i="0">
                <a:solidFill>
                  <a:srgbClr val="0072B2"/>
                </a:solidFill>
                <a:latin typeface="Arial"/>
              </a:rPr>
              <a:t>COLOC PRIORS</a:t>
            </a:r>
          </a:p>
        </p:txBody>
      </p:sp>
      <p:sp>
        <p:nvSpPr>
          <p:cNvPr id="16" name="TextBox 15"/>
          <p:cNvSpPr txBox="1"/>
          <p:nvPr/>
        </p:nvSpPr>
        <p:spPr>
          <a:xfrm>
            <a:off x="7397496" y="1636776"/>
            <a:ext cx="1828799"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20" b="1" i="0">
                <a:solidFill>
                  <a:srgbClr val="0F233D"/>
                </a:solidFill>
                <a:latin typeface="Arial"/>
              </a:rPr>
              <a:t>10⁻⁴ / 10⁻⁴ / 5×10⁻⁶</a:t>
            </a:r>
          </a:p>
        </p:txBody>
      </p:sp>
      <p:sp>
        <p:nvSpPr>
          <p:cNvPr id="17" name="Rounded Rectangle 16"/>
          <p:cNvSpPr/>
          <p:nvPr/>
        </p:nvSpPr>
        <p:spPr>
          <a:xfrm>
            <a:off x="9537192" y="1161288"/>
            <a:ext cx="2066543" cy="950976"/>
          </a:xfrm>
          <a:prstGeom prst="roundRect">
            <a:avLst/>
          </a:prstGeom>
          <a:solidFill>
            <a:srgbClr val="E6F2F9"/>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56064" y="1307592"/>
            <a:ext cx="1828799" cy="182880"/>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880" b="1" i="0">
                <a:solidFill>
                  <a:srgbClr val="0072B2"/>
                </a:solidFill>
                <a:latin typeface="Arial"/>
              </a:rPr>
              <a:t>STRONG SHARED SIGNAL</a:t>
            </a:r>
          </a:p>
        </p:txBody>
      </p:sp>
      <p:sp>
        <p:nvSpPr>
          <p:cNvPr id="19" name="TextBox 18"/>
          <p:cNvSpPr txBox="1"/>
          <p:nvPr/>
        </p:nvSpPr>
        <p:spPr>
          <a:xfrm>
            <a:off x="9656064" y="1636776"/>
            <a:ext cx="1828799"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20" b="1" i="0">
                <a:solidFill>
                  <a:srgbClr val="0F233D"/>
                </a:solidFill>
                <a:latin typeface="Arial"/>
              </a:rPr>
              <a:t>H4 and conditional H4 ≥ 0.80</a:t>
            </a:r>
          </a:p>
        </p:txBody>
      </p:sp>
      <p:sp>
        <p:nvSpPr>
          <p:cNvPr id="20" name="Rounded Rectangle 19"/>
          <p:cNvSpPr/>
          <p:nvPr/>
        </p:nvSpPr>
        <p:spPr>
          <a:xfrm>
            <a:off x="566928" y="2468880"/>
            <a:ext cx="5358384" cy="877824"/>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2468880"/>
            <a:ext cx="82296" cy="877824"/>
          </a:xfrm>
          <a:prstGeom prst="rect">
            <a:avLst/>
          </a:prstGeom>
          <a:solidFill>
            <a:srgbClr val="4D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2606040"/>
            <a:ext cx="2286000" cy="2468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30" b="1" i="0">
                <a:solidFill>
                  <a:srgbClr val="0F233D"/>
                </a:solidFill>
                <a:latin typeface="Arial"/>
              </a:rPr>
              <a:t>none_found</a:t>
            </a:r>
          </a:p>
        </p:txBody>
      </p:sp>
      <p:sp>
        <p:nvSpPr>
          <p:cNvPr id="23" name="TextBox 22"/>
          <p:cNvSpPr txBox="1"/>
          <p:nvPr/>
        </p:nvSpPr>
        <p:spPr>
          <a:xfrm>
            <a:off x="3054096" y="2578608"/>
            <a:ext cx="2587752" cy="49377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2F2F2F"/>
                </a:solidFill>
                <a:latin typeface="Arial"/>
              </a:rPr>
              <a:t>No direct support in the registered screen; not proof of absence.</a:t>
            </a:r>
          </a:p>
        </p:txBody>
      </p:sp>
      <p:sp>
        <p:nvSpPr>
          <p:cNvPr id="24" name="Rounded Rectangle 23"/>
          <p:cNvSpPr/>
          <p:nvPr/>
        </p:nvSpPr>
        <p:spPr>
          <a:xfrm>
            <a:off x="6217920" y="2468880"/>
            <a:ext cx="5358384" cy="877824"/>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17920" y="2468880"/>
            <a:ext cx="82296" cy="877824"/>
          </a:xfrm>
          <a:prstGeom prst="rect">
            <a:avLst/>
          </a:prstGeom>
          <a:solidFill>
            <a:srgbClr val="4D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46520" y="2606040"/>
            <a:ext cx="2286000" cy="2468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30" b="1" i="0">
                <a:solidFill>
                  <a:srgbClr val="0F233D"/>
                </a:solidFill>
                <a:latin typeface="Arial"/>
              </a:rPr>
              <a:t>no_regional_gwas_signal</a:t>
            </a:r>
          </a:p>
        </p:txBody>
      </p:sp>
      <p:sp>
        <p:nvSpPr>
          <p:cNvPr id="27" name="TextBox 26"/>
          <p:cNvSpPr txBox="1"/>
          <p:nvPr/>
        </p:nvSpPr>
        <p:spPr>
          <a:xfrm>
            <a:off x="8705088" y="2578608"/>
            <a:ext cx="2587752" cy="49377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2F2F2F"/>
                </a:solidFill>
                <a:latin typeface="Arial"/>
              </a:rPr>
              <a:t>Complete tested region failed the frozen GWAS gate.</a:t>
            </a:r>
          </a:p>
        </p:txBody>
      </p:sp>
      <p:sp>
        <p:nvSpPr>
          <p:cNvPr id="28" name="Rounded Rectangle 27"/>
          <p:cNvSpPr/>
          <p:nvPr/>
        </p:nvSpPr>
        <p:spPr>
          <a:xfrm>
            <a:off x="566928" y="3520440"/>
            <a:ext cx="5358384" cy="877824"/>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3520440"/>
            <a:ext cx="82296" cy="877824"/>
          </a:xfrm>
          <a:prstGeom prst="rect">
            <a:avLst/>
          </a:prstGeom>
          <a:solidFill>
            <a:srgbClr val="4D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95528" y="3657600"/>
            <a:ext cx="2286000" cy="2468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30" b="1" i="0">
                <a:solidFill>
                  <a:srgbClr val="0F233D"/>
                </a:solidFill>
                <a:latin typeface="Arial"/>
              </a:rPr>
              <a:t>no_regional_qtl_signal</a:t>
            </a:r>
          </a:p>
        </p:txBody>
      </p:sp>
      <p:sp>
        <p:nvSpPr>
          <p:cNvPr id="31" name="TextBox 30"/>
          <p:cNvSpPr txBox="1"/>
          <p:nvPr/>
        </p:nvSpPr>
        <p:spPr>
          <a:xfrm>
            <a:off x="3054096" y="3630168"/>
            <a:ext cx="2587752" cy="49377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2F2F2F"/>
                </a:solidFill>
                <a:latin typeface="Arial"/>
              </a:rPr>
              <a:t>Gene was measured but failed its prespecified QTL gate.</a:t>
            </a:r>
          </a:p>
        </p:txBody>
      </p:sp>
      <p:sp>
        <p:nvSpPr>
          <p:cNvPr id="32" name="Rounded Rectangle 31"/>
          <p:cNvSpPr/>
          <p:nvPr/>
        </p:nvSpPr>
        <p:spPr>
          <a:xfrm>
            <a:off x="6217920" y="3520440"/>
            <a:ext cx="5358384" cy="877824"/>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7920" y="3520440"/>
            <a:ext cx="82296" cy="87782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3657600"/>
            <a:ext cx="2286000" cy="2468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30" b="1" i="0">
                <a:solidFill>
                  <a:srgbClr val="0F233D"/>
                </a:solidFill>
                <a:latin typeface="Arial"/>
              </a:rPr>
              <a:t>not_assessable</a:t>
            </a:r>
          </a:p>
        </p:txBody>
      </p:sp>
      <p:sp>
        <p:nvSpPr>
          <p:cNvPr id="35" name="TextBox 34"/>
          <p:cNvSpPr txBox="1"/>
          <p:nvPr/>
        </p:nvSpPr>
        <p:spPr>
          <a:xfrm>
            <a:off x="8705088" y="3630168"/>
            <a:ext cx="2587752" cy="49377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2F2F2F"/>
                </a:solidFill>
                <a:latin typeface="Arial"/>
              </a:rPr>
              <a:t>Measurement, complete statistics, model, or release metadata unavailable.</a:t>
            </a:r>
          </a:p>
        </p:txBody>
      </p:sp>
      <p:sp>
        <p:nvSpPr>
          <p:cNvPr id="36" name="Rounded Rectangle 35"/>
          <p:cNvSpPr/>
          <p:nvPr/>
        </p:nvSpPr>
        <p:spPr>
          <a:xfrm>
            <a:off x="566928" y="4572000"/>
            <a:ext cx="5358384" cy="877824"/>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66928" y="4572000"/>
            <a:ext cx="82296" cy="87782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95528" y="4709160"/>
            <a:ext cx="2286000" cy="2468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30" b="1" i="0">
                <a:solidFill>
                  <a:srgbClr val="0F233D"/>
                </a:solidFill>
                <a:latin typeface="Arial"/>
              </a:rPr>
              <a:t>model_or_ld_incompatible</a:t>
            </a:r>
          </a:p>
        </p:txBody>
      </p:sp>
      <p:sp>
        <p:nvSpPr>
          <p:cNvPr id="39" name="TextBox 38"/>
          <p:cNvSpPr txBox="1"/>
          <p:nvPr/>
        </p:nvSpPr>
        <p:spPr>
          <a:xfrm>
            <a:off x="3054096" y="4681728"/>
            <a:ext cx="2587752" cy="49377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2F2F2F"/>
                </a:solidFill>
                <a:latin typeface="Arial"/>
              </a:rPr>
              <a:t>Both signals existed, but the shared-signal model could not run.</a:t>
            </a:r>
          </a:p>
        </p:txBody>
      </p:sp>
      <p:sp>
        <p:nvSpPr>
          <p:cNvPr id="40" name="Rounded Rectangle 39"/>
          <p:cNvSpPr/>
          <p:nvPr/>
        </p:nvSpPr>
        <p:spPr>
          <a:xfrm>
            <a:off x="6217920" y="4572000"/>
            <a:ext cx="5358384" cy="877824"/>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217920" y="4572000"/>
            <a:ext cx="82296" cy="877824"/>
          </a:xfrm>
          <a:prstGeom prst="rect">
            <a:avLst/>
          </a:prstGeom>
          <a:solidFill>
            <a:srgbClr val="4D4D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46520" y="4709160"/>
            <a:ext cx="2286000" cy="24688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30" b="1" i="0">
                <a:solidFill>
                  <a:srgbClr val="0F233D"/>
                </a:solidFill>
                <a:latin typeface="Arial"/>
              </a:rPr>
              <a:t>not_applicable_mtdna</a:t>
            </a:r>
          </a:p>
        </p:txBody>
      </p:sp>
      <p:sp>
        <p:nvSpPr>
          <p:cNvPr id="43" name="TextBox 42"/>
          <p:cNvSpPr txBox="1"/>
          <p:nvPr/>
        </p:nvSpPr>
        <p:spPr>
          <a:xfrm>
            <a:off x="8705088" y="4681728"/>
            <a:ext cx="2587752" cy="49377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2F2F2F"/>
                </a:solidFill>
                <a:latin typeface="Arial"/>
              </a:rPr>
              <a:t>Nuclear GWAS/QTL framework is not applicable to mtDNA.</a:t>
            </a:r>
          </a:p>
        </p:txBody>
      </p:sp>
      <p:sp>
        <p:nvSpPr>
          <p:cNvPr id="44" name="Rectangle 43"/>
          <p:cNvSpPr/>
          <p:nvPr/>
        </p:nvSpPr>
        <p:spPr>
          <a:xfrm>
            <a:off x="502920" y="6062472"/>
            <a:ext cx="11183112"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 y="6062472"/>
            <a:ext cx="91440" cy="502920"/>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6153912"/>
            <a:ext cx="10716768" cy="2834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FFFFFF"/>
                </a:solidFill>
                <a:latin typeface="Arial"/>
              </a:rPr>
              <a:t>PIP, credible-set membership, inclusion scores, VCP, and CL labels retain their source meanings; none is renamed PP.H4.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0072B2"/>
                </a:solidFill>
                <a:latin typeface="Arial"/>
              </a:rPr>
              <a:t>APPENDIX • FULL TIER 1 AUDIT</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The full Tier 1 matrix preserves every candidate-context result</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14</a:t>
            </a:r>
          </a:p>
        </p:txBody>
      </p:sp>
      <p:pic>
        <p:nvPicPr>
          <p:cNvPr id="5" name="Full Tier 1 evidence matrix for 47 network-derived candidate contexts" descr="Full Tier 1 evidence matrix for 47 network-derived candidate contexts"/>
          <p:cNvPicPr>
            <a:picLocks noChangeAspect="1"/>
          </p:cNvPicPr>
          <p:nvPr/>
        </p:nvPicPr>
        <p:blipFill>
          <a:blip r:embed="rId2"/>
          <a:stretch>
            <a:fillRect/>
          </a:stretch>
        </p:blipFill>
        <p:spPr>
          <a:xfrm>
            <a:off x="502920" y="1117191"/>
            <a:ext cx="3858768" cy="5300272"/>
          </a:xfrm>
          <a:prstGeom prst="rect">
            <a:avLst/>
          </a:prstGeom>
        </p:spPr>
      </p:pic>
      <p:sp>
        <p:nvSpPr>
          <p:cNvPr id="6" name="Rectangle 5"/>
          <p:cNvSpPr/>
          <p:nvPr/>
        </p:nvSpPr>
        <p:spPr>
          <a:xfrm>
            <a:off x="502920" y="1078992"/>
            <a:ext cx="3858768" cy="1554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1101852"/>
            <a:ext cx="3529584" cy="10972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780" b="1" i="0">
                <a:solidFill>
                  <a:srgbClr val="0F233D"/>
                </a:solidFill>
                <a:latin typeface="Arial"/>
              </a:rPr>
              <a:t>Tier 1 candidate-context matrix</a:t>
            </a:r>
          </a:p>
        </p:txBody>
      </p:sp>
      <p:sp>
        <p:nvSpPr>
          <p:cNvPr id="8" name="Rounded Rectangle 7"/>
          <p:cNvSpPr/>
          <p:nvPr/>
        </p:nvSpPr>
        <p:spPr>
          <a:xfrm>
            <a:off x="4608576" y="1225296"/>
            <a:ext cx="7059168" cy="4443984"/>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910328" y="1527048"/>
            <a:ext cx="361188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00" b="1" i="0">
                <a:solidFill>
                  <a:srgbClr val="0072B2"/>
                </a:solidFill>
                <a:latin typeface="Arial"/>
              </a:rPr>
              <a:t>FORMAL CONTEXT-LEVEL COUNTS</a:t>
            </a:r>
          </a:p>
        </p:txBody>
      </p:sp>
      <p:sp>
        <p:nvSpPr>
          <p:cNvPr id="10" name="Rounded Rectangle 9"/>
          <p:cNvSpPr/>
          <p:nvPr/>
        </p:nvSpPr>
        <p:spPr>
          <a:xfrm>
            <a:off x="4882896" y="1901952"/>
            <a:ext cx="1901952" cy="1024128"/>
          </a:xfrm>
          <a:prstGeom prst="roundRect">
            <a:avLst/>
          </a:prstGeom>
          <a:solidFill>
            <a:srgbClr val="E6F2F9"/>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10912" y="2039112"/>
            <a:ext cx="566928" cy="438912"/>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100" b="1" i="0">
                <a:solidFill>
                  <a:srgbClr val="0072B2"/>
                </a:solidFill>
                <a:latin typeface="Arial"/>
              </a:rPr>
              <a:t>1</a:t>
            </a:r>
          </a:p>
        </p:txBody>
      </p:sp>
      <p:sp>
        <p:nvSpPr>
          <p:cNvPr id="12" name="TextBox 11"/>
          <p:cNvSpPr txBox="1"/>
          <p:nvPr/>
        </p:nvSpPr>
        <p:spPr>
          <a:xfrm>
            <a:off x="5605272" y="2039112"/>
            <a:ext cx="1024128"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50" b="1" i="0">
                <a:solidFill>
                  <a:srgbClr val="0F233D"/>
                </a:solidFill>
                <a:latin typeface="Arial"/>
              </a:rPr>
              <a:t>Strong</a:t>
            </a:r>
          </a:p>
        </p:txBody>
      </p:sp>
      <p:sp>
        <p:nvSpPr>
          <p:cNvPr id="13" name="TextBox 12"/>
          <p:cNvSpPr txBox="1"/>
          <p:nvPr/>
        </p:nvSpPr>
        <p:spPr>
          <a:xfrm>
            <a:off x="5605272" y="2404872"/>
            <a:ext cx="1024128" cy="31089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869" b="0" i="0">
                <a:solidFill>
                  <a:srgbClr val="4D4D4D"/>
                </a:solidFill>
                <a:latin typeface="Arial"/>
              </a:rPr>
              <a:t>APOE</a:t>
            </a:r>
          </a:p>
        </p:txBody>
      </p:sp>
      <p:sp>
        <p:nvSpPr>
          <p:cNvPr id="14" name="Rounded Rectangle 13"/>
          <p:cNvSpPr/>
          <p:nvPr/>
        </p:nvSpPr>
        <p:spPr>
          <a:xfrm>
            <a:off x="7031736" y="1901952"/>
            <a:ext cx="1901952" cy="1024128"/>
          </a:xfrm>
          <a:prstGeom prst="roundRect">
            <a:avLst/>
          </a:prstGeom>
          <a:solidFill>
            <a:srgbClr val="E5F4E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59751" y="2039112"/>
            <a:ext cx="566928" cy="438912"/>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100" b="1" i="0">
                <a:solidFill>
                  <a:srgbClr val="009E73"/>
                </a:solidFill>
                <a:latin typeface="Arial"/>
              </a:rPr>
              <a:t>0</a:t>
            </a:r>
          </a:p>
        </p:txBody>
      </p:sp>
      <p:sp>
        <p:nvSpPr>
          <p:cNvPr id="16" name="TextBox 15"/>
          <p:cNvSpPr txBox="1"/>
          <p:nvPr/>
        </p:nvSpPr>
        <p:spPr>
          <a:xfrm>
            <a:off x="7754112" y="2039112"/>
            <a:ext cx="1024128"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50" b="1" i="0">
                <a:solidFill>
                  <a:srgbClr val="0F233D"/>
                </a:solidFill>
                <a:latin typeface="Arial"/>
              </a:rPr>
              <a:t>Moderate</a:t>
            </a:r>
          </a:p>
        </p:txBody>
      </p:sp>
      <p:sp>
        <p:nvSpPr>
          <p:cNvPr id="17" name="TextBox 16"/>
          <p:cNvSpPr txBox="1"/>
          <p:nvPr/>
        </p:nvSpPr>
        <p:spPr>
          <a:xfrm>
            <a:off x="7754112" y="2404872"/>
            <a:ext cx="1024128" cy="31089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869" b="0" i="0">
                <a:solidFill>
                  <a:srgbClr val="4D4D4D"/>
                </a:solidFill>
                <a:latin typeface="Arial"/>
              </a:rPr>
              <a:t>None</a:t>
            </a:r>
          </a:p>
        </p:txBody>
      </p:sp>
      <p:sp>
        <p:nvSpPr>
          <p:cNvPr id="18" name="Rounded Rectangle 17"/>
          <p:cNvSpPr/>
          <p:nvPr/>
        </p:nvSpPr>
        <p:spPr>
          <a:xfrm>
            <a:off x="9180576" y="1901952"/>
            <a:ext cx="1901952" cy="1024128"/>
          </a:xfrm>
          <a:prstGeom prst="roundRect">
            <a:avLst/>
          </a:prstGeom>
          <a:solidFill>
            <a:srgbClr val="FFF6E0"/>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08592" y="2039112"/>
            <a:ext cx="566928" cy="438912"/>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100" b="1" i="0">
                <a:solidFill>
                  <a:srgbClr val="E69F00"/>
                </a:solidFill>
                <a:latin typeface="Arial"/>
              </a:rPr>
              <a:t>3</a:t>
            </a:r>
          </a:p>
        </p:txBody>
      </p:sp>
      <p:sp>
        <p:nvSpPr>
          <p:cNvPr id="20" name="TextBox 19"/>
          <p:cNvSpPr txBox="1"/>
          <p:nvPr/>
        </p:nvSpPr>
        <p:spPr>
          <a:xfrm>
            <a:off x="9902951" y="2039112"/>
            <a:ext cx="1024128"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50" b="1" i="0">
                <a:solidFill>
                  <a:srgbClr val="0F233D"/>
                </a:solidFill>
                <a:latin typeface="Arial"/>
              </a:rPr>
              <a:t>Weak</a:t>
            </a:r>
          </a:p>
        </p:txBody>
      </p:sp>
      <p:sp>
        <p:nvSpPr>
          <p:cNvPr id="21" name="TextBox 20"/>
          <p:cNvSpPr txBox="1"/>
          <p:nvPr/>
        </p:nvSpPr>
        <p:spPr>
          <a:xfrm>
            <a:off x="9902951" y="2404872"/>
            <a:ext cx="1024128" cy="31089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869" b="0" i="0">
                <a:solidFill>
                  <a:srgbClr val="4D4D4D"/>
                </a:solidFill>
                <a:latin typeface="Arial"/>
              </a:rPr>
              <a:t>COX7C ×2; SELENOW ×1</a:t>
            </a:r>
          </a:p>
        </p:txBody>
      </p:sp>
      <p:sp>
        <p:nvSpPr>
          <p:cNvPr id="22" name="Rounded Rectangle 21"/>
          <p:cNvSpPr/>
          <p:nvPr/>
        </p:nvSpPr>
        <p:spPr>
          <a:xfrm>
            <a:off x="4882896" y="3163824"/>
            <a:ext cx="1901952" cy="1024128"/>
          </a:xfrm>
          <a:prstGeom prst="roundRect">
            <a:avLst/>
          </a:prstGeom>
          <a:solidFill>
            <a:srgbClr val="F2F4F7"/>
          </a:solidFill>
          <a:ln w="12700">
            <a:solidFill>
              <a:srgbClr val="BDBDB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10912" y="3300984"/>
            <a:ext cx="566928" cy="438912"/>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100" b="1" i="0">
                <a:solidFill>
                  <a:srgbClr val="BDBDBD"/>
                </a:solidFill>
                <a:latin typeface="Arial"/>
              </a:rPr>
              <a:t>23</a:t>
            </a:r>
          </a:p>
        </p:txBody>
      </p:sp>
      <p:sp>
        <p:nvSpPr>
          <p:cNvPr id="24" name="TextBox 23"/>
          <p:cNvSpPr txBox="1"/>
          <p:nvPr/>
        </p:nvSpPr>
        <p:spPr>
          <a:xfrm>
            <a:off x="5605272" y="3300984"/>
            <a:ext cx="1024128"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50" b="1" i="0">
                <a:solidFill>
                  <a:srgbClr val="0F233D"/>
                </a:solidFill>
                <a:latin typeface="Arial"/>
              </a:rPr>
              <a:t>No direct mapping</a:t>
            </a:r>
          </a:p>
        </p:txBody>
      </p:sp>
      <p:sp>
        <p:nvSpPr>
          <p:cNvPr id="25" name="TextBox 24"/>
          <p:cNvSpPr txBox="1"/>
          <p:nvPr/>
        </p:nvSpPr>
        <p:spPr>
          <a:xfrm>
            <a:off x="5605272" y="3666744"/>
            <a:ext cx="1024128" cy="31089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869" b="0" i="0">
                <a:solidFill>
                  <a:srgbClr val="4D4D4D"/>
                </a:solidFill>
                <a:latin typeface="Arial"/>
              </a:rPr>
              <a:t>16 nuclear genes</a:t>
            </a:r>
          </a:p>
        </p:txBody>
      </p:sp>
      <p:sp>
        <p:nvSpPr>
          <p:cNvPr id="26" name="Rounded Rectangle 25"/>
          <p:cNvSpPr/>
          <p:nvPr/>
        </p:nvSpPr>
        <p:spPr>
          <a:xfrm>
            <a:off x="7031736" y="3163824"/>
            <a:ext cx="1901952" cy="1024128"/>
          </a:xfrm>
          <a:prstGeom prst="roundRect">
            <a:avLst/>
          </a:prstGeom>
          <a:solidFill>
            <a:srgbClr val="FFFFFF"/>
          </a:solidFill>
          <a:ln w="12700">
            <a:solidFill>
              <a:srgbClr val="4D4D4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59751" y="3300984"/>
            <a:ext cx="566928" cy="438912"/>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100" b="1" i="0">
                <a:solidFill>
                  <a:srgbClr val="4D4D4D"/>
                </a:solidFill>
                <a:latin typeface="Arial"/>
              </a:rPr>
              <a:t>20</a:t>
            </a:r>
          </a:p>
        </p:txBody>
      </p:sp>
      <p:sp>
        <p:nvSpPr>
          <p:cNvPr id="28" name="TextBox 27"/>
          <p:cNvSpPr txBox="1"/>
          <p:nvPr/>
        </p:nvSpPr>
        <p:spPr>
          <a:xfrm>
            <a:off x="7754112" y="3300984"/>
            <a:ext cx="1024128" cy="25603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50" b="1" i="0">
                <a:solidFill>
                  <a:srgbClr val="0F233D"/>
                </a:solidFill>
                <a:latin typeface="Arial"/>
              </a:rPr>
              <a:t>Not assessable</a:t>
            </a:r>
          </a:p>
        </p:txBody>
      </p:sp>
      <p:sp>
        <p:nvSpPr>
          <p:cNvPr id="29" name="TextBox 28"/>
          <p:cNvSpPr txBox="1"/>
          <p:nvPr/>
        </p:nvSpPr>
        <p:spPr>
          <a:xfrm>
            <a:off x="7754112" y="3666744"/>
            <a:ext cx="1024128" cy="31089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869" b="0" i="0">
                <a:solidFill>
                  <a:srgbClr val="4D4D4D"/>
                </a:solidFill>
                <a:latin typeface="Arial"/>
              </a:rPr>
              <a:t>6 mtDNA genes</a:t>
            </a:r>
          </a:p>
        </p:txBody>
      </p:sp>
      <p:sp>
        <p:nvSpPr>
          <p:cNvPr id="30" name="TextBox 29"/>
          <p:cNvSpPr txBox="1"/>
          <p:nvPr/>
        </p:nvSpPr>
        <p:spPr>
          <a:xfrm>
            <a:off x="4919472" y="4626864"/>
            <a:ext cx="6327648" cy="64008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00" b="0" i="0">
                <a:solidFill>
                  <a:srgbClr val="2F2F2F"/>
                </a:solidFill>
                <a:latin typeface="Arial"/>
              </a:rPr>
              <a:t>COX7C's two weak contexts derive from one public source record; they are not independent replications. RPS15 remains outside this formal grade.</a:t>
            </a:r>
          </a:p>
        </p:txBody>
      </p:sp>
      <p:sp>
        <p:nvSpPr>
          <p:cNvPr id="31" name="Rectangle 30"/>
          <p:cNvSpPr/>
          <p:nvPr/>
        </p:nvSpPr>
        <p:spPr>
          <a:xfrm>
            <a:off x="502920" y="5961888"/>
            <a:ext cx="11183112"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2920" y="5961888"/>
            <a:ext cx="91440" cy="502920"/>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6053327"/>
            <a:ext cx="10716768" cy="2834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FFFFFF"/>
                </a:solidFill>
                <a:latin typeface="Arial"/>
              </a:rPr>
              <a:t>No direct mapping ≠ no genetic role • not assessable ≠ a negative result.</a:t>
            </a:r>
          </a:p>
        </p:txBody>
      </p:sp>
      <p:sp>
        <p:nvSpPr>
          <p:cNvPr id="34" name="TextBox 33"/>
          <p:cNvSpPr txBox="1"/>
          <p:nvPr/>
        </p:nvSpPr>
        <p:spPr>
          <a:xfrm>
            <a:off x="502920" y="6629400"/>
            <a:ext cx="11109960" cy="1280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680" b="0" i="0">
                <a:solidFill>
                  <a:srgbClr val="677484"/>
                </a:solidFill>
                <a:latin typeface="Arial"/>
              </a:rPr>
              <a:t>Source: Tier 1 genetic_support_evidence_matrix.png and genetic_support_evidence_summary.tsv</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D55E00"/>
                </a:solidFill>
                <a:latin typeface="Arial"/>
              </a:rPr>
              <a:t>APPENDIX • TIER 2 RECOVERY DETAIL</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200" b="1" i="0">
                <a:solidFill>
                  <a:srgbClr val="0F233D"/>
                </a:solidFill>
                <a:latin typeface="Arial"/>
              </a:rPr>
              <a:t>Regional AD loci were detected, but no route reached a valid H0–H4 result</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15</a:t>
            </a:r>
          </a:p>
        </p:txBody>
      </p:sp>
      <p:pic>
        <p:nvPicPr>
          <p:cNvPr id="5" name="Tier 2 recovery evidence matrix across nuclear candidate contexts" descr="Tier 2 recovery evidence matrix across nuclear candidate contexts"/>
          <p:cNvPicPr>
            <a:picLocks noChangeAspect="1"/>
          </p:cNvPicPr>
          <p:nvPr/>
        </p:nvPicPr>
        <p:blipFill>
          <a:blip r:embed="rId2"/>
          <a:stretch>
            <a:fillRect/>
          </a:stretch>
        </p:blipFill>
        <p:spPr>
          <a:xfrm>
            <a:off x="411480" y="1328927"/>
            <a:ext cx="3840480" cy="4693920"/>
          </a:xfrm>
          <a:prstGeom prst="rect">
            <a:avLst/>
          </a:prstGeom>
        </p:spPr>
      </p:pic>
      <p:sp>
        <p:nvSpPr>
          <p:cNvPr id="6" name="Rectangle 5"/>
          <p:cNvSpPr/>
          <p:nvPr/>
        </p:nvSpPr>
        <p:spPr>
          <a:xfrm>
            <a:off x="411480" y="1307592"/>
            <a:ext cx="3840480" cy="2743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385316"/>
            <a:ext cx="3383280" cy="11887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780" b="1" i="0">
                <a:solidFill>
                  <a:srgbClr val="0F233D"/>
                </a:solidFill>
                <a:latin typeface="Arial"/>
              </a:rPr>
              <a:t>Tier 2 recovery matrix</a:t>
            </a:r>
          </a:p>
        </p:txBody>
      </p:sp>
      <p:pic>
        <p:nvPicPr>
          <p:cNvPr id="8" name="Four regional AD locus plots for ANKRD11, APOE, COX7C, and RPS15" descr="Four regional AD locus plots for ANKRD11, APOE, COX7C, and RPS15"/>
          <p:cNvPicPr>
            <a:picLocks noChangeAspect="1"/>
          </p:cNvPicPr>
          <p:nvPr/>
        </p:nvPicPr>
        <p:blipFill>
          <a:blip r:embed="rId3"/>
          <a:stretch>
            <a:fillRect/>
          </a:stretch>
        </p:blipFill>
        <p:spPr>
          <a:xfrm>
            <a:off x="5353812" y="1207008"/>
            <a:ext cx="5440679" cy="4352543"/>
          </a:xfrm>
          <a:prstGeom prst="rect">
            <a:avLst/>
          </a:prstGeom>
        </p:spPr>
      </p:pic>
      <p:sp>
        <p:nvSpPr>
          <p:cNvPr id="9" name="Rounded Rectangle 8"/>
          <p:cNvSpPr/>
          <p:nvPr/>
        </p:nvSpPr>
        <p:spPr>
          <a:xfrm>
            <a:off x="4690872" y="5596128"/>
            <a:ext cx="6784848" cy="62179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10328" y="5760720"/>
            <a:ext cx="6345936"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150" b="1" i="0">
                <a:solidFill>
                  <a:srgbClr val="0F233D"/>
                </a:solidFill>
                <a:latin typeface="Arial"/>
              </a:rPr>
              <a:t>Regional significance is locus evidence only. All positive routes have PP.H4 unavailable.</a:t>
            </a:r>
          </a:p>
        </p:txBody>
      </p:sp>
      <p:sp>
        <p:nvSpPr>
          <p:cNvPr id="11" name="TextBox 10"/>
          <p:cNvSpPr txBox="1"/>
          <p:nvPr/>
        </p:nvSpPr>
        <p:spPr>
          <a:xfrm>
            <a:off x="502920" y="6629400"/>
            <a:ext cx="11109960" cy="1280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680" b="0" i="0">
                <a:solidFill>
                  <a:srgbClr val="677484"/>
                </a:solidFill>
                <a:latin typeface="Arial"/>
              </a:rPr>
              <a:t>Source: recovery_evidence_matrix.png; recovery_locus_plots.pdf; recovery_route_decisions.tsv</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0072B2"/>
                </a:solidFill>
                <a:latin typeface="Arial"/>
              </a:rPr>
              <a:t>APPENDIX • APOE DETAIL</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APOE direct AD evidence converges with all three CSF traits</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16</a:t>
            </a:r>
          </a:p>
        </p:txBody>
      </p:sp>
      <p:pic>
        <p:nvPicPr>
          <p:cNvPr id="5" name="Tier 1 APOE locus plot showing direct rs429358 entries" descr="Tier 1 APOE locus plot showing direct rs429358 entries"/>
          <p:cNvPicPr>
            <a:picLocks noChangeAspect="1"/>
          </p:cNvPicPr>
          <p:nvPr/>
        </p:nvPicPr>
        <p:blipFill>
          <a:blip r:embed="rId2"/>
          <a:stretch>
            <a:fillRect/>
          </a:stretch>
        </p:blipFill>
        <p:spPr>
          <a:xfrm>
            <a:off x="525780" y="1124712"/>
            <a:ext cx="6858000" cy="3291840"/>
          </a:xfrm>
          <a:prstGeom prst="rect">
            <a:avLst/>
          </a:prstGeom>
        </p:spPr>
      </p:pic>
      <p:pic>
        <p:nvPicPr>
          <p:cNvPr id="6" name="CSF evidence matrix for 19 nuclear candidates across three biomarkers" descr="CSF evidence matrix for 19 nuclear candidates across three biomarkers"/>
          <p:cNvPicPr>
            <a:picLocks noChangeAspect="1"/>
          </p:cNvPicPr>
          <p:nvPr/>
        </p:nvPicPr>
        <p:blipFill>
          <a:blip r:embed="rId3"/>
          <a:stretch>
            <a:fillRect/>
          </a:stretch>
        </p:blipFill>
        <p:spPr>
          <a:xfrm>
            <a:off x="7699248" y="1436089"/>
            <a:ext cx="3931920" cy="4552749"/>
          </a:xfrm>
          <a:prstGeom prst="rect">
            <a:avLst/>
          </a:prstGeom>
        </p:spPr>
      </p:pic>
      <p:sp>
        <p:nvSpPr>
          <p:cNvPr id="7" name="Rectangle 6"/>
          <p:cNvSpPr/>
          <p:nvPr/>
        </p:nvSpPr>
        <p:spPr>
          <a:xfrm>
            <a:off x="7699248" y="1417320"/>
            <a:ext cx="3931920" cy="2926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18704" y="1499616"/>
            <a:ext cx="3493008" cy="128016"/>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760" b="1" i="0">
                <a:solidFill>
                  <a:srgbClr val="0F233D"/>
                </a:solidFill>
                <a:latin typeface="Arial"/>
              </a:rPr>
              <a:t>CSF endophenotype genetic evidence</a:t>
            </a:r>
          </a:p>
        </p:txBody>
      </p:sp>
      <p:sp>
        <p:nvSpPr>
          <p:cNvPr id="9" name="Rectangle 8"/>
          <p:cNvSpPr/>
          <p:nvPr/>
        </p:nvSpPr>
        <p:spPr>
          <a:xfrm>
            <a:off x="7699248" y="5852160"/>
            <a:ext cx="3931920" cy="2011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12648" y="4572000"/>
            <a:ext cx="6565392" cy="1463040"/>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 y="4736592"/>
            <a:ext cx="1344168" cy="19202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19" b="1" i="0">
                <a:solidFill>
                  <a:srgbClr val="0072B2"/>
                </a:solidFill>
                <a:latin typeface="Arial"/>
              </a:rPr>
              <a:t>CSF TRAIT</a:t>
            </a:r>
          </a:p>
        </p:txBody>
      </p:sp>
      <p:sp>
        <p:nvSpPr>
          <p:cNvPr id="12" name="TextBox 11"/>
          <p:cNvSpPr txBox="1"/>
          <p:nvPr/>
        </p:nvSpPr>
        <p:spPr>
          <a:xfrm>
            <a:off x="2322576" y="4736592"/>
            <a:ext cx="1417320" cy="19202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19" b="1" i="0">
                <a:solidFill>
                  <a:srgbClr val="0072B2"/>
                </a:solidFill>
                <a:latin typeface="Arial"/>
              </a:rPr>
              <a:t>REGIONAL MIN P</a:t>
            </a:r>
          </a:p>
        </p:txBody>
      </p:sp>
      <p:sp>
        <p:nvSpPr>
          <p:cNvPr id="13" name="TextBox 12"/>
          <p:cNvSpPr txBox="1"/>
          <p:nvPr/>
        </p:nvSpPr>
        <p:spPr>
          <a:xfrm>
            <a:off x="3895344" y="4736592"/>
            <a:ext cx="1536192" cy="19202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19" b="1" i="0">
                <a:solidFill>
                  <a:srgbClr val="0072B2"/>
                </a:solidFill>
                <a:latin typeface="Arial"/>
              </a:rPr>
              <a:t>MAGMA GENE BODY</a:t>
            </a:r>
          </a:p>
        </p:txBody>
      </p:sp>
      <p:sp>
        <p:nvSpPr>
          <p:cNvPr id="14" name="TextBox 13"/>
          <p:cNvSpPr txBox="1"/>
          <p:nvPr/>
        </p:nvSpPr>
        <p:spPr>
          <a:xfrm>
            <a:off x="5577840" y="4736592"/>
            <a:ext cx="1325880" cy="192024"/>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19" b="1" i="0">
                <a:solidFill>
                  <a:srgbClr val="0072B2"/>
                </a:solidFill>
                <a:latin typeface="Arial"/>
              </a:rPr>
              <a:t>MAGMA ±10 KB</a:t>
            </a:r>
          </a:p>
        </p:txBody>
      </p:sp>
      <p:sp>
        <p:nvSpPr>
          <p:cNvPr id="15" name="TextBox 14"/>
          <p:cNvSpPr txBox="1"/>
          <p:nvPr/>
        </p:nvSpPr>
        <p:spPr>
          <a:xfrm>
            <a:off x="832104" y="5047488"/>
            <a:ext cx="1344168" cy="2011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1" i="0">
                <a:solidFill>
                  <a:srgbClr val="0F233D"/>
                </a:solidFill>
                <a:latin typeface="Arial"/>
              </a:rPr>
              <a:t>Amyloid-β42</a:t>
            </a:r>
          </a:p>
        </p:txBody>
      </p:sp>
      <p:sp>
        <p:nvSpPr>
          <p:cNvPr id="16" name="TextBox 15"/>
          <p:cNvSpPr txBox="1"/>
          <p:nvPr/>
        </p:nvSpPr>
        <p:spPr>
          <a:xfrm>
            <a:off x="2322576" y="5047488"/>
            <a:ext cx="1417320" cy="2011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0" i="0">
                <a:solidFill>
                  <a:srgbClr val="2F2F2F"/>
                </a:solidFill>
                <a:latin typeface="Arial"/>
              </a:rPr>
              <a:t>stored as 0*</a:t>
            </a:r>
          </a:p>
        </p:txBody>
      </p:sp>
      <p:sp>
        <p:nvSpPr>
          <p:cNvPr id="17" name="TextBox 16"/>
          <p:cNvSpPr txBox="1"/>
          <p:nvPr/>
        </p:nvSpPr>
        <p:spPr>
          <a:xfrm>
            <a:off x="3895344" y="5047488"/>
            <a:ext cx="1536192" cy="2011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0" i="0">
                <a:solidFill>
                  <a:srgbClr val="2F2F2F"/>
                </a:solidFill>
                <a:latin typeface="Arial"/>
              </a:rPr>
              <a:t>5.0×10⁻¹⁰</a:t>
            </a:r>
          </a:p>
        </p:txBody>
      </p:sp>
      <p:sp>
        <p:nvSpPr>
          <p:cNvPr id="18" name="TextBox 17"/>
          <p:cNvSpPr txBox="1"/>
          <p:nvPr/>
        </p:nvSpPr>
        <p:spPr>
          <a:xfrm>
            <a:off x="5577840" y="5047488"/>
            <a:ext cx="1325880" cy="2011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0" i="0">
                <a:solidFill>
                  <a:srgbClr val="2F2F2F"/>
                </a:solidFill>
                <a:latin typeface="Arial"/>
              </a:rPr>
              <a:t>2.3037×10⁻¹⁴</a:t>
            </a:r>
          </a:p>
        </p:txBody>
      </p:sp>
      <p:sp>
        <p:nvSpPr>
          <p:cNvPr id="19" name="TextBox 18"/>
          <p:cNvSpPr txBox="1"/>
          <p:nvPr/>
        </p:nvSpPr>
        <p:spPr>
          <a:xfrm>
            <a:off x="832104" y="5330951"/>
            <a:ext cx="1344168" cy="2011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1" i="0">
                <a:solidFill>
                  <a:srgbClr val="0F233D"/>
                </a:solidFill>
                <a:latin typeface="Arial"/>
              </a:rPr>
              <a:t>Total tau</a:t>
            </a:r>
          </a:p>
        </p:txBody>
      </p:sp>
      <p:sp>
        <p:nvSpPr>
          <p:cNvPr id="20" name="TextBox 19"/>
          <p:cNvSpPr txBox="1"/>
          <p:nvPr/>
        </p:nvSpPr>
        <p:spPr>
          <a:xfrm>
            <a:off x="2322576" y="5330951"/>
            <a:ext cx="1417320" cy="2011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0" i="0">
                <a:solidFill>
                  <a:srgbClr val="2F2F2F"/>
                </a:solidFill>
                <a:latin typeface="Arial"/>
              </a:rPr>
              <a:t>5.4×10⁻¹⁶¹</a:t>
            </a:r>
          </a:p>
        </p:txBody>
      </p:sp>
      <p:sp>
        <p:nvSpPr>
          <p:cNvPr id="21" name="TextBox 20"/>
          <p:cNvSpPr txBox="1"/>
          <p:nvPr/>
        </p:nvSpPr>
        <p:spPr>
          <a:xfrm>
            <a:off x="3895344" y="5330951"/>
            <a:ext cx="1536192" cy="2011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0" i="0">
                <a:solidFill>
                  <a:srgbClr val="2F2F2F"/>
                </a:solidFill>
                <a:latin typeface="Arial"/>
              </a:rPr>
              <a:t>5.0×10⁻¹⁰</a:t>
            </a:r>
          </a:p>
        </p:txBody>
      </p:sp>
      <p:sp>
        <p:nvSpPr>
          <p:cNvPr id="22" name="TextBox 21"/>
          <p:cNvSpPr txBox="1"/>
          <p:nvPr/>
        </p:nvSpPr>
        <p:spPr>
          <a:xfrm>
            <a:off x="5577840" y="5330951"/>
            <a:ext cx="1325880" cy="2011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0" i="0">
                <a:solidFill>
                  <a:srgbClr val="2F2F2F"/>
                </a:solidFill>
                <a:latin typeface="Arial"/>
              </a:rPr>
              <a:t>1.2218×10⁻¹³</a:t>
            </a:r>
          </a:p>
        </p:txBody>
      </p:sp>
      <p:sp>
        <p:nvSpPr>
          <p:cNvPr id="23" name="TextBox 22"/>
          <p:cNvSpPr txBox="1"/>
          <p:nvPr/>
        </p:nvSpPr>
        <p:spPr>
          <a:xfrm>
            <a:off x="832104" y="5614416"/>
            <a:ext cx="1344168" cy="2011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1" i="0">
                <a:solidFill>
                  <a:srgbClr val="0F233D"/>
                </a:solidFill>
                <a:latin typeface="Arial"/>
              </a:rPr>
              <a:t>p-tau181</a:t>
            </a:r>
          </a:p>
        </p:txBody>
      </p:sp>
      <p:sp>
        <p:nvSpPr>
          <p:cNvPr id="24" name="TextBox 23"/>
          <p:cNvSpPr txBox="1"/>
          <p:nvPr/>
        </p:nvSpPr>
        <p:spPr>
          <a:xfrm>
            <a:off x="2322576" y="5614416"/>
            <a:ext cx="1417320" cy="2011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0" i="0">
                <a:solidFill>
                  <a:srgbClr val="2F2F2F"/>
                </a:solidFill>
                <a:latin typeface="Arial"/>
              </a:rPr>
              <a:t>3.27×10⁻¹⁷⁴</a:t>
            </a:r>
          </a:p>
        </p:txBody>
      </p:sp>
      <p:sp>
        <p:nvSpPr>
          <p:cNvPr id="25" name="TextBox 24"/>
          <p:cNvSpPr txBox="1"/>
          <p:nvPr/>
        </p:nvSpPr>
        <p:spPr>
          <a:xfrm>
            <a:off x="3895344" y="5614416"/>
            <a:ext cx="1536192" cy="2011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0" i="0">
                <a:solidFill>
                  <a:srgbClr val="2F2F2F"/>
                </a:solidFill>
                <a:latin typeface="Arial"/>
              </a:rPr>
              <a:t>5.0×10⁻¹⁰</a:t>
            </a:r>
          </a:p>
        </p:txBody>
      </p:sp>
      <p:sp>
        <p:nvSpPr>
          <p:cNvPr id="26" name="TextBox 25"/>
          <p:cNvSpPr txBox="1"/>
          <p:nvPr/>
        </p:nvSpPr>
        <p:spPr>
          <a:xfrm>
            <a:off x="5577840" y="5614416"/>
            <a:ext cx="1325880" cy="201168"/>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919" b="0" i="0">
                <a:solidFill>
                  <a:srgbClr val="2F2F2F"/>
                </a:solidFill>
                <a:latin typeface="Arial"/>
              </a:rPr>
              <a:t>5.0×10⁻¹⁰</a:t>
            </a:r>
          </a:p>
        </p:txBody>
      </p:sp>
      <p:sp>
        <p:nvSpPr>
          <p:cNvPr id="27" name="TextBox 26"/>
          <p:cNvSpPr txBox="1"/>
          <p:nvPr/>
        </p:nvSpPr>
        <p:spPr>
          <a:xfrm>
            <a:off x="832104" y="5961888"/>
            <a:ext cx="5961888" cy="18288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770" b="0" i="1">
                <a:solidFill>
                  <a:srgbClr val="D55E00"/>
                </a:solidFill>
                <a:latin typeface="Arial"/>
              </a:rPr>
              <a:t>* Numerical underflow in the stored regional minimum; do not use the current Aβ42 locus rendering.</a:t>
            </a:r>
          </a:p>
        </p:txBody>
      </p:sp>
      <p:sp>
        <p:nvSpPr>
          <p:cNvPr id="28" name="TextBox 27"/>
          <p:cNvSpPr txBox="1"/>
          <p:nvPr/>
        </p:nvSpPr>
        <p:spPr>
          <a:xfrm>
            <a:off x="502920" y="6629400"/>
            <a:ext cx="11109960" cy="1280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680" b="0" i="0">
                <a:solidFill>
                  <a:srgbClr val="677484"/>
                </a:solidFill>
                <a:latin typeface="Arial"/>
              </a:rPr>
              <a:t>Source: Tier 1 common_variant_evidence.tsv.gz and locus plot page 1; CSF gate and MAGMA result tables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D55E00"/>
                </a:solidFill>
                <a:latin typeface="Arial"/>
              </a:rPr>
              <a:t>APPENDIX • TARGETED PUBLIC-DATA AUDIT</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RPS15 remains the highest-priority unresolved non-APOE candidate</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17</a:t>
            </a:r>
          </a:p>
        </p:txBody>
      </p:sp>
      <p:sp>
        <p:nvSpPr>
          <p:cNvPr id="5" name="Rounded Rectangle 4"/>
          <p:cNvSpPr/>
          <p:nvPr/>
        </p:nvSpPr>
        <p:spPr>
          <a:xfrm>
            <a:off x="521207" y="1179576"/>
            <a:ext cx="2075688" cy="969264"/>
          </a:xfrm>
          <a:prstGeom prst="roundRect">
            <a:avLst/>
          </a:prstGeom>
          <a:solidFill>
            <a:srgbClr val="F2F4F7"/>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9224" y="1335024"/>
            <a:ext cx="612648" cy="40233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300" b="1" i="0">
                <a:solidFill>
                  <a:srgbClr val="0072B2"/>
                </a:solidFill>
                <a:latin typeface="Arial"/>
              </a:rPr>
              <a:t>37</a:t>
            </a:r>
          </a:p>
        </p:txBody>
      </p:sp>
      <p:sp>
        <p:nvSpPr>
          <p:cNvPr id="7" name="TextBox 6"/>
          <p:cNvSpPr txBox="1"/>
          <p:nvPr/>
        </p:nvSpPr>
        <p:spPr>
          <a:xfrm>
            <a:off x="1316736" y="1353312"/>
            <a:ext cx="1097280" cy="38404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19" b="1" i="0">
                <a:solidFill>
                  <a:srgbClr val="0F233D"/>
                </a:solidFill>
                <a:latin typeface="Arial"/>
              </a:rPr>
              <a:t>eligible routes</a:t>
            </a:r>
          </a:p>
        </p:txBody>
      </p:sp>
      <p:sp>
        <p:nvSpPr>
          <p:cNvPr id="8" name="Rounded Rectangle 7"/>
          <p:cNvSpPr/>
          <p:nvPr/>
        </p:nvSpPr>
        <p:spPr>
          <a:xfrm>
            <a:off x="2825496" y="1179576"/>
            <a:ext cx="2075688" cy="969264"/>
          </a:xfrm>
          <a:prstGeom prst="roundRect">
            <a:avLst/>
          </a:prstGeom>
          <a:solidFill>
            <a:srgbClr val="F2F4F7"/>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53512" y="1335024"/>
            <a:ext cx="612648" cy="40233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300" b="1" i="0">
                <a:solidFill>
                  <a:srgbClr val="0072B2"/>
                </a:solidFill>
                <a:latin typeface="Arial"/>
              </a:rPr>
              <a:t>31</a:t>
            </a:r>
          </a:p>
        </p:txBody>
      </p:sp>
      <p:sp>
        <p:nvSpPr>
          <p:cNvPr id="10" name="TextBox 9"/>
          <p:cNvSpPr txBox="1"/>
          <p:nvPr/>
        </p:nvSpPr>
        <p:spPr>
          <a:xfrm>
            <a:off x="3621024" y="1353312"/>
            <a:ext cx="1097280" cy="38404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19" b="1" i="0">
                <a:solidFill>
                  <a:srgbClr val="0F233D"/>
                </a:solidFill>
                <a:latin typeface="Arial"/>
              </a:rPr>
              <a:t>measured routes</a:t>
            </a:r>
          </a:p>
        </p:txBody>
      </p:sp>
      <p:sp>
        <p:nvSpPr>
          <p:cNvPr id="11" name="Rounded Rectangle 10"/>
          <p:cNvSpPr/>
          <p:nvPr/>
        </p:nvSpPr>
        <p:spPr>
          <a:xfrm>
            <a:off x="5129784" y="1179576"/>
            <a:ext cx="2075688" cy="969264"/>
          </a:xfrm>
          <a:prstGeom prst="roundRect">
            <a:avLst/>
          </a:prstGeom>
          <a:solidFill>
            <a:srgbClr val="F2F4F7"/>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57800" y="1335024"/>
            <a:ext cx="612648" cy="40233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300" b="1" i="0">
                <a:solidFill>
                  <a:srgbClr val="E69F00"/>
                </a:solidFill>
                <a:latin typeface="Arial"/>
              </a:rPr>
              <a:t>6</a:t>
            </a:r>
          </a:p>
        </p:txBody>
      </p:sp>
      <p:sp>
        <p:nvSpPr>
          <p:cNvPr id="13" name="TextBox 12"/>
          <p:cNvSpPr txBox="1"/>
          <p:nvPr/>
        </p:nvSpPr>
        <p:spPr>
          <a:xfrm>
            <a:off x="5925312" y="1353312"/>
            <a:ext cx="1097280" cy="38404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19" b="1" i="0">
                <a:solidFill>
                  <a:srgbClr val="0F233D"/>
                </a:solidFill>
                <a:latin typeface="Arial"/>
              </a:rPr>
              <a:t>positive context rows</a:t>
            </a:r>
          </a:p>
        </p:txBody>
      </p:sp>
      <p:sp>
        <p:nvSpPr>
          <p:cNvPr id="14" name="Rounded Rectangle 13"/>
          <p:cNvSpPr/>
          <p:nvPr/>
        </p:nvSpPr>
        <p:spPr>
          <a:xfrm>
            <a:off x="7434072" y="1179576"/>
            <a:ext cx="2075688" cy="969264"/>
          </a:xfrm>
          <a:prstGeom prst="roundRect">
            <a:avLst/>
          </a:prstGeom>
          <a:solidFill>
            <a:srgbClr val="F2F4F7"/>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62088" y="1335024"/>
            <a:ext cx="612648" cy="40233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300" b="1" i="0">
                <a:solidFill>
                  <a:srgbClr val="E69F00"/>
                </a:solidFill>
                <a:latin typeface="Arial"/>
              </a:rPr>
              <a:t>3</a:t>
            </a:r>
          </a:p>
        </p:txBody>
      </p:sp>
      <p:sp>
        <p:nvSpPr>
          <p:cNvPr id="16" name="TextBox 15"/>
          <p:cNvSpPr txBox="1"/>
          <p:nvPr/>
        </p:nvSpPr>
        <p:spPr>
          <a:xfrm>
            <a:off x="8229600" y="1353312"/>
            <a:ext cx="1097280" cy="38404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19" b="1" i="0">
                <a:solidFill>
                  <a:srgbClr val="0F233D"/>
                </a:solidFill>
                <a:latin typeface="Arial"/>
              </a:rPr>
              <a:t>distinct bulk tracks</a:t>
            </a:r>
          </a:p>
        </p:txBody>
      </p:sp>
      <p:sp>
        <p:nvSpPr>
          <p:cNvPr id="17" name="Rounded Rectangle 16"/>
          <p:cNvSpPr/>
          <p:nvPr/>
        </p:nvSpPr>
        <p:spPr>
          <a:xfrm>
            <a:off x="9738360" y="1179576"/>
            <a:ext cx="2075688" cy="969264"/>
          </a:xfrm>
          <a:prstGeom prst="roundRect">
            <a:avLst/>
          </a:prstGeom>
          <a:solidFill>
            <a:srgbClr val="F2F4F7"/>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66376" y="1335024"/>
            <a:ext cx="612648" cy="40233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2300" b="1" i="0">
                <a:solidFill>
                  <a:srgbClr val="D55E00"/>
                </a:solidFill>
                <a:latin typeface="Arial"/>
              </a:rPr>
              <a:t>0</a:t>
            </a:r>
          </a:p>
        </p:txBody>
      </p:sp>
      <p:sp>
        <p:nvSpPr>
          <p:cNvPr id="19" name="TextBox 18"/>
          <p:cNvSpPr txBox="1"/>
          <p:nvPr/>
        </p:nvSpPr>
        <p:spPr>
          <a:xfrm>
            <a:off x="10533888" y="1353312"/>
            <a:ext cx="1097280" cy="384048"/>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019" b="1" i="0">
                <a:solidFill>
                  <a:srgbClr val="0F233D"/>
                </a:solidFill>
                <a:latin typeface="Arial"/>
              </a:rPr>
              <a:t>resolved H0–H4 analyses</a:t>
            </a:r>
          </a:p>
        </p:txBody>
      </p:sp>
      <p:sp>
        <p:nvSpPr>
          <p:cNvPr id="20" name="Rounded Rectangle 19"/>
          <p:cNvSpPr/>
          <p:nvPr/>
        </p:nvSpPr>
        <p:spPr>
          <a:xfrm>
            <a:off x="658368" y="2542032"/>
            <a:ext cx="7443216" cy="713232"/>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2542032"/>
            <a:ext cx="82296" cy="71323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3544" y="2660903"/>
            <a:ext cx="2596896"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50" b="1" i="0">
                <a:solidFill>
                  <a:srgbClr val="0F233D"/>
                </a:solidFill>
                <a:latin typeface="Arial"/>
              </a:rPr>
              <a:t>MSBB BA36 eQTL</a:t>
            </a:r>
          </a:p>
        </p:txBody>
      </p:sp>
      <p:sp>
        <p:nvSpPr>
          <p:cNvPr id="23" name="TextBox 22"/>
          <p:cNvSpPr txBox="1"/>
          <p:nvPr/>
        </p:nvSpPr>
        <p:spPr>
          <a:xfrm>
            <a:off x="3611880" y="2660903"/>
            <a:ext cx="1856231"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60" b="1" i="0">
                <a:solidFill>
                  <a:srgbClr val="2F2F2F"/>
                </a:solidFill>
                <a:latin typeface="Arial"/>
              </a:rPr>
              <a:t>P = 2.41403×10⁻⁷</a:t>
            </a:r>
          </a:p>
        </p:txBody>
      </p:sp>
      <p:sp>
        <p:nvSpPr>
          <p:cNvPr id="24" name="TextBox 23"/>
          <p:cNvSpPr txBox="1"/>
          <p:nvPr/>
        </p:nvSpPr>
        <p:spPr>
          <a:xfrm>
            <a:off x="5532120" y="2660903"/>
            <a:ext cx="2313432" cy="34747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4D4D4D"/>
                </a:solidFill>
                <a:latin typeface="Arial"/>
              </a:rPr>
              <a:t>FDR = 0.00209909</a:t>
            </a:r>
          </a:p>
        </p:txBody>
      </p:sp>
      <p:sp>
        <p:nvSpPr>
          <p:cNvPr id="25" name="Rounded Rectangle 24"/>
          <p:cNvSpPr/>
          <p:nvPr/>
        </p:nvSpPr>
        <p:spPr>
          <a:xfrm>
            <a:off x="658368" y="3474720"/>
            <a:ext cx="7443216" cy="713232"/>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58368" y="3474720"/>
            <a:ext cx="82296" cy="71323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3544" y="3593591"/>
            <a:ext cx="2596896"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50" b="1" i="0">
                <a:solidFill>
                  <a:srgbClr val="0F233D"/>
                </a:solidFill>
                <a:latin typeface="Arial"/>
              </a:rPr>
              <a:t>ROSMAP DLPFC sQTL</a:t>
            </a:r>
          </a:p>
        </p:txBody>
      </p:sp>
      <p:sp>
        <p:nvSpPr>
          <p:cNvPr id="28" name="TextBox 27"/>
          <p:cNvSpPr txBox="1"/>
          <p:nvPr/>
        </p:nvSpPr>
        <p:spPr>
          <a:xfrm>
            <a:off x="3611880" y="3593591"/>
            <a:ext cx="1856231"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60" b="1" i="0">
                <a:solidFill>
                  <a:srgbClr val="2F2F2F"/>
                </a:solidFill>
                <a:latin typeface="Arial"/>
              </a:rPr>
              <a:t>P = 3.86842×10⁻³⁰</a:t>
            </a:r>
          </a:p>
        </p:txBody>
      </p:sp>
      <p:sp>
        <p:nvSpPr>
          <p:cNvPr id="29" name="TextBox 28"/>
          <p:cNvSpPr txBox="1"/>
          <p:nvPr/>
        </p:nvSpPr>
        <p:spPr>
          <a:xfrm>
            <a:off x="5532120" y="3593591"/>
            <a:ext cx="2313432" cy="34747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4D4D4D"/>
                </a:solidFill>
                <a:latin typeface="Arial"/>
              </a:rPr>
              <a:t>FDR = 1.26188×10⁻²⁶ • max PIP = 1.0</a:t>
            </a:r>
          </a:p>
        </p:txBody>
      </p:sp>
      <p:sp>
        <p:nvSpPr>
          <p:cNvPr id="30" name="Rounded Rectangle 29"/>
          <p:cNvSpPr/>
          <p:nvPr/>
        </p:nvSpPr>
        <p:spPr>
          <a:xfrm>
            <a:off x="658368" y="4407408"/>
            <a:ext cx="7443216" cy="713232"/>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58368" y="4407408"/>
            <a:ext cx="82296" cy="71323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23544" y="4526280"/>
            <a:ext cx="2596896"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50" b="1" i="0">
                <a:solidFill>
                  <a:srgbClr val="0F233D"/>
                </a:solidFill>
                <a:latin typeface="Arial"/>
              </a:rPr>
              <a:t>ROSMAP posterior-cingulate sQTL</a:t>
            </a:r>
          </a:p>
        </p:txBody>
      </p:sp>
      <p:sp>
        <p:nvSpPr>
          <p:cNvPr id="33" name="TextBox 32"/>
          <p:cNvSpPr txBox="1"/>
          <p:nvPr/>
        </p:nvSpPr>
        <p:spPr>
          <a:xfrm>
            <a:off x="3611880" y="4526280"/>
            <a:ext cx="1856231"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160" b="1" i="0">
                <a:solidFill>
                  <a:srgbClr val="2F2F2F"/>
                </a:solidFill>
                <a:latin typeface="Arial"/>
              </a:rPr>
              <a:t>P = 3.30886×10⁻⁷</a:t>
            </a:r>
          </a:p>
        </p:txBody>
      </p:sp>
      <p:sp>
        <p:nvSpPr>
          <p:cNvPr id="34" name="TextBox 33"/>
          <p:cNvSpPr txBox="1"/>
          <p:nvPr/>
        </p:nvSpPr>
        <p:spPr>
          <a:xfrm>
            <a:off x="5532120" y="4526280"/>
            <a:ext cx="2313432" cy="347472"/>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4D4D4D"/>
                </a:solidFill>
                <a:latin typeface="Arial"/>
              </a:rPr>
              <a:t>FDR = 0.000858045 • max PIP = 0.910283</a:t>
            </a:r>
          </a:p>
        </p:txBody>
      </p:sp>
      <p:sp>
        <p:nvSpPr>
          <p:cNvPr id="35" name="Rounded Rectangle 34"/>
          <p:cNvSpPr/>
          <p:nvPr/>
        </p:nvSpPr>
        <p:spPr>
          <a:xfrm>
            <a:off x="8430768" y="2542032"/>
            <a:ext cx="3108960" cy="2578608"/>
          </a:xfrm>
          <a:prstGeom prst="roundRect">
            <a:avLst/>
          </a:prstGeom>
          <a:solidFill>
            <a:srgbClr val="FDEBE4"/>
          </a:solidFill>
          <a:ln w="19050">
            <a:solidFill>
              <a:srgbClr val="D55E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705088" y="2816352"/>
            <a:ext cx="2551176" cy="219456"/>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000" b="1" i="0">
                <a:solidFill>
                  <a:srgbClr val="D55E00"/>
                </a:solidFill>
                <a:latin typeface="Arial"/>
              </a:rPr>
              <a:t>INTERPRETIVE BOUNDARY</a:t>
            </a:r>
          </a:p>
        </p:txBody>
      </p:sp>
      <p:sp>
        <p:nvSpPr>
          <p:cNvPr id="37" name="TextBox 36"/>
          <p:cNvSpPr txBox="1"/>
          <p:nvPr/>
        </p:nvSpPr>
        <p:spPr>
          <a:xfrm>
            <a:off x="8723376" y="3246120"/>
            <a:ext cx="2523744" cy="1527048"/>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10" b="1" i="0">
                <a:solidFill>
                  <a:srgbClr val="0F233D"/>
                </a:solidFill>
                <a:latin typeface="Arial"/>
              </a:rPr>
              <a:t>The six positive rows are the same three bulk tracks repeated across OPC and inhibitory-neuron contexts.
Exact contexts and gene-level shared signal remain unresolved.
PP.H4 is unavailable.</a:t>
            </a:r>
          </a:p>
        </p:txBody>
      </p:sp>
      <p:sp>
        <p:nvSpPr>
          <p:cNvPr id="38" name="Rectangle 37"/>
          <p:cNvSpPr/>
          <p:nvPr/>
        </p:nvSpPr>
        <p:spPr>
          <a:xfrm>
            <a:off x="502920" y="5806440"/>
            <a:ext cx="11183112" cy="502920"/>
          </a:xfrm>
          <a:prstGeom prst="rect">
            <a:avLst/>
          </a:prstGeom>
          <a:solidFill>
            <a:srgbClr val="0F2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5806440"/>
            <a:ext cx="91440" cy="502920"/>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5897879"/>
            <a:ext cx="10716768" cy="283464"/>
          </a:xfrm>
          <a:prstGeom prst="rect">
            <a:avLst/>
          </a:prstGeom>
          <a:noFill/>
        </p:spPr>
        <p:txBody>
          <a:bodyPr wrap="square" lIns="27432" rIns="27432" tIns="27432" bIns="27432" anchor="ctr">
            <a:spAutoFit/>
          </a:bodyPr>
          <a:lstStyle/>
          <a:p>
            <a:pPr algn="ctr">
              <a:lnSpc>
                <a:spcPct val="100000"/>
              </a:lnSpc>
              <a:spcBef>
                <a:spcPts val="0"/>
              </a:spcBef>
              <a:spcAft>
                <a:spcPts val="0"/>
              </a:spcAft>
            </a:pPr>
            <a:r>
              <a:rPr sz="1200" b="1" i="0">
                <a:solidFill>
                  <a:srgbClr val="FFFFFF"/>
                </a:solidFill>
                <a:latin typeface="Arial"/>
              </a:rPr>
              <a:t>Supplemental outcome: weak/suggestive public support only; RPS15 and its exact contexts are not validated.</a:t>
            </a:r>
          </a:p>
        </p:txBody>
      </p:sp>
      <p:sp>
        <p:nvSpPr>
          <p:cNvPr id="41" name="TextBox 40"/>
          <p:cNvSpPr txBox="1"/>
          <p:nvPr/>
        </p:nvSpPr>
        <p:spPr>
          <a:xfrm>
            <a:off x="502920" y="6629400"/>
            <a:ext cx="11109960" cy="1280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680" b="0" i="0">
                <a:solidFill>
                  <a:srgbClr val="677484"/>
                </a:solidFill>
                <a:latin typeface="Arial"/>
              </a:rPr>
              <a:t>Source: opc_rps15_evidence_summary.tsv and opc_rps15_qtl_audit.tsv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TextBox 1"/>
          <p:cNvSpPr txBox="1"/>
          <p:nvPr/>
        </p:nvSpPr>
        <p:spPr>
          <a:xfrm>
            <a:off x="502920" y="164592"/>
            <a:ext cx="5120640" cy="21945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50" b="1" i="0">
                <a:solidFill>
                  <a:srgbClr val="D55E00"/>
                </a:solidFill>
                <a:latin typeface="Arial"/>
              </a:rPr>
              <a:t>APPENDIX • REPRODUCIBILITY</a:t>
            </a:r>
          </a:p>
        </p:txBody>
      </p:sp>
      <p:sp>
        <p:nvSpPr>
          <p:cNvPr id="3" name="TextBox 2"/>
          <p:cNvSpPr txBox="1"/>
          <p:nvPr/>
        </p:nvSpPr>
        <p:spPr>
          <a:xfrm>
            <a:off x="502920" y="402336"/>
            <a:ext cx="10927080" cy="512064"/>
          </a:xfrm>
          <a:prstGeom prst="rect">
            <a:avLst/>
          </a:prstGeom>
          <a:noFill/>
        </p:spPr>
        <p:txBody>
          <a:bodyPr wrap="square" lIns="27432" rIns="27432" tIns="27432" bIns="27432" anchor="ctr">
            <a:spAutoFit/>
          </a:bodyPr>
          <a:lstStyle/>
          <a:p>
            <a:pPr algn="l">
              <a:lnSpc>
                <a:spcPct val="100000"/>
              </a:lnSpc>
              <a:spcBef>
                <a:spcPts val="0"/>
              </a:spcBef>
              <a:spcAft>
                <a:spcPts val="0"/>
              </a:spcAft>
            </a:pPr>
            <a:r>
              <a:rPr sz="2450" b="1" i="0">
                <a:solidFill>
                  <a:srgbClr val="0F233D"/>
                </a:solidFill>
                <a:latin typeface="Arial"/>
              </a:rPr>
              <a:t>The published bundle is auditable but not yet fully complete</a:t>
            </a:r>
          </a:p>
        </p:txBody>
      </p:sp>
      <p:sp>
        <p:nvSpPr>
          <p:cNvPr id="4" name="TextBox 3"/>
          <p:cNvSpPr txBox="1"/>
          <p:nvPr/>
        </p:nvSpPr>
        <p:spPr>
          <a:xfrm>
            <a:off x="11356848" y="192024"/>
            <a:ext cx="329184" cy="182880"/>
          </a:xfrm>
          <a:prstGeom prst="rect">
            <a:avLst/>
          </a:prstGeom>
          <a:noFill/>
        </p:spPr>
        <p:txBody>
          <a:bodyPr wrap="square" lIns="27432" rIns="27432" tIns="27432" bIns="27432" anchor="t">
            <a:spAutoFit/>
          </a:bodyPr>
          <a:lstStyle/>
          <a:p>
            <a:pPr algn="r">
              <a:lnSpc>
                <a:spcPct val="100000"/>
              </a:lnSpc>
              <a:spcBef>
                <a:spcPts val="0"/>
              </a:spcBef>
              <a:spcAft>
                <a:spcPts val="0"/>
              </a:spcAft>
            </a:pPr>
            <a:r>
              <a:rPr sz="900" b="1" i="0">
                <a:solidFill>
                  <a:srgbClr val="677484"/>
                </a:solidFill>
                <a:latin typeface="Arial"/>
              </a:rPr>
              <a:t>18</a:t>
            </a:r>
          </a:p>
        </p:txBody>
      </p:sp>
      <p:sp>
        <p:nvSpPr>
          <p:cNvPr id="5" name="Rounded Rectangle 4"/>
          <p:cNvSpPr/>
          <p:nvPr/>
        </p:nvSpPr>
        <p:spPr>
          <a:xfrm>
            <a:off x="585216" y="1170432"/>
            <a:ext cx="5340096" cy="1133856"/>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85216" y="1170432"/>
            <a:ext cx="91440" cy="113385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1335024"/>
            <a:ext cx="1938528"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1" i="0">
                <a:solidFill>
                  <a:srgbClr val="0F233D"/>
                </a:solidFill>
                <a:latin typeface="Arial"/>
              </a:rPr>
              <a:t>Malformed empty outputs</a:t>
            </a:r>
          </a:p>
        </p:txBody>
      </p:sp>
      <p:sp>
        <p:nvSpPr>
          <p:cNvPr id="8" name="TextBox 7"/>
          <p:cNvSpPr txBox="1"/>
          <p:nvPr/>
        </p:nvSpPr>
        <p:spPr>
          <a:xfrm>
            <a:off x="2889504" y="1307592"/>
            <a:ext cx="2761488" cy="68580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2F2F2F"/>
                </a:solidFill>
                <a:latin typeface="Arial"/>
              </a:rPr>
              <a:t>Two declared zero-row Tier 2 gzip files are truncated despite matching the manifest hashes.</a:t>
            </a:r>
          </a:p>
        </p:txBody>
      </p:sp>
      <p:sp>
        <p:nvSpPr>
          <p:cNvPr id="9" name="Rounded Rectangle 8"/>
          <p:cNvSpPr/>
          <p:nvPr/>
        </p:nvSpPr>
        <p:spPr>
          <a:xfrm>
            <a:off x="6236207" y="1170432"/>
            <a:ext cx="5340096" cy="1133856"/>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36207" y="1170432"/>
            <a:ext cx="91440" cy="113385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10527" y="1335024"/>
            <a:ext cx="1938528"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1" i="0">
                <a:solidFill>
                  <a:srgbClr val="0F233D"/>
                </a:solidFill>
                <a:latin typeface="Arial"/>
              </a:rPr>
              <a:t>APOE pQTL inventory gap</a:t>
            </a:r>
          </a:p>
        </p:txBody>
      </p:sp>
      <p:sp>
        <p:nvSpPr>
          <p:cNvPr id="12" name="TextBox 11"/>
          <p:cNvSpPr txBox="1"/>
          <p:nvPr/>
        </p:nvSpPr>
        <p:spPr>
          <a:xfrm>
            <a:off x="8540496" y="1307592"/>
            <a:ext cx="2761488" cy="68580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2F2F2F"/>
                </a:solidFill>
                <a:latin typeface="Arial"/>
              </a:rPr>
              <a:t>The report states four NG00130.v2 files were checksum-verified; the published inventory does not enumerate them.</a:t>
            </a:r>
          </a:p>
        </p:txBody>
      </p:sp>
      <p:sp>
        <p:nvSpPr>
          <p:cNvPr id="13" name="Rounded Rectangle 12"/>
          <p:cNvSpPr/>
          <p:nvPr/>
        </p:nvSpPr>
        <p:spPr>
          <a:xfrm>
            <a:off x="585216" y="2542032"/>
            <a:ext cx="5340096" cy="1133856"/>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5216" y="2542032"/>
            <a:ext cx="91440" cy="113385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2706624"/>
            <a:ext cx="1938528"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1" i="0">
                <a:solidFill>
                  <a:srgbClr val="0F233D"/>
                </a:solidFill>
                <a:latin typeface="Arial"/>
              </a:rPr>
              <a:t>Raw sources not in checkout</a:t>
            </a:r>
          </a:p>
        </p:txBody>
      </p:sp>
      <p:sp>
        <p:nvSpPr>
          <p:cNvPr id="16" name="TextBox 15"/>
          <p:cNvSpPr txBox="1"/>
          <p:nvPr/>
        </p:nvSpPr>
        <p:spPr>
          <a:xfrm>
            <a:off x="2889504" y="2679192"/>
            <a:ext cx="2761488" cy="68580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2F2F2F"/>
                </a:solidFill>
                <a:latin typeface="Arial"/>
              </a:rPr>
              <a:t>Large downloaded inputs were streamed or retained outside the repository publication bundle.</a:t>
            </a:r>
          </a:p>
        </p:txBody>
      </p:sp>
      <p:sp>
        <p:nvSpPr>
          <p:cNvPr id="17" name="Rounded Rectangle 16"/>
          <p:cNvSpPr/>
          <p:nvPr/>
        </p:nvSpPr>
        <p:spPr>
          <a:xfrm>
            <a:off x="6236207" y="2542032"/>
            <a:ext cx="5340096" cy="1133856"/>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7" y="2542032"/>
            <a:ext cx="91440" cy="113385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0527" y="2706624"/>
            <a:ext cx="1938528"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1" i="0">
                <a:solidFill>
                  <a:srgbClr val="0F233D"/>
                </a:solidFill>
                <a:latin typeface="Arial"/>
              </a:rPr>
              <a:t>Nonportable paths</a:t>
            </a:r>
          </a:p>
        </p:txBody>
      </p:sp>
      <p:sp>
        <p:nvSpPr>
          <p:cNvPr id="20" name="TextBox 19"/>
          <p:cNvSpPr txBox="1"/>
          <p:nvPr/>
        </p:nvSpPr>
        <p:spPr>
          <a:xfrm>
            <a:off x="8540496" y="2679192"/>
            <a:ext cx="2761488" cy="68580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2F2F2F"/>
                </a:solidFill>
                <a:latin typeface="Arial"/>
              </a:rPr>
              <a:t>The RPS15 report retains absolute /home/... paths from its execution environment.</a:t>
            </a:r>
          </a:p>
        </p:txBody>
      </p:sp>
      <p:sp>
        <p:nvSpPr>
          <p:cNvPr id="21" name="Rounded Rectangle 20"/>
          <p:cNvSpPr/>
          <p:nvPr/>
        </p:nvSpPr>
        <p:spPr>
          <a:xfrm>
            <a:off x="585216" y="3913632"/>
            <a:ext cx="5340096" cy="1133856"/>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85216" y="3913632"/>
            <a:ext cx="91440" cy="113385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078224"/>
            <a:ext cx="1938528"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1" i="0">
                <a:solidFill>
                  <a:srgbClr val="0F233D"/>
                </a:solidFill>
                <a:latin typeface="Arial"/>
              </a:rPr>
              <a:t>GWAS metadata conflict</a:t>
            </a:r>
          </a:p>
        </p:txBody>
      </p:sp>
      <p:sp>
        <p:nvSpPr>
          <p:cNvPr id="24" name="TextBox 23"/>
          <p:cNvSpPr txBox="1"/>
          <p:nvPr/>
        </p:nvSpPr>
        <p:spPr>
          <a:xfrm>
            <a:off x="2889504" y="4050792"/>
            <a:ext cx="2761488" cy="68580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2F2F2F"/>
                </a:solidFill>
                <a:latin typeface="Arial"/>
              </a:rPr>
              <a:t>Bellenguez case/control counts disagree between the recovery manifest and regional summaries.</a:t>
            </a:r>
          </a:p>
        </p:txBody>
      </p:sp>
      <p:sp>
        <p:nvSpPr>
          <p:cNvPr id="25" name="Rounded Rectangle 24"/>
          <p:cNvSpPr/>
          <p:nvPr/>
        </p:nvSpPr>
        <p:spPr>
          <a:xfrm>
            <a:off x="6236207" y="3913632"/>
            <a:ext cx="5340096" cy="1133856"/>
          </a:xfrm>
          <a:prstGeom prst="roundRect">
            <a:avLst/>
          </a:prstGeom>
          <a:solidFill>
            <a:srgbClr val="FFFFFF"/>
          </a:solidFill>
          <a:ln w="12700">
            <a:solidFill>
              <a:srgbClr val="DDE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236207" y="3913632"/>
            <a:ext cx="91440" cy="113385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10527" y="4078224"/>
            <a:ext cx="1938528" cy="27432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1240" b="1" i="0">
                <a:solidFill>
                  <a:srgbClr val="0F233D"/>
                </a:solidFill>
                <a:latin typeface="Arial"/>
              </a:rPr>
              <a:t>QTD000579 mislabeled</a:t>
            </a:r>
          </a:p>
        </p:txBody>
      </p:sp>
      <p:sp>
        <p:nvSpPr>
          <p:cNvPr id="28" name="TextBox 27"/>
          <p:cNvSpPr txBox="1"/>
          <p:nvPr/>
        </p:nvSpPr>
        <p:spPr>
          <a:xfrm>
            <a:off x="8540496" y="4050792"/>
            <a:ext cx="2761488" cy="685800"/>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980" b="0" i="0">
                <a:solidFill>
                  <a:srgbClr val="2F2F2F"/>
                </a:solidFill>
                <a:latin typeface="Arial"/>
              </a:rPr>
              <a:t>Nine sensitivity rows call Walker neocortex eQTL an sQTL; the registry and route manifest identify it correctly.</a:t>
            </a:r>
          </a:p>
        </p:txBody>
      </p:sp>
      <p:sp>
        <p:nvSpPr>
          <p:cNvPr id="29" name="Rounded Rectangle 28"/>
          <p:cNvSpPr/>
          <p:nvPr/>
        </p:nvSpPr>
        <p:spPr>
          <a:xfrm>
            <a:off x="1609344" y="5440680"/>
            <a:ext cx="8979408" cy="640080"/>
          </a:xfrm>
          <a:prstGeom prst="roundRect">
            <a:avLst/>
          </a:prstGeom>
          <a:solidFill>
            <a:srgbClr val="0F233D"/>
          </a:solidFill>
          <a:ln w="17780">
            <a:solidFill>
              <a:srgbClr val="009E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47088" y="5623560"/>
            <a:ext cx="8503920" cy="25603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00" b="1" i="0">
                <a:solidFill>
                  <a:srgbClr val="FFFFFF"/>
                </a:solidFill>
                <a:latin typeface="Arial"/>
              </a:rPr>
              <a:t>Repair path: regenerate malformed files • publish checksums/inventories • fix labels/paths • reconcile metadata</a:t>
            </a:r>
          </a:p>
        </p:txBody>
      </p:sp>
      <p:sp>
        <p:nvSpPr>
          <p:cNvPr id="31" name="TextBox 30"/>
          <p:cNvSpPr txBox="1"/>
          <p:nvPr/>
        </p:nvSpPr>
        <p:spPr>
          <a:xfrm>
            <a:off x="4498848" y="6236208"/>
            <a:ext cx="3218688" cy="210312"/>
          </a:xfrm>
          <a:prstGeom prst="rect">
            <a:avLst/>
          </a:prstGeom>
          <a:noFill/>
        </p:spPr>
        <p:txBody>
          <a:bodyPr wrap="square" lIns="27432" rIns="27432" tIns="27432" bIns="27432" anchor="t">
            <a:spAutoFit/>
          </a:bodyPr>
          <a:lstStyle/>
          <a:p>
            <a:pPr algn="ctr">
              <a:lnSpc>
                <a:spcPct val="100000"/>
              </a:lnSpc>
              <a:spcBef>
                <a:spcPts val="0"/>
              </a:spcBef>
              <a:spcAft>
                <a:spcPts val="0"/>
              </a:spcAft>
            </a:pPr>
            <a:r>
              <a:rPr sz="1200" b="1" i="0">
                <a:solidFill>
                  <a:srgbClr val="D55E00"/>
                </a:solidFill>
                <a:latin typeface="Arial"/>
              </a:rPr>
              <a:t>full_genetic_support_complete = FALSE</a:t>
            </a:r>
          </a:p>
        </p:txBody>
      </p:sp>
      <p:sp>
        <p:nvSpPr>
          <p:cNvPr id="32" name="TextBox 31"/>
          <p:cNvSpPr txBox="1"/>
          <p:nvPr/>
        </p:nvSpPr>
        <p:spPr>
          <a:xfrm>
            <a:off x="502920" y="6629400"/>
            <a:ext cx="11109960" cy="128016"/>
          </a:xfrm>
          <a:prstGeom prst="rect">
            <a:avLst/>
          </a:prstGeom>
          <a:noFill/>
        </p:spPr>
        <p:txBody>
          <a:bodyPr wrap="square" lIns="27432" rIns="27432" tIns="27432" bIns="27432" anchor="t">
            <a:spAutoFit/>
          </a:bodyPr>
          <a:lstStyle/>
          <a:p>
            <a:pPr algn="l">
              <a:lnSpc>
                <a:spcPct val="100000"/>
              </a:lnSpc>
              <a:spcBef>
                <a:spcPts val="0"/>
              </a:spcBef>
              <a:spcAft>
                <a:spcPts val="0"/>
              </a:spcAft>
            </a:pPr>
            <a:r>
              <a:rPr sz="680" b="0" i="0">
                <a:solidFill>
                  <a:srgbClr val="677484"/>
                </a:solidFill>
                <a:latin typeface="Arial"/>
              </a:rPr>
              <a:t>Source: genetic-support consolidated summary §5.3 and bundle-integrity audit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 Genetic Support for Network-Derived Key Drivers</dc:title>
  <dc:subject>Public-data genetic-support assessment of 25 network-derived candidates</dc:subject>
  <dc:creator>Alzheimer project analysis team</dc:creator>
  <cp:keywords>Alzheimer, genetics, QTL, APOE, key drivers</cp:keywords>
  <dc:description>Generated from validated genetic-support figures and minerva_production result bundles.</dc:description>
  <cp:lastModifiedBy>Steve Canny</cp:lastModifiedBy>
  <cp:revision>1</cp:revision>
  <dcterms:created xsi:type="dcterms:W3CDTF">2013-01-27T09:14:16Z</dcterms:created>
  <dcterms:modified xsi:type="dcterms:W3CDTF">2013-01-27T09:15:58Z</dcterms:modified>
  <cp:category/>
</cp:coreProperties>
</file>