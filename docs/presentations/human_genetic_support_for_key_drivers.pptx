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10"/>
    <p:restoredTop sz="94653"/>
  </p:normalViewPr>
  <p:slideViewPr>
    <p:cSldViewPr snapToGrid="0" snapToObjects="1">
      <p:cViewPr varScale="1">
        <p:scale>
          <a:sx n="143" d="100"/>
          <a:sy n="143" d="100"/>
        </p:scale>
        <p:origin x="248" y="3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1063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study asked whether the key-driver genes from the network analysis also have evidence from inherited DNA differences. It did not rerank the original genes.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main result is concentrated in APOE. Two genes have early evidence, and RPS15 is an important follow-up candidate, but most genes need more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talk first explains the question and public datasets, then shows the results, and ends with limits and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section explains which genes were tested, which public datasets were used, and how each check was performed.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Network analysis and genetics answer different questions. A gene can respond to disease or help maintain a disease state without carrying inherited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Each public dataset had one job: define the gene list, screen existing summaries, find Alzheimer-related DNA regions, study gene activity, or test spinal-fluid markers.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Gene-activity studies differ in cell type, sample size, and available files. Brain-tissue results are useful fallbacks but do not prove a change in one exact cell 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study used a fixed order of checks. A test stopped when an earlier requirement failed or when required data were missing.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section shows the first gene screen, the APOE result, evidence for four other genes, and why the later comparisons stopped.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Only APOE had strong evidence in the first screen. The two COX7C rows came from one public result, not two independent studies; the RPS15 follow-up was separate.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APOE is clearly linked to Alzheimer's disease and three spinal-fluid markers, but these data do not show exactly how APOE changes astrocytes.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strong DNA signal near a gene does not prove that the gene caused the signal. The four non-APOE genes therefore remain promising but unconfirmed.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 final shared-signal comparison was completed because earlier checks failed or required gene-activity and reference data were unavailable.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section separates a true negative screen from an unfinished test or a mechanism that this study did not examine.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missing result can mean no strong signal was found, the test could not be completed, or the mechanism was outside the study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study mainly tested common DNA differences near nuclear genes. It was limited by small or mismatched cell datasets, incomplete files, and limited ancestry representation.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highest-value next step is to finish the APOE and RPS15 comparisons with complete gene-activity data and matched reference genetics.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genetic evidence helps prioritize the list, but it neither confirms nor rejects every network-derived gene.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appendix keeps the technical details behind the main presentation for questions and follow-up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original top-five gene list from each cell network, shown in its original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table records each public dataset, its version or accession, and the question it was used to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cutoffs and result categories were decided before the gene results were reviewed.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Appendix reference: the complete 47-row formal evidence audit, retained as a dense matrix for lookup.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Appendix reference: regional AD signals at four candidate windows did not resolve candidate-gene shared-signal analyses.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Appendix reference: APOE direct rs429358 mapping and the three CSF regional-plus-gene-based gate results. The malformed Aβ42 locus rendering is deliberately excluded.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RPS15 follow-up measured 31 of 37 planned comparisons; three mixed-brain results repeated across two settings, and no final shared-signal test was completed.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Appendix reference: known provenance and integrity limitations that should be repaired before the bundle is considered fully 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3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612648"/>
            <a:ext cx="6583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6B4E9"/>
                </a:solidFill>
                <a:latin typeface="Arial"/>
              </a:rPr>
              <a:t>GENES, NETWORKS, AND INHERITED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143000"/>
            <a:ext cx="7543800" cy="16276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Arial"/>
              </a:rPr>
              <a:t>Do genes highlighted by brain-cell networks also show
inherited links to Alzheimer's disease?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090672"/>
            <a:ext cx="70866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D2E0EF"/>
                </a:solidFill>
                <a:latin typeface="Arial"/>
              </a:rPr>
              <a:t>A public-data study of 25 genes from 47 cell-network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3931920"/>
            <a:ext cx="7022592" cy="54864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4251960"/>
            <a:ext cx="7132320" cy="6858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BFD2E5"/>
                </a:solidFill>
                <a:latin typeface="Arial"/>
              </a:rPr>
              <a:t>APOE had the strongest inherited DNA evidence; several other genes remain possible but unconfirmed.</a:t>
            </a:r>
          </a:p>
        </p:txBody>
      </p:sp>
      <p:sp>
        <p:nvSpPr>
          <p:cNvPr id="8" name="Oval 7"/>
          <p:cNvSpPr/>
          <p:nvPr/>
        </p:nvSpPr>
        <p:spPr>
          <a:xfrm>
            <a:off x="8458200" y="960120"/>
            <a:ext cx="841248" cy="841248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829800" y="1408176"/>
            <a:ext cx="566928" cy="566928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762488" y="822960"/>
            <a:ext cx="384048" cy="384048"/>
          </a:xfrm>
          <a:prstGeom prst="ellipse">
            <a:avLst/>
          </a:prstGeom>
          <a:solidFill>
            <a:srgbClr val="56B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732520" y="2578608"/>
            <a:ext cx="457200" cy="457200"/>
          </a:xfrm>
          <a:prstGeom prst="ellipse">
            <a:avLst/>
          </a:prstGeom>
          <a:solidFill>
            <a:srgbClr val="7E4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241280" y="2798064"/>
            <a:ext cx="749808" cy="749808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400032" y="4169663"/>
            <a:ext cx="384048" cy="384048"/>
          </a:xfrm>
          <a:prstGeom prst="ellipse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762488" y="4434840"/>
            <a:ext cx="566928" cy="566928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8887968" y="1353312"/>
            <a:ext cx="1207008" cy="320040"/>
          </a:xfrm>
          <a:prstGeom prst="line">
            <a:avLst/>
          </a:prstGeom>
          <a:ln w="19050">
            <a:solidFill>
              <a:srgbClr val="85A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113264" y="1783080"/>
            <a:ext cx="457200" cy="1216152"/>
          </a:xfrm>
          <a:prstGeom prst="line">
            <a:avLst/>
          </a:prstGeom>
          <a:ln w="19050">
            <a:solidFill>
              <a:srgbClr val="85A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961120" y="2779776"/>
            <a:ext cx="1490472" cy="384048"/>
          </a:xfrm>
          <a:prstGeom prst="line">
            <a:avLst/>
          </a:prstGeom>
          <a:ln w="19050">
            <a:solidFill>
              <a:srgbClr val="85A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162288" y="3017520"/>
            <a:ext cx="411480" cy="1280160"/>
          </a:xfrm>
          <a:prstGeom prst="line">
            <a:avLst/>
          </a:prstGeom>
          <a:ln w="19050">
            <a:solidFill>
              <a:srgbClr val="85A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543032" y="3383280"/>
            <a:ext cx="484632" cy="1316736"/>
          </a:xfrm>
          <a:prstGeom prst="line">
            <a:avLst/>
          </a:prstGeom>
          <a:ln w="19050">
            <a:solidFill>
              <a:srgbClr val="85A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747504" y="4343400"/>
            <a:ext cx="1207008" cy="338328"/>
          </a:xfrm>
          <a:prstGeom prst="line">
            <a:avLst/>
          </a:prstGeom>
          <a:ln w="19050">
            <a:solidFill>
              <a:srgbClr val="85A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13232" y="5806440"/>
            <a:ext cx="71323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1ABC5"/>
                </a:solidFill>
                <a:latin typeface="Arial"/>
              </a:rPr>
              <a:t>STUDY DESIGN  •  DATASETS  •  EVIDENCE  •  INTERPRETATION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6428232"/>
            <a:ext cx="38404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1ABC5"/>
                </a:solidFill>
                <a:latin typeface="Arial"/>
              </a:rPr>
              <a:t>Public-data update • 21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512064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72B2"/>
                </a:solidFill>
                <a:latin typeface="Arial"/>
              </a:rPr>
              <a:t>EXECUTIVE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02336"/>
            <a:ext cx="10927080" cy="5120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F233D"/>
                </a:solidFill>
                <a:latin typeface="Arial"/>
              </a:rPr>
              <a:t>At a glance: APOE had strong evidence; most other genes need more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56848" y="192024"/>
            <a:ext cx="329184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77484"/>
                </a:solidFill>
                <a:latin typeface="Arial"/>
              </a:rP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61872"/>
            <a:ext cx="3502152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261872"/>
            <a:ext cx="100584" cy="1664208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44751"/>
            <a:ext cx="29260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9E73"/>
                </a:solidFill>
                <a:latin typeface="Arial"/>
              </a:rPr>
              <a:t>STARTING 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92224"/>
            <a:ext cx="2926080" cy="42062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233D"/>
                </a:solidFill>
                <a:latin typeface="Arial"/>
              </a:rPr>
              <a:t>25 genes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40863"/>
            <a:ext cx="292608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4D4D4D"/>
                </a:solidFill>
                <a:latin typeface="Arial"/>
              </a:rPr>
              <a:t>47 gene-by-cell-network combinations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61872"/>
            <a:ext cx="3502152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261872"/>
            <a:ext cx="100584" cy="1664208"/>
          </a:xfrm>
          <a:prstGeom prst="rect">
            <a:avLst/>
          </a:prstGeom>
          <a:solidFill>
            <a:srgbClr val="7E4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1444751"/>
            <a:ext cx="29260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E4C9A"/>
                </a:solidFill>
                <a:latin typeface="Arial"/>
              </a:rPr>
              <a:t>GENES TESTED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792224"/>
            <a:ext cx="2926080" cy="42062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233D"/>
                </a:solidFill>
                <a:latin typeface="Arial"/>
              </a:rPr>
              <a:t>19 nuclear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340863"/>
            <a:ext cx="292608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4D4D4D"/>
                </a:solidFill>
                <a:latin typeface="Arial"/>
              </a:rPr>
              <a:t>6 mitochondrial genes need a different test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59" y="1261872"/>
            <a:ext cx="3502152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59" y="1261872"/>
            <a:ext cx="100584" cy="1664208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0" y="1444751"/>
            <a:ext cx="29260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2B2"/>
                </a:solidFill>
                <a:latin typeface="Arial"/>
              </a:rPr>
              <a:t>STRONG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792224"/>
            <a:ext cx="2926080" cy="42062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233D"/>
                </a:solidFill>
                <a:latin typeface="Arial"/>
              </a:rPr>
              <a:t>APOE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340863"/>
            <a:ext cx="292608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4D4D4D"/>
                </a:solidFill>
                <a:latin typeface="Arial"/>
              </a:rPr>
              <a:t>Linked to Alzheimer's disease and 3 spinal-fluid markers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300984"/>
            <a:ext cx="3502152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3300984"/>
            <a:ext cx="100584" cy="1664208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3483864"/>
            <a:ext cx="29260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69F00"/>
                </a:solidFill>
                <a:latin typeface="Arial"/>
              </a:rPr>
              <a:t>EARLY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831335"/>
            <a:ext cx="2926080" cy="42062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233D"/>
                </a:solidFill>
                <a:latin typeface="Arial"/>
              </a:rPr>
              <a:t>COX7C + SELENOW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379976"/>
            <a:ext cx="292608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4D4D4D"/>
                </a:solidFill>
                <a:latin typeface="Arial"/>
              </a:rPr>
              <a:t>Promising but incomplete public evidence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300984"/>
            <a:ext cx="3502152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89120" y="3300984"/>
            <a:ext cx="100584" cy="1664208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63440" y="3483864"/>
            <a:ext cx="29260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55E00"/>
                </a:solidFill>
                <a:latin typeface="Arial"/>
              </a:rPr>
              <a:t>FOLLOW-UP PRIORITY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3831335"/>
            <a:ext cx="2926080" cy="42062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233D"/>
                </a:solidFill>
                <a:latin typeface="Arial"/>
              </a:rPr>
              <a:t>RPS15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4379976"/>
            <a:ext cx="292608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4D4D4D"/>
                </a:solidFill>
                <a:latin typeface="Arial"/>
              </a:rPr>
              <a:t>Strong nearby DNA signal; gene link not confirmed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59" y="3300984"/>
            <a:ext cx="3502152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138159" y="3300984"/>
            <a:ext cx="100584" cy="1664208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12480" y="3483864"/>
            <a:ext cx="29260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D4D4D"/>
                </a:solidFill>
                <a:latin typeface="Arial"/>
              </a:rPr>
              <a:t>FINAL COMPARISON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831335"/>
            <a:ext cx="2926080" cy="42062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233D"/>
                </a:solidFill>
                <a:latin typeface="Arial"/>
              </a:rPr>
              <a:t>0 completed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379976"/>
            <a:ext cx="292608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4D4D4D"/>
                </a:solidFill>
                <a:latin typeface="Arial"/>
              </a:rPr>
              <a:t>Required gene-activity or reference data were missing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5797296"/>
            <a:ext cx="11183112" cy="502920"/>
          </a:xfrm>
          <a:prstGeom prst="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02920" y="5797296"/>
            <a:ext cx="91440" cy="50292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1520" y="5842308"/>
            <a:ext cx="10716768" cy="60939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>
            <a:defPPr>
              <a:defRPr lang="en-US"/>
            </a:defPPr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FFFFF"/>
                </a:solidFill>
                <a:latin typeface="Arial"/>
              </a:defRPr>
            </a:lvl1pPr>
          </a:lstStyle>
          <a:p>
            <a:r>
              <a:rPr dirty="0"/>
              <a:t>The genetic study adds a new layer of evidence; it does not replace the original network analysis.</a:t>
            </a:r>
            <a:endParaRPr lang="en-US" dirty="0"/>
          </a:p>
          <a:p>
            <a:r>
              <a:rPr lang="en-US" dirty="0"/>
              <a:t>Most genes need more study.</a:t>
            </a:r>
          </a:p>
          <a:p>
            <a:endParaRPr dirty="0"/>
          </a:p>
        </p:txBody>
      </p:sp>
      <p:sp>
        <p:nvSpPr>
          <p:cNvPr id="38" name="TextBox 37"/>
          <p:cNvSpPr txBox="1"/>
          <p:nvPr/>
        </p:nvSpPr>
        <p:spPr>
          <a:xfrm>
            <a:off x="502920" y="6629400"/>
            <a:ext cx="11109960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677484"/>
                </a:solidFill>
                <a:latin typeface="Arial"/>
              </a:rPr>
              <a:t>Source: consolidated genetic-support summary; formal Tier 1, recovery, and CSF status tables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512064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9E73"/>
                </a:solidFill>
                <a:latin typeface="Arial"/>
              </a:rPr>
              <a:t>PRESENTATION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02336"/>
            <a:ext cx="10927080" cy="5120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F233D"/>
                </a:solidFill>
                <a:latin typeface="Arial"/>
              </a:rPr>
              <a:t>The presentation moves from the study design to results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56848" y="192024"/>
            <a:ext cx="329184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77484"/>
                </a:solidFill>
                <a:latin typeface="Arial"/>
              </a:rP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" y="1298448"/>
            <a:ext cx="10844784" cy="1252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76656" y="1298448"/>
            <a:ext cx="91440" cy="1252728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05840" y="1609344"/>
            <a:ext cx="621792" cy="621792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621792" cy="2103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90472"/>
            <a:ext cx="626364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F233D"/>
                </a:solidFill>
                <a:latin typeface="Arial"/>
              </a:rPr>
              <a:t>Study design and public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1508760"/>
            <a:ext cx="2176272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9E73"/>
                </a:solidFill>
                <a:latin typeface="Arial"/>
              </a:rPr>
              <a:t>Slides 04–08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956815"/>
            <a:ext cx="90525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4D4D4D"/>
                </a:solidFill>
                <a:latin typeface="Arial"/>
              </a:rPr>
              <a:t>What the two analyses ask, which public datasets were used, and how each check worked.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" y="2798063"/>
            <a:ext cx="10844784" cy="1252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76656" y="2798063"/>
            <a:ext cx="91440" cy="1252728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05840" y="3108959"/>
            <a:ext cx="621792" cy="621792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282696"/>
            <a:ext cx="621792" cy="2103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65376" y="2990087"/>
            <a:ext cx="626364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F233D"/>
                </a:solidFill>
                <a:latin typeface="Arial"/>
              </a:rPr>
              <a:t>What the genetic evidence showed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3008375"/>
            <a:ext cx="2176272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72B2"/>
                </a:solidFill>
                <a:latin typeface="Arial"/>
              </a:rPr>
              <a:t>Slides 09–13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456431"/>
            <a:ext cx="90525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4D4D4D"/>
                </a:solidFill>
                <a:latin typeface="Arial"/>
              </a:rPr>
              <a:t>The first gene screen, the APOE result, four other genes, and the reasons later tests stopped.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" y="4297679"/>
            <a:ext cx="10844784" cy="1252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76656" y="4297679"/>
            <a:ext cx="91440" cy="1252728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05840" y="4608575"/>
            <a:ext cx="621792" cy="621792"/>
          </a:xfrm>
          <a:prstGeom prst="ellipse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4782312"/>
            <a:ext cx="621792" cy="2103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65376" y="4489703"/>
            <a:ext cx="626364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F233D"/>
                </a:solidFill>
                <a:latin typeface="Arial"/>
              </a:rPr>
              <a:t>How to read the results and what comes next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4507992"/>
            <a:ext cx="2176272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D55E00"/>
                </a:solidFill>
                <a:latin typeface="Arial"/>
              </a:rPr>
              <a:t>Slides 14–18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4956047"/>
            <a:ext cx="90525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4D4D4D"/>
                </a:solidFill>
                <a:latin typeface="Arial"/>
              </a:rPr>
              <a:t>What a missing result means, what this study could not test, and the most useful next steps.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943600"/>
            <a:ext cx="11183112" cy="502920"/>
          </a:xfrm>
          <a:prstGeom prst="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02920" y="5943600"/>
            <a:ext cx="91440" cy="502920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6035040"/>
            <a:ext cx="10716768" cy="2834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Exact cutoffs, full evidence tables, and file-quality checks are kept in the appendix on slides 19–27.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3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576072"/>
            <a:ext cx="329184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E73"/>
                </a:solidFill>
                <a:latin typeface="Arial"/>
              </a:rPr>
              <a:t>SECTION 01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1170432"/>
            <a:ext cx="100584" cy="2066543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0704" y="1243584"/>
            <a:ext cx="7635240" cy="1371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Arial"/>
              </a:rPr>
              <a:t>Study design and public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907792"/>
            <a:ext cx="7223760" cy="8412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0" i="0">
                <a:solidFill>
                  <a:srgbClr val="CCDBEA"/>
                </a:solidFill>
                <a:latin typeface="Arial"/>
              </a:rPr>
              <a:t>What was tested, which public resources were used, and how the evidence was checked step by step.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804672"/>
            <a:ext cx="2304288" cy="17556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0" b="1" i="0">
                <a:solidFill>
                  <a:srgbClr val="1E3B5B"/>
                </a:solidFill>
                <a:latin typeface="Arial"/>
              </a:rPr>
              <a:t>01</a:t>
            </a:r>
          </a:p>
        </p:txBody>
      </p:sp>
      <p:sp>
        <p:nvSpPr>
          <p:cNvPr id="8" name="Oval 7"/>
          <p:cNvSpPr/>
          <p:nvPr/>
        </p:nvSpPr>
        <p:spPr>
          <a:xfrm>
            <a:off x="10634472" y="969264"/>
            <a:ext cx="512064" cy="512064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040112" y="2679192"/>
            <a:ext cx="256032" cy="256032"/>
          </a:xfrm>
          <a:prstGeom prst="ellipse">
            <a:avLst/>
          </a:prstGeom>
          <a:solidFill>
            <a:srgbClr val="56B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966960" y="1938528"/>
            <a:ext cx="1097280" cy="32004"/>
          </a:xfrm>
          <a:prstGeom prst="rect">
            <a:avLst/>
          </a:prstGeom>
          <a:solidFill>
            <a:srgbClr val="698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122408" y="1956816"/>
            <a:ext cx="32004" cy="832104"/>
          </a:xfrm>
          <a:prstGeom prst="rect">
            <a:avLst/>
          </a:prstGeom>
          <a:solidFill>
            <a:srgbClr val="698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4270248"/>
            <a:ext cx="192024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56B4E9"/>
                </a:solidFill>
                <a:latin typeface="Arial"/>
              </a:rPr>
              <a:t>IN THIS SECTION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4681728"/>
            <a:ext cx="2834640" cy="694944"/>
          </a:xfrm>
          <a:prstGeom prst="roundRect">
            <a:avLst/>
          </a:prstGeom>
          <a:solidFill>
            <a:srgbClr val="1E3B5B"/>
          </a:solidFill>
          <a:ln w="1270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7824" y="4846320"/>
            <a:ext cx="2505456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FFFFFF"/>
                </a:solidFill>
                <a:latin typeface="Arial"/>
              </a:rPr>
              <a:t>GWAS: DNA–trait links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4681728"/>
            <a:ext cx="2834640" cy="694944"/>
          </a:xfrm>
          <a:prstGeom prst="roundRect">
            <a:avLst/>
          </a:prstGeom>
          <a:solidFill>
            <a:srgbClr val="1E3B5B"/>
          </a:solidFill>
          <a:ln w="1270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05072" y="4846320"/>
            <a:ext cx="2505456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FFFFFF"/>
                </a:solidFill>
                <a:latin typeface="Arial"/>
              </a:rPr>
              <a:t>QTL: DNA–gene activity links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67728" y="4681728"/>
            <a:ext cx="2834640" cy="694944"/>
          </a:xfrm>
          <a:prstGeom prst="roundRect">
            <a:avLst/>
          </a:prstGeom>
          <a:solidFill>
            <a:srgbClr val="1E3B5B"/>
          </a:solidFill>
          <a:ln w="1270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0" y="4846320"/>
            <a:ext cx="2505456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FFFFFF"/>
                </a:solidFill>
                <a:latin typeface="Arial"/>
              </a:rPr>
              <a:t>CSF: spinal fluid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20272" y="310896"/>
            <a:ext cx="384048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1ABC5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512064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9E73"/>
                </a:solidFill>
                <a:latin typeface="Arial"/>
              </a:rPr>
              <a:t>FRAMING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02336"/>
            <a:ext cx="10927080" cy="5120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F233D"/>
                </a:solidFill>
                <a:latin typeface="Arial"/>
              </a:rPr>
              <a:t>A gene can matter in diseased cells without changing inherited Alzheimer's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56848" y="192024"/>
            <a:ext cx="329184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77484"/>
                </a:solidFill>
                <a:latin typeface="Arial"/>
              </a:rP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1298448"/>
            <a:ext cx="4526280" cy="1865376"/>
          </a:xfrm>
          <a:prstGeom prst="roundRect">
            <a:avLst/>
          </a:prstGeom>
          <a:solidFill>
            <a:srgbClr val="E5F4EF"/>
          </a:solidFill>
          <a:ln w="1905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" y="1572768"/>
            <a:ext cx="2423160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E73"/>
                </a:solidFill>
                <a:latin typeface="Arial"/>
              </a:rPr>
              <a:t>CELL-NETWORK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1901952"/>
            <a:ext cx="3913632" cy="5303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F233D"/>
                </a:solidFill>
                <a:latin typeface="Arial"/>
              </a:rPr>
              <a:t>Which genes are central in diseased cells?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542032"/>
            <a:ext cx="388620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4D4D4D"/>
                </a:solidFill>
                <a:latin typeface="Arial"/>
              </a:rPr>
              <a:t>47 cell-network results  •  25 genes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349240" y="2231136"/>
            <a:ext cx="1325880" cy="0"/>
          </a:xfrm>
          <a:prstGeom prst="line">
            <a:avLst/>
          </a:prstGeom>
          <a:ln w="31750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266944" y="2459736"/>
            <a:ext cx="1472184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77484"/>
                </a:solidFill>
                <a:latin typeface="Arial"/>
              </a:rPr>
              <a:t>different
questions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1298448"/>
            <a:ext cx="4690872" cy="1865376"/>
          </a:xfrm>
          <a:prstGeom prst="roundRect">
            <a:avLst/>
          </a:prstGeom>
          <a:solidFill>
            <a:srgbClr val="E6F2F9"/>
          </a:solidFill>
          <a:ln w="1905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04888" y="1572768"/>
            <a:ext cx="2468880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2B2"/>
                </a:solidFill>
                <a:latin typeface="Arial"/>
              </a:rPr>
              <a:t>INHERITED-DNA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04888" y="1901952"/>
            <a:ext cx="4069080" cy="5303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F233D"/>
                </a:solidFill>
                <a:latin typeface="Arial"/>
              </a:rPr>
              <a:t>Which genes are linked to inherited AD risk?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04888" y="2542032"/>
            <a:ext cx="406908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D4D4D"/>
                </a:solidFill>
                <a:latin typeface="Arial"/>
              </a:rPr>
              <a:t>19 nuclear genes tested  •  6 mitochondrial genes need a different test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913632"/>
            <a:ext cx="82296" cy="82296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5568" y="3794760"/>
            <a:ext cx="10104120" cy="63093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F2F2F"/>
                </a:solidFill>
                <a:latin typeface="Arial"/>
              </a:rPr>
              <a:t>The network analysis finds genes at the center of disease-related activity in cells.</a:t>
            </a:r>
          </a:p>
        </p:txBody>
      </p:sp>
      <p:sp>
        <p:nvSpPr>
          <p:cNvPr id="17" name="Oval 16"/>
          <p:cNvSpPr/>
          <p:nvPr/>
        </p:nvSpPr>
        <p:spPr>
          <a:xfrm>
            <a:off x="932688" y="4544568"/>
            <a:ext cx="82296" cy="82296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5568" y="4425696"/>
            <a:ext cx="10104120" cy="63093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F2F2F"/>
                </a:solidFill>
                <a:latin typeface="Arial"/>
              </a:rPr>
              <a:t>The genetic analysis asks whether inherited DNA differences near a gene are linked to Alzheimer's disease or disease markers.</a:t>
            </a:r>
          </a:p>
        </p:txBody>
      </p:sp>
      <p:sp>
        <p:nvSpPr>
          <p:cNvPr id="19" name="Oval 18"/>
          <p:cNvSpPr/>
          <p:nvPr/>
        </p:nvSpPr>
        <p:spPr>
          <a:xfrm>
            <a:off x="932688" y="5175504"/>
            <a:ext cx="82296" cy="82296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15568" y="5056632"/>
            <a:ext cx="10104120" cy="63093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F2F2F"/>
                </a:solidFill>
                <a:latin typeface="Arial"/>
              </a:rPr>
              <a:t>A gene may help drive—or respond to—disease without being where inherited risk begins.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870448"/>
            <a:ext cx="11183112" cy="502920"/>
          </a:xfrm>
          <a:prstGeom prst="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2920" y="5870448"/>
            <a:ext cx="91440" cy="502920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5961888"/>
            <a:ext cx="10716768" cy="2834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A gene can matter in the disease process even when inherited DNA evidence is weak.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629400"/>
            <a:ext cx="11109960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677484"/>
                </a:solidFill>
                <a:latin typeface="Arial"/>
              </a:rPr>
              <a:t>Source: genetic-support consolidated summary §1.1; call_key_driver_returns.tsv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512064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72B2"/>
                </a:solidFill>
                <a:latin typeface="Arial"/>
              </a:rPr>
              <a:t>PUBLIC DATASETS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02336"/>
            <a:ext cx="10927080" cy="5120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50" b="1" i="0">
                <a:solidFill>
                  <a:srgbClr val="0F233D"/>
                </a:solidFill>
                <a:latin typeface="Arial"/>
              </a:rPr>
              <a:t>We combined five kinds of public data, each with a different job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56848" y="192024"/>
            <a:ext cx="329184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77484"/>
                </a:solidFill>
                <a:latin typeface="Arial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828800" cy="457200"/>
          </a:xfrm>
          <a:prstGeom prst="rect">
            <a:avLst/>
          </a:prstGeom>
          <a:solidFill>
            <a:srgbClr val="0F233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1261872"/>
            <a:ext cx="1591056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FFFFFF"/>
                </a:solidFill>
                <a:latin typeface="Arial"/>
              </a:rPr>
              <a:t>Data 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2331720" y="1152144"/>
            <a:ext cx="4297680" cy="457200"/>
          </a:xfrm>
          <a:prstGeom prst="rect">
            <a:avLst/>
          </a:prstGeom>
          <a:solidFill>
            <a:srgbClr val="0F233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50591" y="1261872"/>
            <a:ext cx="4059936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FFFFFF"/>
                </a:solidFill>
                <a:latin typeface="Arial"/>
              </a:rPr>
              <a:t>Dataset / version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0" y="1152144"/>
            <a:ext cx="5056632" cy="457200"/>
          </a:xfrm>
          <a:prstGeom prst="rect">
            <a:avLst/>
          </a:prstGeom>
          <a:solidFill>
            <a:srgbClr val="0F233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48272" y="1261872"/>
            <a:ext cx="4818888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FFFFFF"/>
                </a:solidFill>
                <a:latin typeface="Arial"/>
              </a:rPr>
              <a:t>What it tells 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609344"/>
            <a:ext cx="1828800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" y="1700784"/>
            <a:ext cx="1572768" cy="6126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F233D"/>
                </a:solidFill>
                <a:latin typeface="Arial"/>
              </a:rPr>
              <a:t>Starting gene list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1720" y="1609344"/>
            <a:ext cx="4297680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459736" y="1700784"/>
            <a:ext cx="4041648" cy="6126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2F2F2F"/>
                </a:solidFill>
                <a:latin typeface="Arial"/>
              </a:rPr>
              <a:t>Network-analysis list • GENCODE v44 • HGNC 2026-06-05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9400" y="1609344"/>
            <a:ext cx="5056632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57416" y="1700784"/>
            <a:ext cx="4800600" cy="6126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2F2F2F"/>
                </a:solidFill>
                <a:latin typeface="Arial"/>
              </a:rPr>
              <a:t>Keep the same 47 settings / 25 genes; map 19 nuclear genes and flag 6 mitochondrial genes.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1609344"/>
            <a:ext cx="64008" cy="832104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" y="2441448"/>
            <a:ext cx="1828800" cy="832104"/>
          </a:xfrm>
          <a:prstGeom prst="rect">
            <a:avLst/>
          </a:prstGeom>
          <a:solidFill>
            <a:srgbClr val="F2F4F7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936" y="2532888"/>
            <a:ext cx="1572768" cy="6126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F233D"/>
                </a:solidFill>
                <a:latin typeface="Arial"/>
              </a:rPr>
              <a:t>Published summary lists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31720" y="2441448"/>
            <a:ext cx="4297680" cy="832104"/>
          </a:xfrm>
          <a:prstGeom prst="rect">
            <a:avLst/>
          </a:prstGeom>
          <a:solidFill>
            <a:srgbClr val="F2F4F7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459736" y="2532888"/>
            <a:ext cx="4041648" cy="6126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2F2F2F"/>
                </a:solidFill>
                <a:latin typeface="Arial"/>
              </a:rPr>
              <a:t>FunGen-xQTL snapshot f6f63fc… • six public files (~8.74 MiB)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0" y="2441448"/>
            <a:ext cx="5056632" cy="832104"/>
          </a:xfrm>
          <a:prstGeom prst="rect">
            <a:avLst/>
          </a:prstGeom>
          <a:solidFill>
            <a:srgbClr val="F2F4F7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57416" y="2532888"/>
            <a:ext cx="4800600" cy="6126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2F2F2F"/>
                </a:solidFill>
                <a:latin typeface="Arial"/>
              </a:rPr>
              <a:t>Quickly check earlier Alzheimer's and gene-regulation results; these lists do not contain every study detail.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441448"/>
            <a:ext cx="64008" cy="832104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02920" y="3273552"/>
            <a:ext cx="1828800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0936" y="3364992"/>
            <a:ext cx="1572768" cy="6126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F233D"/>
                </a:solidFill>
                <a:latin typeface="Arial"/>
              </a:rPr>
              <a:t>Alzheimer's disease study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31720" y="3273552"/>
            <a:ext cx="4297680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459736" y="3364992"/>
            <a:ext cx="4041648" cy="6126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2F2F2F"/>
                </a:solidFill>
                <a:latin typeface="Arial"/>
              </a:rPr>
              <a:t>Bellenguez 2022 • GCST90027158 • complete GRCh38 summary statistics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29400" y="3273552"/>
            <a:ext cx="5056632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57416" y="3364992"/>
            <a:ext cx="4800600" cy="6126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2F2F2F"/>
                </a:solidFill>
                <a:latin typeface="Arial"/>
              </a:rPr>
              <a:t>Look for disease-linked DNA variants within ±1 Mb (one million DNA letters) of each nuclear gene.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273552"/>
            <a:ext cx="64008" cy="832104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02920" y="4105656"/>
            <a:ext cx="1828800" cy="832104"/>
          </a:xfrm>
          <a:prstGeom prst="rect">
            <a:avLst/>
          </a:prstGeom>
          <a:solidFill>
            <a:srgbClr val="F2F4F7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0936" y="4197096"/>
            <a:ext cx="1572768" cy="6126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F233D"/>
                </a:solidFill>
                <a:latin typeface="Arial"/>
              </a:rPr>
              <a:t>Brain gene-activity data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31720" y="4105656"/>
            <a:ext cx="4297680" cy="832104"/>
          </a:xfrm>
          <a:prstGeom prst="rect">
            <a:avLst/>
          </a:prstGeom>
          <a:solidFill>
            <a:srgbClr val="F2F4F7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459736" y="4197096"/>
            <a:ext cx="4041648" cy="6126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2F2F2F"/>
                </a:solidFill>
                <a:latin typeface="Arial"/>
              </a:rPr>
              <a:t>NIAGADS NG00184.v1 • eQTL Catalogue r7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29400" y="4105656"/>
            <a:ext cx="5056632" cy="832104"/>
          </a:xfrm>
          <a:prstGeom prst="rect">
            <a:avLst/>
          </a:prstGeom>
          <a:solidFill>
            <a:srgbClr val="F2F4F7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757416" y="4197096"/>
            <a:ext cx="4800600" cy="6126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2F2F2F"/>
                </a:solidFill>
                <a:latin typeface="Arial"/>
              </a:rPr>
              <a:t>Find DNA variants linked to RNA amount, RNA splicing, or protein amount in brain samples.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4105656"/>
            <a:ext cx="64008" cy="832104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02920" y="4937760"/>
            <a:ext cx="1828800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0936" y="5029200"/>
            <a:ext cx="1572768" cy="6126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F233D"/>
                </a:solidFill>
                <a:latin typeface="Arial"/>
              </a:rPr>
              <a:t>Spinal-fluid markers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31720" y="4937760"/>
            <a:ext cx="4297680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459736" y="5029200"/>
            <a:ext cx="4041648" cy="6126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2F2F2F"/>
                </a:solidFill>
                <a:latin typeface="Arial"/>
              </a:rPr>
              <a:t>GCST90726396 / GCST90726397 / GCST90726398 • European N=18,948 each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29400" y="4937760"/>
            <a:ext cx="5056632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757416" y="5029200"/>
            <a:ext cx="4800600" cy="6126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2F2F2F"/>
                </a:solidFill>
                <a:latin typeface="Arial"/>
              </a:rPr>
              <a:t>Test amyloid-β42, total tau, and p-tau181 across 19 genes × 3 markers = 57 checks.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4937760"/>
            <a:ext cx="64008" cy="832104"/>
          </a:xfrm>
          <a:prstGeom prst="rect">
            <a:avLst/>
          </a:prstGeom>
          <a:solidFill>
            <a:srgbClr val="7E4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02920" y="5897880"/>
            <a:ext cx="11183112" cy="502920"/>
          </a:xfrm>
          <a:prstGeom prst="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02920" y="5897880"/>
            <a:ext cx="91440" cy="50292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31520" y="5989320"/>
            <a:ext cx="10716768" cy="2834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Summary data = group-level results, not individual records • CSF = fluid around the brain and spinal cord.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629400"/>
            <a:ext cx="11109960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677484"/>
                </a:solidFill>
                <a:latin typeface="Arial"/>
              </a:rPr>
              <a:t>Source: candidate, Tier 1, Tier 2, recovery, and CSF dataset registries and input inventories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512064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55E00"/>
                </a:solidFill>
                <a:latin typeface="Arial"/>
              </a:rPr>
              <a:t>GENE-ACTIVITY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02336"/>
            <a:ext cx="10927080" cy="5120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F233D"/>
                </a:solidFill>
                <a:latin typeface="Arial"/>
              </a:rPr>
              <a:t>Gene-activity datasets vary in cell type, sample size, and completeness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56848" y="192024"/>
            <a:ext cx="329184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77484"/>
                </a:solidFill>
                <a:latin typeface="Arial"/>
              </a:rP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257860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2578608" cy="566928"/>
          </a:xfrm>
          <a:prstGeom prst="rect">
            <a:avLst/>
          </a:prstGeom>
          <a:solidFill>
            <a:srgbClr val="E5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" y="1408176"/>
            <a:ext cx="22860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09E73"/>
                </a:solidFill>
                <a:latin typeface="Arial"/>
              </a:rPr>
              <a:t>MICROGLIA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975104"/>
            <a:ext cx="2249424" cy="3931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233D"/>
                </a:solidFill>
                <a:latin typeface="Arial"/>
              </a:rPr>
              <a:t>Young 2019 • 104 samples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606040"/>
            <a:ext cx="2176272" cy="1389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F2F2F"/>
                </a:solidFill>
                <a:latin typeface="Arial"/>
              </a:rPr>
              <a:t>eQTL (RNA amount): QTD000559
sQTL (RNA splicing): QTD000563
Same cell type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0128" y="1234440"/>
            <a:ext cx="257860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10128" y="1234440"/>
            <a:ext cx="2578608" cy="566928"/>
          </a:xfrm>
          <a:prstGeom prst="rect">
            <a:avLst/>
          </a:prstGeom>
          <a:solidFill>
            <a:srgbClr val="E6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56432" y="1408176"/>
            <a:ext cx="22860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072B2"/>
                </a:solidFill>
                <a:latin typeface="Arial"/>
              </a:rPr>
              <a:t>NEURON-LIKE CELLS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975104"/>
            <a:ext cx="2249424" cy="3931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233D"/>
                </a:solidFill>
                <a:latin typeface="Arial"/>
              </a:rPr>
              <a:t>Aygun 2021 • 73 samples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11296" y="2606040"/>
            <a:ext cx="2176272" cy="1389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F2F2F"/>
                </a:solidFill>
                <a:latin typeface="Arial"/>
              </a:rPr>
              <a:t>eQTL (RNA amount): QTD000569
sQTL (RNA splicing): QTD000573
Related neuron samples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17336" y="1234440"/>
            <a:ext cx="257860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17336" y="1234440"/>
            <a:ext cx="2578608" cy="566928"/>
          </a:xfrm>
          <a:prstGeom prst="rect">
            <a:avLst/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63640" y="1408176"/>
            <a:ext cx="22860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E69F00"/>
                </a:solidFill>
                <a:latin typeface="Arial"/>
              </a:rPr>
              <a:t>MIXED BRAIN TISSUE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1927" y="1975104"/>
            <a:ext cx="2249424" cy="3931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233D"/>
                </a:solidFill>
                <a:latin typeface="Arial"/>
              </a:rPr>
              <a:t>Walker 2019 • 211 samples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3" y="2606040"/>
            <a:ext cx="2176272" cy="1389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F2F2F"/>
                </a:solidFill>
                <a:latin typeface="Arial"/>
              </a:rPr>
              <a:t>eQTL (RNA amount): QTD000579
sQTL (RNA splicing): QTD000583
Useful fallback—not exact-cell proof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234440"/>
            <a:ext cx="257860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924544" y="1234440"/>
            <a:ext cx="2578608" cy="566928"/>
          </a:xfrm>
          <a:prstGeom prst="rect">
            <a:avLst/>
          </a:prstGeom>
          <a:solidFill>
            <a:srgbClr val="FDE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70848" y="1408176"/>
            <a:ext cx="22860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D55E00"/>
                </a:solidFill>
                <a:latin typeface="Arial"/>
              </a:rPr>
              <a:t>BROADER BRAIN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1975104"/>
            <a:ext cx="2249424" cy="3931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233D"/>
                </a:solidFill>
                <a:latin typeface="Arial"/>
              </a:rPr>
              <a:t>NG00184.v1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25712" y="2606040"/>
            <a:ext cx="2176272" cy="1389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F2F2F"/>
                </a:solidFill>
                <a:latin typeface="Arial"/>
              </a:rPr>
              <a:t>eQTL: RNA amount
sQTL: RNA splicing
pQTL: protein amount
Wider coverage; full files and models often missing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489704"/>
            <a:ext cx="548640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3232" y="4663440"/>
            <a:ext cx="256032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2B2"/>
                </a:solidFill>
                <a:latin typeface="Arial"/>
              </a:rPr>
              <a:t>APOE PROTEIN FOLLOW-UP (pQTL)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4956048"/>
            <a:ext cx="4983480" cy="3383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2F2F2F"/>
                </a:solidFill>
                <a:latin typeface="Arial"/>
              </a:rPr>
              <a:t>NG00130.v2 • 3,506 European samples • spinal-fluid protein study used after APOE passed the earlier checks; the published file list is incomplete.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9632" y="4489704"/>
            <a:ext cx="548640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9944" y="4663440"/>
            <a:ext cx="210312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55E00"/>
                </a:solidFill>
                <a:latin typeface="Arial"/>
              </a:rPr>
              <a:t>RPS15 FOLLOW-UP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9944" y="4956048"/>
            <a:ext cx="4983480" cy="3383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2F2F2F"/>
                </a:solidFill>
                <a:latin typeface="Arial"/>
              </a:rPr>
              <a:t>Existing brain datasets were checked again; six positive setting rows came from three mixed-brain results repeated across two cell-network settings.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779008"/>
            <a:ext cx="11183112" cy="502920"/>
          </a:xfrm>
          <a:prstGeom prst="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02920" y="5779008"/>
            <a:ext cx="91440" cy="502920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520" y="5870448"/>
            <a:ext cx="10716768" cy="2834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The full NG00184 files (~844 GB) were not downloaded; exact-cell studies were small, and matching DNA-reference data were often missing.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629400"/>
            <a:ext cx="11109960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677484"/>
                </a:solidFill>
                <a:latin typeface="Arial"/>
              </a:rPr>
              <a:t>Source: recovery_dataset_registry.tsv; endophenotype_dataset_registry.tsv; targeted RPS15 audit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512064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72B2"/>
                </a:solidFill>
                <a:latin typeface="Arial"/>
              </a:rPr>
              <a:t>MAIN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02336"/>
            <a:ext cx="10927080" cy="5120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50" b="1" i="0">
                <a:solidFill>
                  <a:srgbClr val="0F233D"/>
                </a:solidFill>
                <a:latin typeface="Arial"/>
              </a:rPr>
              <a:t>A step-by-step design helps prevent overclaiming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56848" y="192024"/>
            <a:ext cx="329184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77484"/>
                </a:solidFill>
                <a:latin typeface="Arial"/>
              </a:rPr>
              <a:t>08</a:t>
            </a:r>
          </a:p>
        </p:txBody>
      </p:sp>
      <p:pic>
        <p:nvPicPr>
          <p:cNvPr id="5" name="Step-by-step workflow for checking public genetic evidence and comparing disease signals with gene-activity signals" descr="Step-by-step workflow for checking public genetic evidence and comparing disease signals with gene-activity signa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62731"/>
            <a:ext cx="11183112" cy="42387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5596128"/>
            <a:ext cx="11183112" cy="502920"/>
          </a:xfrm>
          <a:prstGeom prst="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5596128"/>
            <a:ext cx="91440" cy="50292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5687568"/>
            <a:ext cx="10716768" cy="2834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A comparison stopped when a required signal or dataset was missing. Arrows show steps—not cause and effect.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629400"/>
            <a:ext cx="11109960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677484"/>
                </a:solidFill>
                <a:latin typeface="Arial"/>
              </a:rPr>
              <a:t>Source: generated workflow package; analysis contracts, registries, and route manifests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3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576072"/>
            <a:ext cx="329184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2B2"/>
                </a:solidFill>
                <a:latin typeface="Arial"/>
              </a:rPr>
              <a:t>SECTION 02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1170432"/>
            <a:ext cx="100584" cy="2066543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0704" y="1243584"/>
            <a:ext cx="7635240" cy="1371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Arial"/>
              </a:rPr>
              <a:t>What the genetic evidence showed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907792"/>
            <a:ext cx="7223760" cy="8412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0" i="0">
                <a:solidFill>
                  <a:srgbClr val="CCDBEA"/>
                </a:solidFill>
                <a:latin typeface="Arial"/>
              </a:rPr>
              <a:t>We summarize all 47 gene–network settings, then focus on APOE and the other genes.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804672"/>
            <a:ext cx="2304288" cy="17556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0" b="1" i="0">
                <a:solidFill>
                  <a:srgbClr val="1E3B5B"/>
                </a:solidFill>
                <a:latin typeface="Arial"/>
              </a:rPr>
              <a:t>02</a:t>
            </a:r>
          </a:p>
        </p:txBody>
      </p:sp>
      <p:sp>
        <p:nvSpPr>
          <p:cNvPr id="8" name="Oval 7"/>
          <p:cNvSpPr/>
          <p:nvPr/>
        </p:nvSpPr>
        <p:spPr>
          <a:xfrm>
            <a:off x="10634472" y="969264"/>
            <a:ext cx="512064" cy="512064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040112" y="2679192"/>
            <a:ext cx="256032" cy="256032"/>
          </a:xfrm>
          <a:prstGeom prst="ellipse">
            <a:avLst/>
          </a:prstGeom>
          <a:solidFill>
            <a:srgbClr val="56B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966960" y="1938528"/>
            <a:ext cx="1097280" cy="32004"/>
          </a:xfrm>
          <a:prstGeom prst="rect">
            <a:avLst/>
          </a:prstGeom>
          <a:solidFill>
            <a:srgbClr val="698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122408" y="1956816"/>
            <a:ext cx="32004" cy="832104"/>
          </a:xfrm>
          <a:prstGeom prst="rect">
            <a:avLst/>
          </a:prstGeom>
          <a:solidFill>
            <a:srgbClr val="698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4270248"/>
            <a:ext cx="192024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56B4E9"/>
                </a:solidFill>
                <a:latin typeface="Arial"/>
              </a:rPr>
              <a:t>IN THIS SECTION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4681728"/>
            <a:ext cx="2834640" cy="694944"/>
          </a:xfrm>
          <a:prstGeom prst="roundRect">
            <a:avLst/>
          </a:prstGeom>
          <a:solidFill>
            <a:srgbClr val="1E3B5B"/>
          </a:solidFill>
          <a:ln w="1270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7824" y="4846320"/>
            <a:ext cx="2505456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FFFFFF"/>
                </a:solidFill>
                <a:latin typeface="Arial"/>
              </a:rPr>
              <a:t>All 47 settings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4681728"/>
            <a:ext cx="2834640" cy="694944"/>
          </a:xfrm>
          <a:prstGeom prst="roundRect">
            <a:avLst/>
          </a:prstGeom>
          <a:solidFill>
            <a:srgbClr val="1E3B5B"/>
          </a:solidFill>
          <a:ln w="1270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05072" y="4846320"/>
            <a:ext cx="2505456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FFFFFF"/>
                </a:solidFill>
                <a:latin typeface="Arial"/>
              </a:rPr>
              <a:t>APOE + spinal fluid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67728" y="4681728"/>
            <a:ext cx="2834640" cy="694944"/>
          </a:xfrm>
          <a:prstGeom prst="roundRect">
            <a:avLst/>
          </a:prstGeom>
          <a:solidFill>
            <a:srgbClr val="1E3B5B"/>
          </a:solidFill>
          <a:ln w="1270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0" y="4846320"/>
            <a:ext cx="2505456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FFFFFF"/>
                </a:solidFill>
                <a:latin typeface="Arial"/>
              </a:rPr>
              <a:t>Other genes + stopped tests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20272" y="310896"/>
            <a:ext cx="384048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1ABC5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512064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72B2"/>
                </a:solidFill>
                <a:latin typeface="Arial"/>
              </a:rPr>
              <a:t>MAIN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02336"/>
            <a:ext cx="10927080" cy="5120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50" b="1" i="0">
                <a:solidFill>
                  <a:srgbClr val="0F233D"/>
                </a:solidFill>
                <a:latin typeface="Arial"/>
              </a:rPr>
              <a:t>Only APOE had strong evidence in the first screen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56848" y="192024"/>
            <a:ext cx="329184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77484"/>
                </a:solidFill>
                <a:latin typeface="Arial"/>
              </a:rPr>
              <a:t>10</a:t>
            </a:r>
          </a:p>
        </p:txBody>
      </p:sp>
      <p:pic>
        <p:nvPicPr>
          <p:cNvPr id="5" name="First-screen scorecard for all 47 gene–network settings" descr="First-screen scorecard for all 47 gene–network setting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62731"/>
            <a:ext cx="11183112" cy="42387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5596128"/>
            <a:ext cx="11183112" cy="502920"/>
          </a:xfrm>
          <a:prstGeom prst="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5596128"/>
            <a:ext cx="91440" cy="50292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5687568"/>
            <a:ext cx="10716768" cy="2834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The extra RPS15 follow-up found limited evidence and was not included in these 47 first-screen results.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629400"/>
            <a:ext cx="11109960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677484"/>
                </a:solidFill>
                <a:latin typeface="Arial"/>
              </a:rPr>
              <a:t>Source: Tier 1 genetic_support_evidence_summary.tsv and genetic_support_status.tsv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512064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72B2"/>
                </a:solidFill>
                <a:latin typeface="Arial"/>
              </a:rPr>
              <a:t>MAIN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02336"/>
            <a:ext cx="10927080" cy="5120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F233D"/>
                </a:solidFill>
                <a:latin typeface="Arial"/>
              </a:rPr>
              <a:t>APOE was linked to Alzheimer's disease and all three spinal-fluid markers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56848" y="192024"/>
            <a:ext cx="329184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77484"/>
                </a:solidFill>
                <a:latin typeface="Arial"/>
              </a:rPr>
              <a:t>11</a:t>
            </a:r>
          </a:p>
        </p:txBody>
      </p:sp>
      <p:pic>
        <p:nvPicPr>
          <p:cNvPr id="5" name="Spinal-fluid marker results showing APOE as the only positive gene across all three markers" descr="Spinal-fluid marker results showing APOE as the only positive gene across all three marker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62731"/>
            <a:ext cx="11183112" cy="42387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5596128"/>
            <a:ext cx="11183112" cy="502920"/>
          </a:xfrm>
          <a:prstGeom prst="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5596128"/>
            <a:ext cx="91440" cy="50292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5687568"/>
            <a:ext cx="10716768" cy="2834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APOE's DNA signal is clear, but these data do not show exactly how APOE changes astrocytes.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629400"/>
            <a:ext cx="11109960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677484"/>
                </a:solidFill>
                <a:latin typeface="Arial"/>
              </a:rPr>
              <a:t>Source: CSF endophenotype_gate_decisions.tsv and MAGMA candidate-gene results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512064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69F00"/>
                </a:solidFill>
                <a:latin typeface="Arial"/>
              </a:rPr>
              <a:t>MAIN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02336"/>
            <a:ext cx="10927080" cy="5120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50" b="1" i="0">
                <a:solidFill>
                  <a:srgbClr val="0F233D"/>
                </a:solidFill>
                <a:latin typeface="Arial"/>
              </a:rPr>
              <a:t>Four other genes showed hints, but none could be confirmed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56848" y="192024"/>
            <a:ext cx="329184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77484"/>
                </a:solidFill>
                <a:latin typeface="Arial"/>
              </a:rPr>
              <a:t>12</a:t>
            </a:r>
          </a:p>
        </p:txBody>
      </p:sp>
      <p:pic>
        <p:nvPicPr>
          <p:cNvPr id="5" name="Evidence summaries for COX7C, SELENOW, RPS15, and ANKRD11" descr="Evidence summaries for COX7C, SELENOW, RPS15, and ANKRD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62731"/>
            <a:ext cx="11183112" cy="42387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5596128"/>
            <a:ext cx="11183112" cy="502920"/>
          </a:xfrm>
          <a:prstGeom prst="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5596128"/>
            <a:ext cx="91440" cy="502920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5687568"/>
            <a:ext cx="10716768" cy="2834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A strong DNA signal near a gene does not prove that the gene caused the signal.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629400"/>
            <a:ext cx="11109960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677484"/>
                </a:solidFill>
                <a:latin typeface="Arial"/>
              </a:rPr>
              <a:t>Source: generated non-APOE plot data; Tier 1, recovery, RPS15 audit, and CSF result bundles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512064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55E00"/>
                </a:solidFill>
                <a:latin typeface="Arial"/>
              </a:rPr>
              <a:t>MAIN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02336"/>
            <a:ext cx="10927080" cy="5120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F233D"/>
                </a:solidFill>
                <a:latin typeface="Arial"/>
              </a:rPr>
              <a:t>None of the 54 planned gene-activity comparisons reached the final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56848" y="192024"/>
            <a:ext cx="329184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77484"/>
                </a:solidFill>
                <a:latin typeface="Arial"/>
              </a:rPr>
              <a:t>13</a:t>
            </a:r>
          </a:p>
        </p:txBody>
      </p:sp>
      <p:pic>
        <p:nvPicPr>
          <p:cNvPr id="5" name="Reasons each of 54 planned gene-activity comparisons stopped before the final test" descr="Reasons each of 54 planned gene-activity comparisons stopped before the final tes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62731"/>
            <a:ext cx="11183112" cy="42387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5596128"/>
            <a:ext cx="11183112" cy="502920"/>
          </a:xfrm>
          <a:prstGeom prst="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5596128"/>
            <a:ext cx="91440" cy="502920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5687568"/>
            <a:ext cx="10716768" cy="2834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These numbers show why each comparison stopped; zero completed tests does not mean zero shared signals.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629400"/>
            <a:ext cx="11109960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677484"/>
                </a:solidFill>
                <a:latin typeface="Arial"/>
              </a:rPr>
              <a:t>Source: Tier 2 recovery_route_decisions.tsv and header-only recovery_colocalization.tsv.gz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3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576072"/>
            <a:ext cx="329184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55E00"/>
                </a:solidFill>
                <a:latin typeface="Arial"/>
              </a:rPr>
              <a:t>SECTION 03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1170432"/>
            <a:ext cx="100584" cy="2066543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0704" y="1243584"/>
            <a:ext cx="7635240" cy="1371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Arial"/>
              </a:rPr>
              <a:t>How to interpret the results and what to do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907792"/>
            <a:ext cx="7223760" cy="8412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0" i="0">
                <a:solidFill>
                  <a:srgbClr val="CCDBEA"/>
                </a:solidFill>
                <a:latin typeface="Arial"/>
              </a:rPr>
              <a:t>A missing result can mean no signal, an unfinished test, or biology that this study did not examine.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804672"/>
            <a:ext cx="2304288" cy="17556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0" b="1" i="0">
                <a:solidFill>
                  <a:srgbClr val="1E3B5B"/>
                </a:solidFill>
                <a:latin typeface="Arial"/>
              </a:rPr>
              <a:t>03</a:t>
            </a:r>
          </a:p>
        </p:txBody>
      </p:sp>
      <p:sp>
        <p:nvSpPr>
          <p:cNvPr id="8" name="Oval 7"/>
          <p:cNvSpPr/>
          <p:nvPr/>
        </p:nvSpPr>
        <p:spPr>
          <a:xfrm>
            <a:off x="10634472" y="969264"/>
            <a:ext cx="512064" cy="512064"/>
          </a:xfrm>
          <a:prstGeom prst="ellipse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040112" y="2679192"/>
            <a:ext cx="256032" cy="256032"/>
          </a:xfrm>
          <a:prstGeom prst="ellipse">
            <a:avLst/>
          </a:prstGeom>
          <a:solidFill>
            <a:srgbClr val="56B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966960" y="1938528"/>
            <a:ext cx="1097280" cy="32004"/>
          </a:xfrm>
          <a:prstGeom prst="rect">
            <a:avLst/>
          </a:prstGeom>
          <a:solidFill>
            <a:srgbClr val="698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122408" y="1956816"/>
            <a:ext cx="32004" cy="832104"/>
          </a:xfrm>
          <a:prstGeom prst="rect">
            <a:avLst/>
          </a:prstGeom>
          <a:solidFill>
            <a:srgbClr val="698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4270248"/>
            <a:ext cx="192024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56B4E9"/>
                </a:solidFill>
                <a:latin typeface="Arial"/>
              </a:rPr>
              <a:t>IN THIS SECTION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4681728"/>
            <a:ext cx="2834640" cy="694944"/>
          </a:xfrm>
          <a:prstGeom prst="roundRect">
            <a:avLst/>
          </a:prstGeom>
          <a:solidFill>
            <a:srgbClr val="1E3B5B"/>
          </a:solidFill>
          <a:ln w="12700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7824" y="4846320"/>
            <a:ext cx="2505456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FFFFFF"/>
                </a:solidFill>
                <a:latin typeface="Arial"/>
              </a:rPr>
              <a:t>No strong signal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4681728"/>
            <a:ext cx="2834640" cy="694944"/>
          </a:xfrm>
          <a:prstGeom prst="roundRect">
            <a:avLst/>
          </a:prstGeom>
          <a:solidFill>
            <a:srgbClr val="1E3B5B"/>
          </a:solidFill>
          <a:ln w="12700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05072" y="4846320"/>
            <a:ext cx="2505456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FFFFFF"/>
                </a:solidFill>
                <a:latin typeface="Arial"/>
              </a:rPr>
              <a:t>Test could not finish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67728" y="4681728"/>
            <a:ext cx="2834640" cy="694944"/>
          </a:xfrm>
          <a:prstGeom prst="roundRect">
            <a:avLst/>
          </a:prstGeom>
          <a:solidFill>
            <a:srgbClr val="1E3B5B"/>
          </a:solidFill>
          <a:ln w="12700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0" y="4846320"/>
            <a:ext cx="2505456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FFFFFF"/>
                </a:solidFill>
                <a:latin typeface="Arial"/>
              </a:rPr>
              <a:t>Not studied here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20272" y="310896"/>
            <a:ext cx="384048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1ABC5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512064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55E00"/>
                </a:solidFill>
                <a:latin typeface="Arial"/>
              </a:rPr>
              <a:t>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02336"/>
            <a:ext cx="10927080" cy="5120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50" b="1" i="0">
                <a:solidFill>
                  <a:srgbClr val="0F233D"/>
                </a:solidFill>
                <a:latin typeface="Arial"/>
              </a:rPr>
              <a:t>A missing result can mean three different things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56848" y="192024"/>
            <a:ext cx="329184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77484"/>
                </a:solidFill>
                <a:latin typeface="Arial"/>
              </a:rP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98448"/>
            <a:ext cx="3502152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298448"/>
            <a:ext cx="3502152" cy="7315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444751"/>
            <a:ext cx="411480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DBDBD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6736" y="1417319"/>
            <a:ext cx="2624328" cy="42062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F233D"/>
                </a:solidFill>
                <a:latin typeface="Arial"/>
              </a:rPr>
              <a:t>No strong signal found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22576"/>
            <a:ext cx="3008376" cy="30632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F2F2F"/>
                </a:solidFill>
                <a:latin typeface="Arial"/>
              </a:rPr>
              <a:t>15 of 19 nuclear genes had no nearby Alzheimer's-linked DNA signal at P &lt; 5×10⁻⁸.
All 18 non-APOE genes failed the spinal-fluid marker checks.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98448"/>
            <a:ext cx="3502152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298448"/>
            <a:ext cx="3502152" cy="731520"/>
          </a:xfrm>
          <a:prstGeom prst="rect">
            <a:avLst/>
          </a:prstGeom>
          <a:solidFill>
            <a:srgbClr val="FDE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444751"/>
            <a:ext cx="411480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55E00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65776" y="1417319"/>
            <a:ext cx="2624328" cy="42062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F233D"/>
                </a:solidFill>
                <a:latin typeface="Arial"/>
              </a:rPr>
              <a:t>The test could not finish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322576"/>
            <a:ext cx="3008376" cy="30632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F2F2F"/>
                </a:solidFill>
                <a:latin typeface="Arial"/>
              </a:rPr>
              <a:t>Complete gene-activity files or matching DNA-reference data were missing.
Data from the exact cell type were small, unavailable, or did not match.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59" y="1298448"/>
            <a:ext cx="3502152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59" y="1298448"/>
            <a:ext cx="3502152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9327" y="1444751"/>
            <a:ext cx="411480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D4D4D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14815" y="1417319"/>
            <a:ext cx="2624328" cy="42062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F233D"/>
                </a:solidFill>
                <a:latin typeface="Arial"/>
              </a:rPr>
              <a:t>Not covered by this study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7" y="2322576"/>
            <a:ext cx="3008376" cy="30632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F2F2F"/>
                </a:solidFill>
                <a:latin typeface="Arial"/>
              </a:rPr>
              <a:t>Mitochondrial DNA, rare or large DNA changes, distant gene control, gene interactions, disease timing, and processes after RNA is made.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852160"/>
            <a:ext cx="11183112" cy="502920"/>
          </a:xfrm>
          <a:prstGeom prst="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5852160"/>
            <a:ext cx="91440" cy="502920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5943600"/>
            <a:ext cx="10716768" cy="2834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The six mitochondrial genes were not found negative—they need a different testing method.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629400"/>
            <a:ext cx="11109960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677484"/>
                </a:solidFill>
                <a:latin typeface="Arial"/>
              </a:rPr>
              <a:t>Source: recovery_regional_gwas_summary.tsv; CSF gate decisions; Tier 1 mtDNA evidence states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512064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55E00"/>
                </a:solidFill>
                <a:latin typeface="Arial"/>
              </a:rPr>
              <a:t>WHAT THIS STUDY COULD NOT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02336"/>
            <a:ext cx="10927080" cy="5120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50" b="1" i="0">
                <a:solidFill>
                  <a:srgbClr val="0F233D"/>
                </a:solidFill>
                <a:latin typeface="Arial"/>
              </a:rPr>
              <a:t>This study answers one focused question and leaves important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56848" y="192024"/>
            <a:ext cx="329184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77484"/>
                </a:solidFill>
                <a:latin typeface="Arial"/>
              </a:rP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280160"/>
            <a:ext cx="5330952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21792" y="1280160"/>
            <a:ext cx="91440" cy="1847088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481328"/>
            <a:ext cx="5029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55E00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9616" y="1463039"/>
            <a:ext cx="409651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233D"/>
                </a:solidFill>
                <a:latin typeface="Arial"/>
              </a:rPr>
              <a:t>No final signal 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9616" y="1993391"/>
            <a:ext cx="4069080" cy="8595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2F2F2F"/>
                </a:solidFill>
                <a:latin typeface="Arial"/>
              </a:rPr>
              <a:t>Zero final shared-signal tests were completed. Full gene-activity files and matching DNA-reference data were often unavailable.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330952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91440" cy="1847088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8" y="1481328"/>
            <a:ext cx="5029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69F00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95744" y="1463039"/>
            <a:ext cx="409651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233D"/>
                </a:solidFill>
                <a:latin typeface="Arial"/>
              </a:rPr>
              <a:t>Small or mixed samples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95744" y="1993391"/>
            <a:ext cx="4069080" cy="8595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2F2F2F"/>
                </a:solidFill>
                <a:latin typeface="Arial"/>
              </a:rPr>
              <a:t>Cell-focused gene-activity studies were small (N=73–211). Mixed brain tissue cannot prove a change in one exact cell type.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410712"/>
            <a:ext cx="5330952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" y="3410712"/>
            <a:ext cx="91440" cy="1847088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611880"/>
            <a:ext cx="5029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72B2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9616" y="3593592"/>
            <a:ext cx="409651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233D"/>
                </a:solidFill>
                <a:latin typeface="Arial"/>
              </a:rPr>
              <a:t>Limited populations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9616" y="4123944"/>
            <a:ext cx="4069080" cy="8595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2F2F2F"/>
                </a:solidFill>
                <a:latin typeface="Arial"/>
              </a:rPr>
              <a:t>The main DNA studies were mostly European. Some brain data came from overlapping participants and were not fully independent.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410712"/>
            <a:ext cx="5330952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3410712"/>
            <a:ext cx="91440" cy="1847088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64808" y="3611880"/>
            <a:ext cx="5029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D4D4D"/>
                </a:solidFill>
                <a:latin typeface="Arial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95744" y="3593592"/>
            <a:ext cx="409651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233D"/>
                </a:solidFill>
                <a:latin typeface="Arial"/>
              </a:rPr>
              <a:t>Other biology not tested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95744" y="4123944"/>
            <a:ext cx="4069080" cy="8595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2F2F2F"/>
                </a:solidFill>
                <a:latin typeface="Arial"/>
              </a:rPr>
              <a:t>Rare, large, mitochondrial, or distant DNA effects, gene interactions, disease timing, and laboratory experiments were outside this study.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797296"/>
            <a:ext cx="11183112" cy="502920"/>
          </a:xfrm>
          <a:prstGeom prst="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02920" y="5797296"/>
            <a:ext cx="91440" cy="502920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5888736"/>
            <a:ext cx="10716768" cy="2834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Strongest conclusion: common inherited DNA variants located near nuclear genes in these public datasets.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629400"/>
            <a:ext cx="11109960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677484"/>
                </a:solidFill>
                <a:latin typeface="Arial"/>
              </a:rPr>
              <a:t>Source: consolidated genetic-support summary §§5–6; route, QTL, ancestry, and provenance audits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512064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9E73"/>
                </a:solidFill>
                <a:latin typeface="Arial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02336"/>
            <a:ext cx="10927080" cy="5120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F233D"/>
                </a:solidFill>
                <a:latin typeface="Arial"/>
              </a:rPr>
              <a:t>Next: finish the strongest open tests, then study more types of genetic effects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56848" y="192024"/>
            <a:ext cx="329184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77484"/>
                </a:solidFill>
                <a:latin typeface="Arial"/>
              </a:rPr>
              <a:t>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50215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3502152" cy="731520"/>
          </a:xfrm>
          <a:prstGeom prst="rect">
            <a:avLst/>
          </a:prstGeom>
          <a:solidFill>
            <a:srgbClr val="FDE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517904"/>
            <a:ext cx="411480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55E00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6736" y="1490472"/>
            <a:ext cx="2624328" cy="42062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F233D"/>
                </a:solidFill>
                <a:latin typeface="Arial"/>
              </a:rPr>
              <a:t>Finish APOE and RPS15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95728"/>
            <a:ext cx="3008376" cy="2880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F2F2F"/>
                </a:solidFill>
                <a:latin typeface="Arial"/>
              </a:rPr>
              <a:t>Complete gene-activity datasets
+ matching DNA-reference data
+ larger studies of exact cell types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50215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371600"/>
            <a:ext cx="3502152" cy="731520"/>
          </a:xfrm>
          <a:prstGeom prst="rect">
            <a:avLst/>
          </a:prstGeom>
          <a:solidFill>
            <a:srgbClr val="E6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517904"/>
            <a:ext cx="411480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72B2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65776" y="1490472"/>
            <a:ext cx="2624328" cy="42062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F233D"/>
                </a:solidFill>
                <a:latin typeface="Arial"/>
              </a:rPr>
              <a:t>Test more genetic effects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395728"/>
            <a:ext cx="3008376" cy="2880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F2F2F"/>
                </a:solidFill>
                <a:latin typeface="Arial"/>
              </a:rPr>
              <a:t>Protein- and RNA-based gene tests
+ rare DNA changes and interactions
+ more traits and populations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59" y="1371600"/>
            <a:ext cx="350215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59" y="1371600"/>
            <a:ext cx="3502152" cy="731520"/>
          </a:xfrm>
          <a:prstGeom prst="rect">
            <a:avLst/>
          </a:prstGeom>
          <a:solidFill>
            <a:srgbClr val="E5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9327" y="1517904"/>
            <a:ext cx="411480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9E73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14815" y="1490472"/>
            <a:ext cx="2624328" cy="42062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F233D"/>
                </a:solidFill>
                <a:latin typeface="Arial"/>
              </a:rPr>
              <a:t>Use separate and lab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7" y="2395728"/>
            <a:ext cx="3008376" cy="2880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F2F2F"/>
                </a:solidFill>
                <a:latin typeface="Arial"/>
              </a:rPr>
              <a:t>Dedicated mitochondrial-DNA study
+ repeat the network study in new data
+ change gene activity in lab experiments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187952" y="3502152"/>
            <a:ext cx="411480" cy="0"/>
          </a:xfrm>
          <a:prstGeom prst="line">
            <a:avLst/>
          </a:prstGeom>
          <a:ln w="25400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936992" y="3502152"/>
            <a:ext cx="411479" cy="0"/>
          </a:xfrm>
          <a:prstGeom prst="line">
            <a:avLst/>
          </a:prstGeom>
          <a:ln w="25400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02920" y="5824728"/>
            <a:ext cx="11183112" cy="502920"/>
          </a:xfrm>
          <a:prstGeom prst="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" y="5824728"/>
            <a:ext cx="91440" cy="502920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5916168"/>
            <a:ext cx="10716768" cy="2834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Highest-value next step: collect the complete gene-activity and reference data needed for APOE and RPS15.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629400"/>
            <a:ext cx="11109960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677484"/>
                </a:solidFill>
                <a:latin typeface="Arial"/>
              </a:rPr>
              <a:t>Source: genetic-support consolidated summary §6.2; bundle-repair actions are detailed in the appendix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3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4114800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6B4E9"/>
                </a:solidFill>
                <a:latin typeface="Arial"/>
              </a:rPr>
              <a:t>TAKE-HOME MESSAGE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789920" cy="6858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Arial"/>
              </a:rPr>
              <a:t>The genetic evidence narrows the list but does not close the case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74519"/>
            <a:ext cx="5230368" cy="1170432"/>
          </a:xfrm>
          <a:prstGeom prst="roundRect">
            <a:avLst/>
          </a:prstGeom>
          <a:solidFill>
            <a:srgbClr val="1E3B5B"/>
          </a:solidFill>
          <a:ln w="1778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" y="2048255"/>
            <a:ext cx="475488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72B2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9616" y="2029967"/>
            <a:ext cx="4114800" cy="3017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APOE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9616" y="2450591"/>
            <a:ext cx="4096512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FDEED"/>
                </a:solidFill>
                <a:latin typeface="Arial"/>
              </a:rPr>
              <a:t>Strong evidence from Alzheimer's and spinal-fluid studies.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7" y="1874519"/>
            <a:ext cx="5230368" cy="1170432"/>
          </a:xfrm>
          <a:prstGeom prst="roundRect">
            <a:avLst/>
          </a:prstGeom>
          <a:solidFill>
            <a:srgbClr val="1E3B5B"/>
          </a:solidFill>
          <a:ln w="1778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55664" y="2048255"/>
            <a:ext cx="475488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69F00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77455" y="2029967"/>
            <a:ext cx="4114800" cy="3017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COX7C + SELENOW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77455" y="2450591"/>
            <a:ext cx="4096512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FDEED"/>
                </a:solidFill>
                <a:latin typeface="Arial"/>
              </a:rPr>
              <a:t>Early evidence, but not enough for confirmation.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355848"/>
            <a:ext cx="5230368" cy="1170432"/>
          </a:xfrm>
          <a:prstGeom prst="roundRect">
            <a:avLst/>
          </a:prstGeom>
          <a:solidFill>
            <a:srgbClr val="1E3B5B"/>
          </a:solidFill>
          <a:ln w="17780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7824" y="3529584"/>
            <a:ext cx="475488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55E00"/>
                </a:solidFill>
                <a:latin typeface="Arial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3511296"/>
            <a:ext cx="4114800" cy="3017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RPS15 + ANKRD11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99616" y="3931920"/>
            <a:ext cx="4096512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FDEED"/>
                </a:solidFill>
                <a:latin typeface="Arial"/>
              </a:rPr>
              <a:t>A follow-up priority and a nearby DNA-region signal, respectively.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7" y="3355848"/>
            <a:ext cx="5230368" cy="1170432"/>
          </a:xfrm>
          <a:prstGeom prst="roundRect">
            <a:avLst/>
          </a:prstGeom>
          <a:solidFill>
            <a:srgbClr val="1E3B5B"/>
          </a:solidFill>
          <a:ln w="1778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55664" y="3529584"/>
            <a:ext cx="475488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9E73"/>
                </a:solidFill>
                <a:latin typeface="Arial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5" y="3511296"/>
            <a:ext cx="4114800" cy="3017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No new gene confirmed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77455" y="3931920"/>
            <a:ext cx="4096512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FDEED"/>
                </a:solidFill>
                <a:latin typeface="Arial"/>
              </a:rPr>
              <a:t>Results included negative checks, missing data, and biology not tested here.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18688" y="5266944"/>
            <a:ext cx="5751576" cy="667512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38144" y="5449824"/>
            <a:ext cx="5312664" cy="2834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F233D"/>
                </a:solidFill>
                <a:latin typeface="Arial"/>
              </a:rPr>
              <a:t>Status: important follow-up remains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6199632"/>
            <a:ext cx="8257031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DC5DC"/>
                </a:solidFill>
                <a:latin typeface="Arial"/>
              </a:rPr>
              <a:t>This evidence adds to the network findings; it does not prove or reject them.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56848" y="292608"/>
            <a:ext cx="329184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1ABC5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3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576072"/>
            <a:ext cx="329184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6B4E9"/>
                </a:solidFill>
                <a:latin typeface="Arial"/>
              </a:rPr>
              <a:t>APPENDIX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1170432"/>
            <a:ext cx="100584" cy="2066543"/>
          </a:xfrm>
          <a:prstGeom prst="rect">
            <a:avLst/>
          </a:prstGeom>
          <a:solidFill>
            <a:srgbClr val="56B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0704" y="1243584"/>
            <a:ext cx="7635240" cy="1371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Arial"/>
              </a:rPr>
              <a:t>Supporting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907792"/>
            <a:ext cx="7223760" cy="8412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0" i="0">
                <a:solidFill>
                  <a:srgbClr val="CCDBEA"/>
                </a:solidFill>
                <a:latin typeface="Arial"/>
              </a:rPr>
              <a:t>The exact gene list, dataset versions, cutoffs, full result tables, and known file-quality issues.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804672"/>
            <a:ext cx="2304288" cy="17556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0" b="1" i="0">
                <a:solidFill>
                  <a:srgbClr val="1E3B5B"/>
                </a:solidFill>
                <a:latin typeface="Arial"/>
              </a:rPr>
              <a:t>A</a:t>
            </a:r>
          </a:p>
        </p:txBody>
      </p:sp>
      <p:sp>
        <p:nvSpPr>
          <p:cNvPr id="8" name="Oval 7"/>
          <p:cNvSpPr/>
          <p:nvPr/>
        </p:nvSpPr>
        <p:spPr>
          <a:xfrm>
            <a:off x="10634472" y="969264"/>
            <a:ext cx="512064" cy="512064"/>
          </a:xfrm>
          <a:prstGeom prst="ellipse">
            <a:avLst/>
          </a:prstGeom>
          <a:solidFill>
            <a:srgbClr val="56B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040112" y="2679192"/>
            <a:ext cx="256032" cy="256032"/>
          </a:xfrm>
          <a:prstGeom prst="ellipse">
            <a:avLst/>
          </a:prstGeom>
          <a:solidFill>
            <a:srgbClr val="56B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966960" y="1938528"/>
            <a:ext cx="1097280" cy="32004"/>
          </a:xfrm>
          <a:prstGeom prst="rect">
            <a:avLst/>
          </a:prstGeom>
          <a:solidFill>
            <a:srgbClr val="698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122408" y="1956816"/>
            <a:ext cx="32004" cy="832104"/>
          </a:xfrm>
          <a:prstGeom prst="rect">
            <a:avLst/>
          </a:prstGeom>
          <a:solidFill>
            <a:srgbClr val="698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4270248"/>
            <a:ext cx="192024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56B4E9"/>
                </a:solidFill>
                <a:latin typeface="Arial"/>
              </a:rPr>
              <a:t>IN THIS SECTION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4681728"/>
            <a:ext cx="2834640" cy="694944"/>
          </a:xfrm>
          <a:prstGeom prst="roundRect">
            <a:avLst/>
          </a:prstGeom>
          <a:solidFill>
            <a:srgbClr val="1E3B5B"/>
          </a:solidFill>
          <a:ln w="12700">
            <a:solidFill>
              <a:srgbClr val="56B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7824" y="4846320"/>
            <a:ext cx="2505456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FFFFFF"/>
                </a:solidFill>
                <a:latin typeface="Arial"/>
              </a:rPr>
              <a:t>Original gene list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4681728"/>
            <a:ext cx="2834640" cy="694944"/>
          </a:xfrm>
          <a:prstGeom prst="roundRect">
            <a:avLst/>
          </a:prstGeom>
          <a:solidFill>
            <a:srgbClr val="1E3B5B"/>
          </a:solidFill>
          <a:ln w="12700">
            <a:solidFill>
              <a:srgbClr val="56B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05072" y="4846320"/>
            <a:ext cx="2505456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FFFFFF"/>
                </a:solidFill>
                <a:latin typeface="Arial"/>
              </a:rPr>
              <a:t>Data + rules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67728" y="4681728"/>
            <a:ext cx="2834640" cy="694944"/>
          </a:xfrm>
          <a:prstGeom prst="roundRect">
            <a:avLst/>
          </a:prstGeom>
          <a:solidFill>
            <a:srgbClr val="1E3B5B"/>
          </a:solidFill>
          <a:ln w="12700">
            <a:solidFill>
              <a:srgbClr val="56B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0" y="4846320"/>
            <a:ext cx="2505456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FFFFFF"/>
                </a:solidFill>
                <a:latin typeface="Arial"/>
              </a:rPr>
              <a:t>Full results + file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20272" y="310896"/>
            <a:ext cx="384048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1ABC5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512064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9E73"/>
                </a:solidFill>
                <a:latin typeface="Arial"/>
              </a:rPr>
              <a:t>APPENDIX • ORIGINAL GENE 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02336"/>
            <a:ext cx="10927080" cy="5120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50" b="1" i="0">
                <a:solidFill>
                  <a:srgbClr val="0F233D"/>
                </a:solidFill>
                <a:latin typeface="Arial"/>
              </a:rPr>
              <a:t>The original list: 25 genes in 47 gene–network settings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56848" y="192024"/>
            <a:ext cx="329184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77484"/>
                </a:solidFill>
                <a:latin typeface="Arial"/>
              </a:rPr>
              <a:t>20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737360" cy="502920"/>
          </a:xfrm>
          <a:prstGeom prst="rect">
            <a:avLst/>
          </a:prstGeom>
          <a:solidFill>
            <a:srgbClr val="0F233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" y="1307592"/>
            <a:ext cx="1517904" cy="23774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Cell network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2240280" y="1188720"/>
            <a:ext cx="4663440" cy="502920"/>
          </a:xfrm>
          <a:prstGeom prst="rect">
            <a:avLst/>
          </a:prstGeom>
          <a:solidFill>
            <a:srgbClr val="0F233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350008" y="1307592"/>
            <a:ext cx="4443983" cy="23774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Mitochondria-related group (original order)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6903720" y="1188720"/>
            <a:ext cx="4782312" cy="502920"/>
          </a:xfrm>
          <a:prstGeom prst="rect">
            <a:avLst/>
          </a:prstGeom>
          <a:solidFill>
            <a:srgbClr val="0F233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13448" y="1307592"/>
            <a:ext cx="4562856" cy="23774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Other driver group (original order)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691640"/>
            <a:ext cx="1737360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" y="1783080"/>
            <a:ext cx="1517904" cy="4297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0F233D"/>
                </a:solidFill>
                <a:latin typeface="Arial"/>
              </a:rPr>
              <a:t>Astrocytes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40280" y="1691640"/>
            <a:ext cx="4663440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350008" y="1783080"/>
            <a:ext cx="4443983" cy="4297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F2F2F"/>
                </a:solidFill>
                <a:latin typeface="Arial"/>
              </a:rPr>
              <a:t>MT-CO2, MT-CO3, MT-ATP6, COX7C, COX4I1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03720" y="1691640"/>
            <a:ext cx="4782312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13448" y="1783080"/>
            <a:ext cx="4562856" cy="4297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F2F2F"/>
                </a:solidFill>
                <a:latin typeface="Arial"/>
              </a:rPr>
              <a:t>RPL11, RPLP1, RPL15, APOE, LAPTM4A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322576"/>
            <a:ext cx="1737360" cy="630936"/>
          </a:xfrm>
          <a:prstGeom prst="rect">
            <a:avLst/>
          </a:prstGeom>
          <a:solidFill>
            <a:srgbClr val="F2F4F7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8" y="2414016"/>
            <a:ext cx="1517904" cy="4297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0F233D"/>
                </a:solidFill>
                <a:latin typeface="Arial"/>
              </a:rPr>
              <a:t>Excitatory neurons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40280" y="2322576"/>
            <a:ext cx="4663440" cy="630936"/>
          </a:xfrm>
          <a:prstGeom prst="rect">
            <a:avLst/>
          </a:prstGeom>
          <a:solidFill>
            <a:srgbClr val="F2F4F7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350008" y="2414016"/>
            <a:ext cx="4443983" cy="4297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F2F2F"/>
                </a:solidFill>
                <a:latin typeface="Arial"/>
              </a:rPr>
              <a:t>MT-CO2, UQCR10, COX4I1, COX6B1, MT-CYB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2322576"/>
            <a:ext cx="4782312" cy="630936"/>
          </a:xfrm>
          <a:prstGeom prst="rect">
            <a:avLst/>
          </a:prstGeom>
          <a:solidFill>
            <a:srgbClr val="F2F4F7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13448" y="2414016"/>
            <a:ext cx="4562856" cy="4297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F2F2F"/>
                </a:solidFill>
                <a:latin typeface="Arial"/>
              </a:rPr>
              <a:t>RPL11, RPS13, SELENOW, LAMTOR5, DYNLT1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953512"/>
            <a:ext cx="1737360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2648" y="3044952"/>
            <a:ext cx="1517904" cy="4297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0F233D"/>
                </a:solidFill>
                <a:latin typeface="Arial"/>
              </a:rPr>
              <a:t>Inhibitory neurons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40280" y="2953512"/>
            <a:ext cx="4663440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350008" y="3044952"/>
            <a:ext cx="4443983" cy="4297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F2F2F"/>
                </a:solidFill>
                <a:latin typeface="Arial"/>
              </a:rPr>
              <a:t>MT-CO2, MT-CO3, MT-CYB, MT-ND5, COX7C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03720" y="2953512"/>
            <a:ext cx="4782312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13448" y="3044952"/>
            <a:ext cx="4562856" cy="4297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F2F2F"/>
                </a:solidFill>
                <a:latin typeface="Arial"/>
              </a:rPr>
              <a:t>RPS15, LAMTOR5, RPLP1, ATP6V1F, RPL38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584448"/>
            <a:ext cx="1737360" cy="630936"/>
          </a:xfrm>
          <a:prstGeom prst="rect">
            <a:avLst/>
          </a:prstGeom>
          <a:solidFill>
            <a:srgbClr val="F2F4F7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2648" y="3675887"/>
            <a:ext cx="1517904" cy="4297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0F233D"/>
                </a:solidFill>
                <a:latin typeface="Arial"/>
              </a:rPr>
              <a:t>Microglia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40280" y="3584448"/>
            <a:ext cx="4663440" cy="630936"/>
          </a:xfrm>
          <a:prstGeom prst="rect">
            <a:avLst/>
          </a:prstGeom>
          <a:solidFill>
            <a:srgbClr val="F2F4F7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350008" y="3675887"/>
            <a:ext cx="4443983" cy="4297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F2F2F"/>
                </a:solidFill>
                <a:latin typeface="Arial"/>
              </a:rPr>
              <a:t>MT-CO2, MT-ND4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03720" y="3584448"/>
            <a:ext cx="4782312" cy="630936"/>
          </a:xfrm>
          <a:prstGeom prst="rect">
            <a:avLst/>
          </a:prstGeom>
          <a:solidFill>
            <a:srgbClr val="F2F4F7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013448" y="3675887"/>
            <a:ext cx="4562856" cy="4297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F2F2F"/>
                </a:solidFill>
                <a:latin typeface="Arial"/>
              </a:rPr>
              <a:t>RPL11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215383"/>
            <a:ext cx="1737360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2648" y="4306823"/>
            <a:ext cx="1517904" cy="4297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0F233D"/>
                </a:solidFill>
                <a:latin typeface="Arial"/>
              </a:rPr>
              <a:t>OPCs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40280" y="4215383"/>
            <a:ext cx="4663440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350008" y="4306823"/>
            <a:ext cx="4443983" cy="4297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F2F2F"/>
                </a:solidFill>
                <a:latin typeface="Arial"/>
              </a:rPr>
              <a:t>MT-CO3, MT-CO2, MT-ND4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03720" y="4215383"/>
            <a:ext cx="4782312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013448" y="4306823"/>
            <a:ext cx="4562856" cy="4297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F2F2F"/>
                </a:solidFill>
                <a:latin typeface="Arial"/>
              </a:rPr>
              <a:t>RPS15, FTL, ANKRD11, NCOA1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4846320"/>
            <a:ext cx="1737360" cy="630936"/>
          </a:xfrm>
          <a:prstGeom prst="rect">
            <a:avLst/>
          </a:prstGeom>
          <a:solidFill>
            <a:srgbClr val="F2F4F7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12648" y="4937759"/>
            <a:ext cx="1517904" cy="4297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0F233D"/>
                </a:solidFill>
                <a:latin typeface="Arial"/>
              </a:rPr>
              <a:t>Oligodendrocytes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40280" y="4846320"/>
            <a:ext cx="4663440" cy="630936"/>
          </a:xfrm>
          <a:prstGeom prst="rect">
            <a:avLst/>
          </a:prstGeom>
          <a:solidFill>
            <a:srgbClr val="F2F4F7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350008" y="4937759"/>
            <a:ext cx="4443983" cy="4297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F2F2F"/>
                </a:solidFill>
                <a:latin typeface="Arial"/>
              </a:rPr>
              <a:t>MT-CO2, MT-ND4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03720" y="4846320"/>
            <a:ext cx="4782312" cy="630936"/>
          </a:xfrm>
          <a:prstGeom prst="rect">
            <a:avLst/>
          </a:prstGeom>
          <a:solidFill>
            <a:srgbClr val="F2F4F7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013448" y="4937759"/>
            <a:ext cx="4562856" cy="4297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F2F2F"/>
                </a:solidFill>
                <a:latin typeface="Arial"/>
              </a:rPr>
              <a:t>RPL11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5477256"/>
            <a:ext cx="1737360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12648" y="5568696"/>
            <a:ext cx="1517904" cy="4297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0F233D"/>
                </a:solidFill>
                <a:latin typeface="Arial"/>
              </a:rPr>
              <a:t>Vasculature cells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40280" y="5477256"/>
            <a:ext cx="4663440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350008" y="5568696"/>
            <a:ext cx="4443983" cy="4297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F2F2F"/>
                </a:solidFill>
                <a:latin typeface="Arial"/>
              </a:rPr>
              <a:t>MT-CO3, MT-CO2, MT-ATP6, MT-ND4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03720" y="5477256"/>
            <a:ext cx="4782312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013448" y="5568696"/>
            <a:ext cx="4562856" cy="4297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F2F2F"/>
                </a:solidFill>
                <a:latin typeface="Arial"/>
              </a:rPr>
              <a:t>None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" y="6245352"/>
            <a:ext cx="11183112" cy="502920"/>
          </a:xfrm>
          <a:prstGeom prst="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02920" y="6245352"/>
            <a:ext cx="91440" cy="502920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31520" y="6336792"/>
            <a:ext cx="10716768" cy="2834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‘MT driver’ was a label in the original network analysis; COX7C and UQCR10 are nuclear genes. Six genes are encoded by mitochondrial DNA.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512064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72B2"/>
                </a:solidFill>
                <a:latin typeface="Arial"/>
              </a:rPr>
              <a:t>APPENDIX • DATA INVENTORY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02336"/>
            <a:ext cx="10927080" cy="5120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50" b="1" i="0">
                <a:solidFill>
                  <a:srgbClr val="0F233D"/>
                </a:solidFill>
                <a:latin typeface="Arial"/>
              </a:rPr>
              <a:t>Dataset details: what each source was used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56848" y="192024"/>
            <a:ext cx="329184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77484"/>
                </a:solidFill>
                <a:latin typeface="Arial"/>
              </a:rPr>
              <a:t>21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984248" cy="502920"/>
          </a:xfrm>
          <a:prstGeom prst="rect">
            <a:avLst/>
          </a:prstGeom>
          <a:solidFill>
            <a:srgbClr val="0F233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1307592"/>
            <a:ext cx="1746504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FFFFFF"/>
                </a:solidFill>
                <a:latin typeface="Arial"/>
              </a:rPr>
              <a:t>Data 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87168" y="1188720"/>
            <a:ext cx="4315968" cy="502920"/>
          </a:xfrm>
          <a:prstGeom prst="rect">
            <a:avLst/>
          </a:prstGeom>
          <a:solidFill>
            <a:srgbClr val="0F233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06040" y="1307592"/>
            <a:ext cx="4078224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FFFFFF"/>
                </a:solidFill>
                <a:latin typeface="Arial"/>
              </a:rPr>
              <a:t>Dataset / version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803136" y="1188720"/>
            <a:ext cx="4882896" cy="502920"/>
          </a:xfrm>
          <a:prstGeom prst="rect">
            <a:avLst/>
          </a:prstGeom>
          <a:solidFill>
            <a:srgbClr val="0F233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22008" y="1307592"/>
            <a:ext cx="4645152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FFFFFF"/>
                </a:solidFill>
                <a:latin typeface="Arial"/>
              </a:rPr>
              <a:t>What it tells 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691640"/>
            <a:ext cx="198424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1783080"/>
            <a:ext cx="1746504" cy="4937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233D"/>
                </a:solidFill>
                <a:latin typeface="Arial"/>
              </a:rPr>
              <a:t>Starting gene list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87168" y="1691640"/>
            <a:ext cx="43159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06040" y="1783080"/>
            <a:ext cx="4078224" cy="4937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F2F2F"/>
                </a:solidFill>
                <a:latin typeface="Arial"/>
              </a:rPr>
              <a:t>Original network study • GENCODE v44 • HGNC 2026-06-05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03136" y="1691640"/>
            <a:ext cx="488289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22008" y="1783080"/>
            <a:ext cx="4645152" cy="4937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F2F2F"/>
                </a:solidFill>
                <a:latin typeface="Arial"/>
              </a:rPr>
              <a:t>Keep 47 settings; map gene names and DNA locations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404872"/>
            <a:ext cx="1984248" cy="713232"/>
          </a:xfrm>
          <a:prstGeom prst="rect">
            <a:avLst/>
          </a:prstGeom>
          <a:solidFill>
            <a:srgbClr val="F2F4F7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2496312"/>
            <a:ext cx="1746504" cy="4937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233D"/>
                </a:solidFill>
                <a:latin typeface="Arial"/>
              </a:rPr>
              <a:t>Published summaries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87168" y="2404872"/>
            <a:ext cx="4315968" cy="713232"/>
          </a:xfrm>
          <a:prstGeom prst="rect">
            <a:avLst/>
          </a:prstGeom>
          <a:solidFill>
            <a:srgbClr val="F2F4F7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606040" y="2496312"/>
            <a:ext cx="4078224" cy="4937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F2F2F"/>
                </a:solidFill>
                <a:latin typeface="Arial"/>
              </a:rPr>
              <a:t>FunGen-xQTL snapshot f6f63fc…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03136" y="2404872"/>
            <a:ext cx="4882896" cy="713232"/>
          </a:xfrm>
          <a:prstGeom prst="rect">
            <a:avLst/>
          </a:prstGeom>
          <a:solidFill>
            <a:srgbClr val="F2F4F7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22008" y="2496312"/>
            <a:ext cx="4645152" cy="4937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F2F2F"/>
                </a:solidFill>
                <a:latin typeface="Arial"/>
              </a:rPr>
              <a:t>Quick screen of earlier AD and gene-regulation results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118104"/>
            <a:ext cx="198424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792" y="3209544"/>
            <a:ext cx="1746504" cy="4937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233D"/>
                </a:solidFill>
                <a:latin typeface="Arial"/>
              </a:rPr>
              <a:t>Alzheimer's disease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7168" y="3118104"/>
            <a:ext cx="43159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606040" y="3209544"/>
            <a:ext cx="4078224" cy="4937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F2F2F"/>
                </a:solidFill>
                <a:latin typeface="Arial"/>
              </a:rPr>
              <a:t>Bellenguez • GCST90027158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03136" y="3118104"/>
            <a:ext cx="488289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22008" y="3209544"/>
            <a:ext cx="4645152" cy="4937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F2F2F"/>
                </a:solidFill>
                <a:latin typeface="Arial"/>
              </a:rPr>
              <a:t>Check DNA within ±1 Mb of the 19 nuclear genes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831335"/>
            <a:ext cx="1984248" cy="713232"/>
          </a:xfrm>
          <a:prstGeom prst="rect">
            <a:avLst/>
          </a:prstGeom>
          <a:solidFill>
            <a:srgbClr val="F2F4F7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1792" y="3922775"/>
            <a:ext cx="1746504" cy="4937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233D"/>
                </a:solidFill>
                <a:latin typeface="Arial"/>
              </a:rPr>
              <a:t>Brain gene activity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87168" y="3831335"/>
            <a:ext cx="4315968" cy="713232"/>
          </a:xfrm>
          <a:prstGeom prst="rect">
            <a:avLst/>
          </a:prstGeom>
          <a:solidFill>
            <a:srgbClr val="F2F4F7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606040" y="3922775"/>
            <a:ext cx="4078224" cy="4937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F2F2F"/>
                </a:solidFill>
                <a:latin typeface="Arial"/>
              </a:rPr>
              <a:t>NG00184.v1 • eQTL Catalogue r7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03136" y="3831335"/>
            <a:ext cx="4882896" cy="713232"/>
          </a:xfrm>
          <a:prstGeom prst="rect">
            <a:avLst/>
          </a:prstGeom>
          <a:solidFill>
            <a:srgbClr val="F2F4F7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922008" y="3922775"/>
            <a:ext cx="4645152" cy="4937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F2F2F"/>
                </a:solidFill>
                <a:latin typeface="Arial"/>
              </a:rPr>
              <a:t>Check DNA links to RNA amount, RNA splicing, and protein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544568"/>
            <a:ext cx="198424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1792" y="4636008"/>
            <a:ext cx="1746504" cy="4937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233D"/>
                </a:solidFill>
                <a:latin typeface="Arial"/>
              </a:rPr>
              <a:t>Spinal-fluid markers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87168" y="4544568"/>
            <a:ext cx="43159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606040" y="4636008"/>
            <a:ext cx="4078224" cy="4937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F2F2F"/>
                </a:solidFill>
                <a:latin typeface="Arial"/>
              </a:rPr>
              <a:t>GCST90726396 / 397 / 398 • N=18,948 each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03136" y="4544568"/>
            <a:ext cx="488289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922008" y="4636008"/>
            <a:ext cx="4645152" cy="4937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F2F2F"/>
                </a:solidFill>
                <a:latin typeface="Arial"/>
              </a:rPr>
              <a:t>Test amyloid-β42, total tau, and p-tau181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5257800"/>
            <a:ext cx="1984248" cy="713232"/>
          </a:xfrm>
          <a:prstGeom prst="rect">
            <a:avLst/>
          </a:prstGeom>
          <a:solidFill>
            <a:srgbClr val="F2F4F7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1792" y="5349240"/>
            <a:ext cx="1746504" cy="4937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233D"/>
                </a:solidFill>
                <a:latin typeface="Arial"/>
              </a:rPr>
              <a:t>Focused follow-up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487168" y="5257800"/>
            <a:ext cx="4315968" cy="713232"/>
          </a:xfrm>
          <a:prstGeom prst="rect">
            <a:avLst/>
          </a:prstGeom>
          <a:solidFill>
            <a:srgbClr val="F2F4F7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606040" y="5349240"/>
            <a:ext cx="4078224" cy="4937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F2F2F"/>
                </a:solidFill>
                <a:latin typeface="Arial"/>
              </a:rPr>
              <a:t>NG00130.v2 APOE protein QTL • local NG00184 RPS15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03136" y="5257800"/>
            <a:ext cx="4882896" cy="713232"/>
          </a:xfrm>
          <a:prstGeom prst="rect">
            <a:avLst/>
          </a:prstGeom>
          <a:solidFill>
            <a:srgbClr val="F2F4F7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922008" y="5349240"/>
            <a:ext cx="4645152" cy="4937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F2F2F"/>
                </a:solidFill>
                <a:latin typeface="Arial"/>
              </a:rPr>
              <a:t>Study the open APOE and RPS15 questions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6199632"/>
            <a:ext cx="11183112" cy="502920"/>
          </a:xfrm>
          <a:prstGeom prst="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02920" y="6199632"/>
            <a:ext cx="91440" cy="50292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31520" y="6291072"/>
            <a:ext cx="10716768" cy="2834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No individual-level genotypes or phenotypes were downloaded; Bellenguez case/control counts are omitted because published bundle fields conflict.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512064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55E00"/>
                </a:solidFill>
                <a:latin typeface="Arial"/>
              </a:rPr>
              <a:t>APPENDIX • DECISION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02336"/>
            <a:ext cx="10927080" cy="5120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50" b="1" i="0">
                <a:solidFill>
                  <a:srgbClr val="0F233D"/>
                </a:solidFill>
                <a:latin typeface="Arial"/>
              </a:rPr>
              <a:t>Rules decided before looking at the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14400"/>
            <a:ext cx="10652760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677484"/>
                </a:solidFill>
                <a:latin typeface="Arial"/>
              </a:rPr>
              <a:t>A result passed only when its P value was below the listed cutoff; a smaller P value means stronger statistical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6848" y="192024"/>
            <a:ext cx="329184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77484"/>
                </a:solidFill>
                <a:latin typeface="Arial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61288"/>
            <a:ext cx="2066543" cy="950976"/>
          </a:xfrm>
          <a:prstGeom prst="roundRect">
            <a:avLst/>
          </a:prstGeom>
          <a:solidFill>
            <a:srgbClr val="E6F2F9"/>
          </a:solidFill>
          <a:ln w="1270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307592"/>
            <a:ext cx="1828799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072B2"/>
                </a:solidFill>
                <a:latin typeface="Arial"/>
              </a:rPr>
              <a:t>AD / TRAIT LINK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636776"/>
            <a:ext cx="1828799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0F233D"/>
                </a:solidFill>
                <a:latin typeface="Arial"/>
              </a:rPr>
              <a:t>P &lt; 5×10⁻⁸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61488" y="1161288"/>
            <a:ext cx="2066543" cy="950976"/>
          </a:xfrm>
          <a:prstGeom prst="roundRect">
            <a:avLst/>
          </a:prstGeom>
          <a:solidFill>
            <a:srgbClr val="E6F2F9"/>
          </a:solidFill>
          <a:ln w="1270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80360" y="1307592"/>
            <a:ext cx="1828799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072B2"/>
                </a:solidFill>
                <a:latin typeface="Arial"/>
              </a:rPr>
              <a:t>GENE-ACTIVITY LINK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1636776"/>
            <a:ext cx="1828799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0F233D"/>
                </a:solidFill>
                <a:latin typeface="Arial"/>
              </a:rPr>
              <a:t>P &lt; 0.05 / N tested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0056" y="1161288"/>
            <a:ext cx="2066543" cy="950976"/>
          </a:xfrm>
          <a:prstGeom prst="roundRect">
            <a:avLst/>
          </a:prstGeom>
          <a:solidFill>
            <a:srgbClr val="E6F2F9"/>
          </a:solidFill>
          <a:ln w="1270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38928" y="1307592"/>
            <a:ext cx="1828799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072B2"/>
                </a:solidFill>
                <a:latin typeface="Arial"/>
              </a:rPr>
              <a:t>SPINAL-FLUID GENE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38928" y="1636776"/>
            <a:ext cx="1828799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0F233D"/>
                </a:solidFill>
                <a:latin typeface="Arial"/>
              </a:rPr>
              <a:t>P &lt; 8.77193×10⁻⁴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78624" y="1161288"/>
            <a:ext cx="2066543" cy="950976"/>
          </a:xfrm>
          <a:prstGeom prst="roundRect">
            <a:avLst/>
          </a:prstGeom>
          <a:solidFill>
            <a:srgbClr val="E6F2F9"/>
          </a:solidFill>
          <a:ln w="1270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97496" y="1307592"/>
            <a:ext cx="1828799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072B2"/>
                </a:solidFill>
                <a:latin typeface="Arial"/>
              </a:rPr>
              <a:t>MODEL ASSUMPTIONS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97496" y="1636776"/>
            <a:ext cx="1828799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0F233D"/>
                </a:solidFill>
                <a:latin typeface="Arial"/>
              </a:rPr>
              <a:t>10⁻⁴ / 10⁻⁴ / 5×10⁻⁶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37192" y="1161288"/>
            <a:ext cx="2066543" cy="950976"/>
          </a:xfrm>
          <a:prstGeom prst="roundRect">
            <a:avLst/>
          </a:prstGeom>
          <a:solidFill>
            <a:srgbClr val="E6F2F9"/>
          </a:solidFill>
          <a:ln w="1270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56064" y="1307592"/>
            <a:ext cx="1828799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072B2"/>
                </a:solidFill>
                <a:latin typeface="Arial"/>
              </a:rPr>
              <a:t>STRONG SHARED SIGNAL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6064" y="1636776"/>
            <a:ext cx="1828799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0F233D"/>
                </a:solidFill>
                <a:latin typeface="Arial"/>
              </a:rPr>
              <a:t>Estimated probability ≥ 0.80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2468880"/>
            <a:ext cx="5358384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66928" y="2468880"/>
            <a:ext cx="82296" cy="877824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5528" y="2606040"/>
            <a:ext cx="2286000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0F233D"/>
                </a:solidFill>
                <a:latin typeface="Arial"/>
              </a:rPr>
              <a:t>No match in selected sources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54096" y="2578608"/>
            <a:ext cx="2587752" cy="4937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F2F2F"/>
                </a:solidFill>
                <a:latin typeface="Arial"/>
              </a:rPr>
              <a:t>The quick public-data screen found no direct match; this is not proof of absence.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468880"/>
            <a:ext cx="5358384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17920" y="2468880"/>
            <a:ext cx="82296" cy="877824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46520" y="2606040"/>
            <a:ext cx="2286000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0F233D"/>
                </a:solidFill>
                <a:latin typeface="Arial"/>
              </a:rPr>
              <a:t>No nearby AD signal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05088" y="2578608"/>
            <a:ext cx="2587752" cy="4937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F2F2F"/>
                </a:solidFill>
                <a:latin typeface="Arial"/>
              </a:rPr>
              <a:t>The full tested DNA region did not pass the Alzheimer's cutoff.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3520440"/>
            <a:ext cx="5358384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66928" y="3520440"/>
            <a:ext cx="82296" cy="877824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95528" y="3657600"/>
            <a:ext cx="2286000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0F233D"/>
                </a:solidFill>
                <a:latin typeface="Arial"/>
              </a:rPr>
              <a:t>No gene-activity signal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54096" y="3630168"/>
            <a:ext cx="2587752" cy="4937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F2F2F"/>
                </a:solidFill>
                <a:latin typeface="Arial"/>
              </a:rPr>
              <a:t>The gene was measured but did not pass its gene-activity cutoff.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3520440"/>
            <a:ext cx="5358384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17920" y="3520440"/>
            <a:ext cx="82296" cy="877824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46520" y="3657600"/>
            <a:ext cx="2286000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0F233D"/>
                </a:solidFill>
                <a:latin typeface="Arial"/>
              </a:rPr>
              <a:t>Could not test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05088" y="3630168"/>
            <a:ext cx="2587752" cy="4937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F2F2F"/>
                </a:solidFill>
                <a:latin typeface="Arial"/>
              </a:rPr>
              <a:t>A measurement, complete file, model, or dataset description was unavailable.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4572000"/>
            <a:ext cx="5358384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66928" y="4572000"/>
            <a:ext cx="82296" cy="877824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95528" y="4709160"/>
            <a:ext cx="2286000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0F233D"/>
                </a:solidFill>
                <a:latin typeface="Arial"/>
              </a:rPr>
              <a:t>Inputs did not match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54096" y="4681728"/>
            <a:ext cx="2587752" cy="4937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F2F2F"/>
                </a:solidFill>
                <a:latin typeface="Arial"/>
              </a:rPr>
              <a:t>Both signals existed, but the two datasets could not be compared correctly.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4572000"/>
            <a:ext cx="5358384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217920" y="4572000"/>
            <a:ext cx="82296" cy="877824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46520" y="4709160"/>
            <a:ext cx="2286000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0F233D"/>
                </a:solidFill>
                <a:latin typeface="Arial"/>
              </a:rPr>
              <a:t>Mitochondrial DNA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05088" y="4681728"/>
            <a:ext cx="2587752" cy="4937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F2F2F"/>
                </a:solidFill>
                <a:latin typeface="Arial"/>
              </a:rPr>
              <a:t>Mitochondrial genes need a separate testing method.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6062472"/>
            <a:ext cx="11183112" cy="502920"/>
          </a:xfrm>
          <a:prstGeom prst="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02920" y="6062472"/>
            <a:ext cx="91440" cy="502920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31520" y="6153912"/>
            <a:ext cx="10716768" cy="2834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PIP, VCP, and CL are scores from the source studies. PP.H4 estimates whether the disease and gene-activity signals share a DNA variant.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512064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72B2"/>
                </a:solidFill>
                <a:latin typeface="Arial"/>
              </a:rPr>
              <a:t>APPENDIX • FULL TIER 1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02336"/>
            <a:ext cx="10927080" cy="5120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50" b="1" i="0">
                <a:solidFill>
                  <a:srgbClr val="0F233D"/>
                </a:solidFill>
                <a:latin typeface="Arial"/>
              </a:rPr>
              <a:t>Full first-screen results for all 47 gene–network settings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56848" y="192024"/>
            <a:ext cx="329184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77484"/>
                </a:solidFill>
                <a:latin typeface="Arial"/>
              </a:rPr>
              <a:t>23</a:t>
            </a:r>
          </a:p>
        </p:txBody>
      </p:sp>
      <p:pic>
        <p:nvPicPr>
          <p:cNvPr id="5" name="Full first-screen evidence matrix for 47 gene–network settings" descr="Full first-screen evidence matrix for 47 gene–network setting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17191"/>
            <a:ext cx="3858768" cy="530027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1078992"/>
            <a:ext cx="3858768" cy="155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1101852"/>
            <a:ext cx="3529584" cy="1097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0F233D"/>
                </a:solidFill>
                <a:latin typeface="Arial"/>
              </a:rPr>
              <a:t>First-screen matrix: 47 settings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08576" y="1225296"/>
            <a:ext cx="7059168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10328" y="1527048"/>
            <a:ext cx="36118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72B2"/>
                </a:solidFill>
                <a:latin typeface="Arial"/>
              </a:rPr>
              <a:t>COUNTS ACROSS 47 SETTINGS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82896" y="1901952"/>
            <a:ext cx="1901952" cy="1024128"/>
          </a:xfrm>
          <a:prstGeom prst="roundRect">
            <a:avLst/>
          </a:prstGeom>
          <a:solidFill>
            <a:srgbClr val="E6F2F9"/>
          </a:solidFill>
          <a:ln w="1270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10912" y="2039112"/>
            <a:ext cx="566928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72B2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05272" y="2039112"/>
            <a:ext cx="1024128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233D"/>
                </a:solidFill>
                <a:latin typeface="Arial"/>
              </a:rPr>
              <a:t>Strong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05272" y="2404872"/>
            <a:ext cx="1024128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D4D4D"/>
                </a:solidFill>
                <a:latin typeface="Arial"/>
              </a:rPr>
              <a:t>APOE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31736" y="1901952"/>
            <a:ext cx="1901952" cy="1024128"/>
          </a:xfrm>
          <a:prstGeom prst="roundRect">
            <a:avLst/>
          </a:prstGeom>
          <a:solidFill>
            <a:srgbClr val="E5F4EF"/>
          </a:solidFill>
          <a:ln w="1270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59751" y="2039112"/>
            <a:ext cx="566928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9E73"/>
                </a:solidFill>
                <a:latin typeface="Arial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54112" y="2039112"/>
            <a:ext cx="1024128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233D"/>
                </a:solidFill>
                <a:latin typeface="Arial"/>
              </a:rPr>
              <a:t>Moderate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2404872"/>
            <a:ext cx="1024128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D4D4D"/>
                </a:solidFill>
                <a:latin typeface="Arial"/>
              </a:rPr>
              <a:t>None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0576" y="1901952"/>
            <a:ext cx="1901952" cy="1024128"/>
          </a:xfrm>
          <a:prstGeom prst="roundRect">
            <a:avLst/>
          </a:prstGeom>
          <a:solidFill>
            <a:srgbClr val="FFF6E0"/>
          </a:solidFill>
          <a:ln w="1270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08592" y="2039112"/>
            <a:ext cx="566928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E69F00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2951" y="2039112"/>
            <a:ext cx="1024128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233D"/>
                </a:solidFill>
                <a:latin typeface="Arial"/>
              </a:rPr>
              <a:t>Limited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2951" y="2404872"/>
            <a:ext cx="1024128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D4D4D"/>
                </a:solidFill>
                <a:latin typeface="Arial"/>
              </a:rPr>
              <a:t>COX7C ×2; SELENOW ×1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82896" y="3163824"/>
            <a:ext cx="1901952" cy="1024128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10912" y="3300984"/>
            <a:ext cx="566928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BDBDBD"/>
                </a:solidFill>
                <a:latin typeface="Arial"/>
              </a:rPr>
              <a:t>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05272" y="3300984"/>
            <a:ext cx="1024128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233D"/>
                </a:solidFill>
                <a:latin typeface="Arial"/>
              </a:rPr>
              <a:t>No direct match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05272" y="3666744"/>
            <a:ext cx="1024128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D4D4D"/>
                </a:solidFill>
                <a:latin typeface="Arial"/>
              </a:rPr>
              <a:t>16 nuclear genes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31736" y="3163824"/>
            <a:ext cx="1901952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59751" y="3300984"/>
            <a:ext cx="566928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D4D4D"/>
                </a:solidFill>
                <a:latin typeface="Arial"/>
              </a:rPr>
              <a:t>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54112" y="3300984"/>
            <a:ext cx="1024128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233D"/>
                </a:solidFill>
                <a:latin typeface="Arial"/>
              </a:rPr>
              <a:t>Could not 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54112" y="3666744"/>
            <a:ext cx="1024128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D4D4D"/>
                </a:solidFill>
                <a:latin typeface="Arial"/>
              </a:rPr>
              <a:t>6 mitochondrial genes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19472" y="4626864"/>
            <a:ext cx="6327648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F2F2F"/>
                </a:solidFill>
                <a:latin typeface="Arial"/>
              </a:rPr>
              <a:t>COX7C's two limited settings come from one public result, not two independent confirmations. The extra RPS15 study is not included here.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961888"/>
            <a:ext cx="11183112" cy="502920"/>
          </a:xfrm>
          <a:prstGeom prst="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02920" y="5961888"/>
            <a:ext cx="91440" cy="50292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520" y="6053327"/>
            <a:ext cx="10716768" cy="2834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No direct public match does not mean no genetic role • could not test is not a negative result.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629400"/>
            <a:ext cx="11109960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677484"/>
                </a:solidFill>
                <a:latin typeface="Arial"/>
              </a:rPr>
              <a:t>Source: Tier 1 genetic_support_evidence_matrix.png and genetic_support_evidence_summary.tsv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512064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55E00"/>
                </a:solidFill>
                <a:latin typeface="Arial"/>
              </a:rPr>
              <a:t>APPENDIX • TIER 2 RECOVERY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02336"/>
            <a:ext cx="10927080" cy="5120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F233D"/>
                </a:solidFill>
                <a:latin typeface="Arial"/>
              </a:rPr>
              <a:t>Four DNA regions had AD signals, but no candidate gene was confirmed by gene-activity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56848" y="192024"/>
            <a:ext cx="329184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77484"/>
                </a:solidFill>
                <a:latin typeface="Arial"/>
              </a:rPr>
              <a:t>24</a:t>
            </a:r>
          </a:p>
        </p:txBody>
      </p:sp>
      <p:pic>
        <p:nvPicPr>
          <p:cNvPr id="5" name="Detailed comparison outcomes across nuclear gene–network settings" descr="Detailed comparison outcomes across nuclear gene–network setting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28927"/>
            <a:ext cx="3840480" cy="4693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1307592"/>
            <a:ext cx="38404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85316"/>
            <a:ext cx="3383280" cy="1188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0F233D"/>
                </a:solidFill>
                <a:latin typeface="Arial"/>
              </a:rPr>
              <a:t>Detailed comparison outcomes</a:t>
            </a:r>
          </a:p>
        </p:txBody>
      </p:sp>
      <p:pic>
        <p:nvPicPr>
          <p:cNvPr id="8" name="Four regional AD locus plots for ANKRD11, APOE, COX7C, and RPS15" descr="Four regional AD locus plots for ANKRD11, APOE, COX7C, and RPS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3812" y="1207008"/>
            <a:ext cx="5440679" cy="435254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690872" y="5596128"/>
            <a:ext cx="6784848" cy="621792"/>
          </a:xfrm>
          <a:prstGeom prst="roundRect">
            <a:avLst/>
          </a:prstGeom>
          <a:solidFill>
            <a:srgbClr val="FDEBE4"/>
          </a:solidFill>
          <a:ln w="12700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10328" y="5760720"/>
            <a:ext cx="6345936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233D"/>
                </a:solidFill>
                <a:latin typeface="Arial"/>
              </a:rPr>
              <a:t>A strong nearby DNA signal identifies a region—not necessarily the named gene. No shared-signal probability was available.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629400"/>
            <a:ext cx="11109960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677484"/>
                </a:solidFill>
                <a:latin typeface="Arial"/>
              </a:rPr>
              <a:t>Source: recovery_evidence_matrix.png; recovery_locus_plots.pdf; recovery_route_decisions.tsv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512064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72B2"/>
                </a:solidFill>
                <a:latin typeface="Arial"/>
              </a:rPr>
              <a:t>APPENDIX • APOE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02336"/>
            <a:ext cx="10927080" cy="5120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F233D"/>
                </a:solidFill>
                <a:latin typeface="Arial"/>
              </a:rPr>
              <a:t>APOE evidence across Alzheimer's disease and three spinal-fluid markers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56848" y="192024"/>
            <a:ext cx="329184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77484"/>
                </a:solidFill>
                <a:latin typeface="Arial"/>
              </a:rPr>
              <a:t>25</a:t>
            </a:r>
          </a:p>
        </p:txBody>
      </p:sp>
      <p:pic>
        <p:nvPicPr>
          <p:cNvPr id="5" name="Tier 1 APOE locus plot showing direct rs429358 entries" descr="Tier 1 APOE locus plot showing direct rs429358 entri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" y="1124712"/>
            <a:ext cx="6858000" cy="3291840"/>
          </a:xfrm>
          <a:prstGeom prst="rect">
            <a:avLst/>
          </a:prstGeom>
        </p:spPr>
      </p:pic>
      <p:pic>
        <p:nvPicPr>
          <p:cNvPr id="6" name="Spinal-fluid marker evidence for 19 nuclear genes across three biomarkers" descr="Spinal-fluid marker evidence for 19 nuclear genes across three biomarker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9248" y="1436089"/>
            <a:ext cx="3931920" cy="455274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699248" y="1417320"/>
            <a:ext cx="39319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18704" y="1499616"/>
            <a:ext cx="3493008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0F233D"/>
                </a:solidFill>
                <a:latin typeface="Arial"/>
              </a:rPr>
              <a:t>Spinal-fluid marker evidence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99248" y="5852160"/>
            <a:ext cx="39319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12648" y="4572000"/>
            <a:ext cx="6565392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" y="4736592"/>
            <a:ext cx="1344168" cy="19202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072B2"/>
                </a:solidFill>
                <a:latin typeface="Arial"/>
              </a:rPr>
              <a:t>MARKER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2576" y="4736592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072B2"/>
                </a:solidFill>
                <a:latin typeface="Arial"/>
              </a:rPr>
              <a:t>STRONGEST NEARBY 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95344" y="4736592"/>
            <a:ext cx="1536192" cy="19202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072B2"/>
                </a:solidFill>
                <a:latin typeface="Arial"/>
              </a:rPr>
              <a:t>GENE-LEVEL 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4736592"/>
            <a:ext cx="1325880" cy="19202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072B2"/>
                </a:solidFill>
                <a:latin typeface="Arial"/>
              </a:rPr>
              <a:t>GENE + NEARBY DNA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5047488"/>
            <a:ext cx="1344168" cy="2011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F233D"/>
                </a:solidFill>
                <a:latin typeface="Arial"/>
              </a:rPr>
              <a:t>Amyloid-β42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2576" y="5047488"/>
            <a:ext cx="1417320" cy="2011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F2F2F"/>
                </a:solidFill>
                <a:latin typeface="Arial"/>
              </a:rPr>
              <a:t>stored as 0*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95344" y="5047488"/>
            <a:ext cx="1536192" cy="2011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F2F2F"/>
                </a:solidFill>
                <a:latin typeface="Arial"/>
              </a:rPr>
              <a:t>5.0×10⁻¹⁰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5047488"/>
            <a:ext cx="1325880" cy="2011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F2F2F"/>
                </a:solidFill>
                <a:latin typeface="Arial"/>
              </a:rPr>
              <a:t>2.3037×10⁻¹⁴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" y="5330951"/>
            <a:ext cx="1344168" cy="2011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F233D"/>
                </a:solidFill>
                <a:latin typeface="Arial"/>
              </a:rPr>
              <a:t>Total tau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2576" y="5330951"/>
            <a:ext cx="1417320" cy="2011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F2F2F"/>
                </a:solidFill>
                <a:latin typeface="Arial"/>
              </a:rPr>
              <a:t>5.4×10⁻¹⁶¹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95344" y="5330951"/>
            <a:ext cx="1536192" cy="2011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F2F2F"/>
                </a:solidFill>
                <a:latin typeface="Arial"/>
              </a:rPr>
              <a:t>5.0×10⁻¹⁰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5330951"/>
            <a:ext cx="1325880" cy="2011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F2F2F"/>
                </a:solidFill>
                <a:latin typeface="Arial"/>
              </a:rPr>
              <a:t>1.2218×10⁻¹³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" y="5614416"/>
            <a:ext cx="1344168" cy="2011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F233D"/>
                </a:solidFill>
                <a:latin typeface="Arial"/>
              </a:rPr>
              <a:t>p-tau181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2576" y="5614416"/>
            <a:ext cx="1417320" cy="2011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F2F2F"/>
                </a:solidFill>
                <a:latin typeface="Arial"/>
              </a:rPr>
              <a:t>3.27×10⁻¹⁷⁴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95344" y="5614416"/>
            <a:ext cx="1536192" cy="2011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F2F2F"/>
                </a:solidFill>
                <a:latin typeface="Arial"/>
              </a:rPr>
              <a:t>5.0×10⁻¹⁰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5614416"/>
            <a:ext cx="1325880" cy="2011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F2F2F"/>
                </a:solidFill>
                <a:latin typeface="Arial"/>
              </a:rPr>
              <a:t>5.0×10⁻¹⁰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" y="5961888"/>
            <a:ext cx="5961888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 i="1">
                <a:solidFill>
                  <a:srgbClr val="D55E00"/>
                </a:solidFill>
                <a:latin typeface="Arial"/>
              </a:rPr>
              <a:t>* The amyloid-β42 value was too small for normal storage; it does not literally mean zero, so its region plot is excluded.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629400"/>
            <a:ext cx="11109960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677484"/>
                </a:solidFill>
                <a:latin typeface="Arial"/>
              </a:rPr>
              <a:t>Source: Tier 1 common_variant_evidence.tsv.gz and locus plot page 1; CSF gate and MAGMA result tables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512064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55E00"/>
                </a:solidFill>
                <a:latin typeface="Arial"/>
              </a:rPr>
              <a:t>APPENDIX • TARGETED PUBLIC-DATA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02336"/>
            <a:ext cx="10927080" cy="5120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F233D"/>
                </a:solidFill>
                <a:latin typeface="Arial"/>
              </a:rPr>
              <a:t>RPS15 is promising, but the exact gene and cell setting remain uncertain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56848" y="192024"/>
            <a:ext cx="329184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77484"/>
                </a:solidFill>
                <a:latin typeface="Arial"/>
              </a:rPr>
              <a:t>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7" y="1179576"/>
            <a:ext cx="2075688" cy="969264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" y="1335024"/>
            <a:ext cx="612648" cy="4023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72B2"/>
                </a:solidFill>
                <a:latin typeface="Arial"/>
              </a:rPr>
              <a:t>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6736" y="1353312"/>
            <a:ext cx="109728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F233D"/>
                </a:solidFill>
                <a:latin typeface="Arial"/>
              </a:rPr>
              <a:t>planned comparisons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25496" y="1179576"/>
            <a:ext cx="2075688" cy="969264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53512" y="1335024"/>
            <a:ext cx="612648" cy="4023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72B2"/>
                </a:solidFill>
                <a:latin typeface="Arial"/>
              </a:rPr>
              <a:t>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21024" y="1353312"/>
            <a:ext cx="109728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F233D"/>
                </a:solidFill>
                <a:latin typeface="Arial"/>
              </a:rPr>
              <a:t>comparisons measured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9784" y="1179576"/>
            <a:ext cx="2075688" cy="969264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57800" y="1335024"/>
            <a:ext cx="612648" cy="4023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E69F00"/>
                </a:solidFill>
                <a:latin typeface="Arial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25312" y="1353312"/>
            <a:ext cx="109728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F233D"/>
                </a:solidFill>
                <a:latin typeface="Arial"/>
              </a:rPr>
              <a:t>positive setting rows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34072" y="1179576"/>
            <a:ext cx="2075688" cy="969264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62088" y="1335024"/>
            <a:ext cx="612648" cy="4023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E69F00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353312"/>
            <a:ext cx="109728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F233D"/>
                </a:solidFill>
                <a:latin typeface="Arial"/>
              </a:rPr>
              <a:t>unique mixed-brain results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38360" y="1179576"/>
            <a:ext cx="2075688" cy="969264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66376" y="1335024"/>
            <a:ext cx="612648" cy="4023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D55E00"/>
                </a:solidFill>
                <a:latin typeface="Arial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33888" y="1353312"/>
            <a:ext cx="109728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F233D"/>
                </a:solidFill>
                <a:latin typeface="Arial"/>
              </a:rPr>
              <a:t>completed shared-signal tests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2542032"/>
            <a:ext cx="7443216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8368" y="2542032"/>
            <a:ext cx="82296" cy="713232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3544" y="2660903"/>
            <a:ext cx="2596896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233D"/>
                </a:solidFill>
                <a:latin typeface="Arial"/>
              </a:rPr>
              <a:t>MSBB BA36 RNA-amount QTL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2660903"/>
            <a:ext cx="1856231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2F2F2F"/>
                </a:solidFill>
                <a:latin typeface="Arial"/>
              </a:rPr>
              <a:t>P = 2.41403×10⁻⁷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2633472"/>
            <a:ext cx="2313432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D4D4D"/>
                </a:solidFill>
                <a:latin typeface="Arial"/>
              </a:rPr>
              <a:t>Adjusted for many tests: 0.00209909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74720"/>
            <a:ext cx="7443216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58368" y="3474720"/>
            <a:ext cx="82296" cy="713232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3544" y="3593591"/>
            <a:ext cx="2596896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233D"/>
                </a:solidFill>
                <a:latin typeface="Arial"/>
              </a:rPr>
              <a:t>ROSMAP DLPFC RNA-splicing QTL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80" y="3593591"/>
            <a:ext cx="1856231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2F2F2F"/>
                </a:solidFill>
                <a:latin typeface="Arial"/>
              </a:rPr>
              <a:t>P = 3.86842×10⁻³⁰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20" y="3566160"/>
            <a:ext cx="2313432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D4D4D"/>
                </a:solidFill>
                <a:latin typeface="Arial"/>
              </a:rPr>
              <a:t>Adjusted: 1.26188×10⁻²⁶ • variant probability: 1.0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407408"/>
            <a:ext cx="7443216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58368" y="4407408"/>
            <a:ext cx="82296" cy="713232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3544" y="4526280"/>
            <a:ext cx="2596896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233D"/>
                </a:solidFill>
                <a:latin typeface="Arial"/>
              </a:rPr>
              <a:t>ROSMAP posterior-cingulate RNA-splicing QTL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11880" y="4526280"/>
            <a:ext cx="1856231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2F2F2F"/>
                </a:solidFill>
                <a:latin typeface="Arial"/>
              </a:rPr>
              <a:t>P = 3.30886×10⁻⁷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32120" y="4498848"/>
            <a:ext cx="2313432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D4D4D"/>
                </a:solidFill>
                <a:latin typeface="Arial"/>
              </a:rPr>
              <a:t>Adjusted: 0.000858045 • variant probability: 0.910283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30768" y="2542032"/>
            <a:ext cx="3108960" cy="2578608"/>
          </a:xfrm>
          <a:prstGeom prst="roundRect">
            <a:avLst/>
          </a:prstGeom>
          <a:solidFill>
            <a:srgbClr val="FDEBE4"/>
          </a:solidFill>
          <a:ln w="19050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705088" y="2816352"/>
            <a:ext cx="2551176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55E00"/>
                </a:solidFill>
                <a:latin typeface="Arial"/>
              </a:rPr>
              <a:t>WHAT THIS DOES NOT SHOW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23376" y="3136392"/>
            <a:ext cx="2523744" cy="1737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0F233D"/>
                </a:solidFill>
                <a:latin typeface="Arial"/>
              </a:rPr>
              <a:t>The six positive rows are the same three mixed-brain results repeated across OPC and inhibitory-neuron settings.
OPC = oligodendrocyte precursor cell. The exact cell and gene link remain unconfirmed.
No shared-signal probability was available.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5806440"/>
            <a:ext cx="11183112" cy="502920"/>
          </a:xfrm>
          <a:prstGeom prst="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02920" y="5806440"/>
            <a:ext cx="91440" cy="502920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1520" y="5897879"/>
            <a:ext cx="10716768" cy="2834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Follow-up result: RPS15 is promising, but the exact gene and cell setting are not confirmed.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629400"/>
            <a:ext cx="11109960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677484"/>
                </a:solidFill>
                <a:latin typeface="Arial"/>
              </a:rPr>
              <a:t>Source: opc_rps15_evidence_summary.tsv and opc_rps15_qtl_audit.tsv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512064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55E00"/>
                </a:solidFill>
                <a:latin typeface="Arial"/>
              </a:rPr>
              <a:t>APPENDIX • FILE-QUALITY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02336"/>
            <a:ext cx="10927080" cy="5120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50" b="1" i="0">
                <a:solidFill>
                  <a:srgbClr val="0F233D"/>
                </a:solidFill>
                <a:latin typeface="Arial"/>
              </a:rPr>
              <a:t>Known file and documentation issues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56848" y="192024"/>
            <a:ext cx="329184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77484"/>
                </a:solidFill>
                <a:latin typeface="Arial"/>
              </a:rPr>
              <a:t>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" y="1170432"/>
            <a:ext cx="5340096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85216" y="1170432"/>
            <a:ext cx="91440" cy="1133856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9536" y="1335024"/>
            <a:ext cx="1938528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0F233D"/>
                </a:solidFill>
                <a:latin typeface="Arial"/>
              </a:rPr>
              <a:t>Damaged empty-result 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9504" y="1307592"/>
            <a:ext cx="2761488" cy="6858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F2F2F"/>
                </a:solidFill>
                <a:latin typeface="Arial"/>
              </a:rPr>
              <a:t>Two files meant to contain zero rows are damaged even though their recorded file hashes match.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7" y="1170432"/>
            <a:ext cx="5340096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36207" y="1170432"/>
            <a:ext cx="91440" cy="1133856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10527" y="1335024"/>
            <a:ext cx="1938528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0F233D"/>
                </a:solidFill>
                <a:latin typeface="Arial"/>
              </a:rPr>
              <a:t>APOE protein files missing from 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0496" y="1307592"/>
            <a:ext cx="2761488" cy="6858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F2F2F"/>
                </a:solidFill>
                <a:latin typeface="Arial"/>
              </a:rPr>
              <a:t>The report says four NG00130.v2 files were checked, but the published file inventory does not list them.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" y="2542032"/>
            <a:ext cx="5340096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5216" y="2542032"/>
            <a:ext cx="91440" cy="1133856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6" y="2706624"/>
            <a:ext cx="1938528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0F233D"/>
                </a:solidFill>
                <a:latin typeface="Arial"/>
              </a:rPr>
              <a:t>Large raw files not in project folder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9504" y="2679192"/>
            <a:ext cx="2761488" cy="6858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F2F2F"/>
                </a:solidFill>
                <a:latin typeface="Arial"/>
              </a:rPr>
              <a:t>Some large inputs were streamed or stored outside the published project folder.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7" y="2542032"/>
            <a:ext cx="5340096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6207" y="2542032"/>
            <a:ext cx="91440" cy="1133856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10527" y="2706624"/>
            <a:ext cx="1938528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0F233D"/>
                </a:solidFill>
                <a:latin typeface="Arial"/>
              </a:rPr>
              <a:t>Old computer paths remain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0496" y="2679192"/>
            <a:ext cx="2761488" cy="6858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F2F2F"/>
                </a:solidFill>
                <a:latin typeface="Arial"/>
              </a:rPr>
              <a:t>The RPS15 report still includes /home/... file paths from the computer where it was run.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" y="3913632"/>
            <a:ext cx="5340096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85216" y="3913632"/>
            <a:ext cx="91440" cy="1133856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9536" y="4078224"/>
            <a:ext cx="1938528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0F233D"/>
                </a:solidFill>
                <a:latin typeface="Arial"/>
              </a:rPr>
              <a:t>Sample counts disagree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9504" y="4050792"/>
            <a:ext cx="2761488" cy="6858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F2F2F"/>
                </a:solidFill>
                <a:latin typeface="Arial"/>
              </a:rPr>
              <a:t>Two result files report different Bellenguez case and control counts.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7" y="3913632"/>
            <a:ext cx="5340096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36207" y="3913632"/>
            <a:ext cx="91440" cy="1133856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10527" y="4078224"/>
            <a:ext cx="1938528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0F233D"/>
                </a:solidFill>
                <a:latin typeface="Arial"/>
              </a:rPr>
              <a:t>Nine rows have the wrong QTL label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0496" y="4050792"/>
            <a:ext cx="2761488" cy="6858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F2F2F"/>
                </a:solidFill>
                <a:latin typeface="Arial"/>
              </a:rPr>
              <a:t>Nine rows call a gene-expression QTL a splicing QTL; the dataset registry labels it correctly.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609344" y="5440680"/>
            <a:ext cx="8979408" cy="640080"/>
          </a:xfrm>
          <a:prstGeom prst="roundRect">
            <a:avLst/>
          </a:prstGeom>
          <a:solidFill>
            <a:srgbClr val="0F233D"/>
          </a:solidFill>
          <a:ln w="1778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847088" y="5623560"/>
            <a:ext cx="850392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Repair plan: rebuild damaged files • publish complete file lists • fix labels and paths • reconcile sample counts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86784" y="6236208"/>
            <a:ext cx="4242816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55E00"/>
                </a:solidFill>
                <a:latin typeface="Arial"/>
              </a:rPr>
              <a:t>Status: the data package still needs repair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629400"/>
            <a:ext cx="11109960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677484"/>
                </a:solidFill>
                <a:latin typeface="Arial"/>
              </a:rPr>
              <a:t>Source: genetic-support consolidated summary §5.3 and bundle-integrity audit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3618</Words>
  <Application>Microsoft Macintosh PowerPoint</Application>
  <PresentationFormat>Widescreen</PresentationFormat>
  <Paragraphs>430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Inherited Genetic Evidence for Genes Highlighted by Cell Networks</dc:title>
  <dc:subject>Public-data study of 25 genes from 47 cell-network results</dc:subject>
  <dc:creator>Alzheimer project analysis team</dc:creator>
  <cp:keywords>Alzheimer, genetics, QTL, APOE, key drivers</cp:keywords>
  <dc:description>Generated from validated genetic-support figures and minerva_production result bundles.</dc:description>
  <cp:lastModifiedBy>Richard Zhuang</cp:lastModifiedBy>
  <cp:revision>2</cp:revision>
  <dcterms:created xsi:type="dcterms:W3CDTF">2013-01-27T09:14:16Z</dcterms:created>
  <dcterms:modified xsi:type="dcterms:W3CDTF">2026-08-22T13:58:54Z</dcterms:modified>
  <cp:category/>
</cp:coreProperties>
</file>