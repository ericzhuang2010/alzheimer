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9" r:id="rId19"/>
    <p:sldId id="280" r:id="rId20"/>
    <p:sldId id="273" r:id="rId21"/>
    <p:sldId id="274" r:id="rId22"/>
    <p:sldId id="275" r:id="rId23"/>
    <p:sldId id="276" r:id="rId24"/>
    <p:sldId id="277" r:id="rId25"/>
    <p:sldId id="278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2"/>
    <p:restoredTop sz="94701"/>
  </p:normalViewPr>
  <p:slideViewPr>
    <p:cSldViewPr snapToGrid="0" snapToObjects="1">
      <p:cViewPr varScale="1">
        <p:scale>
          <a:sx n="143" d="100"/>
          <a:sy n="143" d="100"/>
        </p:scale>
        <p:origin x="224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3F0EF4-4E34-F046-9B6E-F4CF2E4B2EDF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E0E40-4F87-9543-BD0E-244FAE3DE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81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E0E40-4F87-9543-BD0E-244FAE3DE5A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26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713232"/>
            <a:ext cx="1078992" cy="1078992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20072" y="1078992"/>
            <a:ext cx="685800" cy="68580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71632" y="566928"/>
            <a:ext cx="384048" cy="384048"/>
          </a:xfrm>
          <a:prstGeom prst="ellipse">
            <a:avLst/>
          </a:prstGeom>
          <a:solidFill>
            <a:srgbClr val="56B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96528" y="2578608"/>
            <a:ext cx="530352" cy="530352"/>
          </a:xfrm>
          <a:prstGeom prst="ellipse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168128" y="2761488"/>
            <a:ext cx="932688" cy="932688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08592" y="4352544"/>
            <a:ext cx="384048" cy="384048"/>
          </a:xfrm>
          <a:prstGeom prst="ellipse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817352" y="4681728"/>
            <a:ext cx="640080" cy="64008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8869680" y="1234440"/>
            <a:ext cx="1170432" cy="192024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76688" y="1572768"/>
            <a:ext cx="512064" cy="1389888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98280" y="2834640"/>
            <a:ext cx="1280160" cy="365760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81744" y="3108960"/>
            <a:ext cx="118872" cy="1408176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634472" y="3675887"/>
            <a:ext cx="493776" cy="1280161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65208" y="4553712"/>
            <a:ext cx="1225296" cy="457200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658368"/>
            <a:ext cx="67665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6B4E9"/>
                </a:solidFill>
                <a:latin typeface="Arial"/>
              </a:rPr>
              <a:t>PHASE 18 • KEY-DRIVER PRIORITIZATION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143000"/>
            <a:ext cx="7178040" cy="2148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FFFFF"/>
                </a:solidFill>
                <a:latin typeface="Arial"/>
              </a:rPr>
              <a:t>From run-level KDA
evidence to a focused
key-driver atlas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94176"/>
            <a:ext cx="6656832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2DEEB"/>
                </a:solidFill>
                <a:latin typeface="Arial"/>
              </a:rPr>
              <a:t>Selection logic • cross-network recurrence • evidence breadth • descriptive sex/APOE patterns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700016"/>
            <a:ext cx="6355080" cy="50292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983480"/>
            <a:ext cx="65836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BECFE1"/>
                </a:solidFill>
                <a:latin typeface="Arial"/>
              </a:rPr>
              <a:t>MT drivers and non-MT drivers are ranked separately within seven broad cell-network models.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09360"/>
            <a:ext cx="6492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1ABC5"/>
                </a:solidFill>
                <a:latin typeface="Arial"/>
              </a:rPr>
              <a:t>Prepared from validated Phase 18 outputs • 16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PRESENTATION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Three sections move from candidate selection to independent genetic support and then to network and proteomics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417320"/>
            <a:ext cx="10844784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6656" y="1417320"/>
            <a:ext cx="91440" cy="1243584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728216"/>
            <a:ext cx="621792" cy="621792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01952"/>
            <a:ext cx="621792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1618488"/>
            <a:ext cx="61722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0" b="1" i="0">
                <a:solidFill>
                  <a:srgbClr val="0F233D"/>
                </a:solidFill>
                <a:latin typeface="Arial"/>
              </a:rPr>
              <a:t>Key-driver selection &amp; evidence 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627632"/>
            <a:ext cx="2112264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9E73"/>
                </a:solidFill>
                <a:latin typeface="Arial"/>
              </a:rPr>
              <a:t>Slides 03–11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075688"/>
            <a:ext cx="90525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Selection logic, MT/non-MT recurrence, evidence breadth, synthesis, and descriptive sex/APOE patterns.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2907791"/>
            <a:ext cx="10844784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6656" y="2907791"/>
            <a:ext cx="91440" cy="124358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40" y="3218687"/>
            <a:ext cx="621792" cy="621792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392424"/>
            <a:ext cx="621792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3108960"/>
            <a:ext cx="61722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0" b="1" i="0">
                <a:solidFill>
                  <a:srgbClr val="0F233D"/>
                </a:solidFill>
                <a:latin typeface="Arial"/>
              </a:rPr>
              <a:t>Human genetic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118103"/>
            <a:ext cx="2112264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72B2"/>
                </a:solidFill>
                <a:latin typeface="Arial"/>
              </a:rPr>
              <a:t>Slides 12–15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566159"/>
            <a:ext cx="90525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Public summary data, direct-mapping rules, context-aware grading, and the candidate-level result profile.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" y="4398264"/>
            <a:ext cx="10844784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6656" y="4398264"/>
            <a:ext cx="91440" cy="1243584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5840" y="4709159"/>
            <a:ext cx="621792" cy="621792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882896"/>
            <a:ext cx="621792" cy="2103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65376" y="4599431"/>
            <a:ext cx="61722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0" b="1" i="0">
                <a:solidFill>
                  <a:srgbClr val="0F233D"/>
                </a:solidFill>
                <a:latin typeface="Arial"/>
              </a:rPr>
              <a:t>Key-driver networks &amp; proteomics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608576"/>
            <a:ext cx="2112264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E69F00"/>
                </a:solidFill>
                <a:latin typeface="Arial"/>
              </a:rPr>
              <a:t>Slides 16–27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056631"/>
            <a:ext cx="90525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Place APOE, RPL11, and COX7C on cell-type network graphs, examine protein-level coherence, and define proteomics validation.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053328"/>
            <a:ext cx="11183112" cy="438912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6053328"/>
            <a:ext cx="91440" cy="43891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6135624"/>
            <a:ext cx="1069848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rial"/>
              </a:rPr>
              <a:t>Narrative arc: prioritize candidates → seek independent human evidence → place key drivers on networks and validate at the protein level.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576072"/>
            <a:ext cx="3017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E73"/>
                </a:solidFill>
                <a:latin typeface="Arial"/>
              </a:rPr>
              <a:t>SECTION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170432"/>
            <a:ext cx="100584" cy="2066543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0704" y="1243584"/>
            <a:ext cx="7635240" cy="1371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Key-driver selection &amp;
evidence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907792"/>
            <a:ext cx="7132320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i="0">
                <a:solidFill>
                  <a:srgbClr val="CCDBEA"/>
                </a:solidFill>
                <a:latin typeface="Arial"/>
              </a:rPr>
              <a:t>How 25 candidates emerged across 47 displayed network contexts—and where support recurs.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804672"/>
            <a:ext cx="2304288" cy="1755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1E3B5B"/>
                </a:solidFill>
                <a:latin typeface="Arial"/>
              </a:rPr>
              <a:t>01</a:t>
            </a:r>
          </a:p>
        </p:txBody>
      </p:sp>
      <p:sp>
        <p:nvSpPr>
          <p:cNvPr id="8" name="Oval 7"/>
          <p:cNvSpPr/>
          <p:nvPr/>
        </p:nvSpPr>
        <p:spPr>
          <a:xfrm>
            <a:off x="10634472" y="969264"/>
            <a:ext cx="512064" cy="512064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40112" y="2679192"/>
            <a:ext cx="256032" cy="256032"/>
          </a:xfrm>
          <a:prstGeom prst="ellipse">
            <a:avLst/>
          </a:prstGeom>
          <a:solidFill>
            <a:srgbClr val="56B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 flipV="1">
            <a:off x="9921240" y="1225296"/>
            <a:ext cx="969264" cy="786384"/>
          </a:xfrm>
          <a:prstGeom prst="line">
            <a:avLst/>
          </a:prstGeom>
          <a:ln w="20320">
            <a:solidFill>
              <a:srgbClr val="698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912096" y="2039112"/>
            <a:ext cx="256032" cy="749808"/>
          </a:xfrm>
          <a:prstGeom prst="line">
            <a:avLst/>
          </a:prstGeom>
          <a:ln w="20320">
            <a:solidFill>
              <a:srgbClr val="698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4270248"/>
            <a:ext cx="1920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6B4E9"/>
                </a:solidFill>
                <a:latin typeface="Arial"/>
              </a:rPr>
              <a:t>IN THIS SECTION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Selection logic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05072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MT / non-MT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67728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Sex / APOE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0272" y="31089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1ABC5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SELECTION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A strict intersection of coverage, support, and aggregate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The pipeline changes counting units as run-level tests are aggregated into network × driver-class candidates.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04</a:t>
            </a:r>
          </a:p>
        </p:txBody>
      </p:sp>
      <p:pic>
        <p:nvPicPr>
          <p:cNvPr id="6" name="Phase 18 key-driver selection process from 95,557 run-level tests to 47 displayed positions" descr="Phase 18 key-driver selection process from 95,557 run-level tests to 47 displayed posi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74416"/>
            <a:ext cx="7818120" cy="53321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02752" y="1298448"/>
            <a:ext cx="3401568" cy="4919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58784" y="1600200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23376" y="1572768"/>
            <a:ext cx="2624327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What earns a place</a:t>
            </a:r>
          </a:p>
        </p:txBody>
      </p:sp>
      <p:sp>
        <p:nvSpPr>
          <p:cNvPr id="10" name="Oval 9"/>
          <p:cNvSpPr/>
          <p:nvPr/>
        </p:nvSpPr>
        <p:spPr>
          <a:xfrm>
            <a:off x="8558784" y="2212848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19" y="2084831"/>
            <a:ext cx="2624328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1F2730"/>
                </a:solidFill>
                <a:latin typeface="Arial"/>
              </a:rPr>
              <a:t>All three gates are required: ≥80% usable-run coverage, ≥1 conservative-support run, and aggregate ACAT q ≤ 0.05.</a:t>
            </a:r>
          </a:p>
        </p:txBody>
      </p:sp>
      <p:sp>
        <p:nvSpPr>
          <p:cNvPr id="12" name="Oval 11"/>
          <p:cNvSpPr/>
          <p:nvPr/>
        </p:nvSpPr>
        <p:spPr>
          <a:xfrm>
            <a:off x="8558784" y="2907792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19" y="2779776"/>
            <a:ext cx="2624328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1F2730"/>
                </a:solidFill>
                <a:latin typeface="Arial"/>
              </a:rPr>
              <a:t>The intersection retains 78 of 10,433 represented candidate units (0.75%).</a:t>
            </a:r>
          </a:p>
        </p:txBody>
      </p:sp>
      <p:sp>
        <p:nvSpPr>
          <p:cNvPr id="14" name="Oval 13"/>
          <p:cNvSpPr/>
          <p:nvPr/>
        </p:nvSpPr>
        <p:spPr>
          <a:xfrm>
            <a:off x="8558784" y="3602736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2519" y="3474720"/>
            <a:ext cx="2624328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1F2730"/>
                </a:solidFill>
                <a:latin typeface="Arial"/>
              </a:rPr>
              <a:t>Candidates are ranked independently in 14 lists: 7 broad networks × 2 driver classes.</a:t>
            </a:r>
          </a:p>
        </p:txBody>
      </p:sp>
      <p:sp>
        <p:nvSpPr>
          <p:cNvPr id="16" name="Oval 15"/>
          <p:cNvSpPr/>
          <p:nvPr/>
        </p:nvSpPr>
        <p:spPr>
          <a:xfrm>
            <a:off x="8558784" y="4297679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19" y="4169663"/>
            <a:ext cx="2624328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1F2730"/>
                </a:solidFill>
                <a:latin typeface="Arial"/>
              </a:rPr>
              <a:t>Ranks 1–5 are displayed with no backfilling when fewer candidates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58784" y="5029200"/>
            <a:ext cx="13258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05088" y="5120640"/>
            <a:ext cx="1033271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2B2"/>
                </a:solidFill>
                <a:latin typeface="Arial"/>
              </a:rPr>
              <a:t>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5586984"/>
            <a:ext cx="1033271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displayed gene × network positions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30968" y="5029200"/>
            <a:ext cx="13258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77272" y="5120640"/>
            <a:ext cx="1033271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69F00"/>
                </a:solidFill>
                <a:latin typeface="Arial"/>
              </a:rPr>
              <a:t>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7272" y="5586984"/>
            <a:ext cx="1033271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unique displayed genes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6" y="6062472"/>
            <a:ext cx="2761488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55E00"/>
                </a:solidFill>
                <a:latin typeface="Arial"/>
              </a:rPr>
              <a:t>Prioritization—not proof of causal regulation.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phase18_key_driver_selection_process.png and accompanying validated caption/methods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ircular view of selected mitochondrial key drivers across seven broad cell networks" descr="Circular view of selected mitochondrial key drivers across seven broad cell networ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568" y="18288"/>
            <a:ext cx="8155815" cy="63276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6199632"/>
            <a:ext cx="11183112" cy="438912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199632"/>
            <a:ext cx="91440" cy="438912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281928"/>
            <a:ext cx="1069848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rial"/>
              </a:rPr>
              <a:t>MT view: 10 genes occupy 26 displayed positions; MT-CO2 recurs in 7 of 7 networks, while gray slots preserve lists with fewer than five passers.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phase18_mt_driver_circular.png • center curves show recurrence, not network edges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ircular view of selected non-mitochondrial key drivers across seven broad cell networks" descr="Circular view of selected non-mitochondrial key drivers across seven broad cell networ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112" y="18288"/>
            <a:ext cx="8224726" cy="63276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6199632"/>
            <a:ext cx="11183112" cy="438912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199632"/>
            <a:ext cx="91440" cy="438912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281928"/>
            <a:ext cx="1069848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rial"/>
              </a:rPr>
              <a:t>Non-MT view: 15 genes occupy 21 displayed positions; RPL11 recurs in 4 networks, and vasculature has no passing non-MT candidate.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phase18_non_mt_driver_circular.png • non-MT means outside core MitoCarta, not absence of mitochondrial function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vidence atlas for 10 selected mitochondrial key-driver genes" descr="Evidence atlas for 10 selected mitochondrial key-driver ge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271775"/>
            <a:ext cx="12097512" cy="59121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6199632"/>
            <a:ext cx="11183112" cy="438912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199632"/>
            <a:ext cx="91440" cy="43891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281928"/>
            <a:ext cx="1069848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rial"/>
              </a:rPr>
              <a:t>MT evidence is broadest for MT-CO2: 62/89 conservative-support runs, 29 fine cell types, all 7 networks, all 6 primary groups, and both AD directions.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phase18_evidence_atlas_mt.png • stability is diagnostic and did not determine selection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9F00"/>
                </a:solidFill>
                <a:latin typeface="Arial"/>
              </a:rPr>
              <a:t>EVIDENCE ATLAS • NON-MT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Ribosomal candidates carry the broadest non-MT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Network evidence, recurrence, breadth, and leave-one-fine-cell-type stability are complementary summaries.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08</a:t>
            </a:r>
          </a:p>
        </p:txBody>
      </p:sp>
      <p:pic>
        <p:nvPicPr>
          <p:cNvPr id="6" name="Evidence atlas for 15 selected non-mitochondrial key-driver genes" descr="Evidence atlas for 15 selected non-mitochondrial key-driver ge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22548"/>
            <a:ext cx="8385048" cy="52541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96528" y="1325880"/>
            <a:ext cx="2907792" cy="4928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043416" y="1600200"/>
            <a:ext cx="64008" cy="310896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08008" y="1572768"/>
            <a:ext cx="2249424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Presentation readout</a:t>
            </a:r>
          </a:p>
        </p:txBody>
      </p:sp>
      <p:sp>
        <p:nvSpPr>
          <p:cNvPr id="10" name="Oval 9"/>
          <p:cNvSpPr/>
          <p:nvPr/>
        </p:nvSpPr>
        <p:spPr>
          <a:xfrm>
            <a:off x="9043416" y="2212848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17152" y="2084831"/>
            <a:ext cx="2221992" cy="7223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730"/>
                </a:solidFill>
                <a:latin typeface="Arial"/>
              </a:rPr>
              <a:t>RPL11 passes in 4 networks with 25/84 conservative-support runs across 15 fine cell types.</a:t>
            </a:r>
          </a:p>
        </p:txBody>
      </p:sp>
      <p:sp>
        <p:nvSpPr>
          <p:cNvPr id="12" name="Oval 11"/>
          <p:cNvSpPr/>
          <p:nvPr/>
        </p:nvSpPr>
        <p:spPr>
          <a:xfrm>
            <a:off x="9043416" y="2935224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17152" y="2807208"/>
            <a:ext cx="2221992" cy="7223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730"/>
                </a:solidFill>
                <a:latin typeface="Arial"/>
              </a:rPr>
              <a:t>RPS15 has the widest non-MT fine-cell breadth (18) and passes in 3 networks.</a:t>
            </a:r>
          </a:p>
        </p:txBody>
      </p:sp>
      <p:sp>
        <p:nvSpPr>
          <p:cNvPr id="14" name="Oval 13"/>
          <p:cNvSpPr/>
          <p:nvPr/>
        </p:nvSpPr>
        <p:spPr>
          <a:xfrm>
            <a:off x="9043416" y="3657600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17152" y="3529584"/>
            <a:ext cx="2221992" cy="7223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730"/>
                </a:solidFill>
                <a:latin typeface="Arial"/>
              </a:rPr>
              <a:t>The dashed RPS15 excitatory-neuron tile passed selection but ranked below that network's five-gene display cap.</a:t>
            </a:r>
          </a:p>
        </p:txBody>
      </p:sp>
      <p:sp>
        <p:nvSpPr>
          <p:cNvPr id="16" name="Oval 15"/>
          <p:cNvSpPr/>
          <p:nvPr/>
        </p:nvSpPr>
        <p:spPr>
          <a:xfrm>
            <a:off x="9043416" y="4379976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7152" y="4251960"/>
            <a:ext cx="2221992" cy="7223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730"/>
                </a:solidFill>
                <a:latin typeface="Arial"/>
              </a:rPr>
              <a:t>RPL/RPS genes recur across networks; LAMTOR5 spans excitatory and inhibitory networks; APOE is astrocyte-localized.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3416" y="5202936"/>
            <a:ext cx="2395728" cy="640080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7152" y="5340096"/>
            <a:ext cx="2048256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0F233D"/>
                </a:solidFill>
                <a:latin typeface="Arial"/>
              </a:rPr>
              <a:t>The top-five rule is a display cap—not an evidence threshold.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phase18_evidence_atlas_non_mt.png and gene summary TSV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What Phase 18 establishes—and what it leaves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The broad atlas establishes which candidates emerged; the next slides localize support before the candidate case studies.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3456432" cy="2240280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865376"/>
            <a:ext cx="310896" cy="3108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53312" y="1819656"/>
            <a:ext cx="2395728" cy="3566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rial"/>
              </a:rPr>
              <a:t>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2898648" cy="9326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E6C"/>
                </a:solidFill>
                <a:latin typeface="Arial"/>
              </a:rPr>
              <a:t>78 passing units become 47 displayed network positions across two separately ranked driver classes.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72768"/>
            <a:ext cx="3456432" cy="2240280"/>
          </a:xfrm>
          <a:prstGeom prst="roundRect">
            <a:avLst/>
          </a:prstGeom>
          <a:solidFill>
            <a:srgbClr val="E1EEF7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36592" y="1865376"/>
            <a:ext cx="310896" cy="3108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75503" y="1819656"/>
            <a:ext cx="2395728" cy="3566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rial"/>
              </a:rPr>
              <a:t>MT 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496312"/>
            <a:ext cx="2898648" cy="9326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E6C"/>
                </a:solidFill>
                <a:latin typeface="Arial"/>
              </a:rPr>
              <a:t>Respiratory-chain genes dominate recurrence; MT-CO2 is the clearest cross-network sentinel.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1572768"/>
            <a:ext cx="3456432" cy="2240280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58784" y="1865376"/>
            <a:ext cx="310896" cy="3108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97696" y="1819656"/>
            <a:ext cx="2395728" cy="3566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rial"/>
              </a:rPr>
              <a:t>Non-MT landscape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4" y="2496312"/>
            <a:ext cx="2898648" cy="9326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E6C"/>
                </a:solidFill>
                <a:latin typeface="Arial"/>
              </a:rPr>
              <a:t>Ribosomal candidates lead breadth and recurrence, with additional signaling, trafficking, and APOE-linked hypotheses.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224528"/>
            <a:ext cx="10497312" cy="1252728"/>
          </a:xfrm>
          <a:prstGeom prst="round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0432" y="4507992"/>
            <a:ext cx="9829800" cy="6766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6B4E9"/>
                </a:solidFill>
                <a:latin typeface="Arial"/>
              </a:rPr>
              <a:t>Interpretive boundary: </a:t>
            </a:r>
            <a:r>
              <a:rPr sz="1700" b="0" i="0">
                <a:solidFill>
                  <a:srgbClr val="FFFFFF"/>
                </a:solidFill>
                <a:latin typeface="Arial"/>
              </a:rPr>
              <a:t>the figures prioritize network-associated key-driver candidates and show where evidence recurs. </a:t>
            </a:r>
            <a:r>
              <a:rPr sz="1700" b="1" i="0">
                <a:solidFill>
                  <a:srgbClr val="FFFFFF"/>
                </a:solidFill>
                <a:latin typeface="Arial"/>
              </a:rPr>
              <a:t>They do not prove causality or formally test sex/APOE interactions.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806440"/>
            <a:ext cx="9838944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F233D"/>
                </a:solidFill>
                <a:latin typeface="Arial"/>
              </a:rPr>
              <a:t>Next: localize candidate evidence across sex/APOE strata, then examine APOE, RPL11, and COX7C in depth.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Slides 13–15 add independent human-genetic support; slide 17 introduces the validation panel; slides 18–27 show APOE, RPL11, and COX7C network/protein examples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SEX/APOE EVIDENCE • MT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MT support is widespread but uneven across descriptive strata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Each row is a gene × broad-network context; columns partition AD-up and AD-down queries by sex and APOE group.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10</a:t>
            </a:r>
          </a:p>
        </p:txBody>
      </p:sp>
      <p:pic>
        <p:nvPicPr>
          <p:cNvPr id="6" name="Sex- and APOE-stratified support for selected mitochondrial key drivers" descr="Sex- and APOE-stratified support for selected mitochondrial key driv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66" y="1170432"/>
            <a:ext cx="5310370" cy="54681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03136" y="1316736"/>
            <a:ext cx="4910328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86600" y="1600200"/>
            <a:ext cx="64008" cy="31089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51192" y="1572768"/>
            <a:ext cx="4151376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How to read the matrix</a:t>
            </a:r>
          </a:p>
        </p:txBody>
      </p:sp>
      <p:sp>
        <p:nvSpPr>
          <p:cNvPr id="10" name="Oval 9"/>
          <p:cNvSpPr/>
          <p:nvPr/>
        </p:nvSpPr>
        <p:spPr>
          <a:xfrm>
            <a:off x="7086600" y="2185416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0336" y="2057400"/>
            <a:ext cx="4096511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Dot area = fraction of usable queries with conservative support; fill = capped −log10(stratum ACAT P).</a:t>
            </a:r>
          </a:p>
        </p:txBody>
      </p:sp>
      <p:sp>
        <p:nvSpPr>
          <p:cNvPr id="12" name="Oval 11"/>
          <p:cNvSpPr/>
          <p:nvPr/>
        </p:nvSpPr>
        <p:spPr>
          <a:xfrm>
            <a:off x="7086600" y="2807208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0336" y="2679192"/>
            <a:ext cx="4096511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Small open circles mean usable tests with zero conservative support; dashes mean no eligible query.</a:t>
            </a:r>
          </a:p>
        </p:txBody>
      </p:sp>
      <p:sp>
        <p:nvSpPr>
          <p:cNvPr id="14" name="Oval 13"/>
          <p:cNvSpPr/>
          <p:nvPr/>
        </p:nvSpPr>
        <p:spPr>
          <a:xfrm>
            <a:off x="7086600" y="3429000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0336" y="3300984"/>
            <a:ext cx="4096511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The right tracks report official network-level q, support/usable, coverage, evidence tier, and rank.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3977640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1192" y="3950208"/>
            <a:ext cx="4151376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Descriptive pattern</a:t>
            </a:r>
          </a:p>
        </p:txBody>
      </p:sp>
      <p:sp>
        <p:nvSpPr>
          <p:cNvPr id="18" name="Oval 17"/>
          <p:cNvSpPr/>
          <p:nvPr/>
        </p:nvSpPr>
        <p:spPr>
          <a:xfrm>
            <a:off x="7086600" y="4535424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0336" y="4407408"/>
            <a:ext cx="4032503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730"/>
                </a:solidFill>
                <a:latin typeface="Arial"/>
              </a:rPr>
              <a:t>AD-up female ε3/ε3: 68 supporting runs across 15 contexts</a:t>
            </a:r>
          </a:p>
        </p:txBody>
      </p:sp>
      <p:sp>
        <p:nvSpPr>
          <p:cNvPr id="20" name="Oval 19"/>
          <p:cNvSpPr/>
          <p:nvPr/>
        </p:nvSpPr>
        <p:spPr>
          <a:xfrm>
            <a:off x="7086600" y="4992624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60336" y="4864608"/>
            <a:ext cx="4032503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730"/>
                </a:solidFill>
                <a:latin typeface="Arial"/>
              </a:rPr>
              <a:t>AD-down male ε2: 65 supporting runs across 30 contexts</a:t>
            </a:r>
          </a:p>
        </p:txBody>
      </p:sp>
      <p:sp>
        <p:nvSpPr>
          <p:cNvPr id="22" name="Oval 21"/>
          <p:cNvSpPr/>
          <p:nvPr/>
        </p:nvSpPr>
        <p:spPr>
          <a:xfrm>
            <a:off x="7086600" y="5449824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0336" y="5321808"/>
            <a:ext cx="4032503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730"/>
                </a:solidFill>
                <a:latin typeface="Arial"/>
              </a:rPr>
              <a:t>AD-up female ε2: 63 supporting runs across 15 contexts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5925312"/>
            <a:ext cx="4151376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55E00"/>
                </a:solidFill>
                <a:latin typeface="Arial"/>
              </a:rPr>
              <a:t>These are not formal sex, APOE, or interaction tests.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phase18_sex_apoe_mt.png • supporting-run totals are descriptive across displayed contexts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9F00"/>
                </a:solidFill>
                <a:latin typeface="Arial"/>
              </a:rPr>
              <a:t>SEX/APOE EVIDENCE • NON-MT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Non-MT support concentrates in a smaller set of strata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The same visual grammar reveals broad recurrence for some drivers and sharply localized evidence for others.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11</a:t>
            </a:r>
          </a:p>
        </p:txBody>
      </p:sp>
      <p:pic>
        <p:nvPicPr>
          <p:cNvPr id="6" name="Sex- and APOE-stratified support for selected non-mitochondrial key drivers" descr="Sex- and APOE-stratified support for selected non-mitochondrial key driv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82" y="1188720"/>
            <a:ext cx="7113547" cy="53583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38744" y="1335024"/>
            <a:ext cx="3465576" cy="4928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03920" y="1609344"/>
            <a:ext cx="64008" cy="310896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68512" y="1581912"/>
            <a:ext cx="277063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Leading patterns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2185416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77656" y="2057400"/>
            <a:ext cx="270662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F2730"/>
                </a:solidFill>
                <a:latin typeface="Arial"/>
              </a:rPr>
              <a:t>AD-down male ε2: 62 supporting runs in 19 contexts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752344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77656" y="2624328"/>
            <a:ext cx="270662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F2730"/>
                </a:solidFill>
                <a:latin typeface="Arial"/>
              </a:rPr>
              <a:t>AD-up female ε2: 28 supporting runs in 11 contexts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3319272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77656" y="3191256"/>
            <a:ext cx="270662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F2730"/>
                </a:solidFill>
                <a:latin typeface="Arial"/>
              </a:rPr>
              <a:t>AD-down female ε4: 16 supporting runs in 10 contexts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0" y="3886200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77656" y="3758184"/>
            <a:ext cx="270662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F2730"/>
                </a:solidFill>
                <a:latin typeface="Arial"/>
              </a:rPr>
              <a:t>AD-down male ε4: 10 supporting runs in 7 contexts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370832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68512" y="4343400"/>
            <a:ext cx="277063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Candidate 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4791456"/>
            <a:ext cx="2825496" cy="9692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525E6C"/>
                </a:solidFill>
                <a:latin typeface="Arial"/>
              </a:rPr>
              <a:t>RPL11 is recurrent across four networks; RPS15 is broad across neuronal/OPC contexts; APOE is localized to astrocytes. Large dots with small denominators should not be mistaken for broad replication.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5843016"/>
            <a:ext cx="2816352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D55E00"/>
                </a:solidFill>
                <a:latin typeface="Arial"/>
              </a:rPr>
              <a:t>Patterned evidence generates hypotheses; it does not establish specificity.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phase18_sex_apoe_non_mt.png • descriptive totals match the validated figure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576072"/>
            <a:ext cx="3017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B2"/>
                </a:solidFill>
                <a:latin typeface="Arial"/>
              </a:rPr>
              <a:t>SECTION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170432"/>
            <a:ext cx="100584" cy="2066543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0704" y="1243584"/>
            <a:ext cx="7635240" cy="1371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Human genetic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907792"/>
            <a:ext cx="7132320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i="0">
                <a:solidFill>
                  <a:srgbClr val="CCDBEA"/>
                </a:solidFill>
                <a:latin typeface="Arial"/>
              </a:rPr>
              <a:t>An independent check of whether public Alzheimer’s disease genetic signals map directly to the selected candidate genes.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804672"/>
            <a:ext cx="2304288" cy="1755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1E3B5B"/>
                </a:solidFill>
                <a:latin typeface="Arial"/>
              </a:rP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10634472" y="969264"/>
            <a:ext cx="512064" cy="512064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40112" y="2679192"/>
            <a:ext cx="256032" cy="256032"/>
          </a:xfrm>
          <a:prstGeom prst="ellipse">
            <a:avLst/>
          </a:prstGeom>
          <a:solidFill>
            <a:srgbClr val="56B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 flipV="1">
            <a:off x="9921240" y="1225296"/>
            <a:ext cx="969264" cy="786384"/>
          </a:xfrm>
          <a:prstGeom prst="line">
            <a:avLst/>
          </a:prstGeom>
          <a:ln w="20320">
            <a:solidFill>
              <a:srgbClr val="698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912096" y="2039112"/>
            <a:ext cx="256032" cy="749808"/>
          </a:xfrm>
          <a:prstGeom prst="line">
            <a:avLst/>
          </a:prstGeom>
          <a:ln w="20320">
            <a:solidFill>
              <a:srgbClr val="698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4270248"/>
            <a:ext cx="1920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6B4E9"/>
                </a:solidFill>
                <a:latin typeface="Arial"/>
              </a:rPr>
              <a:t>IN THIS SECTION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Public summary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05072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Direct-mapping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67728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Candidate-level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0272" y="31089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1ABC5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HUMAN GENETIC SUPPORT •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A compact public summary bundle tests all 25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This is an independent evidence line across every displayed gene × broad-network context—not a rerun of the network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6784848" cy="4517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86384" y="1600200"/>
            <a:ext cx="64008" cy="31089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572768"/>
            <a:ext cx="6071616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What entered the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029968"/>
            <a:ext cx="6199632" cy="859536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7552" y="2231136"/>
            <a:ext cx="448056" cy="44805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313432"/>
            <a:ext cx="448056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167128"/>
            <a:ext cx="201168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0F233D"/>
                </a:solidFill>
                <a:latin typeface="Arial"/>
              </a:rPr>
              <a:t>Selected key drivers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57984"/>
            <a:ext cx="3063240" cy="52120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25E6C"/>
                </a:solidFill>
                <a:latin typeface="Arial"/>
              </a:rPr>
              <a:t>25 unique genes evaluated in all 47 displayed broad cell-type/network contexts.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081528"/>
            <a:ext cx="6199632" cy="859536"/>
          </a:xfrm>
          <a:prstGeom prst="roundRect">
            <a:avLst/>
          </a:prstGeom>
          <a:solidFill>
            <a:srgbClr val="E1EEF7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87552" y="3282696"/>
            <a:ext cx="448056" cy="44805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364992"/>
            <a:ext cx="448056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218688"/>
            <a:ext cx="201168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0F233D"/>
                </a:solidFill>
                <a:latin typeface="Arial"/>
              </a:rPr>
              <a:t>Public human-genetics summaries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209544"/>
            <a:ext cx="3063240" cy="52120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25E6C"/>
                </a:solidFill>
                <a:latin typeface="Arial"/>
              </a:rPr>
              <a:t>Official FunGen-xQTL Alzheimer’s disease snapshot: GWAS/fine-mapping, xQTL, TWAS and gene-level result tables.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133087"/>
            <a:ext cx="6199632" cy="859536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7552" y="4334255"/>
            <a:ext cx="448056" cy="44805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4416551"/>
            <a:ext cx="448056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4270248"/>
            <a:ext cx="201168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0F233D"/>
                </a:solidFill>
                <a:latin typeface="Arial"/>
              </a:rPr>
              <a:t>Gene identity 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261103"/>
            <a:ext cx="3063240" cy="52120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25E6C"/>
                </a:solidFill>
                <a:latin typeface="Arial"/>
              </a:rPr>
              <a:t>GENCODE v44 (GRCh38) coordinates plus the HGNC 2026-06-05 symbol table keep locus and gene mappings explicit.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5321808"/>
            <a:ext cx="6199632" cy="320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5404104"/>
            <a:ext cx="5897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D55E00"/>
                </a:solidFill>
                <a:latin typeface="Arial"/>
              </a:rPr>
              <a:t>Summary-level only: no individual genotypes, phenotypes, or protected participant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325880"/>
            <a:ext cx="4187952" cy="4517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72400" y="1600200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36992" y="1572768"/>
            <a:ext cx="3465576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Scale and portability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029968"/>
            <a:ext cx="159105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18704" y="2121408"/>
            <a:ext cx="1298448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2B2"/>
                </a:solidFill>
                <a:latin typeface="Arial"/>
              </a:rPr>
              <a:t>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8704" y="2587752"/>
            <a:ext cx="129844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unique candidate genes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46336" y="2029968"/>
            <a:ext cx="159105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92640" y="2121408"/>
            <a:ext cx="1298448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9E73"/>
                </a:solidFill>
                <a:latin typeface="Arial"/>
              </a:rPr>
              <a:t>47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587752"/>
            <a:ext cx="129844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gene × network contexts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3191256"/>
            <a:ext cx="159105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18704" y="3282696"/>
            <a:ext cx="1298448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69F00"/>
                </a:solidFill>
                <a:latin typeface="Arial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18704" y="3749040"/>
            <a:ext cx="129844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public source files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46336" y="3191256"/>
            <a:ext cx="159105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92640" y="3282696"/>
            <a:ext cx="1298448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7E4C9A"/>
                </a:solidFill>
                <a:latin typeface="Arial"/>
              </a:rPr>
              <a:t>~8.8 MiB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3749040"/>
            <a:ext cx="129844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total downloaded bundle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4416552"/>
            <a:ext cx="3364992" cy="1060704"/>
          </a:xfrm>
          <a:prstGeom prst="round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10144" y="4608576"/>
            <a:ext cx="289864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6B4E9"/>
                </a:solidFill>
                <a:latin typeface="Arial"/>
              </a:rPr>
              <a:t>LOCAL WORKSTATION READY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0144" y="4919472"/>
            <a:ext cx="2898648" cy="3566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Small, tabular inputs; no cluster-scale compute required.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053328"/>
            <a:ext cx="11183112" cy="438912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2920" y="6053328"/>
            <a:ext cx="91440" cy="43891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6135624"/>
            <a:ext cx="1069848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rial"/>
              </a:rPr>
              <a:t>Human genetics asks whether an independently measured AD-associated signal maps to the same candidate gene in a relevant context.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Sources: FunGen-xQTL public snapshot (2026-07-29) • GENCODE v44, GRCh38 • HGNC 2026-06-05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HUMAN GENETIC SUPPORT •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Direct gene mapping—not proximity—determines the 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The workflow screens broadly, then prevents a nearby association from being mistaken for support of a specific candidate gene.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99032"/>
            <a:ext cx="2304288" cy="1033271"/>
          </a:xfrm>
          <a:prstGeom prst="roundRect">
            <a:avLst/>
          </a:prstGeom>
          <a:solidFill>
            <a:srgbClr val="E1EEF7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572768"/>
            <a:ext cx="201168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25 genes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965960"/>
            <a:ext cx="20116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525E6C"/>
                </a:solidFill>
                <a:latin typeface="Arial"/>
              </a:rPr>
              <a:t>47 candidate contexts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39" y="1920240"/>
            <a:ext cx="384049" cy="0"/>
          </a:xfrm>
          <a:prstGeom prst="line">
            <a:avLst/>
          </a:prstGeom>
          <a:ln w="20320">
            <a:solidFill>
              <a:srgbClr val="56B4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1399032"/>
            <a:ext cx="2304288" cy="1033271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38144" y="1572768"/>
            <a:ext cx="201168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19 nuclear genes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144" y="1965960"/>
            <a:ext cx="20116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525E6C"/>
                </a:solidFill>
                <a:latin typeface="Arial"/>
              </a:rPr>
              <a:t>screen ±1 Mb per locus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23560" y="1920240"/>
            <a:ext cx="384048" cy="0"/>
          </a:xfrm>
          <a:prstGeom prst="line">
            <a:avLst/>
          </a:prstGeom>
          <a:ln w="20320">
            <a:solidFill>
              <a:srgbClr val="56B4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80760" y="1399032"/>
            <a:ext cx="2304288" cy="1033271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27064" y="1572768"/>
            <a:ext cx="201168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356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1965960"/>
            <a:ext cx="20116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525E6C"/>
                </a:solidFill>
                <a:latin typeface="Arial"/>
              </a:rPr>
              <a:t>candidate-locus variant records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0" y="1920240"/>
            <a:ext cx="384048" cy="0"/>
          </a:xfrm>
          <a:prstGeom prst="line">
            <a:avLst/>
          </a:prstGeom>
          <a:ln w="20320">
            <a:solidFill>
              <a:srgbClr val="56B4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69680" y="1399032"/>
            <a:ext cx="2304288" cy="1033271"/>
          </a:xfrm>
          <a:prstGeom prst="roundRect">
            <a:avLst/>
          </a:prstGeom>
          <a:solidFill>
            <a:srgbClr val="EFE8F6"/>
          </a:solidFill>
          <a:ln w="12700">
            <a:solidFill>
              <a:srgbClr val="7E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15984" y="1572768"/>
            <a:ext cx="2011680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Direct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1965960"/>
            <a:ext cx="20116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525E6C"/>
                </a:solidFill>
                <a:latin typeface="Arial"/>
              </a:rPr>
              <a:t>target gene + evidence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724912"/>
            <a:ext cx="3657600" cy="2496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8096" y="3008375"/>
            <a:ext cx="64008" cy="310896"/>
          </a:xfrm>
          <a:prstGeom prst="rect">
            <a:avLst/>
          </a:prstGeom>
          <a:solidFill>
            <a:srgbClr val="748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2980944"/>
            <a:ext cx="294436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Set aside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465576"/>
            <a:ext cx="1078992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748291"/>
                </a:solidFill>
                <a:latin typeface="Arial"/>
              </a:rPr>
              <a:t>352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0784" y="3511296"/>
            <a:ext cx="2121408" cy="3566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0F233D"/>
                </a:solidFill>
                <a:latin typeface="Arial"/>
              </a:rPr>
              <a:t>regional proximity-only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169663"/>
            <a:ext cx="3035808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5E6C"/>
                </a:solidFill>
                <a:latin typeface="Arial"/>
              </a:rPr>
              <a:t>They help locate candidate regions but do not name the candidate as the molecular target, so they are not counted as gene support.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0248" y="2724912"/>
            <a:ext cx="3657600" cy="2496312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35424" y="3008375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00016" y="2980944"/>
            <a:ext cx="294436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Grade direct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3465576"/>
            <a:ext cx="1225296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9E73"/>
                </a:solidFill>
                <a:latin typeface="Arial"/>
              </a:rPr>
              <a:t>4 + 1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3511296"/>
            <a:ext cx="1847088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F233D"/>
                </a:solidFill>
                <a:latin typeface="Arial"/>
              </a:rPr>
              <a:t>direct xQTL records + TWAS-list row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4169663"/>
            <a:ext cx="3026664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5E6C"/>
                </a:solidFill>
                <a:latin typeface="Arial"/>
              </a:rPr>
              <a:t>Grade strong / moderate / weak from the source’s direct gene mapping, evidence type, and match to the broad cell context.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37575" y="2724912"/>
            <a:ext cx="3657600" cy="2496312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302752" y="3008375"/>
            <a:ext cx="64008" cy="310896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67344" y="2980944"/>
            <a:ext cx="294436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Mitochondrial route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3465576"/>
            <a:ext cx="603504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69F00"/>
                </a:solidFill>
                <a:latin typeface="Arial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3511296"/>
            <a:ext cx="2340864" cy="3566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33D"/>
                </a:solidFill>
                <a:latin typeface="Arial"/>
              </a:rPr>
              <a:t>mtDNA genes • 20 contexts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169663"/>
            <a:ext cx="3035808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5E6C"/>
                </a:solidFill>
                <a:latin typeface="Arial"/>
              </a:rPr>
              <a:t>The available source lacks mtDNA-specific heteroplasmy, haplogroup, copy-number and NUMT controls; these contexts are not assessable.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" y="5440680"/>
            <a:ext cx="10972800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532120"/>
            <a:ext cx="1057960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D55E00"/>
                </a:solidFill>
                <a:latin typeface="Arial"/>
              </a:rPr>
              <a:t>Colocalization boundary: the public source provides prefiltered summaries, not H0–H4 posterior probabilities; missing statistics were not reconstructed or relabeled.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099048"/>
            <a:ext cx="11183112" cy="438912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02920" y="6099048"/>
            <a:ext cx="91440" cy="438912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6181344"/>
            <a:ext cx="1069848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rial"/>
              </a:rPr>
              <a:t>Decision rule: direct gene mapping can support a candidate; proximity alone cannot. Missing source coverage remains unresolved—not negative.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Method: registered candidate list • ±1 Mb nuclear-locus screen • direct-target review • context-aware evidence grading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HUMAN GENETIC SUPPORT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APOE stands out; COX7C and SELENOW remain limited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Most candidates remain unresolved because direct mapping or appropriate source coverage was unavailable; the grades are not causal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15</a:t>
            </a:r>
          </a:p>
        </p:txBody>
      </p:sp>
      <p:pic>
        <p:nvPicPr>
          <p:cNvPr id="6" name="Human genetic support summary across 47 candidate gene-by-network contexts, highlighting APOE, COX7C, SELENOW, unresolved nuclear candidates, and mitochondrial contexts not assessable in the source" descr="Human genetic support summary across 47 candidate gene-by-network contexts, highlighting APOE, COX7C, SELENOW, unresolved nuclear candidates, and mitochondrial contexts not assessable in the sour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22322"/>
            <a:ext cx="11274552" cy="42728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validated human-genetic-support summary • FunGen-xQTL public snapshot • GENCODE v44 • HGNC 2026-06-05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576072"/>
            <a:ext cx="3017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69F00"/>
                </a:solidFill>
                <a:latin typeface="Arial"/>
              </a:rPr>
              <a:t>SECTION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170432"/>
            <a:ext cx="100584" cy="2066543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0704" y="1243584"/>
            <a:ext cx="7635240" cy="1371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Key-driver network graphs &amp;
proteomics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907792"/>
            <a:ext cx="7132320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i="0">
                <a:solidFill>
                  <a:srgbClr val="CCDBEA"/>
                </a:solidFill>
                <a:latin typeface="Arial"/>
              </a:rPr>
              <a:t>Place prioritized key drivers in their cell-type network context, then test whether predicted modules are supported at the protein level.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804672"/>
            <a:ext cx="2304288" cy="17556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1E3B5B"/>
                </a:solidFill>
                <a:latin typeface="Arial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10634472" y="969264"/>
            <a:ext cx="512064" cy="512064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40112" y="2679192"/>
            <a:ext cx="256032" cy="256032"/>
          </a:xfrm>
          <a:prstGeom prst="ellipse">
            <a:avLst/>
          </a:prstGeom>
          <a:solidFill>
            <a:srgbClr val="56B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 flipV="1">
            <a:off x="9921240" y="1225296"/>
            <a:ext cx="969264" cy="786384"/>
          </a:xfrm>
          <a:prstGeom prst="line">
            <a:avLst/>
          </a:prstGeom>
          <a:ln w="20320">
            <a:solidFill>
              <a:srgbClr val="698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912096" y="2039112"/>
            <a:ext cx="256032" cy="749808"/>
          </a:xfrm>
          <a:prstGeom prst="line">
            <a:avLst/>
          </a:prstGeom>
          <a:ln w="20320">
            <a:solidFill>
              <a:srgbClr val="698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4270248"/>
            <a:ext cx="1920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6B4E9"/>
                </a:solidFill>
                <a:latin typeface="Arial"/>
              </a:rPr>
              <a:t>IN THIS SECTION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Network graph overlays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05072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Protein-level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67728" y="4681728"/>
            <a:ext cx="2834640" cy="694944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4846320"/>
            <a:ext cx="2505456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Arial"/>
              </a:rPr>
              <a:t>Proteomics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0272" y="31089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1ABC5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FIRST-BATCH VALIDATION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Why these seven candidates go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Every listed gene × broad-network pairing is a separate validation unit; support in one network does not validate another.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183112" cy="393192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1380744"/>
            <a:ext cx="94183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56B4E9"/>
                </a:solidFill>
                <a:latin typeface="Arial"/>
              </a:rPr>
              <a:t>GENE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380744"/>
            <a:ext cx="28346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56B4E9"/>
                </a:solidFill>
                <a:latin typeface="Arial"/>
              </a:rPr>
              <a:t>BROAD NETWORK(S) TO 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6" y="1380744"/>
            <a:ext cx="16459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56B4E9"/>
                </a:solidFill>
                <a:latin typeface="Arial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380744"/>
            <a:ext cx="4681728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56B4E9"/>
                </a:solidFill>
                <a:latin typeface="Arial"/>
              </a:rPr>
              <a:t>WHY / PRIMARY 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19072"/>
            <a:ext cx="1118311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719072"/>
            <a:ext cx="73152" cy="51206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1828800"/>
            <a:ext cx="96012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33D"/>
                </a:solidFill>
                <a:latin typeface="Arial"/>
              </a:rPr>
              <a:t>APOE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1792224"/>
            <a:ext cx="28346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233D"/>
                </a:solidFill>
                <a:latin typeface="Arial"/>
              </a:rPr>
              <a:t>Astrocytes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18304" y="1837943"/>
            <a:ext cx="1682496" cy="274320"/>
          </a:xfrm>
          <a:prstGeom prst="roundRect">
            <a:avLst/>
          </a:prstGeom>
          <a:solidFill>
            <a:srgbClr val="E1EEF7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64024" y="1911095"/>
            <a:ext cx="1591056" cy="1188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0072B2"/>
                </a:solidFill>
                <a:latin typeface="Arial"/>
              </a:rPr>
              <a:t>CALIBRATOR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1792224"/>
            <a:ext cx="4919472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5E6C"/>
                </a:solidFill>
                <a:latin typeface="Arial"/>
              </a:rPr>
              <a:t>Known-AD control; reproduce its frozen astrocyte mitochondrial target module.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295144"/>
            <a:ext cx="11183112" cy="512064"/>
          </a:xfrm>
          <a:prstGeom prst="rect">
            <a:avLst/>
          </a:prstGeom>
          <a:solidFill>
            <a:srgbClr val="F7F9FC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2295144"/>
            <a:ext cx="73152" cy="512064"/>
          </a:xfrm>
          <a:prstGeom prst="rect">
            <a:avLst/>
          </a:prstGeom>
          <a:solidFill>
            <a:srgbClr val="56B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2404872"/>
            <a:ext cx="96012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33D"/>
                </a:solidFill>
                <a:latin typeface="Arial"/>
              </a:rPr>
              <a:t>COX7C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2368296"/>
            <a:ext cx="28346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233D"/>
                </a:solidFill>
                <a:latin typeface="Arial"/>
              </a:rPr>
              <a:t>Astrocytes • Inhibitory neurons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18304" y="2414015"/>
            <a:ext cx="1682496" cy="274320"/>
          </a:xfrm>
          <a:prstGeom prst="roundRect">
            <a:avLst/>
          </a:prstGeom>
          <a:solidFill>
            <a:srgbClr val="E1EEF7"/>
          </a:solidFill>
          <a:ln w="12700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64024" y="2487168"/>
            <a:ext cx="1591056" cy="1188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56B4E9"/>
                </a:solidFill>
                <a:latin typeface="Arial"/>
              </a:rPr>
              <a:t>GENETICS-INFORMED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368296"/>
            <a:ext cx="4919472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5E6C"/>
                </a:solidFill>
                <a:latin typeface="Arial"/>
              </a:rPr>
              <a:t>Weak direct bulk-sQTL mapping; test network targets, complex-IV assembly, and protein stoichiometry.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871215"/>
            <a:ext cx="1118311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2871215"/>
            <a:ext cx="73152" cy="512064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6" y="2980944"/>
            <a:ext cx="96012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33D"/>
                </a:solidFill>
                <a:latin typeface="Arial"/>
              </a:rPr>
              <a:t>SELENOW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2944368"/>
            <a:ext cx="28346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233D"/>
                </a:solidFill>
                <a:latin typeface="Arial"/>
              </a:rPr>
              <a:t>Excitatory neurons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18304" y="2990087"/>
            <a:ext cx="1682496" cy="274320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64024" y="3063239"/>
            <a:ext cx="1591056" cy="1188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009E73"/>
                </a:solidFill>
                <a:latin typeface="Arial"/>
              </a:rPr>
              <a:t>REINFORCED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2944368"/>
            <a:ext cx="4919472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5E6C"/>
                </a:solidFill>
                <a:latin typeface="Arial"/>
              </a:rPr>
              <a:t>Stable KDA plus tau/redox evidence; the source TWAS flag remains limited.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447288"/>
            <a:ext cx="11183112" cy="512064"/>
          </a:xfrm>
          <a:prstGeom prst="rect">
            <a:avLst/>
          </a:prstGeom>
          <a:solidFill>
            <a:srgbClr val="F7F9FC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2920" y="3447288"/>
            <a:ext cx="73152" cy="512064"/>
          </a:xfrm>
          <a:prstGeom prst="rect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" y="3557016"/>
            <a:ext cx="96012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33D"/>
                </a:solidFill>
                <a:latin typeface="Arial"/>
              </a:rPr>
              <a:t>LAMTOR5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3520440"/>
            <a:ext cx="28346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F233D"/>
                </a:solidFill>
                <a:latin typeface="Arial"/>
              </a:rPr>
              <a:t>Excitatory neurons • Inhibitory neurons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18304" y="3566160"/>
            <a:ext cx="1682496" cy="274320"/>
          </a:xfrm>
          <a:prstGeom prst="roundRect">
            <a:avLst/>
          </a:prstGeom>
          <a:solidFill>
            <a:srgbClr val="EFE8F6"/>
          </a:solidFill>
          <a:ln w="12700">
            <a:solidFill>
              <a:srgbClr val="7E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64024" y="3639312"/>
            <a:ext cx="1591056" cy="1188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7E4C9A"/>
                </a:solidFill>
                <a:latin typeface="Arial"/>
              </a:rPr>
              <a:t>CROSS-NETWORK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3520440"/>
            <a:ext cx="4919472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5E6C"/>
                </a:solidFill>
                <a:latin typeface="Arial"/>
              </a:rPr>
              <a:t>Two neuronal networks test lysosome–mTOR/mitochondria recurrence.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023360"/>
            <a:ext cx="1118311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2920" y="4023360"/>
            <a:ext cx="73152" cy="512064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6656" y="4133088"/>
            <a:ext cx="96012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33D"/>
                </a:solidFill>
                <a:latin typeface="Arial"/>
              </a:rPr>
              <a:t>RPL11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55648" y="4096512"/>
            <a:ext cx="28346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F233D"/>
                </a:solidFill>
                <a:latin typeface="Arial"/>
              </a:rPr>
              <a:t>Astrocytes • Excitatory neurons
Microglia • Oligodendrocytes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18304" y="4142232"/>
            <a:ext cx="1682496" cy="274320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64024" y="4215384"/>
            <a:ext cx="1591056" cy="1188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E69F00"/>
                </a:solidFill>
                <a:latin typeface="Arial"/>
              </a:rPr>
              <a:t>BIAS TEST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0528" y="4096512"/>
            <a:ext cx="4919472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5E6C"/>
                </a:solidFill>
                <a:latin typeface="Arial"/>
              </a:rPr>
              <a:t>Four selected networks; require expression-, degree-, and ribosomal-matched nulls.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599431"/>
            <a:ext cx="11183112" cy="512064"/>
          </a:xfrm>
          <a:prstGeom prst="rect">
            <a:avLst/>
          </a:prstGeom>
          <a:solidFill>
            <a:srgbClr val="F7F9FC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02920" y="4599431"/>
            <a:ext cx="73152" cy="512064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6656" y="4709159"/>
            <a:ext cx="96012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33D"/>
                </a:solidFill>
                <a:latin typeface="Arial"/>
              </a:rPr>
              <a:t>FTL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5648" y="4672583"/>
            <a:ext cx="28346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233D"/>
                </a:solidFill>
                <a:latin typeface="Arial"/>
              </a:rPr>
              <a:t>OPCs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18304" y="4718303"/>
            <a:ext cx="1682496" cy="274320"/>
          </a:xfrm>
          <a:prstGeom prst="roundRect">
            <a:avLst/>
          </a:prstGeom>
          <a:solidFill>
            <a:srgbClr val="FAE8E0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64024" y="4791455"/>
            <a:ext cx="1591056" cy="1188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D55E00"/>
                </a:solidFill>
                <a:latin typeface="Arial"/>
              </a:rPr>
              <a:t>EXPLORATORY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0528" y="4672583"/>
            <a:ext cx="4919472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5E6C"/>
                </a:solidFill>
                <a:latin typeface="Arial"/>
              </a:rPr>
              <a:t>Sparse OPC signal; localize the iron/ferroptosis mechanism before promotion.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175504"/>
            <a:ext cx="1118311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2920" y="5175504"/>
            <a:ext cx="73152" cy="512064"/>
          </a:xfrm>
          <a:prstGeom prst="rect">
            <a:avLst/>
          </a:prstGeom>
          <a:solidFill>
            <a:srgbClr val="1E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6656" y="5285232"/>
            <a:ext cx="96012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33D"/>
                </a:solidFill>
                <a:latin typeface="Arial"/>
              </a:rPr>
              <a:t>ANKRD11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55648" y="5248656"/>
            <a:ext cx="28346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233D"/>
                </a:solidFill>
                <a:latin typeface="Arial"/>
              </a:rPr>
              <a:t>OPCs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718304" y="5294376"/>
            <a:ext cx="1682496" cy="274320"/>
          </a:xfrm>
          <a:prstGeom prst="roundRect">
            <a:avLst/>
          </a:prstGeom>
          <a:solidFill>
            <a:srgbClr val="EAEFF5"/>
          </a:solidFill>
          <a:ln w="12700">
            <a:solidFill>
              <a:srgbClr val="1E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764024" y="5367528"/>
            <a:ext cx="1591056" cy="1188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E3B5B"/>
                </a:solidFill>
                <a:latin typeface="Arial"/>
              </a:rPr>
              <a:t>NOVELTY TEST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0528" y="5248656"/>
            <a:ext cx="4919472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5E6C"/>
                </a:solidFill>
                <a:latin typeface="Arial"/>
              </a:rPr>
              <a:t>Sparse OPC novelty test for chromatin-linked regulation.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989320"/>
            <a:ext cx="11183112" cy="438912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02920" y="5989320"/>
            <a:ext cx="91440" cy="438912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1520" y="6071616"/>
            <a:ext cx="1069848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rial"/>
              </a:rPr>
              <a:t>Validate every listed gene × network unit separately; COX7C enters both astrocyte and inhibitory-neuron workstreams, but one bulk-sQTL result is not two replications.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Sources: Phase 18 call_key_driver_returns.tsv • cross-validation guide, Section 2 • Tier 1 human-genetic-support report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APOE • ASTROCYTES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APOE anchors a recurrent astrocyte mitochondrial neighborhood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APOE is an established AD gene; the Phase 18 contribution is its placement within a specific astrocyte mitochondrial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24</a:t>
            </a:r>
          </a:p>
        </p:txBody>
      </p:sp>
      <p:pic>
        <p:nvPicPr>
          <p:cNvPr id="6" name="APOE-centered astrocyte consensus network with directed Bayesian-network edges and contextual pathway outlines" descr="APOE-centered astrocyte consensus network with directed Bayesian-network edges and contextual pathway out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40" y="1124712"/>
            <a:ext cx="7184367" cy="54041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298448"/>
            <a:ext cx="3291840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59368" y="1581912"/>
            <a:ext cx="64008" cy="31089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23960" y="1554480"/>
            <a:ext cx="2624327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Evidence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59368" y="1993392"/>
            <a:ext cx="126187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05672" y="2084832"/>
            <a:ext cx="969263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2B2"/>
                </a:solidFill>
                <a:latin typeface="Arial"/>
              </a:rPr>
              <a:t>4/14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5672" y="2551176"/>
            <a:ext cx="969263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supporting / tested astrocyte 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49256" y="1993392"/>
            <a:ext cx="139903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95560" y="2084832"/>
            <a:ext cx="1106424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9E73"/>
                </a:solidFill>
                <a:latin typeface="Arial"/>
              </a:rPr>
              <a:t>1.27×10⁻²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2551176"/>
            <a:ext cx="1106424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aggregate ACAT 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59368" y="3209544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23960" y="3182112"/>
            <a:ext cx="2624327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Network readout</a:t>
            </a:r>
          </a:p>
        </p:txBody>
      </p:sp>
      <p:sp>
        <p:nvSpPr>
          <p:cNvPr id="18" name="Oval 17"/>
          <p:cNvSpPr/>
          <p:nvPr/>
        </p:nvSpPr>
        <p:spPr>
          <a:xfrm>
            <a:off x="8659368" y="3749039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33104" y="3621024"/>
            <a:ext cx="2487168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F2730"/>
                </a:solidFill>
                <a:latin typeface="Arial"/>
              </a:rPr>
              <a:t>19 nodes, 18 directed edges, and seven mitochondrial query hits across four supporting runs.</a:t>
            </a:r>
          </a:p>
        </p:txBody>
      </p:sp>
      <p:sp>
        <p:nvSpPr>
          <p:cNvPr id="20" name="Oval 19"/>
          <p:cNvSpPr/>
          <p:nvPr/>
        </p:nvSpPr>
        <p:spPr>
          <a:xfrm>
            <a:off x="8659368" y="4279392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33104" y="4151376"/>
            <a:ext cx="2487168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F2730"/>
                </a:solidFill>
                <a:latin typeface="Arial"/>
              </a:rPr>
              <a:t>APOE-linked paths reach ATP5F1A, ATP5PB, CHCHD10, LDHB, NME3, TUFM, and AGT.</a:t>
            </a:r>
          </a:p>
        </p:txBody>
      </p:sp>
      <p:sp>
        <p:nvSpPr>
          <p:cNvPr id="22" name="Oval 21"/>
          <p:cNvSpPr/>
          <p:nvPr/>
        </p:nvSpPr>
        <p:spPr>
          <a:xfrm>
            <a:off x="8659368" y="4809744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33104" y="4681728"/>
            <a:ext cx="2487168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F2730"/>
                </a:solidFill>
                <a:latin typeface="Arial"/>
              </a:rPr>
              <a:t>Amyloid, cholesterol/efflux, and cristae outlines are contextual; none has BH FDR &lt; 0.05.</a:t>
            </a:r>
          </a:p>
        </p:txBody>
      </p:sp>
      <p:sp>
        <p:nvSpPr>
          <p:cNvPr id="24" name="Oval 23"/>
          <p:cNvSpPr/>
          <p:nvPr/>
        </p:nvSpPr>
        <p:spPr>
          <a:xfrm>
            <a:off x="8659368" y="5340096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33104" y="5212080"/>
            <a:ext cx="2487168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F2730"/>
                </a:solidFill>
                <a:latin typeface="Arial"/>
              </a:rPr>
              <a:t>Support spans three fine cell types and both mitochondrial directions; leave-one-fine-cell-type retention is 2/3.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7656" y="5879592"/>
            <a:ext cx="2624328" cy="2834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233D"/>
                </a:solidFill>
                <a:latin typeface="Arial"/>
              </a:rPr>
              <a:t>Interpretation: credible network placement, but less stable than the strongest neuronal candidates and not proof of direct APOE regulation.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phase18_apoe_astrocyte_consensus_network_pathways.png, caption, methods, and gene-by-gene analysis</a:t>
            </a:r>
          </a:p>
        </p:txBody>
      </p:sp>
    </p:spTree>
    <p:extLst>
      <p:ext uri="{BB962C8B-B14F-4D97-AF65-F5344CB8AC3E}">
        <p14:creationId xmlns:p14="http://schemas.microsoft.com/office/powerpoint/2010/main" val="4170170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APOE • ASTROCYTES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STRING reveals two distinct APOE-neighborhood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Medium-confidence STRING associations are undirected and context-agnostic; they complement, but do not validate, Bayesian edge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" y="1271016"/>
            <a:ext cx="5522976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STRING medium-confidence functional association network for APOE and the astrocyte consensus-neighborhood proteins" descr="STRING medium-confidence functional association network for APOE and the astrocyte consensus-neighborhood protei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3513"/>
            <a:ext cx="5029200" cy="34247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44768" y="1271016"/>
            <a:ext cx="555955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28232" y="1600200"/>
            <a:ext cx="64008" cy="31089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92824" y="1572768"/>
            <a:ext cx="4837176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What the image supports</a:t>
            </a:r>
          </a:p>
        </p:txBody>
      </p:sp>
      <p:sp>
        <p:nvSpPr>
          <p:cNvPr id="11" name="Oval 10"/>
          <p:cNvSpPr/>
          <p:nvPr/>
        </p:nvSpPr>
        <p:spPr>
          <a:xfrm>
            <a:off x="6428232" y="2139696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2011680"/>
            <a:ext cx="4782312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730"/>
                </a:solidFill>
                <a:latin typeface="Arial"/>
              </a:rPr>
              <a:t>A mitochondrial protein cluster contains TUFM, ATP5F1A, ATP5PB, CHCHD10, and NME3.</a:t>
            </a:r>
          </a:p>
        </p:txBody>
      </p:sp>
      <p:sp>
        <p:nvSpPr>
          <p:cNvPr id="13" name="Oval 12"/>
          <p:cNvSpPr/>
          <p:nvPr/>
        </p:nvSpPr>
        <p:spPr>
          <a:xfrm>
            <a:off x="6428232" y="2688336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1968" y="2560320"/>
            <a:ext cx="4782312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730"/>
                </a:solidFill>
                <a:latin typeface="Arial"/>
              </a:rPr>
              <a:t>APOE instead connects with a lipid/amyloid/stress neighborhood containing PLTP, CST3, AGT, ITM2B, and GPX4.</a:t>
            </a:r>
          </a:p>
        </p:txBody>
      </p:sp>
      <p:sp>
        <p:nvSpPr>
          <p:cNvPr id="15" name="Oval 14"/>
          <p:cNvSpPr/>
          <p:nvPr/>
        </p:nvSpPr>
        <p:spPr>
          <a:xfrm>
            <a:off x="6428232" y="3236976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3108960"/>
            <a:ext cx="4782312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730"/>
                </a:solidFill>
                <a:latin typeface="Arial"/>
              </a:rPr>
              <a:t>Their separation argues against reading this figure as a simple direct APOE→mitochondrial protein chain.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28232" y="3822192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92824" y="3794760"/>
            <a:ext cx="4837176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Mechanism and decisive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224528"/>
            <a:ext cx="4892040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5E6C"/>
                </a:solidFill>
                <a:latin typeface="Arial"/>
              </a:rPr>
              <a:t>Prior cell studies connect APOE4 to lysosomal cholesterol accumulation, impaired mitophagy, altered mitochondrial dynamics, and disrupted fatty-acid metabolism. Test whether that biology reproduces the exact Phase 18 target neighborhood in APOE2/3/4-isogenic astrocytes.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7376" y="5230368"/>
            <a:ext cx="4855464" cy="667512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0256" y="5349240"/>
            <a:ext cx="4480560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0F233D"/>
                </a:solidFill>
                <a:latin typeface="Arial"/>
              </a:rPr>
              <a:t>Measure respiration, substrate use, cholesterol distribution, mitophagy, lipid-droplet transfer, and the frozen target module; fit donor-level disease × sex × APOE interactions separately.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5989320"/>
            <a:ext cx="4791456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D55E00"/>
                </a:solidFill>
                <a:latin typeface="Arial"/>
              </a:rPr>
              <a:t>Observed female ε2, male ε2, and male ε4 support is descriptive—not evidence of an interaction.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Sources: stringdb_full_medium_conf.png • phase18_key_driver_gene_by_gene_initial_analysis.md • Lee 2023; Schmukler 2020; Qi 2021; Williams 2020</a:t>
            </a:r>
          </a:p>
        </p:txBody>
      </p:sp>
    </p:spTree>
    <p:extLst>
      <p:ext uri="{BB962C8B-B14F-4D97-AF65-F5344CB8AC3E}">
        <p14:creationId xmlns:p14="http://schemas.microsoft.com/office/powerpoint/2010/main" val="4901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36576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6B4E9"/>
                </a:solidFill>
                <a:latin typeface="Arial"/>
              </a:rPr>
              <a:t>RPL11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7543800" cy="11521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rial"/>
              </a:rPr>
              <a:t>A ribosomal-stress candidate at the
translation–mitochondria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13432"/>
            <a:ext cx="740664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CDBEA"/>
                </a:solidFill>
                <a:latin typeface="Arial"/>
              </a:rPr>
              <a:t>RPL11 is the broadest non-MT network candidate, but the mechanistic claim depends on distinguishing a true stress transducer from a highly connected module marker.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64408"/>
            <a:ext cx="1700784" cy="1115568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" y="3429000"/>
            <a:ext cx="1408176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9E73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95344"/>
            <a:ext cx="1426464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FDCEA"/>
                </a:solidFill>
                <a:latin typeface="Arial"/>
              </a:rPr>
              <a:t>passing broad networks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9464" y="3264408"/>
            <a:ext cx="1700784" cy="1115568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15768" y="3429000"/>
            <a:ext cx="1408176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6B4E9"/>
                </a:solidFill>
                <a:latin typeface="Arial"/>
              </a:rPr>
              <a:t>29/84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3895344"/>
            <a:ext cx="1426464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FDCEA"/>
                </a:solidFill>
                <a:latin typeface="Arial"/>
              </a:rPr>
              <a:t>significant / tested runs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3264408"/>
            <a:ext cx="1700784" cy="1115568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3429000"/>
            <a:ext cx="1408176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69F00"/>
                </a:solidFill>
                <a:latin typeface="Arial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895344"/>
            <a:ext cx="1426464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FDCEA"/>
                </a:solidFill>
                <a:latin typeface="Arial"/>
              </a:rPr>
              <a:t>conservative-support runs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264408"/>
            <a:ext cx="1700784" cy="1115568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7E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3096" y="3429000"/>
            <a:ext cx="1408176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E4C9A"/>
                </a:solidFill>
                <a:latin typeface="Arial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895344"/>
            <a:ext cx="1426464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FDCEA"/>
                </a:solidFill>
                <a:latin typeface="Arial"/>
              </a:rPr>
              <a:t>supporting fine cell 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30768" y="667512"/>
            <a:ext cx="3136392" cy="2404872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941832"/>
            <a:ext cx="2615184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33D"/>
                </a:solidFill>
                <a:latin typeface="Arial"/>
              </a:rPr>
              <a:t>Mechanistic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426464"/>
            <a:ext cx="2560320" cy="10698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25E6C"/>
                </a:solidFill>
                <a:latin typeface="Arial"/>
              </a:rPr>
              <a:t>Free RPL11 can inhibit MDM2 and activate p53; neuronal ribosomal stress can require RPL11 for p53-linked cell death.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542032"/>
            <a:ext cx="2578608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09E73"/>
                </a:solidFill>
                <a:latin typeface="Arial"/>
              </a:rPr>
              <a:t>RPL11 transmits stress into mitochondrial and survival programs.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30768" y="3300984"/>
            <a:ext cx="3136392" cy="2414016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0" y="3575304"/>
            <a:ext cx="2615184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33D"/>
                </a:solidFill>
                <a:latin typeface="Arial"/>
              </a:rPr>
              <a:t>Module-marker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59936"/>
            <a:ext cx="2560320" cy="10607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25E6C"/>
                </a:solidFill>
                <a:latin typeface="Arial"/>
              </a:rPr>
              <a:t>RPL11 may inherit strong KDA and STRING signals from high expression, ribosomal connectivity, or a general disease/quality response.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175504"/>
            <a:ext cx="2578608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D55E00"/>
                </a:solidFill>
                <a:latin typeface="Arial"/>
              </a:rPr>
              <a:t>Target specificity and matched ribosomal nulls decide between the models.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28032"/>
            <a:ext cx="7360920" cy="969264"/>
          </a:xfrm>
          <a:prstGeom prst="roundRect">
            <a:avLst/>
          </a:prstGeom>
          <a:solidFill>
            <a:srgbClr val="1E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5047488"/>
            <a:ext cx="12801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6B4E9"/>
                </a:solidFill>
                <a:latin typeface="Arial"/>
              </a:rPr>
              <a:t>Human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9696" y="4956048"/>
            <a:ext cx="5550408" cy="576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FFFFFF"/>
                </a:solidFill>
                <a:latin typeface="Arial"/>
              </a:rPr>
              <a:t>AD capillary proteomics reported increased RPL11/RPL15 protein, while earlier AD work supports ribosomal dysfunction. The capillary signal does not establish neuronal or astrocytic localization.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11128" y="31089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1ABC5"/>
                </a:solidFill>
                <a:latin typeface="Arial"/>
              </a:rPr>
              <a:t>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Biological discussion: phase18_key_driver_gene_by_gene_initial_analysis.md • Zhang 2003; Slomnicki 2018; Suzuki 2022; Ding 2005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RPL11 • ASTROCYTES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A focused respiratory branch emerges from three supporting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Directed Bayesian-network edges are model-derived regulatory hypotheses; pathway outlines summarize the displayed genes.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19</a:t>
            </a:r>
          </a:p>
        </p:txBody>
      </p:sp>
      <p:pic>
        <p:nvPicPr>
          <p:cNvPr id="6" name="RPL11-centered astrocyte consensus network with pathway annotations" descr="RPL11-centered astrocyte consensus network with pathway annot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92" y="1143000"/>
            <a:ext cx="6208710" cy="5349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10727" y="1307592"/>
            <a:ext cx="3593592" cy="4992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75904" y="1581912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0496" y="1554480"/>
            <a:ext cx="289864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Evidence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75904" y="1993392"/>
            <a:ext cx="140817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22208" y="2084832"/>
            <a:ext cx="1115568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9E73"/>
                </a:solidFill>
                <a:latin typeface="Arial"/>
              </a:rPr>
              <a:t>3/20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2551176"/>
            <a:ext cx="111556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supporting / usable astrocyte 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1993392"/>
            <a:ext cx="143560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94976" y="2084832"/>
            <a:ext cx="11430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72B2"/>
                </a:solidFill>
                <a:latin typeface="Arial"/>
              </a:rPr>
              <a:t>3.44×10⁻⁵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4976" y="2551176"/>
            <a:ext cx="11430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aggregate ACAT 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75904" y="3209544"/>
            <a:ext cx="64008" cy="31089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0496" y="3182112"/>
            <a:ext cx="289864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Network readout</a:t>
            </a:r>
          </a:p>
        </p:txBody>
      </p:sp>
      <p:sp>
        <p:nvSpPr>
          <p:cNvPr id="18" name="Oval 17"/>
          <p:cNvSpPr/>
          <p:nvPr/>
        </p:nvSpPr>
        <p:spPr>
          <a:xfrm>
            <a:off x="8375904" y="3749039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3621024"/>
            <a:ext cx="2816352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F2730"/>
                </a:solidFill>
                <a:latin typeface="Arial"/>
              </a:rPr>
              <a:t>18 nodes, 17 directed edges, and 12 mitochondrial query hits.</a:t>
            </a:r>
          </a:p>
        </p:txBody>
      </p:sp>
      <p:sp>
        <p:nvSpPr>
          <p:cNvPr id="20" name="Oval 19"/>
          <p:cNvSpPr/>
          <p:nvPr/>
        </p:nvSpPr>
        <p:spPr>
          <a:xfrm>
            <a:off x="8375904" y="4306824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4178808"/>
            <a:ext cx="2816352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F2730"/>
                </a:solidFill>
                <a:latin typeface="Arial"/>
              </a:rPr>
              <a:t>Upstream chain: RPS25 → RPLP1 → RPL11. Direct outputs: COX7C, CWC15, and PRDX1.</a:t>
            </a:r>
          </a:p>
        </p:txBody>
      </p:sp>
      <p:sp>
        <p:nvSpPr>
          <p:cNvPr id="22" name="Oval 21"/>
          <p:cNvSpPr/>
          <p:nvPr/>
        </p:nvSpPr>
        <p:spPr>
          <a:xfrm>
            <a:off x="8375904" y="4864608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9640" y="4736592"/>
            <a:ext cx="2816352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F2730"/>
                </a:solidFill>
                <a:latin typeface="Arial"/>
              </a:rPr>
              <a:t>ETC/OXPHOS: 8 genes, BH FDR 1.98×10⁻⁸. Cristae formation: 3 genes, FDR 0.00475.</a:t>
            </a:r>
          </a:p>
        </p:txBody>
      </p:sp>
      <p:sp>
        <p:nvSpPr>
          <p:cNvPr id="24" name="Oval 23"/>
          <p:cNvSpPr/>
          <p:nvPr/>
        </p:nvSpPr>
        <p:spPr>
          <a:xfrm>
            <a:off x="8375904" y="5422392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49640" y="5294376"/>
            <a:ext cx="2816352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F2730"/>
                </a:solidFill>
                <a:latin typeface="Arial"/>
              </a:rPr>
              <a:t>The ribosome outline is contextual (FDR 0.0805), not significant at 0.05.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5907024"/>
            <a:ext cx="29260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F233D"/>
                </a:solidFill>
                <a:latin typeface="Arial"/>
              </a:rPr>
              <a:t>Interpretation: a reproducible but relatively small astrocyte signal connects RPL11 to a coherent respiratory/cristae branch.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phase18_rpl11_astrocyte_consensus_network_pathways.png, caption, methods, and ORA table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RPL11 • ASTROCYTES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STRING supports target-module coherence more clearly than direct regulation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Medium-confidence STRING functional associations are undirected and are not astrocyte- or AD-specific.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" y="1271016"/>
            <a:ext cx="491947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STRING medium-confidence network for RPL11 and astrocyte mitochondrial target proteins" descr="STRING medium-confidence network for RPL11 and astrocyte mitochondrial target protei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51294"/>
            <a:ext cx="4425696" cy="30137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559552" y="1271016"/>
            <a:ext cx="614476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70448" y="1618488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1591056"/>
            <a:ext cx="53035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What the image supports</a:t>
            </a:r>
          </a:p>
        </p:txBody>
      </p:sp>
      <p:sp>
        <p:nvSpPr>
          <p:cNvPr id="11" name="Oval 10"/>
          <p:cNvSpPr/>
          <p:nvPr/>
        </p:nvSpPr>
        <p:spPr>
          <a:xfrm>
            <a:off x="5870448" y="2203704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44184" y="2075688"/>
            <a:ext cx="5230368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730"/>
                </a:solidFill>
                <a:latin typeface="Arial"/>
              </a:rPr>
              <a:t>The respiratory targets form a dense protein-association core spanning complex I, III, IV, and V proteins.</a:t>
            </a:r>
          </a:p>
        </p:txBody>
      </p:sp>
      <p:sp>
        <p:nvSpPr>
          <p:cNvPr id="13" name="Oval 12"/>
          <p:cNvSpPr/>
          <p:nvPr/>
        </p:nvSpPr>
        <p:spPr>
          <a:xfrm>
            <a:off x="5870448" y="2834640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44184" y="2706624"/>
            <a:ext cx="5230368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730"/>
                </a:solidFill>
                <a:latin typeface="Arial"/>
              </a:rPr>
              <a:t>RPL11 is sparsely connected relative to the target-to-target core; PSAP and CYB5R3 remain visually isolated in this view.</a:t>
            </a:r>
          </a:p>
        </p:txBody>
      </p:sp>
      <p:sp>
        <p:nvSpPr>
          <p:cNvPr id="15" name="Oval 14"/>
          <p:cNvSpPr/>
          <p:nvPr/>
        </p:nvSpPr>
        <p:spPr>
          <a:xfrm>
            <a:off x="5870448" y="3465576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44184" y="3337560"/>
            <a:ext cx="5230368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730"/>
                </a:solidFill>
                <a:latin typeface="Arial"/>
              </a:rPr>
              <a:t>The visual density therefore supports a coherent mitochondrial module, but it cannot by itself show that RPL11 regulates that module.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0448" y="4261104"/>
            <a:ext cx="64008" cy="310896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0" y="4233672"/>
            <a:ext cx="53035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Claim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4681728"/>
            <a:ext cx="5303520" cy="9326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25E6C"/>
                </a:solidFill>
                <a:latin typeface="Arial"/>
              </a:rPr>
              <a:t>A direct RPL11 claim requires the input-only physical network, edge-level experimental/curated evidence, a ≥0.700 threshold, and matched ribosomal/topology controls. Until then, the medium-confidence figure is suggestive module-level cross-validation.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9592" y="5696712"/>
            <a:ext cx="5266944" cy="384048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9904" y="5769864"/>
            <a:ext cx="48463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F233D"/>
                </a:solidFill>
                <a:latin typeface="Arial"/>
              </a:rPr>
              <a:t>Allowed conclusion: protein-level coherence of the target module; direct RPL11 support remains provisional.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astrocyte/stringdb_full_medium_conf.png • interpretation follows rpl11_astrocyte_string_analysis_guide.md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9F00"/>
                </a:solidFill>
                <a:latin typeface="Arial"/>
              </a:rPr>
              <a:t>RPL11 • EXCITATORY NEURONS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A broader translation–mitochondria interface recurs across 20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The excitatory context has stronger aggregate evidence and complete leave-one-fine-cell-type candidate retention.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21</a:t>
            </a:r>
          </a:p>
        </p:txBody>
      </p:sp>
      <p:pic>
        <p:nvPicPr>
          <p:cNvPr id="6" name="RPL11-centered excitatory-neuron consensus network with pathway annotations" descr="RPL11-centered excitatory-neuron consensus network with pathway annot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19" y="1133856"/>
            <a:ext cx="7513665" cy="538581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93024" y="1298448"/>
            <a:ext cx="3511296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39912" y="1581912"/>
            <a:ext cx="64008" cy="310896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554480"/>
            <a:ext cx="2834639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Evidence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9912" y="1993392"/>
            <a:ext cx="1417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86216" y="2084832"/>
            <a:ext cx="112471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69F00"/>
                </a:solidFill>
                <a:latin typeface="Arial"/>
              </a:rPr>
              <a:t>20/97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6216" y="2551176"/>
            <a:ext cx="1124712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supporting / usable excitatory 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21824" y="1993392"/>
            <a:ext cx="14173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68128" y="2084832"/>
            <a:ext cx="112471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72B2"/>
                </a:solidFill>
                <a:latin typeface="Arial"/>
              </a:rPr>
              <a:t>1.84×10⁻⁹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8128" y="2551176"/>
            <a:ext cx="1124712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aggregate ACAT 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3209544"/>
            <a:ext cx="64008" cy="31089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3182112"/>
            <a:ext cx="2834639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Network readout</a:t>
            </a:r>
          </a:p>
        </p:txBody>
      </p:sp>
      <p:sp>
        <p:nvSpPr>
          <p:cNvPr id="18" name="Oval 17"/>
          <p:cNvSpPr/>
          <p:nvPr/>
        </p:nvSpPr>
        <p:spPr>
          <a:xfrm>
            <a:off x="8439912" y="3749039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13648" y="3621024"/>
            <a:ext cx="2743200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F2730"/>
                </a:solidFill>
                <a:latin typeface="Arial"/>
              </a:rPr>
              <a:t>35 nodes, 34 directed edges, 21 mitochondrial query hits, and 9 direct RPL11 outputs.</a:t>
            </a:r>
          </a:p>
        </p:txBody>
      </p:sp>
      <p:sp>
        <p:nvSpPr>
          <p:cNvPr id="20" name="Oval 19"/>
          <p:cNvSpPr/>
          <p:nvPr/>
        </p:nvSpPr>
        <p:spPr>
          <a:xfrm>
            <a:off x="8439912" y="4306824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13648" y="4178808"/>
            <a:ext cx="2743200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F2730"/>
                </a:solidFill>
                <a:latin typeface="Arial"/>
              </a:rPr>
              <a:t>Direct outputs include ribosomal proteins plus COX7C and SMDT1, creating a model-derived bridge to mitochondrial functions.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8439912" y="4864608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13648" y="4736592"/>
            <a:ext cx="2743200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F2730"/>
                </a:solidFill>
                <a:latin typeface="Arial"/>
              </a:rPr>
              <a:t>Cytosolic ribosome: 14 genes, FDR 1.35×10⁻¹⁶; ETC/OXPHOS: 12 genes, FDR 3.20×10⁻¹³.</a:t>
            </a:r>
          </a:p>
        </p:txBody>
      </p:sp>
      <p:sp>
        <p:nvSpPr>
          <p:cNvPr id="24" name="Oval 23"/>
          <p:cNvSpPr/>
          <p:nvPr/>
        </p:nvSpPr>
        <p:spPr>
          <a:xfrm>
            <a:off x="8439912" y="5422392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13648" y="5294376"/>
            <a:ext cx="2743200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F2730"/>
                </a:solidFill>
                <a:latin typeface="Arial"/>
              </a:rPr>
              <a:t>Mitochondrial protein degradation (FDR 0.00180) and cristae formation (FDR 0.00762) add proteostasis/structure hypotheses.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5916168"/>
            <a:ext cx="2852928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F233D"/>
                </a:solidFill>
                <a:latin typeface="Arial"/>
              </a:rPr>
              <a:t>Interpretation: the excitatory signal is broader and more recurrent, but its ribosomal density makes specificity controls essential.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phase18_rpl11_excitatory_consensus_network_pathways.png, node/edge tables, and ORA table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9F00"/>
                </a:solidFill>
                <a:latin typeface="Arial"/>
              </a:rPr>
              <a:t>RPL11 • EXCITATORY NEURONS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STRING resolves ribosomal and respiratory protein neighborhoods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The displayed functional network is useful for architecture; it does not preserve Bayesian edge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80160"/>
            <a:ext cx="6976872" cy="4965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STRING medium-confidence network for RPL11 and excitatory-neuron target proteins" descr="STRING medium-confidence network for RPL11 and excitatory-neuron target protei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505535"/>
            <a:ext cx="6629400" cy="451444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16368" y="1280160"/>
            <a:ext cx="4187952" cy="4965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81544" y="1618488"/>
            <a:ext cx="64008" cy="310896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46136" y="1591056"/>
            <a:ext cx="34747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Architecture</a:t>
            </a:r>
          </a:p>
        </p:txBody>
      </p:sp>
      <p:sp>
        <p:nvSpPr>
          <p:cNvPr id="11" name="Oval 10"/>
          <p:cNvSpPr/>
          <p:nvPr/>
        </p:nvSpPr>
        <p:spPr>
          <a:xfrm>
            <a:off x="7781544" y="2185416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2057400"/>
            <a:ext cx="3355848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RPL11 sits with cytosolic/mitochondrial ribosomal proteins, while the respiratory proteins form a dense OXPHOS core.</a:t>
            </a:r>
          </a:p>
        </p:txBody>
      </p:sp>
      <p:sp>
        <p:nvSpPr>
          <p:cNvPr id="13" name="Oval 12"/>
          <p:cNvSpPr/>
          <p:nvPr/>
        </p:nvSpPr>
        <p:spPr>
          <a:xfrm>
            <a:off x="7781544" y="2825496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2697480"/>
            <a:ext cx="3355848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The view is consistent with a ribosome–mitochondria interface rather than one simple RPL11→target protein chain.</a:t>
            </a:r>
          </a:p>
        </p:txBody>
      </p:sp>
      <p:sp>
        <p:nvSpPr>
          <p:cNvPr id="15" name="Oval 14"/>
          <p:cNvSpPr/>
          <p:nvPr/>
        </p:nvSpPr>
        <p:spPr>
          <a:xfrm>
            <a:off x="7781544" y="3465576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3337560"/>
            <a:ext cx="3355848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Respiratory-protein density is expected and can dominate whole-network PPI enrichment.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81544" y="4160520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46136" y="4133087"/>
            <a:ext cx="34747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Exploratory elements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4599432"/>
            <a:ext cx="3465576" cy="7680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MRPS18C, COX17, COX20, and PINK1 appear as STRING-side connectors rather than prespecified Bayesian-consensus nodes. They are mechanism hypotheses—not validation endpoints.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81544" y="5532120"/>
            <a:ext cx="3511296" cy="512064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3568" y="5641848"/>
            <a:ext cx="313639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0F233D"/>
                </a:solidFill>
                <a:latin typeface="Arial"/>
              </a:rPr>
              <a:t>Test RPL11-to-target edges separately from target-to-target connectivity.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excitatory/stringdb_full_medium_conf.png • medium-confidence functional STRING view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RPL11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The excitatory signal is broader; the astrocyte signal is more focused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Both contexts support a translation/stress-to-mitochondria hypothesis, while leaving target specificity unresolved.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417320"/>
            <a:ext cx="5385816" cy="3319272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20116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E73"/>
                </a:solidFill>
                <a:latin typeface="Arial"/>
              </a:rPr>
              <a:t>ASTROCYTES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02536"/>
            <a:ext cx="4507992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F233D"/>
                </a:solidFill>
                <a:latin typeface="Arial"/>
              </a:rPr>
              <a:t>Focused respiratory branch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70048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8136" y="2542032"/>
            <a:ext cx="4434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3/20 supporting runs; aggregate q 3.44×10⁻⁵.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127248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" y="2999232"/>
            <a:ext cx="4434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18-node directed consensus with ETC/OXPHOS and cristae enrichment.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584448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" y="3456432"/>
            <a:ext cx="4434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STRING shows a dense target core but comparatively sparse RPL11 connectivity.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041647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8136" y="3913631"/>
            <a:ext cx="4434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Best current framing: focused, plausible, and still in need of protein-edge/null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417320"/>
            <a:ext cx="5358384" cy="3319272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673352"/>
            <a:ext cx="2514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69F00"/>
                </a:solidFill>
                <a:latin typeface="Arial"/>
              </a:rPr>
              <a:t>EXCITATORY NEURONS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02536"/>
            <a:ext cx="4590288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F233D"/>
                </a:solidFill>
                <a:latin typeface="Arial"/>
              </a:rPr>
              <a:t>Broad translation–mitochondria interface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2670048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65976" y="2542032"/>
            <a:ext cx="4370831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20/97 supporting runs; aggregate q 1.84×10⁻⁹.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127248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65976" y="2999232"/>
            <a:ext cx="4370831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35-node consensus combines ribosome, OXPHOS, cristae, and mitochondrial proteostasis.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584448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65976" y="3456432"/>
            <a:ext cx="4370831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STRING separates a ribosomal neighborhood and dense respiratory core with exploratory connectors.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4041647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65976" y="3913631"/>
            <a:ext cx="4370831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Best current framing: stronger recurrence, but higher risk of generic ribosomal-module effects.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" y="5038344"/>
            <a:ext cx="10515600" cy="1170432"/>
          </a:xfrm>
          <a:prstGeom prst="round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" y="5230368"/>
            <a:ext cx="162763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6B4E9"/>
                </a:solidFill>
                <a:latin typeface="Arial"/>
              </a:rPr>
              <a:t>DECISIVE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78608" y="5193792"/>
            <a:ext cx="8366760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FFFFFF"/>
                </a:solidFill>
                <a:latin typeface="Arial"/>
              </a:rPr>
              <a:t>Match for expression, degree, neighborhood size, and ribosomal class → use partial CRISPRi/CRISPRa in APOE-isogenic astrocytes and excitatory neurons → measure predicted MT targets, p53, nascent translation, respiration, and viability → add p53 inhibition/rescue and spatial/vascular proteomics.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Interpretation and validation priorities synthesized from phase18_key_driver_gene_by_gene_initial_analysis.md</a:t>
            </a:r>
          </a:p>
        </p:txBody>
      </p:sp>
    </p:spTree>
    <p:extLst>
      <p:ext uri="{BB962C8B-B14F-4D97-AF65-F5344CB8AC3E}">
        <p14:creationId xmlns:p14="http://schemas.microsoft.com/office/powerpoint/2010/main" val="4195445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COX7C • ASTROCYTES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A compact astrocyte signal maps to a coherent respiratory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COX7C was self-excluded from both mitochondrial queries; the retained hits therefore reflect other genes in its modeled neighborhood.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26</a:t>
            </a:r>
          </a:p>
        </p:txBody>
      </p:sp>
      <p:pic>
        <p:nvPicPr>
          <p:cNvPr id="6" name="COX7C-centered astrocyte consensus network with directed Bayesian-network edges and significant pathway outlines" descr="COX7C-centered astrocyte consensus network with directed Bayesian-network edges and significant pathway out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26" y="1115568"/>
            <a:ext cx="7912818" cy="54132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94192" y="1298448"/>
            <a:ext cx="3310128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41080" y="1581912"/>
            <a:ext cx="64008" cy="31089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05672" y="1554480"/>
            <a:ext cx="2642615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Evidence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993392"/>
            <a:ext cx="127101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87384" y="2084832"/>
            <a:ext cx="978407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2B2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7384" y="2551176"/>
            <a:ext cx="978407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dirty="0">
                <a:solidFill>
                  <a:srgbClr val="525E6C"/>
                </a:solidFill>
                <a:latin typeface="Arial"/>
              </a:rPr>
              <a:t>conservative-support astrocyte 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49256" y="1993392"/>
            <a:ext cx="140817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95560" y="2084832"/>
            <a:ext cx="1115568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9E73"/>
                </a:solidFill>
                <a:latin typeface="Arial"/>
              </a:rPr>
              <a:t>5.14×10⁻⁴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2551176"/>
            <a:ext cx="12344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dirty="0">
                <a:solidFill>
                  <a:srgbClr val="525E6C"/>
                </a:solidFill>
                <a:latin typeface="Arial"/>
              </a:rPr>
              <a:t>aggregate ACAT 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3209544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05672" y="3182112"/>
            <a:ext cx="2642615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Network readout</a:t>
            </a:r>
          </a:p>
        </p:txBody>
      </p:sp>
      <p:sp>
        <p:nvSpPr>
          <p:cNvPr id="18" name="Oval 17"/>
          <p:cNvSpPr/>
          <p:nvPr/>
        </p:nvSpPr>
        <p:spPr>
          <a:xfrm>
            <a:off x="8641080" y="3749039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14815" y="3621024"/>
            <a:ext cx="251460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730"/>
                </a:solidFill>
                <a:latin typeface="Arial"/>
              </a:rPr>
              <a:t>23 nodes and 23 directed edges retain ten self-excluded mitochondrial query hits.</a:t>
            </a:r>
          </a:p>
        </p:txBody>
      </p:sp>
      <p:sp>
        <p:nvSpPr>
          <p:cNvPr id="20" name="Oval 19"/>
          <p:cNvSpPr/>
          <p:nvPr/>
        </p:nvSpPr>
        <p:spPr>
          <a:xfrm>
            <a:off x="8641080" y="4279392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14815" y="4151376"/>
            <a:ext cx="251460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730"/>
                </a:solidFill>
                <a:latin typeface="Arial"/>
              </a:rPr>
              <a:t>Upstream chain: RPLP1 → RPL11 → COX7C; COX7C has 15 direct modeled outputs.</a:t>
            </a:r>
          </a:p>
        </p:txBody>
      </p:sp>
      <p:sp>
        <p:nvSpPr>
          <p:cNvPr id="22" name="Oval 21"/>
          <p:cNvSpPr/>
          <p:nvPr/>
        </p:nvSpPr>
        <p:spPr>
          <a:xfrm>
            <a:off x="8641080" y="4809744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14815" y="4681728"/>
            <a:ext cx="251460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730"/>
                </a:solidFill>
                <a:latin typeface="Arial"/>
              </a:rPr>
              <a:t>ETC/OXPHOS: 10 genes, FDR 3.27×10⁻¹¹; cristae: 4 genes, FDR 1.45×10⁻⁴; cytosolic ribosome: 4 genes, FDR 0.00722.</a:t>
            </a:r>
          </a:p>
        </p:txBody>
      </p:sp>
      <p:sp>
        <p:nvSpPr>
          <p:cNvPr id="24" name="Oval 23"/>
          <p:cNvSpPr/>
          <p:nvPr/>
        </p:nvSpPr>
        <p:spPr>
          <a:xfrm>
            <a:off x="8641080" y="5340096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14815" y="5212080"/>
            <a:ext cx="251460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730"/>
                </a:solidFill>
                <a:latin typeface="Arial"/>
              </a:rPr>
              <a:t>The 1/2 display threshold preserves ten hits; requiring 2/2 would retain only four.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512" y="5907024"/>
            <a:ext cx="263347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F233D"/>
                </a:solidFill>
                <a:latin typeface="Arial"/>
              </a:rPr>
              <a:t>Interpretation: strong respiratory-module coherence, but the two-run astrocyte result needs independent replication.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phase18_cox7c_astrocyte_consensus_network_pathways.png, caption, methods, ORA table, and gene-by-gene analysis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COX7C • ASTROCYTES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STRING places COX7C in a dense respiratory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Medium-confidence STRING associations are undirected and not astrocyte- or AD-specific; dense complex membership is expected.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271016"/>
            <a:ext cx="582472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STRING medium-confidence functional association network for COX7C and astrocyte consensus-neighborhood proteins" descr="STRING medium-confidence functional association network for COX7C and astrocyte consensus-neighborhood protei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566086"/>
            <a:ext cx="5422392" cy="438419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37376" y="1271016"/>
            <a:ext cx="5266944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11696" y="1600200"/>
            <a:ext cx="64008" cy="31089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76288" y="1572768"/>
            <a:ext cx="454456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What the image supports</a:t>
            </a:r>
          </a:p>
        </p:txBody>
      </p:sp>
      <p:sp>
        <p:nvSpPr>
          <p:cNvPr id="11" name="Oval 10"/>
          <p:cNvSpPr/>
          <p:nvPr/>
        </p:nvSpPr>
        <p:spPr>
          <a:xfrm>
            <a:off x="6711696" y="2139696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2011680"/>
            <a:ext cx="4443983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F2730"/>
                </a:solidFill>
                <a:latin typeface="Arial"/>
              </a:rPr>
              <a:t>COX7C sits in a dense association core spanning complex I, III, IV, and V proteins plus TOMM7 and SLIRP.</a:t>
            </a:r>
          </a:p>
        </p:txBody>
      </p:sp>
      <p:sp>
        <p:nvSpPr>
          <p:cNvPr id="13" name="Oval 12"/>
          <p:cNvSpPr/>
          <p:nvPr/>
        </p:nvSpPr>
        <p:spPr>
          <a:xfrm>
            <a:off x="6711696" y="2697480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85432" y="2569464"/>
            <a:ext cx="4443983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F2730"/>
                </a:solidFill>
                <a:latin typeface="Arial"/>
              </a:rPr>
              <a:t>A highly connected ribosomal branch echoes the modeled RPLP1 → RPL11 → COX7C upstream chain.</a:t>
            </a:r>
          </a:p>
        </p:txBody>
      </p:sp>
      <p:sp>
        <p:nvSpPr>
          <p:cNvPr id="15" name="Oval 14"/>
          <p:cNvSpPr/>
          <p:nvPr/>
        </p:nvSpPr>
        <p:spPr>
          <a:xfrm>
            <a:off x="6711696" y="3255264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85432" y="3127248"/>
            <a:ext cx="4443983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F2730"/>
                </a:solidFill>
                <a:latin typeface="Arial"/>
              </a:rPr>
              <a:t>Several Bayesian-neighborhood proteins remain weakly connected or isolated, so STRING does not validate every modeled edge.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11696" y="3877056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76288" y="3849624"/>
            <a:ext cx="454456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Driver or respiratory sentinel?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279392"/>
            <a:ext cx="4590288" cy="7498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525E6C"/>
                </a:solidFill>
                <a:latin typeface="Arial"/>
              </a:rPr>
              <a:t>COX7C is nuclear encoded and is mostly AD-down in earlier DEG results, contrasting with many AD-up mtDNA-encoded subunits. That pattern supports a mitonuclear-stoichiometry hypothesis, but STRING density alone cannot make COX7C an upstream regulator.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5175504"/>
            <a:ext cx="4553712" cy="731520"/>
          </a:xfrm>
          <a:prstGeom prst="roundRect">
            <a:avLst/>
          </a:prstGeom>
          <a:solidFill>
            <a:srgbClr val="E1EEF7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22008" y="5303520"/>
            <a:ext cx="41605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F233D"/>
                </a:solidFill>
                <a:latin typeface="Arial"/>
              </a:rPr>
              <a:t>Compare mild COX7C and COX4I1 perturbation: exact target module, complex-IV assembly/activity, protein stoichiometry, respiration, and mitochondrial mass. Replicate the astrocyte result independently.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5704" y="6007608"/>
            <a:ext cx="444398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D55E00"/>
                </a:solidFill>
                <a:latin typeface="Arial"/>
              </a:rPr>
              <a:t>The weak direct bulk-sQTL supports prioritization; one source is not replication of both network contexts.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Sources: stringdb_full_medium_conf.png • phase18_key_driver_gene_by_gene_initial_analysis.md • human-genetic-support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3646</Words>
  <Application>Microsoft Macintosh PowerPoint</Application>
  <PresentationFormat>Widescreen</PresentationFormat>
  <Paragraphs>374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18 Key-Driver Selection</dc:title>
  <dc:subject>Selection, cross-network evidence, and descriptive sex/APOE support</dc:subject>
  <dc:creator>Alzheimer project analysis team</dc:creator>
  <cp:keywords>Alzheimer, mitochondria, KDA, key drivers, APOE, sex</cp:keywords>
  <dc:description>generated using python-pptx</dc:description>
  <cp:lastModifiedBy>Richard Zhuang</cp:lastModifiedBy>
  <cp:revision>3</cp:revision>
  <dcterms:created xsi:type="dcterms:W3CDTF">2013-01-27T09:14:16Z</dcterms:created>
  <dcterms:modified xsi:type="dcterms:W3CDTF">2026-08-17T01:13:41Z</dcterms:modified>
  <cp:category/>
</cp:coreProperties>
</file>