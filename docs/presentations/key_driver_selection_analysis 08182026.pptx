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9" r:id="rId19"/>
    <p:sldId id="280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10"/>
    <p:restoredTop sz="94653"/>
  </p:normalViewPr>
  <p:slideViewPr>
    <p:cSldViewPr snapToGrid="0" snapToObjects="1">
      <p:cViewPr varScale="1">
        <p:scale>
          <a:sx n="144" d="100"/>
          <a:sy n="144" d="100"/>
        </p:scale>
        <p:origin x="208" y="3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321040" y="713232"/>
            <a:ext cx="1078992" cy="1078992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720072" y="1078992"/>
            <a:ext cx="685800" cy="685800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71632" y="566928"/>
            <a:ext cx="384048" cy="384048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96528" y="2578608"/>
            <a:ext cx="530352" cy="530352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168128" y="2761488"/>
            <a:ext cx="932688" cy="932688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308592" y="4352544"/>
            <a:ext cx="384048" cy="384048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817352" y="4681728"/>
            <a:ext cx="640080" cy="640080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8869680" y="1234440"/>
            <a:ext cx="1170432" cy="192024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76688" y="1572768"/>
            <a:ext cx="512064" cy="1389888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98280" y="2834640"/>
            <a:ext cx="1280160" cy="365760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81744" y="3108960"/>
            <a:ext cx="118872" cy="1408176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34472" y="3675887"/>
            <a:ext cx="493776" cy="1280161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65208" y="4553712"/>
            <a:ext cx="1225296" cy="457200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58368"/>
            <a:ext cx="67665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6B4E9"/>
                </a:solidFill>
                <a:latin typeface="Arial"/>
              </a:rPr>
              <a:t>PHASE 18 • KEY-DRIVER PRIORITIZATION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143000"/>
            <a:ext cx="7178040" cy="21488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FFFFFF"/>
                </a:solidFill>
                <a:latin typeface="Arial"/>
              </a:rPr>
              <a:t>From run-level KDA
evidence to a focused
key-driver atlas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694176"/>
            <a:ext cx="6656832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D2DEEB"/>
                </a:solidFill>
                <a:latin typeface="Arial"/>
              </a:rPr>
              <a:t>Selection logic • cross-network recurrence • evidence breadth • descriptive sex/APOE patterns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700016"/>
            <a:ext cx="6355080" cy="5029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983480"/>
            <a:ext cx="658368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BECFE1"/>
                </a:solidFill>
                <a:latin typeface="Arial"/>
              </a:rPr>
              <a:t>MT drivers and non-MT drivers are ranked separately within seven broad cell-network models.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09360"/>
            <a:ext cx="649224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1ABC5"/>
                </a:solidFill>
                <a:latin typeface="Arial"/>
              </a:rPr>
              <a:t>Prepared from validated Phase 18 outputs • 16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PRESENTATION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Three sections move from candidate selection to independent genetic support and then to network and proteomics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417320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76656" y="1417320"/>
            <a:ext cx="91440" cy="124358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1728216"/>
            <a:ext cx="621792" cy="621792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618488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Key-driver selection &amp; evidence 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1627632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9E73"/>
                </a:solidFill>
                <a:latin typeface="Arial"/>
              </a:rPr>
              <a:t>Slides 03–11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75688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Selection logic, MT/non-MT recurrence, evidence breadth, synthesis, and descriptive sex/APOE patterns.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2907791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2907791"/>
            <a:ext cx="91440" cy="124358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" y="3218687"/>
            <a:ext cx="621792" cy="62179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392424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108960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Human genetic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118103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72B2"/>
                </a:solidFill>
                <a:latin typeface="Arial"/>
              </a:rPr>
              <a:t>Slides 12–15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66159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Public summary data, direct-mapping rules, context-aware grading, and the candidate-level result profile.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" y="4398264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6656" y="4398264"/>
            <a:ext cx="91440" cy="124358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05840" y="4709159"/>
            <a:ext cx="621792" cy="621792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882896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5376" y="4599431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Key-driver networks &amp; proteomics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4608576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E69F00"/>
                </a:solidFill>
                <a:latin typeface="Arial"/>
              </a:rPr>
              <a:t>Slides 16–25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5056631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Place RPL11 and APOE on cell-type network graphs, examine protein-level coherence, and define proteomics validation.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05332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6053328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613562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Narrative arc: prioritize candidates → seek independent human evidence → place key drivers on networks and validate at the protein level.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E73"/>
                </a:solidFill>
                <a:latin typeface="Arial"/>
              </a:rP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Key-driver selection &amp;
evidence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How 25 candidates emerged across 47 displayed network contexts—and where support recurs.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Selection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MT / non-MT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Sex / APOE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SELECTION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strict intersection of coverage, support, and aggregate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pipeline changes counting units as run-level tests are aggregated into network × driver-class candidates.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04</a:t>
            </a:r>
          </a:p>
        </p:txBody>
      </p:sp>
      <p:pic>
        <p:nvPicPr>
          <p:cNvPr id="6" name="Phase 18 key-driver selection process from 95,557 run-level tests to 47 displayed positions" descr="Phase 18 key-driver selection process from 95,557 run-level tests to 47 displayed posi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4416"/>
            <a:ext cx="7818120" cy="53321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02752" y="1298448"/>
            <a:ext cx="3401568" cy="4919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58784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23376" y="1572768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earns a place</a:t>
            </a:r>
          </a:p>
        </p:txBody>
      </p:sp>
      <p:sp>
        <p:nvSpPr>
          <p:cNvPr id="10" name="Oval 9"/>
          <p:cNvSpPr/>
          <p:nvPr/>
        </p:nvSpPr>
        <p:spPr>
          <a:xfrm>
            <a:off x="8558784" y="22128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19" y="2084831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All three gates are required: ≥80% usable-run coverage, ≥1 conservative-support run, and aggregate ACAT q ≤ 0.05.</a:t>
            </a:r>
          </a:p>
        </p:txBody>
      </p:sp>
      <p:sp>
        <p:nvSpPr>
          <p:cNvPr id="12" name="Oval 11"/>
          <p:cNvSpPr/>
          <p:nvPr/>
        </p:nvSpPr>
        <p:spPr>
          <a:xfrm>
            <a:off x="8558784" y="29077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32519" y="2779776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The intersection retains 78 of 10,433 represented candidate units (0.75%).</a:t>
            </a:r>
          </a:p>
        </p:txBody>
      </p:sp>
      <p:sp>
        <p:nvSpPr>
          <p:cNvPr id="14" name="Oval 13"/>
          <p:cNvSpPr/>
          <p:nvPr/>
        </p:nvSpPr>
        <p:spPr>
          <a:xfrm>
            <a:off x="8558784" y="360273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32519" y="3474720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Candidates are ranked independently in 14 lists: 7 broad networks × 2 driver classes.</a:t>
            </a:r>
          </a:p>
        </p:txBody>
      </p:sp>
      <p:sp>
        <p:nvSpPr>
          <p:cNvPr id="16" name="Oval 15"/>
          <p:cNvSpPr/>
          <p:nvPr/>
        </p:nvSpPr>
        <p:spPr>
          <a:xfrm>
            <a:off x="8558784" y="429767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32519" y="4169663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Ranks 1–5 are displayed with no backfilling when fewer candidates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58784" y="5029200"/>
            <a:ext cx="13258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05088" y="5120640"/>
            <a:ext cx="1033271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8" y="5586984"/>
            <a:ext cx="1033271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displayed gene × network positions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30968" y="5029200"/>
            <a:ext cx="13258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177272" y="5120640"/>
            <a:ext cx="1033271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77272" y="5586984"/>
            <a:ext cx="1033271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unique displayed genes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6062472"/>
            <a:ext cx="276148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55E00"/>
                </a:solidFill>
                <a:latin typeface="Arial"/>
              </a:rPr>
              <a:t>Prioritization—not proof of causal regulation.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phase18_key_driver_selection_process.png and accompanying validated caption/methods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ircular view of selected mitochondrial key drivers across seven broad cell networks" descr="Circular view of selected mitochondrial key drivers across seven broad cell net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568" y="18288"/>
            <a:ext cx="8155815" cy="632764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MT view: 10 genes occupy 26 displayed positions; MT-CO2 recurs in 7 of 7 networks, while gray slots preserve lists with fewer than five passers.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phase18_mt_driver_circular.png • center curves show recurrence, not network edges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ircular view of selected non-mitochondrial key drivers across seven broad cell networks" descr="Circular view of selected non-mitochondrial key drivers across seven broad cell net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112" y="18288"/>
            <a:ext cx="8224726" cy="632764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Non-MT view: 15 genes occupy 21 displayed positions; RPL11 recurs in 4 networks, and vasculature has no passing non-MT candidate.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phase18_non_mt_driver_circular.png • non-MT means outside core MitoCarta, not absence of mitochondrial function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vidence atlas for 10 selected mitochondrial key-driver genes" descr="Evidence atlas for 10 selected mitochondrial key-driver ge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271775"/>
            <a:ext cx="12097512" cy="5912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MT evidence is broadest for MT-CO2: 62/89 conservative-support runs, 29 fine cell types, all 7 networks, all 6 primary groups, and both AD directions.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phase18_evidence_atlas_mt.png • stability is diagnostic and did not determine selection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EVIDENCE ATLAS • NON-MT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Ribosomal candidates carry the broadest non-MT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Network evidence, recurrence, breadth, and leave-one-fine-cell-type stability are complementary summaries.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08</a:t>
            </a:r>
          </a:p>
        </p:txBody>
      </p:sp>
      <p:pic>
        <p:nvPicPr>
          <p:cNvPr id="6" name="Evidence atlas for 15 selected non-mitochondrial key-driver genes" descr="Evidence atlas for 15 selected non-mitochondrial key-driver ge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22548"/>
            <a:ext cx="8385048" cy="5254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96528" y="1325880"/>
            <a:ext cx="2907792" cy="4928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043416" y="1600200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08008" y="1572768"/>
            <a:ext cx="2249424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Presentation readout</a:t>
            </a:r>
          </a:p>
        </p:txBody>
      </p:sp>
      <p:sp>
        <p:nvSpPr>
          <p:cNvPr id="10" name="Oval 9"/>
          <p:cNvSpPr/>
          <p:nvPr/>
        </p:nvSpPr>
        <p:spPr>
          <a:xfrm>
            <a:off x="9043416" y="22128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17152" y="2084831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RPL11 passes in 4 networks with 25/84 conservative-support runs across 15 fine cell types.</a:t>
            </a:r>
          </a:p>
        </p:txBody>
      </p:sp>
      <p:sp>
        <p:nvSpPr>
          <p:cNvPr id="12" name="Oval 11"/>
          <p:cNvSpPr/>
          <p:nvPr/>
        </p:nvSpPr>
        <p:spPr>
          <a:xfrm>
            <a:off x="9043416" y="293522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17152" y="2807208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RPS15 has the widest non-MT fine-cell breadth (18) and passes in 3 networks.</a:t>
            </a:r>
          </a:p>
        </p:txBody>
      </p:sp>
      <p:sp>
        <p:nvSpPr>
          <p:cNvPr id="14" name="Oval 13"/>
          <p:cNvSpPr/>
          <p:nvPr/>
        </p:nvSpPr>
        <p:spPr>
          <a:xfrm>
            <a:off x="9043416" y="365760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17152" y="3529584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The dashed RPS15 excitatory-neuron tile passed selection but ranked below that network's five-gene display cap.</a:t>
            </a:r>
          </a:p>
        </p:txBody>
      </p:sp>
      <p:sp>
        <p:nvSpPr>
          <p:cNvPr id="16" name="Oval 15"/>
          <p:cNvSpPr/>
          <p:nvPr/>
        </p:nvSpPr>
        <p:spPr>
          <a:xfrm>
            <a:off x="9043416" y="437997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17152" y="4251960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RPL/RPS genes recur across networks; LAMTOR5 spans excitatory and inhibitory networks; APOE is astrocyte-localized.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43416" y="5202936"/>
            <a:ext cx="2395728" cy="64008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5340096"/>
            <a:ext cx="204825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0F233D"/>
                </a:solidFill>
                <a:latin typeface="Arial"/>
              </a:rPr>
              <a:t>The top-five rule is a display cap—not an evidence threshold.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phase18_evidence_atlas_non_mt.png and gene summary TSV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What Phase 18 establishes—and what it leaves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broad atlas establishes which candidates emerged; the next slides localize support before the RPL11 case study.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3456432" cy="2240280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865376"/>
            <a:ext cx="310896" cy="3108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78 passing units become 47 displayed network positions across two separately ranked driver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572768"/>
            <a:ext cx="3456432" cy="224028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36592" y="1865376"/>
            <a:ext cx="310896" cy="3108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75503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MT 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Respiratory-chain genes dominate recurrence; MT-CO2 is the clearest cross-network sentinel.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02752" y="1572768"/>
            <a:ext cx="3456432" cy="224028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558784" y="1865376"/>
            <a:ext cx="310896" cy="3108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97696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Non-MT landscape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Ribosomal candidates lead breadth and recurrence, with additional signaling, trafficking, and APOE-linked hypotheses.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224528"/>
            <a:ext cx="10497312" cy="1252728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4507992"/>
            <a:ext cx="9829800" cy="6766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6B4E9"/>
                </a:solidFill>
                <a:latin typeface="Arial"/>
              </a:rPr>
              <a:t>Interpretive boundary: </a:t>
            </a:r>
            <a:r>
              <a:rPr sz="1700" b="0" i="0">
                <a:solidFill>
                  <a:srgbClr val="FFFFFF"/>
                </a:solidFill>
                <a:latin typeface="Arial"/>
              </a:rPr>
              <a:t>the figures prioritize network-associated key-driver candidates and show where evidence recurs.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They do not prove causality or formally test sex/APOE interactions.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806440"/>
            <a:ext cx="9838944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F233D"/>
                </a:solidFill>
                <a:latin typeface="Arial"/>
              </a:rPr>
              <a:t>Next: localize candidate evidence across sex/APOE strata, then examine RPL11 in depth.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Slides 13–15 add independent human-genetic support; slide 17 introduces the validation panel; slides 18–25 show RPL11 and APOE network/protein examples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SEX/APOE EVIDENCE • 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MT support is widespread but uneven across descriptive strata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Each row is a gene × broad-network context; columns partition AD-up and AD-down queries by sex and APOE group.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10</a:t>
            </a:r>
          </a:p>
        </p:txBody>
      </p:sp>
      <p:pic>
        <p:nvPicPr>
          <p:cNvPr id="6" name="Sex- and APOE-stratified support for selected mitochondrial key drivers" descr="Sex- and APOE-stratified support for selected mitochondrial key driv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66" y="1170432"/>
            <a:ext cx="5310370" cy="54681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03136" y="1316736"/>
            <a:ext cx="4910328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086600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51192" y="1572768"/>
            <a:ext cx="41513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How to read the matrix</a:t>
            </a:r>
          </a:p>
        </p:txBody>
      </p:sp>
      <p:sp>
        <p:nvSpPr>
          <p:cNvPr id="10" name="Oval 9"/>
          <p:cNvSpPr/>
          <p:nvPr/>
        </p:nvSpPr>
        <p:spPr>
          <a:xfrm>
            <a:off x="7086600" y="218541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60336" y="2057400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Dot area = fraction of usable queries with conservative support; fill = capped −log10(stratum ACAT P).</a:t>
            </a:r>
          </a:p>
        </p:txBody>
      </p:sp>
      <p:sp>
        <p:nvSpPr>
          <p:cNvPr id="12" name="Oval 11"/>
          <p:cNvSpPr/>
          <p:nvPr/>
        </p:nvSpPr>
        <p:spPr>
          <a:xfrm>
            <a:off x="7086600" y="28072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0336" y="2679192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Small open circles mean usable tests with zero conservative support; dashes mean no eligible query.</a:t>
            </a:r>
          </a:p>
        </p:txBody>
      </p:sp>
      <p:sp>
        <p:nvSpPr>
          <p:cNvPr id="14" name="Oval 13"/>
          <p:cNvSpPr/>
          <p:nvPr/>
        </p:nvSpPr>
        <p:spPr>
          <a:xfrm>
            <a:off x="7086600" y="3429000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0336" y="3300984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The right tracks report official network-level q, support/usable, coverage, evidence tier, and rank.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397764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1192" y="3950208"/>
            <a:ext cx="41513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Descriptive pattern</a:t>
            </a:r>
          </a:p>
        </p:txBody>
      </p:sp>
      <p:sp>
        <p:nvSpPr>
          <p:cNvPr id="18" name="Oval 17"/>
          <p:cNvSpPr/>
          <p:nvPr/>
        </p:nvSpPr>
        <p:spPr>
          <a:xfrm>
            <a:off x="7086600" y="45354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60336" y="44074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AD-up female ε3/ε3: 68 supporting runs across 15 contexts</a:t>
            </a:r>
          </a:p>
        </p:txBody>
      </p:sp>
      <p:sp>
        <p:nvSpPr>
          <p:cNvPr id="20" name="Oval 19"/>
          <p:cNvSpPr/>
          <p:nvPr/>
        </p:nvSpPr>
        <p:spPr>
          <a:xfrm>
            <a:off x="7086600" y="49926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0336" y="48646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AD-down male ε2: 65 supporting runs across 30 contexts</a:t>
            </a:r>
          </a:p>
        </p:txBody>
      </p:sp>
      <p:sp>
        <p:nvSpPr>
          <p:cNvPr id="22" name="Oval 21"/>
          <p:cNvSpPr/>
          <p:nvPr/>
        </p:nvSpPr>
        <p:spPr>
          <a:xfrm>
            <a:off x="7086600" y="54498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0336" y="53218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AD-up female ε2: 63 supporting runs across 15 contexts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2" y="5925312"/>
            <a:ext cx="4151376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5E00"/>
                </a:solidFill>
                <a:latin typeface="Arial"/>
              </a:rPr>
              <a:t>These are not formal sex, APOE, or interaction tests.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phase18_sex_apoe_mt.png • supporting-run totals are descriptive across displayed contexts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SEX/APOE EVIDENCE • NON-MT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Non-MT support concentrates in a smaller set of strata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same visual grammar reveals broad recurrence for some drivers and sharply localized evidence for others.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11</a:t>
            </a:r>
          </a:p>
        </p:txBody>
      </p:sp>
      <p:pic>
        <p:nvPicPr>
          <p:cNvPr id="6" name="Sex- and APOE-stratified support for selected non-mitochondrial key drivers" descr="Sex- and APOE-stratified support for selected non-mitochondrial key driv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82" y="1188720"/>
            <a:ext cx="7113547" cy="53583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38744" y="1335024"/>
            <a:ext cx="3465576" cy="4928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03920" y="160934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68512" y="1581912"/>
            <a:ext cx="2770632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Leading patterns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218541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77656" y="2057400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male ε2: 62 supporting runs in 19 contexts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75234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77656" y="2624328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AD-up female ε2: 28 supporting runs in 11 contexts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19272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77656" y="3191256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female ε4: 16 supporting runs in 10 contexts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388620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77656" y="3758184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male ε4: 10 supporting runs in 7 contexts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37083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68512" y="4343400"/>
            <a:ext cx="2770632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Candidate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4791456"/>
            <a:ext cx="2825496" cy="9692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525E6C"/>
                </a:solidFill>
                <a:latin typeface="Arial"/>
              </a:rPr>
              <a:t>RPL11 is recurrent across four networks; RPS15 is broad across neuronal/OPC contexts; APOE is localized to astrocytes. Large dots with small denominators should not be mistaken for broad replication.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5843016"/>
            <a:ext cx="2816352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D55E00"/>
                </a:solidFill>
                <a:latin typeface="Arial"/>
              </a:rPr>
              <a:t>Patterned evidence generates hypotheses; it does not establish specificity.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phase18_sex_apoe_non_mt.png • descriptive totals match the validated figure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72B2"/>
                </a:solidFill>
                <a:latin typeface="Arial"/>
              </a:rP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Human genetic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An independent check of whether public Alzheimer’s disease genetic signals map directly to the selected candidate genes.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Public summary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Direct-mapping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Candidate-level 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HUMAN GENETIC SUPPORT •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compact public summary bundle tests all 25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This is an independent evidence line across every displayed gene × broad-network context—not a rerun of the network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784848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86384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1572768"/>
            <a:ext cx="607161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entered the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029968"/>
            <a:ext cx="6199632" cy="859536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87552" y="2231136"/>
            <a:ext cx="448056" cy="44805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313432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16712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Selected key drivers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57984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25 unique genes evaluated in all 47 displayed broad cell-type/network contexts.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081528"/>
            <a:ext cx="6199632" cy="859536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87552" y="3282696"/>
            <a:ext cx="448056" cy="44805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3364992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21868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Public human-genetics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209544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Official FunGen-xQTL Alzheimer’s disease snapshot: GWAS/fine-mapping, xQTL, TWAS and gene-level result tables.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4133087"/>
            <a:ext cx="6199632" cy="859536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87552" y="4334255"/>
            <a:ext cx="448056" cy="44805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4416551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27024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Gene identity 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261103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GENCODE v44 (GRCh38) coordinates plus the HGNC 2026-06-05 symbol table keep locus and gene mappings explicit.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321808"/>
            <a:ext cx="6199632" cy="3200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" y="5404104"/>
            <a:ext cx="58978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1" i="0">
                <a:solidFill>
                  <a:srgbClr val="D55E00"/>
                </a:solidFill>
                <a:latin typeface="Arial"/>
              </a:rPr>
              <a:t>Summary-level only: no individual genotypes, phenotypes, or protected participant data.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325880"/>
            <a:ext cx="4187952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0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36992" y="1572768"/>
            <a:ext cx="34655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Scale and portability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29968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18704" y="2121408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4" y="2587752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unique candidate genes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46336" y="2029968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92640" y="2121408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587752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gene × network contexts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3191256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18704" y="3282696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18704" y="3749040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public source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46336" y="3191256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92640" y="3282696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7E4C9A"/>
                </a:solidFill>
                <a:latin typeface="Arial"/>
              </a:rPr>
              <a:t>~8.8 MiB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3749040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total downloaded bundle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4416552"/>
            <a:ext cx="3364992" cy="1060704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10144" y="4608576"/>
            <a:ext cx="28986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6B4E9"/>
                </a:solidFill>
                <a:latin typeface="Arial"/>
              </a:rPr>
              <a:t>LOCAL WORKSTATION READY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0144" y="4919472"/>
            <a:ext cx="289864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Small, tabular inputs; no cluster-scale compute required.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605332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6053328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613562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Human genetics asks whether an independently measured AD-associated signal maps to the same candidate gene in a relevant context.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FunGen-xQTL public snapshot (2026-07-29) • GENCODE v44, GRCh38 • HGNC 2026-06-05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HUMAN GENETIC SUPPORT •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Direct gene mapping—not proximity—determines the 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workflow screens broadly, then prevents a nearby association from being mistaken for support of a specific candidate gene.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99032"/>
            <a:ext cx="2304288" cy="1033271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25 genes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47 candidate contexts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34639" y="1920240"/>
            <a:ext cx="384049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399032"/>
            <a:ext cx="2304288" cy="1033271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3814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19 nuclear genes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screen ±1 Mb per locus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23560" y="1920240"/>
            <a:ext cx="384048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80760" y="1399032"/>
            <a:ext cx="2304288" cy="1033271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2706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356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candidate-locus variant records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0" y="1920240"/>
            <a:ext cx="384048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69680" y="1399032"/>
            <a:ext cx="2304288" cy="1033271"/>
          </a:xfrm>
          <a:prstGeom prst="roundRect">
            <a:avLst/>
          </a:prstGeom>
          <a:solidFill>
            <a:srgbClr val="EFE8F6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1598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Direct 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target gene + evidence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724912"/>
            <a:ext cx="3657600" cy="2496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8096" y="3008375"/>
            <a:ext cx="64008" cy="310896"/>
          </a:xfrm>
          <a:prstGeom prst="rect">
            <a:avLst/>
          </a:prstGeom>
          <a:solidFill>
            <a:srgbClr val="748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Set aside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65576"/>
            <a:ext cx="107899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748291"/>
                </a:solidFill>
                <a:latin typeface="Arial"/>
              </a:rPr>
              <a:t>352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0784" y="3511296"/>
            <a:ext cx="212140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30" b="1" i="0">
                <a:solidFill>
                  <a:srgbClr val="0F233D"/>
                </a:solidFill>
                <a:latin typeface="Arial"/>
              </a:rPr>
              <a:t>regional proximity-only records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169663"/>
            <a:ext cx="3035808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They help locate candidate regions but do not name the candidate as the molecular target, so they are not counted as gene support.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2724912"/>
            <a:ext cx="3657600" cy="249631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35424" y="3008375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0016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Grade direct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3465576"/>
            <a:ext cx="1225296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9E73"/>
                </a:solidFill>
                <a:latin typeface="Arial"/>
              </a:rPr>
              <a:t>4 + 1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511296"/>
            <a:ext cx="1847088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0F233D"/>
                </a:solidFill>
                <a:latin typeface="Arial"/>
              </a:rPr>
              <a:t>direct xQTL records + TWAS-list row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169663"/>
            <a:ext cx="3026664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Grade strong / moderate / weak from the source’s direct gene mapping, evidence type, and match to the broad cell context.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37575" y="2724912"/>
            <a:ext cx="3657600" cy="2496312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302752" y="3008375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67344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Mitochondrial 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465576"/>
            <a:ext cx="603504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552" y="3511296"/>
            <a:ext cx="2340864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33D"/>
                </a:solidFill>
                <a:latin typeface="Arial"/>
              </a:rPr>
              <a:t>mtDNA genes • 20 contexts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169663"/>
            <a:ext cx="3035808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The available source lacks mtDNA-specific heteroplasmy, haplogroup, copy-number and NUMT controls; these contexts are not assessable.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5440680"/>
            <a:ext cx="10972800" cy="38404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532120"/>
            <a:ext cx="1057960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D55E00"/>
                </a:solidFill>
                <a:latin typeface="Arial"/>
              </a:rPr>
              <a:t>Colocalization boundary: the public source provides prefiltered summaries, not H0–H4 posterior probabilities; missing statistics were not reconstructed or relabeled.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09904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2920" y="6099048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618134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Decision rule: direct gene mapping can support a candidate; proximity alone cannot. Missing source coverage remains unresolved—not negative.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Method: registered candidate list • ±1 Mb nuclear-locus screen • direct-target review • context-aware evidence grading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HUMAN GENETIC SUPPORT •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APOE stands out; COX7C and SELENOW remain limited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Most candidates remain unresolved because direct mapping or appropriate source coverage was unavailable; the grades are not causal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15</a:t>
            </a:r>
          </a:p>
        </p:txBody>
      </p:sp>
      <p:pic>
        <p:nvPicPr>
          <p:cNvPr id="6" name="Human genetic support summary across 47 candidate gene-by-network contexts, highlighting APOE, COX7C, SELENOW, unresolved nuclear candidates, and mitochondrial contexts not assessable in the source" descr="Human genetic support summary across 47 candidate gene-by-network contexts, highlighting APOE, COX7C, SELENOW, unresolved nuclear candidates, and mitochondrial contexts not assessable in the sour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22322"/>
            <a:ext cx="11274552" cy="42728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validated human-genetic-support summary • FunGen-xQTL public snapshot • GENCODE v44 • HGNC 2026-06-05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F00"/>
                </a:solidFill>
                <a:latin typeface="Arial"/>
              </a:rP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Key-driver network graphs &amp;
proteomics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Place prioritized key drivers in their cell-type network context, then test whether predicted modules are supported at the protein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Network graph overlays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Protein-level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Proteomics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FIRST-BATCH VALIDATION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Why these seven candidates go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Every listed gene × broad-network pairing is a separate validation unit; support in one network does not validate another.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83112" cy="39319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1380744"/>
            <a:ext cx="94183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GENE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380744"/>
            <a:ext cx="28346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BROAD NETWORK(S) TO 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1380744"/>
            <a:ext cx="1645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1380744"/>
            <a:ext cx="46817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WHY / PRIMARY 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73152" cy="5120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1828800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APOE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1792224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Astrocytes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18304" y="1837943"/>
            <a:ext cx="1682496" cy="2743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64024" y="1911095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0072B2"/>
                </a:solidFill>
                <a:latin typeface="Arial"/>
              </a:rPr>
              <a:t>CALIBRATOR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792224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Known-AD control; reproduce its frozen astrocyte mitochondrial target module.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95144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2295144"/>
            <a:ext cx="73152" cy="512064"/>
          </a:xfrm>
          <a:prstGeom prst="rect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2404872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COX7C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236829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Astrocytes • Inhibitory neurons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2414015"/>
            <a:ext cx="1682496" cy="2743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64024" y="2487168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6B4E9"/>
                </a:solidFill>
                <a:latin typeface="Arial"/>
              </a:rPr>
              <a:t>GENETICS-INFORMED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368296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Weak direct bulk-sQTL mapping; test network targets, complex-IV assembly, and protein stoichiometry.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71215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2871215"/>
            <a:ext cx="73152" cy="5120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" y="2980944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SELENOW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2944368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Excitatory neurons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18304" y="2990087"/>
            <a:ext cx="1682496" cy="274320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64024" y="3063239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009E73"/>
                </a:solidFill>
                <a:latin typeface="Arial"/>
              </a:rPr>
              <a:t>REINFORCED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944368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Stable KDA plus tau/redox evidence; the source TWAS flag remains limited.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447288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447288"/>
            <a:ext cx="73152" cy="512064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" y="3557016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LAMTOR5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3520440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F233D"/>
                </a:solidFill>
                <a:latin typeface="Arial"/>
              </a:rPr>
              <a:t>Excitatory neurons • Inhibitory neurons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18304" y="3566160"/>
            <a:ext cx="1682496" cy="274320"/>
          </a:xfrm>
          <a:prstGeom prst="roundRect">
            <a:avLst/>
          </a:prstGeom>
          <a:solidFill>
            <a:srgbClr val="EFE8F6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64024" y="3639312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7E4C9A"/>
                </a:solidFill>
                <a:latin typeface="Arial"/>
              </a:rPr>
              <a:t>CROSS-NETWORK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3520440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Two neuronal networks test lysosome–mTOR/mitochondria recurrence.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23360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4023360"/>
            <a:ext cx="73152" cy="51206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6656" y="4133088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RPL11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5648" y="4096512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F233D"/>
                </a:solidFill>
                <a:latin typeface="Arial"/>
              </a:rPr>
              <a:t>Astrocytes • Excitatory neurons
Microglia • Oligodendrocytes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18304" y="4142232"/>
            <a:ext cx="1682496" cy="27432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64024" y="4215384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E69F00"/>
                </a:solidFill>
                <a:latin typeface="Arial"/>
              </a:rPr>
              <a:t>BIAS 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0528" y="4096512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Four selected networks; require expression-, degree-, and ribosomal-matched nulls.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599431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" y="4599431"/>
            <a:ext cx="73152" cy="512064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6656" y="4709159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FTL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5648" y="4672583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OPCs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18304" y="4718303"/>
            <a:ext cx="1682496" cy="274320"/>
          </a:xfrm>
          <a:prstGeom prst="roundRect">
            <a:avLst/>
          </a:prstGeom>
          <a:solidFill>
            <a:srgbClr val="FAE8E0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764024" y="4791455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D55E00"/>
                </a:solidFill>
                <a:latin typeface="Arial"/>
              </a:rPr>
              <a:t>EXPLORATORY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4672583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Sparse OPC signal; localize the iron/ferroptosis mechanism before promotion.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4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02920" y="5175504"/>
            <a:ext cx="73152" cy="512064"/>
          </a:xfrm>
          <a:prstGeom prst="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76656" y="5285232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ANKRD11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55648" y="524865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OPCs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718304" y="5294376"/>
            <a:ext cx="1682496" cy="274320"/>
          </a:xfrm>
          <a:prstGeom prst="roundRect">
            <a:avLst/>
          </a:prstGeom>
          <a:solidFill>
            <a:srgbClr val="EAEFF5"/>
          </a:solidFill>
          <a:ln w="12700">
            <a:solidFill>
              <a:srgbClr val="1E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5367528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1E3B5B"/>
                </a:solidFill>
                <a:latin typeface="Arial"/>
              </a:rPr>
              <a:t>NOVELTY TEST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0528" y="5248656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Sparse OPC novelty test for chromatin-linked regulation.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989320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502920" y="5989320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1520" y="6071616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Validate every listed gene × network unit separately; COX7C enters both astrocyte and inhibitory-neuron workstreams, but one bulk-sQTL result is not two replications.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Phase 18 call_key_driver_returns.tsv • cross-validation guide, Section 2 • Tier 1 human-genetic-support report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APOE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APOE anchors a recurrent astrocyte mitochondrial neighborhood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APOE is an established AD gene; the Phase 18 contribution is its placement within a specific astrocyte mitochondrial network.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24</a:t>
            </a:r>
          </a:p>
        </p:txBody>
      </p:sp>
      <p:pic>
        <p:nvPicPr>
          <p:cNvPr id="6" name="APOE-centered astrocyte consensus network with directed Bayesian-network edges and contextual pathway outlines" descr="APOE-centered astrocyte consensus network with directed Bayesian-network edges and contextual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340" y="1124712"/>
            <a:ext cx="7184367" cy="54041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298448"/>
            <a:ext cx="3291840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59368" y="1581912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23960" y="1554480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59368" y="1993392"/>
            <a:ext cx="126187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05672" y="2084832"/>
            <a:ext cx="969263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4/14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2551176"/>
            <a:ext cx="969263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tested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39903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06424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9E73"/>
                </a:solidFill>
                <a:latin typeface="Arial"/>
              </a:rPr>
              <a:t>1.27×10⁻²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0642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59368" y="3209544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23960" y="3182112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59368" y="374903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33104" y="3621024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19 nodes, 18 directed edges, and seven mitochondrial query hits across four supporting runs.</a:t>
            </a:r>
          </a:p>
        </p:txBody>
      </p:sp>
      <p:sp>
        <p:nvSpPr>
          <p:cNvPr id="20" name="Oval 19"/>
          <p:cNvSpPr/>
          <p:nvPr/>
        </p:nvSpPr>
        <p:spPr>
          <a:xfrm>
            <a:off x="8659368" y="42793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33104" y="4151376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APOE-linked paths reach ATP5F1A, ATP5PB, CHCHD10, LDHB, NME3, TUFM, and AGT.</a:t>
            </a:r>
          </a:p>
        </p:txBody>
      </p:sp>
      <p:sp>
        <p:nvSpPr>
          <p:cNvPr id="22" name="Oval 21"/>
          <p:cNvSpPr/>
          <p:nvPr/>
        </p:nvSpPr>
        <p:spPr>
          <a:xfrm>
            <a:off x="8659368" y="480974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33104" y="4681728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Amyloid, cholesterol/efflux, and cristae outlines are contextual; none has BH FDR &lt; 0.05.</a:t>
            </a:r>
          </a:p>
        </p:txBody>
      </p:sp>
      <p:sp>
        <p:nvSpPr>
          <p:cNvPr id="24" name="Oval 23"/>
          <p:cNvSpPr/>
          <p:nvPr/>
        </p:nvSpPr>
        <p:spPr>
          <a:xfrm>
            <a:off x="8659368" y="534009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33104" y="5212080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Support spans three fine cell types and both mitochondrial directions; leave-one-fine-cell-type retention is 2/3.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7656" y="5879592"/>
            <a:ext cx="2624328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Interpretation: credible network placement, but less stable than the strongest neuronal candidates and not proof of direct APOE regulation.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phase18_apoe_astrocyte_consensus_network_pathways.png, caption, methods, and gene-by-gene analysis</a:t>
            </a:r>
          </a:p>
        </p:txBody>
      </p:sp>
    </p:spTree>
    <p:extLst>
      <p:ext uri="{BB962C8B-B14F-4D97-AF65-F5344CB8AC3E}">
        <p14:creationId xmlns:p14="http://schemas.microsoft.com/office/powerpoint/2010/main" val="41701707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APOE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reveals two distinct APOE-neighborhood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context-agnostic; they complement, but do not validate, Bayesian edge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" y="1271016"/>
            <a:ext cx="5522976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functional association network for APOE and the astrocyte consensus-neighborhood proteins" descr="STRING medium-confidence functional association network for APOE and the astrocyte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3513"/>
            <a:ext cx="5029200" cy="34247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44768" y="1271016"/>
            <a:ext cx="555955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28232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92824" y="1572768"/>
            <a:ext cx="48371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428232" y="213969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1968" y="201168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 mitochondrial protein cluster contains TUFM, ATP5F1A, ATP5PB, CHCHD10, and NME3.</a:t>
            </a:r>
          </a:p>
        </p:txBody>
      </p:sp>
      <p:sp>
        <p:nvSpPr>
          <p:cNvPr id="13" name="Oval 12"/>
          <p:cNvSpPr/>
          <p:nvPr/>
        </p:nvSpPr>
        <p:spPr>
          <a:xfrm>
            <a:off x="6428232" y="268833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01968" y="256032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APOE instead connects with a lipid/amyloid/stress neighborhood containing PLTP, CST3, AGT, ITM2B, and GPX4.</a:t>
            </a:r>
          </a:p>
        </p:txBody>
      </p:sp>
      <p:sp>
        <p:nvSpPr>
          <p:cNvPr id="15" name="Oval 14"/>
          <p:cNvSpPr/>
          <p:nvPr/>
        </p:nvSpPr>
        <p:spPr>
          <a:xfrm>
            <a:off x="6428232" y="323697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1968" y="310896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Their separation argues against reading this figure as a simple direct APOE→mitochondrial protein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28232" y="382219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92824" y="3794760"/>
            <a:ext cx="48371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Mechanism and decisive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224528"/>
            <a:ext cx="489204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Prior cell studies connect APOE4 to lysosomal cholesterol accumulation, impaired mitophagy, altered mitochondrial dynamics, and disrupted fatty-acid metabolism. Test whether that biology reproduces the exact Phase 18 target neighborhood in APOE2/3/4-isogenic astrocytes.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37376" y="5230368"/>
            <a:ext cx="4855464" cy="66751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0256" y="5349240"/>
            <a:ext cx="4480560" cy="4023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 i="0">
                <a:solidFill>
                  <a:srgbClr val="0F233D"/>
                </a:solidFill>
                <a:latin typeface="Arial"/>
              </a:rPr>
              <a:t>Measure respiration, substrate use, cholesterol distribution, mitophagy, lipid-droplet transfer, and the frozen target module; fit donor-level disease × sex × APOE interactions separately.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5989320"/>
            <a:ext cx="4791456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D55E00"/>
                </a:solidFill>
                <a:latin typeface="Arial"/>
              </a:rPr>
              <a:t>Observed female ε2, male ε2, and male ε4 support is descriptive—not evidence of an interaction.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Lee 2023; Schmukler 2020; Qi 2021; Williams 2020</a:t>
            </a:r>
          </a:p>
        </p:txBody>
      </p:sp>
    </p:spTree>
    <p:extLst>
      <p:ext uri="{BB962C8B-B14F-4D97-AF65-F5344CB8AC3E}">
        <p14:creationId xmlns:p14="http://schemas.microsoft.com/office/powerpoint/2010/main" val="4901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6576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B4E9"/>
                </a:solidFill>
                <a:latin typeface="Arial"/>
              </a:rPr>
              <a:t>RPL11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96112"/>
            <a:ext cx="7543800" cy="11521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Arial"/>
              </a:rPr>
              <a:t>A ribosomal-stress candidate at the
translation–mitochondria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13432"/>
            <a:ext cx="7406640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CDBEA"/>
                </a:solidFill>
                <a:latin typeface="Arial"/>
              </a:rPr>
              <a:t>RPL11 is the broadest non-MT network candidate, but the mechanistic claim depends on distinguishing a true stress transducer from a highly connected module marker.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2104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passing broad networks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9464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15768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6B4E9"/>
                </a:solidFill>
                <a:latin typeface="Arial"/>
              </a:rPr>
              <a:t>29/84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6624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significant / tested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conservative-support runs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3096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E4C9A"/>
                </a:solidFill>
                <a:latin typeface="Arial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supporting fine cell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667512"/>
            <a:ext cx="3136392" cy="240487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0" y="941832"/>
            <a:ext cx="261518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Mechanistic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426464"/>
            <a:ext cx="2560320" cy="10698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25E6C"/>
                </a:solidFill>
                <a:latin typeface="Arial"/>
              </a:rPr>
              <a:t>Free RPL11 can inhibit MDM2 and activate p53; neuronal ribosomal stress can require RPL11 for p53-linked cell death.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542032"/>
            <a:ext cx="257860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009E73"/>
                </a:solidFill>
                <a:latin typeface="Arial"/>
              </a:rPr>
              <a:t>RPL11 transmits stress into mitochondrial and survival programs.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300984"/>
            <a:ext cx="3136392" cy="2414016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0" y="3575304"/>
            <a:ext cx="261518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Module-marker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059936"/>
            <a:ext cx="2560320" cy="10607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25E6C"/>
                </a:solidFill>
                <a:latin typeface="Arial"/>
              </a:rPr>
              <a:t>RPL11 may inherit strong KDA and STRING signals from high expression, ribosomal connectivity, or a general disease/quality response.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175504"/>
            <a:ext cx="2578608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D55E00"/>
                </a:solidFill>
                <a:latin typeface="Arial"/>
              </a:rPr>
              <a:t>Target specificity and matched ribosomal nulls decide between the models.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28032"/>
            <a:ext cx="7360920" cy="969264"/>
          </a:xfrm>
          <a:prstGeom prst="round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5047488"/>
            <a:ext cx="12801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6B4E9"/>
                </a:solidFill>
                <a:latin typeface="Arial"/>
              </a:rPr>
              <a:t>Human 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9696" y="4956048"/>
            <a:ext cx="5550408" cy="5760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FFFFFF"/>
                </a:solidFill>
                <a:latin typeface="Arial"/>
              </a:rPr>
              <a:t>AD capillary proteomics reported increased RPL11/RPL15 protein, while earlier AD work supports ribosomal dysfunction. The capillary signal does not establish neuronal or astrocytic localization.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11128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Biological discussion: phase18_key_driver_gene_by_gene_initial_analysis.md • Zhang 2003; Slomnicki 2018; Suzuki 2022; Ding 2005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focused respiratory branch emerges from three supporting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Directed Bayesian-network edges are model-derived regulatory hypotheses; pathway outlines summarize the displayed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19</a:t>
            </a:r>
          </a:p>
        </p:txBody>
      </p:sp>
      <p:pic>
        <p:nvPicPr>
          <p:cNvPr id="6" name="RPL11-centered astrocyte consensus network with pathway annotations" descr="RPL11-centered astrocyte consensus network with pathway annot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92" y="1143000"/>
            <a:ext cx="6208710" cy="5349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0727" y="1307592"/>
            <a:ext cx="3593592" cy="4992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375904" y="158191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0496" y="1554480"/>
            <a:ext cx="289864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22208" y="2084832"/>
            <a:ext cx="111556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3/20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2551176"/>
            <a:ext cx="111556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usable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48672" y="1993392"/>
            <a:ext cx="143560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94976" y="2084832"/>
            <a:ext cx="114300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3.44×10⁻⁵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4976" y="2551176"/>
            <a:ext cx="11430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75904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0496" y="3182112"/>
            <a:ext cx="289864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375904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49640" y="3621024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18 nodes, 17 directed edges, and 12 mitochondrial query hits.</a:t>
            </a:r>
          </a:p>
        </p:txBody>
      </p:sp>
      <p:sp>
        <p:nvSpPr>
          <p:cNvPr id="20" name="Oval 19"/>
          <p:cNvSpPr/>
          <p:nvPr/>
        </p:nvSpPr>
        <p:spPr>
          <a:xfrm>
            <a:off x="8375904" y="430682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49640" y="4178808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Upstream chain: RPS25 → RPLP1 → RPL11. Direct outputs: COX7C, CWC15, and PRDX1.</a:t>
            </a:r>
          </a:p>
        </p:txBody>
      </p:sp>
      <p:sp>
        <p:nvSpPr>
          <p:cNvPr id="22" name="Oval 21"/>
          <p:cNvSpPr/>
          <p:nvPr/>
        </p:nvSpPr>
        <p:spPr>
          <a:xfrm>
            <a:off x="8375904" y="48646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49640" y="4736592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ETC/OXPHOS: 8 genes, BH FDR 1.98×10⁻⁸. Cristae formation: 3 genes, FDR 0.00475.</a:t>
            </a:r>
          </a:p>
        </p:txBody>
      </p:sp>
      <p:sp>
        <p:nvSpPr>
          <p:cNvPr id="24" name="Oval 23"/>
          <p:cNvSpPr/>
          <p:nvPr/>
        </p:nvSpPr>
        <p:spPr>
          <a:xfrm>
            <a:off x="8375904" y="5422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49640" y="5294376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The ribosome outline is contextual (FDR 0.0805), not significant at 0.05.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5907024"/>
            <a:ext cx="292608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Interpretation: a reproducible but relatively small astrocyte signal connects RPL11 to a coherent respiratory/cristae branch.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phase18_rpl11_astrocyte_consensus_network_pathways.png, caption, methods, and ORA table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supports target-module coherence more clearly than direct regulation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functional associations are undirected and are not astrocyte-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" y="1271016"/>
            <a:ext cx="491947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network for RPL11 and astrocyte mitochondrial target proteins" descr="STRING medium-confidence network for RPL11 and astrocyte mitochondrial target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51294"/>
            <a:ext cx="4425696" cy="301377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559552" y="1271016"/>
            <a:ext cx="614476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70448" y="1618488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0" y="1591056"/>
            <a:ext cx="53035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5870448" y="220370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44184" y="2075688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The respiratory targets form a dense protein-association core spanning complex I, III, IV, and V proteins.</a:t>
            </a:r>
          </a:p>
        </p:txBody>
      </p:sp>
      <p:sp>
        <p:nvSpPr>
          <p:cNvPr id="13" name="Oval 12"/>
          <p:cNvSpPr/>
          <p:nvPr/>
        </p:nvSpPr>
        <p:spPr>
          <a:xfrm>
            <a:off x="5870448" y="2834640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44184" y="2706624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RPL11 is sparsely connected relative to the target-to-target core; PSAP and CYB5R3 remain visually isolated in this view.</a:t>
            </a:r>
          </a:p>
        </p:txBody>
      </p:sp>
      <p:sp>
        <p:nvSpPr>
          <p:cNvPr id="15" name="Oval 14"/>
          <p:cNvSpPr/>
          <p:nvPr/>
        </p:nvSpPr>
        <p:spPr>
          <a:xfrm>
            <a:off x="5870448" y="346557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44184" y="3337560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The visual density therefore supports a coherent mitochondrial module, but it cannot by itself show that RPL11 regulates that module.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70448" y="426110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35040" y="4233672"/>
            <a:ext cx="53035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Claim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9592" y="4681728"/>
            <a:ext cx="5303520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25E6C"/>
                </a:solidFill>
                <a:latin typeface="Arial"/>
              </a:rPr>
              <a:t>A direct RPL11 claim requires the input-only physical network, edge-level experimental/curated evidence, a ≥0.700 threshold, and matched ribosomal/topology controls. Until then, the medium-confidence figure is suggestive module-level cross-validation.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79592" y="5696712"/>
            <a:ext cx="5266944" cy="384048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89904" y="5769864"/>
            <a:ext cx="484632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F233D"/>
                </a:solidFill>
                <a:latin typeface="Arial"/>
              </a:rPr>
              <a:t>Allowed conclusion: protein-level coherence of the target module; direct RPL11 support remains provisional.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astrocyte/stringdb_full_medium_conf.png • interpretation follows rpl11_astrocyte_string_analysis_guide.md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RPL11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broader translation–mitochondria interface recurs across 20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excitatory context has stronger aggregate evidence and complete leave-one-fine-cell-type candidate retention.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21</a:t>
            </a:r>
          </a:p>
        </p:txBody>
      </p:sp>
      <p:pic>
        <p:nvPicPr>
          <p:cNvPr id="6" name="RPL11-centered excitatory-neuron consensus network with pathway annotations" descr="RPL11-centered excitatory-neuron consensus network with pathway annot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19" y="1133856"/>
            <a:ext cx="7513665" cy="538581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93024" y="1298448"/>
            <a:ext cx="3511296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39912" y="1581912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554480"/>
            <a:ext cx="2834639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9912" y="1993392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86216" y="2084832"/>
            <a:ext cx="1124712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20/97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6216" y="2551176"/>
            <a:ext cx="11247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usable excitatory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21824" y="1993392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68128" y="2084832"/>
            <a:ext cx="1124712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1.84×10⁻⁹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8128" y="2551176"/>
            <a:ext cx="11247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39912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3182112"/>
            <a:ext cx="2834639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439912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13648" y="3621024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35 nodes, 34 directed edges, 21 mitochondrial query hits, and 9 direct RPL11 outputs.</a:t>
            </a:r>
          </a:p>
        </p:txBody>
      </p:sp>
      <p:sp>
        <p:nvSpPr>
          <p:cNvPr id="20" name="Oval 19"/>
          <p:cNvSpPr/>
          <p:nvPr/>
        </p:nvSpPr>
        <p:spPr>
          <a:xfrm>
            <a:off x="8439912" y="430682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13648" y="4178808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Direct outputs include ribosomal proteins plus COX7C and SMDT1, creating a model-derived bridge to mitochondrial functions.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8439912" y="48646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13648" y="4736592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Cytosolic ribosome: 14 genes, FDR 1.35×10⁻¹⁶; ETC/OXPHOS: 12 genes, FDR 3.20×10⁻¹³.</a:t>
            </a:r>
          </a:p>
        </p:txBody>
      </p:sp>
      <p:sp>
        <p:nvSpPr>
          <p:cNvPr id="24" name="Oval 23"/>
          <p:cNvSpPr/>
          <p:nvPr/>
        </p:nvSpPr>
        <p:spPr>
          <a:xfrm>
            <a:off x="8439912" y="5422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13648" y="5294376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Mitochondrial protein degradation (FDR 0.00180) and cristae formation (FDR 0.00762) add proteostasis/structure hypotheses.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916168"/>
            <a:ext cx="285292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Interpretation: the excitatory signal is broader and more recurrent, but its ribosomal density makes specificity controls essential.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phase18_rpl11_excitatory_consensus_network_pathways.png, node/edge tables, and ORA table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RPL11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resolves ribosomal and respiratory protein neighborhoods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displayed functional network is useful for architecture; it does not preserve Bayesian edge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80160"/>
            <a:ext cx="6976872" cy="4965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network for RPL11 and excitatory-neuron target proteins" descr="STRING medium-confidence network for RPL11 and excitatory-neuron target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505535"/>
            <a:ext cx="6629400" cy="451444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16368" y="1280160"/>
            <a:ext cx="4187952" cy="4965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81544" y="1618488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46136" y="1591056"/>
            <a:ext cx="34747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Architecture</a:t>
            </a:r>
          </a:p>
        </p:txBody>
      </p:sp>
      <p:sp>
        <p:nvSpPr>
          <p:cNvPr id="11" name="Oval 10"/>
          <p:cNvSpPr/>
          <p:nvPr/>
        </p:nvSpPr>
        <p:spPr>
          <a:xfrm>
            <a:off x="7781544" y="218541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79" y="205740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RPL11 sits with cytosolic/mitochondrial ribosomal proteins, while the respiratory proteins form a dense OXPHOS core.</a:t>
            </a:r>
          </a:p>
        </p:txBody>
      </p:sp>
      <p:sp>
        <p:nvSpPr>
          <p:cNvPr id="13" name="Oval 12"/>
          <p:cNvSpPr/>
          <p:nvPr/>
        </p:nvSpPr>
        <p:spPr>
          <a:xfrm>
            <a:off x="7781544" y="28254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8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The view is consistent with a ribosome–mitochondria interface rather than one simple RPL11→target protein chain.</a:t>
            </a:r>
          </a:p>
        </p:txBody>
      </p:sp>
      <p:sp>
        <p:nvSpPr>
          <p:cNvPr id="15" name="Oval 14"/>
          <p:cNvSpPr/>
          <p:nvPr/>
        </p:nvSpPr>
        <p:spPr>
          <a:xfrm>
            <a:off x="7781544" y="346557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333756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Respiratory-protein density is expected and can dominate whole-network PPI enrichment.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81544" y="416052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46136" y="4133087"/>
            <a:ext cx="34747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Exploratory elements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4599432"/>
            <a:ext cx="3465576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MRPS18C, COX17, COX20, and PINK1 appear as STRING-side connectors rather than prespecified Bayesian-consensus nodes. They are mechanism hypotheses—not validation endpoints.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81544" y="5532120"/>
            <a:ext cx="3511296" cy="512064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5641848"/>
            <a:ext cx="31363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0F233D"/>
                </a:solidFill>
                <a:latin typeface="Arial"/>
              </a:rPr>
              <a:t>Test RPL11-to-target edges separately from target-to-target connectivity.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excitatory/stringdb_full_medium_conf.png • medium-confidence functional STRING view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The excitatory signal is broader; the astrocyte signal is more focused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Both contexts support a translation/stress-to-mitochondria hypothesis, while leaving target specificity unresolved.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" y="1417320"/>
            <a:ext cx="5385816" cy="331927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201168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E73"/>
                </a:solidFill>
                <a:latin typeface="Arial"/>
              </a:rPr>
              <a:t>ASTROCYTES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02536"/>
            <a:ext cx="450799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F233D"/>
                </a:solidFill>
                <a:latin typeface="Arial"/>
              </a:rPr>
              <a:t>Focused respiratory branch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700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136" y="25420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3/20 supporting runs; aggregate q 3.44×10⁻⁵.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1272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" y="29992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18-node directed consensus with ETC/OXPHOS and cristae enrichment.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5844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8136" y="34564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STRING shows a dense target core but comparatively sparse RPL11 connectivity.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041647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88136" y="3913631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Best current framing: focused, plausible, and still in need of protein-edge/null validation.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417320"/>
            <a:ext cx="5358384" cy="3319272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1673352"/>
            <a:ext cx="25146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F00"/>
                </a:solidFill>
                <a:latin typeface="Arial"/>
              </a:rPr>
              <a:t>EXCITATORY NEURONS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002536"/>
            <a:ext cx="4590288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F233D"/>
                </a:solidFill>
                <a:latin typeface="Arial"/>
              </a:rPr>
              <a:t>Broad translation–mitochondria interface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26700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65976" y="25420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20/97 supporting runs; aggregate q 1.84×10⁻⁹.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1272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65976" y="29992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35-node consensus combines ribosome, OXPHOS, cristae, and mitochondrial proteostasis.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5844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65976" y="34564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STRING separates a ribosomal neighborhood and dense respiratory core with exploratory connectors.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041647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65976" y="3913631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Best current framing: stronger recurrence, but higher risk of generic ribosomal-module effects.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" y="5038344"/>
            <a:ext cx="10515600" cy="1170432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992" y="5230368"/>
            <a:ext cx="162763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B4E9"/>
                </a:solidFill>
                <a:latin typeface="Arial"/>
              </a:rPr>
              <a:t>DECISIVE 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5193792"/>
            <a:ext cx="836676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FFFFFF"/>
                </a:solidFill>
                <a:latin typeface="Arial"/>
              </a:rPr>
              <a:t>Match for expression, degree, neighborhood size, and ribosomal class → use partial CRISPRi/CRISPRa in APOE-isogenic astrocytes and excitatory neurons → measure predicted MT targets, p53, nascent translation, respiration, and viability → add p53 inhibition/rescue and spatial/vascular proteomics.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Interpretation and validation priorities synthesized from phase18_key_driver_gene_by_gene_initial_analysis.md</a:t>
            </a:r>
          </a:p>
        </p:txBody>
      </p:sp>
    </p:spTree>
    <p:extLst>
      <p:ext uri="{BB962C8B-B14F-4D97-AF65-F5344CB8AC3E}">
        <p14:creationId xmlns:p14="http://schemas.microsoft.com/office/powerpoint/2010/main" val="4195445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3259</Words>
  <Application>Microsoft Macintosh PowerPoint</Application>
  <PresentationFormat>Widescreen</PresentationFormat>
  <Paragraphs>344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18 Key-Driver Selection</dc:title>
  <dc:subject>Selection, cross-network evidence, and descriptive sex/APOE support</dc:subject>
  <dc:creator>Alzheimer project analysis team</dc:creator>
  <cp:keywords>Alzheimer, mitochondria, KDA, key drivers, APOE, sex</cp:keywords>
  <dc:description>generated using python-pptx</dc:description>
  <cp:lastModifiedBy>Richard Zhuang</cp:lastModifiedBy>
  <cp:revision>2</cp:revision>
  <dcterms:created xsi:type="dcterms:W3CDTF">2013-01-27T09:14:16Z</dcterms:created>
  <dcterms:modified xsi:type="dcterms:W3CDTF">2026-08-17T00:45:06Z</dcterms:modified>
  <cp:category/>
</cp:coreProperties>
</file>