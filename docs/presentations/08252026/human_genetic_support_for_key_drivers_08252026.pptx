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01"/>
    <p:restoredTop sz="90408"/>
  </p:normalViewPr>
  <p:slideViewPr>
    <p:cSldViewPr snapToGrid="0" snapToObjects="1">
      <p:cViewPr varScale="1">
        <p:scale>
          <a:sx n="144" d="100"/>
          <a:sy n="144" d="100"/>
        </p:scale>
        <p:origin x="200" y="192"/>
      </p:cViewPr>
      <p:guideLst>
        <p:guide orient="horz" pos="2160"/>
        <p:guide pos="2880"/>
      </p:guideLst>
    </p:cSldViewPr>
  </p:slideViewPr>
  <p:notesTextViewPr>
    <p:cViewPr>
      <p:scale>
        <a:sx n="130" d="100"/>
        <a:sy n="13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933829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Introduce the question and distinguish cell-network importance from inherited genetic association. Earlier work used brain-cell networks to identify “key-driver” genes: genes that sit in influential positions within patterns of genes that turn on and off together. This presentation asks whether inherited DNA data provide an additional line of support for those genes.</a:t>
            </a:r>
          </a:p>
          <a:p>
            <a:endParaRPr/>
          </a:p>
          <a:p>
            <a:r>
              <a:t>Walk through the slide: Point to “25 genes from 47 cell-network results.” There are 25 unique genes, but some appeared in more than one cell type or network. Each gene in a particular network is counted as one gene–network setting, giving 47 settings in total. The list was chosen before this genetic follow-up, so the genetic results were not used to rewrite or rerank it. Then point to the evidence statement. APOE is the clearest lead because it connects to several public datasets, including Alzheimer’s disease itself and three biomarkers measured in cerebrospinal fluid. COX7C, SELENOW, RPS15, and ANKRD11 have specific signals that make them useful targets for focused validation.</a:t>
            </a:r>
          </a:p>
          <a:p>
            <a:endParaRPr/>
          </a:p>
          <a:p>
            <a:r>
              <a:t>Key idea to explain: Network evidence describes relationships among gene activities inside cells. Genetic evidence asks whether inherited DNA differences are statistically associated with disease or disease-related traits. Combining them gives two complementary views rather than one replacing the other.</a:t>
            </a:r>
          </a:p>
          <a:p>
            <a:endParaRPr/>
          </a:p>
          <a:p>
            <a:r>
              <a:t>Scientific boundary: The four follow-up genes do not all have the same kind or strength of evidence, so later slides describe each precisely. The node-and-line image is an abstract network symbol, not a biological pathway diagram. None of these results alone proves that a gene causes disease.</a:t>
            </a:r>
          </a:p>
          <a:p>
            <a:endParaRPr/>
          </a:p>
          <a:p>
            <a:r>
              <a:t>Transition: “I’ll begin with the full study in one picture, then unpack how each kind of evidence was obtained.”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Give the audience a one-minute map of the study and show that the evidence types have different meanings.</a:t>
            </a:r>
          </a:p>
          <a:p>
            <a:endParaRPr/>
          </a:p>
          <a:p>
            <a:r>
              <a:t>Walk through the slide: Start at the upper left. The starting list contained 25 unique genes appearing in 47 gene-by-cell-network combinations. The same gene can appear in more than one combination. Move to “Nuclear analysis.” Nineteen genes are encoded on chromosomes in the cell nucleus and could be examined with the common-variant datasets used here. Six genes are encoded by mitochondrial DNA, a small separate genome inside mitochondria. Those six define a dedicated mitochondrial follow-up.</a:t>
            </a:r>
          </a:p>
          <a:p>
            <a:endParaRPr/>
          </a:p>
          <a:p>
            <a:r>
              <a:t>Point to APOE. It has the broadest support in this project: an established Alzheimer’s-disease link plus signals for amyloid-β42, total tau, and phosphorylated tau 181 in cerebrospinal fluid. These molecules are commonly studied as markers of Alzheimer-related biology. COX7C and SELENOW matched records in the registered public summary screen. RPS15 and ANKRD11 had very small P values for DNA regions near them.</a:t>
            </a:r>
          </a:p>
          <a:p>
            <a:endParaRPr/>
          </a:p>
          <a:p>
            <a:r>
              <a:t>Key idea to explain: A P value describes how surprising a result would be under a no-association model; smaller values draw attention. The “same-variant test” at lower right would ask whether an Alzheimer’s signal and a gene-activity signal are best explained by the same DNA variant.</a:t>
            </a:r>
          </a:p>
          <a:p>
            <a:endParaRPr/>
          </a:p>
          <a:p>
            <a:r>
              <a:t>Scientific boundary: A nearby regional signal does not by itself identify the responsible gene. A same-variant result would strengthen a biological connection, but would still need other evidence before making a causal claim.</a:t>
            </a:r>
          </a:p>
          <a:p>
            <a:endParaRPr/>
          </a:p>
          <a:p>
            <a:r>
              <a:t>Transition: “Now that we have the headline results, let’s see how the rest of the presentation is organized.”</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Help the audience follow the logic of the talk rather than treating the slides as a long list of datasets and genes.</a:t>
            </a:r>
          </a:p>
          <a:p>
            <a:endParaRPr/>
          </a:p>
          <a:p>
            <a:r>
              <a:t>Walk through the slide: Point to Section 1. Slides 4 through 8 explain the original gene list, the public datasets, and the order of the tests. This foundation matters because each database answers a different question. Point to Section 2. Slides 9 through 13 summarize all 47 gene–network settings, examine APOE across several datasets, and then present the particular signals involving COX7C, SELENOW, RPS15, and ANKRD11. Point to Section 3. Slides 14 through 18 show how exact P values and available data lead to concrete next steps, including same-variant comparisons, larger cell-specific studies, more ancestral populations, and additional genetic mechanisms.</a:t>
            </a:r>
          </a:p>
          <a:p>
            <a:endParaRPr/>
          </a:p>
          <a:p>
            <a:r>
              <a:t>Key idea to explain: Good scientific interpretation links each conclusion to the type of data that supports it. APOE has multi-dataset support, while the other four genes provide different and more focused starting points for validation.</a:t>
            </a:r>
          </a:p>
          <a:p>
            <a:endParaRPr/>
          </a:p>
          <a:p>
            <a:r>
              <a:t>Scientific boundary: The roadmap groups related topics for teaching purposes; it does not place every highlighted gene into one identical evidence category.</a:t>
            </a:r>
          </a:p>
          <a:p>
            <a:endParaRPr/>
          </a:p>
          <a:p>
            <a:r>
              <a:t>Transition: Point to the appendix ribbon and say, “Detailed cutoffs, all 19 nearby-Alzheimer’s P values, full evidence tables, and reproducibility checks are available at the end. First, let’s define the study design.”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Prepare the audience for three recurring terms—GWAS, QTL, and CSF—and explain the scope of the study.</a:t>
            </a:r>
          </a:p>
          <a:p>
            <a:endParaRPr/>
          </a:p>
          <a:p>
            <a:r>
              <a:t>Walk through the slide: Begin with GWAS, or genome-wide association study. A GWAS compares DNA variants across many people to find variants associated with a trait such as Alzheimer’s disease. A DNA variant is a genome position at which people can carry different DNA letters. Next define QTL, or quantitative trait locus. A QTL connects a DNA variant to a measurable biological feature, such as the amount of RNA made from a gene, the way RNA is spliced, or the amount of a protein. Finally define CSF as cerebrospinal fluid, the fluid surrounding the brain and spinal cord. The study used public GWAS results for three CSF markers: amyloid-β42, total tau, and phosphorylated tau 181.</a:t>
            </a:r>
          </a:p>
          <a:p>
            <a:endParaRPr/>
          </a:p>
          <a:p>
            <a:r>
              <a:t>Key idea to explain: These datasets create a chain of questions. GWAS asks where inherited DNA relates to a trait. QTL data ask whether DNA in that region relates to gene activity. Comparing both can prioritize a possible gene-level explanation.</a:t>
            </a:r>
          </a:p>
          <a:p>
            <a:endParaRPr/>
          </a:p>
          <a:p>
            <a:r>
              <a:t>Scientific boundary: Association is a statistical link; it does not automatically identify the causal variant, gene, or mechanism. CSF markers reflect disease-related biology but are not the same outcome as a clinical diagnosis.</a:t>
            </a:r>
          </a:p>
          <a:p>
            <a:endParaRPr/>
          </a:p>
          <a:p>
            <a:r>
              <a:t>Transition: “With those definitions in place, we can compare what the original network analysis and the inherited-DNA analysis each contribute.”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Show why network biology and inherited genetics can produce different but complementary information.</a:t>
            </a:r>
          </a:p>
          <a:p>
            <a:endParaRPr/>
          </a:p>
          <a:p>
            <a:r>
              <a:t>Walk through the slide: Point first to the green box. A cell-network analysis studies genes whose activity rises and falls together in a particular cell type or disease condition. A gene near the center may help organize or reflect an important cellular process. Here, that analysis produced 47 gene-network results representing 25 unique genes. Point next to the blue box. An inherited-DNA analysis asks whether DNA variants passed through families show a statistical relationship with Alzheimer’s disease or a related marker. Nineteen nuclear genes could be examined in the common-variant workflow. Six mitochondrial genes define a dedicated design because mitochondrial DNA is inherited and analyzed differently from nuclear chromosomes.</a:t>
            </a:r>
          </a:p>
          <a:p>
            <a:endParaRPr/>
          </a:p>
          <a:p>
            <a:r>
              <a:t>Key idea to explain: Emphasize “complementary questions.” A gene can be important in disease biology even if it does not change inherited Alzheimer’s risk. A gene can be central in diseased cells because it responds to inflammation, aging, treatment, or changes elsewhere in the system. Conversely, a genetic-risk region may act only in a cell state or time point that the network dataset did not capture. The two approaches therefore need not produce identical lists.</a:t>
            </a:r>
          </a:p>
          <a:p>
            <a:endParaRPr/>
          </a:p>
          <a:p>
            <a:r>
              <a:t>Scientific boundary: “Linked to inherited risk” means statistically associated, not proven to cause disease. A network-central gene may be a response to disease rather than an inherited cause, and a nearby DNA association may involve another gene in the region.</a:t>
            </a:r>
          </a:p>
          <a:p>
            <a:endParaRPr/>
          </a:p>
          <a:p>
            <a:r>
              <a:t>Transition: “To see how we investigated these complementary questions, let’s look at the five public-data layers and the job assigned to each.”</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Teaching goal: Explain why five public-data layers were needed and what unique question each one answered.</a:t>
            </a:r>
          </a:p>
          <a:p>
            <a:endParaRPr dirty="0"/>
          </a:p>
          <a:p>
            <a:r>
              <a:rPr dirty="0"/>
              <a:t>Walk through the slide: Read the table by rows. </a:t>
            </a:r>
            <a:endParaRPr lang="en-US" dirty="0"/>
          </a:p>
          <a:p>
            <a:r>
              <a:rPr dirty="0"/>
              <a:t>The first row documents the 25 genes and 47 settings. GENCODE and HGNC standardize gene locations and official names, preventing duplicate labels and separating 19 nuclear genes from 6 mitochondrial genes. </a:t>
            </a:r>
            <a:endParaRPr lang="en-US" dirty="0"/>
          </a:p>
          <a:p>
            <a:endParaRPr lang="en-US" dirty="0"/>
          </a:p>
          <a:p>
            <a:r>
              <a:rPr lang="en-US" dirty="0" err="1"/>
              <a:t>FunGen</a:t>
            </a:r>
            <a:r>
              <a:rPr lang="en-US" dirty="0"/>
              <a:t> is a curated collection of previously published genetic results. It acts like a searchable index: we checked whether our 25 candidate genes had already appeared in studies connecting Alzheimer’s-associated DNA variants to gene activity, RNA splicing, or predicted expression.</a:t>
            </a:r>
          </a:p>
          <a:p>
            <a:endParaRPr lang="en-US" dirty="0"/>
          </a:p>
          <a:p>
            <a:r>
              <a:rPr dirty="0"/>
              <a:t>The second row is a quick public-summary screen. </a:t>
            </a:r>
            <a:r>
              <a:rPr dirty="0" err="1"/>
              <a:t>FunGen-xQTL</a:t>
            </a:r>
            <a:r>
              <a:rPr dirty="0"/>
              <a:t> collects previously computed results linking Alzheimer’s genetics to gene regulation. Its snapshot identifier is shown so the same release can be retrieved.</a:t>
            </a:r>
          </a:p>
          <a:p>
            <a:r>
              <a:rPr lang="en-US" dirty="0"/>
              <a:t>In this study, the </a:t>
            </a:r>
            <a:r>
              <a:rPr lang="en-US" dirty="0" err="1"/>
              <a:t>FunGen</a:t>
            </a:r>
            <a:r>
              <a:rPr lang="en-US" dirty="0"/>
              <a:t> search highlighted:</a:t>
            </a:r>
          </a:p>
          <a:p>
            <a:pPr lvl="0"/>
            <a:r>
              <a:rPr lang="en-US" dirty="0"/>
              <a:t>1. APOE through strong, direct Alzheimer’s variant-to-gene evidence</a:t>
            </a:r>
          </a:p>
          <a:p>
            <a:pPr lvl="0"/>
            <a:r>
              <a:rPr lang="en-US" dirty="0"/>
              <a:t>2. COX7C through a bulk-brain RNA-splicing record</a:t>
            </a:r>
          </a:p>
          <a:p>
            <a:pPr lvl="0"/>
            <a:r>
              <a:rPr lang="en-US" dirty="0"/>
              <a:t>3. SELENOW through a predicted-expression gene list</a:t>
            </a:r>
          </a:p>
          <a:p>
            <a:r>
              <a:rPr lang="en-US" dirty="0" err="1"/>
              <a:t>FunGen</a:t>
            </a:r>
            <a:r>
              <a:rPr lang="en-US" dirty="0"/>
              <a:t> was a quick first screen—not a new experiment or a complete test of every gene. More detailed regional P-value and QTL analyses were performed separately.</a:t>
            </a:r>
          </a:p>
          <a:p>
            <a:endParaRPr lang="en-US" dirty="0"/>
          </a:p>
          <a:p>
            <a:endParaRPr dirty="0"/>
          </a:p>
          <a:p>
            <a:r>
              <a:rPr dirty="0"/>
              <a:t>The third row is the </a:t>
            </a:r>
            <a:r>
              <a:rPr dirty="0" err="1"/>
              <a:t>Bellenguez</a:t>
            </a:r>
            <a:r>
              <a:rPr dirty="0"/>
              <a:t> Alzheimer’s GWAS, accession GCST90027158. GRCh38 is the genome coordinate system used to locate variants. For each nuclear gene, the screen examined one megabase—one million DNA letters—on either side. </a:t>
            </a:r>
            <a:endParaRPr lang="en-US" dirty="0"/>
          </a:p>
          <a:p>
            <a:endParaRPr lang="en-US" dirty="0"/>
          </a:p>
          <a:p>
            <a:r>
              <a:rPr dirty="0"/>
              <a:t>The fourth row contains brain QTL datasets, which ask whether variants affect RNA amount, RNA splicing, or protein amount. </a:t>
            </a:r>
            <a:endParaRPr lang="en-US" dirty="0"/>
          </a:p>
          <a:p>
            <a:r>
              <a:rPr lang="en-US" dirty="0"/>
              <a:t>the brain QTL dataset does not directly link a gene to Alzheimer’s disease.</a:t>
            </a:r>
          </a:p>
          <a:p>
            <a:r>
              <a:rPr lang="en-US" dirty="0"/>
              <a:t>It answers a different question: “Which inherited DNA variants are associated with changes in a gene’s RNA amount, RNA splicing, or protein amount in brain tissue?”</a:t>
            </a:r>
          </a:p>
          <a:p>
            <a:r>
              <a:rPr lang="en-US" dirty="0"/>
              <a:t>The analysis then compares two datasets:</a:t>
            </a:r>
          </a:p>
          <a:p>
            <a:pPr lvl="0"/>
            <a:r>
              <a:rPr lang="en-US" dirty="0"/>
              <a:t>AD GWAS: identifies DNA variants associated with Alzheimer’s disease.</a:t>
            </a:r>
          </a:p>
          <a:p>
            <a:pPr lvl="0"/>
            <a:r>
              <a:rPr lang="en-US" dirty="0"/>
              <a:t>Brain QTL: identifies DNA variants associated with candidate-gene activity.</a:t>
            </a:r>
          </a:p>
          <a:p>
            <a:r>
              <a:rPr lang="en-US" dirty="0"/>
              <a:t>If the AD and QTL signals appear to involve the same variant, that provides a possible bridge between inherited AD risk and the gene’s biological activity. In this study, the QTL data identified useful gene-activity leads—particularly for RPS15—but the full same-variant tests still require additional matching data.</a:t>
            </a:r>
          </a:p>
          <a:p>
            <a:endParaRPr lang="en-US" dirty="0"/>
          </a:p>
          <a:p>
            <a:r>
              <a:rPr dirty="0"/>
              <a:t>The final row covers amyloid-β42, total tau, and p-tau181 in cerebrospinal fluid. Nineteen genes times three markers produced 57 screens.</a:t>
            </a:r>
          </a:p>
          <a:p>
            <a:r>
              <a:rPr lang="en-US" dirty="0"/>
              <a:t>The spinal-fluid markers provide a more specific view of Alzheimer-related biology than diagnosis alone.</a:t>
            </a:r>
          </a:p>
          <a:p>
            <a:r>
              <a:rPr lang="en-US" dirty="0"/>
              <a:t>The three markers are measured in cerebrospinal fluid, which surrounds the brain and spinal cord:</a:t>
            </a:r>
          </a:p>
          <a:p>
            <a:pPr lvl="0"/>
            <a:r>
              <a:rPr lang="en-US" dirty="0"/>
              <a:t>Amyloid-β42 relates to amyloid plaque formation.</a:t>
            </a:r>
          </a:p>
          <a:p>
            <a:pPr lvl="0"/>
            <a:r>
              <a:rPr lang="en-US" dirty="0"/>
              <a:t>Total tau reflects overall tau protein and nerve-cell damage.</a:t>
            </a:r>
          </a:p>
          <a:p>
            <a:pPr lvl="0"/>
            <a:r>
              <a:rPr lang="en-US" dirty="0"/>
              <a:t>p-tau181 reflects an Alzheimer-associated form of tau.</a:t>
            </a:r>
          </a:p>
          <a:p>
            <a:r>
              <a:rPr lang="en-US" dirty="0"/>
              <a:t>The study asked whether inherited DNA near each candidate gene was associated with any of these markers. This can suggest whether a gene region is connected to amyloid or tau biology, even though the marker itself is not an Alzheimer’s diagnosis.</a:t>
            </a:r>
          </a:p>
          <a:p>
            <a:r>
              <a:rPr lang="en-US" dirty="0"/>
              <a:t>Across 19 genes × 3 markers = 57 screens, APOE was associated with all three markers. This strengthens APOE through a second type of evidence, but it does not by itself prove how APOE changes those markers or which brain cell is responsible.</a:t>
            </a:r>
          </a:p>
          <a:p>
            <a:endParaRPr dirty="0"/>
          </a:p>
          <a:p>
            <a:r>
              <a:rPr dirty="0"/>
              <a:t>Key idea to explain: Dataset versions and accession codes provide an audit trail. “Summary statistics” are association results calculated across groups, not individual medical records.</a:t>
            </a:r>
          </a:p>
          <a:p>
            <a:endParaRPr dirty="0"/>
          </a:p>
          <a:p>
            <a:r>
              <a:rPr dirty="0"/>
              <a:t>Scientific boundary: A public-summary match is a lead that must be interpreted in its original context. A signal within the ±1-megabase window is regional evidence because several nearby genes can share the same associated region. The CSF studies listed here represent European-ancestry samples, which matters when considering how broadly results may generalize.</a:t>
            </a:r>
          </a:p>
          <a:p>
            <a:endParaRPr dirty="0"/>
          </a:p>
          <a:p>
            <a:r>
              <a:rPr dirty="0"/>
              <a:t>Transition: “The QTL layer deserves a closer look, because it is the bridge from a DNA variant to a possible change in gene activity.”</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Teaching goal: Teach the three QTL types and show why cell type, tissue, and sample size affect interpretation.</a:t>
            </a:r>
          </a:p>
          <a:p>
            <a:endParaRPr dirty="0"/>
          </a:p>
          <a:p>
            <a:r>
              <a:rPr dirty="0"/>
              <a:t>Walk through the slide: Define an </a:t>
            </a:r>
            <a:r>
              <a:rPr dirty="0" err="1"/>
              <a:t>eQTL</a:t>
            </a:r>
            <a:r>
              <a:rPr dirty="0"/>
              <a:t> as a variant associated with RNA amount, an </a:t>
            </a:r>
            <a:r>
              <a:rPr dirty="0" err="1"/>
              <a:t>sQTL</a:t>
            </a:r>
            <a:r>
              <a:rPr dirty="0"/>
              <a:t> as a variant associated with RNA splicing, and a </a:t>
            </a:r>
            <a:r>
              <a:rPr dirty="0" err="1"/>
              <a:t>pQTL</a:t>
            </a:r>
            <a:r>
              <a:rPr dirty="0"/>
              <a:t> as a variant associated with protein amount. Move across the upper cards. Microglia are immune-like brain cells; Young 2019 includes 104 samples with expression and splicing QTLs. Aygun 2021 includes 73 neuron-like samples. Walker 2019 includes 211 mixed-brain samples. Mixed tissue gives broader coverage, although a cell-specific signal may be diluted or reflect several cell types. NG00184.v1 provides wider RNA, splicing, and protein coverage.</a:t>
            </a:r>
          </a:p>
          <a:p>
            <a:endParaRPr dirty="0"/>
          </a:p>
          <a:p>
            <a:r>
              <a:rPr dirty="0"/>
              <a:t>Point to the lower-left box. APOE follow-up used spinal-fluid </a:t>
            </a:r>
            <a:r>
              <a:rPr dirty="0" err="1"/>
              <a:t>pQTL</a:t>
            </a:r>
            <a:r>
              <a:rPr dirty="0"/>
              <a:t> data from 3,506 European-ancestry samples after earlier association signals crossed the pre-set screening references. At lower right, RPS15 had three distinct mixed-brain QTL tracks. These produced six positive setting rows because each track was evaluated in two network settings; they are not six independent studies.</a:t>
            </a:r>
          </a:p>
          <a:p>
            <a:endParaRPr dirty="0"/>
          </a:p>
          <a:p>
            <a:r>
              <a:rPr lang="en-US" dirty="0"/>
              <a:t>Three unique RPS15 tracks were found:</a:t>
            </a:r>
          </a:p>
          <a:p>
            <a:pPr lvl="0"/>
            <a:r>
              <a:rPr lang="en-US" dirty="0"/>
              <a:t>MSBB BA36: RPS15 RNA amount</a:t>
            </a:r>
          </a:p>
          <a:p>
            <a:pPr lvl="0"/>
            <a:r>
              <a:rPr lang="en-US" dirty="0"/>
              <a:t>ROSMAP DLPFC: RPS15 RNA splicing</a:t>
            </a:r>
          </a:p>
          <a:p>
            <a:pPr lvl="0"/>
            <a:r>
              <a:rPr lang="en-US" dirty="0"/>
              <a:t>ROSMAP posterior cingulate: RPS15 RNA splicing</a:t>
            </a:r>
          </a:p>
          <a:p>
            <a:r>
              <a:rPr lang="en-US" dirty="0"/>
              <a:t>RPS15 appeared in two original network settings:</a:t>
            </a:r>
          </a:p>
          <a:p>
            <a:pPr lvl="0"/>
            <a:r>
              <a:rPr lang="en-US" dirty="0"/>
              <a:t>OPCs, or oligodendrocyte precursor cells</a:t>
            </a:r>
          </a:p>
          <a:p>
            <a:pPr lvl="0"/>
            <a:r>
              <a:rPr lang="en-US" dirty="0"/>
              <a:t>Inhibitory neurons</a:t>
            </a:r>
          </a:p>
          <a:p>
            <a:r>
              <a:rPr lang="en-US" dirty="0"/>
              <a:t>Each of the three tracks was recorded for both settings:</a:t>
            </a:r>
          </a:p>
          <a:p>
            <a:r>
              <a:rPr lang="en-US" b="1" dirty="0"/>
              <a:t>3 unique tracks × 2 network settings = 6 result rows</a:t>
            </a:r>
            <a:endParaRPr lang="en-US" dirty="0"/>
          </a:p>
          <a:p>
            <a:r>
              <a:rPr lang="en-US" dirty="0"/>
              <a:t>This does not mean six independent confirmations. The data came from mixed brain tissue, so they cannot show whether the signal specifically comes from OPCs or inhibitory neurons. Cell-specific data would be needed for that validation.</a:t>
            </a:r>
          </a:p>
          <a:p>
            <a:endParaRPr lang="en-US" dirty="0"/>
          </a:p>
          <a:p>
            <a:r>
              <a:rPr dirty="0"/>
              <a:t>Key idea to explain: A QTL is a statistical bridge from inherited DNA to a measurable molecular feature. Regulation can be cell-specific, so the biological source of the sample matters as much as the QTL label.</a:t>
            </a:r>
          </a:p>
          <a:p>
            <a:endParaRPr dirty="0"/>
          </a:p>
          <a:p>
            <a:r>
              <a:rPr dirty="0"/>
              <a:t>Scientific boundary: QTL associations do not by themselves prove a causal chain from variant to gene to disease. Neuron-like samples are not an exact match for every mature neuron subtype, and mixed-brain results do not identify the contributing cell type.</a:t>
            </a:r>
          </a:p>
          <a:p>
            <a:endParaRPr lang="en-US" dirty="0"/>
          </a:p>
          <a:p>
            <a:endParaRPr dirty="0"/>
          </a:p>
          <a:p>
            <a:r>
              <a:rPr dirty="0"/>
              <a:t>Transition: “Now we can combine the disease and gene-activity layers into one step-by-step workflow.”</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Explain the two analysis paths and why compatible variant-level inputs are required before a same-signal test.</a:t>
            </a:r>
          </a:p>
          <a:p>
            <a:endParaRPr/>
          </a:p>
          <a:p>
            <a:r>
              <a:t>Walk through the slide: Start at the dark box. The 47 gene–network pairs, representing 25 genes, were fixed before the genetic results were examined. Follow upper Lane A. It searches a fixed FunGen snapshot for previously computed Alzheimer’s fine-mapping and gene-regulation results. This lookup highlighted APOE, COX7C, and SELENOW across four gene–network pairs.</a:t>
            </a:r>
          </a:p>
          <a:p>
            <a:endParaRPr/>
          </a:p>
          <a:p>
            <a:r>
              <a:t>Trace Lane B from left to right. Step 1 asks whether a nearby region is associated with clinical Alzheimer’s disease or a CSF marker. Step 2 asks whether variants there also affect the candidate gene’s RNA, splicing, or protein. Step 3 aligns variant identifiers, genome coordinates, statistical models, ancestry, and linkage disequilibrium. Linkage disequilibrium, or LD, describes how nearby variants tend to be inherited together. Step 4 is a colocalization test. PP.H4 is the model-based probability that the disease and gene-activity associations share one underlying variant.</a:t>
            </a:r>
          </a:p>
          <a:p>
            <a:endParaRPr/>
          </a:p>
          <a:p>
            <a:r>
              <a:t>Key idea to explain: Each completed step adds a different layer. A regional disease signal plus a gene-activity signal is more informative than either alone; compatible full data enable the next same-variant comparison.</a:t>
            </a:r>
          </a:p>
          <a:p>
            <a:endParaRPr/>
          </a:p>
          <a:p>
            <a:r>
              <a:t>Scientific boundary: A public-data match depends on its original evidence type. PP.H4 requires complete, compatible variant-level inputs and is a probability under a statistical model, not proof of causation. The arrows show analysis order, not a biological causal pathway. The 6 mitochondrial genes across 20 settings require mitochondrial-specific data and methods.</a:t>
            </a:r>
          </a:p>
          <a:p>
            <a:endParaRPr/>
          </a:p>
          <a:p>
            <a:r>
              <a:t>Transition: “With the workflow established, we can now examine the evidence found across the complete gene list.”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Preview the results section and set expectations for how different forms of evidence will be compared.</a:t>
            </a:r>
          </a:p>
          <a:p>
            <a:endParaRPr/>
          </a:p>
          <a:p>
            <a:r>
              <a:t>Walk through the slide: First, “All 47 settings” means 47 gene-in-network combinations representing 25 unique genes. The same gene may occur in more than one cell network, so a count of settings is not a count of independent genes or experiments. The next slide summarizes the registered public-data screen across this complete set.</a:t>
            </a:r>
          </a:p>
          <a:p>
            <a:endParaRPr/>
          </a:p>
          <a:p>
            <a:r>
              <a:t>Second, “APOE across datasets” signals the strongest integrated result here. APOE has an established inherited association with Alzheimer’s disease in the public data and met the study’s regional and gene-level screening rules for amyloid-β42, total tau, and p-tau181. Third, the four focused leads are COX7C, SELENOW, RPS15, and ANKRD11. COX7C and SELENOW appeared in the public-summary screen. RPS15 and ANKRD11 sit near notable Alzheimer’s regional signals, and RPS15 also has brain gene-activity records worth carrying forward.</a:t>
            </a:r>
          </a:p>
          <a:p>
            <a:endParaRPr/>
          </a:p>
          <a:p>
            <a:r>
              <a:t>Key idea to explain: The evidence is heterogeneous, meaning it comes from different methods and answers different questions. Accurate interpretation keeps those categories separate while using them to prioritize clear follow-up tests.</a:t>
            </a:r>
          </a:p>
          <a:p>
            <a:endParaRPr/>
          </a:p>
          <a:p>
            <a:r>
              <a:t>Scientific boundary: APOE’s broad support does not demonstrate every possible cell-specific regulatory mechanism. A regional signal near RPS15 or ANKRD11 may involve another nearby gene, so it is a reason to investigate rather than an assignment of responsibility.</a:t>
            </a:r>
          </a:p>
          <a:p>
            <a:endParaRPr/>
          </a:p>
          <a:p>
            <a:r>
              <a:t>Transition: “We will start with the full 47-setting scorecard, then zoom in from APOE to the four focused follow-up paths.”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Teaching goal: Show how the first screen was counted and explain why the three highlighted genes represent different strengths and types of genetic evidence.</a:t>
            </a:r>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slide summarizes the first screen using the registered </a:t>
            </a:r>
            <a:r>
              <a:rPr lang="en-US" dirty="0" err="1"/>
              <a:t>FunGen-xQTL</a:t>
            </a:r>
            <a:r>
              <a:rPr lang="en-US" dirty="0"/>
              <a:t> snapshot and its included public summary tables.</a:t>
            </a:r>
            <a:endParaRPr dirty="0"/>
          </a:p>
          <a:p>
            <a:endParaRPr dirty="0"/>
          </a:p>
          <a:p>
            <a:r>
              <a:rPr dirty="0"/>
              <a:t>Walk through the slide: Start with panel A. A “gene–network pair” means one gene considered in one brain-cell network. The same gene can therefore appear more than once. Across 47 pairs, the registered public-data search found one strong source-grade match and three weak source-grade matches; none was assigned the moderate source grade. The strong match was APOE in the astrocyte network. The three weak rows were COX7C in two networks and SELENOW in one network. Importantly, the two COX7C rows came from one bulk-brain RNA-splicing record, so they are two network applications of one observation, not two independent replications.</a:t>
            </a:r>
          </a:p>
          <a:p>
            <a:endParaRPr dirty="0"/>
          </a:p>
          <a:p>
            <a:r>
              <a:rPr dirty="0"/>
              <a:t>In panel B, APOE is linked directly to the Alzheimer’s-associated DNA variant rs429358. Its reported Alzheimer’s disease P value was about 1.88 × 10⁻¹⁵⁵, an exceptionally small value, and its source inclusion score was 1.0. COX7C was connected to rs2010322 in a bulk-brain splicing summary; that record’s Alzheimer’s P value was about 2.64 × 10⁻⁶. SELENOW appeared in a published list linking genetically predicted gene activity to Alzheimer’s disease, although that list did not provide the exact model score or neuron subtype.</a:t>
            </a:r>
          </a:p>
          <a:p>
            <a:endParaRPr dirty="0"/>
          </a:p>
          <a:p>
            <a:r>
              <a:rPr dirty="0"/>
              <a:t>Panel C shows constructive next routes. Sixteen nuclear genes can be checked in more datasets, while six mitochondrial-DNA genes require methods designed specifically for mitochondrial genetics.</a:t>
            </a:r>
          </a:p>
          <a:p>
            <a:endParaRPr dirty="0"/>
          </a:p>
          <a:p>
            <a:r>
              <a:rPr dirty="0"/>
              <a:t>Key idea to explain: A match is a useful lead, and the source grade describes only this registered search—not the gene’s complete biology.</a:t>
            </a:r>
          </a:p>
          <a:p>
            <a:endParaRPr dirty="0"/>
          </a:p>
          <a:p>
            <a:r>
              <a:rPr dirty="0"/>
              <a:t>Scientific boundary: A very small P value measures incompatibility with a statistical null model; it is not the probability that a gene causes disease and does not measure effect size. The source inclusion score is also a ranking metric, not a causal probability.</a:t>
            </a:r>
          </a:p>
          <a:p>
            <a:endParaRPr dirty="0"/>
          </a:p>
          <a:p>
            <a:r>
              <a:rPr dirty="0"/>
              <a:t>Transition: Next, we ask whether the strongest gene, APOE, also connects to biological markers measured in spinal fluid.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Explain why testing biomarkers adds a second, biologically informative layer of support for APOE.</a:t>
            </a:r>
          </a:p>
          <a:p>
            <a:endParaRPr/>
          </a:p>
          <a:p>
            <a:r>
              <a:t>Walk through the slide: Cerebrospinal fluid, or CSF, surrounds the brain and spinal cord. The three biomarkers here are amyloid-β42, total tau, and phosphorylated tau at position 181, called p-tau181. Amyloid and tau are central features of Alzheimer’s pathology, so these quantitative measurements can connect inherited DNA differences to processes closer to disease biology than a case-versus-control diagnosis alone.</a:t>
            </a:r>
          </a:p>
          <a:p>
            <a:endParaRPr/>
          </a:p>
          <a:p>
            <a:r>
              <a:t>Each biomarker study included 18,948 participants of European ancestry. We tested 19 nuclear genes across three biomarkers, giving 19 × 3 = 57 gene–biomarker comparisons. APOE was the highlighted gene for all three biomarkers. In every case, it crossed two pre-set references: a nearby-variant screen using P &lt; 5 × 10⁻⁸ and a corrected whole-gene test using P &lt; 8.77 × 10⁻⁴. The regional minimum for amyloid-β42 was so small that the computer stored it as zero through numerical underflow; this means “smaller than the software could represent,” not a literal probability of zero. The regional minima were 5.4 × 10⁻¹⁶¹ for total tau and 3.27 × 10⁻¹⁷⁴ for p-tau181. The gene-body P value was 5 × 10⁻¹⁰ for each biomarker.</a:t>
            </a:r>
          </a:p>
          <a:p>
            <a:endParaRPr/>
          </a:p>
          <a:p>
            <a:r>
              <a:t>The gray blocks summarize the other 18 genes: 54 comparisons were at or above one or both screening references. They provide a transparent baseline for future datasets rather than a verdict on every possible genetic mechanism.</a:t>
            </a:r>
          </a:p>
          <a:p>
            <a:endParaRPr/>
          </a:p>
          <a:p>
            <a:r>
              <a:t>Key idea to explain: APOE appears consistently across diagnosis and three related biomarkers, which makes it a compelling multi-dataset finding.</a:t>
            </a:r>
          </a:p>
          <a:p>
            <a:endParaRPr/>
          </a:p>
          <a:p>
            <a:r>
              <a:t>Scientific boundary: These associations do not yet show how APOE changes a biomarker, whether one DNA variant explains both signals, or which brain cell carries the mechanism.</a:t>
            </a:r>
          </a:p>
          <a:p>
            <a:endParaRPr/>
          </a:p>
          <a:p>
            <a:r>
              <a:t>Transition: We now examine the distinct evidence found for four additional genes.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lvl="0"/>
            <a:r>
              <a:rPr lang="en-US" dirty="0"/>
              <a:t>“published” means </a:t>
            </a:r>
            <a:r>
              <a:rPr lang="en-US" dirty="0" err="1"/>
              <a:t>FunGen</a:t>
            </a:r>
            <a:endParaRPr lang="en-US" dirty="0"/>
          </a:p>
          <a:p>
            <a:pPr lvl="0"/>
            <a:r>
              <a:rPr lang="en-US" dirty="0"/>
              <a:t>COX7C: </a:t>
            </a:r>
            <a:r>
              <a:rPr lang="en-US" dirty="0" err="1"/>
              <a:t>FunGen</a:t>
            </a:r>
            <a:r>
              <a:rPr lang="en-US" dirty="0"/>
              <a:t> RNA-splicing record and Walker brain-expression data</a:t>
            </a:r>
          </a:p>
          <a:p>
            <a:pPr lvl="0"/>
            <a:r>
              <a:rPr lang="en-US" dirty="0"/>
              <a:t>SELENOW: </a:t>
            </a:r>
            <a:r>
              <a:rPr lang="en-US" dirty="0" err="1"/>
              <a:t>FunGen</a:t>
            </a:r>
            <a:r>
              <a:rPr lang="en-US" dirty="0"/>
              <a:t> predicted-expression gene list</a:t>
            </a:r>
          </a:p>
          <a:p>
            <a:pPr lvl="0"/>
            <a:r>
              <a:rPr lang="en-US" dirty="0"/>
              <a:t>RPS15: Walker and targeted mixed-brain QTL data</a:t>
            </a:r>
          </a:p>
          <a:p>
            <a:pPr lvl="0"/>
            <a:r>
              <a:rPr lang="en-US" dirty="0"/>
              <a:t>ANKRD11: Walker brain-expression data</a:t>
            </a:r>
          </a:p>
          <a:p>
            <a:endParaRPr lang="en-US" dirty="0"/>
          </a:p>
          <a:p>
            <a:r>
              <a:rPr lang="en-US" dirty="0"/>
              <a:t>Walker brain-expression data” refers to the Walker 2019 bulk-neocortex </a:t>
            </a:r>
            <a:r>
              <a:rPr lang="en-US" dirty="0" err="1"/>
              <a:t>eQTL</a:t>
            </a:r>
            <a:r>
              <a:rPr lang="en-US" dirty="0"/>
              <a:t> dataset from the </a:t>
            </a:r>
            <a:r>
              <a:rPr lang="en-US" dirty="0" err="1"/>
              <a:t>eQTL</a:t>
            </a:r>
            <a:r>
              <a:rPr lang="en-US" dirty="0"/>
              <a:t> Catalogue, with 211 brain samples</a:t>
            </a:r>
          </a:p>
          <a:p>
            <a:endParaRPr dirty="0"/>
          </a:p>
          <a:p>
            <a:r>
              <a:rPr dirty="0"/>
              <a:t>Walk through the slide: Each card separates “what the data show” from “what to validate next.” For COX7C, one published bulk-brain record connects an Alzheimer’s signal with RNA splicing. The regional minimum was 8.579 × 10⁻¹⁴ within one megabase, led by rs62375397. Its Walker brain-expression P value, 2.583 × 10⁻³, was above that dataset’s pre-set reference of 5.167 × 10⁻⁶. Complete splicing and Alzheimer’s variant files can enable a shared-variant comparison.</a:t>
            </a:r>
          </a:p>
          <a:p>
            <a:endParaRPr dirty="0"/>
          </a:p>
          <a:p>
            <a:r>
              <a:rPr dirty="0"/>
              <a:t>SELENOW appears in a published predicted-expression gene list. Its nearby regional minimum was 6.410 × 10⁻⁵, above the conservative 5 × 10⁻⁸ reference. Recovering the model score, exact cell annotation, and variant-level data would make this lead more specific.</a:t>
            </a:r>
          </a:p>
          <a:p>
            <a:endParaRPr dirty="0"/>
          </a:p>
          <a:p>
            <a:r>
              <a:rPr dirty="0"/>
              <a:t>RPS15 combines two useful signals: a nearby Alzheimer’s minimum of 4.089 × 10⁻³⁰, led by rs12151021, and a bulk-neocortex expression P value of 2.120 × 10⁻⁶, below its 3.759 × 10⁻⁶ reference. Three additional bulk-brain QTL tracks reinforce RPS15 as a focused validation target. A QTL is a DNA region associated with a molecular feature such as RNA amount or splicing.</a:t>
            </a:r>
          </a:p>
          <a:p>
            <a:endParaRPr dirty="0"/>
          </a:p>
          <a:p>
            <a:r>
              <a:rPr dirty="0"/>
              <a:t>ANKRD11 has a nearby Alzheimer’s minimum of 1.283 × 10⁻¹¹, led by rs56407236. Its measured brain-expression P value was 1.819 × 10⁻⁴, above the 4.522 × 10⁻⁶ reference, so the regional result motivates more gene-specific testing.</a:t>
            </a:r>
          </a:p>
          <a:p>
            <a:endParaRPr dirty="0"/>
          </a:p>
          <a:p>
            <a:r>
              <a:rPr dirty="0"/>
              <a:t>For each of these four genes, zero of three spinal-fluid comparisons were below both pre-set references; those recorded results remain useful for comparison with future datasets.</a:t>
            </a:r>
          </a:p>
          <a:p>
            <a:endParaRPr dirty="0"/>
          </a:p>
          <a:p>
            <a:r>
              <a:rPr dirty="0"/>
              <a:t>Key idea to explain: These genes have concrete leads, but each lead calls for a different next experiment or dataset.</a:t>
            </a:r>
          </a:p>
          <a:p>
            <a:endParaRPr dirty="0"/>
          </a:p>
          <a:p>
            <a:r>
              <a:rPr dirty="0"/>
              <a:t>Scientific boundary: A small regional P value identifies an associated neighborhood, not necessarily the named nearby gene. P values from different tests are not effect sizes and should not be ranked as biological importance.</a:t>
            </a:r>
          </a:p>
          <a:p>
            <a:endParaRPr lang="en-US" dirty="0"/>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Teaching goal: Explain the accounting of all 54 comparisons and introduce the logic of a shared-variant, or colocalization, test.</a:t>
            </a:r>
          </a:p>
          <a:p>
            <a:endParaRPr dirty="0"/>
          </a:p>
          <a:p>
            <a:r>
              <a:rPr dirty="0"/>
              <a:t>Walk through the slide: The 54 comparisons come from 27 nuclear gene–network pairs. Each pair had two questions: does nearby DNA variation relate to RNA amount, called an expression QTL or </a:t>
            </a:r>
            <a:r>
              <a:rPr dirty="0" err="1"/>
              <a:t>eQTL</a:t>
            </a:r>
            <a:r>
              <a:rPr dirty="0"/>
              <a:t>, and does it relate to how RNA pieces are joined, called a splicing QTL or </a:t>
            </a:r>
            <a:r>
              <a:rPr dirty="0" err="1"/>
              <a:t>sQTL</a:t>
            </a:r>
            <a:r>
              <a:rPr dirty="0"/>
              <a:t>? Thus, 27 expression tests plus 27 splicing tests equals 54.</a:t>
            </a:r>
          </a:p>
          <a:p>
            <a:endParaRPr dirty="0"/>
          </a:p>
          <a:p>
            <a:r>
              <a:rPr dirty="0"/>
              <a:t>The horizontal bar sorts each comparison into one status. These categories are mutually exclusive; they are not a sequence of 54 samples shrinking step by step. Forty-two comparisons had a nearby Alzheimer’s P value at or above the conservative 5 × 10⁻⁸ reference. Four had regional Alzheimer’s signals but gene-activity P values at or above their source-specific references. Six splicing comparisons have public-file coverage that can be clarified with fuller input files.</a:t>
            </a:r>
          </a:p>
          <a:p>
            <a:endParaRPr dirty="0"/>
          </a:p>
          <a:p>
            <a:r>
              <a:rPr dirty="0"/>
              <a:t>The most informative group is the two orange comparisons. APOE in the astrocyte question and RPS15 in the oligodendrocyte precursor cell, or OPC, question each had both a nearby Alzheimer’s signal and a bulk-brain gene-activity signal. These are priorities for a shared-variant test. Such a test asks whether the same underlying DNA variant could explain both association patterns, rather than merely observing two signals in the same broad region.</a:t>
            </a:r>
          </a:p>
          <a:p>
            <a:endParaRPr dirty="0"/>
          </a:p>
          <a:p>
            <a:r>
              <a:rPr dirty="0"/>
              <a:t>Panel B reports zero completed primary tests because the required fitted gene-activity model and matching variant-correlation reference were not jointly available. Therefore, the shared-variant probability is unavailable, not zero.</a:t>
            </a:r>
          </a:p>
          <a:p>
            <a:endParaRPr dirty="0"/>
          </a:p>
          <a:p>
            <a:r>
              <a:rPr dirty="0"/>
              <a:t>Key idea to explain: The study produced a complete map of where the evidence currently sits and which inputs unlock the next calculation.</a:t>
            </a:r>
          </a:p>
          <a:p>
            <a:endParaRPr dirty="0"/>
          </a:p>
          <a:p>
            <a:r>
              <a:rPr dirty="0"/>
              <a:t>Scientific boundary: Two signals in one region can arise from different nearby variants inherited together; only a matched shared-variant analysis can distinguish these possibilities.</a:t>
            </a:r>
          </a:p>
          <a:p>
            <a:endParaRPr lang="en-US" dirty="0"/>
          </a:p>
          <a:p>
            <a:r>
              <a:rPr lang="en-US" dirty="0"/>
              <a:t>"nearby-AD and mixed-brain gene-activity signals”</a:t>
            </a:r>
          </a:p>
          <a:p>
            <a:pPr lvl="0"/>
            <a:r>
              <a:rPr lang="en-US" dirty="0"/>
              <a:t>1. Nearby-AD signal: the clinical AD GWAS found DNA variants associated with Alzheimer’s disease within approximately one million DNA bases of the candidate gene. This identifies an associated neighborhood, not necessarily the responsible gene.</a:t>
            </a:r>
          </a:p>
          <a:p>
            <a:pPr lvl="0"/>
            <a:r>
              <a:rPr lang="en-US" dirty="0"/>
              <a:t>2. Mixed-brain gene-activity signal: a brain QTL study found DNA variants associated with the candidate gene’s RNA amount or RNA splicing. “Mixed brain” means the tissue contained neurons, astrocytes, microglia, and other cell types together.</a:t>
            </a:r>
          </a:p>
          <a:p>
            <a:endParaRPr lang="en-US" dirty="0"/>
          </a:p>
          <a:p>
            <a:endParaRPr lang="en-US" dirty="0"/>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Prepare the audience to interpret the next slides as a validation plan built from measured results, rather than as a simple supported-versus-unsupported scorecard.</a:t>
            </a:r>
          </a:p>
          <a:p>
            <a:endParaRPr/>
          </a:p>
          <a:p>
            <a:r>
              <a:t>Walk through the slide: This section has three questions. First, what do the P values show? A P value asks how surprising the observed data would be under a statistical model with no association. Smaller values indicate stronger statistical disagreement with that model, but they do not tell us the size of the biological effect or prove causation. We will keep every exact value visible and use the pre-set 5 × 10⁻⁸ reference as a conservative screening rule.</a:t>
            </a:r>
          </a:p>
          <a:p>
            <a:endParaRPr/>
          </a:p>
          <a:p>
            <a:r>
              <a:t>Second, what do the current data support? Here we distinguish several evidence levels: a disease-associated DNA region, a signal tied to a named gene’s activity, a signal repeated across datasets or traits, and a test showing that disease and gene activity may share one causal variant. These levels answer different questions, so they should not be collapsed into one label.</a:t>
            </a:r>
          </a:p>
          <a:p>
            <a:endParaRPr/>
          </a:p>
          <a:p>
            <a:r>
              <a:t>Third, what should be validated next? The data point toward concrete tasks: obtain complete variant-level files for APOE and RPS15, study the exact brain-cell types highlighted by the network analysis, repeat findings in independent and more diverse samples, and examine genetic mechanisms beyond common nuclear variants.</a:t>
            </a:r>
          </a:p>
          <a:p>
            <a:endParaRPr/>
          </a:p>
          <a:p>
            <a:r>
              <a:t>Key idea to explain: A carefully organized status map is itself useful: it converts each observation into a testable next step.</a:t>
            </a:r>
          </a:p>
          <a:p>
            <a:endParaRPr/>
          </a:p>
          <a:p>
            <a:r>
              <a:t>Scientific boundary: Values above a conservative screening reference are not statements that a gene has no biological role. Values below it locate statistical associations but do not by themselves name the causal gene or mechanism.</a:t>
            </a:r>
          </a:p>
          <a:p>
            <a:endParaRPr/>
          </a:p>
          <a:p>
            <a:r>
              <a:t>Transition: The next slide makes this logic concrete with all 19 exact regional P values, two priority shared-variant tests, and additional genetic routes.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Teach the meaning of the conservative genome-wide reference and connect three evidence categories to specific follow-up analyses.</a:t>
            </a:r>
          </a:p>
          <a:p>
            <a:endParaRPr/>
          </a:p>
          <a:p>
            <a:r>
              <a:t>Walk through the slide: Begin with the first card. Every one of the 19 nuclear gene regions has a reported minimum Alzheimer’s P value. Four regions—near ANKRD11, APOE, COX7C, and RPS15—were below 5 × 10⁻⁸. The other 15 values ranged from 2.929 × 10⁻⁶ to 2.931 × 10⁻⁴ and are listed in the appendix. The very small cutoff is used because a genome-wide association study tests roughly a million independent genetic patterns. A simple multiple-testing idea is 0.05 divided by 1,000,000, which equals 5 × 10⁻⁸. This conservative rule greatly reduces chance findings when many tests are performed.</a:t>
            </a:r>
          </a:p>
          <a:p>
            <a:endParaRPr/>
          </a:p>
          <a:p>
            <a:r>
              <a:t>The second card highlights APOE and one RPS15–OPC comparison. Both had a nearby Alzheimer’s signal and a mixed-brain gene-activity signal. OPCs are oligodendrocyte precursor cells, cells that can develop into the myelin-producing oligodendrocytes of the brain. Complete variant-level gene-activity statistics, a fitted prediction model, and a matching reference for correlations among nearby variants can test whether one variant contributes to both patterns.</a:t>
            </a:r>
          </a:p>
          <a:p>
            <a:endParaRPr/>
          </a:p>
          <a:p>
            <a:r>
              <a:t>The third card reminds us that the current screen covers mainly common nuclear variants acting near a gene. Additional routes include mitochondrial DNA, rare and structural variants, distant gene regulation, gene-by-gene or gene-by-environment interactions, disease-stage effects, and regulation after RNA is produced.</a:t>
            </a:r>
          </a:p>
          <a:p>
            <a:endParaRPr/>
          </a:p>
          <a:p>
            <a:r>
              <a:t>Key idea to explain: The cutoff is a conservative screen, while the exact P values preserve information for future comparison and validation.</a:t>
            </a:r>
          </a:p>
          <a:p>
            <a:endParaRPr/>
          </a:p>
          <a:p>
            <a:r>
              <a:t>Scientific boundary: A P value is not the chance that the null hypothesis is true, and a regional minimum does not assign causality to the nearest gene.</a:t>
            </a:r>
          </a:p>
          <a:p>
            <a:endParaRPr/>
          </a:p>
          <a:p>
            <a:r>
              <a:t>Transition: These results define four practical opportunities to strengthen the study.</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Present the study’s current outputs as a strong foundation and explain how four kinds of validation add complementary information.</a:t>
            </a:r>
          </a:p>
          <a:p>
            <a:endParaRPr/>
          </a:p>
          <a:p>
            <a:r>
              <a:t>Walk through the slide: The first opportunity is to complete shared-variant tests for APOE and RPS15. This requires more than a list of significant variants. For each variant, we need the effect estimate, uncertainty, alleles, frequency, and sample size; a fitted gene-activity model; and a matching linkage-disequilibrium reference. Linkage disequilibrium means that nearby variants can be inherited together, creating correlated signals that the model must account for.</a:t>
            </a:r>
          </a:p>
          <a:p>
            <a:endParaRPr/>
          </a:p>
          <a:p>
            <a:r>
              <a:t>The second opportunity is larger, cell-specific studies. Astrocytes support neurons, microglia are immune-like brain cells, neurons carry electrical signals, and OPCs produce new oligodendrocytes. Bulk-brain tissue mixes these cells. Larger studies that measure each cell type separately can ask whether the activity signal truly occurs in the network context that first highlighted the gene.</a:t>
            </a:r>
          </a:p>
          <a:p>
            <a:endParaRPr/>
          </a:p>
          <a:p>
            <a:r>
              <a:t>The third opportunity is broader populations and independent samples. Patterns of nearby variant correlation differ among ancestral backgrounds. Studying multiple populations can improve resolution and show how broadly a result applies. Repeating the analysis in people who were not part of the discovery dataset provides a stronger test of reproducibility.</a:t>
            </a:r>
          </a:p>
          <a:p>
            <a:endParaRPr/>
          </a:p>
          <a:p>
            <a:r>
              <a:t>The fourth opportunity expands the mechanisms examined: rare variants, large structural changes, mitochondrial DNA, distant regulatory effects, interactions, disease timing, and laboratory perturbations. These can capture biology outside the common, nearby nuclear-variant screen.</a:t>
            </a:r>
          </a:p>
          <a:p>
            <a:endParaRPr/>
          </a:p>
          <a:p>
            <a:r>
              <a:t>Key idea to explain: Validation is a ladder: strengthen the statistical link, locate it in the correct cell, test its generality, and then examine mechanism.</a:t>
            </a:r>
          </a:p>
          <a:p>
            <a:endParaRPr/>
          </a:p>
          <a:p>
            <a:r>
              <a:t>Scientific boundary: Each new layer answers a different question; even a convincing genetic association is distinct from demonstrating the molecular pathway in a laboratory.</a:t>
            </a:r>
          </a:p>
          <a:p>
            <a:endParaRPr/>
          </a:p>
          <a:p>
            <a:r>
              <a:t>Transition: The next slide turns these opportunities into an ordered roadmap.</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Explain the order of the proposed work and why the roadmap moves from focused statistical validation to broad genetic and laboratory testing.</a:t>
            </a:r>
          </a:p>
          <a:p>
            <a:endParaRPr/>
          </a:p>
          <a:p>
            <a:r>
              <a:t>Walk through the slide: Step one is to deepen APOE and RPS15. These are the most efficient first targets because both already connect an Alzheimer’s-associated region with a gene-activity signal. The needed additions are complete gene-activity statistics, matched DNA-correlation reference data, and larger studies of the exact cell types—especially astrocytes for APOE and OPCs or inhibitory neurons for RPS15. With these inputs, a signal-aware shared-variant analysis can compare the full patterns across a region.</a:t>
            </a:r>
          </a:p>
          <a:p>
            <a:endParaRPr/>
          </a:p>
          <a:p>
            <a:r>
              <a:t>Step two broadens genetic testing. Protein-based and RNA-based gene tests can ask whether inherited variants predict protein abundance, RNA amount, or RNA splicing. Rare-variant tests combine uncommon changes within a gene, while interaction tests ask whether a variant’s effect depends on another factor. More traits—such as disease progression or brain pathology—and more populations can reveal signals that a single diagnosis dataset may not capture.</a:t>
            </a:r>
          </a:p>
          <a:p>
            <a:endParaRPr/>
          </a:p>
          <a:p>
            <a:r>
              <a:t>Step three adds independent and experimental validation. The six mitochondrial-DNA genes need a dedicated analysis of mitochondrial variants, copy number, and mixtures of mitochondrial DNA sequences within a person. Repeating the network analysis in a separate cohort tests reproducibility. Finally, changing a candidate gene’s activity in cells or model systems and measuring the predicted network response can directly test mechanism.</a:t>
            </a:r>
          </a:p>
          <a:p>
            <a:endParaRPr/>
          </a:p>
          <a:p>
            <a:r>
              <a:t>Key idea to explain: The order is intentional: resolve the most mature leads first, broaden the search second, and test biological causality with independent and laboratory approaches.</a:t>
            </a:r>
          </a:p>
          <a:p>
            <a:endParaRPr/>
          </a:p>
          <a:p>
            <a:r>
              <a:t>Scientific boundary: A shared-variant result would connect two association patterns, but it would still require cell-specific and experimental work to show the direction and molecular consequences.</a:t>
            </a:r>
          </a:p>
          <a:p>
            <a:endParaRPr/>
          </a:p>
          <a:p>
            <a:r>
              <a:t>Transition: The final slide summarizes what the current evidence contributes and the focused paths it opens.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Leave the audience with a clear evidence hierarchy and a positive, scientifically careful summary.</a:t>
            </a:r>
          </a:p>
          <a:p>
            <a:endParaRPr/>
          </a:p>
          <a:p>
            <a:r>
              <a:t>Walk through the slide: The first take-home point is APOE. It has the most direct evidence: a fine-mapped Alzheimer’s variant was assigned to the gene, and APOE crossed both nearby-region and whole-gene screening references for amyloid-β42, total tau, and p-tau181. This agreement across diagnosis and three related biomarkers makes APOE the strongest multi-dataset result.</a:t>
            </a:r>
          </a:p>
          <a:p>
            <a:endParaRPr/>
          </a:p>
          <a:p>
            <a:r>
              <a:t>Second, COX7C and SELENOW were highlighted by public gene-activity summaries. COX7C has a bulk-brain RNA-splicing record and a notable regional Alzheimer’s P value. SELENOW appears in a predicted-expression gene list. These sources provide specific starting points for cell-matched, variant-level, and independent validation.</a:t>
            </a:r>
          </a:p>
          <a:p>
            <a:endParaRPr/>
          </a:p>
          <a:p>
            <a:r>
              <a:t>Third, the regions near RPS15 and ANKRD11 were below the conservative 5 × 10⁻⁸ reference. RPS15 also has mixed-brain RNA-amount and RNA-splicing signals, making it a priority for a shared-variant comparison. For ANKRD11, the strong regional association motivates gene-specific follow-up to determine which gene in that neighborhood is connected to the signal.</a:t>
            </a:r>
          </a:p>
          <a:p>
            <a:endParaRPr/>
          </a:p>
          <a:p>
            <a:r>
              <a:t>Fourth, all 19 exact regional P values are preserved. This matters because a transparent baseline lets later studies compare larger samples, additional traits, different ancestries, and new genetic mechanisms without changing the original rules after seeing the results.</a:t>
            </a:r>
          </a:p>
          <a:p>
            <a:endParaRPr/>
          </a:p>
          <a:p>
            <a:r>
              <a:t>Key idea to explain: Evidence was found at several levels—direct gene mapping, gene-activity summaries, and associated regions—and each level now has a focused validation route.</a:t>
            </a:r>
          </a:p>
          <a:p>
            <a:endParaRPr/>
          </a:p>
          <a:p>
            <a:r>
              <a:t>Scientific boundary: These levels should remain distinct. Regional proximity is not causal assignment, and association alone does not establish the exact brain cell or molecular mechanism.</a:t>
            </a:r>
          </a:p>
          <a:p>
            <a:endParaRPr/>
          </a:p>
          <a:p>
            <a:r>
              <a:t>Transition: Close by emphasizing that the study strengthens the APOE finding and turns four additional genes into concrete, testable next questions.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This slide begins the appendix. The main presentation gave the overall story; the appendix shows the supporting information that lets an audience check how that story was built. Think of it as the methods and evidence folder behind a science-fair display. We will move through five kinds of detail: the original gene list, the public datasets, the decision rules, the complete results, and the reproducibility plan.</a:t>
            </a:r>
          </a:p>
          <a:p>
            <a:endParaRPr/>
          </a:p>
          <a:p>
            <a:r>
              <a:t>Walk through the slide: The phrase “original gene list” is important. The genes were chosen by the earlier brain-cell network analysis before these genetic results were examined. Keeping that list fixed helps prevent cherry-picking, which would mean changing the tested genes after seeing which ones produced attractive results. A “gene–network setting” means one gene considered in one brain-cell network. The same gene can therefore appear in more than one setting.</a:t>
            </a:r>
          </a:p>
          <a:p>
            <a:endParaRPr/>
          </a:p>
          <a:p>
            <a:r>
              <a:t>Key idea to explain: The dataset and rule slides answer two basic questions: Where did each number come from, and how was each comparison judged? The evidence slides then show exact P values and source records, including values on both sides of the conservative screening references. Finally, the reproducibility slide lists practical improvements to make the analysis package easier for another researcher to repeat.</a:t>
            </a:r>
          </a:p>
          <a:p>
            <a:endParaRPr/>
          </a:p>
          <a:p>
            <a:r>
              <a:t>Scientific boundary: Technical detail strengthens the positive findings. APOE has the clearest multi-dataset support, while COX7C, SELENOW, RPS15, and ANKRD11 each provide a specific lead for future validation. The appendix explains exactly what kind of lead each one provides and keeps regional, gene-level, and cell-specific claims separate.</a:t>
            </a:r>
          </a:p>
          <a:p>
            <a:endParaRPr/>
          </a:p>
          <a:p>
            <a:r>
              <a:t>Transition: We will begin with the fixed starting list, because every later count and comparison depends on knowing exactly which genes and cell networks were included.</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This table shows the starting list exactly as it came from the brain-cell network analysis. A biological network is a map of genes whose activity patterns are connected. A “driver” in this setting is a gene that is especially central to that network; it does not automatically mean that inherited DNA changes in the gene cause Alzheimer’s disease. Genetics provides a complementary test of that idea.</a:t>
            </a:r>
          </a:p>
          <a:p>
            <a:endParaRPr/>
          </a:p>
          <a:p>
            <a:r>
              <a:t>Walk through the slide: The rows are seven broad brain-cell networks. Astrocytes support neurons and help maintain the brain environment. Excitatory and inhibitory neurons send signals that increase or decrease activity. Microglia are the brain’s immune cells. OPCs, or oligodendrocyte precursor cells, can mature into oligodendrocytes, which make insulating myelin. Vasculature cells help form and regulate blood vessels.</a:t>
            </a:r>
          </a:p>
          <a:p>
            <a:endParaRPr/>
          </a:p>
          <a:p>
            <a:r>
              <a:t>Key idea to explain: There are 25 unique genes but 47 gene–network settings because several genes appear in multiple cell networks. For example, RPS15 appears in both inhibitory neurons and OPCs. Each appearance is a separate biological question, but repeated appearances are not independent genetic confirmations.</a:t>
            </a:r>
          </a:p>
          <a:p>
            <a:endParaRPr/>
          </a:p>
          <a:p>
            <a:r>
              <a:t>Scientific boundary: The middle column retains an original label, “mitochondria-related driver group.” That label describes the network pattern, not where every gene is encoded. COX7C and UQCR10, for example, are encoded in nuclear DNA. Only six genes here—MT-ATP6, MT-CO2, MT-CO3, MT-CYB, MT-ND4, and MT-ND5—are encoded by mitochondrial DNA. Those six need specialized mitochondrial methods. The remaining 19 nuclear genes were mapped to the GRCh38 human reference genome and screened in nearby regions extending one million DNA letters on either side of each gene.</a:t>
            </a:r>
          </a:p>
          <a:p>
            <a:endParaRPr/>
          </a:p>
          <a:p>
            <a:r>
              <a:t>Transition: Now that the starting units are clear, the next slide explains which public dataset answered each genetic question.</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This slide is a data map: each row names a source and the specific job it performed. The starting network results supplied the 47 gene–network settings. HGNC checked that each gene symbol was an approved human gene name, and GENCODE version 44 supplied stable gene identifiers and genomic positions on the GRCh38 reference genome.</a:t>
            </a:r>
          </a:p>
          <a:p>
            <a:endParaRPr/>
          </a:p>
          <a:p>
            <a:r>
              <a:t>Walk through the slide: The FunGen-xQTL snapshot was used for the first screen. A first screen is a quick, pre-planned search of already summarized public results; it can identify useful leads without claiming to be an exhaustive search of every genetic study. It combined information from Alzheimer’s genome-wide association studies, fine-mapping, gene-activity studies, and gene-based prediction studies.</a:t>
            </a:r>
          </a:p>
          <a:p>
            <a:endParaRPr/>
          </a:p>
          <a:p>
            <a:r>
              <a:t>The Bellenguez Alzheimer’s dataset, accession GCST90027158, supplied genome-wide summary statistics for clinical diagnosis. A genome-wide association study, or GWAS, compares DNA variants across many people to find variants associated with a trait. “Summary statistics” are variant-level results such as P values and effect estimates; they do not contain individual medical records. We used these data to inspect a window around each of the 19 nuclear genes.</a:t>
            </a:r>
          </a:p>
          <a:p>
            <a:endParaRPr/>
          </a:p>
          <a:p>
            <a:r>
              <a:t>Key idea to explain: NIAGADS NG00184 and eQTL Catalogue data asked whether nearby DNA variants were related to RNA amount, RNA splicing, or protein abundance in brain samples. Such relationships are called quantitative trait loci, or QTLs. Three additional GWAS Catalog datasets tested spinal-fluid amyloid-β42, total tau, and p-tau181, each in 18,948 participants. Focused APOE and RPS15 resources then provided follow-up evidence.</a:t>
            </a:r>
          </a:p>
          <a:p>
            <a:endParaRPr/>
          </a:p>
          <a:p>
            <a:r>
              <a:t>Scientific boundary: These sources are public summary data, so they support broad screening without exposing individual records. Different sources answer different questions, and a source useful for finding a nearby disease signal is not automatically sufficient for proving how a gene works in a specific cell type.</a:t>
            </a:r>
          </a:p>
          <a:p>
            <a:endParaRPr/>
          </a:p>
          <a:p>
            <a:r>
              <a:t>Transition: Recording accession numbers and versions makes clear which release produced each result; next, we will see the pre-set rules used to compare those results consistently.</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This slide explains the rules used to organize the evidence. They were set before reviewing the outcomes to treat every gene consistently. A P value measures how unusual a result at least this strong would be under a model with no association. It is not the probability that a gene is false, and a cutoff should not turn a continuous result into a statement about all biology. That is why exact P values are reported on both sides of each reference line.</a:t>
            </a:r>
          </a:p>
          <a:p>
            <a:endParaRPr/>
          </a:p>
          <a:p>
            <a:r>
              <a:t>Walk through the slide: For the nearby Alzheimer’s screen, the conservative genome-wide reference was P &lt; 5×10⁻⁸. For a gene-activity dataset, the reference was 0.05 divided by the number of variants tested in that gene region. This division is a multiple-testing correction: testing many variants creates more chances for an apparently interesting result by coincidence. For the spinal-fluid gene tests, 0.05 was divided by 19 genes and three biomarkers, producing 8.77193×10⁻⁴.</a:t>
            </a:r>
          </a:p>
          <a:p>
            <a:endParaRPr/>
          </a:p>
          <a:p>
            <a:r>
              <a:t>Key idea to explain: An eQTL links a DNA variant to RNA amount, an sQTL links it to RNA splicing, and a pQTL links it to protein abundance. The three values 10⁻⁴, 10⁻⁴, and 5×10⁻⁶ are Bayesian starting assumptions, called priors, for a planned shared-signal analysis; they are not measured P values. PP.H4 is the model’s estimated probability that the disease and gene-activity signals share a causal variant, with 0.80 pre-set as the strong-signal reference.</a:t>
            </a:r>
          </a:p>
          <a:p>
            <a:endParaRPr/>
          </a:p>
          <a:p>
            <a:r>
              <a:t>Scientific boundary: PIP, VCP, and CL are scores or labels reported by source studies. They provide useful evidence, but they are not interchangeable with PP.H4. A small P value measures strength against a statistical null model; it does not by itself give effect size, direction, causal gene, or cell type.</a:t>
            </a:r>
          </a:p>
          <a:p>
            <a:endParaRPr/>
          </a:p>
          <a:p>
            <a:r>
              <a:t>Transition: The action labels show what comes next—broaden the search, report the measured value, complete missing inputs, harmonize datasets so variants line up, or use a mitochondrial-DNA-specific method. We can now apply these rules to all 19 nuclear-gene regions.</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This figure shows the smallest Alzheimer’s GWAS P value found in the region around each of the 19 nuclear genes. Each region includes the gene body plus one million DNA bases on either side. Showing all 19 values is useful because P values are continuous measurements: a value does not lose all information simply because it lies on one side of a screening reference.</a:t>
            </a:r>
          </a:p>
          <a:p>
            <a:endParaRPr/>
          </a:p>
          <a:p>
            <a:r>
              <a:t>Walk through the slide: Why is the reference as small as 5×10⁻⁸? A GWAS tests roughly a million largely independent parts of the genome. If one million tests each used 0.05, chance alone could create about 50,000 results below 0.05 when no true associations existed. A simple correction divides 0.05 by about one million, giving 5×10⁻⁸. This is therefore a conservative screening convention designed for very large numbers of comparisons.</a:t>
            </a:r>
          </a:p>
          <a:p>
            <a:endParaRPr/>
          </a:p>
          <a:p>
            <a:r>
              <a:t>Key idea to explain: Four regions stand out below that reference: the APOE region, the RPS15 region at P = 4.089×10⁻³⁰, the COX7C region at P = 8.579×10⁻¹⁴, and the ANKRD11 region at P = 1.283×10⁻¹¹. The stored APOE regional minimum is zero because of numerical underflow. Underflow means the true number was smaller than the file’s number format could represent, so it was rounded to zero; it does not mean the probability is literally zero.</a:t>
            </a:r>
          </a:p>
          <a:p>
            <a:endParaRPr/>
          </a:p>
          <a:p>
            <a:r>
              <a:t>Scientific boundary: These four regions are valuable validation priorities. However, a regional signal identifies a stretch of linked DNA, not automatically the labeled gene. Nearby genes and regulatory elements may share correlated variants. Gene-activity data, fine-mapping, and same-variant analysis are therefore needed to connect a regional signal to a particular gene and biological mechanism. The remaining 15 exact values provide a transparent baseline for broader future tests.</a:t>
            </a:r>
          </a:p>
          <a:p>
            <a:endParaRPr/>
          </a:p>
          <a:p>
            <a:r>
              <a:t>Transition: The next slide returns to the original 47 settings and shows what the compact first screen found before the deeper regional work.</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This slide gives the complete audit of the first screen. “Registered” means that the source files, matching rules, and evidence categories were chosen in advance. “First screen” means a compact lookup in public summary tables rather than a full reanalysis of every raw variant dataset. The matrix at left contains all 47 gene–network settings, so it is mainly a reference table. The larger count cards at right summarize it.</a:t>
            </a:r>
          </a:p>
          <a:p>
            <a:endParaRPr/>
          </a:p>
          <a:p>
            <a:r>
              <a:t>Walk through the slide: APOE received the one strong category because the public source directly mapped major Alzheimer’s evidence to APOE, including the well-known variant rs429358. Three setting rows received the limited category: COX7C in astrocytes, COX7C in inhibitory neurons, and SELENOW in excitatory neurons. The two COX7C rows arise from one bulk-brain splicing-QTL record projected onto two network questions. They should therefore be described as two relevant contexts supported by one source observation, not as two independent replications. SELENOW appeared in a public TWAS list. TWAS, or transcriptome-wide association study, tests whether genetically predicted gene activity is associated with a trait.</a:t>
            </a:r>
          </a:p>
          <a:p>
            <a:endParaRPr/>
          </a:p>
          <a:p>
            <a:r>
              <a:t>Key idea to explain: The 23 “broader-source follow-up” rows represent 16 nuclear genes without a direct match in this compact snapshot. That label is an invitation to examine additional sources and mechanisms, not a total-evidence verdict. The 20 mitochondrial-DNA follow-up rows represent six mitochondrial genes across multiple cell networks; the nuclear-DNA workflow was not designed for them.</a:t>
            </a:r>
          </a:p>
          <a:p>
            <a:endParaRPr/>
          </a:p>
          <a:p>
            <a:r>
              <a:t>Scientific boundary: The two COX7C setting rows share one source record, and TWAS-list membership is a lead rather than a complete mechanism. The later, targeted RPS15 analysis is deliberately separate from this fixed first-screen matrix. Keeping the original screen unchanged preserves a clear audit trail, while the newer RPS15 evidence can still guide focused validation.</a:t>
            </a:r>
          </a:p>
          <a:p>
            <a:endParaRPr/>
          </a:p>
          <a:p>
            <a:r>
              <a:t>Transition: We next move from the compact public-summary screen to detailed regional plots and the requirements for assigning a signal to a gene.</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This slide connects two views of the Alzheimer’s GWAS results. On the left, the matrix records the outcome of each planned gene-and-cell comparison. On the right, four locus plots zoom in on the regions near ANKRD11, APOE, COX7C, and RPS15—the four regional minima below the conservative 5×10⁻⁸ reference.</a:t>
            </a:r>
          </a:p>
          <a:p>
            <a:endParaRPr/>
          </a:p>
          <a:p>
            <a:r>
              <a:t>Walk through the slide: A locus plot usually places genomic position along the horizontal axis and −log10(P) on the vertical axis. This transformation makes tiny P values easier to see: for example, P = 10⁻¹⁰ becomes a height of 10. Each dot represents a DNA variant. Nearby variants often rise together because they are inherited in correlated blocks, a pattern called linkage disequilibrium, or LD. Therefore, the tallest dot identifies an associated region but may not identify the functional variant or responsible gene.</a:t>
            </a:r>
          </a:p>
          <a:p>
            <a:endParaRPr/>
          </a:p>
          <a:p>
            <a:r>
              <a:t>Key idea to explain: The matrix tracks a step-by-step route. First, the region needs an Alzheimer’s signal. Next, the candidate gene needs a measurable gene-activity signal, such as an eQTL or sQTL. Finally, both datasets must describe matching variants and have compatible statistical models and LD reference data. When those ingredients are available, a shared-variant analysis—often called colocalization—can estimate whether the disease signal and gene-activity signal are likely driven by the same underlying DNA change.</a:t>
            </a:r>
          </a:p>
          <a:p>
            <a:endParaRPr/>
          </a:p>
          <a:p>
            <a:r>
              <a:t>Scientific boundary: The four regions are positive, testable leads, but they represent different evidence levels. APOE already has direct gene-level support. RPS15 also has brain QTL leads. COX7C has one public splicing-QTL record, while ANKRD11 currently has regional proximity. A nearby peak alone does not assign the association to the named candidate.</a:t>
            </a:r>
          </a:p>
          <a:p>
            <a:endParaRPr/>
          </a:p>
          <a:p>
            <a:r>
              <a:t>Transition: The next slide shows why APOE stands apart: its evidence connects clinical Alzheimer’s disease with three disease-related spinal-fluid traits.</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This slide brings several kinds of APOE evidence together. The locus plot at left shows direct Alzheimer’s mapping around APOE, including rs429358, a coding variant that changes the APOE protein and is a well-established Alzheimer’s risk marker. In the source fine-mapping results, rs429358 was included in a 95% credible set. A credible set is a group of variants that a statistical model considers sufficient to contain the causal variant with a stated probability, assuming the model is appropriate.</a:t>
            </a:r>
          </a:p>
          <a:p>
            <a:endParaRPr/>
          </a:p>
          <a:p>
            <a:r>
              <a:t>Walk through the slide: The right-hand matrix shows 19 nuclear genes tested against three spinal-fluid biomarkers, for 57 gene–biomarker combinations. Cerebrospinal fluid, or CSF, surrounds the brain and spinal cord. Amyloid-β42 relates to amyloid plaque biology; total tau reflects the overall amount of tau protein; and p-tau181 measures tau phosphorylated at position 181, a change associated with Alzheimer’s pathology. APOE was the gene with qualifying regional and gene-based results for all three biomarkers.</a:t>
            </a:r>
          </a:p>
          <a:p>
            <a:endParaRPr/>
          </a:p>
          <a:p>
            <a:r>
              <a:t>Key idea to explain: The small table separates two questions. “Strongest nearby P” is the most associated single variant in the region. “Gene-level P” comes from MAGMA, which combines information across variants assigned to a gene; the final column also includes nearby DNA within 10,000 bases. All three APOE gene-level values are far below the pre-set 8.77193×10⁻⁴ reference.</a:t>
            </a:r>
          </a:p>
          <a:p>
            <a:endParaRPr/>
          </a:p>
          <a:p>
            <a:r>
              <a:t>Scientific boundary: For amyloid-β42, the regional P value was stored as zero because of numerical underflow: the true value was smaller than the software format could hold, not literally zero. This multi-trait pattern strengthens APOE as the clearest genetic lead, but a strong gene-level association does not by itself specify which molecular pathway or brain-cell type carries the effect.</a:t>
            </a:r>
          </a:p>
          <a:p>
            <a:endParaRPr/>
          </a:p>
          <a:p>
            <a:r>
              <a:t>Transition: Future same-variant and cell-specific analyses can test whether a particular regulatory signal acts through APOE expression, splicing, or protein abundance in astrocytes. We next apply the same careful logic to the most interesting non-APOE follow-up, RPS15.</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This slide explains why RPS15 is a useful follow-up candidate. A quantitative trait locus, or QTL, is a DNA region where genetic variation is associated with a measurable molecular trait. An eQTL relates to RNA amount, while an sQTL relates to how RNA pieces are spliced together. The audit planned 37 source-and-context comparisons, measured 31 of them, and found six positive setting rows. Those six rows reduce to three unique bulk-brain source results because each result was relevant to both the OPC and inhibitory-neuron network questions.</a:t>
            </a:r>
          </a:p>
          <a:p>
            <a:endParaRPr/>
          </a:p>
          <a:p>
            <a:r>
              <a:t>Walk through the slide: The three unique tracks are shown in the center. The MSBB BA36 eQTL has P = 2.41403×10⁻⁷. BA36 is a region of temporal cortex. The ROSMAP dorsolateral prefrontal cortex, or DLPFC, sQTL has P = 3.86842×10⁻³⁰, and the ROSMAP posterior-cingulate sQTL has P = 3.30886×10⁻⁷. “Adjusted” values control for the many QTL comparisons. PIP means posterior inclusion probability: within a fine-mapping model, it estimates how strongly a variant belongs to a causal signal. The two ROSMAP tracks have maximum PIP values of 1.0 and 0.910283.</a:t>
            </a:r>
          </a:p>
          <a:p>
            <a:endParaRPr/>
          </a:p>
          <a:p>
            <a:r>
              <a:t>Key idea to explain: These are meaningful gene-activity leads, and the RPS15 neighborhood also has a strong Alzheimer’s regional signal. The zero in the final count card means that a formal shared-variant test has not yet been completed; it is not a probability of zero.</a:t>
            </a:r>
          </a:p>
          <a:p>
            <a:endParaRPr/>
          </a:p>
          <a:p>
            <a:r>
              <a:t>Scientific boundary: The public QTL results came from mixed brain tissue rather than purified OPCs or inhibitory neurons, and complete fitted models plus source-matched LD were unavailable. Six positive setting rows therefore represent three unique source tracks, not six independent discoveries.</a:t>
            </a:r>
          </a:p>
          <a:p>
            <a:endParaRPr/>
          </a:p>
          <a:p>
            <a:r>
              <a:t>Transition: The focused next step is to obtain matched cell-specific data and test whether the Alzheimer’s and RPS15 QTL patterns point to the same DNA variant. The final slide explains how a stronger data package will make that follow-up easier to reproduce.</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Reproducibility means that another researcher can obtain the same inputs, follow the documented steps, and recover the same results. This final slide turns the file audit into a practical improvement plan. These actions do not change the reported gene-level conclusions; they make the evidence trail easier to verify, reuse, and extend.</a:t>
            </a:r>
          </a:p>
          <a:p>
            <a:endParaRPr/>
          </a:p>
          <a:p>
            <a:r>
              <a:t>Walk through the slide: First, two result files were intended to contain zero rows, but their compressed gzip structure is incomplete. They should be rebuilt as valid empty tables so standard software can open and test them. Second, four APOE protein-QTL files described in the execution report should be added to the formal inventory with their download locations, sizes, and checksums. A checksum is a digital fingerprint used to verify that a file has not changed.</a:t>
            </a:r>
          </a:p>
          <a:p>
            <a:endParaRPr/>
          </a:p>
          <a:p>
            <a:r>
              <a:t>Third, large inputs that were streamed or stored outside the repository need clear retrieval instructions. Fourth, absolute paths beginning with an original computer’s /home/... directory should become project-relative paths, which work after the project folder is moved to another computer. Fifth, two recorded case-and-control counts for the Bellenguez Alzheimer’s dataset should be reconciled so future statistical models use one confirmed sample description.</a:t>
            </a:r>
          </a:p>
          <a:p>
            <a:endParaRPr/>
          </a:p>
          <a:p>
            <a:r>
              <a:t>Key idea to explain: Finally, nine Walker brain eQTL rows are labeled as splicing QTLs in one sensitivity file. The dataset registry identifies them as expression QTLs, so correcting the labels will align the metadata with the actual analysis. Metadata are data about data—for example, the trait, tissue, version, and analysis type.</a:t>
            </a:r>
          </a:p>
          <a:p>
            <a:endParaRPr/>
          </a:p>
          <a:p>
            <a:r>
              <a:t>Scientific boundary: These are documentation, file-format, and metadata improvements. They do not change which genes were highlighted by the current analyses, but they should be completed before a future researcher treats the package as fully portable.</a:t>
            </a:r>
          </a:p>
          <a:p>
            <a:endParaRPr/>
          </a:p>
          <a:p>
            <a:r>
              <a:t>Transition: Together, these six repairs produce valid files, complete inventories, consistent labels, and traceable sources—a strong foundation for independent validation and future same-variant analyses. This closes the presentation by turning the findings into a concrete next-work checklist.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8/22/26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94944" y="612648"/>
            <a:ext cx="6583680"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50" b="1" i="0">
                <a:solidFill>
                  <a:srgbClr val="56B4E9"/>
                </a:solidFill>
                <a:latin typeface="Arial"/>
              </a:rPr>
              <a:t>GENES, NETWORKS, AND INHERITED RISK</a:t>
            </a:r>
          </a:p>
        </p:txBody>
      </p:sp>
      <p:sp>
        <p:nvSpPr>
          <p:cNvPr id="4" name="TextBox 3"/>
          <p:cNvSpPr txBox="1"/>
          <p:nvPr/>
        </p:nvSpPr>
        <p:spPr>
          <a:xfrm>
            <a:off x="694944" y="1143000"/>
            <a:ext cx="7543800" cy="162763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3100" b="1" i="0">
                <a:solidFill>
                  <a:srgbClr val="FFFFFF"/>
                </a:solidFill>
                <a:latin typeface="Arial"/>
              </a:rPr>
              <a:t>Do genes highlighted by brain-cell networks also show
inherited links to Alzheimer's disease?</a:t>
            </a:r>
          </a:p>
        </p:txBody>
      </p:sp>
      <p:sp>
        <p:nvSpPr>
          <p:cNvPr id="5" name="TextBox 4"/>
          <p:cNvSpPr txBox="1"/>
          <p:nvPr/>
        </p:nvSpPr>
        <p:spPr>
          <a:xfrm>
            <a:off x="713232" y="3090672"/>
            <a:ext cx="7086600"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700" b="0" i="0">
                <a:solidFill>
                  <a:srgbClr val="D2E0EF"/>
                </a:solidFill>
                <a:latin typeface="Arial"/>
              </a:rPr>
              <a:t>A public-data study of 25 genes from 47 cell-network results</a:t>
            </a:r>
          </a:p>
        </p:txBody>
      </p:sp>
      <p:sp>
        <p:nvSpPr>
          <p:cNvPr id="6" name="Rectangle 5"/>
          <p:cNvSpPr/>
          <p:nvPr/>
        </p:nvSpPr>
        <p:spPr>
          <a:xfrm>
            <a:off x="713232" y="3931920"/>
            <a:ext cx="7022592" cy="548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13232" y="4251960"/>
            <a:ext cx="7132320" cy="6858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50" b="0" i="0">
                <a:solidFill>
                  <a:srgbClr val="BFD2E5"/>
                </a:solidFill>
                <a:latin typeface="Arial"/>
              </a:rPr>
              <a:t>APOE shows multi-dataset support; four additional genes have specific evidence for focused validation.</a:t>
            </a:r>
          </a:p>
        </p:txBody>
      </p:sp>
      <p:sp>
        <p:nvSpPr>
          <p:cNvPr id="8" name="Oval 7"/>
          <p:cNvSpPr/>
          <p:nvPr/>
        </p:nvSpPr>
        <p:spPr>
          <a:xfrm>
            <a:off x="8458200" y="960120"/>
            <a:ext cx="841248" cy="841248"/>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9829800" y="1408176"/>
            <a:ext cx="566928" cy="566928"/>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0762488" y="822960"/>
            <a:ext cx="384048" cy="384048"/>
          </a:xfrm>
          <a:prstGeom prst="ellipse">
            <a:avLst/>
          </a:prstGeom>
          <a:solidFill>
            <a:srgbClr val="56B4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8732520" y="2578608"/>
            <a:ext cx="457200" cy="457200"/>
          </a:xfrm>
          <a:prstGeom prst="ellipse">
            <a:avLst/>
          </a:prstGeom>
          <a:solidFill>
            <a:srgbClr val="7E4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0241280" y="2798064"/>
            <a:ext cx="749808" cy="749808"/>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9400032" y="4169663"/>
            <a:ext cx="384048" cy="384048"/>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0762488" y="4434840"/>
            <a:ext cx="566928" cy="566928"/>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5" name="Connector 14"/>
          <p:cNvCxnSpPr/>
          <p:nvPr/>
        </p:nvCxnSpPr>
        <p:spPr>
          <a:xfrm>
            <a:off x="8887968" y="1353312"/>
            <a:ext cx="1207008" cy="320040"/>
          </a:xfrm>
          <a:prstGeom prst="line">
            <a:avLst/>
          </a:prstGeom>
          <a:ln w="19050">
            <a:solidFill>
              <a:srgbClr val="85A4C2"/>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0113264" y="1783080"/>
            <a:ext cx="457200" cy="1216152"/>
          </a:xfrm>
          <a:prstGeom prst="line">
            <a:avLst/>
          </a:prstGeom>
          <a:ln w="19050">
            <a:solidFill>
              <a:srgbClr val="85A4C2"/>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8961120" y="2779776"/>
            <a:ext cx="1490472" cy="384048"/>
          </a:xfrm>
          <a:prstGeom prst="line">
            <a:avLst/>
          </a:prstGeom>
          <a:ln w="19050">
            <a:solidFill>
              <a:srgbClr val="85A4C2"/>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9162288" y="3017520"/>
            <a:ext cx="411480" cy="1280160"/>
          </a:xfrm>
          <a:prstGeom prst="line">
            <a:avLst/>
          </a:prstGeom>
          <a:ln w="19050">
            <a:solidFill>
              <a:srgbClr val="85A4C2"/>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0543032" y="3383280"/>
            <a:ext cx="484632" cy="1316736"/>
          </a:xfrm>
          <a:prstGeom prst="line">
            <a:avLst/>
          </a:prstGeom>
          <a:ln w="19050">
            <a:solidFill>
              <a:srgbClr val="85A4C2"/>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9747504" y="4343400"/>
            <a:ext cx="1207008" cy="338328"/>
          </a:xfrm>
          <a:prstGeom prst="line">
            <a:avLst/>
          </a:prstGeom>
          <a:ln w="19050">
            <a:solidFill>
              <a:srgbClr val="85A4C2"/>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13232" y="5806440"/>
            <a:ext cx="7132320" cy="2286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00" b="1" i="0">
                <a:solidFill>
                  <a:srgbClr val="91ABC5"/>
                </a:solidFill>
                <a:latin typeface="Arial"/>
              </a:rPr>
              <a:t>STUDY DESIGN  •  DATASETS  •  EVIDENCE  •  INTERPRETATION</a:t>
            </a:r>
          </a:p>
        </p:txBody>
      </p:sp>
      <p:sp>
        <p:nvSpPr>
          <p:cNvPr id="22" name="TextBox 21"/>
          <p:cNvSpPr txBox="1"/>
          <p:nvPr/>
        </p:nvSpPr>
        <p:spPr>
          <a:xfrm>
            <a:off x="713232" y="6428232"/>
            <a:ext cx="3840480" cy="1645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50" b="0" i="0">
                <a:solidFill>
                  <a:srgbClr val="91ABC5"/>
                </a:solidFill>
                <a:latin typeface="Arial"/>
              </a:rPr>
              <a:t>Public-data update • 21 August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512064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50" b="1" i="0">
                <a:solidFill>
                  <a:srgbClr val="0072B2"/>
                </a:solidFill>
                <a:latin typeface="Arial"/>
              </a:rPr>
              <a:t>EXECUTIVE OVERVIEW</a:t>
            </a:r>
          </a:p>
        </p:txBody>
      </p:sp>
      <p:sp>
        <p:nvSpPr>
          <p:cNvPr id="3" name="TextBox 2"/>
          <p:cNvSpPr txBox="1"/>
          <p:nvPr/>
        </p:nvSpPr>
        <p:spPr>
          <a:xfrm>
            <a:off x="502920" y="402336"/>
            <a:ext cx="10927080" cy="51206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2200" b="1" i="0">
                <a:solidFill>
                  <a:srgbClr val="0F233D"/>
                </a:solidFill>
                <a:latin typeface="Arial"/>
              </a:rPr>
              <a:t>At a glance: APOE has multi-dataset support, with four focused validation targets</a:t>
            </a:r>
          </a:p>
        </p:txBody>
      </p:sp>
      <p:sp>
        <p:nvSpPr>
          <p:cNvPr id="4" name="TextBox 3"/>
          <p:cNvSpPr txBox="1"/>
          <p:nvPr/>
        </p:nvSpPr>
        <p:spPr>
          <a:xfrm>
            <a:off x="11356848" y="192024"/>
            <a:ext cx="329184" cy="182880"/>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900" b="1" i="0">
                <a:solidFill>
                  <a:srgbClr val="677484"/>
                </a:solidFill>
                <a:latin typeface="Arial"/>
              </a:rPr>
              <a:t>02</a:t>
            </a:r>
          </a:p>
        </p:txBody>
      </p:sp>
      <p:sp>
        <p:nvSpPr>
          <p:cNvPr id="5" name="Rounded Rectangle 4"/>
          <p:cNvSpPr/>
          <p:nvPr/>
        </p:nvSpPr>
        <p:spPr>
          <a:xfrm>
            <a:off x="640080" y="1261872"/>
            <a:ext cx="3502152" cy="1664208"/>
          </a:xfrm>
          <a:prstGeom prst="roundRect">
            <a:avLst/>
          </a:prstGeom>
          <a:solidFill>
            <a:srgbClr val="FFFFFF"/>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1261872"/>
            <a:ext cx="100584" cy="1664208"/>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444751"/>
            <a:ext cx="2926080"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00" b="1" i="0">
                <a:solidFill>
                  <a:srgbClr val="009E73"/>
                </a:solidFill>
                <a:latin typeface="Arial"/>
              </a:rPr>
              <a:t>STARTING LIST</a:t>
            </a:r>
          </a:p>
        </p:txBody>
      </p:sp>
      <p:sp>
        <p:nvSpPr>
          <p:cNvPr id="8" name="TextBox 7"/>
          <p:cNvSpPr txBox="1"/>
          <p:nvPr/>
        </p:nvSpPr>
        <p:spPr>
          <a:xfrm>
            <a:off x="914400" y="1792224"/>
            <a:ext cx="2926080" cy="42062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2000" b="1" i="0">
                <a:solidFill>
                  <a:srgbClr val="0F233D"/>
                </a:solidFill>
                <a:latin typeface="Arial"/>
              </a:rPr>
              <a:t>25 genes</a:t>
            </a:r>
          </a:p>
        </p:txBody>
      </p:sp>
      <p:sp>
        <p:nvSpPr>
          <p:cNvPr id="9" name="TextBox 8"/>
          <p:cNvSpPr txBox="1"/>
          <p:nvPr/>
        </p:nvSpPr>
        <p:spPr>
          <a:xfrm>
            <a:off x="914400" y="2340863"/>
            <a:ext cx="2926080"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4D4D4D"/>
                </a:solidFill>
                <a:latin typeface="Arial"/>
              </a:rPr>
              <a:t>47 gene-by-cell-network combinations</a:t>
            </a:r>
          </a:p>
        </p:txBody>
      </p:sp>
      <p:sp>
        <p:nvSpPr>
          <p:cNvPr id="10" name="Rounded Rectangle 9"/>
          <p:cNvSpPr/>
          <p:nvPr/>
        </p:nvSpPr>
        <p:spPr>
          <a:xfrm>
            <a:off x="4389120" y="1261872"/>
            <a:ext cx="3502152" cy="1664208"/>
          </a:xfrm>
          <a:prstGeom prst="roundRect">
            <a:avLst/>
          </a:prstGeom>
          <a:solidFill>
            <a:srgbClr val="FFFFFF"/>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89120" y="1261872"/>
            <a:ext cx="100584" cy="1664208"/>
          </a:xfrm>
          <a:prstGeom prst="rect">
            <a:avLst/>
          </a:prstGeom>
          <a:solidFill>
            <a:srgbClr val="7E4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63440" y="1444751"/>
            <a:ext cx="2926080"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00" b="1" i="0">
                <a:solidFill>
                  <a:srgbClr val="7E4C9A"/>
                </a:solidFill>
                <a:latin typeface="Arial"/>
              </a:rPr>
              <a:t>NUCLEAR ANALYSIS</a:t>
            </a:r>
          </a:p>
        </p:txBody>
      </p:sp>
      <p:sp>
        <p:nvSpPr>
          <p:cNvPr id="13" name="TextBox 12"/>
          <p:cNvSpPr txBox="1"/>
          <p:nvPr/>
        </p:nvSpPr>
        <p:spPr>
          <a:xfrm>
            <a:off x="4663440" y="1792224"/>
            <a:ext cx="2926080" cy="42062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2000" b="1" i="0">
                <a:solidFill>
                  <a:srgbClr val="0F233D"/>
                </a:solidFill>
                <a:latin typeface="Arial"/>
              </a:rPr>
              <a:t>19 genes</a:t>
            </a:r>
          </a:p>
        </p:txBody>
      </p:sp>
      <p:sp>
        <p:nvSpPr>
          <p:cNvPr id="14" name="TextBox 13"/>
          <p:cNvSpPr txBox="1"/>
          <p:nvPr/>
        </p:nvSpPr>
        <p:spPr>
          <a:xfrm>
            <a:off x="4663440" y="2340863"/>
            <a:ext cx="2926080"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4D4D4D"/>
                </a:solidFill>
                <a:latin typeface="Arial"/>
              </a:rPr>
              <a:t>6 mitochondrial genes define a dedicated follow-up</a:t>
            </a:r>
          </a:p>
        </p:txBody>
      </p:sp>
      <p:sp>
        <p:nvSpPr>
          <p:cNvPr id="15" name="Rounded Rectangle 14"/>
          <p:cNvSpPr/>
          <p:nvPr/>
        </p:nvSpPr>
        <p:spPr>
          <a:xfrm>
            <a:off x="8138159" y="1261872"/>
            <a:ext cx="3502152" cy="1664208"/>
          </a:xfrm>
          <a:prstGeom prst="roundRect">
            <a:avLst/>
          </a:prstGeom>
          <a:solidFill>
            <a:srgbClr val="FFFFFF"/>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138159" y="1261872"/>
            <a:ext cx="100584" cy="1664208"/>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12480" y="1444751"/>
            <a:ext cx="2926080"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00" b="1" i="0">
                <a:solidFill>
                  <a:srgbClr val="0072B2"/>
                </a:solidFill>
                <a:latin typeface="Arial"/>
              </a:rPr>
              <a:t>MULTI-DATASET RESULT</a:t>
            </a:r>
          </a:p>
        </p:txBody>
      </p:sp>
      <p:sp>
        <p:nvSpPr>
          <p:cNvPr id="18" name="TextBox 17"/>
          <p:cNvSpPr txBox="1"/>
          <p:nvPr/>
        </p:nvSpPr>
        <p:spPr>
          <a:xfrm>
            <a:off x="8412480" y="1792224"/>
            <a:ext cx="2926080" cy="42062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2000" b="1" i="0">
                <a:solidFill>
                  <a:srgbClr val="0F233D"/>
                </a:solidFill>
                <a:latin typeface="Arial"/>
              </a:rPr>
              <a:t>APOE</a:t>
            </a:r>
          </a:p>
        </p:txBody>
      </p:sp>
      <p:sp>
        <p:nvSpPr>
          <p:cNvPr id="19" name="TextBox 18"/>
          <p:cNvSpPr txBox="1"/>
          <p:nvPr/>
        </p:nvSpPr>
        <p:spPr>
          <a:xfrm>
            <a:off x="8412480" y="2340863"/>
            <a:ext cx="2926080"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4D4D4D"/>
                </a:solidFill>
                <a:latin typeface="Arial"/>
              </a:rPr>
              <a:t>Linked to Alzheimer's disease and 3 spinal-fluid markers</a:t>
            </a:r>
          </a:p>
        </p:txBody>
      </p:sp>
      <p:sp>
        <p:nvSpPr>
          <p:cNvPr id="20" name="Rounded Rectangle 19"/>
          <p:cNvSpPr/>
          <p:nvPr/>
        </p:nvSpPr>
        <p:spPr>
          <a:xfrm>
            <a:off x="640080" y="3300984"/>
            <a:ext cx="3502152" cy="1664208"/>
          </a:xfrm>
          <a:prstGeom prst="roundRect">
            <a:avLst/>
          </a:prstGeom>
          <a:solidFill>
            <a:srgbClr val="FFFFFF"/>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40080" y="3300984"/>
            <a:ext cx="100584" cy="1664208"/>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14400" y="3483864"/>
            <a:ext cx="2926080"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00" b="1" i="0">
                <a:solidFill>
                  <a:srgbClr val="E69F00"/>
                </a:solidFill>
                <a:latin typeface="Arial"/>
              </a:rPr>
              <a:t>FIRST-SCREEN MATCHES</a:t>
            </a:r>
          </a:p>
        </p:txBody>
      </p:sp>
      <p:sp>
        <p:nvSpPr>
          <p:cNvPr id="23" name="TextBox 22"/>
          <p:cNvSpPr txBox="1"/>
          <p:nvPr/>
        </p:nvSpPr>
        <p:spPr>
          <a:xfrm>
            <a:off x="914400" y="3831335"/>
            <a:ext cx="2926080" cy="42062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650" b="1" i="0">
                <a:solidFill>
                  <a:srgbClr val="0F233D"/>
                </a:solidFill>
                <a:latin typeface="Arial"/>
              </a:rPr>
              <a:t>COX7C + SELENOW</a:t>
            </a:r>
          </a:p>
        </p:txBody>
      </p:sp>
      <p:sp>
        <p:nvSpPr>
          <p:cNvPr id="24" name="TextBox 23"/>
          <p:cNvSpPr txBox="1"/>
          <p:nvPr/>
        </p:nvSpPr>
        <p:spPr>
          <a:xfrm>
            <a:off x="914400" y="4379976"/>
            <a:ext cx="2926080"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4D4D4D"/>
                </a:solidFill>
                <a:latin typeface="Arial"/>
              </a:rPr>
              <a:t>Matched public AD and gene-regulation summaries</a:t>
            </a:r>
          </a:p>
        </p:txBody>
      </p:sp>
      <p:sp>
        <p:nvSpPr>
          <p:cNvPr id="25" name="Rounded Rectangle 24"/>
          <p:cNvSpPr/>
          <p:nvPr/>
        </p:nvSpPr>
        <p:spPr>
          <a:xfrm>
            <a:off x="4389120" y="3300984"/>
            <a:ext cx="3502152" cy="1664208"/>
          </a:xfrm>
          <a:prstGeom prst="roundRect">
            <a:avLst/>
          </a:prstGeom>
          <a:solidFill>
            <a:srgbClr val="FFFFFF"/>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4389120" y="3300984"/>
            <a:ext cx="100584" cy="1664208"/>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663440" y="3483864"/>
            <a:ext cx="2926080"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00" b="1" i="0">
                <a:solidFill>
                  <a:srgbClr val="D55E00"/>
                </a:solidFill>
                <a:latin typeface="Arial"/>
              </a:rPr>
              <a:t>REGIONAL PRIORITIES</a:t>
            </a:r>
          </a:p>
        </p:txBody>
      </p:sp>
      <p:sp>
        <p:nvSpPr>
          <p:cNvPr id="28" name="TextBox 27"/>
          <p:cNvSpPr txBox="1"/>
          <p:nvPr/>
        </p:nvSpPr>
        <p:spPr>
          <a:xfrm>
            <a:off x="4663440" y="3831335"/>
            <a:ext cx="2926080" cy="42062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650" b="1" i="0">
                <a:solidFill>
                  <a:srgbClr val="0F233D"/>
                </a:solidFill>
                <a:latin typeface="Arial"/>
              </a:rPr>
              <a:t>RPS15 + ANKRD11</a:t>
            </a:r>
          </a:p>
        </p:txBody>
      </p:sp>
      <p:sp>
        <p:nvSpPr>
          <p:cNvPr id="29" name="TextBox 28"/>
          <p:cNvSpPr txBox="1"/>
          <p:nvPr/>
        </p:nvSpPr>
        <p:spPr>
          <a:xfrm>
            <a:off x="4663440" y="4379976"/>
            <a:ext cx="2926080"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4D4D4D"/>
                </a:solidFill>
                <a:latin typeface="Arial"/>
              </a:rPr>
              <a:t>Regional minima: 4.089×10⁻³⁰ and 1.283×10⁻¹¹</a:t>
            </a:r>
          </a:p>
        </p:txBody>
      </p:sp>
      <p:sp>
        <p:nvSpPr>
          <p:cNvPr id="30" name="Rounded Rectangle 29"/>
          <p:cNvSpPr/>
          <p:nvPr/>
        </p:nvSpPr>
        <p:spPr>
          <a:xfrm>
            <a:off x="8138159" y="3300984"/>
            <a:ext cx="3502152" cy="1664208"/>
          </a:xfrm>
          <a:prstGeom prst="roundRect">
            <a:avLst/>
          </a:prstGeom>
          <a:solidFill>
            <a:srgbClr val="FFFFFF"/>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8138159" y="3300984"/>
            <a:ext cx="100584" cy="1664208"/>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412480" y="3483864"/>
            <a:ext cx="2926080"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00" b="1" i="0">
                <a:solidFill>
                  <a:srgbClr val="009E73"/>
                </a:solidFill>
                <a:latin typeface="Arial"/>
              </a:rPr>
              <a:t>NEXT VALIDATION</a:t>
            </a:r>
          </a:p>
        </p:txBody>
      </p:sp>
      <p:sp>
        <p:nvSpPr>
          <p:cNvPr id="33" name="TextBox 32"/>
          <p:cNvSpPr txBox="1"/>
          <p:nvPr/>
        </p:nvSpPr>
        <p:spPr>
          <a:xfrm>
            <a:off x="8412480" y="3831335"/>
            <a:ext cx="2926080" cy="42062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650" b="1" i="0">
                <a:solidFill>
                  <a:srgbClr val="0F233D"/>
                </a:solidFill>
                <a:latin typeface="Arial"/>
              </a:rPr>
              <a:t>Same-variant test</a:t>
            </a:r>
          </a:p>
        </p:txBody>
      </p:sp>
      <p:sp>
        <p:nvSpPr>
          <p:cNvPr id="34" name="TextBox 33"/>
          <p:cNvSpPr txBox="1"/>
          <p:nvPr/>
        </p:nvSpPr>
        <p:spPr>
          <a:xfrm>
            <a:off x="8412480" y="4379976"/>
            <a:ext cx="2926080"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4D4D4D"/>
                </a:solidFill>
                <a:latin typeface="Arial"/>
              </a:rPr>
              <a:t>Complete DNA-variant files can test whether both signals point to the same variant</a:t>
            </a:r>
          </a:p>
        </p:txBody>
      </p:sp>
      <p:sp>
        <p:nvSpPr>
          <p:cNvPr id="35" name="Rectangle 34"/>
          <p:cNvSpPr/>
          <p:nvPr/>
        </p:nvSpPr>
        <p:spPr>
          <a:xfrm>
            <a:off x="502920" y="5797296"/>
            <a:ext cx="11183112" cy="502920"/>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502920" y="5797296"/>
            <a:ext cx="91440" cy="502920"/>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31520" y="5888736"/>
            <a:ext cx="10716768" cy="283464"/>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200" b="1" i="0">
                <a:solidFill>
                  <a:srgbClr val="FFFFFF"/>
                </a:solidFill>
                <a:latin typeface="Arial"/>
              </a:rPr>
              <a:t>The genetic study adds an independent evidence layer and identifies focused validation targets.</a:t>
            </a:r>
          </a:p>
        </p:txBody>
      </p:sp>
      <p:sp>
        <p:nvSpPr>
          <p:cNvPr id="38" name="TextBox 37"/>
          <p:cNvSpPr txBox="1"/>
          <p:nvPr/>
        </p:nvSpPr>
        <p:spPr>
          <a:xfrm>
            <a:off x="502920" y="6629400"/>
            <a:ext cx="11109960" cy="1280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680" b="0" i="0">
                <a:solidFill>
                  <a:srgbClr val="677484"/>
                </a:solidFill>
                <a:latin typeface="Arial"/>
              </a:rPr>
              <a:t>Source: consolidated genetic-support summary; formal Tier 1, recovery, and CSF status tables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512064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50" b="1" i="0">
                <a:solidFill>
                  <a:srgbClr val="009E73"/>
                </a:solidFill>
                <a:latin typeface="Arial"/>
              </a:rPr>
              <a:t>PRESENTATION ROADMAP</a:t>
            </a:r>
          </a:p>
        </p:txBody>
      </p:sp>
      <p:sp>
        <p:nvSpPr>
          <p:cNvPr id="3" name="TextBox 2"/>
          <p:cNvSpPr txBox="1"/>
          <p:nvPr/>
        </p:nvSpPr>
        <p:spPr>
          <a:xfrm>
            <a:off x="502920" y="402336"/>
            <a:ext cx="10927080" cy="51206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2200" b="1" i="0">
                <a:solidFill>
                  <a:srgbClr val="0F233D"/>
                </a:solidFill>
                <a:latin typeface="Arial"/>
              </a:rPr>
              <a:t>The presentation moves from study design to evidence and future validation</a:t>
            </a:r>
          </a:p>
        </p:txBody>
      </p:sp>
      <p:sp>
        <p:nvSpPr>
          <p:cNvPr id="4" name="TextBox 3"/>
          <p:cNvSpPr txBox="1"/>
          <p:nvPr/>
        </p:nvSpPr>
        <p:spPr>
          <a:xfrm>
            <a:off x="11356848" y="192024"/>
            <a:ext cx="329184" cy="182880"/>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900" b="1" i="0">
                <a:solidFill>
                  <a:srgbClr val="677484"/>
                </a:solidFill>
                <a:latin typeface="Arial"/>
              </a:rPr>
              <a:t>03</a:t>
            </a:r>
          </a:p>
        </p:txBody>
      </p:sp>
      <p:sp>
        <p:nvSpPr>
          <p:cNvPr id="5" name="Rounded Rectangle 4"/>
          <p:cNvSpPr/>
          <p:nvPr/>
        </p:nvSpPr>
        <p:spPr>
          <a:xfrm>
            <a:off x="676656" y="1298448"/>
            <a:ext cx="10844784" cy="1252728"/>
          </a:xfrm>
          <a:prstGeom prst="roundRect">
            <a:avLst/>
          </a:prstGeom>
          <a:solidFill>
            <a:srgbClr val="FFFFFF"/>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76656" y="1298448"/>
            <a:ext cx="91440" cy="1252728"/>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05840" y="1609344"/>
            <a:ext cx="621792" cy="621792"/>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1783080"/>
            <a:ext cx="62179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150" b="1" i="0">
                <a:solidFill>
                  <a:srgbClr val="FFFFFF"/>
                </a:solidFill>
                <a:latin typeface="Arial"/>
              </a:rPr>
              <a:t>01</a:t>
            </a:r>
          </a:p>
        </p:txBody>
      </p:sp>
      <p:sp>
        <p:nvSpPr>
          <p:cNvPr id="9" name="TextBox 8"/>
          <p:cNvSpPr txBox="1"/>
          <p:nvPr/>
        </p:nvSpPr>
        <p:spPr>
          <a:xfrm>
            <a:off x="1865376" y="1490472"/>
            <a:ext cx="6263640"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800" b="1" i="0">
                <a:solidFill>
                  <a:srgbClr val="0F233D"/>
                </a:solidFill>
                <a:latin typeface="Arial"/>
              </a:rPr>
              <a:t>Study design and public data</a:t>
            </a:r>
          </a:p>
        </p:txBody>
      </p:sp>
      <p:sp>
        <p:nvSpPr>
          <p:cNvPr id="10" name="TextBox 9"/>
          <p:cNvSpPr txBox="1"/>
          <p:nvPr/>
        </p:nvSpPr>
        <p:spPr>
          <a:xfrm>
            <a:off x="8869680" y="1508760"/>
            <a:ext cx="2176272" cy="246888"/>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1019" b="1" i="0">
                <a:solidFill>
                  <a:srgbClr val="009E73"/>
                </a:solidFill>
                <a:latin typeface="Arial"/>
              </a:rPr>
              <a:t>Slides 04–08</a:t>
            </a:r>
          </a:p>
        </p:txBody>
      </p:sp>
      <p:sp>
        <p:nvSpPr>
          <p:cNvPr id="11" name="TextBox 10"/>
          <p:cNvSpPr txBox="1"/>
          <p:nvPr/>
        </p:nvSpPr>
        <p:spPr>
          <a:xfrm>
            <a:off x="1874519" y="1956815"/>
            <a:ext cx="9052560" cy="38404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40" b="0" i="0">
                <a:solidFill>
                  <a:srgbClr val="4D4D4D"/>
                </a:solidFill>
                <a:latin typeface="Arial"/>
              </a:rPr>
              <a:t>What the two analyses ask, which public datasets were used, and how each check worked.</a:t>
            </a:r>
          </a:p>
        </p:txBody>
      </p:sp>
      <p:sp>
        <p:nvSpPr>
          <p:cNvPr id="12" name="Rounded Rectangle 11"/>
          <p:cNvSpPr/>
          <p:nvPr/>
        </p:nvSpPr>
        <p:spPr>
          <a:xfrm>
            <a:off x="676656" y="2798063"/>
            <a:ext cx="10844784" cy="1252728"/>
          </a:xfrm>
          <a:prstGeom prst="roundRect">
            <a:avLst/>
          </a:prstGeom>
          <a:solidFill>
            <a:srgbClr val="FFFFFF"/>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76656" y="2798063"/>
            <a:ext cx="91440" cy="1252728"/>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005840" y="3108959"/>
            <a:ext cx="621792" cy="62179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05840" y="3282696"/>
            <a:ext cx="62179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150" b="1" i="0">
                <a:solidFill>
                  <a:srgbClr val="FFFFFF"/>
                </a:solidFill>
                <a:latin typeface="Arial"/>
              </a:rPr>
              <a:t>02</a:t>
            </a:r>
          </a:p>
        </p:txBody>
      </p:sp>
      <p:sp>
        <p:nvSpPr>
          <p:cNvPr id="16" name="TextBox 15"/>
          <p:cNvSpPr txBox="1"/>
          <p:nvPr/>
        </p:nvSpPr>
        <p:spPr>
          <a:xfrm>
            <a:off x="1865376" y="2990087"/>
            <a:ext cx="6263640"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800" b="1" i="0">
                <a:solidFill>
                  <a:srgbClr val="0F233D"/>
                </a:solidFill>
                <a:latin typeface="Arial"/>
              </a:rPr>
              <a:t>Evidence found across the gene list</a:t>
            </a:r>
          </a:p>
        </p:txBody>
      </p:sp>
      <p:sp>
        <p:nvSpPr>
          <p:cNvPr id="17" name="TextBox 16"/>
          <p:cNvSpPr txBox="1"/>
          <p:nvPr/>
        </p:nvSpPr>
        <p:spPr>
          <a:xfrm>
            <a:off x="8869680" y="3008375"/>
            <a:ext cx="2176272" cy="246888"/>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1019" b="1" i="0">
                <a:solidFill>
                  <a:srgbClr val="0072B2"/>
                </a:solidFill>
                <a:latin typeface="Arial"/>
              </a:rPr>
              <a:t>Slides 09–13</a:t>
            </a:r>
          </a:p>
        </p:txBody>
      </p:sp>
      <p:sp>
        <p:nvSpPr>
          <p:cNvPr id="18" name="TextBox 17"/>
          <p:cNvSpPr txBox="1"/>
          <p:nvPr/>
        </p:nvSpPr>
        <p:spPr>
          <a:xfrm>
            <a:off x="1874519" y="3456431"/>
            <a:ext cx="9052560" cy="38404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40" b="0" i="0">
                <a:solidFill>
                  <a:srgbClr val="4D4D4D"/>
                </a:solidFill>
                <a:latin typeface="Arial"/>
              </a:rPr>
              <a:t>APOE's multi-dataset support plus specific signals for four additional genes.</a:t>
            </a:r>
          </a:p>
        </p:txBody>
      </p:sp>
      <p:sp>
        <p:nvSpPr>
          <p:cNvPr id="19" name="Rounded Rectangle 18"/>
          <p:cNvSpPr/>
          <p:nvPr/>
        </p:nvSpPr>
        <p:spPr>
          <a:xfrm>
            <a:off x="676656" y="4297679"/>
            <a:ext cx="10844784" cy="1252728"/>
          </a:xfrm>
          <a:prstGeom prst="roundRect">
            <a:avLst/>
          </a:prstGeom>
          <a:solidFill>
            <a:srgbClr val="FFFFFF"/>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76656" y="4297679"/>
            <a:ext cx="91440" cy="1252728"/>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1005840" y="4608575"/>
            <a:ext cx="621792" cy="621792"/>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05840" y="4782312"/>
            <a:ext cx="62179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150" b="1" i="0">
                <a:solidFill>
                  <a:srgbClr val="FFFFFF"/>
                </a:solidFill>
                <a:latin typeface="Arial"/>
              </a:rPr>
              <a:t>03</a:t>
            </a:r>
          </a:p>
        </p:txBody>
      </p:sp>
      <p:sp>
        <p:nvSpPr>
          <p:cNvPr id="23" name="TextBox 22"/>
          <p:cNvSpPr txBox="1"/>
          <p:nvPr/>
        </p:nvSpPr>
        <p:spPr>
          <a:xfrm>
            <a:off x="1865376" y="4489703"/>
            <a:ext cx="6263640"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800" b="1" i="0">
                <a:solidFill>
                  <a:srgbClr val="0F233D"/>
                </a:solidFill>
                <a:latin typeface="Arial"/>
              </a:rPr>
              <a:t>How the evidence guides validation</a:t>
            </a:r>
          </a:p>
        </p:txBody>
      </p:sp>
      <p:sp>
        <p:nvSpPr>
          <p:cNvPr id="24" name="TextBox 23"/>
          <p:cNvSpPr txBox="1"/>
          <p:nvPr/>
        </p:nvSpPr>
        <p:spPr>
          <a:xfrm>
            <a:off x="8869680" y="4507992"/>
            <a:ext cx="2176272" cy="246888"/>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1019" b="1" i="0">
                <a:solidFill>
                  <a:srgbClr val="D55E00"/>
                </a:solidFill>
                <a:latin typeface="Arial"/>
              </a:rPr>
              <a:t>Slides 14–18</a:t>
            </a:r>
          </a:p>
        </p:txBody>
      </p:sp>
      <p:sp>
        <p:nvSpPr>
          <p:cNvPr id="25" name="TextBox 24"/>
          <p:cNvSpPr txBox="1"/>
          <p:nvPr/>
        </p:nvSpPr>
        <p:spPr>
          <a:xfrm>
            <a:off x="1874519" y="4956047"/>
            <a:ext cx="9052560" cy="38404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40" b="0" i="0">
                <a:solidFill>
                  <a:srgbClr val="4D4D4D"/>
                </a:solidFill>
                <a:latin typeface="Arial"/>
              </a:rPr>
              <a:t>How exact P values and dataset coverage define the most useful next steps.</a:t>
            </a:r>
          </a:p>
        </p:txBody>
      </p:sp>
      <p:sp>
        <p:nvSpPr>
          <p:cNvPr id="26" name="Rectangle 25"/>
          <p:cNvSpPr/>
          <p:nvPr/>
        </p:nvSpPr>
        <p:spPr>
          <a:xfrm>
            <a:off x="502920" y="5943600"/>
            <a:ext cx="11183112" cy="502920"/>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02920" y="5943600"/>
            <a:ext cx="91440" cy="502920"/>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31520" y="6035040"/>
            <a:ext cx="10716768" cy="283464"/>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200" b="1" i="0">
                <a:solidFill>
                  <a:srgbClr val="FFFFFF"/>
                </a:solidFill>
                <a:latin typeface="Arial"/>
              </a:rPr>
              <a:t>Exact cutoffs, all 19 nearby-AD P values, full evidence tables, and reproducibility checks are in the appendix.</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94944" y="576072"/>
            <a:ext cx="3291840"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00" b="1" i="0">
                <a:solidFill>
                  <a:srgbClr val="009E73"/>
                </a:solidFill>
                <a:latin typeface="Arial"/>
              </a:rPr>
              <a:t>SECTION 01</a:t>
            </a:r>
          </a:p>
        </p:txBody>
      </p:sp>
      <p:sp>
        <p:nvSpPr>
          <p:cNvPr id="4" name="Rectangle 3"/>
          <p:cNvSpPr/>
          <p:nvPr/>
        </p:nvSpPr>
        <p:spPr>
          <a:xfrm>
            <a:off x="694944" y="1170432"/>
            <a:ext cx="100584" cy="2066543"/>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60704" y="1243584"/>
            <a:ext cx="7635240" cy="137160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3200" b="1" i="0">
                <a:solidFill>
                  <a:srgbClr val="FFFFFF"/>
                </a:solidFill>
                <a:latin typeface="Arial"/>
              </a:rPr>
              <a:t>Study design and public data</a:t>
            </a:r>
          </a:p>
        </p:txBody>
      </p:sp>
      <p:sp>
        <p:nvSpPr>
          <p:cNvPr id="6" name="TextBox 5"/>
          <p:cNvSpPr txBox="1"/>
          <p:nvPr/>
        </p:nvSpPr>
        <p:spPr>
          <a:xfrm>
            <a:off x="1078992" y="2907792"/>
            <a:ext cx="7223760" cy="84124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30" b="0" i="0">
                <a:solidFill>
                  <a:srgbClr val="CCDBEA"/>
                </a:solidFill>
                <a:latin typeface="Arial"/>
              </a:rPr>
              <a:t>What was tested, which public resources were used, and how the evidence was checked step by step.</a:t>
            </a:r>
          </a:p>
        </p:txBody>
      </p:sp>
      <p:sp>
        <p:nvSpPr>
          <p:cNvPr id="7" name="TextBox 6"/>
          <p:cNvSpPr txBox="1"/>
          <p:nvPr/>
        </p:nvSpPr>
        <p:spPr>
          <a:xfrm>
            <a:off x="8732520" y="804672"/>
            <a:ext cx="2304288" cy="17556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0400" b="1" i="0">
                <a:solidFill>
                  <a:srgbClr val="1E3B5B"/>
                </a:solidFill>
                <a:latin typeface="Arial"/>
              </a:rPr>
              <a:t>01</a:t>
            </a:r>
          </a:p>
        </p:txBody>
      </p:sp>
      <p:sp>
        <p:nvSpPr>
          <p:cNvPr id="8" name="Oval 7"/>
          <p:cNvSpPr/>
          <p:nvPr/>
        </p:nvSpPr>
        <p:spPr>
          <a:xfrm>
            <a:off x="10634472" y="969264"/>
            <a:ext cx="512064" cy="51206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0040112" y="2679192"/>
            <a:ext cx="256032" cy="256032"/>
          </a:xfrm>
          <a:prstGeom prst="ellipse">
            <a:avLst/>
          </a:prstGeom>
          <a:solidFill>
            <a:srgbClr val="56B4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9966960" y="1938528"/>
            <a:ext cx="1097280" cy="32004"/>
          </a:xfrm>
          <a:prstGeom prst="rect">
            <a:avLst/>
          </a:prstGeom>
          <a:solidFill>
            <a:srgbClr val="6989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0122408" y="1956816"/>
            <a:ext cx="32004" cy="832104"/>
          </a:xfrm>
          <a:prstGeom prst="rect">
            <a:avLst/>
          </a:prstGeom>
          <a:solidFill>
            <a:srgbClr val="6989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13232" y="4270248"/>
            <a:ext cx="1920240" cy="2286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80" b="1" i="0">
                <a:solidFill>
                  <a:srgbClr val="56B4E9"/>
                </a:solidFill>
                <a:latin typeface="Arial"/>
              </a:rPr>
              <a:t>IN THIS SECTION</a:t>
            </a:r>
          </a:p>
        </p:txBody>
      </p:sp>
      <p:sp>
        <p:nvSpPr>
          <p:cNvPr id="13" name="Rounded Rectangle 12"/>
          <p:cNvSpPr/>
          <p:nvPr/>
        </p:nvSpPr>
        <p:spPr>
          <a:xfrm>
            <a:off x="713232" y="4681728"/>
            <a:ext cx="2834640" cy="694944"/>
          </a:xfrm>
          <a:prstGeom prst="roundRect">
            <a:avLst/>
          </a:prstGeom>
          <a:solidFill>
            <a:srgbClr val="1E3B5B"/>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77824" y="4846320"/>
            <a:ext cx="2505456" cy="29260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140" b="1" i="0">
                <a:solidFill>
                  <a:srgbClr val="FFFFFF"/>
                </a:solidFill>
                <a:latin typeface="Arial"/>
              </a:rPr>
              <a:t>GWAS: DNA–trait links</a:t>
            </a:r>
          </a:p>
        </p:txBody>
      </p:sp>
      <p:sp>
        <p:nvSpPr>
          <p:cNvPr id="15" name="Rounded Rectangle 14"/>
          <p:cNvSpPr/>
          <p:nvPr/>
        </p:nvSpPr>
        <p:spPr>
          <a:xfrm>
            <a:off x="3840480" y="4681728"/>
            <a:ext cx="2834640" cy="694944"/>
          </a:xfrm>
          <a:prstGeom prst="roundRect">
            <a:avLst/>
          </a:prstGeom>
          <a:solidFill>
            <a:srgbClr val="1E3B5B"/>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005072" y="4846320"/>
            <a:ext cx="2505456" cy="29260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140" b="1" i="0">
                <a:solidFill>
                  <a:srgbClr val="FFFFFF"/>
                </a:solidFill>
                <a:latin typeface="Arial"/>
              </a:rPr>
              <a:t>QTL: DNA–gene activity links</a:t>
            </a:r>
          </a:p>
        </p:txBody>
      </p:sp>
      <p:sp>
        <p:nvSpPr>
          <p:cNvPr id="17" name="Rounded Rectangle 16"/>
          <p:cNvSpPr/>
          <p:nvPr/>
        </p:nvSpPr>
        <p:spPr>
          <a:xfrm>
            <a:off x="6967728" y="4681728"/>
            <a:ext cx="2834640" cy="694944"/>
          </a:xfrm>
          <a:prstGeom prst="roundRect">
            <a:avLst/>
          </a:prstGeom>
          <a:solidFill>
            <a:srgbClr val="1E3B5B"/>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132320" y="4846320"/>
            <a:ext cx="2505456" cy="29260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140" b="1" i="0">
                <a:solidFill>
                  <a:srgbClr val="FFFFFF"/>
                </a:solidFill>
                <a:latin typeface="Arial"/>
              </a:rPr>
              <a:t>CSF: spinal fluid</a:t>
            </a:r>
          </a:p>
        </p:txBody>
      </p:sp>
      <p:sp>
        <p:nvSpPr>
          <p:cNvPr id="19" name="TextBox 18"/>
          <p:cNvSpPr txBox="1"/>
          <p:nvPr/>
        </p:nvSpPr>
        <p:spPr>
          <a:xfrm>
            <a:off x="11320272" y="310896"/>
            <a:ext cx="384048" cy="201168"/>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900" b="1" i="0">
                <a:solidFill>
                  <a:srgbClr val="91ABC5"/>
                </a:solidFill>
                <a:latin typeface="Arial"/>
              </a:rPr>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512064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50" b="1" i="0">
                <a:solidFill>
                  <a:srgbClr val="009E73"/>
                </a:solidFill>
                <a:latin typeface="Arial"/>
              </a:rPr>
              <a:t>FRAMING</a:t>
            </a:r>
          </a:p>
        </p:txBody>
      </p:sp>
      <p:sp>
        <p:nvSpPr>
          <p:cNvPr id="3" name="TextBox 2"/>
          <p:cNvSpPr txBox="1"/>
          <p:nvPr/>
        </p:nvSpPr>
        <p:spPr>
          <a:xfrm>
            <a:off x="502920" y="402336"/>
            <a:ext cx="10927080" cy="51206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2200" b="1" i="0">
                <a:solidFill>
                  <a:srgbClr val="0F233D"/>
                </a:solidFill>
                <a:latin typeface="Arial"/>
              </a:rPr>
              <a:t>Network and genetic evidence provide complementary views of disease biology</a:t>
            </a:r>
          </a:p>
        </p:txBody>
      </p:sp>
      <p:sp>
        <p:nvSpPr>
          <p:cNvPr id="4" name="TextBox 3"/>
          <p:cNvSpPr txBox="1"/>
          <p:nvPr/>
        </p:nvSpPr>
        <p:spPr>
          <a:xfrm>
            <a:off x="11356848" y="192024"/>
            <a:ext cx="329184" cy="182880"/>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900" b="1" i="0">
                <a:solidFill>
                  <a:srgbClr val="677484"/>
                </a:solidFill>
                <a:latin typeface="Arial"/>
              </a:rPr>
              <a:t>05</a:t>
            </a:r>
          </a:p>
        </p:txBody>
      </p:sp>
      <p:sp>
        <p:nvSpPr>
          <p:cNvPr id="5" name="Rounded Rectangle 4"/>
          <p:cNvSpPr/>
          <p:nvPr/>
        </p:nvSpPr>
        <p:spPr>
          <a:xfrm>
            <a:off x="667512" y="1298448"/>
            <a:ext cx="4526280" cy="1865376"/>
          </a:xfrm>
          <a:prstGeom prst="roundRect">
            <a:avLst/>
          </a:prstGeom>
          <a:solidFill>
            <a:srgbClr val="E5F4EF"/>
          </a:solidFill>
          <a:ln w="1905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41832" y="1572768"/>
            <a:ext cx="2423160" cy="23774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00" b="1" i="0">
                <a:solidFill>
                  <a:srgbClr val="009E73"/>
                </a:solidFill>
                <a:latin typeface="Arial"/>
              </a:rPr>
              <a:t>CELL-NETWORK ANALYSIS</a:t>
            </a:r>
          </a:p>
        </p:txBody>
      </p:sp>
      <p:sp>
        <p:nvSpPr>
          <p:cNvPr id="7" name="TextBox 6"/>
          <p:cNvSpPr txBox="1"/>
          <p:nvPr/>
        </p:nvSpPr>
        <p:spPr>
          <a:xfrm>
            <a:off x="941832" y="1901952"/>
            <a:ext cx="3913632" cy="53035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700" b="1" i="0">
                <a:solidFill>
                  <a:srgbClr val="0F233D"/>
                </a:solidFill>
                <a:latin typeface="Arial"/>
              </a:rPr>
              <a:t>Which genes are central in diseased cells?</a:t>
            </a:r>
          </a:p>
        </p:txBody>
      </p:sp>
      <p:sp>
        <p:nvSpPr>
          <p:cNvPr id="8" name="TextBox 7"/>
          <p:cNvSpPr txBox="1"/>
          <p:nvPr/>
        </p:nvSpPr>
        <p:spPr>
          <a:xfrm>
            <a:off x="941832" y="2542032"/>
            <a:ext cx="3886200" cy="29260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50" b="1" i="0">
                <a:solidFill>
                  <a:srgbClr val="4D4D4D"/>
                </a:solidFill>
                <a:latin typeface="Arial"/>
              </a:rPr>
              <a:t>47 cell-network results  •  25 genes</a:t>
            </a:r>
          </a:p>
        </p:txBody>
      </p:sp>
      <p:cxnSp>
        <p:nvCxnSpPr>
          <p:cNvPr id="9" name="Connector 8"/>
          <p:cNvCxnSpPr/>
          <p:nvPr/>
        </p:nvCxnSpPr>
        <p:spPr>
          <a:xfrm>
            <a:off x="5349240" y="2231136"/>
            <a:ext cx="132588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266944" y="2459736"/>
            <a:ext cx="1472184" cy="566928"/>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000" b="1" i="0">
                <a:solidFill>
                  <a:srgbClr val="677484"/>
                </a:solidFill>
                <a:latin typeface="Arial"/>
              </a:rPr>
              <a:t>complementary
questions</a:t>
            </a:r>
          </a:p>
        </p:txBody>
      </p:sp>
      <p:sp>
        <p:nvSpPr>
          <p:cNvPr id="11" name="Rounded Rectangle 10"/>
          <p:cNvSpPr/>
          <p:nvPr/>
        </p:nvSpPr>
        <p:spPr>
          <a:xfrm>
            <a:off x="6812280" y="1298448"/>
            <a:ext cx="4690872" cy="1865376"/>
          </a:xfrm>
          <a:prstGeom prst="roundRect">
            <a:avLst/>
          </a:prstGeom>
          <a:solidFill>
            <a:srgbClr val="E6F2F9"/>
          </a:solidFill>
          <a:ln w="1905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104888" y="1572768"/>
            <a:ext cx="2468880" cy="23774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00" b="1" i="0">
                <a:solidFill>
                  <a:srgbClr val="0072B2"/>
                </a:solidFill>
                <a:latin typeface="Arial"/>
              </a:rPr>
              <a:t>INHERITED-DNA ANALYSIS</a:t>
            </a:r>
          </a:p>
        </p:txBody>
      </p:sp>
      <p:sp>
        <p:nvSpPr>
          <p:cNvPr id="13" name="TextBox 12"/>
          <p:cNvSpPr txBox="1"/>
          <p:nvPr/>
        </p:nvSpPr>
        <p:spPr>
          <a:xfrm>
            <a:off x="7104888" y="1901952"/>
            <a:ext cx="4069080" cy="53035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700" b="1" i="0">
                <a:solidFill>
                  <a:srgbClr val="0F233D"/>
                </a:solidFill>
                <a:latin typeface="Arial"/>
              </a:rPr>
              <a:t>Which genes are linked to inherited AD risk?</a:t>
            </a:r>
          </a:p>
        </p:txBody>
      </p:sp>
      <p:sp>
        <p:nvSpPr>
          <p:cNvPr id="14" name="TextBox 13"/>
          <p:cNvSpPr txBox="1"/>
          <p:nvPr/>
        </p:nvSpPr>
        <p:spPr>
          <a:xfrm>
            <a:off x="7104888" y="2542032"/>
            <a:ext cx="4069080" cy="43891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50" b="1" i="0">
                <a:solidFill>
                  <a:srgbClr val="4D4D4D"/>
                </a:solidFill>
                <a:latin typeface="Arial"/>
              </a:rPr>
              <a:t>19 nuclear genes analyzed  •  6 mitochondrial genes define a dedicated next study</a:t>
            </a:r>
          </a:p>
        </p:txBody>
      </p:sp>
      <p:sp>
        <p:nvSpPr>
          <p:cNvPr id="15" name="Oval 14"/>
          <p:cNvSpPr/>
          <p:nvPr/>
        </p:nvSpPr>
        <p:spPr>
          <a:xfrm>
            <a:off x="932688" y="3913632"/>
            <a:ext cx="82296" cy="822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115568" y="3794760"/>
            <a:ext cx="10104120" cy="63093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600" b="0" i="0">
                <a:solidFill>
                  <a:srgbClr val="2F2F2F"/>
                </a:solidFill>
                <a:latin typeface="Arial"/>
              </a:rPr>
              <a:t>The network analysis finds genes at the center of disease-related activity in cells.</a:t>
            </a:r>
          </a:p>
        </p:txBody>
      </p:sp>
      <p:sp>
        <p:nvSpPr>
          <p:cNvPr id="17" name="Oval 16"/>
          <p:cNvSpPr/>
          <p:nvPr/>
        </p:nvSpPr>
        <p:spPr>
          <a:xfrm>
            <a:off x="932688" y="4544568"/>
            <a:ext cx="82296" cy="822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115568" y="4425696"/>
            <a:ext cx="10104120" cy="63093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600" b="0" i="0">
                <a:solidFill>
                  <a:srgbClr val="2F2F2F"/>
                </a:solidFill>
                <a:latin typeface="Arial"/>
              </a:rPr>
              <a:t>The genetic analysis asks whether inherited DNA differences near a gene are linked to Alzheimer's disease or disease markers.</a:t>
            </a:r>
          </a:p>
        </p:txBody>
      </p:sp>
      <p:sp>
        <p:nvSpPr>
          <p:cNvPr id="19" name="Oval 18"/>
          <p:cNvSpPr/>
          <p:nvPr/>
        </p:nvSpPr>
        <p:spPr>
          <a:xfrm>
            <a:off x="932688" y="5175504"/>
            <a:ext cx="82296" cy="822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115568" y="5056632"/>
            <a:ext cx="10104120" cy="63093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600" b="0" i="0">
                <a:solidFill>
                  <a:srgbClr val="2F2F2F"/>
                </a:solidFill>
                <a:latin typeface="Arial"/>
              </a:rPr>
              <a:t>Together, the two analyses connect disease-related cell activity with inherited-risk evidence.</a:t>
            </a:r>
          </a:p>
        </p:txBody>
      </p:sp>
      <p:sp>
        <p:nvSpPr>
          <p:cNvPr id="21" name="Rectangle 20"/>
          <p:cNvSpPr/>
          <p:nvPr/>
        </p:nvSpPr>
        <p:spPr>
          <a:xfrm>
            <a:off x="502920" y="5870448"/>
            <a:ext cx="11183112" cy="502920"/>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02920" y="5870448"/>
            <a:ext cx="91440" cy="502920"/>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31520" y="5961888"/>
            <a:ext cx="10716768" cy="283464"/>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200" b="1" i="0">
                <a:solidFill>
                  <a:srgbClr val="FFFFFF"/>
                </a:solidFill>
                <a:latin typeface="Arial"/>
              </a:rPr>
              <a:t>Network biology and genetics are complementary; each provides useful evidence for prioritizing follow-up.</a:t>
            </a:r>
          </a:p>
        </p:txBody>
      </p:sp>
      <p:sp>
        <p:nvSpPr>
          <p:cNvPr id="24" name="TextBox 23"/>
          <p:cNvSpPr txBox="1"/>
          <p:nvPr/>
        </p:nvSpPr>
        <p:spPr>
          <a:xfrm>
            <a:off x="502920" y="6629400"/>
            <a:ext cx="11109960" cy="1280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680" b="0" i="0">
                <a:solidFill>
                  <a:srgbClr val="677484"/>
                </a:solidFill>
                <a:latin typeface="Arial"/>
              </a:rPr>
              <a:t>Source: genetic-support consolidated summary §1.1; call_key_driver_returns.tsv</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512064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50" b="1" i="0">
                <a:solidFill>
                  <a:srgbClr val="0072B2"/>
                </a:solidFill>
                <a:latin typeface="Arial"/>
              </a:rPr>
              <a:t>PUBLIC DATASETS</a:t>
            </a:r>
          </a:p>
        </p:txBody>
      </p:sp>
      <p:sp>
        <p:nvSpPr>
          <p:cNvPr id="3" name="TextBox 2"/>
          <p:cNvSpPr txBox="1"/>
          <p:nvPr/>
        </p:nvSpPr>
        <p:spPr>
          <a:xfrm>
            <a:off x="502920" y="402336"/>
            <a:ext cx="10927080" cy="51206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2450" b="1" i="0">
                <a:solidFill>
                  <a:srgbClr val="0F233D"/>
                </a:solidFill>
                <a:latin typeface="Arial"/>
              </a:rPr>
              <a:t>We combined five kinds of public data, each with a different job</a:t>
            </a:r>
          </a:p>
        </p:txBody>
      </p:sp>
      <p:sp>
        <p:nvSpPr>
          <p:cNvPr id="4" name="TextBox 3"/>
          <p:cNvSpPr txBox="1"/>
          <p:nvPr/>
        </p:nvSpPr>
        <p:spPr>
          <a:xfrm>
            <a:off x="11356848" y="192024"/>
            <a:ext cx="329184" cy="182880"/>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900" b="1" i="0">
                <a:solidFill>
                  <a:srgbClr val="677484"/>
                </a:solidFill>
                <a:latin typeface="Arial"/>
              </a:rPr>
              <a:t>06</a:t>
            </a:r>
          </a:p>
        </p:txBody>
      </p:sp>
      <p:sp>
        <p:nvSpPr>
          <p:cNvPr id="5" name="Rectangle 4"/>
          <p:cNvSpPr/>
          <p:nvPr/>
        </p:nvSpPr>
        <p:spPr>
          <a:xfrm>
            <a:off x="502920" y="1152144"/>
            <a:ext cx="1828800" cy="457200"/>
          </a:xfrm>
          <a:prstGeom prst="rect">
            <a:avLst/>
          </a:prstGeom>
          <a:solidFill>
            <a:srgbClr val="0F233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21792" y="1261872"/>
            <a:ext cx="1591056"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70" b="1" i="0">
                <a:solidFill>
                  <a:srgbClr val="FFFFFF"/>
                </a:solidFill>
                <a:latin typeface="Arial"/>
              </a:rPr>
              <a:t>Data type</a:t>
            </a:r>
          </a:p>
        </p:txBody>
      </p:sp>
      <p:sp>
        <p:nvSpPr>
          <p:cNvPr id="7" name="Rectangle 6"/>
          <p:cNvSpPr/>
          <p:nvPr/>
        </p:nvSpPr>
        <p:spPr>
          <a:xfrm>
            <a:off x="2331720" y="1152144"/>
            <a:ext cx="4297680" cy="457200"/>
          </a:xfrm>
          <a:prstGeom prst="rect">
            <a:avLst/>
          </a:prstGeom>
          <a:solidFill>
            <a:srgbClr val="0F233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450591" y="1261872"/>
            <a:ext cx="4059936"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70" b="1" i="0">
                <a:solidFill>
                  <a:srgbClr val="FFFFFF"/>
                </a:solidFill>
                <a:latin typeface="Arial"/>
              </a:rPr>
              <a:t>Dataset / version</a:t>
            </a:r>
          </a:p>
        </p:txBody>
      </p:sp>
      <p:sp>
        <p:nvSpPr>
          <p:cNvPr id="9" name="Rectangle 8"/>
          <p:cNvSpPr/>
          <p:nvPr/>
        </p:nvSpPr>
        <p:spPr>
          <a:xfrm>
            <a:off x="6629400" y="1152144"/>
            <a:ext cx="5056632" cy="457200"/>
          </a:xfrm>
          <a:prstGeom prst="rect">
            <a:avLst/>
          </a:prstGeom>
          <a:solidFill>
            <a:srgbClr val="0F233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748272" y="1261872"/>
            <a:ext cx="4818888"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70" b="1" i="0">
                <a:solidFill>
                  <a:srgbClr val="FFFFFF"/>
                </a:solidFill>
                <a:latin typeface="Arial"/>
              </a:rPr>
              <a:t>What it tells us</a:t>
            </a:r>
          </a:p>
        </p:txBody>
      </p:sp>
      <p:sp>
        <p:nvSpPr>
          <p:cNvPr id="11" name="Rectangle 10"/>
          <p:cNvSpPr/>
          <p:nvPr/>
        </p:nvSpPr>
        <p:spPr>
          <a:xfrm>
            <a:off x="502920" y="1609344"/>
            <a:ext cx="1828800" cy="832104"/>
          </a:xfrm>
          <a:prstGeom prst="rect">
            <a:avLst/>
          </a:prstGeom>
          <a:solidFill>
            <a:srgbClr val="FFFFFF"/>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0936" y="1700784"/>
            <a:ext cx="1572768" cy="6126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80" b="1" i="0">
                <a:solidFill>
                  <a:srgbClr val="0F233D"/>
                </a:solidFill>
                <a:latin typeface="Arial"/>
              </a:rPr>
              <a:t>Starting gene list</a:t>
            </a:r>
          </a:p>
        </p:txBody>
      </p:sp>
      <p:sp>
        <p:nvSpPr>
          <p:cNvPr id="13" name="Rectangle 12"/>
          <p:cNvSpPr/>
          <p:nvPr/>
        </p:nvSpPr>
        <p:spPr>
          <a:xfrm>
            <a:off x="2331720" y="1609344"/>
            <a:ext cx="4297680" cy="832104"/>
          </a:xfrm>
          <a:prstGeom prst="rect">
            <a:avLst/>
          </a:prstGeom>
          <a:solidFill>
            <a:srgbClr val="FFFFFF"/>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459736" y="1700784"/>
            <a:ext cx="4041648" cy="6126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30" b="0" i="0">
                <a:solidFill>
                  <a:srgbClr val="2F2F2F"/>
                </a:solidFill>
                <a:latin typeface="Arial"/>
              </a:rPr>
              <a:t>Network-analysis list • GENCODE v44 • HGNC 2026-06-05</a:t>
            </a:r>
          </a:p>
        </p:txBody>
      </p:sp>
      <p:sp>
        <p:nvSpPr>
          <p:cNvPr id="15" name="Rectangle 14"/>
          <p:cNvSpPr/>
          <p:nvPr/>
        </p:nvSpPr>
        <p:spPr>
          <a:xfrm>
            <a:off x="6629400" y="1609344"/>
            <a:ext cx="5056632" cy="832104"/>
          </a:xfrm>
          <a:prstGeom prst="rect">
            <a:avLst/>
          </a:prstGeom>
          <a:solidFill>
            <a:srgbClr val="FFFFFF"/>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757416" y="1700784"/>
            <a:ext cx="4800600" cy="6126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30" b="0" i="0">
                <a:solidFill>
                  <a:srgbClr val="2F2F2F"/>
                </a:solidFill>
                <a:latin typeface="Arial"/>
              </a:rPr>
              <a:t>Keep the same 47 settings / 25 genes; map 19 nuclear genes and flag 6 mitochondrial genes.</a:t>
            </a:r>
          </a:p>
        </p:txBody>
      </p:sp>
      <p:sp>
        <p:nvSpPr>
          <p:cNvPr id="17" name="Rectangle 16"/>
          <p:cNvSpPr/>
          <p:nvPr/>
        </p:nvSpPr>
        <p:spPr>
          <a:xfrm>
            <a:off x="502920" y="1609344"/>
            <a:ext cx="64008" cy="8321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02920" y="2441448"/>
            <a:ext cx="1828800" cy="832104"/>
          </a:xfrm>
          <a:prstGeom prst="rect">
            <a:avLst/>
          </a:prstGeom>
          <a:solidFill>
            <a:srgbClr val="F2F4F7"/>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0936" y="2532888"/>
            <a:ext cx="1572768" cy="6126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80" b="1" i="0">
                <a:solidFill>
                  <a:srgbClr val="0F233D"/>
                </a:solidFill>
                <a:latin typeface="Arial"/>
              </a:rPr>
              <a:t>Published summary lists</a:t>
            </a:r>
          </a:p>
        </p:txBody>
      </p:sp>
      <p:sp>
        <p:nvSpPr>
          <p:cNvPr id="20" name="Rectangle 19"/>
          <p:cNvSpPr/>
          <p:nvPr/>
        </p:nvSpPr>
        <p:spPr>
          <a:xfrm>
            <a:off x="2331720" y="2441448"/>
            <a:ext cx="4297680" cy="832104"/>
          </a:xfrm>
          <a:prstGeom prst="rect">
            <a:avLst/>
          </a:prstGeom>
          <a:solidFill>
            <a:srgbClr val="F2F4F7"/>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459736" y="2532888"/>
            <a:ext cx="4041648" cy="6126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30" b="0" i="0">
                <a:solidFill>
                  <a:srgbClr val="2F2F2F"/>
                </a:solidFill>
                <a:latin typeface="Arial"/>
              </a:rPr>
              <a:t>FunGen-xQTL snapshot f6f63fc… • six public files (~8.74 MiB)</a:t>
            </a:r>
          </a:p>
        </p:txBody>
      </p:sp>
      <p:sp>
        <p:nvSpPr>
          <p:cNvPr id="22" name="Rectangle 21"/>
          <p:cNvSpPr/>
          <p:nvPr/>
        </p:nvSpPr>
        <p:spPr>
          <a:xfrm>
            <a:off x="6629400" y="2441448"/>
            <a:ext cx="5056632" cy="832104"/>
          </a:xfrm>
          <a:prstGeom prst="rect">
            <a:avLst/>
          </a:prstGeom>
          <a:solidFill>
            <a:srgbClr val="F2F4F7"/>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757416" y="2532888"/>
            <a:ext cx="4800600" cy="6126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30" b="0" i="0">
                <a:solidFill>
                  <a:srgbClr val="2F2F2F"/>
                </a:solidFill>
                <a:latin typeface="Arial"/>
              </a:rPr>
              <a:t>Screen earlier Alzheimer's and gene-regulation results and identify records for deeper source-level validation.</a:t>
            </a:r>
          </a:p>
        </p:txBody>
      </p:sp>
      <p:sp>
        <p:nvSpPr>
          <p:cNvPr id="24" name="Rectangle 23"/>
          <p:cNvSpPr/>
          <p:nvPr/>
        </p:nvSpPr>
        <p:spPr>
          <a:xfrm>
            <a:off x="502920" y="2441448"/>
            <a:ext cx="64008" cy="83210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02920" y="3273552"/>
            <a:ext cx="1828800" cy="832104"/>
          </a:xfrm>
          <a:prstGeom prst="rect">
            <a:avLst/>
          </a:prstGeom>
          <a:solidFill>
            <a:srgbClr val="FFFFFF"/>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0936" y="3364992"/>
            <a:ext cx="1572768" cy="6126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80" b="1" i="0">
                <a:solidFill>
                  <a:srgbClr val="0F233D"/>
                </a:solidFill>
                <a:latin typeface="Arial"/>
              </a:rPr>
              <a:t>Alzheimer's disease study</a:t>
            </a:r>
          </a:p>
        </p:txBody>
      </p:sp>
      <p:sp>
        <p:nvSpPr>
          <p:cNvPr id="27" name="Rectangle 26"/>
          <p:cNvSpPr/>
          <p:nvPr/>
        </p:nvSpPr>
        <p:spPr>
          <a:xfrm>
            <a:off x="2331720" y="3273552"/>
            <a:ext cx="4297680" cy="832104"/>
          </a:xfrm>
          <a:prstGeom prst="rect">
            <a:avLst/>
          </a:prstGeom>
          <a:solidFill>
            <a:srgbClr val="FFFFFF"/>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459736" y="3485111"/>
            <a:ext cx="4041648" cy="37241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lang="en-US" sz="1030" b="0" i="0" dirty="0">
                <a:solidFill>
                  <a:srgbClr val="2F2F2F"/>
                </a:solidFill>
                <a:latin typeface="Arial"/>
              </a:rPr>
              <a:t>Clinical AD GWAS: </a:t>
            </a:r>
            <a:r>
              <a:rPr sz="1030" b="0" i="0" dirty="0" err="1">
                <a:solidFill>
                  <a:srgbClr val="2F2F2F"/>
                </a:solidFill>
                <a:latin typeface="Arial"/>
              </a:rPr>
              <a:t>Bellenguez</a:t>
            </a:r>
            <a:r>
              <a:rPr sz="1030" b="0" i="0" dirty="0">
                <a:solidFill>
                  <a:srgbClr val="2F2F2F"/>
                </a:solidFill>
                <a:latin typeface="Arial"/>
              </a:rPr>
              <a:t> 2022 • GCST90027158 • complete GRCh38 summary statistics</a:t>
            </a:r>
          </a:p>
        </p:txBody>
      </p:sp>
      <p:sp>
        <p:nvSpPr>
          <p:cNvPr id="29" name="Rectangle 28"/>
          <p:cNvSpPr/>
          <p:nvPr/>
        </p:nvSpPr>
        <p:spPr>
          <a:xfrm>
            <a:off x="6629400" y="3273552"/>
            <a:ext cx="5056632" cy="832104"/>
          </a:xfrm>
          <a:prstGeom prst="rect">
            <a:avLst/>
          </a:prstGeom>
          <a:solidFill>
            <a:srgbClr val="FFFFFF"/>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757416" y="3364992"/>
            <a:ext cx="4800600" cy="6126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30" b="0" i="0">
                <a:solidFill>
                  <a:srgbClr val="2F2F2F"/>
                </a:solidFill>
                <a:latin typeface="Arial"/>
              </a:rPr>
              <a:t>Look for disease-linked DNA variants within ±1 Mb (one million DNA letters) of each nuclear gene.</a:t>
            </a:r>
          </a:p>
        </p:txBody>
      </p:sp>
      <p:sp>
        <p:nvSpPr>
          <p:cNvPr id="31" name="Rectangle 30"/>
          <p:cNvSpPr/>
          <p:nvPr/>
        </p:nvSpPr>
        <p:spPr>
          <a:xfrm>
            <a:off x="502920" y="3273552"/>
            <a:ext cx="64008" cy="83210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502920" y="4105656"/>
            <a:ext cx="1828800" cy="832104"/>
          </a:xfrm>
          <a:prstGeom prst="rect">
            <a:avLst/>
          </a:prstGeom>
          <a:solidFill>
            <a:srgbClr val="F2F4F7"/>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30936" y="4197096"/>
            <a:ext cx="1572768" cy="6126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80" b="1" i="0">
                <a:solidFill>
                  <a:srgbClr val="0F233D"/>
                </a:solidFill>
                <a:latin typeface="Arial"/>
              </a:rPr>
              <a:t>Brain gene-activity data</a:t>
            </a:r>
          </a:p>
        </p:txBody>
      </p:sp>
      <p:sp>
        <p:nvSpPr>
          <p:cNvPr id="34" name="Rectangle 33"/>
          <p:cNvSpPr/>
          <p:nvPr/>
        </p:nvSpPr>
        <p:spPr>
          <a:xfrm>
            <a:off x="2331720" y="4105656"/>
            <a:ext cx="4297680" cy="832104"/>
          </a:xfrm>
          <a:prstGeom prst="rect">
            <a:avLst/>
          </a:prstGeom>
          <a:solidFill>
            <a:srgbClr val="F2F4F7"/>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2459736" y="4197096"/>
            <a:ext cx="4041648" cy="6126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30" b="0" i="0">
                <a:solidFill>
                  <a:srgbClr val="2F2F2F"/>
                </a:solidFill>
                <a:latin typeface="Arial"/>
              </a:rPr>
              <a:t>NIAGADS NG00184.v1 • eQTL Catalogue r7</a:t>
            </a:r>
          </a:p>
        </p:txBody>
      </p:sp>
      <p:sp>
        <p:nvSpPr>
          <p:cNvPr id="36" name="Rectangle 35"/>
          <p:cNvSpPr/>
          <p:nvPr/>
        </p:nvSpPr>
        <p:spPr>
          <a:xfrm>
            <a:off x="6629400" y="4105656"/>
            <a:ext cx="5056632" cy="832104"/>
          </a:xfrm>
          <a:prstGeom prst="rect">
            <a:avLst/>
          </a:prstGeom>
          <a:solidFill>
            <a:srgbClr val="F2F4F7"/>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757416" y="4317215"/>
            <a:ext cx="4800600" cy="372410"/>
          </a:xfrm>
          <a:prstGeom prst="rect">
            <a:avLst/>
          </a:prstGeom>
          <a:noFill/>
        </p:spPr>
        <p:txBody>
          <a:bodyPr wrap="square" lIns="27432" tIns="27432" rIns="27432" bIns="27432" anchor="ctr">
            <a:spAutoFit/>
          </a:bodyPr>
          <a:lstStyle/>
          <a:p>
            <a:r>
              <a:rPr lang="en-US" sz="1030" dirty="0">
                <a:solidFill>
                  <a:srgbClr val="2F2F2F"/>
                </a:solidFill>
                <a:latin typeface="Arial"/>
              </a:rPr>
              <a:t>Shows how DNA variants affect candidate-gene activity in the brain; combined with AD GWAS to test whether the signals may share a variant.</a:t>
            </a:r>
            <a:endParaRPr sz="1030" dirty="0">
              <a:solidFill>
                <a:srgbClr val="2F2F2F"/>
              </a:solidFill>
              <a:latin typeface="Arial"/>
            </a:endParaRPr>
          </a:p>
        </p:txBody>
      </p:sp>
      <p:sp>
        <p:nvSpPr>
          <p:cNvPr id="38" name="Rectangle 37"/>
          <p:cNvSpPr/>
          <p:nvPr/>
        </p:nvSpPr>
        <p:spPr>
          <a:xfrm>
            <a:off x="502920" y="4105656"/>
            <a:ext cx="64008" cy="83210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502920" y="4937760"/>
            <a:ext cx="1828800" cy="832104"/>
          </a:xfrm>
          <a:prstGeom prst="rect">
            <a:avLst/>
          </a:prstGeom>
          <a:solidFill>
            <a:srgbClr val="FFFFFF"/>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30936" y="5029200"/>
            <a:ext cx="1572768" cy="6126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80" b="1" i="0">
                <a:solidFill>
                  <a:srgbClr val="0F233D"/>
                </a:solidFill>
                <a:latin typeface="Arial"/>
              </a:rPr>
              <a:t>Spinal-fluid markers</a:t>
            </a:r>
          </a:p>
        </p:txBody>
      </p:sp>
      <p:sp>
        <p:nvSpPr>
          <p:cNvPr id="41" name="Rectangle 40"/>
          <p:cNvSpPr/>
          <p:nvPr/>
        </p:nvSpPr>
        <p:spPr>
          <a:xfrm>
            <a:off x="2331720" y="4937760"/>
            <a:ext cx="4297680" cy="832104"/>
          </a:xfrm>
          <a:prstGeom prst="rect">
            <a:avLst/>
          </a:prstGeom>
          <a:solidFill>
            <a:srgbClr val="FFFFFF"/>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2459736" y="5149319"/>
            <a:ext cx="4041648" cy="37241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lang="en-US" sz="1030" b="0" i="0" dirty="0">
                <a:solidFill>
                  <a:srgbClr val="2F2F2F"/>
                </a:solidFill>
                <a:latin typeface="Arial"/>
              </a:rPr>
              <a:t>Spinal-fluid biomarker GWAS: </a:t>
            </a:r>
            <a:r>
              <a:rPr sz="1030" b="0" i="0" dirty="0">
                <a:solidFill>
                  <a:srgbClr val="2F2F2F"/>
                </a:solidFill>
                <a:latin typeface="Arial"/>
              </a:rPr>
              <a:t>GCST90726396 / GCST90726397 / GCST90726398 • European N=18,948 each</a:t>
            </a:r>
          </a:p>
        </p:txBody>
      </p:sp>
      <p:sp>
        <p:nvSpPr>
          <p:cNvPr id="43" name="Rectangle 42"/>
          <p:cNvSpPr/>
          <p:nvPr/>
        </p:nvSpPr>
        <p:spPr>
          <a:xfrm>
            <a:off x="6629400" y="4937760"/>
            <a:ext cx="5056632" cy="832104"/>
          </a:xfrm>
          <a:prstGeom prst="rect">
            <a:avLst/>
          </a:prstGeom>
          <a:solidFill>
            <a:srgbClr val="FFFFFF"/>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757416" y="5029200"/>
            <a:ext cx="4800600" cy="6126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30" b="0" i="0">
                <a:solidFill>
                  <a:srgbClr val="2F2F2F"/>
                </a:solidFill>
                <a:latin typeface="Arial"/>
              </a:rPr>
              <a:t>Test amyloid-β42, total tau, and p-tau181 across 19 genes × 3 markers = 57 checks.</a:t>
            </a:r>
          </a:p>
        </p:txBody>
      </p:sp>
      <p:sp>
        <p:nvSpPr>
          <p:cNvPr id="45" name="Rectangle 44"/>
          <p:cNvSpPr/>
          <p:nvPr/>
        </p:nvSpPr>
        <p:spPr>
          <a:xfrm>
            <a:off x="502920" y="4937760"/>
            <a:ext cx="64008" cy="832104"/>
          </a:xfrm>
          <a:prstGeom prst="rect">
            <a:avLst/>
          </a:prstGeom>
          <a:solidFill>
            <a:srgbClr val="7E4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502920" y="5897880"/>
            <a:ext cx="11183112" cy="502920"/>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502920" y="5897880"/>
            <a:ext cx="91440" cy="502920"/>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731520" y="5989320"/>
            <a:ext cx="10716768" cy="283464"/>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200" b="1" i="0">
                <a:solidFill>
                  <a:srgbClr val="FFFFFF"/>
                </a:solidFill>
                <a:latin typeface="Arial"/>
              </a:rPr>
              <a:t>Summary data = group-level results, not individual records • CSF = fluid around the brain and spinal cord.</a:t>
            </a:r>
          </a:p>
        </p:txBody>
      </p:sp>
      <p:sp>
        <p:nvSpPr>
          <p:cNvPr id="49" name="TextBox 48"/>
          <p:cNvSpPr txBox="1"/>
          <p:nvPr/>
        </p:nvSpPr>
        <p:spPr>
          <a:xfrm>
            <a:off x="502920" y="6629400"/>
            <a:ext cx="11109960" cy="1280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680" b="0" i="0">
                <a:solidFill>
                  <a:srgbClr val="677484"/>
                </a:solidFill>
                <a:latin typeface="Arial"/>
              </a:rPr>
              <a:t>Source: candidate, Tier 1, Tier 2, recovery, and CSF dataset registries and input inventories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512064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50" b="1" i="0">
                <a:solidFill>
                  <a:srgbClr val="D55E00"/>
                </a:solidFill>
                <a:latin typeface="Arial"/>
              </a:rPr>
              <a:t>GENE-ACTIVITY DATA</a:t>
            </a:r>
          </a:p>
        </p:txBody>
      </p:sp>
      <p:sp>
        <p:nvSpPr>
          <p:cNvPr id="3" name="TextBox 2"/>
          <p:cNvSpPr txBox="1"/>
          <p:nvPr/>
        </p:nvSpPr>
        <p:spPr>
          <a:xfrm>
            <a:off x="502920" y="442155"/>
            <a:ext cx="10927080" cy="43242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lang="en-US" sz="2450" b="1" i="0" dirty="0">
                <a:solidFill>
                  <a:srgbClr val="0F233D"/>
                </a:solidFill>
                <a:latin typeface="Arial"/>
              </a:rPr>
              <a:t>Brain g</a:t>
            </a:r>
            <a:r>
              <a:rPr sz="2450" b="1" i="0" dirty="0">
                <a:solidFill>
                  <a:srgbClr val="0F233D"/>
                </a:solidFill>
                <a:latin typeface="Arial"/>
              </a:rPr>
              <a:t>ene</a:t>
            </a:r>
            <a:r>
              <a:rPr lang="en-US" sz="2450" b="1" dirty="0">
                <a:solidFill>
                  <a:srgbClr val="0F233D"/>
                </a:solidFill>
                <a:latin typeface="Arial"/>
              </a:rPr>
              <a:t>-</a:t>
            </a:r>
            <a:r>
              <a:rPr sz="2450" b="1" i="0" dirty="0">
                <a:solidFill>
                  <a:srgbClr val="0F233D"/>
                </a:solidFill>
                <a:latin typeface="Arial"/>
              </a:rPr>
              <a:t>activity datasets </a:t>
            </a:r>
            <a:r>
              <a:rPr lang="en-US" sz="2450" b="1" i="0" dirty="0">
                <a:solidFill>
                  <a:srgbClr val="0F233D"/>
                </a:solidFill>
                <a:latin typeface="Arial"/>
              </a:rPr>
              <a:t>and targeted QTL follow-ups</a:t>
            </a:r>
            <a:endParaRPr sz="2450" b="1" i="0" dirty="0">
              <a:solidFill>
                <a:srgbClr val="0F233D"/>
              </a:solidFill>
              <a:latin typeface="Arial"/>
            </a:endParaRPr>
          </a:p>
        </p:txBody>
      </p:sp>
      <p:sp>
        <p:nvSpPr>
          <p:cNvPr id="4" name="TextBox 3"/>
          <p:cNvSpPr txBox="1"/>
          <p:nvPr/>
        </p:nvSpPr>
        <p:spPr>
          <a:xfrm>
            <a:off x="11356848" y="192024"/>
            <a:ext cx="329184" cy="182880"/>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900" b="1" i="0">
                <a:solidFill>
                  <a:srgbClr val="677484"/>
                </a:solidFill>
                <a:latin typeface="Arial"/>
              </a:rPr>
              <a:t>07</a:t>
            </a:r>
          </a:p>
        </p:txBody>
      </p:sp>
      <p:sp>
        <p:nvSpPr>
          <p:cNvPr id="5" name="Rounded Rectangle 4"/>
          <p:cNvSpPr/>
          <p:nvPr/>
        </p:nvSpPr>
        <p:spPr>
          <a:xfrm>
            <a:off x="502920" y="1234440"/>
            <a:ext cx="2578608" cy="3017520"/>
          </a:xfrm>
          <a:prstGeom prst="roundRect">
            <a:avLst/>
          </a:prstGeom>
          <a:solidFill>
            <a:srgbClr val="FFFFFF"/>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2920" y="1234440"/>
            <a:ext cx="2578608" cy="566928"/>
          </a:xfrm>
          <a:prstGeom prst="rect">
            <a:avLst/>
          </a:prstGeom>
          <a:solidFill>
            <a:srgbClr val="E5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9224" y="1408176"/>
            <a:ext cx="2286000" cy="18288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840" b="1" i="0">
                <a:solidFill>
                  <a:srgbClr val="009E73"/>
                </a:solidFill>
                <a:latin typeface="Arial"/>
              </a:rPr>
              <a:t>MICROGLIA</a:t>
            </a:r>
          </a:p>
        </p:txBody>
      </p:sp>
      <p:sp>
        <p:nvSpPr>
          <p:cNvPr id="8" name="TextBox 7"/>
          <p:cNvSpPr txBox="1"/>
          <p:nvPr/>
        </p:nvSpPr>
        <p:spPr>
          <a:xfrm>
            <a:off x="667512" y="1975104"/>
            <a:ext cx="2249424" cy="39319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500" b="1" i="0">
                <a:solidFill>
                  <a:srgbClr val="0F233D"/>
                </a:solidFill>
                <a:latin typeface="Arial"/>
              </a:rPr>
              <a:t>Young 2019 • 104 samples</a:t>
            </a:r>
          </a:p>
        </p:txBody>
      </p:sp>
      <p:sp>
        <p:nvSpPr>
          <p:cNvPr id="9" name="TextBox 8"/>
          <p:cNvSpPr txBox="1"/>
          <p:nvPr/>
        </p:nvSpPr>
        <p:spPr>
          <a:xfrm>
            <a:off x="704088" y="2606040"/>
            <a:ext cx="2176272" cy="1389888"/>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040" b="0" i="0">
                <a:solidFill>
                  <a:srgbClr val="2F2F2F"/>
                </a:solidFill>
                <a:latin typeface="Arial"/>
              </a:rPr>
              <a:t>eQTL (RNA amount): QTD000559
sQTL (RNA splicing): QTD000563
Same cell type</a:t>
            </a:r>
          </a:p>
        </p:txBody>
      </p:sp>
      <p:sp>
        <p:nvSpPr>
          <p:cNvPr id="10" name="Rounded Rectangle 9"/>
          <p:cNvSpPr/>
          <p:nvPr/>
        </p:nvSpPr>
        <p:spPr>
          <a:xfrm>
            <a:off x="3310128" y="1234440"/>
            <a:ext cx="2578608" cy="3017520"/>
          </a:xfrm>
          <a:prstGeom prst="roundRect">
            <a:avLst/>
          </a:prstGeom>
          <a:solidFill>
            <a:srgbClr val="FFFFFF"/>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310128" y="1234440"/>
            <a:ext cx="2578608" cy="566928"/>
          </a:xfrm>
          <a:prstGeom prst="rect">
            <a:avLst/>
          </a:prstGeom>
          <a:solidFill>
            <a:srgbClr val="E6F2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56432" y="1408176"/>
            <a:ext cx="2286000" cy="18288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840" b="1" i="0">
                <a:solidFill>
                  <a:srgbClr val="0072B2"/>
                </a:solidFill>
                <a:latin typeface="Arial"/>
              </a:rPr>
              <a:t>NEURON-LIKE CELLS</a:t>
            </a:r>
          </a:p>
        </p:txBody>
      </p:sp>
      <p:sp>
        <p:nvSpPr>
          <p:cNvPr id="13" name="TextBox 12"/>
          <p:cNvSpPr txBox="1"/>
          <p:nvPr/>
        </p:nvSpPr>
        <p:spPr>
          <a:xfrm>
            <a:off x="3474720" y="1975104"/>
            <a:ext cx="2249424" cy="39319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500" b="1" i="0">
                <a:solidFill>
                  <a:srgbClr val="0F233D"/>
                </a:solidFill>
                <a:latin typeface="Arial"/>
              </a:rPr>
              <a:t>Aygun 2021 • 73 samples</a:t>
            </a:r>
          </a:p>
        </p:txBody>
      </p:sp>
      <p:sp>
        <p:nvSpPr>
          <p:cNvPr id="14" name="TextBox 13"/>
          <p:cNvSpPr txBox="1"/>
          <p:nvPr/>
        </p:nvSpPr>
        <p:spPr>
          <a:xfrm>
            <a:off x="3511296" y="2606040"/>
            <a:ext cx="2176272" cy="1389888"/>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040" b="0" i="0">
                <a:solidFill>
                  <a:srgbClr val="2F2F2F"/>
                </a:solidFill>
                <a:latin typeface="Arial"/>
              </a:rPr>
              <a:t>eQTL (RNA amount): QTD000569
sQTL (RNA splicing): QTD000573
Related neuron samples</a:t>
            </a:r>
          </a:p>
        </p:txBody>
      </p:sp>
      <p:sp>
        <p:nvSpPr>
          <p:cNvPr id="15" name="Rounded Rectangle 14"/>
          <p:cNvSpPr/>
          <p:nvPr/>
        </p:nvSpPr>
        <p:spPr>
          <a:xfrm>
            <a:off x="6117336" y="1234440"/>
            <a:ext cx="2578608" cy="3017520"/>
          </a:xfrm>
          <a:prstGeom prst="roundRect">
            <a:avLst/>
          </a:prstGeom>
          <a:solidFill>
            <a:srgbClr val="FFFFFF"/>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117336" y="1234440"/>
            <a:ext cx="2578608" cy="566928"/>
          </a:xfrm>
          <a:prstGeom prst="rect">
            <a:avLst/>
          </a:prstGeom>
          <a:solidFill>
            <a:srgbClr val="FFF6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263640" y="1408176"/>
            <a:ext cx="2286000" cy="18288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840" b="1" i="0">
                <a:solidFill>
                  <a:srgbClr val="E69F00"/>
                </a:solidFill>
                <a:latin typeface="Arial"/>
              </a:rPr>
              <a:t>MIXED BRAIN TISSUE</a:t>
            </a:r>
          </a:p>
        </p:txBody>
      </p:sp>
      <p:sp>
        <p:nvSpPr>
          <p:cNvPr id="18" name="TextBox 17"/>
          <p:cNvSpPr txBox="1"/>
          <p:nvPr/>
        </p:nvSpPr>
        <p:spPr>
          <a:xfrm>
            <a:off x="6281927" y="1975104"/>
            <a:ext cx="2249424" cy="39319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500" b="1" i="0">
                <a:solidFill>
                  <a:srgbClr val="0F233D"/>
                </a:solidFill>
                <a:latin typeface="Arial"/>
              </a:rPr>
              <a:t>Walker 2019 • 211 samples</a:t>
            </a:r>
          </a:p>
        </p:txBody>
      </p:sp>
      <p:sp>
        <p:nvSpPr>
          <p:cNvPr id="19" name="TextBox 18"/>
          <p:cNvSpPr txBox="1"/>
          <p:nvPr/>
        </p:nvSpPr>
        <p:spPr>
          <a:xfrm>
            <a:off x="6318503" y="2606040"/>
            <a:ext cx="2176272" cy="1389888"/>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040" b="0" i="0">
                <a:solidFill>
                  <a:srgbClr val="2F2F2F"/>
                </a:solidFill>
                <a:latin typeface="Arial"/>
              </a:rPr>
              <a:t>eQTL (RNA amount): QTD000579
sQTL (RNA splicing): QTD000583
Broad tissue view; exact-cell follow-up can add detail</a:t>
            </a:r>
          </a:p>
        </p:txBody>
      </p:sp>
      <p:sp>
        <p:nvSpPr>
          <p:cNvPr id="20" name="Rounded Rectangle 19"/>
          <p:cNvSpPr/>
          <p:nvPr/>
        </p:nvSpPr>
        <p:spPr>
          <a:xfrm>
            <a:off x="8924544" y="1234440"/>
            <a:ext cx="2578608" cy="3017520"/>
          </a:xfrm>
          <a:prstGeom prst="roundRect">
            <a:avLst/>
          </a:prstGeom>
          <a:solidFill>
            <a:srgbClr val="FFFFFF"/>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924544" y="1234440"/>
            <a:ext cx="2578608" cy="566928"/>
          </a:xfrm>
          <a:prstGeom prst="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070848" y="1408176"/>
            <a:ext cx="2286000" cy="18288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840" b="1" i="0">
                <a:solidFill>
                  <a:srgbClr val="D55E00"/>
                </a:solidFill>
                <a:latin typeface="Arial"/>
              </a:rPr>
              <a:t>BROADER BRAIN DATA</a:t>
            </a:r>
          </a:p>
        </p:txBody>
      </p:sp>
      <p:sp>
        <p:nvSpPr>
          <p:cNvPr id="23" name="TextBox 22"/>
          <p:cNvSpPr txBox="1"/>
          <p:nvPr/>
        </p:nvSpPr>
        <p:spPr>
          <a:xfrm>
            <a:off x="9089136" y="1975104"/>
            <a:ext cx="2249424" cy="39319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500" b="1" i="0">
                <a:solidFill>
                  <a:srgbClr val="0F233D"/>
                </a:solidFill>
                <a:latin typeface="Arial"/>
              </a:rPr>
              <a:t>NG00184.v1</a:t>
            </a:r>
          </a:p>
        </p:txBody>
      </p:sp>
      <p:sp>
        <p:nvSpPr>
          <p:cNvPr id="24" name="TextBox 23"/>
          <p:cNvSpPr txBox="1"/>
          <p:nvPr/>
        </p:nvSpPr>
        <p:spPr>
          <a:xfrm>
            <a:off x="9125712" y="2606040"/>
            <a:ext cx="2176272" cy="1389888"/>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040" b="0" i="0">
                <a:solidFill>
                  <a:srgbClr val="2F2F2F"/>
                </a:solidFill>
                <a:latin typeface="Arial"/>
              </a:rPr>
              <a:t>eQTL: RNA amount
sQTL: RNA splicing
pQTL: protein amount
Wider RNA and protein coverage for future comparisons</a:t>
            </a:r>
          </a:p>
        </p:txBody>
      </p:sp>
      <p:sp>
        <p:nvSpPr>
          <p:cNvPr id="25" name="Rounded Rectangle 24"/>
          <p:cNvSpPr/>
          <p:nvPr/>
        </p:nvSpPr>
        <p:spPr>
          <a:xfrm>
            <a:off x="502920" y="4489704"/>
            <a:ext cx="5486400" cy="950976"/>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13232" y="4663440"/>
            <a:ext cx="2560320"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00" b="1" i="0">
                <a:solidFill>
                  <a:srgbClr val="0072B2"/>
                </a:solidFill>
                <a:latin typeface="Arial"/>
              </a:rPr>
              <a:t>APOE PROTEIN FOLLOW-UP (pQTL)</a:t>
            </a:r>
          </a:p>
        </p:txBody>
      </p:sp>
      <p:sp>
        <p:nvSpPr>
          <p:cNvPr id="27" name="TextBox 26"/>
          <p:cNvSpPr txBox="1"/>
          <p:nvPr/>
        </p:nvSpPr>
        <p:spPr>
          <a:xfrm>
            <a:off x="713232" y="4956048"/>
            <a:ext cx="4983480" cy="3383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30" b="0" i="0">
                <a:solidFill>
                  <a:srgbClr val="2F2F2F"/>
                </a:solidFill>
                <a:latin typeface="Arial"/>
              </a:rPr>
              <a:t>NG00130.v2 • 3,506 European samples • spinal-fluid protein data used to follow up APOE after its earlier P values crossed their screening references.</a:t>
            </a:r>
          </a:p>
        </p:txBody>
      </p:sp>
      <p:sp>
        <p:nvSpPr>
          <p:cNvPr id="28" name="Rounded Rectangle 27"/>
          <p:cNvSpPr/>
          <p:nvPr/>
        </p:nvSpPr>
        <p:spPr>
          <a:xfrm>
            <a:off x="6199632" y="4489704"/>
            <a:ext cx="5486400" cy="950976"/>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09944" y="4663440"/>
            <a:ext cx="2103120"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00" b="1" i="0">
                <a:solidFill>
                  <a:srgbClr val="D55E00"/>
                </a:solidFill>
                <a:latin typeface="Arial"/>
              </a:rPr>
              <a:t>RPS15 FOLLOW-UP</a:t>
            </a:r>
          </a:p>
        </p:txBody>
      </p:sp>
      <p:sp>
        <p:nvSpPr>
          <p:cNvPr id="30" name="TextBox 29"/>
          <p:cNvSpPr txBox="1"/>
          <p:nvPr/>
        </p:nvSpPr>
        <p:spPr>
          <a:xfrm>
            <a:off x="6409944" y="4902780"/>
            <a:ext cx="4983480" cy="530915"/>
          </a:xfrm>
          <a:prstGeom prst="rect">
            <a:avLst/>
          </a:prstGeom>
          <a:noFill/>
        </p:spPr>
        <p:txBody>
          <a:bodyPr wrap="square" lIns="27432" tIns="27432" rIns="27432" bIns="27432" anchor="t">
            <a:spAutoFit/>
          </a:bodyPr>
          <a:lstStyle/>
          <a:p>
            <a:r>
              <a:rPr lang="en-US" sz="1030" dirty="0">
                <a:solidFill>
                  <a:srgbClr val="2F2F2F"/>
                </a:solidFill>
                <a:latin typeface="Arial"/>
              </a:rPr>
              <a:t>Three mixed-brain datasets showed RPS15 gene-activity signals. Each was evaluated in two network settings, producing six table rows from three unique findings.</a:t>
            </a:r>
            <a:endParaRPr sz="1030" dirty="0">
              <a:solidFill>
                <a:srgbClr val="2F2F2F"/>
              </a:solidFill>
              <a:latin typeface="Arial"/>
            </a:endParaRPr>
          </a:p>
        </p:txBody>
      </p:sp>
      <p:sp>
        <p:nvSpPr>
          <p:cNvPr id="31" name="Rectangle 30"/>
          <p:cNvSpPr/>
          <p:nvPr/>
        </p:nvSpPr>
        <p:spPr>
          <a:xfrm>
            <a:off x="502920" y="5779008"/>
            <a:ext cx="11183112" cy="502920"/>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502920" y="5779008"/>
            <a:ext cx="91440" cy="502920"/>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31520" y="5870448"/>
            <a:ext cx="10716768" cy="283464"/>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200" b="1" i="0">
                <a:solidFill>
                  <a:srgbClr val="FFFFFF"/>
                </a:solidFill>
                <a:latin typeface="Arial"/>
              </a:rPr>
              <a:t>These resources identified gene-activity leads for APOE and RPS15; matched variant-level data can support the next comparison.</a:t>
            </a:r>
          </a:p>
        </p:txBody>
      </p:sp>
      <p:sp>
        <p:nvSpPr>
          <p:cNvPr id="34" name="TextBox 33"/>
          <p:cNvSpPr txBox="1"/>
          <p:nvPr/>
        </p:nvSpPr>
        <p:spPr>
          <a:xfrm>
            <a:off x="502920" y="6629400"/>
            <a:ext cx="11109960" cy="1280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680" b="0" i="0">
                <a:solidFill>
                  <a:srgbClr val="677484"/>
                </a:solidFill>
                <a:latin typeface="Arial"/>
              </a:rPr>
              <a:t>Source: recovery_dataset_registry.tsv; endophenotype_dataset_registry.tsv; targeted RPS15 audit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512064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50" b="1" i="0">
                <a:solidFill>
                  <a:srgbClr val="0072B2"/>
                </a:solidFill>
                <a:latin typeface="Arial"/>
              </a:rPr>
              <a:t>MAIN RESULT</a:t>
            </a:r>
          </a:p>
        </p:txBody>
      </p:sp>
      <p:sp>
        <p:nvSpPr>
          <p:cNvPr id="3" name="TextBox 2"/>
          <p:cNvSpPr txBox="1"/>
          <p:nvPr/>
        </p:nvSpPr>
        <p:spPr>
          <a:xfrm>
            <a:off x="502920" y="402336"/>
            <a:ext cx="10927080" cy="51206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2450" b="1" i="0">
                <a:solidFill>
                  <a:srgbClr val="0F233D"/>
                </a:solidFill>
                <a:latin typeface="Arial"/>
              </a:rPr>
              <a:t>A step-by-step design organizes evidence and future validation</a:t>
            </a:r>
          </a:p>
        </p:txBody>
      </p:sp>
      <p:sp>
        <p:nvSpPr>
          <p:cNvPr id="4" name="TextBox 3"/>
          <p:cNvSpPr txBox="1"/>
          <p:nvPr/>
        </p:nvSpPr>
        <p:spPr>
          <a:xfrm>
            <a:off x="11356848" y="192024"/>
            <a:ext cx="329184" cy="182880"/>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900" b="1" i="0">
                <a:solidFill>
                  <a:srgbClr val="677484"/>
                </a:solidFill>
                <a:latin typeface="Arial"/>
              </a:rPr>
              <a:t>08</a:t>
            </a:r>
          </a:p>
        </p:txBody>
      </p:sp>
      <p:pic>
        <p:nvPicPr>
          <p:cNvPr id="5" name="Step-by-step workflow for checking public genetic evidence and comparing disease signals with gene-activity signals" descr="Step-by-step workflow for checking public genetic evidence and comparing disease signals with gene-activity signals"/>
          <p:cNvPicPr>
            <a:picLocks noChangeAspect="1"/>
          </p:cNvPicPr>
          <p:nvPr/>
        </p:nvPicPr>
        <p:blipFill>
          <a:blip r:embed="rId3"/>
          <a:stretch>
            <a:fillRect/>
          </a:stretch>
        </p:blipFill>
        <p:spPr>
          <a:xfrm>
            <a:off x="502920" y="1062731"/>
            <a:ext cx="11183112" cy="4238760"/>
          </a:xfrm>
          <a:prstGeom prst="rect">
            <a:avLst/>
          </a:prstGeom>
        </p:spPr>
      </p:pic>
      <p:sp>
        <p:nvSpPr>
          <p:cNvPr id="6" name="Rectangle 5"/>
          <p:cNvSpPr/>
          <p:nvPr/>
        </p:nvSpPr>
        <p:spPr>
          <a:xfrm>
            <a:off x="502920" y="5596128"/>
            <a:ext cx="11183112" cy="502920"/>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02920" y="5596128"/>
            <a:ext cx="91440" cy="502920"/>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5687568"/>
            <a:ext cx="10716768" cy="283464"/>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200" b="1" i="0">
                <a:solidFill>
                  <a:srgbClr val="FFFFFF"/>
                </a:solidFill>
                <a:latin typeface="Arial"/>
              </a:rPr>
              <a:t>Each step adds a layer of evidence; matched variant-level data enable the final same-variant comparison.</a:t>
            </a:r>
          </a:p>
        </p:txBody>
      </p:sp>
      <p:sp>
        <p:nvSpPr>
          <p:cNvPr id="9" name="TextBox 8"/>
          <p:cNvSpPr txBox="1"/>
          <p:nvPr/>
        </p:nvSpPr>
        <p:spPr>
          <a:xfrm>
            <a:off x="502920" y="6629400"/>
            <a:ext cx="11109960" cy="1280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680" b="0" i="0">
                <a:solidFill>
                  <a:srgbClr val="677484"/>
                </a:solidFill>
                <a:latin typeface="Arial"/>
              </a:rPr>
              <a:t>Source: generated workflow package; analysis contracts, registries, and route manifests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94944" y="576072"/>
            <a:ext cx="3291840"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00" b="1" i="0">
                <a:solidFill>
                  <a:srgbClr val="0072B2"/>
                </a:solidFill>
                <a:latin typeface="Arial"/>
              </a:rPr>
              <a:t>SECTION 02</a:t>
            </a:r>
          </a:p>
        </p:txBody>
      </p:sp>
      <p:sp>
        <p:nvSpPr>
          <p:cNvPr id="4" name="Rectangle 3"/>
          <p:cNvSpPr/>
          <p:nvPr/>
        </p:nvSpPr>
        <p:spPr>
          <a:xfrm>
            <a:off x="694944" y="1170432"/>
            <a:ext cx="100584" cy="2066543"/>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60704" y="1243584"/>
            <a:ext cx="7635240" cy="137160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3200" b="1" i="0">
                <a:solidFill>
                  <a:srgbClr val="FFFFFF"/>
                </a:solidFill>
                <a:latin typeface="Arial"/>
              </a:rPr>
              <a:t>Evidence found across the gene list</a:t>
            </a:r>
          </a:p>
        </p:txBody>
      </p:sp>
      <p:sp>
        <p:nvSpPr>
          <p:cNvPr id="6" name="TextBox 5"/>
          <p:cNvSpPr txBox="1"/>
          <p:nvPr/>
        </p:nvSpPr>
        <p:spPr>
          <a:xfrm>
            <a:off x="1078992" y="2907792"/>
            <a:ext cx="7223760" cy="84124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30" b="0" i="0">
                <a:solidFill>
                  <a:srgbClr val="CCDBEA"/>
                </a:solidFill>
                <a:latin typeface="Arial"/>
              </a:rPr>
              <a:t>We summarize all 47 gene–network settings, highlight APOE's multi-dataset support, and identify four additional follow-up leads.</a:t>
            </a:r>
          </a:p>
        </p:txBody>
      </p:sp>
      <p:sp>
        <p:nvSpPr>
          <p:cNvPr id="7" name="TextBox 6"/>
          <p:cNvSpPr txBox="1"/>
          <p:nvPr/>
        </p:nvSpPr>
        <p:spPr>
          <a:xfrm>
            <a:off x="8732520" y="804672"/>
            <a:ext cx="2304288" cy="17556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0400" b="1" i="0">
                <a:solidFill>
                  <a:srgbClr val="1E3B5B"/>
                </a:solidFill>
                <a:latin typeface="Arial"/>
              </a:rPr>
              <a:t>02</a:t>
            </a:r>
          </a:p>
        </p:txBody>
      </p:sp>
      <p:sp>
        <p:nvSpPr>
          <p:cNvPr id="8" name="Oval 7"/>
          <p:cNvSpPr/>
          <p:nvPr/>
        </p:nvSpPr>
        <p:spPr>
          <a:xfrm>
            <a:off x="10634472" y="969264"/>
            <a:ext cx="512064" cy="51206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0040112" y="2679192"/>
            <a:ext cx="256032" cy="256032"/>
          </a:xfrm>
          <a:prstGeom prst="ellipse">
            <a:avLst/>
          </a:prstGeom>
          <a:solidFill>
            <a:srgbClr val="56B4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9966960" y="1938528"/>
            <a:ext cx="1097280" cy="32004"/>
          </a:xfrm>
          <a:prstGeom prst="rect">
            <a:avLst/>
          </a:prstGeom>
          <a:solidFill>
            <a:srgbClr val="6989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0122408" y="1956816"/>
            <a:ext cx="32004" cy="832104"/>
          </a:xfrm>
          <a:prstGeom prst="rect">
            <a:avLst/>
          </a:prstGeom>
          <a:solidFill>
            <a:srgbClr val="6989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13232" y="4270248"/>
            <a:ext cx="1920240" cy="2286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80" b="1" i="0">
                <a:solidFill>
                  <a:srgbClr val="56B4E9"/>
                </a:solidFill>
                <a:latin typeface="Arial"/>
              </a:rPr>
              <a:t>IN THIS SECTION</a:t>
            </a:r>
          </a:p>
        </p:txBody>
      </p:sp>
      <p:sp>
        <p:nvSpPr>
          <p:cNvPr id="13" name="Rounded Rectangle 12"/>
          <p:cNvSpPr/>
          <p:nvPr/>
        </p:nvSpPr>
        <p:spPr>
          <a:xfrm>
            <a:off x="713232" y="4681728"/>
            <a:ext cx="2834640" cy="694944"/>
          </a:xfrm>
          <a:prstGeom prst="roundRect">
            <a:avLst/>
          </a:prstGeom>
          <a:solidFill>
            <a:srgbClr val="1E3B5B"/>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77824" y="4846320"/>
            <a:ext cx="2505456" cy="29260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140" b="1" i="0">
                <a:solidFill>
                  <a:srgbClr val="FFFFFF"/>
                </a:solidFill>
                <a:latin typeface="Arial"/>
              </a:rPr>
              <a:t>All 47 settings</a:t>
            </a:r>
          </a:p>
        </p:txBody>
      </p:sp>
      <p:sp>
        <p:nvSpPr>
          <p:cNvPr id="15" name="Rounded Rectangle 14"/>
          <p:cNvSpPr/>
          <p:nvPr/>
        </p:nvSpPr>
        <p:spPr>
          <a:xfrm>
            <a:off x="3840480" y="4681728"/>
            <a:ext cx="2834640" cy="694944"/>
          </a:xfrm>
          <a:prstGeom prst="roundRect">
            <a:avLst/>
          </a:prstGeom>
          <a:solidFill>
            <a:srgbClr val="1E3B5B"/>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005072" y="4846320"/>
            <a:ext cx="2505456" cy="29260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140" b="1" i="0">
                <a:solidFill>
                  <a:srgbClr val="FFFFFF"/>
                </a:solidFill>
                <a:latin typeface="Arial"/>
              </a:rPr>
              <a:t>APOE across datasets</a:t>
            </a:r>
          </a:p>
        </p:txBody>
      </p:sp>
      <p:sp>
        <p:nvSpPr>
          <p:cNvPr id="17" name="Rounded Rectangle 16"/>
          <p:cNvSpPr/>
          <p:nvPr/>
        </p:nvSpPr>
        <p:spPr>
          <a:xfrm>
            <a:off x="6967728" y="4681728"/>
            <a:ext cx="2834640" cy="694944"/>
          </a:xfrm>
          <a:prstGeom prst="roundRect">
            <a:avLst/>
          </a:prstGeom>
          <a:solidFill>
            <a:srgbClr val="1E3B5B"/>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132320" y="4846320"/>
            <a:ext cx="2505456" cy="29260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140" b="1" i="0">
                <a:solidFill>
                  <a:srgbClr val="FFFFFF"/>
                </a:solidFill>
                <a:latin typeface="Arial"/>
              </a:rPr>
              <a:t>Four focused follow-up leads</a:t>
            </a:r>
          </a:p>
        </p:txBody>
      </p:sp>
      <p:sp>
        <p:nvSpPr>
          <p:cNvPr id="19" name="TextBox 18"/>
          <p:cNvSpPr txBox="1"/>
          <p:nvPr/>
        </p:nvSpPr>
        <p:spPr>
          <a:xfrm>
            <a:off x="11320272" y="310896"/>
            <a:ext cx="384048" cy="201168"/>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900" b="1" i="0">
                <a:solidFill>
                  <a:srgbClr val="91ABC5"/>
                </a:solidFill>
                <a:latin typeface="Arial"/>
              </a:rPr>
              <a:t>09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512064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50" b="1" i="0">
                <a:solidFill>
                  <a:srgbClr val="0072B2"/>
                </a:solidFill>
                <a:latin typeface="Arial"/>
              </a:rPr>
              <a:t>MAIN RESULT</a:t>
            </a:r>
          </a:p>
        </p:txBody>
      </p:sp>
      <p:sp>
        <p:nvSpPr>
          <p:cNvPr id="3" name="TextBox 2"/>
          <p:cNvSpPr txBox="1"/>
          <p:nvPr/>
        </p:nvSpPr>
        <p:spPr>
          <a:xfrm>
            <a:off x="502920" y="402336"/>
            <a:ext cx="10927080" cy="51206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2450" b="1" i="0">
                <a:solidFill>
                  <a:srgbClr val="0F233D"/>
                </a:solidFill>
                <a:latin typeface="Arial"/>
              </a:rPr>
              <a:t>The first public-data screen highlighted APOE, COX7C, and SELENOW</a:t>
            </a:r>
          </a:p>
        </p:txBody>
      </p:sp>
      <p:sp>
        <p:nvSpPr>
          <p:cNvPr id="4" name="TextBox 3"/>
          <p:cNvSpPr txBox="1"/>
          <p:nvPr/>
        </p:nvSpPr>
        <p:spPr>
          <a:xfrm>
            <a:off x="11356848" y="192024"/>
            <a:ext cx="329184" cy="182880"/>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900" b="1" i="0">
                <a:solidFill>
                  <a:srgbClr val="677484"/>
                </a:solidFill>
                <a:latin typeface="Arial"/>
              </a:rPr>
              <a:t>10</a:t>
            </a:r>
          </a:p>
        </p:txBody>
      </p:sp>
      <p:pic>
        <p:nvPicPr>
          <p:cNvPr id="5" name="First-screen scorecard for all 47 gene–network settings" descr="First-screen scorecard for all 47 gene–network settings"/>
          <p:cNvPicPr>
            <a:picLocks noChangeAspect="1"/>
          </p:cNvPicPr>
          <p:nvPr/>
        </p:nvPicPr>
        <p:blipFill>
          <a:blip r:embed="rId3"/>
          <a:stretch>
            <a:fillRect/>
          </a:stretch>
        </p:blipFill>
        <p:spPr>
          <a:xfrm>
            <a:off x="502920" y="1062731"/>
            <a:ext cx="11183112" cy="4238760"/>
          </a:xfrm>
          <a:prstGeom prst="rect">
            <a:avLst/>
          </a:prstGeom>
        </p:spPr>
      </p:pic>
      <p:sp>
        <p:nvSpPr>
          <p:cNvPr id="6" name="Rectangle 5"/>
          <p:cNvSpPr/>
          <p:nvPr/>
        </p:nvSpPr>
        <p:spPr>
          <a:xfrm>
            <a:off x="502920" y="5596128"/>
            <a:ext cx="11183112" cy="502920"/>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02920" y="5596128"/>
            <a:ext cx="91440" cy="502920"/>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5687568"/>
            <a:ext cx="10716768" cy="283464"/>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200" b="1" i="0">
                <a:solidFill>
                  <a:srgbClr val="FFFFFF"/>
                </a:solidFill>
                <a:latin typeface="Arial"/>
              </a:rPr>
              <a:t>This first screen highlighted APOE plus source matches for COX7C and SELENOW; a separate follow-up added RPS15 evidence.</a:t>
            </a:r>
          </a:p>
        </p:txBody>
      </p:sp>
      <p:sp>
        <p:nvSpPr>
          <p:cNvPr id="9" name="TextBox 8"/>
          <p:cNvSpPr txBox="1"/>
          <p:nvPr/>
        </p:nvSpPr>
        <p:spPr>
          <a:xfrm>
            <a:off x="502920" y="6629400"/>
            <a:ext cx="11109960" cy="1280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680" b="0" i="0">
                <a:solidFill>
                  <a:srgbClr val="677484"/>
                </a:solidFill>
                <a:latin typeface="Arial"/>
              </a:rPr>
              <a:t>Source: Tier 1 genetic_support_evidence_summary.tsv and genetic_support_status.tsv</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512064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50" b="1" i="0">
                <a:solidFill>
                  <a:srgbClr val="0072B2"/>
                </a:solidFill>
                <a:latin typeface="Arial"/>
              </a:rPr>
              <a:t>MAIN RESULT</a:t>
            </a:r>
          </a:p>
        </p:txBody>
      </p:sp>
      <p:sp>
        <p:nvSpPr>
          <p:cNvPr id="3" name="TextBox 2"/>
          <p:cNvSpPr txBox="1"/>
          <p:nvPr/>
        </p:nvSpPr>
        <p:spPr>
          <a:xfrm>
            <a:off x="502920" y="402336"/>
            <a:ext cx="10927080" cy="51206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2200" b="1" i="0">
                <a:solidFill>
                  <a:srgbClr val="0F233D"/>
                </a:solidFill>
                <a:latin typeface="Arial"/>
              </a:rPr>
              <a:t>APOE was supported across Alzheimer's disease and all three spinal-fluid markers</a:t>
            </a:r>
          </a:p>
        </p:txBody>
      </p:sp>
      <p:sp>
        <p:nvSpPr>
          <p:cNvPr id="4" name="TextBox 3"/>
          <p:cNvSpPr txBox="1"/>
          <p:nvPr/>
        </p:nvSpPr>
        <p:spPr>
          <a:xfrm>
            <a:off x="11356848" y="192024"/>
            <a:ext cx="329184" cy="182880"/>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900" b="1" i="0">
                <a:solidFill>
                  <a:srgbClr val="677484"/>
                </a:solidFill>
                <a:latin typeface="Arial"/>
              </a:rPr>
              <a:t>11</a:t>
            </a:r>
          </a:p>
        </p:txBody>
      </p:sp>
      <p:pic>
        <p:nvPicPr>
          <p:cNvPr id="5" name="Spinal-fluid marker results showing APOE linked across all three markers" descr="Spinal-fluid marker results showing APOE linked across all three markers"/>
          <p:cNvPicPr>
            <a:picLocks noChangeAspect="1"/>
          </p:cNvPicPr>
          <p:nvPr/>
        </p:nvPicPr>
        <p:blipFill>
          <a:blip r:embed="rId3"/>
          <a:stretch>
            <a:fillRect/>
          </a:stretch>
        </p:blipFill>
        <p:spPr>
          <a:xfrm>
            <a:off x="502920" y="1062731"/>
            <a:ext cx="11183112" cy="4238760"/>
          </a:xfrm>
          <a:prstGeom prst="rect">
            <a:avLst/>
          </a:prstGeom>
        </p:spPr>
      </p:pic>
      <p:sp>
        <p:nvSpPr>
          <p:cNvPr id="6" name="Rectangle 5"/>
          <p:cNvSpPr/>
          <p:nvPr/>
        </p:nvSpPr>
        <p:spPr>
          <a:xfrm>
            <a:off x="502920" y="5596128"/>
            <a:ext cx="11183112" cy="502920"/>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02920" y="5596128"/>
            <a:ext cx="91440" cy="502920"/>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5687568"/>
            <a:ext cx="10716768" cy="283464"/>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200" b="1" i="0">
                <a:solidFill>
                  <a:srgbClr val="FFFFFF"/>
                </a:solidFill>
                <a:latin typeface="Arial"/>
              </a:rPr>
              <a:t>APOE crossed both the nearby-region and gene-based screening references for amyloid-β42, total tau, and p-tau181.</a:t>
            </a:r>
          </a:p>
        </p:txBody>
      </p:sp>
      <p:sp>
        <p:nvSpPr>
          <p:cNvPr id="9" name="TextBox 8"/>
          <p:cNvSpPr txBox="1"/>
          <p:nvPr/>
        </p:nvSpPr>
        <p:spPr>
          <a:xfrm>
            <a:off x="502920" y="6629400"/>
            <a:ext cx="11109960" cy="1280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680" b="0" i="0">
                <a:solidFill>
                  <a:srgbClr val="677484"/>
                </a:solidFill>
                <a:latin typeface="Arial"/>
              </a:rPr>
              <a:t>Source: CSF endophenotype_gate_decisions.tsv and MAGMA candidate-gene results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512064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50" b="1" i="0">
                <a:solidFill>
                  <a:srgbClr val="E69F00"/>
                </a:solidFill>
                <a:latin typeface="Arial"/>
              </a:rPr>
              <a:t>MAIN RESULT</a:t>
            </a:r>
          </a:p>
        </p:txBody>
      </p:sp>
      <p:sp>
        <p:nvSpPr>
          <p:cNvPr id="3" name="TextBox 2"/>
          <p:cNvSpPr txBox="1"/>
          <p:nvPr/>
        </p:nvSpPr>
        <p:spPr>
          <a:xfrm>
            <a:off x="502920" y="402336"/>
            <a:ext cx="10927080" cy="51206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2450" b="1" i="0">
                <a:solidFill>
                  <a:srgbClr val="0F233D"/>
                </a:solidFill>
                <a:latin typeface="Arial"/>
              </a:rPr>
              <a:t>Four additional genes provide specific signals for focused validation</a:t>
            </a:r>
          </a:p>
        </p:txBody>
      </p:sp>
      <p:sp>
        <p:nvSpPr>
          <p:cNvPr id="4" name="TextBox 3"/>
          <p:cNvSpPr txBox="1"/>
          <p:nvPr/>
        </p:nvSpPr>
        <p:spPr>
          <a:xfrm>
            <a:off x="11356848" y="192024"/>
            <a:ext cx="329184" cy="182880"/>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900" b="1" i="0">
                <a:solidFill>
                  <a:srgbClr val="677484"/>
                </a:solidFill>
                <a:latin typeface="Arial"/>
              </a:rPr>
              <a:t>12</a:t>
            </a:r>
          </a:p>
        </p:txBody>
      </p:sp>
      <p:pic>
        <p:nvPicPr>
          <p:cNvPr id="5" name="Evidence summaries for COX7C, SELENOW, RPS15, and ANKRD11" descr="Evidence summaries for COX7C, SELENOW, RPS15, and ANKRD11"/>
          <p:cNvPicPr>
            <a:picLocks noChangeAspect="1"/>
          </p:cNvPicPr>
          <p:nvPr/>
        </p:nvPicPr>
        <p:blipFill>
          <a:blip r:embed="rId3"/>
          <a:stretch>
            <a:fillRect/>
          </a:stretch>
        </p:blipFill>
        <p:spPr>
          <a:xfrm>
            <a:off x="502920" y="1062731"/>
            <a:ext cx="11183112" cy="4238760"/>
          </a:xfrm>
          <a:prstGeom prst="rect">
            <a:avLst/>
          </a:prstGeom>
        </p:spPr>
      </p:pic>
      <p:sp>
        <p:nvSpPr>
          <p:cNvPr id="6" name="Rectangle 5"/>
          <p:cNvSpPr/>
          <p:nvPr/>
        </p:nvSpPr>
        <p:spPr>
          <a:xfrm>
            <a:off x="502920" y="5596128"/>
            <a:ext cx="11183112" cy="502920"/>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02920" y="5596128"/>
            <a:ext cx="91440" cy="502920"/>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5616934"/>
            <a:ext cx="10716768" cy="424732"/>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lang="en-US" sz="1200" b="1" dirty="0">
                <a:solidFill>
                  <a:srgbClr val="FFFFFF"/>
                </a:solidFill>
                <a:latin typeface="Arial"/>
              </a:rPr>
              <a:t>Clinical AD GWAS anchors each result; gene-activity datasets provide gene-level follow-up</a:t>
            </a:r>
          </a:p>
          <a:p>
            <a:pPr algn="ctr">
              <a:lnSpc>
                <a:spcPct val="100000"/>
              </a:lnSpc>
              <a:spcBef>
                <a:spcPts val="0"/>
              </a:spcBef>
              <a:spcAft>
                <a:spcPts val="0"/>
              </a:spcAft>
            </a:pPr>
            <a:r>
              <a:rPr sz="1200" b="1" i="0" dirty="0">
                <a:solidFill>
                  <a:srgbClr val="FFFFFF"/>
                </a:solidFill>
                <a:latin typeface="Arial"/>
              </a:rPr>
              <a:t>COX7C and SELENOW had public gene-level records; COX7C, RPS15, and ANKRD11 also had notable nearby-region P values.</a:t>
            </a:r>
          </a:p>
        </p:txBody>
      </p:sp>
      <p:sp>
        <p:nvSpPr>
          <p:cNvPr id="9" name="TextBox 8"/>
          <p:cNvSpPr txBox="1"/>
          <p:nvPr/>
        </p:nvSpPr>
        <p:spPr>
          <a:xfrm>
            <a:off x="502920" y="6629400"/>
            <a:ext cx="11109960" cy="1280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680" b="0" i="0">
                <a:solidFill>
                  <a:srgbClr val="677484"/>
                </a:solidFill>
                <a:latin typeface="Arial"/>
              </a:rPr>
              <a:t>Source: generated non-APOE plot data; Tier 1, recovery, RPS15 audit, and CSF result bundles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512064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50" b="1" i="0">
                <a:solidFill>
                  <a:srgbClr val="D55E00"/>
                </a:solidFill>
                <a:latin typeface="Arial"/>
              </a:rPr>
              <a:t>MAIN RESULT</a:t>
            </a:r>
          </a:p>
        </p:txBody>
      </p:sp>
      <p:sp>
        <p:nvSpPr>
          <p:cNvPr id="3" name="TextBox 2"/>
          <p:cNvSpPr txBox="1"/>
          <p:nvPr/>
        </p:nvSpPr>
        <p:spPr>
          <a:xfrm>
            <a:off x="502920" y="402336"/>
            <a:ext cx="10927080" cy="51206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2200" b="1" i="0">
                <a:solidFill>
                  <a:srgbClr val="0F233D"/>
                </a:solidFill>
                <a:latin typeface="Arial"/>
              </a:rPr>
              <a:t>The 54 planned comparisons map clear next steps for same-variant testing</a:t>
            </a:r>
          </a:p>
        </p:txBody>
      </p:sp>
      <p:sp>
        <p:nvSpPr>
          <p:cNvPr id="4" name="TextBox 3"/>
          <p:cNvSpPr txBox="1"/>
          <p:nvPr/>
        </p:nvSpPr>
        <p:spPr>
          <a:xfrm>
            <a:off x="11356848" y="192024"/>
            <a:ext cx="329184" cy="182880"/>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900" b="1" i="0">
                <a:solidFill>
                  <a:srgbClr val="677484"/>
                </a:solidFill>
                <a:latin typeface="Arial"/>
              </a:rPr>
              <a:t>13</a:t>
            </a:r>
          </a:p>
        </p:txBody>
      </p:sp>
      <p:pic>
        <p:nvPicPr>
          <p:cNvPr id="5" name="Status summary for 54 planned gene-activity comparisons, including two routes with both disease-region and gene-activity signals" descr="Status summary for 54 planned gene-activity comparisons, including two routes with both disease-region and gene-activity signals"/>
          <p:cNvPicPr>
            <a:picLocks noChangeAspect="1"/>
          </p:cNvPicPr>
          <p:nvPr/>
        </p:nvPicPr>
        <p:blipFill>
          <a:blip r:embed="rId3"/>
          <a:stretch>
            <a:fillRect/>
          </a:stretch>
        </p:blipFill>
        <p:spPr>
          <a:xfrm>
            <a:off x="502920" y="1062731"/>
            <a:ext cx="11183112" cy="4238760"/>
          </a:xfrm>
          <a:prstGeom prst="rect">
            <a:avLst/>
          </a:prstGeom>
        </p:spPr>
      </p:pic>
      <p:sp>
        <p:nvSpPr>
          <p:cNvPr id="6" name="Rectangle 5"/>
          <p:cNvSpPr/>
          <p:nvPr/>
        </p:nvSpPr>
        <p:spPr>
          <a:xfrm>
            <a:off x="502920" y="5596128"/>
            <a:ext cx="11183112" cy="502920"/>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02920" y="5596128"/>
            <a:ext cx="91440" cy="502920"/>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5687568"/>
            <a:ext cx="10716768" cy="283464"/>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200" b="1" i="0" dirty="0">
                <a:solidFill>
                  <a:srgbClr val="FFFFFF"/>
                </a:solidFill>
                <a:latin typeface="Arial"/>
              </a:rPr>
              <a:t>APOE and OPC RPS15 had both nearby-AD and mixed-brain gene-activity signals, making them priorities for same-variant testing.</a:t>
            </a:r>
          </a:p>
        </p:txBody>
      </p:sp>
      <p:sp>
        <p:nvSpPr>
          <p:cNvPr id="9" name="TextBox 8"/>
          <p:cNvSpPr txBox="1"/>
          <p:nvPr/>
        </p:nvSpPr>
        <p:spPr>
          <a:xfrm>
            <a:off x="502920" y="6629400"/>
            <a:ext cx="11109960" cy="1280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680" b="0" i="0">
                <a:solidFill>
                  <a:srgbClr val="677484"/>
                </a:solidFill>
                <a:latin typeface="Arial"/>
              </a:rPr>
              <a:t>Source: Tier 2 recovery_route_decisions.tsv and header-only recovery_colocalization.tsv.gz</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94944" y="576072"/>
            <a:ext cx="3291840"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00" b="1" i="0">
                <a:solidFill>
                  <a:srgbClr val="D55E00"/>
                </a:solidFill>
                <a:latin typeface="Arial"/>
              </a:rPr>
              <a:t>SECTION 03</a:t>
            </a:r>
          </a:p>
        </p:txBody>
      </p:sp>
      <p:sp>
        <p:nvSpPr>
          <p:cNvPr id="4" name="Rectangle 3"/>
          <p:cNvSpPr/>
          <p:nvPr/>
        </p:nvSpPr>
        <p:spPr>
          <a:xfrm>
            <a:off x="694944" y="1170432"/>
            <a:ext cx="100584" cy="2066543"/>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60704" y="1243584"/>
            <a:ext cx="7635240" cy="137160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3200" b="1" i="0">
                <a:solidFill>
                  <a:srgbClr val="FFFFFF"/>
                </a:solidFill>
                <a:latin typeface="Arial"/>
              </a:rPr>
              <a:t>How the evidence guides future validation</a:t>
            </a:r>
          </a:p>
        </p:txBody>
      </p:sp>
      <p:sp>
        <p:nvSpPr>
          <p:cNvPr id="6" name="TextBox 5"/>
          <p:cNvSpPr txBox="1"/>
          <p:nvPr/>
        </p:nvSpPr>
        <p:spPr>
          <a:xfrm>
            <a:off x="1078992" y="2907792"/>
            <a:ext cx="7223760" cy="84124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30" b="0" i="0">
                <a:solidFill>
                  <a:srgbClr val="CCDBEA"/>
                </a:solidFill>
                <a:latin typeface="Arial"/>
              </a:rPr>
              <a:t>Exact P values and clear test-status labels turn the current evidence into a focused validation plan.</a:t>
            </a:r>
          </a:p>
        </p:txBody>
      </p:sp>
      <p:sp>
        <p:nvSpPr>
          <p:cNvPr id="7" name="TextBox 6"/>
          <p:cNvSpPr txBox="1"/>
          <p:nvPr/>
        </p:nvSpPr>
        <p:spPr>
          <a:xfrm>
            <a:off x="8732520" y="804672"/>
            <a:ext cx="2304288" cy="17556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0400" b="1" i="0">
                <a:solidFill>
                  <a:srgbClr val="1E3B5B"/>
                </a:solidFill>
                <a:latin typeface="Arial"/>
              </a:rPr>
              <a:t>03</a:t>
            </a:r>
          </a:p>
        </p:txBody>
      </p:sp>
      <p:sp>
        <p:nvSpPr>
          <p:cNvPr id="8" name="Oval 7"/>
          <p:cNvSpPr/>
          <p:nvPr/>
        </p:nvSpPr>
        <p:spPr>
          <a:xfrm>
            <a:off x="10634472" y="969264"/>
            <a:ext cx="512064" cy="51206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0040112" y="2679192"/>
            <a:ext cx="256032" cy="256032"/>
          </a:xfrm>
          <a:prstGeom prst="ellipse">
            <a:avLst/>
          </a:prstGeom>
          <a:solidFill>
            <a:srgbClr val="56B4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9966960" y="1938528"/>
            <a:ext cx="1097280" cy="32004"/>
          </a:xfrm>
          <a:prstGeom prst="rect">
            <a:avLst/>
          </a:prstGeom>
          <a:solidFill>
            <a:srgbClr val="6989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0122408" y="1956816"/>
            <a:ext cx="32004" cy="832104"/>
          </a:xfrm>
          <a:prstGeom prst="rect">
            <a:avLst/>
          </a:prstGeom>
          <a:solidFill>
            <a:srgbClr val="6989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13232" y="4270248"/>
            <a:ext cx="1920240" cy="2286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80" b="1" i="0">
                <a:solidFill>
                  <a:srgbClr val="56B4E9"/>
                </a:solidFill>
                <a:latin typeface="Arial"/>
              </a:rPr>
              <a:t>IN THIS SECTION</a:t>
            </a:r>
          </a:p>
        </p:txBody>
      </p:sp>
      <p:sp>
        <p:nvSpPr>
          <p:cNvPr id="13" name="Rounded Rectangle 12"/>
          <p:cNvSpPr/>
          <p:nvPr/>
        </p:nvSpPr>
        <p:spPr>
          <a:xfrm>
            <a:off x="713232" y="4681728"/>
            <a:ext cx="2834640" cy="694944"/>
          </a:xfrm>
          <a:prstGeom prst="roundRect">
            <a:avLst/>
          </a:prstGeom>
          <a:solidFill>
            <a:srgbClr val="1E3B5B"/>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77824" y="4846320"/>
            <a:ext cx="2505456" cy="29260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140" b="1" i="0">
                <a:solidFill>
                  <a:srgbClr val="FFFFFF"/>
                </a:solidFill>
                <a:latin typeface="Arial"/>
              </a:rPr>
              <a:t>What the P values show</a:t>
            </a:r>
          </a:p>
        </p:txBody>
      </p:sp>
      <p:sp>
        <p:nvSpPr>
          <p:cNvPr id="15" name="Rounded Rectangle 14"/>
          <p:cNvSpPr/>
          <p:nvPr/>
        </p:nvSpPr>
        <p:spPr>
          <a:xfrm>
            <a:off x="3840480" y="4681728"/>
            <a:ext cx="2834640" cy="694944"/>
          </a:xfrm>
          <a:prstGeom prst="roundRect">
            <a:avLst/>
          </a:prstGeom>
          <a:solidFill>
            <a:srgbClr val="1E3B5B"/>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005072" y="4846320"/>
            <a:ext cx="2505456" cy="29260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140" b="1" i="0">
                <a:solidFill>
                  <a:srgbClr val="FFFFFF"/>
                </a:solidFill>
                <a:latin typeface="Arial"/>
              </a:rPr>
              <a:t>What current data support</a:t>
            </a:r>
          </a:p>
        </p:txBody>
      </p:sp>
      <p:sp>
        <p:nvSpPr>
          <p:cNvPr id="17" name="Rounded Rectangle 16"/>
          <p:cNvSpPr/>
          <p:nvPr/>
        </p:nvSpPr>
        <p:spPr>
          <a:xfrm>
            <a:off x="6967728" y="4681728"/>
            <a:ext cx="2834640" cy="694944"/>
          </a:xfrm>
          <a:prstGeom prst="roundRect">
            <a:avLst/>
          </a:prstGeom>
          <a:solidFill>
            <a:srgbClr val="1E3B5B"/>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132320" y="4846320"/>
            <a:ext cx="2505456" cy="29260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140" b="1" i="0">
                <a:solidFill>
                  <a:srgbClr val="FFFFFF"/>
                </a:solidFill>
                <a:latin typeface="Arial"/>
              </a:rPr>
              <a:t>Next validation steps</a:t>
            </a:r>
          </a:p>
        </p:txBody>
      </p:sp>
      <p:sp>
        <p:nvSpPr>
          <p:cNvPr id="19" name="TextBox 18"/>
          <p:cNvSpPr txBox="1"/>
          <p:nvPr/>
        </p:nvSpPr>
        <p:spPr>
          <a:xfrm>
            <a:off x="11320272" y="310896"/>
            <a:ext cx="384048" cy="201168"/>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900" b="1" i="0">
                <a:solidFill>
                  <a:srgbClr val="91ABC5"/>
                </a:solidFill>
                <a:latin typeface="Arial"/>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512064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50" b="1" i="0">
                <a:solidFill>
                  <a:srgbClr val="D55E00"/>
                </a:solidFill>
                <a:latin typeface="Arial"/>
              </a:rPr>
              <a:t>INTERPRETATION</a:t>
            </a:r>
          </a:p>
        </p:txBody>
      </p:sp>
      <p:sp>
        <p:nvSpPr>
          <p:cNvPr id="3" name="TextBox 2"/>
          <p:cNvSpPr txBox="1"/>
          <p:nvPr/>
        </p:nvSpPr>
        <p:spPr>
          <a:xfrm>
            <a:off x="502920" y="402336"/>
            <a:ext cx="10927080" cy="51206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2450" b="1" i="0">
                <a:solidFill>
                  <a:srgbClr val="0F233D"/>
                </a:solidFill>
                <a:latin typeface="Arial"/>
              </a:rPr>
              <a:t>Exact P values and data coverage guide the next analyses</a:t>
            </a:r>
          </a:p>
        </p:txBody>
      </p:sp>
      <p:sp>
        <p:nvSpPr>
          <p:cNvPr id="4" name="TextBox 3"/>
          <p:cNvSpPr txBox="1"/>
          <p:nvPr/>
        </p:nvSpPr>
        <p:spPr>
          <a:xfrm>
            <a:off x="11356848" y="192024"/>
            <a:ext cx="329184" cy="182880"/>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900" b="1" i="0">
                <a:solidFill>
                  <a:srgbClr val="677484"/>
                </a:solidFill>
                <a:latin typeface="Arial"/>
              </a:rPr>
              <a:t>15</a:t>
            </a:r>
          </a:p>
        </p:txBody>
      </p:sp>
      <p:sp>
        <p:nvSpPr>
          <p:cNvPr id="5" name="Rounded Rectangle 4"/>
          <p:cNvSpPr/>
          <p:nvPr/>
        </p:nvSpPr>
        <p:spPr>
          <a:xfrm>
            <a:off x="640080" y="1298448"/>
            <a:ext cx="3502152" cy="4343400"/>
          </a:xfrm>
          <a:prstGeom prst="roundRect">
            <a:avLst/>
          </a:prstGeom>
          <a:solidFill>
            <a:srgbClr val="FFFFFF"/>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1298448"/>
            <a:ext cx="3502152" cy="731520"/>
          </a:xfrm>
          <a:prstGeom prst="rect">
            <a:avLst/>
          </a:prstGeom>
          <a:solidFill>
            <a:srgbClr val="E6F2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41247" y="1444751"/>
            <a:ext cx="411480" cy="347472"/>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600" b="1" i="0">
                <a:solidFill>
                  <a:srgbClr val="0072B2"/>
                </a:solidFill>
                <a:latin typeface="Arial"/>
              </a:rPr>
              <a:t>01</a:t>
            </a:r>
          </a:p>
        </p:txBody>
      </p:sp>
      <p:sp>
        <p:nvSpPr>
          <p:cNvPr id="8" name="TextBox 7"/>
          <p:cNvSpPr txBox="1"/>
          <p:nvPr/>
        </p:nvSpPr>
        <p:spPr>
          <a:xfrm>
            <a:off x="1316736" y="1417319"/>
            <a:ext cx="2624328" cy="42062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700" b="1" i="0">
                <a:solidFill>
                  <a:srgbClr val="0F233D"/>
                </a:solidFill>
                <a:latin typeface="Arial"/>
              </a:rPr>
              <a:t>Exact P values for all 19 regions</a:t>
            </a:r>
          </a:p>
        </p:txBody>
      </p:sp>
      <p:sp>
        <p:nvSpPr>
          <p:cNvPr id="9" name="TextBox 8"/>
          <p:cNvSpPr txBox="1"/>
          <p:nvPr/>
        </p:nvSpPr>
        <p:spPr>
          <a:xfrm>
            <a:off x="886968" y="2322576"/>
            <a:ext cx="3008376" cy="30632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0" i="0">
                <a:solidFill>
                  <a:srgbClr val="2F2F2F"/>
                </a:solidFill>
                <a:latin typeface="Arial"/>
              </a:rPr>
              <a:t>All 19 regions have a reported minimum P value. ANKRD11, APOE, COX7C, and RPS15 were below the conservative 5×10⁻⁸ reference.
The other 15 ranged from 2.929×10⁻⁶ to 2.931×10⁻⁴; every value is in the appendix.
5×10⁻⁸ ≈ 0.05 ÷ 1,000,000 tests.</a:t>
            </a:r>
          </a:p>
        </p:txBody>
      </p:sp>
      <p:sp>
        <p:nvSpPr>
          <p:cNvPr id="10" name="Rounded Rectangle 9"/>
          <p:cNvSpPr/>
          <p:nvPr/>
        </p:nvSpPr>
        <p:spPr>
          <a:xfrm>
            <a:off x="4389120" y="1298448"/>
            <a:ext cx="3502152" cy="4343400"/>
          </a:xfrm>
          <a:prstGeom prst="roundRect">
            <a:avLst/>
          </a:prstGeom>
          <a:solidFill>
            <a:srgbClr val="FFFFFF"/>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89120" y="1298448"/>
            <a:ext cx="3502152" cy="731520"/>
          </a:xfrm>
          <a:prstGeom prst="rect">
            <a:avLst/>
          </a:prstGeom>
          <a:solidFill>
            <a:srgbClr val="E5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90288" y="1444751"/>
            <a:ext cx="411480" cy="347472"/>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600" b="1" i="0">
                <a:solidFill>
                  <a:srgbClr val="009E73"/>
                </a:solidFill>
                <a:latin typeface="Arial"/>
              </a:rPr>
              <a:t>02</a:t>
            </a:r>
          </a:p>
        </p:txBody>
      </p:sp>
      <p:sp>
        <p:nvSpPr>
          <p:cNvPr id="13" name="TextBox 12"/>
          <p:cNvSpPr txBox="1"/>
          <p:nvPr/>
        </p:nvSpPr>
        <p:spPr>
          <a:xfrm>
            <a:off x="5065776" y="1417319"/>
            <a:ext cx="2624328" cy="42062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700" b="1" i="0">
                <a:solidFill>
                  <a:srgbClr val="0F233D"/>
                </a:solidFill>
                <a:latin typeface="Arial"/>
              </a:rPr>
              <a:t>Two priority same-variant tests</a:t>
            </a:r>
          </a:p>
        </p:txBody>
      </p:sp>
      <p:sp>
        <p:nvSpPr>
          <p:cNvPr id="14" name="TextBox 13"/>
          <p:cNvSpPr txBox="1"/>
          <p:nvPr/>
        </p:nvSpPr>
        <p:spPr>
          <a:xfrm>
            <a:off x="4636008" y="2322576"/>
            <a:ext cx="3008376" cy="30632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0" i="0">
                <a:solidFill>
                  <a:srgbClr val="2F2F2F"/>
                </a:solidFill>
                <a:latin typeface="Arial"/>
              </a:rPr>
              <a:t>APOE and one OPC RPS15 comparison had both a nearby Alzheimer's signal and a mixed-brain gene-activity signal.
Complete variant-level gene-activity files and matched DNA-reference data can test whether the same variant contributes to both.</a:t>
            </a:r>
          </a:p>
        </p:txBody>
      </p:sp>
      <p:sp>
        <p:nvSpPr>
          <p:cNvPr id="15" name="Rounded Rectangle 14"/>
          <p:cNvSpPr/>
          <p:nvPr/>
        </p:nvSpPr>
        <p:spPr>
          <a:xfrm>
            <a:off x="8138159" y="1298448"/>
            <a:ext cx="3502152" cy="4343400"/>
          </a:xfrm>
          <a:prstGeom prst="roundRect">
            <a:avLst/>
          </a:prstGeom>
          <a:solidFill>
            <a:srgbClr val="FFFFFF"/>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138159" y="1298448"/>
            <a:ext cx="3502152" cy="73152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39327" y="1444751"/>
            <a:ext cx="411480" cy="347472"/>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600" b="1" i="0">
                <a:solidFill>
                  <a:srgbClr val="7E4C9A"/>
                </a:solidFill>
                <a:latin typeface="Arial"/>
              </a:rPr>
              <a:t>03</a:t>
            </a:r>
          </a:p>
        </p:txBody>
      </p:sp>
      <p:sp>
        <p:nvSpPr>
          <p:cNvPr id="18" name="TextBox 17"/>
          <p:cNvSpPr txBox="1"/>
          <p:nvPr/>
        </p:nvSpPr>
        <p:spPr>
          <a:xfrm>
            <a:off x="8814815" y="1417319"/>
            <a:ext cx="2624328" cy="42062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700" b="1" i="0">
                <a:solidFill>
                  <a:srgbClr val="0F233D"/>
                </a:solidFill>
                <a:latin typeface="Arial"/>
              </a:rPr>
              <a:t>More genetic routes to explore</a:t>
            </a:r>
          </a:p>
        </p:txBody>
      </p:sp>
      <p:sp>
        <p:nvSpPr>
          <p:cNvPr id="19" name="TextBox 18"/>
          <p:cNvSpPr txBox="1"/>
          <p:nvPr/>
        </p:nvSpPr>
        <p:spPr>
          <a:xfrm>
            <a:off x="8385047" y="2322576"/>
            <a:ext cx="3008376" cy="30632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0" i="0" dirty="0">
                <a:solidFill>
                  <a:srgbClr val="2F2F2F"/>
                </a:solidFill>
                <a:latin typeface="Arial"/>
              </a:rPr>
              <a:t>Mitochondrial DNA, rare or large DNA changes, distant gene control, gene interactions, disease timing, and changes after RNA is made offer complementary directions for future validation.</a:t>
            </a:r>
          </a:p>
        </p:txBody>
      </p:sp>
      <p:sp>
        <p:nvSpPr>
          <p:cNvPr id="20" name="Rectangle 19"/>
          <p:cNvSpPr/>
          <p:nvPr/>
        </p:nvSpPr>
        <p:spPr>
          <a:xfrm>
            <a:off x="502920" y="5852160"/>
            <a:ext cx="11183112" cy="502920"/>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02920" y="5852160"/>
            <a:ext cx="91440" cy="502920"/>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31520" y="5943600"/>
            <a:ext cx="10716768" cy="283464"/>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200" b="1" i="0">
                <a:solidFill>
                  <a:srgbClr val="FFFFFF"/>
                </a:solidFill>
                <a:latin typeface="Arial"/>
              </a:rPr>
              <a:t>The exact P values provide a transparent baseline; APOE and RPS15 offer the clearest next same-variant tests.</a:t>
            </a:r>
          </a:p>
        </p:txBody>
      </p:sp>
      <p:sp>
        <p:nvSpPr>
          <p:cNvPr id="23" name="TextBox 22"/>
          <p:cNvSpPr txBox="1"/>
          <p:nvPr/>
        </p:nvSpPr>
        <p:spPr>
          <a:xfrm>
            <a:off x="502920" y="6629400"/>
            <a:ext cx="11109960" cy="1280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680" b="0" i="0">
                <a:solidFill>
                  <a:srgbClr val="677484"/>
                </a:solidFill>
                <a:latin typeface="Arial"/>
              </a:rPr>
              <a:t>Source: recovery_regional_gwas_summary.tsv; CSF gate decisions; Tier 1 mtDNA evidence states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512064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50" b="1" i="0">
                <a:solidFill>
                  <a:srgbClr val="009E73"/>
                </a:solidFill>
                <a:latin typeface="Arial"/>
              </a:rPr>
              <a:t>FUTURE VALIDATION</a:t>
            </a:r>
          </a:p>
        </p:txBody>
      </p:sp>
      <p:sp>
        <p:nvSpPr>
          <p:cNvPr id="3" name="TextBox 2"/>
          <p:cNvSpPr txBox="1"/>
          <p:nvPr/>
        </p:nvSpPr>
        <p:spPr>
          <a:xfrm>
            <a:off x="502920" y="402336"/>
            <a:ext cx="10927080" cy="51206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2200" b="1" i="0">
                <a:solidFill>
                  <a:srgbClr val="0F233D"/>
                </a:solidFill>
                <a:latin typeface="Arial"/>
              </a:rPr>
              <a:t>The current study provides a focused foundation for broader validation</a:t>
            </a:r>
          </a:p>
        </p:txBody>
      </p:sp>
      <p:sp>
        <p:nvSpPr>
          <p:cNvPr id="4" name="TextBox 3"/>
          <p:cNvSpPr txBox="1"/>
          <p:nvPr/>
        </p:nvSpPr>
        <p:spPr>
          <a:xfrm>
            <a:off x="11356848" y="192024"/>
            <a:ext cx="329184" cy="182880"/>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900" b="1" i="0">
                <a:solidFill>
                  <a:srgbClr val="677484"/>
                </a:solidFill>
                <a:latin typeface="Arial"/>
              </a:rPr>
              <a:t>16</a:t>
            </a:r>
          </a:p>
        </p:txBody>
      </p:sp>
      <p:sp>
        <p:nvSpPr>
          <p:cNvPr id="5" name="Rounded Rectangle 4"/>
          <p:cNvSpPr/>
          <p:nvPr/>
        </p:nvSpPr>
        <p:spPr>
          <a:xfrm>
            <a:off x="621792" y="1280160"/>
            <a:ext cx="5330952" cy="1847088"/>
          </a:xfrm>
          <a:prstGeom prst="roundRect">
            <a:avLst/>
          </a:prstGeom>
          <a:solidFill>
            <a:srgbClr val="FFFFFF"/>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21792" y="1280160"/>
            <a:ext cx="91440" cy="1847088"/>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1481328"/>
            <a:ext cx="502920" cy="27432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400" b="1" i="0">
                <a:solidFill>
                  <a:srgbClr val="009E73"/>
                </a:solidFill>
                <a:latin typeface="Arial"/>
              </a:rPr>
              <a:t>01</a:t>
            </a:r>
          </a:p>
        </p:txBody>
      </p:sp>
      <p:sp>
        <p:nvSpPr>
          <p:cNvPr id="8" name="TextBox 7"/>
          <p:cNvSpPr txBox="1"/>
          <p:nvPr/>
        </p:nvSpPr>
        <p:spPr>
          <a:xfrm>
            <a:off x="1499616" y="1463039"/>
            <a:ext cx="4096512"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650" b="1" i="0">
                <a:solidFill>
                  <a:srgbClr val="0F233D"/>
                </a:solidFill>
                <a:latin typeface="Arial"/>
              </a:rPr>
              <a:t>Complete same-variant tests</a:t>
            </a:r>
          </a:p>
        </p:txBody>
      </p:sp>
      <p:sp>
        <p:nvSpPr>
          <p:cNvPr id="9" name="TextBox 8"/>
          <p:cNvSpPr txBox="1"/>
          <p:nvPr/>
        </p:nvSpPr>
        <p:spPr>
          <a:xfrm>
            <a:off x="1499616" y="1993391"/>
            <a:ext cx="4069080" cy="85953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60" b="0" i="0">
                <a:solidFill>
                  <a:srgbClr val="2F2F2F"/>
                </a:solidFill>
                <a:latin typeface="Arial"/>
              </a:rPr>
              <a:t>APOE and RPS15 are priority targets for complete gene-activity and matched DNA-reference datasets.</a:t>
            </a:r>
          </a:p>
        </p:txBody>
      </p:sp>
      <p:sp>
        <p:nvSpPr>
          <p:cNvPr id="10" name="Rounded Rectangle 9"/>
          <p:cNvSpPr/>
          <p:nvPr/>
        </p:nvSpPr>
        <p:spPr>
          <a:xfrm>
            <a:off x="6217920" y="1280160"/>
            <a:ext cx="5330952" cy="1847088"/>
          </a:xfrm>
          <a:prstGeom prst="roundRect">
            <a:avLst/>
          </a:prstGeom>
          <a:solidFill>
            <a:srgbClr val="FFFFFF"/>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17920" y="1280160"/>
            <a:ext cx="91440" cy="1847088"/>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64808" y="1481328"/>
            <a:ext cx="502920" cy="27432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400" b="1" i="0">
                <a:solidFill>
                  <a:srgbClr val="E69F00"/>
                </a:solidFill>
                <a:latin typeface="Arial"/>
              </a:rPr>
              <a:t>02</a:t>
            </a:r>
          </a:p>
        </p:txBody>
      </p:sp>
      <p:sp>
        <p:nvSpPr>
          <p:cNvPr id="13" name="TextBox 12"/>
          <p:cNvSpPr txBox="1"/>
          <p:nvPr/>
        </p:nvSpPr>
        <p:spPr>
          <a:xfrm>
            <a:off x="7095744" y="1463039"/>
            <a:ext cx="4096512"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650" b="1" i="0">
                <a:solidFill>
                  <a:srgbClr val="0F233D"/>
                </a:solidFill>
                <a:latin typeface="Arial"/>
              </a:rPr>
              <a:t>Larger cell-specific studies</a:t>
            </a:r>
          </a:p>
        </p:txBody>
      </p:sp>
      <p:sp>
        <p:nvSpPr>
          <p:cNvPr id="14" name="TextBox 13"/>
          <p:cNvSpPr txBox="1"/>
          <p:nvPr/>
        </p:nvSpPr>
        <p:spPr>
          <a:xfrm>
            <a:off x="7095744" y="1993391"/>
            <a:ext cx="4069080" cy="85953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60" b="0" i="0">
                <a:solidFill>
                  <a:srgbClr val="2F2F2F"/>
                </a:solidFill>
                <a:latin typeface="Arial"/>
              </a:rPr>
              <a:t>Larger studies of astrocytes, OPCs, neurons, and microglia can test the gene-activity leads in the cell settings identified by the network analysis.</a:t>
            </a:r>
          </a:p>
        </p:txBody>
      </p:sp>
      <p:sp>
        <p:nvSpPr>
          <p:cNvPr id="15" name="Rounded Rectangle 14"/>
          <p:cNvSpPr/>
          <p:nvPr/>
        </p:nvSpPr>
        <p:spPr>
          <a:xfrm>
            <a:off x="621792" y="3410712"/>
            <a:ext cx="5330952" cy="1847088"/>
          </a:xfrm>
          <a:prstGeom prst="roundRect">
            <a:avLst/>
          </a:prstGeom>
          <a:solidFill>
            <a:srgbClr val="FFFFFF"/>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21792" y="3410712"/>
            <a:ext cx="91440" cy="1847088"/>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68680" y="3611880"/>
            <a:ext cx="502920" cy="27432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400" b="1" i="0">
                <a:solidFill>
                  <a:srgbClr val="0072B2"/>
                </a:solidFill>
                <a:latin typeface="Arial"/>
              </a:rPr>
              <a:t>03</a:t>
            </a:r>
          </a:p>
        </p:txBody>
      </p:sp>
      <p:sp>
        <p:nvSpPr>
          <p:cNvPr id="18" name="TextBox 17"/>
          <p:cNvSpPr txBox="1"/>
          <p:nvPr/>
        </p:nvSpPr>
        <p:spPr>
          <a:xfrm>
            <a:off x="1499616" y="3593592"/>
            <a:ext cx="4096512"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650" b="1" i="0">
                <a:solidFill>
                  <a:srgbClr val="0F233D"/>
                </a:solidFill>
                <a:latin typeface="Arial"/>
              </a:rPr>
              <a:t>Broader populations</a:t>
            </a:r>
          </a:p>
        </p:txBody>
      </p:sp>
      <p:sp>
        <p:nvSpPr>
          <p:cNvPr id="19" name="TextBox 18"/>
          <p:cNvSpPr txBox="1"/>
          <p:nvPr/>
        </p:nvSpPr>
        <p:spPr>
          <a:xfrm>
            <a:off x="1499616" y="4123944"/>
            <a:ext cx="4069080" cy="85953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60" b="0" i="0">
                <a:solidFill>
                  <a:srgbClr val="2F2F2F"/>
                </a:solidFill>
                <a:latin typeface="Arial"/>
              </a:rPr>
              <a:t>Studies across more ancestral backgrounds—and fully independent samples—can show how widely the findings apply.</a:t>
            </a:r>
          </a:p>
        </p:txBody>
      </p:sp>
      <p:sp>
        <p:nvSpPr>
          <p:cNvPr id="20" name="Rounded Rectangle 19"/>
          <p:cNvSpPr/>
          <p:nvPr/>
        </p:nvSpPr>
        <p:spPr>
          <a:xfrm>
            <a:off x="6217920" y="3410712"/>
            <a:ext cx="5330952" cy="1847088"/>
          </a:xfrm>
          <a:prstGeom prst="roundRect">
            <a:avLst/>
          </a:prstGeom>
          <a:solidFill>
            <a:srgbClr val="FFFFFF"/>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17920" y="3410712"/>
            <a:ext cx="91440" cy="1847088"/>
          </a:xfrm>
          <a:prstGeom prst="rect">
            <a:avLst/>
          </a:prstGeom>
          <a:solidFill>
            <a:srgbClr val="7E4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64808" y="3611880"/>
            <a:ext cx="502920" cy="27432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400" b="1" i="0">
                <a:solidFill>
                  <a:srgbClr val="7E4C9A"/>
                </a:solidFill>
                <a:latin typeface="Arial"/>
              </a:rPr>
              <a:t>04</a:t>
            </a:r>
          </a:p>
        </p:txBody>
      </p:sp>
      <p:sp>
        <p:nvSpPr>
          <p:cNvPr id="23" name="TextBox 22"/>
          <p:cNvSpPr txBox="1"/>
          <p:nvPr/>
        </p:nvSpPr>
        <p:spPr>
          <a:xfrm>
            <a:off x="7095744" y="3593592"/>
            <a:ext cx="4096512"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650" b="1" i="0">
                <a:solidFill>
                  <a:srgbClr val="0F233D"/>
                </a:solidFill>
                <a:latin typeface="Arial"/>
              </a:rPr>
              <a:t>More genetic mechanisms</a:t>
            </a:r>
          </a:p>
        </p:txBody>
      </p:sp>
      <p:sp>
        <p:nvSpPr>
          <p:cNvPr id="24" name="TextBox 23"/>
          <p:cNvSpPr txBox="1"/>
          <p:nvPr/>
        </p:nvSpPr>
        <p:spPr>
          <a:xfrm>
            <a:off x="7095744" y="4123944"/>
            <a:ext cx="4069080" cy="85953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60" b="0" i="0">
                <a:solidFill>
                  <a:srgbClr val="2F2F2F"/>
                </a:solidFill>
                <a:latin typeface="Arial"/>
              </a:rPr>
              <a:t>Rare, large, mitochondrial, and distant DNA effects, gene interactions, disease timing, and laboratory experiments can extend the current common-variant screen.</a:t>
            </a:r>
          </a:p>
        </p:txBody>
      </p:sp>
      <p:sp>
        <p:nvSpPr>
          <p:cNvPr id="25" name="Rectangle 24"/>
          <p:cNvSpPr/>
          <p:nvPr/>
        </p:nvSpPr>
        <p:spPr>
          <a:xfrm>
            <a:off x="502920" y="5797296"/>
            <a:ext cx="11183112" cy="502920"/>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502920" y="5797296"/>
            <a:ext cx="91440" cy="502920"/>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31520" y="5888736"/>
            <a:ext cx="10716768" cy="283464"/>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200" b="1" i="0">
                <a:solidFill>
                  <a:srgbClr val="FFFFFF"/>
                </a:solidFill>
                <a:latin typeface="Arial"/>
              </a:rPr>
              <a:t>The evidence strongly supports APOE and prioritizes COX7C, SELENOW, RPS15, and ANKRD11 for different kinds of follow-up.</a:t>
            </a:r>
          </a:p>
        </p:txBody>
      </p:sp>
      <p:sp>
        <p:nvSpPr>
          <p:cNvPr id="28" name="TextBox 27"/>
          <p:cNvSpPr txBox="1"/>
          <p:nvPr/>
        </p:nvSpPr>
        <p:spPr>
          <a:xfrm>
            <a:off x="502920" y="6629400"/>
            <a:ext cx="11109960" cy="1280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680" b="0" i="0">
                <a:solidFill>
                  <a:srgbClr val="677484"/>
                </a:solidFill>
                <a:latin typeface="Arial"/>
              </a:rPr>
              <a:t>Source: consolidated genetic-support summary §§5–6; route, QTL, ancestry, and provenance audits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512064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50" b="1" i="0">
                <a:solidFill>
                  <a:srgbClr val="009E73"/>
                </a:solidFill>
                <a:latin typeface="Arial"/>
              </a:rPr>
              <a:t>NEXT STEPS</a:t>
            </a:r>
          </a:p>
        </p:txBody>
      </p:sp>
      <p:sp>
        <p:nvSpPr>
          <p:cNvPr id="3" name="TextBox 2"/>
          <p:cNvSpPr txBox="1"/>
          <p:nvPr/>
        </p:nvSpPr>
        <p:spPr>
          <a:xfrm>
            <a:off x="502920" y="402336"/>
            <a:ext cx="10927080" cy="51206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2450" b="1" i="0">
                <a:solidFill>
                  <a:srgbClr val="0F233D"/>
                </a:solidFill>
                <a:latin typeface="Arial"/>
              </a:rPr>
              <a:t>Next: validate the strongest leads and broaden the genetic evidence</a:t>
            </a:r>
          </a:p>
        </p:txBody>
      </p:sp>
      <p:sp>
        <p:nvSpPr>
          <p:cNvPr id="4" name="TextBox 3"/>
          <p:cNvSpPr txBox="1"/>
          <p:nvPr/>
        </p:nvSpPr>
        <p:spPr>
          <a:xfrm>
            <a:off x="11356848" y="192024"/>
            <a:ext cx="329184" cy="182880"/>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900" b="1" i="0">
                <a:solidFill>
                  <a:srgbClr val="677484"/>
                </a:solidFill>
                <a:latin typeface="Arial"/>
              </a:rPr>
              <a:t>17</a:t>
            </a:r>
          </a:p>
        </p:txBody>
      </p:sp>
      <p:sp>
        <p:nvSpPr>
          <p:cNvPr id="5" name="Rounded Rectangle 4"/>
          <p:cNvSpPr/>
          <p:nvPr/>
        </p:nvSpPr>
        <p:spPr>
          <a:xfrm>
            <a:off x="640080" y="1371600"/>
            <a:ext cx="3502152" cy="4160520"/>
          </a:xfrm>
          <a:prstGeom prst="roundRect">
            <a:avLst/>
          </a:prstGeom>
          <a:solidFill>
            <a:srgbClr val="FFFFFF"/>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1371600"/>
            <a:ext cx="3502152" cy="731520"/>
          </a:xfrm>
          <a:prstGeom prst="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41247" y="1517904"/>
            <a:ext cx="411480" cy="347472"/>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600" b="1" i="0">
                <a:solidFill>
                  <a:srgbClr val="D55E00"/>
                </a:solidFill>
                <a:latin typeface="Arial"/>
              </a:rPr>
              <a:t>01</a:t>
            </a:r>
          </a:p>
        </p:txBody>
      </p:sp>
      <p:sp>
        <p:nvSpPr>
          <p:cNvPr id="8" name="TextBox 7"/>
          <p:cNvSpPr txBox="1"/>
          <p:nvPr/>
        </p:nvSpPr>
        <p:spPr>
          <a:xfrm>
            <a:off x="1316736" y="1490472"/>
            <a:ext cx="2624328" cy="42062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700" b="1" i="0">
                <a:solidFill>
                  <a:srgbClr val="0F233D"/>
                </a:solidFill>
                <a:latin typeface="Arial"/>
              </a:rPr>
              <a:t>Deepen APOE and RPS15</a:t>
            </a:r>
          </a:p>
        </p:txBody>
      </p:sp>
      <p:sp>
        <p:nvSpPr>
          <p:cNvPr id="9" name="TextBox 8"/>
          <p:cNvSpPr txBox="1"/>
          <p:nvPr/>
        </p:nvSpPr>
        <p:spPr>
          <a:xfrm>
            <a:off x="886968" y="2395728"/>
            <a:ext cx="3008376" cy="288036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0" i="0">
                <a:solidFill>
                  <a:srgbClr val="2F2F2F"/>
                </a:solidFill>
                <a:latin typeface="Arial"/>
              </a:rPr>
              <a:t>Complete gene-activity datasets
+ matching DNA-reference data
+ larger studies of exact cell types</a:t>
            </a:r>
          </a:p>
        </p:txBody>
      </p:sp>
      <p:sp>
        <p:nvSpPr>
          <p:cNvPr id="10" name="Rounded Rectangle 9"/>
          <p:cNvSpPr/>
          <p:nvPr/>
        </p:nvSpPr>
        <p:spPr>
          <a:xfrm>
            <a:off x="4389120" y="1371600"/>
            <a:ext cx="3502152" cy="4160520"/>
          </a:xfrm>
          <a:prstGeom prst="roundRect">
            <a:avLst/>
          </a:prstGeom>
          <a:solidFill>
            <a:srgbClr val="FFFFFF"/>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89120" y="1371600"/>
            <a:ext cx="3502152" cy="731520"/>
          </a:xfrm>
          <a:prstGeom prst="rect">
            <a:avLst/>
          </a:prstGeom>
          <a:solidFill>
            <a:srgbClr val="E6F2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90288" y="1517904"/>
            <a:ext cx="411480" cy="347472"/>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600" b="1" i="0">
                <a:solidFill>
                  <a:srgbClr val="0072B2"/>
                </a:solidFill>
                <a:latin typeface="Arial"/>
              </a:rPr>
              <a:t>02</a:t>
            </a:r>
          </a:p>
        </p:txBody>
      </p:sp>
      <p:sp>
        <p:nvSpPr>
          <p:cNvPr id="13" name="TextBox 12"/>
          <p:cNvSpPr txBox="1"/>
          <p:nvPr/>
        </p:nvSpPr>
        <p:spPr>
          <a:xfrm>
            <a:off x="5065776" y="1490472"/>
            <a:ext cx="2624328" cy="42062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700" b="1" i="0">
                <a:solidFill>
                  <a:srgbClr val="0F233D"/>
                </a:solidFill>
                <a:latin typeface="Arial"/>
              </a:rPr>
              <a:t>Broaden genetic testing</a:t>
            </a:r>
          </a:p>
        </p:txBody>
      </p:sp>
      <p:sp>
        <p:nvSpPr>
          <p:cNvPr id="14" name="TextBox 13"/>
          <p:cNvSpPr txBox="1"/>
          <p:nvPr/>
        </p:nvSpPr>
        <p:spPr>
          <a:xfrm>
            <a:off x="4636008" y="2395728"/>
            <a:ext cx="3008376" cy="288036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0" i="0">
                <a:solidFill>
                  <a:srgbClr val="2F2F2F"/>
                </a:solidFill>
                <a:latin typeface="Arial"/>
              </a:rPr>
              <a:t>Protein- and RNA-based gene tests
+ rare DNA changes and interactions
+ more traits and populations</a:t>
            </a:r>
          </a:p>
        </p:txBody>
      </p:sp>
      <p:sp>
        <p:nvSpPr>
          <p:cNvPr id="15" name="Rounded Rectangle 14"/>
          <p:cNvSpPr/>
          <p:nvPr/>
        </p:nvSpPr>
        <p:spPr>
          <a:xfrm>
            <a:off x="8138159" y="1371600"/>
            <a:ext cx="3502152" cy="4160520"/>
          </a:xfrm>
          <a:prstGeom prst="roundRect">
            <a:avLst/>
          </a:prstGeom>
          <a:solidFill>
            <a:srgbClr val="FFFFFF"/>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138159" y="1371600"/>
            <a:ext cx="3502152" cy="731520"/>
          </a:xfrm>
          <a:prstGeom prst="rect">
            <a:avLst/>
          </a:prstGeom>
          <a:solidFill>
            <a:srgbClr val="E5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39327" y="1517904"/>
            <a:ext cx="411480" cy="347472"/>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600" b="1" i="0">
                <a:solidFill>
                  <a:srgbClr val="009E73"/>
                </a:solidFill>
                <a:latin typeface="Arial"/>
              </a:rPr>
              <a:t>03</a:t>
            </a:r>
          </a:p>
        </p:txBody>
      </p:sp>
      <p:sp>
        <p:nvSpPr>
          <p:cNvPr id="18" name="TextBox 17"/>
          <p:cNvSpPr txBox="1"/>
          <p:nvPr/>
        </p:nvSpPr>
        <p:spPr>
          <a:xfrm>
            <a:off x="8814815" y="1490472"/>
            <a:ext cx="2624328" cy="42062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700" b="1" i="0">
                <a:solidFill>
                  <a:srgbClr val="0F233D"/>
                </a:solidFill>
                <a:latin typeface="Arial"/>
              </a:rPr>
              <a:t>Add independent and lab validation</a:t>
            </a:r>
          </a:p>
        </p:txBody>
      </p:sp>
      <p:sp>
        <p:nvSpPr>
          <p:cNvPr id="19" name="TextBox 18"/>
          <p:cNvSpPr txBox="1"/>
          <p:nvPr/>
        </p:nvSpPr>
        <p:spPr>
          <a:xfrm>
            <a:off x="8385047" y="2395728"/>
            <a:ext cx="3008376" cy="288036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0" i="0">
                <a:solidFill>
                  <a:srgbClr val="2F2F2F"/>
                </a:solidFill>
                <a:latin typeface="Arial"/>
              </a:rPr>
              <a:t>Dedicated mitochondrial-DNA study
+ repeat the network study in new data
+ change gene activity in lab experiments</a:t>
            </a:r>
          </a:p>
        </p:txBody>
      </p:sp>
      <p:cxnSp>
        <p:nvCxnSpPr>
          <p:cNvPr id="20" name="Connector 19"/>
          <p:cNvCxnSpPr/>
          <p:nvPr/>
        </p:nvCxnSpPr>
        <p:spPr>
          <a:xfrm>
            <a:off x="4187952" y="3502152"/>
            <a:ext cx="411480" cy="0"/>
          </a:xfrm>
          <a:prstGeom prst="line">
            <a:avLst/>
          </a:prstGeom>
          <a:ln w="25400">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7936992" y="3502152"/>
            <a:ext cx="411479" cy="0"/>
          </a:xfrm>
          <a:prstGeom prst="line">
            <a:avLst/>
          </a:prstGeom>
          <a:ln w="25400">
            <a:solidFill>
              <a:srgbClr val="0072B2"/>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502920" y="5824728"/>
            <a:ext cx="11183112" cy="502920"/>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02920" y="5824728"/>
            <a:ext cx="91440" cy="502920"/>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31520" y="5916168"/>
            <a:ext cx="10716768" cy="283464"/>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200" b="1" i="0">
                <a:solidFill>
                  <a:srgbClr val="FFFFFF"/>
                </a:solidFill>
                <a:latin typeface="Arial"/>
              </a:rPr>
              <a:t>Matched variant-level gene-activity and DNA-reference data can unlock same-variant analyses for APOE and RPS15.</a:t>
            </a:r>
          </a:p>
        </p:txBody>
      </p:sp>
      <p:sp>
        <p:nvSpPr>
          <p:cNvPr id="25" name="TextBox 24"/>
          <p:cNvSpPr txBox="1"/>
          <p:nvPr/>
        </p:nvSpPr>
        <p:spPr>
          <a:xfrm>
            <a:off x="502920" y="6629400"/>
            <a:ext cx="11109960" cy="1280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680" b="0" i="0">
                <a:solidFill>
                  <a:srgbClr val="677484"/>
                </a:solidFill>
                <a:latin typeface="Arial"/>
              </a:rPr>
              <a:t>Source: genetic-support consolidated summary §6.2; bundle-repair actions are detailed in the appendix</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57200"/>
            <a:ext cx="4114800" cy="23774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50" b="1" i="0">
                <a:solidFill>
                  <a:srgbClr val="56B4E9"/>
                </a:solidFill>
                <a:latin typeface="Arial"/>
              </a:rPr>
              <a:t>TAKE-HOME MESSAGE</a:t>
            </a:r>
          </a:p>
        </p:txBody>
      </p:sp>
      <p:sp>
        <p:nvSpPr>
          <p:cNvPr id="4" name="TextBox 3"/>
          <p:cNvSpPr txBox="1"/>
          <p:nvPr/>
        </p:nvSpPr>
        <p:spPr>
          <a:xfrm>
            <a:off x="658368" y="841248"/>
            <a:ext cx="10789920" cy="6858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900" b="1" i="0">
                <a:solidFill>
                  <a:srgbClr val="FFFFFF"/>
                </a:solidFill>
                <a:latin typeface="Arial"/>
              </a:rPr>
              <a:t>The evidence highlights APOE and four focused paths for follow-up</a:t>
            </a:r>
          </a:p>
        </p:txBody>
      </p:sp>
      <p:sp>
        <p:nvSpPr>
          <p:cNvPr id="5" name="Rounded Rectangle 4"/>
          <p:cNvSpPr/>
          <p:nvPr/>
        </p:nvSpPr>
        <p:spPr>
          <a:xfrm>
            <a:off x="658368" y="1874519"/>
            <a:ext cx="5230368" cy="1170432"/>
          </a:xfrm>
          <a:prstGeom prst="roundRect">
            <a:avLst/>
          </a:prstGeom>
          <a:solidFill>
            <a:srgbClr val="1E3B5B"/>
          </a:solidFill>
          <a:ln w="1778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2048255"/>
            <a:ext cx="475488" cy="32918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600" b="1" i="0">
                <a:solidFill>
                  <a:srgbClr val="0072B2"/>
                </a:solidFill>
                <a:latin typeface="Arial"/>
              </a:rPr>
              <a:t>01</a:t>
            </a:r>
          </a:p>
        </p:txBody>
      </p:sp>
      <p:sp>
        <p:nvSpPr>
          <p:cNvPr id="7" name="TextBox 6"/>
          <p:cNvSpPr txBox="1"/>
          <p:nvPr/>
        </p:nvSpPr>
        <p:spPr>
          <a:xfrm>
            <a:off x="1499616" y="2029967"/>
            <a:ext cx="4114800" cy="30175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700" b="1" i="0">
                <a:solidFill>
                  <a:srgbClr val="FFFFFF"/>
                </a:solidFill>
                <a:latin typeface="Arial"/>
              </a:rPr>
              <a:t>APOE</a:t>
            </a:r>
          </a:p>
        </p:txBody>
      </p:sp>
      <p:sp>
        <p:nvSpPr>
          <p:cNvPr id="8" name="TextBox 7"/>
          <p:cNvSpPr txBox="1"/>
          <p:nvPr/>
        </p:nvSpPr>
        <p:spPr>
          <a:xfrm>
            <a:off x="1499616" y="2450591"/>
            <a:ext cx="4096512" cy="38404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a:solidFill>
                  <a:srgbClr val="CFDEED"/>
                </a:solidFill>
                <a:latin typeface="Arial"/>
              </a:rPr>
              <a:t>Direct AD mapping plus matching results for all three spinal-fluid markers.</a:t>
            </a:r>
          </a:p>
        </p:txBody>
      </p:sp>
      <p:sp>
        <p:nvSpPr>
          <p:cNvPr id="9" name="Rounded Rectangle 8"/>
          <p:cNvSpPr/>
          <p:nvPr/>
        </p:nvSpPr>
        <p:spPr>
          <a:xfrm>
            <a:off x="6236207" y="1874519"/>
            <a:ext cx="5230368" cy="1170432"/>
          </a:xfrm>
          <a:prstGeom prst="roundRect">
            <a:avLst/>
          </a:prstGeom>
          <a:solidFill>
            <a:srgbClr val="1E3B5B"/>
          </a:solidFill>
          <a:ln w="1778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55664" y="2048255"/>
            <a:ext cx="475488" cy="32918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600" b="1" i="0">
                <a:solidFill>
                  <a:srgbClr val="E69F00"/>
                </a:solidFill>
                <a:latin typeface="Arial"/>
              </a:rPr>
              <a:t>02</a:t>
            </a:r>
          </a:p>
        </p:txBody>
      </p:sp>
      <p:sp>
        <p:nvSpPr>
          <p:cNvPr id="11" name="TextBox 10"/>
          <p:cNvSpPr txBox="1"/>
          <p:nvPr/>
        </p:nvSpPr>
        <p:spPr>
          <a:xfrm>
            <a:off x="7077455" y="2029967"/>
            <a:ext cx="4114800" cy="30175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700" b="1" i="0">
                <a:solidFill>
                  <a:srgbClr val="FFFFFF"/>
                </a:solidFill>
                <a:latin typeface="Arial"/>
              </a:rPr>
              <a:t>COX7C + SELENOW</a:t>
            </a:r>
          </a:p>
        </p:txBody>
      </p:sp>
      <p:sp>
        <p:nvSpPr>
          <p:cNvPr id="12" name="TextBox 11"/>
          <p:cNvSpPr txBox="1"/>
          <p:nvPr/>
        </p:nvSpPr>
        <p:spPr>
          <a:xfrm>
            <a:off x="7077455" y="2450591"/>
            <a:ext cx="4096512" cy="38404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a:solidFill>
                  <a:srgbClr val="CFDEED"/>
                </a:solidFill>
                <a:latin typeface="Arial"/>
              </a:rPr>
              <a:t>Public gene-activity records identified both; COX7C also had a notable nearby-region P value.</a:t>
            </a:r>
          </a:p>
        </p:txBody>
      </p:sp>
      <p:sp>
        <p:nvSpPr>
          <p:cNvPr id="13" name="Rounded Rectangle 12"/>
          <p:cNvSpPr/>
          <p:nvPr/>
        </p:nvSpPr>
        <p:spPr>
          <a:xfrm>
            <a:off x="658368" y="3355848"/>
            <a:ext cx="5230368" cy="1170432"/>
          </a:xfrm>
          <a:prstGeom prst="roundRect">
            <a:avLst/>
          </a:prstGeom>
          <a:solidFill>
            <a:srgbClr val="1E3B5B"/>
          </a:solidFill>
          <a:ln w="1778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77824" y="3529584"/>
            <a:ext cx="475488" cy="32918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600" b="1" i="0">
                <a:solidFill>
                  <a:srgbClr val="D55E00"/>
                </a:solidFill>
                <a:latin typeface="Arial"/>
              </a:rPr>
              <a:t>03</a:t>
            </a:r>
          </a:p>
        </p:txBody>
      </p:sp>
      <p:sp>
        <p:nvSpPr>
          <p:cNvPr id="15" name="TextBox 14"/>
          <p:cNvSpPr txBox="1"/>
          <p:nvPr/>
        </p:nvSpPr>
        <p:spPr>
          <a:xfrm>
            <a:off x="1499616" y="3511296"/>
            <a:ext cx="4114800" cy="30175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700" b="1" i="0">
                <a:solidFill>
                  <a:srgbClr val="FFFFFF"/>
                </a:solidFill>
                <a:latin typeface="Arial"/>
              </a:rPr>
              <a:t>RPS15 + ANKRD11</a:t>
            </a:r>
          </a:p>
        </p:txBody>
      </p:sp>
      <p:sp>
        <p:nvSpPr>
          <p:cNvPr id="16" name="TextBox 15"/>
          <p:cNvSpPr txBox="1"/>
          <p:nvPr/>
        </p:nvSpPr>
        <p:spPr>
          <a:xfrm>
            <a:off x="1499616" y="3931920"/>
            <a:ext cx="4096512" cy="38404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a:solidFill>
                  <a:srgbClr val="CFDEED"/>
                </a:solidFill>
                <a:latin typeface="Arial"/>
              </a:rPr>
              <a:t>Both regions had P &lt; 5×10⁻⁸; RPS15 also had mixed-brain gene-activity signals.</a:t>
            </a:r>
          </a:p>
        </p:txBody>
      </p:sp>
      <p:sp>
        <p:nvSpPr>
          <p:cNvPr id="17" name="Rounded Rectangle 16"/>
          <p:cNvSpPr/>
          <p:nvPr/>
        </p:nvSpPr>
        <p:spPr>
          <a:xfrm>
            <a:off x="6236207" y="3355848"/>
            <a:ext cx="5230368" cy="1170432"/>
          </a:xfrm>
          <a:prstGeom prst="roundRect">
            <a:avLst/>
          </a:prstGeom>
          <a:solidFill>
            <a:srgbClr val="1E3B5B"/>
          </a:solidFill>
          <a:ln w="1778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55664" y="3529584"/>
            <a:ext cx="475488" cy="32918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600" b="1" i="0">
                <a:solidFill>
                  <a:srgbClr val="009E73"/>
                </a:solidFill>
                <a:latin typeface="Arial"/>
              </a:rPr>
              <a:t>04</a:t>
            </a:r>
          </a:p>
        </p:txBody>
      </p:sp>
      <p:sp>
        <p:nvSpPr>
          <p:cNvPr id="19" name="TextBox 18"/>
          <p:cNvSpPr txBox="1"/>
          <p:nvPr/>
        </p:nvSpPr>
        <p:spPr>
          <a:xfrm>
            <a:off x="7077455" y="3511296"/>
            <a:ext cx="4114800" cy="30175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700" b="1" i="0">
                <a:solidFill>
                  <a:srgbClr val="FFFFFF"/>
                </a:solidFill>
                <a:latin typeface="Arial"/>
              </a:rPr>
              <a:t>Broader gene list</a:t>
            </a:r>
          </a:p>
        </p:txBody>
      </p:sp>
      <p:sp>
        <p:nvSpPr>
          <p:cNvPr id="20" name="TextBox 19"/>
          <p:cNvSpPr txBox="1"/>
          <p:nvPr/>
        </p:nvSpPr>
        <p:spPr>
          <a:xfrm>
            <a:off x="7077455" y="3931920"/>
            <a:ext cx="4096512" cy="38404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a:solidFill>
                  <a:srgbClr val="CFDEED"/>
                </a:solidFill>
                <a:latin typeface="Arial"/>
              </a:rPr>
              <a:t>All exact regional P values now form a transparent baseline for future studies.</a:t>
            </a:r>
          </a:p>
        </p:txBody>
      </p:sp>
      <p:sp>
        <p:nvSpPr>
          <p:cNvPr id="21" name="Rounded Rectangle 20"/>
          <p:cNvSpPr/>
          <p:nvPr/>
        </p:nvSpPr>
        <p:spPr>
          <a:xfrm>
            <a:off x="3218688" y="5266944"/>
            <a:ext cx="5751576" cy="667512"/>
          </a:xfrm>
          <a:prstGeom prst="roundRect">
            <a:avLst/>
          </a:prstGeom>
          <a:solidFill>
            <a:srgbClr val="FFFFFF"/>
          </a:solidFill>
          <a:ln w="2032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438144" y="5449824"/>
            <a:ext cx="5312664" cy="28346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550" b="1" i="0">
                <a:solidFill>
                  <a:srgbClr val="0F233D"/>
                </a:solidFill>
                <a:latin typeface="Arial"/>
              </a:rPr>
              <a:t>Result: evidence found, with focused validation next</a:t>
            </a:r>
          </a:p>
        </p:txBody>
      </p:sp>
      <p:sp>
        <p:nvSpPr>
          <p:cNvPr id="23" name="TextBox 22"/>
          <p:cNvSpPr txBox="1"/>
          <p:nvPr/>
        </p:nvSpPr>
        <p:spPr>
          <a:xfrm>
            <a:off x="1965960" y="6199632"/>
            <a:ext cx="8257031" cy="27432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250" b="0" i="0">
                <a:solidFill>
                  <a:srgbClr val="ADC5DC"/>
                </a:solidFill>
                <a:latin typeface="Arial"/>
              </a:rPr>
              <a:t>Genetics strengthens the APOE finding and guides targeted follow-up across the broader network list.</a:t>
            </a:r>
          </a:p>
        </p:txBody>
      </p:sp>
      <p:sp>
        <p:nvSpPr>
          <p:cNvPr id="24" name="TextBox 23"/>
          <p:cNvSpPr txBox="1"/>
          <p:nvPr/>
        </p:nvSpPr>
        <p:spPr>
          <a:xfrm>
            <a:off x="11356848" y="292608"/>
            <a:ext cx="329184" cy="182880"/>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900" b="1" i="0">
                <a:solidFill>
                  <a:srgbClr val="91ABC5"/>
                </a:solidFill>
                <a:latin typeface="Arial"/>
              </a:rP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94944" y="576072"/>
            <a:ext cx="3291840"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00" b="1" i="0">
                <a:solidFill>
                  <a:srgbClr val="56B4E9"/>
                </a:solidFill>
                <a:latin typeface="Arial"/>
              </a:rPr>
              <a:t>APPENDIX</a:t>
            </a:r>
          </a:p>
        </p:txBody>
      </p:sp>
      <p:sp>
        <p:nvSpPr>
          <p:cNvPr id="4" name="Rectangle 3"/>
          <p:cNvSpPr/>
          <p:nvPr/>
        </p:nvSpPr>
        <p:spPr>
          <a:xfrm>
            <a:off x="694944" y="1170432"/>
            <a:ext cx="100584" cy="2066543"/>
          </a:xfrm>
          <a:prstGeom prst="rect">
            <a:avLst/>
          </a:prstGeom>
          <a:solidFill>
            <a:srgbClr val="56B4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60704" y="1243584"/>
            <a:ext cx="7635240" cy="137160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3200" b="1" i="0">
                <a:solidFill>
                  <a:srgbClr val="FFFFFF"/>
                </a:solidFill>
                <a:latin typeface="Arial"/>
              </a:rPr>
              <a:t>Supporting details</a:t>
            </a:r>
          </a:p>
        </p:txBody>
      </p:sp>
      <p:sp>
        <p:nvSpPr>
          <p:cNvPr id="6" name="TextBox 5"/>
          <p:cNvSpPr txBox="1"/>
          <p:nvPr/>
        </p:nvSpPr>
        <p:spPr>
          <a:xfrm>
            <a:off x="1078992" y="2907792"/>
            <a:ext cx="7223760" cy="84124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30" b="0" i="0">
                <a:solidFill>
                  <a:srgbClr val="CCDBEA"/>
                </a:solidFill>
                <a:latin typeface="Arial"/>
              </a:rPr>
              <a:t>The exact gene list, dataset versions, pre-set rules, all 19 nearby-AD P values, full evidence tables, and a clear plan for future validation.</a:t>
            </a:r>
          </a:p>
        </p:txBody>
      </p:sp>
      <p:sp>
        <p:nvSpPr>
          <p:cNvPr id="7" name="TextBox 6"/>
          <p:cNvSpPr txBox="1"/>
          <p:nvPr/>
        </p:nvSpPr>
        <p:spPr>
          <a:xfrm>
            <a:off x="8732520" y="804672"/>
            <a:ext cx="2304288" cy="17556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0400" b="1" i="0">
                <a:solidFill>
                  <a:srgbClr val="1E3B5B"/>
                </a:solidFill>
                <a:latin typeface="Arial"/>
              </a:rPr>
              <a:t>A</a:t>
            </a:r>
          </a:p>
        </p:txBody>
      </p:sp>
      <p:sp>
        <p:nvSpPr>
          <p:cNvPr id="8" name="Oval 7"/>
          <p:cNvSpPr/>
          <p:nvPr/>
        </p:nvSpPr>
        <p:spPr>
          <a:xfrm>
            <a:off x="10634472" y="969264"/>
            <a:ext cx="512064" cy="512064"/>
          </a:xfrm>
          <a:prstGeom prst="ellipse">
            <a:avLst/>
          </a:prstGeom>
          <a:solidFill>
            <a:srgbClr val="56B4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0040112" y="2679192"/>
            <a:ext cx="256032" cy="256032"/>
          </a:xfrm>
          <a:prstGeom prst="ellipse">
            <a:avLst/>
          </a:prstGeom>
          <a:solidFill>
            <a:srgbClr val="56B4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9966960" y="1938528"/>
            <a:ext cx="1097280" cy="32004"/>
          </a:xfrm>
          <a:prstGeom prst="rect">
            <a:avLst/>
          </a:prstGeom>
          <a:solidFill>
            <a:srgbClr val="6989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0122408" y="1956816"/>
            <a:ext cx="32004" cy="832104"/>
          </a:xfrm>
          <a:prstGeom prst="rect">
            <a:avLst/>
          </a:prstGeom>
          <a:solidFill>
            <a:srgbClr val="6989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13232" y="4270248"/>
            <a:ext cx="1920240" cy="2286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80" b="1" i="0">
                <a:solidFill>
                  <a:srgbClr val="56B4E9"/>
                </a:solidFill>
                <a:latin typeface="Arial"/>
              </a:rPr>
              <a:t>IN THIS SECTION</a:t>
            </a:r>
          </a:p>
        </p:txBody>
      </p:sp>
      <p:sp>
        <p:nvSpPr>
          <p:cNvPr id="13" name="Rounded Rectangle 12"/>
          <p:cNvSpPr/>
          <p:nvPr/>
        </p:nvSpPr>
        <p:spPr>
          <a:xfrm>
            <a:off x="713232" y="4681728"/>
            <a:ext cx="2834640" cy="694944"/>
          </a:xfrm>
          <a:prstGeom prst="roundRect">
            <a:avLst/>
          </a:prstGeom>
          <a:solidFill>
            <a:srgbClr val="1E3B5B"/>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77824" y="4846320"/>
            <a:ext cx="2505456" cy="29260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140" b="1" i="0">
                <a:solidFill>
                  <a:srgbClr val="FFFFFF"/>
                </a:solidFill>
                <a:latin typeface="Arial"/>
              </a:rPr>
              <a:t>Original gene list</a:t>
            </a:r>
          </a:p>
        </p:txBody>
      </p:sp>
      <p:sp>
        <p:nvSpPr>
          <p:cNvPr id="15" name="Rounded Rectangle 14"/>
          <p:cNvSpPr/>
          <p:nvPr/>
        </p:nvSpPr>
        <p:spPr>
          <a:xfrm>
            <a:off x="3840480" y="4681728"/>
            <a:ext cx="2834640" cy="694944"/>
          </a:xfrm>
          <a:prstGeom prst="roundRect">
            <a:avLst/>
          </a:prstGeom>
          <a:solidFill>
            <a:srgbClr val="1E3B5B"/>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005072" y="4846320"/>
            <a:ext cx="2505456" cy="29260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140" b="1" i="0">
                <a:solidFill>
                  <a:srgbClr val="FFFFFF"/>
                </a:solidFill>
                <a:latin typeface="Arial"/>
              </a:rPr>
              <a:t>Data + rules</a:t>
            </a:r>
          </a:p>
        </p:txBody>
      </p:sp>
      <p:sp>
        <p:nvSpPr>
          <p:cNvPr id="17" name="Rounded Rectangle 16"/>
          <p:cNvSpPr/>
          <p:nvPr/>
        </p:nvSpPr>
        <p:spPr>
          <a:xfrm>
            <a:off x="6967728" y="4681728"/>
            <a:ext cx="2834640" cy="694944"/>
          </a:xfrm>
          <a:prstGeom prst="roundRect">
            <a:avLst/>
          </a:prstGeom>
          <a:solidFill>
            <a:srgbClr val="1E3B5B"/>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132320" y="4846320"/>
            <a:ext cx="2505456" cy="29260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140" b="1" i="0">
                <a:solidFill>
                  <a:srgbClr val="FFFFFF"/>
                </a:solidFill>
                <a:latin typeface="Arial"/>
              </a:rPr>
              <a:t>Full evidence + reproducibility</a:t>
            </a:r>
          </a:p>
        </p:txBody>
      </p:sp>
      <p:sp>
        <p:nvSpPr>
          <p:cNvPr id="19" name="TextBox 18"/>
          <p:cNvSpPr txBox="1"/>
          <p:nvPr/>
        </p:nvSpPr>
        <p:spPr>
          <a:xfrm>
            <a:off x="11320272" y="310896"/>
            <a:ext cx="384048" cy="201168"/>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900" b="1" i="0">
                <a:solidFill>
                  <a:srgbClr val="91ABC5"/>
                </a:solidFill>
                <a:latin typeface="Arial"/>
              </a:rP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512064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50" b="1" i="0">
                <a:solidFill>
                  <a:srgbClr val="009E73"/>
                </a:solidFill>
                <a:latin typeface="Arial"/>
              </a:rPr>
              <a:t>APPENDIX • ORIGINAL GENE LIST</a:t>
            </a:r>
          </a:p>
        </p:txBody>
      </p:sp>
      <p:sp>
        <p:nvSpPr>
          <p:cNvPr id="3" name="TextBox 2"/>
          <p:cNvSpPr txBox="1"/>
          <p:nvPr/>
        </p:nvSpPr>
        <p:spPr>
          <a:xfrm>
            <a:off x="502920" y="402336"/>
            <a:ext cx="10927080" cy="51206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2450" b="1" i="0">
                <a:solidFill>
                  <a:srgbClr val="0F233D"/>
                </a:solidFill>
                <a:latin typeface="Arial"/>
              </a:rPr>
              <a:t>The original list: 25 genes in 47 gene–network settings</a:t>
            </a:r>
          </a:p>
        </p:txBody>
      </p:sp>
      <p:sp>
        <p:nvSpPr>
          <p:cNvPr id="4" name="TextBox 3"/>
          <p:cNvSpPr txBox="1"/>
          <p:nvPr/>
        </p:nvSpPr>
        <p:spPr>
          <a:xfrm>
            <a:off x="11356848" y="192024"/>
            <a:ext cx="329184" cy="182880"/>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900" b="1" i="0">
                <a:solidFill>
                  <a:srgbClr val="677484"/>
                </a:solidFill>
                <a:latin typeface="Arial"/>
              </a:rPr>
              <a:t>20</a:t>
            </a:r>
          </a:p>
        </p:txBody>
      </p:sp>
      <p:sp>
        <p:nvSpPr>
          <p:cNvPr id="5" name="Rectangle 4"/>
          <p:cNvSpPr/>
          <p:nvPr/>
        </p:nvSpPr>
        <p:spPr>
          <a:xfrm>
            <a:off x="502920" y="1188720"/>
            <a:ext cx="1737360" cy="502920"/>
          </a:xfrm>
          <a:prstGeom prst="rect">
            <a:avLst/>
          </a:prstGeom>
          <a:solidFill>
            <a:srgbClr val="0F233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12648" y="1307592"/>
            <a:ext cx="1517904" cy="23774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100" b="1" i="0">
                <a:solidFill>
                  <a:srgbClr val="FFFFFF"/>
                </a:solidFill>
                <a:latin typeface="Arial"/>
              </a:rPr>
              <a:t>Cell network</a:t>
            </a:r>
          </a:p>
        </p:txBody>
      </p:sp>
      <p:sp>
        <p:nvSpPr>
          <p:cNvPr id="7" name="Rectangle 6"/>
          <p:cNvSpPr/>
          <p:nvPr/>
        </p:nvSpPr>
        <p:spPr>
          <a:xfrm>
            <a:off x="2240280" y="1188720"/>
            <a:ext cx="4663440" cy="502920"/>
          </a:xfrm>
          <a:prstGeom prst="rect">
            <a:avLst/>
          </a:prstGeom>
          <a:solidFill>
            <a:srgbClr val="0F233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350008" y="1307592"/>
            <a:ext cx="4443983" cy="23774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100" b="1" i="0">
                <a:solidFill>
                  <a:srgbClr val="FFFFFF"/>
                </a:solidFill>
                <a:latin typeface="Arial"/>
              </a:rPr>
              <a:t>Mitochondria-related group (original order)</a:t>
            </a:r>
          </a:p>
        </p:txBody>
      </p:sp>
      <p:sp>
        <p:nvSpPr>
          <p:cNvPr id="9" name="Rectangle 8"/>
          <p:cNvSpPr/>
          <p:nvPr/>
        </p:nvSpPr>
        <p:spPr>
          <a:xfrm>
            <a:off x="6903720" y="1188720"/>
            <a:ext cx="4782312" cy="502920"/>
          </a:xfrm>
          <a:prstGeom prst="rect">
            <a:avLst/>
          </a:prstGeom>
          <a:solidFill>
            <a:srgbClr val="0F233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013448" y="1307592"/>
            <a:ext cx="4562856" cy="23774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100" b="1" i="0">
                <a:solidFill>
                  <a:srgbClr val="FFFFFF"/>
                </a:solidFill>
                <a:latin typeface="Arial"/>
              </a:rPr>
              <a:t>Other driver group (original order)</a:t>
            </a:r>
          </a:p>
        </p:txBody>
      </p:sp>
      <p:sp>
        <p:nvSpPr>
          <p:cNvPr id="11" name="Rectangle 10"/>
          <p:cNvSpPr/>
          <p:nvPr/>
        </p:nvSpPr>
        <p:spPr>
          <a:xfrm>
            <a:off x="502920" y="1691640"/>
            <a:ext cx="1737360" cy="630936"/>
          </a:xfrm>
          <a:prstGeom prst="rect">
            <a:avLst/>
          </a:prstGeom>
          <a:solidFill>
            <a:srgbClr val="FFFFFF"/>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2648" y="1783080"/>
            <a:ext cx="1517904" cy="42976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130" b="1" i="0">
                <a:solidFill>
                  <a:srgbClr val="0F233D"/>
                </a:solidFill>
                <a:latin typeface="Arial"/>
              </a:rPr>
              <a:t>Astrocytes</a:t>
            </a:r>
          </a:p>
        </p:txBody>
      </p:sp>
      <p:sp>
        <p:nvSpPr>
          <p:cNvPr id="13" name="Rectangle 12"/>
          <p:cNvSpPr/>
          <p:nvPr/>
        </p:nvSpPr>
        <p:spPr>
          <a:xfrm>
            <a:off x="2240280" y="1691640"/>
            <a:ext cx="4663440" cy="630936"/>
          </a:xfrm>
          <a:prstGeom prst="rect">
            <a:avLst/>
          </a:prstGeom>
          <a:solidFill>
            <a:srgbClr val="FFFFFF"/>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350008" y="1783080"/>
            <a:ext cx="4443983" cy="42976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80" b="0" i="0">
                <a:solidFill>
                  <a:srgbClr val="2F2F2F"/>
                </a:solidFill>
                <a:latin typeface="Arial"/>
              </a:rPr>
              <a:t>MT-CO2, MT-CO3, MT-ATP6, COX7C, COX4I1</a:t>
            </a:r>
          </a:p>
        </p:txBody>
      </p:sp>
      <p:sp>
        <p:nvSpPr>
          <p:cNvPr id="15" name="Rectangle 14"/>
          <p:cNvSpPr/>
          <p:nvPr/>
        </p:nvSpPr>
        <p:spPr>
          <a:xfrm>
            <a:off x="6903720" y="1691640"/>
            <a:ext cx="4782312" cy="630936"/>
          </a:xfrm>
          <a:prstGeom prst="rect">
            <a:avLst/>
          </a:prstGeom>
          <a:solidFill>
            <a:srgbClr val="FFFFFF"/>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013448" y="1783080"/>
            <a:ext cx="4562856" cy="42976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80" b="0" i="0">
                <a:solidFill>
                  <a:srgbClr val="2F2F2F"/>
                </a:solidFill>
                <a:latin typeface="Arial"/>
              </a:rPr>
              <a:t>RPL11, RPLP1, RPL15, APOE, LAPTM4A</a:t>
            </a:r>
          </a:p>
        </p:txBody>
      </p:sp>
      <p:sp>
        <p:nvSpPr>
          <p:cNvPr id="17" name="Rectangle 16"/>
          <p:cNvSpPr/>
          <p:nvPr/>
        </p:nvSpPr>
        <p:spPr>
          <a:xfrm>
            <a:off x="502920" y="2322576"/>
            <a:ext cx="1737360" cy="630936"/>
          </a:xfrm>
          <a:prstGeom prst="rect">
            <a:avLst/>
          </a:prstGeom>
          <a:solidFill>
            <a:srgbClr val="F2F4F7"/>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12648" y="2414016"/>
            <a:ext cx="1517904" cy="42976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130" b="1" i="0">
                <a:solidFill>
                  <a:srgbClr val="0F233D"/>
                </a:solidFill>
                <a:latin typeface="Arial"/>
              </a:rPr>
              <a:t>Excitatory neurons</a:t>
            </a:r>
          </a:p>
        </p:txBody>
      </p:sp>
      <p:sp>
        <p:nvSpPr>
          <p:cNvPr id="19" name="Rectangle 18"/>
          <p:cNvSpPr/>
          <p:nvPr/>
        </p:nvSpPr>
        <p:spPr>
          <a:xfrm>
            <a:off x="2240280" y="2322576"/>
            <a:ext cx="4663440" cy="630936"/>
          </a:xfrm>
          <a:prstGeom prst="rect">
            <a:avLst/>
          </a:prstGeom>
          <a:solidFill>
            <a:srgbClr val="F2F4F7"/>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350008" y="2414016"/>
            <a:ext cx="4443983" cy="42976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80" b="0" i="0">
                <a:solidFill>
                  <a:srgbClr val="2F2F2F"/>
                </a:solidFill>
                <a:latin typeface="Arial"/>
              </a:rPr>
              <a:t>MT-CO2, UQCR10, COX4I1, COX6B1, MT-CYB</a:t>
            </a:r>
          </a:p>
        </p:txBody>
      </p:sp>
      <p:sp>
        <p:nvSpPr>
          <p:cNvPr id="21" name="Rectangle 20"/>
          <p:cNvSpPr/>
          <p:nvPr/>
        </p:nvSpPr>
        <p:spPr>
          <a:xfrm>
            <a:off x="6903720" y="2322576"/>
            <a:ext cx="4782312" cy="630936"/>
          </a:xfrm>
          <a:prstGeom prst="rect">
            <a:avLst/>
          </a:prstGeom>
          <a:solidFill>
            <a:srgbClr val="F2F4F7"/>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013448" y="2414016"/>
            <a:ext cx="4562856" cy="42976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80" b="0" i="0">
                <a:solidFill>
                  <a:srgbClr val="2F2F2F"/>
                </a:solidFill>
                <a:latin typeface="Arial"/>
              </a:rPr>
              <a:t>RPL11, RPS13, SELENOW, LAMTOR5, DYNLT1</a:t>
            </a:r>
          </a:p>
        </p:txBody>
      </p:sp>
      <p:sp>
        <p:nvSpPr>
          <p:cNvPr id="23" name="Rectangle 22"/>
          <p:cNvSpPr/>
          <p:nvPr/>
        </p:nvSpPr>
        <p:spPr>
          <a:xfrm>
            <a:off x="502920" y="2953512"/>
            <a:ext cx="1737360" cy="630936"/>
          </a:xfrm>
          <a:prstGeom prst="rect">
            <a:avLst/>
          </a:prstGeom>
          <a:solidFill>
            <a:srgbClr val="FFFFFF"/>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12648" y="3044952"/>
            <a:ext cx="1517904" cy="42976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130" b="1" i="0">
                <a:solidFill>
                  <a:srgbClr val="0F233D"/>
                </a:solidFill>
                <a:latin typeface="Arial"/>
              </a:rPr>
              <a:t>Inhibitory neurons</a:t>
            </a:r>
          </a:p>
        </p:txBody>
      </p:sp>
      <p:sp>
        <p:nvSpPr>
          <p:cNvPr id="25" name="Rectangle 24"/>
          <p:cNvSpPr/>
          <p:nvPr/>
        </p:nvSpPr>
        <p:spPr>
          <a:xfrm>
            <a:off x="2240280" y="2953512"/>
            <a:ext cx="4663440" cy="630936"/>
          </a:xfrm>
          <a:prstGeom prst="rect">
            <a:avLst/>
          </a:prstGeom>
          <a:solidFill>
            <a:srgbClr val="FFFFFF"/>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350008" y="3044952"/>
            <a:ext cx="4443983" cy="42976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80" b="0" i="0">
                <a:solidFill>
                  <a:srgbClr val="2F2F2F"/>
                </a:solidFill>
                <a:latin typeface="Arial"/>
              </a:rPr>
              <a:t>MT-CO2, MT-CO3, MT-CYB, MT-ND5, COX7C</a:t>
            </a:r>
          </a:p>
        </p:txBody>
      </p:sp>
      <p:sp>
        <p:nvSpPr>
          <p:cNvPr id="27" name="Rectangle 26"/>
          <p:cNvSpPr/>
          <p:nvPr/>
        </p:nvSpPr>
        <p:spPr>
          <a:xfrm>
            <a:off x="6903720" y="2953512"/>
            <a:ext cx="4782312" cy="630936"/>
          </a:xfrm>
          <a:prstGeom prst="rect">
            <a:avLst/>
          </a:prstGeom>
          <a:solidFill>
            <a:srgbClr val="FFFFFF"/>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013448" y="3044952"/>
            <a:ext cx="4562856" cy="42976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80" b="0" i="0">
                <a:solidFill>
                  <a:srgbClr val="2F2F2F"/>
                </a:solidFill>
                <a:latin typeface="Arial"/>
              </a:rPr>
              <a:t>RPS15, LAMTOR5, RPLP1, ATP6V1F, RPL38</a:t>
            </a:r>
          </a:p>
        </p:txBody>
      </p:sp>
      <p:sp>
        <p:nvSpPr>
          <p:cNvPr id="29" name="Rectangle 28"/>
          <p:cNvSpPr/>
          <p:nvPr/>
        </p:nvSpPr>
        <p:spPr>
          <a:xfrm>
            <a:off x="502920" y="3584448"/>
            <a:ext cx="1737360" cy="630936"/>
          </a:xfrm>
          <a:prstGeom prst="rect">
            <a:avLst/>
          </a:prstGeom>
          <a:solidFill>
            <a:srgbClr val="F2F4F7"/>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12648" y="3675887"/>
            <a:ext cx="1517904" cy="42976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130" b="1" i="0">
                <a:solidFill>
                  <a:srgbClr val="0F233D"/>
                </a:solidFill>
                <a:latin typeface="Arial"/>
              </a:rPr>
              <a:t>Microglia</a:t>
            </a:r>
          </a:p>
        </p:txBody>
      </p:sp>
      <p:sp>
        <p:nvSpPr>
          <p:cNvPr id="31" name="Rectangle 30"/>
          <p:cNvSpPr/>
          <p:nvPr/>
        </p:nvSpPr>
        <p:spPr>
          <a:xfrm>
            <a:off x="2240280" y="3584448"/>
            <a:ext cx="4663440" cy="630936"/>
          </a:xfrm>
          <a:prstGeom prst="rect">
            <a:avLst/>
          </a:prstGeom>
          <a:solidFill>
            <a:srgbClr val="F2F4F7"/>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350008" y="3675887"/>
            <a:ext cx="4443983" cy="42976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80" b="0" i="0">
                <a:solidFill>
                  <a:srgbClr val="2F2F2F"/>
                </a:solidFill>
                <a:latin typeface="Arial"/>
              </a:rPr>
              <a:t>MT-CO2, MT-ND4</a:t>
            </a:r>
          </a:p>
        </p:txBody>
      </p:sp>
      <p:sp>
        <p:nvSpPr>
          <p:cNvPr id="33" name="Rectangle 32"/>
          <p:cNvSpPr/>
          <p:nvPr/>
        </p:nvSpPr>
        <p:spPr>
          <a:xfrm>
            <a:off x="6903720" y="3584448"/>
            <a:ext cx="4782312" cy="630936"/>
          </a:xfrm>
          <a:prstGeom prst="rect">
            <a:avLst/>
          </a:prstGeom>
          <a:solidFill>
            <a:srgbClr val="F2F4F7"/>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013448" y="3675887"/>
            <a:ext cx="4562856" cy="42976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80" b="0" i="0">
                <a:solidFill>
                  <a:srgbClr val="2F2F2F"/>
                </a:solidFill>
                <a:latin typeface="Arial"/>
              </a:rPr>
              <a:t>RPL11</a:t>
            </a:r>
          </a:p>
        </p:txBody>
      </p:sp>
      <p:sp>
        <p:nvSpPr>
          <p:cNvPr id="35" name="Rectangle 34"/>
          <p:cNvSpPr/>
          <p:nvPr/>
        </p:nvSpPr>
        <p:spPr>
          <a:xfrm>
            <a:off x="502920" y="4215383"/>
            <a:ext cx="1737360" cy="630936"/>
          </a:xfrm>
          <a:prstGeom prst="rect">
            <a:avLst/>
          </a:prstGeom>
          <a:solidFill>
            <a:srgbClr val="FFFFFF"/>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12648" y="4306823"/>
            <a:ext cx="1517904" cy="42976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130" b="1" i="0">
                <a:solidFill>
                  <a:srgbClr val="0F233D"/>
                </a:solidFill>
                <a:latin typeface="Arial"/>
              </a:rPr>
              <a:t>OPCs</a:t>
            </a:r>
          </a:p>
        </p:txBody>
      </p:sp>
      <p:sp>
        <p:nvSpPr>
          <p:cNvPr id="37" name="Rectangle 36"/>
          <p:cNvSpPr/>
          <p:nvPr/>
        </p:nvSpPr>
        <p:spPr>
          <a:xfrm>
            <a:off x="2240280" y="4215383"/>
            <a:ext cx="4663440" cy="630936"/>
          </a:xfrm>
          <a:prstGeom prst="rect">
            <a:avLst/>
          </a:prstGeom>
          <a:solidFill>
            <a:srgbClr val="FFFFFF"/>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2350008" y="4306823"/>
            <a:ext cx="4443983" cy="42976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80" b="0" i="0">
                <a:solidFill>
                  <a:srgbClr val="2F2F2F"/>
                </a:solidFill>
                <a:latin typeface="Arial"/>
              </a:rPr>
              <a:t>MT-CO3, MT-CO2, MT-ND4</a:t>
            </a:r>
          </a:p>
        </p:txBody>
      </p:sp>
      <p:sp>
        <p:nvSpPr>
          <p:cNvPr id="39" name="Rectangle 38"/>
          <p:cNvSpPr/>
          <p:nvPr/>
        </p:nvSpPr>
        <p:spPr>
          <a:xfrm>
            <a:off x="6903720" y="4215383"/>
            <a:ext cx="4782312" cy="630936"/>
          </a:xfrm>
          <a:prstGeom prst="rect">
            <a:avLst/>
          </a:prstGeom>
          <a:solidFill>
            <a:srgbClr val="FFFFFF"/>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013448" y="4306823"/>
            <a:ext cx="4562856" cy="42976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80" b="0" i="0">
                <a:solidFill>
                  <a:srgbClr val="2F2F2F"/>
                </a:solidFill>
                <a:latin typeface="Arial"/>
              </a:rPr>
              <a:t>RPS15, FTL, ANKRD11, NCOA1</a:t>
            </a:r>
          </a:p>
        </p:txBody>
      </p:sp>
      <p:sp>
        <p:nvSpPr>
          <p:cNvPr id="41" name="Rectangle 40"/>
          <p:cNvSpPr/>
          <p:nvPr/>
        </p:nvSpPr>
        <p:spPr>
          <a:xfrm>
            <a:off x="502920" y="4846320"/>
            <a:ext cx="1737360" cy="630936"/>
          </a:xfrm>
          <a:prstGeom prst="rect">
            <a:avLst/>
          </a:prstGeom>
          <a:solidFill>
            <a:srgbClr val="F2F4F7"/>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12648" y="4937759"/>
            <a:ext cx="1517904" cy="42976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130" b="1" i="0">
                <a:solidFill>
                  <a:srgbClr val="0F233D"/>
                </a:solidFill>
                <a:latin typeface="Arial"/>
              </a:rPr>
              <a:t>Oligodendrocytes</a:t>
            </a:r>
          </a:p>
        </p:txBody>
      </p:sp>
      <p:sp>
        <p:nvSpPr>
          <p:cNvPr id="43" name="Rectangle 42"/>
          <p:cNvSpPr/>
          <p:nvPr/>
        </p:nvSpPr>
        <p:spPr>
          <a:xfrm>
            <a:off x="2240280" y="4846320"/>
            <a:ext cx="4663440" cy="630936"/>
          </a:xfrm>
          <a:prstGeom prst="rect">
            <a:avLst/>
          </a:prstGeom>
          <a:solidFill>
            <a:srgbClr val="F2F4F7"/>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2350008" y="4937759"/>
            <a:ext cx="4443983" cy="42976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80" b="0" i="0">
                <a:solidFill>
                  <a:srgbClr val="2F2F2F"/>
                </a:solidFill>
                <a:latin typeface="Arial"/>
              </a:rPr>
              <a:t>MT-CO2, MT-ND4</a:t>
            </a:r>
          </a:p>
        </p:txBody>
      </p:sp>
      <p:sp>
        <p:nvSpPr>
          <p:cNvPr id="45" name="Rectangle 44"/>
          <p:cNvSpPr/>
          <p:nvPr/>
        </p:nvSpPr>
        <p:spPr>
          <a:xfrm>
            <a:off x="6903720" y="4846320"/>
            <a:ext cx="4782312" cy="630936"/>
          </a:xfrm>
          <a:prstGeom prst="rect">
            <a:avLst/>
          </a:prstGeom>
          <a:solidFill>
            <a:srgbClr val="F2F4F7"/>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013448" y="4937759"/>
            <a:ext cx="4562856" cy="42976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80" b="0" i="0">
                <a:solidFill>
                  <a:srgbClr val="2F2F2F"/>
                </a:solidFill>
                <a:latin typeface="Arial"/>
              </a:rPr>
              <a:t>RPL11</a:t>
            </a:r>
          </a:p>
        </p:txBody>
      </p:sp>
      <p:sp>
        <p:nvSpPr>
          <p:cNvPr id="47" name="Rectangle 46"/>
          <p:cNvSpPr/>
          <p:nvPr/>
        </p:nvSpPr>
        <p:spPr>
          <a:xfrm>
            <a:off x="502920" y="5477256"/>
            <a:ext cx="1737360" cy="630936"/>
          </a:xfrm>
          <a:prstGeom prst="rect">
            <a:avLst/>
          </a:prstGeom>
          <a:solidFill>
            <a:srgbClr val="FFFFFF"/>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12648" y="5568696"/>
            <a:ext cx="1517904" cy="42976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130" b="1" i="0">
                <a:solidFill>
                  <a:srgbClr val="0F233D"/>
                </a:solidFill>
                <a:latin typeface="Arial"/>
              </a:rPr>
              <a:t>Vasculature cells</a:t>
            </a:r>
          </a:p>
        </p:txBody>
      </p:sp>
      <p:sp>
        <p:nvSpPr>
          <p:cNvPr id="49" name="Rectangle 48"/>
          <p:cNvSpPr/>
          <p:nvPr/>
        </p:nvSpPr>
        <p:spPr>
          <a:xfrm>
            <a:off x="2240280" y="5477256"/>
            <a:ext cx="4663440" cy="630936"/>
          </a:xfrm>
          <a:prstGeom prst="rect">
            <a:avLst/>
          </a:prstGeom>
          <a:solidFill>
            <a:srgbClr val="FFFFFF"/>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2350008" y="5568696"/>
            <a:ext cx="4443983" cy="42976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80" b="0" i="0">
                <a:solidFill>
                  <a:srgbClr val="2F2F2F"/>
                </a:solidFill>
                <a:latin typeface="Arial"/>
              </a:rPr>
              <a:t>MT-CO3, MT-CO2, MT-ATP6, MT-ND4</a:t>
            </a:r>
          </a:p>
        </p:txBody>
      </p:sp>
      <p:sp>
        <p:nvSpPr>
          <p:cNvPr id="51" name="Rectangle 50"/>
          <p:cNvSpPr/>
          <p:nvPr/>
        </p:nvSpPr>
        <p:spPr>
          <a:xfrm>
            <a:off x="6903720" y="5477256"/>
            <a:ext cx="4782312" cy="630936"/>
          </a:xfrm>
          <a:prstGeom prst="rect">
            <a:avLst/>
          </a:prstGeom>
          <a:solidFill>
            <a:srgbClr val="FFFFFF"/>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7013448" y="5568696"/>
            <a:ext cx="4562856" cy="42976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80" b="0" i="0">
                <a:solidFill>
                  <a:srgbClr val="2F2F2F"/>
                </a:solidFill>
                <a:latin typeface="Arial"/>
              </a:rPr>
              <a:t>None</a:t>
            </a:r>
          </a:p>
        </p:txBody>
      </p:sp>
      <p:sp>
        <p:nvSpPr>
          <p:cNvPr id="53" name="Rectangle 52"/>
          <p:cNvSpPr/>
          <p:nvPr/>
        </p:nvSpPr>
        <p:spPr>
          <a:xfrm>
            <a:off x="502920" y="6245352"/>
            <a:ext cx="11183112" cy="502920"/>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502920" y="6245352"/>
            <a:ext cx="91440" cy="502920"/>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731520" y="6336792"/>
            <a:ext cx="10716768" cy="283464"/>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200" b="1" i="0">
                <a:solidFill>
                  <a:srgbClr val="FFFFFF"/>
                </a:solidFill>
                <a:latin typeface="Arial"/>
              </a:rPr>
              <a:t>‘MT driver’ was a label in the original network analysis; COX7C and UQCR10 are nuclear genes. Six genes are encoded by mitochondrial DNA.</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512064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50" b="1" i="0">
                <a:solidFill>
                  <a:srgbClr val="0072B2"/>
                </a:solidFill>
                <a:latin typeface="Arial"/>
              </a:rPr>
              <a:t>APPENDIX • DATA INVENTORY</a:t>
            </a:r>
          </a:p>
        </p:txBody>
      </p:sp>
      <p:sp>
        <p:nvSpPr>
          <p:cNvPr id="3" name="TextBox 2"/>
          <p:cNvSpPr txBox="1"/>
          <p:nvPr/>
        </p:nvSpPr>
        <p:spPr>
          <a:xfrm>
            <a:off x="502920" y="402336"/>
            <a:ext cx="10927080" cy="51206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2450" b="1" i="0">
                <a:solidFill>
                  <a:srgbClr val="0F233D"/>
                </a:solidFill>
                <a:latin typeface="Arial"/>
              </a:rPr>
              <a:t>Dataset details: what each source was used for</a:t>
            </a:r>
          </a:p>
        </p:txBody>
      </p:sp>
      <p:sp>
        <p:nvSpPr>
          <p:cNvPr id="4" name="TextBox 3"/>
          <p:cNvSpPr txBox="1"/>
          <p:nvPr/>
        </p:nvSpPr>
        <p:spPr>
          <a:xfrm>
            <a:off x="11356848" y="192024"/>
            <a:ext cx="329184" cy="182880"/>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900" b="1" i="0">
                <a:solidFill>
                  <a:srgbClr val="677484"/>
                </a:solidFill>
                <a:latin typeface="Arial"/>
              </a:rPr>
              <a:t>21</a:t>
            </a:r>
          </a:p>
        </p:txBody>
      </p:sp>
      <p:sp>
        <p:nvSpPr>
          <p:cNvPr id="5" name="Rectangle 4"/>
          <p:cNvSpPr/>
          <p:nvPr/>
        </p:nvSpPr>
        <p:spPr>
          <a:xfrm>
            <a:off x="502920" y="1188720"/>
            <a:ext cx="1984248" cy="502920"/>
          </a:xfrm>
          <a:prstGeom prst="rect">
            <a:avLst/>
          </a:prstGeom>
          <a:solidFill>
            <a:srgbClr val="0F233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21792" y="1307592"/>
            <a:ext cx="1746504" cy="23774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1" i="0">
                <a:solidFill>
                  <a:srgbClr val="FFFFFF"/>
                </a:solidFill>
                <a:latin typeface="Arial"/>
              </a:rPr>
              <a:t>Data type</a:t>
            </a:r>
          </a:p>
        </p:txBody>
      </p:sp>
      <p:sp>
        <p:nvSpPr>
          <p:cNvPr id="7" name="Rectangle 6"/>
          <p:cNvSpPr/>
          <p:nvPr/>
        </p:nvSpPr>
        <p:spPr>
          <a:xfrm>
            <a:off x="2487168" y="1188720"/>
            <a:ext cx="4315968" cy="502920"/>
          </a:xfrm>
          <a:prstGeom prst="rect">
            <a:avLst/>
          </a:prstGeom>
          <a:solidFill>
            <a:srgbClr val="0F233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606040" y="1307592"/>
            <a:ext cx="4078224" cy="23774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1" i="0">
                <a:solidFill>
                  <a:srgbClr val="FFFFFF"/>
                </a:solidFill>
                <a:latin typeface="Arial"/>
              </a:rPr>
              <a:t>Dataset / version</a:t>
            </a:r>
          </a:p>
        </p:txBody>
      </p:sp>
      <p:sp>
        <p:nvSpPr>
          <p:cNvPr id="9" name="Rectangle 8"/>
          <p:cNvSpPr/>
          <p:nvPr/>
        </p:nvSpPr>
        <p:spPr>
          <a:xfrm>
            <a:off x="6803136" y="1188720"/>
            <a:ext cx="4882896" cy="502920"/>
          </a:xfrm>
          <a:prstGeom prst="rect">
            <a:avLst/>
          </a:prstGeom>
          <a:solidFill>
            <a:srgbClr val="0F233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922008" y="1307592"/>
            <a:ext cx="4645152" cy="23774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1" i="0">
                <a:solidFill>
                  <a:srgbClr val="FFFFFF"/>
                </a:solidFill>
                <a:latin typeface="Arial"/>
              </a:rPr>
              <a:t>What it tells us</a:t>
            </a:r>
          </a:p>
        </p:txBody>
      </p:sp>
      <p:sp>
        <p:nvSpPr>
          <p:cNvPr id="11" name="Rectangle 10"/>
          <p:cNvSpPr/>
          <p:nvPr/>
        </p:nvSpPr>
        <p:spPr>
          <a:xfrm>
            <a:off x="502920" y="1691640"/>
            <a:ext cx="1984248" cy="713232"/>
          </a:xfrm>
          <a:prstGeom prst="rect">
            <a:avLst/>
          </a:prstGeom>
          <a:solidFill>
            <a:srgbClr val="FFFFFF"/>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1792" y="1783080"/>
            <a:ext cx="1746504" cy="4937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150" b="1" i="0">
                <a:solidFill>
                  <a:srgbClr val="0F233D"/>
                </a:solidFill>
                <a:latin typeface="Arial"/>
              </a:rPr>
              <a:t>Starting gene list</a:t>
            </a:r>
          </a:p>
        </p:txBody>
      </p:sp>
      <p:sp>
        <p:nvSpPr>
          <p:cNvPr id="13" name="Rectangle 12"/>
          <p:cNvSpPr/>
          <p:nvPr/>
        </p:nvSpPr>
        <p:spPr>
          <a:xfrm>
            <a:off x="2487168" y="1691640"/>
            <a:ext cx="4315968" cy="713232"/>
          </a:xfrm>
          <a:prstGeom prst="rect">
            <a:avLst/>
          </a:prstGeom>
          <a:solidFill>
            <a:srgbClr val="FFFFFF"/>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606040" y="1783080"/>
            <a:ext cx="4078224" cy="4937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110" b="0" i="0">
                <a:solidFill>
                  <a:srgbClr val="2F2F2F"/>
                </a:solidFill>
                <a:latin typeface="Arial"/>
              </a:rPr>
              <a:t>Original network study • GENCODE v44 • HGNC 2026-06-05</a:t>
            </a:r>
          </a:p>
        </p:txBody>
      </p:sp>
      <p:sp>
        <p:nvSpPr>
          <p:cNvPr id="15" name="Rectangle 14"/>
          <p:cNvSpPr/>
          <p:nvPr/>
        </p:nvSpPr>
        <p:spPr>
          <a:xfrm>
            <a:off x="6803136" y="1691640"/>
            <a:ext cx="4882896" cy="713232"/>
          </a:xfrm>
          <a:prstGeom prst="rect">
            <a:avLst/>
          </a:prstGeom>
          <a:solidFill>
            <a:srgbClr val="FFFFFF"/>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922008" y="1783080"/>
            <a:ext cx="4645152" cy="4937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110" b="0" i="0">
                <a:solidFill>
                  <a:srgbClr val="2F2F2F"/>
                </a:solidFill>
                <a:latin typeface="Arial"/>
              </a:rPr>
              <a:t>Keep 47 settings; map gene names and DNA locations</a:t>
            </a:r>
          </a:p>
        </p:txBody>
      </p:sp>
      <p:sp>
        <p:nvSpPr>
          <p:cNvPr id="17" name="Rectangle 16"/>
          <p:cNvSpPr/>
          <p:nvPr/>
        </p:nvSpPr>
        <p:spPr>
          <a:xfrm>
            <a:off x="502920" y="2404872"/>
            <a:ext cx="1984248" cy="713232"/>
          </a:xfrm>
          <a:prstGeom prst="rect">
            <a:avLst/>
          </a:prstGeom>
          <a:solidFill>
            <a:srgbClr val="F2F4F7"/>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1792" y="2496312"/>
            <a:ext cx="1746504" cy="4937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150" b="1" i="0">
                <a:solidFill>
                  <a:srgbClr val="0F233D"/>
                </a:solidFill>
                <a:latin typeface="Arial"/>
              </a:rPr>
              <a:t>Published summaries</a:t>
            </a:r>
          </a:p>
        </p:txBody>
      </p:sp>
      <p:sp>
        <p:nvSpPr>
          <p:cNvPr id="19" name="Rectangle 18"/>
          <p:cNvSpPr/>
          <p:nvPr/>
        </p:nvSpPr>
        <p:spPr>
          <a:xfrm>
            <a:off x="2487168" y="2404872"/>
            <a:ext cx="4315968" cy="713232"/>
          </a:xfrm>
          <a:prstGeom prst="rect">
            <a:avLst/>
          </a:prstGeom>
          <a:solidFill>
            <a:srgbClr val="F2F4F7"/>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606040" y="2496312"/>
            <a:ext cx="4078224" cy="4937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110" b="0" i="0">
                <a:solidFill>
                  <a:srgbClr val="2F2F2F"/>
                </a:solidFill>
                <a:latin typeface="Arial"/>
              </a:rPr>
              <a:t>FunGen-xQTL snapshot f6f63fc…</a:t>
            </a:r>
          </a:p>
        </p:txBody>
      </p:sp>
      <p:sp>
        <p:nvSpPr>
          <p:cNvPr id="21" name="Rectangle 20"/>
          <p:cNvSpPr/>
          <p:nvPr/>
        </p:nvSpPr>
        <p:spPr>
          <a:xfrm>
            <a:off x="6803136" y="2404872"/>
            <a:ext cx="4882896" cy="713232"/>
          </a:xfrm>
          <a:prstGeom prst="rect">
            <a:avLst/>
          </a:prstGeom>
          <a:solidFill>
            <a:srgbClr val="F2F4F7"/>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922008" y="2496312"/>
            <a:ext cx="4645152" cy="4937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110" b="0" i="0">
                <a:solidFill>
                  <a:srgbClr val="2F2F2F"/>
                </a:solidFill>
                <a:latin typeface="Arial"/>
              </a:rPr>
              <a:t>Quick screen of earlier AD and gene-regulation results</a:t>
            </a:r>
          </a:p>
        </p:txBody>
      </p:sp>
      <p:sp>
        <p:nvSpPr>
          <p:cNvPr id="23" name="Rectangle 22"/>
          <p:cNvSpPr/>
          <p:nvPr/>
        </p:nvSpPr>
        <p:spPr>
          <a:xfrm>
            <a:off x="502920" y="3118104"/>
            <a:ext cx="1984248" cy="713232"/>
          </a:xfrm>
          <a:prstGeom prst="rect">
            <a:avLst/>
          </a:prstGeom>
          <a:solidFill>
            <a:srgbClr val="FFFFFF"/>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21792" y="3209544"/>
            <a:ext cx="1746504" cy="4937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150" b="1" i="0">
                <a:solidFill>
                  <a:srgbClr val="0F233D"/>
                </a:solidFill>
                <a:latin typeface="Arial"/>
              </a:rPr>
              <a:t>Alzheimer's disease</a:t>
            </a:r>
          </a:p>
        </p:txBody>
      </p:sp>
      <p:sp>
        <p:nvSpPr>
          <p:cNvPr id="25" name="Rectangle 24"/>
          <p:cNvSpPr/>
          <p:nvPr/>
        </p:nvSpPr>
        <p:spPr>
          <a:xfrm>
            <a:off x="2487168" y="3118104"/>
            <a:ext cx="4315968" cy="713232"/>
          </a:xfrm>
          <a:prstGeom prst="rect">
            <a:avLst/>
          </a:prstGeom>
          <a:solidFill>
            <a:srgbClr val="FFFFFF"/>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606040" y="3209544"/>
            <a:ext cx="4078224" cy="4937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110" b="0" i="0">
                <a:solidFill>
                  <a:srgbClr val="2F2F2F"/>
                </a:solidFill>
                <a:latin typeface="Arial"/>
              </a:rPr>
              <a:t>Bellenguez • GCST90027158</a:t>
            </a:r>
          </a:p>
        </p:txBody>
      </p:sp>
      <p:sp>
        <p:nvSpPr>
          <p:cNvPr id="27" name="Rectangle 26"/>
          <p:cNvSpPr/>
          <p:nvPr/>
        </p:nvSpPr>
        <p:spPr>
          <a:xfrm>
            <a:off x="6803136" y="3118104"/>
            <a:ext cx="4882896" cy="713232"/>
          </a:xfrm>
          <a:prstGeom prst="rect">
            <a:avLst/>
          </a:prstGeom>
          <a:solidFill>
            <a:srgbClr val="FFFFFF"/>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922008" y="3209544"/>
            <a:ext cx="4645152" cy="4937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110" b="0" i="0">
                <a:solidFill>
                  <a:srgbClr val="2F2F2F"/>
                </a:solidFill>
                <a:latin typeface="Arial"/>
              </a:rPr>
              <a:t>Check DNA within ±1 Mb of the 19 nuclear genes</a:t>
            </a:r>
          </a:p>
        </p:txBody>
      </p:sp>
      <p:sp>
        <p:nvSpPr>
          <p:cNvPr id="29" name="Rectangle 28"/>
          <p:cNvSpPr/>
          <p:nvPr/>
        </p:nvSpPr>
        <p:spPr>
          <a:xfrm>
            <a:off x="502920" y="3831335"/>
            <a:ext cx="1984248" cy="713232"/>
          </a:xfrm>
          <a:prstGeom prst="rect">
            <a:avLst/>
          </a:prstGeom>
          <a:solidFill>
            <a:srgbClr val="F2F4F7"/>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21792" y="3922775"/>
            <a:ext cx="1746504" cy="4937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150" b="1" i="0">
                <a:solidFill>
                  <a:srgbClr val="0F233D"/>
                </a:solidFill>
                <a:latin typeface="Arial"/>
              </a:rPr>
              <a:t>Brain gene activity</a:t>
            </a:r>
          </a:p>
        </p:txBody>
      </p:sp>
      <p:sp>
        <p:nvSpPr>
          <p:cNvPr id="31" name="Rectangle 30"/>
          <p:cNvSpPr/>
          <p:nvPr/>
        </p:nvSpPr>
        <p:spPr>
          <a:xfrm>
            <a:off x="2487168" y="3831335"/>
            <a:ext cx="4315968" cy="713232"/>
          </a:xfrm>
          <a:prstGeom prst="rect">
            <a:avLst/>
          </a:prstGeom>
          <a:solidFill>
            <a:srgbClr val="F2F4F7"/>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606040" y="3922775"/>
            <a:ext cx="4078224" cy="4937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110" b="0" i="0">
                <a:solidFill>
                  <a:srgbClr val="2F2F2F"/>
                </a:solidFill>
                <a:latin typeface="Arial"/>
              </a:rPr>
              <a:t>NG00184.v1 • eQTL Catalogue r7</a:t>
            </a:r>
          </a:p>
        </p:txBody>
      </p:sp>
      <p:sp>
        <p:nvSpPr>
          <p:cNvPr id="33" name="Rectangle 32"/>
          <p:cNvSpPr/>
          <p:nvPr/>
        </p:nvSpPr>
        <p:spPr>
          <a:xfrm>
            <a:off x="6803136" y="3831335"/>
            <a:ext cx="4882896" cy="713232"/>
          </a:xfrm>
          <a:prstGeom prst="rect">
            <a:avLst/>
          </a:prstGeom>
          <a:solidFill>
            <a:srgbClr val="F2F4F7"/>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922008" y="3922775"/>
            <a:ext cx="4645152" cy="4937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110" b="0" i="0">
                <a:solidFill>
                  <a:srgbClr val="2F2F2F"/>
                </a:solidFill>
                <a:latin typeface="Arial"/>
              </a:rPr>
              <a:t>Check DNA links to RNA amount, RNA splicing, and protein</a:t>
            </a:r>
          </a:p>
        </p:txBody>
      </p:sp>
      <p:sp>
        <p:nvSpPr>
          <p:cNvPr id="35" name="Rectangle 34"/>
          <p:cNvSpPr/>
          <p:nvPr/>
        </p:nvSpPr>
        <p:spPr>
          <a:xfrm>
            <a:off x="502920" y="4544568"/>
            <a:ext cx="1984248" cy="713232"/>
          </a:xfrm>
          <a:prstGeom prst="rect">
            <a:avLst/>
          </a:prstGeom>
          <a:solidFill>
            <a:srgbClr val="FFFFFF"/>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21792" y="4636008"/>
            <a:ext cx="1746504" cy="4937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150" b="1" i="0">
                <a:solidFill>
                  <a:srgbClr val="0F233D"/>
                </a:solidFill>
                <a:latin typeface="Arial"/>
              </a:rPr>
              <a:t>Spinal-fluid markers</a:t>
            </a:r>
          </a:p>
        </p:txBody>
      </p:sp>
      <p:sp>
        <p:nvSpPr>
          <p:cNvPr id="37" name="Rectangle 36"/>
          <p:cNvSpPr/>
          <p:nvPr/>
        </p:nvSpPr>
        <p:spPr>
          <a:xfrm>
            <a:off x="2487168" y="4544568"/>
            <a:ext cx="4315968" cy="713232"/>
          </a:xfrm>
          <a:prstGeom prst="rect">
            <a:avLst/>
          </a:prstGeom>
          <a:solidFill>
            <a:srgbClr val="FFFFFF"/>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2606040" y="4636008"/>
            <a:ext cx="4078224" cy="4937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110" b="0" i="0">
                <a:solidFill>
                  <a:srgbClr val="2F2F2F"/>
                </a:solidFill>
                <a:latin typeface="Arial"/>
              </a:rPr>
              <a:t>GCST90726396 / 397 / 398 • N=18,948 each</a:t>
            </a:r>
          </a:p>
        </p:txBody>
      </p:sp>
      <p:sp>
        <p:nvSpPr>
          <p:cNvPr id="39" name="Rectangle 38"/>
          <p:cNvSpPr/>
          <p:nvPr/>
        </p:nvSpPr>
        <p:spPr>
          <a:xfrm>
            <a:off x="6803136" y="4544568"/>
            <a:ext cx="4882896" cy="713232"/>
          </a:xfrm>
          <a:prstGeom prst="rect">
            <a:avLst/>
          </a:prstGeom>
          <a:solidFill>
            <a:srgbClr val="FFFFFF"/>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922008" y="4636008"/>
            <a:ext cx="4645152" cy="4937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110" b="0" i="0">
                <a:solidFill>
                  <a:srgbClr val="2F2F2F"/>
                </a:solidFill>
                <a:latin typeface="Arial"/>
              </a:rPr>
              <a:t>Test amyloid-β42, total tau, and p-tau181</a:t>
            </a:r>
          </a:p>
        </p:txBody>
      </p:sp>
      <p:sp>
        <p:nvSpPr>
          <p:cNvPr id="41" name="Rectangle 40"/>
          <p:cNvSpPr/>
          <p:nvPr/>
        </p:nvSpPr>
        <p:spPr>
          <a:xfrm>
            <a:off x="502920" y="5257800"/>
            <a:ext cx="1984248" cy="713232"/>
          </a:xfrm>
          <a:prstGeom prst="rect">
            <a:avLst/>
          </a:prstGeom>
          <a:solidFill>
            <a:srgbClr val="F2F4F7"/>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21792" y="5349240"/>
            <a:ext cx="1746504" cy="4937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150" b="1" i="0">
                <a:solidFill>
                  <a:srgbClr val="0F233D"/>
                </a:solidFill>
                <a:latin typeface="Arial"/>
              </a:rPr>
              <a:t>Focused follow-up</a:t>
            </a:r>
          </a:p>
        </p:txBody>
      </p:sp>
      <p:sp>
        <p:nvSpPr>
          <p:cNvPr id="43" name="Rectangle 42"/>
          <p:cNvSpPr/>
          <p:nvPr/>
        </p:nvSpPr>
        <p:spPr>
          <a:xfrm>
            <a:off x="2487168" y="5257800"/>
            <a:ext cx="4315968" cy="713232"/>
          </a:xfrm>
          <a:prstGeom prst="rect">
            <a:avLst/>
          </a:prstGeom>
          <a:solidFill>
            <a:srgbClr val="F2F4F7"/>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2606040" y="5349240"/>
            <a:ext cx="4078224" cy="4937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110" b="0" i="0">
                <a:solidFill>
                  <a:srgbClr val="2F2F2F"/>
                </a:solidFill>
                <a:latin typeface="Arial"/>
              </a:rPr>
              <a:t>NG00130.v2 APOE protein QTL • local NG00184 RPS15</a:t>
            </a:r>
          </a:p>
        </p:txBody>
      </p:sp>
      <p:sp>
        <p:nvSpPr>
          <p:cNvPr id="45" name="Rectangle 44"/>
          <p:cNvSpPr/>
          <p:nvPr/>
        </p:nvSpPr>
        <p:spPr>
          <a:xfrm>
            <a:off x="6803136" y="5257800"/>
            <a:ext cx="4882896" cy="713232"/>
          </a:xfrm>
          <a:prstGeom prst="rect">
            <a:avLst/>
          </a:prstGeom>
          <a:solidFill>
            <a:srgbClr val="F2F4F7"/>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922008" y="5349240"/>
            <a:ext cx="4645152" cy="4937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110" b="0" i="0">
                <a:solidFill>
                  <a:srgbClr val="2F2F2F"/>
                </a:solidFill>
                <a:latin typeface="Arial"/>
              </a:rPr>
              <a:t>Study the open APOE and RPS15 questions</a:t>
            </a:r>
          </a:p>
        </p:txBody>
      </p:sp>
      <p:sp>
        <p:nvSpPr>
          <p:cNvPr id="47" name="Rectangle 46"/>
          <p:cNvSpPr/>
          <p:nvPr/>
        </p:nvSpPr>
        <p:spPr>
          <a:xfrm>
            <a:off x="502920" y="6199632"/>
            <a:ext cx="11183112" cy="502920"/>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502920" y="6199632"/>
            <a:ext cx="91440" cy="502920"/>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31520" y="6291072"/>
            <a:ext cx="10716768" cy="283464"/>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200" b="1" i="0">
                <a:solidFill>
                  <a:srgbClr val="FFFFFF"/>
                </a:solidFill>
                <a:latin typeface="Arial"/>
              </a:rPr>
              <a:t>Public summary statistics support gene-level screening without individual records; Bellenguez sample counts will be added after two bundle fields are reconciled.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512064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50" b="1" i="0">
                <a:solidFill>
                  <a:srgbClr val="0072B2"/>
                </a:solidFill>
                <a:latin typeface="Arial"/>
              </a:rPr>
              <a:t>APPENDIX • DECISION RULES</a:t>
            </a:r>
          </a:p>
        </p:txBody>
      </p:sp>
      <p:sp>
        <p:nvSpPr>
          <p:cNvPr id="3" name="TextBox 2"/>
          <p:cNvSpPr txBox="1"/>
          <p:nvPr/>
        </p:nvSpPr>
        <p:spPr>
          <a:xfrm>
            <a:off x="502920" y="402336"/>
            <a:ext cx="10927080" cy="51206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2450" b="1" i="0">
                <a:solidFill>
                  <a:srgbClr val="0F233D"/>
                </a:solidFill>
                <a:latin typeface="Arial"/>
              </a:rPr>
              <a:t>Pre-set rules made every evidence comparison consistent</a:t>
            </a:r>
          </a:p>
        </p:txBody>
      </p:sp>
      <p:sp>
        <p:nvSpPr>
          <p:cNvPr id="4" name="TextBox 3"/>
          <p:cNvSpPr txBox="1"/>
          <p:nvPr/>
        </p:nvSpPr>
        <p:spPr>
          <a:xfrm>
            <a:off x="521207" y="914400"/>
            <a:ext cx="10652760" cy="2468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70" b="0" i="0">
                <a:solidFill>
                  <a:srgbClr val="677484"/>
                </a:solidFill>
                <a:latin typeface="Arial"/>
              </a:rPr>
              <a:t>Cutoffs were pre-set screening references; exact P values are reported on both sides of each cutoff.</a:t>
            </a:r>
          </a:p>
        </p:txBody>
      </p:sp>
      <p:sp>
        <p:nvSpPr>
          <p:cNvPr id="5" name="TextBox 4"/>
          <p:cNvSpPr txBox="1"/>
          <p:nvPr/>
        </p:nvSpPr>
        <p:spPr>
          <a:xfrm>
            <a:off x="11356848" y="192024"/>
            <a:ext cx="329184" cy="182880"/>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900" b="1" i="0">
                <a:solidFill>
                  <a:srgbClr val="677484"/>
                </a:solidFill>
                <a:latin typeface="Arial"/>
              </a:rPr>
              <a:t>22</a:t>
            </a:r>
          </a:p>
        </p:txBody>
      </p:sp>
      <p:sp>
        <p:nvSpPr>
          <p:cNvPr id="6" name="Rounded Rectangle 5"/>
          <p:cNvSpPr/>
          <p:nvPr/>
        </p:nvSpPr>
        <p:spPr>
          <a:xfrm>
            <a:off x="502920" y="1161288"/>
            <a:ext cx="2066543" cy="950976"/>
          </a:xfrm>
          <a:prstGeom prst="roundRect">
            <a:avLst/>
          </a:prstGeom>
          <a:solidFill>
            <a:srgbClr val="E6F2F9"/>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21792" y="1307592"/>
            <a:ext cx="1828799" cy="18288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880" b="1" i="0">
                <a:solidFill>
                  <a:srgbClr val="0072B2"/>
                </a:solidFill>
                <a:latin typeface="Arial"/>
              </a:rPr>
              <a:t>NEARBY-AD REGIONAL SCREEN</a:t>
            </a:r>
          </a:p>
        </p:txBody>
      </p:sp>
      <p:sp>
        <p:nvSpPr>
          <p:cNvPr id="8" name="TextBox 7"/>
          <p:cNvSpPr txBox="1"/>
          <p:nvPr/>
        </p:nvSpPr>
        <p:spPr>
          <a:xfrm>
            <a:off x="621792" y="1636776"/>
            <a:ext cx="1828799" cy="25603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220" b="1" i="0">
                <a:solidFill>
                  <a:srgbClr val="0F233D"/>
                </a:solidFill>
                <a:latin typeface="Arial"/>
              </a:rPr>
              <a:t>P &lt; 5×10⁻⁸</a:t>
            </a:r>
          </a:p>
        </p:txBody>
      </p:sp>
      <p:sp>
        <p:nvSpPr>
          <p:cNvPr id="9" name="Rounded Rectangle 8"/>
          <p:cNvSpPr/>
          <p:nvPr/>
        </p:nvSpPr>
        <p:spPr>
          <a:xfrm>
            <a:off x="2761488" y="1161288"/>
            <a:ext cx="2066543" cy="950976"/>
          </a:xfrm>
          <a:prstGeom prst="roundRect">
            <a:avLst/>
          </a:prstGeom>
          <a:solidFill>
            <a:srgbClr val="E6F2F9"/>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880360" y="1307592"/>
            <a:ext cx="1828799" cy="18288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880" b="1" i="0">
                <a:solidFill>
                  <a:srgbClr val="0072B2"/>
                </a:solidFill>
                <a:latin typeface="Arial"/>
              </a:rPr>
              <a:t>GENE-ACTIVITY LINK</a:t>
            </a:r>
          </a:p>
        </p:txBody>
      </p:sp>
      <p:sp>
        <p:nvSpPr>
          <p:cNvPr id="11" name="TextBox 10"/>
          <p:cNvSpPr txBox="1"/>
          <p:nvPr/>
        </p:nvSpPr>
        <p:spPr>
          <a:xfrm>
            <a:off x="2880360" y="1636776"/>
            <a:ext cx="1828799" cy="25603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220" b="1" i="0">
                <a:solidFill>
                  <a:srgbClr val="0F233D"/>
                </a:solidFill>
                <a:latin typeface="Arial"/>
              </a:rPr>
              <a:t>P &lt; 0.05 / N tested</a:t>
            </a:r>
          </a:p>
        </p:txBody>
      </p:sp>
      <p:sp>
        <p:nvSpPr>
          <p:cNvPr id="12" name="Rounded Rectangle 11"/>
          <p:cNvSpPr/>
          <p:nvPr/>
        </p:nvSpPr>
        <p:spPr>
          <a:xfrm>
            <a:off x="5020056" y="1161288"/>
            <a:ext cx="2066543" cy="950976"/>
          </a:xfrm>
          <a:prstGeom prst="roundRect">
            <a:avLst/>
          </a:prstGeom>
          <a:solidFill>
            <a:srgbClr val="E6F2F9"/>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138928" y="1307592"/>
            <a:ext cx="1828799" cy="18288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880" b="1" i="0">
                <a:solidFill>
                  <a:srgbClr val="0072B2"/>
                </a:solidFill>
                <a:latin typeface="Arial"/>
              </a:rPr>
              <a:t>SPINAL-FLUID GENE TEST</a:t>
            </a:r>
          </a:p>
        </p:txBody>
      </p:sp>
      <p:sp>
        <p:nvSpPr>
          <p:cNvPr id="14" name="TextBox 13"/>
          <p:cNvSpPr txBox="1"/>
          <p:nvPr/>
        </p:nvSpPr>
        <p:spPr>
          <a:xfrm>
            <a:off x="5138928" y="1636776"/>
            <a:ext cx="1828799" cy="25603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220" b="1" i="0">
                <a:solidFill>
                  <a:srgbClr val="0F233D"/>
                </a:solidFill>
                <a:latin typeface="Arial"/>
              </a:rPr>
              <a:t>P &lt; 8.77193×10⁻⁴</a:t>
            </a:r>
          </a:p>
        </p:txBody>
      </p:sp>
      <p:sp>
        <p:nvSpPr>
          <p:cNvPr id="15" name="Rounded Rectangle 14"/>
          <p:cNvSpPr/>
          <p:nvPr/>
        </p:nvSpPr>
        <p:spPr>
          <a:xfrm>
            <a:off x="7278624" y="1161288"/>
            <a:ext cx="2066543" cy="950976"/>
          </a:xfrm>
          <a:prstGeom prst="roundRect">
            <a:avLst/>
          </a:prstGeom>
          <a:solidFill>
            <a:srgbClr val="E6F2F9"/>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97496" y="1307592"/>
            <a:ext cx="1828799" cy="18288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880" b="1" i="0">
                <a:solidFill>
                  <a:srgbClr val="0072B2"/>
                </a:solidFill>
                <a:latin typeface="Arial"/>
              </a:rPr>
              <a:t>MODEL ASSUMPTIONS</a:t>
            </a:r>
          </a:p>
        </p:txBody>
      </p:sp>
      <p:sp>
        <p:nvSpPr>
          <p:cNvPr id="17" name="TextBox 16"/>
          <p:cNvSpPr txBox="1"/>
          <p:nvPr/>
        </p:nvSpPr>
        <p:spPr>
          <a:xfrm>
            <a:off x="7397496" y="1636776"/>
            <a:ext cx="1828799" cy="25603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220" b="1" i="0">
                <a:solidFill>
                  <a:srgbClr val="0F233D"/>
                </a:solidFill>
                <a:latin typeface="Arial"/>
              </a:rPr>
              <a:t>10⁻⁴ / 10⁻⁴ / 5×10⁻⁶</a:t>
            </a:r>
          </a:p>
        </p:txBody>
      </p:sp>
      <p:sp>
        <p:nvSpPr>
          <p:cNvPr id="18" name="Rounded Rectangle 17"/>
          <p:cNvSpPr/>
          <p:nvPr/>
        </p:nvSpPr>
        <p:spPr>
          <a:xfrm>
            <a:off x="9537192" y="1161288"/>
            <a:ext cx="2066543" cy="950976"/>
          </a:xfrm>
          <a:prstGeom prst="roundRect">
            <a:avLst/>
          </a:prstGeom>
          <a:solidFill>
            <a:srgbClr val="E6F2F9"/>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656064" y="1307592"/>
            <a:ext cx="1828799" cy="18288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880" b="1" i="0">
                <a:solidFill>
                  <a:srgbClr val="0072B2"/>
                </a:solidFill>
                <a:latin typeface="Arial"/>
              </a:rPr>
              <a:t>STRONG SHARED SIGNAL</a:t>
            </a:r>
          </a:p>
        </p:txBody>
      </p:sp>
      <p:sp>
        <p:nvSpPr>
          <p:cNvPr id="20" name="TextBox 19"/>
          <p:cNvSpPr txBox="1"/>
          <p:nvPr/>
        </p:nvSpPr>
        <p:spPr>
          <a:xfrm>
            <a:off x="9656064" y="1636776"/>
            <a:ext cx="1828799" cy="25603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220" b="1" i="0">
                <a:solidFill>
                  <a:srgbClr val="0F233D"/>
                </a:solidFill>
                <a:latin typeface="Arial"/>
              </a:rPr>
              <a:t>Estimated probability ≥ 0.80</a:t>
            </a:r>
          </a:p>
        </p:txBody>
      </p:sp>
      <p:sp>
        <p:nvSpPr>
          <p:cNvPr id="21" name="Rounded Rectangle 20"/>
          <p:cNvSpPr/>
          <p:nvPr/>
        </p:nvSpPr>
        <p:spPr>
          <a:xfrm>
            <a:off x="566928" y="2468880"/>
            <a:ext cx="5358384" cy="877824"/>
          </a:xfrm>
          <a:prstGeom prst="roundRect">
            <a:avLst/>
          </a:prstGeom>
          <a:solidFill>
            <a:srgbClr val="FFFFFF"/>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66928" y="2468880"/>
            <a:ext cx="82296" cy="87782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95528" y="2606040"/>
            <a:ext cx="2286000" cy="2468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30" b="1" i="0">
                <a:solidFill>
                  <a:srgbClr val="0F233D"/>
                </a:solidFill>
                <a:latin typeface="Arial"/>
              </a:rPr>
              <a:t>Broaden public-data search</a:t>
            </a:r>
          </a:p>
        </p:txBody>
      </p:sp>
      <p:sp>
        <p:nvSpPr>
          <p:cNvPr id="24" name="TextBox 23"/>
          <p:cNvSpPr txBox="1"/>
          <p:nvPr/>
        </p:nvSpPr>
        <p:spPr>
          <a:xfrm>
            <a:off x="3054096" y="2578608"/>
            <a:ext cx="2587752" cy="49377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80" b="0" i="0">
                <a:solidFill>
                  <a:srgbClr val="2F2F2F"/>
                </a:solidFill>
                <a:latin typeface="Arial"/>
              </a:rPr>
              <a:t>The registered quick screen had no direct match; additional sources can extend the search.</a:t>
            </a:r>
          </a:p>
        </p:txBody>
      </p:sp>
      <p:sp>
        <p:nvSpPr>
          <p:cNvPr id="25" name="Rounded Rectangle 24"/>
          <p:cNvSpPr/>
          <p:nvPr/>
        </p:nvSpPr>
        <p:spPr>
          <a:xfrm>
            <a:off x="6217920" y="2468880"/>
            <a:ext cx="5358384" cy="877824"/>
          </a:xfrm>
          <a:prstGeom prst="roundRect">
            <a:avLst/>
          </a:prstGeom>
          <a:solidFill>
            <a:srgbClr val="FFFFFF"/>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217920" y="2468880"/>
            <a:ext cx="82296" cy="87782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46520" y="2606040"/>
            <a:ext cx="2286000" cy="2468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30" b="1" i="0">
                <a:solidFill>
                  <a:srgbClr val="0F233D"/>
                </a:solidFill>
                <a:latin typeface="Arial"/>
              </a:rPr>
              <a:t>Nearby-AD P value reported</a:t>
            </a:r>
          </a:p>
        </p:txBody>
      </p:sp>
      <p:sp>
        <p:nvSpPr>
          <p:cNvPr id="28" name="TextBox 27"/>
          <p:cNvSpPr txBox="1"/>
          <p:nvPr/>
        </p:nvSpPr>
        <p:spPr>
          <a:xfrm>
            <a:off x="8705088" y="2578608"/>
            <a:ext cx="2587752" cy="49377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80" b="0" i="0">
                <a:solidFill>
                  <a:srgbClr val="2F2F2F"/>
                </a:solidFill>
                <a:latin typeface="Arial"/>
              </a:rPr>
              <a:t>The exact regional minimum is shown relative to the conservative 5×10⁻⁸ reference.</a:t>
            </a:r>
          </a:p>
        </p:txBody>
      </p:sp>
      <p:sp>
        <p:nvSpPr>
          <p:cNvPr id="29" name="Rounded Rectangle 28"/>
          <p:cNvSpPr/>
          <p:nvPr/>
        </p:nvSpPr>
        <p:spPr>
          <a:xfrm>
            <a:off x="566928" y="3520440"/>
            <a:ext cx="5358384" cy="877824"/>
          </a:xfrm>
          <a:prstGeom prst="roundRect">
            <a:avLst/>
          </a:prstGeom>
          <a:solidFill>
            <a:srgbClr val="FFFFFF"/>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566928" y="3520440"/>
            <a:ext cx="82296" cy="87782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95528" y="3657600"/>
            <a:ext cx="2286000" cy="2468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30" b="1" i="0">
                <a:solidFill>
                  <a:srgbClr val="0F233D"/>
                </a:solidFill>
                <a:latin typeface="Arial"/>
              </a:rPr>
              <a:t>Gene-activity P value reported</a:t>
            </a:r>
          </a:p>
        </p:txBody>
      </p:sp>
      <p:sp>
        <p:nvSpPr>
          <p:cNvPr id="32" name="TextBox 31"/>
          <p:cNvSpPr txBox="1"/>
          <p:nvPr/>
        </p:nvSpPr>
        <p:spPr>
          <a:xfrm>
            <a:off x="3054096" y="3630168"/>
            <a:ext cx="2587752" cy="49377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80" b="0" i="0">
                <a:solidFill>
                  <a:srgbClr val="2F2F2F"/>
                </a:solidFill>
                <a:latin typeface="Arial"/>
              </a:rPr>
              <a:t>The measured value is shown relative to its pre-set source-specific reference.</a:t>
            </a:r>
          </a:p>
        </p:txBody>
      </p:sp>
      <p:sp>
        <p:nvSpPr>
          <p:cNvPr id="33" name="Rounded Rectangle 32"/>
          <p:cNvSpPr/>
          <p:nvPr/>
        </p:nvSpPr>
        <p:spPr>
          <a:xfrm>
            <a:off x="6217920" y="3520440"/>
            <a:ext cx="5358384" cy="877824"/>
          </a:xfrm>
          <a:prstGeom prst="roundRect">
            <a:avLst/>
          </a:prstGeom>
          <a:solidFill>
            <a:srgbClr val="FFFFFF"/>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6217920" y="3520440"/>
            <a:ext cx="82296" cy="87782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446520" y="3657600"/>
            <a:ext cx="2286000" cy="2468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30" b="1" i="0">
                <a:solidFill>
                  <a:srgbClr val="0F233D"/>
                </a:solidFill>
                <a:latin typeface="Arial"/>
              </a:rPr>
              <a:t>Validate with complete inputs</a:t>
            </a:r>
          </a:p>
        </p:txBody>
      </p:sp>
      <p:sp>
        <p:nvSpPr>
          <p:cNvPr id="36" name="TextBox 35"/>
          <p:cNvSpPr txBox="1"/>
          <p:nvPr/>
        </p:nvSpPr>
        <p:spPr>
          <a:xfrm>
            <a:off x="8705088" y="3630168"/>
            <a:ext cx="2587752" cy="49377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80" b="0" i="0">
                <a:solidFill>
                  <a:srgbClr val="2F2F2F"/>
                </a:solidFill>
                <a:latin typeface="Arial"/>
              </a:rPr>
              <a:t>A complete measurement, file, model, or dataset description can enable the next test.</a:t>
            </a:r>
          </a:p>
        </p:txBody>
      </p:sp>
      <p:sp>
        <p:nvSpPr>
          <p:cNvPr id="37" name="Rounded Rectangle 36"/>
          <p:cNvSpPr/>
          <p:nvPr/>
        </p:nvSpPr>
        <p:spPr>
          <a:xfrm>
            <a:off x="566928" y="4572000"/>
            <a:ext cx="5358384" cy="877824"/>
          </a:xfrm>
          <a:prstGeom prst="roundRect">
            <a:avLst/>
          </a:prstGeom>
          <a:solidFill>
            <a:srgbClr val="FFFFFF"/>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566928" y="4572000"/>
            <a:ext cx="82296" cy="87782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95528" y="4709160"/>
            <a:ext cx="2286000" cy="2468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30" b="1" i="0">
                <a:solidFill>
                  <a:srgbClr val="0F233D"/>
                </a:solidFill>
                <a:latin typeface="Arial"/>
              </a:rPr>
              <a:t>Harmonize both datasets</a:t>
            </a:r>
          </a:p>
        </p:txBody>
      </p:sp>
      <p:sp>
        <p:nvSpPr>
          <p:cNvPr id="40" name="TextBox 39"/>
          <p:cNvSpPr txBox="1"/>
          <p:nvPr/>
        </p:nvSpPr>
        <p:spPr>
          <a:xfrm>
            <a:off x="3054096" y="4681728"/>
            <a:ext cx="2587752" cy="49377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80" b="0" i="0">
                <a:solidFill>
                  <a:srgbClr val="2F2F2F"/>
                </a:solidFill>
                <a:latin typeface="Arial"/>
              </a:rPr>
              <a:t>Both signals existed; matching variants, models, and reference data can enable comparison.</a:t>
            </a:r>
          </a:p>
        </p:txBody>
      </p:sp>
      <p:sp>
        <p:nvSpPr>
          <p:cNvPr id="41" name="Rounded Rectangle 40"/>
          <p:cNvSpPr/>
          <p:nvPr/>
        </p:nvSpPr>
        <p:spPr>
          <a:xfrm>
            <a:off x="6217920" y="4572000"/>
            <a:ext cx="5358384" cy="877824"/>
          </a:xfrm>
          <a:prstGeom prst="roundRect">
            <a:avLst/>
          </a:prstGeom>
          <a:solidFill>
            <a:srgbClr val="FFFFFF"/>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6217920" y="4572000"/>
            <a:ext cx="82296" cy="87782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446520" y="4709160"/>
            <a:ext cx="2286000" cy="2468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30" b="1" i="0">
                <a:solidFill>
                  <a:srgbClr val="0F233D"/>
                </a:solidFill>
                <a:latin typeface="Arial"/>
              </a:rPr>
              <a:t>Use an mtDNA-specific method</a:t>
            </a:r>
          </a:p>
        </p:txBody>
      </p:sp>
      <p:sp>
        <p:nvSpPr>
          <p:cNvPr id="44" name="TextBox 43"/>
          <p:cNvSpPr txBox="1"/>
          <p:nvPr/>
        </p:nvSpPr>
        <p:spPr>
          <a:xfrm>
            <a:off x="8705088" y="4681728"/>
            <a:ext cx="2587752" cy="49377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80" b="0" i="0">
                <a:solidFill>
                  <a:srgbClr val="2F2F2F"/>
                </a:solidFill>
                <a:latin typeface="Arial"/>
              </a:rPr>
              <a:t>Mitochondrial genes have a dedicated future testing route.</a:t>
            </a:r>
          </a:p>
        </p:txBody>
      </p:sp>
      <p:sp>
        <p:nvSpPr>
          <p:cNvPr id="45" name="Rectangle 44"/>
          <p:cNvSpPr/>
          <p:nvPr/>
        </p:nvSpPr>
        <p:spPr>
          <a:xfrm>
            <a:off x="502920" y="6062472"/>
            <a:ext cx="11183112" cy="502920"/>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502920" y="6062472"/>
            <a:ext cx="91440" cy="502920"/>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731520" y="6153912"/>
            <a:ext cx="10716768" cy="283464"/>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200" b="1" i="0">
                <a:solidFill>
                  <a:srgbClr val="FFFFFF"/>
                </a:solidFill>
                <a:latin typeface="Arial"/>
              </a:rPr>
              <a:t>PIP, VCP, and CL are scores from the source studies. PP.H4 estimates whether the disease and gene-activity signals share a DNA variant.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512064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50" b="1" i="0">
                <a:solidFill>
                  <a:srgbClr val="E69F00"/>
                </a:solidFill>
                <a:latin typeface="Arial"/>
              </a:rPr>
              <a:t>APPENDIX • ALZHEIMER'S P VALUES</a:t>
            </a:r>
          </a:p>
        </p:txBody>
      </p:sp>
      <p:sp>
        <p:nvSpPr>
          <p:cNvPr id="3" name="TextBox 2"/>
          <p:cNvSpPr txBox="1"/>
          <p:nvPr/>
        </p:nvSpPr>
        <p:spPr>
          <a:xfrm>
            <a:off x="502920" y="402336"/>
            <a:ext cx="10927080" cy="51206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2450" b="1" i="0">
                <a:solidFill>
                  <a:srgbClr val="0F233D"/>
                </a:solidFill>
                <a:latin typeface="Arial"/>
              </a:rPr>
              <a:t>Four gene regions stood out below 5×10⁻⁸; all 19 P values are shown</a:t>
            </a:r>
          </a:p>
        </p:txBody>
      </p:sp>
      <p:sp>
        <p:nvSpPr>
          <p:cNvPr id="4" name="TextBox 3"/>
          <p:cNvSpPr txBox="1"/>
          <p:nvPr/>
        </p:nvSpPr>
        <p:spPr>
          <a:xfrm>
            <a:off x="11356848" y="192024"/>
            <a:ext cx="329184" cy="182880"/>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900" b="1" i="0">
                <a:solidFill>
                  <a:srgbClr val="677484"/>
                </a:solidFill>
                <a:latin typeface="Arial"/>
              </a:rPr>
              <a:t>23</a:t>
            </a:r>
          </a:p>
        </p:txBody>
      </p:sp>
      <p:pic>
        <p:nvPicPr>
          <p:cNvPr id="5" name="Exact minimum nearby Alzheimer’s-association P values for all 19 nuclear-gene regions, shown relative to the conservative 5×10⁻⁸ screening cutoff" descr="Exact minimum nearby Alzheimer’s-association P values for all 19 nuclear-gene regions, shown relative to the conservative 5×10⁻⁸ screening cutoff"/>
          <p:cNvPicPr>
            <a:picLocks noChangeAspect="1"/>
          </p:cNvPicPr>
          <p:nvPr/>
        </p:nvPicPr>
        <p:blipFill>
          <a:blip r:embed="rId3"/>
          <a:stretch>
            <a:fillRect/>
          </a:stretch>
        </p:blipFill>
        <p:spPr>
          <a:xfrm>
            <a:off x="502920" y="1062731"/>
            <a:ext cx="11183112" cy="4238760"/>
          </a:xfrm>
          <a:prstGeom prst="rect">
            <a:avLst/>
          </a:prstGeom>
        </p:spPr>
      </p:pic>
      <p:sp>
        <p:nvSpPr>
          <p:cNvPr id="6" name="Rectangle 5"/>
          <p:cNvSpPr/>
          <p:nvPr/>
        </p:nvSpPr>
        <p:spPr>
          <a:xfrm>
            <a:off x="502920" y="5596128"/>
            <a:ext cx="11183112" cy="502920"/>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02920" y="5596128"/>
            <a:ext cx="91440" cy="502920"/>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5687568"/>
            <a:ext cx="10716768" cy="283464"/>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200" b="1" i="0">
                <a:solidFill>
                  <a:srgbClr val="FFFFFF"/>
                </a:solidFill>
                <a:latin typeface="Arial"/>
              </a:rPr>
              <a:t>Four regions—near ANKRD11, APOE, COX7C, and RPS15—stood out below 5×10⁻⁸ and now prioritize gene-level validation.</a:t>
            </a:r>
          </a:p>
        </p:txBody>
      </p:sp>
      <p:sp>
        <p:nvSpPr>
          <p:cNvPr id="9" name="TextBox 8"/>
          <p:cNvSpPr txBox="1"/>
          <p:nvPr/>
        </p:nvSpPr>
        <p:spPr>
          <a:xfrm>
            <a:off x="502920" y="6629400"/>
            <a:ext cx="11109960" cy="1280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680" b="0" i="0">
                <a:solidFill>
                  <a:srgbClr val="677484"/>
                </a:solidFill>
                <a:latin typeface="Arial"/>
              </a:rPr>
              <a:t>Source: recovery_regional_gwas_summary.tsv; Bellenguez GWAS Catalog GCST90027158</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512064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50" b="1" i="0">
                <a:solidFill>
                  <a:srgbClr val="0072B2"/>
                </a:solidFill>
                <a:latin typeface="Arial"/>
              </a:rPr>
              <a:t>APPENDIX • FULL TIER 1 AUDIT</a:t>
            </a:r>
          </a:p>
        </p:txBody>
      </p:sp>
      <p:sp>
        <p:nvSpPr>
          <p:cNvPr id="3" name="TextBox 2"/>
          <p:cNvSpPr txBox="1"/>
          <p:nvPr/>
        </p:nvSpPr>
        <p:spPr>
          <a:xfrm>
            <a:off x="502920" y="402336"/>
            <a:ext cx="10927080" cy="51206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2450" b="1" i="0">
                <a:solidFill>
                  <a:srgbClr val="0F233D"/>
                </a:solidFill>
                <a:latin typeface="Arial"/>
              </a:rPr>
              <a:t>APOE led the registered first-screen results across 47 settings</a:t>
            </a:r>
          </a:p>
        </p:txBody>
      </p:sp>
      <p:sp>
        <p:nvSpPr>
          <p:cNvPr id="4" name="TextBox 3"/>
          <p:cNvSpPr txBox="1"/>
          <p:nvPr/>
        </p:nvSpPr>
        <p:spPr>
          <a:xfrm>
            <a:off x="11356848" y="192024"/>
            <a:ext cx="329184" cy="182880"/>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900" b="1" i="0">
                <a:solidFill>
                  <a:srgbClr val="677484"/>
                </a:solidFill>
                <a:latin typeface="Arial"/>
              </a:rPr>
              <a:t>24</a:t>
            </a:r>
          </a:p>
        </p:txBody>
      </p:sp>
      <p:pic>
        <p:nvPicPr>
          <p:cNvPr id="5" name="Full first-screen evidence matrix for 47 gene–network settings" descr="Full first-screen evidence matrix for 47 gene–network settings"/>
          <p:cNvPicPr>
            <a:picLocks noChangeAspect="1"/>
          </p:cNvPicPr>
          <p:nvPr/>
        </p:nvPicPr>
        <p:blipFill>
          <a:blip r:embed="rId3"/>
          <a:stretch>
            <a:fillRect/>
          </a:stretch>
        </p:blipFill>
        <p:spPr>
          <a:xfrm>
            <a:off x="502920" y="1117191"/>
            <a:ext cx="3858768" cy="5300272"/>
          </a:xfrm>
          <a:prstGeom prst="rect">
            <a:avLst/>
          </a:prstGeom>
        </p:spPr>
      </p:pic>
      <p:sp>
        <p:nvSpPr>
          <p:cNvPr id="6" name="Rectangle 5"/>
          <p:cNvSpPr/>
          <p:nvPr/>
        </p:nvSpPr>
        <p:spPr>
          <a:xfrm>
            <a:off x="502920" y="1078992"/>
            <a:ext cx="3858768" cy="1554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67512" y="1101852"/>
            <a:ext cx="3529584" cy="109728"/>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780" b="1" i="0">
                <a:solidFill>
                  <a:srgbClr val="0F233D"/>
                </a:solidFill>
                <a:latin typeface="Arial"/>
              </a:rPr>
              <a:t>First-screen matrix: 47 settings</a:t>
            </a:r>
          </a:p>
        </p:txBody>
      </p:sp>
      <p:sp>
        <p:nvSpPr>
          <p:cNvPr id="8" name="Rounded Rectangle 7"/>
          <p:cNvSpPr/>
          <p:nvPr/>
        </p:nvSpPr>
        <p:spPr>
          <a:xfrm>
            <a:off x="4608576" y="1225296"/>
            <a:ext cx="7059168" cy="4443984"/>
          </a:xfrm>
          <a:prstGeom prst="roundRect">
            <a:avLst/>
          </a:prstGeom>
          <a:solidFill>
            <a:srgbClr val="FFFFFF"/>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910328" y="1527048"/>
            <a:ext cx="361188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00" b="1" i="0">
                <a:solidFill>
                  <a:srgbClr val="0072B2"/>
                </a:solidFill>
                <a:latin typeface="Arial"/>
              </a:rPr>
              <a:t>COUNTS ACROSS 47 SETTINGS</a:t>
            </a:r>
          </a:p>
        </p:txBody>
      </p:sp>
      <p:sp>
        <p:nvSpPr>
          <p:cNvPr id="10" name="Rounded Rectangle 9"/>
          <p:cNvSpPr/>
          <p:nvPr/>
        </p:nvSpPr>
        <p:spPr>
          <a:xfrm>
            <a:off x="4882896" y="1901952"/>
            <a:ext cx="1901952" cy="1024128"/>
          </a:xfrm>
          <a:prstGeom prst="roundRect">
            <a:avLst/>
          </a:prstGeom>
          <a:solidFill>
            <a:srgbClr val="E6F2F9"/>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010912" y="2039112"/>
            <a:ext cx="566928" cy="43891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2100" b="1" i="0">
                <a:solidFill>
                  <a:srgbClr val="0072B2"/>
                </a:solidFill>
                <a:latin typeface="Arial"/>
              </a:rPr>
              <a:t>1</a:t>
            </a:r>
          </a:p>
        </p:txBody>
      </p:sp>
      <p:sp>
        <p:nvSpPr>
          <p:cNvPr id="12" name="TextBox 11"/>
          <p:cNvSpPr txBox="1"/>
          <p:nvPr/>
        </p:nvSpPr>
        <p:spPr>
          <a:xfrm>
            <a:off x="5605272" y="2011680"/>
            <a:ext cx="1024128"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50" b="1" i="0">
                <a:solidFill>
                  <a:srgbClr val="0F233D"/>
                </a:solidFill>
                <a:latin typeface="Arial"/>
              </a:rPr>
              <a:t>Strong</a:t>
            </a:r>
          </a:p>
        </p:txBody>
      </p:sp>
      <p:sp>
        <p:nvSpPr>
          <p:cNvPr id="13" name="TextBox 12"/>
          <p:cNvSpPr txBox="1"/>
          <p:nvPr/>
        </p:nvSpPr>
        <p:spPr>
          <a:xfrm>
            <a:off x="5605272" y="2404872"/>
            <a:ext cx="1024128" cy="31089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69" b="0" i="0">
                <a:solidFill>
                  <a:srgbClr val="4D4D4D"/>
                </a:solidFill>
                <a:latin typeface="Arial"/>
              </a:rPr>
              <a:t>APOE</a:t>
            </a:r>
          </a:p>
        </p:txBody>
      </p:sp>
      <p:sp>
        <p:nvSpPr>
          <p:cNvPr id="14" name="Rounded Rectangle 13"/>
          <p:cNvSpPr/>
          <p:nvPr/>
        </p:nvSpPr>
        <p:spPr>
          <a:xfrm>
            <a:off x="7031736" y="1901952"/>
            <a:ext cx="1901952" cy="1024128"/>
          </a:xfrm>
          <a:prstGeom prst="roundRect">
            <a:avLst/>
          </a:prstGeom>
          <a:solidFill>
            <a:srgbClr val="E5F4EF"/>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159751" y="2039112"/>
            <a:ext cx="566928" cy="43891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2100" b="1" i="0">
                <a:solidFill>
                  <a:srgbClr val="009E73"/>
                </a:solidFill>
                <a:latin typeface="Arial"/>
              </a:rPr>
              <a:t>0</a:t>
            </a:r>
          </a:p>
        </p:txBody>
      </p:sp>
      <p:sp>
        <p:nvSpPr>
          <p:cNvPr id="16" name="TextBox 15"/>
          <p:cNvSpPr txBox="1"/>
          <p:nvPr/>
        </p:nvSpPr>
        <p:spPr>
          <a:xfrm>
            <a:off x="7754112" y="2011680"/>
            <a:ext cx="1024128"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50" b="1" i="0">
                <a:solidFill>
                  <a:srgbClr val="0F233D"/>
                </a:solidFill>
                <a:latin typeface="Arial"/>
              </a:rPr>
              <a:t>Moderate</a:t>
            </a:r>
          </a:p>
        </p:txBody>
      </p:sp>
      <p:sp>
        <p:nvSpPr>
          <p:cNvPr id="17" name="TextBox 16"/>
          <p:cNvSpPr txBox="1"/>
          <p:nvPr/>
        </p:nvSpPr>
        <p:spPr>
          <a:xfrm>
            <a:off x="7754112" y="2404872"/>
            <a:ext cx="1024128" cy="31089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69" b="0" i="0">
                <a:solidFill>
                  <a:srgbClr val="4D4D4D"/>
                </a:solidFill>
                <a:latin typeface="Arial"/>
              </a:rPr>
              <a:t>None</a:t>
            </a:r>
          </a:p>
        </p:txBody>
      </p:sp>
      <p:sp>
        <p:nvSpPr>
          <p:cNvPr id="18" name="Rounded Rectangle 17"/>
          <p:cNvSpPr/>
          <p:nvPr/>
        </p:nvSpPr>
        <p:spPr>
          <a:xfrm>
            <a:off x="9180576" y="1901952"/>
            <a:ext cx="1901952" cy="1024128"/>
          </a:xfrm>
          <a:prstGeom prst="roundRect">
            <a:avLst/>
          </a:prstGeom>
          <a:solidFill>
            <a:srgbClr val="FFF6E0"/>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308592" y="2039112"/>
            <a:ext cx="566928" cy="43891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2100" b="1" i="0">
                <a:solidFill>
                  <a:srgbClr val="E69F00"/>
                </a:solidFill>
                <a:latin typeface="Arial"/>
              </a:rPr>
              <a:t>3</a:t>
            </a:r>
          </a:p>
        </p:txBody>
      </p:sp>
      <p:sp>
        <p:nvSpPr>
          <p:cNvPr id="20" name="TextBox 19"/>
          <p:cNvSpPr txBox="1"/>
          <p:nvPr/>
        </p:nvSpPr>
        <p:spPr>
          <a:xfrm>
            <a:off x="9902951" y="2011680"/>
            <a:ext cx="1024128"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50" b="1" i="0">
                <a:solidFill>
                  <a:srgbClr val="0F233D"/>
                </a:solidFill>
                <a:latin typeface="Arial"/>
              </a:rPr>
              <a:t>Limited</a:t>
            </a:r>
          </a:p>
        </p:txBody>
      </p:sp>
      <p:sp>
        <p:nvSpPr>
          <p:cNvPr id="21" name="TextBox 20"/>
          <p:cNvSpPr txBox="1"/>
          <p:nvPr/>
        </p:nvSpPr>
        <p:spPr>
          <a:xfrm>
            <a:off x="9902951" y="2404872"/>
            <a:ext cx="1024128" cy="31089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69" b="0" i="0">
                <a:solidFill>
                  <a:srgbClr val="4D4D4D"/>
                </a:solidFill>
                <a:latin typeface="Arial"/>
              </a:rPr>
              <a:t>COX7C ×2; SELENOW ×1</a:t>
            </a:r>
          </a:p>
        </p:txBody>
      </p:sp>
      <p:sp>
        <p:nvSpPr>
          <p:cNvPr id="22" name="Rounded Rectangle 21"/>
          <p:cNvSpPr/>
          <p:nvPr/>
        </p:nvSpPr>
        <p:spPr>
          <a:xfrm>
            <a:off x="4882896" y="3163824"/>
            <a:ext cx="1901952" cy="1024128"/>
          </a:xfrm>
          <a:prstGeom prst="roundRect">
            <a:avLst/>
          </a:prstGeom>
          <a:solidFill>
            <a:srgbClr val="F2F4F7"/>
          </a:solidFill>
          <a:ln w="12700">
            <a:solidFill>
              <a:srgbClr val="BDBD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010912" y="3300984"/>
            <a:ext cx="566928" cy="43891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2100" b="1" i="0">
                <a:solidFill>
                  <a:srgbClr val="BDBDBD"/>
                </a:solidFill>
                <a:latin typeface="Arial"/>
              </a:rPr>
              <a:t>23</a:t>
            </a:r>
          </a:p>
        </p:txBody>
      </p:sp>
      <p:sp>
        <p:nvSpPr>
          <p:cNvPr id="24" name="TextBox 23"/>
          <p:cNvSpPr txBox="1"/>
          <p:nvPr/>
        </p:nvSpPr>
        <p:spPr>
          <a:xfrm>
            <a:off x="5605272" y="3273552"/>
            <a:ext cx="1024128" cy="42062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40" b="1" i="0">
                <a:solidFill>
                  <a:srgbClr val="0F233D"/>
                </a:solidFill>
                <a:latin typeface="Arial"/>
              </a:rPr>
              <a:t>Broader-source
follow-up</a:t>
            </a:r>
          </a:p>
        </p:txBody>
      </p:sp>
      <p:sp>
        <p:nvSpPr>
          <p:cNvPr id="25" name="TextBox 24"/>
          <p:cNvSpPr txBox="1"/>
          <p:nvPr/>
        </p:nvSpPr>
        <p:spPr>
          <a:xfrm>
            <a:off x="5605272" y="3822191"/>
            <a:ext cx="1024128"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80" b="0" i="0">
                <a:solidFill>
                  <a:srgbClr val="4D4D4D"/>
                </a:solidFill>
                <a:latin typeface="Arial"/>
              </a:rPr>
              <a:t>16 nuclear genes</a:t>
            </a:r>
          </a:p>
        </p:txBody>
      </p:sp>
      <p:sp>
        <p:nvSpPr>
          <p:cNvPr id="26" name="Rounded Rectangle 25"/>
          <p:cNvSpPr/>
          <p:nvPr/>
        </p:nvSpPr>
        <p:spPr>
          <a:xfrm>
            <a:off x="7031736" y="3163824"/>
            <a:ext cx="1901952" cy="1024128"/>
          </a:xfrm>
          <a:prstGeom prst="roundRect">
            <a:avLst/>
          </a:prstGeom>
          <a:solidFill>
            <a:srgbClr val="E5F4EF"/>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159751" y="3300984"/>
            <a:ext cx="566928" cy="43891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2100" b="1" i="0">
                <a:solidFill>
                  <a:srgbClr val="009E73"/>
                </a:solidFill>
                <a:latin typeface="Arial"/>
              </a:rPr>
              <a:t>20</a:t>
            </a:r>
          </a:p>
        </p:txBody>
      </p:sp>
      <p:sp>
        <p:nvSpPr>
          <p:cNvPr id="28" name="TextBox 27"/>
          <p:cNvSpPr txBox="1"/>
          <p:nvPr/>
        </p:nvSpPr>
        <p:spPr>
          <a:xfrm>
            <a:off x="7754112" y="3273552"/>
            <a:ext cx="1024128" cy="42062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40" b="1" i="0">
                <a:solidFill>
                  <a:srgbClr val="0F233D"/>
                </a:solidFill>
                <a:latin typeface="Arial"/>
              </a:rPr>
              <a:t>mtDNA-specific
follow-up</a:t>
            </a:r>
          </a:p>
        </p:txBody>
      </p:sp>
      <p:sp>
        <p:nvSpPr>
          <p:cNvPr id="29" name="TextBox 28"/>
          <p:cNvSpPr txBox="1"/>
          <p:nvPr/>
        </p:nvSpPr>
        <p:spPr>
          <a:xfrm>
            <a:off x="7754112" y="3822191"/>
            <a:ext cx="1024128"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80" b="0" i="0">
                <a:solidFill>
                  <a:srgbClr val="4D4D4D"/>
                </a:solidFill>
                <a:latin typeface="Arial"/>
              </a:rPr>
              <a:t>6 mitochondrial genes</a:t>
            </a:r>
          </a:p>
        </p:txBody>
      </p:sp>
      <p:sp>
        <p:nvSpPr>
          <p:cNvPr id="30" name="TextBox 29"/>
          <p:cNvSpPr txBox="1"/>
          <p:nvPr/>
        </p:nvSpPr>
        <p:spPr>
          <a:xfrm>
            <a:off x="4919472" y="4626864"/>
            <a:ext cx="6327648" cy="6400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a:solidFill>
                  <a:srgbClr val="2F2F2F"/>
                </a:solidFill>
                <a:latin typeface="Arial"/>
              </a:rPr>
              <a:t>COX7C's two limited settings come from one public result, not two independent confirmations. The extra RPS15 study is not included here.</a:t>
            </a:r>
          </a:p>
        </p:txBody>
      </p:sp>
      <p:sp>
        <p:nvSpPr>
          <p:cNvPr id="31" name="Rectangle 30"/>
          <p:cNvSpPr/>
          <p:nvPr/>
        </p:nvSpPr>
        <p:spPr>
          <a:xfrm>
            <a:off x="502920" y="5961888"/>
            <a:ext cx="11183112" cy="502920"/>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502920" y="5961888"/>
            <a:ext cx="91440" cy="502920"/>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31520" y="6053327"/>
            <a:ext cx="10716768" cy="283464"/>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200" b="1" i="0">
                <a:solidFill>
                  <a:srgbClr val="FFFFFF"/>
                </a:solidFill>
                <a:latin typeface="Arial"/>
              </a:rPr>
              <a:t>Evidence found: APOE led the screen, with public-data matches for COX7C and SELENOW; other routes define broader or specialized validation.</a:t>
            </a:r>
          </a:p>
        </p:txBody>
      </p:sp>
      <p:sp>
        <p:nvSpPr>
          <p:cNvPr id="34" name="TextBox 33"/>
          <p:cNvSpPr txBox="1"/>
          <p:nvPr/>
        </p:nvSpPr>
        <p:spPr>
          <a:xfrm>
            <a:off x="502920" y="6629400"/>
            <a:ext cx="11109960" cy="1280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680" b="0" i="0">
                <a:solidFill>
                  <a:srgbClr val="677484"/>
                </a:solidFill>
                <a:latin typeface="Arial"/>
              </a:rPr>
              <a:t>Source: Tier 1 genetic_support_evidence_matrix.png and genetic_support_evidence_summary.tsv</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512064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50" b="1" i="0">
                <a:solidFill>
                  <a:srgbClr val="0072B2"/>
                </a:solidFill>
                <a:latin typeface="Arial"/>
              </a:rPr>
              <a:t>APPENDIX • TIER 2 RECOVERY DETAIL</a:t>
            </a:r>
          </a:p>
        </p:txBody>
      </p:sp>
      <p:sp>
        <p:nvSpPr>
          <p:cNvPr id="3" name="TextBox 2"/>
          <p:cNvSpPr txBox="1"/>
          <p:nvPr/>
        </p:nvSpPr>
        <p:spPr>
          <a:xfrm>
            <a:off x="502920" y="402336"/>
            <a:ext cx="10927080" cy="51206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2450" b="1" i="0">
                <a:solidFill>
                  <a:srgbClr val="0F233D"/>
                </a:solidFill>
                <a:latin typeface="Arial"/>
              </a:rPr>
              <a:t>Four regions are focused priorities for gene-level validation</a:t>
            </a:r>
          </a:p>
        </p:txBody>
      </p:sp>
      <p:sp>
        <p:nvSpPr>
          <p:cNvPr id="4" name="TextBox 3"/>
          <p:cNvSpPr txBox="1"/>
          <p:nvPr/>
        </p:nvSpPr>
        <p:spPr>
          <a:xfrm>
            <a:off x="11356848" y="192024"/>
            <a:ext cx="329184" cy="182880"/>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900" b="1" i="0">
                <a:solidFill>
                  <a:srgbClr val="677484"/>
                </a:solidFill>
                <a:latin typeface="Arial"/>
              </a:rPr>
              <a:t>25</a:t>
            </a:r>
          </a:p>
        </p:txBody>
      </p:sp>
      <p:pic>
        <p:nvPicPr>
          <p:cNvPr id="5" name="Detailed comparison outcomes across nuclear gene–network settings" descr="Detailed comparison outcomes across nuclear gene–network settings"/>
          <p:cNvPicPr>
            <a:picLocks noChangeAspect="1"/>
          </p:cNvPicPr>
          <p:nvPr/>
        </p:nvPicPr>
        <p:blipFill>
          <a:blip r:embed="rId3"/>
          <a:stretch>
            <a:fillRect/>
          </a:stretch>
        </p:blipFill>
        <p:spPr>
          <a:xfrm>
            <a:off x="411480" y="1328927"/>
            <a:ext cx="3840480" cy="4693920"/>
          </a:xfrm>
          <a:prstGeom prst="rect">
            <a:avLst/>
          </a:prstGeom>
        </p:spPr>
      </p:pic>
      <p:sp>
        <p:nvSpPr>
          <p:cNvPr id="6" name="Rectangle 5"/>
          <p:cNvSpPr/>
          <p:nvPr/>
        </p:nvSpPr>
        <p:spPr>
          <a:xfrm>
            <a:off x="411480" y="1307592"/>
            <a:ext cx="384048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1385316"/>
            <a:ext cx="3383280" cy="11887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780" b="1" i="0">
                <a:solidFill>
                  <a:srgbClr val="0F233D"/>
                </a:solidFill>
                <a:latin typeface="Arial"/>
              </a:rPr>
              <a:t>Detailed comparison outcomes</a:t>
            </a:r>
          </a:p>
        </p:txBody>
      </p:sp>
      <p:pic>
        <p:nvPicPr>
          <p:cNvPr id="8" name="Four regional AD locus plots for ANKRD11, APOE, COX7C, and RPS15" descr="Four regional AD locus plots for ANKRD11, APOE, COX7C, and RPS15"/>
          <p:cNvPicPr>
            <a:picLocks noChangeAspect="1"/>
          </p:cNvPicPr>
          <p:nvPr/>
        </p:nvPicPr>
        <p:blipFill>
          <a:blip r:embed="rId4"/>
          <a:stretch>
            <a:fillRect/>
          </a:stretch>
        </p:blipFill>
        <p:spPr>
          <a:xfrm>
            <a:off x="5353812" y="1207008"/>
            <a:ext cx="5440679" cy="4352543"/>
          </a:xfrm>
          <a:prstGeom prst="rect">
            <a:avLst/>
          </a:prstGeom>
        </p:spPr>
      </p:pic>
      <p:sp>
        <p:nvSpPr>
          <p:cNvPr id="9" name="Rounded Rectangle 8"/>
          <p:cNvSpPr/>
          <p:nvPr/>
        </p:nvSpPr>
        <p:spPr>
          <a:xfrm>
            <a:off x="4690872" y="5596128"/>
            <a:ext cx="6784848" cy="621792"/>
          </a:xfrm>
          <a:prstGeom prst="roundRect">
            <a:avLst/>
          </a:prstGeom>
          <a:solidFill>
            <a:srgbClr val="E6F2F9"/>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910328" y="5760720"/>
            <a:ext cx="6345936" cy="25603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50" b="1" i="0">
                <a:solidFill>
                  <a:srgbClr val="0F233D"/>
                </a:solidFill>
                <a:latin typeface="Arial"/>
              </a:rPr>
              <a:t>Four regional minima were below 5×10⁻⁸: ANKRD11, APOE, COX7C, and RPS15. These regions are priorities for shared-variant validation.</a:t>
            </a:r>
          </a:p>
        </p:txBody>
      </p:sp>
      <p:sp>
        <p:nvSpPr>
          <p:cNvPr id="11" name="TextBox 10"/>
          <p:cNvSpPr txBox="1"/>
          <p:nvPr/>
        </p:nvSpPr>
        <p:spPr>
          <a:xfrm>
            <a:off x="502920" y="6629400"/>
            <a:ext cx="11109960" cy="1280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680" b="0" i="0">
                <a:solidFill>
                  <a:srgbClr val="677484"/>
                </a:solidFill>
                <a:latin typeface="Arial"/>
              </a:rPr>
              <a:t>Source: recovery_evidence_matrix.png; recovery_locus_plots.pdf; recovery_route_decisions.tsv</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512064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50" b="1" i="0">
                <a:solidFill>
                  <a:srgbClr val="0072B2"/>
                </a:solidFill>
                <a:latin typeface="Arial"/>
              </a:rPr>
              <a:t>APPENDIX • APOE DETAIL</a:t>
            </a:r>
          </a:p>
        </p:txBody>
      </p:sp>
      <p:sp>
        <p:nvSpPr>
          <p:cNvPr id="3" name="TextBox 2"/>
          <p:cNvSpPr txBox="1"/>
          <p:nvPr/>
        </p:nvSpPr>
        <p:spPr>
          <a:xfrm>
            <a:off x="502920" y="402336"/>
            <a:ext cx="10927080" cy="51206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2200" b="1" i="0">
                <a:solidFill>
                  <a:srgbClr val="0F233D"/>
                </a:solidFill>
                <a:latin typeface="Arial"/>
              </a:rPr>
              <a:t>APOE evidence across Alzheimer's disease and three spinal-fluid markers</a:t>
            </a:r>
          </a:p>
        </p:txBody>
      </p:sp>
      <p:sp>
        <p:nvSpPr>
          <p:cNvPr id="4" name="TextBox 3"/>
          <p:cNvSpPr txBox="1"/>
          <p:nvPr/>
        </p:nvSpPr>
        <p:spPr>
          <a:xfrm>
            <a:off x="11356848" y="192024"/>
            <a:ext cx="329184" cy="182880"/>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900" b="1" i="0">
                <a:solidFill>
                  <a:srgbClr val="677484"/>
                </a:solidFill>
                <a:latin typeface="Arial"/>
              </a:rPr>
              <a:t>26</a:t>
            </a:r>
          </a:p>
        </p:txBody>
      </p:sp>
      <p:pic>
        <p:nvPicPr>
          <p:cNvPr id="5" name="Tier 1 APOE locus plot showing direct rs429358 entries" descr="Tier 1 APOE locus plot showing direct rs429358 entries"/>
          <p:cNvPicPr>
            <a:picLocks noChangeAspect="1"/>
          </p:cNvPicPr>
          <p:nvPr/>
        </p:nvPicPr>
        <p:blipFill>
          <a:blip r:embed="rId3"/>
          <a:stretch>
            <a:fillRect/>
          </a:stretch>
        </p:blipFill>
        <p:spPr>
          <a:xfrm>
            <a:off x="525780" y="1124712"/>
            <a:ext cx="6858000" cy="3291840"/>
          </a:xfrm>
          <a:prstGeom prst="rect">
            <a:avLst/>
          </a:prstGeom>
        </p:spPr>
      </p:pic>
      <p:pic>
        <p:nvPicPr>
          <p:cNvPr id="6" name="Spinal-fluid marker evidence for 19 nuclear genes across three biomarkers" descr="Spinal-fluid marker evidence for 19 nuclear genes across three biomarkers"/>
          <p:cNvPicPr>
            <a:picLocks noChangeAspect="1"/>
          </p:cNvPicPr>
          <p:nvPr/>
        </p:nvPicPr>
        <p:blipFill>
          <a:blip r:embed="rId4"/>
          <a:stretch>
            <a:fillRect/>
          </a:stretch>
        </p:blipFill>
        <p:spPr>
          <a:xfrm>
            <a:off x="7699248" y="1436089"/>
            <a:ext cx="3931920" cy="4552749"/>
          </a:xfrm>
          <a:prstGeom prst="rect">
            <a:avLst/>
          </a:prstGeom>
        </p:spPr>
      </p:pic>
      <p:sp>
        <p:nvSpPr>
          <p:cNvPr id="7" name="Rectangle 6"/>
          <p:cNvSpPr/>
          <p:nvPr/>
        </p:nvSpPr>
        <p:spPr>
          <a:xfrm>
            <a:off x="7699248" y="1417320"/>
            <a:ext cx="3931920"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918704" y="1499616"/>
            <a:ext cx="3493008" cy="128016"/>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760" b="1" i="0">
                <a:solidFill>
                  <a:srgbClr val="0F233D"/>
                </a:solidFill>
                <a:latin typeface="Arial"/>
              </a:rPr>
              <a:t>Spinal-fluid marker evidence</a:t>
            </a:r>
          </a:p>
        </p:txBody>
      </p:sp>
      <p:sp>
        <p:nvSpPr>
          <p:cNvPr id="9" name="Rectangle 8"/>
          <p:cNvSpPr/>
          <p:nvPr/>
        </p:nvSpPr>
        <p:spPr>
          <a:xfrm>
            <a:off x="7699248" y="5852160"/>
            <a:ext cx="3931920" cy="2011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12648" y="4572000"/>
            <a:ext cx="6565392" cy="1463040"/>
          </a:xfrm>
          <a:prstGeom prst="roundRect">
            <a:avLst/>
          </a:prstGeom>
          <a:solidFill>
            <a:srgbClr val="FFFFFF"/>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2104" y="4736592"/>
            <a:ext cx="1344168" cy="19202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19" b="1" i="0">
                <a:solidFill>
                  <a:srgbClr val="0072B2"/>
                </a:solidFill>
                <a:latin typeface="Arial"/>
              </a:rPr>
              <a:t>MARKER</a:t>
            </a:r>
          </a:p>
        </p:txBody>
      </p:sp>
      <p:sp>
        <p:nvSpPr>
          <p:cNvPr id="12" name="TextBox 11"/>
          <p:cNvSpPr txBox="1"/>
          <p:nvPr/>
        </p:nvSpPr>
        <p:spPr>
          <a:xfrm>
            <a:off x="2322576" y="4736592"/>
            <a:ext cx="1417320" cy="19202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19" b="1" i="0">
                <a:solidFill>
                  <a:srgbClr val="0072B2"/>
                </a:solidFill>
                <a:latin typeface="Arial"/>
              </a:rPr>
              <a:t>STRONGEST NEARBY P</a:t>
            </a:r>
          </a:p>
        </p:txBody>
      </p:sp>
      <p:sp>
        <p:nvSpPr>
          <p:cNvPr id="13" name="TextBox 12"/>
          <p:cNvSpPr txBox="1"/>
          <p:nvPr/>
        </p:nvSpPr>
        <p:spPr>
          <a:xfrm>
            <a:off x="3895344" y="4736592"/>
            <a:ext cx="1536192" cy="19202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19" b="1" i="0">
                <a:solidFill>
                  <a:srgbClr val="0072B2"/>
                </a:solidFill>
                <a:latin typeface="Arial"/>
              </a:rPr>
              <a:t>GENE-LEVEL P</a:t>
            </a:r>
          </a:p>
        </p:txBody>
      </p:sp>
      <p:sp>
        <p:nvSpPr>
          <p:cNvPr id="14" name="TextBox 13"/>
          <p:cNvSpPr txBox="1"/>
          <p:nvPr/>
        </p:nvSpPr>
        <p:spPr>
          <a:xfrm>
            <a:off x="5577840" y="4736592"/>
            <a:ext cx="1325880" cy="19202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19" b="1" i="0">
                <a:solidFill>
                  <a:srgbClr val="0072B2"/>
                </a:solidFill>
                <a:latin typeface="Arial"/>
              </a:rPr>
              <a:t>GENE + NEARBY DNA</a:t>
            </a:r>
          </a:p>
        </p:txBody>
      </p:sp>
      <p:sp>
        <p:nvSpPr>
          <p:cNvPr id="15" name="TextBox 14"/>
          <p:cNvSpPr txBox="1"/>
          <p:nvPr/>
        </p:nvSpPr>
        <p:spPr>
          <a:xfrm>
            <a:off x="832104" y="5047488"/>
            <a:ext cx="1344168" cy="20116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1" i="0">
                <a:solidFill>
                  <a:srgbClr val="0F233D"/>
                </a:solidFill>
                <a:latin typeface="Arial"/>
              </a:rPr>
              <a:t>Amyloid-β42</a:t>
            </a:r>
          </a:p>
        </p:txBody>
      </p:sp>
      <p:sp>
        <p:nvSpPr>
          <p:cNvPr id="16" name="TextBox 15"/>
          <p:cNvSpPr txBox="1"/>
          <p:nvPr/>
        </p:nvSpPr>
        <p:spPr>
          <a:xfrm>
            <a:off x="2322576" y="5047488"/>
            <a:ext cx="1417320" cy="20116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2F2F2F"/>
                </a:solidFill>
                <a:latin typeface="Arial"/>
              </a:rPr>
              <a:t>stored as 0*</a:t>
            </a:r>
          </a:p>
        </p:txBody>
      </p:sp>
      <p:sp>
        <p:nvSpPr>
          <p:cNvPr id="17" name="TextBox 16"/>
          <p:cNvSpPr txBox="1"/>
          <p:nvPr/>
        </p:nvSpPr>
        <p:spPr>
          <a:xfrm>
            <a:off x="3895344" y="5047488"/>
            <a:ext cx="1536192" cy="20116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2F2F2F"/>
                </a:solidFill>
                <a:latin typeface="Arial"/>
              </a:rPr>
              <a:t>5.0×10⁻¹⁰</a:t>
            </a:r>
          </a:p>
        </p:txBody>
      </p:sp>
      <p:sp>
        <p:nvSpPr>
          <p:cNvPr id="18" name="TextBox 17"/>
          <p:cNvSpPr txBox="1"/>
          <p:nvPr/>
        </p:nvSpPr>
        <p:spPr>
          <a:xfrm>
            <a:off x="5577840" y="5047488"/>
            <a:ext cx="1325880" cy="20116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2F2F2F"/>
                </a:solidFill>
                <a:latin typeface="Arial"/>
              </a:rPr>
              <a:t>2.3037×10⁻¹⁴</a:t>
            </a:r>
          </a:p>
        </p:txBody>
      </p:sp>
      <p:sp>
        <p:nvSpPr>
          <p:cNvPr id="19" name="TextBox 18"/>
          <p:cNvSpPr txBox="1"/>
          <p:nvPr/>
        </p:nvSpPr>
        <p:spPr>
          <a:xfrm>
            <a:off x="832104" y="5330951"/>
            <a:ext cx="1344168" cy="20116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1" i="0">
                <a:solidFill>
                  <a:srgbClr val="0F233D"/>
                </a:solidFill>
                <a:latin typeface="Arial"/>
              </a:rPr>
              <a:t>Total tau</a:t>
            </a:r>
          </a:p>
        </p:txBody>
      </p:sp>
      <p:sp>
        <p:nvSpPr>
          <p:cNvPr id="20" name="TextBox 19"/>
          <p:cNvSpPr txBox="1"/>
          <p:nvPr/>
        </p:nvSpPr>
        <p:spPr>
          <a:xfrm>
            <a:off x="2322576" y="5330951"/>
            <a:ext cx="1417320" cy="20116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2F2F2F"/>
                </a:solidFill>
                <a:latin typeface="Arial"/>
              </a:rPr>
              <a:t>5.4×10⁻¹⁶¹</a:t>
            </a:r>
          </a:p>
        </p:txBody>
      </p:sp>
      <p:sp>
        <p:nvSpPr>
          <p:cNvPr id="21" name="TextBox 20"/>
          <p:cNvSpPr txBox="1"/>
          <p:nvPr/>
        </p:nvSpPr>
        <p:spPr>
          <a:xfrm>
            <a:off x="3895344" y="5330951"/>
            <a:ext cx="1536192" cy="20116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2F2F2F"/>
                </a:solidFill>
                <a:latin typeface="Arial"/>
              </a:rPr>
              <a:t>5.0×10⁻¹⁰</a:t>
            </a:r>
          </a:p>
        </p:txBody>
      </p:sp>
      <p:sp>
        <p:nvSpPr>
          <p:cNvPr id="22" name="TextBox 21"/>
          <p:cNvSpPr txBox="1"/>
          <p:nvPr/>
        </p:nvSpPr>
        <p:spPr>
          <a:xfrm>
            <a:off x="5577840" y="5330951"/>
            <a:ext cx="1325880" cy="20116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2F2F2F"/>
                </a:solidFill>
                <a:latin typeface="Arial"/>
              </a:rPr>
              <a:t>1.2218×10⁻¹³</a:t>
            </a:r>
          </a:p>
        </p:txBody>
      </p:sp>
      <p:sp>
        <p:nvSpPr>
          <p:cNvPr id="23" name="TextBox 22"/>
          <p:cNvSpPr txBox="1"/>
          <p:nvPr/>
        </p:nvSpPr>
        <p:spPr>
          <a:xfrm>
            <a:off x="832104" y="5614416"/>
            <a:ext cx="1344168" cy="20116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1" i="0">
                <a:solidFill>
                  <a:srgbClr val="0F233D"/>
                </a:solidFill>
                <a:latin typeface="Arial"/>
              </a:rPr>
              <a:t>p-tau181</a:t>
            </a:r>
          </a:p>
        </p:txBody>
      </p:sp>
      <p:sp>
        <p:nvSpPr>
          <p:cNvPr id="24" name="TextBox 23"/>
          <p:cNvSpPr txBox="1"/>
          <p:nvPr/>
        </p:nvSpPr>
        <p:spPr>
          <a:xfrm>
            <a:off x="2322576" y="5614416"/>
            <a:ext cx="1417320" cy="20116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2F2F2F"/>
                </a:solidFill>
                <a:latin typeface="Arial"/>
              </a:rPr>
              <a:t>3.27×10⁻¹⁷⁴</a:t>
            </a:r>
          </a:p>
        </p:txBody>
      </p:sp>
      <p:sp>
        <p:nvSpPr>
          <p:cNvPr id="25" name="TextBox 24"/>
          <p:cNvSpPr txBox="1"/>
          <p:nvPr/>
        </p:nvSpPr>
        <p:spPr>
          <a:xfrm>
            <a:off x="3895344" y="5614416"/>
            <a:ext cx="1536192" cy="20116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2F2F2F"/>
                </a:solidFill>
                <a:latin typeface="Arial"/>
              </a:rPr>
              <a:t>5.0×10⁻¹⁰</a:t>
            </a:r>
          </a:p>
        </p:txBody>
      </p:sp>
      <p:sp>
        <p:nvSpPr>
          <p:cNvPr id="26" name="TextBox 25"/>
          <p:cNvSpPr txBox="1"/>
          <p:nvPr/>
        </p:nvSpPr>
        <p:spPr>
          <a:xfrm>
            <a:off x="5577840" y="5614416"/>
            <a:ext cx="1325880" cy="20116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2F2F2F"/>
                </a:solidFill>
                <a:latin typeface="Arial"/>
              </a:rPr>
              <a:t>5.0×10⁻¹⁰</a:t>
            </a:r>
          </a:p>
        </p:txBody>
      </p:sp>
      <p:sp>
        <p:nvSpPr>
          <p:cNvPr id="27" name="TextBox 26"/>
          <p:cNvSpPr txBox="1"/>
          <p:nvPr/>
        </p:nvSpPr>
        <p:spPr>
          <a:xfrm>
            <a:off x="832104" y="5961888"/>
            <a:ext cx="5961888"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70" b="0" i="1">
                <a:solidFill>
                  <a:srgbClr val="D55E00"/>
                </a:solidFill>
                <a:latin typeface="Arial"/>
              </a:rPr>
              <a:t>* Amyloid-β42 P was smaller than the file's number format could store; it is reported as underflow rather than literal zero, so its numerical region plot is not shown.</a:t>
            </a:r>
          </a:p>
        </p:txBody>
      </p:sp>
      <p:sp>
        <p:nvSpPr>
          <p:cNvPr id="28" name="TextBox 27"/>
          <p:cNvSpPr txBox="1"/>
          <p:nvPr/>
        </p:nvSpPr>
        <p:spPr>
          <a:xfrm>
            <a:off x="502920" y="6629400"/>
            <a:ext cx="11109960" cy="1280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680" b="0" i="0">
                <a:solidFill>
                  <a:srgbClr val="677484"/>
                </a:solidFill>
                <a:latin typeface="Arial"/>
              </a:rPr>
              <a:t>Source: Tier 1 common_variant_evidence.tsv.gz and locus plot page 1; CSF gate and MAGMA result tables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512064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50" b="1" i="0">
                <a:solidFill>
                  <a:srgbClr val="E69F00"/>
                </a:solidFill>
                <a:latin typeface="Arial"/>
              </a:rPr>
              <a:t>APPENDIX • TARGETED PUBLIC-DATA AUDIT</a:t>
            </a:r>
          </a:p>
        </p:txBody>
      </p:sp>
      <p:sp>
        <p:nvSpPr>
          <p:cNvPr id="3" name="TextBox 2"/>
          <p:cNvSpPr txBox="1"/>
          <p:nvPr/>
        </p:nvSpPr>
        <p:spPr>
          <a:xfrm>
            <a:off x="502920" y="402336"/>
            <a:ext cx="10927080" cy="51206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2450" b="1" i="0">
                <a:solidFill>
                  <a:srgbClr val="0F233D"/>
                </a:solidFill>
                <a:latin typeface="Arial"/>
              </a:rPr>
              <a:t>RPS15 has three brain-QTL records for focused validation</a:t>
            </a:r>
          </a:p>
        </p:txBody>
      </p:sp>
      <p:sp>
        <p:nvSpPr>
          <p:cNvPr id="4" name="TextBox 3"/>
          <p:cNvSpPr txBox="1"/>
          <p:nvPr/>
        </p:nvSpPr>
        <p:spPr>
          <a:xfrm>
            <a:off x="11356848" y="192024"/>
            <a:ext cx="329184" cy="182880"/>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900" b="1" i="0">
                <a:solidFill>
                  <a:srgbClr val="677484"/>
                </a:solidFill>
                <a:latin typeface="Arial"/>
              </a:rPr>
              <a:t>27</a:t>
            </a:r>
          </a:p>
        </p:txBody>
      </p:sp>
      <p:sp>
        <p:nvSpPr>
          <p:cNvPr id="5" name="Rounded Rectangle 4"/>
          <p:cNvSpPr/>
          <p:nvPr/>
        </p:nvSpPr>
        <p:spPr>
          <a:xfrm>
            <a:off x="521207" y="1179576"/>
            <a:ext cx="2075688" cy="969264"/>
          </a:xfrm>
          <a:prstGeom prst="roundRect">
            <a:avLst/>
          </a:prstGeom>
          <a:solidFill>
            <a:srgbClr val="F2F4F7"/>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9224" y="1335024"/>
            <a:ext cx="612648" cy="40233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300" b="1" i="0">
                <a:solidFill>
                  <a:srgbClr val="0072B2"/>
                </a:solidFill>
                <a:latin typeface="Arial"/>
              </a:rPr>
              <a:t>37</a:t>
            </a:r>
          </a:p>
        </p:txBody>
      </p:sp>
      <p:sp>
        <p:nvSpPr>
          <p:cNvPr id="7" name="TextBox 6"/>
          <p:cNvSpPr txBox="1"/>
          <p:nvPr/>
        </p:nvSpPr>
        <p:spPr>
          <a:xfrm>
            <a:off x="1316736" y="1353312"/>
            <a:ext cx="1097280" cy="38404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19" b="1" i="0">
                <a:solidFill>
                  <a:srgbClr val="0F233D"/>
                </a:solidFill>
                <a:latin typeface="Arial"/>
              </a:rPr>
              <a:t>planned comparisons</a:t>
            </a:r>
          </a:p>
        </p:txBody>
      </p:sp>
      <p:sp>
        <p:nvSpPr>
          <p:cNvPr id="8" name="Rounded Rectangle 7"/>
          <p:cNvSpPr/>
          <p:nvPr/>
        </p:nvSpPr>
        <p:spPr>
          <a:xfrm>
            <a:off x="2825496" y="1179576"/>
            <a:ext cx="2075688" cy="969264"/>
          </a:xfrm>
          <a:prstGeom prst="roundRect">
            <a:avLst/>
          </a:prstGeom>
          <a:solidFill>
            <a:srgbClr val="F2F4F7"/>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953512" y="1335024"/>
            <a:ext cx="612648" cy="40233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300" b="1" i="0">
                <a:solidFill>
                  <a:srgbClr val="0072B2"/>
                </a:solidFill>
                <a:latin typeface="Arial"/>
              </a:rPr>
              <a:t>31</a:t>
            </a:r>
          </a:p>
        </p:txBody>
      </p:sp>
      <p:sp>
        <p:nvSpPr>
          <p:cNvPr id="10" name="TextBox 9"/>
          <p:cNvSpPr txBox="1"/>
          <p:nvPr/>
        </p:nvSpPr>
        <p:spPr>
          <a:xfrm>
            <a:off x="3621024" y="1353312"/>
            <a:ext cx="1097280" cy="38404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19" b="1" i="0">
                <a:solidFill>
                  <a:srgbClr val="0F233D"/>
                </a:solidFill>
                <a:latin typeface="Arial"/>
              </a:rPr>
              <a:t>comparisons measured</a:t>
            </a:r>
          </a:p>
        </p:txBody>
      </p:sp>
      <p:sp>
        <p:nvSpPr>
          <p:cNvPr id="11" name="Rounded Rectangle 10"/>
          <p:cNvSpPr/>
          <p:nvPr/>
        </p:nvSpPr>
        <p:spPr>
          <a:xfrm>
            <a:off x="5129784" y="1179576"/>
            <a:ext cx="2075688" cy="969264"/>
          </a:xfrm>
          <a:prstGeom prst="roundRect">
            <a:avLst/>
          </a:prstGeom>
          <a:solidFill>
            <a:srgbClr val="F2F4F7"/>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257800" y="1335024"/>
            <a:ext cx="612648" cy="40233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300" b="1" i="0">
                <a:solidFill>
                  <a:srgbClr val="E69F00"/>
                </a:solidFill>
                <a:latin typeface="Arial"/>
              </a:rPr>
              <a:t>6</a:t>
            </a:r>
          </a:p>
        </p:txBody>
      </p:sp>
      <p:sp>
        <p:nvSpPr>
          <p:cNvPr id="13" name="TextBox 12"/>
          <p:cNvSpPr txBox="1"/>
          <p:nvPr/>
        </p:nvSpPr>
        <p:spPr>
          <a:xfrm>
            <a:off x="5925312" y="1353312"/>
            <a:ext cx="1097280" cy="38404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19" b="1" i="0">
                <a:solidFill>
                  <a:srgbClr val="0F233D"/>
                </a:solidFill>
                <a:latin typeface="Arial"/>
              </a:rPr>
              <a:t>positive setting rows</a:t>
            </a:r>
          </a:p>
        </p:txBody>
      </p:sp>
      <p:sp>
        <p:nvSpPr>
          <p:cNvPr id="14" name="Rounded Rectangle 13"/>
          <p:cNvSpPr/>
          <p:nvPr/>
        </p:nvSpPr>
        <p:spPr>
          <a:xfrm>
            <a:off x="7434072" y="1179576"/>
            <a:ext cx="2075688" cy="969264"/>
          </a:xfrm>
          <a:prstGeom prst="roundRect">
            <a:avLst/>
          </a:prstGeom>
          <a:solidFill>
            <a:srgbClr val="F2F4F7"/>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562088" y="1335024"/>
            <a:ext cx="612648" cy="40233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300" b="1" i="0">
                <a:solidFill>
                  <a:srgbClr val="E69F00"/>
                </a:solidFill>
                <a:latin typeface="Arial"/>
              </a:rPr>
              <a:t>3</a:t>
            </a:r>
          </a:p>
        </p:txBody>
      </p:sp>
      <p:sp>
        <p:nvSpPr>
          <p:cNvPr id="16" name="TextBox 15"/>
          <p:cNvSpPr txBox="1"/>
          <p:nvPr/>
        </p:nvSpPr>
        <p:spPr>
          <a:xfrm>
            <a:off x="8229600" y="1353312"/>
            <a:ext cx="1097280" cy="38404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19" b="1" i="0">
                <a:solidFill>
                  <a:srgbClr val="0F233D"/>
                </a:solidFill>
                <a:latin typeface="Arial"/>
              </a:rPr>
              <a:t>unique mixed-brain results</a:t>
            </a:r>
          </a:p>
        </p:txBody>
      </p:sp>
      <p:sp>
        <p:nvSpPr>
          <p:cNvPr id="17" name="Rounded Rectangle 16"/>
          <p:cNvSpPr/>
          <p:nvPr/>
        </p:nvSpPr>
        <p:spPr>
          <a:xfrm>
            <a:off x="9738360" y="1179576"/>
            <a:ext cx="2075688" cy="969264"/>
          </a:xfrm>
          <a:prstGeom prst="roundRect">
            <a:avLst/>
          </a:prstGeom>
          <a:solidFill>
            <a:srgbClr val="F2F4F7"/>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866376" y="1335024"/>
            <a:ext cx="612648" cy="40233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300" b="1" i="0">
                <a:solidFill>
                  <a:srgbClr val="009E73"/>
                </a:solidFill>
                <a:latin typeface="Arial"/>
              </a:rPr>
              <a:t>0</a:t>
            </a:r>
          </a:p>
        </p:txBody>
      </p:sp>
      <p:sp>
        <p:nvSpPr>
          <p:cNvPr id="19" name="TextBox 18"/>
          <p:cNvSpPr txBox="1"/>
          <p:nvPr/>
        </p:nvSpPr>
        <p:spPr>
          <a:xfrm>
            <a:off x="10533888" y="1353312"/>
            <a:ext cx="1097280" cy="38404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19" b="1" i="0">
                <a:solidFill>
                  <a:srgbClr val="0F233D"/>
                </a:solidFill>
                <a:latin typeface="Arial"/>
              </a:rPr>
              <a:t>shared-variant tests to date</a:t>
            </a:r>
          </a:p>
        </p:txBody>
      </p:sp>
      <p:sp>
        <p:nvSpPr>
          <p:cNvPr id="20" name="Rounded Rectangle 19"/>
          <p:cNvSpPr/>
          <p:nvPr/>
        </p:nvSpPr>
        <p:spPr>
          <a:xfrm>
            <a:off x="658368" y="2542032"/>
            <a:ext cx="7443216" cy="713232"/>
          </a:xfrm>
          <a:prstGeom prst="roundRect">
            <a:avLst/>
          </a:prstGeom>
          <a:solidFill>
            <a:srgbClr val="FFFFFF"/>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58368" y="2542032"/>
            <a:ext cx="82296" cy="71323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23544" y="2660903"/>
            <a:ext cx="2596896"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50" b="1" i="0">
                <a:solidFill>
                  <a:srgbClr val="0F233D"/>
                </a:solidFill>
                <a:latin typeface="Arial"/>
              </a:rPr>
              <a:t>MSBB BA36 RNA-amount QTL</a:t>
            </a:r>
          </a:p>
        </p:txBody>
      </p:sp>
      <p:sp>
        <p:nvSpPr>
          <p:cNvPr id="23" name="TextBox 22"/>
          <p:cNvSpPr txBox="1"/>
          <p:nvPr/>
        </p:nvSpPr>
        <p:spPr>
          <a:xfrm>
            <a:off x="3611880" y="2660903"/>
            <a:ext cx="1856231"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60" b="1" i="0">
                <a:solidFill>
                  <a:srgbClr val="2F2F2F"/>
                </a:solidFill>
                <a:latin typeface="Arial"/>
              </a:rPr>
              <a:t>P = 2.41403×10⁻⁷</a:t>
            </a:r>
          </a:p>
        </p:txBody>
      </p:sp>
      <p:sp>
        <p:nvSpPr>
          <p:cNvPr id="24" name="TextBox 23"/>
          <p:cNvSpPr txBox="1"/>
          <p:nvPr/>
        </p:nvSpPr>
        <p:spPr>
          <a:xfrm>
            <a:off x="5532120" y="2633472"/>
            <a:ext cx="2313432"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50" b="0" i="0">
                <a:solidFill>
                  <a:srgbClr val="4D4D4D"/>
                </a:solidFill>
                <a:latin typeface="Arial"/>
              </a:rPr>
              <a:t>Adjusted for many tests: 0.00209909</a:t>
            </a:r>
          </a:p>
        </p:txBody>
      </p:sp>
      <p:sp>
        <p:nvSpPr>
          <p:cNvPr id="25" name="Rounded Rectangle 24"/>
          <p:cNvSpPr/>
          <p:nvPr/>
        </p:nvSpPr>
        <p:spPr>
          <a:xfrm>
            <a:off x="658368" y="3474720"/>
            <a:ext cx="7443216" cy="713232"/>
          </a:xfrm>
          <a:prstGeom prst="roundRect">
            <a:avLst/>
          </a:prstGeom>
          <a:solidFill>
            <a:srgbClr val="FFFFFF"/>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58368" y="3474720"/>
            <a:ext cx="82296" cy="71323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23544" y="3593591"/>
            <a:ext cx="2596896"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50" b="1" i="0">
                <a:solidFill>
                  <a:srgbClr val="0F233D"/>
                </a:solidFill>
                <a:latin typeface="Arial"/>
              </a:rPr>
              <a:t>ROSMAP DLPFC RNA-splicing QTL</a:t>
            </a:r>
          </a:p>
        </p:txBody>
      </p:sp>
      <p:sp>
        <p:nvSpPr>
          <p:cNvPr id="28" name="TextBox 27"/>
          <p:cNvSpPr txBox="1"/>
          <p:nvPr/>
        </p:nvSpPr>
        <p:spPr>
          <a:xfrm>
            <a:off x="3611880" y="3593591"/>
            <a:ext cx="1856231"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60" b="1" i="0">
                <a:solidFill>
                  <a:srgbClr val="2F2F2F"/>
                </a:solidFill>
                <a:latin typeface="Arial"/>
              </a:rPr>
              <a:t>P = 3.86842×10⁻³⁰</a:t>
            </a:r>
          </a:p>
        </p:txBody>
      </p:sp>
      <p:sp>
        <p:nvSpPr>
          <p:cNvPr id="29" name="TextBox 28"/>
          <p:cNvSpPr txBox="1"/>
          <p:nvPr/>
        </p:nvSpPr>
        <p:spPr>
          <a:xfrm>
            <a:off x="5532120" y="3566160"/>
            <a:ext cx="2313432"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50" b="0" i="0">
                <a:solidFill>
                  <a:srgbClr val="4D4D4D"/>
                </a:solidFill>
                <a:latin typeface="Arial"/>
              </a:rPr>
              <a:t>Adjusted: 1.26188×10⁻²⁶ • variant probability: 1.0</a:t>
            </a:r>
          </a:p>
        </p:txBody>
      </p:sp>
      <p:sp>
        <p:nvSpPr>
          <p:cNvPr id="30" name="Rounded Rectangle 29"/>
          <p:cNvSpPr/>
          <p:nvPr/>
        </p:nvSpPr>
        <p:spPr>
          <a:xfrm>
            <a:off x="658368" y="4407408"/>
            <a:ext cx="7443216" cy="713232"/>
          </a:xfrm>
          <a:prstGeom prst="roundRect">
            <a:avLst/>
          </a:prstGeom>
          <a:solidFill>
            <a:srgbClr val="FFFFFF"/>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658368" y="4407408"/>
            <a:ext cx="82296" cy="71323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23544" y="4526280"/>
            <a:ext cx="2596896"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50" b="1" i="0">
                <a:solidFill>
                  <a:srgbClr val="0F233D"/>
                </a:solidFill>
                <a:latin typeface="Arial"/>
              </a:rPr>
              <a:t>ROSMAP posterior-cingulate RNA-splicing QTL</a:t>
            </a:r>
          </a:p>
        </p:txBody>
      </p:sp>
      <p:sp>
        <p:nvSpPr>
          <p:cNvPr id="33" name="TextBox 32"/>
          <p:cNvSpPr txBox="1"/>
          <p:nvPr/>
        </p:nvSpPr>
        <p:spPr>
          <a:xfrm>
            <a:off x="3611880" y="4526280"/>
            <a:ext cx="1856231"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60" b="1" i="0">
                <a:solidFill>
                  <a:srgbClr val="2F2F2F"/>
                </a:solidFill>
                <a:latin typeface="Arial"/>
              </a:rPr>
              <a:t>P = 3.30886×10⁻⁷</a:t>
            </a:r>
          </a:p>
        </p:txBody>
      </p:sp>
      <p:sp>
        <p:nvSpPr>
          <p:cNvPr id="34" name="TextBox 33"/>
          <p:cNvSpPr txBox="1"/>
          <p:nvPr/>
        </p:nvSpPr>
        <p:spPr>
          <a:xfrm>
            <a:off x="5532120" y="4498848"/>
            <a:ext cx="2313432"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50" b="0" i="0">
                <a:solidFill>
                  <a:srgbClr val="4D4D4D"/>
                </a:solidFill>
                <a:latin typeface="Arial"/>
              </a:rPr>
              <a:t>Adjusted: 0.000858045 • variant probability: 0.910283</a:t>
            </a:r>
          </a:p>
        </p:txBody>
      </p:sp>
      <p:sp>
        <p:nvSpPr>
          <p:cNvPr id="35" name="Rounded Rectangle 34"/>
          <p:cNvSpPr/>
          <p:nvPr/>
        </p:nvSpPr>
        <p:spPr>
          <a:xfrm>
            <a:off x="8430768" y="2542032"/>
            <a:ext cx="3108960" cy="2578608"/>
          </a:xfrm>
          <a:prstGeom prst="roundRect">
            <a:avLst/>
          </a:prstGeom>
          <a:solidFill>
            <a:srgbClr val="E5F4EF"/>
          </a:solidFill>
          <a:ln w="1905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705088" y="2816352"/>
            <a:ext cx="2551176" cy="219456"/>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000" b="1" i="0">
                <a:solidFill>
                  <a:srgbClr val="009E73"/>
                </a:solidFill>
                <a:latin typeface="Arial"/>
              </a:rPr>
              <a:t>EVIDENCE TO CARRY FORWARD</a:t>
            </a:r>
          </a:p>
        </p:txBody>
      </p:sp>
      <p:sp>
        <p:nvSpPr>
          <p:cNvPr id="37" name="TextBox 36"/>
          <p:cNvSpPr txBox="1"/>
          <p:nvPr/>
        </p:nvSpPr>
        <p:spPr>
          <a:xfrm>
            <a:off x="8723376" y="3090672"/>
            <a:ext cx="2523744" cy="1755648"/>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040" b="1" i="0">
                <a:solidFill>
                  <a:srgbClr val="0F233D"/>
                </a:solidFill>
                <a:latin typeface="Arial"/>
              </a:rPr>
              <a:t>Three unique mixed-brain RPS15 results: one RNA-amount and two RNA-splicing.
These sources form six rows across OPC and inhibitory-neuron questions.
Next: test matched cell-specific data for a shared AD–gene-activity variant.</a:t>
            </a:r>
          </a:p>
        </p:txBody>
      </p:sp>
      <p:sp>
        <p:nvSpPr>
          <p:cNvPr id="38" name="Rectangle 37"/>
          <p:cNvSpPr/>
          <p:nvPr/>
        </p:nvSpPr>
        <p:spPr>
          <a:xfrm>
            <a:off x="502920" y="5806440"/>
            <a:ext cx="11183112" cy="502920"/>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502920" y="5806440"/>
            <a:ext cx="91440" cy="502920"/>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31520" y="5897879"/>
            <a:ext cx="10716768" cy="283464"/>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200" b="1" i="0">
                <a:solidFill>
                  <a:srgbClr val="FFFFFF"/>
                </a:solidFill>
                <a:latin typeface="Arial"/>
              </a:rPr>
              <a:t>RPS15 now has three public-data leads; matched cell-specific data and a shared-variant test can add the next validation layer.</a:t>
            </a:r>
          </a:p>
        </p:txBody>
      </p:sp>
      <p:sp>
        <p:nvSpPr>
          <p:cNvPr id="41" name="TextBox 40"/>
          <p:cNvSpPr txBox="1"/>
          <p:nvPr/>
        </p:nvSpPr>
        <p:spPr>
          <a:xfrm>
            <a:off x="502920" y="6629400"/>
            <a:ext cx="11109960" cy="1280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680" b="0" i="0">
                <a:solidFill>
                  <a:srgbClr val="677484"/>
                </a:solidFill>
                <a:latin typeface="Arial"/>
              </a:rPr>
              <a:t>Source: opc_rps15_evidence_summary.tsv and opc_rps15_qtl_audit.tsv</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512064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50" b="1" i="0">
                <a:solidFill>
                  <a:srgbClr val="009E73"/>
                </a:solidFill>
                <a:latin typeface="Arial"/>
              </a:rPr>
              <a:t>APPENDIX • REPRODUCIBILITY PLAN</a:t>
            </a:r>
          </a:p>
        </p:txBody>
      </p:sp>
      <p:sp>
        <p:nvSpPr>
          <p:cNvPr id="3" name="TextBox 2"/>
          <p:cNvSpPr txBox="1"/>
          <p:nvPr/>
        </p:nvSpPr>
        <p:spPr>
          <a:xfrm>
            <a:off x="502920" y="402336"/>
            <a:ext cx="10927080" cy="51206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2450" b="1" i="0">
                <a:solidFill>
                  <a:srgbClr val="0F233D"/>
                </a:solidFill>
                <a:latin typeface="Arial"/>
              </a:rPr>
              <a:t>Data-package improvements that will strengthen reproducibility</a:t>
            </a:r>
          </a:p>
        </p:txBody>
      </p:sp>
      <p:sp>
        <p:nvSpPr>
          <p:cNvPr id="4" name="TextBox 3"/>
          <p:cNvSpPr txBox="1"/>
          <p:nvPr/>
        </p:nvSpPr>
        <p:spPr>
          <a:xfrm>
            <a:off x="11356848" y="192024"/>
            <a:ext cx="329184" cy="182880"/>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900" b="1" i="0">
                <a:solidFill>
                  <a:srgbClr val="677484"/>
                </a:solidFill>
                <a:latin typeface="Arial"/>
              </a:rPr>
              <a:t>28</a:t>
            </a:r>
          </a:p>
        </p:txBody>
      </p:sp>
      <p:sp>
        <p:nvSpPr>
          <p:cNvPr id="5" name="Rounded Rectangle 4"/>
          <p:cNvSpPr/>
          <p:nvPr/>
        </p:nvSpPr>
        <p:spPr>
          <a:xfrm>
            <a:off x="585216" y="1170432"/>
            <a:ext cx="5340096" cy="1133856"/>
          </a:xfrm>
          <a:prstGeom prst="roundRect">
            <a:avLst/>
          </a:prstGeom>
          <a:solidFill>
            <a:srgbClr val="FFFFFF"/>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85216" y="1170432"/>
            <a:ext cx="91440" cy="1133856"/>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59536" y="1335024"/>
            <a:ext cx="1938528"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40" b="1" i="0">
                <a:solidFill>
                  <a:srgbClr val="0F233D"/>
                </a:solidFill>
                <a:latin typeface="Arial"/>
              </a:rPr>
              <a:t>Rebuild two empty-result files</a:t>
            </a:r>
          </a:p>
        </p:txBody>
      </p:sp>
      <p:sp>
        <p:nvSpPr>
          <p:cNvPr id="8" name="TextBox 7"/>
          <p:cNvSpPr txBox="1"/>
          <p:nvPr/>
        </p:nvSpPr>
        <p:spPr>
          <a:xfrm>
            <a:off x="2889504" y="1307592"/>
            <a:ext cx="2761488" cy="6858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80" b="0" i="0">
                <a:solidFill>
                  <a:srgbClr val="2F2F2F"/>
                </a:solidFill>
                <a:latin typeface="Arial"/>
              </a:rPr>
              <a:t>Regenerate the two declared zero-row outputs so they are valid compressed files.</a:t>
            </a:r>
          </a:p>
        </p:txBody>
      </p:sp>
      <p:sp>
        <p:nvSpPr>
          <p:cNvPr id="9" name="Rounded Rectangle 8"/>
          <p:cNvSpPr/>
          <p:nvPr/>
        </p:nvSpPr>
        <p:spPr>
          <a:xfrm>
            <a:off x="6236207" y="1170432"/>
            <a:ext cx="5340096" cy="1133856"/>
          </a:xfrm>
          <a:prstGeom prst="roundRect">
            <a:avLst/>
          </a:prstGeom>
          <a:solidFill>
            <a:srgbClr val="FFFFFF"/>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236207" y="1170432"/>
            <a:ext cx="91440" cy="1133856"/>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10527" y="1335024"/>
            <a:ext cx="1938528"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40" b="1" i="0">
                <a:solidFill>
                  <a:srgbClr val="0F233D"/>
                </a:solidFill>
                <a:latin typeface="Arial"/>
              </a:rPr>
              <a:t>Add four APOE protein files</a:t>
            </a:r>
          </a:p>
        </p:txBody>
      </p:sp>
      <p:sp>
        <p:nvSpPr>
          <p:cNvPr id="12" name="TextBox 11"/>
          <p:cNvSpPr txBox="1"/>
          <p:nvPr/>
        </p:nvSpPr>
        <p:spPr>
          <a:xfrm>
            <a:off x="8540496" y="1307592"/>
            <a:ext cx="2761488" cy="6858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80" b="0" i="0">
                <a:solidFill>
                  <a:srgbClr val="2F2F2F"/>
                </a:solidFill>
                <a:latin typeface="Arial"/>
              </a:rPr>
              <a:t>Extend the published inventory with the four NG00130.v2 files described in the execution report.</a:t>
            </a:r>
          </a:p>
        </p:txBody>
      </p:sp>
      <p:sp>
        <p:nvSpPr>
          <p:cNvPr id="13" name="Rounded Rectangle 12"/>
          <p:cNvSpPr/>
          <p:nvPr/>
        </p:nvSpPr>
        <p:spPr>
          <a:xfrm>
            <a:off x="585216" y="2542032"/>
            <a:ext cx="5340096" cy="1133856"/>
          </a:xfrm>
          <a:prstGeom prst="roundRect">
            <a:avLst/>
          </a:prstGeom>
          <a:solidFill>
            <a:srgbClr val="FFFFFF"/>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85216" y="2542032"/>
            <a:ext cx="91440" cy="1133856"/>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59536" y="2706624"/>
            <a:ext cx="1938528"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40" b="1" i="0">
                <a:solidFill>
                  <a:srgbClr val="0F233D"/>
                </a:solidFill>
                <a:latin typeface="Arial"/>
              </a:rPr>
              <a:t>Document large-input locations</a:t>
            </a:r>
          </a:p>
        </p:txBody>
      </p:sp>
      <p:sp>
        <p:nvSpPr>
          <p:cNvPr id="16" name="TextBox 15"/>
          <p:cNvSpPr txBox="1"/>
          <p:nvPr/>
        </p:nvSpPr>
        <p:spPr>
          <a:xfrm>
            <a:off x="2889504" y="2679192"/>
            <a:ext cx="2761488" cy="6858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80" b="0" i="0">
                <a:solidFill>
                  <a:srgbClr val="2F2F2F"/>
                </a:solidFill>
                <a:latin typeface="Arial"/>
              </a:rPr>
              <a:t>Record where streamed or externally stored large inputs can be retrieved and verified.</a:t>
            </a:r>
          </a:p>
        </p:txBody>
      </p:sp>
      <p:sp>
        <p:nvSpPr>
          <p:cNvPr id="17" name="Rounded Rectangle 16"/>
          <p:cNvSpPr/>
          <p:nvPr/>
        </p:nvSpPr>
        <p:spPr>
          <a:xfrm>
            <a:off x="6236207" y="2542032"/>
            <a:ext cx="5340096" cy="1133856"/>
          </a:xfrm>
          <a:prstGeom prst="roundRect">
            <a:avLst/>
          </a:prstGeom>
          <a:solidFill>
            <a:srgbClr val="FFFFFF"/>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236207" y="2542032"/>
            <a:ext cx="91440" cy="1133856"/>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510527" y="2706624"/>
            <a:ext cx="1938528"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40" b="1" i="0">
                <a:solidFill>
                  <a:srgbClr val="0F233D"/>
                </a:solidFill>
                <a:latin typeface="Arial"/>
              </a:rPr>
              <a:t>Make saved paths portable</a:t>
            </a:r>
          </a:p>
        </p:txBody>
      </p:sp>
      <p:sp>
        <p:nvSpPr>
          <p:cNvPr id="20" name="TextBox 19"/>
          <p:cNvSpPr txBox="1"/>
          <p:nvPr/>
        </p:nvSpPr>
        <p:spPr>
          <a:xfrm>
            <a:off x="8540496" y="2679192"/>
            <a:ext cx="2761488" cy="6858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80" b="0" i="0">
                <a:solidFill>
                  <a:srgbClr val="2F2F2F"/>
                </a:solidFill>
                <a:latin typeface="Arial"/>
              </a:rPr>
              <a:t>Replace the original /home/... paths in the RPS15 report with project-relative locations.</a:t>
            </a:r>
          </a:p>
        </p:txBody>
      </p:sp>
      <p:sp>
        <p:nvSpPr>
          <p:cNvPr id="21" name="Rounded Rectangle 20"/>
          <p:cNvSpPr/>
          <p:nvPr/>
        </p:nvSpPr>
        <p:spPr>
          <a:xfrm>
            <a:off x="585216" y="3913632"/>
            <a:ext cx="5340096" cy="1133856"/>
          </a:xfrm>
          <a:prstGeom prst="roundRect">
            <a:avLst/>
          </a:prstGeom>
          <a:solidFill>
            <a:srgbClr val="FFFFFF"/>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85216" y="3913632"/>
            <a:ext cx="91440" cy="1133856"/>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59536" y="4078224"/>
            <a:ext cx="1938528"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40" b="1" i="0">
                <a:solidFill>
                  <a:srgbClr val="0F233D"/>
                </a:solidFill>
                <a:latin typeface="Arial"/>
              </a:rPr>
              <a:t>Reconcile sample counts</a:t>
            </a:r>
          </a:p>
        </p:txBody>
      </p:sp>
      <p:sp>
        <p:nvSpPr>
          <p:cNvPr id="24" name="TextBox 23"/>
          <p:cNvSpPr txBox="1"/>
          <p:nvPr/>
        </p:nvSpPr>
        <p:spPr>
          <a:xfrm>
            <a:off x="2889504" y="4050792"/>
            <a:ext cx="2761488" cy="6858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80" b="0" i="0">
                <a:solidFill>
                  <a:srgbClr val="2F2F2F"/>
                </a:solidFill>
                <a:latin typeface="Arial"/>
              </a:rPr>
              <a:t>Resolve the two Bellenguez case/control counts recorded in different bundle fields.</a:t>
            </a:r>
          </a:p>
        </p:txBody>
      </p:sp>
      <p:sp>
        <p:nvSpPr>
          <p:cNvPr id="25" name="Rounded Rectangle 24"/>
          <p:cNvSpPr/>
          <p:nvPr/>
        </p:nvSpPr>
        <p:spPr>
          <a:xfrm>
            <a:off x="6236207" y="3913632"/>
            <a:ext cx="5340096" cy="1133856"/>
          </a:xfrm>
          <a:prstGeom prst="roundRect">
            <a:avLst/>
          </a:prstGeom>
          <a:solidFill>
            <a:srgbClr val="FFFFFF"/>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236207" y="3913632"/>
            <a:ext cx="91440" cy="1133856"/>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510527" y="4078224"/>
            <a:ext cx="1938528"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40" b="1" i="0">
                <a:solidFill>
                  <a:srgbClr val="0F233D"/>
                </a:solidFill>
                <a:latin typeface="Arial"/>
              </a:rPr>
              <a:t>Correct nine QTL labels</a:t>
            </a:r>
          </a:p>
        </p:txBody>
      </p:sp>
      <p:sp>
        <p:nvSpPr>
          <p:cNvPr id="28" name="TextBox 27"/>
          <p:cNvSpPr txBox="1"/>
          <p:nvPr/>
        </p:nvSpPr>
        <p:spPr>
          <a:xfrm>
            <a:off x="8540496" y="4050792"/>
            <a:ext cx="2761488" cy="6858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80" b="0" i="0">
                <a:solidFill>
                  <a:srgbClr val="2F2F2F"/>
                </a:solidFill>
                <a:latin typeface="Arial"/>
              </a:rPr>
              <a:t>Relabel nine expression-QTL rows currently marked as splicing QTL; the registry already has the correct type.</a:t>
            </a:r>
          </a:p>
        </p:txBody>
      </p:sp>
      <p:sp>
        <p:nvSpPr>
          <p:cNvPr id="29" name="Rounded Rectangle 28"/>
          <p:cNvSpPr/>
          <p:nvPr/>
        </p:nvSpPr>
        <p:spPr>
          <a:xfrm>
            <a:off x="1609344" y="5440680"/>
            <a:ext cx="8979408" cy="640080"/>
          </a:xfrm>
          <a:prstGeom prst="roundRect">
            <a:avLst/>
          </a:prstGeom>
          <a:solidFill>
            <a:srgbClr val="0F233D"/>
          </a:solidFill>
          <a:ln w="1778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847088" y="5623560"/>
            <a:ext cx="8503920" cy="25603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200" b="1" i="0">
                <a:solidFill>
                  <a:srgbClr val="FFFFFF"/>
                </a:solidFill>
                <a:latin typeface="Arial"/>
              </a:rPr>
              <a:t>Reproducibility plan: rebuild files • complete inventories • document sources • fix labels and paths • reconcile metadata</a:t>
            </a:r>
          </a:p>
        </p:txBody>
      </p:sp>
      <p:sp>
        <p:nvSpPr>
          <p:cNvPr id="31" name="TextBox 30"/>
          <p:cNvSpPr txBox="1"/>
          <p:nvPr/>
        </p:nvSpPr>
        <p:spPr>
          <a:xfrm>
            <a:off x="3355848" y="6236208"/>
            <a:ext cx="5486400" cy="21031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200" b="1" i="0">
                <a:solidFill>
                  <a:srgbClr val="009E73"/>
                </a:solidFill>
                <a:latin typeface="Arial"/>
              </a:rPr>
              <a:t>Next milestone: a fully documented, portable data package</a:t>
            </a:r>
          </a:p>
        </p:txBody>
      </p:sp>
      <p:sp>
        <p:nvSpPr>
          <p:cNvPr id="32" name="TextBox 31"/>
          <p:cNvSpPr txBox="1"/>
          <p:nvPr/>
        </p:nvSpPr>
        <p:spPr>
          <a:xfrm>
            <a:off x="502920" y="6629400"/>
            <a:ext cx="11109960" cy="1280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680" b="0" i="0">
                <a:solidFill>
                  <a:srgbClr val="677484"/>
                </a:solidFill>
                <a:latin typeface="Arial"/>
              </a:rPr>
              <a:t>Source: genetic-support consolidated summary §5.3 and bundle-integrity audit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111</TotalTime>
  <Words>12869</Words>
  <Application>Microsoft Macintosh PowerPoint</Application>
  <PresentationFormat>Widescreen</PresentationFormat>
  <Paragraphs>769</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Inherited Genetic Evidence for Genes Highlighted by Cell Networks</dc:title>
  <dc:subject>Public-data study of 25 genes from 47 cell-network results</dc:subject>
  <dc:creator>Alzheimer project analysis team</dc:creator>
  <cp:keywords>Alzheimer, genetics, QTL, APOE, key drivers</cp:keywords>
  <dc:description>Generated from validated genetic-support figures and minerva_production result bundles.</dc:description>
  <cp:lastModifiedBy>Richard Zhuang</cp:lastModifiedBy>
  <cp:revision>7</cp:revision>
  <dcterms:created xsi:type="dcterms:W3CDTF">2013-01-27T09:14:16Z</dcterms:created>
  <dcterms:modified xsi:type="dcterms:W3CDTF">2026-08-22T17:21:22Z</dcterms:modified>
  <cp:category/>
</cp:coreProperties>
</file>