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81"/>
    <p:restoredTop sz="73870"/>
  </p:normalViewPr>
  <p:slideViewPr>
    <p:cSldViewPr snapToGrid="0" snapToObjects="1">
      <p:cViewPr varScale="1">
        <p:scale>
          <a:sx n="116" d="100"/>
          <a:sy n="116" d="100"/>
        </p:scale>
        <p:origin x="164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587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Start with the two large numbers. SEA-AD produced 13 selected network–gene–class units, and six of those match a frozen ROSMAP unit in the same broad network and driver class.</a:t>
            </a:r>
          </a:p>
          <a:p>
            <a:endParaRPr/>
          </a:p>
          <a:p>
            <a:r>
              <a:t>Main takeaway: Independent SEA-AD expression evidence recovers a focused neuronal mitochondrial signal rather than the entire ROSMAP list. MT here means the frozen core-MitoCarta driver class.</a:t>
            </a:r>
          </a:p>
          <a:p>
            <a:endParaRPr/>
          </a:p>
          <a:p>
            <a:r>
              <a:t>Boundary / transition: A unit is a network plus gene plus driver class, so one gene may count in more than one network. Next I will show how the independent evidence and shared analysis scaffold were separated.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Follow the four boxes from SEA-AD donors to donor-level expression, signed mitochondrial DEG queries, KDA on the matching frozen network, and the post-freeze ROSMAP comparison. The SEA-AD candidate list was fixed before candidate identities were used for comparison.</a:t>
            </a:r>
          </a:p>
          <a:p>
            <a:endParaRPr/>
          </a:p>
          <a:p>
            <a:r>
              <a:t>Main takeaway: Donors, expression values, differential-expression results, and queries came independently from SEA-AD. The seven broad networks and the KDA and selection rules were deliberately held fixed for comparability.</a:t>
            </a:r>
          </a:p>
          <a:p>
            <a:endParaRPr/>
          </a:p>
          <a:p>
            <a:r>
              <a:t>Boundary / transition: This is not a new SEA-AD network reconstruction. It is independent expression evidence evaluated on a shared frozen scaffold. Next I will explain why only a small fraction of planned comparisons became KDA calls.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 Read the three boxes left to right: 1,548 planned fine-cell-type by group by direction combinations, 520 directions from completed DEG contrasts, and 42 mitochondrial gene sets large enough for KDA.</a:t>
            </a:r>
          </a:p>
          <a:p>
            <a:endParaRPr dirty="0"/>
          </a:p>
          <a:p>
            <a:r>
              <a:rPr dirty="0"/>
              <a:t>Main takeaway: A planned direction is not an executed KDA call. Donor support first limited which contrasts could be fitted; then most completed directions had too few effective mitochondrial query genes.</a:t>
            </a:r>
          </a:p>
          <a:p>
            <a:endParaRPr dirty="0"/>
          </a:p>
          <a:p>
            <a:r>
              <a:rPr dirty="0"/>
              <a:t>Boundary / transit</a:t>
            </a:r>
            <a:r>
              <a:rPr lang="en-US" dirty="0"/>
              <a:t>ion: Independent donors determine biological replication. More nuclei from the same donors improve measurement but do not add independent samples. The next two slides show the drivers selected from the 42 executed calls.</a:t>
            </a:r>
          </a:p>
          <a:p>
            <a:endParaRPr lang="en-US" dirty="0"/>
          </a:p>
          <a:p>
            <a:r>
              <a:rPr lang="en-US" dirty="0"/>
              <a:t>===============================</a:t>
            </a:r>
          </a:p>
          <a:p>
            <a:r>
              <a:rPr lang="en-US" dirty="0"/>
              <a:t>why only three sex/APOE groups contributed contrasts, what happened to the other one</a:t>
            </a:r>
          </a:p>
          <a:p>
            <a:endParaRPr lang="en-US" dirty="0"/>
          </a:p>
          <a:p>
            <a:r>
              <a:rPr lang="en-US" dirty="0"/>
              <a:t>Each fine-supertype contrast required at least five eligible donors in both the Dementia and No-dementia arms. A donor also needed at least 20 nuclei for that supertype.</a:t>
            </a:r>
          </a:p>
          <a:p>
            <a:r>
              <a:rPr lang="en-US" dirty="0"/>
              <a:t>The three groups that contributed contrasts were:</a:t>
            </a:r>
          </a:p>
          <a:p>
            <a:pPr lvl="0"/>
            <a:r>
              <a:rPr lang="en-US" dirty="0"/>
              <a:t>Female APOE ε3/ε3: 13 Dementia / 13 No dementia</a:t>
            </a:r>
          </a:p>
          <a:p>
            <a:pPr lvl="0"/>
            <a:r>
              <a:rPr lang="en-US" dirty="0"/>
              <a:t>Female APOE ε4: 9 / 5</a:t>
            </a:r>
          </a:p>
          <a:p>
            <a:pPr lvl="0"/>
            <a:r>
              <a:rPr lang="en-US" dirty="0"/>
              <a:t>Male APOE ε3/ε3: 9 / 10</a:t>
            </a:r>
          </a:p>
          <a:p>
            <a:r>
              <a:rPr lang="en-US" dirty="0"/>
              <a:t>The other groups were impossible to estimate even before considering individual supertypes:</a:t>
            </a:r>
          </a:p>
          <a:p>
            <a:r>
              <a:rPr lang="en-US" dirty="0"/>
              <a:t>Group</a:t>
            </a:r>
          </a:p>
          <a:p>
            <a:r>
              <a:rPr lang="en-US" dirty="0"/>
              <a:t>Dementia</a:t>
            </a:r>
          </a:p>
          <a:p>
            <a:r>
              <a:rPr lang="en-US" dirty="0"/>
              <a:t>No dementia</a:t>
            </a:r>
          </a:p>
          <a:p>
            <a:r>
              <a:rPr lang="en-US" dirty="0"/>
              <a:t>Reason</a:t>
            </a:r>
          </a:p>
          <a:p>
            <a:r>
              <a:rPr lang="en-US" dirty="0"/>
              <a:t>Female APOE ε216Dementia arm below 5</a:t>
            </a:r>
          </a:p>
          <a:p>
            <a:r>
              <a:rPr lang="en-US" dirty="0"/>
              <a:t>Male APOE ε214Both arms below 5</a:t>
            </a:r>
          </a:p>
          <a:p>
            <a:r>
              <a:rPr lang="en-US" dirty="0"/>
              <a:t>Male APOE ε443Both arms below 5</a:t>
            </a:r>
          </a:p>
          <a:p>
            <a:r>
              <a:rPr lang="en-US" dirty="0"/>
              <a:t>Their planned contrasts remained in the manifest but were labeled </a:t>
            </a:r>
            <a:r>
              <a:rPr lang="en-US" sz="1200" kern="1200" dirty="0" err="1">
                <a:solidFill>
                  <a:schemeClr val="tx1"/>
                </a:solidFill>
                <a:latin typeface="+mn-lt"/>
                <a:ea typeface="+mn-ea"/>
                <a:cs typeface="+mn-cs"/>
              </a:rPr>
              <a:t>not_estimable</a:t>
            </a:r>
            <a:r>
              <a:rPr lang="en-US" dirty="0"/>
              <a:t>; the donor threshold was not relaxed.</a:t>
            </a:r>
          </a:p>
          <a:p>
            <a:r>
              <a:rPr lang="en-US" dirty="0"/>
              <a:t>Even within the three supported groups, not every supertype passed after the ≥20-nuclei donor-profile requirement: 100 contrasts completed for female ε3/ε3, 68 for female ε4, and 92 for male ε3/ε3.</a:t>
            </a:r>
          </a:p>
          <a:p>
            <a:r>
              <a:rPr lang="en-US" dirty="0"/>
              <a:t>===============================</a:t>
            </a:r>
          </a:p>
          <a:p>
            <a:r>
              <a:rPr lang="en-US" dirty="0"/>
              <a:t>how did the number go from 1548 to 520 to 42?</a:t>
            </a:r>
            <a:br>
              <a:rPr lang="en-US" dirty="0"/>
            </a:br>
            <a:endParaRPr lang="en-US" dirty="0"/>
          </a:p>
          <a:p>
            <a:r>
              <a:rPr lang="en-US" dirty="0"/>
              <a:t>There were 774 </a:t>
            </a:r>
            <a:r>
              <a:rPr lang="en-US" dirty="0" err="1"/>
              <a:t>supertype×group</a:t>
            </a:r>
            <a:r>
              <a:rPr lang="en-US" dirty="0"/>
              <a:t> DEG contrasts:</a:t>
            </a:r>
          </a:p>
          <a:p>
            <a:pPr lvl="0"/>
            <a:r>
              <a:rPr lang="en-US" dirty="0"/>
              <a:t>260 contrasts could be estimated</a:t>
            </a:r>
          </a:p>
          <a:p>
            <a:pPr lvl="0"/>
            <a:r>
              <a:rPr lang="en-US" dirty="0"/>
              <a:t>514 lacked sufficient donors</a:t>
            </a:r>
          </a:p>
          <a:p>
            <a:endParaRPr lang="en-US" dirty="0"/>
          </a:p>
          <a:p>
            <a:r>
              <a:rPr lang="en-US" dirty="0"/>
              <a:t>Because each completed contrast has two directions:</a:t>
            </a:r>
          </a:p>
          <a:p>
            <a:r>
              <a:rPr lang="en-US" sz="1200" kern="1200" dirty="0">
                <a:solidFill>
                  <a:schemeClr val="tx1"/>
                </a:solidFill>
                <a:latin typeface="+mn-lt"/>
                <a:ea typeface="+mn-ea"/>
                <a:cs typeface="+mn-cs"/>
              </a:rPr>
              <a:t>260 × 2 = 520 completed directions</a:t>
            </a:r>
            <a:endParaRPr lang="en-US" dirty="0"/>
          </a:p>
          <a:p>
            <a:endParaRPr lang="en-US" dirty="0"/>
          </a:p>
          <a:p>
            <a:r>
              <a:rPr lang="en-US" b="1" dirty="0"/>
              <a:t>42 runnable KDA calls</a:t>
            </a:r>
          </a:p>
          <a:p>
            <a:r>
              <a:rPr lang="en-US" dirty="0"/>
              <a:t>A completed DEG contrast did not necessarily provide enough mitochondrial query genes:</a:t>
            </a:r>
          </a:p>
          <a:p>
            <a:r>
              <a:rPr lang="en-US" dirty="0"/>
              <a:t>Effective query size</a:t>
            </a:r>
          </a:p>
          <a:p>
            <a:r>
              <a:rPr lang="en-US" dirty="0"/>
              <a:t>Directions</a:t>
            </a:r>
          </a:p>
          <a:p>
            <a:r>
              <a:rPr lang="en-US" dirty="0"/>
              <a:t>Outcome</a:t>
            </a:r>
          </a:p>
          <a:p>
            <a:r>
              <a:rPr lang="en-US" dirty="0"/>
              <a:t>0 genes462Empty query</a:t>
            </a:r>
          </a:p>
          <a:p>
            <a:r>
              <a:rPr lang="en-US" dirty="0"/>
              <a:t>1–2 genes16Below minimum</a:t>
            </a:r>
          </a:p>
          <a:p>
            <a:r>
              <a:rPr lang="en-US" dirty="0"/>
              <a:t>3–9 genes21Runnable</a:t>
            </a:r>
          </a:p>
          <a:p>
            <a:r>
              <a:rPr lang="en-US" dirty="0"/>
              <a:t>≥10 genes21Runnable and ROSMAP-sized</a:t>
            </a:r>
          </a:p>
          <a:p>
            <a:r>
              <a:rPr lang="en-US" dirty="0"/>
              <a:t>Therefore:</a:t>
            </a:r>
          </a:p>
          <a:p>
            <a:r>
              <a:rPr lang="en-US" sz="1200" kern="1200" dirty="0">
                <a:solidFill>
                  <a:schemeClr val="tx1"/>
                </a:solidFill>
                <a:latin typeface="+mn-lt"/>
                <a:ea typeface="+mn-ea"/>
                <a:cs typeface="+mn-cs"/>
              </a:rPr>
              <a:t>520 − 462 − 16 = 42 KDA calls</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Focus on the Excitatory and Inhibitory arcs. Eight selected MT units represent six genes. MT-CO2 and MT-CYB appear in both neuronal networks, which is why two recurrence curves cross the center.</a:t>
            </a:r>
          </a:p>
          <a:p>
            <a:endParaRPr/>
          </a:p>
          <a:p>
            <a:r>
              <a:t>Main takeaway: The SEA-AD MT signal is compact and neuronal rather than broadly distributed across all seven networks.</a:t>
            </a:r>
          </a:p>
          <a:p>
            <a:endParaRPr/>
          </a:p>
          <a:p>
            <a:r>
              <a:t>Boundary / transition: The curves indicate the same selected gene appearing in two network lists; they are not biological network edges. Gray and hatched slots distinguish testable lists with no passing driver from networks with no included run. Next we show the SEA-AD non-MT selections.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selected non-MT genes are HGSNAT in Excitatory neurons, BEX3, RPS27A, and RPL30 in Inhibitory neurons, and KANSL1L in Oligodendrocytes. The other list positions are deliberately not filled.</a:t>
            </a:r>
          </a:p>
          <a:p>
            <a:endParaRPr/>
          </a:p>
          <a:p>
            <a:r>
              <a:t>Main takeaway: SEA-AD did select non-MT drivers; the later zero overlap means these five genes differ from the final ROSMAP non-MT list, not that SEA-AD had no non-MT result.</a:t>
            </a:r>
          </a:p>
          <a:p>
            <a:endParaRPr/>
          </a:p>
          <a:p>
            <a:r>
              <a:t>Boundary / transition: Non-MT means outside the frozen core-MitoCarta class, not unrelated to mitochondria. OPC and Vasculature lists lacked included KDA runs and should not be treated as negative results. Next we move to the prespecified strict comparison.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 The top bands separate MT and non-MT. Then follow the rank lines in Excitatory and Inhibitory neurons. Six same-network, same-gene, same-class units recur; because MT-CO2 and MT-CYB recur in both networks, these are four unique gene symbols.</a:t>
            </a:r>
          </a:p>
          <a:p>
            <a:endParaRPr dirty="0"/>
          </a:p>
          <a:p>
            <a:r>
              <a:rPr dirty="0"/>
              <a:t>Main takeaway: The primary cross-cohort endpoint is six strict neuronal MT matches and zero strict non-MT matches. Thirty-six of the 47 frozen ROSMAP units had a matching testable SEA-AD universe.</a:t>
            </a:r>
          </a:p>
          <a:p>
            <a:endParaRPr dirty="0"/>
          </a:p>
          <a:p>
            <a:r>
              <a:rPr dirty="0"/>
              <a:t>Boundary / transition: The printed p-values are nominal per-list overlap tests. Eleven ROSMAP units had no eligible SEA-AD run and are not negative replications. The next slide deliberately collapses network identity for a simpler gene-level view.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In the MT panel, the SEA-AD circle is fully contained inside the ROSMAP circle: all six SEA-AD MT genes occur somewhere in ROSMAP. In the non-MT panel, the two gene sets are disjoint.</a:t>
            </a:r>
          </a:p>
          <a:p>
            <a:endParaRPr/>
          </a:p>
          <a:p>
            <a:r>
              <a:t>Main takeaway: The descriptive gene-level view shows six shared MT genes and no shared non-MT genes after each gene is counted once, regardless of network.</a:t>
            </a:r>
          </a:p>
          <a:p>
            <a:endParaRPr/>
          </a:p>
          <a:p>
            <a:r>
              <a:t>Boundary / transition: This is secondary to the strict endpoint. MT-ATP6 and MT-ND4 overlap only after networks are ignored, so the six common genes here are not the same as six strict units. No gene-level overlap p-value is claimed. Next we unpack the non-MT mismatch.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Panel A starts with 21 non-MT driver units selected in ROSMAP. Four are labeled “not testable” because they all belong to the OPC network:</a:t>
            </a:r>
          </a:p>
          <a:p>
            <a:pPr lvl="0"/>
            <a:r>
              <a:rPr lang="en-US" dirty="0"/>
              <a:t>RPS15</a:t>
            </a:r>
          </a:p>
          <a:p>
            <a:pPr lvl="0"/>
            <a:r>
              <a:rPr lang="en-US" dirty="0"/>
              <a:t>FTL</a:t>
            </a:r>
          </a:p>
          <a:p>
            <a:pPr lvl="0"/>
            <a:r>
              <a:rPr lang="en-US" dirty="0"/>
              <a:t>ANKRD11</a:t>
            </a:r>
          </a:p>
          <a:p>
            <a:pPr lvl="0"/>
            <a:r>
              <a:rPr lang="en-US" dirty="0"/>
              <a:t>NCOA1</a:t>
            </a:r>
          </a:p>
          <a:p>
            <a:r>
              <a:rPr lang="en-US" dirty="0"/>
              <a:t>A strict comparison requires an eligible SEA-AD KDA run in the same broad network. SEA-AD produced no runnable OPC KDA calls:</a:t>
            </a:r>
          </a:p>
          <a:p>
            <a:r>
              <a:rPr lang="en-US" sz="1200" kern="1200" dirty="0">
                <a:solidFill>
                  <a:schemeClr val="tx1"/>
                </a:solidFill>
                <a:latin typeface="+mn-lt"/>
                <a:ea typeface="+mn-ea"/>
                <a:cs typeface="+mn-cs"/>
              </a:rPr>
              <a:t>36 planned OPC directions → 30 not estimable from insufficient donors → 6 completed → 5 empty queries + 1 query with only 2 genes → 0 KDA calls</a:t>
            </a:r>
            <a:endParaRPr lang="en-US" dirty="0"/>
          </a:p>
          <a:p>
            <a:endParaRPr lang="en-US" dirty="0"/>
          </a:p>
          <a:p>
            <a:r>
              <a:rPr lang="en-US" dirty="0"/>
              <a:t>The 13 were testable, but none produced a strong enough result in any matching SEA-AD KDA run.</a:t>
            </a:r>
          </a:p>
          <a:p>
            <a:r>
              <a:rPr lang="en-US" dirty="0"/>
              <a:t>A “qualifying run return” requires the gene to satisfy all three conditions in one run:</a:t>
            </a:r>
          </a:p>
          <a:p>
            <a:pPr lvl="0"/>
            <a:r>
              <a:rPr lang="en-US" dirty="0"/>
              <a:t>1. Within-run adjusted q ≤ 0.05</a:t>
            </a:r>
          </a:p>
          <a:p>
            <a:pPr lvl="0"/>
            <a:r>
              <a:rPr lang="en-US" dirty="0"/>
              <a:t>2. Neighborhood overlaps at least 2 mitochondrial query genes</a:t>
            </a:r>
          </a:p>
          <a:p>
            <a:pPr lvl="0"/>
            <a:r>
              <a:rPr lang="en-US" dirty="0"/>
              <a:t>3. Fold enrichment &gt; 1</a:t>
            </a:r>
          </a:p>
          <a:p>
            <a:r>
              <a:rPr lang="en-US" dirty="0"/>
              <a:t>For these 13 ROSMAP units, no SEA-AD run in the same network passed all three conditions:</a:t>
            </a:r>
          </a:p>
          <a:p>
            <a:endParaRPr lang="en-US" dirty="0"/>
          </a:p>
          <a:p>
            <a:r>
              <a:rPr lang="en-US" dirty="0"/>
              <a:t>==============================================================</a:t>
            </a:r>
          </a:p>
          <a:p>
            <a:r>
              <a:rPr lang="en-US" dirty="0"/>
              <a:t>Panel B reverses the comparison:</a:t>
            </a:r>
          </a:p>
          <a:p>
            <a:r>
              <a:rPr lang="en-US" dirty="0"/>
              <a:t>Starting with the five non-MT drivers selected in SEA-AD (but not among the 21 ROSMAP selected genes), what evidence did ROSMAP provide for the same gene in the same network?</a:t>
            </a:r>
          </a:p>
          <a:p>
            <a:r>
              <a:rPr lang="en-US" dirty="0"/>
              <a:t>The q-values shown are ROSMAP final aggregate q-values.</a:t>
            </a:r>
          </a:p>
          <a:p>
            <a:pPr lvl="0"/>
            <a:r>
              <a:rPr lang="en-US" dirty="0"/>
              <a:t>HGSNAT, Excitatory: one ROSMAP supporting run, but aggregate q=.641. Not selected.</a:t>
            </a:r>
          </a:p>
          <a:p>
            <a:pPr lvl="0"/>
            <a:r>
              <a:rPr lang="en-US" dirty="0"/>
              <a:t>BEX3, Inhibitory: four supporting runs, but aggregate q=.157. Not selected.</a:t>
            </a:r>
          </a:p>
          <a:p>
            <a:pPr lvl="0"/>
            <a:r>
              <a:rPr lang="en-US" dirty="0"/>
              <a:t>RPS27A, Inhibitory: two supporting runs, but aggregate q=1. Not selected.</a:t>
            </a:r>
          </a:p>
          <a:p>
            <a:pPr lvl="0"/>
            <a:r>
              <a:rPr lang="en-US" dirty="0"/>
              <a:t>RPL30, Inhibitory: two raw returns occurred only in query-size-3 runs. ROSMAP Phase 18 required at least 10 query genes, and these returns also lacked the required overlap support. Aggregate q=1.</a:t>
            </a:r>
          </a:p>
          <a:p>
            <a:pPr lvl="0"/>
            <a:r>
              <a:rPr lang="en-US" dirty="0"/>
              <a:t>KANSL1L, Oligodendrocytes: no explicit primary ROSMAP KDA return. Not selected.</a:t>
            </a:r>
          </a:p>
          <a:p>
            <a:r>
              <a:rPr lang="en-US" dirty="0"/>
              <a:t>The key message is that three SEA-AD drivers—HGSNAT, BEX3 and RPS27A—had some supporting evidence in ROSMAP, but it was not strong enough after evidence was combined across runs and corrected for multiple testing. RPL30 had only out-of-scope weak returns, and KANSL1L had none.</a:t>
            </a:r>
          </a:p>
          <a:p>
            <a:endParaRPr lang="en-US" dirty="0"/>
          </a:p>
          <a:p>
            <a:r>
              <a:rPr lang="en-US" dirty="0"/>
              <a:t>“Aggregate gate not passed” means that some individual ROSMAP runs supported the gene, but the evidence was not strong enough after considering all relevant runs together.</a:t>
            </a:r>
          </a:p>
          <a:p>
            <a:r>
              <a:rPr lang="en-US" dirty="0"/>
              <a:t>The procedure was:</a:t>
            </a:r>
          </a:p>
          <a:p>
            <a:pPr lvl="0"/>
            <a:r>
              <a:rPr lang="en-US" dirty="0"/>
              <a:t>1.Collect the gene’s raw p-value from every eligible ROSMAP run in that network.</a:t>
            </a:r>
          </a:p>
          <a:p>
            <a:pPr lvl="0"/>
            <a:r>
              <a:rPr lang="en-US" dirty="0"/>
              <a:t>2.Combine those p-values using ACAT.</a:t>
            </a:r>
          </a:p>
          <a:p>
            <a:pPr lvl="0"/>
            <a:r>
              <a:rPr lang="en-US" dirty="0"/>
              <a:t>3.Correct the combined results across all assessable genes in that network using BH.</a:t>
            </a:r>
          </a:p>
          <a:p>
            <a:pPr lvl="0"/>
            <a:r>
              <a:rPr lang="en-US" dirty="0"/>
              <a:t>4.Require the final aggregate q-value to be ≤0.05.</a:t>
            </a:r>
          </a:p>
          <a:p>
            <a:r>
              <a:rPr lang="en-US" dirty="0"/>
              <a:t>The Panel B genes failed because:</a:t>
            </a:r>
          </a:p>
          <a:p>
            <a:pPr lvl="0"/>
            <a:r>
              <a:rPr lang="en-US" dirty="0"/>
              <a:t>HGSNAT: aggregate q=.641</a:t>
            </a:r>
          </a:p>
          <a:p>
            <a:pPr lvl="0"/>
            <a:r>
              <a:rPr lang="en-US" dirty="0"/>
              <a:t>BEX3: aggregate q=.157</a:t>
            </a:r>
          </a:p>
          <a:p>
            <a:pPr lvl="0"/>
            <a:r>
              <a:rPr lang="en-US" dirty="0"/>
              <a:t>RPS27A: aggregate q=1</a:t>
            </a:r>
          </a:p>
          <a:p>
            <a:r>
              <a:rPr lang="en-US" dirty="0"/>
              <a:t>All exceed 0.05. </a:t>
            </a:r>
          </a:p>
          <a:p>
            <a:r>
              <a:rPr lang="en-US" dirty="0"/>
              <a:t>==============================================================</a:t>
            </a:r>
          </a:p>
          <a:p>
            <a:r>
              <a:rPr lang="en-US" dirty="0"/>
              <a:t>“40 M_e33” means that 40 of the 42 SEA-AD KDA calls came from the male APOE ε3/ε3 group.</a:t>
            </a:r>
          </a:p>
          <a:p>
            <a:r>
              <a:rPr lang="en-US" dirty="0"/>
              <a:t>It does not mean 40 donors or 40 genes. Each call represents one:</a:t>
            </a:r>
          </a:p>
          <a:p>
            <a:r>
              <a:rPr lang="en-US" dirty="0"/>
              <a:t>fine cell type × sex/APOE group × DEG direction</a:t>
            </a:r>
          </a:p>
          <a:p>
            <a:r>
              <a:rPr lang="en-US" dirty="0"/>
              <a:t>The remaining two calls were:</a:t>
            </a:r>
          </a:p>
          <a:p>
            <a:pPr lvl="0"/>
            <a:r>
              <a:rPr lang="en-US" dirty="0"/>
              <a:t>One female APOE ε3/ε3 call</a:t>
            </a:r>
          </a:p>
          <a:p>
            <a:pPr lvl="0"/>
            <a:r>
              <a:rPr lang="en-US" dirty="0"/>
              <a:t>One female APOE ε4-carrier call</a:t>
            </a:r>
          </a:p>
          <a:p>
            <a:pPr lvl="0"/>
            <a:r>
              <a:rPr lang="en-US" dirty="0"/>
              <a:t>==============================================================</a:t>
            </a:r>
          </a:p>
          <a:p>
            <a:r>
              <a:rPr lang="en-US" dirty="0"/>
              <a:t>The “SEA-AD coverage context” box explains a mismatch in which sex/APOE groups were available between the cohorts.</a:t>
            </a:r>
          </a:p>
          <a:p>
            <a:pPr lvl="0"/>
            <a:r>
              <a:rPr lang="en-US" dirty="0"/>
              <a:t>“20/21 ROSMAP units”: 20 of the 21 selected ROSMAP non-MT network–gene units had at least one supporting ROSMAP run in F_e2, M_e2 or M_e4.</a:t>
            </a:r>
          </a:p>
          <a:p>
            <a:pPr lvl="0"/>
            <a:r>
              <a:rPr lang="en-US" dirty="0"/>
              <a:t>“≥1 arm had &lt;5 donors”: SEA-AD could not analyze these groups because either the Dementia or No-dementia arm had fewer than five independent donors:</a:t>
            </a:r>
          </a:p>
          <a:p>
            <a:pPr lvl="1"/>
            <a:r>
              <a:rPr lang="en-US" dirty="0"/>
              <a:t>Female APOE ε2: 1 Dementia / 6 No dementia</a:t>
            </a:r>
          </a:p>
          <a:p>
            <a:pPr lvl="1"/>
            <a:r>
              <a:rPr lang="en-US" dirty="0"/>
              <a:t>Male APOE ε2: 1 / 4</a:t>
            </a:r>
          </a:p>
          <a:p>
            <a:pPr lvl="1"/>
            <a:r>
              <a:rPr lang="en-US" dirty="0"/>
              <a:t>Male APOE ε4: 4 / 3</a:t>
            </a:r>
          </a:p>
          <a:p>
            <a:r>
              <a:rPr lang="en-US" dirty="0"/>
              <a:t>Consequently, SEA-AD generated no KDA calls for those three groups and could not directly evaluate evidence specific to them.</a:t>
            </a:r>
          </a:p>
          <a:p>
            <a:r>
              <a:rPr lang="en-US" dirty="0"/>
              <a:t>“Support need not be exclusive; not a sole cause” is an important caution: some ROSMAP drivers also had support in groups that SEA-AD could analyze. Therefore, missing these groups reduced the opportunity for matching evidence, but it does not fully explain the zero non-MT overlap.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pPr lvl="0"/>
            <a:endParaRPr lang="en-US" dirty="0"/>
          </a:p>
          <a:p>
            <a:pPr lvl="0"/>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Read the three cards as supported, not established, and next step. The supported result is the same-network neuronal MT recurrence. Broad non-MT replication and untestable groups remain unresolved.</a:t>
            </a:r>
          </a:p>
          <a:p>
            <a:endParaRPr/>
          </a:p>
          <a:p>
            <a:r>
              <a:t>Main takeaway: SEA-AD provides focused independent support for a neuronal mitochondrial signal, while the wider ROSMAP driver list is not broadly reproduced under this design.</a:t>
            </a:r>
          </a:p>
          <a:p>
            <a:endParaRPr/>
          </a:p>
          <a:p>
            <a:r>
              <a:t>Boundary / transition: Shared networks and selection machinery limit how independent the full analysis is, and KDA prioritization is not causal proof. The practical next step is better donor-balanced external cohorts and, where possible, independently reconstructed networks. The appendix contains the detailed setup and audit evidence.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This is the detailed version of the setup. The top lane shows independent SEA-AD evidence from donors through DEG queries and KDA selection. The lower ROSMAP lane enters only after the SEA-AD list is frozen for comparison.</a:t>
            </a:r>
          </a:p>
          <a:p>
            <a:endParaRPr/>
          </a:p>
          <a:p>
            <a:r>
              <a:t>Main takeaway: The compact main-deck workflow is backed by a checksum-validated, auditable implementation with explicit separation between cohort-specific evidence and shared technical assets.</a:t>
            </a:r>
          </a:p>
          <a:p>
            <a:endParaRPr/>
          </a:p>
          <a:p>
            <a:r>
              <a:t>Boundary / transition: The 1,548 count is a structural grid, not a run count. The original ROSMAP grid spans 54 fine types and six groups, while the SEA-AD design uses its own 129 supertypes. The next appendix slide shows where the DEG signal was concentrated.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heatmap shows completed fine-supertype contrasts and the distribution of Phase-18-parity DEG incidences. The bottom summary makes the dominant male APOE ε3/ε3 contribution visible.</a:t>
            </a:r>
          </a:p>
          <a:p>
            <a:endParaRPr/>
          </a:p>
          <a:p>
            <a:r>
              <a:t>Main takeaway: Only 260 of 774 fine contrasts completed, and the usable DEG signal was strongly concentrated in a subset of neuronal contrasts, especially male APOE ε3/ε3.</a:t>
            </a:r>
          </a:p>
          <a:p>
            <a:endParaRPr/>
          </a:p>
          <a:p>
            <a:r>
              <a:t>Boundary / transition: Counts here are feature-by-contrast incidences, not unique genes, and they are upstream of symbol deduplication, MitoCarta filtering, and network intersection. The next slide shows what happened after runnable queries entered KDA.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Panel A separates calls with at least one significant return from calls with none. Panel B shows that 42 calls produced run-level evidence, while final across-run selection reduced the result to 13 selected units.</a:t>
            </a:r>
          </a:p>
          <a:p>
            <a:endParaRPr/>
          </a:p>
          <a:p>
            <a:r>
              <a:t>Main takeaway: Within-run evidence was common in the neuronal networks, but final selection across runs was intentionally much stricter.</a:t>
            </a:r>
          </a:p>
          <a:p>
            <a:endParaRPr/>
          </a:p>
          <a:p>
            <a:r>
              <a:t>Boundary / transition: A run-level significant return is not a final selected driver. The 208 return rows are not unique genes, and within-run q-values differ from aggregate ACAT/BH q-values. The next appendix slide summarizes the frozen rules without the implementation detail.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Read the four cards in order: define a signed core-MitoCarta DEG query, run KDA only when the effective query is large enough, aggregate evidence across runs, and display no more than five genes without backfilling.</a:t>
            </a:r>
          </a:p>
          <a:p>
            <a:endParaRPr/>
          </a:p>
          <a:p>
            <a:r>
              <a:t>Main takeaway: SEA-AD changed only the runnable query floor to three genes; ROSMAP used ten. Coverage, conservative support, aggregate correction, driver classes, and ranking remain aligned with the frozen Phase 18 selection logic.</a:t>
            </a:r>
          </a:p>
          <a:p>
            <a:endParaRPr/>
          </a:p>
          <a:p>
            <a:r>
              <a:t>Boundary / transition: The query consists of mitochondrial DEG genes, but candidate drivers can be any assessable network gene and are later classified as MT or non-MT. These rules prioritize evidence; they do not establish causality. The next appendix slide lists the selected SEA-AD units and testability summary.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left panel lists every SEA-AD selected unit by network and class. The right panel shows the ROSMAP comparison denominator and the three SEA-AD list states.</a:t>
            </a:r>
          </a:p>
          <a:p>
            <a:endParaRPr/>
          </a:p>
          <a:p>
            <a:r>
              <a:t>Main takeaway: All 13 SEA-AD passing units were displayed because no list exceeded the five-gene cap. Of 47 frozen ROSMAP units, 36 were testable and six were strict matches; the 11 untestable units came from networks without an eligible SEA-AD run.</a:t>
            </a:r>
          </a:p>
          <a:p>
            <a:endParaRPr/>
          </a:p>
          <a:p>
            <a:r>
              <a:t>Boundary / transition: Tested but not selected and not testable are different states. The table summarizes the prespecified network–gene–class endpoint, not gene-level overlap. The final appendix slide records provenance and interpretation limits.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 The left column lists the evidence controls: validated source tables, validated figure packages, byte-identical embedded images, and speaker notes. The right column lists the main boundaries.</a:t>
            </a:r>
          </a:p>
          <a:p>
            <a:endParaRPr/>
          </a:p>
          <a:p>
            <a:r>
              <a:t>Main takeaway: The deck is a reproducible view of the completed primary analysis. It does not rely on VH05/VH06 QC figures or an unexecuted sensitivity branch.</a:t>
            </a:r>
          </a:p>
          <a:p>
            <a:endParaRPr/>
          </a:p>
          <a:p>
            <a:r>
              <a:t>Boundary / transition: The shared network scaffold is not an independently reconstructed network. Uneven donor coverage limits testability, the compact transfer does not support new gene-level plots for every intermediate, and KDA is a prioritization method rather than causal proof. These points define the appropriate scope of the conclusions.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621792" y="457200"/>
            <a:ext cx="38404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09E73"/>
                </a:solidFill>
                <a:latin typeface="Arial"/>
              </a:rPr>
              <a:t>HUMAN VALIDATION</a:t>
            </a:r>
          </a:p>
        </p:txBody>
      </p:sp>
      <p:sp>
        <p:nvSpPr>
          <p:cNvPr id="3" name="TextBox 2"/>
          <p:cNvSpPr txBox="1"/>
          <p:nvPr/>
        </p:nvSpPr>
        <p:spPr>
          <a:xfrm>
            <a:off x="621792" y="941832"/>
            <a:ext cx="10652760" cy="11887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0F233D"/>
                </a:solidFill>
                <a:latin typeface="Arial"/>
              </a:rPr>
              <a:t>SEA-AD independently recovers a focused neuronal mitochondrial signal from ROSMAP</a:t>
            </a:r>
          </a:p>
        </p:txBody>
      </p:sp>
      <p:sp>
        <p:nvSpPr>
          <p:cNvPr id="4" name="TextBox 3"/>
          <p:cNvSpPr txBox="1"/>
          <p:nvPr/>
        </p:nvSpPr>
        <p:spPr>
          <a:xfrm>
            <a:off x="649224" y="2276856"/>
            <a:ext cx="10652760" cy="4114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a:solidFill>
                  <a:srgbClr val="4F5965"/>
                </a:solidFill>
                <a:latin typeface="Arial"/>
              </a:rPr>
              <a:t>Independent SEA-AD expression evidence analyzed on a shared, frozen network/KDA scaffold</a:t>
            </a:r>
          </a:p>
        </p:txBody>
      </p:sp>
      <p:sp>
        <p:nvSpPr>
          <p:cNvPr id="5" name="Rounded Rectangle 4"/>
          <p:cNvSpPr/>
          <p:nvPr/>
        </p:nvSpPr>
        <p:spPr>
          <a:xfrm>
            <a:off x="1234440" y="3108960"/>
            <a:ext cx="4187952" cy="1325880"/>
          </a:xfrm>
          <a:prstGeom prst="roundRect">
            <a:avLst/>
          </a:prstGeom>
          <a:solidFill>
            <a:srgbClr val="E1F4EE"/>
          </a:solidFill>
          <a:ln w="2159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435608" y="3282696"/>
            <a:ext cx="3785615" cy="53035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100" b="1" i="0">
                <a:solidFill>
                  <a:srgbClr val="009E73"/>
                </a:solidFill>
                <a:latin typeface="Arial"/>
              </a:rPr>
              <a:t>13</a:t>
            </a:r>
          </a:p>
        </p:txBody>
      </p:sp>
      <p:sp>
        <p:nvSpPr>
          <p:cNvPr id="7" name="TextBox 6"/>
          <p:cNvSpPr txBox="1"/>
          <p:nvPr/>
        </p:nvSpPr>
        <p:spPr>
          <a:xfrm>
            <a:off x="1463040" y="3858768"/>
            <a:ext cx="3730752" cy="36576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50" b="1" i="0">
                <a:solidFill>
                  <a:srgbClr val="0F233D"/>
                </a:solidFill>
                <a:latin typeface="Arial"/>
              </a:rPr>
              <a:t>SEA-AD selected units</a:t>
            </a:r>
          </a:p>
        </p:txBody>
      </p:sp>
      <p:sp>
        <p:nvSpPr>
          <p:cNvPr id="8" name="Rounded Rectangle 7"/>
          <p:cNvSpPr/>
          <p:nvPr/>
        </p:nvSpPr>
        <p:spPr>
          <a:xfrm>
            <a:off x="6739128" y="3108960"/>
            <a:ext cx="4187952" cy="1325880"/>
          </a:xfrm>
          <a:prstGeom prst="roundRect">
            <a:avLst/>
          </a:prstGeom>
          <a:solidFill>
            <a:srgbClr val="E1EFF8"/>
          </a:solidFill>
          <a:ln w="2159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0296" y="3282696"/>
            <a:ext cx="3785615" cy="53035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100" b="1" i="0">
                <a:solidFill>
                  <a:srgbClr val="0F233D"/>
                </a:solidFill>
                <a:latin typeface="Arial"/>
              </a:rPr>
              <a:t>6</a:t>
            </a:r>
          </a:p>
        </p:txBody>
      </p:sp>
      <p:sp>
        <p:nvSpPr>
          <p:cNvPr id="10" name="TextBox 9"/>
          <p:cNvSpPr txBox="1"/>
          <p:nvPr/>
        </p:nvSpPr>
        <p:spPr>
          <a:xfrm>
            <a:off x="6967728" y="3858768"/>
            <a:ext cx="3730752" cy="36576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50" b="1" i="0">
                <a:solidFill>
                  <a:srgbClr val="0F233D"/>
                </a:solidFill>
                <a:latin typeface="Arial"/>
              </a:rPr>
              <a:t>same-network MT matches</a:t>
            </a:r>
          </a:p>
        </p:txBody>
      </p:sp>
      <p:sp>
        <p:nvSpPr>
          <p:cNvPr id="11" name="Rounded Rectangle 10"/>
          <p:cNvSpPr/>
          <p:nvPr/>
        </p:nvSpPr>
        <p:spPr>
          <a:xfrm>
            <a:off x="1234440" y="4882896"/>
            <a:ext cx="9692640" cy="713232"/>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90472" y="5093208"/>
            <a:ext cx="9180576" cy="29260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700" b="1" i="0" dirty="0">
                <a:solidFill>
                  <a:srgbClr val="0F233D"/>
                </a:solidFill>
                <a:latin typeface="Arial"/>
              </a:rPr>
              <a:t>Focused neuronal MT rediscovery—not broad reproduction of every ROSMAP driver</a:t>
            </a:r>
          </a:p>
        </p:txBody>
      </p:sp>
      <p:sp>
        <p:nvSpPr>
          <p:cNvPr id="13" name="TextBox 12"/>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VH10C SEA-AD selection and VH10D strict overlap outputs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STUDY SETUP</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SEA-AD evidence was independent; the network and KDA rules were shared</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02</a:t>
            </a:r>
          </a:p>
        </p:txBody>
      </p:sp>
      <p:sp>
        <p:nvSpPr>
          <p:cNvPr id="5" name="Rounded Rectangle 4"/>
          <p:cNvSpPr/>
          <p:nvPr/>
        </p:nvSpPr>
        <p:spPr>
          <a:xfrm>
            <a:off x="438912"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8912" y="1435608"/>
            <a:ext cx="250545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1764792"/>
            <a:ext cx="438912" cy="438912"/>
          </a:xfrm>
          <a:prstGeom prst="ellipse">
            <a:avLst/>
          </a:prstGeom>
          <a:solidFill>
            <a:srgbClr val="E1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9E73"/>
                </a:solidFill>
                <a:latin typeface="Arial"/>
              </a:rPr>
              <a:t>1</a:t>
            </a:r>
          </a:p>
        </p:txBody>
      </p:sp>
      <p:sp>
        <p:nvSpPr>
          <p:cNvPr id="9" name="TextBox 8"/>
          <p:cNvSpPr txBox="1"/>
          <p:nvPr/>
        </p:nvSpPr>
        <p:spPr>
          <a:xfrm>
            <a:off x="1188719"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SEA-AD donors</a:t>
            </a:r>
          </a:p>
        </p:txBody>
      </p:sp>
      <p:sp>
        <p:nvSpPr>
          <p:cNvPr id="10" name="TextBox 9"/>
          <p:cNvSpPr txBox="1"/>
          <p:nvPr/>
        </p:nvSpPr>
        <p:spPr>
          <a:xfrm>
            <a:off x="704088"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78 donors
Dementia vs No dementia</a:t>
            </a:r>
          </a:p>
        </p:txBody>
      </p:sp>
      <p:cxnSp>
        <p:nvCxnSpPr>
          <p:cNvPr id="11" name="Connector 10"/>
          <p:cNvCxnSpPr/>
          <p:nvPr/>
        </p:nvCxnSpPr>
        <p:spPr>
          <a:xfrm>
            <a:off x="2980944"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46704"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46704" y="1435608"/>
            <a:ext cx="2505456"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47872" y="1764792"/>
            <a:ext cx="438912" cy="438912"/>
          </a:xfrm>
          <a:prstGeom prst="ellipse">
            <a:avLst/>
          </a:prstGeom>
          <a:solidFill>
            <a:srgbClr val="E1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75304"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72B2"/>
                </a:solidFill>
                <a:latin typeface="Arial"/>
              </a:rPr>
              <a:t>2</a:t>
            </a:r>
          </a:p>
        </p:txBody>
      </p:sp>
      <p:sp>
        <p:nvSpPr>
          <p:cNvPr id="16" name="TextBox 15"/>
          <p:cNvSpPr txBox="1"/>
          <p:nvPr/>
        </p:nvSpPr>
        <p:spPr>
          <a:xfrm>
            <a:off x="4096512"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Donor-level expression</a:t>
            </a:r>
          </a:p>
        </p:txBody>
      </p:sp>
      <p:sp>
        <p:nvSpPr>
          <p:cNvPr id="17" name="TextBox 16"/>
          <p:cNvSpPr txBox="1"/>
          <p:nvPr/>
        </p:nvSpPr>
        <p:spPr>
          <a:xfrm>
            <a:off x="3611880"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129 supertypes × 6 groups
Signed mitochondrial DEG query</a:t>
            </a:r>
          </a:p>
        </p:txBody>
      </p:sp>
      <p:cxnSp>
        <p:nvCxnSpPr>
          <p:cNvPr id="18" name="Connector 17"/>
          <p:cNvCxnSpPr/>
          <p:nvPr/>
        </p:nvCxnSpPr>
        <p:spPr>
          <a:xfrm>
            <a:off x="5888736"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54496" y="1435608"/>
            <a:ext cx="2505456" cy="1828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55664" y="1764792"/>
            <a:ext cx="438912" cy="438912"/>
          </a:xfrm>
          <a:prstGeom prst="ellipse">
            <a:avLst/>
          </a:prstGeom>
          <a:solidFill>
            <a:srgbClr val="F0F3F6"/>
          </a:solidFill>
          <a:ln w="1905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83096"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F233D"/>
                </a:solidFill>
                <a:latin typeface="Arial"/>
              </a:rPr>
              <a:t>3</a:t>
            </a:r>
          </a:p>
        </p:txBody>
      </p:sp>
      <p:sp>
        <p:nvSpPr>
          <p:cNvPr id="23" name="TextBox 22"/>
          <p:cNvSpPr txBox="1"/>
          <p:nvPr/>
        </p:nvSpPr>
        <p:spPr>
          <a:xfrm>
            <a:off x="7004304"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Frozen KDA scaffold</a:t>
            </a:r>
          </a:p>
        </p:txBody>
      </p:sp>
      <p:sp>
        <p:nvSpPr>
          <p:cNvPr id="24" name="TextBox 23"/>
          <p:cNvSpPr txBox="1"/>
          <p:nvPr/>
        </p:nvSpPr>
        <p:spPr>
          <a:xfrm>
            <a:off x="6519672"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Matching broad network
Same KDA and selection rules</a:t>
            </a:r>
          </a:p>
        </p:txBody>
      </p:sp>
      <p:cxnSp>
        <p:nvCxnSpPr>
          <p:cNvPr id="25" name="Connector 24"/>
          <p:cNvCxnSpPr/>
          <p:nvPr/>
        </p:nvCxnSpPr>
        <p:spPr>
          <a:xfrm>
            <a:off x="8796528"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62288"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162288" y="1435608"/>
            <a:ext cx="250545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363456" y="1764792"/>
            <a:ext cx="438912" cy="438912"/>
          </a:xfrm>
          <a:prstGeom prst="ellipse">
            <a:avLst/>
          </a:prstGeom>
          <a:solidFill>
            <a:srgbClr val="FFF4DA"/>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90888" y="1828800"/>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E69F00"/>
                </a:solidFill>
                <a:latin typeface="Arial"/>
              </a:rPr>
              <a:t>4</a:t>
            </a:r>
          </a:p>
        </p:txBody>
      </p:sp>
      <p:sp>
        <p:nvSpPr>
          <p:cNvPr id="30" name="TextBox 29"/>
          <p:cNvSpPr txBox="1"/>
          <p:nvPr/>
        </p:nvSpPr>
        <p:spPr>
          <a:xfrm>
            <a:off x="9912096" y="1746504"/>
            <a:ext cx="1545336"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Freeze, then compare</a:t>
            </a:r>
          </a:p>
        </p:txBody>
      </p:sp>
      <p:sp>
        <p:nvSpPr>
          <p:cNvPr id="31" name="TextBox 30"/>
          <p:cNvSpPr txBox="1"/>
          <p:nvPr/>
        </p:nvSpPr>
        <p:spPr>
          <a:xfrm>
            <a:off x="9427463" y="2523744"/>
            <a:ext cx="1975104" cy="17190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SEA-AD list fixed first
ROSMAP opened for comparison</a:t>
            </a:r>
          </a:p>
        </p:txBody>
      </p:sp>
      <p:sp>
        <p:nvSpPr>
          <p:cNvPr id="32" name="Rounded Rectangle 31"/>
          <p:cNvSpPr/>
          <p:nvPr/>
        </p:nvSpPr>
        <p:spPr>
          <a:xfrm>
            <a:off x="3346704" y="4736592"/>
            <a:ext cx="5413248" cy="658368"/>
          </a:xfrm>
          <a:prstGeom prst="roundRect">
            <a:avLst/>
          </a:prstGeom>
          <a:solidFill>
            <a:srgbClr val="F0F3F6"/>
          </a:solidFill>
          <a:ln w="1270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557016" y="4928616"/>
            <a:ext cx="4992624" cy="27432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400" b="1" i="0">
                <a:solidFill>
                  <a:srgbClr val="0F233D"/>
                </a:solidFill>
                <a:latin typeface="Arial"/>
              </a:rPr>
              <a:t>Shared: 7 broad networks • MitoCarta annotation • fKDA • selection math</a:t>
            </a:r>
          </a:p>
        </p:txBody>
      </p:sp>
      <p:sp>
        <p:nvSpPr>
          <p:cNvPr id="34" name="TextBox 33"/>
          <p:cNvSpPr txBox="1"/>
          <p:nvPr/>
        </p:nvSpPr>
        <p:spPr>
          <a:xfrm>
            <a:off x="1097280" y="5760720"/>
            <a:ext cx="9994392"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009E73"/>
                </a:solidFill>
                <a:latin typeface="Arial"/>
              </a:rPr>
              <a:t>Independent: donors • expression • DEG results • signed queries • frozen SEA-AD list</a:t>
            </a:r>
          </a:p>
        </p:txBody>
      </p:sp>
      <p:sp>
        <p:nvSpPr>
          <p:cNvPr id="35" name="TextBox 34"/>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VH02/VH04/VH08/VH10A–C outputs; frozen network and selector authorities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FROM DESIGN TO EXECUTED CALLS</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Only 42 directions produced mitochondrial gene sets large enough for KDA</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03</a:t>
            </a:r>
          </a:p>
        </p:txBody>
      </p:sp>
      <p:sp>
        <p:nvSpPr>
          <p:cNvPr id="5" name="Rounded Rectangle 4"/>
          <p:cNvSpPr/>
          <p:nvPr/>
        </p:nvSpPr>
        <p:spPr>
          <a:xfrm>
            <a:off x="502920" y="1572768"/>
            <a:ext cx="3154680" cy="1847088"/>
          </a:xfrm>
          <a:prstGeom prst="roundRect">
            <a:avLst/>
          </a:prstGeom>
          <a:solidFill>
            <a:srgbClr val="E1EFF8"/>
          </a:solidFill>
          <a:ln w="2286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828800"/>
            <a:ext cx="2825496" cy="6400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500" b="1" i="0">
                <a:solidFill>
                  <a:srgbClr val="0072B2"/>
                </a:solidFill>
                <a:latin typeface="Arial"/>
              </a:rPr>
              <a:t>1,548</a:t>
            </a:r>
          </a:p>
        </p:txBody>
      </p:sp>
      <p:sp>
        <p:nvSpPr>
          <p:cNvPr id="7" name="TextBox 6"/>
          <p:cNvSpPr txBox="1"/>
          <p:nvPr/>
        </p:nvSpPr>
        <p:spPr>
          <a:xfrm>
            <a:off x="740664" y="2560320"/>
            <a:ext cx="2679192" cy="6035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planned fine cell type × group × direction combinations</a:t>
            </a:r>
          </a:p>
        </p:txBody>
      </p:sp>
      <p:sp>
        <p:nvSpPr>
          <p:cNvPr id="8" name="Rounded Rectangle 7"/>
          <p:cNvSpPr/>
          <p:nvPr/>
        </p:nvSpPr>
        <p:spPr>
          <a:xfrm>
            <a:off x="4517136" y="1572768"/>
            <a:ext cx="3154680" cy="1847088"/>
          </a:xfrm>
          <a:prstGeom prst="roundRect">
            <a:avLst/>
          </a:prstGeom>
          <a:solidFill>
            <a:srgbClr val="F0F3F6"/>
          </a:solidFill>
          <a:ln w="2286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81728" y="1828800"/>
            <a:ext cx="2825496" cy="6400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500" b="1" i="0">
                <a:solidFill>
                  <a:srgbClr val="7E4C9A"/>
                </a:solidFill>
                <a:latin typeface="Arial"/>
              </a:rPr>
              <a:t>520</a:t>
            </a:r>
          </a:p>
        </p:txBody>
      </p:sp>
      <p:sp>
        <p:nvSpPr>
          <p:cNvPr id="10" name="TextBox 9"/>
          <p:cNvSpPr txBox="1"/>
          <p:nvPr/>
        </p:nvSpPr>
        <p:spPr>
          <a:xfrm>
            <a:off x="4754880" y="2560320"/>
            <a:ext cx="2679192" cy="6035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directions from completed DEG contrasts</a:t>
            </a:r>
          </a:p>
        </p:txBody>
      </p:sp>
      <p:sp>
        <p:nvSpPr>
          <p:cNvPr id="11" name="Rounded Rectangle 10"/>
          <p:cNvSpPr/>
          <p:nvPr/>
        </p:nvSpPr>
        <p:spPr>
          <a:xfrm>
            <a:off x="8531352" y="1572768"/>
            <a:ext cx="3154680" cy="1847088"/>
          </a:xfrm>
          <a:prstGeom prst="roundRect">
            <a:avLst/>
          </a:prstGeom>
          <a:solidFill>
            <a:srgbClr val="E1F4EE"/>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95944" y="1828800"/>
            <a:ext cx="2825496" cy="6400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500" b="1" i="0">
                <a:solidFill>
                  <a:srgbClr val="009E73"/>
                </a:solidFill>
                <a:latin typeface="Arial"/>
              </a:rPr>
              <a:t>42</a:t>
            </a:r>
          </a:p>
        </p:txBody>
      </p:sp>
      <p:sp>
        <p:nvSpPr>
          <p:cNvPr id="13" name="TextBox 12"/>
          <p:cNvSpPr txBox="1"/>
          <p:nvPr/>
        </p:nvSpPr>
        <p:spPr>
          <a:xfrm>
            <a:off x="8769096" y="2560320"/>
            <a:ext cx="2679192" cy="6035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mitochondrial gene sets large enough for KDA</a:t>
            </a:r>
          </a:p>
        </p:txBody>
      </p:sp>
      <p:cxnSp>
        <p:nvCxnSpPr>
          <p:cNvPr id="14" name="Connector 13"/>
          <p:cNvCxnSpPr/>
          <p:nvPr/>
        </p:nvCxnSpPr>
        <p:spPr>
          <a:xfrm>
            <a:off x="3694176" y="2496312"/>
            <a:ext cx="758952" cy="0"/>
          </a:xfrm>
          <a:prstGeom prst="line">
            <a:avLst/>
          </a:prstGeom>
          <a:ln w="31750">
            <a:solidFill>
              <a:srgbClr val="0F233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08392" y="2496312"/>
            <a:ext cx="758952" cy="0"/>
          </a:xfrm>
          <a:prstGeom prst="line">
            <a:avLst/>
          </a:prstGeom>
          <a:ln w="31750">
            <a:solidFill>
              <a:srgbClr val="0F233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7552" y="4005072"/>
            <a:ext cx="10213848" cy="1124712"/>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52728" y="4215384"/>
            <a:ext cx="9683496" cy="3108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700" b="1" i="0">
                <a:solidFill>
                  <a:srgbClr val="0F233D"/>
                </a:solidFill>
                <a:latin typeface="Arial"/>
              </a:rPr>
              <a:t>Only three of six sex/APOE groups contributed completed fine-supertype contrasts</a:t>
            </a:r>
          </a:p>
        </p:txBody>
      </p:sp>
      <p:sp>
        <p:nvSpPr>
          <p:cNvPr id="18" name="TextBox 17"/>
          <p:cNvSpPr txBox="1"/>
          <p:nvPr/>
        </p:nvSpPr>
        <p:spPr>
          <a:xfrm>
            <a:off x="1252728" y="4636008"/>
            <a:ext cx="968349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a:solidFill>
                  <a:srgbClr val="009E73"/>
                </a:solidFill>
                <a:latin typeface="Arial"/>
              </a:rPr>
              <a:t>Female ε3/ε3  •  Female ε4  •  Male ε3/ε3</a:t>
            </a:r>
          </a:p>
        </p:txBody>
      </p:sp>
      <p:sp>
        <p:nvSpPr>
          <p:cNvPr id="20" name="TextBox 19"/>
          <p:cNvSpPr txBox="1"/>
          <p:nvPr/>
        </p:nvSpPr>
        <p:spPr>
          <a:xfrm>
            <a:off x="1719072" y="5623560"/>
            <a:ext cx="8759952"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400" b="1" i="0">
                <a:solidFill>
                  <a:srgbClr val="FFFFFF"/>
                </a:solidFill>
                <a:latin typeface="Arial"/>
              </a:rPr>
              <a:t>Independent donors determine contrast estimability; more nuclei do not add biological replicates</a:t>
            </a:r>
          </a:p>
        </p:txBody>
      </p:sp>
      <p:sp>
        <p:nvSpPr>
          <p:cNvPr id="21" name="TextBox 20"/>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VH08 fine_contrast_status.tsv; VH10A query_attrition.tsv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anonical SEA-AD MT driver circular figure showing eight selected network–gene units, six genes, and recurrence of MT-CO2 and MT-CYB across neuronal networks" descr="Canonical SEA-AD MT driver circular figure showing eight selected network–gene units, six genes, and recurrence of MT-CO2 and MT-CYB across neuronal networks"/>
          <p:cNvPicPr>
            <a:picLocks noChangeAspect="1"/>
          </p:cNvPicPr>
          <p:nvPr/>
        </p:nvPicPr>
        <p:blipFill>
          <a:blip r:embed="rId3"/>
          <a:stretch>
            <a:fillRect/>
          </a:stretch>
        </p:blipFill>
        <p:spPr>
          <a:xfrm>
            <a:off x="603503" y="36576"/>
            <a:ext cx="10972800" cy="6583680"/>
          </a:xfrm>
          <a:prstGeom prst="rect">
            <a:avLst/>
          </a:prstGeom>
        </p:spPr>
      </p:pic>
      <p:sp>
        <p:nvSpPr>
          <p:cNvPr id="3" name="TextBox 2"/>
          <p:cNvSpPr txBox="1"/>
          <p:nvPr/>
        </p:nvSpPr>
        <p:spPr>
          <a:xfrm>
            <a:off x="11686032" y="128016"/>
            <a:ext cx="219456"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00" b="1" i="0">
                <a:solidFill>
                  <a:srgbClr val="677484"/>
                </a:solidFill>
                <a:latin typeface="Arial"/>
              </a:rPr>
              <a:t>04</a:t>
            </a:r>
          </a:p>
        </p:txBody>
      </p:sp>
      <p:sp>
        <p:nvSpPr>
          <p:cNvPr id="4" name="TextBox 3"/>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VH10C selection; canonical seaad_two_case_circular figure package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anonical SEA-AD non-MT driver circular figure showing HGSNAT, BEX3, RPS27A, RPL30, and KANSL1L across three broad networks" descr="Canonical SEA-AD non-MT driver circular figure showing HGSNAT, BEX3, RPS27A, RPL30, and KANSL1L across three broad networks"/>
          <p:cNvPicPr>
            <a:picLocks noChangeAspect="1"/>
          </p:cNvPicPr>
          <p:nvPr/>
        </p:nvPicPr>
        <p:blipFill>
          <a:blip r:embed="rId3"/>
          <a:stretch>
            <a:fillRect/>
          </a:stretch>
        </p:blipFill>
        <p:spPr>
          <a:xfrm>
            <a:off x="603503" y="36576"/>
            <a:ext cx="10972800" cy="6583680"/>
          </a:xfrm>
          <a:prstGeom prst="rect">
            <a:avLst/>
          </a:prstGeom>
        </p:spPr>
      </p:pic>
      <p:sp>
        <p:nvSpPr>
          <p:cNvPr id="3" name="TextBox 2"/>
          <p:cNvSpPr txBox="1"/>
          <p:nvPr/>
        </p:nvSpPr>
        <p:spPr>
          <a:xfrm>
            <a:off x="11686032" y="128016"/>
            <a:ext cx="219456"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00" b="1" i="0">
                <a:solidFill>
                  <a:srgbClr val="677484"/>
                </a:solidFill>
                <a:latin typeface="Arial"/>
              </a:rPr>
              <a:t>05</a:t>
            </a:r>
          </a:p>
        </p:txBody>
      </p:sp>
      <p:sp>
        <p:nvSpPr>
          <p:cNvPr id="4" name="TextBox 3"/>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VH10C selection; canonical seaad_two_case_circular figure package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F233D"/>
                </a:solidFill>
                <a:latin typeface="Arial"/>
              </a:rPr>
              <a:t>PRIMARY CROSS-COHORT ENDPOINT</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Six ROSMAP units reappear in the same neuronal network and driver class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06</a:t>
            </a:r>
          </a:p>
        </p:txBody>
      </p:sp>
      <p:pic>
        <p:nvPicPr>
          <p:cNvPr id="5" name="Strict ROSMAP versus SEA-AD overlap rank figure: six shared network–gene–class units, four unique genes, all in neuronal MT lists; 36 of 47 ROSMAP units testable" descr="Strict ROSMAP versus SEA-AD overlap rank figure: six shared network–gene–class units, four unique genes, all in neuronal MT lists; 36 of 47 ROSMAP units testable"/>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VH09 frozen ROSMAP units and VH10D strict-overlap tables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SECONDARY DESCRIPTIVE VIEW</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600" b="1" i="0">
                <a:solidFill>
                  <a:srgbClr val="0F233D"/>
                </a:solidFill>
                <a:latin typeface="Arial"/>
              </a:rPr>
              <a:t>Ignoring network, all six SEA-AD MT genes occur in ROSMAP; non-MT overlap is zero</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07</a:t>
            </a:r>
          </a:p>
        </p:txBody>
      </p:sp>
      <p:pic>
        <p:nvPicPr>
          <p:cNvPr id="5" name="Gene-level overlap figure with networks collapsed: six common MT genes, four ROSMAP-only MT genes, no SEA-AD-only MT genes, and disjoint non-MT gene sets" descr="Gene-level overlap figure with networks collapsed: six common MT genes, four ROSMAP-only MT genes, no SEA-AD-only MT genes, and disjoint non-MT gene sets"/>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VH09/VH10C selected lists and VH10D gene-level overlap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E69F00"/>
                </a:solidFill>
                <a:latin typeface="Arial"/>
              </a:rPr>
              <a:t>INTERPRETING THE NON-MT RESULT</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Zero non-MT overlap does not mean the biology is absent</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08</a:t>
            </a:r>
          </a:p>
        </p:txBody>
      </p:sp>
      <p:pic>
        <p:nvPicPr>
          <p:cNvPr id="5" name="Non-MT diagnostic tracing 21 frozen ROSMAP units to four untestable, 17 testable, four with one SEA-AD support, and zero passing final selection, with reverse lookup of five SEA-AD non-MT units in ROSMAP" descr="Non-MT diagnostic tracing 21 frozen ROSMAP units to four untestable, 17 testable, four with one SEA-AD support, and zero passing final selection, with reverse lookup of five SEA-AD non-MT units in ROSMAP"/>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VH09, VH10A/B/D outputs and frozen Phase 18 call-return authority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TAKE-HOME MESSAGE</a:t>
            </a:r>
          </a:p>
        </p:txBody>
      </p:sp>
      <p:sp>
        <p:nvSpPr>
          <p:cNvPr id="3" name="TextBox 2"/>
          <p:cNvSpPr txBox="1"/>
          <p:nvPr/>
        </p:nvSpPr>
        <p:spPr>
          <a:xfrm>
            <a:off x="502920" y="393192"/>
            <a:ext cx="10991088" cy="78638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350" b="1" i="0">
                <a:solidFill>
                  <a:srgbClr val="0F233D"/>
                </a:solidFill>
                <a:latin typeface="Arial"/>
              </a:rPr>
              <a:t>SEA-AD supports a focused neuronal MT signal; broader validation remains incomplete</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09</a:t>
            </a:r>
          </a:p>
        </p:txBody>
      </p:sp>
      <p:sp>
        <p:nvSpPr>
          <p:cNvPr id="5" name="Rounded Rectangle 4"/>
          <p:cNvSpPr/>
          <p:nvPr/>
        </p:nvSpPr>
        <p:spPr>
          <a:xfrm>
            <a:off x="630936"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 y="1536192"/>
            <a:ext cx="351129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847088"/>
            <a:ext cx="301752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Supported</a:t>
            </a:r>
          </a:p>
        </p:txBody>
      </p:sp>
      <p:sp>
        <p:nvSpPr>
          <p:cNvPr id="8" name="TextBox 7"/>
          <p:cNvSpPr txBox="1"/>
          <p:nvPr/>
        </p:nvSpPr>
        <p:spPr>
          <a:xfrm>
            <a:off x="896112" y="2624328"/>
            <a:ext cx="2980944" cy="2002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Same-network neuronal MT rediscovery</a:t>
            </a:r>
          </a:p>
        </p:txBody>
      </p:sp>
      <p:sp>
        <p:nvSpPr>
          <p:cNvPr id="9" name="Rounded Rectangle 8"/>
          <p:cNvSpPr/>
          <p:nvPr/>
        </p:nvSpPr>
        <p:spPr>
          <a:xfrm>
            <a:off x="4489704"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9704" y="1536192"/>
            <a:ext cx="351129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36592" y="1847088"/>
            <a:ext cx="301752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Not established</a:t>
            </a:r>
          </a:p>
        </p:txBody>
      </p:sp>
      <p:sp>
        <p:nvSpPr>
          <p:cNvPr id="12" name="TextBox 11"/>
          <p:cNvSpPr txBox="1"/>
          <p:nvPr/>
        </p:nvSpPr>
        <p:spPr>
          <a:xfrm>
            <a:off x="4754880" y="2624328"/>
            <a:ext cx="2980944" cy="2002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Replication of the non-MT list or untestable groups</a:t>
            </a:r>
          </a:p>
        </p:txBody>
      </p:sp>
      <p:sp>
        <p:nvSpPr>
          <p:cNvPr id="13" name="Rounded Rectangle 12"/>
          <p:cNvSpPr/>
          <p:nvPr/>
        </p:nvSpPr>
        <p:spPr>
          <a:xfrm>
            <a:off x="8348471"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348471" y="1536192"/>
            <a:ext cx="3511296"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59" y="1847088"/>
            <a:ext cx="301752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Next step</a:t>
            </a:r>
          </a:p>
        </p:txBody>
      </p:sp>
      <p:sp>
        <p:nvSpPr>
          <p:cNvPr id="16" name="TextBox 15"/>
          <p:cNvSpPr txBox="1"/>
          <p:nvPr/>
        </p:nvSpPr>
        <p:spPr>
          <a:xfrm>
            <a:off x="8613647" y="2624328"/>
            <a:ext cx="2980944" cy="200253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Better donor-balanced cohorts and independently reconstructed networks</a:t>
            </a:r>
          </a:p>
        </p:txBody>
      </p:sp>
      <p:sp>
        <p:nvSpPr>
          <p:cNvPr id="17" name="Rectangle 16"/>
          <p:cNvSpPr/>
          <p:nvPr/>
        </p:nvSpPr>
        <p:spPr>
          <a:xfrm>
            <a:off x="941832" y="5330952"/>
            <a:ext cx="10305288" cy="658368"/>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5522976"/>
            <a:ext cx="9811512" cy="27432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FFFFFF"/>
                </a:solidFill>
                <a:latin typeface="Arial"/>
              </a:rPr>
              <a:t>Focused cross-cohort support—not causal proof or broad validation of every driver</a:t>
            </a:r>
          </a:p>
        </p:txBody>
      </p:sp>
      <p:sp>
        <p:nvSpPr>
          <p:cNvPr id="19" name="TextBox 18"/>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synthesis of validated VH08–VH10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A1</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Detailed validation setup</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10</a:t>
            </a:r>
          </a:p>
        </p:txBody>
      </p:sp>
      <p:pic>
        <p:nvPicPr>
          <p:cNvPr id="5" name="Detailed SEA-AD validation setup showing independent donor-level DEG queries, frozen shared networks and KDA rules, SEA-AD selection freeze, and post-freeze ROSMAP comparison" descr="Detailed SEA-AD validation setup showing independent donor-level DEG queries, frozen shared networks and KDA rules, SEA-AD selection freeze, and post-freeze ROSMAP comparison"/>
          <p:cNvPicPr>
            <a:picLocks noChangeAspect="1"/>
          </p:cNvPicPr>
          <p:nvPr/>
        </p:nvPicPr>
        <p:blipFill>
          <a:blip r:embed="rId3"/>
          <a:stretch>
            <a:fillRect/>
          </a:stretch>
        </p:blipFill>
        <p:spPr>
          <a:xfrm>
            <a:off x="438912" y="1623996"/>
            <a:ext cx="11311127" cy="4286662"/>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VH02/VH04/VH08/VH09/VH10 inputs; setup figure package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APPENDIX A2</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Fine-supertype DEG landscape</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11</a:t>
            </a:r>
          </a:p>
        </p:txBody>
      </p:sp>
      <p:pic>
        <p:nvPicPr>
          <p:cNvPr id="5" name="Fine-supertype differential-expression landscape across six sex/APOE groups, with completed contrasts, Phase-18-parity feature incidences, and strong male APOE epsilon3/epsilon3 concentration" descr="Fine-supertype differential-expression landscape across six sex/APOE groups, with completed contrasts, Phase-18-parity feature incidences, and strong male APOE epsilon3/epsilon3 concentration"/>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VH08 fine-supertype DEG summaries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APPENDIX A3</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KDA call outcomes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12</a:t>
            </a:r>
          </a:p>
        </p:txBody>
      </p:sp>
      <p:pic>
        <p:nvPicPr>
          <p:cNvPr id="5" name="KDA outcome figure showing 42 calls, 29 with at least one significant return, 13 with none, and the distinct across-run aggregation to 13 selected driver units" descr="KDA outcome figure showing 42 calls, 29 with at least one significant return, 13 with none, and the distinct across-run aggregation to 13 selected driver units"/>
          <p:cNvPicPr>
            <a:picLocks noChangeAspect="1"/>
          </p:cNvPicPr>
          <p:nvPr/>
        </p:nvPicPr>
        <p:blipFill>
          <a:blip r:embed="rId3"/>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VH10A–C KDA and selection outputs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A4</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Query and selection rules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13</a:t>
            </a:r>
          </a:p>
        </p:txBody>
      </p:sp>
      <p:sp>
        <p:nvSpPr>
          <p:cNvPr id="5" name="Rounded Rectangle 4"/>
          <p:cNvSpPr/>
          <p:nvPr/>
        </p:nvSpPr>
        <p:spPr>
          <a:xfrm>
            <a:off x="457200"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2542032"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58368" y="1746504"/>
            <a:ext cx="438912" cy="438912"/>
          </a:xfrm>
          <a:prstGeom prst="ellipse">
            <a:avLst/>
          </a:prstGeom>
          <a:solidFill>
            <a:srgbClr val="E1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9E73"/>
                </a:solidFill>
                <a:latin typeface="Arial"/>
              </a:rPr>
              <a:t>1</a:t>
            </a:r>
          </a:p>
        </p:txBody>
      </p:sp>
      <p:sp>
        <p:nvSpPr>
          <p:cNvPr id="9" name="TextBox 8"/>
          <p:cNvSpPr txBox="1"/>
          <p:nvPr/>
        </p:nvSpPr>
        <p:spPr>
          <a:xfrm>
            <a:off x="1207007"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Define query</a:t>
            </a:r>
          </a:p>
        </p:txBody>
      </p:sp>
      <p:sp>
        <p:nvSpPr>
          <p:cNvPr id="10" name="TextBox 9"/>
          <p:cNvSpPr txBox="1"/>
          <p:nvPr/>
        </p:nvSpPr>
        <p:spPr>
          <a:xfrm>
            <a:off x="722376"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Signed core-MitoCarta DEG set
FDR &lt; 0.05 and |log₂FC| &gt; log₂(1.3)</a:t>
            </a:r>
          </a:p>
        </p:txBody>
      </p:sp>
      <p:cxnSp>
        <p:nvCxnSpPr>
          <p:cNvPr id="11" name="Connector 10"/>
          <p:cNvCxnSpPr/>
          <p:nvPr/>
        </p:nvCxnSpPr>
        <p:spPr>
          <a:xfrm>
            <a:off x="3044952"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4136"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74136" y="1417320"/>
            <a:ext cx="2542032"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75304" y="1746504"/>
            <a:ext cx="438912" cy="438912"/>
          </a:xfrm>
          <a:prstGeom prst="ellipse">
            <a:avLst/>
          </a:prstGeom>
          <a:solidFill>
            <a:srgbClr val="E1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02736"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072B2"/>
                </a:solidFill>
                <a:latin typeface="Arial"/>
              </a:rPr>
              <a:t>2</a:t>
            </a:r>
          </a:p>
        </p:txBody>
      </p:sp>
      <p:sp>
        <p:nvSpPr>
          <p:cNvPr id="16" name="TextBox 15"/>
          <p:cNvSpPr txBox="1"/>
          <p:nvPr/>
        </p:nvSpPr>
        <p:spPr>
          <a:xfrm>
            <a:off x="4123944"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Run KDA</a:t>
            </a:r>
          </a:p>
        </p:txBody>
      </p:sp>
      <p:sp>
        <p:nvSpPr>
          <p:cNvPr id="17" name="TextBox 16"/>
          <p:cNvSpPr txBox="1"/>
          <p:nvPr/>
        </p:nvSpPr>
        <p:spPr>
          <a:xfrm>
            <a:off x="3639312"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Intersect with induced-network background
SEA-AD ≥3 genes; ROSMAP ≥10</a:t>
            </a:r>
          </a:p>
        </p:txBody>
      </p:sp>
      <p:cxnSp>
        <p:nvCxnSpPr>
          <p:cNvPr id="18" name="Connector 17"/>
          <p:cNvCxnSpPr/>
          <p:nvPr/>
        </p:nvCxnSpPr>
        <p:spPr>
          <a:xfrm>
            <a:off x="5961888"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1072"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91072" y="1417320"/>
            <a:ext cx="2542032" cy="1828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1746504"/>
            <a:ext cx="438912" cy="438912"/>
          </a:xfrm>
          <a:prstGeom prst="ellipse">
            <a:avLst/>
          </a:prstGeom>
          <a:solidFill>
            <a:srgbClr val="F0F3F6"/>
          </a:solidFill>
          <a:ln w="1905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0F233D"/>
                </a:solidFill>
                <a:latin typeface="Arial"/>
              </a:rPr>
              <a:t>3</a:t>
            </a:r>
          </a:p>
        </p:txBody>
      </p:sp>
      <p:sp>
        <p:nvSpPr>
          <p:cNvPr id="23" name="TextBox 22"/>
          <p:cNvSpPr txBox="1"/>
          <p:nvPr/>
        </p:nvSpPr>
        <p:spPr>
          <a:xfrm>
            <a:off x="7040880"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Select across runs</a:t>
            </a:r>
          </a:p>
        </p:txBody>
      </p:sp>
      <p:sp>
        <p:nvSpPr>
          <p:cNvPr id="24" name="TextBox 23"/>
          <p:cNvSpPr txBox="1"/>
          <p:nvPr/>
        </p:nvSpPr>
        <p:spPr>
          <a:xfrm>
            <a:off x="6556248"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Coverage ≥0.80 • ≥1 support run
aggregate ACAT/BH q ≤0.05</a:t>
            </a:r>
          </a:p>
        </p:txBody>
      </p:sp>
      <p:cxnSp>
        <p:nvCxnSpPr>
          <p:cNvPr id="25" name="Connector 24"/>
          <p:cNvCxnSpPr/>
          <p:nvPr/>
        </p:nvCxnSpPr>
        <p:spPr>
          <a:xfrm>
            <a:off x="8878824"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208008"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08008" y="1417320"/>
            <a:ext cx="2542032"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409176" y="1746504"/>
            <a:ext cx="438912" cy="438912"/>
          </a:xfrm>
          <a:prstGeom prst="ellipse">
            <a:avLst/>
          </a:prstGeom>
          <a:solidFill>
            <a:srgbClr val="FFF4DA"/>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36608" y="1810512"/>
            <a:ext cx="384048"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500" b="1" i="0">
                <a:solidFill>
                  <a:srgbClr val="E69F00"/>
                </a:solidFill>
                <a:latin typeface="Arial"/>
              </a:rPr>
              <a:t>4</a:t>
            </a:r>
          </a:p>
        </p:txBody>
      </p:sp>
      <p:sp>
        <p:nvSpPr>
          <p:cNvPr id="30" name="TextBox 29"/>
          <p:cNvSpPr txBox="1"/>
          <p:nvPr/>
        </p:nvSpPr>
        <p:spPr>
          <a:xfrm>
            <a:off x="9957816" y="1728216"/>
            <a:ext cx="1581911"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Display</a:t>
            </a:r>
          </a:p>
        </p:txBody>
      </p:sp>
      <p:sp>
        <p:nvSpPr>
          <p:cNvPr id="31" name="TextBox 30"/>
          <p:cNvSpPr txBox="1"/>
          <p:nvPr/>
        </p:nvSpPr>
        <p:spPr>
          <a:xfrm>
            <a:off x="9473184" y="2505456"/>
            <a:ext cx="2011679" cy="17556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Rank by q, p, then symbol
maximum five; no backfill</a:t>
            </a:r>
          </a:p>
        </p:txBody>
      </p:sp>
      <p:sp>
        <p:nvSpPr>
          <p:cNvPr id="32" name="Rounded Rectangle 31"/>
          <p:cNvSpPr/>
          <p:nvPr/>
        </p:nvSpPr>
        <p:spPr>
          <a:xfrm>
            <a:off x="1115568" y="4901184"/>
            <a:ext cx="9957816" cy="868680"/>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89888" y="5157216"/>
            <a:ext cx="9409176"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600" b="1" i="0">
                <a:solidFill>
                  <a:srgbClr val="0F233D"/>
                </a:solidFill>
                <a:latin typeface="Arial"/>
              </a:rPr>
              <a:t>Mitochondrial genes define the query; every assessable network gene can be a candidate driver</a:t>
            </a:r>
          </a:p>
        </p:txBody>
      </p:sp>
      <p:sp>
        <p:nvSpPr>
          <p:cNvPr id="34" name="TextBox 33"/>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frozen SEA-AD validation config and Phase 18 KDA/selection authorities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A5</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Selected drivers and ROSMAP testability</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14</a:t>
            </a:r>
          </a:p>
        </p:txBody>
      </p:sp>
      <p:sp>
        <p:nvSpPr>
          <p:cNvPr id="5" name="Rounded Rectangle 4"/>
          <p:cNvSpPr/>
          <p:nvPr/>
        </p:nvSpPr>
        <p:spPr>
          <a:xfrm>
            <a:off x="502920" y="1298448"/>
            <a:ext cx="6903720" cy="488289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517904"/>
            <a:ext cx="6391656"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All 13 SEA-AD selected units</a:t>
            </a:r>
          </a:p>
        </p:txBody>
      </p:sp>
      <p:sp>
        <p:nvSpPr>
          <p:cNvPr id="7" name="Rectangle 6"/>
          <p:cNvSpPr/>
          <p:nvPr/>
        </p:nvSpPr>
        <p:spPr>
          <a:xfrm>
            <a:off x="694944" y="203911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167127"/>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Excitatory</a:t>
            </a:r>
          </a:p>
        </p:txBody>
      </p:sp>
      <p:sp>
        <p:nvSpPr>
          <p:cNvPr id="9" name="TextBox 8"/>
          <p:cNvSpPr txBox="1"/>
          <p:nvPr/>
        </p:nvSpPr>
        <p:spPr>
          <a:xfrm>
            <a:off x="2578608" y="2167127"/>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09E73"/>
                </a:solidFill>
                <a:latin typeface="Arial"/>
              </a:rPr>
              <a:t>MT</a:t>
            </a:r>
          </a:p>
        </p:txBody>
      </p:sp>
      <p:sp>
        <p:nvSpPr>
          <p:cNvPr id="10" name="TextBox 9"/>
          <p:cNvSpPr txBox="1"/>
          <p:nvPr/>
        </p:nvSpPr>
        <p:spPr>
          <a:xfrm>
            <a:off x="3410712" y="2148839"/>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MT-CO2 • MT-CYB • MT-ND4 • MT-ATP6</a:t>
            </a:r>
          </a:p>
        </p:txBody>
      </p:sp>
      <p:sp>
        <p:nvSpPr>
          <p:cNvPr id="11" name="TextBox 10"/>
          <p:cNvSpPr txBox="1"/>
          <p:nvPr/>
        </p:nvSpPr>
        <p:spPr>
          <a:xfrm>
            <a:off x="822960" y="2898648"/>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Excitatory</a:t>
            </a:r>
          </a:p>
        </p:txBody>
      </p:sp>
      <p:sp>
        <p:nvSpPr>
          <p:cNvPr id="12" name="TextBox 11"/>
          <p:cNvSpPr txBox="1"/>
          <p:nvPr/>
        </p:nvSpPr>
        <p:spPr>
          <a:xfrm>
            <a:off x="2578608" y="2898648"/>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13" name="TextBox 12"/>
          <p:cNvSpPr txBox="1"/>
          <p:nvPr/>
        </p:nvSpPr>
        <p:spPr>
          <a:xfrm>
            <a:off x="3410712" y="2880360"/>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HGSNAT</a:t>
            </a:r>
          </a:p>
        </p:txBody>
      </p:sp>
      <p:sp>
        <p:nvSpPr>
          <p:cNvPr id="14" name="Rectangle 13"/>
          <p:cNvSpPr/>
          <p:nvPr/>
        </p:nvSpPr>
        <p:spPr>
          <a:xfrm>
            <a:off x="694944" y="350215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630168"/>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Inhibitory</a:t>
            </a:r>
          </a:p>
        </p:txBody>
      </p:sp>
      <p:sp>
        <p:nvSpPr>
          <p:cNvPr id="16" name="TextBox 15"/>
          <p:cNvSpPr txBox="1"/>
          <p:nvPr/>
        </p:nvSpPr>
        <p:spPr>
          <a:xfrm>
            <a:off x="2578608" y="3630168"/>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09E73"/>
                </a:solidFill>
                <a:latin typeface="Arial"/>
              </a:rPr>
              <a:t>MT</a:t>
            </a:r>
          </a:p>
        </p:txBody>
      </p:sp>
      <p:sp>
        <p:nvSpPr>
          <p:cNvPr id="17" name="TextBox 16"/>
          <p:cNvSpPr txBox="1"/>
          <p:nvPr/>
        </p:nvSpPr>
        <p:spPr>
          <a:xfrm>
            <a:off x="3410712" y="3611879"/>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MT-CO2 • MT-ND5 • MT-CO3 • MT-CYB</a:t>
            </a:r>
          </a:p>
        </p:txBody>
      </p:sp>
      <p:sp>
        <p:nvSpPr>
          <p:cNvPr id="18" name="TextBox 17"/>
          <p:cNvSpPr txBox="1"/>
          <p:nvPr/>
        </p:nvSpPr>
        <p:spPr>
          <a:xfrm>
            <a:off x="822960" y="4361688"/>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Inhibitory</a:t>
            </a:r>
          </a:p>
        </p:txBody>
      </p:sp>
      <p:sp>
        <p:nvSpPr>
          <p:cNvPr id="19" name="TextBox 18"/>
          <p:cNvSpPr txBox="1"/>
          <p:nvPr/>
        </p:nvSpPr>
        <p:spPr>
          <a:xfrm>
            <a:off x="2578608" y="4361688"/>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20" name="TextBox 19"/>
          <p:cNvSpPr txBox="1"/>
          <p:nvPr/>
        </p:nvSpPr>
        <p:spPr>
          <a:xfrm>
            <a:off x="3410712" y="4343400"/>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BEX3 • RPS27A • RPL30</a:t>
            </a:r>
          </a:p>
        </p:txBody>
      </p:sp>
      <p:sp>
        <p:nvSpPr>
          <p:cNvPr id="21" name="Rectangle 20"/>
          <p:cNvSpPr/>
          <p:nvPr/>
        </p:nvSpPr>
        <p:spPr>
          <a:xfrm>
            <a:off x="694944" y="496519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093207"/>
            <a:ext cx="16916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Oligodendrocytes</a:t>
            </a:r>
          </a:p>
        </p:txBody>
      </p:sp>
      <p:sp>
        <p:nvSpPr>
          <p:cNvPr id="23" name="TextBox 22"/>
          <p:cNvSpPr txBox="1"/>
          <p:nvPr/>
        </p:nvSpPr>
        <p:spPr>
          <a:xfrm>
            <a:off x="2578608" y="5093207"/>
            <a:ext cx="72237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24" name="TextBox 23"/>
          <p:cNvSpPr txBox="1"/>
          <p:nvPr/>
        </p:nvSpPr>
        <p:spPr>
          <a:xfrm>
            <a:off x="3410712" y="5074920"/>
            <a:ext cx="3547872"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242B33"/>
                </a:solidFill>
                <a:latin typeface="Arial"/>
              </a:rPr>
              <a:t>KANSL1L</a:t>
            </a:r>
          </a:p>
        </p:txBody>
      </p:sp>
      <p:sp>
        <p:nvSpPr>
          <p:cNvPr id="25" name="TextBox 24"/>
          <p:cNvSpPr txBox="1"/>
          <p:nvPr/>
        </p:nvSpPr>
        <p:spPr>
          <a:xfrm>
            <a:off x="768096" y="5833872"/>
            <a:ext cx="6382512"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1">
                <a:solidFill>
                  <a:srgbClr val="677484"/>
                </a:solidFill>
                <a:latin typeface="Arial"/>
              </a:rPr>
              <a:t>Ranked lists are capped at five and are not backfilled.</a:t>
            </a:r>
          </a:p>
        </p:txBody>
      </p:sp>
      <p:sp>
        <p:nvSpPr>
          <p:cNvPr id="26" name="Rounded Rectangle 25"/>
          <p:cNvSpPr/>
          <p:nvPr/>
        </p:nvSpPr>
        <p:spPr>
          <a:xfrm>
            <a:off x="7662672" y="1298448"/>
            <a:ext cx="4023360" cy="4882896"/>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27848" y="1517904"/>
            <a:ext cx="3493008"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ROSMAP comparison</a:t>
            </a:r>
          </a:p>
        </p:txBody>
      </p:sp>
      <p:sp>
        <p:nvSpPr>
          <p:cNvPr id="28" name="TextBox 27"/>
          <p:cNvSpPr txBox="1"/>
          <p:nvPr/>
        </p:nvSpPr>
        <p:spPr>
          <a:xfrm>
            <a:off x="7973568" y="2057400"/>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E69F00"/>
                </a:solidFill>
                <a:latin typeface="Arial"/>
              </a:rPr>
              <a:t>47</a:t>
            </a:r>
          </a:p>
        </p:txBody>
      </p:sp>
      <p:sp>
        <p:nvSpPr>
          <p:cNvPr id="29" name="TextBox 28"/>
          <p:cNvSpPr txBox="1"/>
          <p:nvPr/>
        </p:nvSpPr>
        <p:spPr>
          <a:xfrm>
            <a:off x="8833104" y="2130552"/>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frozen selected units</a:t>
            </a:r>
          </a:p>
        </p:txBody>
      </p:sp>
      <p:sp>
        <p:nvSpPr>
          <p:cNvPr id="30" name="TextBox 29"/>
          <p:cNvSpPr txBox="1"/>
          <p:nvPr/>
        </p:nvSpPr>
        <p:spPr>
          <a:xfrm>
            <a:off x="7973568" y="2843784"/>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009E73"/>
                </a:solidFill>
                <a:latin typeface="Arial"/>
              </a:rPr>
              <a:t>36</a:t>
            </a:r>
          </a:p>
        </p:txBody>
      </p:sp>
      <p:sp>
        <p:nvSpPr>
          <p:cNvPr id="31" name="TextBox 30"/>
          <p:cNvSpPr txBox="1"/>
          <p:nvPr/>
        </p:nvSpPr>
        <p:spPr>
          <a:xfrm>
            <a:off x="8833104" y="2916936"/>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testable in SEA-AD</a:t>
            </a:r>
          </a:p>
        </p:txBody>
      </p:sp>
      <p:sp>
        <p:nvSpPr>
          <p:cNvPr id="32" name="TextBox 31"/>
          <p:cNvSpPr txBox="1"/>
          <p:nvPr/>
        </p:nvSpPr>
        <p:spPr>
          <a:xfrm>
            <a:off x="7973568" y="3630168"/>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0F233D"/>
                </a:solidFill>
                <a:latin typeface="Arial"/>
              </a:rPr>
              <a:t>6</a:t>
            </a:r>
          </a:p>
        </p:txBody>
      </p:sp>
      <p:sp>
        <p:nvSpPr>
          <p:cNvPr id="33" name="TextBox 32"/>
          <p:cNvSpPr txBox="1"/>
          <p:nvPr/>
        </p:nvSpPr>
        <p:spPr>
          <a:xfrm>
            <a:off x="8833104" y="3703320"/>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strict shared units</a:t>
            </a:r>
          </a:p>
        </p:txBody>
      </p:sp>
      <p:sp>
        <p:nvSpPr>
          <p:cNvPr id="34" name="TextBox 33"/>
          <p:cNvSpPr txBox="1"/>
          <p:nvPr/>
        </p:nvSpPr>
        <p:spPr>
          <a:xfrm>
            <a:off x="7973568" y="4416552"/>
            <a:ext cx="713232" cy="4297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2400" b="1" i="0">
                <a:solidFill>
                  <a:srgbClr val="4F5965"/>
                </a:solidFill>
                <a:latin typeface="Arial"/>
              </a:rPr>
              <a:t>11</a:t>
            </a:r>
          </a:p>
        </p:txBody>
      </p:sp>
      <p:sp>
        <p:nvSpPr>
          <p:cNvPr id="35" name="TextBox 34"/>
          <p:cNvSpPr txBox="1"/>
          <p:nvPr/>
        </p:nvSpPr>
        <p:spPr>
          <a:xfrm>
            <a:off x="8833104" y="4489704"/>
            <a:ext cx="2404872" cy="2834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242B33"/>
                </a:solidFill>
                <a:latin typeface="Arial"/>
              </a:rPr>
              <a:t>no eligible SEA-AD run</a:t>
            </a:r>
          </a:p>
        </p:txBody>
      </p:sp>
      <p:sp>
        <p:nvSpPr>
          <p:cNvPr id="36" name="TextBox 35"/>
          <p:cNvSpPr txBox="1"/>
          <p:nvPr/>
        </p:nvSpPr>
        <p:spPr>
          <a:xfrm>
            <a:off x="7955279" y="5294376"/>
            <a:ext cx="3364992" cy="2651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F233D"/>
                </a:solidFill>
                <a:latin typeface="Arial"/>
              </a:rPr>
              <a:t>SEA-AD list states</a:t>
            </a:r>
          </a:p>
        </p:txBody>
      </p:sp>
      <p:sp>
        <p:nvSpPr>
          <p:cNvPr id="37" name="TextBox 36"/>
          <p:cNvSpPr txBox="1"/>
          <p:nvPr/>
        </p:nvSpPr>
        <p:spPr>
          <a:xfrm>
            <a:off x="7955279" y="5623560"/>
            <a:ext cx="3364992"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4F5965"/>
                </a:solidFill>
                <a:latin typeface="Arial"/>
              </a:rPr>
              <a:t>5 ranked  •  5 tested/no passing  •  4 no runs</a:t>
            </a:r>
          </a:p>
        </p:txBody>
      </p:sp>
      <p:sp>
        <p:nvSpPr>
          <p:cNvPr id="38" name="TextBox 37"/>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VH10C seaad_top5/list_status; VH10D candidate-overlap status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55448"/>
            <a:ext cx="5120640"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4F5965"/>
                </a:solidFill>
                <a:latin typeface="Arial"/>
              </a:rPr>
              <a:t>APPENDIX A6</a:t>
            </a:r>
          </a:p>
        </p:txBody>
      </p:sp>
      <p:sp>
        <p:nvSpPr>
          <p:cNvPr id="3" name="TextBox 2"/>
          <p:cNvSpPr txBox="1"/>
          <p:nvPr/>
        </p:nvSpPr>
        <p:spPr>
          <a:xfrm>
            <a:off x="502920" y="393192"/>
            <a:ext cx="10991088" cy="6675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900" b="1" i="0">
                <a:solidFill>
                  <a:srgbClr val="0F233D"/>
                </a:solidFill>
                <a:latin typeface="Arial"/>
              </a:rPr>
              <a:t>Provenance and interpretation limits</a:t>
            </a:r>
          </a:p>
        </p:txBody>
      </p:sp>
      <p:sp>
        <p:nvSpPr>
          <p:cNvPr id="4" name="TextBox 3"/>
          <p:cNvSpPr txBox="1"/>
          <p:nvPr/>
        </p:nvSpPr>
        <p:spPr>
          <a:xfrm>
            <a:off x="11420856" y="173736"/>
            <a:ext cx="265176" cy="17373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00" b="1" i="0">
                <a:solidFill>
                  <a:srgbClr val="677484"/>
                </a:solidFill>
                <a:latin typeface="Arial"/>
              </a:rPr>
              <a:t>15</a:t>
            </a:r>
          </a:p>
        </p:txBody>
      </p:sp>
      <p:sp>
        <p:nvSpPr>
          <p:cNvPr id="5" name="Rounded Rectangle 4"/>
          <p:cNvSpPr/>
          <p:nvPr/>
        </p:nvSpPr>
        <p:spPr>
          <a:xfrm>
            <a:off x="667512" y="1371600"/>
            <a:ext cx="5385816" cy="435254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67512" y="1371600"/>
            <a:ext cx="538581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82496"/>
            <a:ext cx="4892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Reproducibility controls</a:t>
            </a:r>
          </a:p>
        </p:txBody>
      </p:sp>
      <p:sp>
        <p:nvSpPr>
          <p:cNvPr id="8" name="TextBox 7"/>
          <p:cNvSpPr txBox="1"/>
          <p:nvPr/>
        </p:nvSpPr>
        <p:spPr>
          <a:xfrm>
            <a:off x="932688" y="2459736"/>
            <a:ext cx="4855464" cy="30449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 Validated source status and checksum gates
• Validated color/grayscale figure packages
• Embedded PNGs verified byte-for-byte
• Source lines, alt text, and speaker notes
• Deck inventory, checks, and SHA-256 status</a:t>
            </a:r>
          </a:p>
        </p:txBody>
      </p:sp>
      <p:sp>
        <p:nvSpPr>
          <p:cNvPr id="9" name="Rounded Rectangle 8"/>
          <p:cNvSpPr/>
          <p:nvPr/>
        </p:nvSpPr>
        <p:spPr>
          <a:xfrm>
            <a:off x="6135624" y="1371600"/>
            <a:ext cx="5385816" cy="435254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35624" y="1371600"/>
            <a:ext cx="538581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682496"/>
            <a:ext cx="4892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00" b="1" i="0">
                <a:solidFill>
                  <a:srgbClr val="0F233D"/>
                </a:solidFill>
                <a:latin typeface="Arial"/>
              </a:rPr>
              <a:t>Interpretation limits</a:t>
            </a:r>
          </a:p>
        </p:txBody>
      </p:sp>
      <p:sp>
        <p:nvSpPr>
          <p:cNvPr id="12" name="TextBox 11"/>
          <p:cNvSpPr txBox="1"/>
          <p:nvPr/>
        </p:nvSpPr>
        <p:spPr>
          <a:xfrm>
            <a:off x="6400800" y="2459736"/>
            <a:ext cx="4855464" cy="30449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242B33"/>
                </a:solidFill>
                <a:latin typeface="Arial"/>
              </a:rPr>
              <a:t>• Shared broad networks and selector
• Uneven independent-donor coverage
• SEA-AD query floor 3 vs ROSMAP 10
• No optional sensitivity branch executed
• KDA prioritization is not causal proof</a:t>
            </a:r>
          </a:p>
        </p:txBody>
      </p:sp>
      <p:sp>
        <p:nvSpPr>
          <p:cNvPr id="13" name="Rectangle 12"/>
          <p:cNvSpPr/>
          <p:nvPr/>
        </p:nvSpPr>
        <p:spPr>
          <a:xfrm>
            <a:off x="1179576" y="5952744"/>
            <a:ext cx="9829800" cy="4114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26464" y="6035040"/>
            <a:ext cx="933602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300" b="1" i="0">
                <a:solidFill>
                  <a:srgbClr val="FFFFFF"/>
                </a:solidFill>
                <a:latin typeface="Arial"/>
              </a:rPr>
              <a:t>VH05/VH06 QC figures are not required for the scientific claims in this deck</a:t>
            </a:r>
          </a:p>
        </p:txBody>
      </p:sp>
      <p:sp>
        <p:nvSpPr>
          <p:cNvPr id="15" name="TextBox 14"/>
          <p:cNvSpPr txBox="1"/>
          <p:nvPr/>
        </p:nvSpPr>
        <p:spPr>
          <a:xfrm>
            <a:off x="502920" y="6629400"/>
            <a:ext cx="11119104" cy="1371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677484"/>
                </a:solidFill>
                <a:latin typeface="Arial"/>
              </a:rPr>
              <a:t>Source: validated input/figure manifests and deck build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3501</Words>
  <Application>Microsoft Macintosh PowerPoint</Application>
  <PresentationFormat>Widescreen</PresentationFormat>
  <Paragraphs>308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Cross-cohort rediscovery of ROSMAP key drivers in SEA-AD</dc:title>
  <dc:subject>Independent SEA-AD expression evidence on a shared frozen network/KDA scaffold</dc:subject>
  <dc:creator>Alzheimer project analysis team</dc:creator>
  <cp:keywords>SEA-AD, ROSMAP, human validation, KDA, MitoCarta</cp:keywords>
  <dc:description>Generated from validated VH02/VH04/VH08/VH09/VH10 tables and validated figure packages.</dc:description>
  <cp:lastModifiedBy>Richard Zhuang</cp:lastModifiedBy>
  <cp:revision>5</cp:revision>
  <dcterms:created xsi:type="dcterms:W3CDTF">2013-01-27T09:14:16Z</dcterms:created>
  <dcterms:modified xsi:type="dcterms:W3CDTF">2026-08-22T23:21:47Z</dcterms:modified>
  <cp:category/>
</cp:coreProperties>
</file>