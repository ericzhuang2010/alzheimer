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5"/>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421" r:id="rId41"/>
    <p:sldId id="422" r:id="rId42"/>
    <p:sldId id="423" r:id="rId43"/>
    <p:sldId id="424"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7" r:id="rId70"/>
    <p:sldId id="318" r:id="rId71"/>
    <p:sldId id="319" r:id="rId72"/>
    <p:sldId id="320" r:id="rId73"/>
    <p:sldId id="321" r:id="rId74"/>
    <p:sldId id="322" r:id="rId75"/>
    <p:sldId id="324" r:id="rId76"/>
    <p:sldId id="325" r:id="rId77"/>
    <p:sldId id="326" r:id="rId78"/>
    <p:sldId id="327" r:id="rId79"/>
    <p:sldId id="328" r:id="rId80"/>
    <p:sldId id="329" r:id="rId81"/>
    <p:sldId id="331" r:id="rId82"/>
    <p:sldId id="332" r:id="rId83"/>
    <p:sldId id="333" r:id="rId84"/>
    <p:sldId id="334" r:id="rId85"/>
    <p:sldId id="335" r:id="rId86"/>
    <p:sldId id="336" r:id="rId87"/>
    <p:sldId id="338" r:id="rId88"/>
    <p:sldId id="339" r:id="rId89"/>
    <p:sldId id="340" r:id="rId90"/>
    <p:sldId id="341" r:id="rId91"/>
    <p:sldId id="342" r:id="rId92"/>
    <p:sldId id="343" r:id="rId93"/>
    <p:sldId id="345" r:id="rId94"/>
    <p:sldId id="346" r:id="rId95"/>
    <p:sldId id="347" r:id="rId96"/>
    <p:sldId id="348" r:id="rId97"/>
    <p:sldId id="349" r:id="rId98"/>
    <p:sldId id="350" r:id="rId99"/>
    <p:sldId id="352" r:id="rId100"/>
    <p:sldId id="353" r:id="rId101"/>
    <p:sldId id="354" r:id="rId102"/>
    <p:sldId id="355" r:id="rId103"/>
    <p:sldId id="356" r:id="rId104"/>
    <p:sldId id="357" r:id="rId105"/>
    <p:sldId id="359" r:id="rId106"/>
    <p:sldId id="360" r:id="rId107"/>
    <p:sldId id="361" r:id="rId108"/>
    <p:sldId id="362" r:id="rId109"/>
    <p:sldId id="363" r:id="rId110"/>
    <p:sldId id="364" r:id="rId111"/>
    <p:sldId id="366" r:id="rId112"/>
    <p:sldId id="367" r:id="rId113"/>
    <p:sldId id="368" r:id="rId114"/>
    <p:sldId id="369" r:id="rId115"/>
    <p:sldId id="370" r:id="rId116"/>
    <p:sldId id="371" r:id="rId117"/>
    <p:sldId id="373" r:id="rId118"/>
    <p:sldId id="374" r:id="rId119"/>
    <p:sldId id="375" r:id="rId120"/>
    <p:sldId id="376" r:id="rId121"/>
    <p:sldId id="377" r:id="rId122"/>
    <p:sldId id="378" r:id="rId123"/>
    <p:sldId id="380" r:id="rId124"/>
    <p:sldId id="381" r:id="rId125"/>
    <p:sldId id="382" r:id="rId126"/>
    <p:sldId id="383" r:id="rId127"/>
    <p:sldId id="384" r:id="rId128"/>
    <p:sldId id="385" r:id="rId129"/>
    <p:sldId id="387" r:id="rId130"/>
    <p:sldId id="388" r:id="rId131"/>
    <p:sldId id="389" r:id="rId132"/>
    <p:sldId id="390" r:id="rId133"/>
    <p:sldId id="391" r:id="rId134"/>
    <p:sldId id="392" r:id="rId135"/>
    <p:sldId id="394" r:id="rId136"/>
    <p:sldId id="395" r:id="rId137"/>
    <p:sldId id="396" r:id="rId138"/>
    <p:sldId id="397" r:id="rId139"/>
    <p:sldId id="398" r:id="rId140"/>
    <p:sldId id="399" r:id="rId141"/>
    <p:sldId id="401" r:id="rId142"/>
    <p:sldId id="402" r:id="rId143"/>
    <p:sldId id="403" r:id="rId144"/>
    <p:sldId id="404" r:id="rId145"/>
    <p:sldId id="405" r:id="rId146"/>
    <p:sldId id="406" r:id="rId147"/>
    <p:sldId id="408" r:id="rId148"/>
    <p:sldId id="409" r:id="rId149"/>
    <p:sldId id="410" r:id="rId150"/>
    <p:sldId id="411" r:id="rId151"/>
    <p:sldId id="412" r:id="rId152"/>
    <p:sldId id="413" r:id="rId153"/>
    <p:sldId id="415" r:id="rId1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6"/>
    <p:restoredTop sz="93495"/>
  </p:normalViewPr>
  <p:slideViewPr>
    <p:cSldViewPr snapToGrid="0" snapToObjects="1">
      <p:cViewPr varScale="1">
        <p:scale>
          <a:sx n="142" d="100"/>
          <a:sy n="142" d="100"/>
        </p:scale>
        <p:origin x="17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two-stage pathway analysis and summarize how many pathways had at least one significant result.</a:t>
            </a:r>
          </a:p>
          <a:p>
            <a:r>
              <a:rPr lang="en-US" dirty="0"/>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dirty="0"/>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dirty="0"/>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Show whether SEA-AD excitatory-neuron genes returned from KDA calls recur across the six sex/APOE categories.</a:t>
            </a:r>
            <a:endParaRPr lang="en-US" dirty="0"/>
          </a:p>
          <a:p>
            <a:r>
              <a:rPr lang="en-US" dirty="0"/>
              <a:t>Walk through: Rows are the three female groups followed by the three male groups. Columns contain all 27 distinct non-MitoCarta genes returned from KDA calls in the excitatory-neuron broad cell type. A colored tile means that the gene appears in that category. Its color gives the total number of categories containing that gene. No gene appears in more than one sex/APOE category.</a:t>
            </a:r>
            <a:endParaRPr lang="en-US" dirty="0"/>
          </a:p>
          <a:p>
            <a:r>
              <a:rPr lang="en-US" dirty="0"/>
              <a:t>Scientific boundary: Category recurrence is a descriptive summary of returned KDA results. It is not an effect size, an independent replication count, or a sex-by-APOE interaction test.</a:t>
            </a:r>
            <a:endParaRPr lang="en-US" dirty="0"/>
          </a:p>
          <a:p>
            <a:r>
              <a:rPr lang="en-US" dirty="0"/>
              <a:t>Transition: Move to Part 6, which tests selected findings at direct broad-cell resolution.</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direct broad-cell validation and establish that both analysis resolutions use donors as the biological replicates.</a:t>
            </a:r>
            <a:endParaRPr lang="en-US" dirty="0"/>
          </a:p>
          <a:p>
            <a:r>
              <a:rPr lang="en-US" dirty="0"/>
              <a:t>Walk through: Both workflows first combine RNA counts within each donor. The primary workflow creates one expression profile for each donor and fine cell type, then runs the AD-versus-NCI comparison separately for every fine cell type. The direct broad-cell workflow combines the contributing fine cell types within each donor before running one comparison for the broad cell class. This section explains that resolution difference, the ranked-gene pathway workflow, and the normalized enrichment score.</a:t>
            </a:r>
            <a:endParaRPr lang="en-US" dirty="0"/>
          </a:p>
          <a:p>
            <a:r>
              <a:rPr lang="en-US" dirty="0"/>
              <a:t>Scientific boundary: Direct broad-cell analysis provides supporting evidence. Combining fine cell types can hide a subtype-specific result or create sensitivity to differences in fine-cell composition.</a:t>
            </a:r>
            <a:endParaRPr lang="en-US" dirty="0"/>
          </a:p>
          <a:p>
            <a:r>
              <a:rPr lang="en-US" dirty="0"/>
              <a:t>Transition: Compare the fine-cell and direct broad-cell workflows side by side.</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Distinguish the two workflows without implying that donor-level aggregation is unique to direct broad-cell analysis.</a:t>
            </a:r>
            <a:endParaRPr lang="en-US" dirty="0"/>
          </a:p>
          <a:p>
            <a:r>
              <a:rPr lang="en-US" dirty="0"/>
              <a:t>Walk through: Fine-cell analysis produces one donor-level expression profile for each fine cell type. It tests each fine cell type separately and summarizes the resulting evidence by broad class afterward. Direct broad-cell analysis instead produces one donor-level profile for the whole broad class by combining its fine cell types before differential-expression testing. Both workflows therefore compare donors. They differ in the cell-type resolution retained before the comparison.</a:t>
            </a:r>
            <a:endParaRPr lang="en-US" dirty="0"/>
          </a:p>
          <a:p>
            <a:r>
              <a:rPr lang="en-US" dirty="0"/>
              <a:t>Scientific boundary: Agreement supports a result across two resolutions. Disagreement can reflect fine-cell composition or opposing subtype-specific effects and does not by itself invalidate the fine-cell result.</a:t>
            </a:r>
            <a:endParaRPr lang="en-US" dirty="0"/>
          </a:p>
          <a:p>
            <a:r>
              <a:rPr lang="en-US" dirty="0"/>
              <a:t>Transition: Follow the direct broad-cell pathway workflow from donor-level expression profiles to pathway testing.</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direct broad-cell pathway workflow.</a:t>
            </a:r>
            <a:endParaRPr lang="en-US" dirty="0"/>
          </a:p>
          <a:p>
            <a:r>
              <a:rPr lang="en-US" dirty="0"/>
              <a:t>Walk through: For each donor and broad cell class, the analysis combines counts from the contributing fine cell types into one expression profile. It then compares AD with NCI separately within each sex/APOE group and broad cell class. All tested genes are ordered from stronger AD-down evidence to stronger AD-up evidence. Gene set enrichment analysis, abbreviated GSEA, tests whether the genes in a pathway cluster toward either end of this ranked list.</a:t>
            </a:r>
            <a:endParaRPr lang="en-US" dirty="0"/>
          </a:p>
          <a:p>
            <a:r>
              <a:rPr lang="en-US" dirty="0"/>
              <a:t>Scientific boundary: This ranked-gene pathway analysis uses all tested genes at direct broad-cell resolution. The fine-cell pathway analysis instead tests whether a thresholded DEG list contains more pathway genes than expected.</a:t>
            </a:r>
            <a:endParaRPr lang="en-US" dirty="0"/>
          </a:p>
          <a:p>
            <a:r>
              <a:rPr lang="en-US" dirty="0"/>
              <a:t>Transition: Define the normalized enrichment score used to report the broad-cell pathway direction.</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Define the normalized enrichment score before later findings use direct broad-cell pathway results.</a:t>
            </a:r>
            <a:endParaRPr lang="en-US" dirty="0"/>
          </a:p>
          <a:p>
            <a:r>
              <a:rPr lang="en-US" dirty="0"/>
              <a:t>Walk through: NES means normalized enrichment score. It summarizes where the genes in one pathway occur in the ranked gene list while accounting for pathway size. A negative NES indicates an AD-down pathway direction. A positive NES indicates an AD-up pathway direction. A value near zero indicates no strong concentration at either end. An adjusted P value below 0.05 defines a significant pathway result.</a:t>
            </a:r>
            <a:endParaRPr lang="en-US" dirty="0"/>
          </a:p>
          <a:p>
            <a:r>
              <a:rPr lang="en-US" dirty="0"/>
              <a:t>Scientific boundary: NES is a pathway-level ranking statistic. It is not a gene-level fold change or a DEG count, and it does not mean that every gene in the pathway changed significantly.</a:t>
            </a:r>
            <a:endParaRPr lang="en-US" dirty="0"/>
          </a:p>
          <a:p>
            <a:r>
              <a:rPr lang="en-US" dirty="0"/>
              <a:t>Transition: Move to Part 7, the sensitivity analyses.</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7, which tests how selected analysis decisions affect the KDA results.</a:t>
            </a:r>
            <a:endParaRPr lang="en-US" dirty="0"/>
          </a:p>
          <a:p>
            <a:r>
              <a:rPr lang="en-US" dirty="0"/>
              <a:t>Walk through: The sensitivity analyses examine donor support, the number of nuclei contributing to each profile, the DEG query definition, and the KDA decision rules. Each check changes one decision while keeping the rest of the workflow fixed. The first comparison raises the minimum donor requirement in each disease-status group from three to five.</a:t>
            </a:r>
            <a:endParaRPr lang="en-US" dirty="0"/>
          </a:p>
          <a:p>
            <a:r>
              <a:rPr lang="en-US" dirty="0"/>
              <a:t>Scientific boundary: These analyses evaluate robustness to prespecified workflow decisions. The donor-threshold analysis concerns donors in each disease-status group, not the number of nuclei contributing to a donor-level profile.</a:t>
            </a:r>
            <a:endParaRPr lang="en-US" dirty="0"/>
          </a:p>
          <a:p>
            <a:r>
              <a:rPr lang="en-US" dirty="0"/>
              <a:t>Transition: Begin with the numerical consequences of changing the donor threshold.</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8, the biological findings and discussion.</a:t>
            </a:r>
          </a:p>
          <a:p>
            <a:r>
              <a:rPr lang="en-US" dirty="0"/>
              <a:t>Walk through: Part 8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r>
              <a:rPr lang="en-US" dirty="0"/>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r>
              <a:rPr lang="en-US" dirty="0"/>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a:endParaRPr/>
          </a:p>
          <a:p>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a:endParaRPr/>
          </a:p>
          <a:p>
            <a:r>
              <a:t>Scientific boundary: Gene expression alone cannot establish lower respiratory capacity. The direct broad-cell pathway results point in the opposite direction, so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maintenance. This includes changes in mitochondrial dynamics and in the removal of damaged mitochondria. Cell-resolved Alzheimer’s studies also show that molecular responses differ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9/21/26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9/21/26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9/21/26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Pathway workflow</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NES interpretation</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lang="en-US" sz="1220" b="0" i="0" dirty="0">
                <a:solidFill>
                  <a:srgbClr val="1F2730"/>
                </a:solidFill>
                <a:latin typeface="Arial"/>
                <a:ea typeface="Arial"/>
                <a:cs typeface="Arial"/>
              </a:rPr>
              <a:t>Within each donor, c</a:t>
            </a:r>
            <a:r>
              <a:rPr sz="1220" b="0" i="0" dirty="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xmlns:p14="http://schemas.microsoft.com/office/powerpoint/2010/main" val="12621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Rank the tested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AD-down → AD-up</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Order genes from strongest AD-down to strongest AD-up evidence.</a:t>
            </a:r>
          </a:p>
          <a:p>
            <a:pPr algn="ctr">
              <a:lnSpc>
                <a:spcPct val="100000"/>
              </a:lnSpc>
              <a:spcBef>
                <a:spcPts val="0"/>
              </a:spcBef>
              <a:spcAft>
                <a:spcPts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Ask whether pathway genes concentrate toward one end of the ranked list.</a:t>
            </a:r>
          </a:p>
        </p:txBody>
      </p:sp>
    </p:spTree>
    <p:extLst>
      <p:ext uri="{BB962C8B-B14F-4D97-AF65-F5344CB8AC3E}">
        <p14:creationId xmlns:p14="http://schemas.microsoft.com/office/powerpoint/2010/main" val="24950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to read the normalized enrichment score</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NES summarizes the pathway-level direction in ranked-gene analysis.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Pathway-level</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Ranked genes</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Direction</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Significance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NEGATIVE NES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AD-down direction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tend to appear near the lower-expression-in-AD end of the ranked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NES NEAR ZERO</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clear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are not strongly concentrated at either end of the ranked list.</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POSITIVE NES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tend to appear near the higher-expression-in-AD end of the ranked list.</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Adjusted P &lt; 0.05 defines a significant pathway result. NES is not a fold change or a count of DEGs, and it does not mean every pathway gene changed significantly.</a:t>
            </a:r>
          </a:p>
        </p:txBody>
      </p:sp>
    </p:spTree>
    <p:extLst>
      <p:ext uri="{BB962C8B-B14F-4D97-AF65-F5344CB8AC3E}">
        <p14:creationId xmlns:p14="http://schemas.microsoft.com/office/powerpoint/2010/main" val="126215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7</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8</a:t>
            </a:r>
          </a:p>
        </p:txBody>
      </p:sp>
    </p:spTree>
    <p:extLst>
      <p:ext uri="{BB962C8B-B14F-4D97-AF65-F5344CB8AC3E}">
        <p14:creationId xmlns:p14="http://schemas.microsoft.com/office/powerpoint/2010/main" val="686704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pathway is significantly AD-up</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xmlns:p14="http://schemas.microsoft.com/office/powerpoint/2010/main" val="8429484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mitochondrial quality control</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36566</Words>
  <Application>Microsoft Macintosh PowerPoint</Application>
  <DocSecurity>0</DocSecurity>
  <PresentationFormat>Widescreen</PresentationFormat>
  <Paragraphs>3457</Paragraphs>
  <Slides>153</Slides>
  <Notes>153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153</vt:i4>
      </vt:variant>
    </vt:vector>
  </HeadingPairs>
  <TitlesOfParts>
    <vt:vector size="15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17</cp:revision>
  <dcterms:created xsi:type="dcterms:W3CDTF">2026-09-20T15:55:40Z</dcterms:created>
  <dcterms:modified xsi:type="dcterms:W3CDTF">2026-09-21T14:11:40Z</dcterms:modified>
</cp:coreProperties>
</file>