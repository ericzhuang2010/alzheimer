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3" r:id="rId7"/>
    <p:sldId id="262" r:id="rId8"/>
    <p:sldId id="273" r:id="rId9"/>
    <p:sldId id="272" r:id="rId10"/>
    <p:sldId id="271" r:id="rId11"/>
    <p:sldId id="274" r:id="rId12"/>
    <p:sldId id="275" r:id="rId13"/>
    <p:sldId id="276" r:id="rId14"/>
    <p:sldId id="277" r:id="rId15"/>
    <p:sldId id="278" r:id="rId16"/>
    <p:sldId id="279" r:id="rId17"/>
    <p:sldId id="281" r:id="rId18"/>
    <p:sldId id="282" r:id="rId19"/>
    <p:sldId id="283" r:id="rId20"/>
    <p:sldId id="284" r:id="rId21"/>
    <p:sldId id="285" r:id="rId22"/>
    <p:sldId id="286"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542"/>
    <p:restoredTop sz="94653"/>
  </p:normalViewPr>
  <p:slideViewPr>
    <p:cSldViewPr snapToGrid="0" snapToObjects="1">
      <p:cViewPr varScale="1">
        <p:scale>
          <a:sx n="147" d="100"/>
          <a:sy n="147" d="100"/>
        </p:scale>
        <p:origin x="224" y="28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19131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Introduce the two Phase 20 branches and signal that they use different evidence structures.</a:t>
            </a:r>
          </a:p>
          <a:p>
            <a:endParaRPr/>
          </a:p>
          <a:p>
            <a:r>
              <a:t>Walk through: The fine-cell branch starts with many fine-cell and direction-specific KDA runs and reaggregates them within sex/APOE by broad-network categories. The broad branch starts from donor-level broad-cell DEGs and runs direct direction-specific KDA without ACAT.</a:t>
            </a:r>
          </a:p>
          <a:p>
            <a:endParaRPr/>
          </a:p>
          <a:p>
            <a:r>
              <a:t>Scientific boundary: The two candidate counts are not interchangeable because one is a gene-by-category aggregate unit and the other is a direct gene-by-run row.</a:t>
            </a:r>
          </a:p>
          <a:p>
            <a:endParaRPr/>
          </a:p>
          <a:p>
            <a:r>
              <a:t>Transition: First compare the branches at a glance, then unpack every reduction step separately.</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Give the audience a mental map before the detailed funnels.</a:t>
            </a:r>
          </a:p>
          <a:p>
            <a:endParaRPr/>
          </a:p>
          <a:p>
            <a:r>
              <a:t>Walk through: The left card describes cross-run reaggregation from 295 fine-cell runs. The right card describes three direct broad-cell runs. The starting queries are related, but the final units, multiplicity corrections, and interpretation differ.</a:t>
            </a:r>
          </a:p>
          <a:p>
            <a:endParaRPr/>
          </a:p>
          <a:p>
            <a:r>
              <a:t>Scientific boundary: A missing broad candidate is not equivalent to absence from an ACAT aggregate, and a fine candidate unit is not one independent gene-level experiment.</a:t>
            </a:r>
          </a:p>
          <a:p>
            <a:endParaRPr/>
          </a:p>
          <a:p>
            <a:r>
              <a:t>Transition: Begin Part I by defining the counting units used in the fine-cell branch.</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Introduce the fine-cell branch and its sequence from setup to results.</a:t>
            </a:r>
          </a:p>
          <a:p>
            <a:endParaRPr/>
          </a:p>
          <a:p>
            <a:r>
              <a:t>Walk through: The section first defines comparisons, directional slots, KDA calls, included runs, and final candidate units. It then explains DEG construction, run eligibility, complete evidence, coverage, support, ACAT, category BH, and display-only ranking.</a:t>
            </a:r>
          </a:p>
          <a:p>
            <a:endParaRPr/>
          </a:p>
          <a:p>
            <a:r>
              <a:t>Scientific boundary: The branch reconstructs complete evidence from the validated Phase 12 calls at effective query n ≥ 3; it does not rerun KDA or pool sex/APOE groups.</a:t>
            </a:r>
          </a:p>
          <a:p>
            <a:endParaRPr/>
          </a:p>
          <a:p>
            <a:r>
              <a:t>Transition: Start with the four counting units that appear in the funnel.</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Separate the comparison, slot, run, and candidate-unit concepts before showing counts.</a:t>
            </a:r>
          </a:p>
          <a:p>
            <a:endParaRPr/>
          </a:p>
          <a:p>
            <a:r>
              <a:t>Walk through: Move from left to right. A comparison is one model result. Its sign creates two planned slots. A slot becomes a KDA call when at least three effective query genes remain, and every validated completed call at that execution floor enters the cross-run aggregate. The final unit adds gene identity to group and broad network.</a:t>
            </a:r>
          </a:p>
          <a:p>
            <a:endParaRPr/>
          </a:p>
          <a:p>
            <a:r>
              <a:t>Scientific boundary: The word candidate does not mean mitochondrial DEG. Candidate drivers may be non-DEG, non-mitochondrial network genes.</a:t>
            </a:r>
          </a:p>
          <a:p>
            <a:endParaRPr/>
          </a:p>
          <a:p>
            <a:r>
              <a:t>Transition: Apply those definitions to the complete 648-slot run universe.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Show exactly how 648 planned slots become 295 included KDA runs.</a:t>
            </a:r>
          </a:p>
          <a:p>
            <a:endParaRPr/>
          </a:p>
          <a:p>
            <a:r>
              <a:t>Walk through: The rows are mutually exclusive outcomes derived from the canonical source manifest. Phase 12 calls KDA when at least three effective query genes remain. All 295 completed calls enter Phase 20, including 134 calls with query size three through nine and 161 with at least ten genes.</a:t>
            </a:r>
          </a:p>
          <a:p>
            <a:endParaRPr/>
          </a:p>
          <a:p>
            <a:r>
              <a:t>Scientific boundary: The 6 unavailable slots come from three non-estimable source contrasts times two directions. They are unavailable models, not completed tests with null results. The effective-query-zero row combines absent directional queries and complete loss during network mapping.</a:t>
            </a:r>
          </a:p>
          <a:p>
            <a:endParaRPr/>
          </a:p>
          <a:p>
            <a:r>
              <a:t>Transition: Zoom out once to see how the counting unit changes through the full fine-cell funnel.</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Clarify the eligibility statuses and the canonical minimum of three effective query genes.</a:t>
            </a:r>
          </a:p>
          <a:p>
            <a:endParaRPr/>
          </a:p>
          <a:p>
            <a:r>
              <a:t>Walk through: A query of at least three genes allows the Phase 12 call and Phase 20 inclusion. The 134 calls with three through nine genes retain Phase 12's below-ten warning but are included alongside the 161 larger-query calls. The right panel gives the three concrete non-estimable comparisons and shows why they create six unavailable direction slots.</a:t>
            </a:r>
          </a:p>
          <a:p>
            <a:endParaRPr/>
          </a:p>
          <a:p>
            <a:r>
              <a:t>Scientific boundary: Small-query calls use the same KDA and support predicates as larger-query calls, but their smaller queries warrant cautious interpretation. Non-estimability is a data/model condition, not evidence against a biological effect.</a:t>
            </a:r>
          </a:p>
          <a:p>
            <a:endParaRPr/>
          </a:p>
          <a:p>
            <a:r>
              <a:t>Transition: With 295 runs fixed, inspect what one KDA call actually tests.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Explain how the mitochondrial KDA query is derived from the full fine-cell DEG analysis.</a:t>
            </a:r>
          </a:p>
          <a:p>
            <a:endParaRPr/>
          </a:p>
          <a:p>
            <a:r>
              <a:t>Walk through: The paper-DEG filters first act within each fine-cell by group comparison. Only passing core mitochondrial proteins in the requested sign become provisional query memberships. The matching broad network is induced on genes tested in that contrast, so out-of-background query memberships are removed before run eligibility is assessed.</a:t>
            </a:r>
          </a:p>
          <a:p>
            <a:endParaRPr/>
          </a:p>
          <a:p>
            <a:r>
              <a:t>Scientific boundary: These are membership counts, not unique-gene counts. A query membership also does not mean the gene will be a candidate driver.</a:t>
            </a:r>
          </a:p>
          <a:p>
            <a:endParaRPr/>
          </a:p>
          <a:p>
            <a:r>
              <a:t>Transition: Next distinguish source failure, an empty effective query, a one- or two-gene query, and the canonical three-gene execution floor.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Interpret the non-MT top-five display after excluding mitochondrial candidate drivers and recalculating display ranks.</a:t>
            </a:r>
          </a:p>
          <a:p>
            <a:endParaRPr/>
          </a:p>
          <a:p>
            <a:r>
              <a:t>Walk through: The figure contains 149 tiles across 32 categories. Blue means ACAT across at least two returned calls; orange means a one-call within-run BH q passthrough. Color identifies the calculation route, not an evidence tier.</a:t>
            </a:r>
          </a:p>
          <a:p>
            <a:endParaRPr/>
          </a:p>
          <a:p>
            <a:r>
              <a:t>Scientific boundary: Top five is a display cap, not a significance threshold. The returned-only score is post-selected and has no final across-gene BH adjustment; categories without a non-MT return are omitted.</a:t>
            </a:r>
          </a:p>
          <a:p>
            <a:endParaRPr/>
          </a:p>
          <a:p>
            <a:r>
              <a:t>Transition: The summary slide translates the displayed results into returned-row, category-unit, distinct-gene, and recurrence counts.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Interpret returned-only category recurrence without confusing category breadth, call count, and score construction.</a:t>
            </a:r>
          </a:p>
          <a:p>
            <a:endParaRPr/>
          </a:p>
          <a:p>
            <a:r>
              <a:t>Walk through: Bar length counts each sex/APOE by broad-cell category once. Fill counts the subset whose score combines at least two returned calls. RPS15 appears in 12 categories and RPL11 in 10; their total returned-call counts are 28 and 29, respectively.</a:t>
            </a:r>
          </a:p>
          <a:p>
            <a:endParaRPr/>
          </a:p>
          <a:p>
            <a:r>
              <a:t>Scientific boundary: Inputs were preselected stock-significant within-call q values. Fill shows the calculation route, not evidence strength. Recurrence is descriptive, not an independent replication or FDR-controlled significance test.</a:t>
            </a:r>
          </a:p>
          <a:p>
            <a:endParaRPr/>
          </a:p>
          <a:p>
            <a:r>
              <a:t>Transition: The next slide shows which non-MT genes rank in the top five within each populated category.</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Summarize the scale and distribution of the simple returned-only non-MT result set.</a:t>
            </a:r>
          </a:p>
          <a:p>
            <a:endParaRPr/>
          </a:p>
          <a:p>
            <a:r>
              <a:t>Walk through: The 1,033 non-MT returned call rows form 689 gene-by-category units representing 433 genes across 32 populated categories. The lower panels show where those units occur and the genes with the broadest category presence.</a:t>
            </a:r>
          </a:p>
          <a:p>
            <a:endParaRPr/>
          </a:p>
          <a:p>
            <a:r>
              <a:t>Scientific boundary: These descriptive counts condition on stock-significant returns and differ across categories with unequal opportunities. They do not use nonreturns, coverage, support gates, or a final FDR-controlled cross-gene family.</a:t>
            </a:r>
          </a:p>
          <a:p>
            <a:endParaRPr/>
          </a:p>
          <a:p>
            <a:r>
              <a:t>Transition: Part II now returns to the direct broad-cell branch, where each eligible direction remains a separate KDA result.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Introduce the broad-cell branch as a direct, within-run analysis rather than a reaggregation.</a:t>
            </a:r>
          </a:p>
          <a:p>
            <a:endParaRPr/>
          </a:p>
          <a:p>
            <a:r>
              <a:t>Walk through: This section repeats the setup-to-results sequence for the broad-cell production release. It explains the 42 donor-level DEG contrasts, their 84 directional slots, query formation, the three completed KDA runs, within-run multiplicity correction, and the twelve direct candidate rows.</a:t>
            </a:r>
          </a:p>
          <a:p>
            <a:endParaRPr/>
          </a:p>
          <a:p>
            <a:r>
              <a:t>Scientific boundary: The broad branch does not pool runs with ACAT, calculate cross-run coverage, or require recurrence across broad-cell categories.</a:t>
            </a:r>
          </a:p>
          <a:p>
            <a:endParaRPr/>
          </a:p>
          <a:p>
            <a:r>
              <a:t>Transition: Begin by defining the direct branch's counting units and why its final rows differ from the fine-cell units.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Define the four broad-branch units before presenting the numerical funnel.</a:t>
            </a:r>
          </a:p>
          <a:p>
            <a:endParaRPr/>
          </a:p>
          <a:p>
            <a:r>
              <a:t>Walk through: A donor-level broad-cell model supplies an AD-versus-NCI stratum contrast, whose sign creates two potential core-mitochondrial queries. A slot is called only when at least three query genes remain. Every selected row stays linked to one broad cell type, group, and direction.</a:t>
            </a:r>
          </a:p>
          <a:p>
            <a:endParaRPr/>
          </a:p>
          <a:p>
            <a:r>
              <a:t>Scientific boundary: No candidate row combines an up and down direction or borrows evidence from another broad cell type or group.</a:t>
            </a:r>
          </a:p>
          <a:p>
            <a:endParaRPr/>
          </a:p>
          <a:p>
            <a:r>
              <a:t>Transition: Use those definitions to partition all 84 planned directional slots.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Show exactly how 84 planned broad directional slots become three completed KDA runs.</a:t>
            </a:r>
          </a:p>
          <a:p>
            <a:endParaRPr/>
          </a:p>
          <a:p>
            <a:r>
              <a:t>Walk through: The five outcomes are mutually exclusive. Four slots inherit two non-estimable source contrasts. Sixty-one have no provisional directional core-MT query, four lose every query gene during network mapping, and twelve retain only one or two genes. The remaining three meet the direct minimum of three genes.</a:t>
            </a:r>
          </a:p>
          <a:p>
            <a:endParaRPr/>
          </a:p>
          <a:p>
            <a:r>
              <a:t>Scientific boundary: A skipped slot has no KDA result. It must not be counted as a completed null run or assigned an artificial p value.</a:t>
            </a:r>
          </a:p>
          <a:p>
            <a:endParaRPr/>
          </a:p>
          <a:p>
            <a:r>
              <a:t>Transition: Zoom out to the two-stage broad funnel: first construct runs, then select genes within each completed run.</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Give a complete overview of broad run construction and direct candidate selection.</a:t>
            </a:r>
          </a:p>
          <a:p>
            <a:endParaRPr/>
          </a:p>
          <a:p>
            <a:r>
              <a:t>Walk through: The top row shows how source estimability, DEG query availability, network mapping, and the minimum effective query size leave three runs. The lower row begins from all explicit KDA-tested rows, removes core mitochondrial proteins, and then applies support, enrichment, and within-run q thresholds.</a:t>
            </a:r>
          </a:p>
          <a:p>
            <a:endParaRPr/>
          </a:p>
          <a:p>
            <a:r>
              <a:t>Scientific boundary: Percentages should be calculated only within a row and with the correct denominator. The transition from three runs to 377 rows changes the counting unit.</a:t>
            </a:r>
          </a:p>
          <a:p>
            <a:endParaRPr/>
          </a:p>
          <a:p>
            <a:r>
              <a:t>Transition: Return to the source model to explain how donor-level DEGs become provisional broad queries.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Explain both source estimability and gene-level DEG filtering in the broad branch.</a:t>
            </a:r>
          </a:p>
          <a:p>
            <a:endParaRPr/>
          </a:p>
          <a:p>
            <a:r>
              <a:t>Walk through: One joint edgeR model is fit per broad cell type, with donor-level pseudobulk samples as replicates. filterByExpr defines the tested universe before up to six stratum contrasts are evaluated. Relaxed thresholds yield 2,336 signed memberships; the core-MT intersection yields 65, and network mapping removes 30.</a:t>
            </a:r>
          </a:p>
          <a:p>
            <a:endParaRPr/>
          </a:p>
          <a:p>
            <a:r>
              <a:t>Scientific boundary: Two vascular contrasts fail donor-count eligibility even though the shared vascular model fits; they create four unavailable directions. Broad-cell changes can also mix expression shifts within fine types with fine-type composition shifts.</a:t>
            </a:r>
          </a:p>
          <a:p>
            <a:endParaRPr/>
          </a:p>
          <a:p>
            <a:r>
              <a:t>Transition: Inspect the three surviving directional queries and their exact KDA accounting.</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Make the three completed broad runs and their query sizes concrete.</a:t>
            </a:r>
          </a:p>
          <a:p>
            <a:endParaRPr/>
          </a:p>
          <a:p>
            <a:r>
              <a:t>Walk through: The table traces provisional core-MT memberships through network mapping, then shows each matching background, explicit-test family, and relaxed-candidate yield. Both Phase 20 branches use the validated execution floor of three effective query genes; the direct n=3 and n=4 runs retain their small-query caution labels.</a:t>
            </a:r>
          </a:p>
          <a:p>
            <a:endParaRPr/>
          </a:p>
          <a:p>
            <a:r>
              <a:t>Scientific boundary: The n=3 and n=4 runs remain labeled small_query_3_9 and warrant extra caution. Astrocytes M_e33 is not a failure: it completed, produced explicit tests, and simply has no row at q≤0.10.</a:t>
            </a:r>
          </a:p>
          <a:p>
            <a:endParaRPr/>
          </a:p>
          <a:p>
            <a:r>
              <a:t>Transition: Explain what the 377 explicit tests represent and why broad multiplicity correction stays within run.</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Explain every direct broad candidate gate and its numerical effect.</a:t>
            </a:r>
          </a:p>
          <a:p>
            <a:endParaRPr/>
          </a:p>
          <a:p>
            <a:r>
              <a:t>Walk through: Core-MT genes are first removed to define the inferential family. Fifteen of 362 non-core-MT rows overlap at least two query genes; all fifteen have enrichment above one. Twelve pass q≤0.10 and nine pass q≤0.05. BH was computed across each full non-core-MT run family before these gates.</a:t>
            </a:r>
          </a:p>
          <a:p>
            <a:endParaRPr/>
          </a:p>
          <a:p>
            <a:r>
              <a:t>Scientific boundary: NCOA1 is labeled mitochondrial-extended but is not a core mitochondrial protein, so it legitimately remains in the non-core-MT candidate universe.</a:t>
            </a:r>
          </a:p>
          <a:p>
            <a:endParaRPr/>
          </a:p>
          <a:p>
            <a:r>
              <a:t>Transition: Name the supported genes and separate strict rows, relaxed-only rows, and the completed-empty run.</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List every supported broad candidate and make the tier distinction explicit.</a:t>
            </a:r>
          </a:p>
          <a:p>
            <a:endParaRPr/>
          </a:p>
          <a:p>
            <a:r>
              <a:t>Walk through: The Astrocytes F_e4 run contributes two strict candidates. Astrocytes M_e33 is a valid completed-empty run. OPCs F_e4 contributes ten relaxed candidates: seven strict and three relaxed-only. Because the two candidate-bearing runs share no gene, twelve rows also equal twelve unique symbols.</a:t>
            </a:r>
          </a:p>
          <a:p>
            <a:endParaRPr/>
          </a:p>
          <a:p>
            <a:r>
              <a:t>Scientific boundary: AD-down identifies the mitochondrial query direction. It does not assert that the candidate driver itself is downregulated or is a DEG.</a:t>
            </a:r>
          </a:p>
          <a:p>
            <a:endParaRPr/>
          </a:p>
          <a:p>
            <a:r>
              <a:t>Transition: Use the requested recurrence-style figure to show that q strength, rather than cross-run recurrence, differentiates these genes.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Interpret the requested broad recurrence-style figure without implying cross-run recurrence.</a:t>
            </a:r>
          </a:p>
          <a:p>
            <a:endParaRPr/>
          </a:p>
          <a:p>
            <a:r>
              <a:t>Walk through: All twelve candidate symbols are unique to one candidate-bearing run. Bar length shows minus log ten of recomputed within-run q; run headings separate Astrocytes F_e4 and OPCs F_e4. Blue bars pass strict q≤0.05, while hatched orange bars are relaxed-only.</a:t>
            </a:r>
          </a:p>
          <a:p>
            <a:endParaRPr/>
          </a:p>
          <a:p>
            <a:r>
              <a:t>Scientific boundary: This is not evidence that candidates reproduce across groups, directions, or networks, and no recurrence threshold enters the broad candidate definition.</a:t>
            </a:r>
          </a:p>
          <a:p>
            <a:endParaRPr/>
          </a:p>
          <a:p>
            <a:r>
              <a:t>Transition: The next requested figure applies the display-only top-five limit within each completed broad-cell × group × direction run.</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Interpret the requested broad top-five tile chart and its blank completed run.</a:t>
            </a:r>
          </a:p>
          <a:p>
            <a:endParaRPr/>
          </a:p>
          <a:p>
            <a:r>
              <a:t>Walk through: The figure keeps one row for each completed broad-cell by group by direction run. Astrocytes F_e4 contributes two tiles, Astrocytes M_e33 stays blank, and OPCs F_e4 contributes its first five ranks. Ranking uses q, raw P, larger overlap, larger fold enrichment, then symbol.</a:t>
            </a:r>
          </a:p>
          <a:p>
            <a:endParaRPr/>
          </a:p>
          <a:p>
            <a:r>
              <a:t>Scientific boundary: Only five of the ten relaxed OPC candidates are visible. The remaining five are not removed from the production candidate table, and the blank row is not filled with a q-failing gene.</a:t>
            </a:r>
          </a:p>
          <a:p>
            <a:endParaRPr/>
          </a:p>
          <a:p>
            <a:r>
              <a:t>Transition: Close by comparing the two branches filter by filter and stating what may be concluded from each.</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Put every potentially confusing term side by side across the two branches.</a:t>
            </a:r>
          </a:p>
          <a:p>
            <a:endParaRPr/>
          </a:p>
          <a:p>
            <a:r>
              <a:t>Walk through: The comparison highlights the shared directional query construction and minimum effective query size of three, then shows where the branches diverge. Fine analysis retains all 295 completed directional calls and creates complete cross-run evidence for ACAT: explicit tests, implicit P=1 rows, and absent-from-background states. Broad analysis retains its three direct runs and controls multiplicity within each explicit family.</a:t>
            </a:r>
          </a:p>
          <a:p>
            <a:endParaRPr/>
          </a:p>
          <a:p>
            <a:r>
              <a:t>Scientific boundary: The final counts should never be pooled, ranked against each other, or interpreted as equivalent evidence units.</a:t>
            </a:r>
          </a:p>
          <a:p>
            <a:endParaRPr/>
          </a:p>
          <a:p>
            <a:r>
              <a:t>Transition: End with the core interpretation rules and the exact production artifacts that support the deck.</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Leave the audience with four interpretation rules and a compact audit-source map.</a:t>
            </a:r>
          </a:p>
          <a:p>
            <a:endParaRPr/>
          </a:p>
          <a:p>
            <a:r>
              <a:t>Walk through: Reinforce that run, query, and candidate are different objects. Then emphasize that q values are branch-specific, and that unavailable, skipped, completed-empty, and statistically filtered outcomes must stay distinct. The source card identifies the central production tables behind all stated counts.</a:t>
            </a:r>
          </a:p>
          <a:p>
            <a:endParaRPr/>
          </a:p>
          <a:p>
            <a:r>
              <a:t>Scientific boundary: The deck summarizes association and network-enrichment evidence. It does not establish causal regulation or formal sex-by-APOE interaction effects.</a:t>
            </a:r>
          </a:p>
          <a:p>
            <a:endParaRPr/>
          </a:p>
          <a:p>
            <a:r>
              <a:t>Transition: Use the linked production tables for row-level follow-up and the canonical PNG bundles for figure-specific provenance.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p:cNvSpPr txBox="1"/>
          <p:nvPr/>
        </p:nvSpPr>
        <p:spPr>
          <a:xfrm>
            <a:off x="713232" y="1097280"/>
            <a:ext cx="10287000" cy="126187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3400" b="1" i="0">
                <a:solidFill>
                  <a:srgbClr val="FFFFFF"/>
                </a:solidFill>
                <a:latin typeface="Arial"/>
              </a:rPr>
              <a:t>Fine-cell and broad-cell sex/APOE key-driver analysis</a:t>
            </a:r>
          </a:p>
        </p:txBody>
      </p:sp>
      <p:sp>
        <p:nvSpPr>
          <p:cNvPr id="4" name="TextBox 3"/>
          <p:cNvSpPr txBox="1"/>
          <p:nvPr/>
        </p:nvSpPr>
        <p:spPr>
          <a:xfrm>
            <a:off x="749808" y="2487168"/>
            <a:ext cx="9875520" cy="43891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700" b="0" i="0">
                <a:solidFill>
                  <a:srgbClr val="CCDBEA"/>
                </a:solidFill>
                <a:latin typeface="Arial"/>
              </a:rPr>
              <a:t>How mitochondrial DEG queries become non-core-MT network-driver candidates</a:t>
            </a:r>
          </a:p>
        </p:txBody>
      </p:sp>
      <p:sp>
        <p:nvSpPr>
          <p:cNvPr id="5" name="Rounded Rectangle 4"/>
          <p:cNvSpPr/>
          <p:nvPr/>
        </p:nvSpPr>
        <p:spPr>
          <a:xfrm>
            <a:off x="749808" y="3364992"/>
            <a:ext cx="5230368" cy="1874519"/>
          </a:xfrm>
          <a:prstGeom prst="roundRect">
            <a:avLst/>
          </a:prstGeom>
          <a:solidFill>
            <a:srgbClr val="1E3B5B"/>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5840" y="3639312"/>
            <a:ext cx="1005840" cy="21031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50" b="1" i="0">
                <a:solidFill>
                  <a:srgbClr val="56B4E9"/>
                </a:solidFill>
                <a:latin typeface="Arial"/>
              </a:rPr>
              <a:t>PART I</a:t>
            </a:r>
          </a:p>
        </p:txBody>
      </p:sp>
      <p:sp>
        <p:nvSpPr>
          <p:cNvPr id="7" name="TextBox 6"/>
          <p:cNvSpPr txBox="1"/>
          <p:nvPr/>
        </p:nvSpPr>
        <p:spPr>
          <a:xfrm>
            <a:off x="1005840" y="3941063"/>
            <a:ext cx="4343400" cy="3566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200" b="1" i="0">
                <a:solidFill>
                  <a:srgbClr val="FFFFFF"/>
                </a:solidFill>
                <a:latin typeface="Arial"/>
              </a:rPr>
              <a:t>Fine-cell reaggregation</a:t>
            </a:r>
          </a:p>
        </p:txBody>
      </p:sp>
      <p:sp>
        <p:nvSpPr>
          <p:cNvPr id="8" name="TextBox 7"/>
          <p:cNvSpPr txBox="1"/>
          <p:nvPr/>
        </p:nvSpPr>
        <p:spPr>
          <a:xfrm>
            <a:off x="1005840" y="4453128"/>
            <a:ext cx="4416552"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20" b="0" i="0">
                <a:solidFill>
                  <a:srgbClr val="D2E0EE"/>
                </a:solidFill>
                <a:latin typeface="Arial"/>
              </a:rPr>
              <a:t>295 included runs → coverage + support + ACAT → 74 candidate units</a:t>
            </a:r>
          </a:p>
        </p:txBody>
      </p:sp>
      <p:sp>
        <p:nvSpPr>
          <p:cNvPr id="9" name="Rounded Rectangle 8"/>
          <p:cNvSpPr/>
          <p:nvPr/>
        </p:nvSpPr>
        <p:spPr>
          <a:xfrm>
            <a:off x="6199632" y="3364992"/>
            <a:ext cx="5230368" cy="1874519"/>
          </a:xfrm>
          <a:prstGeom prst="roundRect">
            <a:avLst/>
          </a:prstGeom>
          <a:solidFill>
            <a:srgbClr val="1E3B5B"/>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55664" y="3639312"/>
            <a:ext cx="1005840" cy="21031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50" b="1" i="0">
                <a:solidFill>
                  <a:srgbClr val="009E73"/>
                </a:solidFill>
                <a:latin typeface="Arial"/>
              </a:rPr>
              <a:t>PART II</a:t>
            </a:r>
          </a:p>
        </p:txBody>
      </p:sp>
      <p:sp>
        <p:nvSpPr>
          <p:cNvPr id="11" name="TextBox 10"/>
          <p:cNvSpPr txBox="1"/>
          <p:nvPr/>
        </p:nvSpPr>
        <p:spPr>
          <a:xfrm>
            <a:off x="6455664" y="3941063"/>
            <a:ext cx="4389120" cy="3566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200" b="1" i="0">
                <a:solidFill>
                  <a:srgbClr val="FFFFFF"/>
                </a:solidFill>
                <a:latin typeface="Arial"/>
              </a:rPr>
              <a:t>Direct broad-cell KDA</a:t>
            </a:r>
          </a:p>
        </p:txBody>
      </p:sp>
      <p:sp>
        <p:nvSpPr>
          <p:cNvPr id="12" name="TextBox 11"/>
          <p:cNvSpPr txBox="1"/>
          <p:nvPr/>
        </p:nvSpPr>
        <p:spPr>
          <a:xfrm>
            <a:off x="6455664" y="4453128"/>
            <a:ext cx="4416552"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20" b="0" i="0">
                <a:solidFill>
                  <a:srgbClr val="D2E0EE"/>
                </a:solidFill>
                <a:latin typeface="Arial"/>
              </a:rPr>
              <a:t>3 completed runs → within-run BH → 12 direct candidate rows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Two branches answer related—but not identical—questions</a:t>
            </a:r>
          </a:p>
        </p:txBody>
      </p:sp>
      <p:sp>
        <p:nvSpPr>
          <p:cNvPr id="4" name="TextBox 3"/>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Both start with mitochondrial DEG queries; only the fine-cell branch combines evidence across runs.</a:t>
            </a:r>
          </a:p>
        </p:txBody>
      </p:sp>
      <p:sp>
        <p:nvSpPr>
          <p:cNvPr id="5" name="Rounded Rectangle 4"/>
          <p:cNvSpPr/>
          <p:nvPr/>
        </p:nvSpPr>
        <p:spPr>
          <a:xfrm>
            <a:off x="585216" y="1335024"/>
            <a:ext cx="5358384" cy="43251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627632"/>
            <a:ext cx="2926080" cy="2468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00" b="1" i="0">
                <a:solidFill>
                  <a:srgbClr val="0072B2"/>
                </a:solidFill>
                <a:latin typeface="Arial"/>
              </a:rPr>
              <a:t>FINE-CELL REAGGREGATION</a:t>
            </a:r>
          </a:p>
        </p:txBody>
      </p:sp>
      <p:sp>
        <p:nvSpPr>
          <p:cNvPr id="7" name="TextBox 6"/>
          <p:cNvSpPr txBox="1"/>
          <p:nvPr/>
        </p:nvSpPr>
        <p:spPr>
          <a:xfrm>
            <a:off x="868680" y="1938528"/>
            <a:ext cx="4526280" cy="5852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000" b="1" i="0">
                <a:solidFill>
                  <a:srgbClr val="0F233D"/>
                </a:solidFill>
                <a:latin typeface="Arial"/>
              </a:rPr>
              <a:t>Where does a gene recur across fine-cell evidence?</a:t>
            </a:r>
          </a:p>
        </p:txBody>
      </p:sp>
      <p:sp>
        <p:nvSpPr>
          <p:cNvPr id="8" name="Rounded Rectangle 7"/>
          <p:cNvSpPr/>
          <p:nvPr/>
        </p:nvSpPr>
        <p:spPr>
          <a:xfrm>
            <a:off x="868680" y="2697480"/>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14983" y="2788920"/>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648</a:t>
            </a:r>
          </a:p>
        </p:txBody>
      </p:sp>
      <p:sp>
        <p:nvSpPr>
          <p:cNvPr id="10" name="TextBox 9"/>
          <p:cNvSpPr txBox="1"/>
          <p:nvPr/>
        </p:nvSpPr>
        <p:spPr>
          <a:xfrm>
            <a:off x="1014983" y="3246120"/>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planned directional slots</a:t>
            </a:r>
          </a:p>
        </p:txBody>
      </p:sp>
      <p:sp>
        <p:nvSpPr>
          <p:cNvPr id="11" name="Rounded Rectangle 10"/>
          <p:cNvSpPr/>
          <p:nvPr/>
        </p:nvSpPr>
        <p:spPr>
          <a:xfrm>
            <a:off x="2450592" y="2697480"/>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596896" y="2788920"/>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295</a:t>
            </a:r>
          </a:p>
        </p:txBody>
      </p:sp>
      <p:sp>
        <p:nvSpPr>
          <p:cNvPr id="13" name="TextBox 12"/>
          <p:cNvSpPr txBox="1"/>
          <p:nvPr/>
        </p:nvSpPr>
        <p:spPr>
          <a:xfrm>
            <a:off x="2596896" y="3246120"/>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included KDA runs</a:t>
            </a:r>
          </a:p>
        </p:txBody>
      </p:sp>
      <p:sp>
        <p:nvSpPr>
          <p:cNvPr id="14" name="Rounded Rectangle 13"/>
          <p:cNvSpPr/>
          <p:nvPr/>
        </p:nvSpPr>
        <p:spPr>
          <a:xfrm>
            <a:off x="4032504" y="2697480"/>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78808" y="2788920"/>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74</a:t>
            </a:r>
          </a:p>
        </p:txBody>
      </p:sp>
      <p:sp>
        <p:nvSpPr>
          <p:cNvPr id="16" name="TextBox 15"/>
          <p:cNvSpPr txBox="1"/>
          <p:nvPr/>
        </p:nvSpPr>
        <p:spPr>
          <a:xfrm>
            <a:off x="4178808" y="3246120"/>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gene × category units</a:t>
            </a:r>
          </a:p>
        </p:txBody>
      </p:sp>
      <p:sp>
        <p:nvSpPr>
          <p:cNvPr id="17" name="Oval 16"/>
          <p:cNvSpPr/>
          <p:nvPr/>
        </p:nvSpPr>
        <p:spPr>
          <a:xfrm>
            <a:off x="877824" y="4133087"/>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51560" y="4005072"/>
            <a:ext cx="4361688" cy="43891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50" b="0" i="0">
                <a:solidFill>
                  <a:srgbClr val="1F2730"/>
                </a:solidFill>
                <a:latin typeface="Arial"/>
              </a:rPr>
              <a:t>Groups fine-cell runs within sex/APOE × broad network.</a:t>
            </a:r>
          </a:p>
        </p:txBody>
      </p:sp>
      <p:sp>
        <p:nvSpPr>
          <p:cNvPr id="19" name="Oval 18"/>
          <p:cNvSpPr/>
          <p:nvPr/>
        </p:nvSpPr>
        <p:spPr>
          <a:xfrm>
            <a:off x="877824" y="457199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51560" y="4443983"/>
            <a:ext cx="4361688" cy="43891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50" b="0" i="0">
                <a:solidFill>
                  <a:srgbClr val="1F2730"/>
                </a:solidFill>
                <a:latin typeface="Arial"/>
              </a:rPr>
              <a:t>Uses coverage, individual-run support, ACAT, then category BH.</a:t>
            </a:r>
          </a:p>
        </p:txBody>
      </p:sp>
      <p:sp>
        <p:nvSpPr>
          <p:cNvPr id="21" name="Oval 20"/>
          <p:cNvSpPr/>
          <p:nvPr/>
        </p:nvSpPr>
        <p:spPr>
          <a:xfrm>
            <a:off x="877824" y="501091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51560" y="4882896"/>
            <a:ext cx="4361688" cy="43891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50" b="0" i="0">
                <a:solidFill>
                  <a:srgbClr val="1F2730"/>
                </a:solidFill>
                <a:latin typeface="Arial"/>
              </a:rPr>
              <a:t>Final 74 units represent 37 distinct genes in 16 categories.</a:t>
            </a:r>
          </a:p>
        </p:txBody>
      </p:sp>
      <p:sp>
        <p:nvSpPr>
          <p:cNvPr id="23" name="Rounded Rectangle 22"/>
          <p:cNvSpPr/>
          <p:nvPr/>
        </p:nvSpPr>
        <p:spPr>
          <a:xfrm>
            <a:off x="6245352" y="1335024"/>
            <a:ext cx="5358384" cy="43251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528816" y="1627632"/>
            <a:ext cx="2926080" cy="2468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00" b="1" i="0">
                <a:solidFill>
                  <a:srgbClr val="009E73"/>
                </a:solidFill>
                <a:latin typeface="Arial"/>
              </a:rPr>
              <a:t>DIRECT BROAD-CELL KDA</a:t>
            </a:r>
          </a:p>
        </p:txBody>
      </p:sp>
      <p:sp>
        <p:nvSpPr>
          <p:cNvPr id="25" name="TextBox 24"/>
          <p:cNvSpPr txBox="1"/>
          <p:nvPr/>
        </p:nvSpPr>
        <p:spPr>
          <a:xfrm>
            <a:off x="6528816" y="1938528"/>
            <a:ext cx="4526280" cy="5852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000" b="1" i="0">
                <a:solidFill>
                  <a:srgbClr val="0F233D"/>
                </a:solidFill>
                <a:latin typeface="Arial"/>
              </a:rPr>
              <a:t>Which genes pass within one broad-cell direction?</a:t>
            </a:r>
          </a:p>
        </p:txBody>
      </p:sp>
      <p:sp>
        <p:nvSpPr>
          <p:cNvPr id="26" name="Rounded Rectangle 25"/>
          <p:cNvSpPr/>
          <p:nvPr/>
        </p:nvSpPr>
        <p:spPr>
          <a:xfrm>
            <a:off x="6528816" y="2697480"/>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675120" y="2788920"/>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684D"/>
                </a:solidFill>
                <a:latin typeface="Arial"/>
              </a:rPr>
              <a:t>84</a:t>
            </a:r>
          </a:p>
        </p:txBody>
      </p:sp>
      <p:sp>
        <p:nvSpPr>
          <p:cNvPr id="28" name="TextBox 27"/>
          <p:cNvSpPr txBox="1"/>
          <p:nvPr/>
        </p:nvSpPr>
        <p:spPr>
          <a:xfrm>
            <a:off x="6675120" y="3246120"/>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planned directional slots</a:t>
            </a:r>
          </a:p>
        </p:txBody>
      </p:sp>
      <p:sp>
        <p:nvSpPr>
          <p:cNvPr id="29" name="Rounded Rectangle 28"/>
          <p:cNvSpPr/>
          <p:nvPr/>
        </p:nvSpPr>
        <p:spPr>
          <a:xfrm>
            <a:off x="8110727" y="2697480"/>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257031" y="2788920"/>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684D"/>
                </a:solidFill>
                <a:latin typeface="Arial"/>
              </a:rPr>
              <a:t>3</a:t>
            </a:r>
          </a:p>
        </p:txBody>
      </p:sp>
      <p:sp>
        <p:nvSpPr>
          <p:cNvPr id="31" name="TextBox 30"/>
          <p:cNvSpPr txBox="1"/>
          <p:nvPr/>
        </p:nvSpPr>
        <p:spPr>
          <a:xfrm>
            <a:off x="8257031" y="3246120"/>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completed KDA runs</a:t>
            </a:r>
          </a:p>
        </p:txBody>
      </p:sp>
      <p:sp>
        <p:nvSpPr>
          <p:cNvPr id="32" name="Rounded Rectangle 31"/>
          <p:cNvSpPr/>
          <p:nvPr/>
        </p:nvSpPr>
        <p:spPr>
          <a:xfrm>
            <a:off x="9692640" y="2697480"/>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838944" y="2788920"/>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684D"/>
                </a:solidFill>
                <a:latin typeface="Arial"/>
              </a:rPr>
              <a:t>12</a:t>
            </a:r>
          </a:p>
        </p:txBody>
      </p:sp>
      <p:sp>
        <p:nvSpPr>
          <p:cNvPr id="34" name="TextBox 33"/>
          <p:cNvSpPr txBox="1"/>
          <p:nvPr/>
        </p:nvSpPr>
        <p:spPr>
          <a:xfrm>
            <a:off x="9838944" y="3246120"/>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direct candidate rows</a:t>
            </a:r>
          </a:p>
        </p:txBody>
      </p:sp>
      <p:sp>
        <p:nvSpPr>
          <p:cNvPr id="35" name="Oval 34"/>
          <p:cNvSpPr/>
          <p:nvPr/>
        </p:nvSpPr>
        <p:spPr>
          <a:xfrm>
            <a:off x="6537960" y="41330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711696" y="4005072"/>
            <a:ext cx="4361688" cy="43891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50" b="0" i="0">
                <a:solidFill>
                  <a:srgbClr val="1F2730"/>
                </a:solidFill>
                <a:latin typeface="Arial"/>
              </a:rPr>
              <a:t>Keeps broad-cell × group × direction results separate.</a:t>
            </a:r>
          </a:p>
        </p:txBody>
      </p:sp>
      <p:sp>
        <p:nvSpPr>
          <p:cNvPr id="37" name="Oval 36"/>
          <p:cNvSpPr/>
          <p:nvPr/>
        </p:nvSpPr>
        <p:spPr>
          <a:xfrm>
            <a:off x="6537960" y="4571999"/>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711696" y="4443983"/>
            <a:ext cx="4361688" cy="43891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50" b="0" i="0">
                <a:solidFill>
                  <a:srgbClr val="1F2730"/>
                </a:solidFill>
                <a:latin typeface="Arial"/>
              </a:rPr>
              <a:t>Uses complete explicit tests and within-run non-core-MT BH.</a:t>
            </a:r>
          </a:p>
        </p:txBody>
      </p:sp>
      <p:sp>
        <p:nvSpPr>
          <p:cNvPr id="39" name="Oval 38"/>
          <p:cNvSpPr/>
          <p:nvPr/>
        </p:nvSpPr>
        <p:spPr>
          <a:xfrm>
            <a:off x="6537960" y="5010912"/>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711696" y="4882896"/>
            <a:ext cx="4361688" cy="43891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50" b="0" i="0">
                <a:solidFill>
                  <a:srgbClr val="1F2730"/>
                </a:solidFill>
                <a:latin typeface="Arial"/>
              </a:rPr>
              <a:t>No coverage, ACAT, recurrence gate, or combined up/down q.</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p:cNvSpPr txBox="1"/>
          <p:nvPr/>
        </p:nvSpPr>
        <p:spPr>
          <a:xfrm>
            <a:off x="713232" y="612648"/>
            <a:ext cx="2194560"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50" b="1" i="0">
                <a:solidFill>
                  <a:srgbClr val="0072B2"/>
                </a:solidFill>
                <a:latin typeface="Arial"/>
              </a:rPr>
              <a:t>PART 1</a:t>
            </a:r>
          </a:p>
        </p:txBody>
      </p:sp>
      <p:sp>
        <p:nvSpPr>
          <p:cNvPr id="3" name="Rectangle 2"/>
          <p:cNvSpPr/>
          <p:nvPr/>
        </p:nvSpPr>
        <p:spPr>
          <a:xfrm>
            <a:off x="713232" y="1152144"/>
            <a:ext cx="91440" cy="2176272"/>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78992" y="1243584"/>
            <a:ext cx="7909560" cy="122529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3200" b="1" i="0">
                <a:solidFill>
                  <a:srgbClr val="FFFFFF"/>
                </a:solidFill>
                <a:latin typeface="Arial"/>
              </a:rPr>
              <a:t>Fine-cell sex/APOE KDA reaggregation</a:t>
            </a:r>
          </a:p>
        </p:txBody>
      </p:sp>
      <p:sp>
        <p:nvSpPr>
          <p:cNvPr id="5" name="TextBox 4"/>
          <p:cNvSpPr txBox="1"/>
          <p:nvPr/>
        </p:nvSpPr>
        <p:spPr>
          <a:xfrm>
            <a:off x="1097280" y="2743200"/>
            <a:ext cx="7589520" cy="76809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00" b="0" i="0">
                <a:solidFill>
                  <a:srgbClr val="CCDBEA"/>
                </a:solidFill>
                <a:latin typeface="Arial"/>
              </a:rPr>
              <a:t>54 fine cell types define the planned universe; 295 included runs from 41 fine types are aggregated within six groups and seven broad networks.</a:t>
            </a:r>
          </a:p>
        </p:txBody>
      </p:sp>
      <p:sp>
        <p:nvSpPr>
          <p:cNvPr id="6" name="Rounded Rectangle 5"/>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40" b="1" i="0">
                <a:solidFill>
                  <a:srgbClr val="0072B2"/>
                </a:solidFill>
                <a:latin typeface="Arial"/>
              </a:rPr>
              <a:t>IN THIS PART</a:t>
            </a:r>
          </a:p>
        </p:txBody>
      </p:sp>
      <p:sp>
        <p:nvSpPr>
          <p:cNvPr id="8" name="Oval 7"/>
          <p:cNvSpPr/>
          <p:nvPr/>
        </p:nvSpPr>
        <p:spPr>
          <a:xfrm>
            <a:off x="9198864" y="2039112"/>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0F233D"/>
                </a:solidFill>
                <a:latin typeface="Arial"/>
              </a:rPr>
              <a:t>1</a:t>
            </a:r>
          </a:p>
        </p:txBody>
      </p:sp>
      <p:sp>
        <p:nvSpPr>
          <p:cNvPr id="10" name="TextBox 9"/>
          <p:cNvSpPr txBox="1"/>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1" i="0">
                <a:solidFill>
                  <a:srgbClr val="FFFFFF"/>
                </a:solidFill>
                <a:latin typeface="Arial"/>
              </a:rPr>
              <a:t>Run universe</a:t>
            </a:r>
          </a:p>
        </p:txBody>
      </p:sp>
      <p:sp>
        <p:nvSpPr>
          <p:cNvPr id="11" name="Oval 10"/>
          <p:cNvSpPr/>
          <p:nvPr/>
        </p:nvSpPr>
        <p:spPr>
          <a:xfrm>
            <a:off x="9198864" y="2788920"/>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0F233D"/>
                </a:solidFill>
                <a:latin typeface="Arial"/>
              </a:rPr>
              <a:t>2</a:t>
            </a:r>
          </a:p>
        </p:txBody>
      </p:sp>
      <p:sp>
        <p:nvSpPr>
          <p:cNvPr id="13" name="TextBox 12"/>
          <p:cNvSpPr txBox="1"/>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1" i="0">
                <a:solidFill>
                  <a:srgbClr val="FFFFFF"/>
                </a:solidFill>
                <a:latin typeface="Arial"/>
              </a:rPr>
              <a:t>Filter funnel</a:t>
            </a:r>
          </a:p>
        </p:txBody>
      </p:sp>
      <p:sp>
        <p:nvSpPr>
          <p:cNvPr id="14" name="Oval 13"/>
          <p:cNvSpPr/>
          <p:nvPr/>
        </p:nvSpPr>
        <p:spPr>
          <a:xfrm>
            <a:off x="9198864" y="3538727"/>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0F233D"/>
                </a:solidFill>
                <a:latin typeface="Arial"/>
              </a:rPr>
              <a:t>3</a:t>
            </a:r>
          </a:p>
        </p:txBody>
      </p:sp>
      <p:sp>
        <p:nvSpPr>
          <p:cNvPr id="16" name="TextBox 15"/>
          <p:cNvSpPr txBox="1"/>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1" i="0">
                <a:solidFill>
                  <a:srgbClr val="FFFFFF"/>
                </a:solidFill>
                <a:latin typeface="Arial"/>
              </a:rPr>
              <a:t>ACAT candidates</a:t>
            </a:r>
          </a:p>
        </p:txBody>
      </p:sp>
      <p:sp>
        <p:nvSpPr>
          <p:cNvPr id="17" name="Oval 16"/>
          <p:cNvSpPr/>
          <p:nvPr/>
        </p:nvSpPr>
        <p:spPr>
          <a:xfrm>
            <a:off x="9198864" y="4288536"/>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0F233D"/>
                </a:solidFill>
                <a:latin typeface="Arial"/>
              </a:rPr>
              <a:t>4</a:t>
            </a:r>
          </a:p>
        </p:txBody>
      </p:sp>
      <p:sp>
        <p:nvSpPr>
          <p:cNvPr id="19" name="TextBox 18"/>
          <p:cNvSpPr txBox="1"/>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1" i="0">
                <a:solidFill>
                  <a:srgbClr val="FFFFFF"/>
                </a:solidFill>
                <a:latin typeface="Arial"/>
              </a:rPr>
              <a:t>Result figures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p:cNvSpPr txBox="1"/>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dirty="0">
                <a:solidFill>
                  <a:srgbClr val="0F233D"/>
                </a:solidFill>
                <a:latin typeface="Arial"/>
              </a:rPr>
              <a:t>Four </a:t>
            </a:r>
            <a:r>
              <a:rPr lang="en-US" sz="2450" b="1" i="0" dirty="0">
                <a:solidFill>
                  <a:srgbClr val="0F233D"/>
                </a:solidFill>
                <a:latin typeface="Arial"/>
              </a:rPr>
              <a:t>steps</a:t>
            </a:r>
            <a:endParaRPr sz="2450" b="1" i="0" dirty="0">
              <a:solidFill>
                <a:srgbClr val="0F233D"/>
              </a:solidFill>
              <a:latin typeface="Arial"/>
            </a:endParaRPr>
          </a:p>
        </p:txBody>
      </p:sp>
      <p:sp>
        <p:nvSpPr>
          <p:cNvPr id="5" name="Rounded Rectangle 4"/>
          <p:cNvSpPr/>
          <p:nvPr/>
        </p:nvSpPr>
        <p:spPr>
          <a:xfrm>
            <a:off x="603504" y="1371600"/>
            <a:ext cx="2587752" cy="423367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0467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467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1" i="0">
                <a:solidFill>
                  <a:srgbClr val="FFFFFF"/>
                </a:solidFill>
                <a:latin typeface="Arial"/>
              </a:rPr>
              <a:t>1</a:t>
            </a:r>
          </a:p>
        </p:txBody>
      </p:sp>
      <p:sp>
        <p:nvSpPr>
          <p:cNvPr id="8" name="TextBox 7"/>
          <p:cNvSpPr txBox="1"/>
          <p:nvPr/>
        </p:nvSpPr>
        <p:spPr>
          <a:xfrm>
            <a:off x="80467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900" b="1" i="0">
                <a:solidFill>
                  <a:srgbClr val="0F233D"/>
                </a:solidFill>
                <a:latin typeface="Arial"/>
              </a:rPr>
              <a:t>DEG comparison</a:t>
            </a:r>
          </a:p>
        </p:txBody>
      </p:sp>
      <p:sp>
        <p:nvSpPr>
          <p:cNvPr id="9" name="TextBox 8"/>
          <p:cNvSpPr txBox="1"/>
          <p:nvPr/>
        </p:nvSpPr>
        <p:spPr>
          <a:xfrm>
            <a:off x="80467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300" b="1" i="0">
                <a:solidFill>
                  <a:srgbClr val="0072B2"/>
                </a:solidFill>
                <a:latin typeface="Arial"/>
              </a:rPr>
              <a:t>fine cell type × sex/APOE</a:t>
            </a:r>
          </a:p>
        </p:txBody>
      </p:sp>
      <p:sp>
        <p:nvSpPr>
          <p:cNvPr id="10" name="Rounded Rectangle 9"/>
          <p:cNvSpPr/>
          <p:nvPr/>
        </p:nvSpPr>
        <p:spPr>
          <a:xfrm>
            <a:off x="78638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32688" y="4087368"/>
            <a:ext cx="1901952" cy="6126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130" b="0" i="0">
                <a:solidFill>
                  <a:srgbClr val="4E5A68"/>
                </a:solidFill>
                <a:latin typeface="Arial"/>
              </a:rPr>
              <a:t>One signed AD-versus-NCI result</a:t>
            </a:r>
          </a:p>
        </p:txBody>
      </p:sp>
      <p:sp>
        <p:nvSpPr>
          <p:cNvPr id="12" name="Rounded Rectangle 11"/>
          <p:cNvSpPr/>
          <p:nvPr/>
        </p:nvSpPr>
        <p:spPr>
          <a:xfrm>
            <a:off x="3438144" y="1371600"/>
            <a:ext cx="2587752" cy="423367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363931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3931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1" i="0">
                <a:solidFill>
                  <a:srgbClr val="FFFFFF"/>
                </a:solidFill>
                <a:latin typeface="Arial"/>
              </a:rPr>
              <a:t>2</a:t>
            </a:r>
          </a:p>
        </p:txBody>
      </p:sp>
      <p:sp>
        <p:nvSpPr>
          <p:cNvPr id="15" name="TextBox 14"/>
          <p:cNvSpPr txBox="1"/>
          <p:nvPr/>
        </p:nvSpPr>
        <p:spPr>
          <a:xfrm>
            <a:off x="363931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900" b="1" i="0">
                <a:solidFill>
                  <a:srgbClr val="0F233D"/>
                </a:solidFill>
                <a:latin typeface="Arial"/>
              </a:rPr>
              <a:t>Directional slot</a:t>
            </a:r>
          </a:p>
        </p:txBody>
      </p:sp>
      <p:sp>
        <p:nvSpPr>
          <p:cNvPr id="16" name="TextBox 15"/>
          <p:cNvSpPr txBox="1"/>
          <p:nvPr/>
        </p:nvSpPr>
        <p:spPr>
          <a:xfrm>
            <a:off x="363931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300" b="1" i="0">
                <a:solidFill>
                  <a:srgbClr val="0072B2"/>
                </a:solidFill>
                <a:latin typeface="Arial"/>
              </a:rPr>
              <a:t>+ AD-up or AD-down</a:t>
            </a:r>
          </a:p>
        </p:txBody>
      </p:sp>
      <p:sp>
        <p:nvSpPr>
          <p:cNvPr id="17" name="Rounded Rectangle 16"/>
          <p:cNvSpPr/>
          <p:nvPr/>
        </p:nvSpPr>
        <p:spPr>
          <a:xfrm>
            <a:off x="362102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767328" y="4087368"/>
            <a:ext cx="1901952" cy="6126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130" b="0" i="0">
                <a:solidFill>
                  <a:srgbClr val="4E5A68"/>
                </a:solidFill>
                <a:latin typeface="Arial"/>
              </a:rPr>
              <a:t>A planned query opportunity</a:t>
            </a:r>
          </a:p>
        </p:txBody>
      </p:sp>
      <p:sp>
        <p:nvSpPr>
          <p:cNvPr id="19" name="Rounded Rectangle 18"/>
          <p:cNvSpPr/>
          <p:nvPr/>
        </p:nvSpPr>
        <p:spPr>
          <a:xfrm>
            <a:off x="6272784" y="1371600"/>
            <a:ext cx="2587752" cy="4233672"/>
          </a:xfrm>
          <a:prstGeom prst="roundRect">
            <a:avLst/>
          </a:prstGeom>
          <a:solidFill>
            <a:srgbClr val="E4F4EE"/>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647395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7395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1" i="0">
                <a:solidFill>
                  <a:srgbClr val="FFFFFF"/>
                </a:solidFill>
                <a:latin typeface="Arial"/>
              </a:rPr>
              <a:t>3</a:t>
            </a:r>
          </a:p>
        </p:txBody>
      </p:sp>
      <p:sp>
        <p:nvSpPr>
          <p:cNvPr id="22" name="TextBox 21"/>
          <p:cNvSpPr txBox="1"/>
          <p:nvPr/>
        </p:nvSpPr>
        <p:spPr>
          <a:xfrm>
            <a:off x="647395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900" b="1" i="0">
                <a:solidFill>
                  <a:srgbClr val="0F233D"/>
                </a:solidFill>
                <a:latin typeface="Arial"/>
              </a:rPr>
              <a:t>KDA run</a:t>
            </a:r>
          </a:p>
        </p:txBody>
      </p:sp>
      <p:sp>
        <p:nvSpPr>
          <p:cNvPr id="23" name="TextBox 22"/>
          <p:cNvSpPr txBox="1"/>
          <p:nvPr/>
        </p:nvSpPr>
        <p:spPr>
          <a:xfrm>
            <a:off x="647395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300" b="1" i="0">
                <a:solidFill>
                  <a:srgbClr val="0072B2"/>
                </a:solidFill>
                <a:latin typeface="Arial"/>
              </a:rPr>
              <a:t>validated completed call</a:t>
            </a:r>
          </a:p>
        </p:txBody>
      </p:sp>
      <p:sp>
        <p:nvSpPr>
          <p:cNvPr id="24" name="Rounded Rectangle 23"/>
          <p:cNvSpPr/>
          <p:nvPr/>
        </p:nvSpPr>
        <p:spPr>
          <a:xfrm>
            <a:off x="645566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60196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lang="en-US" sz="1130" b="0" i="0" dirty="0">
                <a:solidFill>
                  <a:srgbClr val="4E5A68"/>
                </a:solidFill>
                <a:latin typeface="Arial"/>
              </a:rPr>
              <a:t>DEG contrast valid and</a:t>
            </a:r>
          </a:p>
          <a:p>
            <a:pPr algn="ctr">
              <a:lnSpc>
                <a:spcPct val="100000"/>
              </a:lnSpc>
              <a:spcBef>
                <a:spcPts val="0"/>
              </a:spcBef>
              <a:spcAft>
                <a:spcPts val="0"/>
              </a:spcAft>
            </a:pPr>
            <a:r>
              <a:rPr sz="1130" b="0" i="0" dirty="0">
                <a:solidFill>
                  <a:srgbClr val="4E5A68"/>
                </a:solidFill>
                <a:latin typeface="Arial"/>
              </a:rPr>
              <a:t>Effective query n ≥ 3</a:t>
            </a:r>
          </a:p>
        </p:txBody>
      </p:sp>
      <p:sp>
        <p:nvSpPr>
          <p:cNvPr id="26" name="Rounded Rectangle 25"/>
          <p:cNvSpPr/>
          <p:nvPr/>
        </p:nvSpPr>
        <p:spPr>
          <a:xfrm>
            <a:off x="9107424" y="1371600"/>
            <a:ext cx="2587752" cy="423367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9308592" y="1627632"/>
            <a:ext cx="438912" cy="438912"/>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30859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1" i="0">
                <a:solidFill>
                  <a:srgbClr val="FFFFFF"/>
                </a:solidFill>
                <a:latin typeface="Arial"/>
              </a:rPr>
              <a:t>4</a:t>
            </a:r>
          </a:p>
        </p:txBody>
      </p:sp>
      <p:sp>
        <p:nvSpPr>
          <p:cNvPr id="29" name="TextBox 28"/>
          <p:cNvSpPr txBox="1"/>
          <p:nvPr/>
        </p:nvSpPr>
        <p:spPr>
          <a:xfrm>
            <a:off x="930859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900" b="1" i="0">
                <a:solidFill>
                  <a:srgbClr val="0F233D"/>
                </a:solidFill>
                <a:latin typeface="Arial"/>
              </a:rPr>
              <a:t>Candidate unit</a:t>
            </a:r>
          </a:p>
        </p:txBody>
      </p:sp>
      <p:sp>
        <p:nvSpPr>
          <p:cNvPr id="30" name="TextBox 29"/>
          <p:cNvSpPr txBox="1"/>
          <p:nvPr/>
        </p:nvSpPr>
        <p:spPr>
          <a:xfrm>
            <a:off x="930859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300" b="1" i="0">
                <a:solidFill>
                  <a:srgbClr val="E69F00"/>
                </a:solidFill>
                <a:latin typeface="Arial"/>
              </a:rPr>
              <a:t>gene × group × broad network</a:t>
            </a:r>
          </a:p>
        </p:txBody>
      </p:sp>
      <p:sp>
        <p:nvSpPr>
          <p:cNvPr id="31" name="Rounded Rectangle 30"/>
          <p:cNvSpPr/>
          <p:nvPr/>
        </p:nvSpPr>
        <p:spPr>
          <a:xfrm>
            <a:off x="929030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436608" y="4087368"/>
            <a:ext cx="1901952" cy="6126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130" b="0" i="0">
                <a:solidFill>
                  <a:srgbClr val="4E5A68"/>
                </a:solidFill>
                <a:latin typeface="Arial"/>
              </a:rPr>
              <a:t>One or more fine runs; either or both directions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54 fine cell types create 648 planned directional slots</a:t>
            </a:r>
          </a:p>
        </p:txBody>
      </p:sp>
      <p:sp>
        <p:nvSpPr>
          <p:cNvPr id="4" name="TextBox 3"/>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Up and down are two query directions from one signed DEG comparison—not two model fits.</a:t>
            </a:r>
          </a:p>
        </p:txBody>
      </p:sp>
      <p:sp>
        <p:nvSpPr>
          <p:cNvPr id="5" name="Rounded Rectangle 4"/>
          <p:cNvSpPr/>
          <p:nvPr/>
        </p:nvSpPr>
        <p:spPr>
          <a:xfrm>
            <a:off x="621792" y="1344168"/>
            <a:ext cx="3346704" cy="1207008"/>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8" y="1591056"/>
            <a:ext cx="2907792" cy="28346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900" b="1" i="0">
                <a:solidFill>
                  <a:srgbClr val="0F233D"/>
                </a:solidFill>
                <a:latin typeface="Arial"/>
              </a:rPr>
              <a:t>54 fine cell types</a:t>
            </a:r>
          </a:p>
        </p:txBody>
      </p:sp>
      <p:sp>
        <p:nvSpPr>
          <p:cNvPr id="7" name="TextBox 6"/>
          <p:cNvSpPr txBox="1"/>
          <p:nvPr/>
        </p:nvSpPr>
        <p:spPr>
          <a:xfrm>
            <a:off x="841248" y="1993392"/>
            <a:ext cx="2907792" cy="246221"/>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240" b="1" i="0" dirty="0">
                <a:solidFill>
                  <a:srgbClr val="0072B2"/>
                </a:solidFill>
                <a:latin typeface="Arial"/>
              </a:rPr>
              <a:t>× 6 sex/APOE groups = 324 </a:t>
            </a:r>
            <a:r>
              <a:rPr lang="en-US" sz="1240" b="1" i="0" dirty="0">
                <a:solidFill>
                  <a:srgbClr val="0072B2"/>
                </a:solidFill>
                <a:latin typeface="Arial"/>
              </a:rPr>
              <a:t>contrasts</a:t>
            </a:r>
            <a:endParaRPr sz="1240" b="1" i="0" dirty="0">
              <a:solidFill>
                <a:srgbClr val="0072B2"/>
              </a:solidFill>
              <a:latin typeface="Arial"/>
            </a:endParaRPr>
          </a:p>
        </p:txBody>
      </p:sp>
      <p:sp>
        <p:nvSpPr>
          <p:cNvPr id="8" name="Rounded Rectangle 7"/>
          <p:cNvSpPr/>
          <p:nvPr/>
        </p:nvSpPr>
        <p:spPr>
          <a:xfrm>
            <a:off x="4315968" y="1344168"/>
            <a:ext cx="3529584" cy="1207008"/>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35424" y="1591056"/>
            <a:ext cx="3090672" cy="28346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900" b="1" i="0">
                <a:solidFill>
                  <a:srgbClr val="0F233D"/>
                </a:solidFill>
                <a:latin typeface="Arial"/>
              </a:rPr>
              <a:t>324 signed results</a:t>
            </a:r>
          </a:p>
        </p:txBody>
      </p:sp>
      <p:sp>
        <p:nvSpPr>
          <p:cNvPr id="10" name="TextBox 9"/>
          <p:cNvSpPr txBox="1"/>
          <p:nvPr/>
        </p:nvSpPr>
        <p:spPr>
          <a:xfrm>
            <a:off x="4535424" y="1993392"/>
            <a:ext cx="3090672" cy="27432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240" b="1" i="0">
                <a:solidFill>
                  <a:srgbClr val="0072B2"/>
                </a:solidFill>
                <a:latin typeface="Arial"/>
              </a:rPr>
              <a:t>× up/down = 648 directional slots</a:t>
            </a:r>
          </a:p>
        </p:txBody>
      </p:sp>
      <p:sp>
        <p:nvSpPr>
          <p:cNvPr id="11" name="Rounded Rectangle 10"/>
          <p:cNvSpPr/>
          <p:nvPr/>
        </p:nvSpPr>
        <p:spPr>
          <a:xfrm>
            <a:off x="8193024" y="1344168"/>
            <a:ext cx="3364992" cy="120700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12480" y="1591056"/>
            <a:ext cx="2926080" cy="347788"/>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900" b="1" i="0" dirty="0">
                <a:solidFill>
                  <a:srgbClr val="0F233D"/>
                </a:solidFill>
                <a:latin typeface="Arial"/>
              </a:rPr>
              <a:t>295 </a:t>
            </a:r>
            <a:r>
              <a:rPr lang="en-US" sz="1900" b="1" dirty="0" err="1">
                <a:solidFill>
                  <a:srgbClr val="0F233D"/>
                </a:solidFill>
                <a:latin typeface="Arial"/>
              </a:rPr>
              <a:t>call_key_driver</a:t>
            </a:r>
            <a:r>
              <a:rPr sz="1900" b="1" i="0" dirty="0">
                <a:solidFill>
                  <a:srgbClr val="0F233D"/>
                </a:solidFill>
                <a:latin typeface="Arial"/>
              </a:rPr>
              <a:t> calls</a:t>
            </a:r>
          </a:p>
        </p:txBody>
      </p:sp>
      <p:sp>
        <p:nvSpPr>
          <p:cNvPr id="13" name="TextBox 12"/>
          <p:cNvSpPr txBox="1"/>
          <p:nvPr/>
        </p:nvSpPr>
        <p:spPr>
          <a:xfrm>
            <a:off x="8412480" y="1993392"/>
            <a:ext cx="2926080" cy="21544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040" b="1" i="0" dirty="0">
                <a:solidFill>
                  <a:srgbClr val="009E73"/>
                </a:solidFill>
                <a:latin typeface="Arial"/>
              </a:rPr>
              <a:t>All valid</a:t>
            </a:r>
            <a:r>
              <a:rPr lang="en-US" sz="1040" b="1" i="0" dirty="0">
                <a:solidFill>
                  <a:srgbClr val="009E73"/>
                </a:solidFill>
                <a:latin typeface="Arial"/>
              </a:rPr>
              <a:t> source and</a:t>
            </a:r>
            <a:r>
              <a:rPr sz="1040" b="1" i="0" dirty="0">
                <a:solidFill>
                  <a:srgbClr val="009E73"/>
                </a:solidFill>
                <a:latin typeface="Arial"/>
              </a:rPr>
              <a:t> queries ≥3</a:t>
            </a:r>
          </a:p>
        </p:txBody>
      </p:sp>
      <p:sp>
        <p:nvSpPr>
          <p:cNvPr id="14" name="Rectangle 13"/>
          <p:cNvSpPr/>
          <p:nvPr/>
        </p:nvSpPr>
        <p:spPr>
          <a:xfrm>
            <a:off x="1840696" y="2898648"/>
            <a:ext cx="5623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895560" y="2953512"/>
            <a:ext cx="5513832" cy="33832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0" b="1" i="0">
                <a:solidFill>
                  <a:srgbClr val="FFFFFF"/>
                </a:solidFill>
                <a:latin typeface="Arial"/>
              </a:rPr>
              <a:t>Mutually exclusive slot outcome</a:t>
            </a:r>
          </a:p>
        </p:txBody>
      </p:sp>
      <p:sp>
        <p:nvSpPr>
          <p:cNvPr id="16" name="Rectangle 15"/>
          <p:cNvSpPr/>
          <p:nvPr/>
        </p:nvSpPr>
        <p:spPr>
          <a:xfrm>
            <a:off x="7464256" y="2898648"/>
            <a:ext cx="109728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519120" y="2953512"/>
            <a:ext cx="987552" cy="33832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0" b="1" i="0">
                <a:solidFill>
                  <a:srgbClr val="FFFFFF"/>
                </a:solidFill>
                <a:latin typeface="Arial"/>
              </a:rPr>
              <a:t>Slots</a:t>
            </a:r>
          </a:p>
        </p:txBody>
      </p:sp>
      <p:sp>
        <p:nvSpPr>
          <p:cNvPr id="18" name="Rectangle 17"/>
          <p:cNvSpPr/>
          <p:nvPr/>
        </p:nvSpPr>
        <p:spPr>
          <a:xfrm>
            <a:off x="8561536" y="2898648"/>
            <a:ext cx="1874519"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616400" y="2953512"/>
            <a:ext cx="1764791" cy="33832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0" b="1" i="0">
                <a:solidFill>
                  <a:srgbClr val="FFFFFF"/>
                </a:solidFill>
                <a:latin typeface="Arial"/>
              </a:rPr>
              <a:t>KDA called?</a:t>
            </a:r>
          </a:p>
        </p:txBody>
      </p:sp>
      <p:sp>
        <p:nvSpPr>
          <p:cNvPr id="22" name="Rectangle 21"/>
          <p:cNvSpPr/>
          <p:nvPr/>
        </p:nvSpPr>
        <p:spPr>
          <a:xfrm>
            <a:off x="1840696" y="3328415"/>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895560" y="3374135"/>
            <a:ext cx="5513832"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a:solidFill>
                  <a:srgbClr val="1F2730"/>
                </a:solidFill>
                <a:latin typeface="Arial"/>
              </a:rPr>
              <a:t>Source DEG contrast not validated</a:t>
            </a:r>
          </a:p>
        </p:txBody>
      </p:sp>
      <p:sp>
        <p:nvSpPr>
          <p:cNvPr id="24" name="Rectangle 23"/>
          <p:cNvSpPr/>
          <p:nvPr/>
        </p:nvSpPr>
        <p:spPr>
          <a:xfrm>
            <a:off x="7464256" y="3328415"/>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519120" y="3374135"/>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a:solidFill>
                  <a:srgbClr val="1F2730"/>
                </a:solidFill>
                <a:latin typeface="Arial"/>
              </a:rPr>
              <a:t>6</a:t>
            </a:r>
          </a:p>
        </p:txBody>
      </p:sp>
      <p:sp>
        <p:nvSpPr>
          <p:cNvPr id="26" name="Rectangle 25"/>
          <p:cNvSpPr/>
          <p:nvPr/>
        </p:nvSpPr>
        <p:spPr>
          <a:xfrm>
            <a:off x="8561536" y="3328415"/>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616400" y="3374135"/>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a:solidFill>
                  <a:srgbClr val="1F2730"/>
                </a:solidFill>
                <a:latin typeface="Arial"/>
              </a:rPr>
              <a:t>No</a:t>
            </a:r>
          </a:p>
        </p:txBody>
      </p:sp>
      <p:sp>
        <p:nvSpPr>
          <p:cNvPr id="30" name="Rectangle 29"/>
          <p:cNvSpPr/>
          <p:nvPr/>
        </p:nvSpPr>
        <p:spPr>
          <a:xfrm>
            <a:off x="1840696" y="3776472"/>
            <a:ext cx="562356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895560" y="3822191"/>
            <a:ext cx="5513832"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a:solidFill>
                  <a:srgbClr val="1F2730"/>
                </a:solidFill>
                <a:latin typeface="Arial"/>
              </a:rPr>
              <a:t>Validated source; effective query = 0</a:t>
            </a:r>
          </a:p>
        </p:txBody>
      </p:sp>
      <p:sp>
        <p:nvSpPr>
          <p:cNvPr id="32" name="Rectangle 31"/>
          <p:cNvSpPr/>
          <p:nvPr/>
        </p:nvSpPr>
        <p:spPr>
          <a:xfrm>
            <a:off x="7464256" y="3776472"/>
            <a:ext cx="109728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519120" y="3822191"/>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a:solidFill>
                  <a:srgbClr val="1F2730"/>
                </a:solidFill>
                <a:latin typeface="Arial"/>
              </a:rPr>
              <a:t>246</a:t>
            </a:r>
          </a:p>
        </p:txBody>
      </p:sp>
      <p:sp>
        <p:nvSpPr>
          <p:cNvPr id="34" name="Rectangle 33"/>
          <p:cNvSpPr/>
          <p:nvPr/>
        </p:nvSpPr>
        <p:spPr>
          <a:xfrm>
            <a:off x="8561536" y="3776472"/>
            <a:ext cx="1874519"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616400" y="3822191"/>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a:solidFill>
                  <a:srgbClr val="1F2730"/>
                </a:solidFill>
                <a:latin typeface="Arial"/>
              </a:rPr>
              <a:t>No</a:t>
            </a:r>
          </a:p>
        </p:txBody>
      </p:sp>
      <p:sp>
        <p:nvSpPr>
          <p:cNvPr id="38" name="Rectangle 37"/>
          <p:cNvSpPr/>
          <p:nvPr/>
        </p:nvSpPr>
        <p:spPr>
          <a:xfrm>
            <a:off x="1840696" y="4224527"/>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895560" y="4270247"/>
            <a:ext cx="5513832"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a:solidFill>
                  <a:srgbClr val="1F2730"/>
                </a:solidFill>
                <a:latin typeface="Arial"/>
              </a:rPr>
              <a:t>Effective query 1–2</a:t>
            </a:r>
          </a:p>
        </p:txBody>
      </p:sp>
      <p:sp>
        <p:nvSpPr>
          <p:cNvPr id="40" name="Rectangle 39"/>
          <p:cNvSpPr/>
          <p:nvPr/>
        </p:nvSpPr>
        <p:spPr>
          <a:xfrm>
            <a:off x="7464256" y="4224527"/>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519120" y="4270247"/>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a:solidFill>
                  <a:srgbClr val="1F2730"/>
                </a:solidFill>
                <a:latin typeface="Arial"/>
              </a:rPr>
              <a:t>101</a:t>
            </a:r>
          </a:p>
        </p:txBody>
      </p:sp>
      <p:sp>
        <p:nvSpPr>
          <p:cNvPr id="42" name="Rectangle 41"/>
          <p:cNvSpPr/>
          <p:nvPr/>
        </p:nvSpPr>
        <p:spPr>
          <a:xfrm>
            <a:off x="8561536" y="4224527"/>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616400" y="4270247"/>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a:solidFill>
                  <a:srgbClr val="1F2730"/>
                </a:solidFill>
                <a:latin typeface="Arial"/>
              </a:rPr>
              <a:t>No</a:t>
            </a:r>
          </a:p>
        </p:txBody>
      </p:sp>
      <p:sp>
        <p:nvSpPr>
          <p:cNvPr id="46" name="Rectangle 45"/>
          <p:cNvSpPr/>
          <p:nvPr/>
        </p:nvSpPr>
        <p:spPr>
          <a:xfrm>
            <a:off x="1840696" y="4672583"/>
            <a:ext cx="562356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1895560" y="4718303"/>
            <a:ext cx="5513832"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a:solidFill>
                  <a:srgbClr val="1F2730"/>
                </a:solidFill>
                <a:latin typeface="Arial"/>
              </a:rPr>
              <a:t>Effective query 3–9</a:t>
            </a:r>
          </a:p>
        </p:txBody>
      </p:sp>
      <p:sp>
        <p:nvSpPr>
          <p:cNvPr id="48" name="Rectangle 47"/>
          <p:cNvSpPr/>
          <p:nvPr/>
        </p:nvSpPr>
        <p:spPr>
          <a:xfrm>
            <a:off x="7464256" y="4672583"/>
            <a:ext cx="109728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519120" y="4718303"/>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a:solidFill>
                  <a:srgbClr val="1F2730"/>
                </a:solidFill>
                <a:latin typeface="Arial"/>
              </a:rPr>
              <a:t>134</a:t>
            </a:r>
          </a:p>
        </p:txBody>
      </p:sp>
      <p:sp>
        <p:nvSpPr>
          <p:cNvPr id="50" name="Rectangle 49"/>
          <p:cNvSpPr/>
          <p:nvPr/>
        </p:nvSpPr>
        <p:spPr>
          <a:xfrm>
            <a:off x="8561536" y="4672583"/>
            <a:ext cx="1874519"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616400" y="4718303"/>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a:solidFill>
                  <a:srgbClr val="1F2730"/>
                </a:solidFill>
                <a:latin typeface="Arial"/>
              </a:rPr>
              <a:t>Yes</a:t>
            </a:r>
          </a:p>
        </p:txBody>
      </p:sp>
      <p:sp>
        <p:nvSpPr>
          <p:cNvPr id="54" name="Rectangle 53"/>
          <p:cNvSpPr/>
          <p:nvPr/>
        </p:nvSpPr>
        <p:spPr>
          <a:xfrm>
            <a:off x="1840696" y="5120640"/>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1895560" y="5166359"/>
            <a:ext cx="5513832"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a:solidFill>
                  <a:srgbClr val="1F2730"/>
                </a:solidFill>
                <a:latin typeface="Arial"/>
              </a:rPr>
              <a:t>Effective query ≥10</a:t>
            </a:r>
          </a:p>
        </p:txBody>
      </p:sp>
      <p:sp>
        <p:nvSpPr>
          <p:cNvPr id="56" name="Rectangle 55"/>
          <p:cNvSpPr/>
          <p:nvPr/>
        </p:nvSpPr>
        <p:spPr>
          <a:xfrm>
            <a:off x="7464256" y="5120640"/>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7519120" y="5166359"/>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a:solidFill>
                  <a:srgbClr val="1F2730"/>
                </a:solidFill>
                <a:latin typeface="Arial"/>
              </a:rPr>
              <a:t>161</a:t>
            </a:r>
          </a:p>
        </p:txBody>
      </p:sp>
      <p:sp>
        <p:nvSpPr>
          <p:cNvPr id="58" name="Rectangle 57"/>
          <p:cNvSpPr/>
          <p:nvPr/>
        </p:nvSpPr>
        <p:spPr>
          <a:xfrm>
            <a:off x="8561536" y="5120640"/>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8616400" y="5166359"/>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a:solidFill>
                  <a:srgbClr val="1F2730"/>
                </a:solidFill>
                <a:latin typeface="Arial"/>
              </a:rPr>
              <a:t>Yes</a:t>
            </a:r>
          </a:p>
        </p:txBody>
      </p:sp>
      <p:sp>
        <p:nvSpPr>
          <p:cNvPr id="62" name="Rectangle 61"/>
          <p:cNvSpPr/>
          <p:nvPr/>
        </p:nvSpPr>
        <p:spPr>
          <a:xfrm>
            <a:off x="1840696" y="5568696"/>
            <a:ext cx="5623560"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895560" y="5614416"/>
            <a:ext cx="5513832"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1" i="0">
                <a:solidFill>
                  <a:srgbClr val="1F2730"/>
                </a:solidFill>
                <a:latin typeface="Arial"/>
              </a:rPr>
              <a:t>TOTAL</a:t>
            </a:r>
          </a:p>
        </p:txBody>
      </p:sp>
      <p:sp>
        <p:nvSpPr>
          <p:cNvPr id="64" name="Rectangle 63"/>
          <p:cNvSpPr/>
          <p:nvPr/>
        </p:nvSpPr>
        <p:spPr>
          <a:xfrm>
            <a:off x="7464256" y="5568696"/>
            <a:ext cx="1097280"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7519120" y="5614416"/>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1" i="0">
                <a:solidFill>
                  <a:srgbClr val="1F2730"/>
                </a:solidFill>
                <a:latin typeface="Arial"/>
              </a:rPr>
              <a:t>648</a:t>
            </a:r>
          </a:p>
        </p:txBody>
      </p:sp>
      <p:sp>
        <p:nvSpPr>
          <p:cNvPr id="66" name="Rectangle 65"/>
          <p:cNvSpPr/>
          <p:nvPr/>
        </p:nvSpPr>
        <p:spPr>
          <a:xfrm>
            <a:off x="8561536" y="5568696"/>
            <a:ext cx="1874519"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8616400" y="5614416"/>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1" i="0">
                <a:solidFill>
                  <a:srgbClr val="1F2730"/>
                </a:solidFill>
                <a:latin typeface="Arial"/>
              </a:rPr>
              <a:t>295 calls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p:cNvSpPr txBox="1"/>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pPr>
            <a:r>
              <a:rPr lang="en-US" sz="2100" b="1" dirty="0">
                <a:solidFill>
                  <a:srgbClr val="0F233D"/>
                </a:solidFill>
                <a:latin typeface="Arial"/>
              </a:rPr>
              <a:t>S</a:t>
            </a:r>
            <a:r>
              <a:rPr sz="2100" b="1" i="0" dirty="0">
                <a:solidFill>
                  <a:srgbClr val="0F233D"/>
                </a:solidFill>
                <a:latin typeface="Arial"/>
              </a:rPr>
              <a:t>ource validity and query size decide whether KDA is called</a:t>
            </a:r>
          </a:p>
        </p:txBody>
      </p:sp>
      <p:sp>
        <p:nvSpPr>
          <p:cNvPr id="5" name="Rounded Rectangle 4"/>
          <p:cNvSpPr/>
          <p:nvPr/>
        </p:nvSpPr>
        <p:spPr>
          <a:xfrm>
            <a:off x="603504" y="1344168"/>
            <a:ext cx="4663440" cy="44805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68680" y="164592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14983" y="1618488"/>
            <a:ext cx="3950208"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One canonical query-size gate</a:t>
            </a:r>
          </a:p>
        </p:txBody>
      </p:sp>
      <p:sp>
        <p:nvSpPr>
          <p:cNvPr id="8" name="Rounded Rectangle 7"/>
          <p:cNvSpPr/>
          <p:nvPr/>
        </p:nvSpPr>
        <p:spPr>
          <a:xfrm>
            <a:off x="868680" y="2112264"/>
            <a:ext cx="1847088" cy="1024128"/>
          </a:xfrm>
          <a:prstGeom prst="roundRect">
            <a:avLst/>
          </a:prstGeom>
          <a:solidFill>
            <a:srgbClr val="E4F0F8"/>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14983" y="2203704"/>
            <a:ext cx="1554480"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≥3</a:t>
            </a:r>
          </a:p>
        </p:txBody>
      </p:sp>
      <p:sp>
        <p:nvSpPr>
          <p:cNvPr id="11" name="Rounded Rectangle 10"/>
          <p:cNvSpPr/>
          <p:nvPr/>
        </p:nvSpPr>
        <p:spPr>
          <a:xfrm>
            <a:off x="2926080" y="2112264"/>
            <a:ext cx="1847088" cy="1024128"/>
          </a:xfrm>
          <a:prstGeom prst="roundRect">
            <a:avLst/>
          </a:prstGeom>
          <a:solidFill>
            <a:srgbClr val="E4F4EE"/>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072384" y="2203704"/>
            <a:ext cx="1554480" cy="4401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lang="en-US" sz="2500" b="1" i="0" dirty="0">
                <a:solidFill>
                  <a:srgbClr val="00684D"/>
                </a:solidFill>
                <a:latin typeface="Arial"/>
              </a:rPr>
              <a:t>295</a:t>
            </a:r>
            <a:endParaRPr sz="2500" b="1" i="0" dirty="0">
              <a:solidFill>
                <a:srgbClr val="00684D"/>
              </a:solidFill>
              <a:latin typeface="Arial"/>
            </a:endParaRPr>
          </a:p>
        </p:txBody>
      </p:sp>
      <p:sp>
        <p:nvSpPr>
          <p:cNvPr id="13" name="TextBox 12"/>
          <p:cNvSpPr txBox="1"/>
          <p:nvPr/>
        </p:nvSpPr>
        <p:spPr>
          <a:xfrm>
            <a:off x="3072384" y="2660904"/>
            <a:ext cx="1554480" cy="326243"/>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80" b="1" i="0" dirty="0">
                <a:solidFill>
                  <a:srgbClr val="4E5A68"/>
                </a:solidFill>
                <a:latin typeface="Arial"/>
              </a:rPr>
              <a:t>included runs with query n</a:t>
            </a:r>
            <a:r>
              <a:rPr lang="en-US" sz="880" b="1" i="0" dirty="0">
                <a:solidFill>
                  <a:srgbClr val="4E5A68"/>
                </a:solidFill>
                <a:latin typeface="Arial"/>
              </a:rPr>
              <a:t>&gt;</a:t>
            </a:r>
            <a:r>
              <a:rPr sz="880" b="1" i="0" dirty="0">
                <a:solidFill>
                  <a:srgbClr val="4E5A68"/>
                </a:solidFill>
                <a:latin typeface="Arial"/>
              </a:rPr>
              <a:t>=3</a:t>
            </a:r>
          </a:p>
        </p:txBody>
      </p:sp>
      <p:sp>
        <p:nvSpPr>
          <p:cNvPr id="14" name="Oval 13"/>
          <p:cNvSpPr/>
          <p:nvPr/>
        </p:nvSpPr>
        <p:spPr>
          <a:xfrm>
            <a:off x="877824" y="362102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51560" y="3493008"/>
            <a:ext cx="3867911" cy="60350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0" i="0">
                <a:solidFill>
                  <a:srgbClr val="1F2730"/>
                </a:solidFill>
                <a:latin typeface="Arial"/>
              </a:rPr>
              <a:t>All 295 validated completed calls enter the aggregate.</a:t>
            </a:r>
          </a:p>
        </p:txBody>
      </p:sp>
      <p:sp>
        <p:nvSpPr>
          <p:cNvPr id="16" name="Oval 15"/>
          <p:cNvSpPr/>
          <p:nvPr/>
        </p:nvSpPr>
        <p:spPr>
          <a:xfrm>
            <a:off x="877824" y="4224527"/>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51560" y="4096511"/>
            <a:ext cx="3867911" cy="2262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0" i="0" dirty="0">
                <a:solidFill>
                  <a:srgbClr val="1F2730"/>
                </a:solidFill>
                <a:latin typeface="Arial"/>
              </a:rPr>
              <a:t>That includes </a:t>
            </a:r>
            <a:r>
              <a:rPr lang="en-US" sz="1110" b="0" i="0" dirty="0">
                <a:solidFill>
                  <a:srgbClr val="1F2730"/>
                </a:solidFill>
                <a:latin typeface="Arial"/>
              </a:rPr>
              <a:t>295</a:t>
            </a:r>
            <a:r>
              <a:rPr sz="1110" b="0" i="0" dirty="0">
                <a:solidFill>
                  <a:srgbClr val="1F2730"/>
                </a:solidFill>
                <a:latin typeface="Arial"/>
              </a:rPr>
              <a:t> ≥</a:t>
            </a:r>
            <a:r>
              <a:rPr lang="en-US" sz="1110" b="0" i="0" dirty="0">
                <a:solidFill>
                  <a:srgbClr val="1F2730"/>
                </a:solidFill>
                <a:latin typeface="Arial"/>
              </a:rPr>
              <a:t>3</a:t>
            </a:r>
            <a:r>
              <a:rPr sz="1110" b="0" i="0" dirty="0">
                <a:solidFill>
                  <a:srgbClr val="1F2730"/>
                </a:solidFill>
                <a:latin typeface="Arial"/>
              </a:rPr>
              <a:t>.</a:t>
            </a:r>
          </a:p>
        </p:txBody>
      </p:sp>
      <p:sp>
        <p:nvSpPr>
          <p:cNvPr id="18" name="Oval 17"/>
          <p:cNvSpPr/>
          <p:nvPr/>
        </p:nvSpPr>
        <p:spPr>
          <a:xfrm>
            <a:off x="877824" y="4828031"/>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51560" y="4700016"/>
            <a:ext cx="3867911" cy="60350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0" i="0">
                <a:solidFill>
                  <a:srgbClr val="1F2730"/>
                </a:solidFill>
                <a:latin typeface="Arial"/>
              </a:rPr>
              <a:t>74 completed calls returned no original q≤0.05 gene; they still contribute complete evidence.</a:t>
            </a:r>
          </a:p>
        </p:txBody>
      </p:sp>
      <p:sp>
        <p:nvSpPr>
          <p:cNvPr id="20" name="Rounded Rectangle 19"/>
          <p:cNvSpPr/>
          <p:nvPr/>
        </p:nvSpPr>
        <p:spPr>
          <a:xfrm>
            <a:off x="5532120" y="1344168"/>
            <a:ext cx="6035040" cy="4480560"/>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824728" y="1645920"/>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971032" y="1618488"/>
            <a:ext cx="5294376" cy="28931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dirty="0">
                <a:solidFill>
                  <a:srgbClr val="0F233D"/>
                </a:solidFill>
                <a:latin typeface="Arial"/>
              </a:rPr>
              <a:t>What ‘source contrast not </a:t>
            </a:r>
            <a:r>
              <a:rPr lang="en-US" sz="1520" b="1" i="0" dirty="0">
                <a:solidFill>
                  <a:srgbClr val="0F233D"/>
                </a:solidFill>
                <a:latin typeface="Arial"/>
              </a:rPr>
              <a:t>valid</a:t>
            </a:r>
            <a:r>
              <a:rPr sz="1520" b="1" i="0" dirty="0">
                <a:solidFill>
                  <a:srgbClr val="0F233D"/>
                </a:solidFill>
                <a:latin typeface="Arial"/>
              </a:rPr>
              <a:t>’ means</a:t>
            </a:r>
          </a:p>
        </p:txBody>
      </p:sp>
      <p:sp>
        <p:nvSpPr>
          <p:cNvPr id="23" name="TextBox 22"/>
          <p:cNvSpPr txBox="1"/>
          <p:nvPr/>
        </p:nvSpPr>
        <p:spPr>
          <a:xfrm>
            <a:off x="5843016" y="2148840"/>
            <a:ext cx="5330952" cy="486287"/>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1" i="0" dirty="0">
                <a:solidFill>
                  <a:srgbClr val="0F233D"/>
                </a:solidFill>
                <a:latin typeface="Arial"/>
              </a:rPr>
              <a:t>The upstream MAST comparison could not be fitted because one arm had fewer than </a:t>
            </a:r>
            <a:r>
              <a:rPr sz="1400" b="1" i="0" dirty="0">
                <a:solidFill>
                  <a:srgbClr val="FF0000"/>
                </a:solidFill>
                <a:latin typeface="Arial"/>
              </a:rPr>
              <a:t>three</a:t>
            </a:r>
            <a:r>
              <a:rPr sz="1400" b="1" i="0" dirty="0">
                <a:solidFill>
                  <a:srgbClr val="0F233D"/>
                </a:solidFill>
                <a:latin typeface="Arial"/>
              </a:rPr>
              <a:t> cells.</a:t>
            </a:r>
          </a:p>
        </p:txBody>
      </p:sp>
      <p:sp>
        <p:nvSpPr>
          <p:cNvPr id="24" name="Rectangle 23"/>
          <p:cNvSpPr/>
          <p:nvPr/>
        </p:nvSpPr>
        <p:spPr>
          <a:xfrm>
            <a:off x="5843016" y="2898648"/>
            <a:ext cx="233172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897879" y="2953512"/>
            <a:ext cx="2221991" cy="33832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40" b="1" i="0">
                <a:solidFill>
                  <a:srgbClr val="FFFFFF"/>
                </a:solidFill>
                <a:latin typeface="Arial"/>
              </a:rPr>
              <a:t>Fine cell type</a:t>
            </a:r>
          </a:p>
        </p:txBody>
      </p:sp>
      <p:sp>
        <p:nvSpPr>
          <p:cNvPr id="26" name="Rectangle 25"/>
          <p:cNvSpPr/>
          <p:nvPr/>
        </p:nvSpPr>
        <p:spPr>
          <a:xfrm>
            <a:off x="8174736" y="2898648"/>
            <a:ext cx="91440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29600" y="2953512"/>
            <a:ext cx="804672" cy="33832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40" b="1" i="0">
                <a:solidFill>
                  <a:srgbClr val="FFFFFF"/>
                </a:solidFill>
                <a:latin typeface="Arial"/>
              </a:rPr>
              <a:t>Group</a:t>
            </a:r>
          </a:p>
        </p:txBody>
      </p:sp>
      <p:sp>
        <p:nvSpPr>
          <p:cNvPr id="28" name="Rectangle 27"/>
          <p:cNvSpPr/>
          <p:nvPr/>
        </p:nvSpPr>
        <p:spPr>
          <a:xfrm>
            <a:off x="9089136" y="2898648"/>
            <a:ext cx="1051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144000" y="2953512"/>
            <a:ext cx="941831" cy="33832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40" b="1" i="0">
                <a:solidFill>
                  <a:srgbClr val="FFFFFF"/>
                </a:solidFill>
                <a:latin typeface="Arial"/>
              </a:rPr>
              <a:t>AD cells</a:t>
            </a:r>
          </a:p>
        </p:txBody>
      </p:sp>
      <p:sp>
        <p:nvSpPr>
          <p:cNvPr id="30" name="Rectangle 29"/>
          <p:cNvSpPr/>
          <p:nvPr/>
        </p:nvSpPr>
        <p:spPr>
          <a:xfrm>
            <a:off x="10140696" y="2898648"/>
            <a:ext cx="1051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195560" y="2953512"/>
            <a:ext cx="941831" cy="33832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40" b="1" i="0">
                <a:solidFill>
                  <a:srgbClr val="FFFFFF"/>
                </a:solidFill>
                <a:latin typeface="Arial"/>
              </a:rPr>
              <a:t>NCI cells</a:t>
            </a:r>
          </a:p>
        </p:txBody>
      </p:sp>
      <p:sp>
        <p:nvSpPr>
          <p:cNvPr id="32" name="Rectangle 31"/>
          <p:cNvSpPr/>
          <p:nvPr/>
        </p:nvSpPr>
        <p:spPr>
          <a:xfrm>
            <a:off x="5843016" y="3328415"/>
            <a:ext cx="23317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897879" y="3374135"/>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Fib SLC4A4</a:t>
            </a:r>
          </a:p>
        </p:txBody>
      </p:sp>
      <p:sp>
        <p:nvSpPr>
          <p:cNvPr id="34" name="Rectangle 33"/>
          <p:cNvSpPr/>
          <p:nvPr/>
        </p:nvSpPr>
        <p:spPr>
          <a:xfrm>
            <a:off x="8174736" y="3328415"/>
            <a:ext cx="91440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229600" y="3374135"/>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M_e2</a:t>
            </a:r>
          </a:p>
        </p:txBody>
      </p:sp>
      <p:sp>
        <p:nvSpPr>
          <p:cNvPr id="36" name="Rectangle 35"/>
          <p:cNvSpPr/>
          <p:nvPr/>
        </p:nvSpPr>
        <p:spPr>
          <a:xfrm>
            <a:off x="9089136" y="3328415"/>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144000" y="33741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0</a:t>
            </a:r>
          </a:p>
        </p:txBody>
      </p:sp>
      <p:sp>
        <p:nvSpPr>
          <p:cNvPr id="38" name="Rectangle 37"/>
          <p:cNvSpPr/>
          <p:nvPr/>
        </p:nvSpPr>
        <p:spPr>
          <a:xfrm>
            <a:off x="10140696" y="3328415"/>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0195560" y="33741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11</a:t>
            </a:r>
          </a:p>
        </p:txBody>
      </p:sp>
      <p:sp>
        <p:nvSpPr>
          <p:cNvPr id="40" name="Rectangle 39"/>
          <p:cNvSpPr/>
          <p:nvPr/>
        </p:nvSpPr>
        <p:spPr>
          <a:xfrm>
            <a:off x="5843016" y="3785615"/>
            <a:ext cx="233172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897879" y="3831335"/>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CAMs</a:t>
            </a:r>
          </a:p>
        </p:txBody>
      </p:sp>
      <p:sp>
        <p:nvSpPr>
          <p:cNvPr id="42" name="Rectangle 41"/>
          <p:cNvSpPr/>
          <p:nvPr/>
        </p:nvSpPr>
        <p:spPr>
          <a:xfrm>
            <a:off x="8174736" y="3785615"/>
            <a:ext cx="91440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229600" y="3831335"/>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M_e2</a:t>
            </a:r>
          </a:p>
        </p:txBody>
      </p:sp>
      <p:sp>
        <p:nvSpPr>
          <p:cNvPr id="44" name="Rectangle 43"/>
          <p:cNvSpPr/>
          <p:nvPr/>
        </p:nvSpPr>
        <p:spPr>
          <a:xfrm>
            <a:off x="9089136" y="3785615"/>
            <a:ext cx="10515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9144000" y="38313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45</a:t>
            </a:r>
          </a:p>
        </p:txBody>
      </p:sp>
      <p:sp>
        <p:nvSpPr>
          <p:cNvPr id="46" name="Rectangle 45"/>
          <p:cNvSpPr/>
          <p:nvPr/>
        </p:nvSpPr>
        <p:spPr>
          <a:xfrm>
            <a:off x="10140696" y="3785615"/>
            <a:ext cx="10515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10195560" y="38313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1</a:t>
            </a:r>
          </a:p>
        </p:txBody>
      </p:sp>
      <p:sp>
        <p:nvSpPr>
          <p:cNvPr id="48" name="Rectangle 47"/>
          <p:cNvSpPr/>
          <p:nvPr/>
        </p:nvSpPr>
        <p:spPr>
          <a:xfrm>
            <a:off x="5843016" y="4242816"/>
            <a:ext cx="23317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897879" y="4288536"/>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Mic MKI67</a:t>
            </a:r>
          </a:p>
        </p:txBody>
      </p:sp>
      <p:sp>
        <p:nvSpPr>
          <p:cNvPr id="50" name="Rectangle 49"/>
          <p:cNvSpPr/>
          <p:nvPr/>
        </p:nvSpPr>
        <p:spPr>
          <a:xfrm>
            <a:off x="8174736" y="4242816"/>
            <a:ext cx="91440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229600" y="4288536"/>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M_e2</a:t>
            </a:r>
          </a:p>
        </p:txBody>
      </p:sp>
      <p:sp>
        <p:nvSpPr>
          <p:cNvPr id="52" name="Rectangle 51"/>
          <p:cNvSpPr/>
          <p:nvPr/>
        </p:nvSpPr>
        <p:spPr>
          <a:xfrm>
            <a:off x="9089136" y="4242816"/>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9144000" y="4288536"/>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2</a:t>
            </a:r>
          </a:p>
        </p:txBody>
      </p:sp>
      <p:sp>
        <p:nvSpPr>
          <p:cNvPr id="54" name="Rectangle 53"/>
          <p:cNvSpPr/>
          <p:nvPr/>
        </p:nvSpPr>
        <p:spPr>
          <a:xfrm>
            <a:off x="10140696" y="4242816"/>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10195560" y="4288536"/>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9</a:t>
            </a:r>
          </a:p>
        </p:txBody>
      </p:sp>
      <p:sp>
        <p:nvSpPr>
          <p:cNvPr id="56" name="TextBox 55"/>
          <p:cNvSpPr txBox="1"/>
          <p:nvPr/>
        </p:nvSpPr>
        <p:spPr>
          <a:xfrm>
            <a:off x="5961888" y="4882896"/>
            <a:ext cx="5029200" cy="51206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350" b="1" i="0">
                <a:solidFill>
                  <a:srgbClr val="D55E00"/>
                </a:solidFill>
                <a:latin typeface="Arial"/>
              </a:rPr>
              <a:t>3 unavailable comparisons × 2 directions = 6 unavailable slots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p:cNvSpPr txBox="1"/>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pPr>
            <a:r>
              <a:rPr lang="en-US" sz="2100" b="1" dirty="0">
                <a:solidFill>
                  <a:srgbClr val="0F233D"/>
                </a:solidFill>
                <a:latin typeface="Arial"/>
              </a:rPr>
              <a:t>M</a:t>
            </a:r>
            <a:r>
              <a:rPr sz="2100" b="1" i="0" dirty="0">
                <a:solidFill>
                  <a:srgbClr val="0F233D"/>
                </a:solidFill>
                <a:latin typeface="Arial"/>
              </a:rPr>
              <a:t>itochondrial query genes</a:t>
            </a:r>
          </a:p>
        </p:txBody>
      </p:sp>
      <p:sp>
        <p:nvSpPr>
          <p:cNvPr id="5" name="Rounded Rectangle 4"/>
          <p:cNvSpPr/>
          <p:nvPr/>
        </p:nvSpPr>
        <p:spPr>
          <a:xfrm>
            <a:off x="603504" y="1353312"/>
            <a:ext cx="3721608" cy="4526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59536" y="165506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39" y="1627632"/>
            <a:ext cx="3035808" cy="28931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dirty="0">
                <a:solidFill>
                  <a:srgbClr val="0F233D"/>
                </a:solidFill>
                <a:latin typeface="Arial"/>
              </a:rPr>
              <a:t>DEG rule</a:t>
            </a:r>
          </a:p>
        </p:txBody>
      </p:sp>
      <p:sp>
        <p:nvSpPr>
          <p:cNvPr id="8" name="Oval 7"/>
          <p:cNvSpPr/>
          <p:nvPr/>
        </p:nvSpPr>
        <p:spPr>
          <a:xfrm>
            <a:off x="859536" y="226771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33271" y="2139696"/>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40" b="0" i="0">
                <a:solidFill>
                  <a:srgbClr val="1F2730"/>
                </a:solidFill>
                <a:latin typeface="Arial"/>
              </a:rPr>
              <a:t>Detected in ≥10% of AD or NCI nuclei.</a:t>
            </a:r>
          </a:p>
        </p:txBody>
      </p:sp>
      <p:sp>
        <p:nvSpPr>
          <p:cNvPr id="10" name="Oval 9"/>
          <p:cNvSpPr/>
          <p:nvPr/>
        </p:nvSpPr>
        <p:spPr>
          <a:xfrm>
            <a:off x="859536" y="2834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33271" y="2706624"/>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40" b="0" i="0">
                <a:solidFill>
                  <a:srgbClr val="1F2730"/>
                </a:solidFill>
                <a:latin typeface="Arial"/>
              </a:rPr>
              <a:t>Within-contrast BH FDR &lt; 0.05.</a:t>
            </a:r>
          </a:p>
        </p:txBody>
      </p:sp>
      <p:sp>
        <p:nvSpPr>
          <p:cNvPr id="12" name="Oval 11"/>
          <p:cNvSpPr/>
          <p:nvPr/>
        </p:nvSpPr>
        <p:spPr>
          <a:xfrm>
            <a:off x="859536" y="340156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33271" y="3273552"/>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40" b="0" i="0">
                <a:solidFill>
                  <a:srgbClr val="1F2730"/>
                </a:solidFill>
                <a:latin typeface="Arial"/>
              </a:rPr>
              <a:t>|log₂ fold change| &gt; log₂(1.3) ≈ 0.379.</a:t>
            </a:r>
          </a:p>
        </p:txBody>
      </p:sp>
      <p:sp>
        <p:nvSpPr>
          <p:cNvPr id="14" name="Oval 13"/>
          <p:cNvSpPr/>
          <p:nvPr/>
        </p:nvSpPr>
        <p:spPr>
          <a:xfrm>
            <a:off x="859536" y="396849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33271" y="3840480"/>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40" b="0" i="0">
                <a:solidFill>
                  <a:srgbClr val="1F2730"/>
                </a:solidFill>
                <a:latin typeface="Arial"/>
              </a:rPr>
              <a:t>Positive and negative results form AD-up and AD-down queries.</a:t>
            </a:r>
          </a:p>
        </p:txBody>
      </p:sp>
      <p:sp>
        <p:nvSpPr>
          <p:cNvPr id="16" name="Rounded Rectangle 15"/>
          <p:cNvSpPr/>
          <p:nvPr/>
        </p:nvSpPr>
        <p:spPr>
          <a:xfrm>
            <a:off x="859536" y="4709160"/>
            <a:ext cx="3145536" cy="786384"/>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42415" y="4910328"/>
            <a:ext cx="2788920" cy="40011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20" b="1" i="0" dirty="0">
                <a:solidFill>
                  <a:srgbClr val="0F233D"/>
                </a:solidFill>
                <a:latin typeface="Arial"/>
              </a:rPr>
              <a:t>Query = DEG</a:t>
            </a:r>
            <a:r>
              <a:rPr lang="en-US" sz="1120" b="1" i="0" dirty="0">
                <a:solidFill>
                  <a:srgbClr val="0F233D"/>
                </a:solidFill>
                <a:latin typeface="Arial"/>
              </a:rPr>
              <a:t> rule</a:t>
            </a:r>
            <a:r>
              <a:rPr sz="1120" b="1" i="0" dirty="0">
                <a:solidFill>
                  <a:srgbClr val="0F233D"/>
                </a:solidFill>
                <a:latin typeface="Arial"/>
              </a:rPr>
              <a:t> ∩ </a:t>
            </a:r>
            <a:r>
              <a:rPr sz="1120" b="1" i="0" dirty="0" err="1">
                <a:solidFill>
                  <a:srgbClr val="0F233D"/>
                </a:solidFill>
                <a:latin typeface="Arial"/>
              </a:rPr>
              <a:t>core_mito_protein</a:t>
            </a:r>
            <a:r>
              <a:rPr sz="1120" b="1" i="0" dirty="0">
                <a:solidFill>
                  <a:srgbClr val="0F233D"/>
                </a:solidFill>
                <a:latin typeface="Arial"/>
              </a:rPr>
              <a:t> ∩ requested direction</a:t>
            </a:r>
          </a:p>
        </p:txBody>
      </p:sp>
      <p:sp>
        <p:nvSpPr>
          <p:cNvPr id="18" name="Rounded Rectangle 17"/>
          <p:cNvSpPr/>
          <p:nvPr/>
        </p:nvSpPr>
        <p:spPr>
          <a:xfrm>
            <a:off x="4626864" y="1426464"/>
            <a:ext cx="2066543"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773168"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2,864,117</a:t>
            </a:r>
          </a:p>
        </p:txBody>
      </p:sp>
      <p:sp>
        <p:nvSpPr>
          <p:cNvPr id="20" name="TextBox 19"/>
          <p:cNvSpPr txBox="1"/>
          <p:nvPr/>
        </p:nvSpPr>
        <p:spPr>
          <a:xfrm>
            <a:off x="4773168" y="1975104"/>
            <a:ext cx="1773935"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80" b="1" i="0">
                <a:solidFill>
                  <a:srgbClr val="4E5A68"/>
                </a:solidFill>
                <a:latin typeface="Arial"/>
              </a:rPr>
              <a:t>tested gene × comparison rows</a:t>
            </a:r>
          </a:p>
        </p:txBody>
      </p:sp>
      <p:sp>
        <p:nvSpPr>
          <p:cNvPr id="21" name="Rounded Rectangle 20"/>
          <p:cNvSpPr/>
          <p:nvPr/>
        </p:nvSpPr>
        <p:spPr>
          <a:xfrm>
            <a:off x="6858000" y="1426464"/>
            <a:ext cx="2066543"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004304"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118,297</a:t>
            </a:r>
          </a:p>
        </p:txBody>
      </p:sp>
      <p:sp>
        <p:nvSpPr>
          <p:cNvPr id="23" name="TextBox 22"/>
          <p:cNvSpPr txBox="1"/>
          <p:nvPr/>
        </p:nvSpPr>
        <p:spPr>
          <a:xfrm>
            <a:off x="7004304" y="1975104"/>
            <a:ext cx="1773935" cy="203133"/>
          </a:xfrm>
          <a:prstGeom prst="rect">
            <a:avLst/>
          </a:prstGeom>
          <a:noFill/>
        </p:spPr>
        <p:txBody>
          <a:bodyPr wrap="square" lIns="27432" tIns="27432" rIns="27432" bIns="27432" anchor="t">
            <a:spAutoFit/>
          </a:bodyPr>
          <a:lstStyle/>
          <a:p>
            <a:pPr algn="l">
              <a:lnSpc>
                <a:spcPct val="100000"/>
              </a:lnSpc>
              <a:spcBef>
                <a:spcPts val="0"/>
              </a:spcBef>
              <a:spcAft>
                <a:spcPts val="0"/>
              </a:spcAft>
            </a:pPr>
            <a:r>
              <a:rPr lang="en-US" sz="960" b="1" i="0" dirty="0">
                <a:solidFill>
                  <a:srgbClr val="4E5A68"/>
                </a:solidFill>
                <a:latin typeface="Arial"/>
              </a:rPr>
              <a:t>Passed </a:t>
            </a:r>
            <a:r>
              <a:rPr sz="960" b="1" i="0" dirty="0">
                <a:solidFill>
                  <a:srgbClr val="4E5A68"/>
                </a:solidFill>
                <a:latin typeface="Arial"/>
              </a:rPr>
              <a:t>DEG</a:t>
            </a:r>
          </a:p>
        </p:txBody>
      </p:sp>
      <p:sp>
        <p:nvSpPr>
          <p:cNvPr id="24" name="TextBox 23"/>
          <p:cNvSpPr txBox="1"/>
          <p:nvPr/>
        </p:nvSpPr>
        <p:spPr>
          <a:xfrm>
            <a:off x="7004304" y="2414016"/>
            <a:ext cx="1773935"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80" b="0" i="0">
                <a:solidFill>
                  <a:srgbClr val="6C7988"/>
                </a:solidFill>
                <a:latin typeface="Arial"/>
              </a:rPr>
              <a:t>58,112 up • 60,185 down</a:t>
            </a:r>
          </a:p>
        </p:txBody>
      </p:sp>
      <p:sp>
        <p:nvSpPr>
          <p:cNvPr id="25" name="Rounded Rectangle 24"/>
          <p:cNvSpPr/>
          <p:nvPr/>
        </p:nvSpPr>
        <p:spPr>
          <a:xfrm>
            <a:off x="9089136" y="1426464"/>
            <a:ext cx="2066543"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235440"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895600"/>
                </a:solidFill>
                <a:latin typeface="Arial"/>
              </a:rPr>
              <a:t>9,262</a:t>
            </a:r>
          </a:p>
        </p:txBody>
      </p:sp>
      <p:sp>
        <p:nvSpPr>
          <p:cNvPr id="27" name="TextBox 26"/>
          <p:cNvSpPr txBox="1"/>
          <p:nvPr/>
        </p:nvSpPr>
        <p:spPr>
          <a:xfrm>
            <a:off x="9235440" y="1975104"/>
            <a:ext cx="1773935" cy="203133"/>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dirty="0">
                <a:solidFill>
                  <a:srgbClr val="4E5A68"/>
                </a:solidFill>
                <a:latin typeface="Arial"/>
              </a:rPr>
              <a:t>core-MT query </a:t>
            </a:r>
            <a:r>
              <a:rPr lang="en-US" sz="960" b="1" i="0" dirty="0">
                <a:solidFill>
                  <a:srgbClr val="4E5A68"/>
                </a:solidFill>
                <a:latin typeface="Arial"/>
              </a:rPr>
              <a:t>genes</a:t>
            </a:r>
            <a:endParaRPr sz="960" b="1" i="0" dirty="0">
              <a:solidFill>
                <a:srgbClr val="4E5A68"/>
              </a:solidFill>
              <a:latin typeface="Arial"/>
            </a:endParaRPr>
          </a:p>
        </p:txBody>
      </p:sp>
      <p:sp>
        <p:nvSpPr>
          <p:cNvPr id="28" name="TextBox 27"/>
          <p:cNvSpPr txBox="1"/>
          <p:nvPr/>
        </p:nvSpPr>
        <p:spPr>
          <a:xfrm>
            <a:off x="9235440" y="2414016"/>
            <a:ext cx="1773935"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80" b="0" i="0">
                <a:solidFill>
                  <a:srgbClr val="6C7988"/>
                </a:solidFill>
                <a:latin typeface="Arial"/>
              </a:rPr>
              <a:t>4,258 up • 5,004 down</a:t>
            </a:r>
          </a:p>
        </p:txBody>
      </p:sp>
      <p:sp>
        <p:nvSpPr>
          <p:cNvPr id="29" name="Rounded Rectangle 28"/>
          <p:cNvSpPr/>
          <p:nvPr/>
        </p:nvSpPr>
        <p:spPr>
          <a:xfrm>
            <a:off x="4626864" y="3017520"/>
            <a:ext cx="6528816" cy="239572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901184" y="3291840"/>
            <a:ext cx="310896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50" b="1" i="0">
                <a:solidFill>
                  <a:srgbClr val="009E73"/>
                </a:solidFill>
                <a:latin typeface="Arial"/>
              </a:rPr>
              <a:t>NETWORK-BACKGROUND INTERSECTION</a:t>
            </a:r>
          </a:p>
        </p:txBody>
      </p:sp>
      <p:sp>
        <p:nvSpPr>
          <p:cNvPr id="31" name="TextBox 30"/>
          <p:cNvSpPr txBox="1"/>
          <p:nvPr/>
        </p:nvSpPr>
        <p:spPr>
          <a:xfrm>
            <a:off x="4919472" y="3694176"/>
            <a:ext cx="5806440" cy="32470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750" b="1" i="0" dirty="0">
                <a:solidFill>
                  <a:srgbClr val="0F233D"/>
                </a:solidFill>
                <a:latin typeface="Arial"/>
              </a:rPr>
              <a:t>9,262 provisional query </a:t>
            </a:r>
            <a:r>
              <a:rPr lang="en-US" sz="1750" b="1" i="0" dirty="0">
                <a:solidFill>
                  <a:srgbClr val="0F233D"/>
                </a:solidFill>
                <a:latin typeface="Arial"/>
              </a:rPr>
              <a:t>genes</a:t>
            </a:r>
            <a:endParaRPr sz="1750" b="1" i="0" dirty="0">
              <a:solidFill>
                <a:srgbClr val="0F233D"/>
              </a:solidFill>
              <a:latin typeface="Arial"/>
            </a:endParaRPr>
          </a:p>
        </p:txBody>
      </p:sp>
      <p:sp>
        <p:nvSpPr>
          <p:cNvPr id="32" name="TextBox 31"/>
          <p:cNvSpPr txBox="1"/>
          <p:nvPr/>
        </p:nvSpPr>
        <p:spPr>
          <a:xfrm>
            <a:off x="4919472" y="4133087"/>
            <a:ext cx="5321808" cy="255455"/>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300" b="1" i="0" dirty="0">
                <a:solidFill>
                  <a:srgbClr val="D55E00"/>
                </a:solidFill>
                <a:latin typeface="Arial"/>
              </a:rPr>
              <a:t>− 1,329 absent from the background</a:t>
            </a:r>
          </a:p>
        </p:txBody>
      </p:sp>
      <p:sp>
        <p:nvSpPr>
          <p:cNvPr id="33" name="TextBox 32"/>
          <p:cNvSpPr txBox="1"/>
          <p:nvPr/>
        </p:nvSpPr>
        <p:spPr>
          <a:xfrm>
            <a:off x="4919472" y="4626864"/>
            <a:ext cx="5806440" cy="332399"/>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800" b="1" i="0" dirty="0">
                <a:solidFill>
                  <a:srgbClr val="009E73"/>
                </a:solidFill>
                <a:latin typeface="Arial"/>
              </a:rPr>
              <a:t>= 7,933 query </a:t>
            </a:r>
            <a:r>
              <a:rPr lang="en-US" sz="1800" b="1" i="0" dirty="0">
                <a:solidFill>
                  <a:srgbClr val="009E73"/>
                </a:solidFill>
                <a:latin typeface="Arial"/>
              </a:rPr>
              <a:t>genes</a:t>
            </a:r>
            <a:endParaRPr sz="1800" b="1" i="0" dirty="0">
              <a:solidFill>
                <a:srgbClr val="009E73"/>
              </a:solidFill>
              <a:latin typeface="Arial"/>
            </a:endParaRPr>
          </a:p>
        </p:txBody>
      </p:sp>
      <p:sp>
        <p:nvSpPr>
          <p:cNvPr id="34" name="TextBox 33"/>
          <p:cNvSpPr txBox="1"/>
          <p:nvPr/>
        </p:nvSpPr>
        <p:spPr>
          <a:xfrm>
            <a:off x="4928616" y="5074920"/>
            <a:ext cx="5422392" cy="2286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40" b="0" i="0">
                <a:solidFill>
                  <a:srgbClr val="4E5A68"/>
                </a:solidFill>
                <a:latin typeface="Arial"/>
              </a:rPr>
              <a:t>Membership counts can repeat the same gene across contrasts and directions.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p:cNvSpPr txBox="1"/>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100" b="1" i="0" dirty="0">
                <a:solidFill>
                  <a:srgbClr val="0F233D"/>
                </a:solidFill>
                <a:latin typeface="Arial"/>
              </a:rPr>
              <a:t>Top-five display: 149 non-MT entries across 32 categories</a:t>
            </a:r>
          </a:p>
        </p:txBody>
      </p:sp>
      <p:pic>
        <p:nvPicPr>
          <p:cNvPr id="5" name="Simple returned-only Phase 20 female and male panels showing up to five non-MT genes per sex/APOE by broad-cell category" descr="Simple returned-only Phase 20 female and male panels showing up to five non-MT genes per sex/APOE by broad-cell category"/>
          <p:cNvPicPr>
            <a:picLocks noChangeAspect="1"/>
          </p:cNvPicPr>
          <p:nvPr/>
        </p:nvPicPr>
        <p:blipFill>
          <a:blip r:embed="rId3"/>
          <a:stretch>
            <a:fillRect/>
          </a:stretch>
        </p:blipFill>
        <p:spPr>
          <a:xfrm>
            <a:off x="1694965" y="804672"/>
            <a:ext cx="8802071" cy="59893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RPS15 recurs across 12 returned-only categories</a:t>
            </a:r>
          </a:p>
        </p:txBody>
      </p:sp>
      <p:sp>
        <p:nvSpPr>
          <p:cNvPr id="4" name="TextBox 3"/>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Returned-only recurrence is descriptive across sex/APOE × broad-cell categories.</a:t>
            </a:r>
          </a:p>
        </p:txBody>
      </p:sp>
      <p:sp>
        <p:nvSpPr>
          <p:cNvPr id="5" name="Rounded Rectangle 4"/>
          <p:cNvSpPr/>
          <p:nvPr/>
        </p:nvSpPr>
        <p:spPr>
          <a:xfrm>
            <a:off x="429768" y="1161288"/>
            <a:ext cx="6547104" cy="49377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Simple returned-only Phase 20 bar chart of the twenty non-MT genes appearing in the most sex/APOE by broad-cell categories" descr="Simple returned-only Phase 20 bar chart of the twenty non-MT genes appearing in the most sex/APOE by broad-cell categories"/>
          <p:cNvPicPr>
            <a:picLocks noChangeAspect="1"/>
          </p:cNvPicPr>
          <p:nvPr/>
        </p:nvPicPr>
        <p:blipFill>
          <a:blip r:embed="rId3"/>
          <a:stretch>
            <a:fillRect/>
          </a:stretch>
        </p:blipFill>
        <p:spPr>
          <a:xfrm>
            <a:off x="996696" y="1252728"/>
            <a:ext cx="5413248" cy="4736592"/>
          </a:xfrm>
          <a:prstGeom prst="rect">
            <a:avLst/>
          </a:prstGeom>
        </p:spPr>
      </p:pic>
      <p:sp>
        <p:nvSpPr>
          <p:cNvPr id="7" name="Rounded Rectangle 6"/>
          <p:cNvSpPr/>
          <p:nvPr/>
        </p:nvSpPr>
        <p:spPr>
          <a:xfrm>
            <a:off x="7232904" y="1298448"/>
            <a:ext cx="4343400" cy="45537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516368" y="1618488"/>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62672" y="1591056"/>
            <a:ext cx="3630168"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How to read it</a:t>
            </a:r>
          </a:p>
        </p:txBody>
      </p:sp>
      <p:sp>
        <p:nvSpPr>
          <p:cNvPr id="10" name="Oval 9"/>
          <p:cNvSpPr/>
          <p:nvPr/>
        </p:nvSpPr>
        <p:spPr>
          <a:xfrm>
            <a:off x="7525512" y="221284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699248" y="2084831"/>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30" b="0" i="0">
                <a:solidFill>
                  <a:srgbClr val="1F2730"/>
                </a:solidFill>
                <a:latin typeface="Arial"/>
              </a:rPr>
              <a:t>Bar length = number of categories containing the gene.</a:t>
            </a:r>
          </a:p>
        </p:txBody>
      </p:sp>
      <p:sp>
        <p:nvSpPr>
          <p:cNvPr id="12" name="Oval 11"/>
          <p:cNvSpPr/>
          <p:nvPr/>
        </p:nvSpPr>
        <p:spPr>
          <a:xfrm>
            <a:off x="7525512" y="277063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699248" y="2642615"/>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30" b="0" i="0">
                <a:solidFill>
                  <a:srgbClr val="1F2730"/>
                </a:solidFill>
                <a:latin typeface="Arial"/>
              </a:rPr>
              <a:t>Fill = categories whose score combines ≥2 returned calls.</a:t>
            </a:r>
          </a:p>
        </p:txBody>
      </p:sp>
      <p:sp>
        <p:nvSpPr>
          <p:cNvPr id="14" name="Oval 13"/>
          <p:cNvSpPr/>
          <p:nvPr/>
        </p:nvSpPr>
        <p:spPr>
          <a:xfrm>
            <a:off x="7525512" y="3328415"/>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699248" y="3200399"/>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30" b="0" i="0">
                <a:solidFill>
                  <a:srgbClr val="1F2730"/>
                </a:solidFill>
                <a:latin typeface="Arial"/>
              </a:rPr>
              <a:t>RPS15: 12 categories, 6 groups, 5 networks; ACAT in 4.</a:t>
            </a:r>
          </a:p>
        </p:txBody>
      </p:sp>
      <p:sp>
        <p:nvSpPr>
          <p:cNvPr id="16" name="Oval 15"/>
          <p:cNvSpPr/>
          <p:nvPr/>
        </p:nvSpPr>
        <p:spPr>
          <a:xfrm>
            <a:off x="7525512" y="388619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699248" y="3758183"/>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30" b="0" i="0">
                <a:solidFill>
                  <a:srgbClr val="1F2730"/>
                </a:solidFill>
                <a:latin typeface="Arial"/>
              </a:rPr>
              <a:t>RPL11: 10 categories, 6 groups, 4 networks; ACAT in 5.</a:t>
            </a:r>
          </a:p>
        </p:txBody>
      </p:sp>
      <p:sp>
        <p:nvSpPr>
          <p:cNvPr id="18" name="Oval 17"/>
          <p:cNvSpPr/>
          <p:nvPr/>
        </p:nvSpPr>
        <p:spPr>
          <a:xfrm>
            <a:off x="7525512" y="4443983"/>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699248" y="4315968"/>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30" b="0" i="0">
                <a:solidFill>
                  <a:srgbClr val="1F2730"/>
                </a:solidFill>
                <a:latin typeface="Arial"/>
              </a:rPr>
              <a:t>Top 20 by category count, best exploratory score, then symbol.</a:t>
            </a:r>
          </a:p>
        </p:txBody>
      </p:sp>
      <p:sp>
        <p:nvSpPr>
          <p:cNvPr id="21" name="TextBox 20"/>
          <p:cNvSpPr txBox="1"/>
          <p:nvPr/>
        </p:nvSpPr>
        <p:spPr>
          <a:xfrm>
            <a:off x="7690104" y="5202936"/>
            <a:ext cx="3401568" cy="246888"/>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010" b="1" i="0">
                <a:solidFill>
                  <a:srgbClr val="D55E00"/>
                </a:solidFill>
                <a:latin typeface="Arial"/>
              </a:rPr>
              <a:t>Fill shows calculation route—not evidence strength.</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100" b="1" i="0">
                <a:solidFill>
                  <a:srgbClr val="0F233D"/>
                </a:solidFill>
                <a:latin typeface="Arial"/>
              </a:rPr>
              <a:t>Simple output: 689 non-MT category units represent 433 genes</a:t>
            </a:r>
          </a:p>
        </p:txBody>
      </p:sp>
      <p:sp>
        <p:nvSpPr>
          <p:cNvPr id="5" name="Rounded Rectangle 4"/>
          <p:cNvSpPr/>
          <p:nvPr/>
        </p:nvSpPr>
        <p:spPr>
          <a:xfrm>
            <a:off x="658368"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04672"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1,033</a:t>
            </a:r>
          </a:p>
        </p:txBody>
      </p:sp>
      <p:sp>
        <p:nvSpPr>
          <p:cNvPr id="7" name="TextBox 6"/>
          <p:cNvSpPr txBox="1"/>
          <p:nvPr/>
        </p:nvSpPr>
        <p:spPr>
          <a:xfrm>
            <a:off x="804672"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80" b="1" i="0">
                <a:solidFill>
                  <a:srgbClr val="4E5A68"/>
                </a:solidFill>
                <a:latin typeface="Arial"/>
              </a:rPr>
              <a:t>non-MT returned call rows</a:t>
            </a:r>
          </a:p>
        </p:txBody>
      </p:sp>
      <p:sp>
        <p:nvSpPr>
          <p:cNvPr id="8" name="Rounded Rectangle 7"/>
          <p:cNvSpPr/>
          <p:nvPr/>
        </p:nvSpPr>
        <p:spPr>
          <a:xfrm>
            <a:off x="2798064"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944368"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689</a:t>
            </a:r>
          </a:p>
        </p:txBody>
      </p:sp>
      <p:sp>
        <p:nvSpPr>
          <p:cNvPr id="10" name="TextBox 9"/>
          <p:cNvSpPr txBox="1"/>
          <p:nvPr/>
        </p:nvSpPr>
        <p:spPr>
          <a:xfrm>
            <a:off x="2944368"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non-MT gene × category units</a:t>
            </a:r>
          </a:p>
        </p:txBody>
      </p:sp>
      <p:sp>
        <p:nvSpPr>
          <p:cNvPr id="11" name="Rounded Rectangle 10"/>
          <p:cNvSpPr/>
          <p:nvPr/>
        </p:nvSpPr>
        <p:spPr>
          <a:xfrm>
            <a:off x="4937760"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84064"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433</a:t>
            </a:r>
          </a:p>
        </p:txBody>
      </p:sp>
      <p:sp>
        <p:nvSpPr>
          <p:cNvPr id="13" name="TextBox 12"/>
          <p:cNvSpPr txBox="1"/>
          <p:nvPr/>
        </p:nvSpPr>
        <p:spPr>
          <a:xfrm>
            <a:off x="5084064"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distinct gene symbols</a:t>
            </a:r>
          </a:p>
        </p:txBody>
      </p:sp>
      <p:sp>
        <p:nvSpPr>
          <p:cNvPr id="14" name="Rounded Rectangle 13"/>
          <p:cNvSpPr/>
          <p:nvPr/>
        </p:nvSpPr>
        <p:spPr>
          <a:xfrm>
            <a:off x="7077456"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223760"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684D"/>
                </a:solidFill>
                <a:latin typeface="Arial"/>
              </a:rPr>
              <a:t>32</a:t>
            </a:r>
          </a:p>
        </p:txBody>
      </p:sp>
      <p:sp>
        <p:nvSpPr>
          <p:cNvPr id="16" name="TextBox 15"/>
          <p:cNvSpPr txBox="1"/>
          <p:nvPr/>
        </p:nvSpPr>
        <p:spPr>
          <a:xfrm>
            <a:off x="7223760"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categories with non-MT returns</a:t>
            </a:r>
          </a:p>
        </p:txBody>
      </p:sp>
      <p:sp>
        <p:nvSpPr>
          <p:cNvPr id="17" name="Rounded Rectangle 16"/>
          <p:cNvSpPr/>
          <p:nvPr/>
        </p:nvSpPr>
        <p:spPr>
          <a:xfrm>
            <a:off x="9217152"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363456"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895600"/>
                </a:solidFill>
                <a:latin typeface="Arial"/>
              </a:rPr>
              <a:t>149</a:t>
            </a:r>
          </a:p>
        </p:txBody>
      </p:sp>
      <p:sp>
        <p:nvSpPr>
          <p:cNvPr id="19" name="TextBox 18"/>
          <p:cNvSpPr txBox="1"/>
          <p:nvPr/>
        </p:nvSpPr>
        <p:spPr>
          <a:xfrm>
            <a:off x="9363456"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top-five displayed rows</a:t>
            </a:r>
          </a:p>
        </p:txBody>
      </p:sp>
      <p:sp>
        <p:nvSpPr>
          <p:cNvPr id="20" name="Rounded Rectangle 19"/>
          <p:cNvSpPr/>
          <p:nvPr/>
        </p:nvSpPr>
        <p:spPr>
          <a:xfrm>
            <a:off x="658368" y="2871216"/>
            <a:ext cx="5266944" cy="2834640"/>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932688" y="319125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78992" y="3163824"/>
            <a:ext cx="4572000"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Where non-MT driver units occur</a:t>
            </a:r>
          </a:p>
        </p:txBody>
      </p:sp>
      <p:sp>
        <p:nvSpPr>
          <p:cNvPr id="23" name="TextBox 22"/>
          <p:cNvSpPr txBox="1"/>
          <p:nvPr/>
        </p:nvSpPr>
        <p:spPr>
          <a:xfrm>
            <a:off x="941832" y="3685032"/>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19" b="1" i="0">
                <a:solidFill>
                  <a:srgbClr val="0072B2"/>
                </a:solidFill>
                <a:latin typeface="Arial"/>
              </a:rPr>
              <a:t>By sex/APOE group</a:t>
            </a:r>
          </a:p>
        </p:txBody>
      </p:sp>
      <p:sp>
        <p:nvSpPr>
          <p:cNvPr id="24" name="TextBox 23"/>
          <p:cNvSpPr txBox="1"/>
          <p:nvPr/>
        </p:nvSpPr>
        <p:spPr>
          <a:xfrm>
            <a:off x="941832" y="4023360"/>
            <a:ext cx="4544568" cy="5486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70" b="1" i="0">
                <a:solidFill>
                  <a:srgbClr val="0F233D"/>
                </a:solidFill>
                <a:latin typeface="Arial"/>
              </a:rPr>
              <a:t>M_e2 139  •  F_e4 133  •  M_e4 127  •  F_e2 101  •  M_e33 97  •  F_e33 92</a:t>
            </a:r>
          </a:p>
        </p:txBody>
      </p:sp>
      <p:sp>
        <p:nvSpPr>
          <p:cNvPr id="25" name="TextBox 24"/>
          <p:cNvSpPr txBox="1"/>
          <p:nvPr/>
        </p:nvSpPr>
        <p:spPr>
          <a:xfrm>
            <a:off x="941832" y="4718304"/>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19" b="1" i="0">
                <a:solidFill>
                  <a:srgbClr val="0072B2"/>
                </a:solidFill>
                <a:latin typeface="Arial"/>
              </a:rPr>
              <a:t>By broad network</a:t>
            </a:r>
          </a:p>
        </p:txBody>
      </p:sp>
      <p:sp>
        <p:nvSpPr>
          <p:cNvPr id="26" name="TextBox 25"/>
          <p:cNvSpPr txBox="1"/>
          <p:nvPr/>
        </p:nvSpPr>
        <p:spPr>
          <a:xfrm>
            <a:off x="941832" y="5010912"/>
            <a:ext cx="4544568"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30" b="1" i="0">
                <a:solidFill>
                  <a:srgbClr val="0F233D"/>
                </a:solidFill>
                <a:latin typeface="Arial"/>
              </a:rPr>
              <a:t>Excitatory 363 • Inhibitory 175 • Astrocytes 63 • OPCs 33
Oligo 27 • Microglia 23 • Vasculature 5</a:t>
            </a:r>
          </a:p>
        </p:txBody>
      </p:sp>
      <p:sp>
        <p:nvSpPr>
          <p:cNvPr id="27" name="Rounded Rectangle 26"/>
          <p:cNvSpPr/>
          <p:nvPr/>
        </p:nvSpPr>
        <p:spPr>
          <a:xfrm>
            <a:off x="6181344" y="2871216"/>
            <a:ext cx="5010912" cy="283464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455664" y="319125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601968" y="3163824"/>
            <a:ext cx="4315968"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Most recurrent returned-only genes</a:t>
            </a:r>
          </a:p>
        </p:txBody>
      </p:sp>
      <p:sp>
        <p:nvSpPr>
          <p:cNvPr id="30" name="TextBox 29"/>
          <p:cNvSpPr txBox="1"/>
          <p:nvPr/>
        </p:nvSpPr>
        <p:spPr>
          <a:xfrm>
            <a:off x="6473952" y="3675887"/>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1" i="0">
                <a:solidFill>
                  <a:srgbClr val="0F233D"/>
                </a:solidFill>
                <a:latin typeface="Arial"/>
              </a:rPr>
              <a:t>RPS15</a:t>
            </a:r>
          </a:p>
        </p:txBody>
      </p:sp>
      <p:sp>
        <p:nvSpPr>
          <p:cNvPr id="31" name="Rectangle 30"/>
          <p:cNvSpPr/>
          <p:nvPr/>
        </p:nvSpPr>
        <p:spPr>
          <a:xfrm>
            <a:off x="7891272" y="3703320"/>
            <a:ext cx="2395728"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0442448" y="3675887"/>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1040" b="1" i="0">
                <a:solidFill>
                  <a:srgbClr val="009E73"/>
                </a:solidFill>
                <a:latin typeface="Arial"/>
              </a:rPr>
              <a:t>12</a:t>
            </a:r>
          </a:p>
        </p:txBody>
      </p:sp>
      <p:sp>
        <p:nvSpPr>
          <p:cNvPr id="33" name="TextBox 32"/>
          <p:cNvSpPr txBox="1"/>
          <p:nvPr/>
        </p:nvSpPr>
        <p:spPr>
          <a:xfrm>
            <a:off x="6473952" y="3968496"/>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1" i="0">
                <a:solidFill>
                  <a:srgbClr val="0F233D"/>
                </a:solidFill>
                <a:latin typeface="Arial"/>
              </a:rPr>
              <a:t>RPL11</a:t>
            </a:r>
          </a:p>
        </p:txBody>
      </p:sp>
      <p:sp>
        <p:nvSpPr>
          <p:cNvPr id="34" name="Rectangle 33"/>
          <p:cNvSpPr/>
          <p:nvPr/>
        </p:nvSpPr>
        <p:spPr>
          <a:xfrm>
            <a:off x="7891272" y="3995928"/>
            <a:ext cx="1996440"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0442448" y="3968496"/>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1040" b="1" i="0">
                <a:solidFill>
                  <a:srgbClr val="009E73"/>
                </a:solidFill>
                <a:latin typeface="Arial"/>
              </a:rPr>
              <a:t>10</a:t>
            </a:r>
          </a:p>
        </p:txBody>
      </p:sp>
      <p:sp>
        <p:nvSpPr>
          <p:cNvPr id="36" name="TextBox 35"/>
          <p:cNvSpPr txBox="1"/>
          <p:nvPr/>
        </p:nvSpPr>
        <p:spPr>
          <a:xfrm>
            <a:off x="6473952" y="4261103"/>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1" i="0">
                <a:solidFill>
                  <a:srgbClr val="0F233D"/>
                </a:solidFill>
                <a:latin typeface="Arial"/>
              </a:rPr>
              <a:t>RPLP1</a:t>
            </a:r>
          </a:p>
        </p:txBody>
      </p:sp>
      <p:sp>
        <p:nvSpPr>
          <p:cNvPr id="37" name="Rectangle 36"/>
          <p:cNvSpPr/>
          <p:nvPr/>
        </p:nvSpPr>
        <p:spPr>
          <a:xfrm>
            <a:off x="7891272" y="4288536"/>
            <a:ext cx="1796796"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0442448" y="4261103"/>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1040" b="1" i="0">
                <a:solidFill>
                  <a:srgbClr val="009E73"/>
                </a:solidFill>
                <a:latin typeface="Arial"/>
              </a:rPr>
              <a:t>9</a:t>
            </a:r>
          </a:p>
        </p:txBody>
      </p:sp>
      <p:sp>
        <p:nvSpPr>
          <p:cNvPr id="39" name="TextBox 38"/>
          <p:cNvSpPr txBox="1"/>
          <p:nvPr/>
        </p:nvSpPr>
        <p:spPr>
          <a:xfrm>
            <a:off x="6473952" y="4553712"/>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1" i="0">
                <a:solidFill>
                  <a:srgbClr val="0F233D"/>
                </a:solidFill>
                <a:latin typeface="Arial"/>
              </a:rPr>
              <a:t>RPL15</a:t>
            </a:r>
          </a:p>
        </p:txBody>
      </p:sp>
      <p:sp>
        <p:nvSpPr>
          <p:cNvPr id="40" name="Rectangle 39"/>
          <p:cNvSpPr/>
          <p:nvPr/>
        </p:nvSpPr>
        <p:spPr>
          <a:xfrm>
            <a:off x="7891272" y="4581144"/>
            <a:ext cx="1796796"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10442448" y="4553712"/>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1040" b="1" i="0">
                <a:solidFill>
                  <a:srgbClr val="009E73"/>
                </a:solidFill>
                <a:latin typeface="Arial"/>
              </a:rPr>
              <a:t>9</a:t>
            </a:r>
          </a:p>
        </p:txBody>
      </p:sp>
      <p:sp>
        <p:nvSpPr>
          <p:cNvPr id="42" name="TextBox 41"/>
          <p:cNvSpPr txBox="1"/>
          <p:nvPr/>
        </p:nvSpPr>
        <p:spPr>
          <a:xfrm>
            <a:off x="6473952" y="4846320"/>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1" i="0">
                <a:solidFill>
                  <a:srgbClr val="0F233D"/>
                </a:solidFill>
                <a:latin typeface="Arial"/>
              </a:rPr>
              <a:t>SELENOW</a:t>
            </a:r>
          </a:p>
        </p:txBody>
      </p:sp>
      <p:sp>
        <p:nvSpPr>
          <p:cNvPr id="43" name="Rectangle 42"/>
          <p:cNvSpPr/>
          <p:nvPr/>
        </p:nvSpPr>
        <p:spPr>
          <a:xfrm>
            <a:off x="7891272" y="4873752"/>
            <a:ext cx="1597152"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0442448" y="4846320"/>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1040" b="1" i="0">
                <a:solidFill>
                  <a:srgbClr val="009E73"/>
                </a:solidFill>
                <a:latin typeface="Arial"/>
              </a:rPr>
              <a:t>8</a:t>
            </a:r>
          </a:p>
        </p:txBody>
      </p:sp>
      <p:sp>
        <p:nvSpPr>
          <p:cNvPr id="45" name="TextBox 44"/>
          <p:cNvSpPr txBox="1"/>
          <p:nvPr/>
        </p:nvSpPr>
        <p:spPr>
          <a:xfrm>
            <a:off x="6473952" y="5138927"/>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1" i="0">
                <a:solidFill>
                  <a:srgbClr val="0F233D"/>
                </a:solidFill>
                <a:latin typeface="Arial"/>
              </a:rPr>
              <a:t>SELENOM</a:t>
            </a:r>
          </a:p>
        </p:txBody>
      </p:sp>
      <p:sp>
        <p:nvSpPr>
          <p:cNvPr id="46" name="Rectangle 45"/>
          <p:cNvSpPr/>
          <p:nvPr/>
        </p:nvSpPr>
        <p:spPr>
          <a:xfrm>
            <a:off x="7891272" y="5166359"/>
            <a:ext cx="1597152"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10442448" y="5138927"/>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1040" b="1" i="0">
                <a:solidFill>
                  <a:srgbClr val="009E73"/>
                </a:solidFill>
                <a:latin typeface="Arial"/>
              </a:rPr>
              <a:t>8</a:t>
            </a:r>
          </a:p>
        </p:txBody>
      </p:sp>
      <p:sp>
        <p:nvSpPr>
          <p:cNvPr id="48" name="TextBox 47"/>
          <p:cNvSpPr txBox="1"/>
          <p:nvPr/>
        </p:nvSpPr>
        <p:spPr>
          <a:xfrm>
            <a:off x="6473952" y="5477256"/>
            <a:ext cx="4334256"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69" b="0" i="1">
                <a:solidFill>
                  <a:srgbClr val="4E5A68"/>
                </a:solidFill>
                <a:latin typeface="Arial"/>
              </a:rPr>
              <a:t>Counts are category presence—not independent replication or call counts.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p:cNvSpPr txBox="1"/>
          <p:nvPr/>
        </p:nvSpPr>
        <p:spPr>
          <a:xfrm>
            <a:off x="713232" y="612648"/>
            <a:ext cx="2194560"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50" b="1" i="0">
                <a:solidFill>
                  <a:srgbClr val="009E73"/>
                </a:solidFill>
                <a:latin typeface="Arial"/>
              </a:rPr>
              <a:t>PART 2</a:t>
            </a:r>
          </a:p>
        </p:txBody>
      </p:sp>
      <p:sp>
        <p:nvSpPr>
          <p:cNvPr id="3" name="Rectangle 2"/>
          <p:cNvSpPr/>
          <p:nvPr/>
        </p:nvSpPr>
        <p:spPr>
          <a:xfrm>
            <a:off x="713232" y="1152144"/>
            <a:ext cx="91440" cy="217627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78992" y="1243584"/>
            <a:ext cx="7909560" cy="122529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3200" b="1" i="0">
                <a:solidFill>
                  <a:srgbClr val="FFFFFF"/>
                </a:solidFill>
                <a:latin typeface="Arial"/>
              </a:rPr>
              <a:t>Direct broad-cell sex/APOE KDA</a:t>
            </a:r>
          </a:p>
        </p:txBody>
      </p:sp>
      <p:sp>
        <p:nvSpPr>
          <p:cNvPr id="5" name="TextBox 4"/>
          <p:cNvSpPr txBox="1"/>
          <p:nvPr/>
        </p:nvSpPr>
        <p:spPr>
          <a:xfrm>
            <a:off x="1097280" y="2743200"/>
            <a:ext cx="7589520" cy="76809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00" b="0" i="0">
                <a:solidFill>
                  <a:srgbClr val="CCDBEA"/>
                </a:solidFill>
                <a:latin typeface="Arial"/>
              </a:rPr>
              <a:t>Seven broad cell types are tested directly within six sex/APOE groups; each eligible direction remains its own KDA result.</a:t>
            </a:r>
          </a:p>
        </p:txBody>
      </p:sp>
      <p:sp>
        <p:nvSpPr>
          <p:cNvPr id="6" name="Rounded Rectangle 5"/>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40" b="1" i="0">
                <a:solidFill>
                  <a:srgbClr val="009E73"/>
                </a:solidFill>
                <a:latin typeface="Arial"/>
              </a:rPr>
              <a:t>IN THIS PART</a:t>
            </a:r>
          </a:p>
        </p:txBody>
      </p:sp>
      <p:sp>
        <p:nvSpPr>
          <p:cNvPr id="8" name="Oval 7"/>
          <p:cNvSpPr/>
          <p:nvPr/>
        </p:nvSpPr>
        <p:spPr>
          <a:xfrm>
            <a:off x="9198864" y="2039112"/>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0F233D"/>
                </a:solidFill>
                <a:latin typeface="Arial"/>
              </a:rPr>
              <a:t>1</a:t>
            </a:r>
          </a:p>
        </p:txBody>
      </p:sp>
      <p:sp>
        <p:nvSpPr>
          <p:cNvPr id="10" name="TextBox 9"/>
          <p:cNvSpPr txBox="1"/>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1" i="0">
                <a:solidFill>
                  <a:srgbClr val="FFFFFF"/>
                </a:solidFill>
                <a:latin typeface="Arial"/>
              </a:rPr>
              <a:t>Run universe</a:t>
            </a:r>
          </a:p>
        </p:txBody>
      </p:sp>
      <p:sp>
        <p:nvSpPr>
          <p:cNvPr id="11" name="Oval 10"/>
          <p:cNvSpPr/>
          <p:nvPr/>
        </p:nvSpPr>
        <p:spPr>
          <a:xfrm>
            <a:off x="9198864" y="2788920"/>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0F233D"/>
                </a:solidFill>
                <a:latin typeface="Arial"/>
              </a:rPr>
              <a:t>2</a:t>
            </a:r>
          </a:p>
        </p:txBody>
      </p:sp>
      <p:sp>
        <p:nvSpPr>
          <p:cNvPr id="13" name="TextBox 12"/>
          <p:cNvSpPr txBox="1"/>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1" i="0">
                <a:solidFill>
                  <a:srgbClr val="FFFFFF"/>
                </a:solidFill>
                <a:latin typeface="Arial"/>
              </a:rPr>
              <a:t>Direct funnel</a:t>
            </a:r>
          </a:p>
        </p:txBody>
      </p:sp>
      <p:sp>
        <p:nvSpPr>
          <p:cNvPr id="14" name="Oval 13"/>
          <p:cNvSpPr/>
          <p:nvPr/>
        </p:nvSpPr>
        <p:spPr>
          <a:xfrm>
            <a:off x="9198864" y="3538727"/>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0F233D"/>
                </a:solidFill>
                <a:latin typeface="Arial"/>
              </a:rPr>
              <a:t>3</a:t>
            </a:r>
          </a:p>
        </p:txBody>
      </p:sp>
      <p:sp>
        <p:nvSpPr>
          <p:cNvPr id="16" name="TextBox 15"/>
          <p:cNvSpPr txBox="1"/>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1" i="0">
                <a:solidFill>
                  <a:srgbClr val="FFFFFF"/>
                </a:solidFill>
                <a:latin typeface="Arial"/>
              </a:rPr>
              <a:t>Supported genes</a:t>
            </a:r>
          </a:p>
        </p:txBody>
      </p:sp>
      <p:sp>
        <p:nvSpPr>
          <p:cNvPr id="17" name="Oval 16"/>
          <p:cNvSpPr/>
          <p:nvPr/>
        </p:nvSpPr>
        <p:spPr>
          <a:xfrm>
            <a:off x="9198864" y="4288536"/>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0F233D"/>
                </a:solidFill>
                <a:latin typeface="Arial"/>
              </a:rPr>
              <a:t>4</a:t>
            </a:r>
          </a:p>
        </p:txBody>
      </p:sp>
      <p:sp>
        <p:nvSpPr>
          <p:cNvPr id="19" name="TextBox 18"/>
          <p:cNvSpPr txBox="1"/>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1" i="0">
                <a:solidFill>
                  <a:srgbClr val="FFFFFF"/>
                </a:solidFill>
                <a:latin typeface="Arial"/>
              </a:rPr>
              <a:t>Result figures</a:t>
            </a:r>
          </a:p>
        </p:txBody>
      </p:sp>
      <p:sp>
        <p:nvSpPr>
          <p:cNvPr id="20" name="TextBox 19"/>
          <p:cNvSpPr txBox="1"/>
          <p:nvPr/>
        </p:nvSpPr>
        <p:spPr>
          <a:xfrm>
            <a:off x="713232" y="6574536"/>
            <a:ext cx="10241280" cy="1280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650" b="0" i="0">
                <a:solidFill>
                  <a:srgbClr val="9DB0C3"/>
                </a:solidFill>
                <a:latin typeface="Arial"/>
              </a:rPr>
              <a:t>Source: docs/phase_20_sex_apoe_kda/phase20_broad_funnel_explained.md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100" b="1" i="0">
                <a:solidFill>
                  <a:srgbClr val="0F233D"/>
                </a:solidFill>
                <a:latin typeface="Arial"/>
              </a:rPr>
              <a:t>Broad-cell candidates stay attached to one cell type, group, and direction</a:t>
            </a:r>
          </a:p>
        </p:txBody>
      </p:sp>
      <p:sp>
        <p:nvSpPr>
          <p:cNvPr id="4" name="TextBox 3"/>
          <p:cNvSpPr txBox="1"/>
          <p:nvPr/>
        </p:nvSpPr>
        <p:spPr>
          <a:xfrm>
            <a:off x="548640" y="886968"/>
            <a:ext cx="10561320" cy="227755"/>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dirty="0">
                <a:solidFill>
                  <a:srgbClr val="4E5A68"/>
                </a:solidFill>
                <a:latin typeface="Arial"/>
              </a:rPr>
              <a:t>There is no cross-run aggregation step</a:t>
            </a:r>
          </a:p>
        </p:txBody>
      </p:sp>
      <p:sp>
        <p:nvSpPr>
          <p:cNvPr id="5" name="Rounded Rectangle 4"/>
          <p:cNvSpPr/>
          <p:nvPr/>
        </p:nvSpPr>
        <p:spPr>
          <a:xfrm>
            <a:off x="603504" y="1371600"/>
            <a:ext cx="2587752" cy="423367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04672" y="1627632"/>
            <a:ext cx="438912" cy="438912"/>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467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1" i="0">
                <a:solidFill>
                  <a:srgbClr val="FFFFFF"/>
                </a:solidFill>
                <a:latin typeface="Arial"/>
              </a:rPr>
              <a:t>1</a:t>
            </a:r>
          </a:p>
        </p:txBody>
      </p:sp>
      <p:sp>
        <p:nvSpPr>
          <p:cNvPr id="8" name="TextBox 7"/>
          <p:cNvSpPr txBox="1"/>
          <p:nvPr/>
        </p:nvSpPr>
        <p:spPr>
          <a:xfrm>
            <a:off x="80467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900" b="1" i="0">
                <a:solidFill>
                  <a:srgbClr val="0F233D"/>
                </a:solidFill>
                <a:latin typeface="Arial"/>
              </a:rPr>
              <a:t>DEG contrast</a:t>
            </a:r>
          </a:p>
        </p:txBody>
      </p:sp>
      <p:sp>
        <p:nvSpPr>
          <p:cNvPr id="9" name="TextBox 8"/>
          <p:cNvSpPr txBox="1"/>
          <p:nvPr/>
        </p:nvSpPr>
        <p:spPr>
          <a:xfrm>
            <a:off x="804672" y="3017520"/>
            <a:ext cx="2157984" cy="59436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20" b="1" i="0">
                <a:solidFill>
                  <a:srgbClr val="009E73"/>
                </a:solidFill>
                <a:latin typeface="Arial"/>
              </a:rPr>
              <a:t>broad type × sex/APOE</a:t>
            </a:r>
          </a:p>
        </p:txBody>
      </p:sp>
      <p:sp>
        <p:nvSpPr>
          <p:cNvPr id="10" name="Rounded Rectangle 9"/>
          <p:cNvSpPr/>
          <p:nvPr/>
        </p:nvSpPr>
        <p:spPr>
          <a:xfrm>
            <a:off x="78638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4005072"/>
            <a:ext cx="1938528" cy="786384"/>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950" b="0" i="0">
                <a:solidFill>
                  <a:srgbClr val="4E5A68"/>
                </a:solidFill>
                <a:latin typeface="Arial"/>
              </a:rPr>
              <a:t>One AD-vs-NCI contrast from a donor-level broad-cell model</a:t>
            </a:r>
          </a:p>
        </p:txBody>
      </p:sp>
      <p:sp>
        <p:nvSpPr>
          <p:cNvPr id="12" name="Rounded Rectangle 11"/>
          <p:cNvSpPr/>
          <p:nvPr/>
        </p:nvSpPr>
        <p:spPr>
          <a:xfrm>
            <a:off x="3438144" y="1371600"/>
            <a:ext cx="2587752" cy="4233672"/>
          </a:xfrm>
          <a:prstGeom prst="roundRect">
            <a:avLst/>
          </a:prstGeom>
          <a:solidFill>
            <a:srgbClr val="EBF7FC"/>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3639312" y="1627632"/>
            <a:ext cx="438912" cy="438912"/>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3931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1" i="0">
                <a:solidFill>
                  <a:srgbClr val="FFFFFF"/>
                </a:solidFill>
                <a:latin typeface="Arial"/>
              </a:rPr>
              <a:t>2</a:t>
            </a:r>
          </a:p>
        </p:txBody>
      </p:sp>
      <p:sp>
        <p:nvSpPr>
          <p:cNvPr id="15" name="TextBox 14"/>
          <p:cNvSpPr txBox="1"/>
          <p:nvPr/>
        </p:nvSpPr>
        <p:spPr>
          <a:xfrm>
            <a:off x="363931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900" b="1" i="0">
                <a:solidFill>
                  <a:srgbClr val="0F233D"/>
                </a:solidFill>
                <a:latin typeface="Arial"/>
              </a:rPr>
              <a:t>Directional slot</a:t>
            </a:r>
          </a:p>
        </p:txBody>
      </p:sp>
      <p:sp>
        <p:nvSpPr>
          <p:cNvPr id="16" name="TextBox 15"/>
          <p:cNvSpPr txBox="1"/>
          <p:nvPr/>
        </p:nvSpPr>
        <p:spPr>
          <a:xfrm>
            <a:off x="3639312" y="3017520"/>
            <a:ext cx="2157984" cy="59436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20" b="1" i="0">
                <a:solidFill>
                  <a:srgbClr val="009E73"/>
                </a:solidFill>
                <a:latin typeface="Arial"/>
              </a:rPr>
              <a:t>+ AD-up or AD-down</a:t>
            </a:r>
          </a:p>
        </p:txBody>
      </p:sp>
      <p:sp>
        <p:nvSpPr>
          <p:cNvPr id="17" name="Rounded Rectangle 16"/>
          <p:cNvSpPr/>
          <p:nvPr/>
        </p:nvSpPr>
        <p:spPr>
          <a:xfrm>
            <a:off x="362102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749040" y="4005072"/>
            <a:ext cx="1938528" cy="786384"/>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950" b="0" i="0">
                <a:solidFill>
                  <a:srgbClr val="4E5A68"/>
                </a:solidFill>
                <a:latin typeface="Arial"/>
              </a:rPr>
              <a:t>A possible core-MT query</a:t>
            </a:r>
          </a:p>
        </p:txBody>
      </p:sp>
      <p:sp>
        <p:nvSpPr>
          <p:cNvPr id="19" name="Rounded Rectangle 18"/>
          <p:cNvSpPr/>
          <p:nvPr/>
        </p:nvSpPr>
        <p:spPr>
          <a:xfrm>
            <a:off x="6272784" y="1371600"/>
            <a:ext cx="2587752" cy="4233672"/>
          </a:xfrm>
          <a:prstGeom prst="roundRect">
            <a:avLst/>
          </a:prstGeom>
          <a:solidFill>
            <a:srgbClr val="E4F0F8"/>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6473952" y="1627632"/>
            <a:ext cx="438912" cy="438912"/>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7395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1" i="0">
                <a:solidFill>
                  <a:srgbClr val="FFFFFF"/>
                </a:solidFill>
                <a:latin typeface="Arial"/>
              </a:rPr>
              <a:t>3</a:t>
            </a:r>
          </a:p>
        </p:txBody>
      </p:sp>
      <p:sp>
        <p:nvSpPr>
          <p:cNvPr id="22" name="TextBox 21"/>
          <p:cNvSpPr txBox="1"/>
          <p:nvPr/>
        </p:nvSpPr>
        <p:spPr>
          <a:xfrm>
            <a:off x="647395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900" b="1" i="0">
                <a:solidFill>
                  <a:srgbClr val="0F233D"/>
                </a:solidFill>
                <a:latin typeface="Arial"/>
              </a:rPr>
              <a:t>KDA run</a:t>
            </a:r>
          </a:p>
        </p:txBody>
      </p:sp>
      <p:sp>
        <p:nvSpPr>
          <p:cNvPr id="23" name="TextBox 22"/>
          <p:cNvSpPr txBox="1"/>
          <p:nvPr/>
        </p:nvSpPr>
        <p:spPr>
          <a:xfrm>
            <a:off x="6473952" y="3017520"/>
            <a:ext cx="2157984" cy="59436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20" b="1" i="0">
                <a:solidFill>
                  <a:srgbClr val="009E73"/>
                </a:solidFill>
                <a:latin typeface="Arial"/>
              </a:rPr>
              <a:t>eligible slot with query n ≥ 3</a:t>
            </a:r>
          </a:p>
        </p:txBody>
      </p:sp>
      <p:sp>
        <p:nvSpPr>
          <p:cNvPr id="24" name="Rounded Rectangle 23"/>
          <p:cNvSpPr/>
          <p:nvPr/>
        </p:nvSpPr>
        <p:spPr>
          <a:xfrm>
            <a:off x="645566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583680" y="4005072"/>
            <a:ext cx="1938528" cy="786384"/>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950" b="0" i="0">
                <a:solidFill>
                  <a:srgbClr val="4E5A68"/>
                </a:solidFill>
                <a:latin typeface="Arial"/>
              </a:rPr>
              <a:t>One network and one direction</a:t>
            </a:r>
          </a:p>
        </p:txBody>
      </p:sp>
      <p:sp>
        <p:nvSpPr>
          <p:cNvPr id="26" name="Rounded Rectangle 25"/>
          <p:cNvSpPr/>
          <p:nvPr/>
        </p:nvSpPr>
        <p:spPr>
          <a:xfrm>
            <a:off x="9107424" y="1371600"/>
            <a:ext cx="2587752" cy="423367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9308592" y="1627632"/>
            <a:ext cx="438912" cy="438912"/>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30859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1" i="0">
                <a:solidFill>
                  <a:srgbClr val="FFFFFF"/>
                </a:solidFill>
                <a:latin typeface="Arial"/>
              </a:rPr>
              <a:t>4</a:t>
            </a:r>
          </a:p>
        </p:txBody>
      </p:sp>
      <p:sp>
        <p:nvSpPr>
          <p:cNvPr id="29" name="TextBox 28"/>
          <p:cNvSpPr txBox="1"/>
          <p:nvPr/>
        </p:nvSpPr>
        <p:spPr>
          <a:xfrm>
            <a:off x="930859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900" b="1" i="0">
                <a:solidFill>
                  <a:srgbClr val="0F233D"/>
                </a:solidFill>
                <a:latin typeface="Arial"/>
              </a:rPr>
              <a:t>Candidate row</a:t>
            </a:r>
          </a:p>
        </p:txBody>
      </p:sp>
      <p:sp>
        <p:nvSpPr>
          <p:cNvPr id="30" name="TextBox 29"/>
          <p:cNvSpPr txBox="1"/>
          <p:nvPr/>
        </p:nvSpPr>
        <p:spPr>
          <a:xfrm>
            <a:off x="9308592" y="3017520"/>
            <a:ext cx="2157984" cy="59436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20" b="1" i="0">
                <a:solidFill>
                  <a:srgbClr val="E69F00"/>
                </a:solidFill>
                <a:latin typeface="Arial"/>
              </a:rPr>
              <a:t>gene × broad × group × direction</a:t>
            </a:r>
          </a:p>
        </p:txBody>
      </p:sp>
      <p:sp>
        <p:nvSpPr>
          <p:cNvPr id="31" name="Rounded Rectangle 30"/>
          <p:cNvSpPr/>
          <p:nvPr/>
        </p:nvSpPr>
        <p:spPr>
          <a:xfrm>
            <a:off x="929030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418320" y="4005072"/>
            <a:ext cx="1938528" cy="786384"/>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950" b="0" i="0">
                <a:solidFill>
                  <a:srgbClr val="4E5A68"/>
                </a:solidFill>
                <a:latin typeface="Arial"/>
              </a:rPr>
              <a:t>One recomputed non-MT run q</a:t>
            </a:r>
          </a:p>
        </p:txBody>
      </p:sp>
      <p:sp>
        <p:nvSpPr>
          <p:cNvPr id="33" name="Rectangle 32"/>
          <p:cNvSpPr/>
          <p:nvPr/>
        </p:nvSpPr>
        <p:spPr>
          <a:xfrm>
            <a:off x="502920" y="6153912"/>
            <a:ext cx="11173968" cy="393192"/>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502920" y="6153912"/>
            <a:ext cx="91440" cy="39319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22376" y="6217920"/>
            <a:ext cx="10744200" cy="25603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70" b="1" i="0">
                <a:solidFill>
                  <a:srgbClr val="FFFFFF"/>
                </a:solidFill>
                <a:latin typeface="Arial"/>
              </a:rPr>
              <a:t>A broad candidate is a gene selected from one direction-specific KDA run—not an ACAT-combined gene.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182880"/>
            <a:ext cx="402336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19" b="1" i="0">
                <a:solidFill>
                  <a:srgbClr val="00684D"/>
                </a:solidFill>
                <a:latin typeface="Arial"/>
              </a:rPr>
              <a:t>BROAD RUNS</a:t>
            </a:r>
          </a:p>
        </p:txBody>
      </p:sp>
      <p:sp>
        <p:nvSpPr>
          <p:cNvPr id="3" name="TextBox 2"/>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7 broad cell types create 84 slots—but only 3 direct KDA runs</a:t>
            </a:r>
          </a:p>
        </p:txBody>
      </p:sp>
      <p:sp>
        <p:nvSpPr>
          <p:cNvPr id="4" name="TextBox 3"/>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The 84 slots are planned opportunities; they are not 84 executed KDA jobs.</a:t>
            </a:r>
          </a:p>
        </p:txBody>
      </p:sp>
      <p:sp>
        <p:nvSpPr>
          <p:cNvPr id="5" name="Rounded Rectangle 4"/>
          <p:cNvSpPr/>
          <p:nvPr/>
        </p:nvSpPr>
        <p:spPr>
          <a:xfrm>
            <a:off x="640080" y="1344168"/>
            <a:ext cx="3383280" cy="1197864"/>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591056"/>
            <a:ext cx="2926080" cy="28346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900" b="1" i="0">
                <a:solidFill>
                  <a:srgbClr val="0F233D"/>
                </a:solidFill>
                <a:latin typeface="Arial"/>
              </a:rPr>
              <a:t>7 broad cell types</a:t>
            </a:r>
          </a:p>
        </p:txBody>
      </p:sp>
      <p:sp>
        <p:nvSpPr>
          <p:cNvPr id="7" name="TextBox 6"/>
          <p:cNvSpPr txBox="1"/>
          <p:nvPr/>
        </p:nvSpPr>
        <p:spPr>
          <a:xfrm>
            <a:off x="868680"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230" b="1" i="0">
                <a:solidFill>
                  <a:srgbClr val="009E73"/>
                </a:solidFill>
                <a:latin typeface="Arial"/>
              </a:rPr>
              <a:t>× 6 groups = 42 DEG contrasts</a:t>
            </a:r>
          </a:p>
        </p:txBody>
      </p:sp>
      <p:sp>
        <p:nvSpPr>
          <p:cNvPr id="8" name="Rounded Rectangle 7"/>
          <p:cNvSpPr/>
          <p:nvPr/>
        </p:nvSpPr>
        <p:spPr>
          <a:xfrm>
            <a:off x="4407408" y="1344168"/>
            <a:ext cx="3383280" cy="1197864"/>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636008" y="1591056"/>
            <a:ext cx="2926080" cy="28346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900" b="1" i="0">
                <a:solidFill>
                  <a:srgbClr val="0F233D"/>
                </a:solidFill>
                <a:latin typeface="Arial"/>
              </a:rPr>
              <a:t>42 planned contrasts</a:t>
            </a:r>
          </a:p>
        </p:txBody>
      </p:sp>
      <p:sp>
        <p:nvSpPr>
          <p:cNvPr id="10" name="TextBox 9"/>
          <p:cNvSpPr txBox="1"/>
          <p:nvPr/>
        </p:nvSpPr>
        <p:spPr>
          <a:xfrm>
            <a:off x="4636008"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40" b="1" i="0">
                <a:solidFill>
                  <a:srgbClr val="009E73"/>
                </a:solidFill>
                <a:latin typeface="Arial"/>
              </a:rPr>
              <a:t>× up/down = 84 predeclared slots</a:t>
            </a:r>
          </a:p>
        </p:txBody>
      </p:sp>
      <p:sp>
        <p:nvSpPr>
          <p:cNvPr id="11" name="Rounded Rectangle 10"/>
          <p:cNvSpPr/>
          <p:nvPr/>
        </p:nvSpPr>
        <p:spPr>
          <a:xfrm>
            <a:off x="8174736" y="1344168"/>
            <a:ext cx="3383280" cy="1197864"/>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03336" y="1591056"/>
            <a:ext cx="2926080" cy="28346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900" b="1" i="0">
                <a:solidFill>
                  <a:srgbClr val="0F233D"/>
                </a:solidFill>
                <a:latin typeface="Arial"/>
              </a:rPr>
              <a:t>3 completed runs</a:t>
            </a:r>
          </a:p>
        </p:txBody>
      </p:sp>
      <p:sp>
        <p:nvSpPr>
          <p:cNvPr id="13" name="TextBox 12"/>
          <p:cNvSpPr txBox="1"/>
          <p:nvPr/>
        </p:nvSpPr>
        <p:spPr>
          <a:xfrm>
            <a:off x="8403336"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230" b="1" i="0">
                <a:solidFill>
                  <a:srgbClr val="E69F00"/>
                </a:solidFill>
                <a:latin typeface="Arial"/>
              </a:rPr>
              <a:t>all three use AD-down queries</a:t>
            </a:r>
          </a:p>
        </p:txBody>
      </p:sp>
      <p:sp>
        <p:nvSpPr>
          <p:cNvPr id="14" name="Rectangle 13"/>
          <p:cNvSpPr/>
          <p:nvPr/>
        </p:nvSpPr>
        <p:spPr>
          <a:xfrm>
            <a:off x="786384" y="2898648"/>
            <a:ext cx="580644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41247" y="2953512"/>
            <a:ext cx="5696712" cy="33832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1" i="0">
                <a:solidFill>
                  <a:srgbClr val="FFFFFF"/>
                </a:solidFill>
                <a:latin typeface="Arial"/>
              </a:rPr>
              <a:t>Mutually exclusive relaxed-tier outcome</a:t>
            </a:r>
          </a:p>
        </p:txBody>
      </p:sp>
      <p:sp>
        <p:nvSpPr>
          <p:cNvPr id="16" name="Rectangle 15"/>
          <p:cNvSpPr/>
          <p:nvPr/>
        </p:nvSpPr>
        <p:spPr>
          <a:xfrm>
            <a:off x="6592824" y="2898648"/>
            <a:ext cx="1115568"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47688" y="2953512"/>
            <a:ext cx="1005840" cy="33832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1" i="0">
                <a:solidFill>
                  <a:srgbClr val="FFFFFF"/>
                </a:solidFill>
                <a:latin typeface="Arial"/>
              </a:rPr>
              <a:t>Slots</a:t>
            </a:r>
          </a:p>
        </p:txBody>
      </p:sp>
      <p:sp>
        <p:nvSpPr>
          <p:cNvPr id="18" name="Rectangle 17"/>
          <p:cNvSpPr/>
          <p:nvPr/>
        </p:nvSpPr>
        <p:spPr>
          <a:xfrm>
            <a:off x="7708392" y="2898648"/>
            <a:ext cx="361188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63256" y="2953512"/>
            <a:ext cx="3502152" cy="33832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1" i="0">
                <a:solidFill>
                  <a:srgbClr val="FFFFFF"/>
                </a:solidFill>
                <a:latin typeface="Arial"/>
              </a:rPr>
              <a:t>Interpretation</a:t>
            </a:r>
          </a:p>
        </p:txBody>
      </p:sp>
      <p:sp>
        <p:nvSpPr>
          <p:cNvPr id="20" name="Rectangle 19"/>
          <p:cNvSpPr/>
          <p:nvPr/>
        </p:nvSpPr>
        <p:spPr>
          <a:xfrm>
            <a:off x="786384" y="3328415"/>
            <a:ext cx="5806440" cy="43891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41247" y="3374135"/>
            <a:ext cx="5696712" cy="36575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Source DEG contrast not estimable</a:t>
            </a:r>
          </a:p>
        </p:txBody>
      </p:sp>
      <p:sp>
        <p:nvSpPr>
          <p:cNvPr id="22" name="Rectangle 21"/>
          <p:cNvSpPr/>
          <p:nvPr/>
        </p:nvSpPr>
        <p:spPr>
          <a:xfrm>
            <a:off x="6592824" y="3328415"/>
            <a:ext cx="1115568" cy="43891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647688" y="3374135"/>
            <a:ext cx="1005840" cy="36575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4</a:t>
            </a:r>
          </a:p>
        </p:txBody>
      </p:sp>
      <p:sp>
        <p:nvSpPr>
          <p:cNvPr id="24" name="Rectangle 23"/>
          <p:cNvSpPr/>
          <p:nvPr/>
        </p:nvSpPr>
        <p:spPr>
          <a:xfrm>
            <a:off x="7708392" y="3328415"/>
            <a:ext cx="3611880" cy="43891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763256" y="3374135"/>
            <a:ext cx="3502152" cy="36575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2 contrasts × 2 directions</a:t>
            </a:r>
          </a:p>
        </p:txBody>
      </p:sp>
      <p:sp>
        <p:nvSpPr>
          <p:cNvPr id="26" name="Rectangle 25"/>
          <p:cNvSpPr/>
          <p:nvPr/>
        </p:nvSpPr>
        <p:spPr>
          <a:xfrm>
            <a:off x="786384" y="3767327"/>
            <a:ext cx="5806440" cy="43891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41247" y="3813047"/>
            <a:ext cx="5696712" cy="36575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No provisional directional core-MT query</a:t>
            </a:r>
          </a:p>
        </p:txBody>
      </p:sp>
      <p:sp>
        <p:nvSpPr>
          <p:cNvPr id="28" name="Rectangle 27"/>
          <p:cNvSpPr/>
          <p:nvPr/>
        </p:nvSpPr>
        <p:spPr>
          <a:xfrm>
            <a:off x="6592824" y="3767327"/>
            <a:ext cx="1115568" cy="43891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647688" y="3813047"/>
            <a:ext cx="1005840" cy="36575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61</a:t>
            </a:r>
          </a:p>
        </p:txBody>
      </p:sp>
      <p:sp>
        <p:nvSpPr>
          <p:cNvPr id="30" name="Rectangle 29"/>
          <p:cNvSpPr/>
          <p:nvPr/>
        </p:nvSpPr>
        <p:spPr>
          <a:xfrm>
            <a:off x="7708392" y="3767327"/>
            <a:ext cx="3611880" cy="43891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763256" y="3813047"/>
            <a:ext cx="3502152" cy="36575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No query genes pass DEG rules</a:t>
            </a:r>
          </a:p>
        </p:txBody>
      </p:sp>
      <p:sp>
        <p:nvSpPr>
          <p:cNvPr id="32" name="Rectangle 31"/>
          <p:cNvSpPr/>
          <p:nvPr/>
        </p:nvSpPr>
        <p:spPr>
          <a:xfrm>
            <a:off x="786384" y="4206240"/>
            <a:ext cx="5806440" cy="43891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41247" y="4333272"/>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dirty="0">
                <a:solidFill>
                  <a:srgbClr val="1F2730"/>
                </a:solidFill>
                <a:latin typeface="Arial"/>
              </a:rPr>
              <a:t>Effective query empty</a:t>
            </a:r>
          </a:p>
        </p:txBody>
      </p:sp>
      <p:sp>
        <p:nvSpPr>
          <p:cNvPr id="34" name="Rectangle 33"/>
          <p:cNvSpPr/>
          <p:nvPr/>
        </p:nvSpPr>
        <p:spPr>
          <a:xfrm>
            <a:off x="6592824" y="4206240"/>
            <a:ext cx="1115568" cy="43891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647688" y="4251959"/>
            <a:ext cx="1005840" cy="36575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4</a:t>
            </a:r>
          </a:p>
        </p:txBody>
      </p:sp>
      <p:sp>
        <p:nvSpPr>
          <p:cNvPr id="36" name="Rectangle 35"/>
          <p:cNvSpPr/>
          <p:nvPr/>
        </p:nvSpPr>
        <p:spPr>
          <a:xfrm>
            <a:off x="7708392" y="4206240"/>
            <a:ext cx="3611880" cy="43891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763256" y="4251959"/>
            <a:ext cx="3502152" cy="36575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dirty="0">
                <a:solidFill>
                  <a:srgbClr val="1F2730"/>
                </a:solidFill>
                <a:latin typeface="Arial"/>
              </a:rPr>
              <a:t>All provisional genes are lost</a:t>
            </a:r>
          </a:p>
        </p:txBody>
      </p:sp>
      <p:sp>
        <p:nvSpPr>
          <p:cNvPr id="38" name="Rectangle 37"/>
          <p:cNvSpPr/>
          <p:nvPr/>
        </p:nvSpPr>
        <p:spPr>
          <a:xfrm>
            <a:off x="786384" y="4645152"/>
            <a:ext cx="5806440" cy="43891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41247" y="4690872"/>
            <a:ext cx="5696712" cy="36575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Effective query size 1–2</a:t>
            </a:r>
          </a:p>
        </p:txBody>
      </p:sp>
      <p:sp>
        <p:nvSpPr>
          <p:cNvPr id="40" name="Rectangle 39"/>
          <p:cNvSpPr/>
          <p:nvPr/>
        </p:nvSpPr>
        <p:spPr>
          <a:xfrm>
            <a:off x="6592824" y="4645152"/>
            <a:ext cx="1115568" cy="43891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647688" y="4690872"/>
            <a:ext cx="1005840" cy="36575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12</a:t>
            </a:r>
          </a:p>
        </p:txBody>
      </p:sp>
      <p:sp>
        <p:nvSpPr>
          <p:cNvPr id="42" name="Rectangle 41"/>
          <p:cNvSpPr/>
          <p:nvPr/>
        </p:nvSpPr>
        <p:spPr>
          <a:xfrm>
            <a:off x="7708392" y="4645152"/>
            <a:ext cx="3611880" cy="43891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7763256" y="4690872"/>
            <a:ext cx="3502152" cy="36575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Below direct KDA minimum</a:t>
            </a:r>
          </a:p>
        </p:txBody>
      </p:sp>
      <p:sp>
        <p:nvSpPr>
          <p:cNvPr id="44" name="Rectangle 43"/>
          <p:cNvSpPr/>
          <p:nvPr/>
        </p:nvSpPr>
        <p:spPr>
          <a:xfrm>
            <a:off x="786384" y="5084064"/>
            <a:ext cx="5806440" cy="43891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841247" y="5129783"/>
            <a:ext cx="5696712" cy="36575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Effective query size ≥3</a:t>
            </a:r>
          </a:p>
        </p:txBody>
      </p:sp>
      <p:sp>
        <p:nvSpPr>
          <p:cNvPr id="46" name="Rectangle 45"/>
          <p:cNvSpPr/>
          <p:nvPr/>
        </p:nvSpPr>
        <p:spPr>
          <a:xfrm>
            <a:off x="6592824" y="5084064"/>
            <a:ext cx="1115568" cy="43891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647688" y="5129783"/>
            <a:ext cx="1005840" cy="36575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3</a:t>
            </a:r>
          </a:p>
        </p:txBody>
      </p:sp>
      <p:sp>
        <p:nvSpPr>
          <p:cNvPr id="48" name="Rectangle 47"/>
          <p:cNvSpPr/>
          <p:nvPr/>
        </p:nvSpPr>
        <p:spPr>
          <a:xfrm>
            <a:off x="7708392" y="5084064"/>
            <a:ext cx="3611880" cy="43891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763256" y="5129783"/>
            <a:ext cx="3502152" cy="36575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KDA completed</a:t>
            </a:r>
          </a:p>
        </p:txBody>
      </p:sp>
      <p:sp>
        <p:nvSpPr>
          <p:cNvPr id="50" name="Rectangle 49"/>
          <p:cNvSpPr/>
          <p:nvPr/>
        </p:nvSpPr>
        <p:spPr>
          <a:xfrm>
            <a:off x="786384" y="5522975"/>
            <a:ext cx="5806440" cy="438912"/>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41247" y="5568695"/>
            <a:ext cx="5696712" cy="36575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1" i="0">
                <a:solidFill>
                  <a:srgbClr val="1F2730"/>
                </a:solidFill>
                <a:latin typeface="Arial"/>
              </a:rPr>
              <a:t>TOTAL</a:t>
            </a:r>
          </a:p>
        </p:txBody>
      </p:sp>
      <p:sp>
        <p:nvSpPr>
          <p:cNvPr id="52" name="Rectangle 51"/>
          <p:cNvSpPr/>
          <p:nvPr/>
        </p:nvSpPr>
        <p:spPr>
          <a:xfrm>
            <a:off x="6592824" y="5522975"/>
            <a:ext cx="1115568" cy="438912"/>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647688" y="5568695"/>
            <a:ext cx="1005840" cy="36575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1" i="0">
                <a:solidFill>
                  <a:srgbClr val="1F2730"/>
                </a:solidFill>
                <a:latin typeface="Arial"/>
              </a:rPr>
              <a:t>84</a:t>
            </a:r>
          </a:p>
        </p:txBody>
      </p:sp>
      <p:sp>
        <p:nvSpPr>
          <p:cNvPr id="54" name="Rectangle 53"/>
          <p:cNvSpPr/>
          <p:nvPr/>
        </p:nvSpPr>
        <p:spPr>
          <a:xfrm>
            <a:off x="7708392" y="5522975"/>
            <a:ext cx="3611880" cy="438912"/>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7763256" y="5568695"/>
            <a:ext cx="3502152" cy="36575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1" i="0">
                <a:solidFill>
                  <a:srgbClr val="1F2730"/>
                </a:solidFill>
                <a:latin typeface="Arial"/>
              </a:rPr>
              <a:t>3 completed runs</a:t>
            </a:r>
          </a:p>
        </p:txBody>
      </p:sp>
      <p:sp>
        <p:nvSpPr>
          <p:cNvPr id="56" name="Rectangle 55"/>
          <p:cNvSpPr/>
          <p:nvPr/>
        </p:nvSpPr>
        <p:spPr>
          <a:xfrm>
            <a:off x="502920" y="6153912"/>
            <a:ext cx="11173968" cy="393192"/>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502920" y="6153912"/>
            <a:ext cx="91440" cy="39319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722376" y="6217920"/>
            <a:ext cx="10744200" cy="25603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70" b="1" i="0">
                <a:solidFill>
                  <a:srgbClr val="FFFFFF"/>
                </a:solidFill>
                <a:latin typeface="Arial"/>
              </a:rPr>
              <a:t>Most slots disappear before KDA because the relaxed broad DEG query is absent or too small.</a:t>
            </a:r>
          </a:p>
        </p:txBody>
      </p:sp>
      <p:sp>
        <p:nvSpPr>
          <p:cNvPr id="59" name="TextBox 58"/>
          <p:cNvSpPr txBox="1"/>
          <p:nvPr/>
        </p:nvSpPr>
        <p:spPr>
          <a:xfrm>
            <a:off x="521207" y="6620256"/>
            <a:ext cx="10771632" cy="14630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00" b="0" i="0">
                <a:solidFill>
                  <a:srgbClr val="4E5A68"/>
                </a:solidFill>
                <a:latin typeface="Arial"/>
              </a:rPr>
              <a:t>Source: phase20_broad_direction_manifest.tsv; phase20_broad_funnel_explained.md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182880"/>
            <a:ext cx="402336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19" b="1" i="0">
                <a:solidFill>
                  <a:srgbClr val="00684D"/>
                </a:solidFill>
                <a:latin typeface="Arial"/>
              </a:rPr>
              <a:t>BROAD FUNNEL OVERVIEW</a:t>
            </a:r>
          </a:p>
        </p:txBody>
      </p:sp>
      <p:sp>
        <p:nvSpPr>
          <p:cNvPr id="3" name="TextBox 2"/>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100" b="1" i="0">
                <a:solidFill>
                  <a:srgbClr val="0F233D"/>
                </a:solidFill>
                <a:latin typeface="Arial"/>
              </a:rPr>
              <a:t>Broad-cell funnel at a glance: 84 slots to 12 direct candidate rows</a:t>
            </a:r>
          </a:p>
        </p:txBody>
      </p:sp>
      <p:sp>
        <p:nvSpPr>
          <p:cNvPr id="4" name="TextBox 3"/>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The upper row counts slots; the lower row counts explicit gene tests or candidate rows.</a:t>
            </a:r>
          </a:p>
        </p:txBody>
      </p:sp>
      <p:sp>
        <p:nvSpPr>
          <p:cNvPr id="5" name="Rounded Rectangle 4"/>
          <p:cNvSpPr/>
          <p:nvPr/>
        </p:nvSpPr>
        <p:spPr>
          <a:xfrm>
            <a:off x="594360" y="1490472"/>
            <a:ext cx="1989734" cy="10607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1609343"/>
            <a:ext cx="1806854" cy="36576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2000" b="1" i="0">
                <a:solidFill>
                  <a:srgbClr val="00684D"/>
                </a:solidFill>
                <a:latin typeface="Arial"/>
              </a:rPr>
              <a:t>84</a:t>
            </a:r>
          </a:p>
        </p:txBody>
      </p:sp>
      <p:sp>
        <p:nvSpPr>
          <p:cNvPr id="7" name="TextBox 6"/>
          <p:cNvSpPr txBox="1"/>
          <p:nvPr/>
        </p:nvSpPr>
        <p:spPr>
          <a:xfrm>
            <a:off x="685800" y="2020824"/>
            <a:ext cx="180685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940" b="1" i="0">
                <a:solidFill>
                  <a:srgbClr val="4E5A68"/>
                </a:solidFill>
                <a:latin typeface="Arial"/>
              </a:rPr>
              <a:t>directional slots</a:t>
            </a:r>
          </a:p>
        </p:txBody>
      </p:sp>
      <p:sp>
        <p:nvSpPr>
          <p:cNvPr id="8" name="Chevron 7"/>
          <p:cNvSpPr/>
          <p:nvPr/>
        </p:nvSpPr>
        <p:spPr>
          <a:xfrm>
            <a:off x="2634386" y="1883664"/>
            <a:ext cx="155448" cy="274320"/>
          </a:xfrm>
          <a:prstGeom prst="chevron">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2840126" y="1490472"/>
            <a:ext cx="1989734" cy="10607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931566" y="1609343"/>
            <a:ext cx="1806854" cy="36576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2000" b="1" i="0">
                <a:solidFill>
                  <a:srgbClr val="00684D"/>
                </a:solidFill>
                <a:latin typeface="Arial"/>
              </a:rPr>
              <a:t>80</a:t>
            </a:r>
          </a:p>
        </p:txBody>
      </p:sp>
      <p:sp>
        <p:nvSpPr>
          <p:cNvPr id="11" name="TextBox 10"/>
          <p:cNvSpPr txBox="1"/>
          <p:nvPr/>
        </p:nvSpPr>
        <p:spPr>
          <a:xfrm>
            <a:off x="2931566" y="2020824"/>
            <a:ext cx="180685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940" b="1" i="0">
                <a:solidFill>
                  <a:srgbClr val="4E5A68"/>
                </a:solidFill>
                <a:latin typeface="Arial"/>
              </a:rPr>
              <a:t>estimable-source slots</a:t>
            </a:r>
          </a:p>
        </p:txBody>
      </p:sp>
      <p:sp>
        <p:nvSpPr>
          <p:cNvPr id="12" name="Chevron 11"/>
          <p:cNvSpPr/>
          <p:nvPr/>
        </p:nvSpPr>
        <p:spPr>
          <a:xfrm>
            <a:off x="4880152" y="1883664"/>
            <a:ext cx="155448" cy="274320"/>
          </a:xfrm>
          <a:prstGeom prst="chevron">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5085892" y="1490472"/>
            <a:ext cx="1989734" cy="10607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177332" y="1609343"/>
            <a:ext cx="1806854" cy="36576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2000" b="1" i="0">
                <a:solidFill>
                  <a:srgbClr val="00684D"/>
                </a:solidFill>
                <a:latin typeface="Arial"/>
              </a:rPr>
              <a:t>19</a:t>
            </a:r>
          </a:p>
        </p:txBody>
      </p:sp>
      <p:sp>
        <p:nvSpPr>
          <p:cNvPr id="15" name="TextBox 14"/>
          <p:cNvSpPr txBox="1"/>
          <p:nvPr/>
        </p:nvSpPr>
        <p:spPr>
          <a:xfrm>
            <a:off x="5177332" y="2020824"/>
            <a:ext cx="180685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940" b="1" i="0">
                <a:solidFill>
                  <a:srgbClr val="4E5A68"/>
                </a:solidFill>
                <a:latin typeface="Arial"/>
              </a:rPr>
              <a:t>with provisional query</a:t>
            </a:r>
          </a:p>
        </p:txBody>
      </p:sp>
      <p:sp>
        <p:nvSpPr>
          <p:cNvPr id="16" name="Chevron 15"/>
          <p:cNvSpPr/>
          <p:nvPr/>
        </p:nvSpPr>
        <p:spPr>
          <a:xfrm>
            <a:off x="7125919" y="1883664"/>
            <a:ext cx="155448" cy="274320"/>
          </a:xfrm>
          <a:prstGeom prst="chevron">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7331659" y="1490472"/>
            <a:ext cx="1989734" cy="10607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423099" y="1609343"/>
            <a:ext cx="1806854" cy="36576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2000" b="1" i="0">
                <a:solidFill>
                  <a:srgbClr val="00684D"/>
                </a:solidFill>
                <a:latin typeface="Arial"/>
              </a:rPr>
              <a:t>15</a:t>
            </a:r>
          </a:p>
        </p:txBody>
      </p:sp>
      <p:sp>
        <p:nvSpPr>
          <p:cNvPr id="19" name="TextBox 18"/>
          <p:cNvSpPr txBox="1"/>
          <p:nvPr/>
        </p:nvSpPr>
        <p:spPr>
          <a:xfrm>
            <a:off x="7423099" y="2020824"/>
            <a:ext cx="180685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940" b="1" i="0">
                <a:solidFill>
                  <a:srgbClr val="4E5A68"/>
                </a:solidFill>
                <a:latin typeface="Arial"/>
              </a:rPr>
              <a:t>non-empty after mapping</a:t>
            </a:r>
          </a:p>
        </p:txBody>
      </p:sp>
      <p:sp>
        <p:nvSpPr>
          <p:cNvPr id="20" name="Chevron 19"/>
          <p:cNvSpPr/>
          <p:nvPr/>
        </p:nvSpPr>
        <p:spPr>
          <a:xfrm>
            <a:off x="9371685" y="1883664"/>
            <a:ext cx="155448" cy="274320"/>
          </a:xfrm>
          <a:prstGeom prst="chevron">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9577425" y="1490472"/>
            <a:ext cx="1989734" cy="10607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668865" y="1609343"/>
            <a:ext cx="1806854" cy="36576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2000" b="1" i="0">
                <a:solidFill>
                  <a:srgbClr val="00684D"/>
                </a:solidFill>
                <a:latin typeface="Arial"/>
              </a:rPr>
              <a:t>3</a:t>
            </a:r>
          </a:p>
        </p:txBody>
      </p:sp>
      <p:sp>
        <p:nvSpPr>
          <p:cNvPr id="23" name="TextBox 22"/>
          <p:cNvSpPr txBox="1"/>
          <p:nvPr/>
        </p:nvSpPr>
        <p:spPr>
          <a:xfrm>
            <a:off x="9668865" y="2020824"/>
            <a:ext cx="180685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940" b="1" i="0">
                <a:solidFill>
                  <a:srgbClr val="4E5A68"/>
                </a:solidFill>
                <a:latin typeface="Arial"/>
              </a:rPr>
              <a:t>completed KDA runs</a:t>
            </a:r>
          </a:p>
        </p:txBody>
      </p:sp>
      <p:sp>
        <p:nvSpPr>
          <p:cNvPr id="24" name="TextBox 23"/>
          <p:cNvSpPr txBox="1"/>
          <p:nvPr/>
        </p:nvSpPr>
        <p:spPr>
          <a:xfrm>
            <a:off x="630936" y="1243584"/>
            <a:ext cx="1920240" cy="1645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69" b="1" i="0">
                <a:solidFill>
                  <a:srgbClr val="009E73"/>
                </a:solidFill>
                <a:latin typeface="Arial"/>
              </a:rPr>
              <a:t>RUN CONSTRUCTION</a:t>
            </a:r>
          </a:p>
        </p:txBody>
      </p:sp>
      <p:sp>
        <p:nvSpPr>
          <p:cNvPr id="25" name="Rounded Rectangle 24"/>
          <p:cNvSpPr/>
          <p:nvPr/>
        </p:nvSpPr>
        <p:spPr>
          <a:xfrm>
            <a:off x="594360" y="3776472"/>
            <a:ext cx="1989734" cy="10607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85800" y="3895344"/>
            <a:ext cx="1806854" cy="36576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2000" b="1" i="0">
                <a:solidFill>
                  <a:srgbClr val="895600"/>
                </a:solidFill>
                <a:latin typeface="Arial"/>
              </a:rPr>
              <a:t>377</a:t>
            </a:r>
          </a:p>
        </p:txBody>
      </p:sp>
      <p:sp>
        <p:nvSpPr>
          <p:cNvPr id="27" name="TextBox 26"/>
          <p:cNvSpPr txBox="1"/>
          <p:nvPr/>
        </p:nvSpPr>
        <p:spPr>
          <a:xfrm>
            <a:off x="685800" y="4306824"/>
            <a:ext cx="180685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940" b="1" i="0">
                <a:solidFill>
                  <a:srgbClr val="4E5A68"/>
                </a:solidFill>
                <a:latin typeface="Arial"/>
              </a:rPr>
              <a:t>explicit tested rows</a:t>
            </a:r>
          </a:p>
        </p:txBody>
      </p:sp>
      <p:sp>
        <p:nvSpPr>
          <p:cNvPr id="28" name="Chevron 27"/>
          <p:cNvSpPr/>
          <p:nvPr/>
        </p:nvSpPr>
        <p:spPr>
          <a:xfrm>
            <a:off x="2634386" y="4169663"/>
            <a:ext cx="155448" cy="274320"/>
          </a:xfrm>
          <a:prstGeom prst="chevron">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2840126" y="3776472"/>
            <a:ext cx="1989734" cy="10607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931566" y="3895344"/>
            <a:ext cx="1806854" cy="36576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2000" b="1" i="0">
                <a:solidFill>
                  <a:srgbClr val="895600"/>
                </a:solidFill>
                <a:latin typeface="Arial"/>
              </a:rPr>
              <a:t>362</a:t>
            </a:r>
          </a:p>
        </p:txBody>
      </p:sp>
      <p:sp>
        <p:nvSpPr>
          <p:cNvPr id="31" name="TextBox 30"/>
          <p:cNvSpPr txBox="1"/>
          <p:nvPr/>
        </p:nvSpPr>
        <p:spPr>
          <a:xfrm>
            <a:off x="2931566" y="4306824"/>
            <a:ext cx="180685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940" b="1" i="0">
                <a:solidFill>
                  <a:srgbClr val="4E5A68"/>
                </a:solidFill>
                <a:latin typeface="Arial"/>
              </a:rPr>
              <a:t>non-core-MT family</a:t>
            </a:r>
          </a:p>
        </p:txBody>
      </p:sp>
      <p:sp>
        <p:nvSpPr>
          <p:cNvPr id="32" name="Chevron 31"/>
          <p:cNvSpPr/>
          <p:nvPr/>
        </p:nvSpPr>
        <p:spPr>
          <a:xfrm>
            <a:off x="4880152" y="4169663"/>
            <a:ext cx="155448" cy="274320"/>
          </a:xfrm>
          <a:prstGeom prst="chevron">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5085892" y="3776472"/>
            <a:ext cx="1989734" cy="10607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177332" y="3895344"/>
            <a:ext cx="1806854" cy="36576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2000" b="1" i="0">
                <a:solidFill>
                  <a:srgbClr val="895600"/>
                </a:solidFill>
                <a:latin typeface="Arial"/>
              </a:rPr>
              <a:t>15</a:t>
            </a:r>
          </a:p>
        </p:txBody>
      </p:sp>
      <p:sp>
        <p:nvSpPr>
          <p:cNvPr id="35" name="TextBox 34"/>
          <p:cNvSpPr txBox="1"/>
          <p:nvPr/>
        </p:nvSpPr>
        <p:spPr>
          <a:xfrm>
            <a:off x="5177332" y="4306824"/>
            <a:ext cx="180685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940" b="1" i="0">
                <a:solidFill>
                  <a:srgbClr val="4E5A68"/>
                </a:solidFill>
                <a:latin typeface="Arial"/>
              </a:rPr>
              <a:t>query overlap ≥2</a:t>
            </a:r>
          </a:p>
        </p:txBody>
      </p:sp>
      <p:sp>
        <p:nvSpPr>
          <p:cNvPr id="36" name="Chevron 35"/>
          <p:cNvSpPr/>
          <p:nvPr/>
        </p:nvSpPr>
        <p:spPr>
          <a:xfrm>
            <a:off x="7125919" y="4169663"/>
            <a:ext cx="155448" cy="274320"/>
          </a:xfrm>
          <a:prstGeom prst="chevron">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7331659" y="3776472"/>
            <a:ext cx="1989734" cy="10607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423099" y="3895344"/>
            <a:ext cx="1806854" cy="36576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2000" b="1" i="0">
                <a:solidFill>
                  <a:srgbClr val="895600"/>
                </a:solidFill>
                <a:latin typeface="Arial"/>
              </a:rPr>
              <a:t>15</a:t>
            </a:r>
          </a:p>
        </p:txBody>
      </p:sp>
      <p:sp>
        <p:nvSpPr>
          <p:cNvPr id="39" name="TextBox 38"/>
          <p:cNvSpPr txBox="1"/>
          <p:nvPr/>
        </p:nvSpPr>
        <p:spPr>
          <a:xfrm>
            <a:off x="7423099" y="4306824"/>
            <a:ext cx="180685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940" b="1" i="0">
                <a:solidFill>
                  <a:srgbClr val="4E5A68"/>
                </a:solidFill>
                <a:latin typeface="Arial"/>
              </a:rPr>
              <a:t>fold enrichment &gt;1</a:t>
            </a:r>
          </a:p>
        </p:txBody>
      </p:sp>
      <p:sp>
        <p:nvSpPr>
          <p:cNvPr id="40" name="Chevron 39"/>
          <p:cNvSpPr/>
          <p:nvPr/>
        </p:nvSpPr>
        <p:spPr>
          <a:xfrm>
            <a:off x="9371685" y="4169663"/>
            <a:ext cx="155448" cy="274320"/>
          </a:xfrm>
          <a:prstGeom prst="chevron">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0"/>
          <p:cNvSpPr/>
          <p:nvPr/>
        </p:nvSpPr>
        <p:spPr>
          <a:xfrm>
            <a:off x="9577425" y="3776472"/>
            <a:ext cx="1989734" cy="10607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9668865" y="3895344"/>
            <a:ext cx="1806854" cy="36576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2000" b="1" i="0">
                <a:solidFill>
                  <a:srgbClr val="895600"/>
                </a:solidFill>
                <a:latin typeface="Arial"/>
              </a:rPr>
              <a:t>12</a:t>
            </a:r>
          </a:p>
        </p:txBody>
      </p:sp>
      <p:sp>
        <p:nvSpPr>
          <p:cNvPr id="43" name="TextBox 42"/>
          <p:cNvSpPr txBox="1"/>
          <p:nvPr/>
        </p:nvSpPr>
        <p:spPr>
          <a:xfrm>
            <a:off x="9668865" y="4306824"/>
            <a:ext cx="180685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940" b="1" i="0">
                <a:solidFill>
                  <a:srgbClr val="4E5A68"/>
                </a:solidFill>
                <a:latin typeface="Arial"/>
              </a:rPr>
              <a:t>within-run q ≤0.10</a:t>
            </a:r>
          </a:p>
        </p:txBody>
      </p:sp>
      <p:sp>
        <p:nvSpPr>
          <p:cNvPr id="44" name="TextBox 43"/>
          <p:cNvSpPr txBox="1"/>
          <p:nvPr/>
        </p:nvSpPr>
        <p:spPr>
          <a:xfrm>
            <a:off x="630936" y="3538728"/>
            <a:ext cx="2651760" cy="1645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69" b="1" i="0">
                <a:solidFill>
                  <a:srgbClr val="E69F00"/>
                </a:solidFill>
                <a:latin typeface="Arial"/>
              </a:rPr>
              <a:t>DIRECT CANDIDATE SELECTION</a:t>
            </a:r>
          </a:p>
        </p:txBody>
      </p:sp>
      <p:sp>
        <p:nvSpPr>
          <p:cNvPr id="45" name="Rounded Rectangle 44"/>
          <p:cNvSpPr/>
          <p:nvPr/>
        </p:nvSpPr>
        <p:spPr>
          <a:xfrm>
            <a:off x="749808" y="2871216"/>
            <a:ext cx="10698480" cy="530352"/>
          </a:xfrm>
          <a:prstGeom prst="roundRect">
            <a:avLst/>
          </a:prstGeom>
          <a:solidFill>
            <a:srgbClr val="F1EBF7"/>
          </a:solidFill>
          <a:ln w="12700">
            <a:solidFill>
              <a:srgbClr val="7E4C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950976" y="3017520"/>
            <a:ext cx="10287000" cy="22860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220" b="1" i="0">
                <a:solidFill>
                  <a:srgbClr val="7E4C9A"/>
                </a:solidFill>
                <a:latin typeface="Arial"/>
              </a:rPr>
              <a:t>Counting unit changes once: slots/runs → explicit gene × run rows</a:t>
            </a:r>
          </a:p>
        </p:txBody>
      </p:sp>
      <p:sp>
        <p:nvSpPr>
          <p:cNvPr id="47" name="Rectangle 46"/>
          <p:cNvSpPr/>
          <p:nvPr/>
        </p:nvSpPr>
        <p:spPr>
          <a:xfrm>
            <a:off x="502920" y="6153912"/>
            <a:ext cx="11173968" cy="393192"/>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502920" y="6153912"/>
            <a:ext cx="91440" cy="39319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22376" y="6217920"/>
            <a:ext cx="10744200" cy="25603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70" b="1" i="0">
                <a:solidFill>
                  <a:srgbClr val="FFFFFF"/>
                </a:solidFill>
                <a:latin typeface="Arial"/>
              </a:rPr>
              <a:t>Within-run BH is calculated before overlap and enrichment gates; there is no ACAT stage.</a:t>
            </a:r>
          </a:p>
        </p:txBody>
      </p:sp>
      <p:sp>
        <p:nvSpPr>
          <p:cNvPr id="50" name="TextBox 49"/>
          <p:cNvSpPr txBox="1"/>
          <p:nvPr/>
        </p:nvSpPr>
        <p:spPr>
          <a:xfrm>
            <a:off x="521207" y="6620256"/>
            <a:ext cx="10771632" cy="14630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00" b="0" i="0">
                <a:solidFill>
                  <a:srgbClr val="4E5A68"/>
                </a:solidFill>
                <a:latin typeface="Arial"/>
              </a:rPr>
              <a:t>Source: phase20_broad_filter_funnel.tsv; phase20_broad_direction_manifest.tsv</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182880"/>
            <a:ext cx="402336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19" b="1" i="0">
                <a:solidFill>
                  <a:srgbClr val="00684D"/>
                </a:solidFill>
                <a:latin typeface="Arial"/>
              </a:rPr>
              <a:t>BROAD FILTER 1 • DEG QUERY</a:t>
            </a:r>
          </a:p>
        </p:txBody>
      </p:sp>
      <p:sp>
        <p:nvSpPr>
          <p:cNvPr id="3" name="TextBox 2"/>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Donor-level DEG rules leave 65 provisional core-MT memberships</a:t>
            </a:r>
          </a:p>
        </p:txBody>
      </p:sp>
      <p:sp>
        <p:nvSpPr>
          <p:cNvPr id="4" name="TextBox 3"/>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Each donor is a replicate; donor × broad-cell samples require enough nuclei and both diagnosis groups.</a:t>
            </a:r>
          </a:p>
        </p:txBody>
      </p:sp>
      <p:sp>
        <p:nvSpPr>
          <p:cNvPr id="5" name="Rounded Rectangle 4"/>
          <p:cNvSpPr/>
          <p:nvPr/>
        </p:nvSpPr>
        <p:spPr>
          <a:xfrm>
            <a:off x="621792" y="1362456"/>
            <a:ext cx="1993392"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68096" y="1453896"/>
            <a:ext cx="1700784"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684D"/>
                </a:solidFill>
                <a:latin typeface="Arial"/>
              </a:rPr>
              <a:t>786,242</a:t>
            </a:r>
          </a:p>
        </p:txBody>
      </p:sp>
      <p:sp>
        <p:nvSpPr>
          <p:cNvPr id="7" name="TextBox 6"/>
          <p:cNvSpPr txBox="1"/>
          <p:nvPr/>
        </p:nvSpPr>
        <p:spPr>
          <a:xfrm>
            <a:off x="768096" y="1911095"/>
            <a:ext cx="1700784"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tested gene × contrast rows</a:t>
            </a:r>
          </a:p>
        </p:txBody>
      </p:sp>
      <p:sp>
        <p:nvSpPr>
          <p:cNvPr id="8" name="Rounded Rectangle 7"/>
          <p:cNvSpPr/>
          <p:nvPr/>
        </p:nvSpPr>
        <p:spPr>
          <a:xfrm>
            <a:off x="2770632" y="1362456"/>
            <a:ext cx="1993392"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916936" y="1453896"/>
            <a:ext cx="1700784"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684D"/>
                </a:solidFill>
                <a:latin typeface="Arial"/>
              </a:rPr>
              <a:t>2,336</a:t>
            </a:r>
          </a:p>
        </p:txBody>
      </p:sp>
      <p:sp>
        <p:nvSpPr>
          <p:cNvPr id="10" name="TextBox 9"/>
          <p:cNvSpPr txBox="1"/>
          <p:nvPr/>
        </p:nvSpPr>
        <p:spPr>
          <a:xfrm>
            <a:off x="2916936" y="1911095"/>
            <a:ext cx="1700784"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relaxed DEG memberships</a:t>
            </a:r>
          </a:p>
        </p:txBody>
      </p:sp>
      <p:sp>
        <p:nvSpPr>
          <p:cNvPr id="11" name="Rounded Rectangle 10"/>
          <p:cNvSpPr/>
          <p:nvPr/>
        </p:nvSpPr>
        <p:spPr>
          <a:xfrm>
            <a:off x="4919472" y="1362456"/>
            <a:ext cx="1993392"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65776" y="1453896"/>
            <a:ext cx="1700784"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684D"/>
                </a:solidFill>
                <a:latin typeface="Arial"/>
              </a:rPr>
              <a:t>65</a:t>
            </a:r>
          </a:p>
        </p:txBody>
      </p:sp>
      <p:sp>
        <p:nvSpPr>
          <p:cNvPr id="13" name="TextBox 12"/>
          <p:cNvSpPr txBox="1"/>
          <p:nvPr/>
        </p:nvSpPr>
        <p:spPr>
          <a:xfrm>
            <a:off x="5065776" y="1911095"/>
            <a:ext cx="1700784"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80" b="1" i="0">
                <a:solidFill>
                  <a:srgbClr val="4E5A68"/>
                </a:solidFill>
                <a:latin typeface="Arial"/>
              </a:rPr>
              <a:t>provisional core-MT memberships</a:t>
            </a:r>
          </a:p>
        </p:txBody>
      </p:sp>
      <p:sp>
        <p:nvSpPr>
          <p:cNvPr id="14" name="Rounded Rectangle 13"/>
          <p:cNvSpPr/>
          <p:nvPr/>
        </p:nvSpPr>
        <p:spPr>
          <a:xfrm>
            <a:off x="7068312" y="1362456"/>
            <a:ext cx="1993392"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214616" y="1453896"/>
            <a:ext cx="1700784"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895600"/>
                </a:solidFill>
                <a:latin typeface="Arial"/>
              </a:rPr>
              <a:t>35</a:t>
            </a:r>
          </a:p>
        </p:txBody>
      </p:sp>
      <p:sp>
        <p:nvSpPr>
          <p:cNvPr id="16" name="TextBox 15"/>
          <p:cNvSpPr txBox="1"/>
          <p:nvPr/>
        </p:nvSpPr>
        <p:spPr>
          <a:xfrm>
            <a:off x="7214616" y="1911095"/>
            <a:ext cx="1700784"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effective query memberships</a:t>
            </a:r>
          </a:p>
        </p:txBody>
      </p:sp>
      <p:sp>
        <p:nvSpPr>
          <p:cNvPr id="17" name="Rounded Rectangle 16"/>
          <p:cNvSpPr/>
          <p:nvPr/>
        </p:nvSpPr>
        <p:spPr>
          <a:xfrm>
            <a:off x="9217152" y="1362456"/>
            <a:ext cx="1993392"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363456" y="1453896"/>
            <a:ext cx="1700784"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895600"/>
                </a:solidFill>
                <a:latin typeface="Arial"/>
              </a:rPr>
              <a:t>3</a:t>
            </a:r>
          </a:p>
        </p:txBody>
      </p:sp>
      <p:sp>
        <p:nvSpPr>
          <p:cNvPr id="19" name="TextBox 18"/>
          <p:cNvSpPr txBox="1"/>
          <p:nvPr/>
        </p:nvSpPr>
        <p:spPr>
          <a:xfrm>
            <a:off x="9363456" y="1911095"/>
            <a:ext cx="1700784"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80" b="1" i="0">
                <a:solidFill>
                  <a:srgbClr val="4E5A68"/>
                </a:solidFill>
                <a:latin typeface="Arial"/>
              </a:rPr>
              <a:t>eligible directional queries</a:t>
            </a:r>
          </a:p>
        </p:txBody>
      </p:sp>
      <p:sp>
        <p:nvSpPr>
          <p:cNvPr id="20" name="Rounded Rectangle 19"/>
          <p:cNvSpPr/>
          <p:nvPr/>
        </p:nvSpPr>
        <p:spPr>
          <a:xfrm>
            <a:off x="658368" y="2816352"/>
            <a:ext cx="5358384" cy="278892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941832" y="3136391"/>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88136" y="3108960"/>
            <a:ext cx="4654296"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Source contrast must be estimable</a:t>
            </a:r>
          </a:p>
        </p:txBody>
      </p:sp>
      <p:sp>
        <p:nvSpPr>
          <p:cNvPr id="23" name="Oval 22"/>
          <p:cNvSpPr/>
          <p:nvPr/>
        </p:nvSpPr>
        <p:spPr>
          <a:xfrm>
            <a:off x="941832" y="372160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115568" y="3593592"/>
            <a:ext cx="4443983" cy="42062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0" i="0">
                <a:solidFill>
                  <a:srgbClr val="1F2730"/>
                </a:solidFill>
                <a:latin typeface="Arial"/>
              </a:rPr>
              <a:t>Aggregate counts by donor × broad cell type.</a:t>
            </a:r>
          </a:p>
        </p:txBody>
      </p:sp>
      <p:sp>
        <p:nvSpPr>
          <p:cNvPr id="25" name="Oval 24"/>
          <p:cNvSpPr/>
          <p:nvPr/>
        </p:nvSpPr>
        <p:spPr>
          <a:xfrm>
            <a:off x="941832" y="4142232"/>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115568" y="4014216"/>
            <a:ext cx="4443983" cy="42062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0" i="0">
                <a:solidFill>
                  <a:srgbClr val="1F2730"/>
                </a:solidFill>
                <a:latin typeface="Arial"/>
              </a:rPr>
              <a:t>Keep a donor-cell sample only when it has ≥20 nuclei.</a:t>
            </a:r>
          </a:p>
        </p:txBody>
      </p:sp>
      <p:sp>
        <p:nvSpPr>
          <p:cNvPr id="27" name="Oval 26"/>
          <p:cNvSpPr/>
          <p:nvPr/>
        </p:nvSpPr>
        <p:spPr>
          <a:xfrm>
            <a:off x="941832" y="456285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115568" y="4434840"/>
            <a:ext cx="4443983" cy="42062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0" i="0">
                <a:solidFill>
                  <a:srgbClr val="1F2730"/>
                </a:solidFill>
                <a:latin typeface="Arial"/>
              </a:rPr>
              <a:t>Fit 7 shared broad-cell models; test up to 6 stratum contrasts each.</a:t>
            </a:r>
          </a:p>
        </p:txBody>
      </p:sp>
      <p:sp>
        <p:nvSpPr>
          <p:cNvPr id="29" name="Oval 28"/>
          <p:cNvSpPr/>
          <p:nvPr/>
        </p:nvSpPr>
        <p:spPr>
          <a:xfrm>
            <a:off x="941832" y="4983480"/>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115568" y="4855464"/>
            <a:ext cx="4443983" cy="42062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0" i="0">
                <a:solidFill>
                  <a:srgbClr val="1F2730"/>
                </a:solidFill>
                <a:latin typeface="Arial"/>
              </a:rPr>
              <a:t>Require ≥5 AD + ≥5 NCI donors: 40/42 contrasts are estimable.</a:t>
            </a:r>
          </a:p>
        </p:txBody>
      </p:sp>
      <p:sp>
        <p:nvSpPr>
          <p:cNvPr id="31" name="Rounded Rectangle 30"/>
          <p:cNvSpPr/>
          <p:nvPr/>
        </p:nvSpPr>
        <p:spPr>
          <a:xfrm>
            <a:off x="6236208" y="2816352"/>
            <a:ext cx="5303520" cy="278892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6519672" y="3136391"/>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665976" y="3108960"/>
            <a:ext cx="4599432"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Provisional query rules</a:t>
            </a:r>
          </a:p>
        </p:txBody>
      </p:sp>
      <p:sp>
        <p:nvSpPr>
          <p:cNvPr id="34" name="Oval 33"/>
          <p:cNvSpPr/>
          <p:nvPr/>
        </p:nvSpPr>
        <p:spPr>
          <a:xfrm>
            <a:off x="6519672" y="3675887"/>
            <a:ext cx="77724" cy="7772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693408" y="3547872"/>
            <a:ext cx="4398264" cy="3566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90" b="0" i="0">
                <a:solidFill>
                  <a:srgbClr val="1F2730"/>
                </a:solidFill>
                <a:latin typeface="Arial"/>
              </a:rPr>
              <a:t>edgeR filterByExpr() defines the tested-gene universe.</a:t>
            </a:r>
          </a:p>
        </p:txBody>
      </p:sp>
      <p:sp>
        <p:nvSpPr>
          <p:cNvPr id="36" name="Oval 35"/>
          <p:cNvSpPr/>
          <p:nvPr/>
        </p:nvSpPr>
        <p:spPr>
          <a:xfrm>
            <a:off x="6519672" y="4032503"/>
            <a:ext cx="77724" cy="7772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693408" y="3904487"/>
            <a:ext cx="4398264" cy="3566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90" b="0" i="0">
                <a:solidFill>
                  <a:srgbClr val="1F2730"/>
                </a:solidFill>
                <a:latin typeface="Arial"/>
              </a:rPr>
              <a:t>Relaxed DEG: BH q≤0.10 + |log2FC|≥log2(1.2).</a:t>
            </a:r>
          </a:p>
        </p:txBody>
      </p:sp>
      <p:sp>
        <p:nvSpPr>
          <p:cNvPr id="38" name="Oval 37"/>
          <p:cNvSpPr/>
          <p:nvPr/>
        </p:nvSpPr>
        <p:spPr>
          <a:xfrm>
            <a:off x="6519672" y="4389119"/>
            <a:ext cx="77724" cy="7772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693408" y="4261103"/>
            <a:ext cx="4398264" cy="3566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90" b="0" i="0">
                <a:solidFill>
                  <a:srgbClr val="1F2730"/>
                </a:solidFill>
                <a:latin typeface="Arial"/>
              </a:rPr>
              <a:t>Signed 2,336: 983 AD-up + 1,353 AD-down memberships.</a:t>
            </a:r>
          </a:p>
        </p:txBody>
      </p:sp>
      <p:sp>
        <p:nvSpPr>
          <p:cNvPr id="40" name="Oval 39"/>
          <p:cNvSpPr/>
          <p:nvPr/>
        </p:nvSpPr>
        <p:spPr>
          <a:xfrm>
            <a:off x="6519672" y="4745735"/>
            <a:ext cx="77724" cy="7772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693408" y="4617719"/>
            <a:ext cx="4398264" cy="3566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90" b="0" i="0">
                <a:solidFill>
                  <a:srgbClr val="1F2730"/>
                </a:solidFill>
                <a:latin typeface="Arial"/>
              </a:rPr>
              <a:t>Core-MT intersection: 20 up + 45 down = 65.</a:t>
            </a:r>
          </a:p>
        </p:txBody>
      </p:sp>
      <p:sp>
        <p:nvSpPr>
          <p:cNvPr id="42" name="Oval 41"/>
          <p:cNvSpPr/>
          <p:nvPr/>
        </p:nvSpPr>
        <p:spPr>
          <a:xfrm>
            <a:off x="6519672" y="5102351"/>
            <a:ext cx="77724" cy="7772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693408" y="4974335"/>
            <a:ext cx="4398264" cy="3566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90" b="0" i="0">
                <a:solidFill>
                  <a:srgbClr val="1F2730"/>
                </a:solidFill>
                <a:latin typeface="Arial"/>
              </a:rPr>
              <a:t>Network mapping removes 30; 35 memberships remain.</a:t>
            </a:r>
          </a:p>
        </p:txBody>
      </p:sp>
      <p:sp>
        <p:nvSpPr>
          <p:cNvPr id="44" name="TextBox 43"/>
          <p:cNvSpPr txBox="1"/>
          <p:nvPr/>
        </p:nvSpPr>
        <p:spPr>
          <a:xfrm>
            <a:off x="1005840" y="5760720"/>
            <a:ext cx="10149840" cy="219456"/>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960" b="1" i="0">
                <a:solidFill>
                  <a:srgbClr val="7E4C9A"/>
                </a:solidFill>
                <a:latin typeface="Arial"/>
              </a:rPr>
              <a:t>Broad-cell DEGs can reflect within-fine-type expression and shifts in fine-type composition.</a:t>
            </a:r>
          </a:p>
        </p:txBody>
      </p:sp>
      <p:sp>
        <p:nvSpPr>
          <p:cNvPr id="45" name="Rectangle 44"/>
          <p:cNvSpPr/>
          <p:nvPr/>
        </p:nvSpPr>
        <p:spPr>
          <a:xfrm>
            <a:off x="502920" y="6153912"/>
            <a:ext cx="11173968" cy="393192"/>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502920" y="6153912"/>
            <a:ext cx="91440" cy="393192"/>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722376" y="6217920"/>
            <a:ext cx="10744200" cy="25603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70" b="1" i="0">
                <a:solidFill>
                  <a:srgbClr val="FFFFFF"/>
                </a:solidFill>
                <a:latin typeface="Arial"/>
              </a:rPr>
              <a:t>A contrast may be not estimable before testing; this is not a zero-DEG result or shared-model failure.</a:t>
            </a:r>
          </a:p>
        </p:txBody>
      </p:sp>
      <p:sp>
        <p:nvSpPr>
          <p:cNvPr id="48" name="TextBox 47"/>
          <p:cNvSpPr txBox="1"/>
          <p:nvPr/>
        </p:nvSpPr>
        <p:spPr>
          <a:xfrm>
            <a:off x="521207" y="6620256"/>
            <a:ext cx="10771632" cy="14630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00" b="0" i="0">
                <a:solidFill>
                  <a:srgbClr val="4E5A68"/>
                </a:solidFill>
                <a:latin typeface="Arial"/>
              </a:rPr>
              <a:t>Source: phase20_broad_funnel_explained.md, source-DEG and query-construction sections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Only three relaxed queries reach the direct KDA minimum</a:t>
            </a:r>
          </a:p>
        </p:txBody>
      </p:sp>
      <p:sp>
        <p:nvSpPr>
          <p:cNvPr id="4" name="TextBox 3"/>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All three completed runs are AD-down mitochondrial queries; one completes with no candidates.</a:t>
            </a:r>
          </a:p>
        </p:txBody>
      </p:sp>
      <p:sp>
        <p:nvSpPr>
          <p:cNvPr id="5" name="Rectangle 4"/>
          <p:cNvSpPr/>
          <p:nvPr/>
        </p:nvSpPr>
        <p:spPr>
          <a:xfrm>
            <a:off x="658368" y="1399032"/>
            <a:ext cx="3749039" cy="49377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2" y="1453896"/>
            <a:ext cx="3639311" cy="40233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29" b="1" i="0">
                <a:solidFill>
                  <a:srgbClr val="FFFFFF"/>
                </a:solidFill>
                <a:latin typeface="Arial"/>
              </a:rPr>
              <a:t>Broad × group × direction</a:t>
            </a:r>
          </a:p>
        </p:txBody>
      </p:sp>
      <p:sp>
        <p:nvSpPr>
          <p:cNvPr id="7" name="Rectangle 6"/>
          <p:cNvSpPr/>
          <p:nvPr/>
        </p:nvSpPr>
        <p:spPr>
          <a:xfrm>
            <a:off x="4407407" y="1399032"/>
            <a:ext cx="1078992" cy="49377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462271" y="1453896"/>
            <a:ext cx="969264" cy="40233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29" b="1" i="0">
                <a:solidFill>
                  <a:srgbClr val="FFFFFF"/>
                </a:solidFill>
                <a:latin typeface="Arial"/>
              </a:rPr>
              <a:t>Provisional</a:t>
            </a:r>
          </a:p>
        </p:txBody>
      </p:sp>
      <p:sp>
        <p:nvSpPr>
          <p:cNvPr id="9" name="Rectangle 8"/>
          <p:cNvSpPr/>
          <p:nvPr/>
        </p:nvSpPr>
        <p:spPr>
          <a:xfrm>
            <a:off x="5486399" y="1399032"/>
            <a:ext cx="1005840" cy="49377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541263" y="1453896"/>
            <a:ext cx="896112" cy="40233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29" b="1" i="0">
                <a:solidFill>
                  <a:srgbClr val="FFFFFF"/>
                </a:solidFill>
                <a:latin typeface="Arial"/>
              </a:rPr>
              <a:t>Effective</a:t>
            </a:r>
          </a:p>
        </p:txBody>
      </p:sp>
      <p:sp>
        <p:nvSpPr>
          <p:cNvPr id="11" name="Rectangle 10"/>
          <p:cNvSpPr/>
          <p:nvPr/>
        </p:nvSpPr>
        <p:spPr>
          <a:xfrm>
            <a:off x="6492240" y="1399032"/>
            <a:ext cx="1152144" cy="49377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47103" y="1453896"/>
            <a:ext cx="1042416" cy="40233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29" b="1" i="0">
                <a:solidFill>
                  <a:srgbClr val="FFFFFF"/>
                </a:solidFill>
                <a:latin typeface="Arial"/>
              </a:rPr>
              <a:t>Background</a:t>
            </a:r>
          </a:p>
        </p:txBody>
      </p:sp>
      <p:sp>
        <p:nvSpPr>
          <p:cNvPr id="13" name="Rectangle 12"/>
          <p:cNvSpPr/>
          <p:nvPr/>
        </p:nvSpPr>
        <p:spPr>
          <a:xfrm>
            <a:off x="7644383" y="1399032"/>
            <a:ext cx="1234440" cy="49377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99248" y="1453896"/>
            <a:ext cx="1124712" cy="40233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29" b="1" i="0">
                <a:solidFill>
                  <a:srgbClr val="FFFFFF"/>
                </a:solidFill>
                <a:latin typeface="Arial"/>
              </a:rPr>
              <a:t>Explicit tests</a:t>
            </a:r>
          </a:p>
        </p:txBody>
      </p:sp>
      <p:sp>
        <p:nvSpPr>
          <p:cNvPr id="15" name="Rectangle 14"/>
          <p:cNvSpPr/>
          <p:nvPr/>
        </p:nvSpPr>
        <p:spPr>
          <a:xfrm>
            <a:off x="8878824" y="1399032"/>
            <a:ext cx="1133856" cy="49377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933688" y="1453896"/>
            <a:ext cx="1024128" cy="40233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29" b="1" i="0">
                <a:solidFill>
                  <a:srgbClr val="FFFFFF"/>
                </a:solidFill>
                <a:latin typeface="Arial"/>
              </a:rPr>
              <a:t>Relaxed rows</a:t>
            </a:r>
          </a:p>
        </p:txBody>
      </p:sp>
      <p:sp>
        <p:nvSpPr>
          <p:cNvPr id="17" name="Rectangle 16"/>
          <p:cNvSpPr/>
          <p:nvPr/>
        </p:nvSpPr>
        <p:spPr>
          <a:xfrm>
            <a:off x="658368" y="1892808"/>
            <a:ext cx="3749039" cy="56692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13232" y="1938528"/>
            <a:ext cx="3639311" cy="4937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9" b="0" i="0">
                <a:solidFill>
                  <a:srgbClr val="1F2730"/>
                </a:solidFill>
                <a:latin typeface="Arial"/>
              </a:rPr>
              <a:t>Astrocytes × F_e4 × AD-down</a:t>
            </a:r>
          </a:p>
        </p:txBody>
      </p:sp>
      <p:sp>
        <p:nvSpPr>
          <p:cNvPr id="19" name="Rectangle 18"/>
          <p:cNvSpPr/>
          <p:nvPr/>
        </p:nvSpPr>
        <p:spPr>
          <a:xfrm>
            <a:off x="4407407" y="1892808"/>
            <a:ext cx="1078992" cy="56692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462271" y="1938528"/>
            <a:ext cx="969264" cy="4937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9" b="0" i="0">
                <a:solidFill>
                  <a:srgbClr val="1F2730"/>
                </a:solidFill>
                <a:latin typeface="Arial"/>
              </a:rPr>
              <a:t>18</a:t>
            </a:r>
          </a:p>
        </p:txBody>
      </p:sp>
      <p:sp>
        <p:nvSpPr>
          <p:cNvPr id="21" name="Rectangle 20"/>
          <p:cNvSpPr/>
          <p:nvPr/>
        </p:nvSpPr>
        <p:spPr>
          <a:xfrm>
            <a:off x="5486399" y="1892808"/>
            <a:ext cx="1005840" cy="56692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541263" y="1938528"/>
            <a:ext cx="896112" cy="4937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9" b="0" i="0">
                <a:solidFill>
                  <a:srgbClr val="1F2730"/>
                </a:solidFill>
                <a:latin typeface="Arial"/>
              </a:rPr>
              <a:t>13</a:t>
            </a:r>
          </a:p>
        </p:txBody>
      </p:sp>
      <p:sp>
        <p:nvSpPr>
          <p:cNvPr id="23" name="Rectangle 22"/>
          <p:cNvSpPr/>
          <p:nvPr/>
        </p:nvSpPr>
        <p:spPr>
          <a:xfrm>
            <a:off x="6492240" y="1892808"/>
            <a:ext cx="1152144" cy="56692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547103" y="1938528"/>
            <a:ext cx="1042416" cy="4937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9" b="0" i="0">
                <a:solidFill>
                  <a:srgbClr val="1F2730"/>
                </a:solidFill>
                <a:latin typeface="Arial"/>
              </a:rPr>
              <a:t>7,828</a:t>
            </a:r>
          </a:p>
        </p:txBody>
      </p:sp>
      <p:sp>
        <p:nvSpPr>
          <p:cNvPr id="25" name="Rectangle 24"/>
          <p:cNvSpPr/>
          <p:nvPr/>
        </p:nvSpPr>
        <p:spPr>
          <a:xfrm>
            <a:off x="7644383" y="1892808"/>
            <a:ext cx="1234440" cy="56692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699248" y="1938528"/>
            <a:ext cx="1124712" cy="4937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9" b="0" i="0">
                <a:solidFill>
                  <a:srgbClr val="1F2730"/>
                </a:solidFill>
                <a:latin typeface="Arial"/>
              </a:rPr>
              <a:t>160</a:t>
            </a:r>
          </a:p>
        </p:txBody>
      </p:sp>
      <p:sp>
        <p:nvSpPr>
          <p:cNvPr id="27" name="Rectangle 26"/>
          <p:cNvSpPr/>
          <p:nvPr/>
        </p:nvSpPr>
        <p:spPr>
          <a:xfrm>
            <a:off x="8878824" y="1892808"/>
            <a:ext cx="1133856" cy="56692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933688" y="1938528"/>
            <a:ext cx="1024128" cy="4937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9" b="0" i="0">
                <a:solidFill>
                  <a:srgbClr val="1F2730"/>
                </a:solidFill>
                <a:latin typeface="Arial"/>
              </a:rPr>
              <a:t>2</a:t>
            </a:r>
          </a:p>
        </p:txBody>
      </p:sp>
      <p:sp>
        <p:nvSpPr>
          <p:cNvPr id="29" name="Rectangle 28"/>
          <p:cNvSpPr/>
          <p:nvPr/>
        </p:nvSpPr>
        <p:spPr>
          <a:xfrm>
            <a:off x="658368" y="2459736"/>
            <a:ext cx="3749039" cy="56692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13232" y="2505456"/>
            <a:ext cx="3639311" cy="4937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9" b="0" i="0">
                <a:solidFill>
                  <a:srgbClr val="1F2730"/>
                </a:solidFill>
                <a:latin typeface="Arial"/>
              </a:rPr>
              <a:t>Astrocytes × M_e33 × AD-down</a:t>
            </a:r>
          </a:p>
        </p:txBody>
      </p:sp>
      <p:sp>
        <p:nvSpPr>
          <p:cNvPr id="31" name="Rectangle 30"/>
          <p:cNvSpPr/>
          <p:nvPr/>
        </p:nvSpPr>
        <p:spPr>
          <a:xfrm>
            <a:off x="4407407" y="2459736"/>
            <a:ext cx="1078992" cy="56692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462271" y="2505456"/>
            <a:ext cx="969264" cy="4937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9" b="0" i="0">
                <a:solidFill>
                  <a:srgbClr val="1F2730"/>
                </a:solidFill>
                <a:latin typeface="Arial"/>
              </a:rPr>
              <a:t>5</a:t>
            </a:r>
          </a:p>
        </p:txBody>
      </p:sp>
      <p:sp>
        <p:nvSpPr>
          <p:cNvPr id="33" name="Rectangle 32"/>
          <p:cNvSpPr/>
          <p:nvPr/>
        </p:nvSpPr>
        <p:spPr>
          <a:xfrm>
            <a:off x="5486399" y="2459736"/>
            <a:ext cx="1005840" cy="56692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541263" y="2505456"/>
            <a:ext cx="896112" cy="4937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9" b="0" i="0">
                <a:solidFill>
                  <a:srgbClr val="1F2730"/>
                </a:solidFill>
                <a:latin typeface="Arial"/>
              </a:rPr>
              <a:t>3</a:t>
            </a:r>
          </a:p>
        </p:txBody>
      </p:sp>
      <p:sp>
        <p:nvSpPr>
          <p:cNvPr id="35" name="Rectangle 34"/>
          <p:cNvSpPr/>
          <p:nvPr/>
        </p:nvSpPr>
        <p:spPr>
          <a:xfrm>
            <a:off x="6492240" y="2459736"/>
            <a:ext cx="1152144" cy="56692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547103" y="2505456"/>
            <a:ext cx="1042416" cy="4937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9" b="0" i="0">
                <a:solidFill>
                  <a:srgbClr val="1F2730"/>
                </a:solidFill>
                <a:latin typeface="Arial"/>
              </a:rPr>
              <a:t>7,828</a:t>
            </a:r>
          </a:p>
        </p:txBody>
      </p:sp>
      <p:sp>
        <p:nvSpPr>
          <p:cNvPr id="37" name="Rectangle 36"/>
          <p:cNvSpPr/>
          <p:nvPr/>
        </p:nvSpPr>
        <p:spPr>
          <a:xfrm>
            <a:off x="7644383" y="2459736"/>
            <a:ext cx="1234440" cy="56692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699248" y="2505456"/>
            <a:ext cx="1124712" cy="4937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9" b="0" i="0">
                <a:solidFill>
                  <a:srgbClr val="1F2730"/>
                </a:solidFill>
                <a:latin typeface="Arial"/>
              </a:rPr>
              <a:t>80</a:t>
            </a:r>
          </a:p>
        </p:txBody>
      </p:sp>
      <p:sp>
        <p:nvSpPr>
          <p:cNvPr id="39" name="Rectangle 38"/>
          <p:cNvSpPr/>
          <p:nvPr/>
        </p:nvSpPr>
        <p:spPr>
          <a:xfrm>
            <a:off x="8878824" y="2459736"/>
            <a:ext cx="1133856" cy="56692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933688" y="2505456"/>
            <a:ext cx="1024128" cy="4937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9" b="0" i="0">
                <a:solidFill>
                  <a:srgbClr val="1F2730"/>
                </a:solidFill>
                <a:latin typeface="Arial"/>
              </a:rPr>
              <a:t>0</a:t>
            </a:r>
          </a:p>
        </p:txBody>
      </p:sp>
      <p:sp>
        <p:nvSpPr>
          <p:cNvPr id="41" name="Rectangle 40"/>
          <p:cNvSpPr/>
          <p:nvPr/>
        </p:nvSpPr>
        <p:spPr>
          <a:xfrm>
            <a:off x="658368" y="3026664"/>
            <a:ext cx="3749039" cy="56692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13232" y="3072384"/>
            <a:ext cx="3639311" cy="4937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9" b="0" i="0">
                <a:solidFill>
                  <a:srgbClr val="1F2730"/>
                </a:solidFill>
                <a:latin typeface="Arial"/>
              </a:rPr>
              <a:t>OPCs × F_e4 × AD-down</a:t>
            </a:r>
          </a:p>
        </p:txBody>
      </p:sp>
      <p:sp>
        <p:nvSpPr>
          <p:cNvPr id="43" name="Rectangle 42"/>
          <p:cNvSpPr/>
          <p:nvPr/>
        </p:nvSpPr>
        <p:spPr>
          <a:xfrm>
            <a:off x="4407407" y="3026664"/>
            <a:ext cx="1078992" cy="56692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4462271" y="3072384"/>
            <a:ext cx="969264" cy="4937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9" b="0" i="0">
                <a:solidFill>
                  <a:srgbClr val="1F2730"/>
                </a:solidFill>
                <a:latin typeface="Arial"/>
              </a:rPr>
              <a:t>6</a:t>
            </a:r>
          </a:p>
        </p:txBody>
      </p:sp>
      <p:sp>
        <p:nvSpPr>
          <p:cNvPr id="45" name="Rectangle 44"/>
          <p:cNvSpPr/>
          <p:nvPr/>
        </p:nvSpPr>
        <p:spPr>
          <a:xfrm>
            <a:off x="5486399" y="3026664"/>
            <a:ext cx="1005840" cy="56692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5541263" y="3072384"/>
            <a:ext cx="896112" cy="4937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9" b="0" i="0">
                <a:solidFill>
                  <a:srgbClr val="1F2730"/>
                </a:solidFill>
                <a:latin typeface="Arial"/>
              </a:rPr>
              <a:t>4</a:t>
            </a:r>
          </a:p>
        </p:txBody>
      </p:sp>
      <p:sp>
        <p:nvSpPr>
          <p:cNvPr id="47" name="Rectangle 46"/>
          <p:cNvSpPr/>
          <p:nvPr/>
        </p:nvSpPr>
        <p:spPr>
          <a:xfrm>
            <a:off x="6492240" y="3026664"/>
            <a:ext cx="1152144" cy="56692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547103" y="3072384"/>
            <a:ext cx="1042416" cy="4937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9" b="0" i="0">
                <a:solidFill>
                  <a:srgbClr val="1F2730"/>
                </a:solidFill>
                <a:latin typeface="Arial"/>
              </a:rPr>
              <a:t>7,817</a:t>
            </a:r>
          </a:p>
        </p:txBody>
      </p:sp>
      <p:sp>
        <p:nvSpPr>
          <p:cNvPr id="49" name="Rectangle 48"/>
          <p:cNvSpPr/>
          <p:nvPr/>
        </p:nvSpPr>
        <p:spPr>
          <a:xfrm>
            <a:off x="7644383" y="3026664"/>
            <a:ext cx="1234440" cy="56692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7699248" y="3072384"/>
            <a:ext cx="1124712" cy="4937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9" b="0" i="0">
                <a:solidFill>
                  <a:srgbClr val="1F2730"/>
                </a:solidFill>
                <a:latin typeface="Arial"/>
              </a:rPr>
              <a:t>137</a:t>
            </a:r>
          </a:p>
        </p:txBody>
      </p:sp>
      <p:sp>
        <p:nvSpPr>
          <p:cNvPr id="51" name="Rectangle 50"/>
          <p:cNvSpPr/>
          <p:nvPr/>
        </p:nvSpPr>
        <p:spPr>
          <a:xfrm>
            <a:off x="8878824" y="3026664"/>
            <a:ext cx="1133856" cy="56692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8933688" y="3072384"/>
            <a:ext cx="1024128" cy="4937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9" b="0" i="0">
                <a:solidFill>
                  <a:srgbClr val="1F2730"/>
                </a:solidFill>
                <a:latin typeface="Arial"/>
              </a:rPr>
              <a:t>10</a:t>
            </a:r>
          </a:p>
        </p:txBody>
      </p:sp>
      <p:sp>
        <p:nvSpPr>
          <p:cNvPr id="53" name="Rounded Rectangle 52"/>
          <p:cNvSpPr/>
          <p:nvPr/>
        </p:nvSpPr>
        <p:spPr>
          <a:xfrm>
            <a:off x="658368" y="3968496"/>
            <a:ext cx="3364992" cy="1472184"/>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923544" y="4251960"/>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1069848" y="4224528"/>
            <a:ext cx="2670048"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Mapping loss</a:t>
            </a:r>
          </a:p>
        </p:txBody>
      </p:sp>
      <p:sp>
        <p:nvSpPr>
          <p:cNvPr id="56" name="TextBox 55"/>
          <p:cNvSpPr txBox="1"/>
          <p:nvPr/>
        </p:nvSpPr>
        <p:spPr>
          <a:xfrm>
            <a:off x="941832" y="4663440"/>
            <a:ext cx="2788920" cy="5486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50" b="0" i="0">
                <a:solidFill>
                  <a:srgbClr val="4E5A68"/>
                </a:solidFill>
                <a:latin typeface="Arial"/>
              </a:rPr>
              <a:t>These runs start with 29 provisional memberships; 9 are lost in network mapping, leaving 20 effective query genes.</a:t>
            </a:r>
          </a:p>
        </p:txBody>
      </p:sp>
      <p:sp>
        <p:nvSpPr>
          <p:cNvPr id="57" name="Rounded Rectangle 56"/>
          <p:cNvSpPr/>
          <p:nvPr/>
        </p:nvSpPr>
        <p:spPr>
          <a:xfrm>
            <a:off x="4407408" y="3968496"/>
            <a:ext cx="3364992" cy="1472184"/>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4672584" y="4251960"/>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4818888" y="4224528"/>
            <a:ext cx="2670048"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Minimum size</a:t>
            </a:r>
          </a:p>
        </p:txBody>
      </p:sp>
      <p:sp>
        <p:nvSpPr>
          <p:cNvPr id="60" name="TextBox 59"/>
          <p:cNvSpPr txBox="1"/>
          <p:nvPr/>
        </p:nvSpPr>
        <p:spPr>
          <a:xfrm>
            <a:off x="4690872" y="4663440"/>
            <a:ext cx="2788920" cy="5486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40" b="0" i="0">
                <a:solidFill>
                  <a:srgbClr val="4E5A68"/>
                </a:solidFill>
                <a:latin typeface="Arial"/>
              </a:rPr>
              <a:t>The plan permits n≥3. The n=3 and n=4 runs are flagged small_query_3_9; only Astrocytes F_e4 has n≥10.</a:t>
            </a:r>
          </a:p>
        </p:txBody>
      </p:sp>
      <p:sp>
        <p:nvSpPr>
          <p:cNvPr id="61" name="Rounded Rectangle 60"/>
          <p:cNvSpPr/>
          <p:nvPr/>
        </p:nvSpPr>
        <p:spPr>
          <a:xfrm>
            <a:off x="8156448" y="3968496"/>
            <a:ext cx="3364992" cy="1472184"/>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8421624" y="4251960"/>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8567928" y="4224528"/>
            <a:ext cx="2670048"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Valid empty result</a:t>
            </a:r>
          </a:p>
        </p:txBody>
      </p:sp>
      <p:sp>
        <p:nvSpPr>
          <p:cNvPr id="64" name="TextBox 63"/>
          <p:cNvSpPr txBox="1"/>
          <p:nvPr/>
        </p:nvSpPr>
        <p:spPr>
          <a:xfrm>
            <a:off x="8439912" y="4663440"/>
            <a:ext cx="2788920" cy="5486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70" b="0" i="0">
                <a:solidFill>
                  <a:srgbClr val="4E5A68"/>
                </a:solidFill>
                <a:latin typeface="Arial"/>
              </a:rPr>
              <a:t>Astrocytes × M_e33 completes successfully; its best non-core-MT row has q=0.1195, so zero rows pass q ≤0.10.</a:t>
            </a:r>
          </a:p>
        </p:txBody>
      </p:sp>
      <p:sp>
        <p:nvSpPr>
          <p:cNvPr id="65" name="Rectangle 64"/>
          <p:cNvSpPr/>
          <p:nvPr/>
        </p:nvSpPr>
        <p:spPr>
          <a:xfrm>
            <a:off x="502920" y="6153912"/>
            <a:ext cx="11173968" cy="393192"/>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ectangle 65"/>
          <p:cNvSpPr/>
          <p:nvPr/>
        </p:nvSpPr>
        <p:spPr>
          <a:xfrm>
            <a:off x="502920" y="6153912"/>
            <a:ext cx="91440" cy="39319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722376" y="6217920"/>
            <a:ext cx="10744200" cy="25603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70" b="1" i="0">
                <a:solidFill>
                  <a:srgbClr val="FFFFFF"/>
                </a:solidFill>
                <a:latin typeface="Arial"/>
              </a:rPr>
              <a:t>Completed-empty is evidence from a valid run; skipped is the absence of a runnable query.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p:cNvSpPr txBox="1"/>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dirty="0">
                <a:solidFill>
                  <a:srgbClr val="0F233D"/>
                </a:solidFill>
                <a:latin typeface="Arial"/>
              </a:rPr>
              <a:t>Support and within-run q reduce 362 non-core-MT </a:t>
            </a:r>
            <a:r>
              <a:rPr lang="en-US" sz="2450" b="1" i="0" dirty="0">
                <a:solidFill>
                  <a:srgbClr val="0F233D"/>
                </a:solidFill>
                <a:latin typeface="Arial"/>
              </a:rPr>
              <a:t>genes</a:t>
            </a:r>
            <a:r>
              <a:rPr sz="2450" b="1" i="0" dirty="0">
                <a:solidFill>
                  <a:srgbClr val="0F233D"/>
                </a:solidFill>
                <a:latin typeface="Arial"/>
              </a:rPr>
              <a:t> to 12</a:t>
            </a:r>
          </a:p>
        </p:txBody>
      </p:sp>
      <p:sp>
        <p:nvSpPr>
          <p:cNvPr id="4" name="TextBox 3"/>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BH q values are computed on full non-core-MT run families before post-BH gates are applied.</a:t>
            </a:r>
          </a:p>
        </p:txBody>
      </p:sp>
      <p:sp>
        <p:nvSpPr>
          <p:cNvPr id="5" name="Rounded Rectangle 4"/>
          <p:cNvSpPr/>
          <p:nvPr/>
        </p:nvSpPr>
        <p:spPr>
          <a:xfrm>
            <a:off x="594360" y="1499616"/>
            <a:ext cx="1989734" cy="10607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1618488"/>
            <a:ext cx="1806854" cy="36576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2000" b="1" i="0">
                <a:solidFill>
                  <a:srgbClr val="895600"/>
                </a:solidFill>
                <a:latin typeface="Arial"/>
              </a:rPr>
              <a:t>362</a:t>
            </a:r>
          </a:p>
        </p:txBody>
      </p:sp>
      <p:sp>
        <p:nvSpPr>
          <p:cNvPr id="7" name="TextBox 6"/>
          <p:cNvSpPr txBox="1"/>
          <p:nvPr/>
        </p:nvSpPr>
        <p:spPr>
          <a:xfrm>
            <a:off x="685800" y="2029967"/>
            <a:ext cx="180685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940" b="1" i="0">
                <a:solidFill>
                  <a:srgbClr val="4E5A68"/>
                </a:solidFill>
                <a:latin typeface="Arial"/>
              </a:rPr>
              <a:t>non-core-MT family</a:t>
            </a:r>
          </a:p>
        </p:txBody>
      </p:sp>
      <p:sp>
        <p:nvSpPr>
          <p:cNvPr id="8" name="Chevron 7"/>
          <p:cNvSpPr/>
          <p:nvPr/>
        </p:nvSpPr>
        <p:spPr>
          <a:xfrm>
            <a:off x="2634386" y="1892807"/>
            <a:ext cx="155448" cy="274320"/>
          </a:xfrm>
          <a:prstGeom prst="chevron">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2840126" y="1499616"/>
            <a:ext cx="1989734" cy="10607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931566" y="1618488"/>
            <a:ext cx="1806854" cy="36576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2000" b="1" i="0">
                <a:solidFill>
                  <a:srgbClr val="895600"/>
                </a:solidFill>
                <a:latin typeface="Arial"/>
              </a:rPr>
              <a:t>15</a:t>
            </a:r>
          </a:p>
        </p:txBody>
      </p:sp>
      <p:sp>
        <p:nvSpPr>
          <p:cNvPr id="11" name="TextBox 10"/>
          <p:cNvSpPr txBox="1"/>
          <p:nvPr/>
        </p:nvSpPr>
        <p:spPr>
          <a:xfrm>
            <a:off x="2931566" y="2029967"/>
            <a:ext cx="180685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940" b="1" i="0">
                <a:solidFill>
                  <a:srgbClr val="4E5A68"/>
                </a:solidFill>
                <a:latin typeface="Arial"/>
              </a:rPr>
              <a:t>query overlap ≥2</a:t>
            </a:r>
          </a:p>
        </p:txBody>
      </p:sp>
      <p:sp>
        <p:nvSpPr>
          <p:cNvPr id="12" name="Chevron 11"/>
          <p:cNvSpPr/>
          <p:nvPr/>
        </p:nvSpPr>
        <p:spPr>
          <a:xfrm>
            <a:off x="4880152" y="1892807"/>
            <a:ext cx="155448" cy="274320"/>
          </a:xfrm>
          <a:prstGeom prst="chevron">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5085892" y="1499616"/>
            <a:ext cx="1989734" cy="10607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177332" y="1618488"/>
            <a:ext cx="1806854" cy="36576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2000" b="1" i="0">
                <a:solidFill>
                  <a:srgbClr val="895600"/>
                </a:solidFill>
                <a:latin typeface="Arial"/>
              </a:rPr>
              <a:t>15</a:t>
            </a:r>
          </a:p>
        </p:txBody>
      </p:sp>
      <p:sp>
        <p:nvSpPr>
          <p:cNvPr id="15" name="TextBox 14"/>
          <p:cNvSpPr txBox="1"/>
          <p:nvPr/>
        </p:nvSpPr>
        <p:spPr>
          <a:xfrm>
            <a:off x="5177332" y="2029967"/>
            <a:ext cx="180685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940" b="1" i="0">
                <a:solidFill>
                  <a:srgbClr val="4E5A68"/>
                </a:solidFill>
                <a:latin typeface="Arial"/>
              </a:rPr>
              <a:t>fold enrichment &gt;1</a:t>
            </a:r>
          </a:p>
        </p:txBody>
      </p:sp>
      <p:sp>
        <p:nvSpPr>
          <p:cNvPr id="16" name="Chevron 15"/>
          <p:cNvSpPr/>
          <p:nvPr/>
        </p:nvSpPr>
        <p:spPr>
          <a:xfrm>
            <a:off x="7125919" y="1892807"/>
            <a:ext cx="155448" cy="274320"/>
          </a:xfrm>
          <a:prstGeom prst="chevron">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7331659" y="1499616"/>
            <a:ext cx="1989734" cy="10607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423099" y="1618488"/>
            <a:ext cx="1806854" cy="36576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2000" b="1" i="0">
                <a:solidFill>
                  <a:srgbClr val="895600"/>
                </a:solidFill>
                <a:latin typeface="Arial"/>
              </a:rPr>
              <a:t>12</a:t>
            </a:r>
          </a:p>
        </p:txBody>
      </p:sp>
      <p:sp>
        <p:nvSpPr>
          <p:cNvPr id="19" name="TextBox 18"/>
          <p:cNvSpPr txBox="1"/>
          <p:nvPr/>
        </p:nvSpPr>
        <p:spPr>
          <a:xfrm>
            <a:off x="7423099" y="2029967"/>
            <a:ext cx="180685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940" b="1" i="0">
                <a:solidFill>
                  <a:srgbClr val="4E5A68"/>
                </a:solidFill>
                <a:latin typeface="Arial"/>
              </a:rPr>
              <a:t>relaxed q ≤0.10</a:t>
            </a:r>
          </a:p>
        </p:txBody>
      </p:sp>
      <p:sp>
        <p:nvSpPr>
          <p:cNvPr id="20" name="Chevron 19"/>
          <p:cNvSpPr/>
          <p:nvPr/>
        </p:nvSpPr>
        <p:spPr>
          <a:xfrm>
            <a:off x="9371685" y="1892807"/>
            <a:ext cx="155448" cy="274320"/>
          </a:xfrm>
          <a:prstGeom prst="chevron">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9577425" y="1499616"/>
            <a:ext cx="1989734" cy="10607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668865" y="1618488"/>
            <a:ext cx="1806854" cy="36576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2000" b="1" i="0">
                <a:solidFill>
                  <a:srgbClr val="895600"/>
                </a:solidFill>
                <a:latin typeface="Arial"/>
              </a:rPr>
              <a:t>9</a:t>
            </a:r>
          </a:p>
        </p:txBody>
      </p:sp>
      <p:sp>
        <p:nvSpPr>
          <p:cNvPr id="23" name="TextBox 22"/>
          <p:cNvSpPr txBox="1"/>
          <p:nvPr/>
        </p:nvSpPr>
        <p:spPr>
          <a:xfrm>
            <a:off x="9668865" y="2029967"/>
            <a:ext cx="180685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940" b="1" i="0">
                <a:solidFill>
                  <a:srgbClr val="4E5A68"/>
                </a:solidFill>
                <a:latin typeface="Arial"/>
              </a:rPr>
              <a:t>strict q ≤0.05</a:t>
            </a:r>
          </a:p>
        </p:txBody>
      </p:sp>
      <p:sp>
        <p:nvSpPr>
          <p:cNvPr id="24" name="Rounded Rectangle 23"/>
          <p:cNvSpPr/>
          <p:nvPr/>
        </p:nvSpPr>
        <p:spPr>
          <a:xfrm>
            <a:off x="612648" y="3108960"/>
            <a:ext cx="2596896" cy="2267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841248" y="3438144"/>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87552" y="3410712"/>
            <a:ext cx="2002536"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Non-core-MT</a:t>
            </a:r>
          </a:p>
        </p:txBody>
      </p:sp>
      <p:sp>
        <p:nvSpPr>
          <p:cNvPr id="27" name="TextBox 26"/>
          <p:cNvSpPr txBox="1"/>
          <p:nvPr/>
        </p:nvSpPr>
        <p:spPr>
          <a:xfrm>
            <a:off x="859536" y="3931920"/>
            <a:ext cx="2103120" cy="10058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70" b="0" i="0">
                <a:solidFill>
                  <a:srgbClr val="4E5A68"/>
                </a:solidFill>
                <a:latin typeface="Arial"/>
              </a:rPr>
              <a:t>Exclude only core mitochondrial proteins; extended-tier NCOA1 remains eligible.</a:t>
            </a:r>
          </a:p>
        </p:txBody>
      </p:sp>
      <p:sp>
        <p:nvSpPr>
          <p:cNvPr id="28" name="Rounded Rectangle 27"/>
          <p:cNvSpPr/>
          <p:nvPr/>
        </p:nvSpPr>
        <p:spPr>
          <a:xfrm>
            <a:off x="3456432" y="3108960"/>
            <a:ext cx="2596896" cy="22677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3685031" y="343814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831335" y="3410712"/>
            <a:ext cx="2002536"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Overlap ≥2</a:t>
            </a:r>
          </a:p>
        </p:txBody>
      </p:sp>
      <p:sp>
        <p:nvSpPr>
          <p:cNvPr id="31" name="TextBox 30"/>
          <p:cNvSpPr txBox="1"/>
          <p:nvPr/>
        </p:nvSpPr>
        <p:spPr>
          <a:xfrm>
            <a:off x="3703320" y="3931920"/>
            <a:ext cx="2103120" cy="10058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70" b="0" i="0">
                <a:solidFill>
                  <a:srgbClr val="4E5A68"/>
                </a:solidFill>
                <a:latin typeface="Arial"/>
              </a:rPr>
              <a:t>Require at least two effective query genes inside the candidate's tested neighborhood.</a:t>
            </a:r>
          </a:p>
        </p:txBody>
      </p:sp>
      <p:sp>
        <p:nvSpPr>
          <p:cNvPr id="32" name="Rounded Rectangle 31"/>
          <p:cNvSpPr/>
          <p:nvPr/>
        </p:nvSpPr>
        <p:spPr>
          <a:xfrm>
            <a:off x="6300216" y="3108960"/>
            <a:ext cx="2596896" cy="2267712"/>
          </a:xfrm>
          <a:prstGeom prst="roundRect">
            <a:avLst/>
          </a:prstGeom>
          <a:solidFill>
            <a:srgbClr val="F1EBF7"/>
          </a:solidFill>
          <a:ln w="12700">
            <a:solidFill>
              <a:srgbClr val="7E4C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6528816" y="3438144"/>
            <a:ext cx="64008" cy="283464"/>
          </a:xfrm>
          <a:prstGeom prst="rect">
            <a:avLst/>
          </a:prstGeom>
          <a:solidFill>
            <a:srgbClr val="7E4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675120" y="3410712"/>
            <a:ext cx="2002536"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Enrichment &gt;1</a:t>
            </a:r>
          </a:p>
        </p:txBody>
      </p:sp>
      <p:sp>
        <p:nvSpPr>
          <p:cNvPr id="35" name="TextBox 34"/>
          <p:cNvSpPr txBox="1"/>
          <p:nvPr/>
        </p:nvSpPr>
        <p:spPr>
          <a:xfrm>
            <a:off x="6547104" y="3931920"/>
            <a:ext cx="2103120" cy="10058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70" b="0" i="0">
                <a:solidFill>
                  <a:srgbClr val="4E5A68"/>
                </a:solidFill>
                <a:latin typeface="Arial"/>
              </a:rPr>
              <a:t>Require more overlap than expected under the run-specific network background.</a:t>
            </a:r>
          </a:p>
        </p:txBody>
      </p:sp>
      <p:sp>
        <p:nvSpPr>
          <p:cNvPr id="36" name="Rounded Rectangle 35"/>
          <p:cNvSpPr/>
          <p:nvPr/>
        </p:nvSpPr>
        <p:spPr>
          <a:xfrm>
            <a:off x="9144000" y="3108960"/>
            <a:ext cx="2596896" cy="22677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9372600" y="3438144"/>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518904" y="3410712"/>
            <a:ext cx="2002536"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Run q</a:t>
            </a:r>
          </a:p>
        </p:txBody>
      </p:sp>
      <p:sp>
        <p:nvSpPr>
          <p:cNvPr id="39" name="TextBox 38"/>
          <p:cNvSpPr txBox="1"/>
          <p:nvPr/>
        </p:nvSpPr>
        <p:spPr>
          <a:xfrm>
            <a:off x="9390888" y="3931920"/>
            <a:ext cx="2103120" cy="10058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70" b="0" i="0">
                <a:solidFill>
                  <a:srgbClr val="4E5A68"/>
                </a:solidFill>
                <a:latin typeface="Arial"/>
              </a:rPr>
              <a:t>Relaxed main list uses q ≤0.10; q ≤0.05 marks the strict reference subset.</a:t>
            </a:r>
          </a:p>
        </p:txBody>
      </p:sp>
      <p:sp>
        <p:nvSpPr>
          <p:cNvPr id="40" name="Rectangle 39"/>
          <p:cNvSpPr/>
          <p:nvPr/>
        </p:nvSpPr>
        <p:spPr>
          <a:xfrm>
            <a:off x="502920" y="6153912"/>
            <a:ext cx="11173968" cy="393192"/>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502920" y="6153912"/>
            <a:ext cx="91440" cy="393192"/>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22376" y="6217920"/>
            <a:ext cx="10744200" cy="25603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70" b="1" i="0">
                <a:solidFill>
                  <a:srgbClr val="FFFFFF"/>
                </a:solidFill>
                <a:latin typeface="Arial"/>
              </a:rPr>
              <a:t>After defining the non-core-MT family, compute BH before filtering on overlap, enrichment, or q.</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182880"/>
            <a:ext cx="402336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19" b="1" i="0">
                <a:solidFill>
                  <a:srgbClr val="00684D"/>
                </a:solidFill>
                <a:latin typeface="Arial"/>
              </a:rPr>
              <a:t>BROAD RESULTS • SUPPORTED GENES</a:t>
            </a:r>
          </a:p>
        </p:txBody>
      </p:sp>
      <p:sp>
        <p:nvSpPr>
          <p:cNvPr id="3" name="TextBox 2"/>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100" b="1" i="0">
                <a:solidFill>
                  <a:srgbClr val="0F233D"/>
                </a:solidFill>
                <a:latin typeface="Arial"/>
              </a:rPr>
              <a:t>Twelve broad candidates occur in two runs; nine pass the strict reference</a:t>
            </a:r>
          </a:p>
        </p:txBody>
      </p:sp>
      <p:sp>
        <p:nvSpPr>
          <p:cNvPr id="4" name="TextBox 3"/>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AD-down labels the mitochondrial query direction; candidate drivers need not be downregulated or DEGs.</a:t>
            </a:r>
          </a:p>
        </p:txBody>
      </p:sp>
      <p:sp>
        <p:nvSpPr>
          <p:cNvPr id="5" name="Rounded Rectangle 4"/>
          <p:cNvSpPr/>
          <p:nvPr/>
        </p:nvSpPr>
        <p:spPr>
          <a:xfrm>
            <a:off x="621792" y="1335024"/>
            <a:ext cx="3273552" cy="4398264"/>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96112" y="1655064"/>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42415" y="1627632"/>
            <a:ext cx="2569464"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Astrocytes • F_e4 • AD-down</a:t>
            </a:r>
          </a:p>
        </p:txBody>
      </p:sp>
      <p:sp>
        <p:nvSpPr>
          <p:cNvPr id="8" name="Rounded Rectangle 7"/>
          <p:cNvSpPr/>
          <p:nvPr/>
        </p:nvSpPr>
        <p:spPr>
          <a:xfrm>
            <a:off x="896112" y="2103120"/>
            <a:ext cx="132588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42415" y="2194560"/>
            <a:ext cx="1033271"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684D"/>
                </a:solidFill>
                <a:latin typeface="Arial"/>
              </a:rPr>
              <a:t>2</a:t>
            </a:r>
          </a:p>
        </p:txBody>
      </p:sp>
      <p:sp>
        <p:nvSpPr>
          <p:cNvPr id="10" name="TextBox 9"/>
          <p:cNvSpPr txBox="1"/>
          <p:nvPr/>
        </p:nvSpPr>
        <p:spPr>
          <a:xfrm>
            <a:off x="1042415" y="2651760"/>
            <a:ext cx="1033271"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relaxed • both strict</a:t>
            </a:r>
          </a:p>
        </p:txBody>
      </p:sp>
      <p:sp>
        <p:nvSpPr>
          <p:cNvPr id="11" name="TextBox 10"/>
          <p:cNvSpPr txBox="1"/>
          <p:nvPr/>
        </p:nvSpPr>
        <p:spPr>
          <a:xfrm>
            <a:off x="932688" y="3429000"/>
            <a:ext cx="2596896" cy="100584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800" b="1" i="0">
                <a:solidFill>
                  <a:srgbClr val="0F233D"/>
                </a:solidFill>
                <a:latin typeface="Arial"/>
              </a:rPr>
              <a:t>ELL2
SLC44A3</a:t>
            </a:r>
          </a:p>
        </p:txBody>
      </p:sp>
      <p:sp>
        <p:nvSpPr>
          <p:cNvPr id="12" name="TextBox 11"/>
          <p:cNvSpPr txBox="1"/>
          <p:nvPr/>
        </p:nvSpPr>
        <p:spPr>
          <a:xfrm>
            <a:off x="923544" y="4809744"/>
            <a:ext cx="2651760" cy="50292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030" b="0" i="0">
                <a:solidFill>
                  <a:srgbClr val="4E5A68"/>
                </a:solidFill>
                <a:latin typeface="Arial"/>
              </a:rPr>
              <a:t>Both supported by AHCYL1 and PNPLA8 overlap.</a:t>
            </a:r>
          </a:p>
        </p:txBody>
      </p:sp>
      <p:sp>
        <p:nvSpPr>
          <p:cNvPr id="13" name="Rounded Rectangle 12"/>
          <p:cNvSpPr/>
          <p:nvPr/>
        </p:nvSpPr>
        <p:spPr>
          <a:xfrm>
            <a:off x="4151376" y="1335024"/>
            <a:ext cx="3273552" cy="4398264"/>
          </a:xfrm>
          <a:prstGeom prst="roundRect">
            <a:avLst/>
          </a:prstGeom>
          <a:solidFill>
            <a:srgbClr val="F1F4F7"/>
          </a:solidFill>
          <a:ln w="12700">
            <a:solidFill>
              <a:srgbClr val="6C79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425696" y="1655064"/>
            <a:ext cx="64008" cy="283464"/>
          </a:xfrm>
          <a:prstGeom prst="rect">
            <a:avLst/>
          </a:prstGeom>
          <a:solidFill>
            <a:srgbClr val="6C79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0" y="1627632"/>
            <a:ext cx="2569464"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Astrocytes • M_e33 • AD-down</a:t>
            </a:r>
          </a:p>
        </p:txBody>
      </p:sp>
      <p:sp>
        <p:nvSpPr>
          <p:cNvPr id="16" name="Rounded Rectangle 15"/>
          <p:cNvSpPr/>
          <p:nvPr/>
        </p:nvSpPr>
        <p:spPr>
          <a:xfrm>
            <a:off x="4425696" y="2103120"/>
            <a:ext cx="132588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0" y="2194560"/>
            <a:ext cx="1033271"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6C7988"/>
                </a:solidFill>
                <a:latin typeface="Arial"/>
              </a:rPr>
              <a:t>0</a:t>
            </a:r>
          </a:p>
        </p:txBody>
      </p:sp>
      <p:sp>
        <p:nvSpPr>
          <p:cNvPr id="18" name="TextBox 17"/>
          <p:cNvSpPr txBox="1"/>
          <p:nvPr/>
        </p:nvSpPr>
        <p:spPr>
          <a:xfrm>
            <a:off x="4572000" y="2651760"/>
            <a:ext cx="1033271"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completed-empty</a:t>
            </a:r>
          </a:p>
        </p:txBody>
      </p:sp>
      <p:sp>
        <p:nvSpPr>
          <p:cNvPr id="19" name="TextBox 18"/>
          <p:cNvSpPr txBox="1"/>
          <p:nvPr/>
        </p:nvSpPr>
        <p:spPr>
          <a:xfrm>
            <a:off x="4471416" y="3511296"/>
            <a:ext cx="2596896" cy="42062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700" b="1" i="0">
                <a:solidFill>
                  <a:srgbClr val="0F233D"/>
                </a:solidFill>
                <a:latin typeface="Arial"/>
              </a:rPr>
              <a:t>No q ≤0.10 rows</a:t>
            </a:r>
          </a:p>
        </p:txBody>
      </p:sp>
      <p:sp>
        <p:nvSpPr>
          <p:cNvPr id="20" name="TextBox 19"/>
          <p:cNvSpPr txBox="1"/>
          <p:nvPr/>
        </p:nvSpPr>
        <p:spPr>
          <a:xfrm>
            <a:off x="4453128" y="4352544"/>
            <a:ext cx="2651760" cy="768096"/>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050" b="0" i="0">
                <a:solidFill>
                  <a:srgbClr val="4E5A68"/>
                </a:solidFill>
                <a:latin typeface="Arial"/>
              </a:rPr>
              <a:t>Best row: NEK6, q=0.1195. The run completed successfully.</a:t>
            </a:r>
          </a:p>
        </p:txBody>
      </p:sp>
      <p:sp>
        <p:nvSpPr>
          <p:cNvPr id="21" name="Rounded Rectangle 20"/>
          <p:cNvSpPr/>
          <p:nvPr/>
        </p:nvSpPr>
        <p:spPr>
          <a:xfrm>
            <a:off x="7680960" y="1335024"/>
            <a:ext cx="3886200" cy="4398264"/>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7955279" y="1655064"/>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101583" y="1627632"/>
            <a:ext cx="3182112"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OPCs • F_e4 • AD-down</a:t>
            </a:r>
          </a:p>
        </p:txBody>
      </p:sp>
      <p:sp>
        <p:nvSpPr>
          <p:cNvPr id="24" name="Rounded Rectangle 23"/>
          <p:cNvSpPr/>
          <p:nvPr/>
        </p:nvSpPr>
        <p:spPr>
          <a:xfrm>
            <a:off x="7955279" y="2103120"/>
            <a:ext cx="132588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101583" y="2194560"/>
            <a:ext cx="1033271"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895600"/>
                </a:solidFill>
                <a:latin typeface="Arial"/>
              </a:rPr>
              <a:t>10</a:t>
            </a:r>
          </a:p>
        </p:txBody>
      </p:sp>
      <p:sp>
        <p:nvSpPr>
          <p:cNvPr id="26" name="TextBox 25"/>
          <p:cNvSpPr txBox="1"/>
          <p:nvPr/>
        </p:nvSpPr>
        <p:spPr>
          <a:xfrm>
            <a:off x="8101583" y="2651760"/>
            <a:ext cx="1033271"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relaxed • 7 strict</a:t>
            </a:r>
          </a:p>
        </p:txBody>
      </p:sp>
      <p:sp>
        <p:nvSpPr>
          <p:cNvPr id="27" name="TextBox 26"/>
          <p:cNvSpPr txBox="1"/>
          <p:nvPr/>
        </p:nvSpPr>
        <p:spPr>
          <a:xfrm>
            <a:off x="7973568" y="3401568"/>
            <a:ext cx="731520"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80" b="1" i="0">
                <a:solidFill>
                  <a:srgbClr val="009E73"/>
                </a:solidFill>
                <a:latin typeface="Arial"/>
              </a:rPr>
              <a:t>STRICT</a:t>
            </a:r>
          </a:p>
        </p:txBody>
      </p:sp>
      <p:sp>
        <p:nvSpPr>
          <p:cNvPr id="28" name="TextBox 27"/>
          <p:cNvSpPr txBox="1"/>
          <p:nvPr/>
        </p:nvSpPr>
        <p:spPr>
          <a:xfrm>
            <a:off x="7973568" y="3657600"/>
            <a:ext cx="3154680" cy="69494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00" b="1" i="0">
                <a:solidFill>
                  <a:srgbClr val="0F233D"/>
                </a:solidFill>
                <a:latin typeface="Arial"/>
              </a:rPr>
              <a:t>CAMK2D • RAPGEF4 • RAB3IP • FOXN3
AC092691.1 • FAM13A • NCOA1</a:t>
            </a:r>
          </a:p>
        </p:txBody>
      </p:sp>
      <p:sp>
        <p:nvSpPr>
          <p:cNvPr id="29" name="TextBox 28"/>
          <p:cNvSpPr txBox="1"/>
          <p:nvPr/>
        </p:nvSpPr>
        <p:spPr>
          <a:xfrm>
            <a:off x="7973568" y="4572000"/>
            <a:ext cx="1078992"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80" b="1" i="0">
                <a:solidFill>
                  <a:srgbClr val="D55E00"/>
                </a:solidFill>
                <a:latin typeface="Arial"/>
              </a:rPr>
              <a:t>RELAXED-ONLY</a:t>
            </a:r>
          </a:p>
        </p:txBody>
      </p:sp>
      <p:sp>
        <p:nvSpPr>
          <p:cNvPr id="30" name="TextBox 29"/>
          <p:cNvSpPr txBox="1"/>
          <p:nvPr/>
        </p:nvSpPr>
        <p:spPr>
          <a:xfrm>
            <a:off x="7973568" y="4828032"/>
            <a:ext cx="3136392" cy="36576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00" b="1" i="0">
                <a:solidFill>
                  <a:srgbClr val="0F233D"/>
                </a:solidFill>
                <a:latin typeface="Arial"/>
              </a:rPr>
              <a:t>FGF14 • GRID1 • DENND1A</a:t>
            </a:r>
          </a:p>
        </p:txBody>
      </p:sp>
      <p:sp>
        <p:nvSpPr>
          <p:cNvPr id="31" name="Rectangle 30"/>
          <p:cNvSpPr/>
          <p:nvPr/>
        </p:nvSpPr>
        <p:spPr>
          <a:xfrm>
            <a:off x="502920" y="6153912"/>
            <a:ext cx="11173968" cy="393192"/>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502920" y="6153912"/>
            <a:ext cx="91440" cy="39319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22376" y="6217920"/>
            <a:ext cx="10744200" cy="25603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70" b="1" i="0">
                <a:solidFill>
                  <a:srgbClr val="FFFFFF"/>
                </a:solidFill>
                <a:latin typeface="Arial"/>
              </a:rPr>
              <a:t>The broad result is 12 unique genes because none recurs across the two candidate-bearing runs.</a:t>
            </a:r>
          </a:p>
        </p:txBody>
      </p:sp>
      <p:sp>
        <p:nvSpPr>
          <p:cNvPr id="34" name="TextBox 33"/>
          <p:cNvSpPr txBox="1"/>
          <p:nvPr/>
        </p:nvSpPr>
        <p:spPr>
          <a:xfrm>
            <a:off x="521207" y="6620256"/>
            <a:ext cx="10771632" cy="14630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00" b="0" i="0">
                <a:solidFill>
                  <a:srgbClr val="4E5A68"/>
                </a:solidFill>
                <a:latin typeface="Arial"/>
              </a:rPr>
              <a:t>Source: phase20_broad_non_mt_candidates.tsv; phase20_broad_direction_manifest.tsv</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100" b="1" i="0">
                <a:solidFill>
                  <a:srgbClr val="0F233D"/>
                </a:solidFill>
                <a:latin typeface="Arial"/>
              </a:rPr>
              <a:t>Broad candidates do not recur across runs; bars show within-run q strength</a:t>
            </a:r>
          </a:p>
        </p:txBody>
      </p:sp>
      <p:sp>
        <p:nvSpPr>
          <p:cNvPr id="4" name="TextBox 3"/>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This recurrence analogue keeps all 12 unique genes and encodes −log10(non-core-MT run q).</a:t>
            </a:r>
          </a:p>
        </p:txBody>
      </p:sp>
      <p:sp>
        <p:nvSpPr>
          <p:cNvPr id="5" name="Rounded Rectangle 4"/>
          <p:cNvSpPr/>
          <p:nvPr/>
        </p:nvSpPr>
        <p:spPr>
          <a:xfrm>
            <a:off x="429768" y="1161288"/>
            <a:ext cx="6583680" cy="49377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Broad-cell Phase 20 horizontal bar chart of twelve direct non-core-mitochondrial candidates, with blue strict rows, hatched orange relaxed-only rows, and bar length equal to minus log10 within-run q" descr="Broad-cell Phase 20 horizontal bar chart of twelve direct non-core-mitochondrial candidates, with blue strict rows, hatched orange relaxed-only rows, and bar length equal to minus log10 within-run q"/>
          <p:cNvPicPr>
            <a:picLocks noChangeAspect="1"/>
          </p:cNvPicPr>
          <p:nvPr/>
        </p:nvPicPr>
        <p:blipFill>
          <a:blip r:embed="rId3"/>
          <a:stretch>
            <a:fillRect/>
          </a:stretch>
        </p:blipFill>
        <p:spPr>
          <a:xfrm>
            <a:off x="1014984" y="1252728"/>
            <a:ext cx="5413248" cy="4736592"/>
          </a:xfrm>
          <a:prstGeom prst="rect">
            <a:avLst/>
          </a:prstGeom>
        </p:spPr>
      </p:pic>
      <p:sp>
        <p:nvSpPr>
          <p:cNvPr id="7" name="Rounded Rectangle 6"/>
          <p:cNvSpPr/>
          <p:nvPr/>
        </p:nvSpPr>
        <p:spPr>
          <a:xfrm>
            <a:off x="7251192" y="1298448"/>
            <a:ext cx="4325112"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525512" y="1618488"/>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71816" y="1591056"/>
            <a:ext cx="3602735"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How to read it</a:t>
            </a:r>
          </a:p>
        </p:txBody>
      </p:sp>
      <p:sp>
        <p:nvSpPr>
          <p:cNvPr id="10" name="Oval 9"/>
          <p:cNvSpPr/>
          <p:nvPr/>
        </p:nvSpPr>
        <p:spPr>
          <a:xfrm>
            <a:off x="7525512" y="218541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699248" y="2057400"/>
            <a:ext cx="3502151" cy="4572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19" b="0" i="0">
                <a:solidFill>
                  <a:srgbClr val="1F2730"/>
                </a:solidFill>
                <a:latin typeface="Arial"/>
              </a:rPr>
              <a:t>Each gene appears in exactly one completed broad run.</a:t>
            </a:r>
          </a:p>
        </p:txBody>
      </p:sp>
      <p:sp>
        <p:nvSpPr>
          <p:cNvPr id="12" name="Oval 11"/>
          <p:cNvSpPr/>
          <p:nvPr/>
        </p:nvSpPr>
        <p:spPr>
          <a:xfrm>
            <a:off x="7525512" y="264261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699248" y="2514600"/>
            <a:ext cx="3502151" cy="4572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19" b="0" i="0">
                <a:solidFill>
                  <a:srgbClr val="1F2730"/>
                </a:solidFill>
                <a:latin typeface="Arial"/>
              </a:rPr>
              <a:t>Bar length = −log10(non-core-MT run q), not recurrence count.</a:t>
            </a:r>
          </a:p>
        </p:txBody>
      </p:sp>
      <p:sp>
        <p:nvSpPr>
          <p:cNvPr id="14" name="Oval 13"/>
          <p:cNvSpPr/>
          <p:nvPr/>
        </p:nvSpPr>
        <p:spPr>
          <a:xfrm>
            <a:off x="7525512" y="309981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699248" y="2971800"/>
            <a:ext cx="3502151" cy="4572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19" b="0" i="0">
                <a:solidFill>
                  <a:srgbClr val="1F2730"/>
                </a:solidFill>
                <a:latin typeface="Arial"/>
              </a:rPr>
              <a:t>Run labels/panels identify Astrocytes F_e4 versus OPCs F_e4.</a:t>
            </a:r>
          </a:p>
        </p:txBody>
      </p:sp>
      <p:sp>
        <p:nvSpPr>
          <p:cNvPr id="16" name="Oval 15"/>
          <p:cNvSpPr/>
          <p:nvPr/>
        </p:nvSpPr>
        <p:spPr>
          <a:xfrm>
            <a:off x="7525512" y="355701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699248" y="3429000"/>
            <a:ext cx="3502151" cy="4572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19" b="0" i="0">
                <a:solidFill>
                  <a:srgbClr val="1F2730"/>
                </a:solidFill>
                <a:latin typeface="Arial"/>
              </a:rPr>
              <a:t>Blue = strict q≤0.05; hatched orange = relaxed-only.</a:t>
            </a:r>
          </a:p>
        </p:txBody>
      </p:sp>
      <p:sp>
        <p:nvSpPr>
          <p:cNvPr id="18" name="Oval 17"/>
          <p:cNvSpPr/>
          <p:nvPr/>
        </p:nvSpPr>
        <p:spPr>
          <a:xfrm>
            <a:off x="7525512" y="4014215"/>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699248" y="3886200"/>
            <a:ext cx="3502151" cy="4572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19" b="0" i="0">
                <a:solidFill>
                  <a:srgbClr val="1F2730"/>
                </a:solidFill>
                <a:latin typeface="Arial"/>
              </a:rPr>
              <a:t>Nine genes are strict q ≤0.05; three OPC genes are relaxed-only.</a:t>
            </a:r>
          </a:p>
        </p:txBody>
      </p:sp>
      <p:sp>
        <p:nvSpPr>
          <p:cNvPr id="20" name="Oval 19"/>
          <p:cNvSpPr/>
          <p:nvPr/>
        </p:nvSpPr>
        <p:spPr>
          <a:xfrm>
            <a:off x="7525512" y="447141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699248" y="4343400"/>
            <a:ext cx="3502151" cy="4572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19" b="0" i="0">
                <a:solidFill>
                  <a:srgbClr val="1F2730"/>
                </a:solidFill>
                <a:latin typeface="Arial"/>
              </a:rPr>
              <a:t>Astrocytes M_e33 is absent because its candidate list is empty.</a:t>
            </a:r>
          </a:p>
        </p:txBody>
      </p:sp>
      <p:sp>
        <p:nvSpPr>
          <p:cNvPr id="22" name="Rounded Rectangle 21"/>
          <p:cNvSpPr/>
          <p:nvPr/>
        </p:nvSpPr>
        <p:spPr>
          <a:xfrm>
            <a:off x="7516368" y="5084064"/>
            <a:ext cx="3749039" cy="51206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690104" y="5212080"/>
            <a:ext cx="3401568" cy="246888"/>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030" b="1" i="0">
                <a:solidFill>
                  <a:srgbClr val="D55E00"/>
                </a:solidFill>
                <a:latin typeface="Arial"/>
              </a:rPr>
              <a:t>No broad recurrence gate was applied.</a:t>
            </a:r>
          </a:p>
        </p:txBody>
      </p:sp>
      <p:sp>
        <p:nvSpPr>
          <p:cNvPr id="24" name="Rectangle 23"/>
          <p:cNvSpPr/>
          <p:nvPr/>
        </p:nvSpPr>
        <p:spPr>
          <a:xfrm>
            <a:off x="502920" y="6153912"/>
            <a:ext cx="11173968" cy="393192"/>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02920" y="6153912"/>
            <a:ext cx="91440" cy="39319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22376" y="6217920"/>
            <a:ext cx="10744200" cy="25603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70" b="1" i="0">
                <a:solidFill>
                  <a:srgbClr val="FFFFFF"/>
                </a:solidFill>
                <a:latin typeface="Arial"/>
              </a:rPr>
              <a:t>The figure answers ‘how strong within this run?’—not ‘in how many runs did this gene recur?’</a:t>
            </a:r>
          </a:p>
        </p:txBody>
      </p:sp>
      <p:sp>
        <p:nvSpPr>
          <p:cNvPr id="27" name="TextBox 26"/>
          <p:cNvSpPr txBox="1"/>
          <p:nvPr/>
        </p:nvSpPr>
        <p:spPr>
          <a:xfrm>
            <a:off x="521207" y="6620256"/>
            <a:ext cx="10771632" cy="14630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00" b="0" i="0">
                <a:solidFill>
                  <a:srgbClr val="4E5A68"/>
                </a:solidFill>
                <a:latin typeface="Arial"/>
              </a:rPr>
              <a:t>Source: results/figures/analysis/phase_20_sex_apoe_kda_broad/driver_recurrence figure bundle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182880"/>
            <a:ext cx="402336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19" b="1" i="0">
                <a:solidFill>
                  <a:srgbClr val="00684D"/>
                </a:solidFill>
                <a:latin typeface="Arial"/>
              </a:rPr>
              <a:t>BROAD RESULTS • TOP-FIVE CANDIDATES</a:t>
            </a:r>
          </a:p>
        </p:txBody>
      </p:sp>
      <p:sp>
        <p:nvSpPr>
          <p:cNvPr id="3" name="TextBox 2"/>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100" b="1" i="0">
                <a:solidFill>
                  <a:srgbClr val="0F233D"/>
                </a:solidFill>
                <a:latin typeface="Arial"/>
              </a:rPr>
              <a:t>The broad top-five view displays 7 strict candidates across 3 run rows</a:t>
            </a:r>
          </a:p>
        </p:txBody>
      </p:sp>
      <p:sp>
        <p:nvSpPr>
          <p:cNvPr id="4" name="TextBox 3"/>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Two Astrocyte candidates, five OPC candidates, and a deliberately blank completed run.</a:t>
            </a:r>
          </a:p>
        </p:txBody>
      </p:sp>
      <p:sp>
        <p:nvSpPr>
          <p:cNvPr id="5" name="Rounded Rectangle 4"/>
          <p:cNvSpPr/>
          <p:nvPr/>
        </p:nvSpPr>
        <p:spPr>
          <a:xfrm>
            <a:off x="429768" y="1197864"/>
            <a:ext cx="7516368" cy="485546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Broad-cell Phase 20 three-row tile chart showing two Astrocytes F_e4 candidates, a blank Astrocytes M_e33 row, and five OPCs F_e4 candidates" descr="Broad-cell Phase 20 three-row tile chart showing two Astrocytes F_e4 candidates, a blank Astrocytes M_e33 row, and five OPCs F_e4 candidates"/>
          <p:cNvPicPr>
            <a:picLocks noChangeAspect="1"/>
          </p:cNvPicPr>
          <p:nvPr/>
        </p:nvPicPr>
        <p:blipFill>
          <a:blip r:embed="rId3"/>
          <a:stretch>
            <a:fillRect/>
          </a:stretch>
        </p:blipFill>
        <p:spPr>
          <a:xfrm>
            <a:off x="530352" y="1792223"/>
            <a:ext cx="7315200" cy="3657600"/>
          </a:xfrm>
          <a:prstGeom prst="rect">
            <a:avLst/>
          </a:prstGeom>
        </p:spPr>
      </p:pic>
      <p:sp>
        <p:nvSpPr>
          <p:cNvPr id="7" name="Rounded Rectangle 6"/>
          <p:cNvSpPr/>
          <p:nvPr/>
        </p:nvSpPr>
        <p:spPr>
          <a:xfrm>
            <a:off x="8174736" y="1325880"/>
            <a:ext cx="3401568" cy="452628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439912" y="1636776"/>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86216" y="1609344"/>
            <a:ext cx="2715768"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Display contract</a:t>
            </a:r>
          </a:p>
        </p:txBody>
      </p:sp>
      <p:sp>
        <p:nvSpPr>
          <p:cNvPr id="10" name="Rounded Rectangle 9"/>
          <p:cNvSpPr/>
          <p:nvPr/>
        </p:nvSpPr>
        <p:spPr>
          <a:xfrm>
            <a:off x="8439912" y="2066543"/>
            <a:ext cx="1216152"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586216" y="2157984"/>
            <a:ext cx="923544"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895600"/>
                </a:solidFill>
                <a:latin typeface="Arial"/>
              </a:rPr>
              <a:t>7</a:t>
            </a:r>
          </a:p>
        </p:txBody>
      </p:sp>
      <p:sp>
        <p:nvSpPr>
          <p:cNvPr id="12" name="TextBox 11"/>
          <p:cNvSpPr txBox="1"/>
          <p:nvPr/>
        </p:nvSpPr>
        <p:spPr>
          <a:xfrm>
            <a:off x="8586216" y="2615184"/>
            <a:ext cx="923544"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displayed candidates</a:t>
            </a:r>
          </a:p>
        </p:txBody>
      </p:sp>
      <p:sp>
        <p:nvSpPr>
          <p:cNvPr id="13" name="Rounded Rectangle 12"/>
          <p:cNvSpPr/>
          <p:nvPr/>
        </p:nvSpPr>
        <p:spPr>
          <a:xfrm>
            <a:off x="9848088" y="2066543"/>
            <a:ext cx="1216152"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994392" y="2157984"/>
            <a:ext cx="923544"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895600"/>
                </a:solidFill>
                <a:latin typeface="Arial"/>
              </a:rPr>
              <a:t>3</a:t>
            </a:r>
          </a:p>
        </p:txBody>
      </p:sp>
      <p:sp>
        <p:nvSpPr>
          <p:cNvPr id="15" name="TextBox 14"/>
          <p:cNvSpPr txBox="1"/>
          <p:nvPr/>
        </p:nvSpPr>
        <p:spPr>
          <a:xfrm>
            <a:off x="9994392" y="2615184"/>
            <a:ext cx="923544"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completed run rows</a:t>
            </a:r>
          </a:p>
        </p:txBody>
      </p:sp>
      <p:sp>
        <p:nvSpPr>
          <p:cNvPr id="16" name="Oval 15"/>
          <p:cNvSpPr/>
          <p:nvPr/>
        </p:nvSpPr>
        <p:spPr>
          <a:xfrm>
            <a:off x="8439912" y="3493008"/>
            <a:ext cx="77724" cy="7772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613648" y="3364992"/>
            <a:ext cx="2542032" cy="49377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0" i="0">
                <a:solidFill>
                  <a:srgbClr val="1F2730"/>
                </a:solidFill>
                <a:latin typeface="Arial"/>
              </a:rPr>
              <a:t>Order: q, raw P, larger overlap, larger enrichment, then symbol.</a:t>
            </a:r>
          </a:p>
        </p:txBody>
      </p:sp>
      <p:sp>
        <p:nvSpPr>
          <p:cNvPr id="18" name="Oval 17"/>
          <p:cNvSpPr/>
          <p:nvPr/>
        </p:nvSpPr>
        <p:spPr>
          <a:xfrm>
            <a:off x="8439912" y="3986784"/>
            <a:ext cx="77724" cy="7772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613648" y="3858768"/>
            <a:ext cx="2542032" cy="49377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0" i="0">
                <a:solidFill>
                  <a:srgbClr val="1F2730"/>
                </a:solidFill>
                <a:latin typeface="Arial"/>
              </a:rPr>
              <a:t>All seven displayed genes pass strict q ≤0.05.</a:t>
            </a:r>
          </a:p>
        </p:txBody>
      </p:sp>
      <p:sp>
        <p:nvSpPr>
          <p:cNvPr id="20" name="Oval 19"/>
          <p:cNvSpPr/>
          <p:nvPr/>
        </p:nvSpPr>
        <p:spPr>
          <a:xfrm>
            <a:off x="8439912" y="4480560"/>
            <a:ext cx="77724" cy="7772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613648" y="4352544"/>
            <a:ext cx="2542032" cy="49377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0" i="0">
                <a:solidFill>
                  <a:srgbClr val="1F2730"/>
                </a:solidFill>
                <a:latin typeface="Arial"/>
              </a:rPr>
              <a:t>Up to five are shown per run; no failing row is backfilled.</a:t>
            </a:r>
          </a:p>
        </p:txBody>
      </p:sp>
      <p:sp>
        <p:nvSpPr>
          <p:cNvPr id="22" name="Oval 21"/>
          <p:cNvSpPr/>
          <p:nvPr/>
        </p:nvSpPr>
        <p:spPr>
          <a:xfrm>
            <a:off x="8439912" y="4974336"/>
            <a:ext cx="77724" cy="7772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613648" y="4846320"/>
            <a:ext cx="2542032" cy="49377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0" i="0">
                <a:solidFill>
                  <a:srgbClr val="1F2730"/>
                </a:solidFill>
                <a:latin typeface="Arial"/>
              </a:rPr>
              <a:t>The full candidate table still contains all 12 relaxed rows.</a:t>
            </a:r>
          </a:p>
        </p:txBody>
      </p:sp>
      <p:sp>
        <p:nvSpPr>
          <p:cNvPr id="24" name="Rectangle 23"/>
          <p:cNvSpPr/>
          <p:nvPr/>
        </p:nvSpPr>
        <p:spPr>
          <a:xfrm>
            <a:off x="502920" y="6153912"/>
            <a:ext cx="11173968" cy="393192"/>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02920" y="6153912"/>
            <a:ext cx="91440" cy="39319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22376" y="6217920"/>
            <a:ext cx="10744200" cy="25603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70" b="1" i="0">
                <a:solidFill>
                  <a:srgbClr val="FFFFFF"/>
                </a:solidFill>
                <a:latin typeface="Arial"/>
              </a:rPr>
              <a:t>The blank M_e33 row makes a valid zero visible; the top-five cap changes presentation only.</a:t>
            </a:r>
          </a:p>
        </p:txBody>
      </p:sp>
      <p:sp>
        <p:nvSpPr>
          <p:cNvPr id="27" name="TextBox 26"/>
          <p:cNvSpPr txBox="1"/>
          <p:nvPr/>
        </p:nvSpPr>
        <p:spPr>
          <a:xfrm>
            <a:off x="521207" y="6620256"/>
            <a:ext cx="10771632" cy="14630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00" b="0" i="0">
                <a:solidFill>
                  <a:srgbClr val="4E5A68"/>
                </a:solidFill>
                <a:latin typeface="Arial"/>
              </a:rPr>
              <a:t>Source: results/figures/analysis/phase_20_sex_apoe_kda_broad/top5_candidates figure bundle; phase20_broad_top5_summary.tsv</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182880"/>
            <a:ext cx="402336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19" b="1" i="0">
                <a:solidFill>
                  <a:srgbClr val="7E4C9A"/>
                </a:solidFill>
                <a:latin typeface="Arial"/>
              </a:rPr>
              <a:t>SYNTHESIS</a:t>
            </a:r>
          </a:p>
        </p:txBody>
      </p:sp>
      <p:sp>
        <p:nvSpPr>
          <p:cNvPr id="3" name="TextBox 2"/>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100" b="1" i="0">
                <a:solidFill>
                  <a:srgbClr val="0F233D"/>
                </a:solidFill>
                <a:latin typeface="Arial"/>
              </a:rPr>
              <a:t>The same words can refer to different evidence in the two branches</a:t>
            </a:r>
          </a:p>
        </p:txBody>
      </p:sp>
      <p:sp>
        <p:nvSpPr>
          <p:cNvPr id="4" name="TextBox 3"/>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Use branch, counting unit, and multiplicity method together when reporting a result.</a:t>
            </a:r>
          </a:p>
        </p:txBody>
      </p:sp>
      <p:sp>
        <p:nvSpPr>
          <p:cNvPr id="5" name="Rectangle 4"/>
          <p:cNvSpPr/>
          <p:nvPr/>
        </p:nvSpPr>
        <p:spPr>
          <a:xfrm>
            <a:off x="621792" y="1289304"/>
            <a:ext cx="2286000" cy="4663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76656" y="1344168"/>
            <a:ext cx="2176272"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5" b="1" i="0">
                <a:solidFill>
                  <a:srgbClr val="FFFFFF"/>
                </a:solidFill>
                <a:latin typeface="Arial"/>
              </a:rPr>
              <a:t>Question</a:t>
            </a:r>
          </a:p>
        </p:txBody>
      </p:sp>
      <p:sp>
        <p:nvSpPr>
          <p:cNvPr id="7" name="Rectangle 6"/>
          <p:cNvSpPr/>
          <p:nvPr/>
        </p:nvSpPr>
        <p:spPr>
          <a:xfrm>
            <a:off x="2907792" y="1289304"/>
            <a:ext cx="4526280" cy="4663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962656" y="1344168"/>
            <a:ext cx="4416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5" b="1" i="0">
                <a:solidFill>
                  <a:srgbClr val="FFFFFF"/>
                </a:solidFill>
                <a:latin typeface="Arial"/>
              </a:rPr>
              <a:t>Fine-cell reaggregation</a:t>
            </a:r>
          </a:p>
        </p:txBody>
      </p:sp>
      <p:sp>
        <p:nvSpPr>
          <p:cNvPr id="9" name="Rectangle 8"/>
          <p:cNvSpPr/>
          <p:nvPr/>
        </p:nvSpPr>
        <p:spPr>
          <a:xfrm>
            <a:off x="7434072" y="1289304"/>
            <a:ext cx="4526280" cy="4663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88936" y="1344168"/>
            <a:ext cx="4416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5" b="1" i="0">
                <a:solidFill>
                  <a:srgbClr val="FFFFFF"/>
                </a:solidFill>
                <a:latin typeface="Arial"/>
              </a:rPr>
              <a:t>Direct broad-cell KDA</a:t>
            </a:r>
          </a:p>
        </p:txBody>
      </p:sp>
      <p:sp>
        <p:nvSpPr>
          <p:cNvPr id="11" name="Rectangle 10"/>
          <p:cNvSpPr/>
          <p:nvPr/>
        </p:nvSpPr>
        <p:spPr>
          <a:xfrm>
            <a:off x="621792" y="1755648"/>
            <a:ext cx="2286000" cy="466344"/>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76656" y="1801368"/>
            <a:ext cx="217627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Starting design</a:t>
            </a:r>
          </a:p>
        </p:txBody>
      </p:sp>
      <p:sp>
        <p:nvSpPr>
          <p:cNvPr id="13" name="Rectangle 12"/>
          <p:cNvSpPr/>
          <p:nvPr/>
        </p:nvSpPr>
        <p:spPr>
          <a:xfrm>
            <a:off x="2907792" y="1755648"/>
            <a:ext cx="4526280" cy="466344"/>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962656" y="1801368"/>
            <a:ext cx="441655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54 fine types × 6 groups</a:t>
            </a:r>
          </a:p>
        </p:txBody>
      </p:sp>
      <p:sp>
        <p:nvSpPr>
          <p:cNvPr id="15" name="Rectangle 14"/>
          <p:cNvSpPr/>
          <p:nvPr/>
        </p:nvSpPr>
        <p:spPr>
          <a:xfrm>
            <a:off x="7434072" y="1755648"/>
            <a:ext cx="4526280" cy="466344"/>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488936" y="1801368"/>
            <a:ext cx="441655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7 broad types × 6 groups</a:t>
            </a:r>
          </a:p>
        </p:txBody>
      </p:sp>
      <p:sp>
        <p:nvSpPr>
          <p:cNvPr id="17" name="Rectangle 16"/>
          <p:cNvSpPr/>
          <p:nvPr/>
        </p:nvSpPr>
        <p:spPr>
          <a:xfrm>
            <a:off x="621792" y="2221991"/>
            <a:ext cx="2286000" cy="466344"/>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76656" y="2267711"/>
            <a:ext cx="217627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Planned directions</a:t>
            </a:r>
          </a:p>
        </p:txBody>
      </p:sp>
      <p:sp>
        <p:nvSpPr>
          <p:cNvPr id="19" name="Rectangle 18"/>
          <p:cNvSpPr/>
          <p:nvPr/>
        </p:nvSpPr>
        <p:spPr>
          <a:xfrm>
            <a:off x="2907792" y="2221991"/>
            <a:ext cx="4526280" cy="466344"/>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962656" y="2267711"/>
            <a:ext cx="441655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648 slots</a:t>
            </a:r>
          </a:p>
        </p:txBody>
      </p:sp>
      <p:sp>
        <p:nvSpPr>
          <p:cNvPr id="21" name="Rectangle 20"/>
          <p:cNvSpPr/>
          <p:nvPr/>
        </p:nvSpPr>
        <p:spPr>
          <a:xfrm>
            <a:off x="7434072" y="2221991"/>
            <a:ext cx="4526280" cy="466344"/>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488936" y="2267711"/>
            <a:ext cx="441655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84 slots</a:t>
            </a:r>
          </a:p>
        </p:txBody>
      </p:sp>
      <p:sp>
        <p:nvSpPr>
          <p:cNvPr id="23" name="Rectangle 22"/>
          <p:cNvSpPr/>
          <p:nvPr/>
        </p:nvSpPr>
        <p:spPr>
          <a:xfrm>
            <a:off x="621792" y="2688336"/>
            <a:ext cx="2286000" cy="466344"/>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76656" y="2734056"/>
            <a:ext cx="217627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KDA execution rule</a:t>
            </a:r>
          </a:p>
        </p:txBody>
      </p:sp>
      <p:sp>
        <p:nvSpPr>
          <p:cNvPr id="25" name="Rectangle 24"/>
          <p:cNvSpPr/>
          <p:nvPr/>
        </p:nvSpPr>
        <p:spPr>
          <a:xfrm>
            <a:off x="2907792" y="2688336"/>
            <a:ext cx="4526280" cy="466344"/>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962656" y="2734056"/>
            <a:ext cx="441655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Called at effective query ≥3</a:t>
            </a:r>
          </a:p>
        </p:txBody>
      </p:sp>
      <p:sp>
        <p:nvSpPr>
          <p:cNvPr id="27" name="Rectangle 26"/>
          <p:cNvSpPr/>
          <p:nvPr/>
        </p:nvSpPr>
        <p:spPr>
          <a:xfrm>
            <a:off x="7434072" y="2688336"/>
            <a:ext cx="4526280" cy="466344"/>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488936" y="2734056"/>
            <a:ext cx="441655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Called at effective query ≥3</a:t>
            </a:r>
          </a:p>
        </p:txBody>
      </p:sp>
      <p:sp>
        <p:nvSpPr>
          <p:cNvPr id="29" name="Rectangle 28"/>
          <p:cNvSpPr/>
          <p:nvPr/>
        </p:nvSpPr>
        <p:spPr>
          <a:xfrm>
            <a:off x="621792" y="3154680"/>
            <a:ext cx="2286000" cy="466344"/>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76656" y="3200400"/>
            <a:ext cx="217627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Analysis inclusion</a:t>
            </a:r>
          </a:p>
        </p:txBody>
      </p:sp>
      <p:sp>
        <p:nvSpPr>
          <p:cNvPr id="31" name="Rectangle 30"/>
          <p:cNvSpPr/>
          <p:nvPr/>
        </p:nvSpPr>
        <p:spPr>
          <a:xfrm>
            <a:off x="2907792" y="3154680"/>
            <a:ext cx="4526280" cy="466344"/>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962656" y="3200400"/>
            <a:ext cx="441655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All completed query ≥3: 295 runs</a:t>
            </a:r>
          </a:p>
        </p:txBody>
      </p:sp>
      <p:sp>
        <p:nvSpPr>
          <p:cNvPr id="33" name="Rectangle 32"/>
          <p:cNvSpPr/>
          <p:nvPr/>
        </p:nvSpPr>
        <p:spPr>
          <a:xfrm>
            <a:off x="7434072" y="3154680"/>
            <a:ext cx="4526280" cy="466344"/>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488936" y="3200400"/>
            <a:ext cx="441655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All completed query ≥3: 3 runs</a:t>
            </a:r>
          </a:p>
        </p:txBody>
      </p:sp>
      <p:sp>
        <p:nvSpPr>
          <p:cNvPr id="35" name="Rectangle 34"/>
          <p:cNvSpPr/>
          <p:nvPr/>
        </p:nvSpPr>
        <p:spPr>
          <a:xfrm>
            <a:off x="621792" y="3621024"/>
            <a:ext cx="2286000" cy="466344"/>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76656" y="3666744"/>
            <a:ext cx="217627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Evidence completion</a:t>
            </a:r>
          </a:p>
        </p:txBody>
      </p:sp>
      <p:sp>
        <p:nvSpPr>
          <p:cNvPr id="37" name="Rectangle 36"/>
          <p:cNvSpPr/>
          <p:nvPr/>
        </p:nvSpPr>
        <p:spPr>
          <a:xfrm>
            <a:off x="2907792" y="3621024"/>
            <a:ext cx="4526280" cy="466344"/>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2962656" y="3666744"/>
            <a:ext cx="441655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Explicit + implicit P=1 + absent</a:t>
            </a:r>
          </a:p>
        </p:txBody>
      </p:sp>
      <p:sp>
        <p:nvSpPr>
          <p:cNvPr id="39" name="Rectangle 38"/>
          <p:cNvSpPr/>
          <p:nvPr/>
        </p:nvSpPr>
        <p:spPr>
          <a:xfrm>
            <a:off x="7434072" y="3621024"/>
            <a:ext cx="4526280" cy="466344"/>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488936" y="3666744"/>
            <a:ext cx="441655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Explicit KDA rows only</a:t>
            </a:r>
          </a:p>
        </p:txBody>
      </p:sp>
      <p:sp>
        <p:nvSpPr>
          <p:cNvPr id="41" name="Rectangle 40"/>
          <p:cNvSpPr/>
          <p:nvPr/>
        </p:nvSpPr>
        <p:spPr>
          <a:xfrm>
            <a:off x="621792" y="4087368"/>
            <a:ext cx="2286000" cy="466344"/>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76656" y="4133087"/>
            <a:ext cx="217627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Multiple testing</a:t>
            </a:r>
          </a:p>
        </p:txBody>
      </p:sp>
      <p:sp>
        <p:nvSpPr>
          <p:cNvPr id="43" name="Rectangle 42"/>
          <p:cNvSpPr/>
          <p:nvPr/>
        </p:nvSpPr>
        <p:spPr>
          <a:xfrm>
            <a:off x="2907792" y="4087368"/>
            <a:ext cx="4526280" cy="466344"/>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2962656" y="4133087"/>
            <a:ext cx="441655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ACAT across runs, then category BH</a:t>
            </a:r>
          </a:p>
        </p:txBody>
      </p:sp>
      <p:sp>
        <p:nvSpPr>
          <p:cNvPr id="45" name="Rectangle 44"/>
          <p:cNvSpPr/>
          <p:nvPr/>
        </p:nvSpPr>
        <p:spPr>
          <a:xfrm>
            <a:off x="7434072" y="4087368"/>
            <a:ext cx="4526280" cy="466344"/>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488936" y="4133087"/>
            <a:ext cx="441655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BH separately within each run</a:t>
            </a:r>
          </a:p>
        </p:txBody>
      </p:sp>
      <p:sp>
        <p:nvSpPr>
          <p:cNvPr id="47" name="Rectangle 46"/>
          <p:cNvSpPr/>
          <p:nvPr/>
        </p:nvSpPr>
        <p:spPr>
          <a:xfrm>
            <a:off x="621792" y="4553712"/>
            <a:ext cx="2286000" cy="466344"/>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76656" y="4599432"/>
            <a:ext cx="217627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Support requirement</a:t>
            </a:r>
          </a:p>
        </p:txBody>
      </p:sp>
      <p:sp>
        <p:nvSpPr>
          <p:cNvPr id="49" name="Rectangle 48"/>
          <p:cNvSpPr/>
          <p:nvPr/>
        </p:nvSpPr>
        <p:spPr>
          <a:xfrm>
            <a:off x="2907792" y="4553712"/>
            <a:ext cx="4526280" cy="466344"/>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2962656" y="4599432"/>
            <a:ext cx="441655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≥1 supporting run (q≤.10 main)</a:t>
            </a:r>
          </a:p>
        </p:txBody>
      </p:sp>
      <p:sp>
        <p:nvSpPr>
          <p:cNvPr id="51" name="Rectangle 50"/>
          <p:cNvSpPr/>
          <p:nvPr/>
        </p:nvSpPr>
        <p:spPr>
          <a:xfrm>
            <a:off x="7434072" y="4553712"/>
            <a:ext cx="4526280" cy="466344"/>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7488936" y="4599432"/>
            <a:ext cx="441655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Overlap ≥2 in that run</a:t>
            </a:r>
          </a:p>
        </p:txBody>
      </p:sp>
      <p:sp>
        <p:nvSpPr>
          <p:cNvPr id="53" name="Rectangle 52"/>
          <p:cNvSpPr/>
          <p:nvPr/>
        </p:nvSpPr>
        <p:spPr>
          <a:xfrm>
            <a:off x="621792" y="5020056"/>
            <a:ext cx="2286000" cy="466344"/>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676656" y="5065776"/>
            <a:ext cx="217627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Final main result</a:t>
            </a:r>
          </a:p>
        </p:txBody>
      </p:sp>
      <p:sp>
        <p:nvSpPr>
          <p:cNvPr id="55" name="Rectangle 54"/>
          <p:cNvSpPr/>
          <p:nvPr/>
        </p:nvSpPr>
        <p:spPr>
          <a:xfrm>
            <a:off x="2907792" y="5020056"/>
            <a:ext cx="4526280" cy="466344"/>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2962656" y="5065776"/>
            <a:ext cx="441655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74 gene × category units / 37 genes</a:t>
            </a:r>
          </a:p>
        </p:txBody>
      </p:sp>
      <p:sp>
        <p:nvSpPr>
          <p:cNvPr id="57" name="Rectangle 56"/>
          <p:cNvSpPr/>
          <p:nvPr/>
        </p:nvSpPr>
        <p:spPr>
          <a:xfrm>
            <a:off x="7434072" y="5020056"/>
            <a:ext cx="4526280" cy="466344"/>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7488936" y="5065776"/>
            <a:ext cx="441655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12 gene × run rows / 12 genes</a:t>
            </a:r>
          </a:p>
        </p:txBody>
      </p:sp>
      <p:sp>
        <p:nvSpPr>
          <p:cNvPr id="59" name="Rectangle 58"/>
          <p:cNvSpPr/>
          <p:nvPr/>
        </p:nvSpPr>
        <p:spPr>
          <a:xfrm>
            <a:off x="621792" y="5486400"/>
            <a:ext cx="2286000" cy="466344"/>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676656" y="5532120"/>
            <a:ext cx="217627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Direction meaning</a:t>
            </a:r>
          </a:p>
        </p:txBody>
      </p:sp>
      <p:sp>
        <p:nvSpPr>
          <p:cNvPr id="61" name="Rectangle 60"/>
          <p:cNvSpPr/>
          <p:nvPr/>
        </p:nvSpPr>
        <p:spPr>
          <a:xfrm>
            <a:off x="2907792" y="5486400"/>
            <a:ext cx="4526280" cy="466344"/>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2962656" y="5532120"/>
            <a:ext cx="441655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Both directions may feed a category</a:t>
            </a:r>
          </a:p>
        </p:txBody>
      </p:sp>
      <p:sp>
        <p:nvSpPr>
          <p:cNvPr id="63" name="Rectangle 62"/>
          <p:cNvSpPr/>
          <p:nvPr/>
        </p:nvSpPr>
        <p:spPr>
          <a:xfrm>
            <a:off x="7434072" y="5486400"/>
            <a:ext cx="4526280" cy="466344"/>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7488936" y="5532120"/>
            <a:ext cx="441655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One retained direction per row</a:t>
            </a:r>
          </a:p>
        </p:txBody>
      </p:sp>
      <p:sp>
        <p:nvSpPr>
          <p:cNvPr id="65" name="Rectangle 64"/>
          <p:cNvSpPr/>
          <p:nvPr/>
        </p:nvSpPr>
        <p:spPr>
          <a:xfrm>
            <a:off x="502920" y="6153912"/>
            <a:ext cx="11173968" cy="393192"/>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ectangle 65"/>
          <p:cNvSpPr/>
          <p:nvPr/>
        </p:nvSpPr>
        <p:spPr>
          <a:xfrm>
            <a:off x="502920" y="6153912"/>
            <a:ext cx="91440" cy="393192"/>
          </a:xfrm>
          <a:prstGeom prst="rect">
            <a:avLst/>
          </a:prstGeom>
          <a:solidFill>
            <a:srgbClr val="7E4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722376" y="6217920"/>
            <a:ext cx="10744200" cy="25603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70" b="1" i="0">
                <a:solidFill>
                  <a:srgbClr val="FFFFFF"/>
                </a:solidFill>
                <a:latin typeface="Arial"/>
              </a:rPr>
              <a:t>Fine asks whether evidence combines across eligible fine runs; broad asks whether one direct run supports the gene.</a:t>
            </a:r>
          </a:p>
        </p:txBody>
      </p:sp>
      <p:sp>
        <p:nvSpPr>
          <p:cNvPr id="68" name="TextBox 67"/>
          <p:cNvSpPr txBox="1"/>
          <p:nvPr/>
        </p:nvSpPr>
        <p:spPr>
          <a:xfrm>
            <a:off x="521207" y="6620256"/>
            <a:ext cx="10771632" cy="14630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00" b="0" i="0">
                <a:solidFill>
                  <a:srgbClr val="4E5A68"/>
                </a:solidFill>
                <a:latin typeface="Arial"/>
              </a:rPr>
              <a:t>Source: validated fine and broad production status, run-manifest, and funnel tables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182880"/>
            <a:ext cx="402336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19" b="1" i="0">
                <a:solidFill>
                  <a:srgbClr val="895600"/>
                </a:solidFill>
                <a:latin typeface="Arial"/>
              </a:rPr>
              <a:t>TAKE-HOME</a:t>
            </a:r>
          </a:p>
        </p:txBody>
      </p:sp>
      <p:sp>
        <p:nvSpPr>
          <p:cNvPr id="3" name="TextBox 2"/>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Take-home: follow the unit, then the filter, then the q value</a:t>
            </a:r>
          </a:p>
        </p:txBody>
      </p:sp>
      <p:sp>
        <p:nvSpPr>
          <p:cNvPr id="4" name="TextBox 3"/>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The deck is a teaching layer over validated, auditable production tables and current canonical figures.</a:t>
            </a:r>
          </a:p>
        </p:txBody>
      </p:sp>
      <p:sp>
        <p:nvSpPr>
          <p:cNvPr id="5" name="Oval 4"/>
          <p:cNvSpPr/>
          <p:nvPr/>
        </p:nvSpPr>
        <p:spPr>
          <a:xfrm>
            <a:off x="676656" y="1335024"/>
            <a:ext cx="438912" cy="438912"/>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76656" y="1426463"/>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1" i="0">
                <a:solidFill>
                  <a:srgbClr val="0F233D"/>
                </a:solidFill>
                <a:latin typeface="Arial"/>
              </a:rPr>
              <a:t>1</a:t>
            </a:r>
          </a:p>
        </p:txBody>
      </p:sp>
      <p:sp>
        <p:nvSpPr>
          <p:cNvPr id="7" name="TextBox 6"/>
          <p:cNvSpPr txBox="1"/>
          <p:nvPr/>
        </p:nvSpPr>
        <p:spPr>
          <a:xfrm>
            <a:off x="1298448" y="1280160"/>
            <a:ext cx="6199632" cy="30175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20" b="1" i="0">
                <a:solidFill>
                  <a:srgbClr val="0F233D"/>
                </a:solidFill>
                <a:latin typeface="Arial"/>
              </a:rPr>
              <a:t>A run is one cell type × sex/APOE × direction KDA analysis.</a:t>
            </a:r>
          </a:p>
        </p:txBody>
      </p:sp>
      <p:sp>
        <p:nvSpPr>
          <p:cNvPr id="8" name="TextBox 7"/>
          <p:cNvSpPr txBox="1"/>
          <p:nvPr/>
        </p:nvSpPr>
        <p:spPr>
          <a:xfrm>
            <a:off x="1298448" y="1664207"/>
            <a:ext cx="6144768" cy="46634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0" i="0">
                <a:solidFill>
                  <a:srgbClr val="4E5A68"/>
                </a:solidFill>
                <a:latin typeface="Arial"/>
              </a:rPr>
              <a:t>A planned slot becomes a run only when the effective query meets that branch's execution rule.</a:t>
            </a:r>
          </a:p>
        </p:txBody>
      </p:sp>
      <p:sp>
        <p:nvSpPr>
          <p:cNvPr id="9" name="Oval 8"/>
          <p:cNvSpPr/>
          <p:nvPr/>
        </p:nvSpPr>
        <p:spPr>
          <a:xfrm>
            <a:off x="676656" y="2414016"/>
            <a:ext cx="438912" cy="438912"/>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76656" y="2505456"/>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1" i="0">
                <a:solidFill>
                  <a:srgbClr val="0F233D"/>
                </a:solidFill>
                <a:latin typeface="Arial"/>
              </a:rPr>
              <a:t>2</a:t>
            </a:r>
          </a:p>
        </p:txBody>
      </p:sp>
      <p:sp>
        <p:nvSpPr>
          <p:cNvPr id="11" name="TextBox 10"/>
          <p:cNvSpPr txBox="1"/>
          <p:nvPr/>
        </p:nvSpPr>
        <p:spPr>
          <a:xfrm>
            <a:off x="1298448" y="2359152"/>
            <a:ext cx="6199632" cy="30175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20" b="1" i="0">
                <a:solidFill>
                  <a:srgbClr val="0F233D"/>
                </a:solidFill>
                <a:latin typeface="Arial"/>
              </a:rPr>
              <a:t>A candidate is a network gene—not necessarily a DEG or query gene.</a:t>
            </a:r>
          </a:p>
        </p:txBody>
      </p:sp>
      <p:sp>
        <p:nvSpPr>
          <p:cNvPr id="12" name="TextBox 11"/>
          <p:cNvSpPr txBox="1"/>
          <p:nvPr/>
        </p:nvSpPr>
        <p:spPr>
          <a:xfrm>
            <a:off x="1298448" y="2743200"/>
            <a:ext cx="6144768" cy="46634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0" i="0">
                <a:solidFill>
                  <a:srgbClr val="4E5A68"/>
                </a:solidFill>
                <a:latin typeface="Arial"/>
              </a:rPr>
              <a:t>Its neighborhood is enriched for the mitochondrial query; AD-up/down labels the query direction.</a:t>
            </a:r>
          </a:p>
        </p:txBody>
      </p:sp>
      <p:sp>
        <p:nvSpPr>
          <p:cNvPr id="13" name="Oval 12"/>
          <p:cNvSpPr/>
          <p:nvPr/>
        </p:nvSpPr>
        <p:spPr>
          <a:xfrm>
            <a:off x="676656" y="3493008"/>
            <a:ext cx="438912" cy="438912"/>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76656" y="3584448"/>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1" i="0">
                <a:solidFill>
                  <a:srgbClr val="0F233D"/>
                </a:solidFill>
                <a:latin typeface="Arial"/>
              </a:rPr>
              <a:t>3</a:t>
            </a:r>
          </a:p>
        </p:txBody>
      </p:sp>
      <p:sp>
        <p:nvSpPr>
          <p:cNvPr id="15" name="TextBox 14"/>
          <p:cNvSpPr txBox="1"/>
          <p:nvPr/>
        </p:nvSpPr>
        <p:spPr>
          <a:xfrm>
            <a:off x="1298448" y="3438144"/>
            <a:ext cx="6199632" cy="30175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20" b="1" i="0">
                <a:solidFill>
                  <a:srgbClr val="0F233D"/>
                </a:solidFill>
                <a:latin typeface="Arial"/>
              </a:rPr>
              <a:t>Fine and broad q values answer different questions.</a:t>
            </a:r>
          </a:p>
        </p:txBody>
      </p:sp>
      <p:sp>
        <p:nvSpPr>
          <p:cNvPr id="16" name="TextBox 15"/>
          <p:cNvSpPr txBox="1"/>
          <p:nvPr/>
        </p:nvSpPr>
        <p:spPr>
          <a:xfrm>
            <a:off x="1298448" y="3822191"/>
            <a:ext cx="6144768" cy="46634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0" i="0">
                <a:solidFill>
                  <a:srgbClr val="4E5A68"/>
                </a:solidFill>
                <a:latin typeface="Arial"/>
              </a:rPr>
              <a:t>Fine combines run p values with ACAT then controls category BH; broad controls BH within one run.</a:t>
            </a:r>
          </a:p>
        </p:txBody>
      </p:sp>
      <p:sp>
        <p:nvSpPr>
          <p:cNvPr id="17" name="Oval 16"/>
          <p:cNvSpPr/>
          <p:nvPr/>
        </p:nvSpPr>
        <p:spPr>
          <a:xfrm>
            <a:off x="676656" y="4571999"/>
            <a:ext cx="438912" cy="438912"/>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76656" y="4663440"/>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1" i="0">
                <a:solidFill>
                  <a:srgbClr val="0F233D"/>
                </a:solidFill>
                <a:latin typeface="Arial"/>
              </a:rPr>
              <a:t>4</a:t>
            </a:r>
          </a:p>
        </p:txBody>
      </p:sp>
      <p:sp>
        <p:nvSpPr>
          <p:cNvPr id="19" name="TextBox 18"/>
          <p:cNvSpPr txBox="1"/>
          <p:nvPr/>
        </p:nvSpPr>
        <p:spPr>
          <a:xfrm>
            <a:off x="1298448" y="4517136"/>
            <a:ext cx="6199632" cy="30175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20" b="1" i="0">
                <a:solidFill>
                  <a:srgbClr val="0F233D"/>
                </a:solidFill>
                <a:latin typeface="Arial"/>
              </a:rPr>
              <a:t>Skipped, completed-empty, and filtered-out are distinct outcomes.</a:t>
            </a:r>
          </a:p>
        </p:txBody>
      </p:sp>
      <p:sp>
        <p:nvSpPr>
          <p:cNvPr id="20" name="TextBox 19"/>
          <p:cNvSpPr txBox="1"/>
          <p:nvPr/>
        </p:nvSpPr>
        <p:spPr>
          <a:xfrm>
            <a:off x="1298448" y="4901183"/>
            <a:ext cx="6144768" cy="46634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0" i="0">
                <a:solidFill>
                  <a:srgbClr val="4E5A68"/>
                </a:solidFill>
                <a:latin typeface="Arial"/>
              </a:rPr>
              <a:t>Unavailable models and unrunnable queries carry no KDA evidence; completed rows can validly yield zero candidates.</a:t>
            </a:r>
          </a:p>
        </p:txBody>
      </p:sp>
      <p:sp>
        <p:nvSpPr>
          <p:cNvPr id="21" name="Rounded Rectangle 20"/>
          <p:cNvSpPr/>
          <p:nvPr/>
        </p:nvSpPr>
        <p:spPr>
          <a:xfrm>
            <a:off x="7827264" y="1280160"/>
            <a:ext cx="3675887" cy="4334256"/>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119872" y="160934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66176" y="1581912"/>
            <a:ext cx="2953512"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Audit trail</a:t>
            </a:r>
          </a:p>
        </p:txBody>
      </p:sp>
      <p:sp>
        <p:nvSpPr>
          <p:cNvPr id="24" name="TextBox 23"/>
          <p:cNvSpPr txBox="1"/>
          <p:nvPr/>
        </p:nvSpPr>
        <p:spPr>
          <a:xfrm>
            <a:off x="8129016" y="2093976"/>
            <a:ext cx="1024128"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40" b="1" i="0">
                <a:solidFill>
                  <a:srgbClr val="0072B2"/>
                </a:solidFill>
                <a:latin typeface="Arial"/>
              </a:rPr>
              <a:t>Fine branch</a:t>
            </a:r>
          </a:p>
        </p:txBody>
      </p:sp>
      <p:sp>
        <p:nvSpPr>
          <p:cNvPr id="25" name="TextBox 24"/>
          <p:cNvSpPr txBox="1"/>
          <p:nvPr/>
        </p:nvSpPr>
        <p:spPr>
          <a:xfrm>
            <a:off x="8129016" y="2386584"/>
            <a:ext cx="2953512" cy="7863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40" b="1" i="0">
                <a:solidFill>
                  <a:srgbClr val="0F233D"/>
                </a:solidFill>
                <a:latin typeface="Arial"/>
              </a:rPr>
              <a:t>phase20_status.tsv
phase20_filter_funnel.tsv
phase20_relaxed_candidates.tsv</a:t>
            </a:r>
          </a:p>
        </p:txBody>
      </p:sp>
      <p:sp>
        <p:nvSpPr>
          <p:cNvPr id="26" name="TextBox 25"/>
          <p:cNvSpPr txBox="1"/>
          <p:nvPr/>
        </p:nvSpPr>
        <p:spPr>
          <a:xfrm>
            <a:off x="8129016" y="3429000"/>
            <a:ext cx="1024128"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40" b="1" i="0">
                <a:solidFill>
                  <a:srgbClr val="009E73"/>
                </a:solidFill>
                <a:latin typeface="Arial"/>
              </a:rPr>
              <a:t>Broad branch</a:t>
            </a:r>
          </a:p>
        </p:txBody>
      </p:sp>
      <p:sp>
        <p:nvSpPr>
          <p:cNvPr id="27" name="TextBox 26"/>
          <p:cNvSpPr txBox="1"/>
          <p:nvPr/>
        </p:nvSpPr>
        <p:spPr>
          <a:xfrm>
            <a:off x="8129016" y="3721608"/>
            <a:ext cx="2953512" cy="7863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40" b="1" i="0">
                <a:solidFill>
                  <a:srgbClr val="0F233D"/>
                </a:solidFill>
                <a:latin typeface="Arial"/>
              </a:rPr>
              <a:t>phase20_broad_status.tsv
phase20_broad_filter_funnel.tsv
phase20_broad_non_mt_candidates.tsv</a:t>
            </a:r>
          </a:p>
        </p:txBody>
      </p:sp>
      <p:sp>
        <p:nvSpPr>
          <p:cNvPr id="28" name="TextBox 27"/>
          <p:cNvSpPr txBox="1"/>
          <p:nvPr/>
        </p:nvSpPr>
        <p:spPr>
          <a:xfrm>
            <a:off x="8129016" y="4828032"/>
            <a:ext cx="2926080" cy="51206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80" b="0" i="1">
                <a:solidFill>
                  <a:srgbClr val="4E5A68"/>
                </a:solidFill>
                <a:latin typeface="Arial"/>
              </a:rPr>
              <a:t>Speaker notes on every slide preserve teaching goals, interpretation boundaries, and transitions.</a:t>
            </a:r>
          </a:p>
        </p:txBody>
      </p:sp>
      <p:sp>
        <p:nvSpPr>
          <p:cNvPr id="29" name="Rectangle 28"/>
          <p:cNvSpPr/>
          <p:nvPr/>
        </p:nvSpPr>
        <p:spPr>
          <a:xfrm>
            <a:off x="502920" y="6153912"/>
            <a:ext cx="11173968" cy="393192"/>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502920" y="6153912"/>
            <a:ext cx="91440" cy="39319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22376" y="6217920"/>
            <a:ext cx="10744200" cy="25603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70" b="1" i="0">
                <a:solidFill>
                  <a:srgbClr val="FFFFFF"/>
                </a:solidFill>
                <a:latin typeface="Arial"/>
              </a:rPr>
              <a:t>Report the final unit explicitly: 74 fine gene × category units versus 12 broad gene × run rows.</a:t>
            </a:r>
          </a:p>
        </p:txBody>
      </p:sp>
      <p:sp>
        <p:nvSpPr>
          <p:cNvPr id="32" name="TextBox 31"/>
          <p:cNvSpPr txBox="1"/>
          <p:nvPr/>
        </p:nvSpPr>
        <p:spPr>
          <a:xfrm>
            <a:off x="521207" y="6620256"/>
            <a:ext cx="10771632" cy="14630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00" b="0" i="0">
                <a:solidFill>
                  <a:srgbClr val="4E5A68"/>
                </a:solidFill>
                <a:latin typeface="Arial"/>
              </a:rPr>
              <a:t>Source: validated Phase 20 fine and broad production releases; canonical figure bundles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99</TotalTime>
  <Words>5363</Words>
  <Application>Microsoft Macintosh PowerPoint</Application>
  <PresentationFormat>Widescreen</PresentationFormat>
  <Paragraphs>611</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Fine-cell and broad-cell sex/APOE key-driver analysis</dc:title>
  <dc:subject>Phase 20 KDA setup, filtering funnels, supported candidates, recurrence, and top-five results</dc:subject>
  <dc:creator>Alzheimer project analysis team</dc:creator>
  <cp:keywords>Alzheimer disease, sex, APOE, key-driver analysis, KDA, ACAT, mitochondrial genes</cp:keywords>
  <dc:description>Generated from validated project-local Phase 20 production releases.</dc:description>
  <cp:lastModifiedBy>Richard Zhuang</cp:lastModifiedBy>
  <cp:revision>8</cp:revision>
  <dcterms:created xsi:type="dcterms:W3CDTF">2026-08-29T13:27:12Z</dcterms:created>
  <dcterms:modified xsi:type="dcterms:W3CDTF">2026-08-29T16:59:10Z</dcterms:modified>
  <cp:category>Scientific presentation</cp:category>
  <dc:language>en-US</dc:language>
</cp:coreProperties>
</file>