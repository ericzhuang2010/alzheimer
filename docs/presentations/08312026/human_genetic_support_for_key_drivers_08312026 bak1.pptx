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70" r:id="rId8"/>
    <p:sldId id="272" r:id="rId9"/>
    <p:sldId id="276" r:id="rId10"/>
    <p:sldId id="266" r:id="rId11"/>
    <p:sldId id="274"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34"/>
    <p:restoredTop sz="97023"/>
  </p:normalViewPr>
  <p:slideViewPr>
    <p:cSldViewPr snapToGrid="0" snapToObjects="1">
      <p:cViewPr varScale="1">
        <p:scale>
          <a:sx n="145" d="100"/>
          <a:sy n="145" d="100"/>
        </p:scale>
        <p:origin x="192"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7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Set the question with the completed screen: every driver now has public genetic screening results.</a:t>
            </a:r>
          </a:p>
          <a:p>
            <a:endParaRPr/>
          </a:p>
          <a:p>
            <a:r>
              <a:t>Walk through: All 433 drivers went through the public summary screen and the regional AD and CSF scans. Eight drivers carry strong direct evidence grades, led by APOE and the established AD gene PLCG2; RPS15 keeps its separate regional-plus-QTL case.</a:t>
            </a:r>
          </a:p>
          <a:p>
            <a:endParaRPr/>
          </a:p>
          <a:p>
            <a:r>
              <a:t>Scientific boundary: Gene-level tests and same-variant analyses are still pending; grades come from the public summary screen only.</a:t>
            </a:r>
          </a:p>
          <a:p>
            <a:endParaRPr/>
          </a:p>
          <a:p>
            <a:r>
              <a:t>Transition: First, how the two kinds of evidence relate.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Frame genetics as an independent, complementary line of evidence for the driver list.</a:t>
            </a:r>
          </a:p>
          <a:p>
            <a:endParaRPr/>
          </a:p>
          <a:p>
            <a:r>
              <a:t>Walk through: The left card summarizes the driver list under test: 433 genes across 32 sex/APOE-by-cell-type categories, with the strongest drivers replicating in an independent cohort. The right card states the genetic question asked of each gene.</a:t>
            </a:r>
          </a:p>
          <a:p>
            <a:endParaRPr/>
          </a:p>
          <a:p>
            <a:r>
              <a:t>Scientific boundary: Network centrality does not imply a germline risk variant, and vice versa; convergence is the interesting outcome.</a:t>
            </a:r>
          </a:p>
          <a:p>
            <a:endParaRPr/>
          </a:p>
          <a:p>
            <a:r>
              <a:t>Transition: First, what exactly the driver list contains.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exactly what the 433 number counts before any genetic claims reference it.</a:t>
            </a:r>
          </a:p>
          <a:p>
            <a:endParaRPr/>
          </a:p>
          <a:p>
            <a:r>
              <a:t>Walk through: The 295 ROSMAP network key-driver calls return significant genes at within-call q at most 0.05. After setting aside mitochondrial-protein genes, the returns form 689 gene-by-category units, which collapse to 433 unique driver genes.</a:t>
            </a:r>
          </a:p>
          <a:p>
            <a:endParaRPr/>
          </a:p>
          <a:p>
            <a:r>
              <a:t>Scientific boundary: Membership requires only one significant return; the within-call q values are exploratory and not cross-call FDR-controlled.</a:t>
            </a:r>
          </a:p>
          <a:p>
            <a:endParaRPr/>
          </a:p>
          <a:p>
            <a:r>
              <a:t>Transition: How deep the evidence is behind each of the 433.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that the permissive list has a small core of well-supported genes and a large one-off tail.</a:t>
            </a:r>
          </a:p>
          <a:p>
            <a:endParaRPr/>
          </a:p>
          <a:p>
            <a:r>
              <a:t>Walk through: Two hundred eighty-five of the four hundred thirty-three genes, about two-thirds, have exactly one category and one returned call, often with q just under 0.05. One hundred twenty-five recur in at least two categories, one hundred five reach a top-five display, seventy-eight have at least three returned calls, and thirty-five also return in SEA-AD.</a:t>
            </a:r>
          </a:p>
          <a:p>
            <a:endParaRPr/>
          </a:p>
          <a:p>
            <a:r>
              <a:t>Scientific boundary: The groups overlap, so the bars do not sum to 433; each is a share of the full list.</a:t>
            </a:r>
          </a:p>
          <a:p>
            <a:endParaRPr/>
          </a:p>
          <a:p>
            <a:r>
              <a:t>Transition: The high-level approach: three sources of genetic evidence and how they combine.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Reduce the data inventory to three roles: ready-made gene-level results, disease anchors, and gene anchors.</a:t>
            </a:r>
          </a:p>
          <a:p>
            <a:endParaRPr/>
          </a:p>
          <a:p>
            <a:r>
              <a:t>Walk through: Published AD integration results from the FunGen consortium already map variants to genes and directly support AD-gene relationships. Disease GWAS — the clinical AD meta-analysis and the three CSF biomarker studies — tie variants to disease but only at region resolution. Brain QTL panels tie variants to a specific gene's activity but carry no disease information.</a:t>
            </a:r>
          </a:p>
          <a:p>
            <a:endParaRPr/>
          </a:p>
          <a:p>
            <a:r>
              <a:t>Scientific boundary: All three are summary-level public data; no individual genotypes were used.</a:t>
            </a:r>
          </a:p>
          <a:p>
            <a:endParaRPr/>
          </a:p>
          <a:p>
            <a:r>
              <a:t>Transition: How sources two and three combine into gene-level support.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combination logic that turns two region-level signals into gene-level support.</a:t>
            </a:r>
          </a:p>
          <a:p>
            <a:endParaRPr/>
          </a:p>
          <a:p>
            <a:r>
              <a:t>Walk through: GWAS ties a variant to disease; QTL ties a variant to the driver's activity. If a formal test shows both signals share one variant, the driver's regulation becomes a plausible causal path. Operationally: find the AD region, confirm the driver's QTL, then run the same-variant (colocalization) test.</a:t>
            </a:r>
          </a:p>
          <a:p>
            <a:endParaRPr/>
          </a:p>
          <a:p>
            <a:r>
              <a:t>Scientific boundary: The same-variant test requires complete regional statistics, fitted multi-signal models, and matched reference panels; those inputs are missing publicly, so no driver has completed step three yet.</a:t>
            </a:r>
          </a:p>
          <a:p>
            <a:endParaRPr/>
          </a:p>
          <a:p>
            <a:r>
              <a:t>Transition: The staged pipeline implements exactly this order.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Attach concrete public datasets to each of the three evidence categories.</a:t>
            </a:r>
          </a:p>
          <a:p>
            <a:endParaRPr/>
          </a:p>
          <a:p>
            <a:r>
              <a:t>Walk through: Category one is the FunGen-xQTL integration snapshot with its ready-made gene-level results. Category two holds the disease-side GWAS: the Bellenguez 2022 clinical AD meta-analysis and the three CSF biomarker studies. Category three holds the gene-side QTL data: NIAGADS NG00184 brain fine-mapping and the three eQTL Catalogue panels.</a:t>
            </a:r>
          </a:p>
          <a:p>
            <a:endParaRPr/>
          </a:p>
          <a:p>
            <a:r>
              <a:t>Scientific boundary: Gene annotation references (GENCODE, HGNC) support mapping only; everything is summary-level public data.</a:t>
            </a:r>
          </a:p>
          <a:p>
            <a:endParaRPr/>
          </a:p>
          <a:p>
            <a:r>
              <a:t>Transition: With the data in place: which drivers have screening results.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Replace the legacy 15-gene evidence map with the full-list grading.</a:t>
            </a:r>
          </a:p>
          <a:p>
            <a:endParaRPr/>
          </a:p>
          <a:p>
            <a:r>
              <a:t>Walk through: The strong tier holds APOE plus seven newly graded drivers, including the established AD gene PLCG2 and the STAG3, PPP4C/SEPHS2, ZNF251, and ZNF652 mappings. Three drivers are moderate and seventeen weak; the remaining four hundred five have no direct public mapping.</a:t>
            </a:r>
          </a:p>
          <a:p>
            <a:endParaRPr/>
          </a:p>
          <a:p>
            <a:r>
              <a:t>Scientific boundary: Grades reflect published summary evidence only; they are not colocalization results.</a:t>
            </a:r>
          </a:p>
          <a:p>
            <a:endParaRPr/>
          </a:p>
          <a:p>
            <a:r>
              <a:t>Transition: Where each driver now stands in the pipeline.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15341-4A7E-57A5-2846-F20290300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B4154-416A-A37D-590D-C6C3890207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224AABF-F946-12AD-87E6-416C09202E1F}"/>
              </a:ext>
            </a:extLst>
          </p:cNvPr>
          <p:cNvSpPr>
            <a:spLocks noGrp="1"/>
          </p:cNvSpPr>
          <p:nvPr>
            <p:ph type="body" sz="quarter" idx="3"/>
          </p:nvPr>
        </p:nvSpPr>
        <p:spPr/>
        <p:txBody>
          <a:bodyPr/>
          <a:lstStyle/>
          <a:p>
            <a:r>
              <a:t>Teaching goal: Make RPS15 the flagship follow-up target of the deck.</a:t>
            </a:r>
          </a:p>
          <a:p>
            <a:endParaRPr/>
          </a:p>
          <a:p>
            <a:r>
              <a:t>Walk through: RPS15 is the single most recurrent driver and replicates in SEA-AD. Its candidate region carries a strong AD association, and bulk-brain activity links are positive, but no complete fitted model plus matched reference existed to run the same-variant test, and exact OPC or inhibitory-neuron data were negative or unavailable.</a:t>
            </a:r>
          </a:p>
          <a:p>
            <a:endParaRPr/>
          </a:p>
          <a:p>
            <a:r>
              <a:t>Scientific boundary: Positive brain tracks partially reuse the discovery cohort, so they support mechanism rather than independent validation.</a:t>
            </a:r>
          </a:p>
          <a:p>
            <a:endParaRPr/>
          </a:p>
          <a:p>
            <a:r>
              <a:t>Transition: Spotlight two: APOE.</a:t>
            </a:r>
          </a:p>
        </p:txBody>
      </p:sp>
      <p:sp>
        <p:nvSpPr>
          <p:cNvPr id="4" name="Slide Number Placeholder 3">
            <a:extLst>
              <a:ext uri="{FF2B5EF4-FFF2-40B4-BE49-F238E27FC236}">
                <a16:creationId xmlns:a16="http://schemas.microsoft.com/office/drawing/2014/main" id="{F3FC3EA7-BC63-9B0E-7B4A-54CD1F4E8617}"/>
              </a:ext>
            </a:extLst>
          </p:cNvPr>
          <p:cNvSpPr>
            <a:spLocks noGrp="1"/>
          </p:cNvSpPr>
          <p:nvPr>
            <p:ph type="sldNum" sz="quarter" idx="5"/>
          </p:nvPr>
        </p:nvSpPr>
        <p:spPr/>
      </p:sp>
    </p:spTree>
    <p:extLst>
      <p:ext uri="{BB962C8B-B14F-4D97-AF65-F5344CB8AC3E}">
        <p14:creationId xmlns:p14="http://schemas.microsoft.com/office/powerpoint/2010/main" val="2743226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Keep APOE's strong result in view while separating gene-level support from mechanism-level proof.</a:t>
            </a:r>
          </a:p>
          <a:p>
            <a:endParaRPr/>
          </a:p>
          <a:p>
            <a:r>
              <a:t>Walk through: APOE has the direct fine-mapped coding variant and passes both gates for CSF amyloid-beta 42, total tau, and p-tau181. In the networks it is an astrocyte driver in three sex/APOE groups, though it does not return in SEA-AD.</a:t>
            </a:r>
          </a:p>
          <a:p>
            <a:endParaRPr/>
          </a:p>
          <a:p>
            <a:r>
              <a:t>Scientific boundary: A single-signal sensitivity analysis suggested a shared CSF protein signal, but it is explicitly sensitivity-only; the primary multi-signal test was not met.</a:t>
            </a:r>
          </a:p>
          <a:p>
            <a:endParaRPr/>
          </a:p>
          <a:p>
            <a:r>
              <a:t>Transition: How to read the eleven negatives.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Separate the trustworthy new findings from the expected proximity artifacts.</a:t>
            </a:r>
          </a:p>
          <a:p>
            <a:endParaRPr/>
          </a:p>
          <a:p>
            <a:r>
              <a:t>Walk through: PLCG2 is the headline: an established AD gene that is also a network driver, with both a strong direct mapping and its own significant region. HSPA1A adds a replicated driver in the HLA area, and MAP1LC3B is significant for both tau biomarkers. On the artifact side, the strongest window hits belong to BIN1 and the RPS15 locus rather than the drivers named on the windows.</a:t>
            </a:r>
          </a:p>
          <a:p>
            <a:endParaRPr/>
          </a:p>
          <a:p>
            <a:r>
              <a:t>Scientific boundary: HLA-region and shared-locus results need conditional analyses before any gene claim.</a:t>
            </a:r>
          </a:p>
          <a:p>
            <a:endParaRPr/>
          </a:p>
          <a:p>
            <a:r>
              <a:t>Transition: Close with the updated state and the ordered next steps.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Leave the updated summary and the ordered plan for the remaining stages.</a:t>
            </a:r>
          </a:p>
          <a:p>
            <a:endParaRPr/>
          </a:p>
          <a:p>
            <a:r>
              <a:t>Walk through: APOE and PLCG2 lead the supported set; RPS15's unresolved case is unchanged; the cross-cohort replicators lack common-variant support and move to the alternative designs. Next: gene-based tests, QTL routes, then same-variant analyses.</a:t>
            </a:r>
          </a:p>
          <a:p>
            <a:endParaRPr/>
          </a:p>
          <a:p>
            <a:r>
              <a:t>Scientific boundary: All current grades are screening-level; no same-variant test has been completed for any driver.</a:t>
            </a:r>
          </a:p>
          <a:p>
            <a:endParaRPr/>
          </a:p>
          <a:p>
            <a:r>
              <a:t>Transition: End of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56B4E9"/>
                </a:solidFill>
                <a:latin typeface="Arial"/>
              </a:rPr>
              <a:t>HUMAN GENETIC SUPPORT</a:t>
            </a:r>
          </a:p>
        </p:txBody>
      </p:sp>
      <p:sp>
        <p:nvSpPr>
          <p:cNvPr id="3" name="TextBox 2"/>
          <p:cNvSpPr txBox="1"/>
          <p:nvPr/>
        </p:nvSpPr>
        <p:spPr>
          <a:xfrm>
            <a:off x="713232" y="1097280"/>
            <a:ext cx="1060704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300" b="1" i="0">
                <a:solidFill>
                  <a:srgbClr val="FFFFFF"/>
                </a:solidFill>
                <a:latin typeface="Arial"/>
              </a:rPr>
              <a:t>Do the key drivers carry inherited Alzheimer's risk?</a:t>
            </a:r>
          </a:p>
        </p:txBody>
      </p:sp>
      <p:sp>
        <p:nvSpPr>
          <p:cNvPr id="4" name="TextBox 3"/>
          <p:cNvSpPr txBox="1"/>
          <p:nvPr/>
        </p:nvSpPr>
        <p:spPr>
          <a:xfrm>
            <a:off x="749808" y="2487168"/>
            <a:ext cx="1024128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00" b="0" i="0">
                <a:solidFill>
                  <a:srgbClr val="CCDBEA"/>
                </a:solidFill>
                <a:latin typeface="Arial"/>
              </a:rPr>
              <a:t>Public genetic evidence for the key drivers from the network key-driver (KDA) analysis</a:t>
            </a:r>
          </a:p>
        </p:txBody>
      </p:sp>
      <p:sp>
        <p:nvSpPr>
          <p:cNvPr id="5" name="Rounded Rectangle 4"/>
          <p:cNvSpPr/>
          <p:nvPr/>
        </p:nvSpPr>
        <p:spPr>
          <a:xfrm>
            <a:off x="749808"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7"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All 433</a:t>
            </a:r>
          </a:p>
        </p:txBody>
      </p:sp>
      <p:sp>
        <p:nvSpPr>
          <p:cNvPr id="7" name="TextBox 6"/>
          <p:cNvSpPr txBox="1"/>
          <p:nvPr/>
        </p:nvSpPr>
        <p:spPr>
          <a:xfrm>
            <a:off x="978407"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drivers now screened (summary + regional)</a:t>
            </a:r>
          </a:p>
        </p:txBody>
      </p:sp>
      <p:sp>
        <p:nvSpPr>
          <p:cNvPr id="8" name="Rounded Rectangle 7"/>
          <p:cNvSpPr/>
          <p:nvPr/>
        </p:nvSpPr>
        <p:spPr>
          <a:xfrm>
            <a:off x="4425696"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54296" y="3552795"/>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dirty="0">
                <a:solidFill>
                  <a:srgbClr val="56B4E9"/>
                </a:solidFill>
                <a:latin typeface="Arial"/>
              </a:rPr>
              <a:t>APOE · RPS15 · PLCG2</a:t>
            </a:r>
          </a:p>
        </p:txBody>
      </p:sp>
      <p:sp>
        <p:nvSpPr>
          <p:cNvPr id="10" name="TextBox 9"/>
          <p:cNvSpPr txBox="1"/>
          <p:nvPr/>
        </p:nvSpPr>
        <p:spPr>
          <a:xfrm>
            <a:off x="4654296"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lead the genetic evidence</a:t>
            </a:r>
          </a:p>
        </p:txBody>
      </p:sp>
      <p:sp>
        <p:nvSpPr>
          <p:cNvPr id="11" name="Rounded Rectangle 10"/>
          <p:cNvSpPr/>
          <p:nvPr/>
        </p:nvSpPr>
        <p:spPr>
          <a:xfrm>
            <a:off x="8101583"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8 strong</a:t>
            </a:r>
          </a:p>
        </p:txBody>
      </p:sp>
      <p:sp>
        <p:nvSpPr>
          <p:cNvPr id="13" name="TextBox 12"/>
          <p:cNvSpPr txBox="1"/>
          <p:nvPr/>
        </p:nvSpPr>
        <p:spPr>
          <a:xfrm>
            <a:off x="8330183"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direct-evidence grades (3 moderate, 17 weak)</a:t>
            </a:r>
          </a:p>
        </p:txBody>
      </p:sp>
      <p:sp>
        <p:nvSpPr>
          <p:cNvPr id="14" name="TextBox 13"/>
          <p:cNvSpPr txBox="1"/>
          <p:nvPr/>
        </p:nvSpPr>
        <p:spPr>
          <a:xfrm>
            <a:off x="749808" y="5989320"/>
            <a:ext cx="640080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0" i="0">
                <a:solidFill>
                  <a:srgbClr val="9DB0C3"/>
                </a:solidFill>
                <a:latin typeface="Arial"/>
              </a:rPr>
              <a:t>Public-data study • 29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Network drivers and inherited risk are complementary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KDA analysis finds genes central in diseased brain cells; genetics asks whether DNA variation near them alters risk.</a:t>
            </a:r>
          </a:p>
        </p:txBody>
      </p:sp>
      <p:sp>
        <p:nvSpPr>
          <p:cNvPr id="4" name="Rounded Rectangle 3"/>
          <p:cNvSpPr/>
          <p:nvPr/>
        </p:nvSpPr>
        <p:spPr>
          <a:xfrm>
            <a:off x="585216" y="1389888"/>
            <a:ext cx="5358384" cy="3977639"/>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NETWORK KEY DRIVERS</a:t>
            </a:r>
          </a:p>
        </p:txBody>
      </p:sp>
      <p:sp>
        <p:nvSpPr>
          <p:cNvPr id="6" name="TextBox 5"/>
          <p:cNvSpPr txBox="1"/>
          <p:nvPr/>
        </p:nvSpPr>
        <p:spPr>
          <a:xfrm>
            <a:off x="868680"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central in diseased brain-cell networks?</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32</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sex/APOE · cell-type categories</a:t>
            </a:r>
          </a:p>
        </p:txBody>
      </p:sp>
      <p:sp>
        <p:nvSpPr>
          <p:cNvPr id="13" name="TextBox 12"/>
          <p:cNvSpPr txBox="1"/>
          <p:nvPr/>
        </p:nvSpPr>
        <p:spPr>
          <a:xfrm>
            <a:off x="877824" y="4160520"/>
            <a:ext cx="48006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4E5A68"/>
                </a:solidFill>
                <a:latin typeface="Arial"/>
              </a:rPr>
              <a:t>The strongest drivers also replicate in an independent human cohort.</a:t>
            </a:r>
          </a:p>
        </p:txBody>
      </p:sp>
      <p:sp>
        <p:nvSpPr>
          <p:cNvPr id="14" name="Rounded Rectangle 13"/>
          <p:cNvSpPr/>
          <p:nvPr/>
        </p:nvSpPr>
        <p:spPr>
          <a:xfrm>
            <a:off x="6245352" y="1389888"/>
            <a:ext cx="5358384" cy="3977639"/>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684D"/>
                </a:solidFill>
                <a:latin typeface="Arial"/>
              </a:rPr>
              <a:t>INHERITED RISK</a:t>
            </a:r>
          </a:p>
        </p:txBody>
      </p:sp>
      <p:sp>
        <p:nvSpPr>
          <p:cNvPr id="16" name="TextBox 15"/>
          <p:cNvSpPr txBox="1"/>
          <p:nvPr/>
        </p:nvSpPr>
        <p:spPr>
          <a:xfrm>
            <a:off x="6528816"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linked to inherited AD risk?</a:t>
            </a:r>
          </a:p>
        </p:txBody>
      </p:sp>
      <p:sp>
        <p:nvSpPr>
          <p:cNvPr id="17" name="Oval 16"/>
          <p:cNvSpPr/>
          <p:nvPr/>
        </p:nvSpPr>
        <p:spPr>
          <a:xfrm>
            <a:off x="6537960" y="30540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1696" y="2926080"/>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Uses public AD and biomarker genetics, independent of the networks.</a:t>
            </a:r>
          </a:p>
        </p:txBody>
      </p:sp>
      <p:sp>
        <p:nvSpPr>
          <p:cNvPr id="19" name="Oval 18"/>
          <p:cNvSpPr/>
          <p:nvPr/>
        </p:nvSpPr>
        <p:spPr>
          <a:xfrm>
            <a:off x="6537960" y="362102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1696" y="3493008"/>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Evidence is per gene: disease association plus gene-activity links.</a:t>
            </a:r>
          </a:p>
        </p:txBody>
      </p:sp>
      <p:sp>
        <p:nvSpPr>
          <p:cNvPr id="21" name="Oval 20"/>
          <p:cNvSpPr/>
          <p:nvPr/>
        </p:nvSpPr>
        <p:spPr>
          <a:xfrm>
            <a:off x="6537960" y="418795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1696" y="4059936"/>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Goal: find drivers where both kinds of evidence converge.</a:t>
            </a:r>
          </a:p>
        </p:txBody>
      </p:sp>
      <p:sp>
        <p:nvSpPr>
          <p:cNvPr id="23" name="TextBox 22"/>
          <p:cNvSpPr txBox="1"/>
          <p:nvPr/>
        </p:nvSpPr>
        <p:spPr>
          <a:xfrm>
            <a:off x="804672" y="576072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7E4C9A"/>
                </a:solidFill>
                <a:latin typeface="Arial"/>
              </a:rPr>
              <a:t>Genetic support strengthens a driver; its absence does not refute one — the two ask different causal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Where the 433 driver genes come from</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Every gene the network analysis returned as significant is on the list — there are no extra selection gates.</a:t>
            </a:r>
          </a:p>
        </p:txBody>
      </p:sp>
      <p:sp>
        <p:nvSpPr>
          <p:cNvPr id="4" name="Rounded Rectangle 3"/>
          <p:cNvSpPr/>
          <p:nvPr/>
        </p:nvSpPr>
        <p:spPr>
          <a:xfrm>
            <a:off x="685800"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295 KDA calls</a:t>
            </a:r>
          </a:p>
        </p:txBody>
      </p:sp>
      <p:sp>
        <p:nvSpPr>
          <p:cNvPr id="6" name="TextBox 5"/>
          <p:cNvSpPr txBox="1"/>
          <p:nvPr/>
        </p:nvSpPr>
        <p:spPr>
          <a:xfrm>
            <a:off x="795528"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network key-driver calls across the ROSMAP categories</a:t>
            </a:r>
          </a:p>
        </p:txBody>
      </p:sp>
      <p:sp>
        <p:nvSpPr>
          <p:cNvPr id="7" name="Chevron 6"/>
          <p:cNvSpPr/>
          <p:nvPr/>
        </p:nvSpPr>
        <p:spPr>
          <a:xfrm>
            <a:off x="2688336"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07791"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Significant returns</a:t>
            </a:r>
          </a:p>
        </p:txBody>
      </p:sp>
      <p:sp>
        <p:nvSpPr>
          <p:cNvPr id="10" name="TextBox 9"/>
          <p:cNvSpPr txBox="1"/>
          <p:nvPr/>
        </p:nvSpPr>
        <p:spPr>
          <a:xfrm>
            <a:off x="3017520"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genes returned at q ≤ 0.05 within a call</a:t>
            </a:r>
          </a:p>
        </p:txBody>
      </p:sp>
      <p:sp>
        <p:nvSpPr>
          <p:cNvPr id="11" name="Chevron 10"/>
          <p:cNvSpPr/>
          <p:nvPr/>
        </p:nvSpPr>
        <p:spPr>
          <a:xfrm>
            <a:off x="4910327"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29783"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39512"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Non-MT focus</a:t>
            </a:r>
          </a:p>
        </p:txBody>
      </p:sp>
      <p:sp>
        <p:nvSpPr>
          <p:cNvPr id="14" name="TextBox 13"/>
          <p:cNvSpPr txBox="1"/>
          <p:nvPr/>
        </p:nvSpPr>
        <p:spPr>
          <a:xfrm>
            <a:off x="5239512"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mitochondrial-protein genes set aside</a:t>
            </a:r>
          </a:p>
        </p:txBody>
      </p:sp>
      <p:sp>
        <p:nvSpPr>
          <p:cNvPr id="15" name="Chevron 14"/>
          <p:cNvSpPr/>
          <p:nvPr/>
        </p:nvSpPr>
        <p:spPr>
          <a:xfrm>
            <a:off x="7132319"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51775"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61503"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689 units</a:t>
            </a:r>
          </a:p>
        </p:txBody>
      </p:sp>
      <p:sp>
        <p:nvSpPr>
          <p:cNvPr id="18" name="TextBox 17"/>
          <p:cNvSpPr txBox="1"/>
          <p:nvPr/>
        </p:nvSpPr>
        <p:spPr>
          <a:xfrm>
            <a:off x="7461503"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 × category pairs</a:t>
            </a:r>
          </a:p>
        </p:txBody>
      </p:sp>
      <p:sp>
        <p:nvSpPr>
          <p:cNvPr id="19" name="Chevron 18"/>
          <p:cNvSpPr/>
          <p:nvPr/>
        </p:nvSpPr>
        <p:spPr>
          <a:xfrm>
            <a:off x="9354311"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573767"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83495"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433 genes</a:t>
            </a:r>
          </a:p>
        </p:txBody>
      </p:sp>
      <p:sp>
        <p:nvSpPr>
          <p:cNvPr id="22" name="TextBox 21"/>
          <p:cNvSpPr txBox="1"/>
          <p:nvPr/>
        </p:nvSpPr>
        <p:spPr>
          <a:xfrm>
            <a:off x="9683495"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unique driver symbols</a:t>
            </a:r>
          </a:p>
        </p:txBody>
      </p:sp>
      <p:sp>
        <p:nvSpPr>
          <p:cNvPr id="23" name="Rounded Rectangle 22"/>
          <p:cNvSpPr/>
          <p:nvPr/>
        </p:nvSpPr>
        <p:spPr>
          <a:xfrm>
            <a:off x="685800" y="3291840"/>
            <a:ext cx="10835640" cy="1051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349300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72B2"/>
                </a:solidFill>
                <a:latin typeface="Arial"/>
              </a:rPr>
              <a:t>Why units and genes differ</a:t>
            </a:r>
          </a:p>
        </p:txBody>
      </p:sp>
      <p:sp>
        <p:nvSpPr>
          <p:cNvPr id="25" name="TextBox 24"/>
          <p:cNvSpPr txBox="1"/>
          <p:nvPr/>
        </p:nvSpPr>
        <p:spPr>
          <a:xfrm>
            <a:off x="914400" y="3785615"/>
            <a:ext cx="1033272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 gene counts once per sex/APOE × cell-type category it returns in, so recurrent genes hold several of the 689 units. Collapsing to unique symbols leaves 433 genes.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Evidence depth inside the 433 is very uneven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significant return is enough for membership; deeper network evidence is concentrated in a minority.</a:t>
            </a:r>
          </a:p>
        </p:txBody>
      </p:sp>
      <p:sp>
        <p:nvSpPr>
          <p:cNvPr id="4" name="TextBox 3"/>
          <p:cNvSpPr txBox="1"/>
          <p:nvPr/>
        </p:nvSpPr>
        <p:spPr>
          <a:xfrm>
            <a:off x="777240" y="1554480"/>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One-off genes: a single category, a single returned call</a:t>
            </a:r>
          </a:p>
        </p:txBody>
      </p:sp>
      <p:sp>
        <p:nvSpPr>
          <p:cNvPr id="5" name="Rectangle 4"/>
          <p:cNvSpPr/>
          <p:nvPr/>
        </p:nvSpPr>
        <p:spPr>
          <a:xfrm>
            <a:off x="6172200" y="1600200"/>
            <a:ext cx="2768541"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0469" y="1609344"/>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D55E00"/>
                </a:solidFill>
                <a:latin typeface="Arial"/>
              </a:rPr>
              <a:t>285  (66%)</a:t>
            </a:r>
          </a:p>
        </p:txBody>
      </p:sp>
      <p:sp>
        <p:nvSpPr>
          <p:cNvPr id="7" name="TextBox 6"/>
          <p:cNvSpPr txBox="1"/>
          <p:nvPr/>
        </p:nvSpPr>
        <p:spPr>
          <a:xfrm>
            <a:off x="777240" y="2359152"/>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Recur in ≥2 sex/APOE × cell-type categories</a:t>
            </a:r>
          </a:p>
        </p:txBody>
      </p:sp>
      <p:sp>
        <p:nvSpPr>
          <p:cNvPr id="8" name="Rectangle 7"/>
          <p:cNvSpPr/>
          <p:nvPr/>
        </p:nvSpPr>
        <p:spPr>
          <a:xfrm>
            <a:off x="6172200" y="2404872"/>
            <a:ext cx="1214272"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6200" y="2414016"/>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125  (29%)</a:t>
            </a:r>
          </a:p>
        </p:txBody>
      </p:sp>
      <p:sp>
        <p:nvSpPr>
          <p:cNvPr id="10" name="TextBox 9"/>
          <p:cNvSpPr txBox="1"/>
          <p:nvPr/>
        </p:nvSpPr>
        <p:spPr>
          <a:xfrm>
            <a:off x="777240" y="3163824"/>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Appear in a category top-five display</a:t>
            </a:r>
          </a:p>
        </p:txBody>
      </p:sp>
      <p:sp>
        <p:nvSpPr>
          <p:cNvPr id="11" name="Rectangle 10"/>
          <p:cNvSpPr/>
          <p:nvPr/>
        </p:nvSpPr>
        <p:spPr>
          <a:xfrm>
            <a:off x="6172200" y="3209544"/>
            <a:ext cx="1019988"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01916" y="3218688"/>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105  (24%)</a:t>
            </a:r>
          </a:p>
        </p:txBody>
      </p:sp>
      <p:sp>
        <p:nvSpPr>
          <p:cNvPr id="13" name="TextBox 12"/>
          <p:cNvSpPr txBox="1"/>
          <p:nvPr/>
        </p:nvSpPr>
        <p:spPr>
          <a:xfrm>
            <a:off x="777240" y="3968496"/>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Backed by ≥3 returned calls</a:t>
            </a:r>
          </a:p>
        </p:txBody>
      </p:sp>
      <p:sp>
        <p:nvSpPr>
          <p:cNvPr id="14" name="Rectangle 13"/>
          <p:cNvSpPr/>
          <p:nvPr/>
        </p:nvSpPr>
        <p:spPr>
          <a:xfrm>
            <a:off x="6172200" y="4014215"/>
            <a:ext cx="75770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39634" y="4023359"/>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78  (18%)</a:t>
            </a:r>
          </a:p>
        </p:txBody>
      </p:sp>
      <p:sp>
        <p:nvSpPr>
          <p:cNvPr id="16" name="TextBox 15"/>
          <p:cNvSpPr txBox="1"/>
          <p:nvPr/>
        </p:nvSpPr>
        <p:spPr>
          <a:xfrm>
            <a:off x="777240" y="4773168"/>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Also return in the independent SEA-AD cohort</a:t>
            </a:r>
          </a:p>
        </p:txBody>
      </p:sp>
      <p:sp>
        <p:nvSpPr>
          <p:cNvPr id="17" name="Rectangle 16"/>
          <p:cNvSpPr/>
          <p:nvPr/>
        </p:nvSpPr>
        <p:spPr>
          <a:xfrm>
            <a:off x="6172200" y="4818888"/>
            <a:ext cx="33999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1924" y="4828031"/>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35  (8%)</a:t>
            </a:r>
          </a:p>
        </p:txBody>
      </p:sp>
      <p:sp>
        <p:nvSpPr>
          <p:cNvPr id="19" name="TextBox 18"/>
          <p:cNvSpPr txBox="1"/>
          <p:nvPr/>
        </p:nvSpPr>
        <p:spPr>
          <a:xfrm>
            <a:off x="6172200" y="5596128"/>
            <a:ext cx="51206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0" i="1">
                <a:solidFill>
                  <a:srgbClr val="4E5A68"/>
                </a:solidFill>
                <a:latin typeface="Arial"/>
              </a:rPr>
              <a:t>Groups overlap; each bar is counted against all 433 genes.</a:t>
            </a:r>
          </a:p>
        </p:txBody>
      </p:sp>
      <p:sp>
        <p:nvSpPr>
          <p:cNvPr id="20" name="TextBox 19"/>
          <p:cNvSpPr txBox="1"/>
          <p:nvPr/>
        </p:nvSpPr>
        <p:spPr>
          <a:xfrm>
            <a:off x="804672" y="598932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7E4C9A"/>
                </a:solidFill>
                <a:latin typeface="Arial"/>
              </a:rPr>
              <a:t>Follow-up work should weight the deep-evidence minority — not treat all 433 genes equally.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High-level approach: three sources of public genetic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One source is ready-made gene-level evidence; the other two each tell half the story.</a:t>
            </a:r>
          </a:p>
        </p:txBody>
      </p:sp>
      <p:sp>
        <p:nvSpPr>
          <p:cNvPr id="4" name="Rounded Rectangle 3"/>
          <p:cNvSpPr/>
          <p:nvPr/>
        </p:nvSpPr>
        <p:spPr>
          <a:xfrm>
            <a:off x="603504" y="1417320"/>
            <a:ext cx="3502152"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684D"/>
                </a:solidFill>
                <a:latin typeface="Arial"/>
              </a:rPr>
              <a:t>1 · PUBLISHED RESULTS</a:t>
            </a:r>
          </a:p>
        </p:txBody>
      </p:sp>
      <p:sp>
        <p:nvSpPr>
          <p:cNvPr id="6" name="TextBox 5"/>
          <p:cNvSpPr txBox="1"/>
          <p:nvPr/>
        </p:nvSpPr>
        <p:spPr>
          <a:xfrm>
            <a:off x="841248"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FunGen AD integration</a:t>
            </a:r>
          </a:p>
        </p:txBody>
      </p:sp>
      <p:sp>
        <p:nvSpPr>
          <p:cNvPr id="7" name="TextBox 6"/>
          <p:cNvSpPr txBox="1"/>
          <p:nvPr/>
        </p:nvSpPr>
        <p:spPr>
          <a:xfrm>
            <a:off x="84124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1F2730"/>
                </a:solidFill>
                <a:latin typeface="Arial"/>
              </a:rPr>
              <a:t>Already-computed variant-to-gene mappings: AD fine-mapping, TWAS, and gene lists.</a:t>
            </a:r>
          </a:p>
        </p:txBody>
      </p:sp>
      <p:sp>
        <p:nvSpPr>
          <p:cNvPr id="8" name="Rounded Rectangle 7"/>
          <p:cNvSpPr/>
          <p:nvPr/>
        </p:nvSpPr>
        <p:spPr>
          <a:xfrm>
            <a:off x="82296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69264" y="3705182"/>
            <a:ext cx="2788920"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0684D"/>
                </a:solidFill>
                <a:latin typeface="Arial"/>
              </a:rPr>
              <a:t>Directly supports an AD–gene relationship (this is how APOE is established).</a:t>
            </a:r>
          </a:p>
        </p:txBody>
      </p:sp>
      <p:sp>
        <p:nvSpPr>
          <p:cNvPr id="10" name="TextBox 9"/>
          <p:cNvSpPr txBox="1"/>
          <p:nvPr/>
        </p:nvSpPr>
        <p:spPr>
          <a:xfrm>
            <a:off x="84124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Covers only what has been published.</a:t>
            </a:r>
          </a:p>
        </p:txBody>
      </p:sp>
      <p:sp>
        <p:nvSpPr>
          <p:cNvPr id="11" name="Rounded Rectangle 10"/>
          <p:cNvSpPr/>
          <p:nvPr/>
        </p:nvSpPr>
        <p:spPr>
          <a:xfrm>
            <a:off x="4352544" y="1417320"/>
            <a:ext cx="3502152"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2 · DISEASE GWAS</a:t>
            </a:r>
          </a:p>
        </p:txBody>
      </p:sp>
      <p:sp>
        <p:nvSpPr>
          <p:cNvPr id="13" name="TextBox 12"/>
          <p:cNvSpPr txBox="1"/>
          <p:nvPr/>
        </p:nvSpPr>
        <p:spPr>
          <a:xfrm>
            <a:off x="4590288"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Clinical AD + CSF biomarkers</a:t>
            </a:r>
          </a:p>
        </p:txBody>
      </p:sp>
      <p:sp>
        <p:nvSpPr>
          <p:cNvPr id="14" name="TextBox 13"/>
          <p:cNvSpPr txBox="1"/>
          <p:nvPr/>
        </p:nvSpPr>
        <p:spPr>
          <a:xfrm>
            <a:off x="459028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associated with an AD diagnosis or with amyloid/tau spinal-fluid levels.</a:t>
            </a:r>
          </a:p>
        </p:txBody>
      </p:sp>
      <p:sp>
        <p:nvSpPr>
          <p:cNvPr id="15" name="Rounded Rectangle 14"/>
          <p:cNvSpPr/>
          <p:nvPr/>
        </p:nvSpPr>
        <p:spPr>
          <a:xfrm>
            <a:off x="457200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471830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Anchors a genomic region to disease.</a:t>
            </a:r>
          </a:p>
        </p:txBody>
      </p:sp>
      <p:sp>
        <p:nvSpPr>
          <p:cNvPr id="17" name="TextBox 16"/>
          <p:cNvSpPr txBox="1"/>
          <p:nvPr/>
        </p:nvSpPr>
        <p:spPr>
          <a:xfrm>
            <a:off x="459028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Points to a region — not to a specific gene.</a:t>
            </a:r>
          </a:p>
        </p:txBody>
      </p:sp>
      <p:sp>
        <p:nvSpPr>
          <p:cNvPr id="18" name="Rounded Rectangle 17"/>
          <p:cNvSpPr/>
          <p:nvPr/>
        </p:nvSpPr>
        <p:spPr>
          <a:xfrm>
            <a:off x="8101583" y="1417320"/>
            <a:ext cx="3502152" cy="4160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7"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3 · BRAIN QTL</a:t>
            </a:r>
          </a:p>
        </p:txBody>
      </p:sp>
      <p:sp>
        <p:nvSpPr>
          <p:cNvPr id="20" name="TextBox 19"/>
          <p:cNvSpPr txBox="1"/>
          <p:nvPr/>
        </p:nvSpPr>
        <p:spPr>
          <a:xfrm>
            <a:off x="8339327"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Expression + splicing panels</a:t>
            </a:r>
          </a:p>
        </p:txBody>
      </p:sp>
      <p:sp>
        <p:nvSpPr>
          <p:cNvPr id="21" name="TextBox 20"/>
          <p:cNvSpPr txBox="1"/>
          <p:nvPr/>
        </p:nvSpPr>
        <p:spPr>
          <a:xfrm>
            <a:off x="8339327"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that change a gene's RNA amount or splicing in brain cells and tissue.</a:t>
            </a:r>
          </a:p>
        </p:txBody>
      </p:sp>
      <p:sp>
        <p:nvSpPr>
          <p:cNvPr id="22" name="Rounded Rectangle 21"/>
          <p:cNvSpPr/>
          <p:nvPr/>
        </p:nvSpPr>
        <p:spPr>
          <a:xfrm>
            <a:off x="832104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846734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Anchors a variant to the driver gene itself.</a:t>
            </a:r>
          </a:p>
        </p:txBody>
      </p:sp>
      <p:sp>
        <p:nvSpPr>
          <p:cNvPr id="24" name="TextBox 23"/>
          <p:cNvSpPr txBox="1"/>
          <p:nvPr/>
        </p:nvSpPr>
        <p:spPr>
          <a:xfrm>
            <a:off x="8339327"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Says nothing about disease on its own.</a:t>
            </a:r>
          </a:p>
        </p:txBody>
      </p:sp>
      <p:sp>
        <p:nvSpPr>
          <p:cNvPr id="25" name="TextBox 24"/>
          <p:cNvSpPr txBox="1"/>
          <p:nvPr/>
        </p:nvSpPr>
        <p:spPr>
          <a:xfrm>
            <a:off x="804672" y="5897880"/>
            <a:ext cx="10607040" cy="3016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dirty="0">
                <a:solidFill>
                  <a:srgbClr val="7E4C9A"/>
                </a:solidFill>
                <a:latin typeface="Arial"/>
              </a:rPr>
              <a:t>Genetic support for a driver comes from source 1 directly — or from combining sources 2 and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Combining GWAS and QTL: one variant, two effects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driver gains genetic support when the disease signal and the gene-activity signal trace to the same DNA variant.</a:t>
            </a:r>
          </a:p>
        </p:txBody>
      </p:sp>
      <p:sp>
        <p:nvSpPr>
          <p:cNvPr id="4" name="Rounded Rectangle 3"/>
          <p:cNvSpPr/>
          <p:nvPr/>
        </p:nvSpPr>
        <p:spPr>
          <a:xfrm>
            <a:off x="731520" y="1463040"/>
            <a:ext cx="2011680" cy="731520"/>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GWAS says</a:t>
            </a:r>
          </a:p>
        </p:txBody>
      </p:sp>
      <p:sp>
        <p:nvSpPr>
          <p:cNvPr id="6" name="Rounded Rectangle 5"/>
          <p:cNvSpPr/>
          <p:nvPr/>
        </p:nvSpPr>
        <p:spPr>
          <a:xfrm>
            <a:off x="2880360" y="1463040"/>
            <a:ext cx="8595360" cy="731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27248" y="1664208"/>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a DNA variant near the driver raises AD risk</a:t>
            </a:r>
          </a:p>
        </p:txBody>
      </p:sp>
      <p:sp>
        <p:nvSpPr>
          <p:cNvPr id="8" name="Rounded Rectangle 7"/>
          <p:cNvSpPr/>
          <p:nvPr/>
        </p:nvSpPr>
        <p:spPr>
          <a:xfrm>
            <a:off x="731520" y="2359152"/>
            <a:ext cx="2011680" cy="731520"/>
          </a:xfrm>
          <a:prstGeom prst="round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578608"/>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QTL says</a:t>
            </a:r>
          </a:p>
        </p:txBody>
      </p:sp>
      <p:sp>
        <p:nvSpPr>
          <p:cNvPr id="10" name="Rounded Rectangle 9"/>
          <p:cNvSpPr/>
          <p:nvPr/>
        </p:nvSpPr>
        <p:spPr>
          <a:xfrm>
            <a:off x="2880360" y="2359152"/>
            <a:ext cx="8595360" cy="731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27248" y="2560320"/>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same variant changes the driver's activity in brain</a:t>
            </a:r>
          </a:p>
        </p:txBody>
      </p:sp>
      <p:sp>
        <p:nvSpPr>
          <p:cNvPr id="12" name="Rounded Rectangle 11"/>
          <p:cNvSpPr/>
          <p:nvPr/>
        </p:nvSpPr>
        <p:spPr>
          <a:xfrm>
            <a:off x="731520" y="3255264"/>
            <a:ext cx="2011680" cy="731520"/>
          </a:xfrm>
          <a:prstGeom prst="round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474720"/>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Together</a:t>
            </a:r>
          </a:p>
        </p:txBody>
      </p:sp>
      <p:sp>
        <p:nvSpPr>
          <p:cNvPr id="14" name="Rounded Rectangle 13"/>
          <p:cNvSpPr/>
          <p:nvPr/>
        </p:nvSpPr>
        <p:spPr>
          <a:xfrm>
            <a:off x="2880360" y="3255264"/>
            <a:ext cx="8595360" cy="731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27248" y="3456432"/>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driver's activity is a plausible path from inherited DNA to disease</a:t>
            </a:r>
          </a:p>
        </p:txBody>
      </p:sp>
      <p:sp>
        <p:nvSpPr>
          <p:cNvPr id="16" name="Rounded Rectangle 15"/>
          <p:cNvSpPr/>
          <p:nvPr/>
        </p:nvSpPr>
        <p:spPr>
          <a:xfrm>
            <a:off x="68580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1</a:t>
            </a:r>
          </a:p>
        </p:txBody>
      </p:sp>
      <p:sp>
        <p:nvSpPr>
          <p:cNvPr id="18" name="TextBox 17"/>
          <p:cNvSpPr txBox="1"/>
          <p:nvPr/>
        </p:nvSpPr>
        <p:spPr>
          <a:xfrm>
            <a:off x="79552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find an AD-associated region near the driver (GWAS)</a:t>
            </a:r>
          </a:p>
        </p:txBody>
      </p:sp>
      <p:sp>
        <p:nvSpPr>
          <p:cNvPr id="19" name="Chevron 18"/>
          <p:cNvSpPr/>
          <p:nvPr/>
        </p:nvSpPr>
        <p:spPr>
          <a:xfrm>
            <a:off x="4169663"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ounded Rectangle 19"/>
          <p:cNvSpPr/>
          <p:nvPr/>
        </p:nvSpPr>
        <p:spPr>
          <a:xfrm>
            <a:off x="438912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9884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2</a:t>
            </a:r>
          </a:p>
        </p:txBody>
      </p:sp>
      <p:sp>
        <p:nvSpPr>
          <p:cNvPr id="22" name="TextBox 21"/>
          <p:cNvSpPr txBox="1"/>
          <p:nvPr/>
        </p:nvSpPr>
        <p:spPr>
          <a:xfrm>
            <a:off x="449884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confirm the driver has a QTL signal in that region</a:t>
            </a:r>
          </a:p>
        </p:txBody>
      </p:sp>
      <p:sp>
        <p:nvSpPr>
          <p:cNvPr id="23" name="Chevron 22"/>
          <p:cNvSpPr/>
          <p:nvPr/>
        </p:nvSpPr>
        <p:spPr>
          <a:xfrm>
            <a:off x="7872984"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Rounded Rectangle 23"/>
          <p:cNvSpPr/>
          <p:nvPr/>
        </p:nvSpPr>
        <p:spPr>
          <a:xfrm>
            <a:off x="809244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7"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3</a:t>
            </a:r>
          </a:p>
        </p:txBody>
      </p:sp>
      <p:sp>
        <p:nvSpPr>
          <p:cNvPr id="26" name="TextBox 25"/>
          <p:cNvSpPr txBox="1"/>
          <p:nvPr/>
        </p:nvSpPr>
        <p:spPr>
          <a:xfrm>
            <a:off x="8202167"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same-variant test: do the two signals share one variant?</a:t>
            </a:r>
          </a:p>
        </p:txBody>
      </p:sp>
      <p:sp>
        <p:nvSpPr>
          <p:cNvPr id="27" name="Rounded Rectangle 26"/>
          <p:cNvSpPr/>
          <p:nvPr/>
        </p:nvSpPr>
        <p:spPr>
          <a:xfrm>
            <a:off x="731520" y="5669280"/>
            <a:ext cx="10835640" cy="65836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8" name="TextBox 27"/>
          <p:cNvSpPr txBox="1"/>
          <p:nvPr/>
        </p:nvSpPr>
        <p:spPr>
          <a:xfrm>
            <a:off x="950976" y="5797296"/>
            <a:ext cx="1037844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9E3A00"/>
                </a:solidFill>
                <a:latin typeface="Arial"/>
              </a:rPr>
              <a:t>Proximity is not enough — an AD region can hold many genes and variants. The same-variant test is the decisive step, and it needs complete statistics that are </a:t>
            </a:r>
            <a:r>
              <a:rPr lang="en-US" sz="1400" b="1" i="0" dirty="0">
                <a:solidFill>
                  <a:srgbClr val="9E3A00"/>
                </a:solidFill>
                <a:latin typeface="Arial"/>
              </a:rPr>
              <a:t>NOT</a:t>
            </a:r>
            <a:r>
              <a:rPr sz="1400" b="1" i="0" dirty="0">
                <a:solidFill>
                  <a:srgbClr val="9E3A00"/>
                </a:solidFill>
                <a:latin typeface="Arial"/>
              </a:rPr>
              <a:t> yet publicly available for any driver.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The public datasets behind the three evidence sources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same three categories as the approach — one ready-made source, and the GWAS + QTL pair combined per driver.</a:t>
            </a:r>
          </a:p>
        </p:txBody>
      </p:sp>
      <p:sp>
        <p:nvSpPr>
          <p:cNvPr id="4" name="Rounded Rectangle 3"/>
          <p:cNvSpPr/>
          <p:nvPr/>
        </p:nvSpPr>
        <p:spPr>
          <a:xfrm>
            <a:off x="603504" y="1417320"/>
            <a:ext cx="3502152" cy="36118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684D"/>
                </a:solidFill>
                <a:latin typeface="Arial"/>
              </a:rPr>
              <a:t>1 · PUBLISHED RESULTS</a:t>
            </a:r>
          </a:p>
        </p:txBody>
      </p:sp>
      <p:sp>
        <p:nvSpPr>
          <p:cNvPr id="6" name="Rounded Rectangle 5"/>
          <p:cNvSpPr/>
          <p:nvPr/>
        </p:nvSpPr>
        <p:spPr>
          <a:xfrm>
            <a:off x="82296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98755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FunGen-xQTL AD integration snapshot: six public summary files.</a:t>
            </a:r>
          </a:p>
        </p:txBody>
      </p:sp>
      <p:sp>
        <p:nvSpPr>
          <p:cNvPr id="8" name="Rounded Rectangle 7"/>
          <p:cNvSpPr/>
          <p:nvPr/>
        </p:nvSpPr>
        <p:spPr>
          <a:xfrm>
            <a:off x="82296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87552" y="3648456"/>
            <a:ext cx="276148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Contains AD fine-mapping, xQTL, and TWAS gene lists.</a:t>
            </a:r>
          </a:p>
        </p:txBody>
      </p:sp>
      <p:sp>
        <p:nvSpPr>
          <p:cNvPr id="10" name="Rounded Rectangle 9"/>
          <p:cNvSpPr/>
          <p:nvPr/>
        </p:nvSpPr>
        <p:spPr>
          <a:xfrm>
            <a:off x="4352544" y="1417320"/>
            <a:ext cx="3502152" cy="361188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72B2"/>
                </a:solidFill>
                <a:latin typeface="Arial"/>
              </a:rPr>
              <a:t>2 · DISEASE GWAS</a:t>
            </a:r>
          </a:p>
        </p:txBody>
      </p:sp>
      <p:sp>
        <p:nvSpPr>
          <p:cNvPr id="12" name="Rounded Rectangle 11"/>
          <p:cNvSpPr/>
          <p:nvPr/>
        </p:nvSpPr>
        <p:spPr>
          <a:xfrm>
            <a:off x="457200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473659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Clinical AD: Bellenguez 2022 meta-analysis (GCST90027158), complete genome-wide statistics.</a:t>
            </a:r>
          </a:p>
        </p:txBody>
      </p:sp>
      <p:sp>
        <p:nvSpPr>
          <p:cNvPr id="14" name="Rounded Rectangle 13"/>
          <p:cNvSpPr/>
          <p:nvPr/>
        </p:nvSpPr>
        <p:spPr>
          <a:xfrm>
            <a:off x="457200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73659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CSF biomarkers: amyloid-β42, total tau, p-tau181 (GCST90726396–98), ≈19,000 donors each.</a:t>
            </a:r>
          </a:p>
        </p:txBody>
      </p:sp>
      <p:sp>
        <p:nvSpPr>
          <p:cNvPr id="16" name="Rounded Rectangle 15"/>
          <p:cNvSpPr/>
          <p:nvPr/>
        </p:nvSpPr>
        <p:spPr>
          <a:xfrm>
            <a:off x="8101583" y="1417320"/>
            <a:ext cx="3502152" cy="36118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7"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895600"/>
                </a:solidFill>
                <a:latin typeface="Arial"/>
              </a:rPr>
              <a:t>3 · BRAIN QTL</a:t>
            </a:r>
          </a:p>
        </p:txBody>
      </p:sp>
      <p:sp>
        <p:nvSpPr>
          <p:cNvPr id="18" name="Rounded Rectangle 17"/>
          <p:cNvSpPr/>
          <p:nvPr/>
        </p:nvSpPr>
        <p:spPr>
          <a:xfrm>
            <a:off x="832104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848563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NIAGADS NG00184 brain eQTL/sQTL fine-mapping (bulk and single-nucleus).</a:t>
            </a:r>
          </a:p>
        </p:txBody>
      </p:sp>
      <p:sp>
        <p:nvSpPr>
          <p:cNvPr id="20" name="Rounded Rectangle 19"/>
          <p:cNvSpPr/>
          <p:nvPr/>
        </p:nvSpPr>
        <p:spPr>
          <a:xfrm>
            <a:off x="832104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848563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eQTL Catalogue r7 panels: microglia (Young 2019), neurons (Aygun 2021), neocortex (Walker 2019).</a:t>
            </a:r>
          </a:p>
        </p:txBody>
      </p:sp>
      <p:sp>
        <p:nvSpPr>
          <p:cNvPr id="24" name="TextBox 23"/>
          <p:cNvSpPr txBox="1"/>
          <p:nvPr/>
        </p:nvSpPr>
        <p:spPr>
          <a:xfrm>
            <a:off x="804672" y="5584873"/>
            <a:ext cx="10607040"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dirty="0">
                <a:solidFill>
                  <a:srgbClr val="7E4C9A"/>
                </a:solidFill>
                <a:latin typeface="Arial"/>
              </a:rPr>
              <a:t>Support for a driver needs the pair: category 2 anchors the disease signal, category 3 anchors the gene — joined by the same-variant 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Direct public evidence across all 433 drivers</a:t>
            </a:r>
          </a:p>
        </p:txBody>
      </p:sp>
      <p:sp>
        <p:nvSpPr>
          <p:cNvPr id="4" name="Rectangle 3"/>
          <p:cNvSpPr/>
          <p:nvPr/>
        </p:nvSpPr>
        <p:spPr>
          <a:xfrm>
            <a:off x="731520" y="1463040"/>
            <a:ext cx="1417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1517904"/>
            <a:ext cx="130759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Grade</a:t>
            </a:r>
          </a:p>
        </p:txBody>
      </p:sp>
      <p:sp>
        <p:nvSpPr>
          <p:cNvPr id="6" name="Rectangle 5"/>
          <p:cNvSpPr/>
          <p:nvPr/>
        </p:nvSpPr>
        <p:spPr>
          <a:xfrm>
            <a:off x="2148840" y="1463040"/>
            <a:ext cx="10515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03704" y="1517904"/>
            <a:ext cx="94183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Drivers</a:t>
            </a:r>
          </a:p>
        </p:txBody>
      </p:sp>
      <p:sp>
        <p:nvSpPr>
          <p:cNvPr id="8" name="Rectangle 7"/>
          <p:cNvSpPr/>
          <p:nvPr/>
        </p:nvSpPr>
        <p:spPr>
          <a:xfrm>
            <a:off x="3200400" y="1463040"/>
            <a:ext cx="51206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55264" y="1517904"/>
            <a:ext cx="50109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Genes</a:t>
            </a:r>
          </a:p>
        </p:txBody>
      </p:sp>
      <p:sp>
        <p:nvSpPr>
          <p:cNvPr id="10" name="Rectangle 9"/>
          <p:cNvSpPr/>
          <p:nvPr/>
        </p:nvSpPr>
        <p:spPr>
          <a:xfrm>
            <a:off x="8321040" y="1463040"/>
            <a:ext cx="32918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75904" y="1517904"/>
            <a:ext cx="31821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What it means</a:t>
            </a:r>
          </a:p>
        </p:txBody>
      </p:sp>
      <p:sp>
        <p:nvSpPr>
          <p:cNvPr id="12" name="Rectangle 11"/>
          <p:cNvSpPr/>
          <p:nvPr/>
        </p:nvSpPr>
        <p:spPr>
          <a:xfrm>
            <a:off x="731520" y="192024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15972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Strong</a:t>
            </a:r>
          </a:p>
        </p:txBody>
      </p:sp>
      <p:sp>
        <p:nvSpPr>
          <p:cNvPr id="14" name="Rectangle 13"/>
          <p:cNvSpPr/>
          <p:nvPr/>
        </p:nvSpPr>
        <p:spPr>
          <a:xfrm>
            <a:off x="2148840" y="192024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03704" y="215972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8</a:t>
            </a:r>
          </a:p>
        </p:txBody>
      </p:sp>
      <p:sp>
        <p:nvSpPr>
          <p:cNvPr id="16" name="Rectangle 15"/>
          <p:cNvSpPr/>
          <p:nvPr/>
        </p:nvSpPr>
        <p:spPr>
          <a:xfrm>
            <a:off x="3200400" y="192024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55264" y="2052000"/>
            <a:ext cx="50109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APOE, STAG3, AC087500.1, PPP4C, SEPHS2, PLCG2, ZNF251, ZNF652</a:t>
            </a:r>
          </a:p>
        </p:txBody>
      </p:sp>
      <p:sp>
        <p:nvSpPr>
          <p:cNvPr id="18" name="Rectangle 17"/>
          <p:cNvSpPr/>
          <p:nvPr/>
        </p:nvSpPr>
        <p:spPr>
          <a:xfrm>
            <a:off x="8321040" y="192024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75904" y="205200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Fine-mapped AD variant assigned to the gene</a:t>
            </a:r>
          </a:p>
        </p:txBody>
      </p:sp>
      <p:sp>
        <p:nvSpPr>
          <p:cNvPr id="20" name="Rectangle 19"/>
          <p:cNvSpPr/>
          <p:nvPr/>
        </p:nvSpPr>
        <p:spPr>
          <a:xfrm>
            <a:off x="731520" y="265176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786384" y="289124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Moderate</a:t>
            </a:r>
          </a:p>
        </p:txBody>
      </p:sp>
      <p:sp>
        <p:nvSpPr>
          <p:cNvPr id="22" name="Rectangle 21"/>
          <p:cNvSpPr/>
          <p:nvPr/>
        </p:nvSpPr>
        <p:spPr>
          <a:xfrm>
            <a:off x="2148840" y="265176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2203704" y="289124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3</a:t>
            </a:r>
          </a:p>
        </p:txBody>
      </p:sp>
      <p:sp>
        <p:nvSpPr>
          <p:cNvPr id="24" name="Rectangle 23"/>
          <p:cNvSpPr/>
          <p:nvPr/>
        </p:nvSpPr>
        <p:spPr>
          <a:xfrm>
            <a:off x="3200400" y="265176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3255264" y="289124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INTS8, DGKQ, TPCN1</a:t>
            </a:r>
          </a:p>
        </p:txBody>
      </p:sp>
      <p:sp>
        <p:nvSpPr>
          <p:cNvPr id="26" name="Rectangle 25"/>
          <p:cNvSpPr/>
          <p:nvPr/>
        </p:nvSpPr>
        <p:spPr>
          <a:xfrm>
            <a:off x="8321040" y="265176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375904" y="278352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Direct mapping with lower inclusion score</a:t>
            </a:r>
          </a:p>
        </p:txBody>
      </p:sp>
      <p:sp>
        <p:nvSpPr>
          <p:cNvPr id="28" name="Rectangle 27"/>
          <p:cNvSpPr/>
          <p:nvPr/>
        </p:nvSpPr>
        <p:spPr>
          <a:xfrm>
            <a:off x="731520" y="338328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786384" y="362276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Weak</a:t>
            </a:r>
          </a:p>
        </p:txBody>
      </p:sp>
      <p:sp>
        <p:nvSpPr>
          <p:cNvPr id="30" name="Rectangle 29"/>
          <p:cNvSpPr/>
          <p:nvPr/>
        </p:nvSpPr>
        <p:spPr>
          <a:xfrm>
            <a:off x="2148840" y="338328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203704" y="362276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17</a:t>
            </a:r>
          </a:p>
        </p:txBody>
      </p:sp>
      <p:sp>
        <p:nvSpPr>
          <p:cNvPr id="32" name="Rectangle 31"/>
          <p:cNvSpPr/>
          <p:nvPr/>
        </p:nvSpPr>
        <p:spPr>
          <a:xfrm>
            <a:off x="3200400" y="338328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3255264" y="362276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DHX33, SAT2, TRPM7, BUB3, UBC, ACD, …</a:t>
            </a:r>
          </a:p>
        </p:txBody>
      </p:sp>
      <p:sp>
        <p:nvSpPr>
          <p:cNvPr id="34" name="Rectangle 33"/>
          <p:cNvSpPr/>
          <p:nvPr/>
        </p:nvSpPr>
        <p:spPr>
          <a:xfrm>
            <a:off x="8321040" y="338328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TextBox 34"/>
          <p:cNvSpPr txBox="1"/>
          <p:nvPr/>
        </p:nvSpPr>
        <p:spPr>
          <a:xfrm>
            <a:off x="8375904" y="351504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Sub-genome-wide mapping or list membership</a:t>
            </a:r>
          </a:p>
        </p:txBody>
      </p:sp>
      <p:sp>
        <p:nvSpPr>
          <p:cNvPr id="36" name="Rectangle 35"/>
          <p:cNvSpPr/>
          <p:nvPr/>
        </p:nvSpPr>
        <p:spPr>
          <a:xfrm>
            <a:off x="731520" y="411480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786384" y="435428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None found</a:t>
            </a:r>
          </a:p>
        </p:txBody>
      </p:sp>
      <p:sp>
        <p:nvSpPr>
          <p:cNvPr id="38" name="Rectangle 37"/>
          <p:cNvSpPr/>
          <p:nvPr/>
        </p:nvSpPr>
        <p:spPr>
          <a:xfrm>
            <a:off x="2148840" y="411480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p:cNvSpPr txBox="1"/>
          <p:nvPr/>
        </p:nvSpPr>
        <p:spPr>
          <a:xfrm>
            <a:off x="2203704" y="435428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405</a:t>
            </a:r>
          </a:p>
        </p:txBody>
      </p:sp>
      <p:sp>
        <p:nvSpPr>
          <p:cNvPr id="40" name="Rectangle 39"/>
          <p:cNvSpPr/>
          <p:nvPr/>
        </p:nvSpPr>
        <p:spPr>
          <a:xfrm>
            <a:off x="3200400" y="411480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3255264" y="435428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t>
            </a:r>
          </a:p>
        </p:txBody>
      </p:sp>
      <p:sp>
        <p:nvSpPr>
          <p:cNvPr id="42" name="Rectangle 41"/>
          <p:cNvSpPr/>
          <p:nvPr/>
        </p:nvSpPr>
        <p:spPr>
          <a:xfrm>
            <a:off x="8321040" y="411480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3" name="TextBox 42"/>
          <p:cNvSpPr txBox="1"/>
          <p:nvPr/>
        </p:nvSpPr>
        <p:spPr>
          <a:xfrm>
            <a:off x="8375904" y="424656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 direct mapping in the public summaries</a:t>
            </a:r>
          </a:p>
        </p:txBody>
      </p:sp>
      <p:sp>
        <p:nvSpPr>
          <p:cNvPr id="45" name="TextBox 44">
            <a:extLst>
              <a:ext uri="{FF2B5EF4-FFF2-40B4-BE49-F238E27FC236}">
                <a16:creationId xmlns:a16="http://schemas.microsoft.com/office/drawing/2014/main" id="{395884A8-F665-CDA7-4296-7C35A3378258}"/>
              </a:ext>
            </a:extLst>
          </p:cNvPr>
          <p:cNvSpPr txBox="1"/>
          <p:nvPr/>
        </p:nvSpPr>
        <p:spPr>
          <a:xfrm>
            <a:off x="548640" y="886968"/>
            <a:ext cx="10561320" cy="270843"/>
          </a:xfrm>
          <a:prstGeom prst="rect">
            <a:avLst/>
          </a:prstGeom>
          <a:noFill/>
        </p:spPr>
        <p:txBody>
          <a:bodyPr wrap="square" lIns="27432" tIns="27432" rIns="27432" bIns="27432" anchor="t">
            <a:spAutoFit/>
          </a:bodyPr>
          <a:lstStyle/>
          <a:p>
            <a:r>
              <a:rPr lang="en-US" sz="1400" dirty="0" err="1"/>
              <a:t>FunGen-xQTL</a:t>
            </a:r>
            <a:r>
              <a:rPr lang="en-US" sz="1400" dirty="0"/>
              <a:t> public snapshot </a:t>
            </a:r>
            <a:endParaRPr sz="1400" i="0" dirty="0">
              <a:solidFill>
                <a:srgbClr val="4E5A68"/>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64E3-FF0D-9B27-9AA1-7682C28EA9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63D788-55B9-385B-88DD-B04CE8031658}"/>
              </a:ext>
            </a:extLst>
          </p:cNvPr>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network centrality and genetic proximity converge</a:t>
            </a:r>
          </a:p>
        </p:txBody>
      </p:sp>
      <p:sp>
        <p:nvSpPr>
          <p:cNvPr id="3" name="TextBox 2">
            <a:extLst>
              <a:ext uri="{FF2B5EF4-FFF2-40B4-BE49-F238E27FC236}">
                <a16:creationId xmlns:a16="http://schemas.microsoft.com/office/drawing/2014/main" id="{CF0339CF-11F5-EFC1-209F-EED51E607BE1}"/>
              </a:ext>
            </a:extLst>
          </p:cNvPr>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most recurrent driver is also the most interesting genetic candidate.</a:t>
            </a:r>
          </a:p>
        </p:txBody>
      </p:sp>
      <p:sp>
        <p:nvSpPr>
          <p:cNvPr id="4" name="Rounded Rectangle 3">
            <a:extLst>
              <a:ext uri="{FF2B5EF4-FFF2-40B4-BE49-F238E27FC236}">
                <a16:creationId xmlns:a16="http://schemas.microsoft.com/office/drawing/2014/main" id="{71903EA6-31BA-E291-EF28-1FAA9EAD87A8}"/>
              </a:ext>
            </a:extLst>
          </p:cNvPr>
          <p:cNvSpPr/>
          <p:nvPr/>
        </p:nvSpPr>
        <p:spPr>
          <a:xfrm>
            <a:off x="603504" y="1389888"/>
            <a:ext cx="5394960"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015C48C-0327-DF11-FC3E-6D4FEE28E1D7}"/>
              </a:ext>
            </a:extLst>
          </p:cNvPr>
          <p:cNvSpPr/>
          <p:nvPr/>
        </p:nvSpPr>
        <p:spPr>
          <a:xfrm>
            <a:off x="877824" y="170992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0ADBDFE-9554-E1A1-C85B-A6792C8AB637}"/>
              </a:ext>
            </a:extLst>
          </p:cNvPr>
          <p:cNvSpPr txBox="1"/>
          <p:nvPr/>
        </p:nvSpPr>
        <p:spPr>
          <a:xfrm>
            <a:off x="1024127" y="1682496"/>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a:extLst>
              <a:ext uri="{FF2B5EF4-FFF2-40B4-BE49-F238E27FC236}">
                <a16:creationId xmlns:a16="http://schemas.microsoft.com/office/drawing/2014/main" id="{C96B78F0-DEC6-E308-2AF8-7A83DE6FAAD8}"/>
              </a:ext>
            </a:extLst>
          </p:cNvPr>
          <p:cNvSpPr/>
          <p:nvPr/>
        </p:nvSpPr>
        <p:spPr>
          <a:xfrm>
            <a:off x="896112" y="23682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FDAA584-AAD1-294D-E45F-B4BF07BFD84E}"/>
              </a:ext>
            </a:extLst>
          </p:cNvPr>
          <p:cNvSpPr txBox="1"/>
          <p:nvPr/>
        </p:nvSpPr>
        <p:spPr>
          <a:xfrm>
            <a:off x="1069848" y="2240280"/>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Most recurrent driver: 12 of 32 categories.</a:t>
            </a:r>
          </a:p>
        </p:txBody>
      </p:sp>
      <p:sp>
        <p:nvSpPr>
          <p:cNvPr id="9" name="Oval 8">
            <a:extLst>
              <a:ext uri="{FF2B5EF4-FFF2-40B4-BE49-F238E27FC236}">
                <a16:creationId xmlns:a16="http://schemas.microsoft.com/office/drawing/2014/main" id="{13FB7491-D2F3-EB0C-EECA-4A5196BB091D}"/>
              </a:ext>
            </a:extLst>
          </p:cNvPr>
          <p:cNvSpPr/>
          <p:nvPr/>
        </p:nvSpPr>
        <p:spPr>
          <a:xfrm>
            <a:off x="896112" y="30266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C58B406-4DAC-F47F-B306-963986F9F914}"/>
              </a:ext>
            </a:extLst>
          </p:cNvPr>
          <p:cNvSpPr txBox="1"/>
          <p:nvPr/>
        </p:nvSpPr>
        <p:spPr>
          <a:xfrm>
            <a:off x="1069848" y="2898648"/>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score q = 4.6e-14 (top rank).</a:t>
            </a:r>
          </a:p>
        </p:txBody>
      </p:sp>
      <p:sp>
        <p:nvSpPr>
          <p:cNvPr id="11" name="Oval 10">
            <a:extLst>
              <a:ext uri="{FF2B5EF4-FFF2-40B4-BE49-F238E27FC236}">
                <a16:creationId xmlns:a16="http://schemas.microsoft.com/office/drawing/2014/main" id="{F61F5E19-43B5-1ABF-1461-5A082A70272D}"/>
              </a:ext>
            </a:extLst>
          </p:cNvPr>
          <p:cNvSpPr/>
          <p:nvPr/>
        </p:nvSpPr>
        <p:spPr>
          <a:xfrm>
            <a:off x="896112" y="3685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9674E35-2662-93A5-0F62-8E37E4D77E16}"/>
              </a:ext>
            </a:extLst>
          </p:cNvPr>
          <p:cNvSpPr txBox="1"/>
          <p:nvPr/>
        </p:nvSpPr>
        <p:spPr>
          <a:xfrm>
            <a:off x="1069848" y="3557015"/>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Recurs across both sexes and five cell types.</a:t>
            </a:r>
          </a:p>
        </p:txBody>
      </p:sp>
      <p:sp>
        <p:nvSpPr>
          <p:cNvPr id="13" name="Oval 12">
            <a:extLst>
              <a:ext uri="{FF2B5EF4-FFF2-40B4-BE49-F238E27FC236}">
                <a16:creationId xmlns:a16="http://schemas.microsoft.com/office/drawing/2014/main" id="{1D2ED380-B186-DF12-D4BF-6536F710C45B}"/>
              </a:ext>
            </a:extLst>
          </p:cNvPr>
          <p:cNvSpPr/>
          <p:nvPr/>
        </p:nvSpPr>
        <p:spPr>
          <a:xfrm>
            <a:off x="896112" y="43433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62EE79A-6B66-DA99-E91E-797A991F85B4}"/>
              </a:ext>
            </a:extLst>
          </p:cNvPr>
          <p:cNvSpPr txBox="1"/>
          <p:nvPr/>
        </p:nvSpPr>
        <p:spPr>
          <a:xfrm>
            <a:off x="1069848" y="4215383"/>
            <a:ext cx="4718303"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Also returns in the independent </a:t>
            </a:r>
            <a:r>
              <a:rPr sz="1200" b="1" i="0" dirty="0">
                <a:solidFill>
                  <a:srgbClr val="1F2730"/>
                </a:solidFill>
                <a:latin typeface="Arial"/>
              </a:rPr>
              <a:t>SEA-AD cohort</a:t>
            </a:r>
            <a:r>
              <a:rPr sz="1200" b="0" i="0" dirty="0">
                <a:solidFill>
                  <a:srgbClr val="1F2730"/>
                </a:solidFill>
                <a:latin typeface="Arial"/>
              </a:rPr>
              <a:t>.</a:t>
            </a:r>
          </a:p>
        </p:txBody>
      </p:sp>
      <p:sp>
        <p:nvSpPr>
          <p:cNvPr id="15" name="Rounded Rectangle 14">
            <a:extLst>
              <a:ext uri="{FF2B5EF4-FFF2-40B4-BE49-F238E27FC236}">
                <a16:creationId xmlns:a16="http://schemas.microsoft.com/office/drawing/2014/main" id="{1021A4D5-9E76-BEC5-DFE8-6D91037ED691}"/>
              </a:ext>
            </a:extLst>
          </p:cNvPr>
          <p:cNvSpPr/>
          <p:nvPr/>
        </p:nvSpPr>
        <p:spPr>
          <a:xfrm>
            <a:off x="6263640" y="1389888"/>
            <a:ext cx="5321808"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3EAFD8D7-F782-C2EB-834F-99ED30A9B88B}"/>
              </a:ext>
            </a:extLst>
          </p:cNvPr>
          <p:cNvSpPr/>
          <p:nvPr/>
        </p:nvSpPr>
        <p:spPr>
          <a:xfrm>
            <a:off x="6537960" y="170992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21C3D3D-E514-4949-C7B6-05A6D498F574}"/>
              </a:ext>
            </a:extLst>
          </p:cNvPr>
          <p:cNvSpPr txBox="1"/>
          <p:nvPr/>
        </p:nvSpPr>
        <p:spPr>
          <a:xfrm>
            <a:off x="6684264" y="1682496"/>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human genetics</a:t>
            </a:r>
          </a:p>
        </p:txBody>
      </p:sp>
      <p:sp>
        <p:nvSpPr>
          <p:cNvPr id="18" name="Oval 17">
            <a:extLst>
              <a:ext uri="{FF2B5EF4-FFF2-40B4-BE49-F238E27FC236}">
                <a16:creationId xmlns:a16="http://schemas.microsoft.com/office/drawing/2014/main" id="{4258C43B-7682-674D-E477-00384F2516AF}"/>
              </a:ext>
            </a:extLst>
          </p:cNvPr>
          <p:cNvSpPr/>
          <p:nvPr/>
        </p:nvSpPr>
        <p:spPr>
          <a:xfrm>
            <a:off x="6556248" y="23682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13AC6213-D537-CC6E-AF47-BC199257023D}"/>
              </a:ext>
            </a:extLst>
          </p:cNvPr>
          <p:cNvSpPr txBox="1"/>
          <p:nvPr/>
        </p:nvSpPr>
        <p:spPr>
          <a:xfrm>
            <a:off x="6729984" y="2240280"/>
            <a:ext cx="4672583" cy="424732"/>
          </a:xfrm>
          <a:prstGeom prst="rect">
            <a:avLst/>
          </a:prstGeom>
          <a:noFill/>
        </p:spPr>
        <p:txBody>
          <a:bodyPr wrap="square" lIns="27432" tIns="27432" rIns="27432" bIns="27432" anchor="t">
            <a:spAutoFit/>
          </a:bodyPr>
          <a:lstStyle/>
          <a:p>
            <a:r>
              <a:rPr lang="en-US" sz="1200" dirty="0">
                <a:solidFill>
                  <a:srgbClr val="1F2730"/>
                </a:solidFill>
                <a:latin typeface="Arial"/>
              </a:rPr>
              <a:t>GWAS (</a:t>
            </a:r>
            <a:r>
              <a:rPr lang="en-US" sz="1200" dirty="0" err="1">
                <a:solidFill>
                  <a:srgbClr val="1F2730"/>
                </a:solidFill>
                <a:latin typeface="Arial"/>
              </a:rPr>
              <a:t>Bellenguez</a:t>
            </a:r>
            <a:r>
              <a:rPr lang="en-US" sz="1200" dirty="0">
                <a:solidFill>
                  <a:srgbClr val="1F2730"/>
                </a:solidFill>
                <a:latin typeface="Arial"/>
              </a:rPr>
              <a:t> 2022 clinical-AD meta-analysis) supports:</a:t>
            </a:r>
          </a:p>
          <a:p>
            <a:pPr algn="l">
              <a:lnSpc>
                <a:spcPct val="100000"/>
              </a:lnSpc>
              <a:spcBef>
                <a:spcPts val="0"/>
              </a:spcBef>
              <a:spcAft>
                <a:spcPts val="0"/>
              </a:spcAft>
            </a:pPr>
            <a:r>
              <a:rPr sz="1200" dirty="0">
                <a:solidFill>
                  <a:srgbClr val="1F2730"/>
                </a:solidFill>
                <a:latin typeface="Arial"/>
              </a:rPr>
              <a:t>AD region strongly associated</a:t>
            </a:r>
            <a:r>
              <a:rPr lang="en-US" sz="1200" dirty="0">
                <a:solidFill>
                  <a:srgbClr val="1F2730"/>
                </a:solidFill>
                <a:latin typeface="Arial"/>
              </a:rPr>
              <a:t> with</a:t>
            </a:r>
            <a:r>
              <a:rPr sz="1200" dirty="0">
                <a:solidFill>
                  <a:srgbClr val="1F2730"/>
                </a:solidFill>
                <a:latin typeface="Arial"/>
              </a:rPr>
              <a:t> P = 4.089e-30 (rs12151021).</a:t>
            </a:r>
          </a:p>
        </p:txBody>
      </p:sp>
      <p:sp>
        <p:nvSpPr>
          <p:cNvPr id="20" name="Oval 19">
            <a:extLst>
              <a:ext uri="{FF2B5EF4-FFF2-40B4-BE49-F238E27FC236}">
                <a16:creationId xmlns:a16="http://schemas.microsoft.com/office/drawing/2014/main" id="{EC882925-8E36-8598-A0C7-46F40C71866C}"/>
              </a:ext>
            </a:extLst>
          </p:cNvPr>
          <p:cNvSpPr/>
          <p:nvPr/>
        </p:nvSpPr>
        <p:spPr>
          <a:xfrm>
            <a:off x="6556248" y="292115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0E42B51-DCB1-48FB-0734-0285D4068B6F}"/>
              </a:ext>
            </a:extLst>
          </p:cNvPr>
          <p:cNvSpPr txBox="1"/>
          <p:nvPr/>
        </p:nvSpPr>
        <p:spPr>
          <a:xfrm>
            <a:off x="6729984" y="2854688"/>
            <a:ext cx="4672583" cy="609398"/>
          </a:xfrm>
          <a:prstGeom prst="rect">
            <a:avLst/>
          </a:prstGeom>
          <a:noFill/>
        </p:spPr>
        <p:txBody>
          <a:bodyPr wrap="square" lIns="27432" tIns="27432" rIns="27432" bIns="27432" anchor="t">
            <a:spAutoFit/>
          </a:bodyPr>
          <a:lstStyle/>
          <a:p>
            <a:r>
              <a:rPr lang="en-US" sz="1200" dirty="0">
                <a:solidFill>
                  <a:srgbClr val="1F2730"/>
                </a:solidFill>
                <a:latin typeface="Arial"/>
              </a:rPr>
              <a:t>QTL (Walker 2019 bulk neocortex </a:t>
            </a:r>
            <a:r>
              <a:rPr lang="en-US" sz="1200" dirty="0" err="1">
                <a:solidFill>
                  <a:srgbClr val="1F2730"/>
                </a:solidFill>
                <a:latin typeface="Arial"/>
              </a:rPr>
              <a:t>eQTL</a:t>
            </a:r>
            <a:r>
              <a:rPr lang="en-US" sz="1200" dirty="0">
                <a:solidFill>
                  <a:srgbClr val="1F2730"/>
                </a:solidFill>
                <a:latin typeface="Arial"/>
              </a:rPr>
              <a:t> panel, </a:t>
            </a:r>
            <a:r>
              <a:rPr lang="en-US" sz="1200" dirty="0" err="1">
                <a:solidFill>
                  <a:srgbClr val="1F2730"/>
                </a:solidFill>
                <a:latin typeface="Arial"/>
              </a:rPr>
              <a:t>eQTL</a:t>
            </a:r>
            <a:r>
              <a:rPr lang="en-US" sz="1200" dirty="0">
                <a:solidFill>
                  <a:srgbClr val="1F2730"/>
                </a:solidFill>
                <a:latin typeface="Arial"/>
              </a:rPr>
              <a:t> Catalogue release 7, dataset QTD000579 (211 donors)) supports with P = 2.12×10⁻⁶ </a:t>
            </a:r>
          </a:p>
        </p:txBody>
      </p:sp>
      <p:sp>
        <p:nvSpPr>
          <p:cNvPr id="22" name="Oval 21">
            <a:extLst>
              <a:ext uri="{FF2B5EF4-FFF2-40B4-BE49-F238E27FC236}">
                <a16:creationId xmlns:a16="http://schemas.microsoft.com/office/drawing/2014/main" id="{CA2B0A95-7DEE-D341-AF78-C2FBAF936E38}"/>
              </a:ext>
            </a:extLst>
          </p:cNvPr>
          <p:cNvSpPr/>
          <p:nvPr/>
        </p:nvSpPr>
        <p:spPr>
          <a:xfrm>
            <a:off x="6556248" y="368503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AD65503-D4B1-BF9E-86F2-602508A62A8E}"/>
              </a:ext>
            </a:extLst>
          </p:cNvPr>
          <p:cNvSpPr txBox="1"/>
          <p:nvPr/>
        </p:nvSpPr>
        <p:spPr>
          <a:xfrm>
            <a:off x="6729984" y="3557015"/>
            <a:ext cx="4672583" cy="794064"/>
          </a:xfrm>
          <a:prstGeom prst="rect">
            <a:avLst/>
          </a:prstGeom>
          <a:noFill/>
        </p:spPr>
        <p:txBody>
          <a:bodyPr wrap="square" lIns="27432" tIns="27432" rIns="27432" bIns="27432" anchor="t">
            <a:spAutoFit/>
          </a:bodyPr>
          <a:lstStyle/>
          <a:p>
            <a:r>
              <a:rPr lang="en-US" sz="1200" dirty="0">
                <a:solidFill>
                  <a:srgbClr val="1F2730"/>
                </a:solidFill>
                <a:latin typeface="Arial"/>
              </a:rPr>
              <a:t>QTL (t</a:t>
            </a:r>
            <a:r>
              <a:rPr sz="1200" dirty="0">
                <a:solidFill>
                  <a:srgbClr val="1F2730"/>
                </a:solidFill>
                <a:latin typeface="Arial"/>
              </a:rPr>
              <a:t>hree further brain activity tracks are signal-positive</a:t>
            </a:r>
            <a:r>
              <a:rPr lang="en-US" sz="1200" dirty="0">
                <a:solidFill>
                  <a:srgbClr val="1F2730"/>
                </a:solidFill>
                <a:latin typeface="Arial"/>
              </a:rPr>
              <a:t>):</a:t>
            </a:r>
            <a:br>
              <a:rPr lang="en-US" sz="1200" dirty="0">
                <a:solidFill>
                  <a:srgbClr val="1F2730"/>
                </a:solidFill>
                <a:latin typeface="Arial"/>
              </a:rPr>
            </a:br>
            <a:r>
              <a:rPr lang="en-US" sz="1200" dirty="0">
                <a:solidFill>
                  <a:srgbClr val="1F2730"/>
                </a:solidFill>
                <a:latin typeface="Arial"/>
              </a:rPr>
              <a:t>MSBB frontal cortex (BA36) </a:t>
            </a:r>
            <a:r>
              <a:rPr lang="en-US" sz="1200" dirty="0" err="1">
                <a:solidFill>
                  <a:srgbClr val="1F2730"/>
                </a:solidFill>
                <a:latin typeface="Arial"/>
              </a:rPr>
              <a:t>eQTL</a:t>
            </a:r>
            <a:r>
              <a:rPr lang="en-US" sz="1200" dirty="0">
                <a:solidFill>
                  <a:srgbClr val="1F2730"/>
                </a:solidFill>
                <a:latin typeface="Arial"/>
              </a:rPr>
              <a:t> (RNA amount)</a:t>
            </a:r>
          </a:p>
          <a:p>
            <a:r>
              <a:rPr lang="en-US" sz="1200" dirty="0">
                <a:solidFill>
                  <a:srgbClr val="1F2730"/>
                </a:solidFill>
                <a:latin typeface="Arial"/>
              </a:rPr>
              <a:t>ROSMAP DLPFC </a:t>
            </a:r>
            <a:r>
              <a:rPr lang="en-US" sz="1200" dirty="0" err="1">
                <a:solidFill>
                  <a:srgbClr val="1F2730"/>
                </a:solidFill>
                <a:latin typeface="Arial"/>
              </a:rPr>
              <a:t>sQTL</a:t>
            </a:r>
            <a:r>
              <a:rPr lang="en-US" sz="1200" dirty="0">
                <a:solidFill>
                  <a:srgbClr val="1F2730"/>
                </a:solidFill>
                <a:latin typeface="Arial"/>
              </a:rPr>
              <a:t> (splicing)</a:t>
            </a:r>
          </a:p>
          <a:p>
            <a:r>
              <a:rPr lang="en-US" sz="1200" dirty="0">
                <a:solidFill>
                  <a:srgbClr val="1F2730"/>
                </a:solidFill>
                <a:latin typeface="Arial"/>
              </a:rPr>
              <a:t>ROSMAP posterior cingulate </a:t>
            </a:r>
            <a:r>
              <a:rPr lang="en-US" sz="1200" dirty="0" err="1">
                <a:solidFill>
                  <a:srgbClr val="1F2730"/>
                </a:solidFill>
                <a:latin typeface="Arial"/>
              </a:rPr>
              <a:t>sQTL</a:t>
            </a:r>
            <a:r>
              <a:rPr lang="en-US" sz="1200" dirty="0">
                <a:solidFill>
                  <a:srgbClr val="1F2730"/>
                </a:solidFill>
                <a:latin typeface="Arial"/>
              </a:rPr>
              <a:t> (splicing)</a:t>
            </a:r>
            <a:endParaRPr sz="1200" b="0" i="0" dirty="0">
              <a:solidFill>
                <a:srgbClr val="1F2730"/>
              </a:solidFill>
              <a:latin typeface="Arial"/>
            </a:endParaRPr>
          </a:p>
        </p:txBody>
      </p:sp>
      <p:sp>
        <p:nvSpPr>
          <p:cNvPr id="24" name="Oval 23">
            <a:extLst>
              <a:ext uri="{FF2B5EF4-FFF2-40B4-BE49-F238E27FC236}">
                <a16:creationId xmlns:a16="http://schemas.microsoft.com/office/drawing/2014/main" id="{A23A36C8-9EA9-4F15-88ED-05652CB0CC29}"/>
              </a:ext>
            </a:extLst>
          </p:cNvPr>
          <p:cNvSpPr/>
          <p:nvPr/>
        </p:nvSpPr>
        <p:spPr>
          <a:xfrm>
            <a:off x="6556248" y="4457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BFF4661-1D82-DA8E-1B1C-228283C5FBBA}"/>
              </a:ext>
            </a:extLst>
          </p:cNvPr>
          <p:cNvSpPr txBox="1"/>
          <p:nvPr/>
        </p:nvSpPr>
        <p:spPr>
          <a:xfrm>
            <a:off x="6729984" y="4382437"/>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Same-variant test unresolved: complete models unavailable.</a:t>
            </a:r>
          </a:p>
        </p:txBody>
      </p:sp>
    </p:spTree>
    <p:extLst>
      <p:ext uri="{BB962C8B-B14F-4D97-AF65-F5344CB8AC3E}">
        <p14:creationId xmlns:p14="http://schemas.microsoft.com/office/powerpoint/2010/main" val="242915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APOE: the strongest genetic result is an astrocyte driver</a:t>
            </a:r>
          </a:p>
        </p:txBody>
      </p:sp>
      <p:sp>
        <p:nvSpPr>
          <p:cNvPr id="3" name="TextBox 2"/>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Strong gene-level genetic support</a:t>
            </a:r>
          </a:p>
        </p:txBody>
      </p:sp>
      <p:sp>
        <p:nvSpPr>
          <p:cNvPr id="4" name="Rounded Rectangle 3"/>
          <p:cNvSpPr/>
          <p:nvPr/>
        </p:nvSpPr>
        <p:spPr>
          <a:xfrm>
            <a:off x="6431280" y="1283637"/>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05600" y="1603677"/>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1903" y="1576245"/>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7" name="Oval 6"/>
          <p:cNvSpPr/>
          <p:nvPr/>
        </p:nvSpPr>
        <p:spPr>
          <a:xfrm>
            <a:off x="6723888" y="226204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97624" y="2134029"/>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Fine-mapping (FunGen-xQTL published integration) supports: coding variant rs429358 assigned directly to APOE, inclusion score 1.0 (AD P ≈ 1.9e-155).</a:t>
            </a:r>
          </a:p>
        </p:txBody>
      </p:sp>
      <p:sp>
        <p:nvSpPr>
          <p:cNvPr id="9" name="Oval 8"/>
          <p:cNvSpPr/>
          <p:nvPr/>
        </p:nvSpPr>
        <p:spPr>
          <a:xfrm>
            <a:off x="6723888" y="292041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97624" y="2792397"/>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GWAS (CSF biomarker studies GCST90726396–98, ≈19k donors) supports: region significant for amyloid-β42, total tau (P = 5.4e-161), and p-tau181 (P = 3.3e-174).</a:t>
            </a:r>
          </a:p>
        </p:txBody>
      </p:sp>
      <p:sp>
        <p:nvSpPr>
          <p:cNvPr id="11" name="Oval 10"/>
          <p:cNvSpPr/>
          <p:nvPr/>
        </p:nvSpPr>
        <p:spPr>
          <a:xfrm>
            <a:off x="6723888" y="35787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97624" y="3450764"/>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Gene-based tests (MAGMA on the same CSF GWAS) support: all three biomarkers pass at P = 5e-10.</a:t>
            </a:r>
          </a:p>
        </p:txBody>
      </p:sp>
      <p:sp>
        <p:nvSpPr>
          <p:cNvPr id="13" name="Oval 12"/>
          <p:cNvSpPr/>
          <p:nvPr/>
        </p:nvSpPr>
        <p:spPr>
          <a:xfrm>
            <a:off x="6723888" y="42371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97624" y="4109132"/>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QTL (Walker 2019 bulk neocortex eQTL, eQTL Catalogue r7, dataset QTD000579): significant APOE eQTL, P = 9.5e-8 — same-variant test still blocked.</a:t>
            </a:r>
          </a:p>
        </p:txBody>
      </p:sp>
      <p:sp>
        <p:nvSpPr>
          <p:cNvPr id="15" name="Rounded Rectangle 14"/>
          <p:cNvSpPr/>
          <p:nvPr/>
        </p:nvSpPr>
        <p:spPr>
          <a:xfrm>
            <a:off x="688848" y="1319021"/>
            <a:ext cx="5321808" cy="4125136"/>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3168" y="1639061"/>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09472" y="1611629"/>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18" name="Oval 17"/>
          <p:cNvSpPr/>
          <p:nvPr/>
        </p:nvSpPr>
        <p:spPr>
          <a:xfrm>
            <a:off x="981456" y="229742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55192" y="2169413"/>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An astrocyte driver in three sex/APOE groups (F_e2, M_e2, M_e4).</a:t>
            </a:r>
          </a:p>
        </p:txBody>
      </p:sp>
      <p:sp>
        <p:nvSpPr>
          <p:cNvPr id="20" name="Oval 19"/>
          <p:cNvSpPr/>
          <p:nvPr/>
        </p:nvSpPr>
        <p:spPr>
          <a:xfrm>
            <a:off x="981456" y="295579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55192" y="2827781"/>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within-category rank: 3.</a:t>
            </a:r>
          </a:p>
        </p:txBody>
      </p:sp>
      <p:sp>
        <p:nvSpPr>
          <p:cNvPr id="22" name="Oval 21"/>
          <p:cNvSpPr/>
          <p:nvPr/>
        </p:nvSpPr>
        <p:spPr>
          <a:xfrm>
            <a:off x="981456" y="36141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55192" y="3486148"/>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Modest recurrence compared with RPS15 (3 vs 12 categories).</a:t>
            </a:r>
          </a:p>
        </p:txBody>
      </p:sp>
      <p:sp>
        <p:nvSpPr>
          <p:cNvPr id="24" name="Oval 23"/>
          <p:cNvSpPr/>
          <p:nvPr/>
        </p:nvSpPr>
        <p:spPr>
          <a:xfrm>
            <a:off x="981456" y="42725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55192" y="4144516"/>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467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4E5A68"/>
                </a:solidFill>
                <a:latin typeface="Arial"/>
              </a:rPr>
              <a:t>Genetics confirms APOE as an AD gene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expanded screen surfaces new leads — and known-locus artifacts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Trust the direct gene-level mappings; discount shared-locus window hits.</a:t>
            </a:r>
          </a:p>
        </p:txBody>
      </p:sp>
      <p:sp>
        <p:nvSpPr>
          <p:cNvPr id="4" name="Rounded Rectangle 3"/>
          <p:cNvSpPr/>
          <p:nvPr/>
        </p:nvSpPr>
        <p:spPr>
          <a:xfrm>
            <a:off x="603504" y="1389888"/>
            <a:ext cx="5394960" cy="42062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77824" y="170992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7" y="1682496"/>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Genuine new leads</a:t>
            </a:r>
          </a:p>
        </p:txBody>
      </p:sp>
      <p:sp>
        <p:nvSpPr>
          <p:cNvPr id="7" name="Oval 6"/>
          <p:cNvSpPr/>
          <p:nvPr/>
        </p:nvSpPr>
        <p:spPr>
          <a:xfrm>
            <a:off x="896112" y="234086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9848" y="2212848"/>
            <a:ext cx="4764024"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PLCG2 — established AD gene, now also a driver: strong direct mapping and a significant own region (P = 2.2e-12).</a:t>
            </a:r>
          </a:p>
        </p:txBody>
      </p:sp>
      <p:sp>
        <p:nvSpPr>
          <p:cNvPr id="9" name="Oval 8"/>
          <p:cNvSpPr/>
          <p:nvPr/>
        </p:nvSpPr>
        <p:spPr>
          <a:xfrm>
            <a:off x="896112" y="316382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3035808"/>
            <a:ext cx="4764024"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HSPA1A — SEA-AD-replicated driver with a significant region (P = 1.0e-17), in the complex HLA area.</a:t>
            </a:r>
          </a:p>
        </p:txBody>
      </p:sp>
      <p:sp>
        <p:nvSpPr>
          <p:cNvPr id="11" name="Oval 10"/>
          <p:cNvSpPr/>
          <p:nvPr/>
        </p:nvSpPr>
        <p:spPr>
          <a:xfrm>
            <a:off x="896112" y="398678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858768"/>
            <a:ext cx="4764024"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MAP1LC3B — genome-wide significant for both tau spinal-fluid markers.</a:t>
            </a:r>
          </a:p>
        </p:txBody>
      </p:sp>
      <p:sp>
        <p:nvSpPr>
          <p:cNvPr id="13" name="Oval 12"/>
          <p:cNvSpPr/>
          <p:nvPr/>
        </p:nvSpPr>
        <p:spPr>
          <a:xfrm>
            <a:off x="896112" y="480974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4681728"/>
            <a:ext cx="4764024"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STAG3, ZNF652, PPP4C/SEPHS2, ZNF251 — new strong direct mappings.</a:t>
            </a:r>
          </a:p>
        </p:txBody>
      </p:sp>
      <p:sp>
        <p:nvSpPr>
          <p:cNvPr id="15" name="Rounded Rectangle 14"/>
          <p:cNvSpPr/>
          <p:nvPr/>
        </p:nvSpPr>
        <p:spPr>
          <a:xfrm>
            <a:off x="6263640" y="1389888"/>
            <a:ext cx="5321808" cy="420624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537960" y="1709928"/>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84264" y="1682496"/>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Artifacts to discount</a:t>
            </a:r>
          </a:p>
        </p:txBody>
      </p:sp>
      <p:sp>
        <p:nvSpPr>
          <p:cNvPr id="18" name="Oval 17"/>
          <p:cNvSpPr/>
          <p:nvPr/>
        </p:nvSpPr>
        <p:spPr>
          <a:xfrm>
            <a:off x="6556248" y="2340864"/>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9984" y="2212848"/>
            <a:ext cx="4672583"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33 driver windows are genome-wide significant for AD — but many share one lead variant with a famous neighbor.</a:t>
            </a:r>
          </a:p>
        </p:txBody>
      </p:sp>
      <p:sp>
        <p:nvSpPr>
          <p:cNvPr id="20" name="Oval 19"/>
          <p:cNvSpPr/>
          <p:nvPr/>
        </p:nvSpPr>
        <p:spPr>
          <a:xfrm>
            <a:off x="6556248" y="3163824"/>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9984" y="3035808"/>
            <a:ext cx="4672583"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MAP3K2's window (P = 6.5e-90) is BIN1's signal; TMEM259's window carries the RPS15-locus signal.</a:t>
            </a:r>
          </a:p>
        </p:txBody>
      </p:sp>
      <p:sp>
        <p:nvSpPr>
          <p:cNvPr id="22" name="Oval 21"/>
          <p:cNvSpPr/>
          <p:nvPr/>
        </p:nvSpPr>
        <p:spPr>
          <a:xfrm>
            <a:off x="6556248" y="3986783"/>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9984" y="3858768"/>
            <a:ext cx="4672583"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Five drivers around SHARPIN share a single variant.</a:t>
            </a:r>
          </a:p>
        </p:txBody>
      </p:sp>
      <p:sp>
        <p:nvSpPr>
          <p:cNvPr id="24" name="Oval 23"/>
          <p:cNvSpPr/>
          <p:nvPr/>
        </p:nvSpPr>
        <p:spPr>
          <a:xfrm>
            <a:off x="6556248" y="4809744"/>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29984" y="4681728"/>
            <a:ext cx="4672583" cy="8229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Gene-based tests, the next stage, separate these from real gene-level signals.</a:t>
            </a:r>
          </a:p>
        </p:txBody>
      </p:sp>
      <p:sp>
        <p:nvSpPr>
          <p:cNvPr id="26" name="TextBox 25"/>
          <p:cNvSpPr txBox="1"/>
          <p:nvPr/>
        </p:nvSpPr>
        <p:spPr>
          <a:xfrm>
            <a:off x="804672" y="585216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7E4C9A"/>
                </a:solidFill>
                <a:latin typeface="Arial"/>
              </a:rPr>
              <a:t>Window significance is not gene support — the strong direct mappings are the trustworthy new leads.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450" b="1" i="0" dirty="0">
                <a:solidFill>
                  <a:srgbClr val="0F233D"/>
                </a:solidFill>
                <a:latin typeface="Arial"/>
              </a:rPr>
              <a:t>Summary about what we know now,</a:t>
            </a:r>
            <a:r>
              <a:rPr sz="2450" b="1" i="0" dirty="0">
                <a:solidFill>
                  <a:srgbClr val="0F233D"/>
                </a:solidFill>
                <a:latin typeface="Arial"/>
              </a:rPr>
              <a:t> and what </a:t>
            </a:r>
            <a:r>
              <a:rPr lang="en-US" sz="2450" b="1" i="0" dirty="0">
                <a:solidFill>
                  <a:srgbClr val="0F233D"/>
                </a:solidFill>
                <a:latin typeface="Arial"/>
              </a:rPr>
              <a:t>is</a:t>
            </a:r>
            <a:r>
              <a:rPr sz="2450" b="1" i="0" dirty="0">
                <a:solidFill>
                  <a:srgbClr val="0F233D"/>
                </a:solidFill>
                <a:latin typeface="Arial"/>
              </a:rPr>
              <a:t> next</a:t>
            </a:r>
          </a:p>
        </p:txBody>
      </p:sp>
      <p:sp>
        <p:nvSpPr>
          <p:cNvPr id="3" name="Rounded Rectangle 2"/>
          <p:cNvSpPr/>
          <p:nvPr/>
        </p:nvSpPr>
        <p:spPr>
          <a:xfrm>
            <a:off x="603504" y="1188720"/>
            <a:ext cx="5440680" cy="46177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6968" y="15087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481328"/>
            <a:ext cx="47457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the evidence stands</a:t>
            </a:r>
          </a:p>
        </p:txBody>
      </p:sp>
      <p:sp>
        <p:nvSpPr>
          <p:cNvPr id="6" name="Oval 5"/>
          <p:cNvSpPr/>
          <p:nvPr/>
        </p:nvSpPr>
        <p:spPr>
          <a:xfrm>
            <a:off x="905256" y="2139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2011680"/>
            <a:ext cx="476402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APOE: strongest support — direct coding variant plus all three spinal-fluid biomarkers.</a:t>
            </a:r>
          </a:p>
        </p:txBody>
      </p:sp>
      <p:sp>
        <p:nvSpPr>
          <p:cNvPr id="8" name="Oval 7"/>
          <p:cNvSpPr/>
          <p:nvPr/>
        </p:nvSpPr>
        <p:spPr>
          <a:xfrm>
            <a:off x="905256" y="298094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852928"/>
            <a:ext cx="476402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PLCG2: the best new driver-genetics convergence.</a:t>
            </a:r>
          </a:p>
        </p:txBody>
      </p:sp>
      <p:sp>
        <p:nvSpPr>
          <p:cNvPr id="10" name="Oval 9"/>
          <p:cNvSpPr/>
          <p:nvPr/>
        </p:nvSpPr>
        <p:spPr>
          <a:xfrm>
            <a:off x="905256" y="382219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694176"/>
            <a:ext cx="476402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RPS15: unchanged — top driver, strong region, same-variant test still blocked.</a:t>
            </a:r>
          </a:p>
        </p:txBody>
      </p:sp>
      <p:sp>
        <p:nvSpPr>
          <p:cNvPr id="12" name="Oval 11"/>
          <p:cNvSpPr/>
          <p:nvPr/>
        </p:nvSpPr>
        <p:spPr>
          <a:xfrm>
            <a:off x="905256" y="466344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4535424"/>
            <a:ext cx="476402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WDR82, HGSNAT, TTC8: no common-variant support; BEX3 untestable (X chromosome).</a:t>
            </a:r>
          </a:p>
        </p:txBody>
      </p:sp>
      <p:sp>
        <p:nvSpPr>
          <p:cNvPr id="14" name="Rounded Rectangle 13"/>
          <p:cNvSpPr/>
          <p:nvPr/>
        </p:nvSpPr>
        <p:spPr>
          <a:xfrm>
            <a:off x="6309360" y="1188720"/>
            <a:ext cx="5285232" cy="46177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92824" y="150876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1481328"/>
            <a:ext cx="459028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Next steps, in order</a:t>
            </a:r>
          </a:p>
        </p:txBody>
      </p:sp>
      <p:sp>
        <p:nvSpPr>
          <p:cNvPr id="17" name="Oval 16"/>
          <p:cNvSpPr/>
          <p:nvPr/>
        </p:nvSpPr>
        <p:spPr>
          <a:xfrm>
            <a:off x="6611112"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4848" y="2011680"/>
            <a:ext cx="462686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Gene-based tests across all drivers and traits — resolves the shared-locus windows.</a:t>
            </a:r>
          </a:p>
        </p:txBody>
      </p:sp>
      <p:sp>
        <p:nvSpPr>
          <p:cNvPr id="19" name="Oval 18"/>
          <p:cNvSpPr/>
          <p:nvPr/>
        </p:nvSpPr>
        <p:spPr>
          <a:xfrm>
            <a:off x="6611112" y="29809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852928"/>
            <a:ext cx="462686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Brain QTL routes for the replicated and recurrent drivers.</a:t>
            </a:r>
          </a:p>
        </p:txBody>
      </p:sp>
      <p:sp>
        <p:nvSpPr>
          <p:cNvPr id="21" name="Oval 20"/>
          <p:cNvSpPr/>
          <p:nvPr/>
        </p:nvSpPr>
        <p:spPr>
          <a:xfrm>
            <a:off x="6611112" y="382219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3694176"/>
            <a:ext cx="462686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Same-variant tests wherever complete public models and matched references exist.</a:t>
            </a:r>
          </a:p>
        </p:txBody>
      </p:sp>
      <p:sp>
        <p:nvSpPr>
          <p:cNvPr id="23" name="Oval 22"/>
          <p:cNvSpPr/>
          <p:nvPr/>
        </p:nvSpPr>
        <p:spPr>
          <a:xfrm>
            <a:off x="6611112" y="46634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84848" y="4535424"/>
            <a:ext cx="4626864" cy="8412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Protein-level, rare-variant, and sex/APOE-interaction designs afterward.</a:t>
            </a:r>
          </a:p>
        </p:txBody>
      </p:sp>
      <p:sp>
        <p:nvSpPr>
          <p:cNvPr id="25" name="TextBox 24"/>
          <p:cNvSpPr txBox="1"/>
          <p:nvPr/>
        </p:nvSpPr>
        <p:spPr>
          <a:xfrm>
            <a:off x="804672" y="603504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00" b="1" i="0">
                <a:solidFill>
                  <a:srgbClr val="7E4C9A"/>
                </a:solidFill>
                <a:latin typeface="Arial"/>
              </a:rPr>
              <a:t>Breadth is done — every driver is screened. Depth decides which of the new leads survive.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2774</Words>
  <Application>Microsoft Macintosh PowerPoint</Application>
  <PresentationFormat>Widescreen</PresentationFormat>
  <Paragraphs>257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genetic support for the key drivers</dc:title>
  <dc:subject>Public-data genetic evidence for the key drivers from the network key-driver (KDA) analysis</dc:subject>
  <dc:creator>Alzheimer project analysis team</dc:creator>
  <cp:keywords/>
  <dc:description>generated using python-pptx</dc:description>
  <cp:lastModifiedBy>Richard Zhuang</cp:lastModifiedBy>
  <cp:revision>13</cp:revision>
  <dcterms:created xsi:type="dcterms:W3CDTF">2026-08-29T21:59:13Z</dcterms:created>
  <dcterms:modified xsi:type="dcterms:W3CDTF">2026-08-30T00:27:52Z</dcterms:modified>
  <cp:category/>
  <dc:language>en-US</dc:language>
</cp:coreProperties>
</file>