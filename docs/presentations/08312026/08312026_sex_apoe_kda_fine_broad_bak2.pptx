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3" r:id="rId7"/>
    <p:sldId id="262" r:id="rId8"/>
    <p:sldId id="287" r:id="rId9"/>
    <p:sldId id="268" r:id="rId10"/>
    <p:sldId id="269" r:id="rId11"/>
    <p:sldId id="270" r:id="rId12"/>
    <p:sldId id="272" r:id="rId13"/>
    <p:sldId id="273" r:id="rId14"/>
    <p:sldId id="271" r:id="rId15"/>
    <p:sldId id="274" r:id="rId16"/>
    <p:sldId id="275" r:id="rId17"/>
    <p:sldId id="276" r:id="rId18"/>
    <p:sldId id="277" r:id="rId19"/>
    <p:sldId id="278" r:id="rId20"/>
    <p:sldId id="279" r:id="rId21"/>
    <p:sldId id="281" r:id="rId22"/>
    <p:sldId id="282" r:id="rId23"/>
    <p:sldId id="283" r:id="rId24"/>
    <p:sldId id="284" r:id="rId25"/>
    <p:sldId id="285" r:id="rId26"/>
    <p:sldId id="28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30"/>
    <p:restoredTop sz="94653"/>
  </p:normalViewPr>
  <p:slideViewPr>
    <p:cSldViewPr snapToGrid="0" snapToObjects="1">
      <p:cViewPr varScale="1">
        <p:scale>
          <a:sx n="146" d="100"/>
          <a:sy n="146" d="100"/>
        </p:scale>
        <p:origin x="184" y="2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1913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two Phase 20 branches and signal that they use different evidence structures.</a:t>
            </a:r>
          </a:p>
          <a:p>
            <a:endParaRPr/>
          </a:p>
          <a:p>
            <a:r>
              <a:t>Walk through: The fine-cell branch starts with many fine-cell and direction-specific KDA runs and reaggregates them within sex/APOE by broad-network categories. The broad branch starts from donor-level broad-cell DEGs and runs direct direction-specific KDA without ACAT.</a:t>
            </a:r>
          </a:p>
          <a:p>
            <a:endParaRPr/>
          </a:p>
          <a:p>
            <a:r>
              <a:t>Scientific boundary: The two candidate counts are not interchangeable because one is a gene-by-category aggregate unit and the other is a direct gene-by-run row.</a:t>
            </a:r>
          </a:p>
          <a:p>
            <a:endParaRPr/>
          </a:p>
          <a:p>
            <a:r>
              <a:t>Transition: First compare the branches at a glance, then unpack every reduction step separately.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Give the audience a mental map before the detailed funnels.</a:t>
            </a:r>
          </a:p>
          <a:p>
            <a:endParaRPr/>
          </a:p>
          <a:p>
            <a:r>
              <a:t>Walk through: The left card describes cross-run reaggregation from 295 fine-cell runs. The right card describes three direct broad-cell runs. The starting queries are related, but the final units, multiplicity corrections, and interpretation differ.</a:t>
            </a:r>
          </a:p>
          <a:p>
            <a:endParaRPr/>
          </a:p>
          <a:p>
            <a:r>
              <a:t>Scientific boundary: A missing broad candidate is not equivalent to absence from an ACAT aggregate, and a fine candidate unit is not one independent gene-level experiment.</a:t>
            </a:r>
          </a:p>
          <a:p>
            <a:endParaRPr/>
          </a:p>
          <a:p>
            <a:r>
              <a:t>Transition: Begin Part I by defining the counting units used in the fine-cell branch.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fine-cell branch and its sequence from setup to results.</a:t>
            </a:r>
          </a:p>
          <a:p>
            <a:endParaRPr/>
          </a:p>
          <a:p>
            <a:r>
              <a:t>Walk through: The section first defines comparisons, directional slots, KDA calls, included runs, and final candidate units. It then explains DEG construction, run eligibility, complete evidence, coverage, support, ACAT, category BH, and display-only ranking.</a:t>
            </a:r>
          </a:p>
          <a:p>
            <a:endParaRPr/>
          </a:p>
          <a:p>
            <a:r>
              <a:t>Scientific boundary: The branch reconstructs complete evidence from the validated Phase 12 calls at effective query n ≥ 3; it does not rerun KDA or pool sex/APOE groups.</a:t>
            </a:r>
          </a:p>
          <a:p>
            <a:endParaRPr/>
          </a:p>
          <a:p>
            <a:r>
              <a:t>Transition: Start with the four counting units that appear in the funnel.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Separate the comparison, slot, run, and candidate-unit concepts before showing counts.</a:t>
            </a:r>
          </a:p>
          <a:p>
            <a:endParaRPr/>
          </a:p>
          <a:p>
            <a:r>
              <a:t>Walk through: Move from left to right. A comparison is one model result. Its sign creates two planned slots. A slot becomes a KDA call when at least three effective query genes remain, and every validated completed call at that execution floor enters the cross-run aggregate. The final unit adds gene identity to group and broad network.</a:t>
            </a:r>
          </a:p>
          <a:p>
            <a:endParaRPr/>
          </a:p>
          <a:p>
            <a:r>
              <a:t>Scientific boundary: The word candidate does not mean mitochondrial DEG. Candidate drivers may be non-DEG, non-mitochondrial network genes.</a:t>
            </a:r>
          </a:p>
          <a:p>
            <a:endParaRPr/>
          </a:p>
          <a:p>
            <a:r>
              <a:t>Transition: Apply those definitions to the complete 648-slot run universe.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Show exactly how 648 planned slots become 295 included KDA runs.</a:t>
            </a:r>
          </a:p>
          <a:p>
            <a:endParaRPr/>
          </a:p>
          <a:p>
            <a:r>
              <a:t>Walk through: The rows are mutually exclusive outcomes derived from the canonical source manifest. Phase 12 calls KDA when at least three effective query genes remain. All 295 completed calls enter Phase 20, including 134 calls with query size three through nine and 161 with at least ten genes.</a:t>
            </a:r>
          </a:p>
          <a:p>
            <a:endParaRPr/>
          </a:p>
          <a:p>
            <a:r>
              <a:t>Scientific boundary: The 6 unavailable slots come from three non-estimable source contrasts times two directions. They are unavailable models, not completed tests with null results. The effective-query-zero row combines absent directional queries and complete loss during network mapping.</a:t>
            </a:r>
          </a:p>
          <a:p>
            <a:endParaRPr/>
          </a:p>
          <a:p>
            <a:r>
              <a:t>Transition: Zoom out once to see how the counting unit changes through the full fine-cell funnel.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Clarify the eligibility statuses and the canonical minimum of three effective query genes.</a:t>
            </a:r>
          </a:p>
          <a:p>
            <a:endParaRPr/>
          </a:p>
          <a:p>
            <a:r>
              <a:t>Walk through: A query of at least three genes allows the Phase 12 call and Phase 20 inclusion. The 134 calls with three through nine genes retain Phase 12's below-ten warning but are included alongside the 161 larger-query calls. The right panel gives the three concrete non-estimable comparisons and shows why they create six unavailable direction slots.</a:t>
            </a:r>
          </a:p>
          <a:p>
            <a:endParaRPr/>
          </a:p>
          <a:p>
            <a:r>
              <a:t>Scientific boundary: Small-query calls use the same KDA and support predicates as larger-query calls, but their smaller queries warrant cautious interpretation. Non-estimability is a data/model condition, not evidence against a biological effect.</a:t>
            </a:r>
          </a:p>
          <a:p>
            <a:endParaRPr/>
          </a:p>
          <a:p>
            <a:r>
              <a:t>Transition: With 295 runs fixed, inspect what one KDA call actually tests.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how the mitochondrial KDA query is derived from the full fine-cell DEG analysis.</a:t>
            </a:r>
          </a:p>
          <a:p>
            <a:endParaRPr/>
          </a:p>
          <a:p>
            <a:r>
              <a:t>Walk through: The paper-DEG filters first act within each fine-cell by group comparison. Only passing core mitochondrial proteins in the requested sign become provisional query memberships. The matching broad network is induced on genes tested in that contrast, so out-of-background query memberships are removed before run eligibility is assessed.</a:t>
            </a:r>
          </a:p>
          <a:p>
            <a:endParaRPr/>
          </a:p>
          <a:p>
            <a:r>
              <a:t>Scientific boundary: These are membership counts, not unique-gene counts. A query membership also does not mean the gene will be a candidate driver.</a:t>
            </a:r>
          </a:p>
          <a:p>
            <a:endParaRPr/>
          </a:p>
          <a:p>
            <a:r>
              <a:t>Transition: Next distinguish source failure, an empty effective query, a one- or two-gene query, and the canonical three-gene execution floor.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the individual-run evidence requirement that accompanies cross-run ACAT.</a:t>
            </a:r>
          </a:p>
          <a:p>
            <a:endParaRPr/>
          </a:p>
          <a:p>
            <a:r>
              <a:t>Walk through: The other_query_overlap, fold-enrichment, and final_run_q gates must all pass in one explicit run. The sub-funnel starts from all non-MT explicit tests and ends with 864 supporting gene-by-run events, which collapse to 501 category units before coverage removes one.</a:t>
            </a:r>
          </a:p>
          <a:p>
            <a:endParaRPr/>
          </a:p>
          <a:p>
            <a:r>
              <a:t>Scientific boundary: The support field is reconstructed final_run_q from each run's full explicit family and validated against Phase 12 published returns. It is distinct from original_run_q and from the category q obtained after ACAT and category-specific BH correction.</a:t>
            </a:r>
          </a:p>
          <a:p>
            <a:endParaRPr/>
          </a:p>
          <a:p>
            <a:r>
              <a:t>Transition: Now combine all usable raw P values and explain how the category q is formed.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Separate ACAT combination from the subsequent BH correction that creates the category q value.</a:t>
            </a:r>
          </a:p>
          <a:p>
            <a:endParaRPr/>
          </a:p>
          <a:p>
            <a:r>
              <a:t>Walk through: For each gene-category unit, ACAT combines all usable final_raw_p values, including implicit P equals one rows. Missing backgrounds are omitted. The 233,368 coverage-qualified units are partitioned into 38 category-specific BH families, and BH is applied across the genes within each category.</a:t>
            </a:r>
          </a:p>
          <a:p>
            <a:endParaRPr/>
          </a:p>
          <a:p>
            <a:r>
              <a:t>Scientific boundary: ACAT does not combine run-level q values. The BH family is not restricted to genes that already passed the support gate.</a:t>
            </a:r>
          </a:p>
          <a:p>
            <a:endParaRPr/>
          </a:p>
          <a:p>
            <a:r>
              <a:t>Transition: Apply coverage, support, and category-q thresholds to define relaxed, strict, and exploratory outputs.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Define the main, strict-reference, and exploratory thresholds and their yields.</a:t>
            </a:r>
          </a:p>
          <a:p>
            <a:endParaRPr/>
          </a:p>
          <a:p>
            <a:r>
              <a:t>Walk through: The relaxed and strict funnels use parallel coverage, supporting-run, and category-q thresholds. All 58 strict units are contained within the 74 relaxed units. Exploratory-only leads pass the relaxed availability and support gates but have category q between 0.10 and 0.20.</a:t>
            </a:r>
          </a:p>
          <a:p>
            <a:endParaRPr/>
          </a:p>
          <a:p>
            <a:r>
              <a:t>Scientific boundary: Top-five and top-ten flags change presentation only. Stability labels also characterize evidence but do not remove rows from the 74-candidate main list.</a:t>
            </a:r>
          </a:p>
          <a:p>
            <a:endParaRPr/>
          </a:p>
          <a:p>
            <a:r>
              <a:t>Transition: Summarize what the 74 final units represent before showing the two requested figures.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the requested fine-cell driver-recurrence figure without confusing categories and runs.</a:t>
            </a:r>
          </a:p>
          <a:p>
            <a:endParaRPr/>
          </a:p>
          <a:p>
            <a:r>
              <a:t>Walk through: The bar reports how many final sex/APOE by broad-network categories contain a relaxed candidate unit for the gene. The fill records strict-category count. RPL11 appears in 7 final categories and RPS15 in 6; the next tier contains genes recurring in three categories.</a:t>
            </a:r>
          </a:p>
          <a:p>
            <a:endParaRPr/>
          </a:p>
          <a:p>
            <a:r>
              <a:t>Scientific boundary: The chart does not count significant fine-cell runs and does not test heterogeneity or consistency across sex/APOE groups.</a:t>
            </a:r>
          </a:p>
          <a:p>
            <a:endParaRPr/>
          </a:p>
          <a:p>
            <a:r>
              <a:t>Transition: The next requested figure shows the ranked presentation subset within supported categories.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the requested fine-cell top-five tile chart and its ranking rules.</a:t>
            </a:r>
          </a:p>
          <a:p>
            <a:endParaRPr/>
          </a:p>
          <a:p>
            <a:r>
              <a:t>Walk through: Each row is one supported sex/APOE by broad-network category. Candidates are ordered using stored relaxed rank, which follows category q, ACAT P, and gene symbol. At most five are displayed, producing 48 tiles across 16 categories.</a:t>
            </a:r>
          </a:p>
          <a:p>
            <a:endParaRPr/>
          </a:p>
          <a:p>
            <a:r>
              <a:t>Scientific boundary: A blank tile is not backfilled with a failing gene. The plot shows 16 candidate-bearing categories; it omits 22 analyzable categories with no candidate and 4 categories with no included run.</a:t>
            </a:r>
          </a:p>
          <a:p>
            <a:endParaRPr/>
          </a:p>
          <a:p>
            <a:r>
              <a:t>Transition: Part II repeats the setup and funnel explanation for the direct broad-cell branch.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Translate the 74 candidate units into distinct genes, categories, strict support, and display counts.</a:t>
            </a:r>
          </a:p>
          <a:p>
            <a:endParaRPr/>
          </a:p>
          <a:p>
            <a:r>
              <a:t>Walk through: A single gene can occupy more than one category, so 74 units reduce to 37 unique symbols. The visible distributions show where candidate units occur, while the recurrence preview shows which genes appear across the largest number of final categories.</a:t>
            </a:r>
          </a:p>
          <a:p>
            <a:endParaRPr/>
          </a:p>
          <a:p>
            <a:r>
              <a:t>Scientific boundary: Category counts are descriptive and are influenced by unequal included-run availability. They are not tests that one group or network has more biology than another.</a:t>
            </a:r>
          </a:p>
          <a:p>
            <a:endParaRPr/>
          </a:p>
          <a:p>
            <a:r>
              <a:t>Transition: The recurrence figure now displays the top 20 genes by category count.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broad-cell branch as a direct, within-run analysis rather than a reaggregation.</a:t>
            </a:r>
          </a:p>
          <a:p>
            <a:endParaRPr/>
          </a:p>
          <a:p>
            <a:r>
              <a:t>Walk through: This section repeats the setup-to-results sequence for the broad-cell production release. It explains the 42 donor-level DEG contrasts, their 84 directional slots, query formation, the three completed KDA runs, within-run multiplicity correction, and the twelve direct candidate rows.</a:t>
            </a:r>
          </a:p>
          <a:p>
            <a:endParaRPr/>
          </a:p>
          <a:p>
            <a:r>
              <a:t>Scientific boundary: The broad branch does not pool runs with ACAT, calculate cross-run coverage, or require recurrence across broad-cell categories.</a:t>
            </a:r>
          </a:p>
          <a:p>
            <a:endParaRPr/>
          </a:p>
          <a:p>
            <a:r>
              <a:t>Transition: Begin by defining the direct branch's counting units and why its final rows differ from the fine-cell units.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Define the four broad-branch units before presenting the numerical funnel.</a:t>
            </a:r>
          </a:p>
          <a:p>
            <a:endParaRPr/>
          </a:p>
          <a:p>
            <a:r>
              <a:t>Walk through: A donor-level broad-cell model supplies an AD-versus-NCI stratum contrast, whose sign creates two potential core-mitochondrial queries. A slot is called only when at least three query genes remain. Every selected row stays linked to one broad cell type, group, and direction.</a:t>
            </a:r>
          </a:p>
          <a:p>
            <a:endParaRPr/>
          </a:p>
          <a:p>
            <a:r>
              <a:t>Scientific boundary: No candidate row combines an up and down direction or borrows evidence from another broad cell type or group.</a:t>
            </a:r>
          </a:p>
          <a:p>
            <a:endParaRPr/>
          </a:p>
          <a:p>
            <a:r>
              <a:t>Transition: Use those definitions to partition all 84 planned directional slots.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Show exactly how 84 planned broad directional slots become three completed KDA runs.</a:t>
            </a:r>
          </a:p>
          <a:p>
            <a:endParaRPr/>
          </a:p>
          <a:p>
            <a:r>
              <a:t>Walk through: The five outcomes are mutually exclusive. Four slots inherit two non-estimable source contrasts. Sixty-one have no provisional directional core-MT query, four lose every query gene during network mapping, and twelve retain only one or two genes. The remaining three meet the direct minimum of three genes.</a:t>
            </a:r>
          </a:p>
          <a:p>
            <a:endParaRPr/>
          </a:p>
          <a:p>
            <a:r>
              <a:t>Scientific boundary: A skipped slot has no KDA result. It must not be counted as a completed null run or assigned an artificial p value.</a:t>
            </a:r>
          </a:p>
          <a:p>
            <a:endParaRPr/>
          </a:p>
          <a:p>
            <a:r>
              <a:t>Transition: Zoom out to the two-stage broad funnel: first construct runs, then select genes within each completed run.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Give a complete overview of broad run construction and direct candidate selection.</a:t>
            </a:r>
          </a:p>
          <a:p>
            <a:endParaRPr/>
          </a:p>
          <a:p>
            <a:r>
              <a:t>Walk through: The top row shows how source estimability, DEG query availability, network mapping, and the minimum effective query size leave three runs. The lower row begins from all explicit KDA-tested rows, removes core mitochondrial proteins, and then applies support, enrichment, and within-run q thresholds.</a:t>
            </a:r>
          </a:p>
          <a:p>
            <a:endParaRPr/>
          </a:p>
          <a:p>
            <a:r>
              <a:t>Scientific boundary: Percentages should be calculated only within a row and with the correct denominator. The transition from three runs to 377 rows changes the counting unit.</a:t>
            </a:r>
          </a:p>
          <a:p>
            <a:endParaRPr/>
          </a:p>
          <a:p>
            <a:r>
              <a:t>Transition: Return to the source model to explain how donor-level DEGs become provisional broad queries.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both source estimability and gene-level DEG filtering in the broad branch.</a:t>
            </a:r>
          </a:p>
          <a:p>
            <a:endParaRPr/>
          </a:p>
          <a:p>
            <a:r>
              <a:t>Walk through: One joint edgeR model is fit per broad cell type, with donor-level pseudobulk samples as replicates. filterByExpr defines the tested universe before up to six stratum contrasts are evaluated. Relaxed thresholds yield 2,336 signed memberships; the core-MT intersection yields 65, and network mapping removes 30.</a:t>
            </a:r>
          </a:p>
          <a:p>
            <a:endParaRPr/>
          </a:p>
          <a:p>
            <a:r>
              <a:t>Scientific boundary: Two vascular contrasts fail donor-count eligibility even though the shared vascular model fits; they create four unavailable directions. Broad-cell changes can also mix expression shifts within fine types with fine-type composition shifts.</a:t>
            </a:r>
          </a:p>
          <a:p>
            <a:endParaRPr/>
          </a:p>
          <a:p>
            <a:r>
              <a:t>Transition: Inspect the three surviving directional queries and their exact KDA accounting.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Make the three completed broad runs and their query sizes concrete.</a:t>
            </a:r>
          </a:p>
          <a:p>
            <a:endParaRPr/>
          </a:p>
          <a:p>
            <a:r>
              <a:t>Walk through: The table traces provisional core-MT memberships through network mapping, then shows each matching background, explicit-test family, and relaxed-candidate yield. Both Phase 20 branches use the validated execution floor of three effective query genes; the direct n=3 and n=4 runs retain their small-query caution labels.</a:t>
            </a:r>
          </a:p>
          <a:p>
            <a:endParaRPr/>
          </a:p>
          <a:p>
            <a:r>
              <a:t>Scientific boundary: The n=3 and n=4 runs remain labeled small_query_3_9 and warrant extra caution. Astrocytes M_e33 is not a failure: it completed, produced explicit tests, and simply has no row at q≤0.10.</a:t>
            </a:r>
          </a:p>
          <a:p>
            <a:endParaRPr/>
          </a:p>
          <a:p>
            <a:r>
              <a:t>Transition: Explain what the 377 explicit tests represent and why broad multiplicity correction stays within run.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every direct broad candidate gate and its numerical effect.</a:t>
            </a:r>
          </a:p>
          <a:p>
            <a:endParaRPr/>
          </a:p>
          <a:p>
            <a:r>
              <a:t>Walk through: Core-MT genes are first removed to define the inferential family. Fifteen of 362 non-core-MT rows overlap at least two query genes; all fifteen have enrichment above one. Twelve pass q≤0.10 and nine pass q≤0.05. BH was computed across each full non-core-MT run family before these gates.</a:t>
            </a:r>
          </a:p>
          <a:p>
            <a:endParaRPr/>
          </a:p>
          <a:p>
            <a:r>
              <a:t>Scientific boundary: NCOA1 is labeled mitochondrial-extended but is not a core mitochondrial protein, so it legitimately remains in the non-core-MT candidate universe.</a:t>
            </a:r>
          </a:p>
          <a:p>
            <a:endParaRPr/>
          </a:p>
          <a:p>
            <a:r>
              <a:t>Transition: Name the supported genes and separate strict rows, relaxed-only rows, and the completed-empty run.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List every supported broad candidate and make the tier distinction explicit.</a:t>
            </a:r>
          </a:p>
          <a:p>
            <a:endParaRPr/>
          </a:p>
          <a:p>
            <a:r>
              <a:t>Walk through: The Astrocytes F_e4 run contributes two strict candidates. Astrocytes M_e33 is a valid completed-empty run. OPCs F_e4 contributes ten relaxed candidates: seven strict and three relaxed-only. Because the two candidate-bearing runs share no gene, twelve rows also equal twelve unique symbols.</a:t>
            </a:r>
          </a:p>
          <a:p>
            <a:endParaRPr/>
          </a:p>
          <a:p>
            <a:r>
              <a:t>Scientific boundary: AD-down identifies the mitochondrial query direction. It does not assert that the candidate driver itself is downregulated or is a DEG.</a:t>
            </a:r>
          </a:p>
          <a:p>
            <a:endParaRPr/>
          </a:p>
          <a:p>
            <a:r>
              <a:t>Transition: Use the requested recurrence-style figure to show that q strength, rather than cross-run recurrence, differentiates these genes.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the requested broad recurrence-style figure without implying cross-run recurrence.</a:t>
            </a:r>
          </a:p>
          <a:p>
            <a:endParaRPr/>
          </a:p>
          <a:p>
            <a:r>
              <a:t>Walk through: All twelve candidate symbols are unique to one candidate-bearing run. Bar length shows minus log ten of recomputed within-run q; run headings separate Astrocytes F_e4 and OPCs F_e4. Blue bars pass strict q≤0.05, while hatched orange bars are relaxed-only.</a:t>
            </a:r>
          </a:p>
          <a:p>
            <a:endParaRPr/>
          </a:p>
          <a:p>
            <a:r>
              <a:t>Scientific boundary: This is not evidence that candidates reproduce across groups, directions, or networks, and no recurrence threshold enters the broad candidate definition.</a:t>
            </a:r>
          </a:p>
          <a:p>
            <a:endParaRPr/>
          </a:p>
          <a:p>
            <a:r>
              <a:t>Transition: The next requested figure applies the display-only top-five limit within each completed broad-cell × group × direction run.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the requested broad top-five tile chart and its blank completed run.</a:t>
            </a:r>
          </a:p>
          <a:p>
            <a:endParaRPr/>
          </a:p>
          <a:p>
            <a:r>
              <a:t>Walk through: The figure keeps one row for each completed broad-cell by group by direction run. Astrocytes F_e4 contributes two tiles, Astrocytes M_e33 stays blank, and OPCs F_e4 contributes its first five ranks. Ranking uses q, raw P, larger overlap, larger fold enrichment, then symbol.</a:t>
            </a:r>
          </a:p>
          <a:p>
            <a:endParaRPr/>
          </a:p>
          <a:p>
            <a:r>
              <a:t>Scientific boundary: Only five of the ten relaxed OPC candidates are visible. The remaining five are not removed from the production candidate table, and the blank row is not filled with a q-failing gene.</a:t>
            </a:r>
          </a:p>
          <a:p>
            <a:endParaRPr/>
          </a:p>
          <a:p>
            <a:r>
              <a:t>Transition: Close by comparing the two branches filter by filter and stating what may be concluded from each.</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Put every potentially confusing term side by side across the two branches.</a:t>
            </a:r>
          </a:p>
          <a:p>
            <a:endParaRPr/>
          </a:p>
          <a:p>
            <a:r>
              <a:t>Walk through: The comparison highlights the shared directional query construction and minimum effective query size of three, then shows where the branches diverge. Fine analysis retains all 295 completed directional calls and creates complete cross-run evidence for ACAT: explicit tests, implicit P=1 rows, and absent-from-background states. Broad analysis retains its three direct runs and controls multiplicity within each explicit family.</a:t>
            </a:r>
          </a:p>
          <a:p>
            <a:endParaRPr/>
          </a:p>
          <a:p>
            <a:r>
              <a:t>Scientific boundary: The final counts should never be pooled, ranked against each other, or interpreted as equivalent evidence units.</a:t>
            </a:r>
          </a:p>
          <a:p>
            <a:endParaRPr/>
          </a:p>
          <a:p>
            <a:r>
              <a:t>Transition: End with the core interpretation rules and the exact production artifacts that support the deck.</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Leave the audience with four interpretation rules and a compact audit-source map.</a:t>
            </a:r>
          </a:p>
          <a:p>
            <a:endParaRPr/>
          </a:p>
          <a:p>
            <a:r>
              <a:t>Walk through: Reinforce that run, query, and candidate are different objects. Then emphasize that q values are branch-specific, and that unavailable, skipped, completed-empty, and statistically filtered outcomes must stay distinct. The source card identifies the central production tables behind all stated counts.</a:t>
            </a:r>
          </a:p>
          <a:p>
            <a:endParaRPr/>
          </a:p>
          <a:p>
            <a:r>
              <a:t>Scientific boundary: The deck summarizes association and network-enrichment evidence. It does not establish causal regulation or formal sex-by-APOE interaction effects.</a:t>
            </a:r>
          </a:p>
          <a:p>
            <a:endParaRPr/>
          </a:p>
          <a:p>
            <a:r>
              <a:t>Transition: Use the linked production tables for row-level follow-up and the canonical PNG bundles for figure-specific provenance.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p:cNvSpPr txBox="1"/>
          <p:nvPr/>
        </p:nvSpPr>
        <p:spPr>
          <a:xfrm>
            <a:off x="713232" y="1097280"/>
            <a:ext cx="10287000" cy="126187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400" b="1" i="0">
                <a:solidFill>
                  <a:srgbClr val="FFFFFF"/>
                </a:solidFill>
                <a:latin typeface="Arial"/>
              </a:rPr>
              <a:t>Fine-cell and broad-cell sex/APOE key-driver analysis</a:t>
            </a:r>
          </a:p>
        </p:txBody>
      </p:sp>
      <p:sp>
        <p:nvSpPr>
          <p:cNvPr id="4" name="TextBox 3"/>
          <p:cNvSpPr txBox="1"/>
          <p:nvPr/>
        </p:nvSpPr>
        <p:spPr>
          <a:xfrm>
            <a:off x="749808" y="2487168"/>
            <a:ext cx="9875520"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0" i="0">
                <a:solidFill>
                  <a:srgbClr val="CCDBEA"/>
                </a:solidFill>
                <a:latin typeface="Arial"/>
              </a:rPr>
              <a:t>How mitochondrial DEG queries become non-core-MT network-driver candidates</a:t>
            </a:r>
          </a:p>
        </p:txBody>
      </p:sp>
      <p:sp>
        <p:nvSpPr>
          <p:cNvPr id="5" name="Rounded Rectangle 4"/>
          <p:cNvSpPr/>
          <p:nvPr/>
        </p:nvSpPr>
        <p:spPr>
          <a:xfrm>
            <a:off x="749808" y="3364992"/>
            <a:ext cx="5230368" cy="1874519"/>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3639312"/>
            <a:ext cx="1005840" cy="2103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56B4E9"/>
                </a:solidFill>
                <a:latin typeface="Arial"/>
              </a:rPr>
              <a:t>PART I</a:t>
            </a:r>
          </a:p>
        </p:txBody>
      </p:sp>
      <p:sp>
        <p:nvSpPr>
          <p:cNvPr id="7" name="TextBox 6"/>
          <p:cNvSpPr txBox="1"/>
          <p:nvPr/>
        </p:nvSpPr>
        <p:spPr>
          <a:xfrm>
            <a:off x="1005840" y="3941063"/>
            <a:ext cx="4343400"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200" b="1" i="0">
                <a:solidFill>
                  <a:srgbClr val="FFFFFF"/>
                </a:solidFill>
                <a:latin typeface="Arial"/>
              </a:rPr>
              <a:t>Fine-cell reaggregation</a:t>
            </a:r>
          </a:p>
        </p:txBody>
      </p:sp>
      <p:sp>
        <p:nvSpPr>
          <p:cNvPr id="8" name="TextBox 7"/>
          <p:cNvSpPr txBox="1"/>
          <p:nvPr/>
        </p:nvSpPr>
        <p:spPr>
          <a:xfrm>
            <a:off x="1005840" y="4453128"/>
            <a:ext cx="441655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0" i="0">
                <a:solidFill>
                  <a:srgbClr val="D2E0EE"/>
                </a:solidFill>
                <a:latin typeface="Arial"/>
              </a:rPr>
              <a:t>295 included runs → coverage + support + ACAT → 74 candidate units</a:t>
            </a:r>
          </a:p>
        </p:txBody>
      </p:sp>
      <p:sp>
        <p:nvSpPr>
          <p:cNvPr id="9" name="Rounded Rectangle 8"/>
          <p:cNvSpPr/>
          <p:nvPr/>
        </p:nvSpPr>
        <p:spPr>
          <a:xfrm>
            <a:off x="6199632" y="3364992"/>
            <a:ext cx="5230368" cy="1874519"/>
          </a:xfrm>
          <a:prstGeom prst="roundRect">
            <a:avLst/>
          </a:prstGeom>
          <a:solidFill>
            <a:srgbClr val="1E3B5B"/>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55664" y="3639312"/>
            <a:ext cx="1005840" cy="2103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PART II</a:t>
            </a:r>
          </a:p>
        </p:txBody>
      </p:sp>
      <p:sp>
        <p:nvSpPr>
          <p:cNvPr id="11" name="TextBox 10"/>
          <p:cNvSpPr txBox="1"/>
          <p:nvPr/>
        </p:nvSpPr>
        <p:spPr>
          <a:xfrm>
            <a:off x="6455664" y="3941063"/>
            <a:ext cx="4389120"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200" b="1" i="0">
                <a:solidFill>
                  <a:srgbClr val="FFFFFF"/>
                </a:solidFill>
                <a:latin typeface="Arial"/>
              </a:rPr>
              <a:t>Direct broad-cell KDA</a:t>
            </a:r>
          </a:p>
        </p:txBody>
      </p:sp>
      <p:sp>
        <p:nvSpPr>
          <p:cNvPr id="12" name="TextBox 11"/>
          <p:cNvSpPr txBox="1"/>
          <p:nvPr/>
        </p:nvSpPr>
        <p:spPr>
          <a:xfrm>
            <a:off x="6455664" y="4453128"/>
            <a:ext cx="441655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0" i="0">
                <a:solidFill>
                  <a:srgbClr val="D2E0EE"/>
                </a:solidFill>
                <a:latin typeface="Arial"/>
              </a:rPr>
              <a:t>3 completed runs → within-run BH → 12 direct candidate rows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Two branches answer related—but not identical—questions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Both start with mitochondrial DEG queries; only the fine-cell branch combines evidence across runs.</a:t>
            </a:r>
          </a:p>
        </p:txBody>
      </p:sp>
      <p:sp>
        <p:nvSpPr>
          <p:cNvPr id="5" name="Rounded Rectangle 4"/>
          <p:cNvSpPr/>
          <p:nvPr/>
        </p:nvSpPr>
        <p:spPr>
          <a:xfrm>
            <a:off x="585216" y="1335024"/>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27632"/>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72B2"/>
                </a:solidFill>
                <a:latin typeface="Arial"/>
              </a:rPr>
              <a:t>FINE-CELL REAGGREGATION</a:t>
            </a:r>
          </a:p>
        </p:txBody>
      </p:sp>
      <p:sp>
        <p:nvSpPr>
          <p:cNvPr id="7" name="TextBox 6"/>
          <p:cNvSpPr txBox="1"/>
          <p:nvPr/>
        </p:nvSpPr>
        <p:spPr>
          <a:xfrm>
            <a:off x="868680" y="1938528"/>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Where does a gene recur across fine-cell evidence?</a:t>
            </a:r>
          </a:p>
        </p:txBody>
      </p:sp>
      <p:sp>
        <p:nvSpPr>
          <p:cNvPr id="8" name="Rounded Rectangle 7"/>
          <p:cNvSpPr/>
          <p:nvPr/>
        </p:nvSpPr>
        <p:spPr>
          <a:xfrm>
            <a:off x="86868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648</a:t>
            </a:r>
          </a:p>
        </p:txBody>
      </p:sp>
      <p:sp>
        <p:nvSpPr>
          <p:cNvPr id="10" name="TextBox 9"/>
          <p:cNvSpPr txBox="1"/>
          <p:nvPr/>
        </p:nvSpPr>
        <p:spPr>
          <a:xfrm>
            <a:off x="1014983"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planned directional slots</a:t>
            </a:r>
          </a:p>
        </p:txBody>
      </p:sp>
      <p:sp>
        <p:nvSpPr>
          <p:cNvPr id="11" name="Rounded Rectangle 10"/>
          <p:cNvSpPr/>
          <p:nvPr/>
        </p:nvSpPr>
        <p:spPr>
          <a:xfrm>
            <a:off x="2450592"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96896"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295</a:t>
            </a:r>
          </a:p>
        </p:txBody>
      </p:sp>
      <p:sp>
        <p:nvSpPr>
          <p:cNvPr id="13" name="TextBox 12"/>
          <p:cNvSpPr txBox="1"/>
          <p:nvPr/>
        </p:nvSpPr>
        <p:spPr>
          <a:xfrm>
            <a:off x="2596896"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included KDA runs</a:t>
            </a:r>
          </a:p>
        </p:txBody>
      </p:sp>
      <p:sp>
        <p:nvSpPr>
          <p:cNvPr id="14" name="Rounded Rectangle 13"/>
          <p:cNvSpPr/>
          <p:nvPr/>
        </p:nvSpPr>
        <p:spPr>
          <a:xfrm>
            <a:off x="4032504"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78808"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74</a:t>
            </a:r>
          </a:p>
        </p:txBody>
      </p:sp>
      <p:sp>
        <p:nvSpPr>
          <p:cNvPr id="16" name="TextBox 15"/>
          <p:cNvSpPr txBox="1"/>
          <p:nvPr/>
        </p:nvSpPr>
        <p:spPr>
          <a:xfrm>
            <a:off x="4178808"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gene × category units</a:t>
            </a:r>
          </a:p>
        </p:txBody>
      </p:sp>
      <p:sp>
        <p:nvSpPr>
          <p:cNvPr id="17" name="Oval 16"/>
          <p:cNvSpPr/>
          <p:nvPr/>
        </p:nvSpPr>
        <p:spPr>
          <a:xfrm>
            <a:off x="877824" y="413308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4005072"/>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Groups fine-cell runs within sex/APOE × broad network.</a:t>
            </a:r>
          </a:p>
        </p:txBody>
      </p:sp>
      <p:sp>
        <p:nvSpPr>
          <p:cNvPr id="19" name="Oval 18"/>
          <p:cNvSpPr/>
          <p:nvPr/>
        </p:nvSpPr>
        <p:spPr>
          <a:xfrm>
            <a:off x="877824" y="45719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1560" y="4443983"/>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Uses coverage, individual-run support, ACAT, then category BH.</a:t>
            </a:r>
          </a:p>
        </p:txBody>
      </p:sp>
      <p:sp>
        <p:nvSpPr>
          <p:cNvPr id="21" name="Oval 20"/>
          <p:cNvSpPr/>
          <p:nvPr/>
        </p:nvSpPr>
        <p:spPr>
          <a:xfrm>
            <a:off x="877824" y="50109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 y="488289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Final 74 units represent 37 distinct genes in 16 categories.</a:t>
            </a:r>
          </a:p>
        </p:txBody>
      </p:sp>
      <p:sp>
        <p:nvSpPr>
          <p:cNvPr id="23" name="Rounded Rectangle 22"/>
          <p:cNvSpPr/>
          <p:nvPr/>
        </p:nvSpPr>
        <p:spPr>
          <a:xfrm>
            <a:off x="6245352" y="1335024"/>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28816" y="1627632"/>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9E73"/>
                </a:solidFill>
                <a:latin typeface="Arial"/>
              </a:rPr>
              <a:t>DIRECT BROAD-CELL KDA</a:t>
            </a:r>
          </a:p>
        </p:txBody>
      </p:sp>
      <p:sp>
        <p:nvSpPr>
          <p:cNvPr id="25" name="TextBox 24"/>
          <p:cNvSpPr txBox="1"/>
          <p:nvPr/>
        </p:nvSpPr>
        <p:spPr>
          <a:xfrm>
            <a:off x="6528816" y="1938528"/>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Which genes pass within one broad-cell direction?</a:t>
            </a:r>
          </a:p>
        </p:txBody>
      </p:sp>
      <p:sp>
        <p:nvSpPr>
          <p:cNvPr id="26" name="Rounded Rectangle 25"/>
          <p:cNvSpPr/>
          <p:nvPr/>
        </p:nvSpPr>
        <p:spPr>
          <a:xfrm>
            <a:off x="6528816"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84</a:t>
            </a:r>
          </a:p>
        </p:txBody>
      </p:sp>
      <p:sp>
        <p:nvSpPr>
          <p:cNvPr id="28" name="TextBox 27"/>
          <p:cNvSpPr txBox="1"/>
          <p:nvPr/>
        </p:nvSpPr>
        <p:spPr>
          <a:xfrm>
            <a:off x="6675120"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planned directional slots</a:t>
            </a:r>
          </a:p>
        </p:txBody>
      </p:sp>
      <p:sp>
        <p:nvSpPr>
          <p:cNvPr id="29" name="Rounded Rectangle 28"/>
          <p:cNvSpPr/>
          <p:nvPr/>
        </p:nvSpPr>
        <p:spPr>
          <a:xfrm>
            <a:off x="8110727"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57031"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3</a:t>
            </a:r>
          </a:p>
        </p:txBody>
      </p:sp>
      <p:sp>
        <p:nvSpPr>
          <p:cNvPr id="31" name="TextBox 30"/>
          <p:cNvSpPr txBox="1"/>
          <p:nvPr/>
        </p:nvSpPr>
        <p:spPr>
          <a:xfrm>
            <a:off x="8257031"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completed KDA runs</a:t>
            </a:r>
          </a:p>
        </p:txBody>
      </p:sp>
      <p:sp>
        <p:nvSpPr>
          <p:cNvPr id="32" name="Rounded Rectangle 31"/>
          <p:cNvSpPr/>
          <p:nvPr/>
        </p:nvSpPr>
        <p:spPr>
          <a:xfrm>
            <a:off x="969264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838944"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12</a:t>
            </a:r>
          </a:p>
        </p:txBody>
      </p:sp>
      <p:sp>
        <p:nvSpPr>
          <p:cNvPr id="34" name="TextBox 33"/>
          <p:cNvSpPr txBox="1"/>
          <p:nvPr/>
        </p:nvSpPr>
        <p:spPr>
          <a:xfrm>
            <a:off x="9838944"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direct candidate rows</a:t>
            </a:r>
          </a:p>
        </p:txBody>
      </p:sp>
      <p:sp>
        <p:nvSpPr>
          <p:cNvPr id="35" name="Oval 34"/>
          <p:cNvSpPr/>
          <p:nvPr/>
        </p:nvSpPr>
        <p:spPr>
          <a:xfrm>
            <a:off x="6537960"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11696" y="4005072"/>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Keeps broad-cell × group × direction results separate.</a:t>
            </a:r>
          </a:p>
        </p:txBody>
      </p:sp>
      <p:sp>
        <p:nvSpPr>
          <p:cNvPr id="37" name="Oval 36"/>
          <p:cNvSpPr/>
          <p:nvPr/>
        </p:nvSpPr>
        <p:spPr>
          <a:xfrm>
            <a:off x="6537960" y="457199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711696" y="4443983"/>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Uses complete explicit tests and within-run non-core-MT BH.</a:t>
            </a:r>
          </a:p>
        </p:txBody>
      </p:sp>
      <p:sp>
        <p:nvSpPr>
          <p:cNvPr id="39" name="Oval 38"/>
          <p:cNvSpPr/>
          <p:nvPr/>
        </p:nvSpPr>
        <p:spPr>
          <a:xfrm>
            <a:off x="6537960" y="501091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711696" y="488289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No coverage, ACAT, recurrence gate, or combined up/down q.</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72B2"/>
                </a:solidFill>
                <a:latin typeface="Arial"/>
              </a:rPr>
              <a:t>PART 1</a:t>
            </a:r>
          </a:p>
        </p:txBody>
      </p:sp>
      <p:sp>
        <p:nvSpPr>
          <p:cNvPr id="3" name="Rectangle 2"/>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909560" cy="12252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Fine-cell sex/APOE KDA reaggregation</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54 fine cell types define the planned universe; 295 included runs from 41 fine types are aggregated within six groups and seven broad networks.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72B2"/>
                </a:solidFill>
                <a:latin typeface="Arial"/>
              </a:rPr>
              <a:t>IN THIS PART</a:t>
            </a:r>
          </a:p>
        </p:txBody>
      </p:sp>
      <p:sp>
        <p:nvSpPr>
          <p:cNvPr id="8" name="Oval 7"/>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Run universe</a:t>
            </a:r>
          </a:p>
        </p:txBody>
      </p:sp>
      <p:sp>
        <p:nvSpPr>
          <p:cNvPr id="11" name="Oval 10"/>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Filter funnel</a:t>
            </a:r>
          </a:p>
        </p:txBody>
      </p:sp>
      <p:sp>
        <p:nvSpPr>
          <p:cNvPr id="14" name="Oval 13"/>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ACAT candidates</a:t>
            </a:r>
          </a:p>
        </p:txBody>
      </p:sp>
      <p:sp>
        <p:nvSpPr>
          <p:cNvPr id="17" name="Oval 16"/>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Result figures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Four </a:t>
            </a:r>
            <a:r>
              <a:rPr lang="en-US" sz="2450" b="1" i="0" dirty="0">
                <a:solidFill>
                  <a:srgbClr val="0F233D"/>
                </a:solidFill>
                <a:latin typeface="Arial"/>
              </a:rPr>
              <a:t>steps</a:t>
            </a:r>
            <a:endParaRPr sz="2450" b="1" i="0" dirty="0">
              <a:solidFill>
                <a:srgbClr val="0F233D"/>
              </a:solidFill>
              <a:latin typeface="Arial"/>
            </a:endParaRPr>
          </a:p>
        </p:txBody>
      </p:sp>
      <p:sp>
        <p:nvSpPr>
          <p:cNvPr id="5" name="Rounded Rectangle 4"/>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1</a:t>
            </a:r>
          </a:p>
        </p:txBody>
      </p:sp>
      <p:sp>
        <p:nvSpPr>
          <p:cNvPr id="8" name="TextBox 7"/>
          <p:cNvSpPr txBox="1"/>
          <p:nvPr/>
        </p:nvSpPr>
        <p:spPr>
          <a:xfrm>
            <a:off x="80467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DEG comparison</a:t>
            </a:r>
          </a:p>
        </p:txBody>
      </p:sp>
      <p:sp>
        <p:nvSpPr>
          <p:cNvPr id="9" name="TextBox 8"/>
          <p:cNvSpPr txBox="1"/>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fine cell type × sex/APOE</a:t>
            </a:r>
          </a:p>
        </p:txBody>
      </p:sp>
      <p:sp>
        <p:nvSpPr>
          <p:cNvPr id="10" name="Rounded Rectangle 9"/>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One signed AD-versus-NCI result</a:t>
            </a:r>
          </a:p>
        </p:txBody>
      </p:sp>
      <p:sp>
        <p:nvSpPr>
          <p:cNvPr id="12" name="Rounded Rectangle 1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2</a:t>
            </a:r>
          </a:p>
        </p:txBody>
      </p:sp>
      <p:sp>
        <p:nvSpPr>
          <p:cNvPr id="15" name="TextBox 14"/>
          <p:cNvSpPr txBox="1"/>
          <p:nvPr/>
        </p:nvSpPr>
        <p:spPr>
          <a:xfrm>
            <a:off x="363931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Directional slot</a:t>
            </a:r>
          </a:p>
        </p:txBody>
      </p:sp>
      <p:sp>
        <p:nvSpPr>
          <p:cNvPr id="16" name="TextBox 15"/>
          <p:cNvSpPr txBox="1"/>
          <p:nvPr/>
        </p:nvSpPr>
        <p:spPr>
          <a:xfrm>
            <a:off x="363931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 AD-up or AD-down</a:t>
            </a:r>
          </a:p>
        </p:txBody>
      </p:sp>
      <p:sp>
        <p:nvSpPr>
          <p:cNvPr id="17" name="Rounded Rectangle 16"/>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6732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A planned query opportunity</a:t>
            </a:r>
          </a:p>
        </p:txBody>
      </p:sp>
      <p:sp>
        <p:nvSpPr>
          <p:cNvPr id="19" name="Rounded Rectangle 18"/>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3</a:t>
            </a:r>
          </a:p>
        </p:txBody>
      </p:sp>
      <p:sp>
        <p:nvSpPr>
          <p:cNvPr id="22" name="TextBox 21"/>
          <p:cNvSpPr txBox="1"/>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KDA run</a:t>
            </a:r>
          </a:p>
        </p:txBody>
      </p:sp>
      <p:sp>
        <p:nvSpPr>
          <p:cNvPr id="23" name="TextBox 22"/>
          <p:cNvSpPr txBox="1"/>
          <p:nvPr/>
        </p:nvSpPr>
        <p:spPr>
          <a:xfrm>
            <a:off x="647395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validated completed call</a:t>
            </a:r>
          </a:p>
        </p:txBody>
      </p:sp>
      <p:sp>
        <p:nvSpPr>
          <p:cNvPr id="24" name="Rounded Rectangle 23"/>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0196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lang="en-US" sz="1130" b="0" i="0" dirty="0">
                <a:solidFill>
                  <a:srgbClr val="4E5A68"/>
                </a:solidFill>
                <a:latin typeface="Arial"/>
              </a:rPr>
              <a:t>DEG contrast valid and</a:t>
            </a:r>
          </a:p>
          <a:p>
            <a:pPr algn="ctr">
              <a:lnSpc>
                <a:spcPct val="100000"/>
              </a:lnSpc>
              <a:spcBef>
                <a:spcPts val="0"/>
              </a:spcBef>
              <a:spcAft>
                <a:spcPts val="0"/>
              </a:spcAft>
            </a:pPr>
            <a:r>
              <a:rPr sz="1130" b="0" i="0" dirty="0">
                <a:solidFill>
                  <a:srgbClr val="4E5A68"/>
                </a:solidFill>
                <a:latin typeface="Arial"/>
              </a:rPr>
              <a:t>Effective query n ≥ 3</a:t>
            </a:r>
          </a:p>
        </p:txBody>
      </p:sp>
      <p:sp>
        <p:nvSpPr>
          <p:cNvPr id="26" name="Rounded Rectangle 25"/>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4</a:t>
            </a:r>
          </a:p>
        </p:txBody>
      </p:sp>
      <p:sp>
        <p:nvSpPr>
          <p:cNvPr id="29" name="TextBox 28"/>
          <p:cNvSpPr txBox="1"/>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Candidate unit</a:t>
            </a:r>
          </a:p>
        </p:txBody>
      </p:sp>
      <p:sp>
        <p:nvSpPr>
          <p:cNvPr id="30" name="TextBox 29"/>
          <p:cNvSpPr txBox="1"/>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E69F00"/>
                </a:solidFill>
                <a:latin typeface="Arial"/>
              </a:rPr>
              <a:t>gene × group × broad network</a:t>
            </a:r>
          </a:p>
        </p:txBody>
      </p:sp>
      <p:sp>
        <p:nvSpPr>
          <p:cNvPr id="31" name="Rounded Rectangle 30"/>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3660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One or more fine runs; either or both directions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54 fine cell types create 648 planned directional slots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Up and down are two query directions from one signed DEG comparison—not two model fits.</a:t>
            </a:r>
          </a:p>
        </p:txBody>
      </p:sp>
      <p:sp>
        <p:nvSpPr>
          <p:cNvPr id="5" name="Rounded Rectangle 4"/>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54 fine cell types</a:t>
            </a:r>
          </a:p>
        </p:txBody>
      </p:sp>
      <p:sp>
        <p:nvSpPr>
          <p:cNvPr id="7" name="TextBox 6"/>
          <p:cNvSpPr txBox="1"/>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40" b="1" i="0" dirty="0">
                <a:solidFill>
                  <a:srgbClr val="0072B2"/>
                </a:solidFill>
                <a:latin typeface="Arial"/>
              </a:rPr>
              <a:t>× 6 sex/APOE groups = 324 </a:t>
            </a:r>
            <a:r>
              <a:rPr lang="en-US" sz="1240" b="1" i="0" dirty="0">
                <a:solidFill>
                  <a:srgbClr val="0072B2"/>
                </a:solidFill>
                <a:latin typeface="Arial"/>
              </a:rPr>
              <a:t>contrasts</a:t>
            </a:r>
            <a:endParaRPr sz="1240" b="1" i="0" dirty="0">
              <a:solidFill>
                <a:srgbClr val="0072B2"/>
              </a:solidFill>
              <a:latin typeface="Arial"/>
            </a:endParaRPr>
          </a:p>
        </p:txBody>
      </p:sp>
      <p:sp>
        <p:nvSpPr>
          <p:cNvPr id="8" name="Rounded Rectangle 7"/>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35424" y="1591056"/>
            <a:ext cx="3090672"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324 signed results</a:t>
            </a:r>
          </a:p>
        </p:txBody>
      </p:sp>
      <p:sp>
        <p:nvSpPr>
          <p:cNvPr id="10" name="TextBox 9"/>
          <p:cNvSpPr txBox="1"/>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40" b="1" i="0">
                <a:solidFill>
                  <a:srgbClr val="0072B2"/>
                </a:solidFill>
                <a:latin typeface="Arial"/>
              </a:rPr>
              <a:t>× up/down = 648 directional slots</a:t>
            </a:r>
          </a:p>
        </p:txBody>
      </p:sp>
      <p:sp>
        <p:nvSpPr>
          <p:cNvPr id="11" name="Rounded Rectangle 10"/>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0"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dirty="0">
                <a:solidFill>
                  <a:srgbClr val="0F233D"/>
                </a:solidFill>
                <a:latin typeface="Arial"/>
              </a:rPr>
              <a:t>295 </a:t>
            </a:r>
            <a:r>
              <a:rPr lang="en-US" sz="1900" b="1" dirty="0" err="1">
                <a:solidFill>
                  <a:srgbClr val="0F233D"/>
                </a:solidFill>
                <a:latin typeface="Arial"/>
              </a:rPr>
              <a:t>call_key_driver</a:t>
            </a:r>
            <a:r>
              <a:rPr sz="1900" b="1" i="0" dirty="0">
                <a:solidFill>
                  <a:srgbClr val="0F233D"/>
                </a:solidFill>
                <a:latin typeface="Arial"/>
              </a:rPr>
              <a:t> calls</a:t>
            </a:r>
          </a:p>
        </p:txBody>
      </p:sp>
      <p:sp>
        <p:nvSpPr>
          <p:cNvPr id="13" name="TextBox 12"/>
          <p:cNvSpPr txBox="1"/>
          <p:nvPr/>
        </p:nvSpPr>
        <p:spPr>
          <a:xfrm>
            <a:off x="8412480" y="1993392"/>
            <a:ext cx="2926080" cy="2154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1" i="0" dirty="0">
                <a:solidFill>
                  <a:srgbClr val="009E73"/>
                </a:solidFill>
                <a:latin typeface="Arial"/>
              </a:rPr>
              <a:t>All valid</a:t>
            </a:r>
            <a:r>
              <a:rPr lang="en-US" sz="1040" b="1" i="0" dirty="0">
                <a:solidFill>
                  <a:srgbClr val="009E73"/>
                </a:solidFill>
                <a:latin typeface="Arial"/>
              </a:rPr>
              <a:t> source and</a:t>
            </a:r>
            <a:r>
              <a:rPr sz="1040" b="1" i="0" dirty="0">
                <a:solidFill>
                  <a:srgbClr val="009E73"/>
                </a:solidFill>
                <a:latin typeface="Arial"/>
              </a:rPr>
              <a:t> queries ≥3</a:t>
            </a:r>
          </a:p>
        </p:txBody>
      </p:sp>
      <p:sp>
        <p:nvSpPr>
          <p:cNvPr id="14" name="Rectangle 13"/>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Mutually exclusive slot outcome</a:t>
            </a:r>
          </a:p>
        </p:txBody>
      </p:sp>
      <p:sp>
        <p:nvSpPr>
          <p:cNvPr id="16" name="Rectangle 15"/>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Slots</a:t>
            </a:r>
          </a:p>
        </p:txBody>
      </p:sp>
      <p:sp>
        <p:nvSpPr>
          <p:cNvPr id="18" name="Rectangle 17"/>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KDA called?</a:t>
            </a:r>
          </a:p>
        </p:txBody>
      </p:sp>
      <p:sp>
        <p:nvSpPr>
          <p:cNvPr id="22" name="Rectangle 2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895560" y="3374135"/>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Source DEG contrast not validated</a:t>
            </a:r>
          </a:p>
        </p:txBody>
      </p:sp>
      <p:sp>
        <p:nvSpPr>
          <p:cNvPr id="24" name="Rectangle 23"/>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6</a:t>
            </a:r>
          </a:p>
        </p:txBody>
      </p:sp>
      <p:sp>
        <p:nvSpPr>
          <p:cNvPr id="26" name="Rectangle 25"/>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0" name="Rectangle 29"/>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95560" y="3822191"/>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Validated source; effective query = 0</a:t>
            </a:r>
          </a:p>
        </p:txBody>
      </p:sp>
      <p:sp>
        <p:nvSpPr>
          <p:cNvPr id="32" name="Rectangle 3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246</a:t>
            </a:r>
          </a:p>
        </p:txBody>
      </p:sp>
      <p:sp>
        <p:nvSpPr>
          <p:cNvPr id="34" name="Rectangle 33"/>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8" name="Rectangle 37"/>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895560" y="4270247"/>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Effective query 1–2</a:t>
            </a:r>
          </a:p>
        </p:txBody>
      </p:sp>
      <p:sp>
        <p:nvSpPr>
          <p:cNvPr id="40" name="Rectangle 39"/>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101</a:t>
            </a:r>
          </a:p>
        </p:txBody>
      </p:sp>
      <p:sp>
        <p:nvSpPr>
          <p:cNvPr id="42" name="Rectangle 4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46" name="Rectangle 45"/>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895560" y="4718303"/>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Effective query 3–9</a:t>
            </a:r>
          </a:p>
        </p:txBody>
      </p:sp>
      <p:sp>
        <p:nvSpPr>
          <p:cNvPr id="48" name="Rectangle 47"/>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519120" y="4718303"/>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134</a:t>
            </a:r>
          </a:p>
        </p:txBody>
      </p:sp>
      <p:sp>
        <p:nvSpPr>
          <p:cNvPr id="50" name="Rectangle 49"/>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Yes</a:t>
            </a:r>
          </a:p>
        </p:txBody>
      </p:sp>
      <p:sp>
        <p:nvSpPr>
          <p:cNvPr id="54" name="Rectangle 53"/>
          <p:cNvSpPr/>
          <p:nvPr/>
        </p:nvSpPr>
        <p:spPr>
          <a:xfrm>
            <a:off x="1840696" y="5120640"/>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895560" y="5166359"/>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Effective query ≥10</a:t>
            </a:r>
          </a:p>
        </p:txBody>
      </p:sp>
      <p:sp>
        <p:nvSpPr>
          <p:cNvPr id="56" name="Rectangle 55"/>
          <p:cNvSpPr/>
          <p:nvPr/>
        </p:nvSpPr>
        <p:spPr>
          <a:xfrm>
            <a:off x="7464256" y="5120640"/>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519120" y="5166359"/>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161</a:t>
            </a:r>
          </a:p>
        </p:txBody>
      </p:sp>
      <p:sp>
        <p:nvSpPr>
          <p:cNvPr id="58" name="Rectangle 57"/>
          <p:cNvSpPr/>
          <p:nvPr/>
        </p:nvSpPr>
        <p:spPr>
          <a:xfrm>
            <a:off x="8561536" y="5120640"/>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616400" y="5166359"/>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Yes</a:t>
            </a:r>
          </a:p>
        </p:txBody>
      </p:sp>
      <p:sp>
        <p:nvSpPr>
          <p:cNvPr id="62" name="Rectangle 61"/>
          <p:cNvSpPr/>
          <p:nvPr/>
        </p:nvSpPr>
        <p:spPr>
          <a:xfrm>
            <a:off x="1840696" y="5568696"/>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895560" y="5614416"/>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TOTAL</a:t>
            </a:r>
          </a:p>
        </p:txBody>
      </p:sp>
      <p:sp>
        <p:nvSpPr>
          <p:cNvPr id="64" name="Rectangle 63"/>
          <p:cNvSpPr/>
          <p:nvPr/>
        </p:nvSpPr>
        <p:spPr>
          <a:xfrm>
            <a:off x="7464256" y="5568696"/>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19120" y="5614416"/>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648</a:t>
            </a:r>
          </a:p>
        </p:txBody>
      </p:sp>
      <p:sp>
        <p:nvSpPr>
          <p:cNvPr id="66" name="Rectangle 65"/>
          <p:cNvSpPr/>
          <p:nvPr/>
        </p:nvSpPr>
        <p:spPr>
          <a:xfrm>
            <a:off x="8561536" y="5568696"/>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616400" y="5614416"/>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295 calls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S</a:t>
            </a:r>
            <a:r>
              <a:rPr sz="2100" b="1" i="0" dirty="0">
                <a:solidFill>
                  <a:srgbClr val="0F233D"/>
                </a:solidFill>
                <a:latin typeface="Arial"/>
              </a:rPr>
              <a:t>ource validity and query size decide whether KDA is called</a:t>
            </a:r>
          </a:p>
        </p:txBody>
      </p:sp>
      <p:sp>
        <p:nvSpPr>
          <p:cNvPr id="5" name="Rounded Rectangle 4"/>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One canonical query-size gate</a:t>
            </a:r>
          </a:p>
        </p:txBody>
      </p:sp>
      <p:sp>
        <p:nvSpPr>
          <p:cNvPr id="8" name="Rounded Rectangle 7"/>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a:t>
            </a:r>
          </a:p>
        </p:txBody>
      </p:sp>
      <p:sp>
        <p:nvSpPr>
          <p:cNvPr id="11" name="Rounded Rectangle 10"/>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500" b="1" i="0" dirty="0">
                <a:solidFill>
                  <a:srgbClr val="00684D"/>
                </a:solidFill>
                <a:latin typeface="Arial"/>
              </a:rPr>
              <a:t>295</a:t>
            </a:r>
            <a:endParaRPr sz="2500" b="1" i="0" dirty="0">
              <a:solidFill>
                <a:srgbClr val="00684D"/>
              </a:solidFill>
              <a:latin typeface="Arial"/>
            </a:endParaRPr>
          </a:p>
        </p:txBody>
      </p:sp>
      <p:sp>
        <p:nvSpPr>
          <p:cNvPr id="13" name="TextBox 12"/>
          <p:cNvSpPr txBox="1"/>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dirty="0">
                <a:solidFill>
                  <a:srgbClr val="4E5A68"/>
                </a:solidFill>
                <a:latin typeface="Arial"/>
              </a:rPr>
              <a:t>included runs with query n</a:t>
            </a:r>
            <a:r>
              <a:rPr lang="en-US" sz="880" b="1" i="0" dirty="0">
                <a:solidFill>
                  <a:srgbClr val="4E5A68"/>
                </a:solidFill>
                <a:latin typeface="Arial"/>
              </a:rPr>
              <a:t>&gt;</a:t>
            </a:r>
            <a:r>
              <a:rPr sz="880" b="1" i="0" dirty="0">
                <a:solidFill>
                  <a:srgbClr val="4E5A68"/>
                </a:solidFill>
                <a:latin typeface="Arial"/>
              </a:rPr>
              <a:t>=3</a:t>
            </a:r>
          </a:p>
        </p:txBody>
      </p:sp>
      <p:sp>
        <p:nvSpPr>
          <p:cNvPr id="14" name="Oval 13"/>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a:solidFill>
                  <a:srgbClr val="1F2730"/>
                </a:solidFill>
                <a:latin typeface="Arial"/>
              </a:rPr>
              <a:t>All 295 validated completed calls enter the aggregate.</a:t>
            </a:r>
          </a:p>
        </p:txBody>
      </p:sp>
      <p:sp>
        <p:nvSpPr>
          <p:cNvPr id="16" name="Oval 15"/>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dirty="0">
                <a:solidFill>
                  <a:srgbClr val="1F2730"/>
                </a:solidFill>
                <a:latin typeface="Arial"/>
              </a:rPr>
              <a:t>That includes </a:t>
            </a:r>
            <a:r>
              <a:rPr lang="en-US" sz="1110" b="0" i="0" dirty="0">
                <a:solidFill>
                  <a:srgbClr val="1F2730"/>
                </a:solidFill>
                <a:latin typeface="Arial"/>
              </a:rPr>
              <a:t>295</a:t>
            </a:r>
            <a:r>
              <a:rPr sz="1110" b="0" i="0" dirty="0">
                <a:solidFill>
                  <a:srgbClr val="1F2730"/>
                </a:solidFill>
                <a:latin typeface="Arial"/>
              </a:rPr>
              <a:t> ≥</a:t>
            </a:r>
            <a:r>
              <a:rPr lang="en-US" sz="1110" b="0" i="0" dirty="0">
                <a:solidFill>
                  <a:srgbClr val="1F2730"/>
                </a:solidFill>
                <a:latin typeface="Arial"/>
              </a:rPr>
              <a:t>3</a:t>
            </a:r>
            <a:r>
              <a:rPr sz="1110" b="0" i="0" dirty="0">
                <a:solidFill>
                  <a:srgbClr val="1F2730"/>
                </a:solidFill>
                <a:latin typeface="Arial"/>
              </a:rPr>
              <a:t>.</a:t>
            </a:r>
          </a:p>
        </p:txBody>
      </p:sp>
      <p:sp>
        <p:nvSpPr>
          <p:cNvPr id="18" name="Oval 17"/>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a:solidFill>
                  <a:srgbClr val="1F2730"/>
                </a:solidFill>
                <a:latin typeface="Arial"/>
              </a:rPr>
              <a:t>74 completed calls returned no original q≤0.05 gene; they still contribute complete evidence.</a:t>
            </a:r>
          </a:p>
        </p:txBody>
      </p:sp>
      <p:sp>
        <p:nvSpPr>
          <p:cNvPr id="20" name="Rounded Rectangle 19"/>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What ‘source contrast not </a:t>
            </a:r>
            <a:r>
              <a:rPr lang="en-US" sz="1520" b="1" i="0" dirty="0">
                <a:solidFill>
                  <a:srgbClr val="0F233D"/>
                </a:solidFill>
                <a:latin typeface="Arial"/>
              </a:rPr>
              <a:t>valid</a:t>
            </a:r>
            <a:r>
              <a:rPr sz="1520" b="1" i="0" dirty="0">
                <a:solidFill>
                  <a:srgbClr val="0F233D"/>
                </a:solidFill>
                <a:latin typeface="Arial"/>
              </a:rPr>
              <a:t>’ means</a:t>
            </a:r>
          </a:p>
        </p:txBody>
      </p:sp>
      <p:sp>
        <p:nvSpPr>
          <p:cNvPr id="23" name="TextBox 22"/>
          <p:cNvSpPr txBox="1"/>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dirty="0">
                <a:solidFill>
                  <a:srgbClr val="0F233D"/>
                </a:solidFill>
                <a:latin typeface="Arial"/>
              </a:rPr>
              <a:t>The upstream MAST comparison could not be fitted because one arm had fewer than </a:t>
            </a:r>
            <a:r>
              <a:rPr sz="1400" b="1" i="0" dirty="0">
                <a:solidFill>
                  <a:srgbClr val="FF0000"/>
                </a:solidFill>
                <a:latin typeface="Arial"/>
              </a:rPr>
              <a:t>three</a:t>
            </a:r>
            <a:r>
              <a:rPr sz="1400" b="1" i="0" dirty="0">
                <a:solidFill>
                  <a:srgbClr val="0F233D"/>
                </a:solidFill>
                <a:latin typeface="Arial"/>
              </a:rPr>
              <a:t> cells.</a:t>
            </a:r>
          </a:p>
        </p:txBody>
      </p:sp>
      <p:sp>
        <p:nvSpPr>
          <p:cNvPr id="24" name="Rectangle 23"/>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Fine cell type</a:t>
            </a:r>
          </a:p>
        </p:txBody>
      </p:sp>
      <p:sp>
        <p:nvSpPr>
          <p:cNvPr id="26" name="Rectangle 25"/>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Group</a:t>
            </a:r>
          </a:p>
        </p:txBody>
      </p:sp>
      <p:sp>
        <p:nvSpPr>
          <p:cNvPr id="28" name="Rectangle 27"/>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AD cells</a:t>
            </a:r>
          </a:p>
        </p:txBody>
      </p:sp>
      <p:sp>
        <p:nvSpPr>
          <p:cNvPr id="30" name="Rectangle 29"/>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NCI cells</a:t>
            </a:r>
          </a:p>
        </p:txBody>
      </p:sp>
      <p:sp>
        <p:nvSpPr>
          <p:cNvPr id="32" name="Rectangle 3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Fib SLC4A4</a:t>
            </a:r>
          </a:p>
        </p:txBody>
      </p:sp>
      <p:sp>
        <p:nvSpPr>
          <p:cNvPr id="34" name="Rectangle 33"/>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36" name="Rectangle 35"/>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0</a:t>
            </a:r>
          </a:p>
        </p:txBody>
      </p:sp>
      <p:sp>
        <p:nvSpPr>
          <p:cNvPr id="38" name="Rectangle 37"/>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11</a:t>
            </a:r>
          </a:p>
        </p:txBody>
      </p:sp>
      <p:sp>
        <p:nvSpPr>
          <p:cNvPr id="40" name="Rectangle 39"/>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CAMs</a:t>
            </a:r>
          </a:p>
        </p:txBody>
      </p:sp>
      <p:sp>
        <p:nvSpPr>
          <p:cNvPr id="42" name="Rectangle 4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44" name="Rectangle 43"/>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45</a:t>
            </a:r>
          </a:p>
        </p:txBody>
      </p:sp>
      <p:sp>
        <p:nvSpPr>
          <p:cNvPr id="46" name="Rectangle 45"/>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1</a:t>
            </a:r>
          </a:p>
        </p:txBody>
      </p:sp>
      <p:sp>
        <p:nvSpPr>
          <p:cNvPr id="48" name="Rectangle 47"/>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Mic MKI67</a:t>
            </a:r>
          </a:p>
        </p:txBody>
      </p:sp>
      <p:sp>
        <p:nvSpPr>
          <p:cNvPr id="50" name="Rectangle 49"/>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52" name="Rectangle 5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2</a:t>
            </a:r>
          </a:p>
        </p:txBody>
      </p:sp>
      <p:sp>
        <p:nvSpPr>
          <p:cNvPr id="54" name="Rectangle 53"/>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9</a:t>
            </a:r>
          </a:p>
        </p:txBody>
      </p:sp>
      <p:sp>
        <p:nvSpPr>
          <p:cNvPr id="56" name="TextBox 55"/>
          <p:cNvSpPr txBox="1"/>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D55E00"/>
                </a:solidFill>
                <a:latin typeface="Arial"/>
              </a:rPr>
              <a:t>3 unavailable comparisons × 2 directions = 6 unavailable slots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M</a:t>
            </a:r>
            <a:r>
              <a:rPr sz="2100" b="1" i="0" dirty="0">
                <a:solidFill>
                  <a:srgbClr val="0F233D"/>
                </a:solidFill>
                <a:latin typeface="Arial"/>
              </a:rPr>
              <a:t>itochondrial query genes</a:t>
            </a:r>
          </a:p>
        </p:txBody>
      </p:sp>
      <p:sp>
        <p:nvSpPr>
          <p:cNvPr id="5" name="Rounded Rectangle 4"/>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DEG rule</a:t>
            </a:r>
          </a:p>
        </p:txBody>
      </p:sp>
      <p:sp>
        <p:nvSpPr>
          <p:cNvPr id="8" name="Oval 7"/>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Detected in ≥10% of AD or NCI nuclei.</a:t>
            </a:r>
          </a:p>
        </p:txBody>
      </p:sp>
      <p:sp>
        <p:nvSpPr>
          <p:cNvPr id="10" name="Oval 9"/>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Within-contrast BH FDR &lt; 0.05.</a:t>
            </a:r>
          </a:p>
        </p:txBody>
      </p:sp>
      <p:sp>
        <p:nvSpPr>
          <p:cNvPr id="12" name="Oval 1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|log₂ fold change| &gt; log₂(1.3) ≈ 0.379.</a:t>
            </a:r>
          </a:p>
        </p:txBody>
      </p:sp>
      <p:sp>
        <p:nvSpPr>
          <p:cNvPr id="14" name="Oval 13"/>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33271" y="3840480"/>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Positive and negative results form AD-up and AD-down queries.</a:t>
            </a:r>
          </a:p>
        </p:txBody>
      </p:sp>
      <p:sp>
        <p:nvSpPr>
          <p:cNvPr id="16" name="Rounded Rectangle 15"/>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20" b="1" i="0" dirty="0">
                <a:solidFill>
                  <a:srgbClr val="0F233D"/>
                </a:solidFill>
                <a:latin typeface="Arial"/>
              </a:rPr>
              <a:t>Query = DEG</a:t>
            </a:r>
            <a:r>
              <a:rPr lang="en-US" sz="1120" b="1" i="0" dirty="0">
                <a:solidFill>
                  <a:srgbClr val="0F233D"/>
                </a:solidFill>
                <a:latin typeface="Arial"/>
              </a:rPr>
              <a:t> rule</a:t>
            </a:r>
            <a:r>
              <a:rPr sz="1120" b="1" i="0" dirty="0">
                <a:solidFill>
                  <a:srgbClr val="0F233D"/>
                </a:solidFill>
                <a:latin typeface="Arial"/>
              </a:rPr>
              <a:t> ∩ </a:t>
            </a:r>
            <a:r>
              <a:rPr sz="1120" b="1" i="0" dirty="0" err="1">
                <a:solidFill>
                  <a:srgbClr val="0F233D"/>
                </a:solidFill>
                <a:latin typeface="Arial"/>
              </a:rPr>
              <a:t>core_mito_protein</a:t>
            </a:r>
            <a:r>
              <a:rPr sz="1120" b="1" i="0" dirty="0">
                <a:solidFill>
                  <a:srgbClr val="0F233D"/>
                </a:solidFill>
                <a:latin typeface="Arial"/>
              </a:rPr>
              <a:t> ∩ requested direction</a:t>
            </a:r>
          </a:p>
        </p:txBody>
      </p:sp>
      <p:sp>
        <p:nvSpPr>
          <p:cNvPr id="18" name="Rounded Rectangle 17"/>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2,864,117</a:t>
            </a:r>
          </a:p>
        </p:txBody>
      </p:sp>
      <p:sp>
        <p:nvSpPr>
          <p:cNvPr id="20" name="TextBox 19"/>
          <p:cNvSpPr txBox="1"/>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tested gene × comparison rows</a:t>
            </a:r>
          </a:p>
        </p:txBody>
      </p:sp>
      <p:sp>
        <p:nvSpPr>
          <p:cNvPr id="21" name="Rounded Rectangle 20"/>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118,297</a:t>
            </a:r>
          </a:p>
        </p:txBody>
      </p:sp>
      <p:sp>
        <p:nvSpPr>
          <p:cNvPr id="23" name="TextBox 22"/>
          <p:cNvSpPr txBox="1"/>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960" b="1" i="0" dirty="0">
                <a:solidFill>
                  <a:srgbClr val="4E5A68"/>
                </a:solidFill>
                <a:latin typeface="Arial"/>
              </a:rPr>
              <a:t>Passed </a:t>
            </a:r>
            <a:r>
              <a:rPr sz="960" b="1" i="0" dirty="0">
                <a:solidFill>
                  <a:srgbClr val="4E5A68"/>
                </a:solidFill>
                <a:latin typeface="Arial"/>
              </a:rPr>
              <a:t>DEG</a:t>
            </a:r>
          </a:p>
        </p:txBody>
      </p:sp>
      <p:sp>
        <p:nvSpPr>
          <p:cNvPr id="24" name="TextBox 23"/>
          <p:cNvSpPr txBox="1"/>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58,112 up • 60,185 down</a:t>
            </a:r>
          </a:p>
        </p:txBody>
      </p:sp>
      <p:sp>
        <p:nvSpPr>
          <p:cNvPr id="25" name="Rounded Rectangle 24"/>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9,262</a:t>
            </a:r>
          </a:p>
        </p:txBody>
      </p:sp>
      <p:sp>
        <p:nvSpPr>
          <p:cNvPr id="27" name="TextBox 26"/>
          <p:cNvSpPr txBox="1"/>
          <p:nvPr/>
        </p:nvSpPr>
        <p:spPr>
          <a:xfrm>
            <a:off x="9235440"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core-MT query </a:t>
            </a:r>
            <a:r>
              <a:rPr lang="en-US" sz="960" b="1" i="0" dirty="0">
                <a:solidFill>
                  <a:srgbClr val="4E5A68"/>
                </a:solidFill>
                <a:latin typeface="Arial"/>
              </a:rPr>
              <a:t>genes</a:t>
            </a:r>
            <a:endParaRPr sz="960" b="1" i="0" dirty="0">
              <a:solidFill>
                <a:srgbClr val="4E5A68"/>
              </a:solidFill>
              <a:latin typeface="Arial"/>
            </a:endParaRPr>
          </a:p>
        </p:txBody>
      </p:sp>
      <p:sp>
        <p:nvSpPr>
          <p:cNvPr id="28" name="TextBox 27"/>
          <p:cNvSpPr txBox="1"/>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4,258 up • 5,004 down</a:t>
            </a:r>
          </a:p>
        </p:txBody>
      </p:sp>
      <p:sp>
        <p:nvSpPr>
          <p:cNvPr id="29" name="Rounded Rectangle 28"/>
          <p:cNvSpPr/>
          <p:nvPr/>
        </p:nvSpPr>
        <p:spPr>
          <a:xfrm>
            <a:off x="4626864" y="3017520"/>
            <a:ext cx="6528816" cy="239572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NETWORK-BACKGROUND INTERSECTION</a:t>
            </a:r>
          </a:p>
        </p:txBody>
      </p:sp>
      <p:sp>
        <p:nvSpPr>
          <p:cNvPr id="31" name="TextBox 30"/>
          <p:cNvSpPr txBox="1"/>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50" b="1" i="0" dirty="0">
                <a:solidFill>
                  <a:srgbClr val="0F233D"/>
                </a:solidFill>
                <a:latin typeface="Arial"/>
              </a:rPr>
              <a:t>9,262 provisional query </a:t>
            </a:r>
            <a:r>
              <a:rPr lang="en-US" sz="1750" b="1" i="0" dirty="0">
                <a:solidFill>
                  <a:srgbClr val="0F233D"/>
                </a:solidFill>
                <a:latin typeface="Arial"/>
              </a:rPr>
              <a:t>genes</a:t>
            </a:r>
            <a:endParaRPr sz="1750" b="1" i="0" dirty="0">
              <a:solidFill>
                <a:srgbClr val="0F233D"/>
              </a:solidFill>
              <a:latin typeface="Arial"/>
            </a:endParaRPr>
          </a:p>
        </p:txBody>
      </p:sp>
      <p:sp>
        <p:nvSpPr>
          <p:cNvPr id="32" name="TextBox 31"/>
          <p:cNvSpPr txBox="1"/>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dirty="0">
                <a:solidFill>
                  <a:srgbClr val="D55E00"/>
                </a:solidFill>
                <a:latin typeface="Arial"/>
              </a:rPr>
              <a:t>− 1,329 absent from the background</a:t>
            </a:r>
          </a:p>
        </p:txBody>
      </p:sp>
      <p:sp>
        <p:nvSpPr>
          <p:cNvPr id="33" name="TextBox 32"/>
          <p:cNvSpPr txBox="1"/>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dirty="0">
                <a:solidFill>
                  <a:srgbClr val="009E73"/>
                </a:solidFill>
                <a:latin typeface="Arial"/>
              </a:rPr>
              <a:t>= 7,933 query </a:t>
            </a:r>
            <a:r>
              <a:rPr lang="en-US" sz="1800" b="1" i="0" dirty="0">
                <a:solidFill>
                  <a:srgbClr val="009E73"/>
                </a:solidFill>
                <a:latin typeface="Arial"/>
              </a:rPr>
              <a:t>genes</a:t>
            </a:r>
            <a:endParaRPr sz="1800" b="1" i="0" dirty="0">
              <a:solidFill>
                <a:srgbClr val="009E73"/>
              </a:solidFill>
              <a:latin typeface="Arial"/>
            </a:endParaRPr>
          </a:p>
        </p:txBody>
      </p:sp>
      <p:sp>
        <p:nvSpPr>
          <p:cNvPr id="34" name="TextBox 33"/>
          <p:cNvSpPr txBox="1"/>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0" i="0">
                <a:solidFill>
                  <a:srgbClr val="4E5A68"/>
                </a:solidFill>
                <a:latin typeface="Arial"/>
              </a:rPr>
              <a:t>Membership counts can repeat the same gene across contrasts and directions.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02336"/>
            <a:ext cx="10652760" cy="393192"/>
          </a:xfrm>
          <a:prstGeom prst="rect">
            <a:avLst/>
          </a:prstGeom>
          <a:noFill/>
        </p:spPr>
        <p:txBody>
          <a:bodyPr wrap="square" lIns="0" tIns="9144" rIns="0" bIns="9144" anchor="ctr">
            <a:spAutoFit/>
          </a:bodyPr>
          <a:lstStyle/>
          <a:p>
            <a:pPr algn="l">
              <a:spcBef>
                <a:spcPts val="0"/>
              </a:spcBef>
              <a:spcAft>
                <a:spcPts val="0"/>
              </a:spcAft>
            </a:pPr>
            <a:r>
              <a:rPr sz="2100" b="1">
                <a:solidFill>
                  <a:srgbClr val="0F233D"/>
                </a:solidFill>
                <a:latin typeface="Arial"/>
              </a:rPr>
              <a:t>What makes a run usable for one gene?</a:t>
            </a:r>
          </a:p>
        </p:txBody>
      </p:sp>
      <p:sp>
        <p:nvSpPr>
          <p:cNvPr id="3" name="TextBox 2"/>
          <p:cNvSpPr txBox="1"/>
          <p:nvPr/>
        </p:nvSpPr>
        <p:spPr>
          <a:xfrm>
            <a:off x="548640" y="859536"/>
            <a:ext cx="10927080" cy="292608"/>
          </a:xfrm>
          <a:prstGeom prst="rect">
            <a:avLst/>
          </a:prstGeom>
          <a:noFill/>
        </p:spPr>
        <p:txBody>
          <a:bodyPr wrap="square" lIns="0" tIns="9144" rIns="0" bIns="9144" anchor="ctr">
            <a:spAutoFit/>
          </a:bodyPr>
          <a:lstStyle/>
          <a:p>
            <a:pPr algn="l">
              <a:spcBef>
                <a:spcPts val="0"/>
              </a:spcBef>
              <a:spcAft>
                <a:spcPts val="0"/>
              </a:spcAft>
            </a:pPr>
            <a:r>
              <a:rPr sz="1120" b="0">
                <a:solidFill>
                  <a:srgbClr val="4E5A68"/>
                </a:solidFill>
                <a:latin typeface="Arial"/>
              </a:rPr>
              <a:t>Run eligibility is global; usability is gene-specific—and significance is not required.</a:t>
            </a:r>
          </a:p>
        </p:txBody>
      </p:sp>
      <p:sp>
        <p:nvSpPr>
          <p:cNvPr id="4" name="Rounded Rectangle 3"/>
          <p:cNvSpPr/>
          <p:nvPr/>
        </p:nvSpPr>
        <p:spPr>
          <a:xfrm>
            <a:off x="603504" y="1335024"/>
            <a:ext cx="6565392" cy="4553712"/>
          </a:xfrm>
          <a:prstGeom prst="roundRect">
            <a:avLst>
              <a:gd name="adj" fmla="val 8000"/>
            </a:avLst>
          </a:prstGeom>
          <a:solidFill>
            <a:srgbClr val="EA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59536" y="1581912"/>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545336"/>
            <a:ext cx="5440680" cy="329184"/>
          </a:xfrm>
          <a:prstGeom prst="rect">
            <a:avLst/>
          </a:prstGeom>
          <a:noFill/>
        </p:spPr>
        <p:txBody>
          <a:bodyPr wrap="square" lIns="0" tIns="9144" rIns="0" bIns="9144" anchor="ctr">
            <a:spAutoFit/>
          </a:bodyPr>
          <a:lstStyle/>
          <a:p>
            <a:pPr algn="l">
              <a:spcBef>
                <a:spcPts val="0"/>
              </a:spcBef>
              <a:spcAft>
                <a:spcPts val="0"/>
              </a:spcAft>
            </a:pPr>
            <a:r>
              <a:rPr sz="1520" b="1">
                <a:solidFill>
                  <a:srgbClr val="0F233D"/>
                </a:solidFill>
                <a:latin typeface="Arial"/>
              </a:rPr>
              <a:t>Four possible gene × run states</a:t>
            </a:r>
          </a:p>
        </p:txBody>
      </p:sp>
      <p:sp>
        <p:nvSpPr>
          <p:cNvPr id="7" name="Rounded Rectangle 6"/>
          <p:cNvSpPr/>
          <p:nvPr/>
        </p:nvSpPr>
        <p:spPr>
          <a:xfrm>
            <a:off x="932688" y="1993392"/>
            <a:ext cx="5852160" cy="621792"/>
          </a:xfrm>
          <a:prstGeom prst="roundRect">
            <a:avLst>
              <a:gd name="adj" fmla="val 8000"/>
            </a:avLst>
          </a:prstGeom>
          <a:solidFill>
            <a:srgbClr val="FFFFFF"/>
          </a:solidFill>
          <a:ln w="10160">
            <a:solidFill>
              <a:srgbClr val="DD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 y="2057400"/>
            <a:ext cx="4160520" cy="237744"/>
          </a:xfrm>
          <a:prstGeom prst="rect">
            <a:avLst/>
          </a:prstGeom>
          <a:noFill/>
        </p:spPr>
        <p:txBody>
          <a:bodyPr wrap="square" lIns="0" tIns="9144" rIns="0" bIns="9144" anchor="ctr">
            <a:spAutoFit/>
          </a:bodyPr>
          <a:lstStyle/>
          <a:p>
            <a:pPr algn="l">
              <a:spcBef>
                <a:spcPts val="0"/>
              </a:spcBef>
              <a:spcAft>
                <a:spcPts val="0"/>
              </a:spcAft>
            </a:pPr>
            <a:r>
              <a:rPr sz="1220" b="1">
                <a:solidFill>
                  <a:srgbClr val="0F233D"/>
                </a:solidFill>
                <a:latin typeface="Arial"/>
              </a:rPr>
              <a:t>Explicit test • positive overlap</a:t>
            </a:r>
          </a:p>
        </p:txBody>
      </p:sp>
      <p:sp>
        <p:nvSpPr>
          <p:cNvPr id="9" name="TextBox 8"/>
          <p:cNvSpPr txBox="1"/>
          <p:nvPr/>
        </p:nvSpPr>
        <p:spPr>
          <a:xfrm>
            <a:off x="1143000" y="2304288"/>
            <a:ext cx="4251960" cy="201168"/>
          </a:xfrm>
          <a:prstGeom prst="rect">
            <a:avLst/>
          </a:prstGeom>
          <a:noFill/>
        </p:spPr>
        <p:txBody>
          <a:bodyPr wrap="square" lIns="0" tIns="9144" rIns="0" bIns="9144" anchor="ctr">
            <a:spAutoFit/>
          </a:bodyPr>
          <a:lstStyle/>
          <a:p>
            <a:pPr algn="l">
              <a:spcBef>
                <a:spcPts val="0"/>
              </a:spcBef>
              <a:spcAft>
                <a:spcPts val="0"/>
              </a:spcAft>
            </a:pPr>
            <a:r>
              <a:rPr sz="969" b="0">
                <a:solidFill>
                  <a:srgbClr val="4E5A68"/>
                </a:solidFill>
                <a:latin typeface="Arial"/>
              </a:rPr>
              <a:t>ACAT input: reconstructed final_raw_p</a:t>
            </a:r>
          </a:p>
        </p:txBody>
      </p:sp>
      <p:sp>
        <p:nvSpPr>
          <p:cNvPr id="10" name="Rounded Rectangle 9"/>
          <p:cNvSpPr/>
          <p:nvPr/>
        </p:nvSpPr>
        <p:spPr>
          <a:xfrm>
            <a:off x="5358384" y="2148840"/>
            <a:ext cx="1161288" cy="310896"/>
          </a:xfrm>
          <a:prstGeom prst="roundRect">
            <a:avLst>
              <a:gd name="adj" fmla="val 8000"/>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376672" y="2157984"/>
            <a:ext cx="1124712" cy="274320"/>
          </a:xfrm>
          <a:prstGeom prst="rect">
            <a:avLst/>
          </a:prstGeom>
          <a:noFill/>
        </p:spPr>
        <p:txBody>
          <a:bodyPr wrap="square" lIns="0" tIns="9144" rIns="0" bIns="9144" anchor="ctr">
            <a:spAutoFit/>
          </a:bodyPr>
          <a:lstStyle/>
          <a:p>
            <a:pPr algn="ctr">
              <a:spcBef>
                <a:spcPts val="0"/>
              </a:spcBef>
              <a:spcAft>
                <a:spcPts val="0"/>
              </a:spcAft>
            </a:pPr>
            <a:r>
              <a:rPr sz="919" b="1">
                <a:solidFill>
                  <a:srgbClr val="009E73"/>
                </a:solidFill>
                <a:latin typeface="Arial"/>
              </a:rPr>
              <a:t>USABLE</a:t>
            </a:r>
          </a:p>
        </p:txBody>
      </p:sp>
      <p:sp>
        <p:nvSpPr>
          <p:cNvPr id="12" name="Rounded Rectangle 11"/>
          <p:cNvSpPr/>
          <p:nvPr/>
        </p:nvSpPr>
        <p:spPr>
          <a:xfrm>
            <a:off x="932688" y="2706624"/>
            <a:ext cx="5852160" cy="621792"/>
          </a:xfrm>
          <a:prstGeom prst="roundRect">
            <a:avLst>
              <a:gd name="adj" fmla="val 8000"/>
            </a:avLst>
          </a:prstGeom>
          <a:solidFill>
            <a:srgbClr val="FFFFFF"/>
          </a:solidFill>
          <a:ln w="10160">
            <a:solidFill>
              <a:srgbClr val="DD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2770632"/>
            <a:ext cx="4160520" cy="237744"/>
          </a:xfrm>
          <a:prstGeom prst="rect">
            <a:avLst/>
          </a:prstGeom>
          <a:noFill/>
        </p:spPr>
        <p:txBody>
          <a:bodyPr wrap="square" lIns="0" tIns="9144" rIns="0" bIns="9144" anchor="ctr">
            <a:spAutoFit/>
          </a:bodyPr>
          <a:lstStyle/>
          <a:p>
            <a:pPr algn="l">
              <a:spcBef>
                <a:spcPts val="0"/>
              </a:spcBef>
              <a:spcAft>
                <a:spcPts val="0"/>
              </a:spcAft>
            </a:pPr>
            <a:r>
              <a:rPr sz="1220" b="1">
                <a:solidFill>
                  <a:srgbClr val="0F233D"/>
                </a:solidFill>
                <a:latin typeface="Arial"/>
              </a:rPr>
              <a:t>Explicit test • zero overlap</a:t>
            </a:r>
          </a:p>
        </p:txBody>
      </p:sp>
      <p:sp>
        <p:nvSpPr>
          <p:cNvPr id="14" name="TextBox 13"/>
          <p:cNvSpPr txBox="1"/>
          <p:nvPr/>
        </p:nvSpPr>
        <p:spPr>
          <a:xfrm>
            <a:off x="1143000" y="3017520"/>
            <a:ext cx="4251960" cy="201168"/>
          </a:xfrm>
          <a:prstGeom prst="rect">
            <a:avLst/>
          </a:prstGeom>
          <a:noFill/>
        </p:spPr>
        <p:txBody>
          <a:bodyPr wrap="square" lIns="0" tIns="9144" rIns="0" bIns="9144" anchor="ctr">
            <a:spAutoFit/>
          </a:bodyPr>
          <a:lstStyle/>
          <a:p>
            <a:pPr algn="l">
              <a:spcBef>
                <a:spcPts val="0"/>
              </a:spcBef>
              <a:spcAft>
                <a:spcPts val="0"/>
              </a:spcAft>
            </a:pPr>
            <a:r>
              <a:rPr sz="969" b="0">
                <a:solidFill>
                  <a:srgbClr val="4E5A68"/>
                </a:solidFill>
                <a:latin typeface="Arial"/>
              </a:rPr>
              <a:t>ACAT input: P = 1</a:t>
            </a:r>
          </a:p>
        </p:txBody>
      </p:sp>
      <p:sp>
        <p:nvSpPr>
          <p:cNvPr id="15" name="Rounded Rectangle 14"/>
          <p:cNvSpPr/>
          <p:nvPr/>
        </p:nvSpPr>
        <p:spPr>
          <a:xfrm>
            <a:off x="5358384" y="2862072"/>
            <a:ext cx="1161288" cy="310896"/>
          </a:xfrm>
          <a:prstGeom prst="roundRect">
            <a:avLst>
              <a:gd name="adj" fmla="val 8000"/>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76672" y="2871216"/>
            <a:ext cx="1124712" cy="274320"/>
          </a:xfrm>
          <a:prstGeom prst="rect">
            <a:avLst/>
          </a:prstGeom>
          <a:noFill/>
        </p:spPr>
        <p:txBody>
          <a:bodyPr wrap="square" lIns="0" tIns="9144" rIns="0" bIns="9144" anchor="ctr">
            <a:spAutoFit/>
          </a:bodyPr>
          <a:lstStyle/>
          <a:p>
            <a:pPr algn="ctr">
              <a:spcBef>
                <a:spcPts val="0"/>
              </a:spcBef>
              <a:spcAft>
                <a:spcPts val="0"/>
              </a:spcAft>
            </a:pPr>
            <a:r>
              <a:rPr sz="919" b="1">
                <a:solidFill>
                  <a:srgbClr val="009E73"/>
                </a:solidFill>
                <a:latin typeface="Arial"/>
              </a:rPr>
              <a:t>USABLE</a:t>
            </a:r>
          </a:p>
        </p:txBody>
      </p:sp>
      <p:sp>
        <p:nvSpPr>
          <p:cNvPr id="17" name="Rounded Rectangle 16"/>
          <p:cNvSpPr/>
          <p:nvPr/>
        </p:nvSpPr>
        <p:spPr>
          <a:xfrm>
            <a:off x="932688" y="3419856"/>
            <a:ext cx="5852160" cy="621792"/>
          </a:xfrm>
          <a:prstGeom prst="roundRect">
            <a:avLst>
              <a:gd name="adj" fmla="val 8000"/>
            </a:avLst>
          </a:prstGeom>
          <a:solidFill>
            <a:srgbClr val="FFFFFF"/>
          </a:solidFill>
          <a:ln w="10160">
            <a:solidFill>
              <a:srgbClr val="DD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43000" y="3483864"/>
            <a:ext cx="4160520" cy="237744"/>
          </a:xfrm>
          <a:prstGeom prst="rect">
            <a:avLst/>
          </a:prstGeom>
          <a:noFill/>
        </p:spPr>
        <p:txBody>
          <a:bodyPr wrap="square" lIns="0" tIns="9144" rIns="0" bIns="9144" anchor="ctr">
            <a:spAutoFit/>
          </a:bodyPr>
          <a:lstStyle/>
          <a:p>
            <a:pPr algn="l">
              <a:spcBef>
                <a:spcPts val="0"/>
              </a:spcBef>
              <a:spcAft>
                <a:spcPts val="0"/>
              </a:spcAft>
            </a:pPr>
            <a:r>
              <a:rPr sz="1220" b="1">
                <a:solidFill>
                  <a:srgbClr val="0F233D"/>
                </a:solidFill>
                <a:latin typeface="Arial"/>
              </a:rPr>
              <a:t>In background • outside explicit family</a:t>
            </a:r>
          </a:p>
        </p:txBody>
      </p:sp>
      <p:sp>
        <p:nvSpPr>
          <p:cNvPr id="19" name="TextBox 18"/>
          <p:cNvSpPr txBox="1"/>
          <p:nvPr/>
        </p:nvSpPr>
        <p:spPr>
          <a:xfrm>
            <a:off x="1143000" y="3730752"/>
            <a:ext cx="4251960" cy="201168"/>
          </a:xfrm>
          <a:prstGeom prst="rect">
            <a:avLst/>
          </a:prstGeom>
          <a:noFill/>
        </p:spPr>
        <p:txBody>
          <a:bodyPr wrap="square" lIns="0" tIns="9144" rIns="0" bIns="9144" anchor="ctr">
            <a:spAutoFit/>
          </a:bodyPr>
          <a:lstStyle/>
          <a:p>
            <a:pPr algn="l">
              <a:spcBef>
                <a:spcPts val="0"/>
              </a:spcBef>
              <a:spcAft>
                <a:spcPts val="0"/>
              </a:spcAft>
            </a:pPr>
            <a:r>
              <a:rPr sz="969" b="0">
                <a:solidFill>
                  <a:srgbClr val="4E5A68"/>
                </a:solidFill>
                <a:latin typeface="Arial"/>
              </a:rPr>
              <a:t>Implicit zero-overlap evidence: P = 1</a:t>
            </a:r>
          </a:p>
        </p:txBody>
      </p:sp>
      <p:sp>
        <p:nvSpPr>
          <p:cNvPr id="20" name="Rounded Rectangle 19"/>
          <p:cNvSpPr/>
          <p:nvPr/>
        </p:nvSpPr>
        <p:spPr>
          <a:xfrm>
            <a:off x="5358384" y="3575304"/>
            <a:ext cx="1161288" cy="310896"/>
          </a:xfrm>
          <a:prstGeom prst="roundRect">
            <a:avLst>
              <a:gd name="adj" fmla="val 8000"/>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76672" y="3584448"/>
            <a:ext cx="1124712" cy="274320"/>
          </a:xfrm>
          <a:prstGeom prst="rect">
            <a:avLst/>
          </a:prstGeom>
          <a:noFill/>
        </p:spPr>
        <p:txBody>
          <a:bodyPr wrap="square" lIns="0" tIns="9144" rIns="0" bIns="9144" anchor="ctr">
            <a:spAutoFit/>
          </a:bodyPr>
          <a:lstStyle/>
          <a:p>
            <a:pPr algn="ctr">
              <a:spcBef>
                <a:spcPts val="0"/>
              </a:spcBef>
              <a:spcAft>
                <a:spcPts val="0"/>
              </a:spcAft>
            </a:pPr>
            <a:r>
              <a:rPr sz="919" b="1">
                <a:solidFill>
                  <a:srgbClr val="009E73"/>
                </a:solidFill>
                <a:latin typeface="Arial"/>
              </a:rPr>
              <a:t>USABLE</a:t>
            </a:r>
          </a:p>
        </p:txBody>
      </p:sp>
      <p:sp>
        <p:nvSpPr>
          <p:cNvPr id="22" name="Rounded Rectangle 21"/>
          <p:cNvSpPr/>
          <p:nvPr/>
        </p:nvSpPr>
        <p:spPr>
          <a:xfrm>
            <a:off x="932688" y="4133087"/>
            <a:ext cx="5852160" cy="621792"/>
          </a:xfrm>
          <a:prstGeom prst="roundRect">
            <a:avLst>
              <a:gd name="adj" fmla="val 8000"/>
            </a:avLst>
          </a:prstGeom>
          <a:solidFill>
            <a:srgbClr val="FFFFFF"/>
          </a:solidFill>
          <a:ln w="10160">
            <a:solidFill>
              <a:srgbClr val="DD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43000" y="4197096"/>
            <a:ext cx="4160520" cy="237744"/>
          </a:xfrm>
          <a:prstGeom prst="rect">
            <a:avLst/>
          </a:prstGeom>
          <a:noFill/>
        </p:spPr>
        <p:txBody>
          <a:bodyPr wrap="square" lIns="0" tIns="9144" rIns="0" bIns="9144" anchor="ctr">
            <a:spAutoFit/>
          </a:bodyPr>
          <a:lstStyle/>
          <a:p>
            <a:pPr algn="l">
              <a:spcBef>
                <a:spcPts val="0"/>
              </a:spcBef>
              <a:spcAft>
                <a:spcPts val="0"/>
              </a:spcAft>
            </a:pPr>
            <a:r>
              <a:rPr sz="1220" b="1">
                <a:solidFill>
                  <a:srgbClr val="0F233D"/>
                </a:solidFill>
                <a:latin typeface="Arial"/>
              </a:rPr>
              <a:t>Absent from this run’s background</a:t>
            </a:r>
          </a:p>
        </p:txBody>
      </p:sp>
      <p:sp>
        <p:nvSpPr>
          <p:cNvPr id="24" name="TextBox 23"/>
          <p:cNvSpPr txBox="1"/>
          <p:nvPr/>
        </p:nvSpPr>
        <p:spPr>
          <a:xfrm>
            <a:off x="1143000" y="4443983"/>
            <a:ext cx="4251960" cy="201168"/>
          </a:xfrm>
          <a:prstGeom prst="rect">
            <a:avLst/>
          </a:prstGeom>
          <a:noFill/>
        </p:spPr>
        <p:txBody>
          <a:bodyPr wrap="square" lIns="0" tIns="9144" rIns="0" bIns="9144" anchor="ctr">
            <a:spAutoFit/>
          </a:bodyPr>
          <a:lstStyle/>
          <a:p>
            <a:pPr algn="l">
              <a:spcBef>
                <a:spcPts val="0"/>
              </a:spcBef>
              <a:spcAft>
                <a:spcPts val="0"/>
              </a:spcAft>
            </a:pPr>
            <a:r>
              <a:rPr sz="969" b="0">
                <a:solidFill>
                  <a:srgbClr val="4E5A68"/>
                </a:solidFill>
                <a:latin typeface="Arial"/>
              </a:rPr>
              <a:t>No assessable evidence: NA; omit from ACAT</a:t>
            </a:r>
          </a:p>
        </p:txBody>
      </p:sp>
      <p:sp>
        <p:nvSpPr>
          <p:cNvPr id="25" name="Rounded Rectangle 24"/>
          <p:cNvSpPr/>
          <p:nvPr/>
        </p:nvSpPr>
        <p:spPr>
          <a:xfrm>
            <a:off x="5358384" y="4288536"/>
            <a:ext cx="1161288" cy="310896"/>
          </a:xfrm>
          <a:prstGeom prst="roundRect">
            <a:avLst>
              <a:gd name="adj" fmla="val 8000"/>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376672" y="4297679"/>
            <a:ext cx="1124712" cy="274320"/>
          </a:xfrm>
          <a:prstGeom prst="rect">
            <a:avLst/>
          </a:prstGeom>
          <a:noFill/>
        </p:spPr>
        <p:txBody>
          <a:bodyPr wrap="square" lIns="0" tIns="9144" rIns="0" bIns="9144" anchor="ctr">
            <a:spAutoFit/>
          </a:bodyPr>
          <a:lstStyle/>
          <a:p>
            <a:pPr algn="ctr">
              <a:spcBef>
                <a:spcPts val="0"/>
              </a:spcBef>
              <a:spcAft>
                <a:spcPts val="0"/>
              </a:spcAft>
            </a:pPr>
            <a:r>
              <a:rPr sz="919" b="1">
                <a:solidFill>
                  <a:srgbClr val="D55E00"/>
                </a:solidFill>
                <a:latin typeface="Arial"/>
              </a:rPr>
              <a:t>NOT USABLE</a:t>
            </a:r>
          </a:p>
        </p:txBody>
      </p:sp>
      <p:sp>
        <p:nvSpPr>
          <p:cNvPr id="27" name="TextBox 26"/>
          <p:cNvSpPr txBox="1"/>
          <p:nvPr/>
        </p:nvSpPr>
        <p:spPr>
          <a:xfrm>
            <a:off x="960120" y="5001768"/>
            <a:ext cx="5788152" cy="365760"/>
          </a:xfrm>
          <a:prstGeom prst="rect">
            <a:avLst/>
          </a:prstGeom>
          <a:noFill/>
        </p:spPr>
        <p:txBody>
          <a:bodyPr wrap="square" lIns="0" tIns="9144" rIns="0" bIns="9144" anchor="ctr">
            <a:spAutoFit/>
          </a:bodyPr>
          <a:lstStyle/>
          <a:p>
            <a:pPr algn="ctr">
              <a:spcBef>
                <a:spcPts val="0"/>
              </a:spcBef>
              <a:spcAft>
                <a:spcPts val="0"/>
              </a:spcAft>
            </a:pPr>
            <a:r>
              <a:rPr sz="1110" b="1">
                <a:solidFill>
                  <a:srgbClr val="0072B2"/>
                </a:solidFill>
                <a:latin typeface="Arial"/>
              </a:rPr>
              <a:t>Only background absence makes the gene × run row unusable.</a:t>
            </a:r>
          </a:p>
        </p:txBody>
      </p:sp>
      <p:sp>
        <p:nvSpPr>
          <p:cNvPr id="28" name="TextBox 27"/>
          <p:cNvSpPr txBox="1"/>
          <p:nvPr/>
        </p:nvSpPr>
        <p:spPr>
          <a:xfrm>
            <a:off x="996696" y="5367528"/>
            <a:ext cx="5715000" cy="246888"/>
          </a:xfrm>
          <a:prstGeom prst="rect">
            <a:avLst/>
          </a:prstGeom>
          <a:noFill/>
        </p:spPr>
        <p:txBody>
          <a:bodyPr wrap="square" lIns="0" tIns="9144" rIns="0" bIns="9144" anchor="ctr">
            <a:spAutoFit/>
          </a:bodyPr>
          <a:lstStyle/>
          <a:p>
            <a:pPr algn="ctr">
              <a:spcBef>
                <a:spcPts val="0"/>
              </a:spcBef>
              <a:spcAft>
                <a:spcPts val="0"/>
              </a:spcAft>
            </a:pPr>
            <a:r>
              <a:rPr sz="960" b="0">
                <a:solidFill>
                  <a:srgbClr val="4E5A68"/>
                </a:solidFill>
                <a:latin typeface="Arial"/>
              </a:rPr>
              <a:t>An included KDA call can therefore be usable for one gene and missing for another.</a:t>
            </a:r>
          </a:p>
        </p:txBody>
      </p:sp>
      <p:sp>
        <p:nvSpPr>
          <p:cNvPr id="29" name="Rounded Rectangle 28"/>
          <p:cNvSpPr/>
          <p:nvPr/>
        </p:nvSpPr>
        <p:spPr>
          <a:xfrm>
            <a:off x="7388352" y="1335024"/>
            <a:ext cx="4169663" cy="3172968"/>
          </a:xfrm>
          <a:prstGeom prst="roundRect">
            <a:avLst>
              <a:gd name="adj" fmla="val 8000"/>
            </a:avLst>
          </a:prstGeom>
          <a:solidFill>
            <a:srgbClr val="FFFFFF"/>
          </a:solidFill>
          <a:ln w="10160">
            <a:solidFill>
              <a:srgbClr val="DD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653527" y="1581912"/>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90688" y="1545336"/>
            <a:ext cx="3364992" cy="329184"/>
          </a:xfrm>
          <a:prstGeom prst="rect">
            <a:avLst/>
          </a:prstGeom>
          <a:noFill/>
        </p:spPr>
        <p:txBody>
          <a:bodyPr wrap="square" lIns="0" tIns="9144" rIns="0" bIns="9144" anchor="ctr">
            <a:spAutoFit/>
          </a:bodyPr>
          <a:lstStyle/>
          <a:p>
            <a:pPr algn="l">
              <a:spcBef>
                <a:spcPts val="0"/>
              </a:spcBef>
              <a:spcAft>
                <a:spcPts val="0"/>
              </a:spcAft>
            </a:pPr>
            <a:r>
              <a:rPr sz="1520" b="1">
                <a:solidFill>
                  <a:srgbClr val="0F233D"/>
                </a:solidFill>
                <a:latin typeface="Arial"/>
              </a:rPr>
              <a:t>Coverage for one gene</a:t>
            </a:r>
          </a:p>
        </p:txBody>
      </p:sp>
      <p:sp>
        <p:nvSpPr>
          <p:cNvPr id="32" name="TextBox 31"/>
          <p:cNvSpPr txBox="1"/>
          <p:nvPr/>
        </p:nvSpPr>
        <p:spPr>
          <a:xfrm>
            <a:off x="7662672" y="1993392"/>
            <a:ext cx="1243584" cy="201168"/>
          </a:xfrm>
          <a:prstGeom prst="rect">
            <a:avLst/>
          </a:prstGeom>
          <a:noFill/>
        </p:spPr>
        <p:txBody>
          <a:bodyPr wrap="square" lIns="0" tIns="9144" rIns="0" bIns="9144" anchor="ctr">
            <a:spAutoFit/>
          </a:bodyPr>
          <a:lstStyle/>
          <a:p>
            <a:pPr algn="l">
              <a:spcBef>
                <a:spcPts val="0"/>
              </a:spcBef>
              <a:spcAft>
                <a:spcPts val="0"/>
              </a:spcAft>
            </a:pPr>
            <a:r>
              <a:rPr sz="910" b="1">
                <a:solidFill>
                  <a:srgbClr val="0072B2"/>
                </a:solidFill>
                <a:latin typeface="Arial"/>
              </a:rPr>
              <a:t>ELIGIBLE RUNS</a:t>
            </a:r>
          </a:p>
        </p:txBody>
      </p:sp>
      <p:sp>
        <p:nvSpPr>
          <p:cNvPr id="33" name="TextBox 32"/>
          <p:cNvSpPr txBox="1"/>
          <p:nvPr/>
        </p:nvSpPr>
        <p:spPr>
          <a:xfrm>
            <a:off x="8887968" y="1947672"/>
            <a:ext cx="2267712" cy="283464"/>
          </a:xfrm>
          <a:prstGeom prst="rect">
            <a:avLst/>
          </a:prstGeom>
          <a:noFill/>
        </p:spPr>
        <p:txBody>
          <a:bodyPr wrap="square" lIns="0" tIns="9144" rIns="0" bIns="9144" anchor="ctr">
            <a:spAutoFit/>
          </a:bodyPr>
          <a:lstStyle/>
          <a:p>
            <a:pPr algn="l">
              <a:spcBef>
                <a:spcPts val="0"/>
              </a:spcBef>
              <a:spcAft>
                <a:spcPts val="0"/>
              </a:spcAft>
            </a:pPr>
            <a:r>
              <a:rPr sz="1000" b="0">
                <a:solidFill>
                  <a:srgbClr val="1F2730"/>
                </a:solidFill>
                <a:latin typeface="Arial"/>
              </a:rPr>
              <a:t>all included calls in this category</a:t>
            </a:r>
          </a:p>
        </p:txBody>
      </p:sp>
      <p:sp>
        <p:nvSpPr>
          <p:cNvPr id="34" name="TextBox 33"/>
          <p:cNvSpPr txBox="1"/>
          <p:nvPr/>
        </p:nvSpPr>
        <p:spPr>
          <a:xfrm>
            <a:off x="7662672" y="2441448"/>
            <a:ext cx="1243584" cy="201168"/>
          </a:xfrm>
          <a:prstGeom prst="rect">
            <a:avLst/>
          </a:prstGeom>
          <a:noFill/>
        </p:spPr>
        <p:txBody>
          <a:bodyPr wrap="square" lIns="0" tIns="9144" rIns="0" bIns="9144" anchor="ctr">
            <a:spAutoFit/>
          </a:bodyPr>
          <a:lstStyle/>
          <a:p>
            <a:pPr algn="l">
              <a:spcBef>
                <a:spcPts val="0"/>
              </a:spcBef>
              <a:spcAft>
                <a:spcPts val="0"/>
              </a:spcAft>
            </a:pPr>
            <a:r>
              <a:rPr sz="910" b="1">
                <a:solidFill>
                  <a:srgbClr val="009E73"/>
                </a:solidFill>
                <a:latin typeface="Arial"/>
              </a:rPr>
              <a:t>USABLE RUNS</a:t>
            </a:r>
          </a:p>
        </p:txBody>
      </p:sp>
      <p:sp>
        <p:nvSpPr>
          <p:cNvPr id="35" name="TextBox 34"/>
          <p:cNvSpPr txBox="1"/>
          <p:nvPr/>
        </p:nvSpPr>
        <p:spPr>
          <a:xfrm>
            <a:off x="8887968" y="2368296"/>
            <a:ext cx="2267712" cy="356616"/>
          </a:xfrm>
          <a:prstGeom prst="rect">
            <a:avLst/>
          </a:prstGeom>
          <a:noFill/>
        </p:spPr>
        <p:txBody>
          <a:bodyPr wrap="square" lIns="0" tIns="9144" rIns="0" bIns="9144" anchor="ctr">
            <a:spAutoFit/>
          </a:bodyPr>
          <a:lstStyle/>
          <a:p>
            <a:pPr algn="l">
              <a:spcBef>
                <a:spcPts val="0"/>
              </a:spcBef>
              <a:spcAft>
                <a:spcPts val="0"/>
              </a:spcAft>
            </a:pPr>
            <a:r>
              <a:rPr sz="1000" b="0">
                <a:solidFill>
                  <a:srgbClr val="1F2730"/>
                </a:solidFill>
                <a:latin typeface="Arial"/>
              </a:rPr>
              <a:t>calls where this gene is in the background</a:t>
            </a:r>
          </a:p>
        </p:txBody>
      </p:sp>
      <p:sp>
        <p:nvSpPr>
          <p:cNvPr id="36" name="Rounded Rectangle 35"/>
          <p:cNvSpPr/>
          <p:nvPr/>
        </p:nvSpPr>
        <p:spPr>
          <a:xfrm>
            <a:off x="7662672" y="2907792"/>
            <a:ext cx="3602736" cy="566928"/>
          </a:xfrm>
          <a:prstGeom prst="roundRect">
            <a:avLst>
              <a:gd name="adj" fmla="val 8000"/>
            </a:avLst>
          </a:prstGeom>
          <a:solidFill>
            <a:srgbClr val="EA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81544" y="2980944"/>
            <a:ext cx="3374136" cy="384048"/>
          </a:xfrm>
          <a:prstGeom prst="rect">
            <a:avLst/>
          </a:prstGeom>
          <a:noFill/>
        </p:spPr>
        <p:txBody>
          <a:bodyPr wrap="square" lIns="0" tIns="9144" rIns="0" bIns="9144" anchor="ctr">
            <a:spAutoFit/>
          </a:bodyPr>
          <a:lstStyle/>
          <a:p>
            <a:pPr algn="ctr">
              <a:spcBef>
                <a:spcPts val="0"/>
              </a:spcBef>
              <a:spcAft>
                <a:spcPts val="0"/>
              </a:spcAft>
            </a:pPr>
            <a:r>
              <a:rPr sz="1320" b="1">
                <a:solidFill>
                  <a:srgbClr val="0072B2"/>
                </a:solidFill>
                <a:latin typeface="Arial"/>
              </a:rPr>
              <a:t>coverage = usable runs / eligible runs</a:t>
            </a:r>
          </a:p>
        </p:txBody>
      </p:sp>
      <p:sp>
        <p:nvSpPr>
          <p:cNvPr id="38" name="TextBox 37"/>
          <p:cNvSpPr txBox="1"/>
          <p:nvPr/>
        </p:nvSpPr>
        <p:spPr>
          <a:xfrm>
            <a:off x="7662672" y="3648456"/>
            <a:ext cx="3547872" cy="228600"/>
          </a:xfrm>
          <a:prstGeom prst="rect">
            <a:avLst/>
          </a:prstGeom>
          <a:noFill/>
        </p:spPr>
        <p:txBody>
          <a:bodyPr wrap="square" lIns="0" tIns="9144" rIns="0" bIns="9144" anchor="ctr">
            <a:spAutoFit/>
          </a:bodyPr>
          <a:lstStyle/>
          <a:p>
            <a:pPr algn="l">
              <a:spcBef>
                <a:spcPts val="0"/>
              </a:spcBef>
              <a:spcAft>
                <a:spcPts val="0"/>
              </a:spcAft>
            </a:pPr>
            <a:r>
              <a:rPr sz="960" b="1">
                <a:solidFill>
                  <a:srgbClr val="4E5A68"/>
                </a:solidFill>
                <a:latin typeface="Arial"/>
              </a:rPr>
              <a:t>Current example • ATF4, Female/e2 Astrocytes</a:t>
            </a:r>
          </a:p>
        </p:txBody>
      </p:sp>
      <p:sp>
        <p:nvSpPr>
          <p:cNvPr id="39" name="TextBox 38"/>
          <p:cNvSpPr txBox="1"/>
          <p:nvPr/>
        </p:nvSpPr>
        <p:spPr>
          <a:xfrm>
            <a:off x="7662672" y="3886200"/>
            <a:ext cx="3547872" cy="274320"/>
          </a:xfrm>
          <a:prstGeom prst="rect">
            <a:avLst/>
          </a:prstGeom>
          <a:noFill/>
        </p:spPr>
        <p:txBody>
          <a:bodyPr wrap="square" lIns="0" tIns="9144" rIns="0" bIns="9144" anchor="ctr">
            <a:spAutoFit/>
          </a:bodyPr>
          <a:lstStyle/>
          <a:p>
            <a:pPr algn="l">
              <a:spcBef>
                <a:spcPts val="0"/>
              </a:spcBef>
              <a:spcAft>
                <a:spcPts val="0"/>
              </a:spcAft>
            </a:pPr>
            <a:r>
              <a:rPr sz="1300" b="1">
                <a:solidFill>
                  <a:srgbClr val="0F233D"/>
                </a:solidFill>
                <a:latin typeface="Arial"/>
              </a:rPr>
              <a:t>4 usable / 6 eligible = 0.667</a:t>
            </a:r>
          </a:p>
        </p:txBody>
      </p:sp>
      <p:sp>
        <p:nvSpPr>
          <p:cNvPr id="40" name="TextBox 39"/>
          <p:cNvSpPr txBox="1"/>
          <p:nvPr/>
        </p:nvSpPr>
        <p:spPr>
          <a:xfrm>
            <a:off x="7662672" y="4160520"/>
            <a:ext cx="3547872" cy="201168"/>
          </a:xfrm>
          <a:prstGeom prst="rect">
            <a:avLst/>
          </a:prstGeom>
          <a:noFill/>
        </p:spPr>
        <p:txBody>
          <a:bodyPr wrap="square" lIns="0" tIns="9144" rIns="0" bIns="9144" anchor="ctr">
            <a:spAutoFit/>
          </a:bodyPr>
          <a:lstStyle/>
          <a:p>
            <a:pPr algn="l">
              <a:spcBef>
                <a:spcPts val="0"/>
              </a:spcBef>
              <a:spcAft>
                <a:spcPts val="0"/>
              </a:spcAft>
            </a:pPr>
            <a:r>
              <a:rPr sz="940" b="0">
                <a:solidFill>
                  <a:srgbClr val="4E5A68"/>
                </a:solidFill>
                <a:latin typeface="Arial"/>
              </a:rPr>
              <a:t>passes relaxed ≥0.50  •  fails strict ≥0.80</a:t>
            </a:r>
          </a:p>
        </p:txBody>
      </p:sp>
      <p:sp>
        <p:nvSpPr>
          <p:cNvPr id="41" name="Rounded Rectangle 40"/>
          <p:cNvSpPr/>
          <p:nvPr/>
        </p:nvSpPr>
        <p:spPr>
          <a:xfrm>
            <a:off x="7388352" y="4681728"/>
            <a:ext cx="4169663" cy="1207008"/>
          </a:xfrm>
          <a:prstGeom prst="roundRect">
            <a:avLst>
              <a:gd name="adj" fmla="val 8000"/>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662672" y="4882896"/>
            <a:ext cx="1517904" cy="210312"/>
          </a:xfrm>
          <a:prstGeom prst="rect">
            <a:avLst/>
          </a:prstGeom>
          <a:noFill/>
        </p:spPr>
        <p:txBody>
          <a:bodyPr wrap="square" lIns="0" tIns="9144" rIns="0" bIns="9144" anchor="ctr">
            <a:spAutoFit/>
          </a:bodyPr>
          <a:lstStyle/>
          <a:p>
            <a:pPr algn="l">
              <a:spcBef>
                <a:spcPts val="0"/>
              </a:spcBef>
              <a:spcAft>
                <a:spcPts val="0"/>
              </a:spcAft>
            </a:pPr>
            <a:r>
              <a:rPr sz="919" b="1">
                <a:solidFill>
                  <a:srgbClr val="D55E00"/>
                </a:solidFill>
                <a:latin typeface="Arial"/>
              </a:rPr>
              <a:t>KEY DISTINCTION</a:t>
            </a:r>
          </a:p>
        </p:txBody>
      </p:sp>
      <p:sp>
        <p:nvSpPr>
          <p:cNvPr id="43" name="TextBox 42"/>
          <p:cNvSpPr txBox="1"/>
          <p:nvPr/>
        </p:nvSpPr>
        <p:spPr>
          <a:xfrm>
            <a:off x="7662672" y="5138928"/>
            <a:ext cx="3529584" cy="539496"/>
          </a:xfrm>
          <a:prstGeom prst="rect">
            <a:avLst/>
          </a:prstGeom>
          <a:noFill/>
        </p:spPr>
        <p:txBody>
          <a:bodyPr wrap="square" lIns="0" tIns="9144" rIns="0" bIns="9144" anchor="t">
            <a:spAutoFit/>
          </a:bodyPr>
          <a:lstStyle/>
          <a:p>
            <a:pPr algn="l">
              <a:spcBef>
                <a:spcPts val="0"/>
              </a:spcBef>
              <a:spcAft>
                <a:spcPts val="0"/>
              </a:spcAft>
            </a:pPr>
            <a:r>
              <a:rPr sz="1110" b="1">
                <a:solidFill>
                  <a:srgbClr val="0F233D"/>
                </a:solidFill>
                <a:latin typeface="Arial"/>
              </a:rPr>
              <a:t>Usable ≠ significant or supporting. A P = 1 row is usable; only NA is omitted.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i="0" dirty="0">
                <a:solidFill>
                  <a:srgbClr val="0F233D"/>
                </a:solidFill>
                <a:latin typeface="Arial"/>
              </a:rPr>
              <a:t>Evaluate each gene returned by </a:t>
            </a:r>
            <a:r>
              <a:rPr lang="en-US" sz="2100" b="1" i="0" dirty="0" err="1">
                <a:solidFill>
                  <a:srgbClr val="0F233D"/>
                </a:solidFill>
                <a:latin typeface="Arial"/>
              </a:rPr>
              <a:t>call_key_driver</a:t>
            </a:r>
            <a:r>
              <a:rPr lang="en-US" sz="2100" b="1" i="0" dirty="0">
                <a:solidFill>
                  <a:srgbClr val="0F233D"/>
                </a:solidFill>
                <a:latin typeface="Arial"/>
              </a:rPr>
              <a:t> call</a:t>
            </a:r>
            <a:endParaRPr sz="2100" b="1" i="0" dirty="0">
              <a:solidFill>
                <a:srgbClr val="0F233D"/>
              </a:solidFill>
              <a:latin typeface="Arial"/>
            </a:endParaRP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dirty="0">
                <a:solidFill>
                  <a:srgbClr val="4E5A68"/>
                </a:solidFill>
                <a:latin typeface="Arial"/>
              </a:rPr>
              <a:t>ACAT significance alone is not sufficient for the primary candidate list.</a:t>
            </a:r>
          </a:p>
        </p:txBody>
      </p:sp>
      <p:sp>
        <p:nvSpPr>
          <p:cNvPr id="5" name="Rounded Rectangle 4"/>
          <p:cNvSpPr/>
          <p:nvPr/>
        </p:nvSpPr>
        <p:spPr>
          <a:xfrm>
            <a:off x="621792" y="1371600"/>
            <a:ext cx="3849624" cy="4471416"/>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86968"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33271" y="1664208"/>
            <a:ext cx="3154679"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1520" b="1" dirty="0">
                <a:solidFill>
                  <a:srgbClr val="0F233D"/>
                </a:solidFill>
                <a:latin typeface="Arial"/>
              </a:rPr>
              <a:t>“S</a:t>
            </a:r>
            <a:r>
              <a:rPr sz="1520" b="1" i="0" dirty="0">
                <a:solidFill>
                  <a:srgbClr val="0F233D"/>
                </a:solidFill>
                <a:latin typeface="Arial"/>
              </a:rPr>
              <a:t>upport</a:t>
            </a:r>
            <a:r>
              <a:rPr lang="en-US" sz="1520" b="1" i="0" dirty="0">
                <a:solidFill>
                  <a:srgbClr val="0F233D"/>
                </a:solidFill>
                <a:latin typeface="Arial"/>
              </a:rPr>
              <a:t>ed key driver"</a:t>
            </a:r>
            <a:r>
              <a:rPr sz="1520" b="1" i="0" dirty="0">
                <a:solidFill>
                  <a:srgbClr val="0F233D"/>
                </a:solidFill>
                <a:latin typeface="Arial"/>
              </a:rPr>
              <a:t> rule</a:t>
            </a:r>
          </a:p>
        </p:txBody>
      </p:sp>
      <p:sp>
        <p:nvSpPr>
          <p:cNvPr id="8" name="Oval 7"/>
          <p:cNvSpPr/>
          <p:nvPr/>
        </p:nvSpPr>
        <p:spPr>
          <a:xfrm>
            <a:off x="932688" y="2304288"/>
            <a:ext cx="384048" cy="384048"/>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386584"/>
            <a:ext cx="384048" cy="15544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50" b="1" i="0">
                <a:solidFill>
                  <a:srgbClr val="FFFFFF"/>
                </a:solidFill>
                <a:latin typeface="Arial"/>
              </a:rPr>
              <a:t>1</a:t>
            </a:r>
          </a:p>
        </p:txBody>
      </p:sp>
      <p:sp>
        <p:nvSpPr>
          <p:cNvPr id="10" name="Rounded Rectangle 9"/>
          <p:cNvSpPr/>
          <p:nvPr/>
        </p:nvSpPr>
        <p:spPr>
          <a:xfrm>
            <a:off x="1463040" y="2286000"/>
            <a:ext cx="2523744" cy="4480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36776" y="2377440"/>
            <a:ext cx="2176272" cy="21945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other_query_overlap ≥ 2</a:t>
            </a:r>
          </a:p>
        </p:txBody>
      </p:sp>
      <p:sp>
        <p:nvSpPr>
          <p:cNvPr id="12" name="Oval 11"/>
          <p:cNvSpPr/>
          <p:nvPr/>
        </p:nvSpPr>
        <p:spPr>
          <a:xfrm>
            <a:off x="932688" y="3081528"/>
            <a:ext cx="384048" cy="384048"/>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 y="3163824"/>
            <a:ext cx="384048" cy="15544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50" b="1" i="0">
                <a:solidFill>
                  <a:srgbClr val="FFFFFF"/>
                </a:solidFill>
                <a:latin typeface="Arial"/>
              </a:rPr>
              <a:t>2</a:t>
            </a:r>
          </a:p>
        </p:txBody>
      </p:sp>
      <p:sp>
        <p:nvSpPr>
          <p:cNvPr id="14" name="Rounded Rectangle 13"/>
          <p:cNvSpPr/>
          <p:nvPr/>
        </p:nvSpPr>
        <p:spPr>
          <a:xfrm>
            <a:off x="1463040" y="3063240"/>
            <a:ext cx="2523744" cy="4480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36776" y="3154680"/>
            <a:ext cx="2176272" cy="21945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a:solidFill>
                  <a:srgbClr val="0F233D"/>
                </a:solidFill>
                <a:latin typeface="Arial"/>
              </a:rPr>
              <a:t>fold enrichment &gt; 1</a:t>
            </a:r>
          </a:p>
        </p:txBody>
      </p:sp>
      <p:sp>
        <p:nvSpPr>
          <p:cNvPr id="16" name="Oval 15"/>
          <p:cNvSpPr/>
          <p:nvPr/>
        </p:nvSpPr>
        <p:spPr>
          <a:xfrm>
            <a:off x="932688" y="3858768"/>
            <a:ext cx="384048" cy="384048"/>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3941063"/>
            <a:ext cx="384048" cy="15544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50" b="1" i="0">
                <a:solidFill>
                  <a:srgbClr val="FFFFFF"/>
                </a:solidFill>
                <a:latin typeface="Arial"/>
              </a:rPr>
              <a:t>3</a:t>
            </a:r>
          </a:p>
        </p:txBody>
      </p:sp>
      <p:sp>
        <p:nvSpPr>
          <p:cNvPr id="18" name="Rounded Rectangle 17"/>
          <p:cNvSpPr/>
          <p:nvPr/>
        </p:nvSpPr>
        <p:spPr>
          <a:xfrm>
            <a:off x="1463040" y="3840480"/>
            <a:ext cx="2523744" cy="4480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636776" y="3931920"/>
            <a:ext cx="2176272" cy="249299"/>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60" b="1" i="0" dirty="0" err="1">
                <a:solidFill>
                  <a:srgbClr val="0F233D"/>
                </a:solidFill>
                <a:latin typeface="Arial"/>
              </a:rPr>
              <a:t>run_q</a:t>
            </a:r>
            <a:r>
              <a:rPr sz="1260" b="1" i="0" dirty="0">
                <a:solidFill>
                  <a:srgbClr val="0F233D"/>
                </a:solidFill>
                <a:latin typeface="Arial"/>
              </a:rPr>
              <a:t> ≤ 0.10</a:t>
            </a:r>
          </a:p>
        </p:txBody>
      </p:sp>
      <p:sp>
        <p:nvSpPr>
          <p:cNvPr id="20" name="TextBox 19"/>
          <p:cNvSpPr txBox="1"/>
          <p:nvPr/>
        </p:nvSpPr>
        <p:spPr>
          <a:xfrm>
            <a:off x="960120" y="4882896"/>
            <a:ext cx="3154680" cy="2377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60" b="1" i="0">
                <a:solidFill>
                  <a:srgbClr val="0072B2"/>
                </a:solidFill>
                <a:latin typeface="Arial"/>
              </a:rPr>
              <a:t>All three must hold in the same run.</a:t>
            </a:r>
          </a:p>
        </p:txBody>
      </p:sp>
      <p:sp>
        <p:nvSpPr>
          <p:cNvPr id="21" name="Rounded Rectangle 20"/>
          <p:cNvSpPr/>
          <p:nvPr/>
        </p:nvSpPr>
        <p:spPr>
          <a:xfrm>
            <a:off x="4773168" y="1371600"/>
            <a:ext cx="6775704" cy="447141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56632" y="169164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02936" y="1664208"/>
            <a:ext cx="6062472"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Non-MT </a:t>
            </a:r>
            <a:r>
              <a:rPr lang="en-US" sz="1520" b="1" i="0" dirty="0" err="1">
                <a:solidFill>
                  <a:srgbClr val="0F233D"/>
                </a:solidFill>
                <a:latin typeface="Arial"/>
              </a:rPr>
              <a:t>call_key_driver</a:t>
            </a:r>
            <a:r>
              <a:rPr lang="en-US" sz="1520" b="1" i="0" dirty="0">
                <a:solidFill>
                  <a:srgbClr val="0F233D"/>
                </a:solidFill>
                <a:latin typeface="Arial"/>
              </a:rPr>
              <a:t> result </a:t>
            </a:r>
            <a:r>
              <a:rPr sz="1520" b="1" i="0" dirty="0">
                <a:solidFill>
                  <a:srgbClr val="0F233D"/>
                </a:solidFill>
                <a:latin typeface="Arial"/>
              </a:rPr>
              <a:t>test funnel</a:t>
            </a:r>
          </a:p>
        </p:txBody>
      </p:sp>
      <p:sp>
        <p:nvSpPr>
          <p:cNvPr id="24" name="Rounded Rectangle 23"/>
          <p:cNvSpPr/>
          <p:nvPr/>
        </p:nvSpPr>
        <p:spPr>
          <a:xfrm>
            <a:off x="5010912"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02352" y="2386584"/>
            <a:ext cx="863193"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94,527</a:t>
            </a:r>
          </a:p>
        </p:txBody>
      </p:sp>
      <p:sp>
        <p:nvSpPr>
          <p:cNvPr id="26" name="TextBox 25"/>
          <p:cNvSpPr txBox="1"/>
          <p:nvPr/>
        </p:nvSpPr>
        <p:spPr>
          <a:xfrm>
            <a:off x="5102352" y="2798064"/>
            <a:ext cx="863193"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explicit tests</a:t>
            </a:r>
          </a:p>
        </p:txBody>
      </p:sp>
      <p:sp>
        <p:nvSpPr>
          <p:cNvPr id="27" name="Chevron 26"/>
          <p:cNvSpPr/>
          <p:nvPr/>
        </p:nvSpPr>
        <p:spPr>
          <a:xfrm>
            <a:off x="6107277" y="266090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313017"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4457" y="2386584"/>
            <a:ext cx="863193"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19,740</a:t>
            </a:r>
          </a:p>
        </p:txBody>
      </p:sp>
      <p:sp>
        <p:nvSpPr>
          <p:cNvPr id="30" name="TextBox 29"/>
          <p:cNvSpPr txBox="1"/>
          <p:nvPr/>
        </p:nvSpPr>
        <p:spPr>
          <a:xfrm>
            <a:off x="6404457" y="2798064"/>
            <a:ext cx="863193"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positive overlap</a:t>
            </a:r>
          </a:p>
        </p:txBody>
      </p:sp>
      <p:sp>
        <p:nvSpPr>
          <p:cNvPr id="31" name="Chevron 30"/>
          <p:cNvSpPr/>
          <p:nvPr/>
        </p:nvSpPr>
        <p:spPr>
          <a:xfrm>
            <a:off x="7409383" y="266090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7615123"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06563" y="2386584"/>
            <a:ext cx="863193"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3,613</a:t>
            </a:r>
          </a:p>
        </p:txBody>
      </p:sp>
      <p:sp>
        <p:nvSpPr>
          <p:cNvPr id="34" name="TextBox 33"/>
          <p:cNvSpPr txBox="1"/>
          <p:nvPr/>
        </p:nvSpPr>
        <p:spPr>
          <a:xfrm>
            <a:off x="7706563" y="2798064"/>
            <a:ext cx="863193"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other overlap ≥2</a:t>
            </a:r>
          </a:p>
        </p:txBody>
      </p:sp>
      <p:sp>
        <p:nvSpPr>
          <p:cNvPr id="35" name="Chevron 34"/>
          <p:cNvSpPr/>
          <p:nvPr/>
        </p:nvSpPr>
        <p:spPr>
          <a:xfrm>
            <a:off x="8711488" y="266090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917228"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08668" y="2386584"/>
            <a:ext cx="863193"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3,579</a:t>
            </a:r>
          </a:p>
        </p:txBody>
      </p:sp>
      <p:sp>
        <p:nvSpPr>
          <p:cNvPr id="38" name="TextBox 37"/>
          <p:cNvSpPr txBox="1"/>
          <p:nvPr/>
        </p:nvSpPr>
        <p:spPr>
          <a:xfrm>
            <a:off x="9008668" y="2798064"/>
            <a:ext cx="863193"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 FE &gt;1</a:t>
            </a:r>
          </a:p>
        </p:txBody>
      </p:sp>
      <p:sp>
        <p:nvSpPr>
          <p:cNvPr id="39" name="Chevron 38"/>
          <p:cNvSpPr/>
          <p:nvPr/>
        </p:nvSpPr>
        <p:spPr>
          <a:xfrm>
            <a:off x="10013594" y="266090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0219334" y="2267712"/>
            <a:ext cx="1046073" cy="9875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310774" y="2386584"/>
            <a:ext cx="863193"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864</a:t>
            </a:r>
          </a:p>
        </p:txBody>
      </p:sp>
      <p:sp>
        <p:nvSpPr>
          <p:cNvPr id="42" name="TextBox 41"/>
          <p:cNvSpPr txBox="1"/>
          <p:nvPr/>
        </p:nvSpPr>
        <p:spPr>
          <a:xfrm>
            <a:off x="10310774" y="2890060"/>
            <a:ext cx="863193" cy="200055"/>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dirty="0">
                <a:solidFill>
                  <a:srgbClr val="4E5A68"/>
                </a:solidFill>
                <a:latin typeface="Arial"/>
              </a:rPr>
              <a:t>+ q≤0.10</a:t>
            </a:r>
          </a:p>
        </p:txBody>
      </p:sp>
      <p:sp>
        <p:nvSpPr>
          <p:cNvPr id="43" name="Rounded Rectangle 42"/>
          <p:cNvSpPr/>
          <p:nvPr/>
        </p:nvSpPr>
        <p:spPr>
          <a:xfrm>
            <a:off x="5029200" y="3794760"/>
            <a:ext cx="6217920" cy="1499616"/>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276088" y="3977639"/>
            <a:ext cx="5715000" cy="304699"/>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620" b="1" i="0" dirty="0">
                <a:solidFill>
                  <a:srgbClr val="0F233D"/>
                </a:solidFill>
                <a:latin typeface="Arial"/>
              </a:rPr>
              <a:t>864 support</a:t>
            </a:r>
            <a:r>
              <a:rPr lang="en-US" sz="1620" b="1" i="0" dirty="0">
                <a:solidFill>
                  <a:srgbClr val="0F233D"/>
                </a:solidFill>
                <a:latin typeface="Arial"/>
              </a:rPr>
              <a:t>ed gene </a:t>
            </a:r>
            <a:r>
              <a:rPr sz="1620" b="1" i="0" dirty="0">
                <a:solidFill>
                  <a:srgbClr val="0F233D"/>
                </a:solidFill>
                <a:latin typeface="Arial"/>
              </a:rPr>
              <a:t>× </a:t>
            </a:r>
            <a:r>
              <a:rPr lang="en-US" sz="1620" b="1" i="0" dirty="0" err="1">
                <a:solidFill>
                  <a:srgbClr val="0F233D"/>
                </a:solidFill>
                <a:latin typeface="Arial"/>
              </a:rPr>
              <a:t>call_key_driver</a:t>
            </a:r>
            <a:r>
              <a:rPr lang="en-US" sz="1620" b="1" i="0" dirty="0">
                <a:solidFill>
                  <a:srgbClr val="0F233D"/>
                </a:solidFill>
                <a:latin typeface="Arial"/>
              </a:rPr>
              <a:t> calls</a:t>
            </a:r>
            <a:endParaRPr sz="1620" b="1" i="0" dirty="0">
              <a:solidFill>
                <a:srgbClr val="0F233D"/>
              </a:solidFill>
              <a:latin typeface="Arial"/>
            </a:endParaRPr>
          </a:p>
        </p:txBody>
      </p:sp>
      <p:sp>
        <p:nvSpPr>
          <p:cNvPr id="45" name="TextBox 44"/>
          <p:cNvSpPr txBox="1"/>
          <p:nvPr/>
        </p:nvSpPr>
        <p:spPr>
          <a:xfrm>
            <a:off x="5276088" y="4334256"/>
            <a:ext cx="5715000" cy="26161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40" b="1" i="0" dirty="0">
                <a:solidFill>
                  <a:srgbClr val="009E73"/>
                </a:solidFill>
                <a:latin typeface="Arial"/>
              </a:rPr>
              <a:t>→ 50</a:t>
            </a:r>
            <a:r>
              <a:rPr lang="en-US" sz="1340" b="1" i="0" dirty="0">
                <a:solidFill>
                  <a:srgbClr val="009E73"/>
                </a:solidFill>
                <a:latin typeface="Arial"/>
              </a:rPr>
              <a:t>0</a:t>
            </a:r>
            <a:r>
              <a:rPr sz="1340" b="1" i="0" dirty="0">
                <a:solidFill>
                  <a:srgbClr val="009E73"/>
                </a:solidFill>
                <a:latin typeface="Arial"/>
              </a:rPr>
              <a:t> gene × category units</a:t>
            </a:r>
          </a:p>
        </p:txBody>
      </p:sp>
      <p:sp>
        <p:nvSpPr>
          <p:cNvPr id="46" name="TextBox 45"/>
          <p:cNvSpPr txBox="1"/>
          <p:nvPr/>
        </p:nvSpPr>
        <p:spPr>
          <a:xfrm>
            <a:off x="5276088" y="4690872"/>
            <a:ext cx="5715000" cy="2468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30" b="1" i="0">
                <a:solidFill>
                  <a:srgbClr val="0F233D"/>
                </a:solidFill>
                <a:latin typeface="Arial"/>
              </a:rPr>
              <a:t>500 units represent 265 genes across 30 categories</a:t>
            </a:r>
          </a:p>
        </p:txBody>
      </p:sp>
      <p:sp>
        <p:nvSpPr>
          <p:cNvPr id="47" name="TextBox 46"/>
          <p:cNvSpPr txBox="1"/>
          <p:nvPr/>
        </p:nvSpPr>
        <p:spPr>
          <a:xfrm>
            <a:off x="5276088" y="5010912"/>
            <a:ext cx="5715000" cy="19851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30" b="0" i="0" dirty="0">
                <a:solidFill>
                  <a:srgbClr val="4E5A68"/>
                </a:solidFill>
                <a:latin typeface="Arial"/>
              </a:rPr>
              <a:t>Strict support uses run_q≤0.05 and yields 593.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i="0" dirty="0">
                <a:solidFill>
                  <a:srgbClr val="0F233D"/>
                </a:solidFill>
                <a:latin typeface="Arial"/>
              </a:rPr>
              <a:t>Aggregate same gene (key driver) across multiple </a:t>
            </a:r>
            <a:r>
              <a:rPr lang="en-US" sz="2100" b="1" i="0" dirty="0" err="1">
                <a:solidFill>
                  <a:srgbClr val="0F233D"/>
                </a:solidFill>
                <a:latin typeface="Arial"/>
              </a:rPr>
              <a:t>call_key_driver</a:t>
            </a:r>
            <a:r>
              <a:rPr lang="en-US" sz="2100" b="1" i="0" dirty="0">
                <a:solidFill>
                  <a:srgbClr val="0F233D"/>
                </a:solidFill>
                <a:latin typeface="Arial"/>
              </a:rPr>
              <a:t> results</a:t>
            </a:r>
            <a:endParaRPr sz="2100" b="1" i="0" dirty="0">
              <a:solidFill>
                <a:srgbClr val="0F233D"/>
              </a:solidFill>
              <a:latin typeface="Arial"/>
            </a:endParaRPr>
          </a:p>
        </p:txBody>
      </p:sp>
      <p:sp>
        <p:nvSpPr>
          <p:cNvPr id="5" name="Rounded Rectangle 4"/>
          <p:cNvSpPr/>
          <p:nvPr/>
        </p:nvSpPr>
        <p:spPr>
          <a:xfrm>
            <a:off x="612648" y="1344168"/>
            <a:ext cx="6556248"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96112" y="1664208"/>
            <a:ext cx="347472" cy="34747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737360"/>
            <a:ext cx="347472"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FFFFFF"/>
                </a:solidFill>
                <a:latin typeface="Arial"/>
              </a:rPr>
              <a:t>1</a:t>
            </a:r>
          </a:p>
        </p:txBody>
      </p:sp>
      <p:sp>
        <p:nvSpPr>
          <p:cNvPr id="8" name="Rounded Rectangle 7"/>
          <p:cNvSpPr/>
          <p:nvPr/>
        </p:nvSpPr>
        <p:spPr>
          <a:xfrm>
            <a:off x="1389888" y="1627632"/>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81912" y="1709928"/>
            <a:ext cx="2350008"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80" b="1" i="0">
                <a:solidFill>
                  <a:srgbClr val="0F233D"/>
                </a:solidFill>
                <a:latin typeface="Arial"/>
              </a:rPr>
              <a:t>Run-level raw P values</a:t>
            </a:r>
          </a:p>
        </p:txBody>
      </p:sp>
      <p:sp>
        <p:nvSpPr>
          <p:cNvPr id="10" name="TextBox 9"/>
          <p:cNvSpPr txBox="1"/>
          <p:nvPr/>
        </p:nvSpPr>
        <p:spPr>
          <a:xfrm>
            <a:off x="3931920" y="1719072"/>
            <a:ext cx="2660904" cy="21945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30" b="0" i="0">
                <a:solidFill>
                  <a:srgbClr val="4E5A68"/>
                </a:solidFill>
                <a:latin typeface="Arial"/>
              </a:rPr>
              <a:t>explicit final_raw_p or implicit P=1</a:t>
            </a:r>
          </a:p>
        </p:txBody>
      </p:sp>
      <p:sp>
        <p:nvSpPr>
          <p:cNvPr id="11" name="Oval 10"/>
          <p:cNvSpPr/>
          <p:nvPr/>
        </p:nvSpPr>
        <p:spPr>
          <a:xfrm>
            <a:off x="896112" y="2450592"/>
            <a:ext cx="347472" cy="34747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2523744"/>
            <a:ext cx="347472"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FFFFFF"/>
                </a:solidFill>
                <a:latin typeface="Arial"/>
              </a:rPr>
              <a:t>2</a:t>
            </a:r>
          </a:p>
        </p:txBody>
      </p:sp>
      <p:sp>
        <p:nvSpPr>
          <p:cNvPr id="13" name="Rounded Rectangle 12"/>
          <p:cNvSpPr/>
          <p:nvPr/>
        </p:nvSpPr>
        <p:spPr>
          <a:xfrm>
            <a:off x="1389888" y="2414016"/>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581912" y="2496312"/>
            <a:ext cx="2350008"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80" b="1" i="0">
                <a:solidFill>
                  <a:srgbClr val="0F233D"/>
                </a:solidFill>
                <a:latin typeface="Arial"/>
              </a:rPr>
              <a:t>Equal-weight ACAT</a:t>
            </a:r>
          </a:p>
        </p:txBody>
      </p:sp>
      <p:sp>
        <p:nvSpPr>
          <p:cNvPr id="15" name="TextBox 14"/>
          <p:cNvSpPr txBox="1"/>
          <p:nvPr/>
        </p:nvSpPr>
        <p:spPr>
          <a:xfrm>
            <a:off x="3931920" y="2505456"/>
            <a:ext cx="2660904" cy="21945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30" b="0" i="0">
                <a:solidFill>
                  <a:srgbClr val="4E5A68"/>
                </a:solidFill>
                <a:latin typeface="Arial"/>
              </a:rPr>
              <a:t>missing backgrounds omitted</a:t>
            </a:r>
          </a:p>
        </p:txBody>
      </p:sp>
      <p:sp>
        <p:nvSpPr>
          <p:cNvPr id="16" name="Oval 15"/>
          <p:cNvSpPr/>
          <p:nvPr/>
        </p:nvSpPr>
        <p:spPr>
          <a:xfrm>
            <a:off x="896112" y="3236976"/>
            <a:ext cx="347472" cy="34747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6112" y="3310128"/>
            <a:ext cx="347472"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FFFFFF"/>
                </a:solidFill>
                <a:latin typeface="Arial"/>
              </a:rPr>
              <a:t>3</a:t>
            </a:r>
          </a:p>
        </p:txBody>
      </p:sp>
      <p:sp>
        <p:nvSpPr>
          <p:cNvPr id="18" name="Rounded Rectangle 17"/>
          <p:cNvSpPr/>
          <p:nvPr/>
        </p:nvSpPr>
        <p:spPr>
          <a:xfrm>
            <a:off x="1389888" y="3200400"/>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581912" y="3282696"/>
            <a:ext cx="2350008"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80" b="1" i="0">
                <a:solidFill>
                  <a:srgbClr val="0F233D"/>
                </a:solidFill>
                <a:latin typeface="Arial"/>
              </a:rPr>
              <a:t>category_acat_p</a:t>
            </a:r>
          </a:p>
        </p:txBody>
      </p:sp>
      <p:sp>
        <p:nvSpPr>
          <p:cNvPr id="20" name="TextBox 19"/>
          <p:cNvSpPr txBox="1"/>
          <p:nvPr/>
        </p:nvSpPr>
        <p:spPr>
          <a:xfrm>
            <a:off x="3931920" y="3291840"/>
            <a:ext cx="2660904" cy="21945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30" b="0" i="0">
                <a:solidFill>
                  <a:srgbClr val="4E5A68"/>
                </a:solidFill>
                <a:latin typeface="Arial"/>
              </a:rPr>
              <a:t>one P per gene × category</a:t>
            </a:r>
          </a:p>
        </p:txBody>
      </p:sp>
      <p:sp>
        <p:nvSpPr>
          <p:cNvPr id="21" name="Oval 20"/>
          <p:cNvSpPr/>
          <p:nvPr/>
        </p:nvSpPr>
        <p:spPr>
          <a:xfrm>
            <a:off x="896112" y="4023360"/>
            <a:ext cx="347472" cy="34747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6112" y="4096512"/>
            <a:ext cx="347472"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FFFFFF"/>
                </a:solidFill>
                <a:latin typeface="Arial"/>
              </a:rPr>
              <a:t>4</a:t>
            </a:r>
          </a:p>
        </p:txBody>
      </p:sp>
      <p:sp>
        <p:nvSpPr>
          <p:cNvPr id="23" name="Rounded Rectangle 22"/>
          <p:cNvSpPr/>
          <p:nvPr/>
        </p:nvSpPr>
        <p:spPr>
          <a:xfrm>
            <a:off x="1389888" y="3986784"/>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581912" y="4069080"/>
            <a:ext cx="2350008"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80" b="1" i="0">
                <a:solidFill>
                  <a:srgbClr val="0F233D"/>
                </a:solidFill>
                <a:latin typeface="Arial"/>
              </a:rPr>
              <a:t>BH within category</a:t>
            </a:r>
          </a:p>
        </p:txBody>
      </p:sp>
      <p:sp>
        <p:nvSpPr>
          <p:cNvPr id="25" name="TextBox 24"/>
          <p:cNvSpPr txBox="1"/>
          <p:nvPr/>
        </p:nvSpPr>
        <p:spPr>
          <a:xfrm>
            <a:off x="3931920" y="4078224"/>
            <a:ext cx="2660904" cy="21945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30" b="0" i="0">
                <a:solidFill>
                  <a:srgbClr val="4E5A68"/>
                </a:solidFill>
                <a:latin typeface="Arial"/>
              </a:rPr>
              <a:t>all coverage-qualified genes</a:t>
            </a:r>
          </a:p>
        </p:txBody>
      </p:sp>
      <p:sp>
        <p:nvSpPr>
          <p:cNvPr id="26" name="Oval 25"/>
          <p:cNvSpPr/>
          <p:nvPr/>
        </p:nvSpPr>
        <p:spPr>
          <a:xfrm>
            <a:off x="896112" y="4809744"/>
            <a:ext cx="347472" cy="34747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4882896"/>
            <a:ext cx="347472"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880" b="1" i="0">
                <a:solidFill>
                  <a:srgbClr val="FFFFFF"/>
                </a:solidFill>
                <a:latin typeface="Arial"/>
              </a:rPr>
              <a:t>5</a:t>
            </a:r>
          </a:p>
        </p:txBody>
      </p:sp>
      <p:sp>
        <p:nvSpPr>
          <p:cNvPr id="28" name="Rounded Rectangle 27"/>
          <p:cNvSpPr/>
          <p:nvPr/>
        </p:nvSpPr>
        <p:spPr>
          <a:xfrm>
            <a:off x="1389888" y="4773168"/>
            <a:ext cx="5413248" cy="47548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581912" y="4855464"/>
            <a:ext cx="2350008"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80" b="1" i="0">
                <a:solidFill>
                  <a:srgbClr val="0F233D"/>
                </a:solidFill>
                <a:latin typeface="Arial"/>
              </a:rPr>
              <a:t>category q</a:t>
            </a:r>
          </a:p>
        </p:txBody>
      </p:sp>
      <p:sp>
        <p:nvSpPr>
          <p:cNvPr id="30" name="TextBox 29"/>
          <p:cNvSpPr txBox="1"/>
          <p:nvPr/>
        </p:nvSpPr>
        <p:spPr>
          <a:xfrm>
            <a:off x="3931920" y="4864607"/>
            <a:ext cx="2660904" cy="21945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30" b="0" i="0">
                <a:solidFill>
                  <a:srgbClr val="4E5A68"/>
                </a:solidFill>
                <a:latin typeface="Arial"/>
              </a:rPr>
              <a:t>relaxed_category_acat_q</a:t>
            </a:r>
          </a:p>
        </p:txBody>
      </p:sp>
      <p:sp>
        <p:nvSpPr>
          <p:cNvPr id="31" name="Rounded Rectangle 30"/>
          <p:cNvSpPr/>
          <p:nvPr/>
        </p:nvSpPr>
        <p:spPr>
          <a:xfrm>
            <a:off x="7406640" y="1344168"/>
            <a:ext cx="4142232" cy="289864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671816" y="165506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818120" y="1627632"/>
            <a:ext cx="346557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Example unit</a:t>
            </a:r>
          </a:p>
        </p:txBody>
      </p:sp>
      <p:sp>
        <p:nvSpPr>
          <p:cNvPr id="34" name="TextBox 33"/>
          <p:cNvSpPr txBox="1"/>
          <p:nvPr/>
        </p:nvSpPr>
        <p:spPr>
          <a:xfrm>
            <a:off x="7699248" y="2148840"/>
            <a:ext cx="3538728"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20" b="1" i="0">
                <a:solidFill>
                  <a:srgbClr val="0F233D"/>
                </a:solidFill>
                <a:latin typeface="Arial"/>
              </a:rPr>
              <a:t>Five eligible runs</a:t>
            </a:r>
          </a:p>
        </p:txBody>
      </p:sp>
      <p:sp>
        <p:nvSpPr>
          <p:cNvPr id="35" name="TextBox 34"/>
          <p:cNvSpPr txBox="1"/>
          <p:nvPr/>
        </p:nvSpPr>
        <p:spPr>
          <a:xfrm>
            <a:off x="7699248" y="2587752"/>
            <a:ext cx="3538728" cy="32004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09E73"/>
                </a:solidFill>
                <a:latin typeface="Arial"/>
              </a:rPr>
              <a:t>P = .001, .40, 1, 1, NA</a:t>
            </a:r>
          </a:p>
        </p:txBody>
      </p:sp>
      <p:sp>
        <p:nvSpPr>
          <p:cNvPr id="36" name="TextBox 35"/>
          <p:cNvSpPr txBox="1"/>
          <p:nvPr/>
        </p:nvSpPr>
        <p:spPr>
          <a:xfrm>
            <a:off x="7699248" y="3108960"/>
            <a:ext cx="3538728"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0072B2"/>
                </a:solidFill>
                <a:latin typeface="Arial"/>
              </a:rPr>
              <a:t>coverage = 4/5 = 0.80</a:t>
            </a:r>
          </a:p>
        </p:txBody>
      </p:sp>
      <p:sp>
        <p:nvSpPr>
          <p:cNvPr id="37" name="TextBox 36"/>
          <p:cNvSpPr txBox="1"/>
          <p:nvPr/>
        </p:nvSpPr>
        <p:spPr>
          <a:xfrm>
            <a:off x="7818120" y="3529584"/>
            <a:ext cx="3300984" cy="44805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60" b="0" i="0">
                <a:solidFill>
                  <a:srgbClr val="4E5A68"/>
                </a:solidFill>
                <a:latin typeface="Arial"/>
              </a:rPr>
              <a:t>ACAT combines [.001, .40, 1, 1]; NA is omitted</a:t>
            </a:r>
          </a:p>
        </p:txBody>
      </p:sp>
      <p:sp>
        <p:nvSpPr>
          <p:cNvPr id="38" name="Rounded Rectangle 37"/>
          <p:cNvSpPr/>
          <p:nvPr/>
        </p:nvSpPr>
        <p:spPr>
          <a:xfrm>
            <a:off x="7406640" y="4462272"/>
            <a:ext cx="4142232" cy="143560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62672" y="4736592"/>
            <a:ext cx="1444752"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D55E00"/>
                </a:solidFill>
                <a:latin typeface="Arial"/>
              </a:rPr>
              <a:t>BH denominator</a:t>
            </a:r>
          </a:p>
        </p:txBody>
      </p:sp>
      <p:sp>
        <p:nvSpPr>
          <p:cNvPr id="40" name="TextBox 39"/>
          <p:cNvSpPr txBox="1"/>
          <p:nvPr/>
        </p:nvSpPr>
        <p:spPr>
          <a:xfrm>
            <a:off x="7662672" y="5020056"/>
            <a:ext cx="3611880" cy="6400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1" i="0">
                <a:solidFill>
                  <a:srgbClr val="0F233D"/>
                </a:solidFill>
                <a:latin typeface="Arial"/>
              </a:rPr>
              <a:t>233,368 units are partitioned into 38 category-specific BH families; each uses its own coverage-qualified genes.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72B2"/>
                </a:solidFill>
                <a:latin typeface="Arial"/>
              </a:rPr>
              <a:t>FINE FUNNEL • FINAL GATES</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Step 6B: relaxed, strict, and exploratory tiers answer different questions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discovery-oriented main list uses less stringent prespecified thresholds than the strict reference.</a:t>
            </a:r>
          </a:p>
        </p:txBody>
      </p:sp>
      <p:sp>
        <p:nvSpPr>
          <p:cNvPr id="5" name="Rectangle 4"/>
          <p:cNvSpPr/>
          <p:nvPr/>
        </p:nvSpPr>
        <p:spPr>
          <a:xfrm>
            <a:off x="713232" y="1380744"/>
            <a:ext cx="297180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8096" y="1435608"/>
            <a:ext cx="286207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1" i="0">
                <a:solidFill>
                  <a:srgbClr val="FFFFFF"/>
                </a:solidFill>
                <a:latin typeface="Arial"/>
              </a:rPr>
              <a:t>Gate / output</a:t>
            </a:r>
          </a:p>
        </p:txBody>
      </p:sp>
      <p:sp>
        <p:nvSpPr>
          <p:cNvPr id="7" name="Rectangle 6"/>
          <p:cNvSpPr/>
          <p:nvPr/>
        </p:nvSpPr>
        <p:spPr>
          <a:xfrm>
            <a:off x="3685032" y="1380744"/>
            <a:ext cx="2450592"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739896" y="1435608"/>
            <a:ext cx="2340864"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1" i="0">
                <a:solidFill>
                  <a:srgbClr val="FFFFFF"/>
                </a:solidFill>
                <a:latin typeface="Arial"/>
              </a:rPr>
              <a:t>Relaxed main</a:t>
            </a:r>
          </a:p>
        </p:txBody>
      </p:sp>
      <p:sp>
        <p:nvSpPr>
          <p:cNvPr id="9" name="Rectangle 8"/>
          <p:cNvSpPr/>
          <p:nvPr/>
        </p:nvSpPr>
        <p:spPr>
          <a:xfrm>
            <a:off x="6135624" y="1380744"/>
            <a:ext cx="2450592"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90488" y="1435608"/>
            <a:ext cx="2340864"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1" i="0">
                <a:solidFill>
                  <a:srgbClr val="FFFFFF"/>
                </a:solidFill>
                <a:latin typeface="Arial"/>
              </a:rPr>
              <a:t>Strict reference</a:t>
            </a:r>
          </a:p>
        </p:txBody>
      </p:sp>
      <p:sp>
        <p:nvSpPr>
          <p:cNvPr id="11" name="Rectangle 10"/>
          <p:cNvSpPr/>
          <p:nvPr/>
        </p:nvSpPr>
        <p:spPr>
          <a:xfrm>
            <a:off x="8586216" y="1380744"/>
            <a:ext cx="2450592"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41080" y="1435608"/>
            <a:ext cx="2340864"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1" i="0">
                <a:solidFill>
                  <a:srgbClr val="FFFFFF"/>
                </a:solidFill>
                <a:latin typeface="Arial"/>
              </a:rPr>
              <a:t>Exploratory-only</a:t>
            </a:r>
          </a:p>
        </p:txBody>
      </p:sp>
      <p:sp>
        <p:nvSpPr>
          <p:cNvPr id="13" name="Rectangle 12"/>
          <p:cNvSpPr/>
          <p:nvPr/>
        </p:nvSpPr>
        <p:spPr>
          <a:xfrm>
            <a:off x="713232" y="1837943"/>
            <a:ext cx="2971800"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 y="1883663"/>
            <a:ext cx="2862072"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Coverage</a:t>
            </a:r>
          </a:p>
        </p:txBody>
      </p:sp>
      <p:sp>
        <p:nvSpPr>
          <p:cNvPr id="15" name="Rectangle 14"/>
          <p:cNvSpPr/>
          <p:nvPr/>
        </p:nvSpPr>
        <p:spPr>
          <a:xfrm>
            <a:off x="3685032" y="1837943"/>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39896" y="1883663"/>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0.50</a:t>
            </a:r>
          </a:p>
        </p:txBody>
      </p:sp>
      <p:sp>
        <p:nvSpPr>
          <p:cNvPr id="17" name="Rectangle 16"/>
          <p:cNvSpPr/>
          <p:nvPr/>
        </p:nvSpPr>
        <p:spPr>
          <a:xfrm>
            <a:off x="6135624" y="1837943"/>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90488" y="1883663"/>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0.80</a:t>
            </a:r>
          </a:p>
        </p:txBody>
      </p:sp>
      <p:sp>
        <p:nvSpPr>
          <p:cNvPr id="19" name="Rectangle 18"/>
          <p:cNvSpPr/>
          <p:nvPr/>
        </p:nvSpPr>
        <p:spPr>
          <a:xfrm>
            <a:off x="8586216" y="1837943"/>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41080" y="1883663"/>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0.50</a:t>
            </a:r>
          </a:p>
        </p:txBody>
      </p:sp>
      <p:sp>
        <p:nvSpPr>
          <p:cNvPr id="21" name="Rectangle 20"/>
          <p:cNvSpPr/>
          <p:nvPr/>
        </p:nvSpPr>
        <p:spPr>
          <a:xfrm>
            <a:off x="713232" y="2322576"/>
            <a:ext cx="2971800"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68296"/>
            <a:ext cx="2862072"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Supporting-run q</a:t>
            </a:r>
          </a:p>
        </p:txBody>
      </p:sp>
      <p:sp>
        <p:nvSpPr>
          <p:cNvPr id="23" name="Rectangle 22"/>
          <p:cNvSpPr/>
          <p:nvPr/>
        </p:nvSpPr>
        <p:spPr>
          <a:xfrm>
            <a:off x="3685032" y="2322576"/>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739896" y="2368296"/>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0.10</a:t>
            </a:r>
          </a:p>
        </p:txBody>
      </p:sp>
      <p:sp>
        <p:nvSpPr>
          <p:cNvPr id="25" name="Rectangle 24"/>
          <p:cNvSpPr/>
          <p:nvPr/>
        </p:nvSpPr>
        <p:spPr>
          <a:xfrm>
            <a:off x="6135624" y="2322576"/>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90488" y="2368296"/>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0.05</a:t>
            </a:r>
          </a:p>
        </p:txBody>
      </p:sp>
      <p:sp>
        <p:nvSpPr>
          <p:cNvPr id="27" name="Rectangle 26"/>
          <p:cNvSpPr/>
          <p:nvPr/>
        </p:nvSpPr>
        <p:spPr>
          <a:xfrm>
            <a:off x="8586216" y="2322576"/>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41080" y="2368296"/>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0.10</a:t>
            </a:r>
          </a:p>
        </p:txBody>
      </p:sp>
      <p:sp>
        <p:nvSpPr>
          <p:cNvPr id="29" name="Rectangle 28"/>
          <p:cNvSpPr/>
          <p:nvPr/>
        </p:nvSpPr>
        <p:spPr>
          <a:xfrm>
            <a:off x="713232" y="2807208"/>
            <a:ext cx="2971800"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68096" y="2852927"/>
            <a:ext cx="2862072"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Category q</a:t>
            </a:r>
          </a:p>
        </p:txBody>
      </p:sp>
      <p:sp>
        <p:nvSpPr>
          <p:cNvPr id="31" name="Rectangle 30"/>
          <p:cNvSpPr/>
          <p:nvPr/>
        </p:nvSpPr>
        <p:spPr>
          <a:xfrm>
            <a:off x="3685032" y="2807208"/>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739896" y="2852927"/>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0.10</a:t>
            </a:r>
          </a:p>
        </p:txBody>
      </p:sp>
      <p:sp>
        <p:nvSpPr>
          <p:cNvPr id="33" name="Rectangle 32"/>
          <p:cNvSpPr/>
          <p:nvPr/>
        </p:nvSpPr>
        <p:spPr>
          <a:xfrm>
            <a:off x="6135624" y="2807208"/>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90488" y="2852927"/>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 0.05</a:t>
            </a:r>
          </a:p>
        </p:txBody>
      </p:sp>
      <p:sp>
        <p:nvSpPr>
          <p:cNvPr id="35" name="Rectangle 34"/>
          <p:cNvSpPr/>
          <p:nvPr/>
        </p:nvSpPr>
        <p:spPr>
          <a:xfrm>
            <a:off x="8586216" y="2807208"/>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41080" y="2852927"/>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0.10 &lt; q ≤ 0.20</a:t>
            </a:r>
          </a:p>
        </p:txBody>
      </p:sp>
      <p:sp>
        <p:nvSpPr>
          <p:cNvPr id="37" name="Rectangle 36"/>
          <p:cNvSpPr/>
          <p:nvPr/>
        </p:nvSpPr>
        <p:spPr>
          <a:xfrm>
            <a:off x="713232" y="3291839"/>
            <a:ext cx="2971800"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68096" y="3337559"/>
            <a:ext cx="2862072"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Candidate units</a:t>
            </a:r>
          </a:p>
        </p:txBody>
      </p:sp>
      <p:sp>
        <p:nvSpPr>
          <p:cNvPr id="39" name="Rectangle 38"/>
          <p:cNvSpPr/>
          <p:nvPr/>
        </p:nvSpPr>
        <p:spPr>
          <a:xfrm>
            <a:off x="3685032" y="3291839"/>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739896" y="3337559"/>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74</a:t>
            </a:r>
          </a:p>
        </p:txBody>
      </p:sp>
      <p:sp>
        <p:nvSpPr>
          <p:cNvPr id="41" name="Rectangle 40"/>
          <p:cNvSpPr/>
          <p:nvPr/>
        </p:nvSpPr>
        <p:spPr>
          <a:xfrm>
            <a:off x="6135624" y="3291839"/>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190488" y="3337559"/>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58</a:t>
            </a:r>
          </a:p>
        </p:txBody>
      </p:sp>
      <p:sp>
        <p:nvSpPr>
          <p:cNvPr id="43" name="Rectangle 42"/>
          <p:cNvSpPr/>
          <p:nvPr/>
        </p:nvSpPr>
        <p:spPr>
          <a:xfrm>
            <a:off x="8586216" y="3291839"/>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641080" y="3337559"/>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15 additional</a:t>
            </a:r>
          </a:p>
        </p:txBody>
      </p:sp>
      <p:sp>
        <p:nvSpPr>
          <p:cNvPr id="45" name="Rectangle 44"/>
          <p:cNvSpPr/>
          <p:nvPr/>
        </p:nvSpPr>
        <p:spPr>
          <a:xfrm>
            <a:off x="713232" y="3776472"/>
            <a:ext cx="2971800"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68096" y="3822191"/>
            <a:ext cx="2862072"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Distinct genes</a:t>
            </a:r>
          </a:p>
        </p:txBody>
      </p:sp>
      <p:sp>
        <p:nvSpPr>
          <p:cNvPr id="47" name="Rectangle 46"/>
          <p:cNvSpPr/>
          <p:nvPr/>
        </p:nvSpPr>
        <p:spPr>
          <a:xfrm>
            <a:off x="3685032" y="3776472"/>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739896" y="3822191"/>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37</a:t>
            </a:r>
          </a:p>
        </p:txBody>
      </p:sp>
      <p:sp>
        <p:nvSpPr>
          <p:cNvPr id="49" name="Rectangle 48"/>
          <p:cNvSpPr/>
          <p:nvPr/>
        </p:nvSpPr>
        <p:spPr>
          <a:xfrm>
            <a:off x="6135624" y="3776472"/>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190488" y="3822191"/>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30</a:t>
            </a:r>
          </a:p>
        </p:txBody>
      </p:sp>
      <p:sp>
        <p:nvSpPr>
          <p:cNvPr id="51" name="Rectangle 50"/>
          <p:cNvSpPr/>
          <p:nvPr/>
        </p:nvSpPr>
        <p:spPr>
          <a:xfrm>
            <a:off x="8586216" y="3776472"/>
            <a:ext cx="2450592" cy="4846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641080" y="3822191"/>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14</a:t>
            </a:r>
          </a:p>
        </p:txBody>
      </p:sp>
      <p:sp>
        <p:nvSpPr>
          <p:cNvPr id="53" name="Rectangle 52"/>
          <p:cNvSpPr/>
          <p:nvPr/>
        </p:nvSpPr>
        <p:spPr>
          <a:xfrm>
            <a:off x="713232" y="4261104"/>
            <a:ext cx="2971800"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68096" y="4306824"/>
            <a:ext cx="2862072"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Categories</a:t>
            </a:r>
          </a:p>
        </p:txBody>
      </p:sp>
      <p:sp>
        <p:nvSpPr>
          <p:cNvPr id="55" name="Rectangle 54"/>
          <p:cNvSpPr/>
          <p:nvPr/>
        </p:nvSpPr>
        <p:spPr>
          <a:xfrm>
            <a:off x="3685032" y="4261104"/>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739896" y="4306824"/>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16</a:t>
            </a:r>
          </a:p>
        </p:txBody>
      </p:sp>
      <p:sp>
        <p:nvSpPr>
          <p:cNvPr id="57" name="Rectangle 56"/>
          <p:cNvSpPr/>
          <p:nvPr/>
        </p:nvSpPr>
        <p:spPr>
          <a:xfrm>
            <a:off x="6135624" y="4261104"/>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190488" y="4306824"/>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15</a:t>
            </a:r>
          </a:p>
        </p:txBody>
      </p:sp>
      <p:sp>
        <p:nvSpPr>
          <p:cNvPr id="59" name="Rectangle 58"/>
          <p:cNvSpPr/>
          <p:nvPr/>
        </p:nvSpPr>
        <p:spPr>
          <a:xfrm>
            <a:off x="8586216" y="4261104"/>
            <a:ext cx="2450592" cy="4846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641080" y="4306824"/>
            <a:ext cx="2340864" cy="4114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7</a:t>
            </a:r>
          </a:p>
        </p:txBody>
      </p:sp>
      <p:sp>
        <p:nvSpPr>
          <p:cNvPr id="61" name="Rounded Rectangle 60"/>
          <p:cNvSpPr/>
          <p:nvPr/>
        </p:nvSpPr>
        <p:spPr>
          <a:xfrm>
            <a:off x="722376" y="4828032"/>
            <a:ext cx="3410712" cy="1033271"/>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41832" y="5047488"/>
            <a:ext cx="128016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0" b="1" i="0">
                <a:solidFill>
                  <a:srgbClr val="0072B2"/>
                </a:solidFill>
                <a:latin typeface="Arial"/>
              </a:rPr>
              <a:t>RELAXED FUNNEL</a:t>
            </a:r>
          </a:p>
        </p:txBody>
      </p:sp>
      <p:sp>
        <p:nvSpPr>
          <p:cNvPr id="63" name="TextBox 62"/>
          <p:cNvSpPr txBox="1"/>
          <p:nvPr/>
        </p:nvSpPr>
        <p:spPr>
          <a:xfrm>
            <a:off x="941832" y="5376672"/>
            <a:ext cx="2971800" cy="2377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40" b="1" i="0">
                <a:solidFill>
                  <a:srgbClr val="0F233D"/>
                </a:solidFill>
                <a:latin typeface="Arial"/>
              </a:rPr>
              <a:t>259,548 → 233,368 → 500 → 74</a:t>
            </a:r>
          </a:p>
        </p:txBody>
      </p:sp>
      <p:sp>
        <p:nvSpPr>
          <p:cNvPr id="64" name="Rounded Rectangle 63"/>
          <p:cNvSpPr/>
          <p:nvPr/>
        </p:nvSpPr>
        <p:spPr>
          <a:xfrm>
            <a:off x="4389120" y="4828032"/>
            <a:ext cx="3410712" cy="1033271"/>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608576" y="5047488"/>
            <a:ext cx="123444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0" b="1" i="0">
                <a:solidFill>
                  <a:srgbClr val="009E73"/>
                </a:solidFill>
                <a:latin typeface="Arial"/>
              </a:rPr>
              <a:t>STRICT FUNNEL</a:t>
            </a:r>
          </a:p>
        </p:txBody>
      </p:sp>
      <p:sp>
        <p:nvSpPr>
          <p:cNvPr id="66" name="TextBox 65"/>
          <p:cNvSpPr txBox="1"/>
          <p:nvPr/>
        </p:nvSpPr>
        <p:spPr>
          <a:xfrm>
            <a:off x="4608576" y="5376672"/>
            <a:ext cx="2971800" cy="2377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40" b="1" i="0">
                <a:solidFill>
                  <a:srgbClr val="0F233D"/>
                </a:solidFill>
                <a:latin typeface="Arial"/>
              </a:rPr>
              <a:t>259,548 → 216,218 → 332 → 58</a:t>
            </a:r>
          </a:p>
        </p:txBody>
      </p:sp>
      <p:sp>
        <p:nvSpPr>
          <p:cNvPr id="67" name="Rounded Rectangle 66"/>
          <p:cNvSpPr/>
          <p:nvPr/>
        </p:nvSpPr>
        <p:spPr>
          <a:xfrm>
            <a:off x="8055864" y="4828032"/>
            <a:ext cx="3410712" cy="1033271"/>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275320" y="5047488"/>
            <a:ext cx="123444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0" b="1" i="0">
                <a:solidFill>
                  <a:srgbClr val="E69F00"/>
                </a:solidFill>
                <a:latin typeface="Arial"/>
              </a:rPr>
              <a:t>DISPLAY FLAGS</a:t>
            </a:r>
          </a:p>
        </p:txBody>
      </p:sp>
      <p:sp>
        <p:nvSpPr>
          <p:cNvPr id="69" name="TextBox 68"/>
          <p:cNvSpPr txBox="1"/>
          <p:nvPr/>
        </p:nvSpPr>
        <p:spPr>
          <a:xfrm>
            <a:off x="8275320" y="5285232"/>
            <a:ext cx="2971800" cy="42976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1" i="0">
                <a:solidFill>
                  <a:srgbClr val="0F233D"/>
                </a:solidFill>
                <a:latin typeface="Arial"/>
              </a:rPr>
              <a:t>Top 5 / top 10 and stability labels do not filter candidates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RPL11 recurs across 7 supported categories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Recurrence is descriptive across final sex/APOE × broad-network categories.</a:t>
            </a:r>
          </a:p>
        </p:txBody>
      </p:sp>
      <p:sp>
        <p:nvSpPr>
          <p:cNvPr id="5" name="Rounded Rectangle 4"/>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Fine-cell Phase 20 horizontal bar chart of the twenty most recurrent relaxed non-MT key drivers across supported categories" descr="Fine-cell Phase 20 horizontal bar chart of the twenty most recurrent relaxed non-MT key drivers across supported categories"/>
          <p:cNvPicPr>
            <a:picLocks noChangeAspect="1"/>
          </p:cNvPicPr>
          <p:nvPr/>
        </p:nvPicPr>
        <p:blipFill>
          <a:blip r:embed="rId3"/>
          <a:stretch>
            <a:fillRect/>
          </a:stretch>
        </p:blipFill>
        <p:spPr>
          <a:xfrm>
            <a:off x="1128240" y="1252728"/>
            <a:ext cx="5150158" cy="4736592"/>
          </a:xfrm>
          <a:prstGeom prst="rect">
            <a:avLst/>
          </a:prstGeom>
        </p:spPr>
      </p:pic>
      <p:sp>
        <p:nvSpPr>
          <p:cNvPr id="7" name="Rounded Rectangle 6"/>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10" name="Oval 9"/>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Bar length = number of final categories containing the gene.</a:t>
            </a:r>
          </a:p>
        </p:txBody>
      </p:sp>
      <p:sp>
        <p:nvSpPr>
          <p:cNvPr id="12" name="Oval 1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Fill = how many of those categories also pass the strict reference.</a:t>
            </a:r>
          </a:p>
        </p:txBody>
      </p:sp>
      <p:sp>
        <p:nvSpPr>
          <p:cNvPr id="14" name="Oval 13"/>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RPL11: 7 categories, 4 groups, 4 networks; strict in 5.</a:t>
            </a:r>
          </a:p>
        </p:txBody>
      </p:sp>
      <p:sp>
        <p:nvSpPr>
          <p:cNvPr id="16" name="Oval 15"/>
          <p:cNvSpPr/>
          <p:nvPr/>
        </p:nvSpPr>
        <p:spPr>
          <a:xfrm>
            <a:off x="7525512" y="38861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99248" y="3758183"/>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RPS15: 6 categories, 4 groups, 3 networks; strict in 6.</a:t>
            </a:r>
          </a:p>
        </p:txBody>
      </p:sp>
      <p:sp>
        <p:nvSpPr>
          <p:cNvPr id="18" name="Oval 17"/>
          <p:cNvSpPr/>
          <p:nvPr/>
        </p:nvSpPr>
        <p:spPr>
          <a:xfrm>
            <a:off x="7525512" y="444398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99248" y="4315968"/>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The plot shows the top 20 after category count, best q, then symbol ordering.</a:t>
            </a:r>
          </a:p>
        </p:txBody>
      </p:sp>
      <p:sp>
        <p:nvSpPr>
          <p:cNvPr id="21" name="TextBox 20"/>
          <p:cNvSpPr txBox="1"/>
          <p:nvPr/>
        </p:nvSpPr>
        <p:spPr>
          <a:xfrm>
            <a:off x="7690104" y="5202936"/>
            <a:ext cx="3401568" cy="2468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10" b="1" i="0">
                <a:solidFill>
                  <a:srgbClr val="D55E00"/>
                </a:solidFill>
                <a:latin typeface="Arial"/>
              </a:rPr>
              <a:t>Not a formal consistency or sex/APOE-difference test.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dirty="0">
                <a:solidFill>
                  <a:srgbClr val="0F233D"/>
                </a:solidFill>
                <a:latin typeface="Arial"/>
              </a:rPr>
              <a:t>Top-five lists retain up to five candidates per category</a:t>
            </a:r>
          </a:p>
        </p:txBody>
      </p:sp>
      <p:pic>
        <p:nvPicPr>
          <p:cNvPr id="5" name="Fine-cell Phase 20 tile chart of up to five relaxed non-MT key drivers per supported sex/APOE and broad-cell category" descr="Fine-cell Phase 20 tile chart of up to five relaxed non-MT key drivers per supported sex/APOE and broad-cell category"/>
          <p:cNvPicPr>
            <a:picLocks noChangeAspect="1"/>
          </p:cNvPicPr>
          <p:nvPr/>
        </p:nvPicPr>
        <p:blipFill>
          <a:blip r:embed="rId3"/>
          <a:stretch>
            <a:fillRect/>
          </a:stretch>
        </p:blipFill>
        <p:spPr>
          <a:xfrm>
            <a:off x="2116472" y="790045"/>
            <a:ext cx="7850101" cy="601438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Fine-cell output: 74 candidate units represent 37 distinct genes</a:t>
            </a:r>
          </a:p>
        </p:txBody>
      </p:sp>
      <p:sp>
        <p:nvSpPr>
          <p:cNvPr id="5" name="Rounded Rectangle 4"/>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74</a:t>
            </a:r>
          </a:p>
        </p:txBody>
      </p:sp>
      <p:sp>
        <p:nvSpPr>
          <p:cNvPr id="7" name="TextBox 6"/>
          <p:cNvSpPr txBox="1"/>
          <p:nvPr/>
        </p:nvSpPr>
        <p:spPr>
          <a:xfrm>
            <a:off x="804672"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relaxed gene × category units</a:t>
            </a:r>
          </a:p>
        </p:txBody>
      </p:sp>
      <p:sp>
        <p:nvSpPr>
          <p:cNvPr id="8" name="Rounded Rectangle 7"/>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37</a:t>
            </a:r>
          </a:p>
        </p:txBody>
      </p:sp>
      <p:sp>
        <p:nvSpPr>
          <p:cNvPr id="10" name="TextBox 9"/>
          <p:cNvSpPr txBox="1"/>
          <p:nvPr/>
        </p:nvSpPr>
        <p:spPr>
          <a:xfrm>
            <a:off x="2944368"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distinct gene symbols</a:t>
            </a:r>
          </a:p>
        </p:txBody>
      </p:sp>
      <p:sp>
        <p:nvSpPr>
          <p:cNvPr id="11" name="Rounded Rectangle 10"/>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16</a:t>
            </a:r>
          </a:p>
        </p:txBody>
      </p:sp>
      <p:sp>
        <p:nvSpPr>
          <p:cNvPr id="13" name="TextBox 12"/>
          <p:cNvSpPr txBox="1"/>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categories with candidates</a:t>
            </a:r>
          </a:p>
        </p:txBody>
      </p:sp>
      <p:sp>
        <p:nvSpPr>
          <p:cNvPr id="14" name="Rounded Rectangle 13"/>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58</a:t>
            </a:r>
          </a:p>
        </p:txBody>
      </p:sp>
      <p:sp>
        <p:nvSpPr>
          <p:cNvPr id="16" name="TextBox 15"/>
          <p:cNvSpPr txBox="1"/>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strict candidate units</a:t>
            </a:r>
          </a:p>
        </p:txBody>
      </p:sp>
      <p:sp>
        <p:nvSpPr>
          <p:cNvPr id="17" name="Rounded Rectangle 16"/>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48</a:t>
            </a:r>
          </a:p>
        </p:txBody>
      </p:sp>
      <p:sp>
        <p:nvSpPr>
          <p:cNvPr id="19" name="TextBox 18"/>
          <p:cNvSpPr txBox="1"/>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top-five displayed rows</a:t>
            </a:r>
          </a:p>
        </p:txBody>
      </p:sp>
      <p:sp>
        <p:nvSpPr>
          <p:cNvPr id="20" name="Rounded Rectangle 19"/>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 y="3163824"/>
            <a:ext cx="457200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Where candidate units occur</a:t>
            </a:r>
          </a:p>
        </p:txBody>
      </p:sp>
      <p:sp>
        <p:nvSpPr>
          <p:cNvPr id="23" name="TextBox 22"/>
          <p:cNvSpPr txBox="1"/>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By sex/APOE group</a:t>
            </a:r>
          </a:p>
        </p:txBody>
      </p:sp>
      <p:sp>
        <p:nvSpPr>
          <p:cNvPr id="24" name="TextBox 23"/>
          <p:cNvSpPr txBox="1"/>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1" i="0">
                <a:solidFill>
                  <a:srgbClr val="0F233D"/>
                </a:solidFill>
                <a:latin typeface="Arial"/>
              </a:rPr>
              <a:t>M_e2 34  •  F_e2 15  •  F_e4 11  •  F_e33 9  •  M_e33 3  •  M_e4 2</a:t>
            </a:r>
          </a:p>
        </p:txBody>
      </p:sp>
      <p:sp>
        <p:nvSpPr>
          <p:cNvPr id="25" name="TextBox 24"/>
          <p:cNvSpPr txBox="1"/>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By broad network</a:t>
            </a:r>
          </a:p>
        </p:txBody>
      </p:sp>
      <p:sp>
        <p:nvSpPr>
          <p:cNvPr id="26" name="TextBox 25"/>
          <p:cNvSpPr txBox="1"/>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1" i="0">
                <a:solidFill>
                  <a:srgbClr val="0F233D"/>
                </a:solidFill>
                <a:latin typeface="Arial"/>
              </a:rPr>
              <a:t>Excitatory 47 • Astrocytes 10 • OPCs 8 • Inhibitory 5
Oligo 1 • Microglia 3 • Vasculature 0</a:t>
            </a:r>
          </a:p>
        </p:txBody>
      </p:sp>
      <p:sp>
        <p:nvSpPr>
          <p:cNvPr id="27" name="Rounded Rectangle 26"/>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Selected recurrent genes</a:t>
            </a:r>
          </a:p>
        </p:txBody>
      </p:sp>
      <p:sp>
        <p:nvSpPr>
          <p:cNvPr id="30" name="TextBox 29"/>
          <p:cNvSpPr txBox="1"/>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RPL11</a:t>
            </a:r>
          </a:p>
        </p:txBody>
      </p:sp>
      <p:sp>
        <p:nvSpPr>
          <p:cNvPr id="31" name="Rectangle 30"/>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7</a:t>
            </a:r>
          </a:p>
        </p:txBody>
      </p:sp>
      <p:sp>
        <p:nvSpPr>
          <p:cNvPr id="33" name="TextBox 32"/>
          <p:cNvSpPr txBox="1"/>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RPS15</a:t>
            </a:r>
          </a:p>
        </p:txBody>
      </p:sp>
      <p:sp>
        <p:nvSpPr>
          <p:cNvPr id="34" name="Rectangle 33"/>
          <p:cNvSpPr/>
          <p:nvPr/>
        </p:nvSpPr>
        <p:spPr>
          <a:xfrm>
            <a:off x="7891272" y="3995928"/>
            <a:ext cx="2053481"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6</a:t>
            </a:r>
          </a:p>
        </p:txBody>
      </p:sp>
      <p:sp>
        <p:nvSpPr>
          <p:cNvPr id="36" name="TextBox 35"/>
          <p:cNvSpPr txBox="1"/>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RPLP1</a:t>
            </a:r>
          </a:p>
        </p:txBody>
      </p:sp>
      <p:sp>
        <p:nvSpPr>
          <p:cNvPr id="37" name="Rectangle 36"/>
          <p:cNvSpPr/>
          <p:nvPr/>
        </p:nvSpPr>
        <p:spPr>
          <a:xfrm>
            <a:off x="7891272" y="4288536"/>
            <a:ext cx="10267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3</a:t>
            </a:r>
          </a:p>
        </p:txBody>
      </p:sp>
      <p:sp>
        <p:nvSpPr>
          <p:cNvPr id="39" name="TextBox 38"/>
          <p:cNvSpPr txBox="1"/>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RPL15</a:t>
            </a:r>
          </a:p>
        </p:txBody>
      </p:sp>
      <p:sp>
        <p:nvSpPr>
          <p:cNvPr id="40" name="Rectangle 39"/>
          <p:cNvSpPr/>
          <p:nvPr/>
        </p:nvSpPr>
        <p:spPr>
          <a:xfrm>
            <a:off x="7891272" y="4581144"/>
            <a:ext cx="10267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3</a:t>
            </a:r>
          </a:p>
        </p:txBody>
      </p:sp>
      <p:sp>
        <p:nvSpPr>
          <p:cNvPr id="42" name="TextBox 41"/>
          <p:cNvSpPr txBox="1"/>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SELENOW</a:t>
            </a:r>
          </a:p>
        </p:txBody>
      </p:sp>
      <p:sp>
        <p:nvSpPr>
          <p:cNvPr id="43" name="Rectangle 42"/>
          <p:cNvSpPr/>
          <p:nvPr/>
        </p:nvSpPr>
        <p:spPr>
          <a:xfrm>
            <a:off x="7891272" y="4873752"/>
            <a:ext cx="10267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3</a:t>
            </a:r>
          </a:p>
        </p:txBody>
      </p:sp>
      <p:sp>
        <p:nvSpPr>
          <p:cNvPr id="45" name="TextBox 44"/>
          <p:cNvSpPr txBox="1"/>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RPS13</a:t>
            </a:r>
          </a:p>
        </p:txBody>
      </p:sp>
      <p:sp>
        <p:nvSpPr>
          <p:cNvPr id="46" name="Rectangle 45"/>
          <p:cNvSpPr/>
          <p:nvPr/>
        </p:nvSpPr>
        <p:spPr>
          <a:xfrm>
            <a:off x="7891272" y="5166359"/>
            <a:ext cx="10267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3</a:t>
            </a:r>
          </a:p>
        </p:txBody>
      </p:sp>
      <p:sp>
        <p:nvSpPr>
          <p:cNvPr id="48" name="TextBox 47"/>
          <p:cNvSpPr txBox="1"/>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0" i="1">
                <a:solidFill>
                  <a:srgbClr val="4E5A68"/>
                </a:solidFill>
                <a:latin typeface="Arial"/>
              </a:rPr>
              <a:t>Examples shown; 10 genes tie at 3 categories. Counts are categories, not runs.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9E73"/>
                </a:solidFill>
                <a:latin typeface="Arial"/>
              </a:rPr>
              <a:t>PART 2</a:t>
            </a:r>
          </a:p>
        </p:txBody>
      </p:sp>
      <p:sp>
        <p:nvSpPr>
          <p:cNvPr id="3" name="Rectangle 2"/>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909560" cy="12252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Direct broad-cell sex/APOE KDA</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Seven broad cell types are tested directly within six sex/APOE groups; each eligible direction remains its own KDA result.</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9E73"/>
                </a:solidFill>
                <a:latin typeface="Arial"/>
              </a:rPr>
              <a:t>IN THIS PART</a:t>
            </a:r>
          </a:p>
        </p:txBody>
      </p:sp>
      <p:sp>
        <p:nvSpPr>
          <p:cNvPr id="8" name="Oval 7"/>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Run universe</a:t>
            </a:r>
          </a:p>
        </p:txBody>
      </p:sp>
      <p:sp>
        <p:nvSpPr>
          <p:cNvPr id="11" name="Oval 10"/>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Direct funnel</a:t>
            </a:r>
          </a:p>
        </p:txBody>
      </p:sp>
      <p:sp>
        <p:nvSpPr>
          <p:cNvPr id="14" name="Oval 13"/>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Supported genes</a:t>
            </a:r>
          </a:p>
        </p:txBody>
      </p:sp>
      <p:sp>
        <p:nvSpPr>
          <p:cNvPr id="17" name="Oval 16"/>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Result figures</a:t>
            </a:r>
          </a:p>
        </p:txBody>
      </p:sp>
      <p:sp>
        <p:nvSpPr>
          <p:cNvPr id="20" name="TextBox 19"/>
          <p:cNvSpPr txBox="1"/>
          <p:nvPr/>
        </p:nvSpPr>
        <p:spPr>
          <a:xfrm>
            <a:off x="713232" y="6574536"/>
            <a:ext cx="102412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50" b="0" i="0">
                <a:solidFill>
                  <a:srgbClr val="9DB0C3"/>
                </a:solidFill>
                <a:latin typeface="Arial"/>
              </a:rPr>
              <a:t>Source: docs/phase_20_sex_apoe_kda/phase20_broad_funnel_explained.md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Broad-cell candidates stay attached to one cell type, group, and direction</a:t>
            </a:r>
          </a:p>
        </p:txBody>
      </p:sp>
      <p:sp>
        <p:nvSpPr>
          <p:cNvPr id="4" name="TextBox 3"/>
          <p:cNvSpPr txBox="1"/>
          <p:nvPr/>
        </p:nvSpPr>
        <p:spPr>
          <a:xfrm>
            <a:off x="548640" y="886968"/>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dirty="0">
                <a:solidFill>
                  <a:srgbClr val="4E5A68"/>
                </a:solidFill>
                <a:latin typeface="Arial"/>
              </a:rPr>
              <a:t>There is no cross-run aggregation step</a:t>
            </a:r>
          </a:p>
        </p:txBody>
      </p:sp>
      <p:sp>
        <p:nvSpPr>
          <p:cNvPr id="5" name="Rounded Rectangle 4"/>
          <p:cNvSpPr/>
          <p:nvPr/>
        </p:nvSpPr>
        <p:spPr>
          <a:xfrm>
            <a:off x="603504" y="1371600"/>
            <a:ext cx="2587752" cy="423367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62763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1</a:t>
            </a:r>
          </a:p>
        </p:txBody>
      </p:sp>
      <p:sp>
        <p:nvSpPr>
          <p:cNvPr id="8" name="TextBox 7"/>
          <p:cNvSpPr txBox="1"/>
          <p:nvPr/>
        </p:nvSpPr>
        <p:spPr>
          <a:xfrm>
            <a:off x="80467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DEG contrast</a:t>
            </a:r>
          </a:p>
        </p:txBody>
      </p:sp>
      <p:sp>
        <p:nvSpPr>
          <p:cNvPr id="9" name="TextBox 8"/>
          <p:cNvSpPr txBox="1"/>
          <p:nvPr/>
        </p:nvSpPr>
        <p:spPr>
          <a:xfrm>
            <a:off x="804672" y="3017520"/>
            <a:ext cx="2157984" cy="594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1" i="0">
                <a:solidFill>
                  <a:srgbClr val="009E73"/>
                </a:solidFill>
                <a:latin typeface="Arial"/>
              </a:rPr>
              <a:t>broad type × sex/APOE</a:t>
            </a:r>
          </a:p>
        </p:txBody>
      </p:sp>
      <p:sp>
        <p:nvSpPr>
          <p:cNvPr id="10" name="Rounded Rectangle 9"/>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005072"/>
            <a:ext cx="1938528" cy="7863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50" b="0" i="0">
                <a:solidFill>
                  <a:srgbClr val="4E5A68"/>
                </a:solidFill>
                <a:latin typeface="Arial"/>
              </a:rPr>
              <a:t>One AD-vs-NCI contrast from a donor-level broad-cell model</a:t>
            </a:r>
          </a:p>
        </p:txBody>
      </p:sp>
      <p:sp>
        <p:nvSpPr>
          <p:cNvPr id="12" name="Rounded Rectangle 11"/>
          <p:cNvSpPr/>
          <p:nvPr/>
        </p:nvSpPr>
        <p:spPr>
          <a:xfrm>
            <a:off x="3438144" y="1371600"/>
            <a:ext cx="2587752" cy="4233672"/>
          </a:xfrm>
          <a:prstGeom prst="roundRect">
            <a:avLst/>
          </a:prstGeom>
          <a:solidFill>
            <a:srgbClr val="EBF7FC"/>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39312" y="162763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2</a:t>
            </a:r>
          </a:p>
        </p:txBody>
      </p:sp>
      <p:sp>
        <p:nvSpPr>
          <p:cNvPr id="15" name="TextBox 14"/>
          <p:cNvSpPr txBox="1"/>
          <p:nvPr/>
        </p:nvSpPr>
        <p:spPr>
          <a:xfrm>
            <a:off x="363931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Directional slot</a:t>
            </a:r>
          </a:p>
        </p:txBody>
      </p:sp>
      <p:sp>
        <p:nvSpPr>
          <p:cNvPr id="16" name="TextBox 15"/>
          <p:cNvSpPr txBox="1"/>
          <p:nvPr/>
        </p:nvSpPr>
        <p:spPr>
          <a:xfrm>
            <a:off x="3639312" y="3017520"/>
            <a:ext cx="2157984" cy="594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1" i="0">
                <a:solidFill>
                  <a:srgbClr val="009E73"/>
                </a:solidFill>
                <a:latin typeface="Arial"/>
              </a:rPr>
              <a:t>+ AD-up or AD-down</a:t>
            </a:r>
          </a:p>
        </p:txBody>
      </p:sp>
      <p:sp>
        <p:nvSpPr>
          <p:cNvPr id="17" name="Rounded Rectangle 16"/>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49040" y="4005072"/>
            <a:ext cx="1938528" cy="7863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50" b="0" i="0">
                <a:solidFill>
                  <a:srgbClr val="4E5A68"/>
                </a:solidFill>
                <a:latin typeface="Arial"/>
              </a:rPr>
              <a:t>A possible core-MT query</a:t>
            </a:r>
          </a:p>
        </p:txBody>
      </p:sp>
      <p:sp>
        <p:nvSpPr>
          <p:cNvPr id="19" name="Rounded Rectangle 18"/>
          <p:cNvSpPr/>
          <p:nvPr/>
        </p:nvSpPr>
        <p:spPr>
          <a:xfrm>
            <a:off x="6272784" y="1371600"/>
            <a:ext cx="2587752" cy="4233672"/>
          </a:xfrm>
          <a:prstGeom prst="roundRect">
            <a:avLst/>
          </a:prstGeom>
          <a:solidFill>
            <a:srgbClr val="E4F0F8"/>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162763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3</a:t>
            </a:r>
          </a:p>
        </p:txBody>
      </p:sp>
      <p:sp>
        <p:nvSpPr>
          <p:cNvPr id="22" name="TextBox 21"/>
          <p:cNvSpPr txBox="1"/>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KDA run</a:t>
            </a:r>
          </a:p>
        </p:txBody>
      </p:sp>
      <p:sp>
        <p:nvSpPr>
          <p:cNvPr id="23" name="TextBox 22"/>
          <p:cNvSpPr txBox="1"/>
          <p:nvPr/>
        </p:nvSpPr>
        <p:spPr>
          <a:xfrm>
            <a:off x="6473952" y="3017520"/>
            <a:ext cx="2157984" cy="594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1" i="0">
                <a:solidFill>
                  <a:srgbClr val="009E73"/>
                </a:solidFill>
                <a:latin typeface="Arial"/>
              </a:rPr>
              <a:t>eligible slot with query n ≥ 3</a:t>
            </a:r>
          </a:p>
        </p:txBody>
      </p:sp>
      <p:sp>
        <p:nvSpPr>
          <p:cNvPr id="24" name="Rounded Rectangle 23"/>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0" y="4005072"/>
            <a:ext cx="1938528" cy="7863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50" b="0" i="0">
                <a:solidFill>
                  <a:srgbClr val="4E5A68"/>
                </a:solidFill>
                <a:latin typeface="Arial"/>
              </a:rPr>
              <a:t>One network and one direction</a:t>
            </a:r>
          </a:p>
        </p:txBody>
      </p:sp>
      <p:sp>
        <p:nvSpPr>
          <p:cNvPr id="26" name="Rounded Rectangle 25"/>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4</a:t>
            </a:r>
          </a:p>
        </p:txBody>
      </p:sp>
      <p:sp>
        <p:nvSpPr>
          <p:cNvPr id="29" name="TextBox 28"/>
          <p:cNvSpPr txBox="1"/>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Candidate row</a:t>
            </a:r>
          </a:p>
        </p:txBody>
      </p:sp>
      <p:sp>
        <p:nvSpPr>
          <p:cNvPr id="30" name="TextBox 29"/>
          <p:cNvSpPr txBox="1"/>
          <p:nvPr/>
        </p:nvSpPr>
        <p:spPr>
          <a:xfrm>
            <a:off x="9308592" y="3017520"/>
            <a:ext cx="2157984" cy="5943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1" i="0">
                <a:solidFill>
                  <a:srgbClr val="E69F00"/>
                </a:solidFill>
                <a:latin typeface="Arial"/>
              </a:rPr>
              <a:t>gene × broad × group × direction</a:t>
            </a:r>
          </a:p>
        </p:txBody>
      </p:sp>
      <p:sp>
        <p:nvSpPr>
          <p:cNvPr id="31" name="Rounded Rectangle 30"/>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18320" y="4005072"/>
            <a:ext cx="1938528" cy="7863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50" b="0" i="0">
                <a:solidFill>
                  <a:srgbClr val="4E5A68"/>
                </a:solidFill>
                <a:latin typeface="Arial"/>
              </a:rPr>
              <a:t>One recomputed non-MT run q</a:t>
            </a:r>
          </a:p>
        </p:txBody>
      </p:sp>
      <p:sp>
        <p:nvSpPr>
          <p:cNvPr id="33" name="Rectangle 32"/>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A broad candidate is a gene selected from one direction-specific KDA run—not an ACAT-combined gene.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RUNS</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7 broad cell types create 84 slots—but only 3 direct KDA runs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84 slots are planned opportunities; they are not 84 executed KDA jobs.</a:t>
            </a:r>
          </a:p>
        </p:txBody>
      </p:sp>
      <p:sp>
        <p:nvSpPr>
          <p:cNvPr id="5" name="Rounded Rectangle 4"/>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7 broad cell types</a:t>
            </a:r>
          </a:p>
        </p:txBody>
      </p:sp>
      <p:sp>
        <p:nvSpPr>
          <p:cNvPr id="7" name="TextBox 6"/>
          <p:cNvSpPr txBox="1"/>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009E73"/>
                </a:solidFill>
                <a:latin typeface="Arial"/>
              </a:rPr>
              <a:t>× 6 groups = 42 DEG contrasts</a:t>
            </a:r>
          </a:p>
        </p:txBody>
      </p:sp>
      <p:sp>
        <p:nvSpPr>
          <p:cNvPr id="8" name="Rounded Rectangle 7"/>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36008"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42 planned contrasts</a:t>
            </a:r>
          </a:p>
        </p:txBody>
      </p:sp>
      <p:sp>
        <p:nvSpPr>
          <p:cNvPr id="10" name="TextBox 9"/>
          <p:cNvSpPr txBox="1"/>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40" b="1" i="0">
                <a:solidFill>
                  <a:srgbClr val="009E73"/>
                </a:solidFill>
                <a:latin typeface="Arial"/>
              </a:rPr>
              <a:t>× up/down = 84 predeclared slots</a:t>
            </a:r>
          </a:p>
        </p:txBody>
      </p:sp>
      <p:sp>
        <p:nvSpPr>
          <p:cNvPr id="11" name="Rounded Rectangle 10"/>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03336"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3 completed runs</a:t>
            </a:r>
          </a:p>
        </p:txBody>
      </p:sp>
      <p:sp>
        <p:nvSpPr>
          <p:cNvPr id="13" name="TextBox 12"/>
          <p:cNvSpPr txBox="1"/>
          <p:nvPr/>
        </p:nvSpPr>
        <p:spPr>
          <a:xfrm>
            <a:off x="8403336"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E69F00"/>
                </a:solidFill>
                <a:latin typeface="Arial"/>
              </a:rPr>
              <a:t>all three use AD-down queries</a:t>
            </a:r>
          </a:p>
        </p:txBody>
      </p:sp>
      <p:sp>
        <p:nvSpPr>
          <p:cNvPr id="14" name="Rectangle 13"/>
          <p:cNvSpPr/>
          <p:nvPr/>
        </p:nvSpPr>
        <p:spPr>
          <a:xfrm>
            <a:off x="786384" y="2898648"/>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7" y="2953512"/>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Mutually exclusive relaxed-tier outcome</a:t>
            </a:r>
          </a:p>
        </p:txBody>
      </p:sp>
      <p:sp>
        <p:nvSpPr>
          <p:cNvPr id="16" name="Rectangle 15"/>
          <p:cNvSpPr/>
          <p:nvPr/>
        </p:nvSpPr>
        <p:spPr>
          <a:xfrm>
            <a:off x="6592824" y="2898648"/>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47688" y="2953512"/>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Slots</a:t>
            </a:r>
          </a:p>
        </p:txBody>
      </p:sp>
      <p:sp>
        <p:nvSpPr>
          <p:cNvPr id="18" name="Rectangle 17"/>
          <p:cNvSpPr/>
          <p:nvPr/>
        </p:nvSpPr>
        <p:spPr>
          <a:xfrm>
            <a:off x="7708392" y="2898648"/>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63256" y="2953512"/>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Interpretation</a:t>
            </a:r>
          </a:p>
        </p:txBody>
      </p:sp>
      <p:sp>
        <p:nvSpPr>
          <p:cNvPr id="20" name="Rectangle 19"/>
          <p:cNvSpPr/>
          <p:nvPr/>
        </p:nvSpPr>
        <p:spPr>
          <a:xfrm>
            <a:off x="786384" y="3328415"/>
            <a:ext cx="580644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7" y="3374135"/>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Source DEG contrast not estimable</a:t>
            </a:r>
          </a:p>
        </p:txBody>
      </p:sp>
      <p:sp>
        <p:nvSpPr>
          <p:cNvPr id="22" name="Rectangle 21"/>
          <p:cNvSpPr/>
          <p:nvPr/>
        </p:nvSpPr>
        <p:spPr>
          <a:xfrm>
            <a:off x="6592824" y="3328415"/>
            <a:ext cx="1115568"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47688" y="3374135"/>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4</a:t>
            </a:r>
          </a:p>
        </p:txBody>
      </p:sp>
      <p:sp>
        <p:nvSpPr>
          <p:cNvPr id="24" name="Rectangle 23"/>
          <p:cNvSpPr/>
          <p:nvPr/>
        </p:nvSpPr>
        <p:spPr>
          <a:xfrm>
            <a:off x="7708392" y="3328415"/>
            <a:ext cx="361188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63256" y="3374135"/>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2 contrasts × 2 directions</a:t>
            </a:r>
          </a:p>
        </p:txBody>
      </p:sp>
      <p:sp>
        <p:nvSpPr>
          <p:cNvPr id="26" name="Rectangle 25"/>
          <p:cNvSpPr/>
          <p:nvPr/>
        </p:nvSpPr>
        <p:spPr>
          <a:xfrm>
            <a:off x="786384" y="3767327"/>
            <a:ext cx="580644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1247" y="3813047"/>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 provisional directional core-MT query</a:t>
            </a:r>
          </a:p>
        </p:txBody>
      </p:sp>
      <p:sp>
        <p:nvSpPr>
          <p:cNvPr id="28" name="Rectangle 27"/>
          <p:cNvSpPr/>
          <p:nvPr/>
        </p:nvSpPr>
        <p:spPr>
          <a:xfrm>
            <a:off x="6592824" y="3767327"/>
            <a:ext cx="1115568"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47688" y="3813047"/>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61</a:t>
            </a:r>
          </a:p>
        </p:txBody>
      </p:sp>
      <p:sp>
        <p:nvSpPr>
          <p:cNvPr id="30" name="Rectangle 29"/>
          <p:cNvSpPr/>
          <p:nvPr/>
        </p:nvSpPr>
        <p:spPr>
          <a:xfrm>
            <a:off x="7708392" y="3767327"/>
            <a:ext cx="361188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63256" y="3813047"/>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 query genes pass DEG rules</a:t>
            </a:r>
          </a:p>
        </p:txBody>
      </p:sp>
      <p:sp>
        <p:nvSpPr>
          <p:cNvPr id="32" name="Rectangle 31"/>
          <p:cNvSpPr/>
          <p:nvPr/>
        </p:nvSpPr>
        <p:spPr>
          <a:xfrm>
            <a:off x="786384" y="4206240"/>
            <a:ext cx="580644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247" y="4333272"/>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dirty="0">
                <a:solidFill>
                  <a:srgbClr val="1F2730"/>
                </a:solidFill>
                <a:latin typeface="Arial"/>
              </a:rPr>
              <a:t>Effective query empty</a:t>
            </a:r>
          </a:p>
        </p:txBody>
      </p:sp>
      <p:sp>
        <p:nvSpPr>
          <p:cNvPr id="34" name="Rectangle 33"/>
          <p:cNvSpPr/>
          <p:nvPr/>
        </p:nvSpPr>
        <p:spPr>
          <a:xfrm>
            <a:off x="6592824" y="4206240"/>
            <a:ext cx="1115568"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47688" y="4251959"/>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4</a:t>
            </a:r>
          </a:p>
        </p:txBody>
      </p:sp>
      <p:sp>
        <p:nvSpPr>
          <p:cNvPr id="36" name="Rectangle 35"/>
          <p:cNvSpPr/>
          <p:nvPr/>
        </p:nvSpPr>
        <p:spPr>
          <a:xfrm>
            <a:off x="7708392" y="4206240"/>
            <a:ext cx="361188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63256" y="4251959"/>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dirty="0">
                <a:solidFill>
                  <a:srgbClr val="1F2730"/>
                </a:solidFill>
                <a:latin typeface="Arial"/>
              </a:rPr>
              <a:t>All provisional genes are lost</a:t>
            </a:r>
          </a:p>
        </p:txBody>
      </p:sp>
      <p:sp>
        <p:nvSpPr>
          <p:cNvPr id="38" name="Rectangle 37"/>
          <p:cNvSpPr/>
          <p:nvPr/>
        </p:nvSpPr>
        <p:spPr>
          <a:xfrm>
            <a:off x="786384" y="4645152"/>
            <a:ext cx="580644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1247" y="4690872"/>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Effective query size 1–2</a:t>
            </a:r>
          </a:p>
        </p:txBody>
      </p:sp>
      <p:sp>
        <p:nvSpPr>
          <p:cNvPr id="40" name="Rectangle 39"/>
          <p:cNvSpPr/>
          <p:nvPr/>
        </p:nvSpPr>
        <p:spPr>
          <a:xfrm>
            <a:off x="6592824" y="4645152"/>
            <a:ext cx="1115568"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47688" y="4690872"/>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12</a:t>
            </a:r>
          </a:p>
        </p:txBody>
      </p:sp>
      <p:sp>
        <p:nvSpPr>
          <p:cNvPr id="42" name="Rectangle 41"/>
          <p:cNvSpPr/>
          <p:nvPr/>
        </p:nvSpPr>
        <p:spPr>
          <a:xfrm>
            <a:off x="7708392" y="4645152"/>
            <a:ext cx="3611880" cy="43891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763256" y="4690872"/>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Below direct KDA minimum</a:t>
            </a:r>
          </a:p>
        </p:txBody>
      </p:sp>
      <p:sp>
        <p:nvSpPr>
          <p:cNvPr id="44" name="Rectangle 43"/>
          <p:cNvSpPr/>
          <p:nvPr/>
        </p:nvSpPr>
        <p:spPr>
          <a:xfrm>
            <a:off x="786384" y="5084064"/>
            <a:ext cx="580644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41247" y="5129783"/>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Effective query size ≥3</a:t>
            </a:r>
          </a:p>
        </p:txBody>
      </p:sp>
      <p:sp>
        <p:nvSpPr>
          <p:cNvPr id="46" name="Rectangle 45"/>
          <p:cNvSpPr/>
          <p:nvPr/>
        </p:nvSpPr>
        <p:spPr>
          <a:xfrm>
            <a:off x="6592824" y="5084064"/>
            <a:ext cx="1115568"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47688" y="5129783"/>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3</a:t>
            </a:r>
          </a:p>
        </p:txBody>
      </p:sp>
      <p:sp>
        <p:nvSpPr>
          <p:cNvPr id="48" name="Rectangle 47"/>
          <p:cNvSpPr/>
          <p:nvPr/>
        </p:nvSpPr>
        <p:spPr>
          <a:xfrm>
            <a:off x="7708392" y="5084064"/>
            <a:ext cx="3611880" cy="43891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763256" y="5129783"/>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KDA completed</a:t>
            </a:r>
          </a:p>
        </p:txBody>
      </p:sp>
      <p:sp>
        <p:nvSpPr>
          <p:cNvPr id="50" name="Rectangle 49"/>
          <p:cNvSpPr/>
          <p:nvPr/>
        </p:nvSpPr>
        <p:spPr>
          <a:xfrm>
            <a:off x="786384" y="5522975"/>
            <a:ext cx="5806440" cy="43891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41247" y="5568695"/>
            <a:ext cx="569671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TOTAL</a:t>
            </a:r>
          </a:p>
        </p:txBody>
      </p:sp>
      <p:sp>
        <p:nvSpPr>
          <p:cNvPr id="52" name="Rectangle 51"/>
          <p:cNvSpPr/>
          <p:nvPr/>
        </p:nvSpPr>
        <p:spPr>
          <a:xfrm>
            <a:off x="6592824" y="5522975"/>
            <a:ext cx="1115568" cy="43891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647688" y="5568695"/>
            <a:ext cx="1005840"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84</a:t>
            </a:r>
          </a:p>
        </p:txBody>
      </p:sp>
      <p:sp>
        <p:nvSpPr>
          <p:cNvPr id="54" name="Rectangle 53"/>
          <p:cNvSpPr/>
          <p:nvPr/>
        </p:nvSpPr>
        <p:spPr>
          <a:xfrm>
            <a:off x="7708392" y="5522975"/>
            <a:ext cx="3611880" cy="43891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763256" y="5568695"/>
            <a:ext cx="3502152" cy="36575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3 completed runs</a:t>
            </a:r>
          </a:p>
        </p:txBody>
      </p:sp>
      <p:sp>
        <p:nvSpPr>
          <p:cNvPr id="56" name="Rectangle 55"/>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Most slots disappear before KDA because the relaxed broad DEG query is absent or too small.</a:t>
            </a:r>
          </a:p>
        </p:txBody>
      </p:sp>
      <p:sp>
        <p:nvSpPr>
          <p:cNvPr id="59" name="TextBox 58"/>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phase20_broad_direction_manifest.tsv; phase20_broad_funnel_explained.md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FUNNEL OVERVIEW</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Broad-cell funnel at a glance: 84 slots to 12 direct candidate rows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upper row counts slots; the lower row counts explicit gene tests or candidate rows.</a:t>
            </a:r>
          </a:p>
        </p:txBody>
      </p:sp>
      <p:sp>
        <p:nvSpPr>
          <p:cNvPr id="5" name="Rounded Rectangle 4"/>
          <p:cNvSpPr/>
          <p:nvPr/>
        </p:nvSpPr>
        <p:spPr>
          <a:xfrm>
            <a:off x="594360"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84</a:t>
            </a:r>
          </a:p>
        </p:txBody>
      </p:sp>
      <p:sp>
        <p:nvSpPr>
          <p:cNvPr id="7" name="TextBox 6"/>
          <p:cNvSpPr txBox="1"/>
          <p:nvPr/>
        </p:nvSpPr>
        <p:spPr>
          <a:xfrm>
            <a:off x="685800"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directional slots</a:t>
            </a:r>
          </a:p>
        </p:txBody>
      </p:sp>
      <p:sp>
        <p:nvSpPr>
          <p:cNvPr id="8" name="Chevron 7"/>
          <p:cNvSpPr/>
          <p:nvPr/>
        </p:nvSpPr>
        <p:spPr>
          <a:xfrm>
            <a:off x="2634386"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40126"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31566"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80</a:t>
            </a:r>
          </a:p>
        </p:txBody>
      </p:sp>
      <p:sp>
        <p:nvSpPr>
          <p:cNvPr id="11" name="TextBox 10"/>
          <p:cNvSpPr txBox="1"/>
          <p:nvPr/>
        </p:nvSpPr>
        <p:spPr>
          <a:xfrm>
            <a:off x="2931566"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estimable-source slots</a:t>
            </a:r>
          </a:p>
        </p:txBody>
      </p:sp>
      <p:sp>
        <p:nvSpPr>
          <p:cNvPr id="12" name="Chevron 11"/>
          <p:cNvSpPr/>
          <p:nvPr/>
        </p:nvSpPr>
        <p:spPr>
          <a:xfrm>
            <a:off x="4880152"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85892"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77332"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19</a:t>
            </a:r>
          </a:p>
        </p:txBody>
      </p:sp>
      <p:sp>
        <p:nvSpPr>
          <p:cNvPr id="15" name="TextBox 14"/>
          <p:cNvSpPr txBox="1"/>
          <p:nvPr/>
        </p:nvSpPr>
        <p:spPr>
          <a:xfrm>
            <a:off x="5177332"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with provisional query</a:t>
            </a:r>
          </a:p>
        </p:txBody>
      </p:sp>
      <p:sp>
        <p:nvSpPr>
          <p:cNvPr id="16" name="Chevron 15"/>
          <p:cNvSpPr/>
          <p:nvPr/>
        </p:nvSpPr>
        <p:spPr>
          <a:xfrm>
            <a:off x="7125919"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31659"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23099"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15</a:t>
            </a:r>
          </a:p>
        </p:txBody>
      </p:sp>
      <p:sp>
        <p:nvSpPr>
          <p:cNvPr id="19" name="TextBox 18"/>
          <p:cNvSpPr txBox="1"/>
          <p:nvPr/>
        </p:nvSpPr>
        <p:spPr>
          <a:xfrm>
            <a:off x="7423099"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non-empty after mapping</a:t>
            </a:r>
          </a:p>
        </p:txBody>
      </p:sp>
      <p:sp>
        <p:nvSpPr>
          <p:cNvPr id="20" name="Chevron 19"/>
          <p:cNvSpPr/>
          <p:nvPr/>
        </p:nvSpPr>
        <p:spPr>
          <a:xfrm>
            <a:off x="9371685" y="1883664"/>
            <a:ext cx="155448" cy="274320"/>
          </a:xfrm>
          <a:prstGeom prst="chevron">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577425" y="1490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68865" y="1609343"/>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00684D"/>
                </a:solidFill>
                <a:latin typeface="Arial"/>
              </a:rPr>
              <a:t>3</a:t>
            </a:r>
          </a:p>
        </p:txBody>
      </p:sp>
      <p:sp>
        <p:nvSpPr>
          <p:cNvPr id="23" name="TextBox 22"/>
          <p:cNvSpPr txBox="1"/>
          <p:nvPr/>
        </p:nvSpPr>
        <p:spPr>
          <a:xfrm>
            <a:off x="9668865" y="2020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completed KDA runs</a:t>
            </a:r>
          </a:p>
        </p:txBody>
      </p:sp>
      <p:sp>
        <p:nvSpPr>
          <p:cNvPr id="24" name="TextBox 23"/>
          <p:cNvSpPr txBox="1"/>
          <p:nvPr/>
        </p:nvSpPr>
        <p:spPr>
          <a:xfrm>
            <a:off x="630936" y="1243584"/>
            <a:ext cx="1920240" cy="1645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RUN CONSTRUCTION</a:t>
            </a:r>
          </a:p>
        </p:txBody>
      </p:sp>
      <p:sp>
        <p:nvSpPr>
          <p:cNvPr id="25" name="Rounded Rectangle 24"/>
          <p:cNvSpPr/>
          <p:nvPr/>
        </p:nvSpPr>
        <p:spPr>
          <a:xfrm>
            <a:off x="594360"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85800"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377</a:t>
            </a:r>
          </a:p>
        </p:txBody>
      </p:sp>
      <p:sp>
        <p:nvSpPr>
          <p:cNvPr id="27" name="TextBox 26"/>
          <p:cNvSpPr txBox="1"/>
          <p:nvPr/>
        </p:nvSpPr>
        <p:spPr>
          <a:xfrm>
            <a:off x="685800"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explicit tested rows</a:t>
            </a:r>
          </a:p>
        </p:txBody>
      </p:sp>
      <p:sp>
        <p:nvSpPr>
          <p:cNvPr id="28" name="Chevron 27"/>
          <p:cNvSpPr/>
          <p:nvPr/>
        </p:nvSpPr>
        <p:spPr>
          <a:xfrm>
            <a:off x="2634386"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2840126"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31566"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362</a:t>
            </a:r>
          </a:p>
        </p:txBody>
      </p:sp>
      <p:sp>
        <p:nvSpPr>
          <p:cNvPr id="31" name="TextBox 30"/>
          <p:cNvSpPr txBox="1"/>
          <p:nvPr/>
        </p:nvSpPr>
        <p:spPr>
          <a:xfrm>
            <a:off x="2931566"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non-core-MT family</a:t>
            </a:r>
          </a:p>
        </p:txBody>
      </p:sp>
      <p:sp>
        <p:nvSpPr>
          <p:cNvPr id="32" name="Chevron 31"/>
          <p:cNvSpPr/>
          <p:nvPr/>
        </p:nvSpPr>
        <p:spPr>
          <a:xfrm>
            <a:off x="4880152"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085892"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177332"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35" name="TextBox 34"/>
          <p:cNvSpPr txBox="1"/>
          <p:nvPr/>
        </p:nvSpPr>
        <p:spPr>
          <a:xfrm>
            <a:off x="5177332"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query overlap ≥2</a:t>
            </a:r>
          </a:p>
        </p:txBody>
      </p:sp>
      <p:sp>
        <p:nvSpPr>
          <p:cNvPr id="36" name="Chevron 35"/>
          <p:cNvSpPr/>
          <p:nvPr/>
        </p:nvSpPr>
        <p:spPr>
          <a:xfrm>
            <a:off x="7125919"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7331659"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423099"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39" name="TextBox 38"/>
          <p:cNvSpPr txBox="1"/>
          <p:nvPr/>
        </p:nvSpPr>
        <p:spPr>
          <a:xfrm>
            <a:off x="7423099"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fold enrichment &gt;1</a:t>
            </a:r>
          </a:p>
        </p:txBody>
      </p:sp>
      <p:sp>
        <p:nvSpPr>
          <p:cNvPr id="40" name="Chevron 39"/>
          <p:cNvSpPr/>
          <p:nvPr/>
        </p:nvSpPr>
        <p:spPr>
          <a:xfrm>
            <a:off x="9371685" y="4169663"/>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9577425" y="3776472"/>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668865" y="3895344"/>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12</a:t>
            </a:r>
          </a:p>
        </p:txBody>
      </p:sp>
      <p:sp>
        <p:nvSpPr>
          <p:cNvPr id="43" name="TextBox 42"/>
          <p:cNvSpPr txBox="1"/>
          <p:nvPr/>
        </p:nvSpPr>
        <p:spPr>
          <a:xfrm>
            <a:off x="9668865" y="4306824"/>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within-run q ≤0.10</a:t>
            </a:r>
          </a:p>
        </p:txBody>
      </p:sp>
      <p:sp>
        <p:nvSpPr>
          <p:cNvPr id="44" name="TextBox 43"/>
          <p:cNvSpPr txBox="1"/>
          <p:nvPr/>
        </p:nvSpPr>
        <p:spPr>
          <a:xfrm>
            <a:off x="630936" y="3538728"/>
            <a:ext cx="2651760" cy="1645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E69F00"/>
                </a:solidFill>
                <a:latin typeface="Arial"/>
              </a:rPr>
              <a:t>DIRECT CANDIDATE SELECTION</a:t>
            </a:r>
          </a:p>
        </p:txBody>
      </p:sp>
      <p:sp>
        <p:nvSpPr>
          <p:cNvPr id="45" name="Rounded Rectangle 44"/>
          <p:cNvSpPr/>
          <p:nvPr/>
        </p:nvSpPr>
        <p:spPr>
          <a:xfrm>
            <a:off x="749808" y="2871216"/>
            <a:ext cx="10698480" cy="530352"/>
          </a:xfrm>
          <a:prstGeom prst="roundRect">
            <a:avLst/>
          </a:prstGeom>
          <a:solidFill>
            <a:srgbClr val="F1EBF7"/>
          </a:solidFill>
          <a:ln w="1270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50976" y="3017520"/>
            <a:ext cx="10287000"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20" b="1" i="0">
                <a:solidFill>
                  <a:srgbClr val="7E4C9A"/>
                </a:solidFill>
                <a:latin typeface="Arial"/>
              </a:rPr>
              <a:t>Counting unit changes once: slots/runs → explicit gene × run rows</a:t>
            </a:r>
          </a:p>
        </p:txBody>
      </p:sp>
      <p:sp>
        <p:nvSpPr>
          <p:cNvPr id="47" name="Rectangle 46"/>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Within-run BH is calculated before overlap and enrichment gates; there is no ACAT stage.</a:t>
            </a:r>
          </a:p>
        </p:txBody>
      </p:sp>
      <p:sp>
        <p:nvSpPr>
          <p:cNvPr id="50" name="TextBox 49"/>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phase20_broad_filter_funnel.tsv; phase20_broad_direction_manifest.tsv</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FILTER 1 • DEG QUERY</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Donor-level DEG rules leave 65 provisional core-MT memberships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Each donor is a replicate; donor × broad-cell samples require enough nuclei and both diagnosis groups.</a:t>
            </a:r>
          </a:p>
        </p:txBody>
      </p:sp>
      <p:sp>
        <p:nvSpPr>
          <p:cNvPr id="5" name="Rounded Rectangle 4"/>
          <p:cNvSpPr/>
          <p:nvPr/>
        </p:nvSpPr>
        <p:spPr>
          <a:xfrm>
            <a:off x="62179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809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786,242</a:t>
            </a:r>
          </a:p>
        </p:txBody>
      </p:sp>
      <p:sp>
        <p:nvSpPr>
          <p:cNvPr id="7" name="TextBox 6"/>
          <p:cNvSpPr txBox="1"/>
          <p:nvPr/>
        </p:nvSpPr>
        <p:spPr>
          <a:xfrm>
            <a:off x="76809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tested gene × contrast rows</a:t>
            </a:r>
          </a:p>
        </p:txBody>
      </p:sp>
      <p:sp>
        <p:nvSpPr>
          <p:cNvPr id="8" name="Rounded Rectangle 7"/>
          <p:cNvSpPr/>
          <p:nvPr/>
        </p:nvSpPr>
        <p:spPr>
          <a:xfrm>
            <a:off x="277063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1693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2,336</a:t>
            </a:r>
          </a:p>
        </p:txBody>
      </p:sp>
      <p:sp>
        <p:nvSpPr>
          <p:cNvPr id="10" name="TextBox 9"/>
          <p:cNvSpPr txBox="1"/>
          <p:nvPr/>
        </p:nvSpPr>
        <p:spPr>
          <a:xfrm>
            <a:off x="291693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relaxed DEG memberships</a:t>
            </a:r>
          </a:p>
        </p:txBody>
      </p:sp>
      <p:sp>
        <p:nvSpPr>
          <p:cNvPr id="11" name="Rounded Rectangle 10"/>
          <p:cNvSpPr/>
          <p:nvPr/>
        </p:nvSpPr>
        <p:spPr>
          <a:xfrm>
            <a:off x="491947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6577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65</a:t>
            </a:r>
          </a:p>
        </p:txBody>
      </p:sp>
      <p:sp>
        <p:nvSpPr>
          <p:cNvPr id="13" name="TextBox 12"/>
          <p:cNvSpPr txBox="1"/>
          <p:nvPr/>
        </p:nvSpPr>
        <p:spPr>
          <a:xfrm>
            <a:off x="506577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provisional core-MT memberships</a:t>
            </a:r>
          </a:p>
        </p:txBody>
      </p:sp>
      <p:sp>
        <p:nvSpPr>
          <p:cNvPr id="14" name="Rounded Rectangle 13"/>
          <p:cNvSpPr/>
          <p:nvPr/>
        </p:nvSpPr>
        <p:spPr>
          <a:xfrm>
            <a:off x="706831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1461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35</a:t>
            </a:r>
          </a:p>
        </p:txBody>
      </p:sp>
      <p:sp>
        <p:nvSpPr>
          <p:cNvPr id="16" name="TextBox 15"/>
          <p:cNvSpPr txBox="1"/>
          <p:nvPr/>
        </p:nvSpPr>
        <p:spPr>
          <a:xfrm>
            <a:off x="721461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effective query memberships</a:t>
            </a:r>
          </a:p>
        </p:txBody>
      </p:sp>
      <p:sp>
        <p:nvSpPr>
          <p:cNvPr id="17" name="Rounded Rectangle 16"/>
          <p:cNvSpPr/>
          <p:nvPr/>
        </p:nvSpPr>
        <p:spPr>
          <a:xfrm>
            <a:off x="9217152" y="1362456"/>
            <a:ext cx="199339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6" y="1453896"/>
            <a:ext cx="170078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3</a:t>
            </a:r>
          </a:p>
        </p:txBody>
      </p:sp>
      <p:sp>
        <p:nvSpPr>
          <p:cNvPr id="19" name="TextBox 18"/>
          <p:cNvSpPr txBox="1"/>
          <p:nvPr/>
        </p:nvSpPr>
        <p:spPr>
          <a:xfrm>
            <a:off x="9363456" y="1911095"/>
            <a:ext cx="170078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eligible directional queries</a:t>
            </a:r>
          </a:p>
        </p:txBody>
      </p:sp>
      <p:sp>
        <p:nvSpPr>
          <p:cNvPr id="20" name="Rounded Rectangle 19"/>
          <p:cNvSpPr/>
          <p:nvPr/>
        </p:nvSpPr>
        <p:spPr>
          <a:xfrm>
            <a:off x="658368" y="2816352"/>
            <a:ext cx="5358384" cy="27889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41832" y="3136391"/>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88136" y="3108960"/>
            <a:ext cx="465429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Source contrast must be estimable</a:t>
            </a:r>
          </a:p>
        </p:txBody>
      </p:sp>
      <p:sp>
        <p:nvSpPr>
          <p:cNvPr id="23" name="Oval 22"/>
          <p:cNvSpPr/>
          <p:nvPr/>
        </p:nvSpPr>
        <p:spPr>
          <a:xfrm>
            <a:off x="941832" y="372160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5568" y="3593592"/>
            <a:ext cx="4443983"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Aggregate counts by donor × broad cell type.</a:t>
            </a:r>
          </a:p>
        </p:txBody>
      </p:sp>
      <p:sp>
        <p:nvSpPr>
          <p:cNvPr id="25" name="Oval 24"/>
          <p:cNvSpPr/>
          <p:nvPr/>
        </p:nvSpPr>
        <p:spPr>
          <a:xfrm>
            <a:off x="941832" y="41422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15568" y="4014216"/>
            <a:ext cx="4443983"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Keep a donor-cell sample only when it has ≥20 nuclei.</a:t>
            </a:r>
          </a:p>
        </p:txBody>
      </p:sp>
      <p:sp>
        <p:nvSpPr>
          <p:cNvPr id="27" name="Oval 26"/>
          <p:cNvSpPr/>
          <p:nvPr/>
        </p:nvSpPr>
        <p:spPr>
          <a:xfrm>
            <a:off x="941832" y="45628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15568" y="4434840"/>
            <a:ext cx="4443983"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Fit 7 shared broad-cell models; test up to 6 stratum contrasts each.</a:t>
            </a:r>
          </a:p>
        </p:txBody>
      </p:sp>
      <p:sp>
        <p:nvSpPr>
          <p:cNvPr id="29" name="Oval 28"/>
          <p:cNvSpPr/>
          <p:nvPr/>
        </p:nvSpPr>
        <p:spPr>
          <a:xfrm>
            <a:off x="941832" y="4983480"/>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15568" y="4855464"/>
            <a:ext cx="4443983"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Require ≥5 AD + ≥5 NCI donors: 40/42 contrasts are estimable.</a:t>
            </a:r>
          </a:p>
        </p:txBody>
      </p:sp>
      <p:sp>
        <p:nvSpPr>
          <p:cNvPr id="31" name="Rounded Rectangle 30"/>
          <p:cNvSpPr/>
          <p:nvPr/>
        </p:nvSpPr>
        <p:spPr>
          <a:xfrm>
            <a:off x="6236208" y="2816352"/>
            <a:ext cx="5303520" cy="27889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519672" y="3136391"/>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65976" y="3108960"/>
            <a:ext cx="459943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Provisional query rules</a:t>
            </a:r>
          </a:p>
        </p:txBody>
      </p:sp>
      <p:sp>
        <p:nvSpPr>
          <p:cNvPr id="34" name="Oval 33"/>
          <p:cNvSpPr/>
          <p:nvPr/>
        </p:nvSpPr>
        <p:spPr>
          <a:xfrm>
            <a:off x="6519672" y="3675887"/>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93408" y="3547872"/>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edgeR filterByExpr() defines the tested-gene universe.</a:t>
            </a:r>
          </a:p>
        </p:txBody>
      </p:sp>
      <p:sp>
        <p:nvSpPr>
          <p:cNvPr id="36" name="Oval 35"/>
          <p:cNvSpPr/>
          <p:nvPr/>
        </p:nvSpPr>
        <p:spPr>
          <a:xfrm>
            <a:off x="6519672" y="4032503"/>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93408" y="3904487"/>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Relaxed DEG: BH q≤0.10 + |log2FC|≥log2(1.2).</a:t>
            </a:r>
          </a:p>
        </p:txBody>
      </p:sp>
      <p:sp>
        <p:nvSpPr>
          <p:cNvPr id="38" name="Oval 37"/>
          <p:cNvSpPr/>
          <p:nvPr/>
        </p:nvSpPr>
        <p:spPr>
          <a:xfrm>
            <a:off x="6519672" y="4389119"/>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93408" y="4261103"/>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Signed 2,336: 983 AD-up + 1,353 AD-down memberships.</a:t>
            </a:r>
          </a:p>
        </p:txBody>
      </p:sp>
      <p:sp>
        <p:nvSpPr>
          <p:cNvPr id="40" name="Oval 39"/>
          <p:cNvSpPr/>
          <p:nvPr/>
        </p:nvSpPr>
        <p:spPr>
          <a:xfrm>
            <a:off x="6519672" y="4745735"/>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93408" y="4617719"/>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Core-MT intersection: 20 up + 45 down = 65.</a:t>
            </a:r>
          </a:p>
        </p:txBody>
      </p:sp>
      <p:sp>
        <p:nvSpPr>
          <p:cNvPr id="42" name="Oval 41"/>
          <p:cNvSpPr/>
          <p:nvPr/>
        </p:nvSpPr>
        <p:spPr>
          <a:xfrm>
            <a:off x="6519672" y="5102351"/>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693408" y="4974335"/>
            <a:ext cx="4398264"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90" b="0" i="0">
                <a:solidFill>
                  <a:srgbClr val="1F2730"/>
                </a:solidFill>
                <a:latin typeface="Arial"/>
              </a:rPr>
              <a:t>Network mapping removes 30; 35 memberships remain.</a:t>
            </a:r>
          </a:p>
        </p:txBody>
      </p:sp>
      <p:sp>
        <p:nvSpPr>
          <p:cNvPr id="44" name="TextBox 43"/>
          <p:cNvSpPr txBox="1"/>
          <p:nvPr/>
        </p:nvSpPr>
        <p:spPr>
          <a:xfrm>
            <a:off x="1005840" y="5760720"/>
            <a:ext cx="10149840" cy="21945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60" b="1" i="0">
                <a:solidFill>
                  <a:srgbClr val="7E4C9A"/>
                </a:solidFill>
                <a:latin typeface="Arial"/>
              </a:rPr>
              <a:t>Broad-cell DEGs can reflect within-fine-type expression and shifts in fine-type composition.</a:t>
            </a:r>
          </a:p>
        </p:txBody>
      </p:sp>
      <p:sp>
        <p:nvSpPr>
          <p:cNvPr id="45" name="Rectangle 44"/>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02920" y="6153912"/>
            <a:ext cx="91440" cy="3931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A contrast may be not estimable before testing; this is not a zero-DEG result or shared-model failure.</a:t>
            </a:r>
          </a:p>
        </p:txBody>
      </p:sp>
      <p:sp>
        <p:nvSpPr>
          <p:cNvPr id="48" name="TextBox 47"/>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phase20_broad_funnel_explained.md, source-DEG and query-construction sections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Only three relaxed queries reach the direct KDA minimum</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All three completed runs are AD-down mitochondrial queries; one completes with no candidates.</a:t>
            </a:r>
          </a:p>
        </p:txBody>
      </p:sp>
      <p:sp>
        <p:nvSpPr>
          <p:cNvPr id="5" name="Rectangle 4"/>
          <p:cNvSpPr/>
          <p:nvPr/>
        </p:nvSpPr>
        <p:spPr>
          <a:xfrm>
            <a:off x="658368" y="1399032"/>
            <a:ext cx="3749039"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453896"/>
            <a:ext cx="3639311"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Broad × group × direction</a:t>
            </a:r>
          </a:p>
        </p:txBody>
      </p:sp>
      <p:sp>
        <p:nvSpPr>
          <p:cNvPr id="7" name="Rectangle 6"/>
          <p:cNvSpPr/>
          <p:nvPr/>
        </p:nvSpPr>
        <p:spPr>
          <a:xfrm>
            <a:off x="4407407" y="1399032"/>
            <a:ext cx="1078992"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62271" y="1453896"/>
            <a:ext cx="969264"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Provisional</a:t>
            </a:r>
          </a:p>
        </p:txBody>
      </p:sp>
      <p:sp>
        <p:nvSpPr>
          <p:cNvPr id="9" name="Rectangle 8"/>
          <p:cNvSpPr/>
          <p:nvPr/>
        </p:nvSpPr>
        <p:spPr>
          <a:xfrm>
            <a:off x="5486399" y="1399032"/>
            <a:ext cx="1005840"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41263" y="1453896"/>
            <a:ext cx="896112"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Effective</a:t>
            </a:r>
          </a:p>
        </p:txBody>
      </p:sp>
      <p:sp>
        <p:nvSpPr>
          <p:cNvPr id="11" name="Rectangle 10"/>
          <p:cNvSpPr/>
          <p:nvPr/>
        </p:nvSpPr>
        <p:spPr>
          <a:xfrm>
            <a:off x="6492240" y="1399032"/>
            <a:ext cx="1152144"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47103" y="1453896"/>
            <a:ext cx="1042416"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Background</a:t>
            </a:r>
          </a:p>
        </p:txBody>
      </p:sp>
      <p:sp>
        <p:nvSpPr>
          <p:cNvPr id="13" name="Rectangle 12"/>
          <p:cNvSpPr/>
          <p:nvPr/>
        </p:nvSpPr>
        <p:spPr>
          <a:xfrm>
            <a:off x="7644383" y="1399032"/>
            <a:ext cx="1234440"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99248" y="1453896"/>
            <a:ext cx="1124712"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Explicit tests</a:t>
            </a:r>
          </a:p>
        </p:txBody>
      </p:sp>
      <p:sp>
        <p:nvSpPr>
          <p:cNvPr id="15" name="Rectangle 14"/>
          <p:cNvSpPr/>
          <p:nvPr/>
        </p:nvSpPr>
        <p:spPr>
          <a:xfrm>
            <a:off x="8878824" y="1399032"/>
            <a:ext cx="1133856" cy="49377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33688" y="1453896"/>
            <a:ext cx="1024128" cy="40233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29" b="1" i="0">
                <a:solidFill>
                  <a:srgbClr val="FFFFFF"/>
                </a:solidFill>
                <a:latin typeface="Arial"/>
              </a:rPr>
              <a:t>Relaxed rows</a:t>
            </a:r>
          </a:p>
        </p:txBody>
      </p:sp>
      <p:sp>
        <p:nvSpPr>
          <p:cNvPr id="17" name="Rectangle 16"/>
          <p:cNvSpPr/>
          <p:nvPr/>
        </p:nvSpPr>
        <p:spPr>
          <a:xfrm>
            <a:off x="658368" y="1892808"/>
            <a:ext cx="3749039"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1938528"/>
            <a:ext cx="3639311"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Astrocytes × F_e4 × AD-down</a:t>
            </a:r>
          </a:p>
        </p:txBody>
      </p:sp>
      <p:sp>
        <p:nvSpPr>
          <p:cNvPr id="19" name="Rectangle 18"/>
          <p:cNvSpPr/>
          <p:nvPr/>
        </p:nvSpPr>
        <p:spPr>
          <a:xfrm>
            <a:off x="4407407" y="1892808"/>
            <a:ext cx="1078992"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62271" y="1938528"/>
            <a:ext cx="96926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18</a:t>
            </a:r>
          </a:p>
        </p:txBody>
      </p:sp>
      <p:sp>
        <p:nvSpPr>
          <p:cNvPr id="21" name="Rectangle 20"/>
          <p:cNvSpPr/>
          <p:nvPr/>
        </p:nvSpPr>
        <p:spPr>
          <a:xfrm>
            <a:off x="5486399" y="1892808"/>
            <a:ext cx="10058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41263" y="1938528"/>
            <a:ext cx="8961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13</a:t>
            </a:r>
          </a:p>
        </p:txBody>
      </p:sp>
      <p:sp>
        <p:nvSpPr>
          <p:cNvPr id="23" name="Rectangle 22"/>
          <p:cNvSpPr/>
          <p:nvPr/>
        </p:nvSpPr>
        <p:spPr>
          <a:xfrm>
            <a:off x="6492240" y="1892808"/>
            <a:ext cx="1152144"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47103" y="1938528"/>
            <a:ext cx="1042416"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7,828</a:t>
            </a:r>
          </a:p>
        </p:txBody>
      </p:sp>
      <p:sp>
        <p:nvSpPr>
          <p:cNvPr id="25" name="Rectangle 24"/>
          <p:cNvSpPr/>
          <p:nvPr/>
        </p:nvSpPr>
        <p:spPr>
          <a:xfrm>
            <a:off x="7644383" y="1892808"/>
            <a:ext cx="12344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99248" y="1938528"/>
            <a:ext cx="11247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160</a:t>
            </a:r>
          </a:p>
        </p:txBody>
      </p:sp>
      <p:sp>
        <p:nvSpPr>
          <p:cNvPr id="27" name="Rectangle 26"/>
          <p:cNvSpPr/>
          <p:nvPr/>
        </p:nvSpPr>
        <p:spPr>
          <a:xfrm>
            <a:off x="8878824" y="1892808"/>
            <a:ext cx="1133856"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933688" y="1938528"/>
            <a:ext cx="1024128"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2</a:t>
            </a:r>
          </a:p>
        </p:txBody>
      </p:sp>
      <p:sp>
        <p:nvSpPr>
          <p:cNvPr id="29" name="Rectangle 28"/>
          <p:cNvSpPr/>
          <p:nvPr/>
        </p:nvSpPr>
        <p:spPr>
          <a:xfrm>
            <a:off x="658368" y="2459736"/>
            <a:ext cx="3749039"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13232" y="2505456"/>
            <a:ext cx="3639311"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Astrocytes × M_e33 × AD-down</a:t>
            </a:r>
          </a:p>
        </p:txBody>
      </p:sp>
      <p:sp>
        <p:nvSpPr>
          <p:cNvPr id="31" name="Rectangle 30"/>
          <p:cNvSpPr/>
          <p:nvPr/>
        </p:nvSpPr>
        <p:spPr>
          <a:xfrm>
            <a:off x="4407407" y="2459736"/>
            <a:ext cx="1078992"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462271" y="2505456"/>
            <a:ext cx="96926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5</a:t>
            </a:r>
          </a:p>
        </p:txBody>
      </p:sp>
      <p:sp>
        <p:nvSpPr>
          <p:cNvPr id="33" name="Rectangle 32"/>
          <p:cNvSpPr/>
          <p:nvPr/>
        </p:nvSpPr>
        <p:spPr>
          <a:xfrm>
            <a:off x="5486399" y="2459736"/>
            <a:ext cx="1005840"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541263" y="2505456"/>
            <a:ext cx="8961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3</a:t>
            </a:r>
          </a:p>
        </p:txBody>
      </p:sp>
      <p:sp>
        <p:nvSpPr>
          <p:cNvPr id="35" name="Rectangle 34"/>
          <p:cNvSpPr/>
          <p:nvPr/>
        </p:nvSpPr>
        <p:spPr>
          <a:xfrm>
            <a:off x="6492240" y="2459736"/>
            <a:ext cx="1152144"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47103" y="2505456"/>
            <a:ext cx="1042416"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7,828</a:t>
            </a:r>
          </a:p>
        </p:txBody>
      </p:sp>
      <p:sp>
        <p:nvSpPr>
          <p:cNvPr id="37" name="Rectangle 36"/>
          <p:cNvSpPr/>
          <p:nvPr/>
        </p:nvSpPr>
        <p:spPr>
          <a:xfrm>
            <a:off x="7644383" y="2459736"/>
            <a:ext cx="1234440"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699248" y="2505456"/>
            <a:ext cx="11247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80</a:t>
            </a:r>
          </a:p>
        </p:txBody>
      </p:sp>
      <p:sp>
        <p:nvSpPr>
          <p:cNvPr id="39" name="Rectangle 38"/>
          <p:cNvSpPr/>
          <p:nvPr/>
        </p:nvSpPr>
        <p:spPr>
          <a:xfrm>
            <a:off x="8878824" y="2459736"/>
            <a:ext cx="1133856" cy="56692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933688" y="2505456"/>
            <a:ext cx="1024128"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0</a:t>
            </a:r>
          </a:p>
        </p:txBody>
      </p:sp>
      <p:sp>
        <p:nvSpPr>
          <p:cNvPr id="41" name="Rectangle 40"/>
          <p:cNvSpPr/>
          <p:nvPr/>
        </p:nvSpPr>
        <p:spPr>
          <a:xfrm>
            <a:off x="658368" y="3026664"/>
            <a:ext cx="3749039"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13232" y="3072384"/>
            <a:ext cx="3639311"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OPCs × F_e4 × AD-down</a:t>
            </a:r>
          </a:p>
        </p:txBody>
      </p:sp>
      <p:sp>
        <p:nvSpPr>
          <p:cNvPr id="43" name="Rectangle 42"/>
          <p:cNvSpPr/>
          <p:nvPr/>
        </p:nvSpPr>
        <p:spPr>
          <a:xfrm>
            <a:off x="4407407" y="3026664"/>
            <a:ext cx="1078992"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462271" y="3072384"/>
            <a:ext cx="969264"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6</a:t>
            </a:r>
          </a:p>
        </p:txBody>
      </p:sp>
      <p:sp>
        <p:nvSpPr>
          <p:cNvPr id="45" name="Rectangle 44"/>
          <p:cNvSpPr/>
          <p:nvPr/>
        </p:nvSpPr>
        <p:spPr>
          <a:xfrm>
            <a:off x="5486399" y="3026664"/>
            <a:ext cx="10058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541263" y="3072384"/>
            <a:ext cx="8961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4</a:t>
            </a:r>
          </a:p>
        </p:txBody>
      </p:sp>
      <p:sp>
        <p:nvSpPr>
          <p:cNvPr id="47" name="Rectangle 46"/>
          <p:cNvSpPr/>
          <p:nvPr/>
        </p:nvSpPr>
        <p:spPr>
          <a:xfrm>
            <a:off x="6492240" y="3026664"/>
            <a:ext cx="1152144"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547103" y="3072384"/>
            <a:ext cx="1042416"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7,817</a:t>
            </a:r>
          </a:p>
        </p:txBody>
      </p:sp>
      <p:sp>
        <p:nvSpPr>
          <p:cNvPr id="49" name="Rectangle 48"/>
          <p:cNvSpPr/>
          <p:nvPr/>
        </p:nvSpPr>
        <p:spPr>
          <a:xfrm>
            <a:off x="7644383" y="3026664"/>
            <a:ext cx="12344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699248" y="3072384"/>
            <a:ext cx="11247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137</a:t>
            </a:r>
          </a:p>
        </p:txBody>
      </p:sp>
      <p:sp>
        <p:nvSpPr>
          <p:cNvPr id="51" name="Rectangle 50"/>
          <p:cNvSpPr/>
          <p:nvPr/>
        </p:nvSpPr>
        <p:spPr>
          <a:xfrm>
            <a:off x="8878824" y="3026664"/>
            <a:ext cx="1133856"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933688" y="3072384"/>
            <a:ext cx="1024128"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10</a:t>
            </a:r>
          </a:p>
        </p:txBody>
      </p:sp>
      <p:sp>
        <p:nvSpPr>
          <p:cNvPr id="53" name="Rounded Rectangle 52"/>
          <p:cNvSpPr/>
          <p:nvPr/>
        </p:nvSpPr>
        <p:spPr>
          <a:xfrm>
            <a:off x="658368" y="3968496"/>
            <a:ext cx="3364992" cy="1472184"/>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923544" y="425196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69848" y="4224528"/>
            <a:ext cx="267004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Mapping loss</a:t>
            </a:r>
          </a:p>
        </p:txBody>
      </p:sp>
      <p:sp>
        <p:nvSpPr>
          <p:cNvPr id="56" name="TextBox 55"/>
          <p:cNvSpPr txBox="1"/>
          <p:nvPr/>
        </p:nvSpPr>
        <p:spPr>
          <a:xfrm>
            <a:off x="941832" y="4663440"/>
            <a:ext cx="278892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0" i="0">
                <a:solidFill>
                  <a:srgbClr val="4E5A68"/>
                </a:solidFill>
                <a:latin typeface="Arial"/>
              </a:rPr>
              <a:t>These runs start with 29 provisional memberships; 9 are lost in network mapping, leaving 20 effective query genes.</a:t>
            </a:r>
          </a:p>
        </p:txBody>
      </p:sp>
      <p:sp>
        <p:nvSpPr>
          <p:cNvPr id="57" name="Rounded Rectangle 56"/>
          <p:cNvSpPr/>
          <p:nvPr/>
        </p:nvSpPr>
        <p:spPr>
          <a:xfrm>
            <a:off x="4407408" y="3968496"/>
            <a:ext cx="3364992" cy="147218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672584" y="425196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818888" y="4224528"/>
            <a:ext cx="267004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Minimum size</a:t>
            </a:r>
          </a:p>
        </p:txBody>
      </p:sp>
      <p:sp>
        <p:nvSpPr>
          <p:cNvPr id="60" name="TextBox 59"/>
          <p:cNvSpPr txBox="1"/>
          <p:nvPr/>
        </p:nvSpPr>
        <p:spPr>
          <a:xfrm>
            <a:off x="4690872" y="4663440"/>
            <a:ext cx="278892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0" i="0">
                <a:solidFill>
                  <a:srgbClr val="4E5A68"/>
                </a:solidFill>
                <a:latin typeface="Arial"/>
              </a:rPr>
              <a:t>The plan permits n≥3. The n=3 and n=4 runs are flagged small_query_3_9; only Astrocytes F_e4 has n≥10.</a:t>
            </a:r>
          </a:p>
        </p:txBody>
      </p:sp>
      <p:sp>
        <p:nvSpPr>
          <p:cNvPr id="61" name="Rounded Rectangle 60"/>
          <p:cNvSpPr/>
          <p:nvPr/>
        </p:nvSpPr>
        <p:spPr>
          <a:xfrm>
            <a:off x="8156448" y="3968496"/>
            <a:ext cx="3364992" cy="147218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8421624" y="4251960"/>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567928" y="4224528"/>
            <a:ext cx="267004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Valid empty result</a:t>
            </a:r>
          </a:p>
        </p:txBody>
      </p:sp>
      <p:sp>
        <p:nvSpPr>
          <p:cNvPr id="64" name="TextBox 63"/>
          <p:cNvSpPr txBox="1"/>
          <p:nvPr/>
        </p:nvSpPr>
        <p:spPr>
          <a:xfrm>
            <a:off x="8439912" y="4663440"/>
            <a:ext cx="278892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Astrocytes × M_e33 completes successfully; its best non-core-MT row has q=0.1195, so zero rows pass q ≤0.10.</a:t>
            </a:r>
          </a:p>
        </p:txBody>
      </p:sp>
      <p:sp>
        <p:nvSpPr>
          <p:cNvPr id="65" name="Rectangle 64"/>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Completed-empty is evidence from a valid run; skipped is the absence of a runnable query.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Support and within-run q reduce 362 non-core-MT </a:t>
            </a:r>
            <a:r>
              <a:rPr lang="en-US" sz="2450" b="1" i="0" dirty="0">
                <a:solidFill>
                  <a:srgbClr val="0F233D"/>
                </a:solidFill>
                <a:latin typeface="Arial"/>
              </a:rPr>
              <a:t>genes</a:t>
            </a:r>
            <a:r>
              <a:rPr sz="2450" b="1" i="0" dirty="0">
                <a:solidFill>
                  <a:srgbClr val="0F233D"/>
                </a:solidFill>
                <a:latin typeface="Arial"/>
              </a:rPr>
              <a:t> to 12</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BH q values are computed on full non-core-MT run families before post-BH gates are applied.</a:t>
            </a:r>
          </a:p>
        </p:txBody>
      </p:sp>
      <p:sp>
        <p:nvSpPr>
          <p:cNvPr id="5" name="Rounded Rectangle 4"/>
          <p:cNvSpPr/>
          <p:nvPr/>
        </p:nvSpPr>
        <p:spPr>
          <a:xfrm>
            <a:off x="594360"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362</a:t>
            </a:r>
          </a:p>
        </p:txBody>
      </p:sp>
      <p:sp>
        <p:nvSpPr>
          <p:cNvPr id="7" name="TextBox 6"/>
          <p:cNvSpPr txBox="1"/>
          <p:nvPr/>
        </p:nvSpPr>
        <p:spPr>
          <a:xfrm>
            <a:off x="685800"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non-core-MT family</a:t>
            </a:r>
          </a:p>
        </p:txBody>
      </p:sp>
      <p:sp>
        <p:nvSpPr>
          <p:cNvPr id="8" name="Chevron 7"/>
          <p:cNvSpPr/>
          <p:nvPr/>
        </p:nvSpPr>
        <p:spPr>
          <a:xfrm>
            <a:off x="2634386"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840126"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31566"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11" name="TextBox 10"/>
          <p:cNvSpPr txBox="1"/>
          <p:nvPr/>
        </p:nvSpPr>
        <p:spPr>
          <a:xfrm>
            <a:off x="2931566"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query overlap ≥2</a:t>
            </a:r>
          </a:p>
        </p:txBody>
      </p:sp>
      <p:sp>
        <p:nvSpPr>
          <p:cNvPr id="12" name="Chevron 11"/>
          <p:cNvSpPr/>
          <p:nvPr/>
        </p:nvSpPr>
        <p:spPr>
          <a:xfrm>
            <a:off x="4880152"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85892"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77332"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15</a:t>
            </a:r>
          </a:p>
        </p:txBody>
      </p:sp>
      <p:sp>
        <p:nvSpPr>
          <p:cNvPr id="15" name="TextBox 14"/>
          <p:cNvSpPr txBox="1"/>
          <p:nvPr/>
        </p:nvSpPr>
        <p:spPr>
          <a:xfrm>
            <a:off x="5177332"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fold enrichment &gt;1</a:t>
            </a:r>
          </a:p>
        </p:txBody>
      </p:sp>
      <p:sp>
        <p:nvSpPr>
          <p:cNvPr id="16" name="Chevron 15"/>
          <p:cNvSpPr/>
          <p:nvPr/>
        </p:nvSpPr>
        <p:spPr>
          <a:xfrm>
            <a:off x="7125919"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31659"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23099"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12</a:t>
            </a:r>
          </a:p>
        </p:txBody>
      </p:sp>
      <p:sp>
        <p:nvSpPr>
          <p:cNvPr id="19" name="TextBox 18"/>
          <p:cNvSpPr txBox="1"/>
          <p:nvPr/>
        </p:nvSpPr>
        <p:spPr>
          <a:xfrm>
            <a:off x="7423099"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relaxed q ≤0.10</a:t>
            </a:r>
          </a:p>
        </p:txBody>
      </p:sp>
      <p:sp>
        <p:nvSpPr>
          <p:cNvPr id="20" name="Chevron 19"/>
          <p:cNvSpPr/>
          <p:nvPr/>
        </p:nvSpPr>
        <p:spPr>
          <a:xfrm>
            <a:off x="9371685" y="1892807"/>
            <a:ext cx="155448" cy="274320"/>
          </a:xfrm>
          <a:prstGeom prst="chevron">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577425" y="1499616"/>
            <a:ext cx="1989734" cy="10607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68865" y="1618488"/>
            <a:ext cx="1806854"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000" b="1" i="0">
                <a:solidFill>
                  <a:srgbClr val="895600"/>
                </a:solidFill>
                <a:latin typeface="Arial"/>
              </a:rPr>
              <a:t>9</a:t>
            </a:r>
          </a:p>
        </p:txBody>
      </p:sp>
      <p:sp>
        <p:nvSpPr>
          <p:cNvPr id="23" name="TextBox 22"/>
          <p:cNvSpPr txBox="1"/>
          <p:nvPr/>
        </p:nvSpPr>
        <p:spPr>
          <a:xfrm>
            <a:off x="9668865" y="2029967"/>
            <a:ext cx="180685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4E5A68"/>
                </a:solidFill>
                <a:latin typeface="Arial"/>
              </a:rPr>
              <a:t>strict q ≤0.05</a:t>
            </a:r>
          </a:p>
        </p:txBody>
      </p:sp>
      <p:sp>
        <p:nvSpPr>
          <p:cNvPr id="24" name="Rounded Rectangle 23"/>
          <p:cNvSpPr/>
          <p:nvPr/>
        </p:nvSpPr>
        <p:spPr>
          <a:xfrm>
            <a:off x="612648" y="3108960"/>
            <a:ext cx="2596896" cy="2267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41248" y="343814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7552" y="3410712"/>
            <a:ext cx="20025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Non-core-MT</a:t>
            </a:r>
          </a:p>
        </p:txBody>
      </p:sp>
      <p:sp>
        <p:nvSpPr>
          <p:cNvPr id="27" name="TextBox 26"/>
          <p:cNvSpPr txBox="1"/>
          <p:nvPr/>
        </p:nvSpPr>
        <p:spPr>
          <a:xfrm>
            <a:off x="859536" y="3931920"/>
            <a:ext cx="2103120" cy="10058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Exclude only core mitochondrial proteins; extended-tier NCOA1 remains eligible.</a:t>
            </a:r>
          </a:p>
        </p:txBody>
      </p:sp>
      <p:sp>
        <p:nvSpPr>
          <p:cNvPr id="28" name="Rounded Rectangle 27"/>
          <p:cNvSpPr/>
          <p:nvPr/>
        </p:nvSpPr>
        <p:spPr>
          <a:xfrm>
            <a:off x="3456432" y="3108960"/>
            <a:ext cx="2596896" cy="2267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685031" y="343814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831335" y="3410712"/>
            <a:ext cx="20025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Overlap ≥2</a:t>
            </a:r>
          </a:p>
        </p:txBody>
      </p:sp>
      <p:sp>
        <p:nvSpPr>
          <p:cNvPr id="31" name="TextBox 30"/>
          <p:cNvSpPr txBox="1"/>
          <p:nvPr/>
        </p:nvSpPr>
        <p:spPr>
          <a:xfrm>
            <a:off x="3703320" y="3931920"/>
            <a:ext cx="2103120" cy="10058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Require at least two effective query genes inside the candidate's tested neighborhood.</a:t>
            </a:r>
          </a:p>
        </p:txBody>
      </p:sp>
      <p:sp>
        <p:nvSpPr>
          <p:cNvPr id="32" name="Rounded Rectangle 31"/>
          <p:cNvSpPr/>
          <p:nvPr/>
        </p:nvSpPr>
        <p:spPr>
          <a:xfrm>
            <a:off x="6300216" y="3108960"/>
            <a:ext cx="2596896" cy="2267712"/>
          </a:xfrm>
          <a:prstGeom prst="roundRect">
            <a:avLst/>
          </a:prstGeom>
          <a:solidFill>
            <a:srgbClr val="F1EBF7"/>
          </a:solidFill>
          <a:ln w="1270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528816" y="3438144"/>
            <a:ext cx="64008" cy="28346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75120" y="3410712"/>
            <a:ext cx="20025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Enrichment &gt;1</a:t>
            </a:r>
          </a:p>
        </p:txBody>
      </p:sp>
      <p:sp>
        <p:nvSpPr>
          <p:cNvPr id="35" name="TextBox 34"/>
          <p:cNvSpPr txBox="1"/>
          <p:nvPr/>
        </p:nvSpPr>
        <p:spPr>
          <a:xfrm>
            <a:off x="6547104" y="3931920"/>
            <a:ext cx="2103120" cy="10058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Require more overlap than expected under the run-specific network background.</a:t>
            </a:r>
          </a:p>
        </p:txBody>
      </p:sp>
      <p:sp>
        <p:nvSpPr>
          <p:cNvPr id="36" name="Rounded Rectangle 35"/>
          <p:cNvSpPr/>
          <p:nvPr/>
        </p:nvSpPr>
        <p:spPr>
          <a:xfrm>
            <a:off x="9144000" y="3108960"/>
            <a:ext cx="2596896" cy="22677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372600" y="343814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518904" y="3410712"/>
            <a:ext cx="20025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Run q</a:t>
            </a:r>
          </a:p>
        </p:txBody>
      </p:sp>
      <p:sp>
        <p:nvSpPr>
          <p:cNvPr id="39" name="TextBox 38"/>
          <p:cNvSpPr txBox="1"/>
          <p:nvPr/>
        </p:nvSpPr>
        <p:spPr>
          <a:xfrm>
            <a:off x="9390888" y="3931920"/>
            <a:ext cx="2103120" cy="10058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70" b="0" i="0">
                <a:solidFill>
                  <a:srgbClr val="4E5A68"/>
                </a:solidFill>
                <a:latin typeface="Arial"/>
              </a:rPr>
              <a:t>Relaxed main list uses q ≤0.10; q ≤0.05 marks the strict reference subset.</a:t>
            </a:r>
          </a:p>
        </p:txBody>
      </p:sp>
      <p:sp>
        <p:nvSpPr>
          <p:cNvPr id="40" name="Rectangle 39"/>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02920" y="6153912"/>
            <a:ext cx="91440" cy="3931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After defining the non-core-MT family, compute BH before filtering on overlap, enrichment, or q.</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RESULTS • SUPPORTED GENES</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Twelve broad candidates occur in two runs; nine pass the strict reference</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AD-down labels the mitochondrial query direction; candidate drivers need not be downregulated or DEGs.</a:t>
            </a:r>
          </a:p>
        </p:txBody>
      </p:sp>
      <p:sp>
        <p:nvSpPr>
          <p:cNvPr id="5" name="Rounded Rectangle 4"/>
          <p:cNvSpPr/>
          <p:nvPr/>
        </p:nvSpPr>
        <p:spPr>
          <a:xfrm>
            <a:off x="621792" y="1335024"/>
            <a:ext cx="3273552" cy="43982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96112" y="165506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42415" y="1627632"/>
            <a:ext cx="2569464"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Astrocytes • F_e4 • AD-down</a:t>
            </a:r>
          </a:p>
        </p:txBody>
      </p:sp>
      <p:sp>
        <p:nvSpPr>
          <p:cNvPr id="8" name="Rounded Rectangle 7"/>
          <p:cNvSpPr/>
          <p:nvPr/>
        </p:nvSpPr>
        <p:spPr>
          <a:xfrm>
            <a:off x="896112" y="2103120"/>
            <a:ext cx="13258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42415" y="2194560"/>
            <a:ext cx="103327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2</a:t>
            </a:r>
          </a:p>
        </p:txBody>
      </p:sp>
      <p:sp>
        <p:nvSpPr>
          <p:cNvPr id="10" name="TextBox 9"/>
          <p:cNvSpPr txBox="1"/>
          <p:nvPr/>
        </p:nvSpPr>
        <p:spPr>
          <a:xfrm>
            <a:off x="1042415" y="2651760"/>
            <a:ext cx="103327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relaxed • both strict</a:t>
            </a:r>
          </a:p>
        </p:txBody>
      </p:sp>
      <p:sp>
        <p:nvSpPr>
          <p:cNvPr id="11" name="TextBox 10"/>
          <p:cNvSpPr txBox="1"/>
          <p:nvPr/>
        </p:nvSpPr>
        <p:spPr>
          <a:xfrm>
            <a:off x="932688" y="3429000"/>
            <a:ext cx="2596896" cy="100584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800" b="1" i="0">
                <a:solidFill>
                  <a:srgbClr val="0F233D"/>
                </a:solidFill>
                <a:latin typeface="Arial"/>
              </a:rPr>
              <a:t>ELL2
SLC44A3</a:t>
            </a:r>
          </a:p>
        </p:txBody>
      </p:sp>
      <p:sp>
        <p:nvSpPr>
          <p:cNvPr id="12" name="TextBox 11"/>
          <p:cNvSpPr txBox="1"/>
          <p:nvPr/>
        </p:nvSpPr>
        <p:spPr>
          <a:xfrm>
            <a:off x="923544" y="4809744"/>
            <a:ext cx="265176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30" b="0" i="0">
                <a:solidFill>
                  <a:srgbClr val="4E5A68"/>
                </a:solidFill>
                <a:latin typeface="Arial"/>
              </a:rPr>
              <a:t>Both supported by AHCYL1 and PNPLA8 overlap.</a:t>
            </a:r>
          </a:p>
        </p:txBody>
      </p:sp>
      <p:sp>
        <p:nvSpPr>
          <p:cNvPr id="13" name="Rounded Rectangle 12"/>
          <p:cNvSpPr/>
          <p:nvPr/>
        </p:nvSpPr>
        <p:spPr>
          <a:xfrm>
            <a:off x="4151376" y="1335024"/>
            <a:ext cx="3273552" cy="4398264"/>
          </a:xfrm>
          <a:prstGeom prst="roundRect">
            <a:avLst/>
          </a:prstGeom>
          <a:solidFill>
            <a:srgbClr val="F1F4F7"/>
          </a:solidFill>
          <a:ln w="12700">
            <a:solidFill>
              <a:srgbClr val="6C7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25696" y="1655064"/>
            <a:ext cx="64008" cy="283464"/>
          </a:xfrm>
          <a:prstGeom prst="rect">
            <a:avLst/>
          </a:prstGeom>
          <a:solidFill>
            <a:srgbClr val="6C79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0" y="1627632"/>
            <a:ext cx="2569464"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Astrocytes • M_e33 • AD-down</a:t>
            </a:r>
          </a:p>
        </p:txBody>
      </p:sp>
      <p:sp>
        <p:nvSpPr>
          <p:cNvPr id="16" name="Rounded Rectangle 15"/>
          <p:cNvSpPr/>
          <p:nvPr/>
        </p:nvSpPr>
        <p:spPr>
          <a:xfrm>
            <a:off x="4425696" y="2103120"/>
            <a:ext cx="13258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0" y="2194560"/>
            <a:ext cx="103327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6C7988"/>
                </a:solidFill>
                <a:latin typeface="Arial"/>
              </a:rPr>
              <a:t>0</a:t>
            </a:r>
          </a:p>
        </p:txBody>
      </p:sp>
      <p:sp>
        <p:nvSpPr>
          <p:cNvPr id="18" name="TextBox 17"/>
          <p:cNvSpPr txBox="1"/>
          <p:nvPr/>
        </p:nvSpPr>
        <p:spPr>
          <a:xfrm>
            <a:off x="4572000" y="2651760"/>
            <a:ext cx="103327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completed-empty</a:t>
            </a:r>
          </a:p>
        </p:txBody>
      </p:sp>
      <p:sp>
        <p:nvSpPr>
          <p:cNvPr id="19" name="TextBox 18"/>
          <p:cNvSpPr txBox="1"/>
          <p:nvPr/>
        </p:nvSpPr>
        <p:spPr>
          <a:xfrm>
            <a:off x="4471416" y="3511296"/>
            <a:ext cx="2596896" cy="42062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700" b="1" i="0">
                <a:solidFill>
                  <a:srgbClr val="0F233D"/>
                </a:solidFill>
                <a:latin typeface="Arial"/>
              </a:rPr>
              <a:t>No q ≤0.10 rows</a:t>
            </a:r>
          </a:p>
        </p:txBody>
      </p:sp>
      <p:sp>
        <p:nvSpPr>
          <p:cNvPr id="20" name="TextBox 19"/>
          <p:cNvSpPr txBox="1"/>
          <p:nvPr/>
        </p:nvSpPr>
        <p:spPr>
          <a:xfrm>
            <a:off x="4453128" y="4352544"/>
            <a:ext cx="2651760" cy="76809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50" b="0" i="0">
                <a:solidFill>
                  <a:srgbClr val="4E5A68"/>
                </a:solidFill>
                <a:latin typeface="Arial"/>
              </a:rPr>
              <a:t>Best row: NEK6, q=0.1195. The run completed successfully.</a:t>
            </a:r>
          </a:p>
        </p:txBody>
      </p:sp>
      <p:sp>
        <p:nvSpPr>
          <p:cNvPr id="21" name="Rounded Rectangle 20"/>
          <p:cNvSpPr/>
          <p:nvPr/>
        </p:nvSpPr>
        <p:spPr>
          <a:xfrm>
            <a:off x="7680960" y="1335024"/>
            <a:ext cx="3886200" cy="43982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955279" y="165506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01583" y="1627632"/>
            <a:ext cx="31821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OPCs • F_e4 • AD-down</a:t>
            </a:r>
          </a:p>
        </p:txBody>
      </p:sp>
      <p:sp>
        <p:nvSpPr>
          <p:cNvPr id="24" name="Rounded Rectangle 23"/>
          <p:cNvSpPr/>
          <p:nvPr/>
        </p:nvSpPr>
        <p:spPr>
          <a:xfrm>
            <a:off x="7955279" y="2103120"/>
            <a:ext cx="132588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01583" y="2194560"/>
            <a:ext cx="103327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10</a:t>
            </a:r>
          </a:p>
        </p:txBody>
      </p:sp>
      <p:sp>
        <p:nvSpPr>
          <p:cNvPr id="26" name="TextBox 25"/>
          <p:cNvSpPr txBox="1"/>
          <p:nvPr/>
        </p:nvSpPr>
        <p:spPr>
          <a:xfrm>
            <a:off x="8101583" y="2651760"/>
            <a:ext cx="103327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relaxed • 7 strict</a:t>
            </a:r>
          </a:p>
        </p:txBody>
      </p:sp>
      <p:sp>
        <p:nvSpPr>
          <p:cNvPr id="27" name="TextBox 26"/>
          <p:cNvSpPr txBox="1"/>
          <p:nvPr/>
        </p:nvSpPr>
        <p:spPr>
          <a:xfrm>
            <a:off x="7973568" y="3401568"/>
            <a:ext cx="731520"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009E73"/>
                </a:solidFill>
                <a:latin typeface="Arial"/>
              </a:rPr>
              <a:t>STRICT</a:t>
            </a:r>
          </a:p>
        </p:txBody>
      </p:sp>
      <p:sp>
        <p:nvSpPr>
          <p:cNvPr id="28" name="TextBox 27"/>
          <p:cNvSpPr txBox="1"/>
          <p:nvPr/>
        </p:nvSpPr>
        <p:spPr>
          <a:xfrm>
            <a:off x="7973568" y="3657600"/>
            <a:ext cx="3154680" cy="6949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F233D"/>
                </a:solidFill>
                <a:latin typeface="Arial"/>
              </a:rPr>
              <a:t>CAMK2D • RAPGEF4 • RAB3IP • FOXN3
AC092691.1 • FAM13A • NCOA1</a:t>
            </a:r>
          </a:p>
        </p:txBody>
      </p:sp>
      <p:sp>
        <p:nvSpPr>
          <p:cNvPr id="29" name="TextBox 28"/>
          <p:cNvSpPr txBox="1"/>
          <p:nvPr/>
        </p:nvSpPr>
        <p:spPr>
          <a:xfrm>
            <a:off x="7973568" y="4572000"/>
            <a:ext cx="1078992"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D55E00"/>
                </a:solidFill>
                <a:latin typeface="Arial"/>
              </a:rPr>
              <a:t>RELAXED-ONLY</a:t>
            </a:r>
          </a:p>
        </p:txBody>
      </p:sp>
      <p:sp>
        <p:nvSpPr>
          <p:cNvPr id="30" name="TextBox 29"/>
          <p:cNvSpPr txBox="1"/>
          <p:nvPr/>
        </p:nvSpPr>
        <p:spPr>
          <a:xfrm>
            <a:off x="7973568" y="4828032"/>
            <a:ext cx="3136392" cy="3657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F233D"/>
                </a:solidFill>
                <a:latin typeface="Arial"/>
              </a:rPr>
              <a:t>FGF14 • GRID1 • DENND1A</a:t>
            </a:r>
          </a:p>
        </p:txBody>
      </p:sp>
      <p:sp>
        <p:nvSpPr>
          <p:cNvPr id="31" name="Rectangle 30"/>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The broad result is 12 unique genes because none recurs across the two candidate-bearing runs.</a:t>
            </a:r>
          </a:p>
        </p:txBody>
      </p:sp>
      <p:sp>
        <p:nvSpPr>
          <p:cNvPr id="34" name="TextBox 33"/>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phase20_broad_non_mt_candidates.tsv; phase20_broad_direction_manifest.tsv</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Broad candidates do not recur across runs; bars show within-run q strength</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This recurrence analogue keeps all 12 unique genes and encodes −log10(non-core-MT run q).</a:t>
            </a:r>
          </a:p>
        </p:txBody>
      </p:sp>
      <p:sp>
        <p:nvSpPr>
          <p:cNvPr id="5" name="Rounded Rectangle 4"/>
          <p:cNvSpPr/>
          <p:nvPr/>
        </p:nvSpPr>
        <p:spPr>
          <a:xfrm>
            <a:off x="429768" y="1161288"/>
            <a:ext cx="6583680"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Broad-cell Phase 20 horizontal bar chart of twelve direct non-core-mitochondrial candidates, with blue strict rows, hatched orange relaxed-only rows, and bar length equal to minus log10 within-run q" descr="Broad-cell Phase 20 horizontal bar chart of twelve direct non-core-mitochondrial candidates, with blue strict rows, hatched orange relaxed-only rows, and bar length equal to minus log10 within-run q"/>
          <p:cNvPicPr>
            <a:picLocks noChangeAspect="1"/>
          </p:cNvPicPr>
          <p:nvPr/>
        </p:nvPicPr>
        <p:blipFill>
          <a:blip r:embed="rId3"/>
          <a:stretch>
            <a:fillRect/>
          </a:stretch>
        </p:blipFill>
        <p:spPr>
          <a:xfrm>
            <a:off x="1014984" y="1252728"/>
            <a:ext cx="5413248" cy="4736592"/>
          </a:xfrm>
          <a:prstGeom prst="rect">
            <a:avLst/>
          </a:prstGeom>
        </p:spPr>
      </p:pic>
      <p:sp>
        <p:nvSpPr>
          <p:cNvPr id="7" name="Rounded Rectangle 6"/>
          <p:cNvSpPr/>
          <p:nvPr/>
        </p:nvSpPr>
        <p:spPr>
          <a:xfrm>
            <a:off x="7251192" y="1298448"/>
            <a:ext cx="4325112"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25512"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71816" y="1591056"/>
            <a:ext cx="3602735"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10" name="Oval 9"/>
          <p:cNvSpPr/>
          <p:nvPr/>
        </p:nvSpPr>
        <p:spPr>
          <a:xfrm>
            <a:off x="7525512" y="21854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9248" y="20574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Each gene appears in exactly one completed broad run.</a:t>
            </a:r>
          </a:p>
        </p:txBody>
      </p:sp>
      <p:sp>
        <p:nvSpPr>
          <p:cNvPr id="12" name="Oval 11"/>
          <p:cNvSpPr/>
          <p:nvPr/>
        </p:nvSpPr>
        <p:spPr>
          <a:xfrm>
            <a:off x="7525512" y="26426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99248" y="25146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Bar length = −log10(non-core-MT run q), not recurrence count.</a:t>
            </a:r>
          </a:p>
        </p:txBody>
      </p:sp>
      <p:sp>
        <p:nvSpPr>
          <p:cNvPr id="14" name="Oval 13"/>
          <p:cNvSpPr/>
          <p:nvPr/>
        </p:nvSpPr>
        <p:spPr>
          <a:xfrm>
            <a:off x="7525512" y="30998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99248" y="29718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Run labels/panels identify Astrocytes F_e4 versus OPCs F_e4.</a:t>
            </a:r>
          </a:p>
        </p:txBody>
      </p:sp>
      <p:sp>
        <p:nvSpPr>
          <p:cNvPr id="16" name="Oval 15"/>
          <p:cNvSpPr/>
          <p:nvPr/>
        </p:nvSpPr>
        <p:spPr>
          <a:xfrm>
            <a:off x="7525512" y="35570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99248" y="34290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Blue = strict q≤0.05; hatched orange = relaxed-only.</a:t>
            </a:r>
          </a:p>
        </p:txBody>
      </p:sp>
      <p:sp>
        <p:nvSpPr>
          <p:cNvPr id="18" name="Oval 17"/>
          <p:cNvSpPr/>
          <p:nvPr/>
        </p:nvSpPr>
        <p:spPr>
          <a:xfrm>
            <a:off x="7525512" y="40142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99248" y="38862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Nine genes are strict q ≤0.05; three OPC genes are relaxed-only.</a:t>
            </a:r>
          </a:p>
        </p:txBody>
      </p:sp>
      <p:sp>
        <p:nvSpPr>
          <p:cNvPr id="20" name="Oval 19"/>
          <p:cNvSpPr/>
          <p:nvPr/>
        </p:nvSpPr>
        <p:spPr>
          <a:xfrm>
            <a:off x="7525512" y="447141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99248" y="4343400"/>
            <a:ext cx="3502151" cy="4572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0" i="0">
                <a:solidFill>
                  <a:srgbClr val="1F2730"/>
                </a:solidFill>
                <a:latin typeface="Arial"/>
              </a:rPr>
              <a:t>Astrocytes M_e33 is absent because its candidate list is empty.</a:t>
            </a:r>
          </a:p>
        </p:txBody>
      </p:sp>
      <p:sp>
        <p:nvSpPr>
          <p:cNvPr id="22" name="Rounded Rectangle 21"/>
          <p:cNvSpPr/>
          <p:nvPr/>
        </p:nvSpPr>
        <p:spPr>
          <a:xfrm>
            <a:off x="7516368" y="5084064"/>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90104" y="5212080"/>
            <a:ext cx="3401568" cy="2468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30" b="1" i="0">
                <a:solidFill>
                  <a:srgbClr val="D55E00"/>
                </a:solidFill>
                <a:latin typeface="Arial"/>
              </a:rPr>
              <a:t>No broad recurrence gate was applied.</a:t>
            </a:r>
          </a:p>
        </p:txBody>
      </p:sp>
      <p:sp>
        <p:nvSpPr>
          <p:cNvPr id="24" name="Rectangle 23"/>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6153912"/>
            <a:ext cx="91440" cy="3931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The figure answers ‘how strong within this run?’—not ‘in how many runs did this gene recur?’</a:t>
            </a:r>
          </a:p>
        </p:txBody>
      </p:sp>
      <p:sp>
        <p:nvSpPr>
          <p:cNvPr id="27" name="TextBox 26"/>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results/figures/analysis/phase_20_sex_apoe_kda_broad/driver_recurrence figure bundle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684D"/>
                </a:solidFill>
                <a:latin typeface="Arial"/>
              </a:rPr>
              <a:t>BROAD RESULTS • TOP-FIVE CANDIDATES</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The broad top-five view displays 7 strict candidates across 3 run rows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Two Astrocyte candidates, five OPC candidates, and a deliberately blank completed run.</a:t>
            </a:r>
          </a:p>
        </p:txBody>
      </p:sp>
      <p:sp>
        <p:nvSpPr>
          <p:cNvPr id="5" name="Rounded Rectangle 4"/>
          <p:cNvSpPr/>
          <p:nvPr/>
        </p:nvSpPr>
        <p:spPr>
          <a:xfrm>
            <a:off x="429768" y="1197864"/>
            <a:ext cx="7516368" cy="48554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Broad-cell Phase 20 three-row tile chart showing two Astrocytes F_e4 candidates, a blank Astrocytes M_e33 row, and five OPCs F_e4 candidates" descr="Broad-cell Phase 20 three-row tile chart showing two Astrocytes F_e4 candidates, a blank Astrocytes M_e33 row, and five OPCs F_e4 candidates"/>
          <p:cNvPicPr>
            <a:picLocks noChangeAspect="1"/>
          </p:cNvPicPr>
          <p:nvPr/>
        </p:nvPicPr>
        <p:blipFill>
          <a:blip r:embed="rId3"/>
          <a:stretch>
            <a:fillRect/>
          </a:stretch>
        </p:blipFill>
        <p:spPr>
          <a:xfrm>
            <a:off x="530352" y="1792223"/>
            <a:ext cx="7315200" cy="3657600"/>
          </a:xfrm>
          <a:prstGeom prst="rect">
            <a:avLst/>
          </a:prstGeom>
        </p:spPr>
      </p:pic>
      <p:sp>
        <p:nvSpPr>
          <p:cNvPr id="7" name="Rounded Rectangle 6"/>
          <p:cNvSpPr/>
          <p:nvPr/>
        </p:nvSpPr>
        <p:spPr>
          <a:xfrm>
            <a:off x="8174736" y="1325880"/>
            <a:ext cx="3401568" cy="452628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439912" y="163677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86216" y="1609344"/>
            <a:ext cx="27157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Display contract</a:t>
            </a:r>
          </a:p>
        </p:txBody>
      </p:sp>
      <p:sp>
        <p:nvSpPr>
          <p:cNvPr id="10" name="Rounded Rectangle 9"/>
          <p:cNvSpPr/>
          <p:nvPr/>
        </p:nvSpPr>
        <p:spPr>
          <a:xfrm>
            <a:off x="8439912" y="2066543"/>
            <a:ext cx="121615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86216" y="2157984"/>
            <a:ext cx="92354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7</a:t>
            </a:r>
          </a:p>
        </p:txBody>
      </p:sp>
      <p:sp>
        <p:nvSpPr>
          <p:cNvPr id="12" name="TextBox 11"/>
          <p:cNvSpPr txBox="1"/>
          <p:nvPr/>
        </p:nvSpPr>
        <p:spPr>
          <a:xfrm>
            <a:off x="8586216" y="2615184"/>
            <a:ext cx="92354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displayed candidates</a:t>
            </a:r>
          </a:p>
        </p:txBody>
      </p:sp>
      <p:sp>
        <p:nvSpPr>
          <p:cNvPr id="13" name="Rounded Rectangle 12"/>
          <p:cNvSpPr/>
          <p:nvPr/>
        </p:nvSpPr>
        <p:spPr>
          <a:xfrm>
            <a:off x="9848088" y="2066543"/>
            <a:ext cx="1216152"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994392" y="2157984"/>
            <a:ext cx="923544"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3</a:t>
            </a:r>
          </a:p>
        </p:txBody>
      </p:sp>
      <p:sp>
        <p:nvSpPr>
          <p:cNvPr id="15" name="TextBox 14"/>
          <p:cNvSpPr txBox="1"/>
          <p:nvPr/>
        </p:nvSpPr>
        <p:spPr>
          <a:xfrm>
            <a:off x="9994392" y="2615184"/>
            <a:ext cx="923544"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completed run rows</a:t>
            </a:r>
          </a:p>
        </p:txBody>
      </p:sp>
      <p:sp>
        <p:nvSpPr>
          <p:cNvPr id="16" name="Oval 15"/>
          <p:cNvSpPr/>
          <p:nvPr/>
        </p:nvSpPr>
        <p:spPr>
          <a:xfrm>
            <a:off x="8439912" y="3493008"/>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13648" y="3364992"/>
            <a:ext cx="254203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Order: q, raw P, larger overlap, larger enrichment, then symbol.</a:t>
            </a:r>
          </a:p>
        </p:txBody>
      </p:sp>
      <p:sp>
        <p:nvSpPr>
          <p:cNvPr id="18" name="Oval 17"/>
          <p:cNvSpPr/>
          <p:nvPr/>
        </p:nvSpPr>
        <p:spPr>
          <a:xfrm>
            <a:off x="8439912" y="3986784"/>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13648" y="3858768"/>
            <a:ext cx="254203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All seven displayed genes pass strict q ≤0.05.</a:t>
            </a:r>
          </a:p>
        </p:txBody>
      </p:sp>
      <p:sp>
        <p:nvSpPr>
          <p:cNvPr id="20" name="Oval 19"/>
          <p:cNvSpPr/>
          <p:nvPr/>
        </p:nvSpPr>
        <p:spPr>
          <a:xfrm>
            <a:off x="8439912" y="4480560"/>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13648" y="4352544"/>
            <a:ext cx="254203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Up to five are shown per run; no failing row is backfilled.</a:t>
            </a:r>
          </a:p>
        </p:txBody>
      </p:sp>
      <p:sp>
        <p:nvSpPr>
          <p:cNvPr id="22" name="Oval 21"/>
          <p:cNvSpPr/>
          <p:nvPr/>
        </p:nvSpPr>
        <p:spPr>
          <a:xfrm>
            <a:off x="8439912" y="4974336"/>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13648" y="4846320"/>
            <a:ext cx="2542032" cy="4937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1F2730"/>
                </a:solidFill>
                <a:latin typeface="Arial"/>
              </a:rPr>
              <a:t>The full candidate table still contains all 12 relaxed rows.</a:t>
            </a:r>
          </a:p>
        </p:txBody>
      </p:sp>
      <p:sp>
        <p:nvSpPr>
          <p:cNvPr id="24" name="Rectangle 23"/>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The blank M_e33 row makes a valid zero visible; the top-five cap changes presentation only.</a:t>
            </a:r>
          </a:p>
        </p:txBody>
      </p:sp>
      <p:sp>
        <p:nvSpPr>
          <p:cNvPr id="27" name="TextBox 26"/>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results/figures/analysis/phase_20_sex_apoe_kda_broad/top5_candidates figure bundle; phase20_broad_top5_summary.tsv</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7E4C9A"/>
                </a:solidFill>
                <a:latin typeface="Arial"/>
              </a:rPr>
              <a:t>SYNTHESIS</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The same words can refer to different evidence in the two branches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Use branch, counting unit, and multiplicity method together when reporting a result.</a:t>
            </a:r>
          </a:p>
        </p:txBody>
      </p:sp>
      <p:sp>
        <p:nvSpPr>
          <p:cNvPr id="5" name="Rectangle 4"/>
          <p:cNvSpPr/>
          <p:nvPr/>
        </p:nvSpPr>
        <p:spPr>
          <a:xfrm>
            <a:off x="621792" y="1289304"/>
            <a:ext cx="228600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76656" y="1344168"/>
            <a:ext cx="217627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5" b="1" i="0">
                <a:solidFill>
                  <a:srgbClr val="FFFFFF"/>
                </a:solidFill>
                <a:latin typeface="Arial"/>
              </a:rPr>
              <a:t>Question</a:t>
            </a:r>
          </a:p>
        </p:txBody>
      </p:sp>
      <p:sp>
        <p:nvSpPr>
          <p:cNvPr id="7" name="Rectangle 6"/>
          <p:cNvSpPr/>
          <p:nvPr/>
        </p:nvSpPr>
        <p:spPr>
          <a:xfrm>
            <a:off x="2907792" y="1289304"/>
            <a:ext cx="452628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62656" y="1344168"/>
            <a:ext cx="4416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5" b="1" i="0">
                <a:solidFill>
                  <a:srgbClr val="FFFFFF"/>
                </a:solidFill>
                <a:latin typeface="Arial"/>
              </a:rPr>
              <a:t>Fine-cell reaggregation</a:t>
            </a:r>
          </a:p>
        </p:txBody>
      </p:sp>
      <p:sp>
        <p:nvSpPr>
          <p:cNvPr id="9" name="Rectangle 8"/>
          <p:cNvSpPr/>
          <p:nvPr/>
        </p:nvSpPr>
        <p:spPr>
          <a:xfrm>
            <a:off x="7434072" y="1289304"/>
            <a:ext cx="4526280" cy="4663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88936" y="1344168"/>
            <a:ext cx="4416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5" b="1" i="0">
                <a:solidFill>
                  <a:srgbClr val="FFFFFF"/>
                </a:solidFill>
                <a:latin typeface="Arial"/>
              </a:rPr>
              <a:t>Direct broad-cell KDA</a:t>
            </a:r>
          </a:p>
        </p:txBody>
      </p:sp>
      <p:sp>
        <p:nvSpPr>
          <p:cNvPr id="11" name="Rectangle 10"/>
          <p:cNvSpPr/>
          <p:nvPr/>
        </p:nvSpPr>
        <p:spPr>
          <a:xfrm>
            <a:off x="621792" y="1755648"/>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6656" y="1801368"/>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Starting design</a:t>
            </a:r>
          </a:p>
        </p:txBody>
      </p:sp>
      <p:sp>
        <p:nvSpPr>
          <p:cNvPr id="13" name="Rectangle 12"/>
          <p:cNvSpPr/>
          <p:nvPr/>
        </p:nvSpPr>
        <p:spPr>
          <a:xfrm>
            <a:off x="2907792" y="1755648"/>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62656" y="1801368"/>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54 fine types × 6 groups</a:t>
            </a:r>
          </a:p>
        </p:txBody>
      </p:sp>
      <p:sp>
        <p:nvSpPr>
          <p:cNvPr id="15" name="Rectangle 14"/>
          <p:cNvSpPr/>
          <p:nvPr/>
        </p:nvSpPr>
        <p:spPr>
          <a:xfrm>
            <a:off x="7434072" y="1755648"/>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88936" y="1801368"/>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7 broad types × 6 groups</a:t>
            </a:r>
          </a:p>
        </p:txBody>
      </p:sp>
      <p:sp>
        <p:nvSpPr>
          <p:cNvPr id="17" name="Rectangle 16"/>
          <p:cNvSpPr/>
          <p:nvPr/>
        </p:nvSpPr>
        <p:spPr>
          <a:xfrm>
            <a:off x="621792" y="2221991"/>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 y="2267711"/>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Planned directions</a:t>
            </a:r>
          </a:p>
        </p:txBody>
      </p:sp>
      <p:sp>
        <p:nvSpPr>
          <p:cNvPr id="19" name="Rectangle 18"/>
          <p:cNvSpPr/>
          <p:nvPr/>
        </p:nvSpPr>
        <p:spPr>
          <a:xfrm>
            <a:off x="2907792" y="2221991"/>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62656" y="2267711"/>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648 slots</a:t>
            </a:r>
          </a:p>
        </p:txBody>
      </p:sp>
      <p:sp>
        <p:nvSpPr>
          <p:cNvPr id="21" name="Rectangle 20"/>
          <p:cNvSpPr/>
          <p:nvPr/>
        </p:nvSpPr>
        <p:spPr>
          <a:xfrm>
            <a:off x="7434072" y="2221991"/>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88936" y="2267711"/>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84 slots</a:t>
            </a:r>
          </a:p>
        </p:txBody>
      </p:sp>
      <p:sp>
        <p:nvSpPr>
          <p:cNvPr id="23" name="Rectangle 22"/>
          <p:cNvSpPr/>
          <p:nvPr/>
        </p:nvSpPr>
        <p:spPr>
          <a:xfrm>
            <a:off x="621792" y="2688336"/>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6656" y="2734056"/>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KDA execution rule</a:t>
            </a:r>
          </a:p>
        </p:txBody>
      </p:sp>
      <p:sp>
        <p:nvSpPr>
          <p:cNvPr id="25" name="Rectangle 24"/>
          <p:cNvSpPr/>
          <p:nvPr/>
        </p:nvSpPr>
        <p:spPr>
          <a:xfrm>
            <a:off x="2907792" y="2688336"/>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62656" y="2734056"/>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Called at effective query ≥3</a:t>
            </a:r>
          </a:p>
        </p:txBody>
      </p:sp>
      <p:sp>
        <p:nvSpPr>
          <p:cNvPr id="27" name="Rectangle 26"/>
          <p:cNvSpPr/>
          <p:nvPr/>
        </p:nvSpPr>
        <p:spPr>
          <a:xfrm>
            <a:off x="7434072" y="2688336"/>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88936" y="2734056"/>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Called at effective query ≥3</a:t>
            </a:r>
          </a:p>
        </p:txBody>
      </p:sp>
      <p:sp>
        <p:nvSpPr>
          <p:cNvPr id="29" name="Rectangle 28"/>
          <p:cNvSpPr/>
          <p:nvPr/>
        </p:nvSpPr>
        <p:spPr>
          <a:xfrm>
            <a:off x="621792" y="3154680"/>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6656" y="3200400"/>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Analysis inclusion</a:t>
            </a:r>
          </a:p>
        </p:txBody>
      </p:sp>
      <p:sp>
        <p:nvSpPr>
          <p:cNvPr id="31" name="Rectangle 30"/>
          <p:cNvSpPr/>
          <p:nvPr/>
        </p:nvSpPr>
        <p:spPr>
          <a:xfrm>
            <a:off x="2907792" y="3154680"/>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62656" y="3200400"/>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All completed query ≥3: 295 runs</a:t>
            </a:r>
          </a:p>
        </p:txBody>
      </p:sp>
      <p:sp>
        <p:nvSpPr>
          <p:cNvPr id="33" name="Rectangle 32"/>
          <p:cNvSpPr/>
          <p:nvPr/>
        </p:nvSpPr>
        <p:spPr>
          <a:xfrm>
            <a:off x="7434072" y="3154680"/>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488936" y="3200400"/>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All completed query ≥3: 3 runs</a:t>
            </a:r>
          </a:p>
        </p:txBody>
      </p:sp>
      <p:sp>
        <p:nvSpPr>
          <p:cNvPr id="35" name="Rectangle 34"/>
          <p:cNvSpPr/>
          <p:nvPr/>
        </p:nvSpPr>
        <p:spPr>
          <a:xfrm>
            <a:off x="621792" y="3621024"/>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6656" y="3666744"/>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Evidence completion</a:t>
            </a:r>
          </a:p>
        </p:txBody>
      </p:sp>
      <p:sp>
        <p:nvSpPr>
          <p:cNvPr id="37" name="Rectangle 36"/>
          <p:cNvSpPr/>
          <p:nvPr/>
        </p:nvSpPr>
        <p:spPr>
          <a:xfrm>
            <a:off x="2907792" y="3621024"/>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962656" y="3666744"/>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Explicit + implicit P=1 + absent</a:t>
            </a:r>
          </a:p>
        </p:txBody>
      </p:sp>
      <p:sp>
        <p:nvSpPr>
          <p:cNvPr id="39" name="Rectangle 38"/>
          <p:cNvSpPr/>
          <p:nvPr/>
        </p:nvSpPr>
        <p:spPr>
          <a:xfrm>
            <a:off x="7434072" y="3621024"/>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88936" y="3666744"/>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Explicit KDA rows only</a:t>
            </a:r>
          </a:p>
        </p:txBody>
      </p:sp>
      <p:sp>
        <p:nvSpPr>
          <p:cNvPr id="41" name="Rectangle 40"/>
          <p:cNvSpPr/>
          <p:nvPr/>
        </p:nvSpPr>
        <p:spPr>
          <a:xfrm>
            <a:off x="621792" y="4087368"/>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76656" y="4133087"/>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Multiple testing</a:t>
            </a:r>
          </a:p>
        </p:txBody>
      </p:sp>
      <p:sp>
        <p:nvSpPr>
          <p:cNvPr id="43" name="Rectangle 42"/>
          <p:cNvSpPr/>
          <p:nvPr/>
        </p:nvSpPr>
        <p:spPr>
          <a:xfrm>
            <a:off x="2907792" y="4087368"/>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962656" y="4133087"/>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ACAT across runs, then category BH</a:t>
            </a:r>
          </a:p>
        </p:txBody>
      </p:sp>
      <p:sp>
        <p:nvSpPr>
          <p:cNvPr id="45" name="Rectangle 44"/>
          <p:cNvSpPr/>
          <p:nvPr/>
        </p:nvSpPr>
        <p:spPr>
          <a:xfrm>
            <a:off x="7434072" y="4087368"/>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88936" y="4133087"/>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BH separately within each run</a:t>
            </a:r>
          </a:p>
        </p:txBody>
      </p:sp>
      <p:sp>
        <p:nvSpPr>
          <p:cNvPr id="47" name="Rectangle 46"/>
          <p:cNvSpPr/>
          <p:nvPr/>
        </p:nvSpPr>
        <p:spPr>
          <a:xfrm>
            <a:off x="621792" y="4553712"/>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76656" y="4599432"/>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Support requirement</a:t>
            </a:r>
          </a:p>
        </p:txBody>
      </p:sp>
      <p:sp>
        <p:nvSpPr>
          <p:cNvPr id="49" name="Rectangle 48"/>
          <p:cNvSpPr/>
          <p:nvPr/>
        </p:nvSpPr>
        <p:spPr>
          <a:xfrm>
            <a:off x="2907792" y="4553712"/>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962656" y="4599432"/>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≥1 supporting run (q≤.10 main)</a:t>
            </a:r>
          </a:p>
        </p:txBody>
      </p:sp>
      <p:sp>
        <p:nvSpPr>
          <p:cNvPr id="51" name="Rectangle 50"/>
          <p:cNvSpPr/>
          <p:nvPr/>
        </p:nvSpPr>
        <p:spPr>
          <a:xfrm>
            <a:off x="7434072" y="4553712"/>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488936" y="4599432"/>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Overlap ≥2 in that run</a:t>
            </a:r>
          </a:p>
        </p:txBody>
      </p:sp>
      <p:sp>
        <p:nvSpPr>
          <p:cNvPr id="53" name="Rectangle 52"/>
          <p:cNvSpPr/>
          <p:nvPr/>
        </p:nvSpPr>
        <p:spPr>
          <a:xfrm>
            <a:off x="621792" y="5020056"/>
            <a:ext cx="228600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76656" y="5065776"/>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Final main result</a:t>
            </a:r>
          </a:p>
        </p:txBody>
      </p:sp>
      <p:sp>
        <p:nvSpPr>
          <p:cNvPr id="55" name="Rectangle 54"/>
          <p:cNvSpPr/>
          <p:nvPr/>
        </p:nvSpPr>
        <p:spPr>
          <a:xfrm>
            <a:off x="2907792" y="5020056"/>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962656" y="5065776"/>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74 gene × category units / 37 genes</a:t>
            </a:r>
          </a:p>
        </p:txBody>
      </p:sp>
      <p:sp>
        <p:nvSpPr>
          <p:cNvPr id="57" name="Rectangle 56"/>
          <p:cNvSpPr/>
          <p:nvPr/>
        </p:nvSpPr>
        <p:spPr>
          <a:xfrm>
            <a:off x="7434072" y="5020056"/>
            <a:ext cx="4526280" cy="466344"/>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488936" y="5065776"/>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12 gene × run rows / 12 genes</a:t>
            </a:r>
          </a:p>
        </p:txBody>
      </p:sp>
      <p:sp>
        <p:nvSpPr>
          <p:cNvPr id="59" name="Rectangle 58"/>
          <p:cNvSpPr/>
          <p:nvPr/>
        </p:nvSpPr>
        <p:spPr>
          <a:xfrm>
            <a:off x="621792" y="5486400"/>
            <a:ext cx="228600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76656" y="5532120"/>
            <a:ext cx="217627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Direction meaning</a:t>
            </a:r>
          </a:p>
        </p:txBody>
      </p:sp>
      <p:sp>
        <p:nvSpPr>
          <p:cNvPr id="61" name="Rectangle 60"/>
          <p:cNvSpPr/>
          <p:nvPr/>
        </p:nvSpPr>
        <p:spPr>
          <a:xfrm>
            <a:off x="2907792" y="5486400"/>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2962656" y="5532120"/>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Both directions may feed a category</a:t>
            </a:r>
          </a:p>
        </p:txBody>
      </p:sp>
      <p:sp>
        <p:nvSpPr>
          <p:cNvPr id="63" name="Rectangle 62"/>
          <p:cNvSpPr/>
          <p:nvPr/>
        </p:nvSpPr>
        <p:spPr>
          <a:xfrm>
            <a:off x="7434072" y="5486400"/>
            <a:ext cx="4526280" cy="466344"/>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936" y="5532120"/>
            <a:ext cx="4416552" cy="39319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5" b="0" i="0">
                <a:solidFill>
                  <a:srgbClr val="1F2730"/>
                </a:solidFill>
                <a:latin typeface="Arial"/>
              </a:rPr>
              <a:t>One retained direction per row</a:t>
            </a:r>
          </a:p>
        </p:txBody>
      </p:sp>
      <p:sp>
        <p:nvSpPr>
          <p:cNvPr id="65" name="Rectangle 64"/>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502920" y="6153912"/>
            <a:ext cx="91440" cy="393192"/>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Fine asks whether evidence combines across eligible fine runs; broad asks whether one direct run supports the gene.</a:t>
            </a:r>
          </a:p>
        </p:txBody>
      </p:sp>
      <p:sp>
        <p:nvSpPr>
          <p:cNvPr id="68" name="TextBox 67"/>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validated fine and broad production status, run-manifest, and funnel tables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182880"/>
            <a:ext cx="40233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895600"/>
                </a:solidFill>
                <a:latin typeface="Arial"/>
              </a:rPr>
              <a:t>TAKE-HOME</a:t>
            </a:r>
          </a:p>
        </p:txBody>
      </p:sp>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Take-home: follow the unit, then the filter, then the q value</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deck is a teaching layer over validated, auditable production tables and current canonical figures.</a:t>
            </a:r>
          </a:p>
        </p:txBody>
      </p:sp>
      <p:sp>
        <p:nvSpPr>
          <p:cNvPr id="5" name="Oval 4"/>
          <p:cNvSpPr/>
          <p:nvPr/>
        </p:nvSpPr>
        <p:spPr>
          <a:xfrm>
            <a:off x="676656" y="1335024"/>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76656" y="1426463"/>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0F233D"/>
                </a:solidFill>
                <a:latin typeface="Arial"/>
              </a:rPr>
              <a:t>1</a:t>
            </a:r>
          </a:p>
        </p:txBody>
      </p:sp>
      <p:sp>
        <p:nvSpPr>
          <p:cNvPr id="7" name="TextBox 6"/>
          <p:cNvSpPr txBox="1"/>
          <p:nvPr/>
        </p:nvSpPr>
        <p:spPr>
          <a:xfrm>
            <a:off x="1298448" y="1280160"/>
            <a:ext cx="6199632"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1" i="0">
                <a:solidFill>
                  <a:srgbClr val="0F233D"/>
                </a:solidFill>
                <a:latin typeface="Arial"/>
              </a:rPr>
              <a:t>A run is one cell type × sex/APOE × direction KDA analysis.</a:t>
            </a:r>
          </a:p>
        </p:txBody>
      </p:sp>
      <p:sp>
        <p:nvSpPr>
          <p:cNvPr id="8" name="TextBox 7"/>
          <p:cNvSpPr txBox="1"/>
          <p:nvPr/>
        </p:nvSpPr>
        <p:spPr>
          <a:xfrm>
            <a:off x="1298448" y="1664207"/>
            <a:ext cx="6144768" cy="4663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4E5A68"/>
                </a:solidFill>
                <a:latin typeface="Arial"/>
              </a:rPr>
              <a:t>A planned slot becomes a run only when the effective query meets that branch's execution rule.</a:t>
            </a:r>
          </a:p>
        </p:txBody>
      </p:sp>
      <p:sp>
        <p:nvSpPr>
          <p:cNvPr id="9" name="Oval 8"/>
          <p:cNvSpPr/>
          <p:nvPr/>
        </p:nvSpPr>
        <p:spPr>
          <a:xfrm>
            <a:off x="676656" y="2414016"/>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6656" y="2505456"/>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0F233D"/>
                </a:solidFill>
                <a:latin typeface="Arial"/>
              </a:rPr>
              <a:t>2</a:t>
            </a:r>
          </a:p>
        </p:txBody>
      </p:sp>
      <p:sp>
        <p:nvSpPr>
          <p:cNvPr id="11" name="TextBox 10"/>
          <p:cNvSpPr txBox="1"/>
          <p:nvPr/>
        </p:nvSpPr>
        <p:spPr>
          <a:xfrm>
            <a:off x="1298448" y="2359152"/>
            <a:ext cx="6199632"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1" i="0">
                <a:solidFill>
                  <a:srgbClr val="0F233D"/>
                </a:solidFill>
                <a:latin typeface="Arial"/>
              </a:rPr>
              <a:t>A candidate is a network gene—not necessarily a DEG or query gene.</a:t>
            </a:r>
          </a:p>
        </p:txBody>
      </p:sp>
      <p:sp>
        <p:nvSpPr>
          <p:cNvPr id="12" name="TextBox 11"/>
          <p:cNvSpPr txBox="1"/>
          <p:nvPr/>
        </p:nvSpPr>
        <p:spPr>
          <a:xfrm>
            <a:off x="1298448" y="2743200"/>
            <a:ext cx="6144768" cy="4663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4E5A68"/>
                </a:solidFill>
                <a:latin typeface="Arial"/>
              </a:rPr>
              <a:t>Its neighborhood is enriched for the mitochondrial query; AD-up/down labels the query direction.</a:t>
            </a:r>
          </a:p>
        </p:txBody>
      </p:sp>
      <p:sp>
        <p:nvSpPr>
          <p:cNvPr id="13" name="Oval 12"/>
          <p:cNvSpPr/>
          <p:nvPr/>
        </p:nvSpPr>
        <p:spPr>
          <a:xfrm>
            <a:off x="676656" y="3493008"/>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6656" y="3584448"/>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0F233D"/>
                </a:solidFill>
                <a:latin typeface="Arial"/>
              </a:rPr>
              <a:t>3</a:t>
            </a:r>
          </a:p>
        </p:txBody>
      </p:sp>
      <p:sp>
        <p:nvSpPr>
          <p:cNvPr id="15" name="TextBox 14"/>
          <p:cNvSpPr txBox="1"/>
          <p:nvPr/>
        </p:nvSpPr>
        <p:spPr>
          <a:xfrm>
            <a:off x="1298448" y="3438144"/>
            <a:ext cx="6199632"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1" i="0">
                <a:solidFill>
                  <a:srgbClr val="0F233D"/>
                </a:solidFill>
                <a:latin typeface="Arial"/>
              </a:rPr>
              <a:t>Fine and broad q values answer different questions.</a:t>
            </a:r>
          </a:p>
        </p:txBody>
      </p:sp>
      <p:sp>
        <p:nvSpPr>
          <p:cNvPr id="16" name="TextBox 15"/>
          <p:cNvSpPr txBox="1"/>
          <p:nvPr/>
        </p:nvSpPr>
        <p:spPr>
          <a:xfrm>
            <a:off x="1298448" y="3822191"/>
            <a:ext cx="6144768" cy="4663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4E5A68"/>
                </a:solidFill>
                <a:latin typeface="Arial"/>
              </a:rPr>
              <a:t>Fine combines run p values with ACAT then controls category BH; broad controls BH within one run.</a:t>
            </a:r>
          </a:p>
        </p:txBody>
      </p:sp>
      <p:sp>
        <p:nvSpPr>
          <p:cNvPr id="17" name="Oval 16"/>
          <p:cNvSpPr/>
          <p:nvPr/>
        </p:nvSpPr>
        <p:spPr>
          <a:xfrm>
            <a:off x="676656" y="4571999"/>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 y="4663440"/>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0F233D"/>
                </a:solidFill>
                <a:latin typeface="Arial"/>
              </a:rPr>
              <a:t>4</a:t>
            </a:r>
          </a:p>
        </p:txBody>
      </p:sp>
      <p:sp>
        <p:nvSpPr>
          <p:cNvPr id="19" name="TextBox 18"/>
          <p:cNvSpPr txBox="1"/>
          <p:nvPr/>
        </p:nvSpPr>
        <p:spPr>
          <a:xfrm>
            <a:off x="1298448" y="4517136"/>
            <a:ext cx="6199632" cy="30175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1" i="0">
                <a:solidFill>
                  <a:srgbClr val="0F233D"/>
                </a:solidFill>
                <a:latin typeface="Arial"/>
              </a:rPr>
              <a:t>Skipped, completed-empty, and filtered-out are distinct outcomes.</a:t>
            </a:r>
          </a:p>
        </p:txBody>
      </p:sp>
      <p:sp>
        <p:nvSpPr>
          <p:cNvPr id="20" name="TextBox 19"/>
          <p:cNvSpPr txBox="1"/>
          <p:nvPr/>
        </p:nvSpPr>
        <p:spPr>
          <a:xfrm>
            <a:off x="1298448" y="4901183"/>
            <a:ext cx="6144768" cy="4663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0" i="0">
                <a:solidFill>
                  <a:srgbClr val="4E5A68"/>
                </a:solidFill>
                <a:latin typeface="Arial"/>
              </a:rPr>
              <a:t>Unavailable models and unrunnable queries carry no KDA evidence; completed rows can validly yield zero candidates.</a:t>
            </a:r>
          </a:p>
        </p:txBody>
      </p:sp>
      <p:sp>
        <p:nvSpPr>
          <p:cNvPr id="21" name="Rounded Rectangle 20"/>
          <p:cNvSpPr/>
          <p:nvPr/>
        </p:nvSpPr>
        <p:spPr>
          <a:xfrm>
            <a:off x="7827264" y="1280160"/>
            <a:ext cx="3675887" cy="4334256"/>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19872" y="160934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66176" y="1581912"/>
            <a:ext cx="2953512"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Audit trail</a:t>
            </a:r>
          </a:p>
        </p:txBody>
      </p:sp>
      <p:sp>
        <p:nvSpPr>
          <p:cNvPr id="24" name="TextBox 23"/>
          <p:cNvSpPr txBox="1"/>
          <p:nvPr/>
        </p:nvSpPr>
        <p:spPr>
          <a:xfrm>
            <a:off x="8129016" y="2093976"/>
            <a:ext cx="102412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72B2"/>
                </a:solidFill>
                <a:latin typeface="Arial"/>
              </a:rPr>
              <a:t>Fine branch</a:t>
            </a:r>
          </a:p>
        </p:txBody>
      </p:sp>
      <p:sp>
        <p:nvSpPr>
          <p:cNvPr id="25" name="TextBox 24"/>
          <p:cNvSpPr txBox="1"/>
          <p:nvPr/>
        </p:nvSpPr>
        <p:spPr>
          <a:xfrm>
            <a:off x="8129016" y="2386584"/>
            <a:ext cx="2953512" cy="7863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1" i="0">
                <a:solidFill>
                  <a:srgbClr val="0F233D"/>
                </a:solidFill>
                <a:latin typeface="Arial"/>
              </a:rPr>
              <a:t>phase20_status.tsv
phase20_filter_funnel.tsv
phase20_relaxed_candidates.tsv</a:t>
            </a:r>
          </a:p>
        </p:txBody>
      </p:sp>
      <p:sp>
        <p:nvSpPr>
          <p:cNvPr id="26" name="TextBox 25"/>
          <p:cNvSpPr txBox="1"/>
          <p:nvPr/>
        </p:nvSpPr>
        <p:spPr>
          <a:xfrm>
            <a:off x="8129016" y="3429000"/>
            <a:ext cx="102412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9E73"/>
                </a:solidFill>
                <a:latin typeface="Arial"/>
              </a:rPr>
              <a:t>Broad branch</a:t>
            </a:r>
          </a:p>
        </p:txBody>
      </p:sp>
      <p:sp>
        <p:nvSpPr>
          <p:cNvPr id="27" name="TextBox 26"/>
          <p:cNvSpPr txBox="1"/>
          <p:nvPr/>
        </p:nvSpPr>
        <p:spPr>
          <a:xfrm>
            <a:off x="8129016" y="3721608"/>
            <a:ext cx="2953512" cy="7863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1" i="0">
                <a:solidFill>
                  <a:srgbClr val="0F233D"/>
                </a:solidFill>
                <a:latin typeface="Arial"/>
              </a:rPr>
              <a:t>phase20_broad_status.tsv
phase20_broad_filter_funnel.tsv
phase20_broad_non_mt_candidates.tsv</a:t>
            </a:r>
          </a:p>
        </p:txBody>
      </p:sp>
      <p:sp>
        <p:nvSpPr>
          <p:cNvPr id="28" name="TextBox 27"/>
          <p:cNvSpPr txBox="1"/>
          <p:nvPr/>
        </p:nvSpPr>
        <p:spPr>
          <a:xfrm>
            <a:off x="8129016" y="4828032"/>
            <a:ext cx="2926080" cy="51206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80" b="0" i="1">
                <a:solidFill>
                  <a:srgbClr val="4E5A68"/>
                </a:solidFill>
                <a:latin typeface="Arial"/>
              </a:rPr>
              <a:t>Speaker notes on every slide preserve teaching goals, interpretation boundaries, and transitions.</a:t>
            </a:r>
          </a:p>
        </p:txBody>
      </p:sp>
      <p:sp>
        <p:nvSpPr>
          <p:cNvPr id="29" name="Rectangle 28"/>
          <p:cNvSpPr/>
          <p:nvPr/>
        </p:nvSpPr>
        <p:spPr>
          <a:xfrm>
            <a:off x="502920" y="6153912"/>
            <a:ext cx="11173968" cy="39319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6153912"/>
            <a:ext cx="91440" cy="3931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22376" y="6217920"/>
            <a:ext cx="10744200" cy="2560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70" b="1" i="0">
                <a:solidFill>
                  <a:srgbClr val="FFFFFF"/>
                </a:solidFill>
                <a:latin typeface="Arial"/>
              </a:rPr>
              <a:t>Report the final unit explicitly: 74 fine gene × category units versus 12 broad gene × run rows.</a:t>
            </a:r>
          </a:p>
        </p:txBody>
      </p:sp>
      <p:sp>
        <p:nvSpPr>
          <p:cNvPr id="32" name="TextBox 31"/>
          <p:cNvSpPr txBox="1"/>
          <p:nvPr/>
        </p:nvSpPr>
        <p:spPr>
          <a:xfrm>
            <a:off x="521207" y="6620256"/>
            <a:ext cx="10771632" cy="1463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00" b="0" i="0">
                <a:solidFill>
                  <a:srgbClr val="4E5A68"/>
                </a:solidFill>
                <a:latin typeface="Arial"/>
              </a:rPr>
              <a:t>Source: validated Phase 20 fine and broad production releases; canonical figure bundles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6268</Words>
  <Application>Microsoft Macintosh PowerPoint</Application>
  <PresentationFormat>Widescreen</PresentationFormat>
  <Paragraphs>745</Paragraphs>
  <Slides>26</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Fine-cell and broad-cell sex/APOE key-driver analysis</dc:title>
  <dc:subject>Phase 20 KDA setup, filtering funnels, supported candidates, recurrence, and top-five results</dc:subject>
  <dc:creator>Alzheimer project analysis team</dc:creator>
  <cp:keywords>Alzheimer disease, sex, APOE, key-driver analysis, KDA, ACAT, mitochondrial genes</cp:keywords>
  <dc:description>Generated from validated project-local Phase 20 production releases.</dc:description>
  <cp:lastModifiedBy>Richard Zhuang</cp:lastModifiedBy>
  <cp:revision>6</cp:revision>
  <dcterms:created xsi:type="dcterms:W3CDTF">2026-08-29T13:27:12Z</dcterms:created>
  <dcterms:modified xsi:type="dcterms:W3CDTF">2026-08-29T15:35:35Z</dcterms:modified>
  <cp:category>Scientific presentation</cp:category>
  <dc:language>en-US</dc:language>
</cp:coreProperties>
</file>