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3" r:id="rId7"/>
    <p:sldId id="262" r:id="rId8"/>
    <p:sldId id="273" r:id="rId9"/>
    <p:sldId id="272" r:id="rId10"/>
    <p:sldId id="271" r:id="rId11"/>
    <p:sldId id="274" r:id="rId12"/>
    <p:sldId id="275" r:id="rId13"/>
    <p:sldId id="277" r:id="rId14"/>
    <p:sldId id="278" r:id="rId15"/>
    <p:sldId id="279" r:id="rId16"/>
    <p:sldId id="280" r:id="rId17"/>
    <p:sldId id="281" r:id="rId18"/>
    <p:sldId id="282" r:id="rId19"/>
    <p:sldId id="283" r:id="rId20"/>
    <p:sldId id="284" r:id="rId21"/>
    <p:sldId id="285" r:id="rId22"/>
    <p:sldId id="286" r:id="rId23"/>
    <p:sldId id="287" r:id="rId24"/>
    <p:sldId id="288"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335"/>
    <p:restoredTop sz="86218"/>
  </p:normalViewPr>
  <p:slideViewPr>
    <p:cSldViewPr snapToGrid="0" snapToObjects="1">
      <p:cViewPr varScale="1">
        <p:scale>
          <a:sx n="137" d="100"/>
          <a:sy n="137" d="100"/>
        </p:scale>
        <p:origin x="656" y="19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19131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Introduce the two cohorts and signal that both parts use the same returned-only aggregation rule.</a:t>
            </a:r>
          </a:p>
          <a:p>
            <a:endParaRPr/>
          </a:p>
          <a:p>
            <a:r>
              <a:t>Walk through: Part I aggregates the 295 included ROSMAP fine-cell KDA runs into sex/APOE by broad-network categories with the returned-only non-MT ACAT rule, giving 689 category units. Part II applies the identical rule to the 42 active SEA-AD supertype calls, giving 96 category units.</a:t>
            </a:r>
          </a:p>
          <a:p>
            <a:endParaRPr/>
          </a:p>
          <a:p>
            <a:r>
              <a:t>Scientific boundary: The two unit counts are not interchangeable evidence tiers: both are exploratory post-selected aggregates, and the SEA-AD call distribution is heavily concentrated in M_e33.</a:t>
            </a:r>
          </a:p>
          <a:p>
            <a:endParaRPr/>
          </a:p>
          <a:p>
            <a:r>
              <a:t>Transition: First compare the cohorts at a glance, then unpack the ROSMAP branch before turning to SEA-AD.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Give the audience a mental map of the discovery cohort and the validation cohort before the details.</a:t>
            </a:r>
          </a:p>
          <a:p>
            <a:endParaRPr/>
          </a:p>
          <a:p>
            <a:r>
              <a:t>Walk through: The left card summarizes the ROSMAP fine-cell reaggregation: 648 planned slots, 295 included runs, and 689 non-MT gene-by-category units representing 433 genes. The right card summarizes SEA-AD: 1,548 planned supertype slots, 42 active relaxed-tier calls, and 96 units representing 91 genes.</a:t>
            </a:r>
          </a:p>
          <a:p>
            <a:endParaRPr/>
          </a:p>
          <a:p>
            <a:r>
              <a:t>Scientific boundary: The SEA-AD tier is deliberately relaxed (donor at least 3 per arm, FDR-only query, no fold-change cutoff), and 40 of its 42 active calls are M_e33, so absence of a category is availability, not a tested null.</a:t>
            </a:r>
          </a:p>
          <a:p>
            <a:endParaRPr/>
          </a:p>
          <a:p>
            <a:r>
              <a:t>Transition: Begin Part I with the ROSMAP counting units, then return to SEA-AD in Part II.</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Introduce the fine-cell branch and its sequence from setup to results.</a:t>
            </a:r>
          </a:p>
          <a:p>
            <a:endParaRPr/>
          </a:p>
          <a:p>
            <a:r>
              <a:t>Walk through: The section first defines comparisons, directional slots, KDA calls, included runs, and final candidate units. It then explains DEG construction, run eligibility, complete evidence, coverage, support, ACAT, category BH, and display-only ranking.</a:t>
            </a:r>
          </a:p>
          <a:p>
            <a:endParaRPr/>
          </a:p>
          <a:p>
            <a:r>
              <a:t>Scientific boundary: The branch reconstructs complete evidence from the validated Phase 12 calls at effective query n ≥ 3; it does not rerun KDA or pool sex/APOE groups.</a:t>
            </a:r>
          </a:p>
          <a:p>
            <a:endParaRPr/>
          </a:p>
          <a:p>
            <a:r>
              <a:t>Transition: Start with the four counting units that appear in the funnel.</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Separate the comparison, slot, run, and candidate-unit concepts before showing counts.</a:t>
            </a:r>
          </a:p>
          <a:p>
            <a:endParaRPr/>
          </a:p>
          <a:p>
            <a:r>
              <a:t>Walk through: Move from left to right. A comparison is one model result. Its sign creates two planned slots. A slot becomes a KDA call when at least three effective query genes remain, and every validated completed call at that execution floor enters the cross-run aggregate. The final unit adds gene identity to group and broad network.</a:t>
            </a:r>
          </a:p>
          <a:p>
            <a:endParaRPr/>
          </a:p>
          <a:p>
            <a:r>
              <a:t>Scientific boundary: The word candidate does not mean mitochondrial DEG. Candidate drivers may be non-DEG, non-mitochondrial network genes.</a:t>
            </a:r>
          </a:p>
          <a:p>
            <a:endParaRPr/>
          </a:p>
          <a:p>
            <a:r>
              <a:t>Transition: Apply those definitions to the complete 648-slot run universe.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Show exactly how 648 planned slots become 295 included KDA runs.</a:t>
            </a:r>
          </a:p>
          <a:p>
            <a:endParaRPr/>
          </a:p>
          <a:p>
            <a:r>
              <a:t>Walk through: The rows are mutually exclusive outcomes derived from the canonical source manifest. Phase 12 calls KDA when at least three effective query genes remain. All 295 completed calls enter Phase 20, including 134 calls with query size three through nine and 161 with at least ten genes.</a:t>
            </a:r>
          </a:p>
          <a:p>
            <a:endParaRPr/>
          </a:p>
          <a:p>
            <a:r>
              <a:t>Scientific boundary: The 6 unavailable slots come from three non-estimable source contrasts times two directions. They are unavailable models, not completed tests with null results. The effective-query-zero row combines absent directional queries and complete loss during network mapping.</a:t>
            </a:r>
          </a:p>
          <a:p>
            <a:endParaRPr/>
          </a:p>
          <a:p>
            <a:r>
              <a:t>Transition: Zoom out once to see how the counting unit changes through the full fine-cell funnel.</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Clarify the eligibility statuses and the canonical minimum of three effective query genes.</a:t>
            </a:r>
          </a:p>
          <a:p>
            <a:endParaRPr/>
          </a:p>
          <a:p>
            <a:r>
              <a:t>Walk through: A query of at least three genes allows the Phase 12 call and Phase 20 inclusion. The 134 calls with three through nine genes retain Phase 12's below-ten warning but are included alongside the 161 larger-query calls. The right panel gives the three concrete non-estimable comparisons and shows why they create six unavailable direction slots.</a:t>
            </a:r>
          </a:p>
          <a:p>
            <a:endParaRPr/>
          </a:p>
          <a:p>
            <a:r>
              <a:t>Scientific boundary: Small-query calls use the same KDA and support predicates as larger-query calls, but their smaller queries warrant cautious interpretation. Non-estimability is a data/model condition, not evidence against a biological effect.</a:t>
            </a:r>
          </a:p>
          <a:p>
            <a:endParaRPr/>
          </a:p>
          <a:p>
            <a:r>
              <a:t>Transition: With 295 runs fixed, inspect what one KDA call actually tests.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Explain how the mitochondrial KDA query is derived from the full fine-cell DEG analysis.</a:t>
            </a:r>
          </a:p>
          <a:p>
            <a:endParaRPr/>
          </a:p>
          <a:p>
            <a:r>
              <a:t>Walk through: The paper-DEG filters first act within each fine-cell by group comparison. Only passing core mitochondrial proteins in the requested sign become provisional query memberships. The matching broad network is induced on genes tested in that contrast, so out-of-background query memberships are removed before run eligibility is assessed.</a:t>
            </a:r>
          </a:p>
          <a:p>
            <a:endParaRPr/>
          </a:p>
          <a:p>
            <a:r>
              <a:t>Scientific boundary: These are membership counts, not unique-gene counts. A query membership also does not mean the gene will be a candidate driver.</a:t>
            </a:r>
          </a:p>
          <a:p>
            <a:endParaRPr/>
          </a:p>
          <a:p>
            <a:r>
              <a:t>Transition: Next distinguish source failure, an empty effective query, a one- or two-gene query, and the canonical three-gene execution floor.</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Interpret the non-MT top-five display after excluding mitochondrial candidate drivers and recalculating display ranks.</a:t>
            </a:r>
          </a:p>
          <a:p>
            <a:endParaRPr/>
          </a:p>
          <a:p>
            <a:r>
              <a:t>Walk through: The figure contains 149 tiles across 32 categories. Blue means ACAT across at least two returned calls; orange means a one-call within-run BH q passthrough. Color identifies the calculation route, not an evidence tier.</a:t>
            </a:r>
          </a:p>
          <a:p>
            <a:endParaRPr/>
          </a:p>
          <a:p>
            <a:r>
              <a:t>Scientific boundary: Top five is a display cap, not a significance threshold. The returned-only score is post-selected and has no final across-gene BH adjustment; categories without a non-MT return are omitted.</a:t>
            </a:r>
          </a:p>
          <a:p>
            <a:endParaRPr/>
          </a:p>
          <a:p>
            <a:r>
              <a:t>Transition: The summary slide translates the displayed results into returned-row, category-unit, distinct-gene, and recurrence counts.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Interpret returned-only category recurrence without confusing category breadth, call count, and score construction.</a:t>
            </a:r>
          </a:p>
          <a:p>
            <a:endParaRPr/>
          </a:p>
          <a:p>
            <a:r>
              <a:t>Walk through: Bar length counts each sex/APOE by broad-cell category once. Fill counts the subset whose score combines at least two returned calls. RPS15 appears in 12 categories and RPL11 in 10; their total returned-call counts are 28 and 29, respectively.</a:t>
            </a:r>
          </a:p>
          <a:p>
            <a:endParaRPr/>
          </a:p>
          <a:p>
            <a:r>
              <a:t>Scientific boundary: Inputs were preselected stock-significant within-call q values. Fill shows the calculation route, not evidence strength. Recurrence is descriptive, not an independent replication or FDR-controlled significance test.</a:t>
            </a:r>
          </a:p>
          <a:p>
            <a:endParaRPr/>
          </a:p>
          <a:p>
            <a:r>
              <a:t>Transition: The next slide shows which non-MT genes rank in the top five within each populated category.</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Summarize the scale and distribution of the simple returned-only non-MT result set.</a:t>
            </a:r>
          </a:p>
          <a:p>
            <a:endParaRPr/>
          </a:p>
          <a:p>
            <a:r>
              <a:t>Walk through: The 1,033 non-MT returned call rows form 689 gene-by-category units representing 433 genes across 32 populated categories. The lower panels show where those units occur and the genes with the broadest category presence.</a:t>
            </a:r>
          </a:p>
          <a:p>
            <a:endParaRPr/>
          </a:p>
          <a:p>
            <a:r>
              <a:t>Scientific boundary: These descriptive counts condition on stock-significant returns and differ across categories with unequal opportunities. They do not use nonreturns, coverage, support gates, or a final FDR-controlled cross-gene family.</a:t>
            </a:r>
          </a:p>
          <a:p>
            <a:endParaRPr/>
          </a:p>
          <a:p>
            <a:r>
              <a:t>Transition: Part II now returns to the direct broad-cell branch, where each eligible direction remains a separate KDA result.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Teaching goal: Introduce the SEA-AD validation branch and its sequence from setup to results.</a:t>
            </a:r>
          </a:p>
          <a:p>
            <a:endParaRPr/>
          </a:p>
          <a:p>
            <a:r>
              <a:t>Walk through: The section first defines the SEA-AD run universe of 129 supertypes, six sex/APOE groups, and two query directions. It then explains the relaxed exploratory tier, the returned-only non-MT ACAT rule reused from Part I, and the two requested figures.</a:t>
            </a:r>
          </a:p>
          <a:p>
            <a:endParaRPr/>
          </a:p>
          <a:p>
            <a:r>
              <a:t>Scientific boundary: The branch reuses the validated 42 SEA-AD KDA calls without rerunning KDA; it validates the aggregation recipe, not a formally FDR-controlled candidate list.</a:t>
            </a:r>
          </a:p>
          <a:p>
            <a:endParaRPr/>
          </a:p>
          <a:p>
            <a:r>
              <a:t>Transition: Start with how 1,548 planned directional slots reduce to 42 active calls.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Teaching goal: Show exactly how 1,548 planned SEA-AD directional slots become 42 active KDA calls.</a:t>
            </a:r>
          </a:p>
          <a:p>
            <a:endParaRPr/>
          </a:p>
          <a:p>
            <a:r>
              <a:t>Walk through: The five outcomes are mutually exclusive. 786 slots inherit non-estimable source contrasts, 703 have no FDR-only mitochondrial query gene, and 17 keep only one or two genes. The remaining 42 slots meet the minimum of three effective query genes; 21 are small queries of three to nine genes and 21 are Phase 18-sized.</a:t>
            </a:r>
          </a:p>
          <a:p>
            <a:endParaRPr/>
          </a:p>
          <a:p>
            <a:r>
              <a:t>Scientific boundary: A skipped slot has no KDA result and must not be counted as a completed null run. The active calls concentrate in M_e33, so category-level breadth is bounded by availability.</a:t>
            </a:r>
          </a:p>
          <a:p>
            <a:endParaRPr/>
          </a:p>
          <a:p>
            <a:r>
              <a:t>Transition: Next, the relaxed tier rules and the returned-only aggregation that reuses the Part I recipe.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Teaching goal: Interpret the SEA-AD non-MT top-five display and its sparse category structure.</a:t>
            </a:r>
          </a:p>
          <a:p>
            <a:endParaRPr/>
          </a:p>
          <a:p>
            <a:r>
              <a:t>Walk through: The figure contains 18 tiles across 4 return-bearing categories: F_e33 excitatory neurons with three genes, and the M_e33 excitatory, inhibitory, and oligodendrocyte categories with five each. Blue means ACAT across at least two returned calls; orange means a one-call within-call BH q passthrough.</a:t>
            </a:r>
          </a:p>
          <a:p>
            <a:endParaRPr/>
          </a:p>
          <a:p>
            <a:r>
              <a:t>Scientific boundary: Top five is a display cap, not a significance threshold. Color identifies the calculation route, not an evidence tier, and 38 structural categories without a non-MT return are omitted.</a:t>
            </a:r>
          </a:p>
          <a:p>
            <a:endParaRPr/>
          </a:p>
          <a:p>
            <a:r>
              <a:t>Transition: The next slide shows which genes recur across the four populated categories.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Teaching goal: Interpret SEA-AD returned-only recurrence without over-reading the small category universe.</a:t>
            </a:r>
          </a:p>
          <a:p>
            <a:endParaRPr/>
          </a:p>
          <a:p>
            <a:r>
              <a:t>Walk through: Bar length counts each sex/APOE by broad-cell category once. HGSNAT appears in two categories (M_e33 excitatory and oligodendrocytes) with nine total returned calls; DYNLT1, ZNF706, METTL26, and GOLT1B also appear in two categories. The remaining displayed genes appear once and are ordered by best exploratory score.</a:t>
            </a:r>
          </a:p>
          <a:p>
            <a:endParaRPr/>
          </a:p>
          <a:p>
            <a:r>
              <a:t>Scientific boundary: With only four return-bearing categories, the maximum possible recurrence is small; fill shows the calculation route, not evidence strength, and recurrence is not independent replication.</a:t>
            </a:r>
          </a:p>
          <a:p>
            <a:endParaRPr/>
          </a:p>
          <a:p>
            <a:r>
              <a:t>Transition: The summary slide translates the SEA-AD results into returned-row, unit, gene, and category counts.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Teaching goal: Summarize the scale and distribution of the SEA-AD returned-only non-MT result set.</a:t>
            </a:r>
          </a:p>
          <a:p>
            <a:endParaRPr/>
          </a:p>
          <a:p>
            <a:r>
              <a:t>Walk through: The 121 non-MT returned call rows form 96 gene-by-category units representing 91 genes across 4 populated categories. The left panel shows the M_e33 concentration; the right panel shows the five genes recurring in two categories, led by HGSNAT.</a:t>
            </a:r>
          </a:p>
          <a:p>
            <a:endParaRPr/>
          </a:p>
          <a:p>
            <a:r>
              <a:t>Scientific boundary: These descriptive counts condition on stock-significant returns and on a call distribution dominated by M_e33. They do not use nonreturns, coverage, support gates, or a final FDR-controlled cross-gene family.</a:t>
            </a:r>
          </a:p>
          <a:p>
            <a:endParaRPr/>
          </a:p>
          <a:p>
            <a:r>
              <a:t>Transition: This closes the SEA-AD validation part of the deck.</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Teaching goal: Frame the final question: does the SEA-AD validation reproduce the ROSMAP drivers?</a:t>
            </a:r>
          </a:p>
          <a:p>
            <a:endParaRPr/>
          </a:p>
          <a:p>
            <a:r>
              <a:t>Walk through: Part 3 compares the two returned-only non-MT result sets. It moves from the comparison design to gene-level overlap, the exactly matched categories, and finally the stratum-specificity findings.</a:t>
            </a:r>
          </a:p>
          <a:p>
            <a:endParaRPr/>
          </a:p>
          <a:p>
            <a:r>
              <a:t>Scientific boundary: Both inputs are exploratory post-selected rankings; the comparison describes convergence and does not test formal replication.</a:t>
            </a:r>
          </a:p>
          <a:p>
            <a:endParaRPr/>
          </a:p>
          <a:p>
            <a:r>
              <a:t>Transition: Start with the two levels at which agreement can be measured.</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Teaching goal: Define the two agreement levels before showing any overlap number.</a:t>
            </a:r>
          </a:p>
          <a:p>
            <a:endParaRPr/>
          </a:p>
          <a:p>
            <a:r>
              <a:t>Walk through: Gene level asks only whether the same symbol returns in both cohorts. Category level additionally requires the same sex/APOE group and the same broad cell type, which is the counting unit used throughout the deck.</a:t>
            </a:r>
          </a:p>
          <a:p>
            <a:endParaRPr/>
          </a:p>
          <a:p>
            <a:r>
              <a:t>Scientific boundary: Because SEA-AD has returns in only four categories, category-level agreement has a hard ceiling set by availability, not biology.</a:t>
            </a:r>
          </a:p>
          <a:p>
            <a:endParaRPr/>
          </a:p>
          <a:p>
            <a:r>
              <a:t>Transition: First result: how many genes are shared at the permissive level.</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Teaching goal: Establish the headline gene-level overlap before adding context requirements.</a:t>
            </a:r>
          </a:p>
          <a:p>
            <a:endParaRPr/>
          </a:p>
          <a:p>
            <a:r>
              <a:t>Walk through: Thirty-five of the ninety-one SEA-AD non-MT drivers, thirty-eight percent, appear somewhere among ROSMAP's four hundred thirty-three. Eight of those keep their exact category, previewed here and detailed on the next slide.</a:t>
            </a:r>
          </a:p>
          <a:p>
            <a:endParaRPr/>
          </a:p>
          <a:p>
            <a:r>
              <a:t>Scientific boundary: Gene-level overlap ignores context; the following slides show that context agreement is much rarer.</a:t>
            </a:r>
          </a:p>
          <a:p>
            <a:endParaRPr/>
          </a:p>
          <a:p>
            <a:r>
              <a:t>Transition: Next: the eight pairs that match exactly.</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Teaching goal: Show the complete list of exact category-level matches with both cohorts' scores.</a:t>
            </a:r>
          </a:p>
          <a:p>
            <a:endParaRPr/>
          </a:p>
          <a:p>
            <a:r>
              <a:t>Walk through: Three matches are the entire female e33 excitatory category: WDR82, DMTF1, and TPP2. The remaining five are male e33: TTC8 in excitatory neurons and RPL30, RPS15, PAFAH1B1, and PIP5K1A in inhibitory neurons.</a:t>
            </a:r>
          </a:p>
          <a:p>
            <a:endParaRPr/>
          </a:p>
          <a:p>
            <a:r>
              <a:t>Scientific boundary: Ranks are within-category display ranks of exploratory scores; a match is convergence, not a significance statement.</a:t>
            </a:r>
          </a:p>
          <a:p>
            <a:endParaRPr/>
          </a:p>
          <a:p>
            <a:r>
              <a:t>Transition: One of these eight deserves a closer look: WDR82.</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Teaching goal: Give the audience three concrete, memorable replication examples.</a:t>
            </a:r>
          </a:p>
          <a:p>
            <a:endParaRPr/>
          </a:p>
          <a:p>
            <a:r>
              <a:t>Walk through: WDR82 is the only gene that is top-five in the same category in both cohorts. The female e33 excitatory category replicates completely, though it holds only three genes. RPS15, the most recurrent ROSMAP driver, also returns in SEA-AD male e33 inhibitory neurons.</a:t>
            </a:r>
          </a:p>
          <a:p>
            <a:endParaRPr/>
          </a:p>
          <a:p>
            <a:r>
              <a:t>Scientific boundary: The female trio is three genes; treat its perfect match rate as an anecdote, not a rate estimate.</a:t>
            </a:r>
          </a:p>
          <a:p>
            <a:endParaRPr/>
          </a:p>
          <a:p>
            <a:r>
              <a:t>Transition: These examples suggest strong agreement — but the group-resolved view complicates that.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Teaching goal: Deliver the central negative finding: shared genes do not preferentially match the same sex/APOE group.</a:t>
            </a:r>
          </a:p>
          <a:p>
            <a:endParaRPr/>
          </a:p>
          <a:p>
            <a:r>
              <a:t>Walk through: If replication were stratum-specific, the male e33 row would dominate. Instead male e2 shares the most genes with the SEA-AD male e33 set, and the matching group is near the bottom. The same genes simply recur in different strata.</a:t>
            </a:r>
          </a:p>
          <a:p>
            <a:endParaRPr/>
          </a:p>
          <a:p>
            <a:r>
              <a:t>Scientific boundary: These counts are descriptive; group gene-set sizes differ, and no calibrated enrichment test is claimed.</a:t>
            </a:r>
          </a:p>
          <a:p>
            <a:endParaRPr/>
          </a:p>
          <a:p>
            <a:r>
              <a:t>Transition: If the stratum is not preserved, what is? The cell type.</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Teaching goal: Quantify what survives the cohort change: the cell-type context, not the stratum.</a:t>
            </a:r>
          </a:p>
          <a:p>
            <a:endParaRPr/>
          </a:p>
          <a:p>
            <a:r>
              <a:t>Walk through: Pairing every SEA-AD unit with every ROSMAP unit of the same gene gives eighty-four pairs. Sixty-two percent agree on the broad cell type, well above the roughly forty-one percent expected from random pairing, but only thirteen percent agree on the sex/APOE group.</a:t>
            </a:r>
          </a:p>
          <a:p>
            <a:endParaRPr/>
          </a:p>
          <a:p>
            <a:r>
              <a:t>Scientific boundary: The chance baseline comes from the two cohorts' cell-type distributions; it is a descriptive reference, not a formal null model.</a:t>
            </a:r>
          </a:p>
          <a:p>
            <a:endParaRPr/>
          </a:p>
          <a:p>
            <a:r>
              <a:t>Transition: A few genes are the exception and keep their sex context.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Teaching goal: Balance the stratum-agnostic finding with the genes that are genuinely sex-consistent.</a:t>
            </a:r>
          </a:p>
          <a:p>
            <a:endParaRPr/>
          </a:p>
          <a:p>
            <a:r>
              <a:t>Walk through: HGSNAT never appears in a female category in either cohort and is always an excitatory-neuron driver in ROSMAP; TARBP1 and RPS27A repeat the male-only pattern. But across all thirty-two shared male e33 genes the ROSMAP sex distribution is fourteen male-only, eleven female-only, and seven both.</a:t>
            </a:r>
          </a:p>
          <a:p>
            <a:endParaRPr/>
          </a:p>
          <a:p>
            <a:r>
              <a:t>Scientific boundary: Male-only status reflects where returns happened to occur; unequal run availability across strata can create such patterns without a biological sex effect.</a:t>
            </a:r>
          </a:p>
          <a:p>
            <a:endParaRPr/>
          </a:p>
          <a:p>
            <a:r>
              <a:t>Transition: Close with what this comparison does and does not establish.</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Teaching goal: Leave the audience with a precise statement of what the cross-cohort comparison establishes.</a:t>
            </a:r>
          </a:p>
          <a:p>
            <a:endParaRPr/>
          </a:p>
          <a:p>
            <a:r>
              <a:t>Walk through: The supported column collects the positive results: gene-level re-discovery, cell-type fidelity, the eight exact matches, and HGSNAT. The limits column lists why stratum claims should not be made: strata do not transfer, only one stratum is powered, scores are exploratory, and broadly returning genes overlap more easily.</a:t>
            </a:r>
          </a:p>
          <a:p>
            <a:endParaRPr/>
          </a:p>
          <a:p>
            <a:r>
              <a:t>Scientific boundary: None of the findings are formally FDR-controlled replication tests; they are structured descriptive convergence.</a:t>
            </a:r>
          </a:p>
          <a:p>
            <a:endParaRPr/>
          </a:p>
          <a:p>
            <a:r>
              <a:t>Transition: End of the deck.</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8/29/26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p:cNvSpPr txBox="1"/>
          <p:nvPr/>
        </p:nvSpPr>
        <p:spPr>
          <a:xfrm>
            <a:off x="713232" y="1177296"/>
            <a:ext cx="10287000" cy="11018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lang="en-US" sz="3400" b="1" i="0" dirty="0">
                <a:solidFill>
                  <a:srgbClr val="FFFFFF"/>
                </a:solidFill>
                <a:latin typeface="Arial"/>
              </a:rPr>
              <a:t>ROSMAP and SEAAD </a:t>
            </a:r>
            <a:r>
              <a:rPr sz="3400" b="1" i="0" dirty="0">
                <a:solidFill>
                  <a:srgbClr val="FFFFFF"/>
                </a:solidFill>
                <a:latin typeface="Arial"/>
              </a:rPr>
              <a:t>sex/APOE key-driver analysis</a:t>
            </a:r>
          </a:p>
        </p:txBody>
      </p:sp>
      <p:sp>
        <p:nvSpPr>
          <p:cNvPr id="4" name="TextBox 3"/>
          <p:cNvSpPr txBox="1"/>
          <p:nvPr/>
        </p:nvSpPr>
        <p:spPr>
          <a:xfrm>
            <a:off x="749808" y="2487168"/>
            <a:ext cx="9875520" cy="43891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700" b="0" i="0" dirty="0">
                <a:solidFill>
                  <a:srgbClr val="CCDBEA"/>
                </a:solidFill>
                <a:latin typeface="Arial"/>
              </a:rPr>
              <a:t>How mitochondrial DEG queries become non-core-MT network-driver candidates</a:t>
            </a:r>
          </a:p>
        </p:txBody>
      </p:sp>
      <p:sp>
        <p:nvSpPr>
          <p:cNvPr id="5" name="Rounded Rectangle 4"/>
          <p:cNvSpPr/>
          <p:nvPr/>
        </p:nvSpPr>
        <p:spPr>
          <a:xfrm>
            <a:off x="749808" y="3364992"/>
            <a:ext cx="5230368" cy="1874519"/>
          </a:xfrm>
          <a:prstGeom prst="roundRect">
            <a:avLst/>
          </a:prstGeom>
          <a:solidFill>
            <a:srgbClr val="1E3B5B"/>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3941063"/>
            <a:ext cx="4343400" cy="3566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200" b="1" i="0">
                <a:solidFill>
                  <a:srgbClr val="FFFFFF"/>
                </a:solidFill>
                <a:latin typeface="Arial"/>
              </a:rPr>
              <a:t>ROSMAP reaggregation</a:t>
            </a:r>
          </a:p>
        </p:txBody>
      </p:sp>
      <p:sp>
        <p:nvSpPr>
          <p:cNvPr id="8" name="TextBox 7"/>
          <p:cNvSpPr txBox="1"/>
          <p:nvPr/>
        </p:nvSpPr>
        <p:spPr>
          <a:xfrm>
            <a:off x="1005840" y="4453128"/>
            <a:ext cx="4416552"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20" b="0" i="0">
                <a:solidFill>
                  <a:srgbClr val="D2E0EE"/>
                </a:solidFill>
                <a:latin typeface="Arial"/>
              </a:rPr>
              <a:t>295 included runs → returned-only non-MT ACAT → 689 category units</a:t>
            </a:r>
          </a:p>
        </p:txBody>
      </p:sp>
      <p:sp>
        <p:nvSpPr>
          <p:cNvPr id="9" name="Rounded Rectangle 8"/>
          <p:cNvSpPr/>
          <p:nvPr/>
        </p:nvSpPr>
        <p:spPr>
          <a:xfrm>
            <a:off x="6199632" y="3364992"/>
            <a:ext cx="5230368" cy="1874519"/>
          </a:xfrm>
          <a:prstGeom prst="roundRect">
            <a:avLst/>
          </a:prstGeom>
          <a:solidFill>
            <a:srgbClr val="1E3B5B"/>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55664" y="3639312"/>
            <a:ext cx="1005840" cy="21031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50" b="1" i="0" dirty="0">
                <a:solidFill>
                  <a:srgbClr val="009E73"/>
                </a:solidFill>
                <a:latin typeface="Arial"/>
              </a:rPr>
              <a:t>PART II</a:t>
            </a:r>
          </a:p>
        </p:txBody>
      </p:sp>
      <p:sp>
        <p:nvSpPr>
          <p:cNvPr id="11" name="TextBox 10"/>
          <p:cNvSpPr txBox="1"/>
          <p:nvPr/>
        </p:nvSpPr>
        <p:spPr>
          <a:xfrm>
            <a:off x="6455664" y="3941063"/>
            <a:ext cx="4389120" cy="3566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200" b="1" i="0">
                <a:solidFill>
                  <a:srgbClr val="FFFFFF"/>
                </a:solidFill>
                <a:latin typeface="Arial"/>
              </a:rPr>
              <a:t>SEA-AD validation</a:t>
            </a:r>
          </a:p>
        </p:txBody>
      </p:sp>
      <p:sp>
        <p:nvSpPr>
          <p:cNvPr id="12" name="TextBox 11"/>
          <p:cNvSpPr txBox="1"/>
          <p:nvPr/>
        </p:nvSpPr>
        <p:spPr>
          <a:xfrm>
            <a:off x="6455664" y="4453128"/>
            <a:ext cx="4416552"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20" b="0" i="0">
                <a:solidFill>
                  <a:srgbClr val="D2E0EE"/>
                </a:solidFill>
                <a:latin typeface="Arial"/>
              </a:rPr>
              <a:t>42 active KDA calls → returned-only non-MT ACAT → 96 category units</a:t>
            </a:r>
          </a:p>
        </p:txBody>
      </p:sp>
      <p:sp>
        <p:nvSpPr>
          <p:cNvPr id="2" name="TextBox 1">
            <a:extLst>
              <a:ext uri="{FF2B5EF4-FFF2-40B4-BE49-F238E27FC236}">
                <a16:creationId xmlns:a16="http://schemas.microsoft.com/office/drawing/2014/main" id="{965FC036-46F5-E9C4-8787-7AE287D69802}"/>
              </a:ext>
            </a:extLst>
          </p:cNvPr>
          <p:cNvSpPr txBox="1"/>
          <p:nvPr/>
        </p:nvSpPr>
        <p:spPr>
          <a:xfrm>
            <a:off x="1005840" y="3639312"/>
            <a:ext cx="1005840" cy="20159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50" b="1" i="0" dirty="0">
                <a:solidFill>
                  <a:srgbClr val="009E73"/>
                </a:solidFill>
                <a:latin typeface="Arial"/>
              </a:rPr>
              <a:t>PART </a:t>
            </a:r>
            <a:r>
              <a:rPr lang="en-US" sz="950" b="1" i="0" dirty="0">
                <a:solidFill>
                  <a:srgbClr val="009E73"/>
                </a:solidFill>
                <a:latin typeface="Arial"/>
              </a:rPr>
              <a:t>I</a:t>
            </a:r>
            <a:endParaRPr sz="950" b="1" i="0" dirty="0">
              <a:solidFill>
                <a:srgbClr val="009E73"/>
              </a:solidFill>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p:cNvSpPr txBox="1"/>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dirty="0">
                <a:solidFill>
                  <a:srgbClr val="0F233D"/>
                </a:solidFill>
                <a:latin typeface="Arial"/>
              </a:rPr>
              <a:t>Two cohorts, one aggregation rule</a:t>
            </a:r>
          </a:p>
        </p:txBody>
      </p:sp>
      <p:sp>
        <p:nvSpPr>
          <p:cNvPr id="4" name="TextBox 3"/>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Both apply the same returned-only non-MT ACAT rule; the cohorts differ in run availability and balance.</a:t>
            </a:r>
          </a:p>
        </p:txBody>
      </p:sp>
      <p:sp>
        <p:nvSpPr>
          <p:cNvPr id="5" name="Rounded Rectangle 4"/>
          <p:cNvSpPr/>
          <p:nvPr/>
        </p:nvSpPr>
        <p:spPr>
          <a:xfrm>
            <a:off x="585216" y="1335024"/>
            <a:ext cx="5358384" cy="432511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627632"/>
            <a:ext cx="2926080" cy="2468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00" b="1" i="0">
                <a:solidFill>
                  <a:srgbClr val="0072B2"/>
                </a:solidFill>
                <a:latin typeface="Arial"/>
              </a:rPr>
              <a:t>ROSMAP FINE-CELL REAGGREGATION</a:t>
            </a:r>
          </a:p>
        </p:txBody>
      </p:sp>
      <p:sp>
        <p:nvSpPr>
          <p:cNvPr id="7" name="TextBox 6"/>
          <p:cNvSpPr txBox="1"/>
          <p:nvPr/>
        </p:nvSpPr>
        <p:spPr>
          <a:xfrm>
            <a:off x="868680" y="1938528"/>
            <a:ext cx="4526280" cy="5852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000" b="1" i="0">
                <a:solidFill>
                  <a:srgbClr val="0F233D"/>
                </a:solidFill>
                <a:latin typeface="Arial"/>
              </a:rPr>
              <a:t>Where does a gene recur across fine-cell evidence?</a:t>
            </a:r>
          </a:p>
        </p:txBody>
      </p:sp>
      <p:sp>
        <p:nvSpPr>
          <p:cNvPr id="8" name="Rounded Rectangle 7"/>
          <p:cNvSpPr/>
          <p:nvPr/>
        </p:nvSpPr>
        <p:spPr>
          <a:xfrm>
            <a:off x="868680" y="2697480"/>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14983" y="2788920"/>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72B2"/>
                </a:solidFill>
                <a:latin typeface="Arial"/>
              </a:rPr>
              <a:t>648</a:t>
            </a:r>
          </a:p>
        </p:txBody>
      </p:sp>
      <p:sp>
        <p:nvSpPr>
          <p:cNvPr id="10" name="TextBox 9"/>
          <p:cNvSpPr txBox="1"/>
          <p:nvPr/>
        </p:nvSpPr>
        <p:spPr>
          <a:xfrm>
            <a:off x="1014983" y="3246120"/>
            <a:ext cx="1124712"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planned directional slots</a:t>
            </a:r>
          </a:p>
        </p:txBody>
      </p:sp>
      <p:sp>
        <p:nvSpPr>
          <p:cNvPr id="11" name="Rounded Rectangle 10"/>
          <p:cNvSpPr/>
          <p:nvPr/>
        </p:nvSpPr>
        <p:spPr>
          <a:xfrm>
            <a:off x="2450592" y="2697480"/>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596896" y="2788920"/>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72B2"/>
                </a:solidFill>
                <a:latin typeface="Arial"/>
              </a:rPr>
              <a:t>295</a:t>
            </a:r>
          </a:p>
        </p:txBody>
      </p:sp>
      <p:sp>
        <p:nvSpPr>
          <p:cNvPr id="13" name="TextBox 12"/>
          <p:cNvSpPr txBox="1"/>
          <p:nvPr/>
        </p:nvSpPr>
        <p:spPr>
          <a:xfrm>
            <a:off x="2596896" y="3246120"/>
            <a:ext cx="1124712"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included KDA runs</a:t>
            </a:r>
          </a:p>
        </p:txBody>
      </p:sp>
      <p:sp>
        <p:nvSpPr>
          <p:cNvPr id="14" name="Rounded Rectangle 13"/>
          <p:cNvSpPr/>
          <p:nvPr/>
        </p:nvSpPr>
        <p:spPr>
          <a:xfrm>
            <a:off x="4032504" y="2697480"/>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78808" y="2788920"/>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72B2"/>
                </a:solidFill>
                <a:latin typeface="Arial"/>
              </a:rPr>
              <a:t>689</a:t>
            </a:r>
          </a:p>
        </p:txBody>
      </p:sp>
      <p:sp>
        <p:nvSpPr>
          <p:cNvPr id="16" name="TextBox 15"/>
          <p:cNvSpPr txBox="1"/>
          <p:nvPr/>
        </p:nvSpPr>
        <p:spPr>
          <a:xfrm>
            <a:off x="4178808" y="3246120"/>
            <a:ext cx="1124712"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gene × category units</a:t>
            </a:r>
          </a:p>
        </p:txBody>
      </p:sp>
      <p:sp>
        <p:nvSpPr>
          <p:cNvPr id="17" name="Oval 16"/>
          <p:cNvSpPr/>
          <p:nvPr/>
        </p:nvSpPr>
        <p:spPr>
          <a:xfrm>
            <a:off x="877824" y="4133087"/>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51560" y="4005072"/>
            <a:ext cx="4361688" cy="43891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50" b="0" i="0">
                <a:solidFill>
                  <a:srgbClr val="1F2730"/>
                </a:solidFill>
                <a:latin typeface="Arial"/>
              </a:rPr>
              <a:t>Groups fine-cell runs within sex/APOE × broad network.</a:t>
            </a:r>
          </a:p>
        </p:txBody>
      </p:sp>
      <p:sp>
        <p:nvSpPr>
          <p:cNvPr id="19" name="Oval 18"/>
          <p:cNvSpPr/>
          <p:nvPr/>
        </p:nvSpPr>
        <p:spPr>
          <a:xfrm>
            <a:off x="877824" y="4571999"/>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51560" y="4443983"/>
            <a:ext cx="4361688" cy="43891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50" b="0" i="0">
                <a:solidFill>
                  <a:srgbClr val="1F2730"/>
                </a:solidFill>
                <a:latin typeface="Arial"/>
              </a:rPr>
              <a:t>Aggregates stock-significant returns only; ACAT for ≥2 calls.</a:t>
            </a:r>
          </a:p>
        </p:txBody>
      </p:sp>
      <p:sp>
        <p:nvSpPr>
          <p:cNvPr id="21" name="Oval 20"/>
          <p:cNvSpPr/>
          <p:nvPr/>
        </p:nvSpPr>
        <p:spPr>
          <a:xfrm>
            <a:off x="877824" y="501091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51560" y="4882896"/>
            <a:ext cx="4361688" cy="43891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50" b="0" i="0">
                <a:solidFill>
                  <a:srgbClr val="1F2730"/>
                </a:solidFill>
                <a:latin typeface="Arial"/>
              </a:rPr>
              <a:t>Final 689 units represent 433 distinct genes in 32 categories.</a:t>
            </a:r>
          </a:p>
        </p:txBody>
      </p:sp>
      <p:sp>
        <p:nvSpPr>
          <p:cNvPr id="23" name="Rounded Rectangle 22"/>
          <p:cNvSpPr/>
          <p:nvPr/>
        </p:nvSpPr>
        <p:spPr>
          <a:xfrm>
            <a:off x="6245352" y="1335024"/>
            <a:ext cx="5358384" cy="43251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528816" y="1627632"/>
            <a:ext cx="2926080" cy="2468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00" b="1" i="0">
                <a:solidFill>
                  <a:srgbClr val="009E73"/>
                </a:solidFill>
                <a:latin typeface="Arial"/>
              </a:rPr>
              <a:t>SEA-AD VALIDATION</a:t>
            </a:r>
          </a:p>
        </p:txBody>
      </p:sp>
      <p:sp>
        <p:nvSpPr>
          <p:cNvPr id="25" name="TextBox 24"/>
          <p:cNvSpPr txBox="1"/>
          <p:nvPr/>
        </p:nvSpPr>
        <p:spPr>
          <a:xfrm>
            <a:off x="6528816" y="1938528"/>
            <a:ext cx="4526280" cy="5852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000" b="1" i="0">
                <a:solidFill>
                  <a:srgbClr val="0F233D"/>
                </a:solidFill>
                <a:latin typeface="Arial"/>
              </a:rPr>
              <a:t>Do drivers return in an independent human cohort?</a:t>
            </a:r>
          </a:p>
        </p:txBody>
      </p:sp>
      <p:sp>
        <p:nvSpPr>
          <p:cNvPr id="26" name="Rounded Rectangle 25"/>
          <p:cNvSpPr/>
          <p:nvPr/>
        </p:nvSpPr>
        <p:spPr>
          <a:xfrm>
            <a:off x="6528816" y="2697480"/>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675120" y="2788920"/>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684D"/>
                </a:solidFill>
                <a:latin typeface="Arial"/>
              </a:rPr>
              <a:t>1,548</a:t>
            </a:r>
          </a:p>
        </p:txBody>
      </p:sp>
      <p:sp>
        <p:nvSpPr>
          <p:cNvPr id="28" name="TextBox 27"/>
          <p:cNvSpPr txBox="1"/>
          <p:nvPr/>
        </p:nvSpPr>
        <p:spPr>
          <a:xfrm>
            <a:off x="6675120" y="3246120"/>
            <a:ext cx="1124712"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planned directional slots</a:t>
            </a:r>
          </a:p>
        </p:txBody>
      </p:sp>
      <p:sp>
        <p:nvSpPr>
          <p:cNvPr id="29" name="Rounded Rectangle 28"/>
          <p:cNvSpPr/>
          <p:nvPr/>
        </p:nvSpPr>
        <p:spPr>
          <a:xfrm>
            <a:off x="8110727" y="2697480"/>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257031" y="2788920"/>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684D"/>
                </a:solidFill>
                <a:latin typeface="Arial"/>
              </a:rPr>
              <a:t>42</a:t>
            </a:r>
          </a:p>
        </p:txBody>
      </p:sp>
      <p:sp>
        <p:nvSpPr>
          <p:cNvPr id="31" name="TextBox 30"/>
          <p:cNvSpPr txBox="1"/>
          <p:nvPr/>
        </p:nvSpPr>
        <p:spPr>
          <a:xfrm>
            <a:off x="8257031" y="3246120"/>
            <a:ext cx="1124712"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active KDA calls</a:t>
            </a:r>
          </a:p>
        </p:txBody>
      </p:sp>
      <p:sp>
        <p:nvSpPr>
          <p:cNvPr id="32" name="Rounded Rectangle 31"/>
          <p:cNvSpPr/>
          <p:nvPr/>
        </p:nvSpPr>
        <p:spPr>
          <a:xfrm>
            <a:off x="9692640" y="2697480"/>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838944" y="2788920"/>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684D"/>
                </a:solidFill>
                <a:latin typeface="Arial"/>
              </a:rPr>
              <a:t>96</a:t>
            </a:r>
          </a:p>
        </p:txBody>
      </p:sp>
      <p:sp>
        <p:nvSpPr>
          <p:cNvPr id="34" name="TextBox 33"/>
          <p:cNvSpPr txBox="1"/>
          <p:nvPr/>
        </p:nvSpPr>
        <p:spPr>
          <a:xfrm>
            <a:off x="9838944" y="3246120"/>
            <a:ext cx="1124712"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gene × category units</a:t>
            </a:r>
          </a:p>
        </p:txBody>
      </p:sp>
      <p:sp>
        <p:nvSpPr>
          <p:cNvPr id="35" name="Oval 34"/>
          <p:cNvSpPr/>
          <p:nvPr/>
        </p:nvSpPr>
        <p:spPr>
          <a:xfrm>
            <a:off x="6537960" y="4133087"/>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711696" y="4005072"/>
            <a:ext cx="4361688" cy="43891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50" b="0" i="0">
                <a:solidFill>
                  <a:srgbClr val="1F2730"/>
                </a:solidFill>
                <a:latin typeface="Arial"/>
              </a:rPr>
              <a:t>Applies the same returned-only non-MT ACAT rule.</a:t>
            </a:r>
          </a:p>
        </p:txBody>
      </p:sp>
      <p:sp>
        <p:nvSpPr>
          <p:cNvPr id="37" name="Oval 36"/>
          <p:cNvSpPr/>
          <p:nvPr/>
        </p:nvSpPr>
        <p:spPr>
          <a:xfrm>
            <a:off x="6537960" y="4571999"/>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711696" y="4443983"/>
            <a:ext cx="4361688" cy="43891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50" b="0" i="0">
                <a:solidFill>
                  <a:srgbClr val="1F2730"/>
                </a:solidFill>
                <a:latin typeface="Arial"/>
              </a:rPr>
              <a:t>Relaxed tier: donor ≥3 per arm, FDR-only query, n ≥ 3.</a:t>
            </a:r>
          </a:p>
        </p:txBody>
      </p:sp>
      <p:sp>
        <p:nvSpPr>
          <p:cNvPr id="39" name="Oval 38"/>
          <p:cNvSpPr/>
          <p:nvPr/>
        </p:nvSpPr>
        <p:spPr>
          <a:xfrm>
            <a:off x="6537960" y="5010912"/>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711696" y="4882896"/>
            <a:ext cx="4361688" cy="43891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50" b="0" i="0">
                <a:solidFill>
                  <a:srgbClr val="1F2730"/>
                </a:solidFill>
                <a:latin typeface="Arial"/>
              </a:rPr>
              <a:t>40 of 42 calls are M_e33; 4 categories have returns.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p:cNvSpPr txBox="1"/>
          <p:nvPr/>
        </p:nvSpPr>
        <p:spPr>
          <a:xfrm>
            <a:off x="713232" y="612648"/>
            <a:ext cx="2194560" cy="2560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50" b="1" i="0">
                <a:solidFill>
                  <a:srgbClr val="0072B2"/>
                </a:solidFill>
                <a:latin typeface="Arial"/>
              </a:rPr>
              <a:t>PART 1</a:t>
            </a:r>
          </a:p>
        </p:txBody>
      </p:sp>
      <p:sp>
        <p:nvSpPr>
          <p:cNvPr id="3" name="Rectangle 2"/>
          <p:cNvSpPr/>
          <p:nvPr/>
        </p:nvSpPr>
        <p:spPr>
          <a:xfrm>
            <a:off x="713232" y="1152144"/>
            <a:ext cx="91440" cy="2176272"/>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78992" y="1582311"/>
            <a:ext cx="7909560" cy="54784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lang="en-US" sz="3200" b="1" i="0" dirty="0">
                <a:solidFill>
                  <a:srgbClr val="FFFFFF"/>
                </a:solidFill>
                <a:latin typeface="Arial"/>
              </a:rPr>
              <a:t>ROSMAP</a:t>
            </a:r>
            <a:r>
              <a:rPr sz="3200" b="1" i="0" dirty="0">
                <a:solidFill>
                  <a:srgbClr val="FFFFFF"/>
                </a:solidFill>
                <a:latin typeface="Arial"/>
              </a:rPr>
              <a:t> sex/APOE KDA reaggregation</a:t>
            </a:r>
          </a:p>
        </p:txBody>
      </p:sp>
      <p:sp>
        <p:nvSpPr>
          <p:cNvPr id="5" name="TextBox 4"/>
          <p:cNvSpPr txBox="1"/>
          <p:nvPr/>
        </p:nvSpPr>
        <p:spPr>
          <a:xfrm>
            <a:off x="1097280" y="2743200"/>
            <a:ext cx="7589520" cy="76809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00" b="0" i="0" dirty="0">
                <a:solidFill>
                  <a:srgbClr val="CCDBEA"/>
                </a:solidFill>
                <a:latin typeface="Arial"/>
              </a:rPr>
              <a:t>54 fine cell types define the planned universe; 295 included runs from 41 fine types are aggregated within six groups and seven broad networks.</a:t>
            </a:r>
          </a:p>
        </p:txBody>
      </p:sp>
      <p:sp>
        <p:nvSpPr>
          <p:cNvPr id="6" name="Rounded Rectangle 5"/>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40" b="1" i="0">
                <a:solidFill>
                  <a:srgbClr val="0072B2"/>
                </a:solidFill>
                <a:latin typeface="Arial"/>
              </a:rPr>
              <a:t>IN THIS PART</a:t>
            </a:r>
          </a:p>
        </p:txBody>
      </p:sp>
      <p:sp>
        <p:nvSpPr>
          <p:cNvPr id="8" name="Oval 7"/>
          <p:cNvSpPr/>
          <p:nvPr/>
        </p:nvSpPr>
        <p:spPr>
          <a:xfrm>
            <a:off x="9198864" y="2039112"/>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0F233D"/>
                </a:solidFill>
                <a:latin typeface="Arial"/>
              </a:rPr>
              <a:t>1</a:t>
            </a:r>
          </a:p>
        </p:txBody>
      </p:sp>
      <p:sp>
        <p:nvSpPr>
          <p:cNvPr id="10" name="TextBox 9"/>
          <p:cNvSpPr txBox="1"/>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1" i="0">
                <a:solidFill>
                  <a:srgbClr val="FFFFFF"/>
                </a:solidFill>
                <a:latin typeface="Arial"/>
              </a:rPr>
              <a:t>Run universe</a:t>
            </a:r>
          </a:p>
        </p:txBody>
      </p:sp>
      <p:sp>
        <p:nvSpPr>
          <p:cNvPr id="11" name="Oval 10"/>
          <p:cNvSpPr/>
          <p:nvPr/>
        </p:nvSpPr>
        <p:spPr>
          <a:xfrm>
            <a:off x="9198864" y="2788920"/>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0F233D"/>
                </a:solidFill>
                <a:latin typeface="Arial"/>
              </a:rPr>
              <a:t>2</a:t>
            </a:r>
          </a:p>
        </p:txBody>
      </p:sp>
      <p:sp>
        <p:nvSpPr>
          <p:cNvPr id="13" name="TextBox 12"/>
          <p:cNvSpPr txBox="1"/>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1" i="0">
                <a:solidFill>
                  <a:srgbClr val="FFFFFF"/>
                </a:solidFill>
                <a:latin typeface="Arial"/>
              </a:rPr>
              <a:t>Filter funnel</a:t>
            </a:r>
          </a:p>
        </p:txBody>
      </p:sp>
      <p:sp>
        <p:nvSpPr>
          <p:cNvPr id="14" name="Oval 13"/>
          <p:cNvSpPr/>
          <p:nvPr/>
        </p:nvSpPr>
        <p:spPr>
          <a:xfrm>
            <a:off x="9198864" y="3538727"/>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0F233D"/>
                </a:solidFill>
                <a:latin typeface="Arial"/>
              </a:rPr>
              <a:t>3</a:t>
            </a:r>
          </a:p>
        </p:txBody>
      </p:sp>
      <p:sp>
        <p:nvSpPr>
          <p:cNvPr id="16" name="TextBox 15"/>
          <p:cNvSpPr txBox="1"/>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1" i="0">
                <a:solidFill>
                  <a:srgbClr val="FFFFFF"/>
                </a:solidFill>
                <a:latin typeface="Arial"/>
              </a:rPr>
              <a:t>ACAT candidates</a:t>
            </a:r>
          </a:p>
        </p:txBody>
      </p:sp>
      <p:sp>
        <p:nvSpPr>
          <p:cNvPr id="17" name="Oval 16"/>
          <p:cNvSpPr/>
          <p:nvPr/>
        </p:nvSpPr>
        <p:spPr>
          <a:xfrm>
            <a:off x="9198864" y="4288536"/>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0F233D"/>
                </a:solidFill>
                <a:latin typeface="Arial"/>
              </a:rPr>
              <a:t>4</a:t>
            </a:r>
          </a:p>
        </p:txBody>
      </p:sp>
      <p:sp>
        <p:nvSpPr>
          <p:cNvPr id="19" name="TextBox 18"/>
          <p:cNvSpPr txBox="1"/>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1" i="0">
                <a:solidFill>
                  <a:srgbClr val="FFFFFF"/>
                </a:solidFill>
                <a:latin typeface="Arial"/>
              </a:rPr>
              <a:t>Result figures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p:cNvSpPr txBox="1"/>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dirty="0">
                <a:solidFill>
                  <a:srgbClr val="0F233D"/>
                </a:solidFill>
                <a:latin typeface="Arial"/>
              </a:rPr>
              <a:t>Four </a:t>
            </a:r>
            <a:r>
              <a:rPr lang="en-US" sz="2450" b="1" i="0" dirty="0">
                <a:solidFill>
                  <a:srgbClr val="0F233D"/>
                </a:solidFill>
                <a:latin typeface="Arial"/>
              </a:rPr>
              <a:t>steps</a:t>
            </a:r>
            <a:endParaRPr sz="2450" b="1" i="0" dirty="0">
              <a:solidFill>
                <a:srgbClr val="0F233D"/>
              </a:solidFill>
              <a:latin typeface="Arial"/>
            </a:endParaRPr>
          </a:p>
        </p:txBody>
      </p:sp>
      <p:sp>
        <p:nvSpPr>
          <p:cNvPr id="5" name="Rounded Rectangle 4"/>
          <p:cNvSpPr/>
          <p:nvPr/>
        </p:nvSpPr>
        <p:spPr>
          <a:xfrm>
            <a:off x="603504" y="1371600"/>
            <a:ext cx="2587752" cy="423367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80467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0467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00" b="1" i="0">
                <a:solidFill>
                  <a:srgbClr val="FFFFFF"/>
                </a:solidFill>
                <a:latin typeface="Arial"/>
              </a:rPr>
              <a:t>1</a:t>
            </a:r>
          </a:p>
        </p:txBody>
      </p:sp>
      <p:sp>
        <p:nvSpPr>
          <p:cNvPr id="8" name="TextBox 7"/>
          <p:cNvSpPr txBox="1"/>
          <p:nvPr/>
        </p:nvSpPr>
        <p:spPr>
          <a:xfrm>
            <a:off x="80467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900" b="1" i="0">
                <a:solidFill>
                  <a:srgbClr val="0F233D"/>
                </a:solidFill>
                <a:latin typeface="Arial"/>
              </a:rPr>
              <a:t>DEG comparison</a:t>
            </a:r>
          </a:p>
        </p:txBody>
      </p:sp>
      <p:sp>
        <p:nvSpPr>
          <p:cNvPr id="9" name="TextBox 8"/>
          <p:cNvSpPr txBox="1"/>
          <p:nvPr/>
        </p:nvSpPr>
        <p:spPr>
          <a:xfrm>
            <a:off x="804672" y="3017520"/>
            <a:ext cx="2157984" cy="56692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300" b="1" i="0">
                <a:solidFill>
                  <a:srgbClr val="0072B2"/>
                </a:solidFill>
                <a:latin typeface="Arial"/>
              </a:rPr>
              <a:t>fine cell type × sex/APOE</a:t>
            </a:r>
          </a:p>
        </p:txBody>
      </p:sp>
      <p:sp>
        <p:nvSpPr>
          <p:cNvPr id="10" name="Rounded Rectangle 9"/>
          <p:cNvSpPr/>
          <p:nvPr/>
        </p:nvSpPr>
        <p:spPr>
          <a:xfrm>
            <a:off x="78638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32688" y="4087368"/>
            <a:ext cx="1901952" cy="6126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130" b="0" i="0">
                <a:solidFill>
                  <a:srgbClr val="4E5A68"/>
                </a:solidFill>
                <a:latin typeface="Arial"/>
              </a:rPr>
              <a:t>One signed AD-versus-NCI result</a:t>
            </a:r>
          </a:p>
        </p:txBody>
      </p:sp>
      <p:sp>
        <p:nvSpPr>
          <p:cNvPr id="12" name="Rounded Rectangle 11"/>
          <p:cNvSpPr/>
          <p:nvPr/>
        </p:nvSpPr>
        <p:spPr>
          <a:xfrm>
            <a:off x="3438144" y="1371600"/>
            <a:ext cx="2587752" cy="423367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363931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63931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00" b="1" i="0">
                <a:solidFill>
                  <a:srgbClr val="FFFFFF"/>
                </a:solidFill>
                <a:latin typeface="Arial"/>
              </a:rPr>
              <a:t>2</a:t>
            </a:r>
          </a:p>
        </p:txBody>
      </p:sp>
      <p:sp>
        <p:nvSpPr>
          <p:cNvPr id="15" name="TextBox 14"/>
          <p:cNvSpPr txBox="1"/>
          <p:nvPr/>
        </p:nvSpPr>
        <p:spPr>
          <a:xfrm>
            <a:off x="363931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900" b="1" i="0">
                <a:solidFill>
                  <a:srgbClr val="0F233D"/>
                </a:solidFill>
                <a:latin typeface="Arial"/>
              </a:rPr>
              <a:t>Directional slot</a:t>
            </a:r>
          </a:p>
        </p:txBody>
      </p:sp>
      <p:sp>
        <p:nvSpPr>
          <p:cNvPr id="16" name="TextBox 15"/>
          <p:cNvSpPr txBox="1"/>
          <p:nvPr/>
        </p:nvSpPr>
        <p:spPr>
          <a:xfrm>
            <a:off x="3639312" y="3017520"/>
            <a:ext cx="2157984" cy="56692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300" b="1" i="0">
                <a:solidFill>
                  <a:srgbClr val="0072B2"/>
                </a:solidFill>
                <a:latin typeface="Arial"/>
              </a:rPr>
              <a:t>+ AD-up or AD-down</a:t>
            </a:r>
          </a:p>
        </p:txBody>
      </p:sp>
      <p:sp>
        <p:nvSpPr>
          <p:cNvPr id="17" name="Rounded Rectangle 16"/>
          <p:cNvSpPr/>
          <p:nvPr/>
        </p:nvSpPr>
        <p:spPr>
          <a:xfrm>
            <a:off x="362102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767328" y="4087368"/>
            <a:ext cx="1901952" cy="6126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130" b="0" i="0">
                <a:solidFill>
                  <a:srgbClr val="4E5A68"/>
                </a:solidFill>
                <a:latin typeface="Arial"/>
              </a:rPr>
              <a:t>A planned query opportunity</a:t>
            </a:r>
          </a:p>
        </p:txBody>
      </p:sp>
      <p:sp>
        <p:nvSpPr>
          <p:cNvPr id="19" name="Rounded Rectangle 18"/>
          <p:cNvSpPr/>
          <p:nvPr/>
        </p:nvSpPr>
        <p:spPr>
          <a:xfrm>
            <a:off x="6272784" y="1371600"/>
            <a:ext cx="2587752" cy="4233672"/>
          </a:xfrm>
          <a:prstGeom prst="roundRect">
            <a:avLst/>
          </a:prstGeom>
          <a:solidFill>
            <a:srgbClr val="E4F4EE"/>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647395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7395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00" b="1" i="0">
                <a:solidFill>
                  <a:srgbClr val="FFFFFF"/>
                </a:solidFill>
                <a:latin typeface="Arial"/>
              </a:rPr>
              <a:t>3</a:t>
            </a:r>
          </a:p>
        </p:txBody>
      </p:sp>
      <p:sp>
        <p:nvSpPr>
          <p:cNvPr id="22" name="TextBox 21"/>
          <p:cNvSpPr txBox="1"/>
          <p:nvPr/>
        </p:nvSpPr>
        <p:spPr>
          <a:xfrm>
            <a:off x="647395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900" b="1" i="0">
                <a:solidFill>
                  <a:srgbClr val="0F233D"/>
                </a:solidFill>
                <a:latin typeface="Arial"/>
              </a:rPr>
              <a:t>KDA run</a:t>
            </a:r>
          </a:p>
        </p:txBody>
      </p:sp>
      <p:sp>
        <p:nvSpPr>
          <p:cNvPr id="23" name="TextBox 22"/>
          <p:cNvSpPr txBox="1"/>
          <p:nvPr/>
        </p:nvSpPr>
        <p:spPr>
          <a:xfrm>
            <a:off x="6473952" y="3017520"/>
            <a:ext cx="2157984" cy="56692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300" b="1" i="0">
                <a:solidFill>
                  <a:srgbClr val="0072B2"/>
                </a:solidFill>
                <a:latin typeface="Arial"/>
              </a:rPr>
              <a:t>validated completed call</a:t>
            </a:r>
          </a:p>
        </p:txBody>
      </p:sp>
      <p:sp>
        <p:nvSpPr>
          <p:cNvPr id="24" name="Rounded Rectangle 23"/>
          <p:cNvSpPr/>
          <p:nvPr/>
        </p:nvSpPr>
        <p:spPr>
          <a:xfrm>
            <a:off x="645566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601968" y="4192099"/>
            <a:ext cx="1901952" cy="403187"/>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lang="en-US" sz="1130" b="0" i="0" dirty="0">
                <a:solidFill>
                  <a:srgbClr val="4E5A68"/>
                </a:solidFill>
                <a:latin typeface="Arial"/>
              </a:rPr>
              <a:t>DEG contrast valid and</a:t>
            </a:r>
          </a:p>
          <a:p>
            <a:pPr algn="ctr">
              <a:lnSpc>
                <a:spcPct val="100000"/>
              </a:lnSpc>
              <a:spcBef>
                <a:spcPts val="0"/>
              </a:spcBef>
              <a:spcAft>
                <a:spcPts val="0"/>
              </a:spcAft>
            </a:pPr>
            <a:r>
              <a:rPr sz="1130" b="0" i="0" dirty="0">
                <a:solidFill>
                  <a:srgbClr val="4E5A68"/>
                </a:solidFill>
                <a:latin typeface="Arial"/>
              </a:rPr>
              <a:t>Effective query n ≥ 3</a:t>
            </a:r>
          </a:p>
        </p:txBody>
      </p:sp>
      <p:sp>
        <p:nvSpPr>
          <p:cNvPr id="26" name="Rounded Rectangle 25"/>
          <p:cNvSpPr/>
          <p:nvPr/>
        </p:nvSpPr>
        <p:spPr>
          <a:xfrm>
            <a:off x="9107424" y="1371600"/>
            <a:ext cx="2587752" cy="423367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9308592" y="1627632"/>
            <a:ext cx="438912" cy="438912"/>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30859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00" b="1" i="0">
                <a:solidFill>
                  <a:srgbClr val="FFFFFF"/>
                </a:solidFill>
                <a:latin typeface="Arial"/>
              </a:rPr>
              <a:t>4</a:t>
            </a:r>
          </a:p>
        </p:txBody>
      </p:sp>
      <p:sp>
        <p:nvSpPr>
          <p:cNvPr id="29" name="TextBox 28"/>
          <p:cNvSpPr txBox="1"/>
          <p:nvPr/>
        </p:nvSpPr>
        <p:spPr>
          <a:xfrm>
            <a:off x="930859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900" b="1" i="0">
                <a:solidFill>
                  <a:srgbClr val="0F233D"/>
                </a:solidFill>
                <a:latin typeface="Arial"/>
              </a:rPr>
              <a:t>Candidate unit</a:t>
            </a:r>
          </a:p>
        </p:txBody>
      </p:sp>
      <p:sp>
        <p:nvSpPr>
          <p:cNvPr id="30" name="TextBox 29"/>
          <p:cNvSpPr txBox="1"/>
          <p:nvPr/>
        </p:nvSpPr>
        <p:spPr>
          <a:xfrm>
            <a:off x="9308592" y="3017520"/>
            <a:ext cx="2157984" cy="56692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300" b="1" i="0">
                <a:solidFill>
                  <a:srgbClr val="E69F00"/>
                </a:solidFill>
                <a:latin typeface="Arial"/>
              </a:rPr>
              <a:t>gene × group × broad network</a:t>
            </a:r>
          </a:p>
        </p:txBody>
      </p:sp>
      <p:sp>
        <p:nvSpPr>
          <p:cNvPr id="31" name="Rounded Rectangle 30"/>
          <p:cNvSpPr/>
          <p:nvPr/>
        </p:nvSpPr>
        <p:spPr>
          <a:xfrm>
            <a:off x="929030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436608" y="4087368"/>
            <a:ext cx="1901952" cy="6126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130" b="0" i="0">
                <a:solidFill>
                  <a:srgbClr val="4E5A68"/>
                </a:solidFill>
                <a:latin typeface="Arial"/>
              </a:rPr>
              <a:t>One or more fine runs; either or both directions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54 fine cell types create 648 planned directional slots</a:t>
            </a:r>
          </a:p>
        </p:txBody>
      </p:sp>
      <p:sp>
        <p:nvSpPr>
          <p:cNvPr id="4" name="TextBox 3"/>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Up and down are two query directions from one signed DEG comparison—not two model fits.</a:t>
            </a:r>
          </a:p>
        </p:txBody>
      </p:sp>
      <p:sp>
        <p:nvSpPr>
          <p:cNvPr id="5" name="Rounded Rectangle 4"/>
          <p:cNvSpPr/>
          <p:nvPr/>
        </p:nvSpPr>
        <p:spPr>
          <a:xfrm>
            <a:off x="621792" y="1344168"/>
            <a:ext cx="3346704" cy="1207008"/>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41248" y="1591056"/>
            <a:ext cx="2907792" cy="283464"/>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900" b="1" i="0">
                <a:solidFill>
                  <a:srgbClr val="0F233D"/>
                </a:solidFill>
                <a:latin typeface="Arial"/>
              </a:rPr>
              <a:t>54 fine cell types</a:t>
            </a:r>
          </a:p>
        </p:txBody>
      </p:sp>
      <p:sp>
        <p:nvSpPr>
          <p:cNvPr id="7" name="TextBox 6"/>
          <p:cNvSpPr txBox="1"/>
          <p:nvPr/>
        </p:nvSpPr>
        <p:spPr>
          <a:xfrm>
            <a:off x="841248" y="1993392"/>
            <a:ext cx="2907792" cy="246221"/>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240" b="1" i="0" dirty="0">
                <a:solidFill>
                  <a:srgbClr val="0072B2"/>
                </a:solidFill>
                <a:latin typeface="Arial"/>
              </a:rPr>
              <a:t>× 6 sex/APOE groups = 324 </a:t>
            </a:r>
            <a:r>
              <a:rPr lang="en-US" sz="1240" b="1" i="0" dirty="0">
                <a:solidFill>
                  <a:srgbClr val="0072B2"/>
                </a:solidFill>
                <a:latin typeface="Arial"/>
              </a:rPr>
              <a:t>contrasts</a:t>
            </a:r>
            <a:endParaRPr sz="1240" b="1" i="0" dirty="0">
              <a:solidFill>
                <a:srgbClr val="0072B2"/>
              </a:solidFill>
              <a:latin typeface="Arial"/>
            </a:endParaRPr>
          </a:p>
        </p:txBody>
      </p:sp>
      <p:sp>
        <p:nvSpPr>
          <p:cNvPr id="8" name="Rounded Rectangle 7"/>
          <p:cNvSpPr/>
          <p:nvPr/>
        </p:nvSpPr>
        <p:spPr>
          <a:xfrm>
            <a:off x="4315968" y="1344168"/>
            <a:ext cx="3529584" cy="1207008"/>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35424" y="1591056"/>
            <a:ext cx="3090672" cy="283464"/>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900" b="1" i="0">
                <a:solidFill>
                  <a:srgbClr val="0F233D"/>
                </a:solidFill>
                <a:latin typeface="Arial"/>
              </a:rPr>
              <a:t>324 signed results</a:t>
            </a:r>
          </a:p>
        </p:txBody>
      </p:sp>
      <p:sp>
        <p:nvSpPr>
          <p:cNvPr id="10" name="TextBox 9"/>
          <p:cNvSpPr txBox="1"/>
          <p:nvPr/>
        </p:nvSpPr>
        <p:spPr>
          <a:xfrm>
            <a:off x="4535424" y="1993392"/>
            <a:ext cx="3090672" cy="27432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240" b="1" i="0">
                <a:solidFill>
                  <a:srgbClr val="0072B2"/>
                </a:solidFill>
                <a:latin typeface="Arial"/>
              </a:rPr>
              <a:t>× up/down = 648 directional slots</a:t>
            </a:r>
          </a:p>
        </p:txBody>
      </p:sp>
      <p:sp>
        <p:nvSpPr>
          <p:cNvPr id="11" name="Rounded Rectangle 10"/>
          <p:cNvSpPr/>
          <p:nvPr/>
        </p:nvSpPr>
        <p:spPr>
          <a:xfrm>
            <a:off x="8193024" y="1344168"/>
            <a:ext cx="3364992" cy="1207008"/>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412480" y="1591056"/>
            <a:ext cx="2926080" cy="347788"/>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900" b="1" i="0" dirty="0">
                <a:solidFill>
                  <a:srgbClr val="0F233D"/>
                </a:solidFill>
                <a:latin typeface="Arial"/>
              </a:rPr>
              <a:t>295 </a:t>
            </a:r>
            <a:r>
              <a:rPr lang="en-US" sz="1900" b="1" dirty="0" err="1">
                <a:solidFill>
                  <a:srgbClr val="0F233D"/>
                </a:solidFill>
                <a:latin typeface="Arial"/>
              </a:rPr>
              <a:t>call_key_driver</a:t>
            </a:r>
            <a:r>
              <a:rPr sz="1900" b="1" i="0" dirty="0">
                <a:solidFill>
                  <a:srgbClr val="0F233D"/>
                </a:solidFill>
                <a:latin typeface="Arial"/>
              </a:rPr>
              <a:t> calls</a:t>
            </a:r>
          </a:p>
        </p:txBody>
      </p:sp>
      <p:sp>
        <p:nvSpPr>
          <p:cNvPr id="13" name="TextBox 12"/>
          <p:cNvSpPr txBox="1"/>
          <p:nvPr/>
        </p:nvSpPr>
        <p:spPr>
          <a:xfrm>
            <a:off x="8412480" y="1993392"/>
            <a:ext cx="2926080" cy="215444"/>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040" b="1" i="0" dirty="0">
                <a:solidFill>
                  <a:srgbClr val="009E73"/>
                </a:solidFill>
                <a:latin typeface="Arial"/>
              </a:rPr>
              <a:t>All valid</a:t>
            </a:r>
            <a:r>
              <a:rPr lang="en-US" sz="1040" b="1" i="0" dirty="0">
                <a:solidFill>
                  <a:srgbClr val="009E73"/>
                </a:solidFill>
                <a:latin typeface="Arial"/>
              </a:rPr>
              <a:t> source and</a:t>
            </a:r>
            <a:r>
              <a:rPr sz="1040" b="1" i="0" dirty="0">
                <a:solidFill>
                  <a:srgbClr val="009E73"/>
                </a:solidFill>
                <a:latin typeface="Arial"/>
              </a:rPr>
              <a:t> queries ≥3</a:t>
            </a:r>
          </a:p>
        </p:txBody>
      </p:sp>
      <p:sp>
        <p:nvSpPr>
          <p:cNvPr id="14" name="Rectangle 13"/>
          <p:cNvSpPr/>
          <p:nvPr/>
        </p:nvSpPr>
        <p:spPr>
          <a:xfrm>
            <a:off x="1840696" y="2898648"/>
            <a:ext cx="5623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895560" y="2953512"/>
            <a:ext cx="5513832" cy="33832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0" b="1" i="0">
                <a:solidFill>
                  <a:srgbClr val="FFFFFF"/>
                </a:solidFill>
                <a:latin typeface="Arial"/>
              </a:rPr>
              <a:t>Mutually exclusive slot outcome</a:t>
            </a:r>
          </a:p>
        </p:txBody>
      </p:sp>
      <p:sp>
        <p:nvSpPr>
          <p:cNvPr id="16" name="Rectangle 15"/>
          <p:cNvSpPr/>
          <p:nvPr/>
        </p:nvSpPr>
        <p:spPr>
          <a:xfrm>
            <a:off x="7464256" y="2898648"/>
            <a:ext cx="109728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519120" y="2953512"/>
            <a:ext cx="987552" cy="33832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0" b="1" i="0">
                <a:solidFill>
                  <a:srgbClr val="FFFFFF"/>
                </a:solidFill>
                <a:latin typeface="Arial"/>
              </a:rPr>
              <a:t>Slots</a:t>
            </a:r>
          </a:p>
        </p:txBody>
      </p:sp>
      <p:sp>
        <p:nvSpPr>
          <p:cNvPr id="18" name="Rectangle 17"/>
          <p:cNvSpPr/>
          <p:nvPr/>
        </p:nvSpPr>
        <p:spPr>
          <a:xfrm>
            <a:off x="8561536" y="2898648"/>
            <a:ext cx="1874519"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616400" y="2953512"/>
            <a:ext cx="1764791" cy="33832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0" b="1" i="0">
                <a:solidFill>
                  <a:srgbClr val="FFFFFF"/>
                </a:solidFill>
                <a:latin typeface="Arial"/>
              </a:rPr>
              <a:t>KDA called?</a:t>
            </a:r>
          </a:p>
        </p:txBody>
      </p:sp>
      <p:sp>
        <p:nvSpPr>
          <p:cNvPr id="22" name="Rectangle 21"/>
          <p:cNvSpPr/>
          <p:nvPr/>
        </p:nvSpPr>
        <p:spPr>
          <a:xfrm>
            <a:off x="1840696" y="3328415"/>
            <a:ext cx="562356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895560" y="3460790"/>
            <a:ext cx="5513832" cy="20159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0" i="0" dirty="0">
                <a:solidFill>
                  <a:srgbClr val="1F2730"/>
                </a:solidFill>
                <a:latin typeface="Arial"/>
              </a:rPr>
              <a:t>Source DEG contrast not </a:t>
            </a:r>
            <a:r>
              <a:rPr lang="en-US" sz="950" b="0" i="0" dirty="0">
                <a:solidFill>
                  <a:srgbClr val="1F2730"/>
                </a:solidFill>
                <a:latin typeface="Arial"/>
              </a:rPr>
              <a:t>valid</a:t>
            </a:r>
            <a:endParaRPr sz="950" b="0" i="0" dirty="0">
              <a:solidFill>
                <a:srgbClr val="1F2730"/>
              </a:solidFill>
              <a:latin typeface="Arial"/>
            </a:endParaRPr>
          </a:p>
        </p:txBody>
      </p:sp>
      <p:sp>
        <p:nvSpPr>
          <p:cNvPr id="24" name="Rectangle 23"/>
          <p:cNvSpPr/>
          <p:nvPr/>
        </p:nvSpPr>
        <p:spPr>
          <a:xfrm>
            <a:off x="7464256" y="3328415"/>
            <a:ext cx="109728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519120" y="3374135"/>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0" i="0">
                <a:solidFill>
                  <a:srgbClr val="1F2730"/>
                </a:solidFill>
                <a:latin typeface="Arial"/>
              </a:rPr>
              <a:t>6</a:t>
            </a:r>
          </a:p>
        </p:txBody>
      </p:sp>
      <p:sp>
        <p:nvSpPr>
          <p:cNvPr id="26" name="Rectangle 25"/>
          <p:cNvSpPr/>
          <p:nvPr/>
        </p:nvSpPr>
        <p:spPr>
          <a:xfrm>
            <a:off x="8561536" y="3328415"/>
            <a:ext cx="1874519"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616400" y="3374135"/>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0" i="0">
                <a:solidFill>
                  <a:srgbClr val="1F2730"/>
                </a:solidFill>
                <a:latin typeface="Arial"/>
              </a:rPr>
              <a:t>No</a:t>
            </a:r>
          </a:p>
        </p:txBody>
      </p:sp>
      <p:sp>
        <p:nvSpPr>
          <p:cNvPr id="30" name="Rectangle 29"/>
          <p:cNvSpPr/>
          <p:nvPr/>
        </p:nvSpPr>
        <p:spPr>
          <a:xfrm>
            <a:off x="1840696" y="3776472"/>
            <a:ext cx="562356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895560" y="3908846"/>
            <a:ext cx="5513832" cy="20159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lang="en-US" sz="950" dirty="0">
                <a:solidFill>
                  <a:srgbClr val="1F2730"/>
                </a:solidFill>
                <a:latin typeface="Arial"/>
              </a:rPr>
              <a:t>E</a:t>
            </a:r>
            <a:r>
              <a:rPr sz="950" b="0" i="0" dirty="0">
                <a:solidFill>
                  <a:srgbClr val="1F2730"/>
                </a:solidFill>
                <a:latin typeface="Arial"/>
              </a:rPr>
              <a:t>ffective query </a:t>
            </a:r>
            <a:r>
              <a:rPr lang="en-US" sz="950" b="0" i="0" dirty="0">
                <a:solidFill>
                  <a:srgbClr val="1F2730"/>
                </a:solidFill>
                <a:latin typeface="Arial"/>
              </a:rPr>
              <a:t>empty</a:t>
            </a:r>
            <a:endParaRPr sz="950" b="0" i="0" dirty="0">
              <a:solidFill>
                <a:srgbClr val="1F2730"/>
              </a:solidFill>
              <a:latin typeface="Arial"/>
            </a:endParaRPr>
          </a:p>
        </p:txBody>
      </p:sp>
      <p:sp>
        <p:nvSpPr>
          <p:cNvPr id="32" name="Rectangle 31"/>
          <p:cNvSpPr/>
          <p:nvPr/>
        </p:nvSpPr>
        <p:spPr>
          <a:xfrm>
            <a:off x="7464256" y="3776472"/>
            <a:ext cx="109728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519120" y="3822191"/>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0" i="0" dirty="0">
                <a:solidFill>
                  <a:srgbClr val="1F2730"/>
                </a:solidFill>
                <a:latin typeface="Arial"/>
              </a:rPr>
              <a:t>246</a:t>
            </a:r>
          </a:p>
        </p:txBody>
      </p:sp>
      <p:sp>
        <p:nvSpPr>
          <p:cNvPr id="34" name="Rectangle 33"/>
          <p:cNvSpPr/>
          <p:nvPr/>
        </p:nvSpPr>
        <p:spPr>
          <a:xfrm>
            <a:off x="8561536" y="3776472"/>
            <a:ext cx="1874519"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616400" y="3822191"/>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0" i="0">
                <a:solidFill>
                  <a:srgbClr val="1F2730"/>
                </a:solidFill>
                <a:latin typeface="Arial"/>
              </a:rPr>
              <a:t>No</a:t>
            </a:r>
          </a:p>
        </p:txBody>
      </p:sp>
      <p:sp>
        <p:nvSpPr>
          <p:cNvPr id="38" name="Rectangle 37"/>
          <p:cNvSpPr/>
          <p:nvPr/>
        </p:nvSpPr>
        <p:spPr>
          <a:xfrm>
            <a:off x="1840696" y="4224527"/>
            <a:ext cx="562356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895560" y="4270247"/>
            <a:ext cx="5513832"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0" i="0">
                <a:solidFill>
                  <a:srgbClr val="1F2730"/>
                </a:solidFill>
                <a:latin typeface="Arial"/>
              </a:rPr>
              <a:t>Effective query 1–2</a:t>
            </a:r>
          </a:p>
        </p:txBody>
      </p:sp>
      <p:sp>
        <p:nvSpPr>
          <p:cNvPr id="40" name="Rectangle 39"/>
          <p:cNvSpPr/>
          <p:nvPr/>
        </p:nvSpPr>
        <p:spPr>
          <a:xfrm>
            <a:off x="7464256" y="4224527"/>
            <a:ext cx="109728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519120" y="4270247"/>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0" i="0">
                <a:solidFill>
                  <a:srgbClr val="1F2730"/>
                </a:solidFill>
                <a:latin typeface="Arial"/>
              </a:rPr>
              <a:t>101</a:t>
            </a:r>
          </a:p>
        </p:txBody>
      </p:sp>
      <p:sp>
        <p:nvSpPr>
          <p:cNvPr id="42" name="Rectangle 41"/>
          <p:cNvSpPr/>
          <p:nvPr/>
        </p:nvSpPr>
        <p:spPr>
          <a:xfrm>
            <a:off x="8561536" y="4224527"/>
            <a:ext cx="1874519"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616400" y="4270247"/>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0" i="0">
                <a:solidFill>
                  <a:srgbClr val="1F2730"/>
                </a:solidFill>
                <a:latin typeface="Arial"/>
              </a:rPr>
              <a:t>No</a:t>
            </a:r>
          </a:p>
        </p:txBody>
      </p:sp>
      <p:sp>
        <p:nvSpPr>
          <p:cNvPr id="46" name="Rectangle 45"/>
          <p:cNvSpPr/>
          <p:nvPr/>
        </p:nvSpPr>
        <p:spPr>
          <a:xfrm>
            <a:off x="1840696" y="4672583"/>
            <a:ext cx="562356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1895560" y="4718303"/>
            <a:ext cx="5513832"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0" i="0">
                <a:solidFill>
                  <a:srgbClr val="1F2730"/>
                </a:solidFill>
                <a:latin typeface="Arial"/>
              </a:rPr>
              <a:t>Effective query 3–9</a:t>
            </a:r>
          </a:p>
        </p:txBody>
      </p:sp>
      <p:sp>
        <p:nvSpPr>
          <p:cNvPr id="48" name="Rectangle 47"/>
          <p:cNvSpPr/>
          <p:nvPr/>
        </p:nvSpPr>
        <p:spPr>
          <a:xfrm>
            <a:off x="7464256" y="4672583"/>
            <a:ext cx="109728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7519120" y="4804958"/>
            <a:ext cx="987552" cy="20159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lang="en-US" sz="950" b="0" i="0" dirty="0">
                <a:solidFill>
                  <a:srgbClr val="1F2730"/>
                </a:solidFill>
                <a:latin typeface="Arial"/>
              </a:rPr>
              <a:t>295</a:t>
            </a:r>
            <a:endParaRPr sz="950" b="0" i="0" dirty="0">
              <a:solidFill>
                <a:srgbClr val="1F2730"/>
              </a:solidFill>
              <a:latin typeface="Arial"/>
            </a:endParaRPr>
          </a:p>
        </p:txBody>
      </p:sp>
      <p:sp>
        <p:nvSpPr>
          <p:cNvPr id="50" name="Rectangle 49"/>
          <p:cNvSpPr/>
          <p:nvPr/>
        </p:nvSpPr>
        <p:spPr>
          <a:xfrm>
            <a:off x="8561536" y="4672583"/>
            <a:ext cx="1874519"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616400" y="4718303"/>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0" i="0" dirty="0">
                <a:solidFill>
                  <a:srgbClr val="1F2730"/>
                </a:solidFill>
                <a:latin typeface="Arial"/>
              </a:rPr>
              <a:t>Yes</a:t>
            </a:r>
          </a:p>
        </p:txBody>
      </p:sp>
      <p:sp>
        <p:nvSpPr>
          <p:cNvPr id="62" name="Rectangle 61"/>
          <p:cNvSpPr/>
          <p:nvPr/>
        </p:nvSpPr>
        <p:spPr>
          <a:xfrm>
            <a:off x="1840696" y="5128754"/>
            <a:ext cx="5623560"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895560" y="5174474"/>
            <a:ext cx="5513832"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1" i="0">
                <a:solidFill>
                  <a:srgbClr val="1F2730"/>
                </a:solidFill>
                <a:latin typeface="Arial"/>
              </a:rPr>
              <a:t>TOTAL</a:t>
            </a:r>
          </a:p>
        </p:txBody>
      </p:sp>
      <p:sp>
        <p:nvSpPr>
          <p:cNvPr id="64" name="Rectangle 63"/>
          <p:cNvSpPr/>
          <p:nvPr/>
        </p:nvSpPr>
        <p:spPr>
          <a:xfrm>
            <a:off x="7464256" y="5128754"/>
            <a:ext cx="1097280"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7519120" y="5174474"/>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1" i="0">
                <a:solidFill>
                  <a:srgbClr val="1F2730"/>
                </a:solidFill>
                <a:latin typeface="Arial"/>
              </a:rPr>
              <a:t>648</a:t>
            </a:r>
          </a:p>
        </p:txBody>
      </p:sp>
      <p:sp>
        <p:nvSpPr>
          <p:cNvPr id="66" name="Rectangle 65"/>
          <p:cNvSpPr/>
          <p:nvPr/>
        </p:nvSpPr>
        <p:spPr>
          <a:xfrm>
            <a:off x="8561536" y="5128754"/>
            <a:ext cx="1874519"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8616400" y="5174474"/>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1" i="0">
                <a:solidFill>
                  <a:srgbClr val="1F2730"/>
                </a:solidFill>
                <a:latin typeface="Arial"/>
              </a:rPr>
              <a:t>295 calls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p:cNvSpPr txBox="1"/>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pPr>
            <a:r>
              <a:rPr lang="en-US" sz="2100" b="1" dirty="0">
                <a:solidFill>
                  <a:srgbClr val="0F233D"/>
                </a:solidFill>
                <a:latin typeface="Arial"/>
              </a:rPr>
              <a:t>S</a:t>
            </a:r>
            <a:r>
              <a:rPr sz="2100" b="1" i="0" dirty="0">
                <a:solidFill>
                  <a:srgbClr val="0F233D"/>
                </a:solidFill>
                <a:latin typeface="Arial"/>
              </a:rPr>
              <a:t>ource validity and query size decide whether KDA is called</a:t>
            </a:r>
          </a:p>
        </p:txBody>
      </p:sp>
      <p:sp>
        <p:nvSpPr>
          <p:cNvPr id="5" name="Rounded Rectangle 4"/>
          <p:cNvSpPr/>
          <p:nvPr/>
        </p:nvSpPr>
        <p:spPr>
          <a:xfrm>
            <a:off x="603504" y="1344168"/>
            <a:ext cx="4663440" cy="44805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68680" y="164592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14983" y="1618488"/>
            <a:ext cx="3950208"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One canonical query-size gate</a:t>
            </a:r>
          </a:p>
        </p:txBody>
      </p:sp>
      <p:sp>
        <p:nvSpPr>
          <p:cNvPr id="8" name="Rounded Rectangle 7"/>
          <p:cNvSpPr/>
          <p:nvPr/>
        </p:nvSpPr>
        <p:spPr>
          <a:xfrm>
            <a:off x="868680" y="2112264"/>
            <a:ext cx="1847088" cy="1024128"/>
          </a:xfrm>
          <a:prstGeom prst="roundRect">
            <a:avLst/>
          </a:prstGeom>
          <a:solidFill>
            <a:srgbClr val="E4F0F8"/>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14983" y="2203704"/>
            <a:ext cx="1554480"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72B2"/>
                </a:solidFill>
                <a:latin typeface="Arial"/>
              </a:rPr>
              <a:t>≥3</a:t>
            </a:r>
          </a:p>
        </p:txBody>
      </p:sp>
      <p:sp>
        <p:nvSpPr>
          <p:cNvPr id="11" name="Rounded Rectangle 10"/>
          <p:cNvSpPr/>
          <p:nvPr/>
        </p:nvSpPr>
        <p:spPr>
          <a:xfrm>
            <a:off x="2926080" y="2112264"/>
            <a:ext cx="1847088" cy="1024128"/>
          </a:xfrm>
          <a:prstGeom prst="roundRect">
            <a:avLst/>
          </a:prstGeom>
          <a:solidFill>
            <a:srgbClr val="E4F4EE"/>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072384" y="2203704"/>
            <a:ext cx="1554480" cy="4401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lang="en-US" sz="2500" b="1" i="0" dirty="0">
                <a:solidFill>
                  <a:srgbClr val="00684D"/>
                </a:solidFill>
                <a:latin typeface="Arial"/>
              </a:rPr>
              <a:t>295</a:t>
            </a:r>
            <a:endParaRPr sz="2500" b="1" i="0" dirty="0">
              <a:solidFill>
                <a:srgbClr val="00684D"/>
              </a:solidFill>
              <a:latin typeface="Arial"/>
            </a:endParaRPr>
          </a:p>
        </p:txBody>
      </p:sp>
      <p:sp>
        <p:nvSpPr>
          <p:cNvPr id="13" name="TextBox 12"/>
          <p:cNvSpPr txBox="1"/>
          <p:nvPr/>
        </p:nvSpPr>
        <p:spPr>
          <a:xfrm>
            <a:off x="3072384" y="2660904"/>
            <a:ext cx="1554480" cy="326243"/>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80" b="1" i="0" dirty="0">
                <a:solidFill>
                  <a:srgbClr val="4E5A68"/>
                </a:solidFill>
                <a:latin typeface="Arial"/>
              </a:rPr>
              <a:t>included runs with query n</a:t>
            </a:r>
            <a:r>
              <a:rPr lang="en-US" sz="880" b="1" i="0" dirty="0">
                <a:solidFill>
                  <a:srgbClr val="4E5A68"/>
                </a:solidFill>
                <a:latin typeface="Arial"/>
              </a:rPr>
              <a:t>&gt;</a:t>
            </a:r>
            <a:r>
              <a:rPr sz="880" b="1" i="0" dirty="0">
                <a:solidFill>
                  <a:srgbClr val="4E5A68"/>
                </a:solidFill>
                <a:latin typeface="Arial"/>
              </a:rPr>
              <a:t>=3</a:t>
            </a:r>
          </a:p>
        </p:txBody>
      </p:sp>
      <p:sp>
        <p:nvSpPr>
          <p:cNvPr id="14" name="Oval 13"/>
          <p:cNvSpPr/>
          <p:nvPr/>
        </p:nvSpPr>
        <p:spPr>
          <a:xfrm>
            <a:off x="877824" y="362102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51560" y="3493008"/>
            <a:ext cx="3867911" cy="60350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0" i="0">
                <a:solidFill>
                  <a:srgbClr val="1F2730"/>
                </a:solidFill>
                <a:latin typeface="Arial"/>
              </a:rPr>
              <a:t>All 295 validated completed calls enter the aggregate.</a:t>
            </a:r>
          </a:p>
        </p:txBody>
      </p:sp>
      <p:sp>
        <p:nvSpPr>
          <p:cNvPr id="16" name="Oval 15"/>
          <p:cNvSpPr/>
          <p:nvPr/>
        </p:nvSpPr>
        <p:spPr>
          <a:xfrm>
            <a:off x="877824" y="4224527"/>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51560" y="4096511"/>
            <a:ext cx="3867911" cy="2262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0" i="0" dirty="0">
                <a:solidFill>
                  <a:srgbClr val="1F2730"/>
                </a:solidFill>
                <a:latin typeface="Arial"/>
              </a:rPr>
              <a:t>That includes </a:t>
            </a:r>
            <a:r>
              <a:rPr lang="en-US" sz="1110" b="0" i="0" dirty="0">
                <a:solidFill>
                  <a:srgbClr val="1F2730"/>
                </a:solidFill>
                <a:latin typeface="Arial"/>
              </a:rPr>
              <a:t>295</a:t>
            </a:r>
            <a:r>
              <a:rPr sz="1110" b="0" i="0" dirty="0">
                <a:solidFill>
                  <a:srgbClr val="1F2730"/>
                </a:solidFill>
                <a:latin typeface="Arial"/>
              </a:rPr>
              <a:t> ≥</a:t>
            </a:r>
            <a:r>
              <a:rPr lang="en-US" sz="1110" b="0" i="0" dirty="0">
                <a:solidFill>
                  <a:srgbClr val="1F2730"/>
                </a:solidFill>
                <a:latin typeface="Arial"/>
              </a:rPr>
              <a:t>3</a:t>
            </a:r>
            <a:r>
              <a:rPr sz="1110" b="0" i="0" dirty="0">
                <a:solidFill>
                  <a:srgbClr val="1F2730"/>
                </a:solidFill>
                <a:latin typeface="Arial"/>
              </a:rPr>
              <a:t>.</a:t>
            </a:r>
          </a:p>
        </p:txBody>
      </p:sp>
      <p:sp>
        <p:nvSpPr>
          <p:cNvPr id="18" name="Oval 17"/>
          <p:cNvSpPr/>
          <p:nvPr/>
        </p:nvSpPr>
        <p:spPr>
          <a:xfrm>
            <a:off x="877824" y="4828031"/>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51560" y="4700016"/>
            <a:ext cx="3867911" cy="60350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0" i="0">
                <a:solidFill>
                  <a:srgbClr val="1F2730"/>
                </a:solidFill>
                <a:latin typeface="Arial"/>
              </a:rPr>
              <a:t>74 completed calls returned no original q≤0.05 gene; they still contribute complete evidence.</a:t>
            </a:r>
          </a:p>
        </p:txBody>
      </p:sp>
      <p:sp>
        <p:nvSpPr>
          <p:cNvPr id="20" name="Rounded Rectangle 19"/>
          <p:cNvSpPr/>
          <p:nvPr/>
        </p:nvSpPr>
        <p:spPr>
          <a:xfrm>
            <a:off x="5532120" y="1344168"/>
            <a:ext cx="6035040" cy="4480560"/>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824728" y="1645920"/>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971032" y="1618488"/>
            <a:ext cx="5294376" cy="28931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dirty="0">
                <a:solidFill>
                  <a:srgbClr val="0F233D"/>
                </a:solidFill>
                <a:latin typeface="Arial"/>
              </a:rPr>
              <a:t>What ‘source contrast not </a:t>
            </a:r>
            <a:r>
              <a:rPr lang="en-US" sz="1520" b="1" i="0" dirty="0">
                <a:solidFill>
                  <a:srgbClr val="0F233D"/>
                </a:solidFill>
                <a:latin typeface="Arial"/>
              </a:rPr>
              <a:t>valid</a:t>
            </a:r>
            <a:r>
              <a:rPr sz="1520" b="1" i="0" dirty="0">
                <a:solidFill>
                  <a:srgbClr val="0F233D"/>
                </a:solidFill>
                <a:latin typeface="Arial"/>
              </a:rPr>
              <a:t>’ means</a:t>
            </a:r>
          </a:p>
        </p:txBody>
      </p:sp>
      <p:sp>
        <p:nvSpPr>
          <p:cNvPr id="23" name="TextBox 22"/>
          <p:cNvSpPr txBox="1"/>
          <p:nvPr/>
        </p:nvSpPr>
        <p:spPr>
          <a:xfrm>
            <a:off x="5843016" y="2148840"/>
            <a:ext cx="5330952" cy="486287"/>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1" i="0" dirty="0">
                <a:solidFill>
                  <a:srgbClr val="0F233D"/>
                </a:solidFill>
                <a:latin typeface="Arial"/>
              </a:rPr>
              <a:t>The upstream MAST comparison could not be fitted because one arm had fewer than </a:t>
            </a:r>
            <a:r>
              <a:rPr sz="1400" b="1" i="0" dirty="0">
                <a:solidFill>
                  <a:srgbClr val="FF0000"/>
                </a:solidFill>
                <a:latin typeface="Arial"/>
              </a:rPr>
              <a:t>three</a:t>
            </a:r>
            <a:r>
              <a:rPr sz="1400" b="1" i="0" dirty="0">
                <a:solidFill>
                  <a:srgbClr val="0F233D"/>
                </a:solidFill>
                <a:latin typeface="Arial"/>
              </a:rPr>
              <a:t> cells.</a:t>
            </a:r>
          </a:p>
        </p:txBody>
      </p:sp>
      <p:sp>
        <p:nvSpPr>
          <p:cNvPr id="24" name="Rectangle 23"/>
          <p:cNvSpPr/>
          <p:nvPr/>
        </p:nvSpPr>
        <p:spPr>
          <a:xfrm>
            <a:off x="5843016" y="2898648"/>
            <a:ext cx="233172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897879" y="2953512"/>
            <a:ext cx="2221991" cy="33832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40" b="1" i="0">
                <a:solidFill>
                  <a:srgbClr val="FFFFFF"/>
                </a:solidFill>
                <a:latin typeface="Arial"/>
              </a:rPr>
              <a:t>Fine cell type</a:t>
            </a:r>
          </a:p>
        </p:txBody>
      </p:sp>
      <p:sp>
        <p:nvSpPr>
          <p:cNvPr id="26" name="Rectangle 25"/>
          <p:cNvSpPr/>
          <p:nvPr/>
        </p:nvSpPr>
        <p:spPr>
          <a:xfrm>
            <a:off x="8174736" y="2898648"/>
            <a:ext cx="91440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229600" y="2953512"/>
            <a:ext cx="804672" cy="33832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40" b="1" i="0">
                <a:solidFill>
                  <a:srgbClr val="FFFFFF"/>
                </a:solidFill>
                <a:latin typeface="Arial"/>
              </a:rPr>
              <a:t>Group</a:t>
            </a:r>
          </a:p>
        </p:txBody>
      </p:sp>
      <p:sp>
        <p:nvSpPr>
          <p:cNvPr id="28" name="Rectangle 27"/>
          <p:cNvSpPr/>
          <p:nvPr/>
        </p:nvSpPr>
        <p:spPr>
          <a:xfrm>
            <a:off x="9089136" y="2898648"/>
            <a:ext cx="1051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144000" y="2953512"/>
            <a:ext cx="941831" cy="33832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40" b="1" i="0">
                <a:solidFill>
                  <a:srgbClr val="FFFFFF"/>
                </a:solidFill>
                <a:latin typeface="Arial"/>
              </a:rPr>
              <a:t>AD cells</a:t>
            </a:r>
          </a:p>
        </p:txBody>
      </p:sp>
      <p:sp>
        <p:nvSpPr>
          <p:cNvPr id="30" name="Rectangle 29"/>
          <p:cNvSpPr/>
          <p:nvPr/>
        </p:nvSpPr>
        <p:spPr>
          <a:xfrm>
            <a:off x="10140696" y="2898648"/>
            <a:ext cx="1051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0195560" y="2953512"/>
            <a:ext cx="941831" cy="33832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40" b="1" i="0">
                <a:solidFill>
                  <a:srgbClr val="FFFFFF"/>
                </a:solidFill>
                <a:latin typeface="Arial"/>
              </a:rPr>
              <a:t>NCI cells</a:t>
            </a:r>
          </a:p>
        </p:txBody>
      </p:sp>
      <p:sp>
        <p:nvSpPr>
          <p:cNvPr id="32" name="Rectangle 31"/>
          <p:cNvSpPr/>
          <p:nvPr/>
        </p:nvSpPr>
        <p:spPr>
          <a:xfrm>
            <a:off x="5843016" y="3328415"/>
            <a:ext cx="233172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897879" y="3374135"/>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80" b="0" i="0">
                <a:solidFill>
                  <a:srgbClr val="1F2730"/>
                </a:solidFill>
                <a:latin typeface="Arial"/>
              </a:rPr>
              <a:t>Fib SLC4A4</a:t>
            </a:r>
          </a:p>
        </p:txBody>
      </p:sp>
      <p:sp>
        <p:nvSpPr>
          <p:cNvPr id="34" name="Rectangle 33"/>
          <p:cNvSpPr/>
          <p:nvPr/>
        </p:nvSpPr>
        <p:spPr>
          <a:xfrm>
            <a:off x="8174736" y="3328415"/>
            <a:ext cx="91440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229600" y="3374135"/>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80" b="0" i="0">
                <a:solidFill>
                  <a:srgbClr val="1F2730"/>
                </a:solidFill>
                <a:latin typeface="Arial"/>
              </a:rPr>
              <a:t>M_e2</a:t>
            </a:r>
          </a:p>
        </p:txBody>
      </p:sp>
      <p:sp>
        <p:nvSpPr>
          <p:cNvPr id="36" name="Rectangle 35"/>
          <p:cNvSpPr/>
          <p:nvPr/>
        </p:nvSpPr>
        <p:spPr>
          <a:xfrm>
            <a:off x="9089136" y="3328415"/>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144000" y="33741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80" b="0" i="0">
                <a:solidFill>
                  <a:srgbClr val="1F2730"/>
                </a:solidFill>
                <a:latin typeface="Arial"/>
              </a:rPr>
              <a:t>0</a:t>
            </a:r>
          </a:p>
        </p:txBody>
      </p:sp>
      <p:sp>
        <p:nvSpPr>
          <p:cNvPr id="38" name="Rectangle 37"/>
          <p:cNvSpPr/>
          <p:nvPr/>
        </p:nvSpPr>
        <p:spPr>
          <a:xfrm>
            <a:off x="10140696" y="3328415"/>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0195560" y="33741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80" b="0" i="0">
                <a:solidFill>
                  <a:srgbClr val="1F2730"/>
                </a:solidFill>
                <a:latin typeface="Arial"/>
              </a:rPr>
              <a:t>11</a:t>
            </a:r>
          </a:p>
        </p:txBody>
      </p:sp>
      <p:sp>
        <p:nvSpPr>
          <p:cNvPr id="40" name="Rectangle 39"/>
          <p:cNvSpPr/>
          <p:nvPr/>
        </p:nvSpPr>
        <p:spPr>
          <a:xfrm>
            <a:off x="5843016" y="3785615"/>
            <a:ext cx="233172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5897879" y="3831335"/>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80" b="0" i="0">
                <a:solidFill>
                  <a:srgbClr val="1F2730"/>
                </a:solidFill>
                <a:latin typeface="Arial"/>
              </a:rPr>
              <a:t>CAMs</a:t>
            </a:r>
          </a:p>
        </p:txBody>
      </p:sp>
      <p:sp>
        <p:nvSpPr>
          <p:cNvPr id="42" name="Rectangle 41"/>
          <p:cNvSpPr/>
          <p:nvPr/>
        </p:nvSpPr>
        <p:spPr>
          <a:xfrm>
            <a:off x="8174736" y="3785615"/>
            <a:ext cx="91440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229600" y="3831335"/>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80" b="0" i="0">
                <a:solidFill>
                  <a:srgbClr val="1F2730"/>
                </a:solidFill>
                <a:latin typeface="Arial"/>
              </a:rPr>
              <a:t>M_e2</a:t>
            </a:r>
          </a:p>
        </p:txBody>
      </p:sp>
      <p:sp>
        <p:nvSpPr>
          <p:cNvPr id="44" name="Rectangle 43"/>
          <p:cNvSpPr/>
          <p:nvPr/>
        </p:nvSpPr>
        <p:spPr>
          <a:xfrm>
            <a:off x="9089136" y="3785615"/>
            <a:ext cx="105156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9144000" y="38313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80" b="0" i="0">
                <a:solidFill>
                  <a:srgbClr val="1F2730"/>
                </a:solidFill>
                <a:latin typeface="Arial"/>
              </a:rPr>
              <a:t>45</a:t>
            </a:r>
          </a:p>
        </p:txBody>
      </p:sp>
      <p:sp>
        <p:nvSpPr>
          <p:cNvPr id="46" name="Rectangle 45"/>
          <p:cNvSpPr/>
          <p:nvPr/>
        </p:nvSpPr>
        <p:spPr>
          <a:xfrm>
            <a:off x="10140696" y="3785615"/>
            <a:ext cx="105156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10195560" y="38313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80" b="0" i="0">
                <a:solidFill>
                  <a:srgbClr val="1F2730"/>
                </a:solidFill>
                <a:latin typeface="Arial"/>
              </a:rPr>
              <a:t>1</a:t>
            </a:r>
          </a:p>
        </p:txBody>
      </p:sp>
      <p:sp>
        <p:nvSpPr>
          <p:cNvPr id="48" name="Rectangle 47"/>
          <p:cNvSpPr/>
          <p:nvPr/>
        </p:nvSpPr>
        <p:spPr>
          <a:xfrm>
            <a:off x="5843016" y="4242816"/>
            <a:ext cx="233172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897879" y="4288536"/>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80" b="0" i="0">
                <a:solidFill>
                  <a:srgbClr val="1F2730"/>
                </a:solidFill>
                <a:latin typeface="Arial"/>
              </a:rPr>
              <a:t>Mic MKI67</a:t>
            </a:r>
          </a:p>
        </p:txBody>
      </p:sp>
      <p:sp>
        <p:nvSpPr>
          <p:cNvPr id="50" name="Rectangle 49"/>
          <p:cNvSpPr/>
          <p:nvPr/>
        </p:nvSpPr>
        <p:spPr>
          <a:xfrm>
            <a:off x="8174736" y="4242816"/>
            <a:ext cx="91440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229600" y="4288536"/>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80" b="0" i="0">
                <a:solidFill>
                  <a:srgbClr val="1F2730"/>
                </a:solidFill>
                <a:latin typeface="Arial"/>
              </a:rPr>
              <a:t>M_e2</a:t>
            </a:r>
          </a:p>
        </p:txBody>
      </p:sp>
      <p:sp>
        <p:nvSpPr>
          <p:cNvPr id="52" name="Rectangle 51"/>
          <p:cNvSpPr/>
          <p:nvPr/>
        </p:nvSpPr>
        <p:spPr>
          <a:xfrm>
            <a:off x="9089136" y="4242816"/>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9144000" y="4288536"/>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80" b="0" i="0">
                <a:solidFill>
                  <a:srgbClr val="1F2730"/>
                </a:solidFill>
                <a:latin typeface="Arial"/>
              </a:rPr>
              <a:t>2</a:t>
            </a:r>
          </a:p>
        </p:txBody>
      </p:sp>
      <p:sp>
        <p:nvSpPr>
          <p:cNvPr id="54" name="Rectangle 53"/>
          <p:cNvSpPr/>
          <p:nvPr/>
        </p:nvSpPr>
        <p:spPr>
          <a:xfrm>
            <a:off x="10140696" y="4242816"/>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10195560" y="4288536"/>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80" b="0" i="0">
                <a:solidFill>
                  <a:srgbClr val="1F2730"/>
                </a:solidFill>
                <a:latin typeface="Arial"/>
              </a:rPr>
              <a:t>9</a:t>
            </a:r>
          </a:p>
        </p:txBody>
      </p:sp>
      <p:sp>
        <p:nvSpPr>
          <p:cNvPr id="56" name="TextBox 55"/>
          <p:cNvSpPr txBox="1"/>
          <p:nvPr/>
        </p:nvSpPr>
        <p:spPr>
          <a:xfrm>
            <a:off x="5961888" y="4882896"/>
            <a:ext cx="5029200" cy="512064"/>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350" b="1" i="0">
                <a:solidFill>
                  <a:srgbClr val="D55E00"/>
                </a:solidFill>
                <a:latin typeface="Arial"/>
              </a:rPr>
              <a:t>3 unavailable comparisons × 2 directions = 6 unavailable slots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p:cNvSpPr txBox="1"/>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pPr>
            <a:r>
              <a:rPr lang="en-US" sz="2100" b="1" dirty="0">
                <a:solidFill>
                  <a:srgbClr val="0F233D"/>
                </a:solidFill>
                <a:latin typeface="Arial"/>
              </a:rPr>
              <a:t>M</a:t>
            </a:r>
            <a:r>
              <a:rPr sz="2100" b="1" i="0" dirty="0">
                <a:solidFill>
                  <a:srgbClr val="0F233D"/>
                </a:solidFill>
                <a:latin typeface="Arial"/>
              </a:rPr>
              <a:t>itochondrial query genes</a:t>
            </a:r>
          </a:p>
        </p:txBody>
      </p:sp>
      <p:sp>
        <p:nvSpPr>
          <p:cNvPr id="5" name="Rounded Rectangle 4"/>
          <p:cNvSpPr/>
          <p:nvPr/>
        </p:nvSpPr>
        <p:spPr>
          <a:xfrm>
            <a:off x="603504" y="1353312"/>
            <a:ext cx="3721608" cy="4526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59536" y="1655064"/>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39" y="1627632"/>
            <a:ext cx="3035808" cy="28931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dirty="0">
                <a:solidFill>
                  <a:srgbClr val="0F233D"/>
                </a:solidFill>
                <a:latin typeface="Arial"/>
              </a:rPr>
              <a:t>DEG rule</a:t>
            </a:r>
          </a:p>
        </p:txBody>
      </p:sp>
      <p:sp>
        <p:nvSpPr>
          <p:cNvPr id="8" name="Oval 7"/>
          <p:cNvSpPr/>
          <p:nvPr/>
        </p:nvSpPr>
        <p:spPr>
          <a:xfrm>
            <a:off x="859536" y="226771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33271" y="2139696"/>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40" b="0" i="0">
                <a:solidFill>
                  <a:srgbClr val="1F2730"/>
                </a:solidFill>
                <a:latin typeface="Arial"/>
              </a:rPr>
              <a:t>Detected in ≥10% of AD or NCI nuclei.</a:t>
            </a:r>
          </a:p>
        </p:txBody>
      </p:sp>
      <p:sp>
        <p:nvSpPr>
          <p:cNvPr id="10" name="Oval 9"/>
          <p:cNvSpPr/>
          <p:nvPr/>
        </p:nvSpPr>
        <p:spPr>
          <a:xfrm>
            <a:off x="859536" y="2834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33271" y="2706624"/>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40" b="0" i="0">
                <a:solidFill>
                  <a:srgbClr val="1F2730"/>
                </a:solidFill>
                <a:latin typeface="Arial"/>
              </a:rPr>
              <a:t>Within-contrast BH FDR &lt; 0.05.</a:t>
            </a:r>
          </a:p>
        </p:txBody>
      </p:sp>
      <p:sp>
        <p:nvSpPr>
          <p:cNvPr id="12" name="Oval 11"/>
          <p:cNvSpPr/>
          <p:nvPr/>
        </p:nvSpPr>
        <p:spPr>
          <a:xfrm>
            <a:off x="859536" y="340156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33271" y="3273552"/>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40" b="0" i="0">
                <a:solidFill>
                  <a:srgbClr val="1F2730"/>
                </a:solidFill>
                <a:latin typeface="Arial"/>
              </a:rPr>
              <a:t>|log₂ fold change| &gt; log₂(1.3) ≈ 0.379.</a:t>
            </a:r>
          </a:p>
        </p:txBody>
      </p:sp>
      <p:sp>
        <p:nvSpPr>
          <p:cNvPr id="14" name="Oval 13"/>
          <p:cNvSpPr/>
          <p:nvPr/>
        </p:nvSpPr>
        <p:spPr>
          <a:xfrm>
            <a:off x="859536" y="396849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33271" y="3840480"/>
            <a:ext cx="2990088" cy="437043"/>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40" b="0" i="0" dirty="0">
                <a:solidFill>
                  <a:srgbClr val="1F2730"/>
                </a:solidFill>
                <a:latin typeface="Arial"/>
              </a:rPr>
              <a:t>Positive and negative results </a:t>
            </a:r>
            <a:r>
              <a:rPr lang="en-US" sz="1240" b="0" i="0" dirty="0">
                <a:solidFill>
                  <a:srgbClr val="1F2730"/>
                </a:solidFill>
                <a:latin typeface="Arial"/>
              </a:rPr>
              <a:t>for</a:t>
            </a:r>
            <a:r>
              <a:rPr sz="1240" b="0" i="0" dirty="0">
                <a:solidFill>
                  <a:srgbClr val="1F2730"/>
                </a:solidFill>
                <a:latin typeface="Arial"/>
              </a:rPr>
              <a:t> AD-up and AD-down queries.</a:t>
            </a:r>
          </a:p>
        </p:txBody>
      </p:sp>
      <p:sp>
        <p:nvSpPr>
          <p:cNvPr id="16" name="Rounded Rectangle 15"/>
          <p:cNvSpPr/>
          <p:nvPr/>
        </p:nvSpPr>
        <p:spPr>
          <a:xfrm>
            <a:off x="859536" y="4709160"/>
            <a:ext cx="3145536" cy="786384"/>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42415" y="4910328"/>
            <a:ext cx="2788920" cy="40011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20" b="1" i="0" dirty="0">
                <a:solidFill>
                  <a:srgbClr val="0F233D"/>
                </a:solidFill>
                <a:latin typeface="Arial"/>
              </a:rPr>
              <a:t>Query = DEG</a:t>
            </a:r>
            <a:r>
              <a:rPr lang="en-US" sz="1120" b="1" i="0" dirty="0">
                <a:solidFill>
                  <a:srgbClr val="0F233D"/>
                </a:solidFill>
                <a:latin typeface="Arial"/>
              </a:rPr>
              <a:t> rule</a:t>
            </a:r>
            <a:r>
              <a:rPr sz="1120" b="1" i="0" dirty="0">
                <a:solidFill>
                  <a:srgbClr val="0F233D"/>
                </a:solidFill>
                <a:latin typeface="Arial"/>
              </a:rPr>
              <a:t> ∩ </a:t>
            </a:r>
            <a:r>
              <a:rPr sz="1120" b="1" i="0" dirty="0" err="1">
                <a:solidFill>
                  <a:srgbClr val="0F233D"/>
                </a:solidFill>
                <a:latin typeface="Arial"/>
              </a:rPr>
              <a:t>core_mito_protein</a:t>
            </a:r>
            <a:r>
              <a:rPr sz="1120" b="1" i="0" dirty="0">
                <a:solidFill>
                  <a:srgbClr val="0F233D"/>
                </a:solidFill>
                <a:latin typeface="Arial"/>
              </a:rPr>
              <a:t> ∩ requested direction</a:t>
            </a:r>
          </a:p>
        </p:txBody>
      </p:sp>
      <p:sp>
        <p:nvSpPr>
          <p:cNvPr id="18" name="Rounded Rectangle 17"/>
          <p:cNvSpPr/>
          <p:nvPr/>
        </p:nvSpPr>
        <p:spPr>
          <a:xfrm>
            <a:off x="4626864" y="1426464"/>
            <a:ext cx="2066543"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773168"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72B2"/>
                </a:solidFill>
                <a:latin typeface="Arial"/>
              </a:rPr>
              <a:t>2,864,117</a:t>
            </a:r>
          </a:p>
        </p:txBody>
      </p:sp>
      <p:sp>
        <p:nvSpPr>
          <p:cNvPr id="20" name="TextBox 19"/>
          <p:cNvSpPr txBox="1"/>
          <p:nvPr/>
        </p:nvSpPr>
        <p:spPr>
          <a:xfrm>
            <a:off x="4773168" y="1975104"/>
            <a:ext cx="1773935"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80" b="1" i="0">
                <a:solidFill>
                  <a:srgbClr val="4E5A68"/>
                </a:solidFill>
                <a:latin typeface="Arial"/>
              </a:rPr>
              <a:t>tested gene × comparison rows</a:t>
            </a:r>
          </a:p>
        </p:txBody>
      </p:sp>
      <p:sp>
        <p:nvSpPr>
          <p:cNvPr id="21" name="Rounded Rectangle 20"/>
          <p:cNvSpPr/>
          <p:nvPr/>
        </p:nvSpPr>
        <p:spPr>
          <a:xfrm>
            <a:off x="6858000" y="1426464"/>
            <a:ext cx="2066543" cy="12801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004304"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72B2"/>
                </a:solidFill>
                <a:latin typeface="Arial"/>
              </a:rPr>
              <a:t>118,297</a:t>
            </a:r>
          </a:p>
        </p:txBody>
      </p:sp>
      <p:sp>
        <p:nvSpPr>
          <p:cNvPr id="23" name="TextBox 22"/>
          <p:cNvSpPr txBox="1"/>
          <p:nvPr/>
        </p:nvSpPr>
        <p:spPr>
          <a:xfrm>
            <a:off x="7004304" y="1975104"/>
            <a:ext cx="1773935" cy="203133"/>
          </a:xfrm>
          <a:prstGeom prst="rect">
            <a:avLst/>
          </a:prstGeom>
          <a:noFill/>
        </p:spPr>
        <p:txBody>
          <a:bodyPr wrap="square" lIns="27432" tIns="27432" rIns="27432" bIns="27432" anchor="t">
            <a:spAutoFit/>
          </a:bodyPr>
          <a:lstStyle/>
          <a:p>
            <a:pPr algn="l">
              <a:lnSpc>
                <a:spcPct val="100000"/>
              </a:lnSpc>
              <a:spcBef>
                <a:spcPts val="0"/>
              </a:spcBef>
              <a:spcAft>
                <a:spcPts val="0"/>
              </a:spcAft>
            </a:pPr>
            <a:r>
              <a:rPr lang="en-US" sz="960" b="1" i="0" dirty="0">
                <a:solidFill>
                  <a:srgbClr val="4E5A68"/>
                </a:solidFill>
                <a:latin typeface="Arial"/>
              </a:rPr>
              <a:t>Passed </a:t>
            </a:r>
            <a:r>
              <a:rPr sz="960" b="1" i="0" dirty="0">
                <a:solidFill>
                  <a:srgbClr val="4E5A68"/>
                </a:solidFill>
                <a:latin typeface="Arial"/>
              </a:rPr>
              <a:t>DEG</a:t>
            </a:r>
          </a:p>
        </p:txBody>
      </p:sp>
      <p:sp>
        <p:nvSpPr>
          <p:cNvPr id="24" name="TextBox 23"/>
          <p:cNvSpPr txBox="1"/>
          <p:nvPr/>
        </p:nvSpPr>
        <p:spPr>
          <a:xfrm>
            <a:off x="7004304" y="2414016"/>
            <a:ext cx="1773935" cy="18288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780" b="0" i="0">
                <a:solidFill>
                  <a:srgbClr val="6C7988"/>
                </a:solidFill>
                <a:latin typeface="Arial"/>
              </a:rPr>
              <a:t>58,112 up • 60,185 down</a:t>
            </a:r>
          </a:p>
        </p:txBody>
      </p:sp>
      <p:sp>
        <p:nvSpPr>
          <p:cNvPr id="25" name="Rounded Rectangle 24"/>
          <p:cNvSpPr/>
          <p:nvPr/>
        </p:nvSpPr>
        <p:spPr>
          <a:xfrm>
            <a:off x="9089136" y="1426464"/>
            <a:ext cx="2066543" cy="12801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235440"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895600"/>
                </a:solidFill>
                <a:latin typeface="Arial"/>
              </a:rPr>
              <a:t>9,262</a:t>
            </a:r>
          </a:p>
        </p:txBody>
      </p:sp>
      <p:sp>
        <p:nvSpPr>
          <p:cNvPr id="27" name="TextBox 26"/>
          <p:cNvSpPr txBox="1"/>
          <p:nvPr/>
        </p:nvSpPr>
        <p:spPr>
          <a:xfrm>
            <a:off x="9235440" y="1975104"/>
            <a:ext cx="1773935" cy="203133"/>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dirty="0">
                <a:solidFill>
                  <a:srgbClr val="4E5A68"/>
                </a:solidFill>
                <a:latin typeface="Arial"/>
              </a:rPr>
              <a:t>core-MT query </a:t>
            </a:r>
            <a:r>
              <a:rPr lang="en-US" sz="960" b="1" i="0" dirty="0">
                <a:solidFill>
                  <a:srgbClr val="4E5A68"/>
                </a:solidFill>
                <a:latin typeface="Arial"/>
              </a:rPr>
              <a:t>genes</a:t>
            </a:r>
            <a:endParaRPr sz="960" b="1" i="0" dirty="0">
              <a:solidFill>
                <a:srgbClr val="4E5A68"/>
              </a:solidFill>
              <a:latin typeface="Arial"/>
            </a:endParaRPr>
          </a:p>
        </p:txBody>
      </p:sp>
      <p:sp>
        <p:nvSpPr>
          <p:cNvPr id="28" name="TextBox 27"/>
          <p:cNvSpPr txBox="1"/>
          <p:nvPr/>
        </p:nvSpPr>
        <p:spPr>
          <a:xfrm>
            <a:off x="9235440" y="2414016"/>
            <a:ext cx="1773935" cy="18288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780" b="0" i="0">
                <a:solidFill>
                  <a:srgbClr val="6C7988"/>
                </a:solidFill>
                <a:latin typeface="Arial"/>
              </a:rPr>
              <a:t>4,258 up • 5,004 down</a:t>
            </a:r>
          </a:p>
        </p:txBody>
      </p:sp>
      <p:sp>
        <p:nvSpPr>
          <p:cNvPr id="29" name="Rounded Rectangle 28"/>
          <p:cNvSpPr/>
          <p:nvPr/>
        </p:nvSpPr>
        <p:spPr>
          <a:xfrm>
            <a:off x="4626864" y="3017520"/>
            <a:ext cx="6528816" cy="2395728"/>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901184" y="3291840"/>
            <a:ext cx="3108960"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50" b="1" i="0">
                <a:solidFill>
                  <a:srgbClr val="009E73"/>
                </a:solidFill>
                <a:latin typeface="Arial"/>
              </a:rPr>
              <a:t>NETWORK-BACKGROUND INTERSECTION</a:t>
            </a:r>
          </a:p>
        </p:txBody>
      </p:sp>
      <p:sp>
        <p:nvSpPr>
          <p:cNvPr id="31" name="TextBox 30"/>
          <p:cNvSpPr txBox="1"/>
          <p:nvPr/>
        </p:nvSpPr>
        <p:spPr>
          <a:xfrm>
            <a:off x="4919472" y="3694176"/>
            <a:ext cx="5806440" cy="32470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750" b="1" i="0" dirty="0">
                <a:solidFill>
                  <a:srgbClr val="0F233D"/>
                </a:solidFill>
                <a:latin typeface="Arial"/>
              </a:rPr>
              <a:t>9,262 provisional query </a:t>
            </a:r>
            <a:r>
              <a:rPr lang="en-US" sz="1750" b="1" i="0" dirty="0">
                <a:solidFill>
                  <a:srgbClr val="0F233D"/>
                </a:solidFill>
                <a:latin typeface="Arial"/>
              </a:rPr>
              <a:t>genes</a:t>
            </a:r>
            <a:endParaRPr sz="1750" b="1" i="0" dirty="0">
              <a:solidFill>
                <a:srgbClr val="0F233D"/>
              </a:solidFill>
              <a:latin typeface="Arial"/>
            </a:endParaRPr>
          </a:p>
        </p:txBody>
      </p:sp>
      <p:sp>
        <p:nvSpPr>
          <p:cNvPr id="32" name="TextBox 31"/>
          <p:cNvSpPr txBox="1"/>
          <p:nvPr/>
        </p:nvSpPr>
        <p:spPr>
          <a:xfrm>
            <a:off x="4919472" y="4133087"/>
            <a:ext cx="5321808" cy="255455"/>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300" b="1" i="0" dirty="0">
                <a:solidFill>
                  <a:srgbClr val="D55E00"/>
                </a:solidFill>
                <a:latin typeface="Arial"/>
              </a:rPr>
              <a:t>− 1,329 absent from the </a:t>
            </a:r>
            <a:r>
              <a:rPr lang="en-US" sz="1300" b="1" dirty="0">
                <a:solidFill>
                  <a:srgbClr val="D55E00"/>
                </a:solidFill>
                <a:latin typeface="Arial"/>
              </a:rPr>
              <a:t>Bayesian network</a:t>
            </a:r>
            <a:endParaRPr sz="1300" b="1" i="0" dirty="0">
              <a:solidFill>
                <a:srgbClr val="D55E00"/>
              </a:solidFill>
              <a:latin typeface="Arial"/>
            </a:endParaRPr>
          </a:p>
        </p:txBody>
      </p:sp>
      <p:sp>
        <p:nvSpPr>
          <p:cNvPr id="33" name="TextBox 32"/>
          <p:cNvSpPr txBox="1"/>
          <p:nvPr/>
        </p:nvSpPr>
        <p:spPr>
          <a:xfrm>
            <a:off x="4919472" y="4626864"/>
            <a:ext cx="5806440" cy="332399"/>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800" b="1" i="0" dirty="0">
                <a:solidFill>
                  <a:srgbClr val="009E73"/>
                </a:solidFill>
                <a:latin typeface="Arial"/>
              </a:rPr>
              <a:t>= 7,933 query </a:t>
            </a:r>
            <a:r>
              <a:rPr lang="en-US" sz="1800" b="1" i="0" dirty="0">
                <a:solidFill>
                  <a:srgbClr val="009E73"/>
                </a:solidFill>
                <a:latin typeface="Arial"/>
              </a:rPr>
              <a:t>genes</a:t>
            </a:r>
            <a:endParaRPr sz="1800" b="1" i="0" dirty="0">
              <a:solidFill>
                <a:srgbClr val="009E73"/>
              </a:solidFill>
              <a:latin typeface="Arial"/>
            </a:endParaRPr>
          </a:p>
        </p:txBody>
      </p:sp>
      <p:sp>
        <p:nvSpPr>
          <p:cNvPr id="34" name="TextBox 33"/>
          <p:cNvSpPr txBox="1"/>
          <p:nvPr/>
        </p:nvSpPr>
        <p:spPr>
          <a:xfrm>
            <a:off x="4928616" y="5074920"/>
            <a:ext cx="5422392" cy="2286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40" b="0" i="0">
                <a:solidFill>
                  <a:srgbClr val="4E5A68"/>
                </a:solidFill>
                <a:latin typeface="Arial"/>
              </a:rPr>
              <a:t>Membership counts can repeat the same gene across contrasts and directions.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p:cNvSpPr txBox="1"/>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100" b="1" i="0" dirty="0">
                <a:solidFill>
                  <a:srgbClr val="0F233D"/>
                </a:solidFill>
                <a:latin typeface="Arial"/>
              </a:rPr>
              <a:t>Top-five: 149 non-MT entries across 32 categories</a:t>
            </a:r>
          </a:p>
        </p:txBody>
      </p:sp>
      <p:pic>
        <p:nvPicPr>
          <p:cNvPr id="5" name="Simple returned-only Phase 20 female and male panels showing up to five non-MT genes per sex/APOE by broad-cell category" descr="Simple returned-only Phase 20 female and male panels showing up to five non-MT genes per sex/APOE by broad-cell category"/>
          <p:cNvPicPr>
            <a:picLocks noChangeAspect="1"/>
          </p:cNvPicPr>
          <p:nvPr/>
        </p:nvPicPr>
        <p:blipFill>
          <a:blip r:embed="rId3"/>
          <a:stretch>
            <a:fillRect/>
          </a:stretch>
        </p:blipFill>
        <p:spPr>
          <a:xfrm>
            <a:off x="1527129" y="760631"/>
            <a:ext cx="9031602" cy="614550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RPS15 recurs across 12 returned-only categories</a:t>
            </a:r>
          </a:p>
        </p:txBody>
      </p:sp>
      <p:sp>
        <p:nvSpPr>
          <p:cNvPr id="4" name="TextBox 3"/>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Returned-only recurrence is descriptive across sex/APOE × broad-cell categories.</a:t>
            </a:r>
          </a:p>
        </p:txBody>
      </p:sp>
      <p:sp>
        <p:nvSpPr>
          <p:cNvPr id="5" name="Rounded Rectangle 4"/>
          <p:cNvSpPr/>
          <p:nvPr/>
        </p:nvSpPr>
        <p:spPr>
          <a:xfrm>
            <a:off x="429768" y="1161288"/>
            <a:ext cx="6547104" cy="49377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Simple returned-only Phase 20 bar chart of the twenty non-MT genes appearing in the most sex/APOE by broad-cell categories" descr="Simple returned-only Phase 20 bar chart of the twenty non-MT genes appearing in the most sex/APOE by broad-cell categories"/>
          <p:cNvPicPr>
            <a:picLocks noChangeAspect="1"/>
          </p:cNvPicPr>
          <p:nvPr/>
        </p:nvPicPr>
        <p:blipFill>
          <a:blip r:embed="rId3"/>
          <a:stretch>
            <a:fillRect/>
          </a:stretch>
        </p:blipFill>
        <p:spPr>
          <a:xfrm>
            <a:off x="996696" y="1252728"/>
            <a:ext cx="5413248" cy="4736592"/>
          </a:xfrm>
          <a:prstGeom prst="rect">
            <a:avLst/>
          </a:prstGeom>
        </p:spPr>
      </p:pic>
      <p:sp>
        <p:nvSpPr>
          <p:cNvPr id="7" name="Rounded Rectangle 6"/>
          <p:cNvSpPr/>
          <p:nvPr/>
        </p:nvSpPr>
        <p:spPr>
          <a:xfrm>
            <a:off x="7232904" y="1298448"/>
            <a:ext cx="4343400" cy="455371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516368" y="1618488"/>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662672" y="1591056"/>
            <a:ext cx="3630168"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How to read it</a:t>
            </a:r>
          </a:p>
        </p:txBody>
      </p:sp>
      <p:sp>
        <p:nvSpPr>
          <p:cNvPr id="10" name="Oval 9"/>
          <p:cNvSpPr/>
          <p:nvPr/>
        </p:nvSpPr>
        <p:spPr>
          <a:xfrm>
            <a:off x="7525512" y="221284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699248" y="2084831"/>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30" b="0" i="0">
                <a:solidFill>
                  <a:srgbClr val="1F2730"/>
                </a:solidFill>
                <a:latin typeface="Arial"/>
              </a:rPr>
              <a:t>Bar length = number of categories containing the gene.</a:t>
            </a:r>
          </a:p>
        </p:txBody>
      </p:sp>
      <p:sp>
        <p:nvSpPr>
          <p:cNvPr id="12" name="Oval 11"/>
          <p:cNvSpPr/>
          <p:nvPr/>
        </p:nvSpPr>
        <p:spPr>
          <a:xfrm>
            <a:off x="7525512" y="277063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699248" y="2642615"/>
            <a:ext cx="3502151" cy="403187"/>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30" b="0" i="0" dirty="0">
                <a:solidFill>
                  <a:srgbClr val="1F2730"/>
                </a:solidFill>
                <a:latin typeface="Arial"/>
              </a:rPr>
              <a:t>Fill = categories whose score combines ≥2 returned calls</a:t>
            </a:r>
            <a:r>
              <a:rPr lang="en-US" sz="1130" b="0" i="0" dirty="0">
                <a:solidFill>
                  <a:srgbClr val="1F2730"/>
                </a:solidFill>
                <a:latin typeface="Arial"/>
              </a:rPr>
              <a:t> (used ACAT to aggregate p value)</a:t>
            </a:r>
            <a:r>
              <a:rPr sz="1130" b="0" i="0" dirty="0">
                <a:solidFill>
                  <a:srgbClr val="1F2730"/>
                </a:solidFill>
                <a:latin typeface="Arial"/>
              </a:rPr>
              <a:t>.</a:t>
            </a:r>
          </a:p>
        </p:txBody>
      </p:sp>
      <p:sp>
        <p:nvSpPr>
          <p:cNvPr id="14" name="Oval 13"/>
          <p:cNvSpPr/>
          <p:nvPr/>
        </p:nvSpPr>
        <p:spPr>
          <a:xfrm>
            <a:off x="7525512" y="3328415"/>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699248" y="3200399"/>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30" b="0" i="0">
                <a:solidFill>
                  <a:srgbClr val="1F2730"/>
                </a:solidFill>
                <a:latin typeface="Arial"/>
              </a:rPr>
              <a:t>RPS15: 12 categories, 6 groups, 5 networks; ACAT in 4.</a:t>
            </a:r>
          </a:p>
        </p:txBody>
      </p:sp>
      <p:sp>
        <p:nvSpPr>
          <p:cNvPr id="16" name="Oval 15"/>
          <p:cNvSpPr/>
          <p:nvPr/>
        </p:nvSpPr>
        <p:spPr>
          <a:xfrm>
            <a:off x="7525512" y="3886199"/>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699248" y="3758183"/>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30" b="0" i="0">
                <a:solidFill>
                  <a:srgbClr val="1F2730"/>
                </a:solidFill>
                <a:latin typeface="Arial"/>
              </a:rPr>
              <a:t>RPL11: 10 categories, 6 groups, 4 networks; ACAT in 5.</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100" b="1" i="0">
                <a:solidFill>
                  <a:srgbClr val="0F233D"/>
                </a:solidFill>
                <a:latin typeface="Arial"/>
              </a:rPr>
              <a:t>Simple output: 689 non-MT category units represent 433 genes</a:t>
            </a:r>
          </a:p>
        </p:txBody>
      </p:sp>
      <p:sp>
        <p:nvSpPr>
          <p:cNvPr id="5" name="Rounded Rectangle 4"/>
          <p:cNvSpPr/>
          <p:nvPr/>
        </p:nvSpPr>
        <p:spPr>
          <a:xfrm>
            <a:off x="658368"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04672"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72B2"/>
                </a:solidFill>
                <a:latin typeface="Arial"/>
              </a:rPr>
              <a:t>1,033</a:t>
            </a:r>
          </a:p>
        </p:txBody>
      </p:sp>
      <p:sp>
        <p:nvSpPr>
          <p:cNvPr id="7" name="TextBox 6"/>
          <p:cNvSpPr txBox="1"/>
          <p:nvPr/>
        </p:nvSpPr>
        <p:spPr>
          <a:xfrm>
            <a:off x="804672"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80" b="1" i="0">
                <a:solidFill>
                  <a:srgbClr val="4E5A68"/>
                </a:solidFill>
                <a:latin typeface="Arial"/>
              </a:rPr>
              <a:t>non-MT returned call rows</a:t>
            </a:r>
          </a:p>
        </p:txBody>
      </p:sp>
      <p:sp>
        <p:nvSpPr>
          <p:cNvPr id="8" name="Rounded Rectangle 7"/>
          <p:cNvSpPr/>
          <p:nvPr/>
        </p:nvSpPr>
        <p:spPr>
          <a:xfrm>
            <a:off x="2798064"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944368"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72B2"/>
                </a:solidFill>
                <a:latin typeface="Arial"/>
              </a:rPr>
              <a:t>689</a:t>
            </a:r>
          </a:p>
        </p:txBody>
      </p:sp>
      <p:sp>
        <p:nvSpPr>
          <p:cNvPr id="10" name="TextBox 9"/>
          <p:cNvSpPr txBox="1"/>
          <p:nvPr/>
        </p:nvSpPr>
        <p:spPr>
          <a:xfrm>
            <a:off x="2944368"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non-MT gene × category units</a:t>
            </a:r>
          </a:p>
        </p:txBody>
      </p:sp>
      <p:sp>
        <p:nvSpPr>
          <p:cNvPr id="11" name="Rounded Rectangle 10"/>
          <p:cNvSpPr/>
          <p:nvPr/>
        </p:nvSpPr>
        <p:spPr>
          <a:xfrm>
            <a:off x="4937760"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84064"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72B2"/>
                </a:solidFill>
                <a:latin typeface="Arial"/>
              </a:rPr>
              <a:t>433</a:t>
            </a:r>
          </a:p>
        </p:txBody>
      </p:sp>
      <p:sp>
        <p:nvSpPr>
          <p:cNvPr id="13" name="TextBox 12"/>
          <p:cNvSpPr txBox="1"/>
          <p:nvPr/>
        </p:nvSpPr>
        <p:spPr>
          <a:xfrm>
            <a:off x="5084064"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distinct gene symbols</a:t>
            </a:r>
          </a:p>
        </p:txBody>
      </p:sp>
      <p:sp>
        <p:nvSpPr>
          <p:cNvPr id="14" name="Rounded Rectangle 13"/>
          <p:cNvSpPr/>
          <p:nvPr/>
        </p:nvSpPr>
        <p:spPr>
          <a:xfrm>
            <a:off x="7077456"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223760"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684D"/>
                </a:solidFill>
                <a:latin typeface="Arial"/>
              </a:rPr>
              <a:t>32</a:t>
            </a:r>
          </a:p>
        </p:txBody>
      </p:sp>
      <p:sp>
        <p:nvSpPr>
          <p:cNvPr id="16" name="TextBox 15"/>
          <p:cNvSpPr txBox="1"/>
          <p:nvPr/>
        </p:nvSpPr>
        <p:spPr>
          <a:xfrm>
            <a:off x="7223760"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categories with non-MT returns</a:t>
            </a:r>
          </a:p>
        </p:txBody>
      </p:sp>
      <p:sp>
        <p:nvSpPr>
          <p:cNvPr id="17" name="Rounded Rectangle 16"/>
          <p:cNvSpPr/>
          <p:nvPr/>
        </p:nvSpPr>
        <p:spPr>
          <a:xfrm>
            <a:off x="9217152"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363456"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895600"/>
                </a:solidFill>
                <a:latin typeface="Arial"/>
              </a:rPr>
              <a:t>149</a:t>
            </a:r>
          </a:p>
        </p:txBody>
      </p:sp>
      <p:sp>
        <p:nvSpPr>
          <p:cNvPr id="19" name="TextBox 18"/>
          <p:cNvSpPr txBox="1"/>
          <p:nvPr/>
        </p:nvSpPr>
        <p:spPr>
          <a:xfrm>
            <a:off x="9363456"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top-five displayed rows</a:t>
            </a:r>
          </a:p>
        </p:txBody>
      </p:sp>
      <p:sp>
        <p:nvSpPr>
          <p:cNvPr id="20" name="Rounded Rectangle 19"/>
          <p:cNvSpPr/>
          <p:nvPr/>
        </p:nvSpPr>
        <p:spPr>
          <a:xfrm>
            <a:off x="658368" y="2871216"/>
            <a:ext cx="5266944" cy="2834640"/>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932688" y="319125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78992" y="3163824"/>
            <a:ext cx="4572000"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Where non-MT driver units occur</a:t>
            </a:r>
          </a:p>
        </p:txBody>
      </p:sp>
      <p:sp>
        <p:nvSpPr>
          <p:cNvPr id="23" name="TextBox 22"/>
          <p:cNvSpPr txBox="1"/>
          <p:nvPr/>
        </p:nvSpPr>
        <p:spPr>
          <a:xfrm>
            <a:off x="941832" y="3685032"/>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19" b="1" i="0">
                <a:solidFill>
                  <a:srgbClr val="0072B2"/>
                </a:solidFill>
                <a:latin typeface="Arial"/>
              </a:rPr>
              <a:t>By sex/APOE group</a:t>
            </a:r>
          </a:p>
        </p:txBody>
      </p:sp>
      <p:sp>
        <p:nvSpPr>
          <p:cNvPr id="24" name="TextBox 23"/>
          <p:cNvSpPr txBox="1"/>
          <p:nvPr/>
        </p:nvSpPr>
        <p:spPr>
          <a:xfrm>
            <a:off x="941832" y="4023360"/>
            <a:ext cx="4544568" cy="54864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70" b="1" i="0">
                <a:solidFill>
                  <a:srgbClr val="0F233D"/>
                </a:solidFill>
                <a:latin typeface="Arial"/>
              </a:rPr>
              <a:t>M_e2 139  •  F_e4 133  •  M_e4 127  •  F_e2 101  •  M_e33 97  •  F_e33 92</a:t>
            </a:r>
          </a:p>
        </p:txBody>
      </p:sp>
      <p:sp>
        <p:nvSpPr>
          <p:cNvPr id="25" name="TextBox 24"/>
          <p:cNvSpPr txBox="1"/>
          <p:nvPr/>
        </p:nvSpPr>
        <p:spPr>
          <a:xfrm>
            <a:off x="941832" y="4718304"/>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19" b="1" i="0">
                <a:solidFill>
                  <a:srgbClr val="0072B2"/>
                </a:solidFill>
                <a:latin typeface="Arial"/>
              </a:rPr>
              <a:t>By broad network</a:t>
            </a:r>
          </a:p>
        </p:txBody>
      </p:sp>
      <p:sp>
        <p:nvSpPr>
          <p:cNvPr id="26" name="TextBox 25"/>
          <p:cNvSpPr txBox="1"/>
          <p:nvPr/>
        </p:nvSpPr>
        <p:spPr>
          <a:xfrm>
            <a:off x="941832" y="5010912"/>
            <a:ext cx="4544568" cy="56692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30" b="1" i="0">
                <a:solidFill>
                  <a:srgbClr val="0F233D"/>
                </a:solidFill>
                <a:latin typeface="Arial"/>
              </a:rPr>
              <a:t>Excitatory 363 • Inhibitory 175 • Astrocytes 63 • OPCs 33
Oligo 27 • Microglia 23 • Vasculature 5</a:t>
            </a:r>
          </a:p>
        </p:txBody>
      </p:sp>
      <p:sp>
        <p:nvSpPr>
          <p:cNvPr id="27" name="Rounded Rectangle 26"/>
          <p:cNvSpPr/>
          <p:nvPr/>
        </p:nvSpPr>
        <p:spPr>
          <a:xfrm>
            <a:off x="6181344" y="2871216"/>
            <a:ext cx="5010912" cy="283464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455664" y="319125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601968" y="3163824"/>
            <a:ext cx="4315968"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Most recurrent returned-only genes</a:t>
            </a:r>
          </a:p>
        </p:txBody>
      </p:sp>
      <p:sp>
        <p:nvSpPr>
          <p:cNvPr id="30" name="TextBox 29"/>
          <p:cNvSpPr txBox="1"/>
          <p:nvPr/>
        </p:nvSpPr>
        <p:spPr>
          <a:xfrm>
            <a:off x="6473952" y="3675887"/>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1" i="0">
                <a:solidFill>
                  <a:srgbClr val="0F233D"/>
                </a:solidFill>
                <a:latin typeface="Arial"/>
              </a:rPr>
              <a:t>RPS15</a:t>
            </a:r>
          </a:p>
        </p:txBody>
      </p:sp>
      <p:sp>
        <p:nvSpPr>
          <p:cNvPr id="31" name="Rectangle 30"/>
          <p:cNvSpPr/>
          <p:nvPr/>
        </p:nvSpPr>
        <p:spPr>
          <a:xfrm>
            <a:off x="7891272" y="3703320"/>
            <a:ext cx="2395728"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0442448" y="3675887"/>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1040" b="1" i="0">
                <a:solidFill>
                  <a:srgbClr val="009E73"/>
                </a:solidFill>
                <a:latin typeface="Arial"/>
              </a:rPr>
              <a:t>12</a:t>
            </a:r>
          </a:p>
        </p:txBody>
      </p:sp>
      <p:sp>
        <p:nvSpPr>
          <p:cNvPr id="33" name="TextBox 32"/>
          <p:cNvSpPr txBox="1"/>
          <p:nvPr/>
        </p:nvSpPr>
        <p:spPr>
          <a:xfrm>
            <a:off x="6473952" y="3968496"/>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1" i="0">
                <a:solidFill>
                  <a:srgbClr val="0F233D"/>
                </a:solidFill>
                <a:latin typeface="Arial"/>
              </a:rPr>
              <a:t>RPL11</a:t>
            </a:r>
          </a:p>
        </p:txBody>
      </p:sp>
      <p:sp>
        <p:nvSpPr>
          <p:cNvPr id="34" name="Rectangle 33"/>
          <p:cNvSpPr/>
          <p:nvPr/>
        </p:nvSpPr>
        <p:spPr>
          <a:xfrm>
            <a:off x="7891272" y="3995928"/>
            <a:ext cx="1996440"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0442448" y="3968496"/>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1040" b="1" i="0">
                <a:solidFill>
                  <a:srgbClr val="009E73"/>
                </a:solidFill>
                <a:latin typeface="Arial"/>
              </a:rPr>
              <a:t>10</a:t>
            </a:r>
          </a:p>
        </p:txBody>
      </p:sp>
      <p:sp>
        <p:nvSpPr>
          <p:cNvPr id="36" name="TextBox 35"/>
          <p:cNvSpPr txBox="1"/>
          <p:nvPr/>
        </p:nvSpPr>
        <p:spPr>
          <a:xfrm>
            <a:off x="6473952" y="4261103"/>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1" i="0">
                <a:solidFill>
                  <a:srgbClr val="0F233D"/>
                </a:solidFill>
                <a:latin typeface="Arial"/>
              </a:rPr>
              <a:t>RPLP1</a:t>
            </a:r>
          </a:p>
        </p:txBody>
      </p:sp>
      <p:sp>
        <p:nvSpPr>
          <p:cNvPr id="37" name="Rectangle 36"/>
          <p:cNvSpPr/>
          <p:nvPr/>
        </p:nvSpPr>
        <p:spPr>
          <a:xfrm>
            <a:off x="7891272" y="4288536"/>
            <a:ext cx="1796796"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0442448" y="4261103"/>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1040" b="1" i="0">
                <a:solidFill>
                  <a:srgbClr val="009E73"/>
                </a:solidFill>
                <a:latin typeface="Arial"/>
              </a:rPr>
              <a:t>9</a:t>
            </a:r>
          </a:p>
        </p:txBody>
      </p:sp>
      <p:sp>
        <p:nvSpPr>
          <p:cNvPr id="39" name="TextBox 38"/>
          <p:cNvSpPr txBox="1"/>
          <p:nvPr/>
        </p:nvSpPr>
        <p:spPr>
          <a:xfrm>
            <a:off x="6473952" y="4553712"/>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1" i="0">
                <a:solidFill>
                  <a:srgbClr val="0F233D"/>
                </a:solidFill>
                <a:latin typeface="Arial"/>
              </a:rPr>
              <a:t>RPL15</a:t>
            </a:r>
          </a:p>
        </p:txBody>
      </p:sp>
      <p:sp>
        <p:nvSpPr>
          <p:cNvPr id="40" name="Rectangle 39"/>
          <p:cNvSpPr/>
          <p:nvPr/>
        </p:nvSpPr>
        <p:spPr>
          <a:xfrm>
            <a:off x="7891272" y="4581144"/>
            <a:ext cx="1796796"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10442448" y="4553712"/>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1040" b="1" i="0">
                <a:solidFill>
                  <a:srgbClr val="009E73"/>
                </a:solidFill>
                <a:latin typeface="Arial"/>
              </a:rPr>
              <a:t>9</a:t>
            </a:r>
          </a:p>
        </p:txBody>
      </p:sp>
      <p:sp>
        <p:nvSpPr>
          <p:cNvPr id="42" name="TextBox 41"/>
          <p:cNvSpPr txBox="1"/>
          <p:nvPr/>
        </p:nvSpPr>
        <p:spPr>
          <a:xfrm>
            <a:off x="6473952" y="4846320"/>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1" i="0">
                <a:solidFill>
                  <a:srgbClr val="0F233D"/>
                </a:solidFill>
                <a:latin typeface="Arial"/>
              </a:rPr>
              <a:t>SELENOW</a:t>
            </a:r>
          </a:p>
        </p:txBody>
      </p:sp>
      <p:sp>
        <p:nvSpPr>
          <p:cNvPr id="43" name="Rectangle 42"/>
          <p:cNvSpPr/>
          <p:nvPr/>
        </p:nvSpPr>
        <p:spPr>
          <a:xfrm>
            <a:off x="7891272" y="4873752"/>
            <a:ext cx="1597152"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10442448" y="4846320"/>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1040" b="1" i="0">
                <a:solidFill>
                  <a:srgbClr val="009E73"/>
                </a:solidFill>
                <a:latin typeface="Arial"/>
              </a:rPr>
              <a:t>8</a:t>
            </a:r>
          </a:p>
        </p:txBody>
      </p:sp>
      <p:sp>
        <p:nvSpPr>
          <p:cNvPr id="45" name="TextBox 44"/>
          <p:cNvSpPr txBox="1"/>
          <p:nvPr/>
        </p:nvSpPr>
        <p:spPr>
          <a:xfrm>
            <a:off x="6473952" y="5138927"/>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1" i="0">
                <a:solidFill>
                  <a:srgbClr val="0F233D"/>
                </a:solidFill>
                <a:latin typeface="Arial"/>
              </a:rPr>
              <a:t>SELENOM</a:t>
            </a:r>
          </a:p>
        </p:txBody>
      </p:sp>
      <p:sp>
        <p:nvSpPr>
          <p:cNvPr id="46" name="Rectangle 45"/>
          <p:cNvSpPr/>
          <p:nvPr/>
        </p:nvSpPr>
        <p:spPr>
          <a:xfrm>
            <a:off x="7891272" y="5166359"/>
            <a:ext cx="1597152"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10442448" y="5138927"/>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1040" b="1" i="0">
                <a:solidFill>
                  <a:srgbClr val="009E73"/>
                </a:solidFill>
                <a:latin typeface="Arial"/>
              </a:rPr>
              <a:t>8</a:t>
            </a:r>
          </a:p>
        </p:txBody>
      </p:sp>
      <p:sp>
        <p:nvSpPr>
          <p:cNvPr id="48" name="TextBox 47"/>
          <p:cNvSpPr txBox="1"/>
          <p:nvPr/>
        </p:nvSpPr>
        <p:spPr>
          <a:xfrm>
            <a:off x="6473952" y="5477256"/>
            <a:ext cx="4334256"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69" b="0" i="1">
                <a:solidFill>
                  <a:srgbClr val="4E5A68"/>
                </a:solidFill>
                <a:latin typeface="Arial"/>
              </a:rPr>
              <a:t>Counts are category presence—not independent replication or call counts.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p:cNvSpPr txBox="1"/>
          <p:nvPr/>
        </p:nvSpPr>
        <p:spPr>
          <a:xfrm>
            <a:off x="713232" y="612648"/>
            <a:ext cx="2194560" cy="2560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50" b="1" i="0">
                <a:solidFill>
                  <a:srgbClr val="009E73"/>
                </a:solidFill>
                <a:latin typeface="Arial"/>
              </a:rPr>
              <a:t>PART 2</a:t>
            </a:r>
          </a:p>
        </p:txBody>
      </p:sp>
      <p:sp>
        <p:nvSpPr>
          <p:cNvPr id="3" name="Rectangle 2"/>
          <p:cNvSpPr/>
          <p:nvPr/>
        </p:nvSpPr>
        <p:spPr>
          <a:xfrm>
            <a:off x="713232" y="1152144"/>
            <a:ext cx="91440" cy="2176272"/>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78992" y="1243584"/>
            <a:ext cx="7909560" cy="122529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3200" b="1" i="0">
                <a:solidFill>
                  <a:srgbClr val="FFFFFF"/>
                </a:solidFill>
                <a:latin typeface="Arial"/>
              </a:rPr>
              <a:t>SEA-AD sex/APOE KDA validation</a:t>
            </a:r>
          </a:p>
        </p:txBody>
      </p:sp>
      <p:sp>
        <p:nvSpPr>
          <p:cNvPr id="5" name="TextBox 4"/>
          <p:cNvSpPr txBox="1"/>
          <p:nvPr/>
        </p:nvSpPr>
        <p:spPr>
          <a:xfrm>
            <a:off x="1097280" y="2743200"/>
            <a:ext cx="7589520" cy="76809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00" b="0" i="0">
                <a:solidFill>
                  <a:srgbClr val="CCDBEA"/>
                </a:solidFill>
                <a:latin typeface="Arial"/>
              </a:rPr>
              <a:t>129 SEA-AD supertypes define the planned universe; 42 active relaxed-tier calls are aggregated with the same returned-only non-MT ACAT rule used in Part I.</a:t>
            </a:r>
          </a:p>
        </p:txBody>
      </p:sp>
      <p:sp>
        <p:nvSpPr>
          <p:cNvPr id="6" name="Rounded Rectangle 5"/>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40" b="1" i="0">
                <a:solidFill>
                  <a:srgbClr val="009E73"/>
                </a:solidFill>
                <a:latin typeface="Arial"/>
              </a:rPr>
              <a:t>IN THIS PART</a:t>
            </a:r>
          </a:p>
        </p:txBody>
      </p:sp>
      <p:sp>
        <p:nvSpPr>
          <p:cNvPr id="8" name="Oval 7"/>
          <p:cNvSpPr/>
          <p:nvPr/>
        </p:nvSpPr>
        <p:spPr>
          <a:xfrm>
            <a:off x="9198864" y="2039112"/>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0F233D"/>
                </a:solidFill>
                <a:latin typeface="Arial"/>
              </a:rPr>
              <a:t>1</a:t>
            </a:r>
          </a:p>
        </p:txBody>
      </p:sp>
      <p:sp>
        <p:nvSpPr>
          <p:cNvPr id="10" name="TextBox 9"/>
          <p:cNvSpPr txBox="1"/>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1" i="0">
                <a:solidFill>
                  <a:srgbClr val="FFFFFF"/>
                </a:solidFill>
                <a:latin typeface="Arial"/>
              </a:rPr>
              <a:t>Run universe</a:t>
            </a:r>
          </a:p>
        </p:txBody>
      </p:sp>
      <p:sp>
        <p:nvSpPr>
          <p:cNvPr id="11" name="Oval 10"/>
          <p:cNvSpPr/>
          <p:nvPr/>
        </p:nvSpPr>
        <p:spPr>
          <a:xfrm>
            <a:off x="9198864" y="2788920"/>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0F233D"/>
                </a:solidFill>
                <a:latin typeface="Arial"/>
              </a:rPr>
              <a:t>2</a:t>
            </a:r>
          </a:p>
        </p:txBody>
      </p:sp>
      <p:sp>
        <p:nvSpPr>
          <p:cNvPr id="13" name="TextBox 12"/>
          <p:cNvSpPr txBox="1"/>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1" i="0">
                <a:solidFill>
                  <a:srgbClr val="FFFFFF"/>
                </a:solidFill>
                <a:latin typeface="Arial"/>
              </a:rPr>
              <a:t>Query + tier rules</a:t>
            </a:r>
          </a:p>
        </p:txBody>
      </p:sp>
      <p:sp>
        <p:nvSpPr>
          <p:cNvPr id="14" name="Oval 13"/>
          <p:cNvSpPr/>
          <p:nvPr/>
        </p:nvSpPr>
        <p:spPr>
          <a:xfrm>
            <a:off x="9198864" y="3538727"/>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0F233D"/>
                </a:solidFill>
                <a:latin typeface="Arial"/>
              </a:rPr>
              <a:t>3</a:t>
            </a:r>
          </a:p>
        </p:txBody>
      </p:sp>
      <p:sp>
        <p:nvSpPr>
          <p:cNvPr id="16" name="TextBox 15"/>
          <p:cNvSpPr txBox="1"/>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1" i="0">
                <a:solidFill>
                  <a:srgbClr val="FFFFFF"/>
                </a:solidFill>
                <a:latin typeface="Arial"/>
              </a:rPr>
              <a:t>Returned-only rule</a:t>
            </a:r>
          </a:p>
        </p:txBody>
      </p:sp>
      <p:sp>
        <p:nvSpPr>
          <p:cNvPr id="17" name="Oval 16"/>
          <p:cNvSpPr/>
          <p:nvPr/>
        </p:nvSpPr>
        <p:spPr>
          <a:xfrm>
            <a:off x="9198864" y="4288536"/>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0F233D"/>
                </a:solidFill>
                <a:latin typeface="Arial"/>
              </a:rPr>
              <a:t>4</a:t>
            </a:r>
          </a:p>
        </p:txBody>
      </p:sp>
      <p:sp>
        <p:nvSpPr>
          <p:cNvPr id="19" name="TextBox 18"/>
          <p:cNvSpPr txBox="1"/>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1" i="0">
                <a:solidFill>
                  <a:srgbClr val="FFFFFF"/>
                </a:solidFill>
                <a:latin typeface="Arial"/>
              </a:rPr>
              <a:t>Result figures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129 SEA-AD supertypes create 1,548 planned directional slots</a:t>
            </a:r>
          </a:p>
        </p:txBody>
      </p:sp>
      <p:sp>
        <p:nvSpPr>
          <p:cNvPr id="3" name="TextBox 2"/>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The planned universe mirrors the ROSMAP design: supertype × sex/APOE contrast × AD-up/AD-down mito query.</a:t>
            </a:r>
          </a:p>
        </p:txBody>
      </p:sp>
      <p:sp>
        <p:nvSpPr>
          <p:cNvPr id="4" name="Rounded Rectangle 3"/>
          <p:cNvSpPr/>
          <p:nvPr/>
        </p:nvSpPr>
        <p:spPr>
          <a:xfrm>
            <a:off x="640080" y="1344168"/>
            <a:ext cx="3383280" cy="1197864"/>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1591056"/>
            <a:ext cx="2926080" cy="283464"/>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900" b="1" i="0">
                <a:solidFill>
                  <a:srgbClr val="0F233D"/>
                </a:solidFill>
                <a:latin typeface="Arial"/>
              </a:rPr>
              <a:t>129 SEA-AD supertypes</a:t>
            </a:r>
          </a:p>
        </p:txBody>
      </p:sp>
      <p:sp>
        <p:nvSpPr>
          <p:cNvPr id="6" name="TextBox 5"/>
          <p:cNvSpPr txBox="1"/>
          <p:nvPr/>
        </p:nvSpPr>
        <p:spPr>
          <a:xfrm>
            <a:off x="868680" y="1993392"/>
            <a:ext cx="2926080" cy="27432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230" b="1" i="0">
                <a:solidFill>
                  <a:srgbClr val="00684D"/>
                </a:solidFill>
                <a:latin typeface="Arial"/>
              </a:rPr>
              <a:t>× 6 sex/APOE groups = 774 contrasts</a:t>
            </a:r>
          </a:p>
        </p:txBody>
      </p:sp>
      <p:sp>
        <p:nvSpPr>
          <p:cNvPr id="7" name="Rounded Rectangle 6"/>
          <p:cNvSpPr/>
          <p:nvPr/>
        </p:nvSpPr>
        <p:spPr>
          <a:xfrm>
            <a:off x="4407408" y="1344168"/>
            <a:ext cx="3383280" cy="1197864"/>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636008" y="1591056"/>
            <a:ext cx="2926080" cy="283464"/>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900" b="1" i="0">
                <a:solidFill>
                  <a:srgbClr val="0F233D"/>
                </a:solidFill>
                <a:latin typeface="Arial"/>
              </a:rPr>
              <a:t>774 signed contrasts</a:t>
            </a:r>
          </a:p>
        </p:txBody>
      </p:sp>
      <p:sp>
        <p:nvSpPr>
          <p:cNvPr id="9" name="TextBox 8"/>
          <p:cNvSpPr txBox="1"/>
          <p:nvPr/>
        </p:nvSpPr>
        <p:spPr>
          <a:xfrm>
            <a:off x="4636008" y="1993392"/>
            <a:ext cx="2926080" cy="27432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230" b="1" i="0">
                <a:solidFill>
                  <a:srgbClr val="0072B2"/>
                </a:solidFill>
                <a:latin typeface="Arial"/>
              </a:rPr>
              <a:t>× up/down = 1,548 directional slots</a:t>
            </a:r>
          </a:p>
        </p:txBody>
      </p:sp>
      <p:sp>
        <p:nvSpPr>
          <p:cNvPr id="10" name="Rounded Rectangle 9"/>
          <p:cNvSpPr/>
          <p:nvPr/>
        </p:nvSpPr>
        <p:spPr>
          <a:xfrm>
            <a:off x="8174736" y="1344168"/>
            <a:ext cx="3383280" cy="1197864"/>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403336" y="1591056"/>
            <a:ext cx="2926080" cy="283464"/>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900" b="1" i="0">
                <a:solidFill>
                  <a:srgbClr val="0F233D"/>
                </a:solidFill>
                <a:latin typeface="Arial"/>
              </a:rPr>
              <a:t>42 active KDA calls</a:t>
            </a:r>
          </a:p>
        </p:txBody>
      </p:sp>
      <p:sp>
        <p:nvSpPr>
          <p:cNvPr id="12" name="TextBox 11"/>
          <p:cNvSpPr txBox="1"/>
          <p:nvPr/>
        </p:nvSpPr>
        <p:spPr>
          <a:xfrm>
            <a:off x="8403336" y="1993392"/>
            <a:ext cx="2926080" cy="27432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230" b="1" i="0">
                <a:solidFill>
                  <a:srgbClr val="895600"/>
                </a:solidFill>
                <a:latin typeface="Arial"/>
              </a:rPr>
              <a:t>estimable source and query n ≥ 3</a:t>
            </a:r>
          </a:p>
        </p:txBody>
      </p:sp>
      <p:sp>
        <p:nvSpPr>
          <p:cNvPr id="13" name="Rectangle 12"/>
          <p:cNvSpPr/>
          <p:nvPr/>
        </p:nvSpPr>
        <p:spPr>
          <a:xfrm>
            <a:off x="786384" y="2834640"/>
            <a:ext cx="580644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41247" y="2889504"/>
            <a:ext cx="5696712" cy="33832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1" i="0">
                <a:solidFill>
                  <a:srgbClr val="FFFFFF"/>
                </a:solidFill>
                <a:latin typeface="Arial"/>
              </a:rPr>
              <a:t>Mutually exclusive slot outcome</a:t>
            </a:r>
          </a:p>
        </p:txBody>
      </p:sp>
      <p:sp>
        <p:nvSpPr>
          <p:cNvPr id="15" name="Rectangle 14"/>
          <p:cNvSpPr/>
          <p:nvPr/>
        </p:nvSpPr>
        <p:spPr>
          <a:xfrm>
            <a:off x="6592824" y="2834640"/>
            <a:ext cx="1115568"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647688" y="2889504"/>
            <a:ext cx="1005840" cy="33832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1" i="0">
                <a:solidFill>
                  <a:srgbClr val="FFFFFF"/>
                </a:solidFill>
                <a:latin typeface="Arial"/>
              </a:rPr>
              <a:t>Slots</a:t>
            </a:r>
          </a:p>
        </p:txBody>
      </p:sp>
      <p:sp>
        <p:nvSpPr>
          <p:cNvPr id="17" name="Rectangle 16"/>
          <p:cNvSpPr/>
          <p:nvPr/>
        </p:nvSpPr>
        <p:spPr>
          <a:xfrm>
            <a:off x="7708392" y="2834640"/>
            <a:ext cx="361188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63256" y="2889504"/>
            <a:ext cx="3502152" cy="33832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1" i="0">
                <a:solidFill>
                  <a:srgbClr val="FFFFFF"/>
                </a:solidFill>
                <a:latin typeface="Arial"/>
              </a:rPr>
              <a:t>KDA called?</a:t>
            </a:r>
          </a:p>
        </p:txBody>
      </p:sp>
      <p:sp>
        <p:nvSpPr>
          <p:cNvPr id="19" name="Rectangle 18"/>
          <p:cNvSpPr/>
          <p:nvPr/>
        </p:nvSpPr>
        <p:spPr>
          <a:xfrm>
            <a:off x="786384" y="3264408"/>
            <a:ext cx="580644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41247" y="3310128"/>
            <a:ext cx="5696712" cy="356615"/>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0" i="0">
                <a:solidFill>
                  <a:srgbClr val="1F2730"/>
                </a:solidFill>
                <a:latin typeface="Arial"/>
              </a:rPr>
              <a:t>Source DEG contrast not estimable</a:t>
            </a:r>
          </a:p>
        </p:txBody>
      </p:sp>
      <p:sp>
        <p:nvSpPr>
          <p:cNvPr id="21" name="Rectangle 20"/>
          <p:cNvSpPr/>
          <p:nvPr/>
        </p:nvSpPr>
        <p:spPr>
          <a:xfrm>
            <a:off x="6592824" y="3264408"/>
            <a:ext cx="1115568"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647688" y="3310128"/>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0" i="0">
                <a:solidFill>
                  <a:srgbClr val="1F2730"/>
                </a:solidFill>
                <a:latin typeface="Arial"/>
              </a:rPr>
              <a:t>786</a:t>
            </a:r>
          </a:p>
        </p:txBody>
      </p:sp>
      <p:sp>
        <p:nvSpPr>
          <p:cNvPr id="23" name="Rectangle 22"/>
          <p:cNvSpPr/>
          <p:nvPr/>
        </p:nvSpPr>
        <p:spPr>
          <a:xfrm>
            <a:off x="7708392" y="3264408"/>
            <a:ext cx="361188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763256" y="3310128"/>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0" i="0">
                <a:solidFill>
                  <a:srgbClr val="1F2730"/>
                </a:solidFill>
                <a:latin typeface="Arial"/>
              </a:rPr>
              <a:t>No</a:t>
            </a:r>
          </a:p>
        </p:txBody>
      </p:sp>
      <p:sp>
        <p:nvSpPr>
          <p:cNvPr id="25" name="Rectangle 24"/>
          <p:cNvSpPr/>
          <p:nvPr/>
        </p:nvSpPr>
        <p:spPr>
          <a:xfrm>
            <a:off x="786384" y="3694176"/>
            <a:ext cx="580644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41247" y="3739896"/>
            <a:ext cx="5696712" cy="356615"/>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0" i="0">
                <a:solidFill>
                  <a:srgbClr val="1F2730"/>
                </a:solidFill>
                <a:latin typeface="Arial"/>
              </a:rPr>
              <a:t>Estimable source; FDR-only query = 0 genes</a:t>
            </a:r>
          </a:p>
        </p:txBody>
      </p:sp>
      <p:sp>
        <p:nvSpPr>
          <p:cNvPr id="27" name="Rectangle 26"/>
          <p:cNvSpPr/>
          <p:nvPr/>
        </p:nvSpPr>
        <p:spPr>
          <a:xfrm>
            <a:off x="6592824" y="3694176"/>
            <a:ext cx="1115568"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647688" y="3739896"/>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0" i="0">
                <a:solidFill>
                  <a:srgbClr val="1F2730"/>
                </a:solidFill>
                <a:latin typeface="Arial"/>
              </a:rPr>
              <a:t>703</a:t>
            </a:r>
          </a:p>
        </p:txBody>
      </p:sp>
      <p:sp>
        <p:nvSpPr>
          <p:cNvPr id="29" name="Rectangle 28"/>
          <p:cNvSpPr/>
          <p:nvPr/>
        </p:nvSpPr>
        <p:spPr>
          <a:xfrm>
            <a:off x="7708392" y="3694176"/>
            <a:ext cx="361188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763256" y="3739896"/>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0" i="0">
                <a:solidFill>
                  <a:srgbClr val="1F2730"/>
                </a:solidFill>
                <a:latin typeface="Arial"/>
              </a:rPr>
              <a:t>No</a:t>
            </a:r>
          </a:p>
        </p:txBody>
      </p:sp>
      <p:sp>
        <p:nvSpPr>
          <p:cNvPr id="31" name="Rectangle 30"/>
          <p:cNvSpPr/>
          <p:nvPr/>
        </p:nvSpPr>
        <p:spPr>
          <a:xfrm>
            <a:off x="786384" y="4123944"/>
            <a:ext cx="580644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41247" y="4169663"/>
            <a:ext cx="5696712" cy="356615"/>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0" i="0">
                <a:solidFill>
                  <a:srgbClr val="1F2730"/>
                </a:solidFill>
                <a:latin typeface="Arial"/>
              </a:rPr>
              <a:t>Effective query 1–2</a:t>
            </a:r>
          </a:p>
        </p:txBody>
      </p:sp>
      <p:sp>
        <p:nvSpPr>
          <p:cNvPr id="33" name="Rectangle 32"/>
          <p:cNvSpPr/>
          <p:nvPr/>
        </p:nvSpPr>
        <p:spPr>
          <a:xfrm>
            <a:off x="6592824" y="4123944"/>
            <a:ext cx="1115568"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647688" y="4169663"/>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0" i="0">
                <a:solidFill>
                  <a:srgbClr val="1F2730"/>
                </a:solidFill>
                <a:latin typeface="Arial"/>
              </a:rPr>
              <a:t>17</a:t>
            </a:r>
          </a:p>
        </p:txBody>
      </p:sp>
      <p:sp>
        <p:nvSpPr>
          <p:cNvPr id="35" name="Rectangle 34"/>
          <p:cNvSpPr/>
          <p:nvPr/>
        </p:nvSpPr>
        <p:spPr>
          <a:xfrm>
            <a:off x="7708392" y="4123944"/>
            <a:ext cx="361188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763256" y="4169663"/>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0" i="0">
                <a:solidFill>
                  <a:srgbClr val="1F2730"/>
                </a:solidFill>
                <a:latin typeface="Arial"/>
              </a:rPr>
              <a:t>No</a:t>
            </a:r>
          </a:p>
        </p:txBody>
      </p:sp>
      <p:sp>
        <p:nvSpPr>
          <p:cNvPr id="37" name="Rectangle 36"/>
          <p:cNvSpPr/>
          <p:nvPr/>
        </p:nvSpPr>
        <p:spPr>
          <a:xfrm>
            <a:off x="786384" y="4553712"/>
            <a:ext cx="580644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41247" y="4599432"/>
            <a:ext cx="5696712" cy="356615"/>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0" i="0">
                <a:solidFill>
                  <a:srgbClr val="1F2730"/>
                </a:solidFill>
                <a:latin typeface="Arial"/>
              </a:rPr>
              <a:t>Effective query 3–9</a:t>
            </a:r>
          </a:p>
        </p:txBody>
      </p:sp>
      <p:sp>
        <p:nvSpPr>
          <p:cNvPr id="39" name="Rectangle 38"/>
          <p:cNvSpPr/>
          <p:nvPr/>
        </p:nvSpPr>
        <p:spPr>
          <a:xfrm>
            <a:off x="6592824" y="4553712"/>
            <a:ext cx="1115568"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647688" y="4676173"/>
            <a:ext cx="1005840" cy="203133"/>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lang="en-US" sz="960" dirty="0">
                <a:solidFill>
                  <a:srgbClr val="1F2730"/>
                </a:solidFill>
                <a:latin typeface="Arial"/>
              </a:rPr>
              <a:t>42</a:t>
            </a:r>
            <a:endParaRPr sz="960" b="0" i="0" dirty="0">
              <a:solidFill>
                <a:srgbClr val="1F2730"/>
              </a:solidFill>
              <a:latin typeface="Arial"/>
            </a:endParaRPr>
          </a:p>
        </p:txBody>
      </p:sp>
      <p:sp>
        <p:nvSpPr>
          <p:cNvPr id="41" name="Rectangle 40"/>
          <p:cNvSpPr/>
          <p:nvPr/>
        </p:nvSpPr>
        <p:spPr>
          <a:xfrm>
            <a:off x="7708392" y="4553712"/>
            <a:ext cx="361188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763256" y="4676173"/>
            <a:ext cx="3502152" cy="203133"/>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0" i="0" dirty="0">
                <a:solidFill>
                  <a:srgbClr val="1F2730"/>
                </a:solidFill>
                <a:latin typeface="Arial"/>
              </a:rPr>
              <a:t>Yes</a:t>
            </a:r>
          </a:p>
        </p:txBody>
      </p:sp>
      <p:sp>
        <p:nvSpPr>
          <p:cNvPr id="49" name="Rectangle 48"/>
          <p:cNvSpPr/>
          <p:nvPr/>
        </p:nvSpPr>
        <p:spPr>
          <a:xfrm>
            <a:off x="786384" y="4984040"/>
            <a:ext cx="5806440"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841247" y="5029760"/>
            <a:ext cx="5696712" cy="356615"/>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1" i="0">
                <a:solidFill>
                  <a:srgbClr val="1F2730"/>
                </a:solidFill>
                <a:latin typeface="Arial"/>
              </a:rPr>
              <a:t>TOTAL</a:t>
            </a:r>
          </a:p>
        </p:txBody>
      </p:sp>
      <p:sp>
        <p:nvSpPr>
          <p:cNvPr id="51" name="Rectangle 50"/>
          <p:cNvSpPr/>
          <p:nvPr/>
        </p:nvSpPr>
        <p:spPr>
          <a:xfrm>
            <a:off x="6592824" y="4984040"/>
            <a:ext cx="1115568"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6647688" y="5029760"/>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1" i="0">
                <a:solidFill>
                  <a:srgbClr val="1F2730"/>
                </a:solidFill>
                <a:latin typeface="Arial"/>
              </a:rPr>
              <a:t>1,548</a:t>
            </a:r>
          </a:p>
        </p:txBody>
      </p:sp>
      <p:sp>
        <p:nvSpPr>
          <p:cNvPr id="53" name="Rectangle 52"/>
          <p:cNvSpPr/>
          <p:nvPr/>
        </p:nvSpPr>
        <p:spPr>
          <a:xfrm>
            <a:off x="7708392" y="4984040"/>
            <a:ext cx="3611880"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7763256" y="5029760"/>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1" i="0">
                <a:solidFill>
                  <a:srgbClr val="1F2730"/>
                </a:solidFill>
                <a:latin typeface="Arial"/>
              </a:rPr>
              <a:t>42 calls</a:t>
            </a:r>
          </a:p>
        </p:txBody>
      </p:sp>
      <p:sp>
        <p:nvSpPr>
          <p:cNvPr id="55" name="TextBox 54"/>
          <p:cNvSpPr txBox="1"/>
          <p:nvPr/>
        </p:nvSpPr>
        <p:spPr>
          <a:xfrm>
            <a:off x="804672" y="5995851"/>
            <a:ext cx="10607040" cy="25603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00" b="1" i="0" dirty="0">
                <a:solidFill>
                  <a:srgbClr val="7E4C9A"/>
                </a:solidFill>
                <a:latin typeface="Arial"/>
              </a:rPr>
              <a:t>Group availability is unbalanced: 40 of the 42 active calls are M_e33; F_e33 and F_e4 contribute one each.</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Top-five display: 18 non-MT entries across 4 categories</a:t>
            </a:r>
          </a:p>
        </p:txBody>
      </p:sp>
      <p:pic>
        <p:nvPicPr>
          <p:cNvPr id="3" name="SEA-AD simple returned-only female and male panels showing up to five non-MT genes per sex/APOE by broad-cell category" descr="SEA-AD simple returned-only female and male panels showing up to five non-MT genes per sex/APOE by broad-cell category"/>
          <p:cNvPicPr>
            <a:picLocks noChangeAspect="1"/>
          </p:cNvPicPr>
          <p:nvPr/>
        </p:nvPicPr>
        <p:blipFill>
          <a:blip r:embed="rId3"/>
          <a:stretch>
            <a:fillRect/>
          </a:stretch>
        </p:blipFill>
        <p:spPr>
          <a:xfrm>
            <a:off x="566928" y="1623200"/>
            <a:ext cx="11064240" cy="430654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dirty="0">
                <a:solidFill>
                  <a:srgbClr val="0F233D"/>
                </a:solidFill>
                <a:latin typeface="Arial"/>
              </a:rPr>
              <a:t>HGSNAT recurs across 2 SEA-AD categories</a:t>
            </a:r>
          </a:p>
        </p:txBody>
      </p:sp>
      <p:sp>
        <p:nvSpPr>
          <p:cNvPr id="3" name="TextBox 2"/>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Returned-only recurrence is descriptive across sex/APOE × broad-cell categories.</a:t>
            </a:r>
          </a:p>
        </p:txBody>
      </p:sp>
      <p:sp>
        <p:nvSpPr>
          <p:cNvPr id="4" name="Rounded Rectangle 3"/>
          <p:cNvSpPr/>
          <p:nvPr/>
        </p:nvSpPr>
        <p:spPr>
          <a:xfrm>
            <a:off x="429768" y="1161288"/>
            <a:ext cx="6547104" cy="49377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SEA-AD simple returned-only bar chart of the twenty non-MT genes appearing in the most sex/APOE by broad-cell categories" descr="SEA-AD simple returned-only bar chart of the twenty non-MT genes appearing in the most sex/APOE by broad-cell categories"/>
          <p:cNvPicPr>
            <a:picLocks noChangeAspect="1"/>
          </p:cNvPicPr>
          <p:nvPr/>
        </p:nvPicPr>
        <p:blipFill>
          <a:blip r:embed="rId3"/>
          <a:stretch>
            <a:fillRect/>
          </a:stretch>
        </p:blipFill>
        <p:spPr>
          <a:xfrm>
            <a:off x="996696" y="1252728"/>
            <a:ext cx="5413248" cy="4736592"/>
          </a:xfrm>
          <a:prstGeom prst="rect">
            <a:avLst/>
          </a:prstGeom>
        </p:spPr>
      </p:pic>
      <p:sp>
        <p:nvSpPr>
          <p:cNvPr id="6" name="Rounded Rectangle 5"/>
          <p:cNvSpPr/>
          <p:nvPr/>
        </p:nvSpPr>
        <p:spPr>
          <a:xfrm>
            <a:off x="7232904" y="1298448"/>
            <a:ext cx="4343400" cy="45537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516368" y="1618488"/>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62672" y="1591056"/>
            <a:ext cx="3630168"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How to read it</a:t>
            </a:r>
          </a:p>
        </p:txBody>
      </p:sp>
      <p:sp>
        <p:nvSpPr>
          <p:cNvPr id="9" name="Oval 8"/>
          <p:cNvSpPr/>
          <p:nvPr/>
        </p:nvSpPr>
        <p:spPr>
          <a:xfrm>
            <a:off x="7525512" y="221284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699248" y="2084831"/>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30" b="0" i="0">
                <a:solidFill>
                  <a:srgbClr val="1F2730"/>
                </a:solidFill>
                <a:latin typeface="Arial"/>
              </a:rPr>
              <a:t>Bar length = number of categories containing the gene.</a:t>
            </a:r>
          </a:p>
        </p:txBody>
      </p:sp>
      <p:sp>
        <p:nvSpPr>
          <p:cNvPr id="11" name="Oval 10"/>
          <p:cNvSpPr/>
          <p:nvPr/>
        </p:nvSpPr>
        <p:spPr>
          <a:xfrm>
            <a:off x="7525512" y="2770632"/>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699248" y="2642615"/>
            <a:ext cx="3502151" cy="403187"/>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30" b="0" i="0" dirty="0">
                <a:solidFill>
                  <a:srgbClr val="1F2730"/>
                </a:solidFill>
                <a:latin typeface="Arial"/>
              </a:rPr>
              <a:t>Fill = categories whose score combines ≥2 returned calls</a:t>
            </a:r>
            <a:r>
              <a:rPr lang="en-US" sz="1130" b="0" i="0" dirty="0">
                <a:solidFill>
                  <a:srgbClr val="1F2730"/>
                </a:solidFill>
                <a:latin typeface="Arial"/>
              </a:rPr>
              <a:t> (used ACAT to aggregate p values)</a:t>
            </a:r>
            <a:endParaRPr sz="1130" b="0" i="0" dirty="0">
              <a:solidFill>
                <a:srgbClr val="1F2730"/>
              </a:solidFill>
              <a:latin typeface="Arial"/>
            </a:endParaRPr>
          </a:p>
        </p:txBody>
      </p:sp>
      <p:sp>
        <p:nvSpPr>
          <p:cNvPr id="13" name="Oval 12"/>
          <p:cNvSpPr/>
          <p:nvPr/>
        </p:nvSpPr>
        <p:spPr>
          <a:xfrm>
            <a:off x="7525512" y="3328415"/>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699248" y="3200399"/>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30" b="0" i="0">
                <a:solidFill>
                  <a:srgbClr val="1F2730"/>
                </a:solidFill>
                <a:latin typeface="Arial"/>
              </a:rPr>
              <a:t>HGSNAT: 2 categories, 1 group, 2 networks; ACAT in 1.</a:t>
            </a:r>
          </a:p>
        </p:txBody>
      </p:sp>
      <p:sp>
        <p:nvSpPr>
          <p:cNvPr id="15" name="Oval 14"/>
          <p:cNvSpPr/>
          <p:nvPr/>
        </p:nvSpPr>
        <p:spPr>
          <a:xfrm>
            <a:off x="7525512" y="3886199"/>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699248" y="3758183"/>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30" b="0" i="0">
                <a:solidFill>
                  <a:srgbClr val="1F2730"/>
                </a:solidFill>
                <a:latin typeface="Arial"/>
              </a:rPr>
              <a:t>DYNLT1, ZNF706, METTL26, GOLT1B also recur in 2 categories.</a:t>
            </a:r>
          </a:p>
        </p:txBody>
      </p:sp>
      <p:sp>
        <p:nvSpPr>
          <p:cNvPr id="17" name="Oval 16"/>
          <p:cNvSpPr/>
          <p:nvPr/>
        </p:nvSpPr>
        <p:spPr>
          <a:xfrm>
            <a:off x="7525512" y="4443983"/>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699248" y="4315968"/>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30" b="0" i="0">
                <a:solidFill>
                  <a:srgbClr val="1F2730"/>
                </a:solidFill>
                <a:latin typeface="Arial"/>
              </a:rPr>
              <a:t>Top 20 by category count, best exploratory score, then symbol.</a:t>
            </a:r>
          </a:p>
        </p:txBody>
      </p:sp>
      <p:sp>
        <p:nvSpPr>
          <p:cNvPr id="19" name="Rounded Rectangle 18"/>
          <p:cNvSpPr/>
          <p:nvPr/>
        </p:nvSpPr>
        <p:spPr>
          <a:xfrm>
            <a:off x="7516368" y="5074920"/>
            <a:ext cx="3749039" cy="51206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690104" y="5175504"/>
            <a:ext cx="3401568" cy="329184"/>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010" b="1" i="0">
                <a:solidFill>
                  <a:srgbClr val="9E3A00"/>
                </a:solidFill>
                <a:latin typeface="Arial"/>
              </a:rPr>
              <a:t>Only 4 categories have returns—recurrence ceilings are low.</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SEA-AD output: 96 non-MT category units represent 91 genes</a:t>
            </a:r>
          </a:p>
        </p:txBody>
      </p:sp>
      <p:sp>
        <p:nvSpPr>
          <p:cNvPr id="3" name="Rounded Rectangle 2"/>
          <p:cNvSpPr/>
          <p:nvPr/>
        </p:nvSpPr>
        <p:spPr>
          <a:xfrm>
            <a:off x="658368"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04672"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684D"/>
                </a:solidFill>
                <a:latin typeface="Arial"/>
              </a:rPr>
              <a:t>121</a:t>
            </a:r>
          </a:p>
        </p:txBody>
      </p:sp>
      <p:sp>
        <p:nvSpPr>
          <p:cNvPr id="5" name="TextBox 4"/>
          <p:cNvSpPr txBox="1"/>
          <p:nvPr/>
        </p:nvSpPr>
        <p:spPr>
          <a:xfrm>
            <a:off x="804672"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non-MT returned call rows</a:t>
            </a:r>
          </a:p>
        </p:txBody>
      </p:sp>
      <p:sp>
        <p:nvSpPr>
          <p:cNvPr id="6" name="Rounded Rectangle 5"/>
          <p:cNvSpPr/>
          <p:nvPr/>
        </p:nvSpPr>
        <p:spPr>
          <a:xfrm>
            <a:off x="2798064"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944368"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684D"/>
                </a:solidFill>
                <a:latin typeface="Arial"/>
              </a:rPr>
              <a:t>96</a:t>
            </a:r>
          </a:p>
        </p:txBody>
      </p:sp>
      <p:sp>
        <p:nvSpPr>
          <p:cNvPr id="8" name="TextBox 7"/>
          <p:cNvSpPr txBox="1"/>
          <p:nvPr/>
        </p:nvSpPr>
        <p:spPr>
          <a:xfrm>
            <a:off x="2944368"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80" b="1" i="0">
                <a:solidFill>
                  <a:srgbClr val="4E5A68"/>
                </a:solidFill>
                <a:latin typeface="Arial"/>
              </a:rPr>
              <a:t>non-MT gene × category units</a:t>
            </a:r>
          </a:p>
        </p:txBody>
      </p:sp>
      <p:sp>
        <p:nvSpPr>
          <p:cNvPr id="9" name="Rounded Rectangle 8"/>
          <p:cNvSpPr/>
          <p:nvPr/>
        </p:nvSpPr>
        <p:spPr>
          <a:xfrm>
            <a:off x="4937760"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84064"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684D"/>
                </a:solidFill>
                <a:latin typeface="Arial"/>
              </a:rPr>
              <a:t>91</a:t>
            </a:r>
          </a:p>
        </p:txBody>
      </p:sp>
      <p:sp>
        <p:nvSpPr>
          <p:cNvPr id="11" name="TextBox 10"/>
          <p:cNvSpPr txBox="1"/>
          <p:nvPr/>
        </p:nvSpPr>
        <p:spPr>
          <a:xfrm>
            <a:off x="5084064"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distinct gene symbols</a:t>
            </a:r>
          </a:p>
        </p:txBody>
      </p:sp>
      <p:sp>
        <p:nvSpPr>
          <p:cNvPr id="12" name="Rounded Rectangle 11"/>
          <p:cNvSpPr/>
          <p:nvPr/>
        </p:nvSpPr>
        <p:spPr>
          <a:xfrm>
            <a:off x="7077456"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223760"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72B2"/>
                </a:solidFill>
                <a:latin typeface="Arial"/>
              </a:rPr>
              <a:t>4</a:t>
            </a:r>
          </a:p>
        </p:txBody>
      </p:sp>
      <p:sp>
        <p:nvSpPr>
          <p:cNvPr id="14" name="TextBox 13"/>
          <p:cNvSpPr txBox="1"/>
          <p:nvPr/>
        </p:nvSpPr>
        <p:spPr>
          <a:xfrm>
            <a:off x="7223760"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80" b="1" i="0">
                <a:solidFill>
                  <a:srgbClr val="4E5A68"/>
                </a:solidFill>
                <a:latin typeface="Arial"/>
              </a:rPr>
              <a:t>categories with non-MT returns</a:t>
            </a:r>
          </a:p>
        </p:txBody>
      </p:sp>
      <p:sp>
        <p:nvSpPr>
          <p:cNvPr id="15" name="Rounded Rectangle 14"/>
          <p:cNvSpPr/>
          <p:nvPr/>
        </p:nvSpPr>
        <p:spPr>
          <a:xfrm>
            <a:off x="9217152"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363456"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895600"/>
                </a:solidFill>
                <a:latin typeface="Arial"/>
              </a:rPr>
              <a:t>18</a:t>
            </a:r>
          </a:p>
        </p:txBody>
      </p:sp>
      <p:sp>
        <p:nvSpPr>
          <p:cNvPr id="17" name="TextBox 16"/>
          <p:cNvSpPr txBox="1"/>
          <p:nvPr/>
        </p:nvSpPr>
        <p:spPr>
          <a:xfrm>
            <a:off x="9363456"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top-five displayed rows</a:t>
            </a:r>
          </a:p>
        </p:txBody>
      </p:sp>
      <p:sp>
        <p:nvSpPr>
          <p:cNvPr id="18" name="Rounded Rectangle 17"/>
          <p:cNvSpPr/>
          <p:nvPr/>
        </p:nvSpPr>
        <p:spPr>
          <a:xfrm>
            <a:off x="658368" y="2871216"/>
            <a:ext cx="5266944" cy="283464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32688" y="319125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78992" y="3163824"/>
            <a:ext cx="4572000"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Where non-MT driver units occur</a:t>
            </a:r>
          </a:p>
        </p:txBody>
      </p:sp>
      <p:sp>
        <p:nvSpPr>
          <p:cNvPr id="21" name="TextBox 20"/>
          <p:cNvSpPr txBox="1"/>
          <p:nvPr/>
        </p:nvSpPr>
        <p:spPr>
          <a:xfrm>
            <a:off x="941832" y="3685032"/>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19" b="1" i="0">
                <a:solidFill>
                  <a:srgbClr val="00684D"/>
                </a:solidFill>
                <a:latin typeface="Arial"/>
              </a:rPr>
              <a:t>By sex/APOE group</a:t>
            </a:r>
          </a:p>
        </p:txBody>
      </p:sp>
      <p:sp>
        <p:nvSpPr>
          <p:cNvPr id="22" name="TextBox 21"/>
          <p:cNvSpPr txBox="1"/>
          <p:nvPr/>
        </p:nvSpPr>
        <p:spPr>
          <a:xfrm>
            <a:off x="941832" y="4023360"/>
            <a:ext cx="4544568" cy="54864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70" b="1" i="0">
                <a:solidFill>
                  <a:srgbClr val="0F233D"/>
                </a:solidFill>
                <a:latin typeface="Arial"/>
              </a:rPr>
              <a:t>M_e33 93  •  F_e33 3  •  all other groups 0</a:t>
            </a:r>
          </a:p>
        </p:txBody>
      </p:sp>
      <p:sp>
        <p:nvSpPr>
          <p:cNvPr id="23" name="TextBox 22"/>
          <p:cNvSpPr txBox="1"/>
          <p:nvPr/>
        </p:nvSpPr>
        <p:spPr>
          <a:xfrm>
            <a:off x="941832" y="4718304"/>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19" b="1" i="0">
                <a:solidFill>
                  <a:srgbClr val="00684D"/>
                </a:solidFill>
                <a:latin typeface="Arial"/>
              </a:rPr>
              <a:t>By broad network</a:t>
            </a:r>
          </a:p>
        </p:txBody>
      </p:sp>
      <p:sp>
        <p:nvSpPr>
          <p:cNvPr id="24" name="TextBox 23"/>
          <p:cNvSpPr txBox="1"/>
          <p:nvPr/>
        </p:nvSpPr>
        <p:spPr>
          <a:xfrm>
            <a:off x="941832" y="5010912"/>
            <a:ext cx="4544568" cy="56692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30" b="1" i="0">
                <a:solidFill>
                  <a:srgbClr val="0F233D"/>
                </a:solidFill>
                <a:latin typeface="Arial"/>
              </a:rPr>
              <a:t>Excitatory 58 • Inhibitory 33 • Oligo 5
Astrocytes, Microglia, OPCs, Vasculature 0</a:t>
            </a:r>
          </a:p>
        </p:txBody>
      </p:sp>
      <p:sp>
        <p:nvSpPr>
          <p:cNvPr id="25" name="Rounded Rectangle 24"/>
          <p:cNvSpPr/>
          <p:nvPr/>
        </p:nvSpPr>
        <p:spPr>
          <a:xfrm>
            <a:off x="6181344" y="2871216"/>
            <a:ext cx="5010912" cy="2834640"/>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455664" y="319125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601968" y="3163824"/>
            <a:ext cx="4315968" cy="28931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dirty="0">
                <a:solidFill>
                  <a:srgbClr val="0F233D"/>
                </a:solidFill>
                <a:latin typeface="Arial"/>
              </a:rPr>
              <a:t>Most recurrent genes</a:t>
            </a:r>
          </a:p>
        </p:txBody>
      </p:sp>
      <p:sp>
        <p:nvSpPr>
          <p:cNvPr id="28" name="TextBox 27"/>
          <p:cNvSpPr txBox="1"/>
          <p:nvPr/>
        </p:nvSpPr>
        <p:spPr>
          <a:xfrm>
            <a:off x="6473952" y="3675887"/>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1" i="0">
                <a:solidFill>
                  <a:srgbClr val="0F233D"/>
                </a:solidFill>
                <a:latin typeface="Arial"/>
              </a:rPr>
              <a:t>HGSNAT</a:t>
            </a:r>
          </a:p>
        </p:txBody>
      </p:sp>
      <p:sp>
        <p:nvSpPr>
          <p:cNvPr id="29" name="Rectangle 28"/>
          <p:cNvSpPr/>
          <p:nvPr/>
        </p:nvSpPr>
        <p:spPr>
          <a:xfrm>
            <a:off x="7891272" y="3703320"/>
            <a:ext cx="2395728" cy="14630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0442448" y="3675887"/>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1040" b="1" i="0">
                <a:solidFill>
                  <a:srgbClr val="0072B2"/>
                </a:solidFill>
                <a:latin typeface="Arial"/>
              </a:rPr>
              <a:t>2</a:t>
            </a:r>
          </a:p>
        </p:txBody>
      </p:sp>
      <p:sp>
        <p:nvSpPr>
          <p:cNvPr id="31" name="TextBox 30"/>
          <p:cNvSpPr txBox="1"/>
          <p:nvPr/>
        </p:nvSpPr>
        <p:spPr>
          <a:xfrm>
            <a:off x="6473952" y="3968496"/>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1" i="0">
                <a:solidFill>
                  <a:srgbClr val="0F233D"/>
                </a:solidFill>
                <a:latin typeface="Arial"/>
              </a:rPr>
              <a:t>DYNLT1</a:t>
            </a:r>
          </a:p>
        </p:txBody>
      </p:sp>
      <p:sp>
        <p:nvSpPr>
          <p:cNvPr id="32" name="Rectangle 31"/>
          <p:cNvSpPr/>
          <p:nvPr/>
        </p:nvSpPr>
        <p:spPr>
          <a:xfrm>
            <a:off x="7891272" y="3995928"/>
            <a:ext cx="2395728" cy="14630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442448" y="3968496"/>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1040" b="1" i="0">
                <a:solidFill>
                  <a:srgbClr val="0072B2"/>
                </a:solidFill>
                <a:latin typeface="Arial"/>
              </a:rPr>
              <a:t>2</a:t>
            </a:r>
          </a:p>
        </p:txBody>
      </p:sp>
      <p:sp>
        <p:nvSpPr>
          <p:cNvPr id="34" name="TextBox 33"/>
          <p:cNvSpPr txBox="1"/>
          <p:nvPr/>
        </p:nvSpPr>
        <p:spPr>
          <a:xfrm>
            <a:off x="6473952" y="4261103"/>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1" i="0">
                <a:solidFill>
                  <a:srgbClr val="0F233D"/>
                </a:solidFill>
                <a:latin typeface="Arial"/>
              </a:rPr>
              <a:t>ZNF706</a:t>
            </a:r>
          </a:p>
        </p:txBody>
      </p:sp>
      <p:sp>
        <p:nvSpPr>
          <p:cNvPr id="35" name="Rectangle 34"/>
          <p:cNvSpPr/>
          <p:nvPr/>
        </p:nvSpPr>
        <p:spPr>
          <a:xfrm>
            <a:off x="7891272" y="4288536"/>
            <a:ext cx="2395728" cy="14630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0442448" y="4261103"/>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1040" b="1" i="0">
                <a:solidFill>
                  <a:srgbClr val="0072B2"/>
                </a:solidFill>
                <a:latin typeface="Arial"/>
              </a:rPr>
              <a:t>2</a:t>
            </a:r>
          </a:p>
        </p:txBody>
      </p:sp>
      <p:sp>
        <p:nvSpPr>
          <p:cNvPr id="37" name="TextBox 36"/>
          <p:cNvSpPr txBox="1"/>
          <p:nvPr/>
        </p:nvSpPr>
        <p:spPr>
          <a:xfrm>
            <a:off x="6473952" y="4553712"/>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1" i="0">
                <a:solidFill>
                  <a:srgbClr val="0F233D"/>
                </a:solidFill>
                <a:latin typeface="Arial"/>
              </a:rPr>
              <a:t>METTL26</a:t>
            </a:r>
          </a:p>
        </p:txBody>
      </p:sp>
      <p:sp>
        <p:nvSpPr>
          <p:cNvPr id="38" name="Rectangle 37"/>
          <p:cNvSpPr/>
          <p:nvPr/>
        </p:nvSpPr>
        <p:spPr>
          <a:xfrm>
            <a:off x="7891272" y="4581144"/>
            <a:ext cx="2395728" cy="14630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0442448" y="4553712"/>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1040" b="1" i="0">
                <a:solidFill>
                  <a:srgbClr val="0072B2"/>
                </a:solidFill>
                <a:latin typeface="Arial"/>
              </a:rPr>
              <a:t>2</a:t>
            </a:r>
          </a:p>
        </p:txBody>
      </p:sp>
      <p:sp>
        <p:nvSpPr>
          <p:cNvPr id="40" name="TextBox 39"/>
          <p:cNvSpPr txBox="1"/>
          <p:nvPr/>
        </p:nvSpPr>
        <p:spPr>
          <a:xfrm>
            <a:off x="6473952" y="4846320"/>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1" i="0">
                <a:solidFill>
                  <a:srgbClr val="0F233D"/>
                </a:solidFill>
                <a:latin typeface="Arial"/>
              </a:rPr>
              <a:t>GOLT1B</a:t>
            </a:r>
          </a:p>
        </p:txBody>
      </p:sp>
      <p:sp>
        <p:nvSpPr>
          <p:cNvPr id="41" name="Rectangle 40"/>
          <p:cNvSpPr/>
          <p:nvPr/>
        </p:nvSpPr>
        <p:spPr>
          <a:xfrm>
            <a:off x="7891272" y="4873752"/>
            <a:ext cx="2395728" cy="14630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10442448" y="4846320"/>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1040" b="1" i="0">
                <a:solidFill>
                  <a:srgbClr val="0072B2"/>
                </a:solidFill>
                <a:latin typeface="Arial"/>
              </a:rPr>
              <a:t>2</a:t>
            </a:r>
          </a:p>
        </p:txBody>
      </p:sp>
      <p:sp>
        <p:nvSpPr>
          <p:cNvPr id="43" name="TextBox 42"/>
          <p:cNvSpPr txBox="1"/>
          <p:nvPr/>
        </p:nvSpPr>
        <p:spPr>
          <a:xfrm>
            <a:off x="6473952" y="5138927"/>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1" i="0">
                <a:solidFill>
                  <a:srgbClr val="0F233D"/>
                </a:solidFill>
                <a:latin typeface="Arial"/>
              </a:rPr>
              <a:t>BEX3</a:t>
            </a:r>
          </a:p>
        </p:txBody>
      </p:sp>
      <p:sp>
        <p:nvSpPr>
          <p:cNvPr id="44" name="Rectangle 43"/>
          <p:cNvSpPr/>
          <p:nvPr/>
        </p:nvSpPr>
        <p:spPr>
          <a:xfrm>
            <a:off x="7891272" y="5166359"/>
            <a:ext cx="1197864" cy="14630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10442448" y="5138927"/>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1040" b="1" i="0">
                <a:solidFill>
                  <a:srgbClr val="0072B2"/>
                </a:solidFill>
                <a:latin typeface="Arial"/>
              </a:rPr>
              <a:t>1</a:t>
            </a:r>
          </a:p>
        </p:txBody>
      </p:sp>
      <p:sp>
        <p:nvSpPr>
          <p:cNvPr id="46" name="TextBox 45"/>
          <p:cNvSpPr txBox="1"/>
          <p:nvPr/>
        </p:nvSpPr>
        <p:spPr>
          <a:xfrm>
            <a:off x="6473952" y="5477256"/>
            <a:ext cx="4334256"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69" b="0" i="1">
                <a:solidFill>
                  <a:srgbClr val="4E5A68"/>
                </a:solidFill>
                <a:latin typeface="Arial"/>
              </a:rPr>
              <a:t>Counts are category presence—not independent replication or call counts.</a:t>
            </a:r>
          </a:p>
        </p:txBody>
      </p:sp>
      <p:sp>
        <p:nvSpPr>
          <p:cNvPr id="47" name="TextBox 46"/>
          <p:cNvSpPr txBox="1"/>
          <p:nvPr/>
        </p:nvSpPr>
        <p:spPr>
          <a:xfrm>
            <a:off x="804672" y="6035040"/>
            <a:ext cx="10607040" cy="25603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00" b="1" i="0">
                <a:solidFill>
                  <a:srgbClr val="7E4C9A"/>
                </a:solidFill>
                <a:latin typeface="Arial"/>
              </a:rPr>
              <a:t>Validation breadth is bounded by availability: 40 of 42 active SEA-AD calls are M_e33.</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p:cNvSpPr txBox="1"/>
          <p:nvPr/>
        </p:nvSpPr>
        <p:spPr>
          <a:xfrm>
            <a:off x="713232" y="612648"/>
            <a:ext cx="2194560" cy="2560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50" b="1" i="0">
                <a:solidFill>
                  <a:srgbClr val="7E4C9A"/>
                </a:solidFill>
                <a:latin typeface="Arial"/>
              </a:rPr>
              <a:t>PART 3</a:t>
            </a:r>
          </a:p>
        </p:txBody>
      </p:sp>
      <p:sp>
        <p:nvSpPr>
          <p:cNvPr id="3" name="Rectangle 2"/>
          <p:cNvSpPr/>
          <p:nvPr/>
        </p:nvSpPr>
        <p:spPr>
          <a:xfrm>
            <a:off x="713232" y="1152144"/>
            <a:ext cx="91440" cy="2176272"/>
          </a:xfrm>
          <a:prstGeom prst="rect">
            <a:avLst/>
          </a:prstGeom>
          <a:solidFill>
            <a:srgbClr val="7E4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78992" y="1243584"/>
            <a:ext cx="7909560" cy="122529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3200" b="1" i="0">
                <a:solidFill>
                  <a:srgbClr val="FFFFFF"/>
                </a:solidFill>
                <a:latin typeface="Arial"/>
              </a:rPr>
              <a:t>Do the same drivers appear in both cohorts?</a:t>
            </a:r>
          </a:p>
        </p:txBody>
      </p:sp>
      <p:sp>
        <p:nvSpPr>
          <p:cNvPr id="5" name="TextBox 4"/>
          <p:cNvSpPr txBox="1"/>
          <p:nvPr/>
        </p:nvSpPr>
        <p:spPr>
          <a:xfrm>
            <a:off x="1097280" y="2743200"/>
            <a:ext cx="7589520" cy="76809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00" b="0" i="0">
                <a:solidFill>
                  <a:srgbClr val="CCDBEA"/>
                </a:solidFill>
                <a:latin typeface="Arial"/>
              </a:rPr>
              <a:t>The ROSMAP and SEA-AD returned-only results are compared at gene level and at matched sex/APOE-by-cell-type level.</a:t>
            </a:r>
          </a:p>
        </p:txBody>
      </p:sp>
      <p:sp>
        <p:nvSpPr>
          <p:cNvPr id="6" name="Rounded Rectangle 5"/>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40" b="1" i="0">
                <a:solidFill>
                  <a:srgbClr val="7E4C9A"/>
                </a:solidFill>
                <a:latin typeface="Arial"/>
              </a:rPr>
              <a:t>IN THIS PART</a:t>
            </a:r>
          </a:p>
        </p:txBody>
      </p:sp>
      <p:sp>
        <p:nvSpPr>
          <p:cNvPr id="8" name="Oval 7"/>
          <p:cNvSpPr/>
          <p:nvPr/>
        </p:nvSpPr>
        <p:spPr>
          <a:xfrm>
            <a:off x="9198864" y="2039112"/>
            <a:ext cx="310896" cy="310896"/>
          </a:xfrm>
          <a:prstGeom prst="ellipse">
            <a:avLst/>
          </a:prstGeom>
          <a:solidFill>
            <a:srgbClr val="7E4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FFFFFF"/>
                </a:solidFill>
                <a:latin typeface="Arial"/>
              </a:rPr>
              <a:t>1</a:t>
            </a:r>
          </a:p>
        </p:txBody>
      </p:sp>
      <p:sp>
        <p:nvSpPr>
          <p:cNvPr id="10" name="TextBox 9"/>
          <p:cNvSpPr txBox="1"/>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1" i="0">
                <a:solidFill>
                  <a:srgbClr val="FFFFFF"/>
                </a:solidFill>
                <a:latin typeface="Arial"/>
              </a:rPr>
              <a:t>Comparison design</a:t>
            </a:r>
          </a:p>
        </p:txBody>
      </p:sp>
      <p:sp>
        <p:nvSpPr>
          <p:cNvPr id="11" name="Oval 10"/>
          <p:cNvSpPr/>
          <p:nvPr/>
        </p:nvSpPr>
        <p:spPr>
          <a:xfrm>
            <a:off x="9198864" y="2788920"/>
            <a:ext cx="310896" cy="310896"/>
          </a:xfrm>
          <a:prstGeom prst="ellipse">
            <a:avLst/>
          </a:prstGeom>
          <a:solidFill>
            <a:srgbClr val="7E4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FFFFFF"/>
                </a:solidFill>
                <a:latin typeface="Arial"/>
              </a:rPr>
              <a:t>2</a:t>
            </a:r>
          </a:p>
        </p:txBody>
      </p:sp>
      <p:sp>
        <p:nvSpPr>
          <p:cNvPr id="13" name="TextBox 12"/>
          <p:cNvSpPr txBox="1"/>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1" i="0">
                <a:solidFill>
                  <a:srgbClr val="FFFFFF"/>
                </a:solidFill>
                <a:latin typeface="Arial"/>
              </a:rPr>
              <a:t>What overlaps</a:t>
            </a:r>
          </a:p>
        </p:txBody>
      </p:sp>
      <p:sp>
        <p:nvSpPr>
          <p:cNvPr id="14" name="Oval 13"/>
          <p:cNvSpPr/>
          <p:nvPr/>
        </p:nvSpPr>
        <p:spPr>
          <a:xfrm>
            <a:off x="9198864" y="3538727"/>
            <a:ext cx="310896" cy="310896"/>
          </a:xfrm>
          <a:prstGeom prst="ellipse">
            <a:avLst/>
          </a:prstGeom>
          <a:solidFill>
            <a:srgbClr val="7E4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FFFFFF"/>
                </a:solidFill>
                <a:latin typeface="Arial"/>
              </a:rPr>
              <a:t>3</a:t>
            </a:r>
          </a:p>
        </p:txBody>
      </p:sp>
      <p:sp>
        <p:nvSpPr>
          <p:cNvPr id="16" name="TextBox 15"/>
          <p:cNvSpPr txBox="1"/>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1" i="0">
                <a:solidFill>
                  <a:srgbClr val="FFFFFF"/>
                </a:solidFill>
                <a:latin typeface="Arial"/>
              </a:rPr>
              <a:t>Matched categories</a:t>
            </a:r>
          </a:p>
        </p:txBody>
      </p:sp>
      <p:sp>
        <p:nvSpPr>
          <p:cNvPr id="17" name="Oval 16"/>
          <p:cNvSpPr/>
          <p:nvPr/>
        </p:nvSpPr>
        <p:spPr>
          <a:xfrm>
            <a:off x="9198864" y="4288536"/>
            <a:ext cx="310896" cy="310896"/>
          </a:xfrm>
          <a:prstGeom prst="ellipse">
            <a:avLst/>
          </a:prstGeom>
          <a:solidFill>
            <a:srgbClr val="7E4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FFFFFF"/>
                </a:solidFill>
                <a:latin typeface="Arial"/>
              </a:rPr>
              <a:t>4</a:t>
            </a:r>
          </a:p>
        </p:txBody>
      </p:sp>
      <p:sp>
        <p:nvSpPr>
          <p:cNvPr id="19" name="TextBox 18"/>
          <p:cNvSpPr txBox="1"/>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1" i="0">
                <a:solidFill>
                  <a:srgbClr val="FFFFFF"/>
                </a:solidFill>
                <a:latin typeface="Arial"/>
              </a:rPr>
              <a:t>What it means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Two ways to ask whether a driver replicates</a:t>
            </a:r>
          </a:p>
        </p:txBody>
      </p:sp>
      <p:sp>
        <p:nvSpPr>
          <p:cNvPr id="3" name="TextBox 2"/>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Gene-level agreement is permissive; category-level agreement also requires the same sex/APOE group and cell type.</a:t>
            </a:r>
          </a:p>
        </p:txBody>
      </p:sp>
      <p:sp>
        <p:nvSpPr>
          <p:cNvPr id="4" name="Rounded Rectangle 3"/>
          <p:cNvSpPr/>
          <p:nvPr/>
        </p:nvSpPr>
        <p:spPr>
          <a:xfrm>
            <a:off x="585216" y="1389888"/>
            <a:ext cx="5358384" cy="393192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1682496"/>
            <a:ext cx="2926080" cy="2468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00" b="1" i="0">
                <a:solidFill>
                  <a:srgbClr val="0072B2"/>
                </a:solidFill>
                <a:latin typeface="Arial"/>
              </a:rPr>
              <a:t>GENE LEVEL</a:t>
            </a:r>
          </a:p>
        </p:txBody>
      </p:sp>
      <p:sp>
        <p:nvSpPr>
          <p:cNvPr id="6" name="TextBox 5"/>
          <p:cNvSpPr txBox="1"/>
          <p:nvPr/>
        </p:nvSpPr>
        <p:spPr>
          <a:xfrm>
            <a:off x="868680" y="1993392"/>
            <a:ext cx="4526280" cy="670953"/>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000" b="1" i="0" dirty="0">
                <a:solidFill>
                  <a:srgbClr val="0F233D"/>
                </a:solidFill>
                <a:latin typeface="Arial"/>
              </a:rPr>
              <a:t>Does the same gene return </a:t>
            </a:r>
            <a:r>
              <a:rPr lang="en-US" sz="2000" b="1" i="0" dirty="0">
                <a:solidFill>
                  <a:srgbClr val="0F233D"/>
                </a:solidFill>
                <a:latin typeface="Arial"/>
              </a:rPr>
              <a:t>from both</a:t>
            </a:r>
            <a:r>
              <a:rPr sz="2000" b="1" i="0" dirty="0">
                <a:solidFill>
                  <a:srgbClr val="0F233D"/>
                </a:solidFill>
                <a:latin typeface="Arial"/>
              </a:rPr>
              <a:t>?</a:t>
            </a:r>
          </a:p>
        </p:txBody>
      </p:sp>
      <p:sp>
        <p:nvSpPr>
          <p:cNvPr id="7" name="Rounded Rectangle 6"/>
          <p:cNvSpPr/>
          <p:nvPr/>
        </p:nvSpPr>
        <p:spPr>
          <a:xfrm>
            <a:off x="868680" y="2834640"/>
            <a:ext cx="21031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14983" y="2926080"/>
            <a:ext cx="1810511"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72B2"/>
                </a:solidFill>
                <a:latin typeface="Arial"/>
              </a:rPr>
              <a:t>433</a:t>
            </a:r>
          </a:p>
        </p:txBody>
      </p:sp>
      <p:sp>
        <p:nvSpPr>
          <p:cNvPr id="9" name="TextBox 8"/>
          <p:cNvSpPr txBox="1"/>
          <p:nvPr/>
        </p:nvSpPr>
        <p:spPr>
          <a:xfrm>
            <a:off x="1014983" y="3383280"/>
            <a:ext cx="1810511"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ROSMAP driver genes</a:t>
            </a:r>
          </a:p>
        </p:txBody>
      </p:sp>
      <p:sp>
        <p:nvSpPr>
          <p:cNvPr id="10" name="Rounded Rectangle 9"/>
          <p:cNvSpPr/>
          <p:nvPr/>
        </p:nvSpPr>
        <p:spPr>
          <a:xfrm>
            <a:off x="3200400" y="2834640"/>
            <a:ext cx="21031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346704" y="2926080"/>
            <a:ext cx="1810511"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72B2"/>
                </a:solidFill>
                <a:latin typeface="Arial"/>
              </a:rPr>
              <a:t>91</a:t>
            </a:r>
          </a:p>
        </p:txBody>
      </p:sp>
      <p:sp>
        <p:nvSpPr>
          <p:cNvPr id="12" name="TextBox 11"/>
          <p:cNvSpPr txBox="1"/>
          <p:nvPr/>
        </p:nvSpPr>
        <p:spPr>
          <a:xfrm>
            <a:off x="3346704" y="3383280"/>
            <a:ext cx="1810511"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SEA-AD driver genes</a:t>
            </a:r>
          </a:p>
        </p:txBody>
      </p:sp>
      <p:sp>
        <p:nvSpPr>
          <p:cNvPr id="13" name="TextBox 12"/>
          <p:cNvSpPr txBox="1"/>
          <p:nvPr/>
        </p:nvSpPr>
        <p:spPr>
          <a:xfrm>
            <a:off x="877824" y="4206240"/>
            <a:ext cx="4754880" cy="54864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50" b="0" i="0">
                <a:solidFill>
                  <a:srgbClr val="4E5A68"/>
                </a:solidFill>
                <a:latin typeface="Arial"/>
              </a:rPr>
              <a:t>Ignores which sex/APOE group or cell type produced the return.</a:t>
            </a:r>
          </a:p>
        </p:txBody>
      </p:sp>
      <p:sp>
        <p:nvSpPr>
          <p:cNvPr id="14" name="Rounded Rectangle 13"/>
          <p:cNvSpPr/>
          <p:nvPr/>
        </p:nvSpPr>
        <p:spPr>
          <a:xfrm>
            <a:off x="6245352" y="1389888"/>
            <a:ext cx="5358384" cy="393192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528816" y="1682496"/>
            <a:ext cx="2926080" cy="2468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00" b="1" i="0">
                <a:solidFill>
                  <a:srgbClr val="895600"/>
                </a:solidFill>
                <a:latin typeface="Arial"/>
              </a:rPr>
              <a:t>CATEGORY LEVEL</a:t>
            </a:r>
          </a:p>
        </p:txBody>
      </p:sp>
      <p:sp>
        <p:nvSpPr>
          <p:cNvPr id="16" name="TextBox 15"/>
          <p:cNvSpPr txBox="1"/>
          <p:nvPr/>
        </p:nvSpPr>
        <p:spPr>
          <a:xfrm>
            <a:off x="6528816" y="1993392"/>
            <a:ext cx="4526280" cy="5852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000" b="1" i="0">
                <a:solidFill>
                  <a:srgbClr val="0F233D"/>
                </a:solidFill>
                <a:latin typeface="Arial"/>
              </a:rPr>
              <a:t>Same gene, same group, same cell type?</a:t>
            </a:r>
          </a:p>
        </p:txBody>
      </p:sp>
      <p:sp>
        <p:nvSpPr>
          <p:cNvPr id="17" name="Rounded Rectangle 16"/>
          <p:cNvSpPr/>
          <p:nvPr/>
        </p:nvSpPr>
        <p:spPr>
          <a:xfrm>
            <a:off x="6528816" y="2834640"/>
            <a:ext cx="21031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675120" y="2926080"/>
            <a:ext cx="1810511"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895600"/>
                </a:solidFill>
                <a:latin typeface="Arial"/>
              </a:rPr>
              <a:t>689</a:t>
            </a:r>
          </a:p>
        </p:txBody>
      </p:sp>
      <p:sp>
        <p:nvSpPr>
          <p:cNvPr id="19" name="TextBox 18"/>
          <p:cNvSpPr txBox="1"/>
          <p:nvPr/>
        </p:nvSpPr>
        <p:spPr>
          <a:xfrm>
            <a:off x="6675120" y="3383280"/>
            <a:ext cx="1810511"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80" b="1" i="0">
                <a:solidFill>
                  <a:srgbClr val="4E5A68"/>
                </a:solidFill>
                <a:latin typeface="Arial"/>
              </a:rPr>
              <a:t>ROSMAP gene × category units</a:t>
            </a:r>
          </a:p>
        </p:txBody>
      </p:sp>
      <p:sp>
        <p:nvSpPr>
          <p:cNvPr id="20" name="Rounded Rectangle 19"/>
          <p:cNvSpPr/>
          <p:nvPr/>
        </p:nvSpPr>
        <p:spPr>
          <a:xfrm>
            <a:off x="8860536" y="2834640"/>
            <a:ext cx="21031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006840" y="2926080"/>
            <a:ext cx="1810511"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895600"/>
                </a:solidFill>
                <a:latin typeface="Arial"/>
              </a:rPr>
              <a:t>96</a:t>
            </a:r>
          </a:p>
        </p:txBody>
      </p:sp>
      <p:sp>
        <p:nvSpPr>
          <p:cNvPr id="22" name="TextBox 21"/>
          <p:cNvSpPr txBox="1"/>
          <p:nvPr/>
        </p:nvSpPr>
        <p:spPr>
          <a:xfrm>
            <a:off x="9006840" y="3383280"/>
            <a:ext cx="1810511"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80" b="1" i="0">
                <a:solidFill>
                  <a:srgbClr val="4E5A68"/>
                </a:solidFill>
                <a:latin typeface="Arial"/>
              </a:rPr>
              <a:t>SEA-AD gene × category units</a:t>
            </a:r>
          </a:p>
        </p:txBody>
      </p:sp>
      <p:sp>
        <p:nvSpPr>
          <p:cNvPr id="23" name="TextBox 22"/>
          <p:cNvSpPr txBox="1"/>
          <p:nvPr/>
        </p:nvSpPr>
        <p:spPr>
          <a:xfrm>
            <a:off x="6537960" y="4206240"/>
            <a:ext cx="4754880" cy="54864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50" b="0" i="0">
                <a:solidFill>
                  <a:srgbClr val="4E5A68"/>
                </a:solidFill>
                <a:latin typeface="Arial"/>
              </a:rPr>
              <a:t>The strictest agreement: the driver keeps its full context.</a:t>
            </a:r>
          </a:p>
        </p:txBody>
      </p:sp>
      <p:sp>
        <p:nvSpPr>
          <p:cNvPr id="24" name="TextBox 23"/>
          <p:cNvSpPr txBox="1"/>
          <p:nvPr/>
        </p:nvSpPr>
        <p:spPr>
          <a:xfrm>
            <a:off x="804672" y="5806440"/>
            <a:ext cx="10607040" cy="25603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00" b="1" i="0">
                <a:solidFill>
                  <a:srgbClr val="7E4C9A"/>
                </a:solidFill>
                <a:latin typeface="Arial"/>
              </a:rPr>
              <a:t>Agreement is only possible where SEA-AD has returns: one female e33 excitatory category and three male e33 cell types.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35 of 91 SEA-AD drivers also return in ROSMAP</a:t>
            </a:r>
          </a:p>
        </p:txBody>
      </p:sp>
      <p:sp>
        <p:nvSpPr>
          <p:cNvPr id="3" name="TextBox 2"/>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Gene-level agreement is substantial despite different cohorts, platforms, and run availability.</a:t>
            </a:r>
          </a:p>
        </p:txBody>
      </p:sp>
      <p:sp>
        <p:nvSpPr>
          <p:cNvPr id="4" name="Rounded Rectangle 3"/>
          <p:cNvSpPr/>
          <p:nvPr/>
        </p:nvSpPr>
        <p:spPr>
          <a:xfrm>
            <a:off x="822960" y="1463040"/>
            <a:ext cx="3291840" cy="13258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51560" y="1627632"/>
            <a:ext cx="2834640" cy="50292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2600" b="1" i="0">
                <a:solidFill>
                  <a:srgbClr val="0072B2"/>
                </a:solidFill>
                <a:latin typeface="Arial"/>
              </a:rPr>
              <a:t>91</a:t>
            </a:r>
          </a:p>
        </p:txBody>
      </p:sp>
      <p:sp>
        <p:nvSpPr>
          <p:cNvPr id="6" name="TextBox 5"/>
          <p:cNvSpPr txBox="1"/>
          <p:nvPr/>
        </p:nvSpPr>
        <p:spPr>
          <a:xfrm>
            <a:off x="1051560" y="2212848"/>
            <a:ext cx="2834640" cy="36576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50" b="1" i="0">
                <a:solidFill>
                  <a:srgbClr val="4E5A68"/>
                </a:solidFill>
                <a:latin typeface="Arial"/>
              </a:rPr>
              <a:t>SEA-AD driver genes</a:t>
            </a:r>
          </a:p>
        </p:txBody>
      </p:sp>
      <p:sp>
        <p:nvSpPr>
          <p:cNvPr id="7" name="Rounded Rectangle 6"/>
          <p:cNvSpPr/>
          <p:nvPr/>
        </p:nvSpPr>
        <p:spPr>
          <a:xfrm>
            <a:off x="4434840" y="1463040"/>
            <a:ext cx="3291840" cy="13258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663440" y="1627632"/>
            <a:ext cx="2834640" cy="50292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2600" b="1" i="0">
                <a:solidFill>
                  <a:srgbClr val="0072B2"/>
                </a:solidFill>
                <a:latin typeface="Arial"/>
              </a:rPr>
              <a:t>35 (38%)</a:t>
            </a:r>
          </a:p>
        </p:txBody>
      </p:sp>
      <p:sp>
        <p:nvSpPr>
          <p:cNvPr id="9" name="TextBox 8"/>
          <p:cNvSpPr txBox="1"/>
          <p:nvPr/>
        </p:nvSpPr>
        <p:spPr>
          <a:xfrm>
            <a:off x="4663440" y="2212848"/>
            <a:ext cx="2834640" cy="36576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50" b="1" i="0">
                <a:solidFill>
                  <a:srgbClr val="4E5A68"/>
                </a:solidFill>
                <a:latin typeface="Arial"/>
              </a:rPr>
              <a:t>also ROSMAP drivers</a:t>
            </a:r>
          </a:p>
        </p:txBody>
      </p:sp>
      <p:sp>
        <p:nvSpPr>
          <p:cNvPr id="10" name="Rounded Rectangle 9"/>
          <p:cNvSpPr/>
          <p:nvPr/>
        </p:nvSpPr>
        <p:spPr>
          <a:xfrm>
            <a:off x="8046720" y="1463040"/>
            <a:ext cx="3291840" cy="13258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75320" y="1627632"/>
            <a:ext cx="2834640" cy="50292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2600" b="1" i="0">
                <a:solidFill>
                  <a:srgbClr val="0072B2"/>
                </a:solidFill>
                <a:latin typeface="Arial"/>
              </a:rPr>
              <a:t>8</a:t>
            </a:r>
          </a:p>
        </p:txBody>
      </p:sp>
      <p:sp>
        <p:nvSpPr>
          <p:cNvPr id="12" name="TextBox 11"/>
          <p:cNvSpPr txBox="1"/>
          <p:nvPr/>
        </p:nvSpPr>
        <p:spPr>
          <a:xfrm>
            <a:off x="8275320" y="2212848"/>
            <a:ext cx="2834640" cy="36576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50" b="1" i="0">
                <a:solidFill>
                  <a:srgbClr val="4E5A68"/>
                </a:solidFill>
                <a:latin typeface="Arial"/>
              </a:rPr>
              <a:t>exact category matches</a:t>
            </a:r>
          </a:p>
        </p:txBody>
      </p:sp>
      <p:sp>
        <p:nvSpPr>
          <p:cNvPr id="13" name="Rounded Rectangle 12"/>
          <p:cNvSpPr/>
          <p:nvPr/>
        </p:nvSpPr>
        <p:spPr>
          <a:xfrm>
            <a:off x="822960" y="3246120"/>
            <a:ext cx="10515600" cy="2103120"/>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097280" y="3547872"/>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243584" y="3520440"/>
            <a:ext cx="9729216"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Shared genes visible in this deck's figures</a:t>
            </a:r>
          </a:p>
        </p:txBody>
      </p:sp>
      <p:sp>
        <p:nvSpPr>
          <p:cNvPr id="16" name="Oval 15"/>
          <p:cNvSpPr/>
          <p:nvPr/>
        </p:nvSpPr>
        <p:spPr>
          <a:xfrm>
            <a:off x="1115568" y="4169663"/>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289304" y="4041648"/>
            <a:ext cx="9610344" cy="42062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0" i="0">
                <a:solidFill>
                  <a:srgbClr val="1F2730"/>
                </a:solidFill>
                <a:latin typeface="Arial"/>
              </a:rPr>
              <a:t>On both recurrence charts: BEX3, DYNLT1, SELENOM, TTC8.</a:t>
            </a:r>
          </a:p>
        </p:txBody>
      </p:sp>
      <p:sp>
        <p:nvSpPr>
          <p:cNvPr id="18" name="Oval 17"/>
          <p:cNvSpPr/>
          <p:nvPr/>
        </p:nvSpPr>
        <p:spPr>
          <a:xfrm>
            <a:off x="1115568" y="459028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289304" y="4462272"/>
            <a:ext cx="9610344" cy="42062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0" i="0">
                <a:solidFill>
                  <a:srgbClr val="1F2730"/>
                </a:solidFill>
                <a:latin typeface="Arial"/>
              </a:rPr>
              <a:t>SEA-AD's most recurrent gene, HGSNAT, is also a ROSMAP driver — but in different sex/APOE groups.</a:t>
            </a:r>
          </a:p>
        </p:txBody>
      </p:sp>
      <p:sp>
        <p:nvSpPr>
          <p:cNvPr id="20" name="Oval 19"/>
          <p:cNvSpPr/>
          <p:nvPr/>
        </p:nvSpPr>
        <p:spPr>
          <a:xfrm>
            <a:off x="1115568" y="501091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289304" y="4882896"/>
            <a:ext cx="9610344" cy="24006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0" i="0" dirty="0">
                <a:solidFill>
                  <a:srgbClr val="1F2730"/>
                </a:solidFill>
                <a:latin typeface="Arial"/>
              </a:rPr>
              <a:t>ROSMAP’s </a:t>
            </a:r>
            <a:r>
              <a:rPr lang="en-US" sz="1200" b="0" i="0" dirty="0">
                <a:solidFill>
                  <a:srgbClr val="1F2730"/>
                </a:solidFill>
                <a:latin typeface="Arial"/>
              </a:rPr>
              <a:t>most popular</a:t>
            </a:r>
            <a:r>
              <a:rPr sz="1200" b="0" i="0" dirty="0">
                <a:solidFill>
                  <a:srgbClr val="1F2730"/>
                </a:solidFill>
                <a:latin typeface="Arial"/>
              </a:rPr>
              <a:t> gene RPS15 returns in SEA-AD male e33 inhibitory neurons.</a:t>
            </a:r>
          </a:p>
        </p:txBody>
      </p:sp>
      <p:sp>
        <p:nvSpPr>
          <p:cNvPr id="22" name="TextBox 21"/>
          <p:cNvSpPr txBox="1"/>
          <p:nvPr/>
        </p:nvSpPr>
        <p:spPr>
          <a:xfrm>
            <a:off x="804672" y="5806440"/>
            <a:ext cx="10607040" cy="25603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00" b="1" i="0">
                <a:solidFill>
                  <a:srgbClr val="7E4C9A"/>
                </a:solidFill>
                <a:latin typeface="Arial"/>
              </a:rPr>
              <a:t>One message: a third of the SEA-AD drivers are re-discoveries of ROSMAP drivers.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Eight driver-category pairs match exactly</a:t>
            </a:r>
          </a:p>
        </p:txBody>
      </p:sp>
      <p:sp>
        <p:nvSpPr>
          <p:cNvPr id="3" name="TextBox 2"/>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Same gene, same sex/APOE group, and same broad cell type in both cohorts.</a:t>
            </a:r>
          </a:p>
        </p:txBody>
      </p:sp>
      <p:sp>
        <p:nvSpPr>
          <p:cNvPr id="4" name="Rectangle 3"/>
          <p:cNvSpPr/>
          <p:nvPr/>
        </p:nvSpPr>
        <p:spPr>
          <a:xfrm>
            <a:off x="822960" y="1417320"/>
            <a:ext cx="3703320" cy="457200"/>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77824" y="1472184"/>
            <a:ext cx="3593591" cy="36576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00" b="1" i="0">
                <a:solidFill>
                  <a:srgbClr val="FFFFFF"/>
                </a:solidFill>
                <a:latin typeface="Arial"/>
              </a:rPr>
              <a:t>Sex/APOE · cell type</a:t>
            </a:r>
          </a:p>
        </p:txBody>
      </p:sp>
      <p:sp>
        <p:nvSpPr>
          <p:cNvPr id="6" name="Rectangle 5"/>
          <p:cNvSpPr/>
          <p:nvPr/>
        </p:nvSpPr>
        <p:spPr>
          <a:xfrm>
            <a:off x="4526280" y="1417320"/>
            <a:ext cx="1691640" cy="457200"/>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81144" y="1472184"/>
            <a:ext cx="1581912" cy="36576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00" b="1" i="0">
                <a:solidFill>
                  <a:srgbClr val="FFFFFF"/>
                </a:solidFill>
                <a:latin typeface="Arial"/>
              </a:rPr>
              <a:t>Gene</a:t>
            </a:r>
          </a:p>
        </p:txBody>
      </p:sp>
      <p:sp>
        <p:nvSpPr>
          <p:cNvPr id="8" name="Rectangle 7"/>
          <p:cNvSpPr/>
          <p:nvPr/>
        </p:nvSpPr>
        <p:spPr>
          <a:xfrm>
            <a:off x="6217920" y="1417320"/>
            <a:ext cx="2560320" cy="457200"/>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272784" y="1472184"/>
            <a:ext cx="2450591" cy="36576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00" b="1" i="0">
                <a:solidFill>
                  <a:srgbClr val="FFFFFF"/>
                </a:solidFill>
                <a:latin typeface="Arial"/>
              </a:rPr>
              <a:t>SEA-AD q (rank)</a:t>
            </a:r>
          </a:p>
        </p:txBody>
      </p:sp>
      <p:sp>
        <p:nvSpPr>
          <p:cNvPr id="10" name="Rectangle 9"/>
          <p:cNvSpPr/>
          <p:nvPr/>
        </p:nvSpPr>
        <p:spPr>
          <a:xfrm>
            <a:off x="8778240" y="1417320"/>
            <a:ext cx="2560320" cy="457200"/>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833104" y="1472184"/>
            <a:ext cx="2450591" cy="36576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00" b="1" i="0">
                <a:solidFill>
                  <a:srgbClr val="FFFFFF"/>
                </a:solidFill>
                <a:latin typeface="Arial"/>
              </a:rPr>
              <a:t>ROSMAP q (rank)</a:t>
            </a:r>
          </a:p>
        </p:txBody>
      </p:sp>
      <p:sp>
        <p:nvSpPr>
          <p:cNvPr id="12" name="Rectangle 11"/>
          <p:cNvSpPr/>
          <p:nvPr/>
        </p:nvSpPr>
        <p:spPr>
          <a:xfrm>
            <a:off x="822960" y="1874519"/>
            <a:ext cx="370332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77824" y="1920239"/>
            <a:ext cx="3593591"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40" b="0" i="0">
                <a:solidFill>
                  <a:srgbClr val="1F2730"/>
                </a:solidFill>
                <a:latin typeface="Arial"/>
              </a:rPr>
              <a:t>F_e33 · Excitatory neurons</a:t>
            </a:r>
          </a:p>
        </p:txBody>
      </p:sp>
      <p:sp>
        <p:nvSpPr>
          <p:cNvPr id="14" name="Rectangle 13"/>
          <p:cNvSpPr/>
          <p:nvPr/>
        </p:nvSpPr>
        <p:spPr>
          <a:xfrm>
            <a:off x="4526280" y="1874519"/>
            <a:ext cx="169164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81144" y="1920239"/>
            <a:ext cx="1581912"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40" b="0" i="0">
                <a:solidFill>
                  <a:srgbClr val="1F2730"/>
                </a:solidFill>
                <a:latin typeface="Arial"/>
              </a:rPr>
              <a:t>WDR82</a:t>
            </a:r>
          </a:p>
        </p:txBody>
      </p:sp>
      <p:sp>
        <p:nvSpPr>
          <p:cNvPr id="16" name="Rectangle 15"/>
          <p:cNvSpPr/>
          <p:nvPr/>
        </p:nvSpPr>
        <p:spPr>
          <a:xfrm>
            <a:off x="6217920" y="1874519"/>
            <a:ext cx="256032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272784" y="1920239"/>
            <a:ext cx="2450591"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40" b="0" i="0">
                <a:solidFill>
                  <a:srgbClr val="1F2730"/>
                </a:solidFill>
                <a:latin typeface="Arial"/>
              </a:rPr>
              <a:t>0.028  (#1)</a:t>
            </a:r>
          </a:p>
        </p:txBody>
      </p:sp>
      <p:sp>
        <p:nvSpPr>
          <p:cNvPr id="18" name="Rectangle 17"/>
          <p:cNvSpPr/>
          <p:nvPr/>
        </p:nvSpPr>
        <p:spPr>
          <a:xfrm>
            <a:off x="8778240" y="1874519"/>
            <a:ext cx="256032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833104" y="1920239"/>
            <a:ext cx="2450591"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40" b="0" i="0">
                <a:solidFill>
                  <a:srgbClr val="1F2730"/>
                </a:solidFill>
                <a:latin typeface="Arial"/>
              </a:rPr>
              <a:t>9.7e-5  (#5)</a:t>
            </a:r>
          </a:p>
        </p:txBody>
      </p:sp>
      <p:sp>
        <p:nvSpPr>
          <p:cNvPr id="20" name="Rectangle 19"/>
          <p:cNvSpPr/>
          <p:nvPr/>
        </p:nvSpPr>
        <p:spPr>
          <a:xfrm>
            <a:off x="822960" y="2331720"/>
            <a:ext cx="370332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77824" y="2377439"/>
            <a:ext cx="3593591"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40" b="0" i="0">
                <a:solidFill>
                  <a:srgbClr val="1F2730"/>
                </a:solidFill>
                <a:latin typeface="Arial"/>
              </a:rPr>
              <a:t>F_e33 · Excitatory neurons</a:t>
            </a:r>
          </a:p>
        </p:txBody>
      </p:sp>
      <p:sp>
        <p:nvSpPr>
          <p:cNvPr id="22" name="Rectangle 21"/>
          <p:cNvSpPr/>
          <p:nvPr/>
        </p:nvSpPr>
        <p:spPr>
          <a:xfrm>
            <a:off x="4526280" y="2331720"/>
            <a:ext cx="169164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81144" y="2377439"/>
            <a:ext cx="1581912"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40" b="0" i="0">
                <a:solidFill>
                  <a:srgbClr val="1F2730"/>
                </a:solidFill>
                <a:latin typeface="Arial"/>
              </a:rPr>
              <a:t>DMTF1</a:t>
            </a:r>
          </a:p>
        </p:txBody>
      </p:sp>
      <p:sp>
        <p:nvSpPr>
          <p:cNvPr id="24" name="Rectangle 23"/>
          <p:cNvSpPr/>
          <p:nvPr/>
        </p:nvSpPr>
        <p:spPr>
          <a:xfrm>
            <a:off x="6217920" y="2331720"/>
            <a:ext cx="256032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272784" y="2377439"/>
            <a:ext cx="2450591"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40" b="0" i="0">
                <a:solidFill>
                  <a:srgbClr val="1F2730"/>
                </a:solidFill>
                <a:latin typeface="Arial"/>
              </a:rPr>
              <a:t>0.045  (#2)</a:t>
            </a:r>
          </a:p>
        </p:txBody>
      </p:sp>
      <p:sp>
        <p:nvSpPr>
          <p:cNvPr id="26" name="Rectangle 25"/>
          <p:cNvSpPr/>
          <p:nvPr/>
        </p:nvSpPr>
        <p:spPr>
          <a:xfrm>
            <a:off x="8778240" y="2331720"/>
            <a:ext cx="256032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833104" y="2377439"/>
            <a:ext cx="2450591"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40" b="0" i="0">
                <a:solidFill>
                  <a:srgbClr val="1F2730"/>
                </a:solidFill>
                <a:latin typeface="Arial"/>
              </a:rPr>
              <a:t>0.043  (#42)</a:t>
            </a:r>
          </a:p>
        </p:txBody>
      </p:sp>
      <p:sp>
        <p:nvSpPr>
          <p:cNvPr id="28" name="Rectangle 27"/>
          <p:cNvSpPr/>
          <p:nvPr/>
        </p:nvSpPr>
        <p:spPr>
          <a:xfrm>
            <a:off x="822960" y="2788920"/>
            <a:ext cx="370332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77824" y="2834639"/>
            <a:ext cx="3593591"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40" b="0" i="0">
                <a:solidFill>
                  <a:srgbClr val="1F2730"/>
                </a:solidFill>
                <a:latin typeface="Arial"/>
              </a:rPr>
              <a:t>F_e33 · Excitatory neurons</a:t>
            </a:r>
          </a:p>
        </p:txBody>
      </p:sp>
      <p:sp>
        <p:nvSpPr>
          <p:cNvPr id="30" name="Rectangle 29"/>
          <p:cNvSpPr/>
          <p:nvPr/>
        </p:nvSpPr>
        <p:spPr>
          <a:xfrm>
            <a:off x="4526280" y="2788920"/>
            <a:ext cx="169164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581144" y="2834639"/>
            <a:ext cx="1581912"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40" b="0" i="0">
                <a:solidFill>
                  <a:srgbClr val="1F2730"/>
                </a:solidFill>
                <a:latin typeface="Arial"/>
              </a:rPr>
              <a:t>TPP2</a:t>
            </a:r>
          </a:p>
        </p:txBody>
      </p:sp>
      <p:sp>
        <p:nvSpPr>
          <p:cNvPr id="32" name="Rectangle 31"/>
          <p:cNvSpPr/>
          <p:nvPr/>
        </p:nvSpPr>
        <p:spPr>
          <a:xfrm>
            <a:off x="6217920" y="2788920"/>
            <a:ext cx="256032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272784" y="2834639"/>
            <a:ext cx="2450591"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40" b="0" i="0">
                <a:solidFill>
                  <a:srgbClr val="1F2730"/>
                </a:solidFill>
                <a:latin typeface="Arial"/>
              </a:rPr>
              <a:t>0.048  (#3)</a:t>
            </a:r>
          </a:p>
        </p:txBody>
      </p:sp>
      <p:sp>
        <p:nvSpPr>
          <p:cNvPr id="34" name="Rectangle 33"/>
          <p:cNvSpPr/>
          <p:nvPr/>
        </p:nvSpPr>
        <p:spPr>
          <a:xfrm>
            <a:off x="8778240" y="2788920"/>
            <a:ext cx="256032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833104" y="2834639"/>
            <a:ext cx="2450591"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40" b="0" i="0">
                <a:solidFill>
                  <a:srgbClr val="1F2730"/>
                </a:solidFill>
                <a:latin typeface="Arial"/>
              </a:rPr>
              <a:t>0.048  (#48)</a:t>
            </a:r>
          </a:p>
        </p:txBody>
      </p:sp>
      <p:sp>
        <p:nvSpPr>
          <p:cNvPr id="36" name="Rectangle 35"/>
          <p:cNvSpPr/>
          <p:nvPr/>
        </p:nvSpPr>
        <p:spPr>
          <a:xfrm>
            <a:off x="822960" y="3246120"/>
            <a:ext cx="370332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77824" y="3291839"/>
            <a:ext cx="3593591"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40" b="0" i="0">
                <a:solidFill>
                  <a:srgbClr val="1F2730"/>
                </a:solidFill>
                <a:latin typeface="Arial"/>
              </a:rPr>
              <a:t>M_e33 · Excitatory neurons</a:t>
            </a:r>
          </a:p>
        </p:txBody>
      </p:sp>
      <p:sp>
        <p:nvSpPr>
          <p:cNvPr id="38" name="Rectangle 37"/>
          <p:cNvSpPr/>
          <p:nvPr/>
        </p:nvSpPr>
        <p:spPr>
          <a:xfrm>
            <a:off x="4526280" y="3246120"/>
            <a:ext cx="169164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581144" y="3291839"/>
            <a:ext cx="1581912"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40" b="0" i="0">
                <a:solidFill>
                  <a:srgbClr val="1F2730"/>
                </a:solidFill>
                <a:latin typeface="Arial"/>
              </a:rPr>
              <a:t>TTC8</a:t>
            </a:r>
          </a:p>
        </p:txBody>
      </p:sp>
      <p:sp>
        <p:nvSpPr>
          <p:cNvPr id="40" name="Rectangle 39"/>
          <p:cNvSpPr/>
          <p:nvPr/>
        </p:nvSpPr>
        <p:spPr>
          <a:xfrm>
            <a:off x="6217920" y="3246120"/>
            <a:ext cx="256032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272784" y="3291839"/>
            <a:ext cx="2450591"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40" b="0" i="0">
                <a:solidFill>
                  <a:srgbClr val="1F2730"/>
                </a:solidFill>
                <a:latin typeface="Arial"/>
              </a:rPr>
              <a:t>0.008  (#3)</a:t>
            </a:r>
          </a:p>
        </p:txBody>
      </p:sp>
      <p:sp>
        <p:nvSpPr>
          <p:cNvPr id="42" name="Rectangle 41"/>
          <p:cNvSpPr/>
          <p:nvPr/>
        </p:nvSpPr>
        <p:spPr>
          <a:xfrm>
            <a:off x="8778240" y="3246120"/>
            <a:ext cx="256032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833104" y="3291839"/>
            <a:ext cx="2450591"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40" b="0" i="0">
                <a:solidFill>
                  <a:srgbClr val="1F2730"/>
                </a:solidFill>
                <a:latin typeface="Arial"/>
              </a:rPr>
              <a:t>0.020  (#24)</a:t>
            </a:r>
          </a:p>
        </p:txBody>
      </p:sp>
      <p:sp>
        <p:nvSpPr>
          <p:cNvPr id="44" name="Rectangle 43"/>
          <p:cNvSpPr/>
          <p:nvPr/>
        </p:nvSpPr>
        <p:spPr>
          <a:xfrm>
            <a:off x="822960" y="3703320"/>
            <a:ext cx="370332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877824" y="3749039"/>
            <a:ext cx="3593591"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40" b="0" i="0">
                <a:solidFill>
                  <a:srgbClr val="1F2730"/>
                </a:solidFill>
                <a:latin typeface="Arial"/>
              </a:rPr>
              <a:t>M_e33 · Inhibitory neurons</a:t>
            </a:r>
          </a:p>
        </p:txBody>
      </p:sp>
      <p:sp>
        <p:nvSpPr>
          <p:cNvPr id="46" name="Rectangle 45"/>
          <p:cNvSpPr/>
          <p:nvPr/>
        </p:nvSpPr>
        <p:spPr>
          <a:xfrm>
            <a:off x="4526280" y="3703320"/>
            <a:ext cx="169164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4581144" y="3749039"/>
            <a:ext cx="1581912"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40" b="0" i="0">
                <a:solidFill>
                  <a:srgbClr val="1F2730"/>
                </a:solidFill>
                <a:latin typeface="Arial"/>
              </a:rPr>
              <a:t>RPL30</a:t>
            </a:r>
          </a:p>
        </p:txBody>
      </p:sp>
      <p:sp>
        <p:nvSpPr>
          <p:cNvPr id="48" name="Rectangle 47"/>
          <p:cNvSpPr/>
          <p:nvPr/>
        </p:nvSpPr>
        <p:spPr>
          <a:xfrm>
            <a:off x="6217920" y="3703320"/>
            <a:ext cx="256032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6272784" y="3749039"/>
            <a:ext cx="2450591"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40" b="0" i="0">
                <a:solidFill>
                  <a:srgbClr val="1F2730"/>
                </a:solidFill>
                <a:latin typeface="Arial"/>
              </a:rPr>
              <a:t>8.1e-4  (#3)</a:t>
            </a:r>
          </a:p>
        </p:txBody>
      </p:sp>
      <p:sp>
        <p:nvSpPr>
          <p:cNvPr id="50" name="Rectangle 49"/>
          <p:cNvSpPr/>
          <p:nvPr/>
        </p:nvSpPr>
        <p:spPr>
          <a:xfrm>
            <a:off x="8778240" y="3703320"/>
            <a:ext cx="256032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833104" y="3749039"/>
            <a:ext cx="2450591"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40" b="0" i="0">
                <a:solidFill>
                  <a:srgbClr val="1F2730"/>
                </a:solidFill>
                <a:latin typeface="Arial"/>
              </a:rPr>
              <a:t>0.048  (#27)</a:t>
            </a:r>
          </a:p>
        </p:txBody>
      </p:sp>
      <p:sp>
        <p:nvSpPr>
          <p:cNvPr id="52" name="Rectangle 51"/>
          <p:cNvSpPr/>
          <p:nvPr/>
        </p:nvSpPr>
        <p:spPr>
          <a:xfrm>
            <a:off x="822960" y="4160520"/>
            <a:ext cx="370332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877824" y="4206240"/>
            <a:ext cx="3593591"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40" b="0" i="0">
                <a:solidFill>
                  <a:srgbClr val="1F2730"/>
                </a:solidFill>
                <a:latin typeface="Arial"/>
              </a:rPr>
              <a:t>M_e33 · Inhibitory neurons</a:t>
            </a:r>
          </a:p>
        </p:txBody>
      </p:sp>
      <p:sp>
        <p:nvSpPr>
          <p:cNvPr id="54" name="Rectangle 53"/>
          <p:cNvSpPr/>
          <p:nvPr/>
        </p:nvSpPr>
        <p:spPr>
          <a:xfrm>
            <a:off x="4526280" y="4160520"/>
            <a:ext cx="169164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4581144" y="4206240"/>
            <a:ext cx="1581912"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40" b="0" i="0">
                <a:solidFill>
                  <a:srgbClr val="1F2730"/>
                </a:solidFill>
                <a:latin typeface="Arial"/>
              </a:rPr>
              <a:t>RPS15</a:t>
            </a:r>
          </a:p>
        </p:txBody>
      </p:sp>
      <p:sp>
        <p:nvSpPr>
          <p:cNvPr id="56" name="Rectangle 55"/>
          <p:cNvSpPr/>
          <p:nvPr/>
        </p:nvSpPr>
        <p:spPr>
          <a:xfrm>
            <a:off x="6217920" y="4160520"/>
            <a:ext cx="256032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6272784" y="4206240"/>
            <a:ext cx="2450591"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40" b="0" i="0">
                <a:solidFill>
                  <a:srgbClr val="1F2730"/>
                </a:solidFill>
                <a:latin typeface="Arial"/>
              </a:rPr>
              <a:t>0.020  (#9)</a:t>
            </a:r>
          </a:p>
        </p:txBody>
      </p:sp>
      <p:sp>
        <p:nvSpPr>
          <p:cNvPr id="58" name="Rectangle 57"/>
          <p:cNvSpPr/>
          <p:nvPr/>
        </p:nvSpPr>
        <p:spPr>
          <a:xfrm>
            <a:off x="8778240" y="4160520"/>
            <a:ext cx="256032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8833104" y="4206240"/>
            <a:ext cx="2450591"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40" b="0" i="0">
                <a:solidFill>
                  <a:srgbClr val="1F2730"/>
                </a:solidFill>
                <a:latin typeface="Arial"/>
              </a:rPr>
              <a:t>0.036  (#20)</a:t>
            </a:r>
          </a:p>
        </p:txBody>
      </p:sp>
      <p:sp>
        <p:nvSpPr>
          <p:cNvPr id="60" name="Rectangle 59"/>
          <p:cNvSpPr/>
          <p:nvPr/>
        </p:nvSpPr>
        <p:spPr>
          <a:xfrm>
            <a:off x="822960" y="4617720"/>
            <a:ext cx="370332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877824" y="4663440"/>
            <a:ext cx="3593591"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40" b="0" i="0">
                <a:solidFill>
                  <a:srgbClr val="1F2730"/>
                </a:solidFill>
                <a:latin typeface="Arial"/>
              </a:rPr>
              <a:t>M_e33 · Inhibitory neurons</a:t>
            </a:r>
          </a:p>
        </p:txBody>
      </p:sp>
      <p:sp>
        <p:nvSpPr>
          <p:cNvPr id="62" name="Rectangle 61"/>
          <p:cNvSpPr/>
          <p:nvPr/>
        </p:nvSpPr>
        <p:spPr>
          <a:xfrm>
            <a:off x="4526280" y="4617720"/>
            <a:ext cx="169164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4581144" y="4663440"/>
            <a:ext cx="1581912"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40" b="0" i="0">
                <a:solidFill>
                  <a:srgbClr val="1F2730"/>
                </a:solidFill>
                <a:latin typeface="Arial"/>
              </a:rPr>
              <a:t>PAFAH1B1</a:t>
            </a:r>
          </a:p>
        </p:txBody>
      </p:sp>
      <p:sp>
        <p:nvSpPr>
          <p:cNvPr id="64" name="Rectangle 63"/>
          <p:cNvSpPr/>
          <p:nvPr/>
        </p:nvSpPr>
        <p:spPr>
          <a:xfrm>
            <a:off x="6217920" y="4617720"/>
            <a:ext cx="256032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6272784" y="4663440"/>
            <a:ext cx="2450591"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40" b="0" i="0">
                <a:solidFill>
                  <a:srgbClr val="1F2730"/>
                </a:solidFill>
                <a:latin typeface="Arial"/>
              </a:rPr>
              <a:t>0.027  (#19)</a:t>
            </a:r>
          </a:p>
        </p:txBody>
      </p:sp>
      <p:sp>
        <p:nvSpPr>
          <p:cNvPr id="66" name="Rectangle 65"/>
          <p:cNvSpPr/>
          <p:nvPr/>
        </p:nvSpPr>
        <p:spPr>
          <a:xfrm>
            <a:off x="8778240" y="4617720"/>
            <a:ext cx="256032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8833104" y="4663440"/>
            <a:ext cx="2450591"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40" b="0" i="0">
                <a:solidFill>
                  <a:srgbClr val="1F2730"/>
                </a:solidFill>
                <a:latin typeface="Arial"/>
              </a:rPr>
              <a:t>0.046  (#26)</a:t>
            </a:r>
          </a:p>
        </p:txBody>
      </p:sp>
      <p:sp>
        <p:nvSpPr>
          <p:cNvPr id="68" name="Rectangle 67"/>
          <p:cNvSpPr/>
          <p:nvPr/>
        </p:nvSpPr>
        <p:spPr>
          <a:xfrm>
            <a:off x="822960" y="5074920"/>
            <a:ext cx="370332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877824" y="5120640"/>
            <a:ext cx="3593591"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40" b="0" i="0">
                <a:solidFill>
                  <a:srgbClr val="1F2730"/>
                </a:solidFill>
                <a:latin typeface="Arial"/>
              </a:rPr>
              <a:t>M_e33 · Inhibitory neurons</a:t>
            </a:r>
          </a:p>
        </p:txBody>
      </p:sp>
      <p:sp>
        <p:nvSpPr>
          <p:cNvPr id="70" name="Rectangle 69"/>
          <p:cNvSpPr/>
          <p:nvPr/>
        </p:nvSpPr>
        <p:spPr>
          <a:xfrm>
            <a:off x="4526280" y="5074920"/>
            <a:ext cx="169164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4581144" y="5120640"/>
            <a:ext cx="1581912"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40" b="0" i="0">
                <a:solidFill>
                  <a:srgbClr val="1F2730"/>
                </a:solidFill>
                <a:latin typeface="Arial"/>
              </a:rPr>
              <a:t>PIP5K1A</a:t>
            </a:r>
          </a:p>
        </p:txBody>
      </p:sp>
      <p:sp>
        <p:nvSpPr>
          <p:cNvPr id="72" name="Rectangle 71"/>
          <p:cNvSpPr/>
          <p:nvPr/>
        </p:nvSpPr>
        <p:spPr>
          <a:xfrm>
            <a:off x="6217920" y="5074920"/>
            <a:ext cx="256032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6272784" y="5120640"/>
            <a:ext cx="2450591"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40" b="0" i="0">
                <a:solidFill>
                  <a:srgbClr val="1F2730"/>
                </a:solidFill>
                <a:latin typeface="Arial"/>
              </a:rPr>
              <a:t>0.027  (#20)</a:t>
            </a:r>
          </a:p>
        </p:txBody>
      </p:sp>
      <p:sp>
        <p:nvSpPr>
          <p:cNvPr id="74" name="Rectangle 73"/>
          <p:cNvSpPr/>
          <p:nvPr/>
        </p:nvSpPr>
        <p:spPr>
          <a:xfrm>
            <a:off x="8778240" y="5074920"/>
            <a:ext cx="256032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8833104" y="5120640"/>
            <a:ext cx="2450591"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40" b="0" i="0">
                <a:solidFill>
                  <a:srgbClr val="1F2730"/>
                </a:solidFill>
                <a:latin typeface="Arial"/>
              </a:rPr>
              <a:t>0.049  (#30)</a:t>
            </a:r>
          </a:p>
        </p:txBody>
      </p:sp>
      <p:sp>
        <p:nvSpPr>
          <p:cNvPr id="76" name="TextBox 75"/>
          <p:cNvSpPr txBox="1"/>
          <p:nvPr/>
        </p:nvSpPr>
        <p:spPr>
          <a:xfrm>
            <a:off x="804672" y="5760720"/>
            <a:ext cx="10607040" cy="25603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00" b="1" i="0">
                <a:solidFill>
                  <a:srgbClr val="7E4C9A"/>
                </a:solidFill>
                <a:latin typeface="Arial"/>
              </a:rPr>
              <a:t>The whole female e33 excitatory trio matches; the remaining five pairs are male e33 neurons.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WDR82 anchors the cleanest replication</a:t>
            </a:r>
          </a:p>
        </p:txBody>
      </p:sp>
      <p:sp>
        <p:nvSpPr>
          <p:cNvPr id="3" name="TextBox 2"/>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Three storylines stand out among the exact matches.</a:t>
            </a:r>
          </a:p>
        </p:txBody>
      </p:sp>
      <p:sp>
        <p:nvSpPr>
          <p:cNvPr id="4" name="Rounded Rectangle 3"/>
          <p:cNvSpPr/>
          <p:nvPr/>
        </p:nvSpPr>
        <p:spPr>
          <a:xfrm>
            <a:off x="603504" y="1463040"/>
            <a:ext cx="3502152" cy="416052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59536" y="1755648"/>
            <a:ext cx="3017520" cy="42062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100" b="1" i="0">
                <a:solidFill>
                  <a:srgbClr val="0F233D"/>
                </a:solidFill>
                <a:latin typeface="Arial"/>
              </a:rPr>
              <a:t>WDR82</a:t>
            </a:r>
          </a:p>
        </p:txBody>
      </p:sp>
      <p:sp>
        <p:nvSpPr>
          <p:cNvPr id="6" name="TextBox 5"/>
          <p:cNvSpPr txBox="1"/>
          <p:nvPr/>
        </p:nvSpPr>
        <p:spPr>
          <a:xfrm>
            <a:off x="859536" y="2304288"/>
            <a:ext cx="30175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50" b="1" i="0">
                <a:solidFill>
                  <a:srgbClr val="0072B2"/>
                </a:solidFill>
                <a:latin typeface="Arial"/>
              </a:rPr>
              <a:t>Female e33 · excitatory neurons</a:t>
            </a:r>
          </a:p>
        </p:txBody>
      </p:sp>
      <p:sp>
        <p:nvSpPr>
          <p:cNvPr id="7" name="Rounded Rectangle 6"/>
          <p:cNvSpPr/>
          <p:nvPr/>
        </p:nvSpPr>
        <p:spPr>
          <a:xfrm>
            <a:off x="841248" y="2788920"/>
            <a:ext cx="3026664" cy="256032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05840" y="2999232"/>
            <a:ext cx="2706624" cy="219456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00" b="0" i="0">
                <a:solidFill>
                  <a:srgbClr val="4E5A68"/>
                </a:solidFill>
                <a:latin typeface="Arial"/>
              </a:rPr>
              <a:t>#1 SEA-AD driver in the category; ROSMAP ranks it #5 in the same category from 11 returned calls. It tiles on both cohorts' top-five figures.</a:t>
            </a:r>
          </a:p>
        </p:txBody>
      </p:sp>
      <p:sp>
        <p:nvSpPr>
          <p:cNvPr id="9" name="Rounded Rectangle 8"/>
          <p:cNvSpPr/>
          <p:nvPr/>
        </p:nvSpPr>
        <p:spPr>
          <a:xfrm>
            <a:off x="4352544" y="1463040"/>
            <a:ext cx="3502152" cy="416052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608576" y="1755648"/>
            <a:ext cx="3017520" cy="42062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100" b="1" i="0">
                <a:solidFill>
                  <a:srgbClr val="0F233D"/>
                </a:solidFill>
                <a:latin typeface="Arial"/>
              </a:rPr>
              <a:t>The female trio</a:t>
            </a:r>
          </a:p>
        </p:txBody>
      </p:sp>
      <p:sp>
        <p:nvSpPr>
          <p:cNvPr id="11" name="TextBox 10"/>
          <p:cNvSpPr txBox="1"/>
          <p:nvPr/>
        </p:nvSpPr>
        <p:spPr>
          <a:xfrm>
            <a:off x="4608576" y="2304288"/>
            <a:ext cx="30175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50" b="1" i="0">
                <a:solidFill>
                  <a:srgbClr val="00684D"/>
                </a:solidFill>
                <a:latin typeface="Arial"/>
              </a:rPr>
              <a:t>3 of 3 genes match</a:t>
            </a:r>
          </a:p>
        </p:txBody>
      </p:sp>
      <p:sp>
        <p:nvSpPr>
          <p:cNvPr id="12" name="Rounded Rectangle 11"/>
          <p:cNvSpPr/>
          <p:nvPr/>
        </p:nvSpPr>
        <p:spPr>
          <a:xfrm>
            <a:off x="4590288" y="2788920"/>
            <a:ext cx="3026664" cy="256032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754880" y="2999232"/>
            <a:ext cx="2706624" cy="219456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00" b="0" i="0">
                <a:solidFill>
                  <a:srgbClr val="4E5A68"/>
                </a:solidFill>
                <a:latin typeface="Arial"/>
              </a:rPr>
              <a:t>Every SEA-AD driver in the female e33 excitatory category — WDR82, DMTF1, TPP2 — is also a ROSMAP driver in that exact category.</a:t>
            </a:r>
          </a:p>
        </p:txBody>
      </p:sp>
      <p:sp>
        <p:nvSpPr>
          <p:cNvPr id="14" name="Rounded Rectangle 13"/>
          <p:cNvSpPr/>
          <p:nvPr/>
        </p:nvSpPr>
        <p:spPr>
          <a:xfrm>
            <a:off x="8101583" y="1463040"/>
            <a:ext cx="3502152" cy="416052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57615" y="1755648"/>
            <a:ext cx="3017520" cy="42062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100" b="1" i="0">
                <a:solidFill>
                  <a:srgbClr val="0F233D"/>
                </a:solidFill>
                <a:latin typeface="Arial"/>
              </a:rPr>
              <a:t>RPS15</a:t>
            </a:r>
          </a:p>
        </p:txBody>
      </p:sp>
      <p:sp>
        <p:nvSpPr>
          <p:cNvPr id="16" name="TextBox 15"/>
          <p:cNvSpPr txBox="1"/>
          <p:nvPr/>
        </p:nvSpPr>
        <p:spPr>
          <a:xfrm>
            <a:off x="8357615" y="2304288"/>
            <a:ext cx="30175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50" b="1" i="0">
                <a:solidFill>
                  <a:srgbClr val="895600"/>
                </a:solidFill>
                <a:latin typeface="Arial"/>
              </a:rPr>
              <a:t>Male e33 · inhibitory neurons</a:t>
            </a:r>
          </a:p>
        </p:txBody>
      </p:sp>
      <p:sp>
        <p:nvSpPr>
          <p:cNvPr id="17" name="Rounded Rectangle 16"/>
          <p:cNvSpPr/>
          <p:nvPr/>
        </p:nvSpPr>
        <p:spPr>
          <a:xfrm>
            <a:off x="8339327" y="2788920"/>
            <a:ext cx="3026664" cy="256032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503919" y="2999232"/>
            <a:ext cx="2706624" cy="219456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00" b="0" i="0">
                <a:solidFill>
                  <a:srgbClr val="4E5A68"/>
                </a:solidFill>
                <a:latin typeface="Arial"/>
              </a:rPr>
              <a:t>ROSMAP's most recurrent driver (12 categories) returns in SEA-AD at rank #9 of its category.</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Shared genes are not tied to the matching sex/APOE group</a:t>
            </a:r>
          </a:p>
        </p:txBody>
      </p:sp>
      <p:sp>
        <p:nvSpPr>
          <p:cNvPr id="3" name="TextBox 2"/>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Where the shared SEA-AD male e33 drivers land inside ROSMAP.</a:t>
            </a:r>
          </a:p>
        </p:txBody>
      </p:sp>
      <p:sp>
        <p:nvSpPr>
          <p:cNvPr id="4" name="TextBox 3"/>
          <p:cNvSpPr txBox="1"/>
          <p:nvPr/>
        </p:nvSpPr>
        <p:spPr>
          <a:xfrm>
            <a:off x="822960" y="1371600"/>
            <a:ext cx="10424160" cy="31089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300" b="0" i="0">
                <a:solidFill>
                  <a:srgbClr val="1F2730"/>
                </a:solidFill>
                <a:latin typeface="Arial"/>
              </a:rPr>
              <a:t>32 of the 88 SEA-AD male e33 drivers are also ROSMAP drivers. Counting where they appear in ROSMAP:</a:t>
            </a:r>
          </a:p>
        </p:txBody>
      </p:sp>
      <p:sp>
        <p:nvSpPr>
          <p:cNvPr id="5" name="Rectangle 4"/>
          <p:cNvSpPr/>
          <p:nvPr/>
        </p:nvSpPr>
        <p:spPr>
          <a:xfrm>
            <a:off x="2377440" y="1874519"/>
            <a:ext cx="2377440" cy="457200"/>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432304" y="1929384"/>
            <a:ext cx="2267712" cy="36576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19" b="1" i="0">
                <a:solidFill>
                  <a:srgbClr val="FFFFFF"/>
                </a:solidFill>
                <a:latin typeface="Arial"/>
              </a:rPr>
              <a:t>ROSMAP group</a:t>
            </a:r>
          </a:p>
        </p:txBody>
      </p:sp>
      <p:sp>
        <p:nvSpPr>
          <p:cNvPr id="7" name="Rectangle 6"/>
          <p:cNvSpPr/>
          <p:nvPr/>
        </p:nvSpPr>
        <p:spPr>
          <a:xfrm>
            <a:off x="4754880" y="1874519"/>
            <a:ext cx="2377440" cy="457200"/>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809744" y="1929384"/>
            <a:ext cx="2267712" cy="36576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19" b="1" i="0">
                <a:solidFill>
                  <a:srgbClr val="FFFFFF"/>
                </a:solidFill>
                <a:latin typeface="Arial"/>
              </a:rPr>
              <a:t>Shared genes (of 32)</a:t>
            </a:r>
          </a:p>
        </p:txBody>
      </p:sp>
      <p:sp>
        <p:nvSpPr>
          <p:cNvPr id="9" name="Rectangle 8"/>
          <p:cNvSpPr/>
          <p:nvPr/>
        </p:nvSpPr>
        <p:spPr>
          <a:xfrm>
            <a:off x="7132320" y="1874519"/>
            <a:ext cx="2651760" cy="457200"/>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187184" y="1929384"/>
            <a:ext cx="2542032" cy="36576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19" b="1" i="0">
                <a:solidFill>
                  <a:srgbClr val="FFFFFF"/>
                </a:solidFill>
                <a:latin typeface="Arial"/>
              </a:rPr>
              <a:t>Note</a:t>
            </a:r>
          </a:p>
        </p:txBody>
      </p:sp>
      <p:sp>
        <p:nvSpPr>
          <p:cNvPr id="11" name="Rectangle 10"/>
          <p:cNvSpPr/>
          <p:nvPr/>
        </p:nvSpPr>
        <p:spPr>
          <a:xfrm>
            <a:off x="2377440" y="2331720"/>
            <a:ext cx="237744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432304" y="2377439"/>
            <a:ext cx="2267712"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60" b="0" i="0">
                <a:solidFill>
                  <a:srgbClr val="1F2730"/>
                </a:solidFill>
                <a:latin typeface="Arial"/>
              </a:rPr>
              <a:t>M_e2</a:t>
            </a:r>
          </a:p>
        </p:txBody>
      </p:sp>
      <p:sp>
        <p:nvSpPr>
          <p:cNvPr id="13" name="Rectangle 12"/>
          <p:cNvSpPr/>
          <p:nvPr/>
        </p:nvSpPr>
        <p:spPr>
          <a:xfrm>
            <a:off x="4754880" y="2331720"/>
            <a:ext cx="237744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809744" y="2377439"/>
            <a:ext cx="2267712"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60" b="0" i="0">
                <a:solidFill>
                  <a:srgbClr val="1F2730"/>
                </a:solidFill>
                <a:latin typeface="Arial"/>
              </a:rPr>
              <a:t>14</a:t>
            </a:r>
          </a:p>
        </p:txBody>
      </p:sp>
      <p:sp>
        <p:nvSpPr>
          <p:cNvPr id="15" name="Rectangle 14"/>
          <p:cNvSpPr/>
          <p:nvPr/>
        </p:nvSpPr>
        <p:spPr>
          <a:xfrm>
            <a:off x="7132320" y="2331720"/>
            <a:ext cx="26517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187184" y="2377439"/>
            <a:ext cx="2542032"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60" b="0" i="0">
                <a:solidFill>
                  <a:srgbClr val="1F2730"/>
                </a:solidFill>
                <a:latin typeface="Arial"/>
              </a:rPr>
              <a:t>highest overlap</a:t>
            </a:r>
          </a:p>
        </p:txBody>
      </p:sp>
      <p:sp>
        <p:nvSpPr>
          <p:cNvPr id="17" name="Rectangle 16"/>
          <p:cNvSpPr/>
          <p:nvPr/>
        </p:nvSpPr>
        <p:spPr>
          <a:xfrm>
            <a:off x="2377440" y="2788920"/>
            <a:ext cx="237744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432304" y="2834639"/>
            <a:ext cx="2267712"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60" b="0" i="0">
                <a:solidFill>
                  <a:srgbClr val="1F2730"/>
                </a:solidFill>
                <a:latin typeface="Arial"/>
              </a:rPr>
              <a:t>F_e33</a:t>
            </a:r>
          </a:p>
        </p:txBody>
      </p:sp>
      <p:sp>
        <p:nvSpPr>
          <p:cNvPr id="19" name="Rectangle 18"/>
          <p:cNvSpPr/>
          <p:nvPr/>
        </p:nvSpPr>
        <p:spPr>
          <a:xfrm>
            <a:off x="4754880" y="2788920"/>
            <a:ext cx="237744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809744" y="2834639"/>
            <a:ext cx="2267712"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60" b="0" i="0">
                <a:solidFill>
                  <a:srgbClr val="1F2730"/>
                </a:solidFill>
                <a:latin typeface="Arial"/>
              </a:rPr>
              <a:t>10</a:t>
            </a:r>
          </a:p>
        </p:txBody>
      </p:sp>
      <p:sp>
        <p:nvSpPr>
          <p:cNvPr id="21" name="Rectangle 20"/>
          <p:cNvSpPr/>
          <p:nvPr/>
        </p:nvSpPr>
        <p:spPr>
          <a:xfrm>
            <a:off x="7132320" y="2788920"/>
            <a:ext cx="265176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187184" y="2834639"/>
            <a:ext cx="2542032"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endParaRPr/>
          </a:p>
        </p:txBody>
      </p:sp>
      <p:sp>
        <p:nvSpPr>
          <p:cNvPr id="23" name="Rectangle 22"/>
          <p:cNvSpPr/>
          <p:nvPr/>
        </p:nvSpPr>
        <p:spPr>
          <a:xfrm>
            <a:off x="2377440" y="3246120"/>
            <a:ext cx="237744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432304" y="3291839"/>
            <a:ext cx="2267712"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60" b="0" i="0">
                <a:solidFill>
                  <a:srgbClr val="1F2730"/>
                </a:solidFill>
                <a:latin typeface="Arial"/>
              </a:rPr>
              <a:t>F_e4</a:t>
            </a:r>
          </a:p>
        </p:txBody>
      </p:sp>
      <p:sp>
        <p:nvSpPr>
          <p:cNvPr id="25" name="Rectangle 24"/>
          <p:cNvSpPr/>
          <p:nvPr/>
        </p:nvSpPr>
        <p:spPr>
          <a:xfrm>
            <a:off x="4754880" y="3246120"/>
            <a:ext cx="237744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809744" y="3291839"/>
            <a:ext cx="2267712"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60" b="0" i="0">
                <a:solidFill>
                  <a:srgbClr val="1F2730"/>
                </a:solidFill>
                <a:latin typeface="Arial"/>
              </a:rPr>
              <a:t>9</a:t>
            </a:r>
          </a:p>
        </p:txBody>
      </p:sp>
      <p:sp>
        <p:nvSpPr>
          <p:cNvPr id="27" name="Rectangle 26"/>
          <p:cNvSpPr/>
          <p:nvPr/>
        </p:nvSpPr>
        <p:spPr>
          <a:xfrm>
            <a:off x="7132320" y="3246120"/>
            <a:ext cx="26517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187184" y="3291839"/>
            <a:ext cx="2542032"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endParaRPr/>
          </a:p>
        </p:txBody>
      </p:sp>
      <p:sp>
        <p:nvSpPr>
          <p:cNvPr id="29" name="Rectangle 28"/>
          <p:cNvSpPr/>
          <p:nvPr/>
        </p:nvSpPr>
        <p:spPr>
          <a:xfrm>
            <a:off x="2377440" y="3703320"/>
            <a:ext cx="237744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432304" y="3749039"/>
            <a:ext cx="2267712"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60" b="0" i="0">
                <a:solidFill>
                  <a:srgbClr val="1F2730"/>
                </a:solidFill>
                <a:latin typeface="Arial"/>
              </a:rPr>
              <a:t>M_e4</a:t>
            </a:r>
          </a:p>
        </p:txBody>
      </p:sp>
      <p:sp>
        <p:nvSpPr>
          <p:cNvPr id="31" name="Rectangle 30"/>
          <p:cNvSpPr/>
          <p:nvPr/>
        </p:nvSpPr>
        <p:spPr>
          <a:xfrm>
            <a:off x="4754880" y="3703320"/>
            <a:ext cx="237744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809744" y="3749039"/>
            <a:ext cx="2267712"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60" b="0" i="0">
                <a:solidFill>
                  <a:srgbClr val="1F2730"/>
                </a:solidFill>
                <a:latin typeface="Arial"/>
              </a:rPr>
              <a:t>9</a:t>
            </a:r>
          </a:p>
        </p:txBody>
      </p:sp>
      <p:sp>
        <p:nvSpPr>
          <p:cNvPr id="33" name="Rectangle 32"/>
          <p:cNvSpPr/>
          <p:nvPr/>
        </p:nvSpPr>
        <p:spPr>
          <a:xfrm>
            <a:off x="7132320" y="3703320"/>
            <a:ext cx="265176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187184" y="3749039"/>
            <a:ext cx="2542032"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endParaRPr/>
          </a:p>
        </p:txBody>
      </p:sp>
      <p:sp>
        <p:nvSpPr>
          <p:cNvPr id="35" name="Rectangle 34"/>
          <p:cNvSpPr/>
          <p:nvPr/>
        </p:nvSpPr>
        <p:spPr>
          <a:xfrm>
            <a:off x="2377440" y="4160520"/>
            <a:ext cx="237744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2432304" y="4206240"/>
            <a:ext cx="2267712"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60" b="0" i="0">
                <a:solidFill>
                  <a:srgbClr val="1F2730"/>
                </a:solidFill>
                <a:latin typeface="Arial"/>
              </a:rPr>
              <a:t>M_e33</a:t>
            </a:r>
          </a:p>
        </p:txBody>
      </p:sp>
      <p:sp>
        <p:nvSpPr>
          <p:cNvPr id="37" name="Rectangle 36"/>
          <p:cNvSpPr/>
          <p:nvPr/>
        </p:nvSpPr>
        <p:spPr>
          <a:xfrm>
            <a:off x="4754880" y="4160520"/>
            <a:ext cx="237744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4809744" y="4206240"/>
            <a:ext cx="2267712"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60" b="0" i="0">
                <a:solidFill>
                  <a:srgbClr val="1F2730"/>
                </a:solidFill>
                <a:latin typeface="Arial"/>
              </a:rPr>
              <a:t>8</a:t>
            </a:r>
          </a:p>
        </p:txBody>
      </p:sp>
      <p:sp>
        <p:nvSpPr>
          <p:cNvPr id="39" name="Rectangle 38"/>
          <p:cNvSpPr/>
          <p:nvPr/>
        </p:nvSpPr>
        <p:spPr>
          <a:xfrm>
            <a:off x="7132320" y="4160520"/>
            <a:ext cx="26517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187184" y="4206240"/>
            <a:ext cx="2542032"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60" b="0" i="0">
                <a:solidFill>
                  <a:srgbClr val="1F2730"/>
                </a:solidFill>
                <a:latin typeface="Arial"/>
              </a:rPr>
              <a:t>the matching group</a:t>
            </a:r>
          </a:p>
        </p:txBody>
      </p:sp>
      <p:sp>
        <p:nvSpPr>
          <p:cNvPr id="41" name="Rectangle 40"/>
          <p:cNvSpPr/>
          <p:nvPr/>
        </p:nvSpPr>
        <p:spPr>
          <a:xfrm>
            <a:off x="2377440" y="4617720"/>
            <a:ext cx="237744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2432304" y="4663440"/>
            <a:ext cx="2267712"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60" b="0" i="0">
                <a:solidFill>
                  <a:srgbClr val="1F2730"/>
                </a:solidFill>
                <a:latin typeface="Arial"/>
              </a:rPr>
              <a:t>F_e2</a:t>
            </a:r>
          </a:p>
        </p:txBody>
      </p:sp>
      <p:sp>
        <p:nvSpPr>
          <p:cNvPr id="43" name="Rectangle 42"/>
          <p:cNvSpPr/>
          <p:nvPr/>
        </p:nvSpPr>
        <p:spPr>
          <a:xfrm>
            <a:off x="4754880" y="4617720"/>
            <a:ext cx="237744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4809744" y="4663440"/>
            <a:ext cx="2267712"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60" b="0" i="0">
                <a:solidFill>
                  <a:srgbClr val="1F2730"/>
                </a:solidFill>
                <a:latin typeface="Arial"/>
              </a:rPr>
              <a:t>7</a:t>
            </a:r>
          </a:p>
        </p:txBody>
      </p:sp>
      <p:sp>
        <p:nvSpPr>
          <p:cNvPr id="45" name="Rectangle 44"/>
          <p:cNvSpPr/>
          <p:nvPr/>
        </p:nvSpPr>
        <p:spPr>
          <a:xfrm>
            <a:off x="7132320" y="4617720"/>
            <a:ext cx="265176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7187184" y="4663440"/>
            <a:ext cx="2542032"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endParaRPr/>
          </a:p>
        </p:txBody>
      </p:sp>
      <p:sp>
        <p:nvSpPr>
          <p:cNvPr id="47" name="Rounded Rectangle 46"/>
          <p:cNvSpPr/>
          <p:nvPr/>
        </p:nvSpPr>
        <p:spPr>
          <a:xfrm>
            <a:off x="822960" y="5257800"/>
            <a:ext cx="10515600" cy="566928"/>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1042415" y="5422392"/>
            <a:ext cx="10104120" cy="25603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220" b="1" i="0">
                <a:solidFill>
                  <a:srgbClr val="9E3A00"/>
                </a:solidFill>
                <a:latin typeface="Arial"/>
              </a:rPr>
              <a:t>The matching male e33 group ranks fifth of six — cross-cohort overlap is largely blind to sex/APOE.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Cell type is preserved far better than sex/APOE group</a:t>
            </a:r>
          </a:p>
        </p:txBody>
      </p:sp>
      <p:sp>
        <p:nvSpPr>
          <p:cNvPr id="3" name="TextBox 2"/>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All 84 cross-cohort pairings of the shared genes, scored for matching context.</a:t>
            </a:r>
          </a:p>
        </p:txBody>
      </p:sp>
      <p:sp>
        <p:nvSpPr>
          <p:cNvPr id="4" name="Rounded Rectangle 3"/>
          <p:cNvSpPr/>
          <p:nvPr/>
        </p:nvSpPr>
        <p:spPr>
          <a:xfrm>
            <a:off x="822960" y="1481328"/>
            <a:ext cx="5074920" cy="278892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97280" y="1783080"/>
            <a:ext cx="4526280" cy="86868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5200" b="1" i="0">
                <a:solidFill>
                  <a:srgbClr val="00684D"/>
                </a:solidFill>
                <a:latin typeface="Arial"/>
              </a:rPr>
              <a:t>62%</a:t>
            </a:r>
          </a:p>
        </p:txBody>
      </p:sp>
      <p:sp>
        <p:nvSpPr>
          <p:cNvPr id="6" name="TextBox 5"/>
          <p:cNvSpPr txBox="1"/>
          <p:nvPr/>
        </p:nvSpPr>
        <p:spPr>
          <a:xfrm>
            <a:off x="1097280" y="2880360"/>
            <a:ext cx="4526280" cy="292608"/>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400" b="1" i="0">
                <a:solidFill>
                  <a:srgbClr val="0F233D"/>
                </a:solidFill>
                <a:latin typeface="Arial"/>
              </a:rPr>
              <a:t>of pairs share the broad cell type</a:t>
            </a:r>
          </a:p>
        </p:txBody>
      </p:sp>
      <p:sp>
        <p:nvSpPr>
          <p:cNvPr id="7" name="TextBox 6"/>
          <p:cNvSpPr txBox="1"/>
          <p:nvPr/>
        </p:nvSpPr>
        <p:spPr>
          <a:xfrm>
            <a:off x="1097280" y="3291840"/>
            <a:ext cx="4526280" cy="27432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00" b="0" i="0">
                <a:solidFill>
                  <a:srgbClr val="4E5A68"/>
                </a:solidFill>
                <a:latin typeface="Arial"/>
              </a:rPr>
              <a:t>random pairing would give ≈41%</a:t>
            </a:r>
          </a:p>
        </p:txBody>
      </p:sp>
      <p:sp>
        <p:nvSpPr>
          <p:cNvPr id="8" name="Rounded Rectangle 7"/>
          <p:cNvSpPr/>
          <p:nvPr/>
        </p:nvSpPr>
        <p:spPr>
          <a:xfrm>
            <a:off x="6263640" y="1481328"/>
            <a:ext cx="5074920" cy="2788920"/>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37960" y="1783080"/>
            <a:ext cx="4526280" cy="86868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5200" b="1" i="0">
                <a:solidFill>
                  <a:srgbClr val="9E3A00"/>
                </a:solidFill>
                <a:latin typeface="Arial"/>
              </a:rPr>
              <a:t>13%</a:t>
            </a:r>
          </a:p>
        </p:txBody>
      </p:sp>
      <p:sp>
        <p:nvSpPr>
          <p:cNvPr id="10" name="TextBox 9"/>
          <p:cNvSpPr txBox="1"/>
          <p:nvPr/>
        </p:nvSpPr>
        <p:spPr>
          <a:xfrm>
            <a:off x="6537960" y="2880360"/>
            <a:ext cx="4526280" cy="292608"/>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400" b="1" i="0">
                <a:solidFill>
                  <a:srgbClr val="0F233D"/>
                </a:solidFill>
                <a:latin typeface="Arial"/>
              </a:rPr>
              <a:t>share the sex/APOE group</a:t>
            </a:r>
          </a:p>
        </p:txBody>
      </p:sp>
      <p:sp>
        <p:nvSpPr>
          <p:cNvPr id="11" name="TextBox 10"/>
          <p:cNvSpPr txBox="1"/>
          <p:nvPr/>
        </p:nvSpPr>
        <p:spPr>
          <a:xfrm>
            <a:off x="6537960" y="3291840"/>
            <a:ext cx="4526280" cy="27432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00" b="0" i="0">
                <a:solidFill>
                  <a:srgbClr val="4E5A68"/>
                </a:solidFill>
                <a:latin typeface="Arial"/>
              </a:rPr>
              <a:t>context transfers by cell type, not stratum</a:t>
            </a:r>
          </a:p>
        </p:txBody>
      </p:sp>
      <p:sp>
        <p:nvSpPr>
          <p:cNvPr id="12" name="Rounded Rectangle 11"/>
          <p:cNvSpPr/>
          <p:nvPr/>
        </p:nvSpPr>
        <p:spPr>
          <a:xfrm>
            <a:off x="822960" y="4572000"/>
            <a:ext cx="10515600" cy="118872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1097280" y="4800600"/>
            <a:ext cx="64008" cy="283464"/>
          </a:xfrm>
          <a:prstGeom prst="rect">
            <a:avLst/>
          </a:prstGeom>
          <a:solidFill>
            <a:srgbClr val="7E4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243584" y="4773168"/>
            <a:ext cx="9729216"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Example: excitatory drivers that switch strata</a:t>
            </a:r>
          </a:p>
        </p:txBody>
      </p:sp>
      <p:sp>
        <p:nvSpPr>
          <p:cNvPr id="15" name="TextBox 14"/>
          <p:cNvSpPr txBox="1"/>
          <p:nvPr/>
        </p:nvSpPr>
        <p:spPr>
          <a:xfrm>
            <a:off x="1115568" y="5212080"/>
            <a:ext cx="9875520" cy="36576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0" i="0">
                <a:solidFill>
                  <a:srgbClr val="1F2730"/>
                </a:solidFill>
                <a:latin typeface="Arial"/>
              </a:rPr>
              <a:t>CSTF2, DHDDS, DIDO1, and POLR3F are excitatory-neuron drivers in both cohorts — female e33 in ROSMAP, male e33 in SEA-AD.</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A few drivers do keep their sex context</a:t>
            </a:r>
          </a:p>
        </p:txBody>
      </p:sp>
      <p:sp>
        <p:nvSpPr>
          <p:cNvPr id="3" name="TextBox 2"/>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Most shared genes ignore the stratum — these are the exceptions worth remembering.</a:t>
            </a:r>
          </a:p>
        </p:txBody>
      </p:sp>
      <p:sp>
        <p:nvSpPr>
          <p:cNvPr id="4" name="Rounded Rectangle 3"/>
          <p:cNvSpPr/>
          <p:nvPr/>
        </p:nvSpPr>
        <p:spPr>
          <a:xfrm>
            <a:off x="603504" y="1417320"/>
            <a:ext cx="5440680" cy="416052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77824" y="1709928"/>
            <a:ext cx="3108960" cy="42062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200" b="1" i="0">
                <a:solidFill>
                  <a:srgbClr val="0F233D"/>
                </a:solidFill>
                <a:latin typeface="Arial"/>
              </a:rPr>
              <a:t>HGSNAT</a:t>
            </a:r>
          </a:p>
        </p:txBody>
      </p:sp>
      <p:sp>
        <p:nvSpPr>
          <p:cNvPr id="6" name="TextBox 5"/>
          <p:cNvSpPr txBox="1"/>
          <p:nvPr/>
        </p:nvSpPr>
        <p:spPr>
          <a:xfrm>
            <a:off x="877824" y="2231136"/>
            <a:ext cx="384048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1" i="0">
                <a:solidFill>
                  <a:srgbClr val="0072B2"/>
                </a:solidFill>
                <a:latin typeface="Arial"/>
              </a:rPr>
              <a:t>male-only in both cohorts</a:t>
            </a:r>
          </a:p>
        </p:txBody>
      </p:sp>
      <p:sp>
        <p:nvSpPr>
          <p:cNvPr id="7" name="Oval 6"/>
          <p:cNvSpPr/>
          <p:nvPr/>
        </p:nvSpPr>
        <p:spPr>
          <a:xfrm>
            <a:off x="896112" y="282549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69848" y="2697480"/>
            <a:ext cx="4764024" cy="5029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60" b="0" i="0">
                <a:solidFill>
                  <a:srgbClr val="1F2730"/>
                </a:solidFill>
                <a:latin typeface="Arial"/>
              </a:rPr>
              <a:t>SEA-AD's most recurrent driver (2 categories).</a:t>
            </a:r>
          </a:p>
        </p:txBody>
      </p:sp>
      <p:sp>
        <p:nvSpPr>
          <p:cNvPr id="9" name="Oval 8"/>
          <p:cNvSpPr/>
          <p:nvPr/>
        </p:nvSpPr>
        <p:spPr>
          <a:xfrm>
            <a:off x="896112" y="332841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69848" y="3200400"/>
            <a:ext cx="4764024" cy="5029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60" b="0" i="0">
                <a:solidFill>
                  <a:srgbClr val="1F2730"/>
                </a:solidFill>
                <a:latin typeface="Arial"/>
              </a:rPr>
              <a:t>In ROSMAP it appears only in male e2 and male e4.</a:t>
            </a:r>
          </a:p>
        </p:txBody>
      </p:sp>
      <p:sp>
        <p:nvSpPr>
          <p:cNvPr id="11" name="Oval 10"/>
          <p:cNvSpPr/>
          <p:nvPr/>
        </p:nvSpPr>
        <p:spPr>
          <a:xfrm>
            <a:off x="896112" y="3831335"/>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69848" y="3703320"/>
            <a:ext cx="4764024" cy="5029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60" b="0" i="0">
                <a:solidFill>
                  <a:srgbClr val="1F2730"/>
                </a:solidFill>
                <a:latin typeface="Arial"/>
              </a:rPr>
              <a:t>Always male, and always excitatory neurons in ROSMAP.</a:t>
            </a:r>
          </a:p>
        </p:txBody>
      </p:sp>
      <p:sp>
        <p:nvSpPr>
          <p:cNvPr id="13" name="Oval 12"/>
          <p:cNvSpPr/>
          <p:nvPr/>
        </p:nvSpPr>
        <p:spPr>
          <a:xfrm>
            <a:off x="896112" y="4334255"/>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69848" y="4206240"/>
            <a:ext cx="4764024" cy="5029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60" b="0" i="0">
                <a:solidFill>
                  <a:srgbClr val="1F2730"/>
                </a:solidFill>
                <a:latin typeface="Arial"/>
              </a:rPr>
              <a:t>TARBP1 and RPS27A show the same male-only pattern.</a:t>
            </a:r>
          </a:p>
        </p:txBody>
      </p:sp>
      <p:sp>
        <p:nvSpPr>
          <p:cNvPr id="15" name="Rounded Rectangle 14"/>
          <p:cNvSpPr/>
          <p:nvPr/>
        </p:nvSpPr>
        <p:spPr>
          <a:xfrm>
            <a:off x="6309360" y="1417320"/>
            <a:ext cx="5285232" cy="4160520"/>
          </a:xfrm>
          <a:prstGeom prst="roundRect">
            <a:avLst/>
          </a:prstGeom>
          <a:solidFill>
            <a:srgbClr val="F1F4F7"/>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583680" y="1737360"/>
            <a:ext cx="64008" cy="283464"/>
          </a:xfrm>
          <a:prstGeom prst="rect">
            <a:avLst/>
          </a:prstGeom>
          <a:solidFill>
            <a:srgbClr val="4E5A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729984" y="1709928"/>
            <a:ext cx="4562856"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The overall picture is mixed</a:t>
            </a:r>
          </a:p>
        </p:txBody>
      </p:sp>
      <p:sp>
        <p:nvSpPr>
          <p:cNvPr id="18" name="TextBox 17"/>
          <p:cNvSpPr txBox="1"/>
          <p:nvPr/>
        </p:nvSpPr>
        <p:spPr>
          <a:xfrm>
            <a:off x="6601968" y="2377440"/>
            <a:ext cx="2377440" cy="23774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00" b="1" i="0">
                <a:solidFill>
                  <a:srgbClr val="0F233D"/>
                </a:solidFill>
                <a:latin typeface="Arial"/>
              </a:rPr>
              <a:t>Male-only in ROSMAP</a:t>
            </a:r>
          </a:p>
        </p:txBody>
      </p:sp>
      <p:sp>
        <p:nvSpPr>
          <p:cNvPr id="19" name="Rectangle 18"/>
          <p:cNvSpPr/>
          <p:nvPr/>
        </p:nvSpPr>
        <p:spPr>
          <a:xfrm>
            <a:off x="6601968" y="2670048"/>
            <a:ext cx="3566160" cy="219456"/>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378440" y="2633472"/>
            <a:ext cx="868680" cy="2560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300" b="1" i="0">
                <a:solidFill>
                  <a:srgbClr val="0072B2"/>
                </a:solidFill>
                <a:latin typeface="Arial"/>
              </a:rPr>
              <a:t>14</a:t>
            </a:r>
          </a:p>
        </p:txBody>
      </p:sp>
      <p:sp>
        <p:nvSpPr>
          <p:cNvPr id="21" name="TextBox 20"/>
          <p:cNvSpPr txBox="1"/>
          <p:nvPr/>
        </p:nvSpPr>
        <p:spPr>
          <a:xfrm>
            <a:off x="6601968" y="3200400"/>
            <a:ext cx="2377440" cy="23774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00" b="1" i="0">
                <a:solidFill>
                  <a:srgbClr val="0F233D"/>
                </a:solidFill>
                <a:latin typeface="Arial"/>
              </a:rPr>
              <a:t>Female-only in ROSMAP</a:t>
            </a:r>
          </a:p>
        </p:txBody>
      </p:sp>
      <p:sp>
        <p:nvSpPr>
          <p:cNvPr id="22" name="Rectangle 21"/>
          <p:cNvSpPr/>
          <p:nvPr/>
        </p:nvSpPr>
        <p:spPr>
          <a:xfrm>
            <a:off x="6601968" y="3493008"/>
            <a:ext cx="2801982" cy="219456"/>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378440" y="3456432"/>
            <a:ext cx="868680" cy="2560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300" b="1" i="0">
                <a:solidFill>
                  <a:srgbClr val="D55E00"/>
                </a:solidFill>
                <a:latin typeface="Arial"/>
              </a:rPr>
              <a:t>11</a:t>
            </a:r>
          </a:p>
        </p:txBody>
      </p:sp>
      <p:sp>
        <p:nvSpPr>
          <p:cNvPr id="24" name="TextBox 23"/>
          <p:cNvSpPr txBox="1"/>
          <p:nvPr/>
        </p:nvSpPr>
        <p:spPr>
          <a:xfrm>
            <a:off x="6601968" y="4023360"/>
            <a:ext cx="2377440" cy="23774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00" b="1" i="0">
                <a:solidFill>
                  <a:srgbClr val="0F233D"/>
                </a:solidFill>
                <a:latin typeface="Arial"/>
              </a:rPr>
              <a:t>Both sexes in ROSMAP</a:t>
            </a:r>
          </a:p>
        </p:txBody>
      </p:sp>
      <p:sp>
        <p:nvSpPr>
          <p:cNvPr id="25" name="Rectangle 24"/>
          <p:cNvSpPr/>
          <p:nvPr/>
        </p:nvSpPr>
        <p:spPr>
          <a:xfrm>
            <a:off x="6601968" y="4315968"/>
            <a:ext cx="1783080" cy="219456"/>
          </a:xfrm>
          <a:prstGeom prst="rect">
            <a:avLst/>
          </a:prstGeom>
          <a:solidFill>
            <a:srgbClr val="4E5A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378440" y="4279392"/>
            <a:ext cx="868680" cy="2560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300" b="1" i="0">
                <a:solidFill>
                  <a:srgbClr val="4E5A68"/>
                </a:solidFill>
                <a:latin typeface="Arial"/>
              </a:rPr>
              <a:t>7</a:t>
            </a:r>
          </a:p>
        </p:txBody>
      </p:sp>
      <p:sp>
        <p:nvSpPr>
          <p:cNvPr id="27" name="TextBox 26"/>
          <p:cNvSpPr txBox="1"/>
          <p:nvPr/>
        </p:nvSpPr>
        <p:spPr>
          <a:xfrm>
            <a:off x="6601968" y="4892040"/>
            <a:ext cx="4754880" cy="56692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40" b="0" i="0">
                <a:solidFill>
                  <a:srgbClr val="4E5A68"/>
                </a:solidFill>
                <a:latin typeface="Arial"/>
              </a:rPr>
              <a:t>Of the 32 shared male e33 drivers, ROSMAP shows them in male-only, female-only, or both-sex categories in roughly equal measure.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What this comparison does—and does not—show</a:t>
            </a:r>
          </a:p>
        </p:txBody>
      </p:sp>
      <p:sp>
        <p:nvSpPr>
          <p:cNvPr id="3" name="Rounded Rectangle 2"/>
          <p:cNvSpPr/>
          <p:nvPr/>
        </p:nvSpPr>
        <p:spPr>
          <a:xfrm>
            <a:off x="603504" y="1188720"/>
            <a:ext cx="5440680" cy="461772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86968" y="1508760"/>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33271" y="1481328"/>
            <a:ext cx="4745736"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Supported</a:t>
            </a:r>
          </a:p>
        </p:txBody>
      </p:sp>
      <p:sp>
        <p:nvSpPr>
          <p:cNvPr id="6" name="Oval 5"/>
          <p:cNvSpPr/>
          <p:nvPr/>
        </p:nvSpPr>
        <p:spPr>
          <a:xfrm>
            <a:off x="905256" y="2139696"/>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78992" y="2011680"/>
            <a:ext cx="4764024" cy="7132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80" b="0" i="0">
                <a:solidFill>
                  <a:srgbClr val="1F2730"/>
                </a:solidFill>
                <a:latin typeface="Arial"/>
              </a:rPr>
              <a:t>35 of 91 SEA-AD drivers are ROSMAP re-discoveries.</a:t>
            </a:r>
          </a:p>
        </p:txBody>
      </p:sp>
      <p:sp>
        <p:nvSpPr>
          <p:cNvPr id="8" name="Oval 7"/>
          <p:cNvSpPr/>
          <p:nvPr/>
        </p:nvSpPr>
        <p:spPr>
          <a:xfrm>
            <a:off x="905256" y="285292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78992" y="2724912"/>
            <a:ext cx="4764024" cy="7132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80" b="0" i="0">
                <a:solidFill>
                  <a:srgbClr val="1F2730"/>
                </a:solidFill>
                <a:latin typeface="Arial"/>
              </a:rPr>
              <a:t>Cell-type context transfers: excitatory drivers stay excitatory, inhibitory stay inhibitory.</a:t>
            </a:r>
          </a:p>
        </p:txBody>
      </p:sp>
      <p:sp>
        <p:nvSpPr>
          <p:cNvPr id="10" name="Oval 9"/>
          <p:cNvSpPr/>
          <p:nvPr/>
        </p:nvSpPr>
        <p:spPr>
          <a:xfrm>
            <a:off x="905256" y="3566160"/>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78992" y="3438144"/>
            <a:ext cx="4764024" cy="7132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80" b="0" i="0">
                <a:solidFill>
                  <a:srgbClr val="1F2730"/>
                </a:solidFill>
                <a:latin typeface="Arial"/>
              </a:rPr>
              <a:t>Eight exact category matches, led by WDR82 and the full female e33 excitatory trio.</a:t>
            </a:r>
          </a:p>
        </p:txBody>
      </p:sp>
      <p:sp>
        <p:nvSpPr>
          <p:cNvPr id="12" name="Oval 11"/>
          <p:cNvSpPr/>
          <p:nvPr/>
        </p:nvSpPr>
        <p:spPr>
          <a:xfrm>
            <a:off x="905256" y="4279392"/>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78992" y="4151376"/>
            <a:ext cx="4764024" cy="7132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80" b="0" i="0">
                <a:solidFill>
                  <a:srgbClr val="1F2730"/>
                </a:solidFill>
                <a:latin typeface="Arial"/>
              </a:rPr>
              <a:t>HGSNAT is a reproducible male excitatory driver in both cohorts.</a:t>
            </a:r>
          </a:p>
        </p:txBody>
      </p:sp>
      <p:sp>
        <p:nvSpPr>
          <p:cNvPr id="14" name="Rounded Rectangle 13"/>
          <p:cNvSpPr/>
          <p:nvPr/>
        </p:nvSpPr>
        <p:spPr>
          <a:xfrm>
            <a:off x="6309360" y="1188720"/>
            <a:ext cx="5285232" cy="4617720"/>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592824" y="1508760"/>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739128" y="1481328"/>
            <a:ext cx="4590288"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Not supported / limits</a:t>
            </a:r>
          </a:p>
        </p:txBody>
      </p:sp>
      <p:sp>
        <p:nvSpPr>
          <p:cNvPr id="17" name="Oval 16"/>
          <p:cNvSpPr/>
          <p:nvPr/>
        </p:nvSpPr>
        <p:spPr>
          <a:xfrm>
            <a:off x="6611112" y="2139696"/>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784848" y="2011680"/>
            <a:ext cx="4626864" cy="7132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80" b="0" i="0">
                <a:solidFill>
                  <a:srgbClr val="1F2730"/>
                </a:solidFill>
                <a:latin typeface="Arial"/>
              </a:rPr>
              <a:t>Sex/APOE stratum assignments largely do not transfer between cohorts.</a:t>
            </a:r>
          </a:p>
        </p:txBody>
      </p:sp>
      <p:sp>
        <p:nvSpPr>
          <p:cNvPr id="19" name="Oval 18"/>
          <p:cNvSpPr/>
          <p:nvPr/>
        </p:nvSpPr>
        <p:spPr>
          <a:xfrm>
            <a:off x="6611112" y="285292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784848" y="2724912"/>
            <a:ext cx="4626864" cy="7132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80" b="0" i="0">
                <a:solidFill>
                  <a:srgbClr val="1F2730"/>
                </a:solidFill>
                <a:latin typeface="Arial"/>
              </a:rPr>
              <a:t>Only the male e33 stratum is well powered in SEA-AD; other strata are near-empty.</a:t>
            </a:r>
          </a:p>
        </p:txBody>
      </p:sp>
      <p:sp>
        <p:nvSpPr>
          <p:cNvPr id="21" name="Oval 20"/>
          <p:cNvSpPr/>
          <p:nvPr/>
        </p:nvSpPr>
        <p:spPr>
          <a:xfrm>
            <a:off x="6611112" y="3566160"/>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784848" y="3438144"/>
            <a:ext cx="4626864" cy="7132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80" b="0" i="0">
                <a:solidFill>
                  <a:srgbClr val="1F2730"/>
                </a:solidFill>
                <a:latin typeface="Arial"/>
              </a:rPr>
              <a:t>Scores are exploratory and post-selected — convergence, not a formal replication test.</a:t>
            </a:r>
          </a:p>
        </p:txBody>
      </p:sp>
      <p:sp>
        <p:nvSpPr>
          <p:cNvPr id="23" name="Oval 22"/>
          <p:cNvSpPr/>
          <p:nvPr/>
        </p:nvSpPr>
        <p:spPr>
          <a:xfrm>
            <a:off x="6611112" y="4279392"/>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784848" y="4151376"/>
            <a:ext cx="4626864" cy="7132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80" b="0" i="0">
                <a:solidFill>
                  <a:srgbClr val="1F2730"/>
                </a:solidFill>
                <a:latin typeface="Arial"/>
              </a:rPr>
              <a:t>Recurrent housekeeping-like genes may overlap partly because they return broadly.</a:t>
            </a:r>
          </a:p>
        </p:txBody>
      </p:sp>
      <p:sp>
        <p:nvSpPr>
          <p:cNvPr id="25" name="TextBox 24"/>
          <p:cNvSpPr txBox="1"/>
          <p:nvPr/>
        </p:nvSpPr>
        <p:spPr>
          <a:xfrm>
            <a:off x="804672" y="6080760"/>
            <a:ext cx="10607040" cy="27432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200" b="1" i="0">
                <a:solidFill>
                  <a:srgbClr val="7E4C9A"/>
                </a:solidFill>
                <a:latin typeface="Arial"/>
              </a:rPr>
              <a:t>Takeaway: SEA-AD supports the driver genes and their cell-type contexts, not the ROSMAP stratum assignments.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127</TotalTime>
  <Words>4977</Words>
  <Application>Microsoft Macintosh PowerPoint</Application>
  <PresentationFormat>Widescreen</PresentationFormat>
  <Paragraphs>572</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Fine-cell and broad-cell sex/APOE key-driver analysis</dc:title>
  <dc:subject>Phase 20 KDA setup, filtering funnels, supported candidates, recurrence, and top-five results</dc:subject>
  <dc:creator>Alzheimer project analysis team</dc:creator>
  <cp:keywords>Alzheimer disease, sex, APOE, key-driver analysis, KDA, ACAT, mitochondrial genes</cp:keywords>
  <dc:description>Generated from validated project-local Phase 20 production releases.</dc:description>
  <cp:lastModifiedBy>Richard Zhuang</cp:lastModifiedBy>
  <cp:revision>17</cp:revision>
  <dcterms:created xsi:type="dcterms:W3CDTF">2026-08-29T13:27:12Z</dcterms:created>
  <dcterms:modified xsi:type="dcterms:W3CDTF">2026-08-30T02:50:39Z</dcterms:modified>
  <cp:category>Scientific presentation</cp:category>
  <dc:language>en-US</dc:language>
</cp:coreProperties>
</file>