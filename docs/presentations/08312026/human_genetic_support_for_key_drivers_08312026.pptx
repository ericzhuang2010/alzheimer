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0" r:id="rId8"/>
    <p:sldId id="272" r:id="rId9"/>
    <p:sldId id="276" r:id="rId10"/>
    <p:sldId id="266" r:id="rId11"/>
    <p:sldId id="277" r:id="rId12"/>
    <p:sldId id="278" r:id="rId13"/>
    <p:sldId id="279" r:id="rId14"/>
    <p:sldId id="280" r:id="rId15"/>
    <p:sldId id="281" r:id="rId16"/>
    <p:sldId id="28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4"/>
    <p:restoredTop sz="97023"/>
  </p:normalViewPr>
  <p:slideViewPr>
    <p:cSldViewPr snapToGrid="0" snapToObjects="1">
      <p:cViewPr varScale="1">
        <p:scale>
          <a:sx n="149" d="100"/>
          <a:sy n="149" d="100"/>
        </p:scale>
        <p:origin x="208"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74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Set the question with the completed screen: every driver now has public genetic screening results.</a:t>
            </a:r>
          </a:p>
          <a:p>
            <a:endParaRPr/>
          </a:p>
          <a:p>
            <a:r>
              <a:t>Walk through: All 433 drivers went through the public summary screen and the regional AD and CSF scans. Eight drivers carry strong direct evidence grades, led by APOE and the established AD gene PLCG2; RPS15 keeps its separate regional-plus-QTL case.</a:t>
            </a:r>
          </a:p>
          <a:p>
            <a:endParaRPr/>
          </a:p>
          <a:p>
            <a:r>
              <a:t>Scientific boundary: Gene-level tests and same-variant analyses are still pending; grades come from the public summary screen only.</a:t>
            </a:r>
          </a:p>
          <a:p>
            <a:endParaRPr/>
          </a:p>
          <a:p>
            <a:r>
              <a:t>Transition: First, how the two kinds of evidence relate.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Frame genetics as an independent, complementary line of evidence for the driver list.</a:t>
            </a:r>
          </a:p>
          <a:p>
            <a:endParaRPr/>
          </a:p>
          <a:p>
            <a:r>
              <a:t>Walk through: The left card summarizes the driver list under test: 433 genes across 32 sex/APOE-by-cell-type categories, with the strongest drivers replicating in an independent cohort. The right card states the genetic question asked of each gene.</a:t>
            </a:r>
          </a:p>
          <a:p>
            <a:endParaRPr/>
          </a:p>
          <a:p>
            <a:r>
              <a:t>Scientific boundary: Network centrality does not imply a germline risk variant, and vice versa; convergence is the interesting outcome.</a:t>
            </a:r>
          </a:p>
          <a:p>
            <a:endParaRPr/>
          </a:p>
          <a:p>
            <a:r>
              <a:t>Transition: First, what exactly the driver list contains.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Define exactly what the 433 number counts before any genetic claims reference it.</a:t>
            </a:r>
          </a:p>
          <a:p>
            <a:endParaRPr/>
          </a:p>
          <a:p>
            <a:r>
              <a:t>Walk through: The 295 ROSMAP network key-driver calls return significant genes at within-call q at most 0.05. After setting aside mitochondrial-protein genes, the returns form 689 gene-by-category units, which collapse to 433 unique driver genes.</a:t>
            </a:r>
          </a:p>
          <a:p>
            <a:endParaRPr/>
          </a:p>
          <a:p>
            <a:r>
              <a:t>Scientific boundary: Membership requires only one significant return; the within-call q values are exploratory and not cross-call FDR-controlled.</a:t>
            </a:r>
          </a:p>
          <a:p>
            <a:endParaRPr/>
          </a:p>
          <a:p>
            <a:r>
              <a:t>Transition: How deep the evidence is behind each of the 433.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that the permissive list has a small core of well-supported genes and a large one-off tail.</a:t>
            </a:r>
          </a:p>
          <a:p>
            <a:endParaRPr/>
          </a:p>
          <a:p>
            <a:r>
              <a:t>Walk through: Two hundred eighty-five of the four hundred thirty-three genes, about two-thirds, have exactly one category and one returned call, often with q just under 0.05. One hundred twenty-five recur in at least two categories, one hundred five reach a top-five display, seventy-eight have at least three returned calls, and thirty-five also return in SEA-AD.</a:t>
            </a:r>
          </a:p>
          <a:p>
            <a:endParaRPr/>
          </a:p>
          <a:p>
            <a:r>
              <a:t>Scientific boundary: The groups overlap, so the bars do not sum to 433; each is a share of the full list.</a:t>
            </a:r>
          </a:p>
          <a:p>
            <a:endParaRPr/>
          </a:p>
          <a:p>
            <a:r>
              <a:t>Transition: The high-level approach: three sources of genetic evidence and how they combine.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Reduce the data inventory to three roles: ready-made gene-level results, disease anchors, and gene anchors.</a:t>
            </a:r>
          </a:p>
          <a:p>
            <a:endParaRPr/>
          </a:p>
          <a:p>
            <a:r>
              <a:t>Walk through: Published AD integration results from the FunGen consortium already map variants to genes and directly support AD-gene relationships. Disease GWAS — the clinical AD meta-analysis and the three CSF biomarker studies — tie variants to disease but only at region resolution. Brain QTL panels tie variants to a specific gene's activity but carry no disease information.</a:t>
            </a:r>
          </a:p>
          <a:p>
            <a:endParaRPr/>
          </a:p>
          <a:p>
            <a:r>
              <a:t>Scientific boundary: All three are summary-level public data; no individual genotypes were used.</a:t>
            </a:r>
          </a:p>
          <a:p>
            <a:endParaRPr/>
          </a:p>
          <a:p>
            <a:r>
              <a:t>Transition: How sources two and three combine into gene-level support.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the combination logic that turns two region-level signals into gene-level support.</a:t>
            </a:r>
          </a:p>
          <a:p>
            <a:endParaRPr/>
          </a:p>
          <a:p>
            <a:r>
              <a:t>Walk through: GWAS ties a variant to disease; QTL ties a variant to the driver's activity. If a formal test shows both signals share one variant, the driver's regulation becomes a plausible causal path. Operationally: find the AD region, confirm the driver's QTL, then run the same-variant (colocalization) test.</a:t>
            </a:r>
          </a:p>
          <a:p>
            <a:endParaRPr/>
          </a:p>
          <a:p>
            <a:r>
              <a:t>Scientific boundary: The same-variant test requires complete regional statistics, fitted multi-signal models, and matched reference panels; those inputs are missing publicly, so no driver has completed step three yet.</a:t>
            </a:r>
          </a:p>
          <a:p>
            <a:endParaRPr/>
          </a:p>
          <a:p>
            <a:r>
              <a:t>Transition: The staged pipeline implements exactly this order.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Attach concrete public datasets to each of the three evidence categories.</a:t>
            </a:r>
          </a:p>
          <a:p>
            <a:endParaRPr/>
          </a:p>
          <a:p>
            <a:r>
              <a:t>Walk through: Category one is the FunGen-xQTL integration snapshot with its ready-made gene-level results. Category two holds the disease-side GWAS: the Bellenguez 2022 clinical AD meta-analysis and the three CSF biomarker studies. Category three holds the gene-side QTL data: NIAGADS NG00184 brain fine-mapping and the three eQTL Catalogue panels.</a:t>
            </a:r>
          </a:p>
          <a:p>
            <a:endParaRPr/>
          </a:p>
          <a:p>
            <a:r>
              <a:t>Scientific boundary: Gene annotation references (GENCODE, HGNC) support mapping only; everything is summary-level public data.</a:t>
            </a:r>
          </a:p>
          <a:p>
            <a:endParaRPr/>
          </a:p>
          <a:p>
            <a:r>
              <a:t>Transition: With the data in place: which drivers have screening results.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Replace the legacy 15-gene evidence map with the full-list grading.</a:t>
            </a:r>
          </a:p>
          <a:p>
            <a:endParaRPr/>
          </a:p>
          <a:p>
            <a:r>
              <a:t>Walk through: The strong tier holds APOE plus seven newly graded drivers, including the established AD gene PLCG2 and the STAG3, PPP4C/SEPHS2, ZNF251, and ZNF652 mappings. Three drivers are moderate and seventeen weak; the remaining four hundred five have no direct public mapping.</a:t>
            </a:r>
          </a:p>
          <a:p>
            <a:endParaRPr/>
          </a:p>
          <a:p>
            <a:r>
              <a:t>Scientific boundary: Grades reflect published summary evidence only; they are not colocalization results.</a:t>
            </a:r>
          </a:p>
          <a:p>
            <a:endParaRPr/>
          </a:p>
          <a:p>
            <a:r>
              <a:t>Transition: Where each driver now stands in the pipeline.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15341-4A7E-57A5-2846-F20290300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B4154-416A-A37D-590D-C6C3890207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224AABF-F946-12AD-87E6-416C09202E1F}"/>
              </a:ext>
            </a:extLst>
          </p:cNvPr>
          <p:cNvSpPr>
            <a:spLocks noGrp="1"/>
          </p:cNvSpPr>
          <p:nvPr>
            <p:ph type="body" sz="quarter" idx="3"/>
          </p:nvPr>
        </p:nvSpPr>
        <p:spPr/>
        <p:txBody>
          <a:bodyPr/>
          <a:lstStyle/>
          <a:p>
            <a:r>
              <a:t>Teaching goal: Make RPS15 the flagship follow-up target of the deck.</a:t>
            </a:r>
          </a:p>
          <a:p>
            <a:endParaRPr/>
          </a:p>
          <a:p>
            <a:r>
              <a:t>Walk through: RPS15 is the single most recurrent driver and replicates in SEA-AD. Its candidate region carries a strong AD association, and bulk-brain activity links are positive, but no complete fitted model plus matched reference existed to run the same-variant test, and exact OPC or inhibitory-neuron data were negative or unavailable.</a:t>
            </a:r>
          </a:p>
          <a:p>
            <a:endParaRPr/>
          </a:p>
          <a:p>
            <a:r>
              <a:t>Scientific boundary: Positive brain tracks partially reuse the discovery cohort, so they support mechanism rather than independent validation.</a:t>
            </a:r>
          </a:p>
          <a:p>
            <a:endParaRPr/>
          </a:p>
          <a:p>
            <a:r>
              <a:t>Transition: Spotlight two: APOE.</a:t>
            </a:r>
          </a:p>
        </p:txBody>
      </p:sp>
      <p:sp>
        <p:nvSpPr>
          <p:cNvPr id="4" name="Slide Number Placeholder 3">
            <a:extLst>
              <a:ext uri="{FF2B5EF4-FFF2-40B4-BE49-F238E27FC236}">
                <a16:creationId xmlns:a16="http://schemas.microsoft.com/office/drawing/2014/main" id="{F3FC3EA7-BC63-9B0E-7B4A-54CD1F4E8617}"/>
              </a:ext>
            </a:extLst>
          </p:cNvPr>
          <p:cNvSpPr>
            <a:spLocks noGrp="1"/>
          </p:cNvSpPr>
          <p:nvPr>
            <p:ph type="sldNum" sz="quarter" idx="5"/>
          </p:nvPr>
        </p:nvSpPr>
        <p:spPr/>
      </p:sp>
    </p:spTree>
    <p:extLst>
      <p:ext uri="{BB962C8B-B14F-4D97-AF65-F5344CB8AC3E}">
        <p14:creationId xmlns:p14="http://schemas.microsoft.com/office/powerpoint/2010/main" val="2743226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Keep APOE's strong result in view while separating gene-level support from mechanism-level proof.</a:t>
            </a:r>
          </a:p>
          <a:p>
            <a:endParaRPr/>
          </a:p>
          <a:p>
            <a:r>
              <a:t>Walk through: APOE has the direct fine-mapped coding variant and passes both gates for CSF amyloid-beta 42, total tau, and p-tau181. In the networks it is an astrocyte driver in three sex/APOE groups, though it does not return in SEA-AD.</a:t>
            </a:r>
          </a:p>
          <a:p>
            <a:endParaRPr/>
          </a:p>
          <a:p>
            <a:r>
              <a:t>Scientific boundary: A single-signal sensitivity analysis suggested a shared CSF protein signal, but it is explicitly sensitivity-only; the primary multi-signal test was not met.</a:t>
            </a:r>
          </a:p>
          <a:p>
            <a:endParaRPr/>
          </a:p>
          <a:p>
            <a:r>
              <a:t>Transition: How to read the eleven negatives.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Present PLCG2 as the strongest new convergence between the driver list and human genetics.</a:t>
            </a:r>
          </a:p>
          <a:p>
            <a:endParaRPr/>
          </a:p>
          <a:p>
            <a:r>
              <a:t>Walk through: In the networks, PLCG2 is an inhibitory-neuron driver in all three female sex/APOE groups, with best category q 0.021 and one four-call ACAT context. In genetics, the FunGen integration assigns three fine-mapped AD variants directly to PLCG2 with minimum P 8.2e-12, its own region is genome-wide significant in the clinical AD GWAS, but the CSF biomarker scans show no qualifying signal.</a:t>
            </a:r>
          </a:p>
          <a:p>
            <a:endParaRPr/>
          </a:p>
          <a:p>
            <a:r>
              <a:t>Scientific boundary: PLCG2 has not yet entered the brain QTL routes, so no same-variant test exists; the female-specific pattern is descriptive, not an interaction test. The window's top fine-mapped variant rs72824905 is assigned to BCO1 by the source, so it is not claimed here.</a:t>
            </a:r>
          </a:p>
          <a:p>
            <a:endParaRPr/>
          </a:p>
          <a:p>
            <a:r>
              <a:t>Transition: The remaining slides return to the negatives and next steps.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Present HSPA1A as the replication-plus-region case, with the HLA caveat front and center.</a:t>
            </a:r>
          </a:p>
          <a:p>
            <a:endParaRPr/>
          </a:p>
          <a:p>
            <a:r>
              <a:t>Walk through: HSPA1A is a driver in two inhibitory-neuron contexts and one vasculature context in ROSMAP, ranks first in F_e4 vasculature, and also returns in SEA-AD male e33 excitatory neurons. Its window is genome-wide significant for clinical AD, but the window sits in the HLA region and FunGen has no direct mapping to HSPA1A.</a:t>
            </a:r>
          </a:p>
          <a:p>
            <a:endParaRPr/>
          </a:p>
          <a:p>
            <a:r>
              <a:t>Scientific boundary: HLA linkage disequilibrium makes regional attribution unreliable; only conditional gene-based analysis or a same-variant test could assign the signal.</a:t>
            </a:r>
          </a:p>
          <a:p>
            <a:endParaRPr/>
          </a:p>
          <a:p>
            <a:r>
              <a:t>Transition: A second new lead comes from the biomarker side: MAP1LC3B.</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Present MAP1LC3B as the biomarker-first lead produced by the expanded CSF scans.</a:t>
            </a:r>
          </a:p>
          <a:p>
            <a:endParaRPr/>
          </a:p>
          <a:p>
            <a:r>
              <a:t>Walk through: MAP1LC3B is a single-context OPC driver with modest network evidence. Its region is genome-wide significant for both total tau and p-tau181 with a shared lead variant, sub-threshold for clinical AD diagnosis, and absent from the published fine-mapping integrations.</a:t>
            </a:r>
          </a:p>
          <a:p>
            <a:endParaRPr/>
          </a:p>
          <a:p>
            <a:r>
              <a:t>Scientific boundary: A shared tau region is proximity evidence only; the gene-based tests and QTL routes decide whether the signal belongs to MAP1LC3B.</a:t>
            </a:r>
          </a:p>
          <a:p>
            <a:endParaRPr/>
          </a:p>
          <a:p>
            <a:r>
              <a:t>Transition: The deck closes with the negatives reading and next steps.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Teaching goal: Summarize the remaining strong-graded genes honestly: strong published genetics, weak network standing.</a:t>
            </a:r>
          </a:p>
          <a:p>
            <a:endParaRPr dirty="0"/>
          </a:p>
          <a:p>
            <a:r>
              <a:rPr dirty="0"/>
              <a:t>Walk through: All four rows are drivers by construction, but with one significant network return in most cases and no SEA-AD replication. ZNF652 stands out as a category-topping driver with a high-inclusion mapping. STAG3 sits in the known chromosome 7 locus. PPP4C and SEPHS2 inherit a 25-gene shared assignment at the chromosome 16 locus, so locus-level ambiguity dominates. ZNF251 has only two mapped variants but near-certain fine-mapping inclusion.</a:t>
            </a:r>
          </a:p>
          <a:p>
            <a:endParaRPr dirty="0"/>
          </a:p>
          <a:p>
            <a:r>
              <a:rPr dirty="0"/>
              <a:t>Scientific boundary: With 433 drivers screened against roughly eighty established AD loci, occasional overlap of one-off drivers with known loci is expected by chance; convergence claims need both sides to be non-trivial.</a:t>
            </a:r>
          </a:p>
          <a:p>
            <a:endParaRPr dirty="0"/>
          </a:p>
          <a:p>
            <a:r>
              <a:rPr dirty="0"/>
              <a:t>Transition: The deck closes with the negatives reading and next steps.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lang="en-US" b="1" dirty="0"/>
              <a:t>WDR82 and HGSNAT</a:t>
            </a:r>
            <a:endParaRPr lang="en-US" sz="1200" b="1"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Because among the cross-cohort genes, those two had the strongest </a:t>
            </a:r>
            <a:r>
              <a:rPr lang="en-US" sz="1200" b="0" i="1" kern="1200" dirty="0">
                <a:solidFill>
                  <a:schemeClr val="tx1"/>
                </a:solidFill>
                <a:effectLst/>
                <a:latin typeface="+mn-lt"/>
                <a:ea typeface="+mn-ea"/>
                <a:cs typeface="+mn-cs"/>
              </a:rPr>
              <a:t>convergence stories</a:t>
            </a:r>
            <a:r>
              <a:rPr lang="en-US" sz="1200" b="0" i="0" kern="1200" dirty="0">
                <a:solidFill>
                  <a:schemeClr val="tx1"/>
                </a:solidFill>
                <a:effectLst/>
                <a:latin typeface="+mn-lt"/>
                <a:ea typeface="+mn-ea"/>
                <a:cs typeface="+mn-cs"/>
              </a:rPr>
              <a:t>, not just membership in both lists. The ranking was set in the ROSMAP×SEA-AD overlap analysis (before any genetics was looked at):</a:t>
            </a:r>
          </a:p>
          <a:p>
            <a:r>
              <a:rPr lang="en-US" sz="1200" b="1" i="0" kern="1200" dirty="0">
                <a:solidFill>
                  <a:schemeClr val="tx1"/>
                </a:solidFill>
                <a:effectLst/>
                <a:latin typeface="+mn-lt"/>
                <a:ea typeface="+mn-ea"/>
                <a:cs typeface="+mn-cs"/>
              </a:rPr>
              <a:t>WDR82 — the cleanest replication in the entire comparison.</a:t>
            </a:r>
            <a:r>
              <a:rPr lang="en-US" sz="1200" b="0" i="0" kern="1200" dirty="0">
                <a:solidFill>
                  <a:schemeClr val="tx1"/>
                </a:solidFill>
                <a:effectLst/>
                <a:latin typeface="+mn-lt"/>
                <a:ea typeface="+mn-ea"/>
                <a:cs typeface="+mn-cs"/>
              </a:rPr>
              <a:t> It isn't just present in both cohorts; it replicates </a:t>
            </a:r>
            <a:r>
              <a:rPr lang="en-US" sz="1200" b="0" i="1" kern="1200" dirty="0">
                <a:solidFill>
                  <a:schemeClr val="tx1"/>
                </a:solidFill>
                <a:effectLst/>
                <a:latin typeface="+mn-lt"/>
                <a:ea typeface="+mn-ea"/>
                <a:cs typeface="+mn-cs"/>
              </a:rPr>
              <a:t>in the same context</a:t>
            </a:r>
            <a:r>
              <a:rPr lang="en-US" sz="1200" b="0" i="0" kern="1200" dirty="0">
                <a:solidFill>
                  <a:schemeClr val="tx1"/>
                </a:solidFill>
                <a:effectLst/>
                <a:latin typeface="+mn-lt"/>
                <a:ea typeface="+mn-ea"/>
                <a:cs typeface="+mn-cs"/>
              </a:rPr>
              <a:t>: SEA-AD's #1-ranked driver in F_e33 excitatory neurons, and ROSMAP has it at rank 5 in that exact same category (backed by 11 returned calls, q ≈ 1×10⁻⁴). It was the only gene that appears on both cohorts' top-five figures in the same category, it recurs in four ROSMAP categories (all excitatory — cell-type-faithful), and it sits on both recurrence charts. Context-preserving replication is the strongest network evidence the two cohorts can produce.</a:t>
            </a:r>
          </a:p>
          <a:p>
            <a:r>
              <a:rPr lang="en-US" sz="1200" b="1" i="0" kern="1200" dirty="0">
                <a:solidFill>
                  <a:schemeClr val="tx1"/>
                </a:solidFill>
                <a:effectLst/>
                <a:latin typeface="+mn-lt"/>
                <a:ea typeface="+mn-ea"/>
                <a:cs typeface="+mn-cs"/>
              </a:rPr>
              <a:t>HGSNAT — SEA-AD's most recurrent driver, with a sex-consistent pattern.</a:t>
            </a:r>
            <a:r>
              <a:rPr lang="en-US" sz="1200" b="0" i="0" kern="1200" dirty="0">
                <a:solidFill>
                  <a:schemeClr val="tx1"/>
                </a:solidFill>
                <a:effectLst/>
                <a:latin typeface="+mn-lt"/>
                <a:ea typeface="+mn-ea"/>
                <a:cs typeface="+mn-cs"/>
              </a:rPr>
              <a:t> It topped the SEA-AD recurrence chart (2 of the 4 return-bearing categories, 9 returned calls), and its ROSMAP appearances (M_e2 and M_e4, excitatory) make it male-only and excitatory in </a:t>
            </a:r>
            <a:r>
              <a:rPr lang="en-US" sz="1200" b="0" i="1" kern="1200" dirty="0">
                <a:solidFill>
                  <a:schemeClr val="tx1"/>
                </a:solidFill>
                <a:effectLst/>
                <a:latin typeface="+mn-lt"/>
                <a:ea typeface="+mn-ea"/>
                <a:cs typeface="+mn-cs"/>
              </a:rPr>
              <a:t>both</a:t>
            </a:r>
            <a:r>
              <a:rPr lang="en-US" sz="1200" b="0" i="0" kern="1200" dirty="0">
                <a:solidFill>
                  <a:schemeClr val="tx1"/>
                </a:solidFill>
                <a:effectLst/>
                <a:latin typeface="+mn-lt"/>
                <a:ea typeface="+mn-ea"/>
                <a:cs typeface="+mn-cs"/>
              </a:rPr>
              <a:t> cohorts — one of the very few genes whose sex context survived the cohort change, which most shared genes didn't (recall the finding that cell type transfers but sex/APOE stratum usually doesn't).</a:t>
            </a:r>
          </a:p>
          <a:p>
            <a:r>
              <a:rPr lang="en-US" sz="1200" b="1" i="0" kern="1200" dirty="0">
                <a:solidFill>
                  <a:schemeClr val="tx1"/>
                </a:solidFill>
                <a:effectLst/>
                <a:latin typeface="+mn-lt"/>
                <a:ea typeface="+mn-ea"/>
                <a:cs typeface="+mn-cs"/>
              </a:rPr>
              <a:t>TTC8 and BEX3</a:t>
            </a:r>
            <a:r>
              <a:rPr lang="en-US" sz="1200" b="0" i="0" kern="1200" dirty="0">
                <a:solidFill>
                  <a:schemeClr val="tx1"/>
                </a:solidFill>
                <a:effectLst/>
                <a:latin typeface="+mn-lt"/>
                <a:ea typeface="+mn-ea"/>
                <a:cs typeface="+mn-cs"/>
              </a:rPr>
              <a:t> made the priority set for breadth rather than precision: both recur widely (5 ROSMAP categories each, plus SEA-AD returns, both on both recurrence charts), but their contexts scatter across groups rather than matching — so they ranked behind the two genes whose replication carried context along with it.</a:t>
            </a:r>
          </a:p>
          <a:p>
            <a:r>
              <a:rPr lang="en-US" sz="1200" b="0" i="0" kern="1200" dirty="0">
                <a:solidFill>
                  <a:schemeClr val="tx1"/>
                </a:solidFill>
                <a:effectLst/>
                <a:latin typeface="+mn-lt"/>
                <a:ea typeface="+mn-ea"/>
                <a:cs typeface="+mn-cs"/>
              </a:rPr>
              <a:t>So "led the list" means: when the four never-screened cross-cohort genes were ordered by quality of network convergence — same-category replication first, then context consistency, then raw breadth — WDR82 and HGSNAT came out on top. That's also what made their genetic nulls informative rather than incidental: the best network evidence available was tested first and came back signal-negative under the common-variant design.</a:t>
            </a:r>
          </a:p>
          <a:p>
            <a:r>
              <a:rPr lang="en-US" sz="1200" b="0" i="0" kern="1200" dirty="0">
                <a:solidFill>
                  <a:schemeClr val="tx1"/>
                </a:solidFill>
                <a:effectLst/>
                <a:latin typeface="+mn-lt"/>
                <a:ea typeface="+mn-ea"/>
                <a:cs typeface="+mn-cs"/>
              </a:rPr>
              <a:t>If you want that reasoning visible in the deck, the slide 15 bullet could be expanded slightly (e.g., "WDR82 replicates at top rank in the same category in both cohorts; HGSNAT is SEA-AD's most recurrent driver, male-only in both") — it's currently in the speaker notes territory only.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lang="en-US" sz="1200" b="1" i="0" kern="1200" dirty="0">
                <a:solidFill>
                  <a:schemeClr val="tx1"/>
                </a:solidFill>
                <a:effectLst/>
                <a:latin typeface="+mn-lt"/>
                <a:ea typeface="+mn-ea"/>
                <a:cs typeface="+mn-cs"/>
              </a:rPr>
              <a:t>What "per region" means (what we have now).</a:t>
            </a:r>
            <a:r>
              <a:rPr lang="en-US" sz="1200" b="0" i="0" kern="1200" dirty="0">
                <a:solidFill>
                  <a:schemeClr val="tx1"/>
                </a:solidFill>
                <a:effectLst/>
                <a:latin typeface="+mn-lt"/>
                <a:ea typeface="+mn-ea"/>
                <a:cs typeface="+mn-cs"/>
              </a:rPr>
              <a:t> The regional scan asked, for each driver: what is the smallest GWAS P value anywhere within ±1 Mb of the gene? That window spans ~2 Mb and typically contains dozens of other genes. The score it returns is a property of the </a:t>
            </a:r>
            <a:r>
              <a:rPr lang="en-US" sz="1200" b="0" i="1" kern="1200" dirty="0">
                <a:solidFill>
                  <a:schemeClr val="tx1"/>
                </a:solidFill>
                <a:effectLst/>
                <a:latin typeface="+mn-lt"/>
                <a:ea typeface="+mn-ea"/>
                <a:cs typeface="+mn-cs"/>
              </a:rPr>
              <a:t>neighborhood</a:t>
            </a:r>
            <a:r>
              <a:rPr lang="en-US" sz="1200" b="0" i="0" kern="1200" dirty="0">
                <a:solidFill>
                  <a:schemeClr val="tx1"/>
                </a:solidFill>
                <a:effectLst/>
                <a:latin typeface="+mn-lt"/>
                <a:ea typeface="+mn-ea"/>
                <a:cs typeface="+mn-cs"/>
              </a:rPr>
              <a:t>, not the gene — if any strong AD locus happens to fall inside the window, the window "lights up," even when the signal plainly belongs to a different gene. That's the "borrowing a famous neighbor's signal" problem, and our results are full of it: MAP3K2's window returned P = 6.5×10⁻⁹⁰, but that is </a:t>
            </a:r>
            <a:r>
              <a:rPr lang="en-US" sz="1200" b="1" i="0" kern="1200" dirty="0">
                <a:solidFill>
                  <a:schemeClr val="tx1"/>
                </a:solidFill>
                <a:effectLst/>
                <a:latin typeface="+mn-lt"/>
                <a:ea typeface="+mn-ea"/>
                <a:cs typeface="+mn-cs"/>
              </a:rPr>
              <a:t>BIN1</a:t>
            </a:r>
            <a:r>
              <a:rPr lang="en-US" sz="1200" b="0" i="0" kern="1200" dirty="0">
                <a:solidFill>
                  <a:schemeClr val="tx1"/>
                </a:solidFill>
                <a:effectLst/>
                <a:latin typeface="+mn-lt"/>
                <a:ea typeface="+mn-ea"/>
                <a:cs typeface="+mn-cs"/>
              </a:rPr>
              <a:t>'s celebrated signal, which merely sits within a megabase of MAP3K2. TMEM259 and RPS15 both carry the ABCA7-locus signal; five drivers around SHARPIN all report the same single variant. Thirty-three windows are "genome-wide significant," but many are just downstream of famous loci.</a:t>
            </a:r>
          </a:p>
          <a:p>
            <a:r>
              <a:rPr lang="en-US" sz="1200" b="1" i="0" kern="1200" dirty="0">
                <a:solidFill>
                  <a:schemeClr val="tx1"/>
                </a:solidFill>
                <a:effectLst/>
                <a:latin typeface="+mn-lt"/>
                <a:ea typeface="+mn-ea"/>
                <a:cs typeface="+mn-cs"/>
              </a:rPr>
              <a:t>What "one score per gene" means (the next step).</a:t>
            </a:r>
            <a:r>
              <a:rPr lang="en-US" sz="1200" b="0" i="0" kern="1200" dirty="0">
                <a:solidFill>
                  <a:schemeClr val="tx1"/>
                </a:solidFill>
                <a:effectLst/>
                <a:latin typeface="+mn-lt"/>
                <a:ea typeface="+mn-ea"/>
                <a:cs typeface="+mn-cs"/>
              </a:rPr>
              <a:t> A gene-based test like MAGMA aggregates the association evidence of the variants mapped to </a:t>
            </a:r>
            <a:r>
              <a:rPr lang="en-US" sz="1200" b="0" i="1" kern="1200" dirty="0">
                <a:solidFill>
                  <a:schemeClr val="tx1"/>
                </a:solidFill>
                <a:effectLst/>
                <a:latin typeface="+mn-lt"/>
                <a:ea typeface="+mn-ea"/>
                <a:cs typeface="+mn-cs"/>
              </a:rPr>
              <a:t>the gene itself</a:t>
            </a:r>
            <a:r>
              <a:rPr lang="en-US" sz="1200" b="0" i="0" kern="1200" dirty="0">
                <a:solidFill>
                  <a:schemeClr val="tx1"/>
                </a:solidFill>
                <a:effectLst/>
                <a:latin typeface="+mn-lt"/>
                <a:ea typeface="+mn-ea"/>
                <a:cs typeface="+mn-cs"/>
              </a:rPr>
              <a:t> (gene body plus a small margin, ~10 kb, rather than a megabase) into a single statistic — while correcting for how many variants the gene contains and for the correlation (LD) between them. Three consequences:</a:t>
            </a:r>
          </a:p>
          <a:p>
            <a:pPr lvl="0"/>
            <a:r>
              <a:rPr lang="en-US" sz="1200" b="1" i="0" kern="1200" dirty="0">
                <a:solidFill>
                  <a:schemeClr val="tx1"/>
                </a:solidFill>
                <a:effectLst/>
                <a:latin typeface="+mn-lt"/>
                <a:ea typeface="+mn-ea"/>
                <a:cs typeface="+mn-cs"/>
              </a:rPr>
              <a:t>The unit of inference becomes the gene.</a:t>
            </a:r>
            <a:r>
              <a:rPr lang="en-US" sz="1200" b="0" i="0" kern="1200" dirty="0">
                <a:solidFill>
                  <a:schemeClr val="tx1"/>
                </a:solidFill>
                <a:effectLst/>
                <a:latin typeface="+mn-lt"/>
                <a:ea typeface="+mn-ea"/>
                <a:cs typeface="+mn-cs"/>
              </a:rPr>
              <a:t> MAP3K2's score would be computed only from variants at MAP3K2; BIN1's signal, 800 kb away, no longer counts. If nothing at MAP3K2 itself is associated, MAP3K2 drops out.</a:t>
            </a:r>
          </a:p>
          <a:p>
            <a:pPr lvl="0"/>
            <a:r>
              <a:rPr lang="en-US" sz="1200" b="1" i="0" kern="1200" dirty="0">
                <a:solidFill>
                  <a:schemeClr val="tx1"/>
                </a:solidFill>
                <a:effectLst/>
                <a:latin typeface="+mn-lt"/>
                <a:ea typeface="+mn-ea"/>
                <a:cs typeface="+mn-cs"/>
              </a:rPr>
              <a:t>Real gene-level signals survive.</a:t>
            </a:r>
            <a:r>
              <a:rPr lang="en-US" sz="1200" b="0" i="0" kern="1200" dirty="0">
                <a:solidFill>
                  <a:schemeClr val="tx1"/>
                </a:solidFill>
                <a:effectLst/>
                <a:latin typeface="+mn-lt"/>
                <a:ea typeface="+mn-ea"/>
                <a:cs typeface="+mn-cs"/>
              </a:rPr>
              <a:t> APOE is the template: its causal coding variant is literally inside the gene, so its gene-body MAGMA P for the CSF biomarkers was 5×10⁻¹⁰. And the old screen's ANKRD11 result shows the filter working in reverse — significant region (P = 1.3×10⁻¹¹) but a failed gene-based test, hence "regional proximity only."</a:t>
            </a:r>
          </a:p>
          <a:p>
            <a:pPr lvl="0"/>
            <a:r>
              <a:rPr lang="en-US" sz="1200" b="1" i="0" kern="1200" dirty="0">
                <a:solidFill>
                  <a:schemeClr val="tx1"/>
                </a:solidFill>
                <a:effectLst/>
                <a:latin typeface="+mn-lt"/>
                <a:ea typeface="+mn-ea"/>
                <a:cs typeface="+mn-cs"/>
              </a:rPr>
              <a:t>Fair multiple-testing.</a:t>
            </a:r>
            <a:r>
              <a:rPr lang="en-US" sz="1200" b="0" i="0" kern="1200" dirty="0">
                <a:solidFill>
                  <a:schemeClr val="tx1"/>
                </a:solidFill>
                <a:effectLst/>
                <a:latin typeface="+mn-lt"/>
                <a:ea typeface="+mn-ea"/>
                <a:cs typeface="+mn-cs"/>
              </a:rPr>
              <a:t> One statistic per gene lets us correct across the 433 drivers properly, which a min-P-in-window scan can't do honestly.</a:t>
            </a:r>
          </a:p>
          <a:p>
            <a:r>
              <a:rPr lang="en-US" sz="1200" b="0" i="0" kern="1200" dirty="0">
                <a:solidFill>
                  <a:schemeClr val="tx1"/>
                </a:solidFill>
                <a:effectLst/>
                <a:latin typeface="+mn-lt"/>
                <a:ea typeface="+mn-ea"/>
                <a:cs typeface="+mn-cs"/>
              </a:rPr>
              <a:t>One caveat, which is why the same-variant test remains step 3: gene-based tests shrink the borrowing problem but don't eliminate it — in high-LD, gene-dense regions (the HLA area for HSPA1A, the chr16p11.2 cluster for PPP4C/SEPHS2), correlated variants can still bleed signal into adjacent genes' windows. MAGMA narrows 2 Mb of ambiguity down to gene scale; only the same-variant test resolves ownership completely.</a:t>
            </a:r>
          </a:p>
          <a:p>
            <a:r>
              <a:rPr lang="en-US" sz="1200" b="0" i="0" kern="1200" dirty="0">
                <a:solidFill>
                  <a:schemeClr val="tx1"/>
                </a:solidFill>
                <a:effectLst/>
                <a:latin typeface="+mn-lt"/>
                <a:ea typeface="+mn-ea"/>
                <a:cs typeface="+mn-cs"/>
              </a:rPr>
              <a:t>If you want the slide itself to carry a shorter version, something like "scores only the variants at the gene itself, so a signal 800 kb away no longer counts" could replace the current wording — say the word.</a:t>
            </a:r>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365760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56B4E9"/>
                </a:solidFill>
                <a:latin typeface="Arial"/>
              </a:rPr>
              <a:t>HUMAN GENETIC SUPPORT</a:t>
            </a:r>
          </a:p>
        </p:txBody>
      </p:sp>
      <p:sp>
        <p:nvSpPr>
          <p:cNvPr id="3" name="TextBox 2"/>
          <p:cNvSpPr txBox="1"/>
          <p:nvPr/>
        </p:nvSpPr>
        <p:spPr>
          <a:xfrm>
            <a:off x="713232" y="1097280"/>
            <a:ext cx="10607040" cy="126187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300" b="1" i="0">
                <a:solidFill>
                  <a:srgbClr val="FFFFFF"/>
                </a:solidFill>
                <a:latin typeface="Arial"/>
              </a:rPr>
              <a:t>Do the key drivers carry inherited Alzheimer's risk?</a:t>
            </a:r>
          </a:p>
        </p:txBody>
      </p:sp>
      <p:sp>
        <p:nvSpPr>
          <p:cNvPr id="4" name="TextBox 3"/>
          <p:cNvSpPr txBox="1"/>
          <p:nvPr/>
        </p:nvSpPr>
        <p:spPr>
          <a:xfrm>
            <a:off x="749808" y="2487168"/>
            <a:ext cx="10241280"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00" b="0" i="0">
                <a:solidFill>
                  <a:srgbClr val="CCDBEA"/>
                </a:solidFill>
                <a:latin typeface="Arial"/>
              </a:rPr>
              <a:t>Public genetic evidence for the key drivers from the network key-driver (KDA) analysis</a:t>
            </a:r>
          </a:p>
        </p:txBody>
      </p:sp>
      <p:sp>
        <p:nvSpPr>
          <p:cNvPr id="5" name="Rounded Rectangle 4"/>
          <p:cNvSpPr/>
          <p:nvPr/>
        </p:nvSpPr>
        <p:spPr>
          <a:xfrm>
            <a:off x="749808" y="3429000"/>
            <a:ext cx="3401568" cy="1463040"/>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7" y="3675887"/>
            <a:ext cx="2944368"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200" b="1" i="0">
                <a:solidFill>
                  <a:srgbClr val="56B4E9"/>
                </a:solidFill>
                <a:latin typeface="Arial"/>
              </a:rPr>
              <a:t>All 433</a:t>
            </a:r>
          </a:p>
        </p:txBody>
      </p:sp>
      <p:sp>
        <p:nvSpPr>
          <p:cNvPr id="7" name="TextBox 6"/>
          <p:cNvSpPr txBox="1"/>
          <p:nvPr/>
        </p:nvSpPr>
        <p:spPr>
          <a:xfrm>
            <a:off x="978407" y="4224528"/>
            <a:ext cx="2944368" cy="23237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0" i="0" dirty="0">
                <a:solidFill>
                  <a:srgbClr val="D2E0EE"/>
                </a:solidFill>
                <a:latin typeface="Arial"/>
              </a:rPr>
              <a:t>drivers now </a:t>
            </a:r>
            <a:r>
              <a:rPr lang="en-US" sz="1150" dirty="0">
                <a:solidFill>
                  <a:srgbClr val="D2E0EE"/>
                </a:solidFill>
                <a:latin typeface="Arial"/>
              </a:rPr>
              <a:t>checked</a:t>
            </a:r>
            <a:endParaRPr sz="1150" b="0" i="0" dirty="0">
              <a:solidFill>
                <a:srgbClr val="D2E0EE"/>
              </a:solidFill>
              <a:latin typeface="Arial"/>
            </a:endParaRPr>
          </a:p>
        </p:txBody>
      </p:sp>
      <p:sp>
        <p:nvSpPr>
          <p:cNvPr id="8" name="Rounded Rectangle 7"/>
          <p:cNvSpPr/>
          <p:nvPr/>
        </p:nvSpPr>
        <p:spPr>
          <a:xfrm>
            <a:off x="4425696" y="3429000"/>
            <a:ext cx="3401568" cy="1463040"/>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54296" y="3552795"/>
            <a:ext cx="2944368"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200" b="1" i="0" dirty="0">
                <a:solidFill>
                  <a:srgbClr val="56B4E9"/>
                </a:solidFill>
                <a:latin typeface="Arial"/>
              </a:rPr>
              <a:t>APOE · RPS15 · PLCG2</a:t>
            </a:r>
          </a:p>
        </p:txBody>
      </p:sp>
      <p:sp>
        <p:nvSpPr>
          <p:cNvPr id="10" name="TextBox 9"/>
          <p:cNvSpPr txBox="1"/>
          <p:nvPr/>
        </p:nvSpPr>
        <p:spPr>
          <a:xfrm>
            <a:off x="4654296" y="4224528"/>
            <a:ext cx="2944368"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0" i="0">
                <a:solidFill>
                  <a:srgbClr val="D2E0EE"/>
                </a:solidFill>
                <a:latin typeface="Arial"/>
              </a:rPr>
              <a:t>lead the genetic evidence</a:t>
            </a:r>
          </a:p>
        </p:txBody>
      </p:sp>
      <p:sp>
        <p:nvSpPr>
          <p:cNvPr id="11" name="Rounded Rectangle 10"/>
          <p:cNvSpPr/>
          <p:nvPr/>
        </p:nvSpPr>
        <p:spPr>
          <a:xfrm>
            <a:off x="8101583" y="3429000"/>
            <a:ext cx="3401568" cy="1463040"/>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0183" y="3675887"/>
            <a:ext cx="2944368"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200" b="1" i="0">
                <a:solidFill>
                  <a:srgbClr val="56B4E9"/>
                </a:solidFill>
                <a:latin typeface="Arial"/>
              </a:rPr>
              <a:t>8 strong</a:t>
            </a:r>
          </a:p>
        </p:txBody>
      </p:sp>
      <p:sp>
        <p:nvSpPr>
          <p:cNvPr id="13" name="TextBox 12"/>
          <p:cNvSpPr txBox="1"/>
          <p:nvPr/>
        </p:nvSpPr>
        <p:spPr>
          <a:xfrm>
            <a:off x="8330183" y="4224528"/>
            <a:ext cx="2944368"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0" i="0">
                <a:solidFill>
                  <a:srgbClr val="D2E0EE"/>
                </a:solidFill>
                <a:latin typeface="Arial"/>
              </a:rPr>
              <a:t>direct-evidence grades (3 moderate, 17 weak)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Network drivers and inherited risk are complementary evidence</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KDA analysis finds genes central in diseased brain cells; genetics asks whether DNA variation near them alters risk.</a:t>
            </a:r>
          </a:p>
        </p:txBody>
      </p:sp>
      <p:sp>
        <p:nvSpPr>
          <p:cNvPr id="4" name="Rounded Rectangle 3"/>
          <p:cNvSpPr/>
          <p:nvPr/>
        </p:nvSpPr>
        <p:spPr>
          <a:xfrm>
            <a:off x="585216" y="1389888"/>
            <a:ext cx="5358384" cy="3977639"/>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82496"/>
            <a:ext cx="420624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NETWORK KEY DRIVERS</a:t>
            </a:r>
          </a:p>
        </p:txBody>
      </p:sp>
      <p:sp>
        <p:nvSpPr>
          <p:cNvPr id="6" name="TextBox 5"/>
          <p:cNvSpPr txBox="1"/>
          <p:nvPr/>
        </p:nvSpPr>
        <p:spPr>
          <a:xfrm>
            <a:off x="868680" y="1993392"/>
            <a:ext cx="452628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a:solidFill>
                  <a:srgbClr val="0F233D"/>
                </a:solidFill>
                <a:latin typeface="Arial"/>
              </a:rPr>
              <a:t>Which genes are central in diseased brain-cell networks?</a:t>
            </a:r>
          </a:p>
        </p:txBody>
      </p:sp>
      <p:sp>
        <p:nvSpPr>
          <p:cNvPr id="7" name="Rounded Rectangle 6"/>
          <p:cNvSpPr/>
          <p:nvPr/>
        </p:nvSpPr>
        <p:spPr>
          <a:xfrm>
            <a:off x="86868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3"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433</a:t>
            </a:r>
          </a:p>
        </p:txBody>
      </p:sp>
      <p:sp>
        <p:nvSpPr>
          <p:cNvPr id="9" name="TextBox 8"/>
          <p:cNvSpPr txBox="1"/>
          <p:nvPr/>
        </p:nvSpPr>
        <p:spPr>
          <a:xfrm>
            <a:off x="1014983"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driver genes</a:t>
            </a:r>
          </a:p>
        </p:txBody>
      </p:sp>
      <p:sp>
        <p:nvSpPr>
          <p:cNvPr id="10" name="Rounded Rectangle 9"/>
          <p:cNvSpPr/>
          <p:nvPr/>
        </p:nvSpPr>
        <p:spPr>
          <a:xfrm>
            <a:off x="320040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46704"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32</a:t>
            </a:r>
          </a:p>
        </p:txBody>
      </p:sp>
      <p:sp>
        <p:nvSpPr>
          <p:cNvPr id="12" name="TextBox 11"/>
          <p:cNvSpPr txBox="1"/>
          <p:nvPr/>
        </p:nvSpPr>
        <p:spPr>
          <a:xfrm>
            <a:off x="3346704"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sex/APOE · cell-type categories</a:t>
            </a:r>
          </a:p>
        </p:txBody>
      </p:sp>
      <p:sp>
        <p:nvSpPr>
          <p:cNvPr id="13" name="TextBox 12"/>
          <p:cNvSpPr txBox="1"/>
          <p:nvPr/>
        </p:nvSpPr>
        <p:spPr>
          <a:xfrm>
            <a:off x="877824" y="4160520"/>
            <a:ext cx="48006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4E5A68"/>
                </a:solidFill>
                <a:latin typeface="Arial"/>
              </a:rPr>
              <a:t>The strongest drivers also replicate in an independent human cohort.</a:t>
            </a:r>
          </a:p>
        </p:txBody>
      </p:sp>
      <p:sp>
        <p:nvSpPr>
          <p:cNvPr id="14" name="Rounded Rectangle 13"/>
          <p:cNvSpPr/>
          <p:nvPr/>
        </p:nvSpPr>
        <p:spPr>
          <a:xfrm>
            <a:off x="6245352" y="1389888"/>
            <a:ext cx="5358384" cy="3977639"/>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8816" y="1682496"/>
            <a:ext cx="420624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684D"/>
                </a:solidFill>
                <a:latin typeface="Arial"/>
              </a:rPr>
              <a:t>INHERITED RISK</a:t>
            </a:r>
          </a:p>
        </p:txBody>
      </p:sp>
      <p:sp>
        <p:nvSpPr>
          <p:cNvPr id="16" name="TextBox 15"/>
          <p:cNvSpPr txBox="1"/>
          <p:nvPr/>
        </p:nvSpPr>
        <p:spPr>
          <a:xfrm>
            <a:off x="6528816" y="1993392"/>
            <a:ext cx="452628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a:solidFill>
                  <a:srgbClr val="0F233D"/>
                </a:solidFill>
                <a:latin typeface="Arial"/>
              </a:rPr>
              <a:t>Which genes are linked to inherited AD risk?</a:t>
            </a:r>
          </a:p>
        </p:txBody>
      </p:sp>
      <p:sp>
        <p:nvSpPr>
          <p:cNvPr id="17" name="Oval 16"/>
          <p:cNvSpPr/>
          <p:nvPr/>
        </p:nvSpPr>
        <p:spPr>
          <a:xfrm>
            <a:off x="6537960" y="3009271"/>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11696" y="2926080"/>
            <a:ext cx="462686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Uses public AD and biomarker genetics, independent of the networks.</a:t>
            </a:r>
          </a:p>
        </p:txBody>
      </p:sp>
      <p:sp>
        <p:nvSpPr>
          <p:cNvPr id="19" name="Oval 18"/>
          <p:cNvSpPr/>
          <p:nvPr/>
        </p:nvSpPr>
        <p:spPr>
          <a:xfrm>
            <a:off x="6537960" y="35761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11696" y="3493008"/>
            <a:ext cx="462686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Evidence is per gene: disease association plus gene-activity links.</a:t>
            </a:r>
          </a:p>
        </p:txBody>
      </p:sp>
      <p:sp>
        <p:nvSpPr>
          <p:cNvPr id="21" name="Oval 20"/>
          <p:cNvSpPr/>
          <p:nvPr/>
        </p:nvSpPr>
        <p:spPr>
          <a:xfrm>
            <a:off x="6537960" y="414312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11696" y="4059936"/>
            <a:ext cx="462686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Goal: find drivers where both kinds of evidence converge.</a:t>
            </a:r>
          </a:p>
        </p:txBody>
      </p:sp>
      <p:sp>
        <p:nvSpPr>
          <p:cNvPr id="23" name="TextBox 22"/>
          <p:cNvSpPr txBox="1"/>
          <p:nvPr/>
        </p:nvSpPr>
        <p:spPr>
          <a:xfrm>
            <a:off x="804672" y="5760720"/>
            <a:ext cx="10607040" cy="23237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dirty="0">
                <a:solidFill>
                  <a:srgbClr val="7E4C9A"/>
                </a:solidFill>
                <a:latin typeface="Arial"/>
              </a:rPr>
              <a:t>Genetic support strengthens a driver; its absence does not </a:t>
            </a:r>
            <a:r>
              <a:rPr lang="en-US" sz="1150" b="1" i="0" dirty="0">
                <a:solidFill>
                  <a:srgbClr val="7E4C9A"/>
                </a:solidFill>
                <a:latin typeface="Arial"/>
              </a:rPr>
              <a:t>deny it. </a:t>
            </a:r>
            <a:r>
              <a:rPr lang="en-US" sz="1150" b="1" dirty="0">
                <a:solidFill>
                  <a:srgbClr val="7E4C9A"/>
                </a:solidFill>
                <a:latin typeface="Arial"/>
              </a:rPr>
              <a:t>T</a:t>
            </a:r>
            <a:r>
              <a:rPr sz="1150" b="1" i="0" dirty="0">
                <a:solidFill>
                  <a:srgbClr val="7E4C9A"/>
                </a:solidFill>
                <a:latin typeface="Arial"/>
              </a:rPr>
              <a:t>he two ask different questions.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Where the 433 driver genes come from</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Every gene the network analysis returned as significant is on the list — there are no extra selection gates.</a:t>
            </a:r>
          </a:p>
        </p:txBody>
      </p:sp>
      <p:sp>
        <p:nvSpPr>
          <p:cNvPr id="4" name="Rounded Rectangle 3"/>
          <p:cNvSpPr/>
          <p:nvPr/>
        </p:nvSpPr>
        <p:spPr>
          <a:xfrm>
            <a:off x="685800"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295 KDA calls</a:t>
            </a:r>
          </a:p>
        </p:txBody>
      </p:sp>
      <p:sp>
        <p:nvSpPr>
          <p:cNvPr id="6" name="TextBox 5"/>
          <p:cNvSpPr txBox="1"/>
          <p:nvPr/>
        </p:nvSpPr>
        <p:spPr>
          <a:xfrm>
            <a:off x="795528"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network key-driver calls across the ROSMAP categories</a:t>
            </a:r>
          </a:p>
        </p:txBody>
      </p:sp>
      <p:sp>
        <p:nvSpPr>
          <p:cNvPr id="7" name="Chevron 6"/>
          <p:cNvSpPr/>
          <p:nvPr/>
        </p:nvSpPr>
        <p:spPr>
          <a:xfrm>
            <a:off x="2688336"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907791"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17520"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Significant returns</a:t>
            </a:r>
          </a:p>
        </p:txBody>
      </p:sp>
      <p:sp>
        <p:nvSpPr>
          <p:cNvPr id="10" name="TextBox 9"/>
          <p:cNvSpPr txBox="1"/>
          <p:nvPr/>
        </p:nvSpPr>
        <p:spPr>
          <a:xfrm>
            <a:off x="3017520"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genes returned at q ≤ 0.05 within a call</a:t>
            </a:r>
          </a:p>
        </p:txBody>
      </p:sp>
      <p:sp>
        <p:nvSpPr>
          <p:cNvPr id="11" name="Chevron 10"/>
          <p:cNvSpPr/>
          <p:nvPr/>
        </p:nvSpPr>
        <p:spPr>
          <a:xfrm>
            <a:off x="4910327"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129783"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39512"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Non-MT focus</a:t>
            </a:r>
          </a:p>
        </p:txBody>
      </p:sp>
      <p:sp>
        <p:nvSpPr>
          <p:cNvPr id="14" name="TextBox 13"/>
          <p:cNvSpPr txBox="1"/>
          <p:nvPr/>
        </p:nvSpPr>
        <p:spPr>
          <a:xfrm>
            <a:off x="5239512"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mitochondrial-protein genes set aside</a:t>
            </a:r>
          </a:p>
        </p:txBody>
      </p:sp>
      <p:sp>
        <p:nvSpPr>
          <p:cNvPr id="15" name="Chevron 14"/>
          <p:cNvSpPr/>
          <p:nvPr/>
        </p:nvSpPr>
        <p:spPr>
          <a:xfrm>
            <a:off x="7132319"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51775"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61503"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689 units</a:t>
            </a:r>
          </a:p>
        </p:txBody>
      </p:sp>
      <p:sp>
        <p:nvSpPr>
          <p:cNvPr id="18" name="TextBox 17"/>
          <p:cNvSpPr txBox="1"/>
          <p:nvPr/>
        </p:nvSpPr>
        <p:spPr>
          <a:xfrm>
            <a:off x="7461503"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gene × category pairs</a:t>
            </a:r>
          </a:p>
        </p:txBody>
      </p:sp>
      <p:sp>
        <p:nvSpPr>
          <p:cNvPr id="19" name="Chevron 18"/>
          <p:cNvSpPr/>
          <p:nvPr/>
        </p:nvSpPr>
        <p:spPr>
          <a:xfrm>
            <a:off x="9354311"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573767"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83495"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433 genes</a:t>
            </a:r>
          </a:p>
        </p:txBody>
      </p:sp>
      <p:sp>
        <p:nvSpPr>
          <p:cNvPr id="22" name="TextBox 21"/>
          <p:cNvSpPr txBox="1"/>
          <p:nvPr/>
        </p:nvSpPr>
        <p:spPr>
          <a:xfrm>
            <a:off x="9683495"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unique driver symbols</a:t>
            </a:r>
          </a:p>
        </p:txBody>
      </p:sp>
      <p:sp>
        <p:nvSpPr>
          <p:cNvPr id="23" name="Rounded Rectangle 22"/>
          <p:cNvSpPr/>
          <p:nvPr/>
        </p:nvSpPr>
        <p:spPr>
          <a:xfrm>
            <a:off x="685800" y="3291840"/>
            <a:ext cx="10835640" cy="1051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3493008"/>
            <a:ext cx="365760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0072B2"/>
                </a:solidFill>
                <a:latin typeface="Arial"/>
              </a:rPr>
              <a:t>Why units and genes differ</a:t>
            </a:r>
          </a:p>
        </p:txBody>
      </p:sp>
      <p:sp>
        <p:nvSpPr>
          <p:cNvPr id="25" name="TextBox 24"/>
          <p:cNvSpPr txBox="1"/>
          <p:nvPr/>
        </p:nvSpPr>
        <p:spPr>
          <a:xfrm>
            <a:off x="914400" y="3785615"/>
            <a:ext cx="1033272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A gene counts once per sex/APOE × cell-type category it returns in, so recurrent genes hold several of the 689 units. Collapsing to unique symbols leaves 433 genes.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Evidence depth inside the 433 is very uneven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One significant return is enough for membership; deeper network evidence is concentrated in a minority.</a:t>
            </a:r>
          </a:p>
        </p:txBody>
      </p:sp>
      <p:sp>
        <p:nvSpPr>
          <p:cNvPr id="4" name="TextBox 3"/>
          <p:cNvSpPr txBox="1"/>
          <p:nvPr/>
        </p:nvSpPr>
        <p:spPr>
          <a:xfrm>
            <a:off x="777240" y="1554480"/>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One-off genes: a single category, a single returned call</a:t>
            </a:r>
          </a:p>
        </p:txBody>
      </p:sp>
      <p:sp>
        <p:nvSpPr>
          <p:cNvPr id="5" name="Rectangle 4"/>
          <p:cNvSpPr/>
          <p:nvPr/>
        </p:nvSpPr>
        <p:spPr>
          <a:xfrm>
            <a:off x="6172200" y="1600200"/>
            <a:ext cx="2768541"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050469" y="1609344"/>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D55E00"/>
                </a:solidFill>
                <a:latin typeface="Arial"/>
              </a:rPr>
              <a:t>285  (66%)</a:t>
            </a:r>
          </a:p>
        </p:txBody>
      </p:sp>
      <p:sp>
        <p:nvSpPr>
          <p:cNvPr id="7" name="TextBox 6"/>
          <p:cNvSpPr txBox="1"/>
          <p:nvPr/>
        </p:nvSpPr>
        <p:spPr>
          <a:xfrm>
            <a:off x="777240" y="2359152"/>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Recur in ≥2 sex/APOE × cell-type categories</a:t>
            </a:r>
          </a:p>
        </p:txBody>
      </p:sp>
      <p:sp>
        <p:nvSpPr>
          <p:cNvPr id="8" name="Rectangle 7"/>
          <p:cNvSpPr/>
          <p:nvPr/>
        </p:nvSpPr>
        <p:spPr>
          <a:xfrm>
            <a:off x="6172200" y="2404872"/>
            <a:ext cx="1214272" cy="31089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6200" y="2414016"/>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72B2"/>
                </a:solidFill>
                <a:latin typeface="Arial"/>
              </a:rPr>
              <a:t>125  (29%)</a:t>
            </a:r>
          </a:p>
        </p:txBody>
      </p:sp>
      <p:sp>
        <p:nvSpPr>
          <p:cNvPr id="10" name="TextBox 9"/>
          <p:cNvSpPr txBox="1"/>
          <p:nvPr/>
        </p:nvSpPr>
        <p:spPr>
          <a:xfrm>
            <a:off x="777240" y="3163824"/>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Appear in a category top-five display</a:t>
            </a:r>
          </a:p>
        </p:txBody>
      </p:sp>
      <p:sp>
        <p:nvSpPr>
          <p:cNvPr id="11" name="Rectangle 10"/>
          <p:cNvSpPr/>
          <p:nvPr/>
        </p:nvSpPr>
        <p:spPr>
          <a:xfrm>
            <a:off x="6172200" y="3209544"/>
            <a:ext cx="1019988" cy="31089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01916" y="3218688"/>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72B2"/>
                </a:solidFill>
                <a:latin typeface="Arial"/>
              </a:rPr>
              <a:t>105  (24%)</a:t>
            </a:r>
          </a:p>
        </p:txBody>
      </p:sp>
      <p:sp>
        <p:nvSpPr>
          <p:cNvPr id="13" name="TextBox 12"/>
          <p:cNvSpPr txBox="1"/>
          <p:nvPr/>
        </p:nvSpPr>
        <p:spPr>
          <a:xfrm>
            <a:off x="777240" y="3968496"/>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Backed by ≥3 returned calls</a:t>
            </a:r>
          </a:p>
        </p:txBody>
      </p:sp>
      <p:sp>
        <p:nvSpPr>
          <p:cNvPr id="14" name="Rectangle 13"/>
          <p:cNvSpPr/>
          <p:nvPr/>
        </p:nvSpPr>
        <p:spPr>
          <a:xfrm>
            <a:off x="6172200" y="4014215"/>
            <a:ext cx="757706"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39634" y="4023359"/>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9E73"/>
                </a:solidFill>
                <a:latin typeface="Arial"/>
              </a:rPr>
              <a:t>78  (18%)</a:t>
            </a:r>
          </a:p>
        </p:txBody>
      </p:sp>
      <p:sp>
        <p:nvSpPr>
          <p:cNvPr id="16" name="TextBox 15"/>
          <p:cNvSpPr txBox="1"/>
          <p:nvPr/>
        </p:nvSpPr>
        <p:spPr>
          <a:xfrm>
            <a:off x="777240" y="4773168"/>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dirty="0">
                <a:solidFill>
                  <a:srgbClr val="0F233D"/>
                </a:solidFill>
                <a:latin typeface="Arial"/>
              </a:rPr>
              <a:t>Also return in the independent SEA-AD cohort</a:t>
            </a:r>
          </a:p>
        </p:txBody>
      </p:sp>
      <p:sp>
        <p:nvSpPr>
          <p:cNvPr id="17" name="Rectangle 16"/>
          <p:cNvSpPr/>
          <p:nvPr/>
        </p:nvSpPr>
        <p:spPr>
          <a:xfrm>
            <a:off x="6172200" y="4818888"/>
            <a:ext cx="339996"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21924" y="4828031"/>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9E73"/>
                </a:solidFill>
                <a:latin typeface="Arial"/>
              </a:rPr>
              <a:t>35  (8%)</a:t>
            </a:r>
          </a:p>
        </p:txBody>
      </p:sp>
      <p:sp>
        <p:nvSpPr>
          <p:cNvPr id="19" name="TextBox 18"/>
          <p:cNvSpPr txBox="1"/>
          <p:nvPr/>
        </p:nvSpPr>
        <p:spPr>
          <a:xfrm>
            <a:off x="6172200" y="5596128"/>
            <a:ext cx="512064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0" i="1" dirty="0">
                <a:solidFill>
                  <a:srgbClr val="4E5A68"/>
                </a:solidFill>
                <a:latin typeface="Arial"/>
              </a:rPr>
              <a:t>Groups overlap; each bar is counted against all 433 genes.</a:t>
            </a:r>
          </a:p>
        </p:txBody>
      </p:sp>
      <p:sp>
        <p:nvSpPr>
          <p:cNvPr id="20" name="TextBox 19"/>
          <p:cNvSpPr txBox="1"/>
          <p:nvPr/>
        </p:nvSpPr>
        <p:spPr>
          <a:xfrm>
            <a:off x="804672" y="5989320"/>
            <a:ext cx="106070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7E4C9A"/>
                </a:solidFill>
                <a:latin typeface="Arial"/>
              </a:rPr>
              <a:t>Follow-up work should weight the deep-evidence minority — not treat all 433 genes equally.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High-level approach: three sources of public genetic evidence</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One source is ready-made gene-level evidence; the other two each tell half the story.</a:t>
            </a:r>
          </a:p>
        </p:txBody>
      </p:sp>
      <p:sp>
        <p:nvSpPr>
          <p:cNvPr id="4" name="Rounded Rectangle 3"/>
          <p:cNvSpPr/>
          <p:nvPr/>
        </p:nvSpPr>
        <p:spPr>
          <a:xfrm>
            <a:off x="603504" y="1417320"/>
            <a:ext cx="3502152"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664208"/>
            <a:ext cx="30175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0684D"/>
                </a:solidFill>
                <a:latin typeface="Arial"/>
              </a:rPr>
              <a:t>1 · PUBLISHED RESULTS</a:t>
            </a:r>
          </a:p>
        </p:txBody>
      </p:sp>
      <p:sp>
        <p:nvSpPr>
          <p:cNvPr id="6" name="TextBox 5"/>
          <p:cNvSpPr txBox="1"/>
          <p:nvPr/>
        </p:nvSpPr>
        <p:spPr>
          <a:xfrm>
            <a:off x="841248" y="1956816"/>
            <a:ext cx="3035808" cy="30931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dirty="0" err="1">
                <a:solidFill>
                  <a:srgbClr val="0F233D"/>
                </a:solidFill>
                <a:latin typeface="Arial"/>
              </a:rPr>
              <a:t>FunGen</a:t>
            </a:r>
            <a:r>
              <a:rPr sz="1650" b="1" i="0" dirty="0">
                <a:solidFill>
                  <a:srgbClr val="0F233D"/>
                </a:solidFill>
                <a:latin typeface="Arial"/>
              </a:rPr>
              <a:t> </a:t>
            </a:r>
            <a:r>
              <a:rPr lang="en-US" sz="1650" b="1" i="0" dirty="0" err="1">
                <a:solidFill>
                  <a:srgbClr val="0F233D"/>
                </a:solidFill>
                <a:latin typeface="Arial"/>
              </a:rPr>
              <a:t>xQTL</a:t>
            </a:r>
            <a:r>
              <a:rPr lang="en-US" sz="1650" b="1" i="0" dirty="0">
                <a:solidFill>
                  <a:srgbClr val="0F233D"/>
                </a:solidFill>
                <a:latin typeface="Arial"/>
              </a:rPr>
              <a:t> </a:t>
            </a:r>
            <a:r>
              <a:rPr sz="1650" b="1" i="0" dirty="0">
                <a:solidFill>
                  <a:srgbClr val="0F233D"/>
                </a:solidFill>
                <a:latin typeface="Arial"/>
              </a:rPr>
              <a:t>AD integration</a:t>
            </a:r>
          </a:p>
        </p:txBody>
      </p:sp>
      <p:sp>
        <p:nvSpPr>
          <p:cNvPr id="7" name="TextBox 6"/>
          <p:cNvSpPr txBox="1"/>
          <p:nvPr/>
        </p:nvSpPr>
        <p:spPr>
          <a:xfrm>
            <a:off x="841248" y="2651760"/>
            <a:ext cx="303580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1F2730"/>
                </a:solidFill>
                <a:latin typeface="Arial"/>
              </a:rPr>
              <a:t>Already-computed variant-to-gene mappings: AD fine-mapping, TWAS, and gene lists.</a:t>
            </a:r>
          </a:p>
        </p:txBody>
      </p:sp>
      <p:sp>
        <p:nvSpPr>
          <p:cNvPr id="8" name="Rounded Rectangle 7"/>
          <p:cNvSpPr/>
          <p:nvPr/>
        </p:nvSpPr>
        <p:spPr>
          <a:xfrm>
            <a:off x="822960" y="3611880"/>
            <a:ext cx="3063240" cy="8229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969264" y="3705182"/>
            <a:ext cx="2788920"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00684D"/>
                </a:solidFill>
                <a:latin typeface="Arial"/>
              </a:rPr>
              <a:t>Directly supports an AD–gene relationship (this is how APOE is established).</a:t>
            </a:r>
          </a:p>
        </p:txBody>
      </p:sp>
      <p:sp>
        <p:nvSpPr>
          <p:cNvPr id="10" name="TextBox 9"/>
          <p:cNvSpPr txBox="1"/>
          <p:nvPr/>
        </p:nvSpPr>
        <p:spPr>
          <a:xfrm>
            <a:off x="841248" y="4617720"/>
            <a:ext cx="303580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1">
                <a:solidFill>
                  <a:srgbClr val="4E5A68"/>
                </a:solidFill>
                <a:latin typeface="Arial"/>
              </a:rPr>
              <a:t>Limit: Covers only what has been published.</a:t>
            </a:r>
          </a:p>
        </p:txBody>
      </p:sp>
      <p:sp>
        <p:nvSpPr>
          <p:cNvPr id="11" name="Rounded Rectangle 10"/>
          <p:cNvSpPr/>
          <p:nvPr/>
        </p:nvSpPr>
        <p:spPr>
          <a:xfrm>
            <a:off x="4352544" y="1417320"/>
            <a:ext cx="3502152" cy="4160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664208"/>
            <a:ext cx="30175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072B2"/>
                </a:solidFill>
                <a:latin typeface="Arial"/>
              </a:rPr>
              <a:t>2 · DISEASE GWAS</a:t>
            </a:r>
          </a:p>
        </p:txBody>
      </p:sp>
      <p:sp>
        <p:nvSpPr>
          <p:cNvPr id="13" name="TextBox 12"/>
          <p:cNvSpPr txBox="1"/>
          <p:nvPr/>
        </p:nvSpPr>
        <p:spPr>
          <a:xfrm>
            <a:off x="4590288" y="1956816"/>
            <a:ext cx="303580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Clinical AD + CSF biomarkers</a:t>
            </a:r>
          </a:p>
        </p:txBody>
      </p:sp>
      <p:sp>
        <p:nvSpPr>
          <p:cNvPr id="14" name="TextBox 13"/>
          <p:cNvSpPr txBox="1"/>
          <p:nvPr/>
        </p:nvSpPr>
        <p:spPr>
          <a:xfrm>
            <a:off x="4590288" y="2651760"/>
            <a:ext cx="303580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DNA variants associated with an AD diagnosis or with amyloid/tau spinal-fluid levels.</a:t>
            </a:r>
          </a:p>
        </p:txBody>
      </p:sp>
      <p:sp>
        <p:nvSpPr>
          <p:cNvPr id="15" name="Rounded Rectangle 14"/>
          <p:cNvSpPr/>
          <p:nvPr/>
        </p:nvSpPr>
        <p:spPr>
          <a:xfrm>
            <a:off x="4572000" y="3611880"/>
            <a:ext cx="3063240" cy="8229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4718304" y="3767328"/>
            <a:ext cx="2788920"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072B2"/>
                </a:solidFill>
                <a:latin typeface="Arial"/>
              </a:rPr>
              <a:t>Anchors a genomic region to disease.</a:t>
            </a:r>
          </a:p>
        </p:txBody>
      </p:sp>
      <p:sp>
        <p:nvSpPr>
          <p:cNvPr id="17" name="TextBox 16"/>
          <p:cNvSpPr txBox="1"/>
          <p:nvPr/>
        </p:nvSpPr>
        <p:spPr>
          <a:xfrm>
            <a:off x="4590288" y="4617720"/>
            <a:ext cx="303580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1">
                <a:solidFill>
                  <a:srgbClr val="4E5A68"/>
                </a:solidFill>
                <a:latin typeface="Arial"/>
              </a:rPr>
              <a:t>Limit: Points to a region — not to a specific gene.</a:t>
            </a:r>
          </a:p>
        </p:txBody>
      </p:sp>
      <p:sp>
        <p:nvSpPr>
          <p:cNvPr id="18" name="Rounded Rectangle 17"/>
          <p:cNvSpPr/>
          <p:nvPr/>
        </p:nvSpPr>
        <p:spPr>
          <a:xfrm>
            <a:off x="8101583" y="1417320"/>
            <a:ext cx="3502152" cy="41605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7" y="1664208"/>
            <a:ext cx="30175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895600"/>
                </a:solidFill>
                <a:latin typeface="Arial"/>
              </a:rPr>
              <a:t>3 · BRAIN QTL</a:t>
            </a:r>
          </a:p>
        </p:txBody>
      </p:sp>
      <p:sp>
        <p:nvSpPr>
          <p:cNvPr id="20" name="TextBox 19"/>
          <p:cNvSpPr txBox="1"/>
          <p:nvPr/>
        </p:nvSpPr>
        <p:spPr>
          <a:xfrm>
            <a:off x="8339327" y="1956816"/>
            <a:ext cx="303580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Expression + splicing panels</a:t>
            </a:r>
          </a:p>
        </p:txBody>
      </p:sp>
      <p:sp>
        <p:nvSpPr>
          <p:cNvPr id="21" name="TextBox 20"/>
          <p:cNvSpPr txBox="1"/>
          <p:nvPr/>
        </p:nvSpPr>
        <p:spPr>
          <a:xfrm>
            <a:off x="8339327" y="2651760"/>
            <a:ext cx="303580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DNA variants that change a gene's RNA amount or splicing in brain cells and tissue.</a:t>
            </a:r>
          </a:p>
        </p:txBody>
      </p:sp>
      <p:sp>
        <p:nvSpPr>
          <p:cNvPr id="22" name="Rounded Rectangle 21"/>
          <p:cNvSpPr/>
          <p:nvPr/>
        </p:nvSpPr>
        <p:spPr>
          <a:xfrm>
            <a:off x="8321040" y="3611880"/>
            <a:ext cx="3063240" cy="8229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8467344" y="3767328"/>
            <a:ext cx="2788920"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895600"/>
                </a:solidFill>
                <a:latin typeface="Arial"/>
              </a:rPr>
              <a:t>Anchors a variant to the driver gene itself.</a:t>
            </a:r>
          </a:p>
        </p:txBody>
      </p:sp>
      <p:sp>
        <p:nvSpPr>
          <p:cNvPr id="24" name="TextBox 23"/>
          <p:cNvSpPr txBox="1"/>
          <p:nvPr/>
        </p:nvSpPr>
        <p:spPr>
          <a:xfrm>
            <a:off x="8339327" y="4617720"/>
            <a:ext cx="303580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1">
                <a:solidFill>
                  <a:srgbClr val="4E5A68"/>
                </a:solidFill>
                <a:latin typeface="Arial"/>
              </a:rPr>
              <a:t>Limit: Says nothing about disease on its own.</a:t>
            </a:r>
          </a:p>
        </p:txBody>
      </p:sp>
      <p:sp>
        <p:nvSpPr>
          <p:cNvPr id="25" name="TextBox 24"/>
          <p:cNvSpPr txBox="1"/>
          <p:nvPr/>
        </p:nvSpPr>
        <p:spPr>
          <a:xfrm>
            <a:off x="804672" y="5897880"/>
            <a:ext cx="10607040" cy="30162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dirty="0">
                <a:solidFill>
                  <a:srgbClr val="7E4C9A"/>
                </a:solidFill>
                <a:latin typeface="Arial"/>
              </a:rPr>
              <a:t>Genetic support for a driver comes from source 1 directly — or from combining sources 2 and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Combining GWAS and QTL: one variant, two effects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 driver gains genetic support when the disease signal and the gene-activity signal trace to the same DNA variant.</a:t>
            </a:r>
          </a:p>
        </p:txBody>
      </p:sp>
      <p:sp>
        <p:nvSpPr>
          <p:cNvPr id="4" name="Rounded Rectangle 3"/>
          <p:cNvSpPr/>
          <p:nvPr/>
        </p:nvSpPr>
        <p:spPr>
          <a:xfrm>
            <a:off x="731520" y="1463040"/>
            <a:ext cx="2011680" cy="731520"/>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682496"/>
            <a:ext cx="1792224"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FFFFFF"/>
                </a:solidFill>
                <a:latin typeface="Arial"/>
              </a:rPr>
              <a:t>GWAS says</a:t>
            </a:r>
          </a:p>
        </p:txBody>
      </p:sp>
      <p:sp>
        <p:nvSpPr>
          <p:cNvPr id="6" name="Rounded Rectangle 5"/>
          <p:cNvSpPr/>
          <p:nvPr/>
        </p:nvSpPr>
        <p:spPr>
          <a:xfrm>
            <a:off x="2880360" y="1463040"/>
            <a:ext cx="8595360" cy="731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27248" y="1664208"/>
            <a:ext cx="8138160" cy="3474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F233D"/>
                </a:solidFill>
                <a:latin typeface="Arial"/>
              </a:rPr>
              <a:t>a DNA variant near the driver raises AD risk</a:t>
            </a:r>
          </a:p>
        </p:txBody>
      </p:sp>
      <p:sp>
        <p:nvSpPr>
          <p:cNvPr id="8" name="Rounded Rectangle 7"/>
          <p:cNvSpPr/>
          <p:nvPr/>
        </p:nvSpPr>
        <p:spPr>
          <a:xfrm>
            <a:off x="731520" y="2359152"/>
            <a:ext cx="2011680" cy="731520"/>
          </a:xfrm>
          <a:prstGeom prst="round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2578608"/>
            <a:ext cx="1792224"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FFFFFF"/>
                </a:solidFill>
                <a:latin typeface="Arial"/>
              </a:rPr>
              <a:t>QTL says</a:t>
            </a:r>
          </a:p>
        </p:txBody>
      </p:sp>
      <p:sp>
        <p:nvSpPr>
          <p:cNvPr id="10" name="Rounded Rectangle 9"/>
          <p:cNvSpPr/>
          <p:nvPr/>
        </p:nvSpPr>
        <p:spPr>
          <a:xfrm>
            <a:off x="2880360" y="2359152"/>
            <a:ext cx="8595360" cy="7315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27248" y="2560320"/>
            <a:ext cx="8138160" cy="3474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F233D"/>
                </a:solidFill>
                <a:latin typeface="Arial"/>
              </a:rPr>
              <a:t>the same variant changes the driver's activity in brain</a:t>
            </a:r>
          </a:p>
        </p:txBody>
      </p:sp>
      <p:sp>
        <p:nvSpPr>
          <p:cNvPr id="12" name="Rounded Rectangle 11"/>
          <p:cNvSpPr/>
          <p:nvPr/>
        </p:nvSpPr>
        <p:spPr>
          <a:xfrm>
            <a:off x="731520" y="3255264"/>
            <a:ext cx="2011680" cy="731520"/>
          </a:xfrm>
          <a:prstGeom prst="round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 y="3474720"/>
            <a:ext cx="1792224"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FFFFFF"/>
                </a:solidFill>
                <a:latin typeface="Arial"/>
              </a:rPr>
              <a:t>Together</a:t>
            </a:r>
          </a:p>
        </p:txBody>
      </p:sp>
      <p:sp>
        <p:nvSpPr>
          <p:cNvPr id="14" name="Rounded Rectangle 13"/>
          <p:cNvSpPr/>
          <p:nvPr/>
        </p:nvSpPr>
        <p:spPr>
          <a:xfrm>
            <a:off x="2880360" y="3255264"/>
            <a:ext cx="8595360" cy="731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27248" y="3456432"/>
            <a:ext cx="8138160" cy="3474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F233D"/>
                </a:solidFill>
                <a:latin typeface="Arial"/>
              </a:rPr>
              <a:t>the driver's activity is a plausible path from inherited DNA to disease</a:t>
            </a:r>
          </a:p>
        </p:txBody>
      </p:sp>
      <p:sp>
        <p:nvSpPr>
          <p:cNvPr id="16" name="Rounded Rectangle 15"/>
          <p:cNvSpPr/>
          <p:nvPr/>
        </p:nvSpPr>
        <p:spPr>
          <a:xfrm>
            <a:off x="685800" y="4343400"/>
            <a:ext cx="3429000"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5528" y="4471416"/>
            <a:ext cx="3209544" cy="270843"/>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Step 1</a:t>
            </a:r>
          </a:p>
        </p:txBody>
      </p:sp>
      <p:sp>
        <p:nvSpPr>
          <p:cNvPr id="18" name="TextBox 17"/>
          <p:cNvSpPr txBox="1"/>
          <p:nvPr/>
        </p:nvSpPr>
        <p:spPr>
          <a:xfrm>
            <a:off x="795528" y="4946904"/>
            <a:ext cx="3209544"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0" i="0">
                <a:solidFill>
                  <a:srgbClr val="4E5A68"/>
                </a:solidFill>
                <a:latin typeface="Arial"/>
              </a:rPr>
              <a:t>find an AD-associated region near the driver (GWAS)</a:t>
            </a:r>
          </a:p>
        </p:txBody>
      </p:sp>
      <p:sp>
        <p:nvSpPr>
          <p:cNvPr id="19" name="Chevron 18"/>
          <p:cNvSpPr/>
          <p:nvPr/>
        </p:nvSpPr>
        <p:spPr>
          <a:xfrm>
            <a:off x="4169663" y="477316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Rounded Rectangle 19"/>
          <p:cNvSpPr/>
          <p:nvPr/>
        </p:nvSpPr>
        <p:spPr>
          <a:xfrm>
            <a:off x="4389120" y="4343400"/>
            <a:ext cx="3429000"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98848" y="4471416"/>
            <a:ext cx="3209544" cy="270843"/>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Step 2</a:t>
            </a:r>
          </a:p>
        </p:txBody>
      </p:sp>
      <p:sp>
        <p:nvSpPr>
          <p:cNvPr id="22" name="TextBox 21"/>
          <p:cNvSpPr txBox="1"/>
          <p:nvPr/>
        </p:nvSpPr>
        <p:spPr>
          <a:xfrm>
            <a:off x="4498848" y="4946904"/>
            <a:ext cx="3209544"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0" i="0">
                <a:solidFill>
                  <a:srgbClr val="4E5A68"/>
                </a:solidFill>
                <a:latin typeface="Arial"/>
              </a:rPr>
              <a:t>confirm the driver has a QTL signal in that region</a:t>
            </a:r>
          </a:p>
        </p:txBody>
      </p:sp>
      <p:sp>
        <p:nvSpPr>
          <p:cNvPr id="23" name="Chevron 22"/>
          <p:cNvSpPr/>
          <p:nvPr/>
        </p:nvSpPr>
        <p:spPr>
          <a:xfrm>
            <a:off x="7872984" y="477316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Rounded Rectangle 23"/>
          <p:cNvSpPr/>
          <p:nvPr/>
        </p:nvSpPr>
        <p:spPr>
          <a:xfrm>
            <a:off x="8092440" y="4343400"/>
            <a:ext cx="3429000"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02167" y="4471416"/>
            <a:ext cx="3209544" cy="270843"/>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Step 3</a:t>
            </a:r>
          </a:p>
        </p:txBody>
      </p:sp>
      <p:sp>
        <p:nvSpPr>
          <p:cNvPr id="26" name="TextBox 25"/>
          <p:cNvSpPr txBox="1"/>
          <p:nvPr/>
        </p:nvSpPr>
        <p:spPr>
          <a:xfrm>
            <a:off x="8202167" y="4946904"/>
            <a:ext cx="3209544"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0" i="0">
                <a:solidFill>
                  <a:srgbClr val="4E5A68"/>
                </a:solidFill>
                <a:latin typeface="Arial"/>
              </a:rPr>
              <a:t>same-variant test: do the two signals share one variant?</a:t>
            </a:r>
          </a:p>
        </p:txBody>
      </p:sp>
      <p:sp>
        <p:nvSpPr>
          <p:cNvPr id="27" name="Rounded Rectangle 26"/>
          <p:cNvSpPr/>
          <p:nvPr/>
        </p:nvSpPr>
        <p:spPr>
          <a:xfrm>
            <a:off x="731520" y="5669280"/>
            <a:ext cx="10835640" cy="65836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8" name="TextBox 27"/>
          <p:cNvSpPr txBox="1"/>
          <p:nvPr/>
        </p:nvSpPr>
        <p:spPr>
          <a:xfrm>
            <a:off x="950976" y="5797296"/>
            <a:ext cx="10378440"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9E3A00"/>
                </a:solidFill>
                <a:latin typeface="Arial"/>
              </a:rPr>
              <a:t>Proximity is not enough — an AD region can hold many genes and variants. The same-variant test is the decisive step, and it needs complete statistics that are </a:t>
            </a:r>
            <a:r>
              <a:rPr lang="en-US" sz="1400" b="1" i="0" dirty="0">
                <a:solidFill>
                  <a:srgbClr val="9E3A00"/>
                </a:solidFill>
                <a:latin typeface="Arial"/>
              </a:rPr>
              <a:t>NOT</a:t>
            </a:r>
            <a:r>
              <a:rPr sz="1400" b="1" i="0" dirty="0">
                <a:solidFill>
                  <a:srgbClr val="9E3A00"/>
                </a:solidFill>
                <a:latin typeface="Arial"/>
              </a:rPr>
              <a:t> yet publicly available for any driver.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The public datasets behind the three evidence sources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The same three categories as the approach — one ready-made source, and the GWAS + QTL pair combined per driver.</a:t>
            </a:r>
          </a:p>
        </p:txBody>
      </p:sp>
      <p:sp>
        <p:nvSpPr>
          <p:cNvPr id="4" name="Rounded Rectangle 3"/>
          <p:cNvSpPr/>
          <p:nvPr/>
        </p:nvSpPr>
        <p:spPr>
          <a:xfrm>
            <a:off x="603504" y="1417320"/>
            <a:ext cx="3502152" cy="361188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682496"/>
            <a:ext cx="30175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0684D"/>
                </a:solidFill>
                <a:latin typeface="Arial"/>
              </a:rPr>
              <a:t>1 · PUBLISHED RESULTS</a:t>
            </a:r>
          </a:p>
        </p:txBody>
      </p:sp>
      <p:sp>
        <p:nvSpPr>
          <p:cNvPr id="6" name="Rounded Rectangle 5"/>
          <p:cNvSpPr/>
          <p:nvPr/>
        </p:nvSpPr>
        <p:spPr>
          <a:xfrm>
            <a:off x="822960" y="2148840"/>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TextBox 6"/>
          <p:cNvSpPr txBox="1"/>
          <p:nvPr/>
        </p:nvSpPr>
        <p:spPr>
          <a:xfrm>
            <a:off x="987552" y="2295144"/>
            <a:ext cx="276148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FunGen-xQTL AD integration snapshot: six public summary files.</a:t>
            </a:r>
          </a:p>
        </p:txBody>
      </p:sp>
      <p:sp>
        <p:nvSpPr>
          <p:cNvPr id="8" name="Rounded Rectangle 7"/>
          <p:cNvSpPr/>
          <p:nvPr/>
        </p:nvSpPr>
        <p:spPr>
          <a:xfrm>
            <a:off x="822960" y="3502152"/>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987552" y="3648456"/>
            <a:ext cx="276148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Contains AD fine-mapping, xQTL, and TWAS gene lists.</a:t>
            </a:r>
          </a:p>
        </p:txBody>
      </p:sp>
      <p:sp>
        <p:nvSpPr>
          <p:cNvPr id="10" name="Rounded Rectangle 9"/>
          <p:cNvSpPr/>
          <p:nvPr/>
        </p:nvSpPr>
        <p:spPr>
          <a:xfrm>
            <a:off x="4352544" y="1417320"/>
            <a:ext cx="3502152" cy="361188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682496"/>
            <a:ext cx="30175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072B2"/>
                </a:solidFill>
                <a:latin typeface="Arial"/>
              </a:rPr>
              <a:t>2 · DISEASE GWAS</a:t>
            </a:r>
          </a:p>
        </p:txBody>
      </p:sp>
      <p:sp>
        <p:nvSpPr>
          <p:cNvPr id="12" name="Rounded Rectangle 11"/>
          <p:cNvSpPr/>
          <p:nvPr/>
        </p:nvSpPr>
        <p:spPr>
          <a:xfrm>
            <a:off x="4572000" y="2148840"/>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TextBox 12"/>
          <p:cNvSpPr txBox="1"/>
          <p:nvPr/>
        </p:nvSpPr>
        <p:spPr>
          <a:xfrm>
            <a:off x="4736592" y="2295144"/>
            <a:ext cx="276148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Clinical AD: Bellenguez 2022 meta-analysis (GCST90027158), complete genome-wide statistics.</a:t>
            </a:r>
          </a:p>
        </p:txBody>
      </p:sp>
      <p:sp>
        <p:nvSpPr>
          <p:cNvPr id="14" name="Rounded Rectangle 13"/>
          <p:cNvSpPr/>
          <p:nvPr/>
        </p:nvSpPr>
        <p:spPr>
          <a:xfrm>
            <a:off x="4572000" y="3502152"/>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4736592" y="3648456"/>
            <a:ext cx="2761488" cy="91717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CSF biomarkers: amyloid-β42, total tau, p-tau181 (GCST90726396–98), ≈19,000 donors each.</a:t>
            </a:r>
          </a:p>
        </p:txBody>
      </p:sp>
      <p:sp>
        <p:nvSpPr>
          <p:cNvPr id="16" name="Rounded Rectangle 15"/>
          <p:cNvSpPr/>
          <p:nvPr/>
        </p:nvSpPr>
        <p:spPr>
          <a:xfrm>
            <a:off x="8101583" y="1417320"/>
            <a:ext cx="3502152" cy="361188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7" y="1682496"/>
            <a:ext cx="30175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895600"/>
                </a:solidFill>
                <a:latin typeface="Arial"/>
              </a:rPr>
              <a:t>3 · BRAIN QTL</a:t>
            </a:r>
          </a:p>
        </p:txBody>
      </p:sp>
      <p:sp>
        <p:nvSpPr>
          <p:cNvPr id="18" name="Rounded Rectangle 17"/>
          <p:cNvSpPr/>
          <p:nvPr/>
        </p:nvSpPr>
        <p:spPr>
          <a:xfrm>
            <a:off x="8321040" y="2148840"/>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8485632" y="2295144"/>
            <a:ext cx="276148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1F2730"/>
                </a:solidFill>
                <a:latin typeface="Arial"/>
              </a:rPr>
              <a:t>NIAGADS NG00184 brain </a:t>
            </a:r>
            <a:r>
              <a:rPr sz="1400" b="0" i="0" dirty="0" err="1">
                <a:solidFill>
                  <a:srgbClr val="1F2730"/>
                </a:solidFill>
                <a:latin typeface="Arial"/>
              </a:rPr>
              <a:t>eQTL</a:t>
            </a:r>
            <a:r>
              <a:rPr sz="1400" b="0" i="0" dirty="0">
                <a:solidFill>
                  <a:srgbClr val="1F2730"/>
                </a:solidFill>
                <a:latin typeface="Arial"/>
              </a:rPr>
              <a:t>/</a:t>
            </a:r>
            <a:r>
              <a:rPr sz="1400" b="0" i="0" dirty="0" err="1">
                <a:solidFill>
                  <a:srgbClr val="1F2730"/>
                </a:solidFill>
                <a:latin typeface="Arial"/>
              </a:rPr>
              <a:t>sQTL</a:t>
            </a:r>
            <a:r>
              <a:rPr sz="1400" b="0" i="0" dirty="0">
                <a:solidFill>
                  <a:srgbClr val="1F2730"/>
                </a:solidFill>
                <a:latin typeface="Arial"/>
              </a:rPr>
              <a:t> fine-mapping (bulk and single-nucleus).</a:t>
            </a:r>
          </a:p>
        </p:txBody>
      </p:sp>
      <p:sp>
        <p:nvSpPr>
          <p:cNvPr id="20" name="Rounded Rectangle 19"/>
          <p:cNvSpPr/>
          <p:nvPr/>
        </p:nvSpPr>
        <p:spPr>
          <a:xfrm>
            <a:off x="8321040" y="3502152"/>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8485632" y="3648456"/>
            <a:ext cx="2761488" cy="91717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eQTL Catalogue r7 panels: microglia (Young 2019), neurons (Aygun 2021), neocortex (Walker 2019).</a:t>
            </a:r>
          </a:p>
        </p:txBody>
      </p:sp>
      <p:sp>
        <p:nvSpPr>
          <p:cNvPr id="24" name="TextBox 23"/>
          <p:cNvSpPr txBox="1"/>
          <p:nvPr/>
        </p:nvSpPr>
        <p:spPr>
          <a:xfrm>
            <a:off x="804672" y="5584873"/>
            <a:ext cx="10607040"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dirty="0">
                <a:solidFill>
                  <a:srgbClr val="7E4C9A"/>
                </a:solidFill>
                <a:latin typeface="Arial"/>
              </a:rPr>
              <a:t>Support for a driver needs the pair: category 2 anchors the disease signal, category 3 anchors the gene — joined by the same-variant test.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Direct public evidence across all 433 drivers</a:t>
            </a:r>
          </a:p>
        </p:txBody>
      </p:sp>
      <p:sp>
        <p:nvSpPr>
          <p:cNvPr id="4" name="Rectangle 3"/>
          <p:cNvSpPr/>
          <p:nvPr/>
        </p:nvSpPr>
        <p:spPr>
          <a:xfrm>
            <a:off x="731520" y="1463040"/>
            <a:ext cx="141732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6384" y="1517904"/>
            <a:ext cx="130759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Grade</a:t>
            </a:r>
          </a:p>
        </p:txBody>
      </p:sp>
      <p:sp>
        <p:nvSpPr>
          <p:cNvPr id="6" name="Rectangle 5"/>
          <p:cNvSpPr/>
          <p:nvPr/>
        </p:nvSpPr>
        <p:spPr>
          <a:xfrm>
            <a:off x="2148840" y="1463040"/>
            <a:ext cx="105156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03704" y="1517904"/>
            <a:ext cx="941831"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Drivers</a:t>
            </a:r>
          </a:p>
        </p:txBody>
      </p:sp>
      <p:sp>
        <p:nvSpPr>
          <p:cNvPr id="8" name="Rectangle 7"/>
          <p:cNvSpPr/>
          <p:nvPr/>
        </p:nvSpPr>
        <p:spPr>
          <a:xfrm>
            <a:off x="3200400" y="1463040"/>
            <a:ext cx="51206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55264" y="1517904"/>
            <a:ext cx="50109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Genes</a:t>
            </a:r>
          </a:p>
        </p:txBody>
      </p:sp>
      <p:sp>
        <p:nvSpPr>
          <p:cNvPr id="10" name="Rectangle 9"/>
          <p:cNvSpPr/>
          <p:nvPr/>
        </p:nvSpPr>
        <p:spPr>
          <a:xfrm>
            <a:off x="8321040" y="1463040"/>
            <a:ext cx="32918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75904" y="1517904"/>
            <a:ext cx="31821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What it means</a:t>
            </a:r>
          </a:p>
        </p:txBody>
      </p:sp>
      <p:sp>
        <p:nvSpPr>
          <p:cNvPr id="12" name="Rectangle 11"/>
          <p:cNvSpPr/>
          <p:nvPr/>
        </p:nvSpPr>
        <p:spPr>
          <a:xfrm>
            <a:off x="731520" y="1920240"/>
            <a:ext cx="141732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 y="215972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Strong</a:t>
            </a:r>
          </a:p>
        </p:txBody>
      </p:sp>
      <p:sp>
        <p:nvSpPr>
          <p:cNvPr id="14" name="Rectangle 13"/>
          <p:cNvSpPr/>
          <p:nvPr/>
        </p:nvSpPr>
        <p:spPr>
          <a:xfrm>
            <a:off x="2148840" y="1920240"/>
            <a:ext cx="105156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03704" y="215972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8</a:t>
            </a:r>
          </a:p>
        </p:txBody>
      </p:sp>
      <p:sp>
        <p:nvSpPr>
          <p:cNvPr id="16" name="Rectangle 15"/>
          <p:cNvSpPr/>
          <p:nvPr/>
        </p:nvSpPr>
        <p:spPr>
          <a:xfrm>
            <a:off x="3200400" y="1920240"/>
            <a:ext cx="51206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55264" y="2052000"/>
            <a:ext cx="50109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APOE, STAG3, AC087500.1, PPP4C, SEPHS2, PLCG2, ZNF251, ZNF652</a:t>
            </a:r>
          </a:p>
        </p:txBody>
      </p:sp>
      <p:sp>
        <p:nvSpPr>
          <p:cNvPr id="18" name="Rectangle 17"/>
          <p:cNvSpPr/>
          <p:nvPr/>
        </p:nvSpPr>
        <p:spPr>
          <a:xfrm>
            <a:off x="8321040" y="1920240"/>
            <a:ext cx="32918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75904" y="205200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dirty="0">
                <a:solidFill>
                  <a:srgbClr val="1F2730"/>
                </a:solidFill>
                <a:latin typeface="Arial"/>
              </a:rPr>
              <a:t>Fine-mapped AD variant assigned to the gene</a:t>
            </a:r>
          </a:p>
        </p:txBody>
      </p:sp>
      <p:sp>
        <p:nvSpPr>
          <p:cNvPr id="20" name="Rectangle 19"/>
          <p:cNvSpPr/>
          <p:nvPr/>
        </p:nvSpPr>
        <p:spPr>
          <a:xfrm>
            <a:off x="731520" y="2651760"/>
            <a:ext cx="141732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786384" y="289124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Moderate</a:t>
            </a:r>
          </a:p>
        </p:txBody>
      </p:sp>
      <p:sp>
        <p:nvSpPr>
          <p:cNvPr id="22" name="Rectangle 21"/>
          <p:cNvSpPr/>
          <p:nvPr/>
        </p:nvSpPr>
        <p:spPr>
          <a:xfrm>
            <a:off x="2148840" y="2651760"/>
            <a:ext cx="105156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2203704" y="289124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3</a:t>
            </a:r>
          </a:p>
        </p:txBody>
      </p:sp>
      <p:sp>
        <p:nvSpPr>
          <p:cNvPr id="24" name="Rectangle 23"/>
          <p:cNvSpPr/>
          <p:nvPr/>
        </p:nvSpPr>
        <p:spPr>
          <a:xfrm>
            <a:off x="3200400" y="2651760"/>
            <a:ext cx="51206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TextBox 24"/>
          <p:cNvSpPr txBox="1"/>
          <p:nvPr/>
        </p:nvSpPr>
        <p:spPr>
          <a:xfrm>
            <a:off x="3255264" y="2891242"/>
            <a:ext cx="50109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INTS8, DGKQ, TPCN1</a:t>
            </a:r>
          </a:p>
        </p:txBody>
      </p:sp>
      <p:sp>
        <p:nvSpPr>
          <p:cNvPr id="26" name="Rectangle 25"/>
          <p:cNvSpPr/>
          <p:nvPr/>
        </p:nvSpPr>
        <p:spPr>
          <a:xfrm>
            <a:off x="8321040" y="2651760"/>
            <a:ext cx="32918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8375904" y="278352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dirty="0">
                <a:solidFill>
                  <a:srgbClr val="1F2730"/>
                </a:solidFill>
                <a:latin typeface="Arial"/>
              </a:rPr>
              <a:t>Direct mapping with lower inclusion score</a:t>
            </a:r>
          </a:p>
        </p:txBody>
      </p:sp>
      <p:sp>
        <p:nvSpPr>
          <p:cNvPr id="28" name="Rectangle 27"/>
          <p:cNvSpPr/>
          <p:nvPr/>
        </p:nvSpPr>
        <p:spPr>
          <a:xfrm>
            <a:off x="731520" y="3383280"/>
            <a:ext cx="141732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TextBox 28"/>
          <p:cNvSpPr txBox="1"/>
          <p:nvPr/>
        </p:nvSpPr>
        <p:spPr>
          <a:xfrm>
            <a:off x="786384" y="362276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Weak</a:t>
            </a:r>
          </a:p>
        </p:txBody>
      </p:sp>
      <p:sp>
        <p:nvSpPr>
          <p:cNvPr id="30" name="Rectangle 29"/>
          <p:cNvSpPr/>
          <p:nvPr/>
        </p:nvSpPr>
        <p:spPr>
          <a:xfrm>
            <a:off x="2148840" y="3383280"/>
            <a:ext cx="105156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TextBox 30"/>
          <p:cNvSpPr txBox="1"/>
          <p:nvPr/>
        </p:nvSpPr>
        <p:spPr>
          <a:xfrm>
            <a:off x="2203704" y="362276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17</a:t>
            </a:r>
          </a:p>
        </p:txBody>
      </p:sp>
      <p:sp>
        <p:nvSpPr>
          <p:cNvPr id="32" name="Rectangle 31"/>
          <p:cNvSpPr/>
          <p:nvPr/>
        </p:nvSpPr>
        <p:spPr>
          <a:xfrm>
            <a:off x="3200400" y="3383280"/>
            <a:ext cx="51206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p:cNvSpPr txBox="1"/>
          <p:nvPr/>
        </p:nvSpPr>
        <p:spPr>
          <a:xfrm>
            <a:off x="3255264" y="3622762"/>
            <a:ext cx="50109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DHX33, SAT2, TRPM7, BUB3, UBC, ACD, …</a:t>
            </a:r>
          </a:p>
        </p:txBody>
      </p:sp>
      <p:sp>
        <p:nvSpPr>
          <p:cNvPr id="34" name="Rectangle 33"/>
          <p:cNvSpPr/>
          <p:nvPr/>
        </p:nvSpPr>
        <p:spPr>
          <a:xfrm>
            <a:off x="8321040" y="3383280"/>
            <a:ext cx="32918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5" name="TextBox 34"/>
          <p:cNvSpPr txBox="1"/>
          <p:nvPr/>
        </p:nvSpPr>
        <p:spPr>
          <a:xfrm>
            <a:off x="8375904" y="351504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Sub-genome-wide mapping or list membership</a:t>
            </a:r>
          </a:p>
        </p:txBody>
      </p:sp>
      <p:sp>
        <p:nvSpPr>
          <p:cNvPr id="36" name="Rectangle 35"/>
          <p:cNvSpPr/>
          <p:nvPr/>
        </p:nvSpPr>
        <p:spPr>
          <a:xfrm>
            <a:off x="731520" y="4114800"/>
            <a:ext cx="141732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7" name="TextBox 36"/>
          <p:cNvSpPr txBox="1"/>
          <p:nvPr/>
        </p:nvSpPr>
        <p:spPr>
          <a:xfrm>
            <a:off x="786384" y="435428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None found</a:t>
            </a:r>
          </a:p>
        </p:txBody>
      </p:sp>
      <p:sp>
        <p:nvSpPr>
          <p:cNvPr id="38" name="Rectangle 37"/>
          <p:cNvSpPr/>
          <p:nvPr/>
        </p:nvSpPr>
        <p:spPr>
          <a:xfrm>
            <a:off x="2148840" y="4114800"/>
            <a:ext cx="105156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9" name="TextBox 38"/>
          <p:cNvSpPr txBox="1"/>
          <p:nvPr/>
        </p:nvSpPr>
        <p:spPr>
          <a:xfrm>
            <a:off x="2203704" y="435428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405</a:t>
            </a:r>
          </a:p>
        </p:txBody>
      </p:sp>
      <p:sp>
        <p:nvSpPr>
          <p:cNvPr id="40" name="Rectangle 39"/>
          <p:cNvSpPr/>
          <p:nvPr/>
        </p:nvSpPr>
        <p:spPr>
          <a:xfrm>
            <a:off x="3200400" y="4114800"/>
            <a:ext cx="51206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1" name="TextBox 40"/>
          <p:cNvSpPr txBox="1"/>
          <p:nvPr/>
        </p:nvSpPr>
        <p:spPr>
          <a:xfrm>
            <a:off x="3255264" y="4354282"/>
            <a:ext cx="50109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a:t>
            </a:r>
          </a:p>
        </p:txBody>
      </p:sp>
      <p:sp>
        <p:nvSpPr>
          <p:cNvPr id="42" name="Rectangle 41"/>
          <p:cNvSpPr/>
          <p:nvPr/>
        </p:nvSpPr>
        <p:spPr>
          <a:xfrm>
            <a:off x="8321040" y="4114800"/>
            <a:ext cx="32918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3" name="TextBox 42"/>
          <p:cNvSpPr txBox="1"/>
          <p:nvPr/>
        </p:nvSpPr>
        <p:spPr>
          <a:xfrm>
            <a:off x="8375904" y="424656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No direct mapping in the public summaries</a:t>
            </a:r>
          </a:p>
        </p:txBody>
      </p:sp>
      <p:sp>
        <p:nvSpPr>
          <p:cNvPr id="45" name="TextBox 44">
            <a:extLst>
              <a:ext uri="{FF2B5EF4-FFF2-40B4-BE49-F238E27FC236}">
                <a16:creationId xmlns:a16="http://schemas.microsoft.com/office/drawing/2014/main" id="{395884A8-F665-CDA7-4296-7C35A3378258}"/>
              </a:ext>
            </a:extLst>
          </p:cNvPr>
          <p:cNvSpPr txBox="1"/>
          <p:nvPr/>
        </p:nvSpPr>
        <p:spPr>
          <a:xfrm>
            <a:off x="548640" y="886968"/>
            <a:ext cx="10561320" cy="270843"/>
          </a:xfrm>
          <a:prstGeom prst="rect">
            <a:avLst/>
          </a:prstGeom>
          <a:noFill/>
        </p:spPr>
        <p:txBody>
          <a:bodyPr wrap="square" lIns="27432" tIns="27432" rIns="27432" bIns="27432" anchor="t">
            <a:spAutoFit/>
          </a:bodyPr>
          <a:lstStyle/>
          <a:p>
            <a:r>
              <a:rPr lang="en-US" sz="1400" dirty="0">
                <a:solidFill>
                  <a:srgbClr val="4E5A68"/>
                </a:solidFill>
                <a:latin typeface="Arial"/>
              </a:rPr>
              <a:t>Based on </a:t>
            </a:r>
            <a:r>
              <a:rPr lang="en-US" sz="1400" dirty="0" err="1">
                <a:solidFill>
                  <a:srgbClr val="4E5A68"/>
                </a:solidFill>
                <a:latin typeface="Arial"/>
              </a:rPr>
              <a:t>FunGen-xQTL</a:t>
            </a:r>
            <a:r>
              <a:rPr lang="en-US" sz="1400" dirty="0">
                <a:solidFill>
                  <a:srgbClr val="4E5A68"/>
                </a:solidFill>
                <a:latin typeface="Arial"/>
              </a:rPr>
              <a:t> public snapshot </a:t>
            </a:r>
            <a:endParaRPr sz="1400" dirty="0">
              <a:solidFill>
                <a:srgbClr val="4E5A68"/>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364E3-FF0D-9B27-9AA1-7682C28EA9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63D788-55B9-385B-88DD-B04CE8031658}"/>
              </a:ext>
            </a:extLst>
          </p:cNvPr>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RPS15: network centrality and genetic proximity converge</a:t>
            </a:r>
          </a:p>
        </p:txBody>
      </p:sp>
      <p:sp>
        <p:nvSpPr>
          <p:cNvPr id="3" name="TextBox 2">
            <a:extLst>
              <a:ext uri="{FF2B5EF4-FFF2-40B4-BE49-F238E27FC236}">
                <a16:creationId xmlns:a16="http://schemas.microsoft.com/office/drawing/2014/main" id="{CF0339CF-11F5-EFC1-209F-EED51E607BE1}"/>
              </a:ext>
            </a:extLst>
          </p:cNvPr>
          <p:cNvSpPr txBox="1"/>
          <p:nvPr/>
        </p:nvSpPr>
        <p:spPr>
          <a:xfrm>
            <a:off x="548640" y="886968"/>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The most recurrent driver is also the most interesting genetic candidate.</a:t>
            </a:r>
          </a:p>
        </p:txBody>
      </p:sp>
      <p:sp>
        <p:nvSpPr>
          <p:cNvPr id="4" name="Rounded Rectangle 3">
            <a:extLst>
              <a:ext uri="{FF2B5EF4-FFF2-40B4-BE49-F238E27FC236}">
                <a16:creationId xmlns:a16="http://schemas.microsoft.com/office/drawing/2014/main" id="{71903EA6-31BA-E291-EF28-1FAA9EAD87A8}"/>
              </a:ext>
            </a:extLst>
          </p:cNvPr>
          <p:cNvSpPr/>
          <p:nvPr/>
        </p:nvSpPr>
        <p:spPr>
          <a:xfrm>
            <a:off x="603504" y="1389888"/>
            <a:ext cx="5394960" cy="4160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8015C48C-0327-DF11-FC3E-6D4FEE28E1D7}"/>
              </a:ext>
            </a:extLst>
          </p:cNvPr>
          <p:cNvSpPr/>
          <p:nvPr/>
        </p:nvSpPr>
        <p:spPr>
          <a:xfrm>
            <a:off x="877824" y="170992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0ADBDFE-9554-E1A1-C85B-A6792C8AB637}"/>
              </a:ext>
            </a:extLst>
          </p:cNvPr>
          <p:cNvSpPr txBox="1"/>
          <p:nvPr/>
        </p:nvSpPr>
        <p:spPr>
          <a:xfrm>
            <a:off x="1024127" y="1682496"/>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7" name="Oval 6">
            <a:extLst>
              <a:ext uri="{FF2B5EF4-FFF2-40B4-BE49-F238E27FC236}">
                <a16:creationId xmlns:a16="http://schemas.microsoft.com/office/drawing/2014/main" id="{C96B78F0-DEC6-E308-2AF8-7A83DE6FAAD8}"/>
              </a:ext>
            </a:extLst>
          </p:cNvPr>
          <p:cNvSpPr/>
          <p:nvPr/>
        </p:nvSpPr>
        <p:spPr>
          <a:xfrm>
            <a:off x="896112" y="232475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FFDAA584-AAD1-294D-E45F-B4BF07BFD84E}"/>
              </a:ext>
            </a:extLst>
          </p:cNvPr>
          <p:cNvSpPr txBox="1"/>
          <p:nvPr/>
        </p:nvSpPr>
        <p:spPr>
          <a:xfrm>
            <a:off x="1069848" y="2240280"/>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Most recurrent driver: 12 of 32 categories.</a:t>
            </a:r>
          </a:p>
        </p:txBody>
      </p:sp>
      <p:sp>
        <p:nvSpPr>
          <p:cNvPr id="9" name="Oval 8">
            <a:extLst>
              <a:ext uri="{FF2B5EF4-FFF2-40B4-BE49-F238E27FC236}">
                <a16:creationId xmlns:a16="http://schemas.microsoft.com/office/drawing/2014/main" id="{13FB7491-D2F3-EB0C-EECA-4A5196BB091D}"/>
              </a:ext>
            </a:extLst>
          </p:cNvPr>
          <p:cNvSpPr/>
          <p:nvPr/>
        </p:nvSpPr>
        <p:spPr>
          <a:xfrm>
            <a:off x="896112" y="298311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5C58B406-4DAC-F47F-B306-963986F9F914}"/>
              </a:ext>
            </a:extLst>
          </p:cNvPr>
          <p:cNvSpPr txBox="1"/>
          <p:nvPr/>
        </p:nvSpPr>
        <p:spPr>
          <a:xfrm>
            <a:off x="1069848" y="2898648"/>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Best category score q = 4.6e-14 (top rank).</a:t>
            </a:r>
          </a:p>
        </p:txBody>
      </p:sp>
      <p:sp>
        <p:nvSpPr>
          <p:cNvPr id="11" name="Oval 10">
            <a:extLst>
              <a:ext uri="{FF2B5EF4-FFF2-40B4-BE49-F238E27FC236}">
                <a16:creationId xmlns:a16="http://schemas.microsoft.com/office/drawing/2014/main" id="{F61F5E19-43B5-1ABF-1461-5A082A70272D}"/>
              </a:ext>
            </a:extLst>
          </p:cNvPr>
          <p:cNvSpPr/>
          <p:nvPr/>
        </p:nvSpPr>
        <p:spPr>
          <a:xfrm>
            <a:off x="896112" y="364148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D9674E35-2662-93A5-0F62-8E37E4D77E16}"/>
              </a:ext>
            </a:extLst>
          </p:cNvPr>
          <p:cNvSpPr txBox="1"/>
          <p:nvPr/>
        </p:nvSpPr>
        <p:spPr>
          <a:xfrm>
            <a:off x="1069848" y="3557015"/>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Recurs across both sexes and five cell types.</a:t>
            </a:r>
          </a:p>
        </p:txBody>
      </p:sp>
      <p:sp>
        <p:nvSpPr>
          <p:cNvPr id="13" name="Oval 12">
            <a:extLst>
              <a:ext uri="{FF2B5EF4-FFF2-40B4-BE49-F238E27FC236}">
                <a16:creationId xmlns:a16="http://schemas.microsoft.com/office/drawing/2014/main" id="{1D2ED380-B186-DF12-D4BF-6536F710C45B}"/>
              </a:ext>
            </a:extLst>
          </p:cNvPr>
          <p:cNvSpPr/>
          <p:nvPr/>
        </p:nvSpPr>
        <p:spPr>
          <a:xfrm>
            <a:off x="896112" y="429985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162EE79A-6B66-DA99-E91E-797A991F85B4}"/>
              </a:ext>
            </a:extLst>
          </p:cNvPr>
          <p:cNvSpPr txBox="1"/>
          <p:nvPr/>
        </p:nvSpPr>
        <p:spPr>
          <a:xfrm>
            <a:off x="1069848" y="4215383"/>
            <a:ext cx="4718303" cy="24006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Also returns in the independent </a:t>
            </a:r>
            <a:r>
              <a:rPr sz="1200" b="1" i="0" dirty="0">
                <a:solidFill>
                  <a:srgbClr val="1F2730"/>
                </a:solidFill>
                <a:latin typeface="Arial"/>
              </a:rPr>
              <a:t>SEA-AD cohort</a:t>
            </a:r>
            <a:r>
              <a:rPr sz="1200" b="0" i="0" dirty="0">
                <a:solidFill>
                  <a:srgbClr val="1F2730"/>
                </a:solidFill>
                <a:latin typeface="Arial"/>
              </a:rPr>
              <a:t>.</a:t>
            </a:r>
          </a:p>
        </p:txBody>
      </p:sp>
      <p:sp>
        <p:nvSpPr>
          <p:cNvPr id="15" name="Rounded Rectangle 14">
            <a:extLst>
              <a:ext uri="{FF2B5EF4-FFF2-40B4-BE49-F238E27FC236}">
                <a16:creationId xmlns:a16="http://schemas.microsoft.com/office/drawing/2014/main" id="{1021A4D5-9E76-BEC5-DFE8-6D91037ED691}"/>
              </a:ext>
            </a:extLst>
          </p:cNvPr>
          <p:cNvSpPr/>
          <p:nvPr/>
        </p:nvSpPr>
        <p:spPr>
          <a:xfrm>
            <a:off x="6263640" y="1389888"/>
            <a:ext cx="5321808"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3EAFD8D7-F782-C2EB-834F-99ED30A9B88B}"/>
              </a:ext>
            </a:extLst>
          </p:cNvPr>
          <p:cNvSpPr/>
          <p:nvPr/>
        </p:nvSpPr>
        <p:spPr>
          <a:xfrm>
            <a:off x="6537960" y="170992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B21C3D3D-E514-4949-C7B6-05A6D498F574}"/>
              </a:ext>
            </a:extLst>
          </p:cNvPr>
          <p:cNvSpPr txBox="1"/>
          <p:nvPr/>
        </p:nvSpPr>
        <p:spPr>
          <a:xfrm>
            <a:off x="6684264" y="1682496"/>
            <a:ext cx="46268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human genetics</a:t>
            </a:r>
          </a:p>
        </p:txBody>
      </p:sp>
      <p:sp>
        <p:nvSpPr>
          <p:cNvPr id="18" name="Oval 17">
            <a:extLst>
              <a:ext uri="{FF2B5EF4-FFF2-40B4-BE49-F238E27FC236}">
                <a16:creationId xmlns:a16="http://schemas.microsoft.com/office/drawing/2014/main" id="{4258C43B-7682-674D-E477-00384F2516AF}"/>
              </a:ext>
            </a:extLst>
          </p:cNvPr>
          <p:cNvSpPr/>
          <p:nvPr/>
        </p:nvSpPr>
        <p:spPr>
          <a:xfrm>
            <a:off x="6556248" y="23682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13AC6213-D537-CC6E-AF47-BC199257023D}"/>
              </a:ext>
            </a:extLst>
          </p:cNvPr>
          <p:cNvSpPr txBox="1"/>
          <p:nvPr/>
        </p:nvSpPr>
        <p:spPr>
          <a:xfrm>
            <a:off x="6729984" y="2240280"/>
            <a:ext cx="4672583" cy="424732"/>
          </a:xfrm>
          <a:prstGeom prst="rect">
            <a:avLst/>
          </a:prstGeom>
          <a:noFill/>
        </p:spPr>
        <p:txBody>
          <a:bodyPr wrap="square" lIns="27432" tIns="27432" rIns="27432" bIns="27432" anchor="t">
            <a:spAutoFit/>
          </a:bodyPr>
          <a:lstStyle/>
          <a:p>
            <a:r>
              <a:rPr lang="en-US" sz="1200" dirty="0">
                <a:solidFill>
                  <a:srgbClr val="1F2730"/>
                </a:solidFill>
                <a:latin typeface="Arial"/>
              </a:rPr>
              <a:t>GWAS (</a:t>
            </a:r>
            <a:r>
              <a:rPr lang="en-US" sz="1200" dirty="0" err="1">
                <a:solidFill>
                  <a:srgbClr val="1F2730"/>
                </a:solidFill>
                <a:latin typeface="Arial"/>
              </a:rPr>
              <a:t>Bellenguez</a:t>
            </a:r>
            <a:r>
              <a:rPr lang="en-US" sz="1200" dirty="0">
                <a:solidFill>
                  <a:srgbClr val="1F2730"/>
                </a:solidFill>
                <a:latin typeface="Arial"/>
              </a:rPr>
              <a:t> 2022 clinical-AD meta-analysis) supports:</a:t>
            </a:r>
          </a:p>
          <a:p>
            <a:pPr algn="l">
              <a:lnSpc>
                <a:spcPct val="100000"/>
              </a:lnSpc>
              <a:spcBef>
                <a:spcPts val="0"/>
              </a:spcBef>
              <a:spcAft>
                <a:spcPts val="0"/>
              </a:spcAft>
            </a:pPr>
            <a:r>
              <a:rPr sz="1200" dirty="0">
                <a:solidFill>
                  <a:srgbClr val="1F2730"/>
                </a:solidFill>
                <a:latin typeface="Arial"/>
              </a:rPr>
              <a:t>AD region strongly associated</a:t>
            </a:r>
            <a:r>
              <a:rPr lang="en-US" sz="1200" dirty="0">
                <a:solidFill>
                  <a:srgbClr val="1F2730"/>
                </a:solidFill>
                <a:latin typeface="Arial"/>
              </a:rPr>
              <a:t> with</a:t>
            </a:r>
            <a:r>
              <a:rPr sz="1200" dirty="0">
                <a:solidFill>
                  <a:srgbClr val="1F2730"/>
                </a:solidFill>
                <a:latin typeface="Arial"/>
              </a:rPr>
              <a:t> P = 4.089e-30 (rs12151021).</a:t>
            </a:r>
          </a:p>
        </p:txBody>
      </p:sp>
      <p:sp>
        <p:nvSpPr>
          <p:cNvPr id="20" name="Oval 19">
            <a:extLst>
              <a:ext uri="{FF2B5EF4-FFF2-40B4-BE49-F238E27FC236}">
                <a16:creationId xmlns:a16="http://schemas.microsoft.com/office/drawing/2014/main" id="{EC882925-8E36-8598-A0C7-46F40C71866C}"/>
              </a:ext>
            </a:extLst>
          </p:cNvPr>
          <p:cNvSpPr/>
          <p:nvPr/>
        </p:nvSpPr>
        <p:spPr>
          <a:xfrm>
            <a:off x="6556248" y="292115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C0E42B51-DCB1-48FB-0734-0285D4068B6F}"/>
              </a:ext>
            </a:extLst>
          </p:cNvPr>
          <p:cNvSpPr txBox="1"/>
          <p:nvPr/>
        </p:nvSpPr>
        <p:spPr>
          <a:xfrm>
            <a:off x="6729984" y="2854688"/>
            <a:ext cx="4672583" cy="609398"/>
          </a:xfrm>
          <a:prstGeom prst="rect">
            <a:avLst/>
          </a:prstGeom>
          <a:noFill/>
        </p:spPr>
        <p:txBody>
          <a:bodyPr wrap="square" lIns="27432" tIns="27432" rIns="27432" bIns="27432" anchor="t">
            <a:spAutoFit/>
          </a:bodyPr>
          <a:lstStyle/>
          <a:p>
            <a:r>
              <a:rPr lang="en-US" sz="1200" dirty="0">
                <a:solidFill>
                  <a:srgbClr val="1F2730"/>
                </a:solidFill>
                <a:latin typeface="Arial"/>
              </a:rPr>
              <a:t>QTL (Walker 2019 bulk neocortex </a:t>
            </a:r>
            <a:r>
              <a:rPr lang="en-US" sz="1200" dirty="0" err="1">
                <a:solidFill>
                  <a:srgbClr val="1F2730"/>
                </a:solidFill>
                <a:latin typeface="Arial"/>
              </a:rPr>
              <a:t>eQTL</a:t>
            </a:r>
            <a:r>
              <a:rPr lang="en-US" sz="1200" dirty="0">
                <a:solidFill>
                  <a:srgbClr val="1F2730"/>
                </a:solidFill>
                <a:latin typeface="Arial"/>
              </a:rPr>
              <a:t> panel, </a:t>
            </a:r>
            <a:r>
              <a:rPr lang="en-US" sz="1200" dirty="0" err="1">
                <a:solidFill>
                  <a:srgbClr val="1F2730"/>
                </a:solidFill>
                <a:latin typeface="Arial"/>
              </a:rPr>
              <a:t>eQTL</a:t>
            </a:r>
            <a:r>
              <a:rPr lang="en-US" sz="1200" dirty="0">
                <a:solidFill>
                  <a:srgbClr val="1F2730"/>
                </a:solidFill>
                <a:latin typeface="Arial"/>
              </a:rPr>
              <a:t> Catalogue release 7, dataset QTD000579 (211 donors)) supports with P = 2.12×10⁻⁶ </a:t>
            </a:r>
          </a:p>
        </p:txBody>
      </p:sp>
      <p:sp>
        <p:nvSpPr>
          <p:cNvPr id="22" name="Oval 21">
            <a:extLst>
              <a:ext uri="{FF2B5EF4-FFF2-40B4-BE49-F238E27FC236}">
                <a16:creationId xmlns:a16="http://schemas.microsoft.com/office/drawing/2014/main" id="{CA2B0A95-7DEE-D341-AF78-C2FBAF936E38}"/>
              </a:ext>
            </a:extLst>
          </p:cNvPr>
          <p:cNvSpPr/>
          <p:nvPr/>
        </p:nvSpPr>
        <p:spPr>
          <a:xfrm>
            <a:off x="6556248" y="3685031"/>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AD65503-D4B1-BF9E-86F2-602508A62A8E}"/>
              </a:ext>
            </a:extLst>
          </p:cNvPr>
          <p:cNvSpPr txBox="1"/>
          <p:nvPr/>
        </p:nvSpPr>
        <p:spPr>
          <a:xfrm>
            <a:off x="6729984" y="3557015"/>
            <a:ext cx="4672583" cy="794064"/>
          </a:xfrm>
          <a:prstGeom prst="rect">
            <a:avLst/>
          </a:prstGeom>
          <a:noFill/>
        </p:spPr>
        <p:txBody>
          <a:bodyPr wrap="square" lIns="27432" tIns="27432" rIns="27432" bIns="27432" anchor="t">
            <a:spAutoFit/>
          </a:bodyPr>
          <a:lstStyle/>
          <a:p>
            <a:r>
              <a:rPr lang="en-US" sz="1200" dirty="0">
                <a:solidFill>
                  <a:srgbClr val="1F2730"/>
                </a:solidFill>
                <a:latin typeface="Arial"/>
              </a:rPr>
              <a:t>QTL (t</a:t>
            </a:r>
            <a:r>
              <a:rPr sz="1200" dirty="0">
                <a:solidFill>
                  <a:srgbClr val="1F2730"/>
                </a:solidFill>
                <a:latin typeface="Arial"/>
              </a:rPr>
              <a:t>hree further brain activity tracks are signal-positive</a:t>
            </a:r>
            <a:r>
              <a:rPr lang="en-US" sz="1200" dirty="0">
                <a:solidFill>
                  <a:srgbClr val="1F2730"/>
                </a:solidFill>
                <a:latin typeface="Arial"/>
              </a:rPr>
              <a:t>):</a:t>
            </a:r>
            <a:br>
              <a:rPr lang="en-US" sz="1200" dirty="0">
                <a:solidFill>
                  <a:srgbClr val="1F2730"/>
                </a:solidFill>
                <a:latin typeface="Arial"/>
              </a:rPr>
            </a:br>
            <a:r>
              <a:rPr lang="en-US" sz="1200" dirty="0">
                <a:solidFill>
                  <a:srgbClr val="1F2730"/>
                </a:solidFill>
                <a:latin typeface="Arial"/>
              </a:rPr>
              <a:t>MSBB frontal cortex (BA36) </a:t>
            </a:r>
            <a:r>
              <a:rPr lang="en-US" sz="1200" dirty="0" err="1">
                <a:solidFill>
                  <a:srgbClr val="1F2730"/>
                </a:solidFill>
                <a:latin typeface="Arial"/>
              </a:rPr>
              <a:t>eQTL</a:t>
            </a:r>
            <a:r>
              <a:rPr lang="en-US" sz="1200" dirty="0">
                <a:solidFill>
                  <a:srgbClr val="1F2730"/>
                </a:solidFill>
                <a:latin typeface="Arial"/>
              </a:rPr>
              <a:t> (RNA amount)</a:t>
            </a:r>
          </a:p>
          <a:p>
            <a:r>
              <a:rPr lang="en-US" sz="1200" dirty="0">
                <a:solidFill>
                  <a:srgbClr val="1F2730"/>
                </a:solidFill>
                <a:latin typeface="Arial"/>
              </a:rPr>
              <a:t>ROSMAP DLPFC </a:t>
            </a:r>
            <a:r>
              <a:rPr lang="en-US" sz="1200" dirty="0" err="1">
                <a:solidFill>
                  <a:srgbClr val="1F2730"/>
                </a:solidFill>
                <a:latin typeface="Arial"/>
              </a:rPr>
              <a:t>sQTL</a:t>
            </a:r>
            <a:r>
              <a:rPr lang="en-US" sz="1200" dirty="0">
                <a:solidFill>
                  <a:srgbClr val="1F2730"/>
                </a:solidFill>
                <a:latin typeface="Arial"/>
              </a:rPr>
              <a:t> (splicing)</a:t>
            </a:r>
          </a:p>
          <a:p>
            <a:r>
              <a:rPr lang="en-US" sz="1200" dirty="0">
                <a:solidFill>
                  <a:srgbClr val="1F2730"/>
                </a:solidFill>
                <a:latin typeface="Arial"/>
              </a:rPr>
              <a:t>ROSMAP posterior cingulate </a:t>
            </a:r>
            <a:r>
              <a:rPr lang="en-US" sz="1200" dirty="0" err="1">
                <a:solidFill>
                  <a:srgbClr val="1F2730"/>
                </a:solidFill>
                <a:latin typeface="Arial"/>
              </a:rPr>
              <a:t>sQTL</a:t>
            </a:r>
            <a:r>
              <a:rPr lang="en-US" sz="1200" dirty="0">
                <a:solidFill>
                  <a:srgbClr val="1F2730"/>
                </a:solidFill>
                <a:latin typeface="Arial"/>
              </a:rPr>
              <a:t> (splicing)</a:t>
            </a:r>
            <a:endParaRPr sz="1200" b="0" i="0" dirty="0">
              <a:solidFill>
                <a:srgbClr val="1F2730"/>
              </a:solidFill>
              <a:latin typeface="Arial"/>
            </a:endParaRPr>
          </a:p>
        </p:txBody>
      </p:sp>
      <p:sp>
        <p:nvSpPr>
          <p:cNvPr id="24" name="Oval 23">
            <a:extLst>
              <a:ext uri="{FF2B5EF4-FFF2-40B4-BE49-F238E27FC236}">
                <a16:creationId xmlns:a16="http://schemas.microsoft.com/office/drawing/2014/main" id="{A23A36C8-9EA9-4F15-88ED-05652CB0CC29}"/>
              </a:ext>
            </a:extLst>
          </p:cNvPr>
          <p:cNvSpPr/>
          <p:nvPr/>
        </p:nvSpPr>
        <p:spPr>
          <a:xfrm>
            <a:off x="6556248" y="44576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BBFF4661-1D82-DA8E-1B1C-228283C5FBBA}"/>
              </a:ext>
            </a:extLst>
          </p:cNvPr>
          <p:cNvSpPr txBox="1"/>
          <p:nvPr/>
        </p:nvSpPr>
        <p:spPr>
          <a:xfrm>
            <a:off x="6729984" y="4382437"/>
            <a:ext cx="4672583" cy="24006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Same-variant test </a:t>
            </a:r>
            <a:r>
              <a:rPr lang="en-US" sz="1200" b="0" i="0" dirty="0">
                <a:solidFill>
                  <a:srgbClr val="1F2730"/>
                </a:solidFill>
                <a:latin typeface="Arial"/>
              </a:rPr>
              <a:t>pending</a:t>
            </a:r>
            <a:r>
              <a:rPr sz="1200" b="0" i="0" dirty="0">
                <a:solidFill>
                  <a:srgbClr val="1F2730"/>
                </a:solidFill>
                <a:latin typeface="Arial"/>
              </a:rPr>
              <a:t>: complete models unavailable.</a:t>
            </a:r>
          </a:p>
        </p:txBody>
      </p:sp>
    </p:spTree>
    <p:extLst>
      <p:ext uri="{BB962C8B-B14F-4D97-AF65-F5344CB8AC3E}">
        <p14:creationId xmlns:p14="http://schemas.microsoft.com/office/powerpoint/2010/main" val="2429154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APOE: the strongest genetic result is an astrocyte driver</a:t>
            </a:r>
          </a:p>
        </p:txBody>
      </p:sp>
      <p:sp>
        <p:nvSpPr>
          <p:cNvPr id="3" name="TextBox 2"/>
          <p:cNvSpPr txBox="1"/>
          <p:nvPr/>
        </p:nvSpPr>
        <p:spPr>
          <a:xfrm>
            <a:off x="548640" y="886968"/>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Strong gene-level genetic support</a:t>
            </a:r>
          </a:p>
        </p:txBody>
      </p:sp>
      <p:sp>
        <p:nvSpPr>
          <p:cNvPr id="4" name="Rounded Rectangle 3"/>
          <p:cNvSpPr/>
          <p:nvPr/>
        </p:nvSpPr>
        <p:spPr>
          <a:xfrm>
            <a:off x="6431280" y="1283637"/>
            <a:ext cx="5394960"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705600" y="1603677"/>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1903" y="1576245"/>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Genetic evidence</a:t>
            </a:r>
          </a:p>
        </p:txBody>
      </p:sp>
      <p:sp>
        <p:nvSpPr>
          <p:cNvPr id="7" name="Oval 6"/>
          <p:cNvSpPr/>
          <p:nvPr/>
        </p:nvSpPr>
        <p:spPr>
          <a:xfrm>
            <a:off x="6723888" y="226204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97624" y="2134029"/>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Fine-mapping (FunGen-xQTL published integration) supports: coding variant rs429358 assigned directly to APOE, inclusion score 1.0 (AD P ≈ 1.9e-155).</a:t>
            </a:r>
          </a:p>
        </p:txBody>
      </p:sp>
      <p:sp>
        <p:nvSpPr>
          <p:cNvPr id="9" name="Oval 8"/>
          <p:cNvSpPr/>
          <p:nvPr/>
        </p:nvSpPr>
        <p:spPr>
          <a:xfrm>
            <a:off x="6723888" y="2920413"/>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97624" y="2792397"/>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GWAS (CSF biomarker studies GCST90726396–98, ≈19k donors) supports: region significant for amyloid-β42, total tau (P = 5.4e-161), and p-tau181 (P = 3.3e-174).</a:t>
            </a:r>
          </a:p>
        </p:txBody>
      </p:sp>
      <p:sp>
        <p:nvSpPr>
          <p:cNvPr id="11" name="Oval 10"/>
          <p:cNvSpPr/>
          <p:nvPr/>
        </p:nvSpPr>
        <p:spPr>
          <a:xfrm>
            <a:off x="6723888" y="357878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97624" y="3450764"/>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Gene-based tests (MAGMA on the same CSF GWAS) support: all three biomarkers pass at P = 5e-10.</a:t>
            </a:r>
          </a:p>
        </p:txBody>
      </p:sp>
      <p:sp>
        <p:nvSpPr>
          <p:cNvPr id="13" name="Oval 12"/>
          <p:cNvSpPr/>
          <p:nvPr/>
        </p:nvSpPr>
        <p:spPr>
          <a:xfrm>
            <a:off x="6723888" y="42371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97624" y="4109132"/>
            <a:ext cx="4718303" cy="60939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QTL (Walker 2019 bulk neocortex </a:t>
            </a:r>
            <a:r>
              <a:rPr sz="1200" b="0" i="0" dirty="0" err="1">
                <a:solidFill>
                  <a:srgbClr val="1F2730"/>
                </a:solidFill>
                <a:latin typeface="Arial"/>
              </a:rPr>
              <a:t>eQTL</a:t>
            </a:r>
            <a:r>
              <a:rPr sz="1200" b="0" i="0" dirty="0">
                <a:solidFill>
                  <a:srgbClr val="1F2730"/>
                </a:solidFill>
                <a:latin typeface="Arial"/>
              </a:rPr>
              <a:t>, </a:t>
            </a:r>
            <a:r>
              <a:rPr sz="1200" b="0" i="0" dirty="0" err="1">
                <a:solidFill>
                  <a:srgbClr val="1F2730"/>
                </a:solidFill>
                <a:latin typeface="Arial"/>
              </a:rPr>
              <a:t>eQTL</a:t>
            </a:r>
            <a:r>
              <a:rPr sz="1200" b="0" i="0" dirty="0">
                <a:solidFill>
                  <a:srgbClr val="1F2730"/>
                </a:solidFill>
                <a:latin typeface="Arial"/>
              </a:rPr>
              <a:t> Catalogue r7, dataset QTD000579): significant APOE </a:t>
            </a:r>
            <a:r>
              <a:rPr sz="1200" b="0" i="0" dirty="0" err="1">
                <a:solidFill>
                  <a:srgbClr val="1F2730"/>
                </a:solidFill>
                <a:latin typeface="Arial"/>
              </a:rPr>
              <a:t>eQTL</a:t>
            </a:r>
            <a:r>
              <a:rPr sz="1200" b="0" i="0" dirty="0">
                <a:solidFill>
                  <a:srgbClr val="1F2730"/>
                </a:solidFill>
                <a:latin typeface="Arial"/>
              </a:rPr>
              <a:t>, P = 9.5e-8 — same-variant test still </a:t>
            </a:r>
            <a:r>
              <a:rPr lang="en-US" sz="1200" b="0" i="0" dirty="0">
                <a:solidFill>
                  <a:srgbClr val="1F2730"/>
                </a:solidFill>
                <a:latin typeface="Arial"/>
              </a:rPr>
              <a:t>pending</a:t>
            </a:r>
            <a:r>
              <a:rPr sz="1200" b="0" i="0" dirty="0">
                <a:solidFill>
                  <a:srgbClr val="1F2730"/>
                </a:solidFill>
                <a:latin typeface="Arial"/>
              </a:rPr>
              <a:t>.</a:t>
            </a:r>
          </a:p>
        </p:txBody>
      </p:sp>
      <p:sp>
        <p:nvSpPr>
          <p:cNvPr id="15" name="Rounded Rectangle 14"/>
          <p:cNvSpPr/>
          <p:nvPr/>
        </p:nvSpPr>
        <p:spPr>
          <a:xfrm>
            <a:off x="688848" y="1319021"/>
            <a:ext cx="5321808" cy="4125136"/>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63168" y="1639061"/>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09472" y="1611629"/>
            <a:ext cx="46268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18" name="Oval 17"/>
          <p:cNvSpPr/>
          <p:nvPr/>
        </p:nvSpPr>
        <p:spPr>
          <a:xfrm>
            <a:off x="981456" y="229742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55192" y="2169413"/>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An astrocyte driver in three sex/APOE groups (F_e2, M_e2, M_e4).</a:t>
            </a:r>
          </a:p>
        </p:txBody>
      </p:sp>
      <p:sp>
        <p:nvSpPr>
          <p:cNvPr id="20" name="Oval 19"/>
          <p:cNvSpPr/>
          <p:nvPr/>
        </p:nvSpPr>
        <p:spPr>
          <a:xfrm>
            <a:off x="981456" y="295579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55192" y="2827781"/>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Best within-category rank: 3.</a:t>
            </a:r>
          </a:p>
        </p:txBody>
      </p:sp>
      <p:sp>
        <p:nvSpPr>
          <p:cNvPr id="22" name="Oval 21"/>
          <p:cNvSpPr/>
          <p:nvPr/>
        </p:nvSpPr>
        <p:spPr>
          <a:xfrm>
            <a:off x="981456" y="36141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55192" y="3486148"/>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Modest recurrence compared with RPS15 (3 vs 12 categories).</a:t>
            </a:r>
          </a:p>
        </p:txBody>
      </p:sp>
      <p:sp>
        <p:nvSpPr>
          <p:cNvPr id="24" name="Oval 23"/>
          <p:cNvSpPr/>
          <p:nvPr/>
        </p:nvSpPr>
        <p:spPr>
          <a:xfrm>
            <a:off x="981456" y="42725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55192" y="4144516"/>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Does not return in the SEA-AD validation cohort.</a:t>
            </a:r>
          </a:p>
        </p:txBody>
      </p:sp>
      <p:sp>
        <p:nvSpPr>
          <p:cNvPr id="26" name="Rounded Rectangle 25"/>
          <p:cNvSpPr/>
          <p:nvPr/>
        </p:nvSpPr>
        <p:spPr>
          <a:xfrm>
            <a:off x="603504" y="5715000"/>
            <a:ext cx="10972800" cy="5669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870448"/>
            <a:ext cx="10561320" cy="22467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dirty="0">
                <a:solidFill>
                  <a:srgbClr val="4E5A68"/>
                </a:solidFill>
                <a:latin typeface="Arial"/>
              </a:rPr>
              <a:t>Genetics confirms APOE as an AD gene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PLCG2: an established AD gene surfaces as a network driver</a:t>
            </a:r>
          </a:p>
        </p:txBody>
      </p:sp>
      <p:sp>
        <p:nvSpPr>
          <p:cNvPr id="4" name="Rounded Rectangle 3"/>
          <p:cNvSpPr/>
          <p:nvPr/>
        </p:nvSpPr>
        <p:spPr>
          <a:xfrm>
            <a:off x="685800" y="1316736"/>
            <a:ext cx="5321808" cy="4123944"/>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0120" y="163677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6424" y="1609344"/>
            <a:ext cx="4480559"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7" name="Oval 6"/>
          <p:cNvSpPr/>
          <p:nvPr/>
        </p:nvSpPr>
        <p:spPr>
          <a:xfrm>
            <a:off x="978408" y="2286435"/>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193255"/>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A driver in three categories — all inhibitory neurons.</a:t>
            </a:r>
          </a:p>
        </p:txBody>
      </p:sp>
      <p:sp>
        <p:nvSpPr>
          <p:cNvPr id="9" name="Oval 8"/>
          <p:cNvSpPr/>
          <p:nvPr/>
        </p:nvSpPr>
        <p:spPr>
          <a:xfrm>
            <a:off x="978408" y="2944803"/>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851623"/>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All three contexts are female groups (F_e2, F_e33, F_e4).</a:t>
            </a:r>
          </a:p>
        </p:txBody>
      </p:sp>
      <p:sp>
        <p:nvSpPr>
          <p:cNvPr id="11" name="Oval 10"/>
          <p:cNvSpPr/>
          <p:nvPr/>
        </p:nvSpPr>
        <p:spPr>
          <a:xfrm>
            <a:off x="978408" y="3603171"/>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509991"/>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Best category q = 0.021 (rank 9); one context combines 4 returned calls (ACAT q = 0.032).</a:t>
            </a:r>
          </a:p>
        </p:txBody>
      </p:sp>
      <p:sp>
        <p:nvSpPr>
          <p:cNvPr id="13" name="Oval 12"/>
          <p:cNvSpPr/>
          <p:nvPr/>
        </p:nvSpPr>
        <p:spPr>
          <a:xfrm>
            <a:off x="978408" y="4261539"/>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4168359"/>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Does not return in the SEA-AD validation cohort.</a:t>
            </a:r>
          </a:p>
        </p:txBody>
      </p:sp>
      <p:sp>
        <p:nvSpPr>
          <p:cNvPr id="15" name="Rounded Rectangle 14"/>
          <p:cNvSpPr/>
          <p:nvPr/>
        </p:nvSpPr>
        <p:spPr>
          <a:xfrm>
            <a:off x="6428232" y="1280160"/>
            <a:ext cx="5394960"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702552" y="16002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48856" y="1572768"/>
            <a:ext cx="45537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Genetic evidence</a:t>
            </a:r>
          </a:p>
        </p:txBody>
      </p:sp>
      <p:sp>
        <p:nvSpPr>
          <p:cNvPr id="18" name="Oval 17"/>
          <p:cNvSpPr/>
          <p:nvPr/>
        </p:nvSpPr>
        <p:spPr>
          <a:xfrm>
            <a:off x="6720840" y="2241150"/>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94576" y="2130552"/>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Fine-mapping (FunGen-xQTL published integration) supports: three variants assigned to PLCG2 (rs4407053, rs12444189, rs1071644), best inclusion score 0.76, min AD P = 8.2e-12; also in the GVC gene list.</a:t>
            </a:r>
          </a:p>
        </p:txBody>
      </p:sp>
      <p:sp>
        <p:nvSpPr>
          <p:cNvPr id="20" name="Oval 19"/>
          <p:cNvSpPr/>
          <p:nvPr/>
        </p:nvSpPr>
        <p:spPr>
          <a:xfrm>
            <a:off x="6720840" y="3027534"/>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2916936"/>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(Bellenguez 2022 clinical-AD meta-analysis) supports: own region genome-wide significant, P = 2.2e-12 (rs12444183).</a:t>
            </a:r>
          </a:p>
        </p:txBody>
      </p:sp>
      <p:sp>
        <p:nvSpPr>
          <p:cNvPr id="22" name="Oval 21"/>
          <p:cNvSpPr/>
          <p:nvPr/>
        </p:nvSpPr>
        <p:spPr>
          <a:xfrm>
            <a:off x="6720840" y="3813917"/>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94576" y="3703320"/>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(CSF biomarker studies GCST90726396–98): no qualifying regional signal (best P = 6.7e-5, p-tau181).</a:t>
            </a:r>
          </a:p>
        </p:txBody>
      </p:sp>
      <p:sp>
        <p:nvSpPr>
          <p:cNvPr id="24" name="Oval 23"/>
          <p:cNvSpPr/>
          <p:nvPr/>
        </p:nvSpPr>
        <p:spPr>
          <a:xfrm>
            <a:off x="6720840" y="4600302"/>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94576" y="4489704"/>
            <a:ext cx="4718304" cy="2308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QTL: not yet </a:t>
            </a:r>
            <a:r>
              <a:rPr lang="en-US" sz="1140" b="0" i="0" dirty="0">
                <a:solidFill>
                  <a:srgbClr val="1F2730"/>
                </a:solidFill>
                <a:latin typeface="Arial"/>
              </a:rPr>
              <a:t>tested</a:t>
            </a:r>
            <a:r>
              <a:rPr lang="en-US" sz="1140" dirty="0">
                <a:solidFill>
                  <a:srgbClr val="1F2730"/>
                </a:solidFill>
                <a:latin typeface="Arial"/>
              </a:rPr>
              <a:t>, rely on </a:t>
            </a:r>
            <a:r>
              <a:rPr sz="1140" b="0" i="0" dirty="0">
                <a:solidFill>
                  <a:srgbClr val="1F2730"/>
                </a:solidFill>
                <a:latin typeface="Arial"/>
              </a:rPr>
              <a:t>brain QTL</a:t>
            </a:r>
          </a:p>
        </p:txBody>
      </p:sp>
      <p:sp>
        <p:nvSpPr>
          <p:cNvPr id="26" name="Rounded Rectangle 25"/>
          <p:cNvSpPr/>
          <p:nvPr/>
        </p:nvSpPr>
        <p:spPr>
          <a:xfrm>
            <a:off x="603504" y="5715000"/>
            <a:ext cx="10972800" cy="5669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870448"/>
            <a:ext cx="1056132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dirty="0">
                <a:solidFill>
                  <a:srgbClr val="4E5A68"/>
                </a:solidFill>
                <a:latin typeface="Arial"/>
              </a:rPr>
              <a:t>PLCG2's genetics is already established — the new finding is its female inhibitory-neuron driver role; QTL and same-variant work </a:t>
            </a:r>
            <a:r>
              <a:rPr lang="en-US" sz="1100" b="1" i="0" dirty="0">
                <a:solidFill>
                  <a:srgbClr val="4E5A68"/>
                </a:solidFill>
                <a:latin typeface="Arial"/>
              </a:rPr>
              <a:t>pending</a:t>
            </a:r>
            <a:r>
              <a:rPr sz="1100" b="1" i="0" dirty="0">
                <a:solidFill>
                  <a:srgbClr val="4E5A68"/>
                </a:solidFill>
                <a:latin typeface="Aria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HSPA1A: a cross-cohort driver inside the HLA region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4E5A68"/>
                </a:solidFill>
                <a:latin typeface="Arial"/>
              </a:rPr>
              <a:t>The only SEA-AD-replicated driver whose region is genome-wide significant for AD.</a:t>
            </a:r>
          </a:p>
        </p:txBody>
      </p:sp>
      <p:sp>
        <p:nvSpPr>
          <p:cNvPr id="4" name="Rounded Rectangle 3"/>
          <p:cNvSpPr/>
          <p:nvPr/>
        </p:nvSpPr>
        <p:spPr>
          <a:xfrm>
            <a:off x="685800" y="1316736"/>
            <a:ext cx="5321808" cy="4123944"/>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0120" y="163677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6424" y="1609344"/>
            <a:ext cx="4480559"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7" name="Oval 6"/>
          <p:cNvSpPr/>
          <p:nvPr/>
        </p:nvSpPr>
        <p:spPr>
          <a:xfrm>
            <a:off x="978408" y="2295144"/>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167128"/>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A driver in three categories: two inhibitory-neuron and one vasculature context.</a:t>
            </a:r>
          </a:p>
        </p:txBody>
      </p:sp>
      <p:sp>
        <p:nvSpPr>
          <p:cNvPr id="9" name="Oval 8"/>
          <p:cNvSpPr/>
          <p:nvPr/>
        </p:nvSpPr>
        <p:spPr>
          <a:xfrm>
            <a:off x="978408" y="2953512"/>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825496"/>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Top-ranked driver in F_e4 vasculature; one context combines 3 returned calls.</a:t>
            </a:r>
          </a:p>
        </p:txBody>
      </p:sp>
      <p:sp>
        <p:nvSpPr>
          <p:cNvPr id="11" name="Oval 10"/>
          <p:cNvSpPr/>
          <p:nvPr/>
        </p:nvSpPr>
        <p:spPr>
          <a:xfrm>
            <a:off x="978408" y="3611880"/>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483864"/>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Best category q = 0.021.</a:t>
            </a:r>
          </a:p>
        </p:txBody>
      </p:sp>
      <p:sp>
        <p:nvSpPr>
          <p:cNvPr id="13" name="Oval 12"/>
          <p:cNvSpPr/>
          <p:nvPr/>
        </p:nvSpPr>
        <p:spPr>
          <a:xfrm>
            <a:off x="978408" y="4270248"/>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4142232"/>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Replicates in the independent SEA-AD cohort (M_e33 excitatory neurons).</a:t>
            </a:r>
          </a:p>
        </p:txBody>
      </p:sp>
      <p:sp>
        <p:nvSpPr>
          <p:cNvPr id="15" name="Rounded Rectangle 14"/>
          <p:cNvSpPr/>
          <p:nvPr/>
        </p:nvSpPr>
        <p:spPr>
          <a:xfrm>
            <a:off x="6428232" y="1280160"/>
            <a:ext cx="5394960"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702552" y="16002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48856" y="1572768"/>
            <a:ext cx="45537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Genetic evidence</a:t>
            </a:r>
          </a:p>
        </p:txBody>
      </p:sp>
      <p:sp>
        <p:nvSpPr>
          <p:cNvPr id="18" name="Oval 17"/>
          <p:cNvSpPr/>
          <p:nvPr/>
        </p:nvSpPr>
        <p:spPr>
          <a:xfrm>
            <a:off x="6720840" y="2258568"/>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94576" y="2130552"/>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(Bellenguez 2022 clinical-AD meta-analysis) supports: region genome-wide significant, P = 1.0e-17 (rs6605556) — inside the HLA region on chr6.</a:t>
            </a:r>
          </a:p>
        </p:txBody>
      </p:sp>
      <p:sp>
        <p:nvSpPr>
          <p:cNvPr id="20" name="Oval 19"/>
          <p:cNvSpPr/>
          <p:nvPr/>
        </p:nvSpPr>
        <p:spPr>
          <a:xfrm>
            <a:off x="6720840" y="3044952"/>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2916936"/>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(CSF biomarker studies GCST90726396–98): no qualifying signal (best P = 1.9e-6, tau traits).</a:t>
            </a:r>
          </a:p>
        </p:txBody>
      </p:sp>
      <p:sp>
        <p:nvSpPr>
          <p:cNvPr id="22" name="Oval 21"/>
          <p:cNvSpPr/>
          <p:nvPr/>
        </p:nvSpPr>
        <p:spPr>
          <a:xfrm>
            <a:off x="6720840" y="3831335"/>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94576" y="3703320"/>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Fine-mapping (</a:t>
            </a:r>
            <a:r>
              <a:rPr sz="1140" b="0" i="0" dirty="0" err="1">
                <a:solidFill>
                  <a:srgbClr val="1F2730"/>
                </a:solidFill>
                <a:latin typeface="Arial"/>
              </a:rPr>
              <a:t>FunGen-xQTL</a:t>
            </a:r>
            <a:r>
              <a:rPr sz="1140" b="0" i="0" dirty="0">
                <a:solidFill>
                  <a:srgbClr val="1F2730"/>
                </a:solidFill>
                <a:latin typeface="Arial"/>
              </a:rPr>
              <a:t> published integration): no direct mapping to HSPA1A; no fine-mapped variants in its window.</a:t>
            </a:r>
          </a:p>
        </p:txBody>
      </p:sp>
      <p:sp>
        <p:nvSpPr>
          <p:cNvPr id="24" name="Oval 23"/>
          <p:cNvSpPr/>
          <p:nvPr/>
        </p:nvSpPr>
        <p:spPr>
          <a:xfrm>
            <a:off x="6720840" y="4617720"/>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94576" y="4489704"/>
            <a:ext cx="4718304" cy="2308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QTL: not yet </a:t>
            </a:r>
            <a:r>
              <a:rPr lang="en-US" sz="1140" b="0" i="0" dirty="0">
                <a:solidFill>
                  <a:srgbClr val="1F2730"/>
                </a:solidFill>
                <a:latin typeface="Arial"/>
              </a:rPr>
              <a:t>tested</a:t>
            </a:r>
            <a:r>
              <a:rPr lang="en-US" sz="1140" dirty="0">
                <a:solidFill>
                  <a:srgbClr val="1F2730"/>
                </a:solidFill>
                <a:latin typeface="Arial"/>
              </a:rPr>
              <a:t>, rely on </a:t>
            </a:r>
            <a:r>
              <a:rPr sz="1140" b="0" i="0" dirty="0">
                <a:solidFill>
                  <a:srgbClr val="1F2730"/>
                </a:solidFill>
                <a:latin typeface="Arial"/>
              </a:rPr>
              <a:t>brain QTL routes; same-variant test </a:t>
            </a:r>
            <a:r>
              <a:rPr lang="en-US" sz="1140" dirty="0">
                <a:solidFill>
                  <a:srgbClr val="1F2730"/>
                </a:solidFill>
                <a:latin typeface="Arial"/>
              </a:rPr>
              <a:t>pending</a:t>
            </a:r>
            <a:r>
              <a:rPr sz="1140" b="0" i="0" dirty="0">
                <a:solidFill>
                  <a:srgbClr val="1F2730"/>
                </a:solidFill>
                <a:latin typeface="Arial"/>
              </a:rPr>
              <a:t>.</a:t>
            </a:r>
          </a:p>
        </p:txBody>
      </p:sp>
      <p:sp>
        <p:nvSpPr>
          <p:cNvPr id="26" name="Rounded Rectangle 25"/>
          <p:cNvSpPr/>
          <p:nvPr/>
        </p:nvSpPr>
        <p:spPr>
          <a:xfrm>
            <a:off x="603504" y="5715000"/>
            <a:ext cx="10972800" cy="5669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870448"/>
            <a:ext cx="1056132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4E5A68"/>
                </a:solidFill>
                <a:latin typeface="Arial"/>
              </a:rPr>
              <a:t>Caution: the HLA region carries the genome's most complex LD — the AD signal cannot be assigned to HSPA1A without conditional, gene-level analysis.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MAP1LC3B: a biomarker-first genetic lead</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4E5A68"/>
                </a:solidFill>
                <a:latin typeface="Arial"/>
              </a:rPr>
              <a:t>A single-context OPC driver whose region is genome-wide significant for both tau biomarkers.</a:t>
            </a:r>
          </a:p>
        </p:txBody>
      </p:sp>
      <p:sp>
        <p:nvSpPr>
          <p:cNvPr id="4" name="Rounded Rectangle 3"/>
          <p:cNvSpPr/>
          <p:nvPr/>
        </p:nvSpPr>
        <p:spPr>
          <a:xfrm>
            <a:off x="685800" y="1316736"/>
            <a:ext cx="5321808" cy="4123944"/>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0120" y="163677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6424" y="1609344"/>
            <a:ext cx="4480559"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7" name="Oval 6"/>
          <p:cNvSpPr/>
          <p:nvPr/>
        </p:nvSpPr>
        <p:spPr>
          <a:xfrm>
            <a:off x="978408" y="2269017"/>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167128"/>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A driver in one category: M_e4 OPCs.</a:t>
            </a:r>
          </a:p>
        </p:txBody>
      </p:sp>
      <p:sp>
        <p:nvSpPr>
          <p:cNvPr id="9" name="Oval 8"/>
          <p:cNvSpPr/>
          <p:nvPr/>
        </p:nvSpPr>
        <p:spPr>
          <a:xfrm>
            <a:off x="978408" y="2927385"/>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825496"/>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Rank 3 in its category, q = 0.0067 (single returned call).</a:t>
            </a:r>
          </a:p>
        </p:txBody>
      </p:sp>
      <p:sp>
        <p:nvSpPr>
          <p:cNvPr id="11" name="Oval 10"/>
          <p:cNvSpPr/>
          <p:nvPr/>
        </p:nvSpPr>
        <p:spPr>
          <a:xfrm>
            <a:off x="978408" y="3585753"/>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483864"/>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Does not return in the SEA-AD validation cohort.</a:t>
            </a:r>
          </a:p>
        </p:txBody>
      </p:sp>
      <p:sp>
        <p:nvSpPr>
          <p:cNvPr id="15" name="Rounded Rectangle 14"/>
          <p:cNvSpPr/>
          <p:nvPr/>
        </p:nvSpPr>
        <p:spPr>
          <a:xfrm>
            <a:off x="6428232" y="1280160"/>
            <a:ext cx="5394960"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702552" y="16002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48856" y="1572768"/>
            <a:ext cx="45537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Genetic evidence</a:t>
            </a:r>
          </a:p>
        </p:txBody>
      </p:sp>
      <p:sp>
        <p:nvSpPr>
          <p:cNvPr id="18" name="Oval 17"/>
          <p:cNvSpPr/>
          <p:nvPr/>
        </p:nvSpPr>
        <p:spPr>
          <a:xfrm>
            <a:off x="6720840" y="2258568"/>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94576" y="2130552"/>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(CSF total tau, GCST90726397) supports: region genome-wide significant, P = 1.3e-16 (chr16:87,199,910).</a:t>
            </a:r>
          </a:p>
        </p:txBody>
      </p:sp>
      <p:sp>
        <p:nvSpPr>
          <p:cNvPr id="20" name="Oval 19"/>
          <p:cNvSpPr/>
          <p:nvPr/>
        </p:nvSpPr>
        <p:spPr>
          <a:xfrm>
            <a:off x="6720840" y="3044952"/>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2916936"/>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(CSF p-tau181, GCST90726398) supports: same region and lead variant, P = 7.3e-15.</a:t>
            </a:r>
          </a:p>
        </p:txBody>
      </p:sp>
      <p:sp>
        <p:nvSpPr>
          <p:cNvPr id="22" name="Oval 21"/>
          <p:cNvSpPr/>
          <p:nvPr/>
        </p:nvSpPr>
        <p:spPr>
          <a:xfrm>
            <a:off x="6720840" y="3831335"/>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94576" y="3703320"/>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(clinical AD, Bellenguez 2022): below genome-wide significance (P = 2.9e-6); fine-mapping (FunGen): no direct mapping.</a:t>
            </a:r>
          </a:p>
        </p:txBody>
      </p:sp>
      <p:sp>
        <p:nvSpPr>
          <p:cNvPr id="24" name="Oval 23"/>
          <p:cNvSpPr/>
          <p:nvPr/>
        </p:nvSpPr>
        <p:spPr>
          <a:xfrm>
            <a:off x="6720840" y="4617720"/>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94576" y="4489704"/>
            <a:ext cx="4718304" cy="230832"/>
          </a:xfrm>
          <a:prstGeom prst="rect">
            <a:avLst/>
          </a:prstGeom>
          <a:noFill/>
        </p:spPr>
        <p:txBody>
          <a:bodyPr wrap="square" lIns="27432" tIns="27432" rIns="27432" bIns="27432" anchor="t">
            <a:spAutoFit/>
          </a:bodyPr>
          <a:lstStyle/>
          <a:p>
            <a:r>
              <a:rPr sz="1140" b="0" i="0" dirty="0">
                <a:solidFill>
                  <a:srgbClr val="1F2730"/>
                </a:solidFill>
                <a:latin typeface="Arial"/>
              </a:rPr>
              <a:t>QTL: </a:t>
            </a:r>
            <a:r>
              <a:rPr lang="en-US" sz="1140" dirty="0">
                <a:solidFill>
                  <a:srgbClr val="1F2730"/>
                </a:solidFill>
                <a:latin typeface="Arial"/>
              </a:rPr>
              <a:t>not yet tested, rely on brain QTL routes; same-variant test pending.</a:t>
            </a:r>
            <a:endParaRPr sz="1140" b="0" i="0" dirty="0">
              <a:solidFill>
                <a:srgbClr val="1F2730"/>
              </a:solidFill>
              <a:latin typeface="Arial"/>
            </a:endParaRPr>
          </a:p>
        </p:txBody>
      </p:sp>
      <p:sp>
        <p:nvSpPr>
          <p:cNvPr id="26" name="Rounded Rectangle 25"/>
          <p:cNvSpPr/>
          <p:nvPr/>
        </p:nvSpPr>
        <p:spPr>
          <a:xfrm>
            <a:off x="603504" y="5715000"/>
            <a:ext cx="10972800" cy="5669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870448"/>
            <a:ext cx="1056132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4E5A68"/>
                </a:solidFill>
                <a:latin typeface="Arial"/>
              </a:rPr>
              <a:t>A tau-pathway lead upstream of diagnosis — gene-based tests must first confirm the signal belongs to MAP1LC3B.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dirty="0">
                <a:solidFill>
                  <a:srgbClr val="0F233D"/>
                </a:solidFill>
                <a:latin typeface="Arial"/>
              </a:rPr>
              <a:t>Genetics-first leads: strong published mappings, thin network evidence</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The reverse of RPS15: published AD fine-mapping points at these drivers, but most appear only once in the networks.</a:t>
            </a:r>
          </a:p>
        </p:txBody>
      </p:sp>
      <p:sp>
        <p:nvSpPr>
          <p:cNvPr id="4" name="Rectangle 3"/>
          <p:cNvSpPr/>
          <p:nvPr/>
        </p:nvSpPr>
        <p:spPr>
          <a:xfrm>
            <a:off x="731520" y="1360710"/>
            <a:ext cx="173736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TextBox 4"/>
          <p:cNvSpPr txBox="1"/>
          <p:nvPr/>
        </p:nvSpPr>
        <p:spPr>
          <a:xfrm>
            <a:off x="786384" y="1463032"/>
            <a:ext cx="16276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1" i="0">
                <a:solidFill>
                  <a:srgbClr val="FFFFFF"/>
                </a:solidFill>
                <a:latin typeface="Arial"/>
              </a:rPr>
              <a:t>Gene</a:t>
            </a:r>
          </a:p>
        </p:txBody>
      </p:sp>
      <p:sp>
        <p:nvSpPr>
          <p:cNvPr id="6" name="Rectangle 5"/>
          <p:cNvSpPr/>
          <p:nvPr/>
        </p:nvSpPr>
        <p:spPr>
          <a:xfrm>
            <a:off x="2468880" y="1360710"/>
            <a:ext cx="3977639"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TextBox 6"/>
          <p:cNvSpPr txBox="1"/>
          <p:nvPr/>
        </p:nvSpPr>
        <p:spPr>
          <a:xfrm>
            <a:off x="2523744" y="1463032"/>
            <a:ext cx="386791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1" i="0">
                <a:solidFill>
                  <a:srgbClr val="FFFFFF"/>
                </a:solidFill>
                <a:latin typeface="Arial"/>
              </a:rPr>
              <a:t>In the KDA networks</a:t>
            </a:r>
          </a:p>
        </p:txBody>
      </p:sp>
      <p:sp>
        <p:nvSpPr>
          <p:cNvPr id="8" name="Rectangle 7"/>
          <p:cNvSpPr/>
          <p:nvPr/>
        </p:nvSpPr>
        <p:spPr>
          <a:xfrm>
            <a:off x="6446520" y="1360710"/>
            <a:ext cx="46634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6501383" y="1463032"/>
            <a:ext cx="45537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1" i="0" dirty="0">
                <a:solidFill>
                  <a:srgbClr val="FFFFFF"/>
                </a:solidFill>
                <a:latin typeface="Arial"/>
              </a:rPr>
              <a:t>Published genetic evidence (</a:t>
            </a:r>
            <a:r>
              <a:rPr sz="1400" b="1" i="0" dirty="0" err="1">
                <a:solidFill>
                  <a:srgbClr val="FFFFFF"/>
                </a:solidFill>
                <a:latin typeface="Arial"/>
              </a:rPr>
              <a:t>FunGen</a:t>
            </a:r>
            <a:r>
              <a:rPr sz="1400" b="1" i="0" dirty="0">
                <a:solidFill>
                  <a:srgbClr val="FFFFFF"/>
                </a:solidFill>
                <a:latin typeface="Arial"/>
              </a:rPr>
              <a:t> fine-mapping)</a:t>
            </a:r>
          </a:p>
        </p:txBody>
      </p:sp>
      <p:sp>
        <p:nvSpPr>
          <p:cNvPr id="10" name="Rectangle 9"/>
          <p:cNvSpPr/>
          <p:nvPr/>
        </p:nvSpPr>
        <p:spPr>
          <a:xfrm>
            <a:off x="731520" y="1817910"/>
            <a:ext cx="1737360"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786384" y="2112255"/>
            <a:ext cx="16276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ZNF652</a:t>
            </a:r>
          </a:p>
        </p:txBody>
      </p:sp>
      <p:sp>
        <p:nvSpPr>
          <p:cNvPr id="12" name="Rectangle 11"/>
          <p:cNvSpPr/>
          <p:nvPr/>
        </p:nvSpPr>
        <p:spPr>
          <a:xfrm>
            <a:off x="2468880" y="1817910"/>
            <a:ext cx="3977639"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TextBox 12"/>
          <p:cNvSpPr txBox="1"/>
          <p:nvPr/>
        </p:nvSpPr>
        <p:spPr>
          <a:xfrm>
            <a:off x="2523744" y="2004533"/>
            <a:ext cx="3867911"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Top-ranked driver in its category (M_e4 oligodendrocytes, q = 0.012)</a:t>
            </a:r>
          </a:p>
        </p:txBody>
      </p:sp>
      <p:sp>
        <p:nvSpPr>
          <p:cNvPr id="14" name="Rectangle 13"/>
          <p:cNvSpPr/>
          <p:nvPr/>
        </p:nvSpPr>
        <p:spPr>
          <a:xfrm>
            <a:off x="6446520" y="1817910"/>
            <a:ext cx="4663440"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6501383" y="2004533"/>
            <a:ext cx="45537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dirty="0">
                <a:solidFill>
                  <a:srgbClr val="1F2730"/>
                </a:solidFill>
                <a:latin typeface="Arial"/>
              </a:rPr>
              <a:t>14 mapped variants, best P = 3.1e-10, inclusion score 0.90 — the one to watch</a:t>
            </a:r>
          </a:p>
        </p:txBody>
      </p:sp>
      <p:sp>
        <p:nvSpPr>
          <p:cNvPr id="16" name="Rectangle 15"/>
          <p:cNvSpPr/>
          <p:nvPr/>
        </p:nvSpPr>
        <p:spPr>
          <a:xfrm>
            <a:off x="731520" y="2659158"/>
            <a:ext cx="1737360"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786384" y="2953503"/>
            <a:ext cx="16276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STAG3</a:t>
            </a:r>
          </a:p>
        </p:txBody>
      </p:sp>
      <p:sp>
        <p:nvSpPr>
          <p:cNvPr id="18" name="Rectangle 17"/>
          <p:cNvSpPr/>
          <p:nvPr/>
        </p:nvSpPr>
        <p:spPr>
          <a:xfrm>
            <a:off x="2468880" y="2659158"/>
            <a:ext cx="3977639"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2523744" y="2845781"/>
            <a:ext cx="3867911"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One category (F_e2 excitatory neurons, one call)</a:t>
            </a:r>
          </a:p>
        </p:txBody>
      </p:sp>
      <p:sp>
        <p:nvSpPr>
          <p:cNvPr id="20" name="Rectangle 19"/>
          <p:cNvSpPr/>
          <p:nvPr/>
        </p:nvSpPr>
        <p:spPr>
          <a:xfrm>
            <a:off x="6446520" y="2659158"/>
            <a:ext cx="4663440"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6501383" y="2845781"/>
            <a:ext cx="45537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dirty="0">
                <a:solidFill>
                  <a:srgbClr val="1F2730"/>
                </a:solidFill>
                <a:latin typeface="Arial"/>
              </a:rPr>
              <a:t>15 mapped variants, best P = 3.1e-18 — inside a known chr7 AD locus</a:t>
            </a:r>
          </a:p>
        </p:txBody>
      </p:sp>
      <p:sp>
        <p:nvSpPr>
          <p:cNvPr id="22" name="Rectangle 21"/>
          <p:cNvSpPr/>
          <p:nvPr/>
        </p:nvSpPr>
        <p:spPr>
          <a:xfrm>
            <a:off x="731520" y="3500406"/>
            <a:ext cx="1737360"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786384" y="3794752"/>
            <a:ext cx="16276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PPP4C / SEPHS2</a:t>
            </a:r>
          </a:p>
        </p:txBody>
      </p:sp>
      <p:sp>
        <p:nvSpPr>
          <p:cNvPr id="24" name="Rectangle 23"/>
          <p:cNvSpPr/>
          <p:nvPr/>
        </p:nvSpPr>
        <p:spPr>
          <a:xfrm>
            <a:off x="2468880" y="3500406"/>
            <a:ext cx="3977639"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TextBox 24"/>
          <p:cNvSpPr txBox="1"/>
          <p:nvPr/>
        </p:nvSpPr>
        <p:spPr>
          <a:xfrm>
            <a:off x="2523744" y="3687030"/>
            <a:ext cx="3867911"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Two categories / one category (excitatory neurons, one call each)</a:t>
            </a:r>
          </a:p>
        </p:txBody>
      </p:sp>
      <p:sp>
        <p:nvSpPr>
          <p:cNvPr id="26" name="Rectangle 25"/>
          <p:cNvSpPr/>
          <p:nvPr/>
        </p:nvSpPr>
        <p:spPr>
          <a:xfrm>
            <a:off x="6446520" y="3500406"/>
            <a:ext cx="4663440"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6501383" y="3687030"/>
            <a:ext cx="45537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Share all 30 mapped variants; the lead variant is assigned to 25 genes at one chr16 locus</a:t>
            </a:r>
          </a:p>
        </p:txBody>
      </p:sp>
      <p:sp>
        <p:nvSpPr>
          <p:cNvPr id="28" name="Rectangle 27"/>
          <p:cNvSpPr/>
          <p:nvPr/>
        </p:nvSpPr>
        <p:spPr>
          <a:xfrm>
            <a:off x="731520" y="4341654"/>
            <a:ext cx="1737360"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TextBox 28"/>
          <p:cNvSpPr txBox="1"/>
          <p:nvPr/>
        </p:nvSpPr>
        <p:spPr>
          <a:xfrm>
            <a:off x="786384" y="4636000"/>
            <a:ext cx="16276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ZNF251</a:t>
            </a:r>
          </a:p>
        </p:txBody>
      </p:sp>
      <p:sp>
        <p:nvSpPr>
          <p:cNvPr id="30" name="Rectangle 29"/>
          <p:cNvSpPr/>
          <p:nvPr/>
        </p:nvSpPr>
        <p:spPr>
          <a:xfrm>
            <a:off x="2468880" y="4341654"/>
            <a:ext cx="3977639"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TextBox 30"/>
          <p:cNvSpPr txBox="1"/>
          <p:nvPr/>
        </p:nvSpPr>
        <p:spPr>
          <a:xfrm>
            <a:off x="2523744" y="4528278"/>
            <a:ext cx="3867911"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One category (F_e4 excitatory neurons, one call)</a:t>
            </a:r>
          </a:p>
        </p:txBody>
      </p:sp>
      <p:sp>
        <p:nvSpPr>
          <p:cNvPr id="32" name="Rectangle 31"/>
          <p:cNvSpPr/>
          <p:nvPr/>
        </p:nvSpPr>
        <p:spPr>
          <a:xfrm>
            <a:off x="6446520" y="4341654"/>
            <a:ext cx="4663440"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p:cNvSpPr txBox="1"/>
          <p:nvPr/>
        </p:nvSpPr>
        <p:spPr>
          <a:xfrm>
            <a:off x="6501383" y="4528278"/>
            <a:ext cx="45537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2 mapped variants with inclusion scores ≈ 1.0 (chr8 locus)</a:t>
            </a:r>
          </a:p>
        </p:txBody>
      </p:sp>
      <p:sp>
        <p:nvSpPr>
          <p:cNvPr id="34" name="Rounded Rectangle 33"/>
          <p:cNvSpPr/>
          <p:nvPr/>
        </p:nvSpPr>
        <p:spPr>
          <a:xfrm>
            <a:off x="603504" y="5532120"/>
            <a:ext cx="10972800" cy="74980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1248" y="5687568"/>
            <a:ext cx="10515600" cy="22467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lang="en-US" sz="1100" b="1" i="0" dirty="0">
                <a:solidFill>
                  <a:srgbClr val="895600"/>
                </a:solidFill>
                <a:latin typeface="Arial"/>
              </a:rPr>
              <a:t>Warning</a:t>
            </a:r>
            <a:r>
              <a:rPr sz="1100" b="1" i="0" dirty="0">
                <a:solidFill>
                  <a:srgbClr val="895600"/>
                </a:solidFill>
                <a:latin typeface="Arial"/>
              </a:rPr>
              <a:t>: none of these replicate in SEA-AD. </a:t>
            </a:r>
            <a:r>
              <a:rPr lang="en-US" sz="1100" b="1" i="0" dirty="0">
                <a:solidFill>
                  <a:srgbClr val="895600"/>
                </a:solidFill>
                <a:latin typeface="Arial"/>
              </a:rPr>
              <a:t>No </a:t>
            </a:r>
            <a:r>
              <a:rPr sz="1100" b="1" i="0" dirty="0">
                <a:solidFill>
                  <a:srgbClr val="895600"/>
                </a:solidFill>
                <a:latin typeface="Arial"/>
              </a:rPr>
              <a:t>QTL</a:t>
            </a:r>
            <a:r>
              <a:rPr lang="en-US" sz="1100" b="1" i="0" dirty="0">
                <a:solidFill>
                  <a:srgbClr val="895600"/>
                </a:solidFill>
                <a:latin typeface="Arial"/>
              </a:rPr>
              <a:t> support yet</a:t>
            </a:r>
            <a:r>
              <a:rPr sz="1100" b="1" i="0" dirty="0">
                <a:solidFill>
                  <a:srgbClr val="895600"/>
                </a:solidFill>
                <a:latin typeface="Aria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Four </a:t>
            </a:r>
            <a:r>
              <a:rPr sz="2100" b="1" i="0" dirty="0">
                <a:solidFill>
                  <a:srgbClr val="0F233D"/>
                </a:solidFill>
                <a:latin typeface="Arial"/>
              </a:rPr>
              <a:t>cross-cohort </a:t>
            </a:r>
            <a:r>
              <a:rPr lang="en-US" sz="2100" b="1" i="0" dirty="0">
                <a:solidFill>
                  <a:srgbClr val="0F233D"/>
                </a:solidFill>
                <a:latin typeface="Arial"/>
              </a:rPr>
              <a:t>genes</a:t>
            </a:r>
            <a:r>
              <a:rPr sz="2100" b="1" i="0" dirty="0">
                <a:solidFill>
                  <a:srgbClr val="0F233D"/>
                </a:solidFill>
                <a:latin typeface="Arial"/>
              </a:rPr>
              <a:t>: strongest network evidence, no genetic support</a:t>
            </a:r>
          </a:p>
        </p:txBody>
      </p:sp>
      <p:sp>
        <p:nvSpPr>
          <p:cNvPr id="4" name="Rounded Rectangle 3"/>
          <p:cNvSpPr/>
          <p:nvPr/>
        </p:nvSpPr>
        <p:spPr>
          <a:xfrm>
            <a:off x="685800" y="1368990"/>
            <a:ext cx="5321808" cy="4123944"/>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0120" y="168903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6424" y="1661598"/>
            <a:ext cx="4480559"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Why these four were tested first</a:t>
            </a:r>
          </a:p>
        </p:txBody>
      </p:sp>
      <p:sp>
        <p:nvSpPr>
          <p:cNvPr id="7" name="Oval 6"/>
          <p:cNvSpPr/>
          <p:nvPr/>
        </p:nvSpPr>
        <p:spPr>
          <a:xfrm>
            <a:off x="978408" y="2347398"/>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219382"/>
            <a:ext cx="4672584" cy="4062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WDR82, HGSNAT, TTC8, and BEX3 return</a:t>
            </a:r>
            <a:r>
              <a:rPr lang="en-US" sz="1140" b="0" i="0" dirty="0">
                <a:solidFill>
                  <a:srgbClr val="1F2730"/>
                </a:solidFill>
                <a:latin typeface="Arial"/>
              </a:rPr>
              <a:t>ed</a:t>
            </a:r>
            <a:r>
              <a:rPr sz="1140" b="0" i="0" dirty="0">
                <a:solidFill>
                  <a:srgbClr val="1F2730"/>
                </a:solidFill>
                <a:latin typeface="Arial"/>
              </a:rPr>
              <a:t> in both ROSMAP and SEA-AD — and had never been genetically screened.</a:t>
            </a:r>
          </a:p>
        </p:txBody>
      </p:sp>
      <p:sp>
        <p:nvSpPr>
          <p:cNvPr id="9" name="Oval 8"/>
          <p:cNvSpPr/>
          <p:nvPr/>
        </p:nvSpPr>
        <p:spPr>
          <a:xfrm>
            <a:off x="978408" y="3090237"/>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78408" y="3876620"/>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048876"/>
            <a:ext cx="4672584" cy="2308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WDR82 and HGSNAT </a:t>
            </a:r>
            <a:r>
              <a:rPr lang="en-US" sz="1140" b="0" i="0" dirty="0">
                <a:solidFill>
                  <a:srgbClr val="1F2730"/>
                </a:solidFill>
                <a:latin typeface="Arial"/>
              </a:rPr>
              <a:t>have strong </a:t>
            </a:r>
            <a:r>
              <a:rPr sz="1140" b="0" i="0" dirty="0">
                <a:solidFill>
                  <a:srgbClr val="1F2730"/>
                </a:solidFill>
                <a:latin typeface="Arial"/>
              </a:rPr>
              <a:t>cross-cohort </a:t>
            </a:r>
            <a:r>
              <a:rPr lang="en-US" sz="1140" b="0" i="0" dirty="0">
                <a:solidFill>
                  <a:srgbClr val="1F2730"/>
                </a:solidFill>
                <a:latin typeface="Arial"/>
              </a:rPr>
              <a:t>signals</a:t>
            </a:r>
            <a:r>
              <a:rPr sz="1140" b="0" i="0" dirty="0">
                <a:solidFill>
                  <a:srgbClr val="1F2730"/>
                </a:solidFill>
                <a:latin typeface="Arial"/>
              </a:rPr>
              <a:t>.</a:t>
            </a:r>
          </a:p>
        </p:txBody>
      </p:sp>
      <p:sp>
        <p:nvSpPr>
          <p:cNvPr id="14" name="TextBox 13"/>
          <p:cNvSpPr txBox="1"/>
          <p:nvPr/>
        </p:nvSpPr>
        <p:spPr>
          <a:xfrm>
            <a:off x="1152144" y="3825623"/>
            <a:ext cx="4672584" cy="2308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All four are recurrent </a:t>
            </a:r>
            <a:r>
              <a:rPr lang="en-US" sz="1140" b="0" i="0" dirty="0">
                <a:solidFill>
                  <a:srgbClr val="1F2730"/>
                </a:solidFill>
                <a:latin typeface="Arial"/>
              </a:rPr>
              <a:t>key </a:t>
            </a:r>
            <a:r>
              <a:rPr sz="1140" b="0" i="0" dirty="0">
                <a:solidFill>
                  <a:srgbClr val="1F2730"/>
                </a:solidFill>
                <a:latin typeface="Arial"/>
              </a:rPr>
              <a:t>drivers (2–5 ROSMAP categories each).</a:t>
            </a:r>
          </a:p>
        </p:txBody>
      </p:sp>
      <p:sp>
        <p:nvSpPr>
          <p:cNvPr id="15" name="Rounded Rectangle 14"/>
          <p:cNvSpPr/>
          <p:nvPr/>
        </p:nvSpPr>
        <p:spPr>
          <a:xfrm>
            <a:off x="6428232" y="1332414"/>
            <a:ext cx="5394960" cy="416052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702552" y="1652454"/>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48856" y="1625022"/>
            <a:ext cx="45537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What the expanded screen found</a:t>
            </a:r>
          </a:p>
        </p:txBody>
      </p:sp>
      <p:sp>
        <p:nvSpPr>
          <p:cNvPr id="18" name="Oval 17"/>
          <p:cNvSpPr/>
          <p:nvPr/>
        </p:nvSpPr>
        <p:spPr>
          <a:xfrm>
            <a:off x="6720840" y="2310822"/>
            <a:ext cx="82296" cy="82296"/>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94576" y="2182806"/>
            <a:ext cx="4718304" cy="4001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dirty="0">
                <a:solidFill>
                  <a:srgbClr val="1F2730"/>
                </a:solidFill>
                <a:latin typeface="Arial"/>
              </a:rPr>
              <a:t>WDR82, HGSNAT, TTC8 — </a:t>
            </a:r>
            <a:r>
              <a:rPr lang="en-US" sz="1120" b="0" i="0" dirty="0">
                <a:solidFill>
                  <a:srgbClr val="1F2730"/>
                </a:solidFill>
                <a:latin typeface="Arial"/>
              </a:rPr>
              <a:t>assessable</a:t>
            </a:r>
            <a:r>
              <a:rPr sz="1120" b="0" i="0" dirty="0">
                <a:solidFill>
                  <a:srgbClr val="1F2730"/>
                </a:solidFill>
                <a:latin typeface="Arial"/>
              </a:rPr>
              <a:t>, and signal-negative: no genome-wide variant anywhere in their regions (best P ≈ 1e-4 to 6e-4).</a:t>
            </a:r>
          </a:p>
        </p:txBody>
      </p:sp>
      <p:sp>
        <p:nvSpPr>
          <p:cNvPr id="20" name="Oval 19"/>
          <p:cNvSpPr/>
          <p:nvPr/>
        </p:nvSpPr>
        <p:spPr>
          <a:xfrm>
            <a:off x="6720840" y="3098946"/>
            <a:ext cx="82296" cy="82296"/>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3005766"/>
            <a:ext cx="4718304" cy="8046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dirty="0">
                <a:solidFill>
                  <a:srgbClr val="1F2730"/>
                </a:solidFill>
                <a:latin typeface="Arial"/>
              </a:rPr>
              <a:t>No direct </a:t>
            </a:r>
            <a:r>
              <a:rPr sz="1120" b="0" i="0" dirty="0" err="1">
                <a:solidFill>
                  <a:srgbClr val="1F2730"/>
                </a:solidFill>
                <a:latin typeface="Arial"/>
              </a:rPr>
              <a:t>FunGen</a:t>
            </a:r>
            <a:r>
              <a:rPr sz="1120" b="0" i="0" dirty="0">
                <a:solidFill>
                  <a:srgbClr val="1F2730"/>
                </a:solidFill>
                <a:latin typeface="Arial"/>
              </a:rPr>
              <a:t> mapping for any of the three, and nothing in the CSF biomarker scans.</a:t>
            </a:r>
          </a:p>
        </p:txBody>
      </p:sp>
      <p:sp>
        <p:nvSpPr>
          <p:cNvPr id="22" name="Oval 21"/>
          <p:cNvSpPr/>
          <p:nvPr/>
        </p:nvSpPr>
        <p:spPr>
          <a:xfrm>
            <a:off x="6720840" y="3921905"/>
            <a:ext cx="82296" cy="82296"/>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94576" y="3828726"/>
            <a:ext cx="4718304" cy="4001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dirty="0">
                <a:solidFill>
                  <a:srgbClr val="1F2730"/>
                </a:solidFill>
                <a:latin typeface="Arial"/>
              </a:rPr>
              <a:t>BEX3 — not negative but </a:t>
            </a:r>
            <a:r>
              <a:rPr lang="en-US" sz="1120" b="0" i="0" dirty="0">
                <a:solidFill>
                  <a:srgbClr val="1F2730"/>
                </a:solidFill>
                <a:latin typeface="Arial"/>
              </a:rPr>
              <a:t>not assessable</a:t>
            </a:r>
            <a:r>
              <a:rPr sz="1120" b="0" i="0" dirty="0">
                <a:solidFill>
                  <a:srgbClr val="1F2730"/>
                </a:solidFill>
                <a:latin typeface="Arial"/>
              </a:rPr>
              <a:t>: it sits on the X chromosome, and the AD and CSF GWAS files cover autosomes only.</a:t>
            </a:r>
          </a:p>
        </p:txBody>
      </p:sp>
      <p:sp>
        <p:nvSpPr>
          <p:cNvPr id="24" name="Oval 23"/>
          <p:cNvSpPr/>
          <p:nvPr/>
        </p:nvSpPr>
        <p:spPr>
          <a:xfrm>
            <a:off x="6720840" y="4744866"/>
            <a:ext cx="82296" cy="82296"/>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94576" y="4651686"/>
            <a:ext cx="4718304" cy="8046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dirty="0">
                <a:solidFill>
                  <a:srgbClr val="1F2730"/>
                </a:solidFill>
                <a:latin typeface="Arial"/>
              </a:rPr>
              <a:t>“Not assessable” is not “no signal” — BEX3 needs X-aware GWAS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What is next</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4E5A68"/>
                </a:solidFill>
                <a:latin typeface="Arial"/>
              </a:rPr>
              <a:t>Four steps, in order — each one decides what enters the next.</a:t>
            </a:r>
          </a:p>
        </p:txBody>
      </p:sp>
      <p:sp>
        <p:nvSpPr>
          <p:cNvPr id="4" name="Rounded Rectangle 3"/>
          <p:cNvSpPr/>
          <p:nvPr/>
        </p:nvSpPr>
        <p:spPr>
          <a:xfrm>
            <a:off x="685800" y="1417320"/>
            <a:ext cx="10835640" cy="9326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96112" y="1691640"/>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773936"/>
            <a:ext cx="384048"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00" b="1" i="0">
                <a:solidFill>
                  <a:srgbClr val="FFFFFF"/>
                </a:solidFill>
                <a:latin typeface="Arial"/>
              </a:rPr>
              <a:t>1</a:t>
            </a:r>
          </a:p>
        </p:txBody>
      </p:sp>
      <p:sp>
        <p:nvSpPr>
          <p:cNvPr id="7" name="TextBox 6"/>
          <p:cNvSpPr txBox="1"/>
          <p:nvPr/>
        </p:nvSpPr>
        <p:spPr>
          <a:xfrm>
            <a:off x="1481328" y="1527048"/>
            <a:ext cx="3017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350" b="1" i="0">
                <a:solidFill>
                  <a:srgbClr val="0F233D"/>
                </a:solidFill>
                <a:latin typeface="Arial"/>
              </a:rPr>
              <a:t>Run gene-level tests</a:t>
            </a:r>
          </a:p>
        </p:txBody>
      </p:sp>
      <p:sp>
        <p:nvSpPr>
          <p:cNvPr id="8" name="TextBox 7"/>
          <p:cNvSpPr txBox="1"/>
          <p:nvPr/>
        </p:nvSpPr>
        <p:spPr>
          <a:xfrm>
            <a:off x="4617720" y="1527048"/>
            <a:ext cx="4160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4E5A68"/>
                </a:solidFill>
                <a:latin typeface="Arial"/>
              </a:rPr>
              <a:t>One score per gene instead of per region — cleans up windows that only borrow a famous neighbor's signal.</a:t>
            </a:r>
          </a:p>
        </p:txBody>
      </p:sp>
      <p:sp>
        <p:nvSpPr>
          <p:cNvPr id="9" name="TextBox 8"/>
          <p:cNvSpPr txBox="1"/>
          <p:nvPr/>
        </p:nvSpPr>
        <p:spPr>
          <a:xfrm>
            <a:off x="9006840" y="1563624"/>
            <a:ext cx="23317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19" b="1" i="0">
                <a:solidFill>
                  <a:srgbClr val="0072B2"/>
                </a:solidFill>
                <a:latin typeface="Arial"/>
              </a:rPr>
              <a:t>FIRST UP</a:t>
            </a:r>
          </a:p>
        </p:txBody>
      </p:sp>
      <p:sp>
        <p:nvSpPr>
          <p:cNvPr id="10" name="TextBox 9"/>
          <p:cNvSpPr txBox="1"/>
          <p:nvPr/>
        </p:nvSpPr>
        <p:spPr>
          <a:xfrm>
            <a:off x="9006840" y="1783080"/>
            <a:ext cx="237744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80" b="1" i="0">
                <a:solidFill>
                  <a:srgbClr val="0F233D"/>
                </a:solidFill>
                <a:latin typeface="Arial"/>
              </a:rPr>
              <a:t>All 433 drivers</a:t>
            </a:r>
          </a:p>
        </p:txBody>
      </p:sp>
      <p:sp>
        <p:nvSpPr>
          <p:cNvPr id="11" name="Rounded Rectangle 10"/>
          <p:cNvSpPr/>
          <p:nvPr/>
        </p:nvSpPr>
        <p:spPr>
          <a:xfrm>
            <a:off x="685800" y="2478024"/>
            <a:ext cx="10835640" cy="9326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96112" y="2752344"/>
            <a:ext cx="384048" cy="384048"/>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2834640"/>
            <a:ext cx="384048"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00" b="1" i="0">
                <a:solidFill>
                  <a:srgbClr val="FFFFFF"/>
                </a:solidFill>
                <a:latin typeface="Arial"/>
              </a:rPr>
              <a:t>2</a:t>
            </a:r>
          </a:p>
        </p:txBody>
      </p:sp>
      <p:sp>
        <p:nvSpPr>
          <p:cNvPr id="14" name="TextBox 13"/>
          <p:cNvSpPr txBox="1"/>
          <p:nvPr/>
        </p:nvSpPr>
        <p:spPr>
          <a:xfrm>
            <a:off x="1481328" y="2587752"/>
            <a:ext cx="3017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350" b="1" i="0" dirty="0">
                <a:solidFill>
                  <a:srgbClr val="0F233D"/>
                </a:solidFill>
                <a:latin typeface="Arial"/>
              </a:rPr>
              <a:t>Check brain activity links</a:t>
            </a:r>
          </a:p>
        </p:txBody>
      </p:sp>
      <p:sp>
        <p:nvSpPr>
          <p:cNvPr id="15" name="TextBox 14"/>
          <p:cNvSpPr txBox="1"/>
          <p:nvPr/>
        </p:nvSpPr>
        <p:spPr>
          <a:xfrm>
            <a:off x="4617720" y="2762690"/>
            <a:ext cx="4160520" cy="3816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dirty="0">
                <a:solidFill>
                  <a:srgbClr val="4E5A68"/>
                </a:solidFill>
                <a:latin typeface="Arial"/>
              </a:rPr>
              <a:t>Does nearby DNA change the gene's activity in brain cells? Brain QTL </a:t>
            </a:r>
            <a:r>
              <a:rPr lang="en-US" sz="1060" b="0" i="0" dirty="0">
                <a:solidFill>
                  <a:srgbClr val="4E5A68"/>
                </a:solidFill>
                <a:latin typeface="Arial"/>
              </a:rPr>
              <a:t>might be able to </a:t>
            </a:r>
            <a:r>
              <a:rPr sz="1060" b="0" i="0" dirty="0">
                <a:solidFill>
                  <a:srgbClr val="4E5A68"/>
                </a:solidFill>
                <a:latin typeface="Arial"/>
              </a:rPr>
              <a:t>answer.</a:t>
            </a:r>
          </a:p>
        </p:txBody>
      </p:sp>
      <p:sp>
        <p:nvSpPr>
          <p:cNvPr id="16" name="TextBox 15"/>
          <p:cNvSpPr txBox="1"/>
          <p:nvPr/>
        </p:nvSpPr>
        <p:spPr>
          <a:xfrm>
            <a:off x="9006840" y="2624328"/>
            <a:ext cx="23317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19" b="1" i="0">
                <a:solidFill>
                  <a:srgbClr val="00684D"/>
                </a:solidFill>
                <a:latin typeface="Arial"/>
              </a:rPr>
              <a:t>FIRST UP</a:t>
            </a:r>
          </a:p>
        </p:txBody>
      </p:sp>
      <p:sp>
        <p:nvSpPr>
          <p:cNvPr id="17" name="TextBox 16"/>
          <p:cNvSpPr txBox="1"/>
          <p:nvPr/>
        </p:nvSpPr>
        <p:spPr>
          <a:xfrm>
            <a:off x="9006840" y="2843784"/>
            <a:ext cx="237744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80" b="1" i="0">
                <a:solidFill>
                  <a:srgbClr val="0F233D"/>
                </a:solidFill>
                <a:latin typeface="Arial"/>
              </a:rPr>
              <a:t>PLCG2, ZNF652, HSPA1A, MAP1LC3B</a:t>
            </a:r>
          </a:p>
        </p:txBody>
      </p:sp>
      <p:sp>
        <p:nvSpPr>
          <p:cNvPr id="18" name="Rounded Rectangle 17"/>
          <p:cNvSpPr/>
          <p:nvPr/>
        </p:nvSpPr>
        <p:spPr>
          <a:xfrm>
            <a:off x="685800" y="3538728"/>
            <a:ext cx="10835640" cy="9326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96112" y="3813048"/>
            <a:ext cx="384048" cy="384048"/>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3895344"/>
            <a:ext cx="384048"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00" b="1" i="0">
                <a:solidFill>
                  <a:srgbClr val="FFFFFF"/>
                </a:solidFill>
                <a:latin typeface="Arial"/>
              </a:rPr>
              <a:t>3</a:t>
            </a:r>
          </a:p>
        </p:txBody>
      </p:sp>
      <p:sp>
        <p:nvSpPr>
          <p:cNvPr id="21" name="TextBox 20"/>
          <p:cNvSpPr txBox="1"/>
          <p:nvPr/>
        </p:nvSpPr>
        <p:spPr>
          <a:xfrm>
            <a:off x="1481328" y="3648456"/>
            <a:ext cx="3017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350" b="1" i="0">
                <a:solidFill>
                  <a:srgbClr val="0F233D"/>
                </a:solidFill>
                <a:latin typeface="Arial"/>
              </a:rPr>
              <a:t>Run the same-variant test</a:t>
            </a:r>
          </a:p>
        </p:txBody>
      </p:sp>
      <p:sp>
        <p:nvSpPr>
          <p:cNvPr id="22" name="TextBox 21"/>
          <p:cNvSpPr txBox="1"/>
          <p:nvPr/>
        </p:nvSpPr>
        <p:spPr>
          <a:xfrm>
            <a:off x="4617720" y="3823394"/>
            <a:ext cx="4160520" cy="3816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1060" b="0" i="0" dirty="0">
                <a:solidFill>
                  <a:srgbClr val="4E5A68"/>
                </a:solidFill>
                <a:latin typeface="Arial"/>
              </a:rPr>
              <a:t>Do </a:t>
            </a:r>
            <a:r>
              <a:rPr sz="1060" b="0" i="0" dirty="0">
                <a:solidFill>
                  <a:srgbClr val="4E5A68"/>
                </a:solidFill>
                <a:latin typeface="Arial"/>
              </a:rPr>
              <a:t>the disease signal and the gene-activity signal point to one DNA variant? Needs complete public model data.</a:t>
            </a:r>
          </a:p>
        </p:txBody>
      </p:sp>
      <p:sp>
        <p:nvSpPr>
          <p:cNvPr id="23" name="TextBox 22"/>
          <p:cNvSpPr txBox="1"/>
          <p:nvPr/>
        </p:nvSpPr>
        <p:spPr>
          <a:xfrm>
            <a:off x="9006840" y="3685032"/>
            <a:ext cx="23317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19" b="1" i="0">
                <a:solidFill>
                  <a:srgbClr val="895600"/>
                </a:solidFill>
                <a:latin typeface="Arial"/>
              </a:rPr>
              <a:t>FIRST UP</a:t>
            </a:r>
          </a:p>
        </p:txBody>
      </p:sp>
      <p:sp>
        <p:nvSpPr>
          <p:cNvPr id="24" name="TextBox 23"/>
          <p:cNvSpPr txBox="1"/>
          <p:nvPr/>
        </p:nvSpPr>
        <p:spPr>
          <a:xfrm>
            <a:off x="9006840" y="3904488"/>
            <a:ext cx="237744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80" b="1" i="0">
                <a:solidFill>
                  <a:srgbClr val="0F233D"/>
                </a:solidFill>
                <a:latin typeface="Arial"/>
              </a:rPr>
              <a:t>APOE, RPS15</a:t>
            </a:r>
          </a:p>
        </p:txBody>
      </p:sp>
      <p:sp>
        <p:nvSpPr>
          <p:cNvPr id="25" name="Rounded Rectangle 24"/>
          <p:cNvSpPr/>
          <p:nvPr/>
        </p:nvSpPr>
        <p:spPr>
          <a:xfrm>
            <a:off x="685800" y="4599431"/>
            <a:ext cx="10835640" cy="9326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96112" y="4873751"/>
            <a:ext cx="384048" cy="384048"/>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4956047"/>
            <a:ext cx="384048"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00" b="1" i="0">
                <a:solidFill>
                  <a:srgbClr val="FFFFFF"/>
                </a:solidFill>
                <a:latin typeface="Arial"/>
              </a:rPr>
              <a:t>4</a:t>
            </a:r>
          </a:p>
        </p:txBody>
      </p:sp>
      <p:sp>
        <p:nvSpPr>
          <p:cNvPr id="28" name="TextBox 27"/>
          <p:cNvSpPr txBox="1"/>
          <p:nvPr/>
        </p:nvSpPr>
        <p:spPr>
          <a:xfrm>
            <a:off x="1481328" y="4709159"/>
            <a:ext cx="3017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350" b="1" i="0">
                <a:solidFill>
                  <a:srgbClr val="0F233D"/>
                </a:solidFill>
                <a:latin typeface="Arial"/>
              </a:rPr>
              <a:t>Switch designs where common variants cannot answer</a:t>
            </a:r>
          </a:p>
        </p:txBody>
      </p:sp>
      <p:sp>
        <p:nvSpPr>
          <p:cNvPr id="29" name="TextBox 28"/>
          <p:cNvSpPr txBox="1"/>
          <p:nvPr/>
        </p:nvSpPr>
        <p:spPr>
          <a:xfrm>
            <a:off x="4617720" y="4709159"/>
            <a:ext cx="4160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4E5A68"/>
                </a:solidFill>
                <a:latin typeface="Arial"/>
              </a:rPr>
              <a:t>Rare variants, protein levels, and sex/APOE interactions — plus X-chromosome data for BEX3.</a:t>
            </a:r>
          </a:p>
        </p:txBody>
      </p:sp>
      <p:sp>
        <p:nvSpPr>
          <p:cNvPr id="30" name="TextBox 29"/>
          <p:cNvSpPr txBox="1"/>
          <p:nvPr/>
        </p:nvSpPr>
        <p:spPr>
          <a:xfrm>
            <a:off x="9006840" y="4745736"/>
            <a:ext cx="23317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19" b="1" i="0">
                <a:solidFill>
                  <a:srgbClr val="9E3A00"/>
                </a:solidFill>
                <a:latin typeface="Arial"/>
              </a:rPr>
              <a:t>FIRST UP</a:t>
            </a:r>
          </a:p>
        </p:txBody>
      </p:sp>
      <p:sp>
        <p:nvSpPr>
          <p:cNvPr id="31" name="TextBox 30"/>
          <p:cNvSpPr txBox="1"/>
          <p:nvPr/>
        </p:nvSpPr>
        <p:spPr>
          <a:xfrm>
            <a:off x="9006840" y="4965192"/>
            <a:ext cx="237744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80" b="1" i="0">
                <a:solidFill>
                  <a:srgbClr val="0F233D"/>
                </a:solidFill>
                <a:latin typeface="Arial"/>
              </a:rPr>
              <a:t>WDR82, HGSNAT, TTC8, BEX3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4770</Words>
  <Application>Microsoft Macintosh PowerPoint</Application>
  <PresentationFormat>Widescreen</PresentationFormat>
  <Paragraphs>347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genetic support for the key drivers</dc:title>
  <dc:subject>Public-data genetic evidence for the key drivers from the network key-driver (KDA) analysis</dc:subject>
  <dc:creator>Alzheimer project analysis team</dc:creator>
  <cp:keywords/>
  <dc:description>generated using python-pptx</dc:description>
  <cp:lastModifiedBy>Richard Zhuang</cp:lastModifiedBy>
  <cp:revision>35</cp:revision>
  <dcterms:created xsi:type="dcterms:W3CDTF">2026-08-29T21:59:13Z</dcterms:created>
  <dcterms:modified xsi:type="dcterms:W3CDTF">2026-08-30T03:07:47Z</dcterms:modified>
  <cp:category/>
  <dc:language>en-US</dc:language>
</cp:coreProperties>
</file>