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416" r:id="rId3"/>
    <p:sldId id="418" r:id="rId4"/>
    <p:sldId id="261" r:id="rId5"/>
    <p:sldId id="262" r:id="rId6"/>
    <p:sldId id="263" r:id="rId7"/>
    <p:sldId id="258" r:id="rId8"/>
    <p:sldId id="271" r:id="rId9"/>
    <p:sldId id="419" r:id="rId10"/>
    <p:sldId id="257" r:id="rId11"/>
    <p:sldId id="259" r:id="rId12"/>
    <p:sldId id="260" r:id="rId13"/>
    <p:sldId id="420" r:id="rId14"/>
    <p:sldId id="264" r:id="rId15"/>
    <p:sldId id="266" r:id="rId16"/>
    <p:sldId id="267" r:id="rId17"/>
    <p:sldId id="268" r:id="rId18"/>
    <p:sldId id="269" r:id="rId19"/>
    <p:sldId id="270"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9" r:id="rId37"/>
    <p:sldId id="290" r:id="rId38"/>
    <p:sldId id="421" r:id="rId39"/>
    <p:sldId id="422" r:id="rId40"/>
    <p:sldId id="423" r:id="rId41"/>
    <p:sldId id="427" r:id="rId42"/>
    <p:sldId id="428" r:id="rId43"/>
    <p:sldId id="429" r:id="rId44"/>
    <p:sldId id="297" r:id="rId45"/>
    <p:sldId id="430" r:id="rId46"/>
    <p:sldId id="431" r:id="rId47"/>
    <p:sldId id="432" r:id="rId48"/>
    <p:sldId id="43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75"/>
    <p:restoredTop sz="93499"/>
  </p:normalViewPr>
  <p:slideViewPr>
    <p:cSldViewPr snapToGrid="0" snapToObjects="1">
      <p:cViewPr varScale="1">
        <p:scale>
          <a:sx n="117" d="100"/>
          <a:sy n="117" d="100"/>
        </p:scale>
        <p:origin x="10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study moves from cell-level gene expression to candidate prioritization and validation.</a:t>
            </a:r>
          </a:p>
          <a:p>
            <a:endParaRPr/>
          </a:p>
          <a:p>
            <a:r>
              <a:t>Walk through: First, DEG analysis identifies genes with higher or lower RNA abundance in Alzheimer’s disease within each fine-cell, sex, and APOE comparison. Second, pathway analysis summarizes the mitochondrial processes represented among those DEGs. Third, key driver analysis, abbreviated KDA, uses gene networks to nominate genes connected to the MitoCarta MT DEGs.</a:t>
            </a:r>
          </a:p>
          <a:p>
            <a:endParaRPr/>
          </a:p>
          <a:p>
            <a:r>
              <a:t>Fourth, genetic support evaluates candidate genes using Alzheimer’s genetic-association and gene-regulation evidence. This provides gene-level support. It does not by itself validate the cell type, sex or APOE group, or network connections from the KDA calls.</a:t>
            </a:r>
          </a:p>
          <a:p>
            <a:endParaRPr/>
          </a:p>
          <a:p>
            <a:r>
              <a:t>Fifth, human validation compares the ROSMAP findings with SEA-AD and with direct broad-cell analyses. The final stage shown here is mouse validation, which would test selected candidates and mitochondrial function in targeted models.</a:t>
            </a:r>
          </a:p>
          <a:p>
            <a:endParaRPr/>
          </a:p>
          <a:p>
            <a:r>
              <a:t>Scientific boundary: DEG analysis, pathway analysis, KDA, genetic support, and human validation contribute evidence presented in this deck. Mouse validation remains a potential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the two-stage pathway analysis and summarize how many pathways had at least one significant result.</a:t>
            </a:r>
          </a:p>
          <a:p>
            <a:r>
              <a:rPr lang="en-US" dirty="0"/>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r>
              <a:rPr lang="en-US" dirty="0"/>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r>
              <a:rPr lang="en-US" dirty="0"/>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Show whether SEA-AD excitatory-neuron genes returned from KDA calls recur across the six sex/APOE categories.</a:t>
            </a:r>
          </a:p>
          <a:p>
            <a:r>
              <a:rPr lang="en-US" dirty="0"/>
              <a:t>Walk through: Rows are the three female groups followed by the three male groups. Columns contain all 27 distinct non-MitoCarta genes returned from KDA calls in the excitatory-neuron broad cell type. A colored tile means that the gene appears in that category. Its color gives the total number of categories containing that gene. No gene appears in more than one sex/APOE category.</a:t>
            </a:r>
          </a:p>
          <a:p>
            <a:r>
              <a:rPr lang="en-US" dirty="0"/>
              <a:t>Scientific boundary: Category recurrence is a descriptive summary of returned KDA results. It is not an effect size, an independent replication count, or a sex-by-APOE interaction test.</a:t>
            </a:r>
          </a:p>
          <a:p>
            <a:r>
              <a:rPr lang="en-US" dirty="0"/>
              <a:t>Transition: Move to Part 6, which tests selected findings at direct broad-cell resolution.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purpose and methods of direct broad-cell validation.</a:t>
            </a:r>
          </a:p>
          <a:p>
            <a:endParaRPr/>
          </a:p>
          <a:p>
            <a:r>
              <a:t>Walk through: Part 6 checks selected pathway findings at direct broad-cell resolution. It first distinguishes this analysis from the primary fine-cell workflow. It then explains how donor-level broad-cell expression profiles are compared, how genes are ranked, and how weighted gene set enrichment analysis produces the enrichment score and the normalized enrichment score. These definitions prepare the audience to interpret direct broad-cell results in later findings.</a:t>
            </a:r>
          </a:p>
          <a:p>
            <a:endParaRPr/>
          </a:p>
          <a:p>
            <a:r>
              <a:t>Scientific boundary: Direct broad-cell analysis provides supporting evidence. Combining fine cell types can hide a result confined to one fine cell type or can make the result sensitive to differences in fine-cell composition.</a:t>
            </a:r>
          </a:p>
          <a:p>
            <a:endParaRPr/>
          </a:p>
          <a:p>
            <a:r>
              <a:t>Transition: Compare the fine-cell and direct broad-cell workflows side by side.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two workflows without implying that donor-level aggregation is unique to direct broad-cell analysis.</a:t>
            </a:r>
          </a:p>
          <a:p>
            <a:endParaRPr/>
          </a:p>
          <a:p>
            <a:r>
              <a:t>Walk through: Fine-cell analysis produces one donor-level expression profile for each fine cell type. It tests each fine cell type separately and summarizes the resulting evidence by broad cell class afterward. Direct broad-cell analysis instead combines the contributing fine cell types within each donor to create one profile for the entire broad cell class before differential-expression testing. Both workflows compare donors. They differ in the cell-type resolution retained before the comparison.</a:t>
            </a:r>
          </a:p>
          <a:p>
            <a:endParaRPr/>
          </a:p>
          <a:p>
            <a:r>
              <a:t>Scientific boundary: Agreement supports a result across two resolutions. Disagreement can reflect fine-cell composition or opposing effects among fine cell types and does not by itself invalidate the fine-cell result.</a:t>
            </a:r>
          </a:p>
          <a:p>
            <a:endParaRPr/>
          </a:p>
          <a:p>
            <a:r>
              <a:t>Transition: Follow the direct broad-cell pathway workflow from donor-level expression profiles to pathway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four stages of direct broad-cell pathway validation.</a:t>
            </a:r>
          </a:p>
          <a:p>
            <a:endParaRPr/>
          </a:p>
          <a:p>
            <a:r>
              <a:t>Walk through: First, the analysis combines cells from one broad cell class within each donor. Second, it compares AD with NCI separately within each sex/APOE group and broad cell class. Third, it orders all tested MitoCarta MT genes from stronger AD-up evidence to stronger AD-down evidence. Fourth, ranked-gene pathway analysis calculates an enrichment score and then a normalized enrichment score, or NES, to summarize whether pathway genes concentrate toward the AD-up or AD-down end of the ranking.</a:t>
            </a:r>
          </a:p>
          <a:p>
            <a:endParaRPr/>
          </a:p>
          <a:p>
            <a:r>
              <a:t>Scientific boundary: This workflow ranks every tested MitoCarta MT gene rather than filtering to DEGs first. The fine-cell pathway analysis uses a different method based on overlap between a thresholded DEG list and a pathway.</a:t>
            </a:r>
          </a:p>
          <a:p>
            <a:endParaRPr/>
          </a:p>
          <a:p>
            <a:r>
              <a:t>Transition: The next slide defines the signed score used to rank the tested MitoCarta MT genes.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rank score used to order all tested MitoCarta MT genes for direct broad-cell GSEA.</a:t>
            </a:r>
          </a:p>
          <a:p>
            <a:endParaRPr/>
          </a:p>
          <a:p>
            <a:r>
              <a:t>Walk through: The analysis calculates the sign of the log fold change multiplied by the square root of the edgeR quasi-likelihood F statistic for every tested MitoCarta MT gene. The log fold change compares AD with NCI. Its sign gives direction: a positive score is AD-up and a negative score is AD-down. The F statistic supplies the score magnitude and reflects the strength of evidence for an AD-versus-NCI difference after accounting for variability. For this one-degree-of-freedom contrast, the square root of F gives a t-like scale and preserves the ordering based on F. The analysis ranks genes from the largest positive score to the most negative score. Log fold change alone is less suitable because it describes the estimated effect size without incorporating its uncertainty. A low-expression gene or a gene with high donor-to-donor variability can therefore have a large but unstable log fold change. In the illustrative example, Gene A has logFC plus 2.0 and F 0.25, so its rank score is plus 0.5. Gene B has logFC plus 0.5 and F 16, so its rank score is plus 4.0. Gene B ranks higher because the evidence for its change is stronger.</a:t>
            </a:r>
          </a:p>
          <a:p>
            <a:endParaRPr/>
          </a:p>
          <a:p>
            <a:r>
              <a:t>Scientific boundary: This is the study's ranking rule for targeted MitoCarta preranked GSEA. It ranks every tested MitoCarta MT gene and does not first filter to DEGs. GSEA does not require one universal ranking statistic. The two example genes are illustrative and are not observed study results.</a:t>
            </a:r>
          </a:p>
          <a:p>
            <a:endParaRPr/>
          </a:p>
          <a:p>
            <a:r>
              <a:t>Sources: scripts/11_run_broad_deg_pathway_analysis.R computes rank_score = sign(logFC) multiplied by the square root of F; scripts/08_run_broad_pseudobulk_de.R produces logFC and F with edgeR glmQLFTest.</a:t>
            </a:r>
          </a:p>
          <a:p>
            <a:endParaRPr/>
          </a:p>
          <a:p>
            <a:r>
              <a:t>Transition: The next slide explains what the standard weighted GSEA enrichment score means.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what the standard weighted GSEA enrichment score means for one pathway.</a:t>
            </a:r>
          </a:p>
          <a:p>
            <a:endParaRPr/>
          </a:p>
          <a:p>
            <a:r>
              <a:t>Walk through: GSEA starts at the AD-up end of the ranked MitoCarta MT gene list and moves toward the AD-down end. When it encounters a gene from the pathway, the running score increases. Pathway genes with stronger absolute rank scores have more influence because this analysis uses standard weighted GSEA. Other tested genes decrease the running score evenly. The enrichment score, abbreviated ES, is the most extreme point reached by that running score. A large positive ES means pathway genes cluster near the AD-up end. An ES near zero means the pathway genes are dispersed through the ranked list. A large negative ES means pathway genes cluster near the AD-down end.</a:t>
            </a:r>
          </a:p>
          <a:p>
            <a:endParaRPr/>
          </a:p>
          <a:p>
            <a:r>
              <a:t>Scientific boundary: The ES sign gives direction, and distance from zero describes concentration within that ranked list. The raw ES is not a fold change and does not by itself establish statistical significance. Its magnitude also depends on pathway size and the rank-score distribution, so the normalized enrichment score supports comparisons among pathways.</a:t>
            </a:r>
          </a:p>
          <a:p>
            <a:endParaRPr/>
          </a:p>
          <a:p>
            <a:r>
              <a:t>Method: The analysis uses fgseaMultilevel with scoreType set to std and gseaParam set to 1, the standard weighted GSEA enrichment score.</a:t>
            </a:r>
          </a:p>
          <a:p>
            <a:endParaRPr/>
          </a:p>
          <a:p>
            <a:r>
              <a:t>Sources: Subramanian et al., PNAS 2005, doi:10.1073/pnas.0506580102; Bioconductor fgsea documentation; scripts/lib/phase11_deg_pathway_common.R; config/phase11_pathway_deg_broad.yml.</a:t>
            </a:r>
          </a:p>
          <a:p>
            <a:endParaRPr/>
          </a:p>
          <a:p>
            <a:r>
              <a:t>Transition: The next slide explains how NES rescales the raw 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raw enrichment score from the normalized enrichment score.</a:t>
            </a:r>
          </a:p>
          <a:p>
            <a:endParaRPr/>
          </a:p>
          <a:p>
            <a:r>
              <a:t>Walk through: ES describes where one pathway's genes concentrate in the ranked list. Its sign gives the AD-up or AD-down direction, but its raw magnitude depends partly on pathway size and the distribution of rank scores. To calculate NES, the analysis compares the observed ES with ES values from random gene sets containing the same number of genes. Positive observed ES values are normalized against positive random ES values, and negative observed ES values are normalized against negative random ES values. NES therefore preserves the ES direction while making enrichment strength more comparable across pathways.</a:t>
            </a:r>
          </a:p>
          <a:p>
            <a:endParaRPr/>
          </a:p>
          <a:p>
            <a:r>
              <a:t>Scientific boundary: NES is a normalized pathway-ranking score. It is not a fold change, DEG count, or percentage. NES alone does not establish statistical significance. The adjusted P value determines whether the pathway result is significant after multiple-testing correction. Comparisons across separate cohorts or ranking procedures still require caution.</a:t>
            </a:r>
          </a:p>
          <a:p>
            <a:endParaRPr/>
          </a:p>
          <a:p>
            <a:r>
              <a:t>Sources: Bioconductor fgsea documentation; scripts/lib/phase11_deg_pathway_common.R.</a:t>
            </a:r>
          </a:p>
          <a:p>
            <a:endParaRPr/>
          </a:p>
          <a:p>
            <a:r>
              <a:t>Transition: Part 7 examines how selected analysis thresholds affect the KDA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section presents the remaining findings and explains how much weight to give each type of evidence.</a:t>
            </a:r>
          </a:p>
          <a:p>
            <a:endParaRPr/>
          </a:p>
          <a:p>
            <a:r>
              <a:t>The next five slides provide a map before the detailed findings begin. Findings 1–6 summarize DEG and pathway results. Findings 7–16 and 18 summarize genes returned from KDA calls.</a:t>
            </a:r>
          </a:p>
          <a:p>
            <a:endParaRPr/>
          </a:p>
          <a:p>
            <a:r>
              <a:t>Keep the evidence levels separate. DEG and pathway results describe gene-expression patterns, while KDA calls nominate network candidates. Human validation remains supporting evidence within the relevant findings rather than a separate finding. None of these analyses alone establishes causality or mitochondrial function.</a:t>
            </a:r>
          </a:p>
          <a:p>
            <a:endParaRPr/>
          </a:p>
          <a:p>
            <a:r>
              <a:t>Next, review how the remaining findings are organized.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remaining findings fall into two categories.</a:t>
            </a:r>
          </a:p>
          <a:p>
            <a:endParaRPr/>
          </a:p>
          <a:p>
            <a:r>
              <a:t>Findings 1–6 are the primary DEG and pathway results. They ask how mitochondrial genes and pathways change within each analyzed sex/APOE group before making KDA calls.</a:t>
            </a:r>
          </a:p>
          <a:p>
            <a:endParaRPr/>
          </a:p>
          <a:p>
            <a:r>
              <a:t>Findings 7–16 and 18 come from KDA calls made with MitoCarta MT DEGs. These calls return candidate genes that may help explain the mitochondrial changes. KDA does not show that a candidate gene causes or drives the change. That remains a hypothesis for follow-up.</a:t>
            </a:r>
          </a:p>
          <a:p>
            <a:endParaRPr/>
          </a:p>
          <a:p>
            <a:r>
              <a:t>Fifteen findings are linked to one or more analyzed sex/APOE groups. Findings 7 and 10 recur across all six groups and therefore do not distinguish a particular group. They receive lower priority in this sex/APOE-focused presentation.</a:t>
            </a:r>
          </a:p>
          <a:p>
            <a:endParaRPr/>
          </a:p>
          <a:p>
            <a:r>
              <a:t>A result found in selected groups does not by itself prove a statistical sex or APOE interaction.</a:t>
            </a:r>
          </a:p>
          <a:p>
            <a:endParaRPr/>
          </a:p>
          <a:p>
            <a:r>
              <a:t>Source: docs/analysis/kda_w_human_validation/rosmap_sex_apoe_broad_kda_analysis.md, Findings 1–16 and 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Findings 1–6 summarize DEG and pathway results. KDA calls are not involved in these findings.</a:t>
            </a:r>
          </a:p>
          <a:p>
            <a:endParaRPr/>
          </a:p>
          <a:p>
            <a:r>
              <a:t>Female ε3/ε3 shows increased core MT genes, and nuclear-encoded OXPHOS genes also mostly increase in ROSMAP. Male ε3/ε3 shows a mismatch: core MT genes increase while nuclear-encoded OXPHOS genes decrease. Female ε2 shows increases in both sets. Female ε4 shows a strong decrease in nuclear-encoded OXPHOS genes.</a:t>
            </a:r>
          </a:p>
          <a:p>
            <a:endParaRPr/>
          </a:p>
          <a:p>
            <a:r>
              <a:t>For male ε2, the two OXPHOS sets are the 13 core MT genes and the nuclear-encoded OXPHOS genes. Both sets show broad decreases. Male ε4 shows increased core MT genes with a more modest decrease in nuclear-encoded OXPHOS genes.</a:t>
            </a:r>
          </a:p>
          <a:p>
            <a:endParaRPr/>
          </a:p>
          <a:p>
            <a:r>
              <a:t>These patterns summarize DEG occurrences and pathway direction across fine cell types. They do not establish ATP production, mitochondrial performance, or a formal interaction between groups.</a:t>
            </a:r>
          </a:p>
          <a:p>
            <a:endParaRPr/>
          </a:p>
          <a:p>
            <a:r>
              <a:t>Novelty is provisional. It describes how much the specific result adds beyond prior research and is separate from evidence strength. Ratings: Findings 1, 4, and 6 are Moderate; Findings 2, 3, and 5 are High.</a:t>
            </a:r>
          </a:p>
          <a:p>
            <a:endParaRPr/>
          </a:p>
          <a:p>
            <a:r>
              <a:t>Source: docs/analysis/kda_w_human_validation/rosmap_sex_apoe_broad_kda_analysis.md, Findings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summarizes recurring genes returned from KDA calls in selected sex/APOE groups.</a:t>
            </a:r>
          </a:p>
          <a:p>
            <a:endParaRPr/>
          </a:p>
          <a:p>
            <a:r>
              <a:t>LAMTOR5 connects genes that sense nutrients at lysosomes, the cell’s recycling compartments, with OXPHOS genes. WDR82 is connected to a small set of core MT genes that are upregulated in AD in excitatory neurons.</a:t>
            </a:r>
          </a:p>
          <a:p>
            <a:endParaRPr/>
          </a:p>
          <a:p>
            <a:r>
              <a:t>SELENOW helps control oxidative stress. Its network connections include genes involved in mitochondrial respiration and protein production, as well as removal of damaged mitochondrial proteins.</a:t>
            </a:r>
          </a:p>
          <a:p>
            <a:endParaRPr/>
          </a:p>
          <a:p>
            <a:r>
              <a:t>PGK1 connects astrocyte glycolysis and low-oxygen signaling with genes involved in removing damaged mitochondria. FTL and ANKRD11 connect iron handling in oligodendrocyte precursor cells with protection from oxidative damage and recycling of damaged cell components.</a:t>
            </a:r>
          </a:p>
          <a:p>
            <a:endParaRPr/>
          </a:p>
          <a:p>
            <a:r>
              <a:t>Genes returned from KDA calls are candidates. Network connections do not prove that one gene regulates another or causes the AD-related change.</a:t>
            </a:r>
          </a:p>
          <a:p>
            <a:endParaRPr/>
          </a:p>
          <a:p>
            <a:r>
              <a:t>Novelty is provisional. It describes how much the specific result adds beyond prior research and is separate from evidence strength. Ratings: Findings 8, 9, and 13 are High; Findings 11 and 12 are Moderate.</a:t>
            </a:r>
          </a:p>
          <a:p>
            <a:endParaRPr/>
          </a:p>
          <a:p>
            <a:r>
              <a:t>Source: docs/analysis/kda_w_human_validation/rosmap_sex_apoe_broad_kda_analysis.md, Findings 8, 9, and 11–13.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genes remain useful, but each result depends on few genes, few KDA calls, or a pattern that changes across groups.</a:t>
            </a:r>
          </a:p>
          <a:p>
            <a:endParaRPr/>
          </a:p>
          <a:p>
            <a:r>
              <a:t>PLCG2 has strong Alzheimer’s disease genetic evidence, but only one MitoCarta MT gene, MT-CO1, was connected to it in the KDA result. Astrocyte APOE expression changes in opposite directions across groups, so the result is not specific to ε4.</a:t>
            </a:r>
          </a:p>
          <a:p>
            <a:endParaRPr/>
          </a:p>
          <a:p>
            <a:r>
              <a:t>A small group of genes that respond to protein damage and cellular stress appears in only two female ε4 vascular-cell KDA calls. INTS8 was returned from one male ε2 inhibitory-neuron KDA call. Human genetics supports follow-up, but INTS8 was not returned from additional KDA calls.</a:t>
            </a:r>
          </a:p>
          <a:p>
            <a:endParaRPr/>
          </a:p>
          <a:p>
            <a:r>
              <a:t>These findings remain secondary or targeted follow-up candidates. Gene-level genetic evidence does not confirm the cell type, sex/APOE context, or network connection.</a:t>
            </a:r>
          </a:p>
          <a:p>
            <a:endParaRPr/>
          </a:p>
          <a:p>
            <a:r>
              <a:t>Novelty is provisional. It describes how much the specific result adds beyond prior research and is separate from evidence strength. Ratings: Finding 14 is High; Findings 15, 16, and 18 are Moderate. Finding 14 remains a low-confidence network result despite its high novelty.</a:t>
            </a:r>
          </a:p>
          <a:p>
            <a:endParaRPr/>
          </a:p>
          <a:p>
            <a:r>
              <a:t>Source: docs/analysis/kda_w_human_validation/rosmap_sex_apoe_broad_kda_analysis.md, Findings 14–16 and 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9/22/26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9/22/26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9/22/26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9/22/26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9/22/26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9/22/26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9/22/26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263F"/>
        </a:solidFill>
        <a:effectLst/>
      </p:bgPr>
    </p:bg>
    <p:spTree>
      <p:nvGrpSpPr>
        <p:cNvPr id="1" name=""/>
        <p:cNvGrpSpPr/>
        <p:nvPr/>
      </p:nvGrpSpPr>
      <p:grpSpPr>
        <a:xfrm>
          <a:off x="0" y="0"/>
          <a:ext cx="0" cy="0"/>
          <a:chOff x="0" y="0"/>
          <a:chExt cx="0" cy="0"/>
        </a:xfrm>
      </p:grpSpPr>
      <p:sp>
        <p:nvSpPr>
          <p:cNvPr id="24" name="Part Label">
            <a:extLst>
              <a:ext uri="{FF2B5EF4-FFF2-40B4-BE49-F238E27FC236}">
                <a16:creationId xmlns:a16="http://schemas.microsoft.com/office/drawing/2014/main" id="{11B01C67-2BE9-4553-A938-6B6FFEEDFDF0}"/>
              </a:ext>
            </a:extLst>
          </p:cNvPr>
          <p:cNvSpPr>
            <a:spLocks noGrp="1"/>
          </p:cNvSpPr>
          <p:nvPr/>
        </p:nvSpPr>
        <p:spPr>
          <a:xfrm>
            <a:off x="714375" y="647700"/>
            <a:ext cx="952500" cy="190500"/>
          </a:xfrm>
          <a:prstGeom prst="rect">
            <a:avLst/>
          </a:prstGeom>
          <a:noFill/>
          <a:ln w="0">
            <a:noFill/>
          </a:ln>
        </p:spPr>
        <p:txBody>
          <a:bodyPr wrap="square" lIns="0" tIns="0" rIns="0" bIns="0" anchor="t">
            <a:normAutofit/>
          </a:bodyPr>
          <a:lstStyle/>
          <a:p>
            <a:pPr algn="l">
              <a:defRPr sz="825" b="0">
                <a:solidFill>
                  <a:srgbClr val="0087C8"/>
                </a:solidFill>
                <a:latin typeface="Arial"/>
                <a:ea typeface="Arial"/>
                <a:cs typeface="Arial"/>
              </a:defRPr>
            </a:pPr>
            <a:r>
              <a:rPr sz="825" b="0">
                <a:solidFill>
                  <a:srgbClr val="0087C8"/>
                </a:solidFill>
                <a:latin typeface="Arial"/>
                <a:ea typeface="Arial"/>
                <a:cs typeface="Arial"/>
              </a:rPr>
              <a:t>PART 1</a:t>
            </a:r>
          </a:p>
        </p:txBody>
      </p:sp>
      <p:sp>
        <p:nvSpPr>
          <p:cNvPr id="2" name="Slide Title">
            <a:extLst>
              <a:ext uri="{FF2B5EF4-FFF2-40B4-BE49-F238E27FC236}">
                <a16:creationId xmlns:a16="http://schemas.microsoft.com/office/drawing/2014/main" id="{2903A140-F0FA-4657-A65D-E6427102C17D}"/>
              </a:ext>
            </a:extLst>
          </p:cNvPr>
          <p:cNvSpPr>
            <a:spLocks noGrp="1"/>
          </p:cNvSpPr>
          <p:nvPr/>
        </p:nvSpPr>
        <p:spPr>
          <a:xfrm>
            <a:off x="714375" y="1257300"/>
            <a:ext cx="5715000" cy="552450"/>
          </a:xfrm>
          <a:prstGeom prst="rect">
            <a:avLst/>
          </a:prstGeom>
          <a:noFill/>
          <a:ln w="0">
            <a:noFill/>
          </a:ln>
        </p:spPr>
        <p:txBody>
          <a:bodyPr wrap="square" lIns="0" tIns="0" rIns="0" bIns="0" anchor="t">
            <a:normAutofit/>
          </a:bodyPr>
          <a:lstStyle/>
          <a:p>
            <a:pPr algn="l">
              <a:defRPr sz="3225" b="1">
                <a:solidFill>
                  <a:srgbClr val="FFFFFF"/>
                </a:solidFill>
                <a:latin typeface="Arial"/>
                <a:ea typeface="Arial"/>
                <a:cs typeface="Arial"/>
              </a:defRPr>
            </a:pPr>
            <a:r>
              <a:rPr sz="3225" b="1">
                <a:solidFill>
                  <a:srgbClr val="FFFFFF"/>
                </a:solidFill>
                <a:latin typeface="Arial"/>
                <a:ea typeface="Arial"/>
                <a:cs typeface="Arial"/>
              </a:rPr>
              <a:t>Overall workflow</a:t>
            </a:r>
          </a:p>
        </p:txBody>
      </p:sp>
      <p:sp>
        <p:nvSpPr>
          <p:cNvPr id="3" name="Slide Subtitle">
            <a:extLst>
              <a:ext uri="{FF2B5EF4-FFF2-40B4-BE49-F238E27FC236}">
                <a16:creationId xmlns:a16="http://schemas.microsoft.com/office/drawing/2014/main" id="{28640D70-435C-4D9E-ACAC-5083B9D097B7}"/>
              </a:ext>
            </a:extLst>
          </p:cNvPr>
          <p:cNvSpPr>
            <a:spLocks noGrp="1"/>
          </p:cNvSpPr>
          <p:nvPr/>
        </p:nvSpPr>
        <p:spPr>
          <a:xfrm>
            <a:off x="714375" y="2076450"/>
            <a:ext cx="9715500" cy="323850"/>
          </a:xfrm>
          <a:prstGeom prst="rect">
            <a:avLst/>
          </a:prstGeom>
          <a:noFill/>
          <a:ln w="0">
            <a:noFill/>
          </a:ln>
        </p:spPr>
        <p:txBody>
          <a:bodyPr wrap="square" lIns="0" tIns="0" rIns="0" bIns="0" anchor="t">
            <a:normAutofit/>
          </a:bodyPr>
          <a:lstStyle/>
          <a:p>
            <a:pPr algn="l">
              <a:defRPr sz="1500">
                <a:solidFill>
                  <a:srgbClr val="CED8E5"/>
                </a:solidFill>
                <a:latin typeface="Arial"/>
                <a:ea typeface="Arial"/>
                <a:cs typeface="Arial"/>
              </a:defRPr>
            </a:pPr>
            <a:r>
              <a:rPr sz="1500">
                <a:solidFill>
                  <a:srgbClr val="CED8E5"/>
                </a:solidFill>
                <a:latin typeface="Arial"/>
                <a:ea typeface="Arial"/>
                <a:cs typeface="Arial"/>
              </a:rPr>
              <a:t>From cell-level gene expression to candidate prioritization and validation</a:t>
            </a:r>
          </a:p>
        </p:txBody>
      </p:sp>
      <p:sp>
        <p:nvSpPr>
          <p:cNvPr id="4" name="Workflow Line">
            <a:extLst>
              <a:ext uri="{FF2B5EF4-FFF2-40B4-BE49-F238E27FC236}">
                <a16:creationId xmlns:a16="http://schemas.microsoft.com/office/drawing/2014/main" id="{3E34F6CA-8AA5-47C5-AE0A-4D5AEBB22612}"/>
              </a:ext>
            </a:extLst>
          </p:cNvPr>
          <p:cNvSpPr>
            <a:spLocks noGrp="1"/>
          </p:cNvSpPr>
          <p:nvPr/>
        </p:nvSpPr>
        <p:spPr>
          <a:xfrm>
            <a:off x="1095375" y="3228975"/>
            <a:ext cx="10001250" cy="28575"/>
          </a:xfrm>
          <a:prstGeom prst="rect">
            <a:avLst/>
          </a:prstGeom>
          <a:solidFill>
            <a:srgbClr val="72869C"/>
          </a:solidFill>
          <a:ln w="0">
            <a:noFill/>
          </a:ln>
        </p:spPr>
        <p:txBody>
          <a:bodyPr/>
          <a:lstStyle/>
          <a:p>
            <a:endParaRPr lang="en-US"/>
          </a:p>
        </p:txBody>
      </p:sp>
      <p:sp>
        <p:nvSpPr>
          <p:cNvPr id="5" name="Workflow Step 1">
            <a:extLst>
              <a:ext uri="{FF2B5EF4-FFF2-40B4-BE49-F238E27FC236}">
                <a16:creationId xmlns:a16="http://schemas.microsoft.com/office/drawing/2014/main" id="{396F4314-1CD2-4672-AAC0-A3D7FB884167}"/>
              </a:ext>
            </a:extLst>
          </p:cNvPr>
          <p:cNvSpPr>
            <a:spLocks noGrp="1"/>
          </p:cNvSpPr>
          <p:nvPr/>
        </p:nvSpPr>
        <p:spPr>
          <a:xfrm>
            <a:off x="866775" y="3009900"/>
            <a:ext cx="457200" cy="457200"/>
          </a:xfrm>
          <a:prstGeom prst="ellipse">
            <a:avLst/>
          </a:prstGeom>
          <a:solidFill>
            <a:srgbClr val="0087C8"/>
          </a:solidFill>
          <a:ln w="0">
            <a:noFill/>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6" name="Workflow Step 1 Title">
            <a:extLst>
              <a:ext uri="{FF2B5EF4-FFF2-40B4-BE49-F238E27FC236}">
                <a16:creationId xmlns:a16="http://schemas.microsoft.com/office/drawing/2014/main" id="{45BA1EA2-ECE6-4A3E-939A-79EAF98EC470}"/>
              </a:ext>
            </a:extLst>
          </p:cNvPr>
          <p:cNvSpPr>
            <a:spLocks noGrp="1"/>
          </p:cNvSpPr>
          <p:nvPr/>
        </p:nvSpPr>
        <p:spPr>
          <a:xfrm>
            <a:off x="14287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7" name="Workflow Step 1 Description">
            <a:extLst>
              <a:ext uri="{FF2B5EF4-FFF2-40B4-BE49-F238E27FC236}">
                <a16:creationId xmlns:a16="http://schemas.microsoft.com/office/drawing/2014/main" id="{05C52D86-D7B5-406D-8868-0EA8586074D1}"/>
              </a:ext>
            </a:extLst>
          </p:cNvPr>
          <p:cNvSpPr>
            <a:spLocks noGrp="1"/>
          </p:cNvSpPr>
          <p:nvPr/>
        </p:nvSpPr>
        <p:spPr>
          <a:xfrm>
            <a:off x="18097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Identify genes with higher or lower RNA abundance in AD.</a:t>
            </a:r>
          </a:p>
        </p:txBody>
      </p:sp>
      <p:sp>
        <p:nvSpPr>
          <p:cNvPr id="8" name="Workflow Step 2">
            <a:extLst>
              <a:ext uri="{FF2B5EF4-FFF2-40B4-BE49-F238E27FC236}">
                <a16:creationId xmlns:a16="http://schemas.microsoft.com/office/drawing/2014/main" id="{97C16EB0-2DF6-4CFF-9BB0-A0141C67493D}"/>
              </a:ext>
            </a:extLst>
          </p:cNvPr>
          <p:cNvSpPr>
            <a:spLocks noGrp="1"/>
          </p:cNvSpPr>
          <p:nvPr/>
        </p:nvSpPr>
        <p:spPr>
          <a:xfrm>
            <a:off x="2867025" y="3009900"/>
            <a:ext cx="457200" cy="457200"/>
          </a:xfrm>
          <a:prstGeom prst="ellipse">
            <a:avLst/>
          </a:prstGeom>
          <a:solidFill>
            <a:srgbClr val="55B5E3"/>
          </a:solidFill>
          <a:ln w="0">
            <a:noFill/>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9" name="Workflow Step 2 Title">
            <a:extLst>
              <a:ext uri="{FF2B5EF4-FFF2-40B4-BE49-F238E27FC236}">
                <a16:creationId xmlns:a16="http://schemas.microsoft.com/office/drawing/2014/main" id="{9438841E-A247-4C27-8AB3-C09E01F4999C}"/>
              </a:ext>
            </a:extLst>
          </p:cNvPr>
          <p:cNvSpPr>
            <a:spLocks noGrp="1"/>
          </p:cNvSpPr>
          <p:nvPr/>
        </p:nvSpPr>
        <p:spPr>
          <a:xfrm>
            <a:off x="214312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0" name="Workflow Step 2 Description">
            <a:extLst>
              <a:ext uri="{FF2B5EF4-FFF2-40B4-BE49-F238E27FC236}">
                <a16:creationId xmlns:a16="http://schemas.microsoft.com/office/drawing/2014/main" id="{E240C161-BCB7-4707-981F-40BC0FA81B46}"/>
              </a:ext>
            </a:extLst>
          </p:cNvPr>
          <p:cNvSpPr>
            <a:spLocks noGrp="1"/>
          </p:cNvSpPr>
          <p:nvPr/>
        </p:nvSpPr>
        <p:spPr>
          <a:xfrm>
            <a:off x="218122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Summarize mitochondrial processes represented among the DEGs.</a:t>
            </a:r>
          </a:p>
        </p:txBody>
      </p:sp>
      <p:sp>
        <p:nvSpPr>
          <p:cNvPr id="11" name="Workflow Step 3">
            <a:extLst>
              <a:ext uri="{FF2B5EF4-FFF2-40B4-BE49-F238E27FC236}">
                <a16:creationId xmlns:a16="http://schemas.microsoft.com/office/drawing/2014/main" id="{EDE93D8E-D62F-47FE-9665-437A7945CD93}"/>
              </a:ext>
            </a:extLst>
          </p:cNvPr>
          <p:cNvSpPr>
            <a:spLocks noGrp="1"/>
          </p:cNvSpPr>
          <p:nvPr/>
        </p:nvSpPr>
        <p:spPr>
          <a:xfrm>
            <a:off x="4867275" y="3009900"/>
            <a:ext cx="457200" cy="457200"/>
          </a:xfrm>
          <a:prstGeom prst="ellipse">
            <a:avLst/>
          </a:prstGeom>
          <a:solidFill>
            <a:srgbClr val="00A87E"/>
          </a:solidFill>
          <a:ln w="0">
            <a:noFill/>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2" name="Workflow Step 3 Title">
            <a:extLst>
              <a:ext uri="{FF2B5EF4-FFF2-40B4-BE49-F238E27FC236}">
                <a16:creationId xmlns:a16="http://schemas.microsoft.com/office/drawing/2014/main" id="{05489A92-F28C-49A3-93D8-18DD21C6038E}"/>
              </a:ext>
            </a:extLst>
          </p:cNvPr>
          <p:cNvSpPr>
            <a:spLocks noGrp="1"/>
          </p:cNvSpPr>
          <p:nvPr/>
        </p:nvSpPr>
        <p:spPr>
          <a:xfrm>
            <a:off x="414337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a:t>
            </a:r>
          </a:p>
          <a:p>
            <a:pPr algn="ctr">
              <a:defRPr sz="1425" b="1">
                <a:solidFill>
                  <a:srgbClr val="FFFFFF"/>
                </a:solidFill>
                <a:latin typeface="Arial"/>
                <a:ea typeface="Arial"/>
                <a:cs typeface="Arial"/>
              </a:defRPr>
            </a:pPr>
            <a:r>
              <a:rPr sz="1425" b="1">
                <a:solidFill>
                  <a:srgbClr val="FFFFFF"/>
                </a:solidFill>
                <a:latin typeface="Arial"/>
                <a:ea typeface="Arial"/>
                <a:cs typeface="Arial"/>
              </a:rPr>
              <a:t>(KDA)</a:t>
            </a:r>
          </a:p>
        </p:txBody>
      </p:sp>
      <p:sp>
        <p:nvSpPr>
          <p:cNvPr id="13" name="Workflow Step 3 Description">
            <a:extLst>
              <a:ext uri="{FF2B5EF4-FFF2-40B4-BE49-F238E27FC236}">
                <a16:creationId xmlns:a16="http://schemas.microsoft.com/office/drawing/2014/main" id="{84E3013A-644D-468E-B714-31EA5CFBBF5E}"/>
              </a:ext>
            </a:extLst>
          </p:cNvPr>
          <p:cNvSpPr>
            <a:spLocks noGrp="1"/>
          </p:cNvSpPr>
          <p:nvPr/>
        </p:nvSpPr>
        <p:spPr>
          <a:xfrm>
            <a:off x="418147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Use gene networks to nominate genes connected to MitoCarta MT DEGs.</a:t>
            </a:r>
          </a:p>
        </p:txBody>
      </p:sp>
      <p:sp>
        <p:nvSpPr>
          <p:cNvPr id="14" name="Workflow Step 4">
            <a:extLst>
              <a:ext uri="{FF2B5EF4-FFF2-40B4-BE49-F238E27FC236}">
                <a16:creationId xmlns:a16="http://schemas.microsoft.com/office/drawing/2014/main" id="{865DFC26-E58B-43CD-9304-5559645744FA}"/>
              </a:ext>
            </a:extLst>
          </p:cNvPr>
          <p:cNvSpPr>
            <a:spLocks noGrp="1"/>
          </p:cNvSpPr>
          <p:nvPr/>
        </p:nvSpPr>
        <p:spPr>
          <a:xfrm>
            <a:off x="6867525" y="3009900"/>
            <a:ext cx="457200" cy="457200"/>
          </a:xfrm>
          <a:prstGeom prst="ellipse">
            <a:avLst/>
          </a:prstGeom>
          <a:solidFill>
            <a:srgbClr val="7D4FA1"/>
          </a:solidFill>
          <a:ln w="0">
            <a:noFill/>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5" name="Workflow Step 4 Title">
            <a:extLst>
              <a:ext uri="{FF2B5EF4-FFF2-40B4-BE49-F238E27FC236}">
                <a16:creationId xmlns:a16="http://schemas.microsoft.com/office/drawing/2014/main" id="{C9DCB836-B4E6-4791-A768-4E9185A20C92}"/>
              </a:ext>
            </a:extLst>
          </p:cNvPr>
          <p:cNvSpPr>
            <a:spLocks noGrp="1"/>
          </p:cNvSpPr>
          <p:nvPr/>
        </p:nvSpPr>
        <p:spPr>
          <a:xfrm>
            <a:off x="614362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Genetic support</a:t>
            </a:r>
          </a:p>
        </p:txBody>
      </p:sp>
      <p:sp>
        <p:nvSpPr>
          <p:cNvPr id="16" name="Workflow Step 4 Description">
            <a:extLst>
              <a:ext uri="{FF2B5EF4-FFF2-40B4-BE49-F238E27FC236}">
                <a16:creationId xmlns:a16="http://schemas.microsoft.com/office/drawing/2014/main" id="{C43A0ADA-5BBB-49BB-8BCF-A5050AB55EA8}"/>
              </a:ext>
            </a:extLst>
          </p:cNvPr>
          <p:cNvSpPr>
            <a:spLocks noGrp="1"/>
          </p:cNvSpPr>
          <p:nvPr/>
        </p:nvSpPr>
        <p:spPr>
          <a:xfrm>
            <a:off x="618172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Evaluate candidate genes using Alzheimer’s genetic-association and gene-regulation evidence.</a:t>
            </a:r>
          </a:p>
        </p:txBody>
      </p:sp>
      <p:sp>
        <p:nvSpPr>
          <p:cNvPr id="17" name="Workflow Step 5">
            <a:extLst>
              <a:ext uri="{FF2B5EF4-FFF2-40B4-BE49-F238E27FC236}">
                <a16:creationId xmlns:a16="http://schemas.microsoft.com/office/drawing/2014/main" id="{07F03F7B-DCD5-46A3-B1C0-A67DDB0968BC}"/>
              </a:ext>
            </a:extLst>
          </p:cNvPr>
          <p:cNvSpPr>
            <a:spLocks noGrp="1"/>
          </p:cNvSpPr>
          <p:nvPr/>
        </p:nvSpPr>
        <p:spPr>
          <a:xfrm>
            <a:off x="8867775" y="3009900"/>
            <a:ext cx="457200" cy="457200"/>
          </a:xfrm>
          <a:prstGeom prst="ellipse">
            <a:avLst/>
          </a:prstGeom>
          <a:solidFill>
            <a:srgbClr val="F5B000"/>
          </a:solidFill>
          <a:ln w="0">
            <a:noFill/>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18" name="Workflow Step 5 Title">
            <a:extLst>
              <a:ext uri="{FF2B5EF4-FFF2-40B4-BE49-F238E27FC236}">
                <a16:creationId xmlns:a16="http://schemas.microsoft.com/office/drawing/2014/main" id="{9E2FD706-B153-4C71-8A05-9DCC1373B00D}"/>
              </a:ext>
            </a:extLst>
          </p:cNvPr>
          <p:cNvSpPr>
            <a:spLocks noGrp="1"/>
          </p:cNvSpPr>
          <p:nvPr/>
        </p:nvSpPr>
        <p:spPr>
          <a:xfrm>
            <a:off x="814387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19" name="Workflow Step 5 Description">
            <a:extLst>
              <a:ext uri="{FF2B5EF4-FFF2-40B4-BE49-F238E27FC236}">
                <a16:creationId xmlns:a16="http://schemas.microsoft.com/office/drawing/2014/main" id="{0FE57129-74A7-44F4-9DE6-EAC7783C2163}"/>
              </a:ext>
            </a:extLst>
          </p:cNvPr>
          <p:cNvSpPr>
            <a:spLocks noGrp="1"/>
          </p:cNvSpPr>
          <p:nvPr/>
        </p:nvSpPr>
        <p:spPr>
          <a:xfrm>
            <a:off x="818197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Compare ROSMAP findings with SEA-AD and direct broad-cell analyses.</a:t>
            </a:r>
          </a:p>
        </p:txBody>
      </p:sp>
      <p:sp>
        <p:nvSpPr>
          <p:cNvPr id="20" name="Workflow Step 6">
            <a:extLst>
              <a:ext uri="{FF2B5EF4-FFF2-40B4-BE49-F238E27FC236}">
                <a16:creationId xmlns:a16="http://schemas.microsoft.com/office/drawing/2014/main" id="{2123FA3E-4AB9-4098-9D53-E1D18C644D83}"/>
              </a:ext>
            </a:extLst>
          </p:cNvPr>
          <p:cNvSpPr>
            <a:spLocks noGrp="1"/>
          </p:cNvSpPr>
          <p:nvPr/>
        </p:nvSpPr>
        <p:spPr>
          <a:xfrm>
            <a:off x="10868025" y="3009900"/>
            <a:ext cx="457200" cy="457200"/>
          </a:xfrm>
          <a:prstGeom prst="ellipse">
            <a:avLst/>
          </a:prstGeom>
          <a:solidFill>
            <a:srgbClr val="11263F"/>
          </a:solidFill>
          <a:ln w="23813">
            <a:solidFill>
              <a:srgbClr val="F97300"/>
            </a:solidFill>
            <a:prstDash val="solid"/>
          </a:ln>
        </p:spPr>
        <p:txBody>
          <a:bodyPr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21" name="Workflow Step 6 Title">
            <a:extLst>
              <a:ext uri="{FF2B5EF4-FFF2-40B4-BE49-F238E27FC236}">
                <a16:creationId xmlns:a16="http://schemas.microsoft.com/office/drawing/2014/main" id="{EC5D5AEF-3571-4836-A73A-4279C1D9E2D9}"/>
              </a:ext>
            </a:extLst>
          </p:cNvPr>
          <p:cNvSpPr>
            <a:spLocks noGrp="1"/>
          </p:cNvSpPr>
          <p:nvPr/>
        </p:nvSpPr>
        <p:spPr>
          <a:xfrm>
            <a:off x="10144125" y="3819525"/>
            <a:ext cx="1905000" cy="514350"/>
          </a:xfrm>
          <a:prstGeom prst="rect">
            <a:avLst/>
          </a:prstGeom>
          <a:noFill/>
          <a:ln w="0">
            <a:noFill/>
          </a:ln>
        </p:spPr>
        <p:txBody>
          <a:bodyPr wrap="square" lIns="0" tIns="0" rIns="0" bIns="0" anchor="t">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2" name="Workflow Step 6 Description">
            <a:extLst>
              <a:ext uri="{FF2B5EF4-FFF2-40B4-BE49-F238E27FC236}">
                <a16:creationId xmlns:a16="http://schemas.microsoft.com/office/drawing/2014/main" id="{F32735DC-C925-4BB6-ACC9-1921D82CFBBC}"/>
              </a:ext>
            </a:extLst>
          </p:cNvPr>
          <p:cNvSpPr>
            <a:spLocks noGrp="1"/>
          </p:cNvSpPr>
          <p:nvPr/>
        </p:nvSpPr>
        <p:spPr>
          <a:xfrm>
            <a:off x="10182225" y="4324350"/>
            <a:ext cx="1828800" cy="800100"/>
          </a:xfrm>
          <a:prstGeom prst="rect">
            <a:avLst/>
          </a:prstGeom>
          <a:noFill/>
          <a:ln w="0">
            <a:noFill/>
          </a:ln>
        </p:spPr>
        <p:txBody>
          <a:bodyPr wrap="square" lIns="0" tIns="0" rIns="0" bIns="0" anchor="t">
            <a:normAutofit/>
          </a:bodyPr>
          <a:lstStyle/>
          <a:p>
            <a:pPr algn="ctr">
              <a:defRPr sz="1050">
                <a:solidFill>
                  <a:srgbClr val="CED8E5"/>
                </a:solidFill>
                <a:latin typeface="Arial"/>
                <a:ea typeface="Arial"/>
                <a:cs typeface="Arial"/>
              </a:defRPr>
            </a:pPr>
            <a:r>
              <a:rPr sz="1050">
                <a:solidFill>
                  <a:srgbClr val="CED8E5"/>
                </a:solidFill>
                <a:latin typeface="Arial"/>
                <a:ea typeface="Arial"/>
                <a:cs typeface="Arial"/>
              </a:rPr>
              <a:t>Test selected candidates and mitochondrial function in targeted models.</a:t>
            </a:r>
          </a:p>
        </p:txBody>
      </p:sp>
      <p:sp>
        <p:nvSpPr>
          <p:cNvPr id="23" name="Potential Next Step Label">
            <a:extLst>
              <a:ext uri="{FF2B5EF4-FFF2-40B4-BE49-F238E27FC236}">
                <a16:creationId xmlns:a16="http://schemas.microsoft.com/office/drawing/2014/main" id="{39DEC7EF-338B-40E8-A081-3188704906B1}"/>
              </a:ext>
            </a:extLst>
          </p:cNvPr>
          <p:cNvSpPr>
            <a:spLocks noGrp="1"/>
          </p:cNvSpPr>
          <p:nvPr/>
        </p:nvSpPr>
        <p:spPr>
          <a:xfrm>
            <a:off x="10096500" y="2676525"/>
            <a:ext cx="2000250" cy="190500"/>
          </a:xfrm>
          <a:prstGeom prst="rect">
            <a:avLst/>
          </a:prstGeom>
          <a:noFill/>
          <a:ln w="0">
            <a:noFill/>
          </a:ln>
        </p:spPr>
        <p:txBody>
          <a:bodyPr wrap="square" lIns="0" tIns="0" rIns="0" bIns="0" anchor="ctr">
            <a:normAutofit/>
          </a:bodyPr>
          <a:lstStyle/>
          <a:p>
            <a:pPr algn="ctr">
              <a:defRPr sz="900" b="1">
                <a:solidFill>
                  <a:srgbClr val="F97300"/>
                </a:solidFill>
                <a:latin typeface="Arial"/>
                <a:ea typeface="Arial"/>
                <a:cs typeface="Arial"/>
              </a:defRPr>
            </a:pPr>
            <a:r>
              <a:rPr sz="900" b="1">
                <a:solidFill>
                  <a:srgbClr val="F97300"/>
                </a:solidFill>
                <a:latin typeface="Arial"/>
                <a:ea typeface="Arial"/>
                <a:cs typeface="Arial"/>
              </a:rPr>
              <a:t>POTENTIAL NEXT STEP</a:t>
            </a:r>
          </a:p>
        </p:txBody>
      </p:sp>
    </p:spTree>
    <p:extLst>
      <p:ext uri="{BB962C8B-B14F-4D97-AF65-F5344CB8AC3E}">
        <p14:creationId xmlns:p14="http://schemas.microsoft.com/office/powerpoint/2010/main" val="1292825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 xmlns:p14="http://schemas.microsoft.com/office/powerpoint/2010/main" val="912803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dirty="0">
                <a:solidFill>
                  <a:srgbClr val="FF0000"/>
                </a:solidFill>
                <a:latin typeface="Arial"/>
                <a:ea typeface="Arial"/>
                <a:cs typeface="Arial"/>
              </a:rPr>
              <a:t>1 occurrence = 1 significant pathway gene in 1 fine-cell comparison</a:t>
            </a:r>
            <a:r>
              <a:rPr sz="1600" b="1" dirty="0">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Direct broad-cell validation</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secondary analysis tests whether fine-cell findings persist when cells are combined into broad classes.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Analysis resolution</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Broad-cell comparison</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Pathway workflow</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ES and NES calculation</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Direct broad-cell analysis is supporting evidence; fine-cell analysis remains the primary resolution.</a:t>
            </a:r>
          </a:p>
        </p:txBody>
      </p:sp>
    </p:spTree>
    <p:extLst>
      <p:ext uri="{BB962C8B-B14F-4D97-AF65-F5344CB8AC3E}">
        <p14:creationId xmlns:p14="http://schemas.microsoft.com/office/powerpoint/2010/main" val="1976639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summaries and direct broad-cell analysis answer different questions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order of aggregation and testing changes the biological resolution.</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Fine-cell primary</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Direct broad secondary</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Same AD-versus-NCI contrast</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Different resolution</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FINE-CELL ANALYSIS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Test each fine cell type</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Run AD-versus-NCI DEG analysis separately within each fine cell type, sex, and APOE group. Summarize results later by broad class.</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BROAD-CELL ANALYSIS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Combine cells before testing</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lang="en-US" sz="1220" b="0" i="0" dirty="0">
                <a:solidFill>
                  <a:srgbClr val="1F2730"/>
                </a:solidFill>
                <a:latin typeface="Arial"/>
                <a:ea typeface="Arial"/>
                <a:cs typeface="Arial"/>
              </a:rPr>
              <a:t>Within each donor, c</a:t>
            </a:r>
            <a:r>
              <a:rPr sz="1220" b="0" i="0" dirty="0">
                <a:solidFill>
                  <a:srgbClr val="1F2730"/>
                </a:solidFill>
                <a:latin typeface="Arial"/>
                <a:ea typeface="Arial"/>
                <a:cs typeface="Arial"/>
              </a:rPr>
              <a:t>ombine cells belonging to one broad class, then compare AD with NCI within one sex/APOE group.</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WHY BOTH ARE USEFUL</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Resolution check</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Agreement strengthens a finding. Disagreement means that the result depends on cell resolution.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46918"/>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301829"/>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Fine-cell analysis retains subtype localization. Direct broad-cell analysis retains donor-level structure but mixes fine cell types.</a:t>
            </a:r>
          </a:p>
        </p:txBody>
      </p:sp>
    </p:spTree>
    <p:extLst>
      <p:ext uri="{BB962C8B-B14F-4D97-AF65-F5344CB8AC3E}">
        <p14:creationId xmlns:p14="http://schemas.microsoft.com/office/powerpoint/2010/main" val="1262158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direct broad-cell pathway validation was done</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Combine cells by donor</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one broad class within each donor</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Pool cells from one broad class within each donor.</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Compare AD with NCI</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sex/APOE group × broad class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Run one differential-expression comparison for each group and broad cell class.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Rank tested MitoCarta MT genes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313356"/>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dirty="0">
                <a:solidFill>
                  <a:srgbClr val="0072B2"/>
                </a:solidFill>
                <a:latin typeface="Arial"/>
                <a:ea typeface="Arial"/>
                <a:cs typeface="Arial"/>
              </a:rPr>
              <a:t>AD-up to AD-down</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Order genes from strongest AD-up to strongest AD-down evidence.</a:t>
            </a:r>
          </a:p>
          <a:p>
            <a:pPr algn="ctr">
              <a:lnSpc>
                <a:spcPct val="100000"/>
              </a:lnSpc>
              <a:spcBef>
                <a:spcPts val="0"/>
              </a:spcBef>
              <a:spcAft>
                <a:spcPts val="0"/>
              </a:spcAft>
              <a:buNone/>
            </a:pPr>
            <a:endParaRPr sz="1130" b="0" i="0">
              <a:solidFill>
                <a:srgbClr val="4E5A68"/>
              </a:solidFill>
              <a:latin typeface="Arial"/>
              <a:ea typeface="Arial"/>
              <a:cs typeface="Arial"/>
            </a:endParaRP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Test each pathway</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ranked-gene pathway analysis</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3931258"/>
            <a:ext cx="1901952" cy="924869"/>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dirty="0">
                <a:solidFill>
                  <a:srgbClr val="4E5A68"/>
                </a:solidFill>
                <a:latin typeface="Arial"/>
                <a:ea typeface="Arial"/>
                <a:cs typeface="Arial"/>
              </a:rPr>
              <a:t>Ask whether pathway genes concentrate toward one end of the ranked list</a:t>
            </a:r>
            <a:r>
              <a:rPr lang="en-US" sz="1130" b="0" i="0" dirty="0">
                <a:solidFill>
                  <a:srgbClr val="4E5A68"/>
                </a:solidFill>
                <a:latin typeface="Arial"/>
                <a:ea typeface="Arial"/>
                <a:cs typeface="Arial"/>
              </a:rPr>
              <a:t> using normalized enrichment score (NES)</a:t>
            </a:r>
            <a:endParaRPr sz="1130" b="0" i="0" dirty="0">
              <a:solidFill>
                <a:srgbClr val="4E5A68"/>
              </a:solidFill>
              <a:latin typeface="Arial"/>
              <a:ea typeface="Arial"/>
              <a:cs typeface="Arial"/>
            </a:endParaRPr>
          </a:p>
        </p:txBody>
      </p:sp>
    </p:spTree>
    <p:extLst>
      <p:ext uri="{BB962C8B-B14F-4D97-AF65-F5344CB8AC3E}">
        <p14:creationId xmlns:p14="http://schemas.microsoft.com/office/powerpoint/2010/main" val="249508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lang="en-US" sz="2200" b="1" i="0" dirty="0">
                <a:solidFill>
                  <a:srgbClr val="0F233D"/>
                </a:solidFill>
                <a:latin typeface="Arial"/>
                <a:ea typeface="Arial"/>
                <a:cs typeface="Arial"/>
              </a:rPr>
              <a:t>R</a:t>
            </a:r>
            <a:r>
              <a:rPr sz="2200" b="1" i="0" dirty="0">
                <a:solidFill>
                  <a:srgbClr val="0F233D"/>
                </a:solidFill>
                <a:latin typeface="Arial"/>
                <a:ea typeface="Arial"/>
                <a:cs typeface="Arial"/>
              </a:rPr>
              <a:t>ank score for direct broad-cell GSEA</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146818"/>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Every tested </a:t>
            </a:r>
            <a:r>
              <a:rPr sz="1400" b="1" i="0" dirty="0" err="1">
                <a:latin typeface="Arial"/>
                <a:ea typeface="Arial"/>
                <a:cs typeface="Arial"/>
              </a:rPr>
              <a:t>MitoCarta</a:t>
            </a:r>
            <a:r>
              <a:rPr sz="1400" b="1" i="0" dirty="0">
                <a:latin typeface="Arial"/>
                <a:ea typeface="Arial"/>
                <a:cs typeface="Arial"/>
              </a:rPr>
              <a:t> MT gene receives a signed score before pathway testing.</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STUDY RANKING RULE</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dirty="0">
                <a:solidFill>
                  <a:srgbClr val="0F233D"/>
                </a:solidFill>
                <a:latin typeface="Arial"/>
                <a:ea typeface="Arial"/>
                <a:cs typeface="Arial"/>
              </a:rPr>
              <a:t>rank score = </a:t>
            </a:r>
            <a:endParaRPr lang="en-US" sz="1900" b="1" i="0" dirty="0">
              <a:solidFill>
                <a:srgbClr val="0F233D"/>
              </a:solidFill>
              <a:latin typeface="Arial"/>
              <a:ea typeface="Arial"/>
              <a:cs typeface="Arial"/>
            </a:endParaRPr>
          </a:p>
          <a:p>
            <a:pPr algn="ctr">
              <a:lnSpc>
                <a:spcPct val="100000"/>
              </a:lnSpc>
              <a:spcBef>
                <a:spcPts val="0"/>
              </a:spcBef>
              <a:spcAft>
                <a:spcPts val="0"/>
              </a:spcAft>
              <a:buNone/>
            </a:pPr>
            <a:r>
              <a:rPr sz="1900" b="1" i="0" dirty="0">
                <a:solidFill>
                  <a:srgbClr val="0F233D"/>
                </a:solidFill>
                <a:latin typeface="Arial"/>
                <a:ea typeface="Arial"/>
                <a:cs typeface="Arial"/>
              </a:rPr>
              <a:t>sign(</a:t>
            </a:r>
            <a:r>
              <a:rPr sz="1900" b="1" i="0" dirty="0" err="1">
                <a:solidFill>
                  <a:srgbClr val="0F233D"/>
                </a:solidFill>
                <a:latin typeface="Arial"/>
                <a:ea typeface="Arial"/>
                <a:cs typeface="Arial"/>
              </a:rPr>
              <a:t>logFC</a:t>
            </a:r>
            <a:r>
              <a:rPr sz="1900" b="1" i="0" dirty="0">
                <a:solidFill>
                  <a:srgbClr val="0F233D"/>
                </a:solidFill>
                <a:latin typeface="Arial"/>
                <a:ea typeface="Arial"/>
                <a:cs typeface="Arial"/>
              </a:rPr>
              <a:t>) × √F</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err="1">
                <a:solidFill>
                  <a:srgbClr val="1F2730"/>
                </a:solidFill>
                <a:latin typeface="Arial"/>
                <a:ea typeface="Arial"/>
                <a:cs typeface="Arial"/>
              </a:rPr>
              <a:t>logFC</a:t>
            </a:r>
            <a:r>
              <a:rPr sz="1220" b="0" i="0" dirty="0">
                <a:solidFill>
                  <a:srgbClr val="1F2730"/>
                </a:solidFill>
                <a:latin typeface="Arial"/>
                <a:ea typeface="Arial"/>
                <a:cs typeface="Arial"/>
              </a:rPr>
              <a:t> is AD versus NCI. Its sign sets the direction. √F sets the score magnitude.</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WHY USE √F?</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 measures statistical evidence</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 comes from the edgeR quasi-likelihood test. For this one-degree-of-freedom contrast, √F gives a t-like scale and preserves the ordering set by F.</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WHY NOT logFC ALONE?</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Large estimates can be noisy</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40" b="0" i="0">
                <a:solidFill>
                  <a:srgbClr val="1F2730"/>
                </a:solidFill>
                <a:latin typeface="Arial"/>
                <a:ea typeface="Arial"/>
                <a:cs typeface="Arial"/>
              </a:rPr>
              <a:t>Gene A: logFC +2.0, F = 0.25, score +0.5. Gene B: logFC +0.5, F = 16, score +4.0. Stronger statistical support places Gene B higher.</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0278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This is the study's ranking rule for targeted MitoCarta GSEA. GSEA does not require one universal ranking formula.</a:t>
            </a:r>
          </a:p>
        </p:txBody>
      </p:sp>
    </p:spTree>
    <p:extLst>
      <p:ext uri="{BB962C8B-B14F-4D97-AF65-F5344CB8AC3E}">
        <p14:creationId xmlns:p14="http://schemas.microsoft.com/office/powerpoint/2010/main" val="1262158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lang="en-US" sz="2200" b="1" i="0" dirty="0">
                <a:solidFill>
                  <a:srgbClr val="0F233D"/>
                </a:solidFill>
                <a:latin typeface="Arial"/>
                <a:ea typeface="Arial"/>
                <a:cs typeface="Arial"/>
              </a:rPr>
              <a:t>Standard weighted GSEA enrichment score for pathway</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08467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ES indicates where one pathway's genes concentrate in the ranked gene list.</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LARGE POSITIVE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dirty="0">
                <a:solidFill>
                  <a:srgbClr val="0F233D"/>
                </a:solidFill>
                <a:latin typeface="Arial"/>
                <a:ea typeface="Arial"/>
                <a:cs typeface="Arial"/>
              </a:rPr>
              <a:t>Pathway genes cluster near the AD-up end</a:t>
            </a:r>
            <a:endParaRPr lang="en-US" sz="1900" b="1" i="0" dirty="0">
              <a:solidFill>
                <a:srgbClr val="0F233D"/>
              </a:solidFill>
              <a:latin typeface="Arial"/>
              <a:ea typeface="Arial"/>
              <a:cs typeface="Arial"/>
            </a:endParaRP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err="1">
                <a:solidFill>
                  <a:srgbClr val="1F2730"/>
                </a:solidFill>
                <a:latin typeface="Arial"/>
                <a:ea typeface="Arial"/>
                <a:cs typeface="Arial"/>
              </a:rPr>
              <a:t>A larger positive value means stronger concentration near the top of the ranked list.</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ES NEAR ZERO</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clear concentration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Pathway genes are spread through the ranked list instead of accumulating at either end.</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LARGE NEGATIVE ES</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Pathway genes cluster near the AD-down end</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40" b="0" i="0">
                <a:solidFill>
                  <a:srgbClr val="1F2730"/>
                </a:solidFill>
                <a:latin typeface="Arial"/>
                <a:ea typeface="Arial"/>
                <a:cs typeface="Arial"/>
              </a:rPr>
              <a:t>A more negative value means stronger concentration near the bottom of the ranked list.</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0278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This is the standard weighted GSEA ES. The sign gives direction. Values farther from zero mean stronger concentration, not statistical significance.</a:t>
            </a:r>
          </a:p>
        </p:txBody>
      </p:sp>
    </p:spTree>
    <p:extLst>
      <p:ext uri="{BB962C8B-B14F-4D97-AF65-F5344CB8AC3E}">
        <p14:creationId xmlns:p14="http://schemas.microsoft.com/office/powerpoint/2010/main" val="12621582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lang="en-US" sz="2200" b="1" i="0" dirty="0">
                <a:solidFill>
                  <a:srgbClr val="0F233D"/>
                </a:solidFill>
                <a:latin typeface="Arial"/>
                <a:ea typeface="Arial"/>
                <a:cs typeface="Arial"/>
              </a:rPr>
              <a:t>How NES differs from ES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08467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NES rescales the raw ES against random gene sets of the same size.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RAW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dirty="0">
                <a:solidFill>
                  <a:srgbClr val="0F233D"/>
                </a:solidFill>
                <a:latin typeface="Arial"/>
                <a:ea typeface="Arial"/>
                <a:cs typeface="Arial"/>
              </a:rPr>
              <a:t>Observed pathway concentration</a:t>
            </a:r>
            <a:endParaRPr lang="en-US" sz="1900" b="1" i="0" dirty="0">
              <a:solidFill>
                <a:srgbClr val="0F233D"/>
              </a:solidFill>
              <a:latin typeface="Arial"/>
              <a:ea typeface="Arial"/>
              <a:cs typeface="Arial"/>
            </a:endParaRP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err="1">
                <a:solidFill>
                  <a:srgbClr val="1F2730"/>
                </a:solidFill>
                <a:latin typeface="Arial"/>
                <a:ea typeface="Arial"/>
                <a:cs typeface="Arial"/>
              </a:rPr>
              <a:t>ES shows where the pathway genes cluster. Its sign gives the AD-up or AD-down direction.</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NORMALIZATION</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Compare with same-size random gene sets</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Calculate ES for random gene sets with the same number of genes. Use random ES values in the same direction.</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NES</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Normalized enrichment strength</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40" b="0" i="0">
                <a:solidFill>
                  <a:srgbClr val="1F2730"/>
                </a:solidFill>
                <a:latin typeface="Arial"/>
                <a:ea typeface="Arial"/>
                <a:cs typeface="Arial"/>
              </a:rPr>
              <a:t>Divide the observed ES by the expected same-direction ES magnitude. NES keeps the ES sign and supports comparisons across pathways.</a:t>
            </a:r>
          </a:p>
        </p:txBody>
      </p:sp>
    </p:spTree>
    <p:extLst>
      <p:ext uri="{BB962C8B-B14F-4D97-AF65-F5344CB8AC3E}">
        <p14:creationId xmlns:p14="http://schemas.microsoft.com/office/powerpoint/2010/main" val="1262158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8</a:t>
            </a:r>
          </a:p>
        </p:txBody>
      </p:sp>
    </p:spTree>
    <p:extLst>
      <p:ext uri="{BB962C8B-B14F-4D97-AF65-F5344CB8AC3E}">
        <p14:creationId xmlns:p14="http://schemas.microsoft.com/office/powerpoint/2010/main" val="6867040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1 Title">
            <a:extLst>
              <a:ext uri="{FF2B5EF4-FFF2-40B4-BE49-F238E27FC236}">
                <a16:creationId xmlns:a16="http://schemas.microsoft.com/office/drawing/2014/main" id="{455B0754-10CC-4FCA-B423-957F3E1D7B26}"/>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How the remaining findings are organized</a:t>
            </a:r>
          </a:p>
        </p:txBody>
      </p:sp>
      <p:sp>
        <p:nvSpPr>
          <p:cNvPr id="2" name="Summary 1 Subtitle">
            <a:extLst>
              <a:ext uri="{FF2B5EF4-FFF2-40B4-BE49-F238E27FC236}">
                <a16:creationId xmlns:a16="http://schemas.microsoft.com/office/drawing/2014/main" id="{9F83F01E-3776-4961-8E25-29DF789CAED3}"/>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b="1">
                <a:latin typeface="Arial"/>
                <a:ea typeface="Arial"/>
                <a:cs typeface="Arial"/>
              </a:rPr>
              <a:t>The findings separate into DEG and pathway results and results from KDA calls.</a:t>
            </a:r>
          </a:p>
        </p:txBody>
      </p:sp>
      <p:sp>
        <p:nvSpPr>
          <p:cNvPr id="4" name="Summary 1 Footer">
            <a:extLst>
              <a:ext uri="{FF2B5EF4-FFF2-40B4-BE49-F238E27FC236}">
                <a16:creationId xmlns:a16="http://schemas.microsoft.com/office/drawing/2014/main" id="{3CBE8935-57B3-49B1-B12C-072BC69EBC22}"/>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15 findings are tied to one or more sex/APOE groups. Findings 7 and 10 are not sex/APOE-specific and receive lower priority in the sex/APOE narrative.</a:t>
            </a:r>
          </a:p>
        </p:txBody>
      </p:sp>
      <p:graphicFrame>
        <p:nvGraphicFramePr>
          <p:cNvPr id="10" name="Summary 1 Table"/>
          <p:cNvGraphicFramePr/>
          <p:nvPr/>
        </p:nvGraphicFramePr>
        <p:xfrm>
          <a:off x="666750" y="1524000"/>
          <a:ext cx="10858500" cy="409575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447675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495300">
                <a:tc>
                  <a:txBody>
                    <a:bodyPr/>
                    <a:lstStyle/>
                    <a:p>
                      <a:pPr algn="l"/>
                      <a:r>
                        <a:rPr sz="1125" b="1">
                          <a:solidFill>
                            <a:srgbClr val="FFFFFF"/>
                          </a:solidFill>
                          <a:latin typeface="Arial"/>
                          <a:ea typeface="Arial"/>
                          <a:cs typeface="Arial"/>
                        </a:rPr>
                        <a:t>Category</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Findings</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Main question</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Role in the story</a:t>
                      </a:r>
                    </a:p>
                  </a:txBody>
                  <a:tcPr marL="95250" marR="95250" marT="66675" marB="66675" anchor="ctr">
                    <a:solidFill>
                      <a:srgbClr val="11263F"/>
                    </a:solidFill>
                  </a:tcPr>
                </a:tc>
                <a:extLst>
                  <a:ext uri="{0D108BD9-81ED-4DB2-BD59-A6C34878D82A}">
                    <a16:rowId xmlns:a16="http://schemas.microsoft.com/office/drawing/2014/main" val="10000"/>
                  </a:ext>
                </a:extLst>
              </a:tr>
              <a:tr h="1800225">
                <a:tc>
                  <a:txBody>
                    <a:bodyPr/>
                    <a:lstStyle/>
                    <a:p>
                      <a:pPr algn="l"/>
                      <a:r>
                        <a:rPr sz="1125" b="1">
                          <a:solidFill>
                            <a:srgbClr val="FFFFFF"/>
                          </a:solidFill>
                          <a:latin typeface="Arial"/>
                          <a:ea typeface="Arial"/>
                          <a:cs typeface="Arial"/>
                        </a:rPr>
                        <a:t>DEG and pathway</a:t>
                      </a:r>
                    </a:p>
                  </a:txBody>
                  <a:tcPr marL="95250" marR="95250" marT="66675" marB="66675" anchor="ctr">
                    <a:solidFill>
                      <a:srgbClr val="0077B6"/>
                    </a:solidFill>
                  </a:tcPr>
                </a:tc>
                <a:tc>
                  <a:txBody>
                    <a:bodyPr/>
                    <a:lstStyle/>
                    <a:p>
                      <a:pPr algn="ctr"/>
                      <a:r>
                        <a:rPr sz="1125" b="0">
                          <a:solidFill>
                            <a:srgbClr val="1F2D3D"/>
                          </a:solidFill>
                          <a:latin typeface="Arial"/>
                          <a:ea typeface="Arial"/>
                          <a:cs typeface="Arial"/>
                        </a:rPr>
                        <a:t>1–6</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How do mitochondrial genes and pathways change within each sex/APOE group?</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Primary biological results</a:t>
                      </a:r>
                    </a:p>
                  </a:txBody>
                  <a:tcPr marL="95250" marR="95250" marT="66675" marB="66675" anchor="ctr">
                    <a:solidFill>
                      <a:srgbClr val="FFFFFF"/>
                    </a:solidFill>
                  </a:tcPr>
                </a:tc>
                <a:extLst>
                  <a:ext uri="{0D108BD9-81ED-4DB2-BD59-A6C34878D82A}">
                    <a16:rowId xmlns:a16="http://schemas.microsoft.com/office/drawing/2014/main" val="10001"/>
                  </a:ext>
                </a:extLst>
              </a:tr>
              <a:tr h="1800225">
                <a:tc>
                  <a:txBody>
                    <a:bodyPr/>
                    <a:lstStyle/>
                    <a:p>
                      <a:pPr algn="l"/>
                      <a:r>
                        <a:rPr sz="1125" b="1">
                          <a:solidFill>
                            <a:srgbClr val="FFFFFF"/>
                          </a:solidFill>
                          <a:latin typeface="Arial"/>
                          <a:ea typeface="Arial"/>
                          <a:cs typeface="Arial"/>
                        </a:rPr>
                        <a:t>Results from KDA calls</a:t>
                      </a:r>
                    </a:p>
                  </a:txBody>
                  <a:tcPr marL="95250" marR="95250" marT="66675" marB="66675" anchor="ctr">
                    <a:solidFill>
                      <a:srgbClr val="00856F"/>
                    </a:solidFill>
                  </a:tcPr>
                </a:tc>
                <a:tc>
                  <a:txBody>
                    <a:bodyPr/>
                    <a:lstStyle/>
                    <a:p>
                      <a:pPr algn="ctr"/>
                      <a:r>
                        <a:rPr sz="1125" b="0">
                          <a:solidFill>
                            <a:srgbClr val="1F2D3D"/>
                          </a:solidFill>
                          <a:latin typeface="Arial"/>
                          <a:ea typeface="Arial"/>
                          <a:cs typeface="Arial"/>
                        </a:rPr>
                        <a:t>7–16 and 18</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Which network genes are returned from KDA calls made with MitoCarta MT DEGs?</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Candidate genes that may drive or explain mitochondrial changes</a:t>
                      </a:r>
                    </a:p>
                  </a:txBody>
                  <a:tcPr marL="95250" marR="95250" marT="66675" marB="66675" anchor="ctr">
                    <a:solidFill>
                      <a:srgbClr val="F7FAFD"/>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152234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2 Title">
            <a:extLst>
              <a:ext uri="{FF2B5EF4-FFF2-40B4-BE49-F238E27FC236}">
                <a16:creationId xmlns:a16="http://schemas.microsoft.com/office/drawing/2014/main" id="{76B37456-FC65-485C-AC42-44438DF5942A}"/>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Findings 1–6 are DEG and pathway results</a:t>
            </a:r>
          </a:p>
        </p:txBody>
      </p:sp>
      <p:sp>
        <p:nvSpPr>
          <p:cNvPr id="2" name="Summary 2 Subtitle">
            <a:extLst>
              <a:ext uri="{FF2B5EF4-FFF2-40B4-BE49-F238E27FC236}">
                <a16:creationId xmlns:a16="http://schemas.microsoft.com/office/drawing/2014/main" id="{7BF1DEDB-C4E9-4634-BFCC-D8571A40BB75}"/>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b="1">
                <a:latin typeface="Arial"/>
                <a:ea typeface="Arial"/>
                <a:cs typeface="Arial"/>
              </a:rPr>
              <a:t>These findings describe mitochondrial gene-expression and pathway patterns before making KDA calls.</a:t>
            </a:r>
          </a:p>
        </p:txBody>
      </p:sp>
      <p:sp>
        <p:nvSpPr>
          <p:cNvPr id="4" name="Summary 2 Footer">
            <a:extLst>
              <a:ext uri="{FF2B5EF4-FFF2-40B4-BE49-F238E27FC236}">
                <a16:creationId xmlns:a16="http://schemas.microsoft.com/office/drawing/2014/main" id="{D2D4E65B-A402-41A3-AA8A-1A7D893AD32B}"/>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KDA calls are not involved in Findings 1–6.</a:t>
            </a:r>
          </a:p>
        </p:txBody>
      </p:sp>
      <p:graphicFrame>
        <p:nvGraphicFramePr>
          <p:cNvPr id="10" name="Summary 2 Table"/>
          <p:cNvGraphicFramePr/>
          <p:nvPr/>
        </p:nvGraphicFramePr>
        <p:xfrm>
          <a:off x="666750" y="1524000"/>
          <a:ext cx="10858500" cy="4391028"/>
        </p:xfrm>
        <a:graphic>
          <a:graphicData uri="http://schemas.openxmlformats.org/drawingml/2006/table">
            <a:tbl>
              <a:tblPr firstRow="1"/>
              <a:tblGrid>
                <a:gridCol w="85725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6572250">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tblGrid>
              <a:tr h="495300">
                <a:tc>
                  <a:txBody>
                    <a:bodyPr/>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Sex/APOE group</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Main result</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649288">
                <a:tc>
                  <a:txBody>
                    <a:bodyPr/>
                    <a:lstStyle/>
                    <a:p>
                      <a:pPr algn="ctr"/>
                      <a:r>
                        <a:rPr sz="1125" b="1">
                          <a:solidFill>
                            <a:srgbClr val="FFFFFF"/>
                          </a:solidFill>
                          <a:latin typeface="Arial"/>
                          <a:ea typeface="Arial"/>
                          <a:cs typeface="Arial"/>
                        </a:rPr>
                        <a:t>1</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Female ε3/ε3</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Core MT genes rise; nuclear-encoded OXPHOS genes also mostly rise in ROSMAP.</a:t>
                      </a:r>
                    </a:p>
                  </a:txBody>
                  <a:tcPr marL="95250" marR="95250" marT="66675" marB="66675" anchor="ctr">
                    <a:solidFill>
                      <a:srgbClr val="FFFFFF"/>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1"/>
                  </a:ext>
                </a:extLst>
              </a:tr>
              <a:tr h="649288">
                <a:tc>
                  <a:txBody>
                    <a:bodyPr/>
                    <a:lstStyle/>
                    <a:p>
                      <a:pPr algn="ctr"/>
                      <a:r>
                        <a:rPr sz="1125" b="1">
                          <a:solidFill>
                            <a:srgbClr val="FFFFFF"/>
                          </a:solidFill>
                          <a:latin typeface="Arial"/>
                          <a:ea typeface="Arial"/>
                          <a:cs typeface="Arial"/>
                        </a:rPr>
                        <a:t>2</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Male ε3/ε3</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Core MT genes rise while nuclear-encoded OXPHOS genes fall.</a:t>
                      </a:r>
                    </a:p>
                  </a:txBody>
                  <a:tcPr marL="95250" marR="95250" marT="66675" marB="66675" anchor="ctr">
                    <a:solidFill>
                      <a:srgbClr val="F7FAFD"/>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2"/>
                  </a:ext>
                </a:extLst>
              </a:tr>
              <a:tr h="649288">
                <a:tc>
                  <a:txBody>
                    <a:bodyPr/>
                    <a:lstStyle/>
                    <a:p>
                      <a:pPr algn="ctr"/>
                      <a:r>
                        <a:rPr sz="1125" b="1">
                          <a:solidFill>
                            <a:srgbClr val="FFFFFF"/>
                          </a:solidFill>
                          <a:latin typeface="Arial"/>
                          <a:ea typeface="Arial"/>
                          <a:cs typeface="Arial"/>
                        </a:rPr>
                        <a:t>3</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Female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Core MT and nuclear-encoded OXPHOS genes both rise.</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3"/>
                  </a:ext>
                </a:extLst>
              </a:tr>
              <a:tr h="649288">
                <a:tc>
                  <a:txBody>
                    <a:bodyPr/>
                    <a:lstStyle/>
                    <a:p>
                      <a:pPr algn="ctr"/>
                      <a:r>
                        <a:rPr sz="1125" b="1">
                          <a:solidFill>
                            <a:srgbClr val="FFFFFF"/>
                          </a:solidFill>
                          <a:latin typeface="Arial"/>
                          <a:ea typeface="Arial"/>
                          <a:cs typeface="Arial"/>
                        </a:rPr>
                        <a:t>4</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Female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Nuclear-encoded OXPHOS genes show a strong decrease.</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r h="649288">
                <a:tc>
                  <a:txBody>
                    <a:bodyPr/>
                    <a:lstStyle/>
                    <a:p>
                      <a:pPr algn="ctr"/>
                      <a:r>
                        <a:rPr sz="1125" b="1">
                          <a:solidFill>
                            <a:srgbClr val="FFFFFF"/>
                          </a:solidFill>
                          <a:latin typeface="Arial"/>
                          <a:ea typeface="Arial"/>
                          <a:cs typeface="Arial"/>
                        </a:rPr>
                        <a:t>5</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Male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Both core MT and nuclear-encoded OXPHOS gene sets show broad decreases.</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5"/>
                  </a:ext>
                </a:extLst>
              </a:tr>
              <a:tr h="649288">
                <a:tc>
                  <a:txBody>
                    <a:bodyPr/>
                    <a:lstStyle/>
                    <a:p>
                      <a:pPr algn="ctr"/>
                      <a:r>
                        <a:rPr sz="1125" b="1">
                          <a:solidFill>
                            <a:srgbClr val="FFFFFF"/>
                          </a:solidFill>
                          <a:latin typeface="Arial"/>
                          <a:ea typeface="Arial"/>
                          <a:cs typeface="Arial"/>
                        </a:rPr>
                        <a:t>6</a:t>
                      </a:r>
                    </a:p>
                  </a:txBody>
                  <a:tcPr marL="95250" marR="95250" marT="66675" marB="66675" anchor="ctr">
                    <a:solidFill>
                      <a:srgbClr val="0077B6"/>
                    </a:solidFill>
                  </a:tcPr>
                </a:tc>
                <a:tc>
                  <a:txBody>
                    <a:bodyPr/>
                    <a:lstStyle/>
                    <a:p>
                      <a:pPr algn="l"/>
                      <a:r>
                        <a:rPr sz="1125">
                          <a:solidFill>
                            <a:srgbClr val="1F2D3D"/>
                          </a:solidFill>
                          <a:latin typeface="Arial"/>
                          <a:ea typeface="Arial"/>
                          <a:cs typeface="Arial"/>
                        </a:rPr>
                        <a:t>Male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Core MT genes rise while nuclear-encoded OXPHOS genes decrease more modestly.</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7801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3 Title">
            <a:extLst>
              <a:ext uri="{FF2B5EF4-FFF2-40B4-BE49-F238E27FC236}">
                <a16:creationId xmlns:a16="http://schemas.microsoft.com/office/drawing/2014/main" id="{B6702C0F-F928-48C6-B90F-E8A58AE4BB3A}"/>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Recurring sex/APOE-linked genes from KDA calls</a:t>
            </a:r>
          </a:p>
        </p:txBody>
      </p:sp>
      <p:sp>
        <p:nvSpPr>
          <p:cNvPr id="2" name="Summary 3 Subtitle">
            <a:extLst>
              <a:ext uri="{FF2B5EF4-FFF2-40B4-BE49-F238E27FC236}">
                <a16:creationId xmlns:a16="http://schemas.microsoft.com/office/drawing/2014/main" id="{B700F485-92CF-4D95-A882-47481A5D215A}"/>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a:solidFill>
                  <a:srgbClr val="536273"/>
                </a:solidFill>
                <a:latin typeface="Arial"/>
                <a:ea typeface="Arial"/>
                <a:cs typeface="Arial"/>
              </a:rPr>
              <a:t>These genes were returned from KDA calls in several sex/APOE groups or were repeatedly connected to mitochondrial genes.</a:t>
            </a:r>
          </a:p>
        </p:txBody>
      </p:sp>
      <p:sp>
        <p:nvSpPr>
          <p:cNvPr id="4" name="Summary 3 Footer">
            <a:extLst>
              <a:ext uri="{FF2B5EF4-FFF2-40B4-BE49-F238E27FC236}">
                <a16:creationId xmlns:a16="http://schemas.microsoft.com/office/drawing/2014/main" id="{6E92A41E-3488-4982-BE1D-A9B40EDA98AE}"/>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Genes returned from KDA calls are candidates. Network connections do not prove regulation or causality.</a:t>
            </a:r>
          </a:p>
        </p:txBody>
      </p:sp>
      <p:graphicFrame>
        <p:nvGraphicFramePr>
          <p:cNvPr id="10" name="Summary 3 Table"/>
          <p:cNvGraphicFramePr/>
          <p:nvPr/>
        </p:nvGraphicFramePr>
        <p:xfrm>
          <a:off x="666750" y="1524000"/>
          <a:ext cx="10858500" cy="4391025"/>
        </p:xfrm>
        <a:graphic>
          <a:graphicData uri="http://schemas.openxmlformats.org/drawingml/2006/table">
            <a:tbl>
              <a:tblPr firstRow="1"/>
              <a:tblGrid>
                <a:gridCol w="809625">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5953125">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95300">
                <a:tc>
                  <a:txBody>
                    <a:bodyPr/>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Observed groups</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Gene and mitochondrial connection</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779145">
                <a:tc>
                  <a:txBody>
                    <a:bodyPr/>
                    <a:lstStyle/>
                    <a:p>
                      <a:pPr algn="ctr"/>
                      <a:r>
                        <a:rPr sz="1125" b="1">
                          <a:solidFill>
                            <a:srgbClr val="FFFFFF"/>
                          </a:solidFill>
                          <a:latin typeface="Arial"/>
                          <a:ea typeface="Arial"/>
                          <a:cs typeface="Arial"/>
                        </a:rPr>
                        <a:t>8</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ε2, F ε3/ε3, F ε4, M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LAMTOR5 connects genes that sense nutrients at lysosomes, the cell’s recycling compartments, with OXPHOS genes.</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1"/>
                  </a:ext>
                </a:extLst>
              </a:tr>
              <a:tr h="779145">
                <a:tc>
                  <a:txBody>
                    <a:bodyPr/>
                    <a:lstStyle/>
                    <a:p>
                      <a:pPr algn="ctr"/>
                      <a:r>
                        <a:rPr sz="1125" b="1">
                          <a:solidFill>
                            <a:srgbClr val="FFFFFF"/>
                          </a:solidFill>
                          <a:latin typeface="Arial"/>
                          <a:ea typeface="Arial"/>
                          <a:cs typeface="Arial"/>
                        </a:rPr>
                        <a:t>9</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ε2, F ε3/ε3, M ε3/ε3, M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WDR82 is connected in the network to a small set of core MT genes that are upregulated in AD in excitatory neurons.</a:t>
                      </a:r>
                    </a:p>
                  </a:txBody>
                  <a:tcPr marL="95250" marR="95250" marT="66675" marB="66675" anchor="ctr">
                    <a:solidFill>
                      <a:srgbClr val="F7FAFD"/>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2"/>
                  </a:ext>
                </a:extLst>
              </a:tr>
              <a:tr h="779145">
                <a:tc>
                  <a:txBody>
                    <a:bodyPr/>
                    <a:lstStyle/>
                    <a:p>
                      <a:pPr algn="ctr"/>
                      <a:r>
                        <a:rPr sz="1125" b="1">
                          <a:solidFill>
                            <a:srgbClr val="FFFFFF"/>
                          </a:solidFill>
                          <a:latin typeface="Arial"/>
                          <a:ea typeface="Arial"/>
                          <a:cs typeface="Arial"/>
                        </a:rPr>
                        <a:t>11</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ε2, F ε4, M ε2, M ε3/ε3</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SELENOW, a gene involved in controlling oxidative stress, was connected to genes involved in mitochondrial respiration, protein production, and removal of damaged mitochondrial proteins.</a:t>
                      </a:r>
                    </a:p>
                  </a:txBody>
                  <a:tcPr marL="95250" marR="95250" marT="66675" marB="66675" anchor="ctr">
                    <a:solidFill>
                      <a:srgbClr val="FFFFFF"/>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3"/>
                  </a:ext>
                </a:extLst>
              </a:tr>
              <a:tr h="779145">
                <a:tc>
                  <a:txBody>
                    <a:bodyPr/>
                    <a:lstStyle/>
                    <a:p>
                      <a:pPr algn="ctr"/>
                      <a:r>
                        <a:rPr sz="1125" b="1">
                          <a:solidFill>
                            <a:srgbClr val="FFFFFF"/>
                          </a:solidFill>
                          <a:latin typeface="Arial"/>
                          <a:ea typeface="Arial"/>
                          <a:cs typeface="Arial"/>
                        </a:rPr>
                        <a:t>12</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ε3/ε3, F ε4, M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PGK1 connects astrocyte glycolysis and low-oxygen signaling with genes involved in removing damaged mitochondria.</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r h="779145">
                <a:tc>
                  <a:txBody>
                    <a:bodyPr/>
                    <a:lstStyle/>
                    <a:p>
                      <a:pPr algn="ctr"/>
                      <a:r>
                        <a:rPr sz="1125" b="1">
                          <a:solidFill>
                            <a:srgbClr val="FFFFFF"/>
                          </a:solidFill>
                          <a:latin typeface="Arial"/>
                          <a:ea typeface="Arial"/>
                          <a:cs typeface="Arial"/>
                        </a:rPr>
                        <a:t>13</a:t>
                      </a:r>
                    </a:p>
                  </a:txBody>
                  <a:tcPr marL="95250" marR="95250" marT="66675" marB="66675" anchor="ctr">
                    <a:solidFill>
                      <a:srgbClr val="00856F"/>
                    </a:solidFill>
                  </a:tcPr>
                </a:tc>
                <a:tc>
                  <a:txBody>
                    <a:bodyPr/>
                    <a:lstStyle/>
                    <a:p>
                      <a:pPr algn="l"/>
                      <a:r>
                        <a:rPr sz="1125">
                          <a:solidFill>
                            <a:srgbClr val="1F2D3D"/>
                          </a:solidFill>
                          <a:latin typeface="Arial"/>
                          <a:ea typeface="Arial"/>
                          <a:cs typeface="Arial"/>
                        </a:rPr>
                        <a:t>F ε3/ε3, M ε2</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FTL and ANKRD11 connect iron handling in oligodendrocyte precursor cells with genes that protect against oxidative damage and recycle damaged cell components.</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45506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5" name="Summary 4 Title">
            <a:extLst>
              <a:ext uri="{FF2B5EF4-FFF2-40B4-BE49-F238E27FC236}">
                <a16:creationId xmlns:a16="http://schemas.microsoft.com/office/drawing/2014/main" id="{97730554-4AA8-4C4C-8467-B11723976011}"/>
              </a:ext>
            </a:extLst>
          </p:cNvPr>
          <p:cNvSpPr>
            <a:spLocks noGrp="1"/>
          </p:cNvSpPr>
          <p:nvPr/>
        </p:nvSpPr>
        <p:spPr>
          <a:xfrm>
            <a:off x="609600" y="361950"/>
            <a:ext cx="10972800" cy="552450"/>
          </a:xfrm>
          <a:prstGeom prst="rect">
            <a:avLst/>
          </a:prstGeom>
          <a:noFill/>
          <a:ln w="0">
            <a:noFill/>
            <a:prstDash val="solid"/>
          </a:ln>
        </p:spPr>
        <p:txBody>
          <a:bodyPr wrap="square" lIns="0" tIns="0" rIns="0" bIns="0">
            <a:normAutofit/>
          </a:bodyPr>
          <a:lstStyle/>
          <a:p>
            <a:pPr algn="l">
              <a:buNone/>
              <a:defRPr sz="2250" b="1">
                <a:solidFill>
                  <a:srgbClr val="11263F"/>
                </a:solidFill>
                <a:latin typeface="Arial"/>
                <a:ea typeface="Arial"/>
                <a:cs typeface="Arial"/>
              </a:defRPr>
            </a:pPr>
            <a:r>
              <a:rPr sz="2250" b="1">
                <a:solidFill>
                  <a:srgbClr val="11263F"/>
                </a:solidFill>
                <a:latin typeface="Arial"/>
                <a:ea typeface="Arial"/>
                <a:cs typeface="Arial"/>
              </a:rPr>
              <a:t>Qualified sex/APOE-linked genes from KDA calls</a:t>
            </a:r>
          </a:p>
        </p:txBody>
      </p:sp>
      <p:sp>
        <p:nvSpPr>
          <p:cNvPr id="2" name="Summary 4 Subtitle">
            <a:extLst>
              <a:ext uri="{FF2B5EF4-FFF2-40B4-BE49-F238E27FC236}">
                <a16:creationId xmlns:a16="http://schemas.microsoft.com/office/drawing/2014/main" id="{23C9B292-3DA4-4C1F-B446-52B3CFF215A2}"/>
              </a:ext>
            </a:extLst>
          </p:cNvPr>
          <p:cNvSpPr>
            <a:spLocks noGrp="1"/>
          </p:cNvSpPr>
          <p:nvPr/>
        </p:nvSpPr>
        <p:spPr>
          <a:xfrm>
            <a:off x="628650" y="1000125"/>
            <a:ext cx="10934700" cy="419100"/>
          </a:xfrm>
          <a:prstGeom prst="rect">
            <a:avLst/>
          </a:prstGeom>
          <a:noFill/>
          <a:ln w="0">
            <a:noFill/>
            <a:prstDash val="solid"/>
          </a:ln>
        </p:spPr>
        <p:txBody>
          <a:bodyPr wrap="square" lIns="0" tIns="0" rIns="0" bIns="0">
            <a:normAutofit/>
          </a:bodyPr>
          <a:lstStyle/>
          <a:p>
            <a:pPr algn="l">
              <a:buNone/>
              <a:defRPr sz="1275">
                <a:solidFill>
                  <a:srgbClr val="536273"/>
                </a:solidFill>
                <a:latin typeface="Arial"/>
                <a:ea typeface="Arial"/>
                <a:cs typeface="Arial"/>
              </a:defRPr>
            </a:pPr>
            <a:r>
              <a:rPr sz="1275">
                <a:solidFill>
                  <a:srgbClr val="536273"/>
                </a:solidFill>
                <a:latin typeface="Arial"/>
                <a:ea typeface="Arial"/>
                <a:cs typeface="Arial"/>
              </a:rPr>
              <a:t>These findings remain useful, but each is based on few genes, few KDA calls, or patterns that change across groups.</a:t>
            </a:r>
          </a:p>
        </p:txBody>
      </p:sp>
      <p:sp>
        <p:nvSpPr>
          <p:cNvPr id="4" name="Summary 4 Footer">
            <a:extLst>
              <a:ext uri="{FF2B5EF4-FFF2-40B4-BE49-F238E27FC236}">
                <a16:creationId xmlns:a16="http://schemas.microsoft.com/office/drawing/2014/main" id="{5DE7F30A-4114-4783-9C10-6DF2E71538A9}"/>
              </a:ext>
            </a:extLst>
          </p:cNvPr>
          <p:cNvSpPr>
            <a:spLocks noGrp="1"/>
          </p:cNvSpPr>
          <p:nvPr/>
        </p:nvSpPr>
        <p:spPr>
          <a:xfrm>
            <a:off x="685800" y="6115050"/>
            <a:ext cx="10820400" cy="400050"/>
          </a:xfrm>
          <a:prstGeom prst="rect">
            <a:avLst/>
          </a:prstGeom>
          <a:noFill/>
          <a:ln w="0">
            <a:noFill/>
            <a:prstDash val="solid"/>
          </a:ln>
        </p:spPr>
        <p:txBody>
          <a:bodyPr wrap="square" lIns="0" tIns="0" rIns="0" bIns="0">
            <a:normAutofit/>
          </a:bodyPr>
          <a:lstStyle/>
          <a:p>
            <a:pPr algn="l">
              <a:buNone/>
              <a:defRPr sz="1200" b="1">
                <a:solidFill>
                  <a:srgbClr val="7D4FA1"/>
                </a:solidFill>
                <a:latin typeface="Arial"/>
                <a:ea typeface="Arial"/>
                <a:cs typeface="Arial"/>
              </a:defRPr>
            </a:pPr>
            <a:r>
              <a:rPr sz="1200" b="1">
                <a:solidFill>
                  <a:srgbClr val="7D4FA1"/>
                </a:solidFill>
                <a:latin typeface="Arial"/>
                <a:ea typeface="Arial"/>
                <a:cs typeface="Arial"/>
              </a:rPr>
              <a:t>Finding 18 remains secondary. INTS8 is a gene returned from one KDA call with Phase 19b genetic support.</a:t>
            </a:r>
          </a:p>
        </p:txBody>
      </p:sp>
      <p:graphicFrame>
        <p:nvGraphicFramePr>
          <p:cNvPr id="10" name="Summary 4 Table"/>
          <p:cNvGraphicFramePr/>
          <p:nvPr/>
        </p:nvGraphicFramePr>
        <p:xfrm>
          <a:off x="666750" y="1524000"/>
          <a:ext cx="10858500" cy="4391024"/>
        </p:xfrm>
        <a:graphic>
          <a:graphicData uri="http://schemas.openxmlformats.org/drawingml/2006/table">
            <a:tbl>
              <a:tblPr firstRow="1"/>
              <a:tblGrid>
                <a:gridCol w="809625">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619125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95300">
                <a:tc>
                  <a:txBody>
                    <a:bodyPr/>
                    <a:lstStyle/>
                    <a:p>
                      <a:pPr algn="ctr"/>
                      <a:r>
                        <a:rPr sz="1125" b="1">
                          <a:solidFill>
                            <a:srgbClr val="FFFFFF"/>
                          </a:solidFill>
                          <a:latin typeface="Arial"/>
                          <a:ea typeface="Arial"/>
                          <a:cs typeface="Arial"/>
                        </a:rPr>
                        <a:t>Finding</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Observed groups</a:t>
                      </a:r>
                    </a:p>
                  </a:txBody>
                  <a:tcPr marL="95250" marR="95250" marT="66675" marB="66675" anchor="ctr">
                    <a:solidFill>
                      <a:srgbClr val="11263F"/>
                    </a:solidFill>
                  </a:tcPr>
                </a:tc>
                <a:tc>
                  <a:txBody>
                    <a:bodyPr/>
                    <a:lstStyle/>
                    <a:p>
                      <a:pPr algn="l"/>
                      <a:r>
                        <a:rPr sz="1125" b="1">
                          <a:solidFill>
                            <a:srgbClr val="FFFFFF"/>
                          </a:solidFill>
                          <a:latin typeface="Arial"/>
                          <a:ea typeface="Arial"/>
                          <a:cs typeface="Arial"/>
                        </a:rPr>
                        <a:t>Gene and main qualification</a:t>
                      </a:r>
                    </a:p>
                  </a:txBody>
                  <a:tcPr marL="95250" marR="95250" marT="66675" marB="66675" anchor="ctr">
                    <a:solidFill>
                      <a:srgbClr val="11263F"/>
                    </a:solidFill>
                  </a:tcPr>
                </a:tc>
                <a:tc>
                  <a:txBody>
                    <a:bodyPr/>
                    <a:lstStyle/>
                    <a:p>
                      <a:pPr algn="ctr"/>
                      <a:r>
                        <a:rPr sz="1125" b="1">
                          <a:solidFill>
                            <a:srgbClr val="FFFFFF"/>
                          </a:solidFill>
                          <a:latin typeface="Arial"/>
                          <a:ea typeface="Arial"/>
                          <a:cs typeface="Arial"/>
                        </a:rPr>
                        <a:t>Novelty</a:t>
                      </a:r>
                    </a:p>
                  </a:txBody>
                  <a:tcPr marL="95250" marR="95250" marT="66675" marB="66675" anchor="ctr">
                    <a:solidFill>
                      <a:srgbClr val="11263F"/>
                    </a:solidFill>
                  </a:tcPr>
                </a:tc>
                <a:extLst>
                  <a:ext uri="{0D108BD9-81ED-4DB2-BD59-A6C34878D82A}">
                    <a16:rowId xmlns:a16="http://schemas.microsoft.com/office/drawing/2014/main" val="10000"/>
                  </a:ext>
                </a:extLst>
              </a:tr>
              <a:tr h="973931">
                <a:tc>
                  <a:txBody>
                    <a:bodyPr/>
                    <a:lstStyle/>
                    <a:p>
                      <a:pPr algn="ctr"/>
                      <a:r>
                        <a:rPr sz="1125" b="1">
                          <a:solidFill>
                            <a:srgbClr val="FFFFFF"/>
                          </a:solidFill>
                          <a:latin typeface="Arial"/>
                          <a:ea typeface="Arial"/>
                          <a:cs typeface="Arial"/>
                        </a:rPr>
                        <a:t>14</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Female ε2, ε3/ε3, and ε4</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PLCG2 has strong AD genetic evidence, but only one MitoCarta MT gene, MT-CO1, was connected to it in the KDA result.</a:t>
                      </a:r>
                    </a:p>
                  </a:txBody>
                  <a:tcPr marL="95250" marR="95250" marT="66675" marB="66675" anchor="ctr">
                    <a:solidFill>
                      <a:srgbClr val="FFFFFF"/>
                    </a:solidFill>
                  </a:tcPr>
                </a:tc>
                <a:tc>
                  <a:txBody>
                    <a:bodyPr/>
                    <a:lstStyle/>
                    <a:p>
                      <a:pPr algn="ctr"/>
                      <a:r>
                        <a:rPr sz="1125" b="1">
                          <a:solidFill>
                            <a:srgbClr val="8A4A00"/>
                          </a:solidFill>
                          <a:latin typeface="Arial"/>
                          <a:ea typeface="Arial"/>
                          <a:cs typeface="Arial"/>
                        </a:rPr>
                        <a:t>High</a:t>
                      </a:r>
                    </a:p>
                  </a:txBody>
                  <a:tcPr marL="95250" marR="95250" marT="66675" marB="66675" anchor="ctr">
                    <a:solidFill>
                      <a:srgbClr val="FFF1CE"/>
                    </a:solidFill>
                  </a:tcPr>
                </a:tc>
                <a:extLst>
                  <a:ext uri="{0D108BD9-81ED-4DB2-BD59-A6C34878D82A}">
                    <a16:rowId xmlns:a16="http://schemas.microsoft.com/office/drawing/2014/main" val="10001"/>
                  </a:ext>
                </a:extLst>
              </a:tr>
              <a:tr h="973931">
                <a:tc>
                  <a:txBody>
                    <a:bodyPr/>
                    <a:lstStyle/>
                    <a:p>
                      <a:pPr algn="ctr"/>
                      <a:r>
                        <a:rPr sz="1125" b="1">
                          <a:solidFill>
                            <a:srgbClr val="FFFFFF"/>
                          </a:solidFill>
                          <a:latin typeface="Arial"/>
                          <a:ea typeface="Arial"/>
                          <a:cs typeface="Arial"/>
                        </a:rPr>
                        <a:t>15</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F ε2, M ε2, M ε4</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Astrocyte APOE expression changes in opposite directions across groups, so the result is not specific to ε4.</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2"/>
                  </a:ext>
                </a:extLst>
              </a:tr>
              <a:tr h="973931">
                <a:tc>
                  <a:txBody>
                    <a:bodyPr/>
                    <a:lstStyle/>
                    <a:p>
                      <a:pPr algn="ctr"/>
                      <a:r>
                        <a:rPr sz="1125" b="1">
                          <a:solidFill>
                            <a:srgbClr val="FFFFFF"/>
                          </a:solidFill>
                          <a:latin typeface="Arial"/>
                          <a:ea typeface="Arial"/>
                          <a:cs typeface="Arial"/>
                        </a:rPr>
                        <a:t>16</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Female ε4</a:t>
                      </a:r>
                    </a:p>
                  </a:txBody>
                  <a:tcPr marL="95250" marR="95250" marT="66675" marB="66675" anchor="ctr">
                    <a:solidFill>
                      <a:srgbClr val="FFFFFF"/>
                    </a:solidFill>
                  </a:tcPr>
                </a:tc>
                <a:tc>
                  <a:txBody>
                    <a:bodyPr/>
                    <a:lstStyle/>
                    <a:p>
                      <a:pPr algn="l"/>
                      <a:r>
                        <a:rPr sz="1125">
                          <a:solidFill>
                            <a:srgbClr val="1F2D3D"/>
                          </a:solidFill>
                          <a:latin typeface="Arial"/>
                          <a:ea typeface="Arial"/>
                          <a:cs typeface="Arial"/>
                        </a:rPr>
                        <a:t>A small group of genes that respond to protein damage and cellular stress appears in only two female ε4 vascular-cell KDA calls.</a:t>
                      </a:r>
                    </a:p>
                  </a:txBody>
                  <a:tcPr marL="95250" marR="95250" marT="66675" marB="66675" anchor="ctr">
                    <a:solidFill>
                      <a:srgbClr val="FFFFFF"/>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3"/>
                  </a:ext>
                </a:extLst>
              </a:tr>
              <a:tr h="973931">
                <a:tc>
                  <a:txBody>
                    <a:bodyPr/>
                    <a:lstStyle/>
                    <a:p>
                      <a:pPr algn="ctr"/>
                      <a:r>
                        <a:rPr sz="1125" b="1">
                          <a:solidFill>
                            <a:srgbClr val="FFFFFF"/>
                          </a:solidFill>
                          <a:latin typeface="Arial"/>
                          <a:ea typeface="Arial"/>
                          <a:cs typeface="Arial"/>
                        </a:rPr>
                        <a:t>18</a:t>
                      </a:r>
                    </a:p>
                  </a:txBody>
                  <a:tcPr marL="95250" marR="95250" marT="66675" marB="66675" anchor="ctr">
                    <a:solidFill>
                      <a:srgbClr val="B86100"/>
                    </a:solidFill>
                  </a:tcPr>
                </a:tc>
                <a:tc>
                  <a:txBody>
                    <a:bodyPr/>
                    <a:lstStyle/>
                    <a:p>
                      <a:pPr algn="l"/>
                      <a:r>
                        <a:rPr sz="1125">
                          <a:solidFill>
                            <a:srgbClr val="1F2D3D"/>
                          </a:solidFill>
                          <a:latin typeface="Arial"/>
                          <a:ea typeface="Arial"/>
                          <a:cs typeface="Arial"/>
                        </a:rPr>
                        <a:t>Male ε2</a:t>
                      </a:r>
                    </a:p>
                  </a:txBody>
                  <a:tcPr marL="95250" marR="95250" marT="66675" marB="66675" anchor="ctr">
                    <a:solidFill>
                      <a:srgbClr val="F7FAFD"/>
                    </a:solidFill>
                  </a:tcPr>
                </a:tc>
                <a:tc>
                  <a:txBody>
                    <a:bodyPr/>
                    <a:lstStyle/>
                    <a:p>
                      <a:pPr algn="l"/>
                      <a:r>
                        <a:rPr sz="1125">
                          <a:solidFill>
                            <a:srgbClr val="1F2D3D"/>
                          </a:solidFill>
                          <a:latin typeface="Arial"/>
                          <a:ea typeface="Arial"/>
                          <a:cs typeface="Arial"/>
                        </a:rPr>
                        <a:t>INTS8 was returned from one inhibitory-neuron KDA call. Human genetics supports follow-up, but it was not returned from additional KDA calls.</a:t>
                      </a:r>
                    </a:p>
                  </a:txBody>
                  <a:tcPr marL="95250" marR="95250" marT="66675" marB="66675" anchor="ctr">
                    <a:solidFill>
                      <a:srgbClr val="F7FAFD"/>
                    </a:solidFill>
                  </a:tcPr>
                </a:tc>
                <a:tc>
                  <a:txBody>
                    <a:bodyPr/>
                    <a:lstStyle/>
                    <a:p>
                      <a:pPr algn="ctr"/>
                      <a:r>
                        <a:rPr sz="1125" b="1">
                          <a:solidFill>
                            <a:srgbClr val="005E82"/>
                          </a:solidFill>
                          <a:latin typeface="Arial"/>
                          <a:ea typeface="Arial"/>
                          <a:cs typeface="Arial"/>
                        </a:rPr>
                        <a:t>Moderate</a:t>
                      </a:r>
                    </a:p>
                  </a:txBody>
                  <a:tcPr marL="95250" marR="95250" marT="66675" marB="66675" anchor="ctr">
                    <a:solidFill>
                      <a:srgbClr val="E5F2FA"/>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42345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12325</Words>
  <Application>Microsoft Macintosh PowerPoint</Application>
  <DocSecurity>0</DocSecurity>
  <PresentationFormat>Widescreen</PresentationFormat>
  <Paragraphs>1061</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68</cp:revision>
  <dcterms:created xsi:type="dcterms:W3CDTF">2026-09-20T15:55:40Z</dcterms:created>
  <dcterms:modified xsi:type="dcterms:W3CDTF">2026-09-23T01:43:47Z</dcterms:modified>
</cp:coreProperties>
</file>